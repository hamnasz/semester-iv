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4175" r:id="rId2"/>
    <p:sldMasterId id="2147484187" r:id="rId3"/>
  </p:sldMasterIdLst>
  <p:notesMasterIdLst>
    <p:notesMasterId r:id="rId329"/>
  </p:notesMasterIdLst>
  <p:handoutMasterIdLst>
    <p:handoutMasterId r:id="rId330"/>
  </p:handoutMasterIdLst>
  <p:sldIdLst>
    <p:sldId id="472" r:id="rId4"/>
    <p:sldId id="473" r:id="rId5"/>
    <p:sldId id="474" r:id="rId6"/>
    <p:sldId id="475" r:id="rId7"/>
    <p:sldId id="476" r:id="rId8"/>
    <p:sldId id="477" r:id="rId9"/>
    <p:sldId id="478" r:id="rId10"/>
    <p:sldId id="479" r:id="rId11"/>
    <p:sldId id="480" r:id="rId12"/>
    <p:sldId id="443" r:id="rId13"/>
    <p:sldId id="444" r:id="rId14"/>
    <p:sldId id="445" r:id="rId15"/>
    <p:sldId id="446" r:id="rId16"/>
    <p:sldId id="447" r:id="rId17"/>
    <p:sldId id="448" r:id="rId18"/>
    <p:sldId id="449" r:id="rId19"/>
    <p:sldId id="450" r:id="rId20"/>
    <p:sldId id="451" r:id="rId21"/>
    <p:sldId id="452" r:id="rId22"/>
    <p:sldId id="453" r:id="rId23"/>
    <p:sldId id="454" r:id="rId24"/>
    <p:sldId id="455" r:id="rId25"/>
    <p:sldId id="456" r:id="rId26"/>
    <p:sldId id="457" r:id="rId27"/>
    <p:sldId id="458" r:id="rId28"/>
    <p:sldId id="459" r:id="rId29"/>
    <p:sldId id="460" r:id="rId30"/>
    <p:sldId id="461" r:id="rId31"/>
    <p:sldId id="462" r:id="rId32"/>
    <p:sldId id="463" r:id="rId33"/>
    <p:sldId id="464" r:id="rId34"/>
    <p:sldId id="465" r:id="rId35"/>
    <p:sldId id="466" r:id="rId36"/>
    <p:sldId id="467" r:id="rId37"/>
    <p:sldId id="468" r:id="rId38"/>
    <p:sldId id="469" r:id="rId39"/>
    <p:sldId id="470" r:id="rId40"/>
    <p:sldId id="471" r:id="rId41"/>
    <p:sldId id="482" r:id="rId42"/>
    <p:sldId id="483" r:id="rId43"/>
    <p:sldId id="484" r:id="rId44"/>
    <p:sldId id="485" r:id="rId45"/>
    <p:sldId id="486" r:id="rId46"/>
    <p:sldId id="487" r:id="rId47"/>
    <p:sldId id="488" r:id="rId48"/>
    <p:sldId id="489" r:id="rId49"/>
    <p:sldId id="490" r:id="rId50"/>
    <p:sldId id="491" r:id="rId51"/>
    <p:sldId id="492" r:id="rId52"/>
    <p:sldId id="493" r:id="rId53"/>
    <p:sldId id="494" r:id="rId54"/>
    <p:sldId id="495" r:id="rId55"/>
    <p:sldId id="496" r:id="rId56"/>
    <p:sldId id="497" r:id="rId57"/>
    <p:sldId id="498" r:id="rId58"/>
    <p:sldId id="499" r:id="rId59"/>
    <p:sldId id="500" r:id="rId60"/>
    <p:sldId id="501" r:id="rId61"/>
    <p:sldId id="502" r:id="rId62"/>
    <p:sldId id="503" r:id="rId63"/>
    <p:sldId id="504" r:id="rId64"/>
    <p:sldId id="505" r:id="rId65"/>
    <p:sldId id="442" r:id="rId66"/>
    <p:sldId id="507" r:id="rId67"/>
    <p:sldId id="508" r:id="rId68"/>
    <p:sldId id="509" r:id="rId69"/>
    <p:sldId id="510" r:id="rId70"/>
    <p:sldId id="511" r:id="rId71"/>
    <p:sldId id="512" r:id="rId72"/>
    <p:sldId id="513" r:id="rId73"/>
    <p:sldId id="514" r:id="rId74"/>
    <p:sldId id="515" r:id="rId75"/>
    <p:sldId id="516" r:id="rId76"/>
    <p:sldId id="517" r:id="rId77"/>
    <p:sldId id="518" r:id="rId78"/>
    <p:sldId id="519" r:id="rId79"/>
    <p:sldId id="520" r:id="rId80"/>
    <p:sldId id="521" r:id="rId81"/>
    <p:sldId id="522" r:id="rId82"/>
    <p:sldId id="523" r:id="rId83"/>
    <p:sldId id="524" r:id="rId84"/>
    <p:sldId id="525" r:id="rId85"/>
    <p:sldId id="526" r:id="rId86"/>
    <p:sldId id="528" r:id="rId87"/>
    <p:sldId id="529" r:id="rId88"/>
    <p:sldId id="530" r:id="rId89"/>
    <p:sldId id="531" r:id="rId90"/>
    <p:sldId id="532" r:id="rId91"/>
    <p:sldId id="533" r:id="rId92"/>
    <p:sldId id="534" r:id="rId93"/>
    <p:sldId id="535" r:id="rId94"/>
    <p:sldId id="536" r:id="rId95"/>
    <p:sldId id="537" r:id="rId96"/>
    <p:sldId id="538" r:id="rId97"/>
    <p:sldId id="539" r:id="rId98"/>
    <p:sldId id="540" r:id="rId99"/>
    <p:sldId id="542" r:id="rId100"/>
    <p:sldId id="543" r:id="rId101"/>
    <p:sldId id="544" r:id="rId102"/>
    <p:sldId id="545" r:id="rId103"/>
    <p:sldId id="546" r:id="rId104"/>
    <p:sldId id="547" r:id="rId105"/>
    <p:sldId id="548" r:id="rId106"/>
    <p:sldId id="549" r:id="rId107"/>
    <p:sldId id="550" r:id="rId108"/>
    <p:sldId id="551" r:id="rId109"/>
    <p:sldId id="552" r:id="rId110"/>
    <p:sldId id="553" r:id="rId111"/>
    <p:sldId id="554" r:id="rId112"/>
    <p:sldId id="555" r:id="rId113"/>
    <p:sldId id="556" r:id="rId114"/>
    <p:sldId id="557" r:id="rId115"/>
    <p:sldId id="558" r:id="rId116"/>
    <p:sldId id="559" r:id="rId117"/>
    <p:sldId id="560" r:id="rId118"/>
    <p:sldId id="561" r:id="rId119"/>
    <p:sldId id="562" r:id="rId120"/>
    <p:sldId id="563" r:id="rId121"/>
    <p:sldId id="566" r:id="rId122"/>
    <p:sldId id="567" r:id="rId123"/>
    <p:sldId id="568" r:id="rId124"/>
    <p:sldId id="569" r:id="rId125"/>
    <p:sldId id="570" r:id="rId126"/>
    <p:sldId id="571" r:id="rId127"/>
    <p:sldId id="572" r:id="rId128"/>
    <p:sldId id="573" r:id="rId129"/>
    <p:sldId id="574" r:id="rId130"/>
    <p:sldId id="575" r:id="rId131"/>
    <p:sldId id="576" r:id="rId132"/>
    <p:sldId id="577" r:id="rId133"/>
    <p:sldId id="578" r:id="rId134"/>
    <p:sldId id="579" r:id="rId135"/>
    <p:sldId id="580" r:id="rId136"/>
    <p:sldId id="581" r:id="rId137"/>
    <p:sldId id="582" r:id="rId138"/>
    <p:sldId id="583" r:id="rId139"/>
    <p:sldId id="584" r:id="rId140"/>
    <p:sldId id="585" r:id="rId141"/>
    <p:sldId id="586" r:id="rId142"/>
    <p:sldId id="587" r:id="rId143"/>
    <p:sldId id="588" r:id="rId144"/>
    <p:sldId id="589" r:id="rId145"/>
    <p:sldId id="590" r:id="rId146"/>
    <p:sldId id="591" r:id="rId147"/>
    <p:sldId id="592" r:id="rId148"/>
    <p:sldId id="593" r:id="rId149"/>
    <p:sldId id="594" r:id="rId150"/>
    <p:sldId id="595" r:id="rId151"/>
    <p:sldId id="596" r:id="rId152"/>
    <p:sldId id="597" r:id="rId153"/>
    <p:sldId id="481" r:id="rId154"/>
    <p:sldId id="598" r:id="rId155"/>
    <p:sldId id="599" r:id="rId156"/>
    <p:sldId id="600" r:id="rId157"/>
    <p:sldId id="601" r:id="rId158"/>
    <p:sldId id="602" r:id="rId159"/>
    <p:sldId id="603" r:id="rId160"/>
    <p:sldId id="604" r:id="rId161"/>
    <p:sldId id="605" r:id="rId162"/>
    <p:sldId id="606" r:id="rId163"/>
    <p:sldId id="607" r:id="rId164"/>
    <p:sldId id="608" r:id="rId165"/>
    <p:sldId id="609" r:id="rId166"/>
    <p:sldId id="610" r:id="rId167"/>
    <p:sldId id="611" r:id="rId168"/>
    <p:sldId id="612" r:id="rId169"/>
    <p:sldId id="613" r:id="rId170"/>
    <p:sldId id="614" r:id="rId171"/>
    <p:sldId id="615" r:id="rId172"/>
    <p:sldId id="616" r:id="rId173"/>
    <p:sldId id="617" r:id="rId174"/>
    <p:sldId id="618" r:id="rId175"/>
    <p:sldId id="619" r:id="rId176"/>
    <p:sldId id="620" r:id="rId177"/>
    <p:sldId id="621" r:id="rId178"/>
    <p:sldId id="506" r:id="rId179"/>
    <p:sldId id="622" r:id="rId180"/>
    <p:sldId id="623" r:id="rId181"/>
    <p:sldId id="624" r:id="rId182"/>
    <p:sldId id="625" r:id="rId183"/>
    <p:sldId id="626" r:id="rId184"/>
    <p:sldId id="627" r:id="rId185"/>
    <p:sldId id="628" r:id="rId186"/>
    <p:sldId id="256" r:id="rId187"/>
    <p:sldId id="309" r:id="rId188"/>
    <p:sldId id="310" r:id="rId189"/>
    <p:sldId id="315" r:id="rId190"/>
    <p:sldId id="317" r:id="rId191"/>
    <p:sldId id="318" r:id="rId192"/>
    <p:sldId id="311" r:id="rId193"/>
    <p:sldId id="312" r:id="rId194"/>
    <p:sldId id="313" r:id="rId195"/>
    <p:sldId id="314" r:id="rId196"/>
    <p:sldId id="323" r:id="rId197"/>
    <p:sldId id="328" r:id="rId198"/>
    <p:sldId id="325" r:id="rId199"/>
    <p:sldId id="326" r:id="rId200"/>
    <p:sldId id="327" r:id="rId201"/>
    <p:sldId id="329" r:id="rId202"/>
    <p:sldId id="331" r:id="rId203"/>
    <p:sldId id="330" r:id="rId204"/>
    <p:sldId id="324" r:id="rId205"/>
    <p:sldId id="332" r:id="rId206"/>
    <p:sldId id="333" r:id="rId207"/>
    <p:sldId id="319" r:id="rId208"/>
    <p:sldId id="320" r:id="rId209"/>
    <p:sldId id="321" r:id="rId210"/>
    <p:sldId id="322" r:id="rId211"/>
    <p:sldId id="629" r:id="rId212"/>
    <p:sldId id="630" r:id="rId213"/>
    <p:sldId id="631" r:id="rId214"/>
    <p:sldId id="632" r:id="rId215"/>
    <p:sldId id="633" r:id="rId216"/>
    <p:sldId id="634" r:id="rId217"/>
    <p:sldId id="635" r:id="rId218"/>
    <p:sldId id="636" r:id="rId219"/>
    <p:sldId id="637" r:id="rId220"/>
    <p:sldId id="638" r:id="rId221"/>
    <p:sldId id="639" r:id="rId222"/>
    <p:sldId id="640" r:id="rId223"/>
    <p:sldId id="641" r:id="rId224"/>
    <p:sldId id="642" r:id="rId225"/>
    <p:sldId id="643" r:id="rId226"/>
    <p:sldId id="644" r:id="rId227"/>
    <p:sldId id="645" r:id="rId228"/>
    <p:sldId id="646" r:id="rId229"/>
    <p:sldId id="647" r:id="rId230"/>
    <p:sldId id="648" r:id="rId231"/>
    <p:sldId id="649" r:id="rId232"/>
    <p:sldId id="650" r:id="rId233"/>
    <p:sldId id="651" r:id="rId234"/>
    <p:sldId id="652" r:id="rId235"/>
    <p:sldId id="653" r:id="rId236"/>
    <p:sldId id="654" r:id="rId237"/>
    <p:sldId id="655" r:id="rId238"/>
    <p:sldId id="656" r:id="rId239"/>
    <p:sldId id="657" r:id="rId240"/>
    <p:sldId id="658" r:id="rId241"/>
    <p:sldId id="659" r:id="rId242"/>
    <p:sldId id="660" r:id="rId243"/>
    <p:sldId id="661" r:id="rId244"/>
    <p:sldId id="662" r:id="rId245"/>
    <p:sldId id="663" r:id="rId246"/>
    <p:sldId id="664" r:id="rId247"/>
    <p:sldId id="665" r:id="rId248"/>
    <p:sldId id="666" r:id="rId249"/>
    <p:sldId id="667" r:id="rId250"/>
    <p:sldId id="527" r:id="rId251"/>
    <p:sldId id="668" r:id="rId252"/>
    <p:sldId id="669" r:id="rId253"/>
    <p:sldId id="670" r:id="rId254"/>
    <p:sldId id="671" r:id="rId255"/>
    <p:sldId id="672" r:id="rId256"/>
    <p:sldId id="673" r:id="rId257"/>
    <p:sldId id="674" r:id="rId258"/>
    <p:sldId id="675" r:id="rId259"/>
    <p:sldId id="676" r:id="rId260"/>
    <p:sldId id="677" r:id="rId261"/>
    <p:sldId id="678" r:id="rId262"/>
    <p:sldId id="541" r:id="rId263"/>
    <p:sldId id="679" r:id="rId264"/>
    <p:sldId id="680" r:id="rId265"/>
    <p:sldId id="681" r:id="rId266"/>
    <p:sldId id="682" r:id="rId267"/>
    <p:sldId id="683" r:id="rId268"/>
    <p:sldId id="684" r:id="rId269"/>
    <p:sldId id="685" r:id="rId270"/>
    <p:sldId id="686" r:id="rId271"/>
    <p:sldId id="687" r:id="rId272"/>
    <p:sldId id="688" r:id="rId273"/>
    <p:sldId id="689" r:id="rId274"/>
    <p:sldId id="690" r:id="rId275"/>
    <p:sldId id="691" r:id="rId276"/>
    <p:sldId id="692" r:id="rId277"/>
    <p:sldId id="693" r:id="rId278"/>
    <p:sldId id="694" r:id="rId279"/>
    <p:sldId id="695" r:id="rId280"/>
    <p:sldId id="696" r:id="rId281"/>
    <p:sldId id="697" r:id="rId282"/>
    <p:sldId id="698" r:id="rId283"/>
    <p:sldId id="565" r:id="rId284"/>
    <p:sldId id="699" r:id="rId285"/>
    <p:sldId id="700" r:id="rId286"/>
    <p:sldId id="701" r:id="rId287"/>
    <p:sldId id="702" r:id="rId288"/>
    <p:sldId id="703" r:id="rId289"/>
    <p:sldId id="704" r:id="rId290"/>
    <p:sldId id="705" r:id="rId291"/>
    <p:sldId id="706" r:id="rId292"/>
    <p:sldId id="707" r:id="rId293"/>
    <p:sldId id="708" r:id="rId294"/>
    <p:sldId id="709" r:id="rId295"/>
    <p:sldId id="710" r:id="rId296"/>
    <p:sldId id="711" r:id="rId297"/>
    <p:sldId id="712" r:id="rId298"/>
    <p:sldId id="713" r:id="rId299"/>
    <p:sldId id="714" r:id="rId300"/>
    <p:sldId id="715" r:id="rId301"/>
    <p:sldId id="716" r:id="rId302"/>
    <p:sldId id="717" r:id="rId303"/>
    <p:sldId id="718" r:id="rId304"/>
    <p:sldId id="719" r:id="rId305"/>
    <p:sldId id="720" r:id="rId306"/>
    <p:sldId id="721" r:id="rId307"/>
    <p:sldId id="722" r:id="rId308"/>
    <p:sldId id="723" r:id="rId309"/>
    <p:sldId id="724" r:id="rId310"/>
    <p:sldId id="725" r:id="rId311"/>
    <p:sldId id="726" r:id="rId312"/>
    <p:sldId id="727" r:id="rId313"/>
    <p:sldId id="728" r:id="rId314"/>
    <p:sldId id="729" r:id="rId315"/>
    <p:sldId id="730" r:id="rId316"/>
    <p:sldId id="731" r:id="rId317"/>
    <p:sldId id="732" r:id="rId318"/>
    <p:sldId id="733" r:id="rId319"/>
    <p:sldId id="734" r:id="rId320"/>
    <p:sldId id="735" r:id="rId321"/>
    <p:sldId id="736" r:id="rId322"/>
    <p:sldId id="737" r:id="rId323"/>
    <p:sldId id="738" r:id="rId324"/>
    <p:sldId id="739" r:id="rId325"/>
    <p:sldId id="740" r:id="rId326"/>
    <p:sldId id="741" r:id="rId327"/>
    <p:sldId id="742" r:id="rId328"/>
  </p:sldIdLst>
  <p:sldSz cx="9144000" cy="6858000" type="screen4x3"/>
  <p:notesSz cx="6858000" cy="9144000"/>
  <p:custDataLst>
    <p:tags r:id="rId331"/>
  </p:custDataLst>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4" autoAdjust="0"/>
    <p:restoredTop sz="94630" autoAdjust="0"/>
  </p:normalViewPr>
  <p:slideViewPr>
    <p:cSldViewPr>
      <p:cViewPr varScale="1">
        <p:scale>
          <a:sx n="70" d="100"/>
          <a:sy n="70" d="100"/>
        </p:scale>
        <p:origin x="1204" y="4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2208"/>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4.xml"/><Relationship Id="rId299" Type="http://schemas.openxmlformats.org/officeDocument/2006/relationships/slide" Target="slides/slide296.xml"/><Relationship Id="rId21" Type="http://schemas.openxmlformats.org/officeDocument/2006/relationships/slide" Target="slides/slide18.xml"/><Relationship Id="rId63" Type="http://schemas.openxmlformats.org/officeDocument/2006/relationships/slide" Target="slides/slide60.xml"/><Relationship Id="rId159" Type="http://schemas.openxmlformats.org/officeDocument/2006/relationships/slide" Target="slides/slide156.xml"/><Relationship Id="rId324" Type="http://schemas.openxmlformats.org/officeDocument/2006/relationships/slide" Target="slides/slide321.xml"/><Relationship Id="rId170" Type="http://schemas.openxmlformats.org/officeDocument/2006/relationships/slide" Target="slides/slide167.xml"/><Relationship Id="rId226" Type="http://schemas.openxmlformats.org/officeDocument/2006/relationships/slide" Target="slides/slide223.xml"/><Relationship Id="rId268" Type="http://schemas.openxmlformats.org/officeDocument/2006/relationships/slide" Target="slides/slide265.xml"/><Relationship Id="rId32" Type="http://schemas.openxmlformats.org/officeDocument/2006/relationships/slide" Target="slides/slide29.xml"/><Relationship Id="rId74" Type="http://schemas.openxmlformats.org/officeDocument/2006/relationships/slide" Target="slides/slide71.xml"/><Relationship Id="rId128" Type="http://schemas.openxmlformats.org/officeDocument/2006/relationships/slide" Target="slides/slide125.xml"/><Relationship Id="rId335" Type="http://schemas.openxmlformats.org/officeDocument/2006/relationships/tableStyles" Target="tableStyles.xml"/><Relationship Id="rId5" Type="http://schemas.openxmlformats.org/officeDocument/2006/relationships/slide" Target="slides/slide2.xml"/><Relationship Id="rId181" Type="http://schemas.openxmlformats.org/officeDocument/2006/relationships/slide" Target="slides/slide178.xml"/><Relationship Id="rId237" Type="http://schemas.openxmlformats.org/officeDocument/2006/relationships/slide" Target="slides/slide234.xml"/><Relationship Id="rId279" Type="http://schemas.openxmlformats.org/officeDocument/2006/relationships/slide" Target="slides/slide276.xml"/><Relationship Id="rId43" Type="http://schemas.openxmlformats.org/officeDocument/2006/relationships/slide" Target="slides/slide40.xml"/><Relationship Id="rId139" Type="http://schemas.openxmlformats.org/officeDocument/2006/relationships/slide" Target="slides/slide136.xml"/><Relationship Id="rId290" Type="http://schemas.openxmlformats.org/officeDocument/2006/relationships/slide" Target="slides/slide287.xml"/><Relationship Id="rId304" Type="http://schemas.openxmlformats.org/officeDocument/2006/relationships/slide" Target="slides/slide301.xml"/><Relationship Id="rId85" Type="http://schemas.openxmlformats.org/officeDocument/2006/relationships/slide" Target="slides/slide82.xml"/><Relationship Id="rId150" Type="http://schemas.openxmlformats.org/officeDocument/2006/relationships/slide" Target="slides/slide147.xml"/><Relationship Id="rId192" Type="http://schemas.openxmlformats.org/officeDocument/2006/relationships/slide" Target="slides/slide189.xml"/><Relationship Id="rId206" Type="http://schemas.openxmlformats.org/officeDocument/2006/relationships/slide" Target="slides/slide203.xml"/><Relationship Id="rId248" Type="http://schemas.openxmlformats.org/officeDocument/2006/relationships/slide" Target="slides/slide245.xml"/><Relationship Id="rId12" Type="http://schemas.openxmlformats.org/officeDocument/2006/relationships/slide" Target="slides/slide9.xml"/><Relationship Id="rId108" Type="http://schemas.openxmlformats.org/officeDocument/2006/relationships/slide" Target="slides/slide105.xml"/><Relationship Id="rId315" Type="http://schemas.openxmlformats.org/officeDocument/2006/relationships/slide" Target="slides/slide312.xml"/><Relationship Id="rId54" Type="http://schemas.openxmlformats.org/officeDocument/2006/relationships/slide" Target="slides/slide51.xml"/><Relationship Id="rId96" Type="http://schemas.openxmlformats.org/officeDocument/2006/relationships/slide" Target="slides/slide93.xml"/><Relationship Id="rId161" Type="http://schemas.openxmlformats.org/officeDocument/2006/relationships/slide" Target="slides/slide158.xml"/><Relationship Id="rId217" Type="http://schemas.openxmlformats.org/officeDocument/2006/relationships/slide" Target="slides/slide214.xml"/><Relationship Id="rId259" Type="http://schemas.openxmlformats.org/officeDocument/2006/relationships/slide" Target="slides/slide256.xml"/><Relationship Id="rId23" Type="http://schemas.openxmlformats.org/officeDocument/2006/relationships/slide" Target="slides/slide20.xml"/><Relationship Id="rId119" Type="http://schemas.openxmlformats.org/officeDocument/2006/relationships/slide" Target="slides/slide116.xml"/><Relationship Id="rId270" Type="http://schemas.openxmlformats.org/officeDocument/2006/relationships/slide" Target="slides/slide267.xml"/><Relationship Id="rId326" Type="http://schemas.openxmlformats.org/officeDocument/2006/relationships/slide" Target="slides/slide323.xml"/><Relationship Id="rId65" Type="http://schemas.openxmlformats.org/officeDocument/2006/relationships/slide" Target="slides/slide62.xml"/><Relationship Id="rId130" Type="http://schemas.openxmlformats.org/officeDocument/2006/relationships/slide" Target="slides/slide127.xml"/><Relationship Id="rId172" Type="http://schemas.openxmlformats.org/officeDocument/2006/relationships/slide" Target="slides/slide169.xml"/><Relationship Id="rId228" Type="http://schemas.openxmlformats.org/officeDocument/2006/relationships/slide" Target="slides/slide225.xml"/><Relationship Id="rId281" Type="http://schemas.openxmlformats.org/officeDocument/2006/relationships/slide" Target="slides/slide278.xml"/><Relationship Id="rId34" Type="http://schemas.openxmlformats.org/officeDocument/2006/relationships/slide" Target="slides/slide31.xml"/><Relationship Id="rId76" Type="http://schemas.openxmlformats.org/officeDocument/2006/relationships/slide" Target="slides/slide73.xml"/><Relationship Id="rId141" Type="http://schemas.openxmlformats.org/officeDocument/2006/relationships/slide" Target="slides/slide138.xml"/><Relationship Id="rId7" Type="http://schemas.openxmlformats.org/officeDocument/2006/relationships/slide" Target="slides/slide4.xml"/><Relationship Id="rId183" Type="http://schemas.openxmlformats.org/officeDocument/2006/relationships/slide" Target="slides/slide180.xml"/><Relationship Id="rId239" Type="http://schemas.openxmlformats.org/officeDocument/2006/relationships/slide" Target="slides/slide236.xml"/><Relationship Id="rId250" Type="http://schemas.openxmlformats.org/officeDocument/2006/relationships/slide" Target="slides/slide247.xml"/><Relationship Id="rId292" Type="http://schemas.openxmlformats.org/officeDocument/2006/relationships/slide" Target="slides/slide289.xml"/><Relationship Id="rId306" Type="http://schemas.openxmlformats.org/officeDocument/2006/relationships/slide" Target="slides/slide303.xml"/><Relationship Id="rId24" Type="http://schemas.openxmlformats.org/officeDocument/2006/relationships/slide" Target="slides/slide21.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110" Type="http://schemas.openxmlformats.org/officeDocument/2006/relationships/slide" Target="slides/slide107.xml"/><Relationship Id="rId131" Type="http://schemas.openxmlformats.org/officeDocument/2006/relationships/slide" Target="slides/slide128.xml"/><Relationship Id="rId327" Type="http://schemas.openxmlformats.org/officeDocument/2006/relationships/slide" Target="slides/slide324.xml"/><Relationship Id="rId152" Type="http://schemas.openxmlformats.org/officeDocument/2006/relationships/slide" Target="slides/slide149.xml"/><Relationship Id="rId173" Type="http://schemas.openxmlformats.org/officeDocument/2006/relationships/slide" Target="slides/slide170.xml"/><Relationship Id="rId194" Type="http://schemas.openxmlformats.org/officeDocument/2006/relationships/slide" Target="slides/slide191.xml"/><Relationship Id="rId208" Type="http://schemas.openxmlformats.org/officeDocument/2006/relationships/slide" Target="slides/slide205.xml"/><Relationship Id="rId229" Type="http://schemas.openxmlformats.org/officeDocument/2006/relationships/slide" Target="slides/slide226.xml"/><Relationship Id="rId240" Type="http://schemas.openxmlformats.org/officeDocument/2006/relationships/slide" Target="slides/slide237.xml"/><Relationship Id="rId261" Type="http://schemas.openxmlformats.org/officeDocument/2006/relationships/slide" Target="slides/slide258.xml"/><Relationship Id="rId14" Type="http://schemas.openxmlformats.org/officeDocument/2006/relationships/slide" Target="slides/slide11.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100" Type="http://schemas.openxmlformats.org/officeDocument/2006/relationships/slide" Target="slides/slide97.xml"/><Relationship Id="rId282" Type="http://schemas.openxmlformats.org/officeDocument/2006/relationships/slide" Target="slides/slide279.xml"/><Relationship Id="rId317" Type="http://schemas.openxmlformats.org/officeDocument/2006/relationships/slide" Target="slides/slide314.xml"/><Relationship Id="rId8" Type="http://schemas.openxmlformats.org/officeDocument/2006/relationships/slide" Target="slides/slide5.xml"/><Relationship Id="rId98" Type="http://schemas.openxmlformats.org/officeDocument/2006/relationships/slide" Target="slides/slide95.xml"/><Relationship Id="rId121" Type="http://schemas.openxmlformats.org/officeDocument/2006/relationships/slide" Target="slides/slide118.xml"/><Relationship Id="rId142" Type="http://schemas.openxmlformats.org/officeDocument/2006/relationships/slide" Target="slides/slide139.xml"/><Relationship Id="rId163" Type="http://schemas.openxmlformats.org/officeDocument/2006/relationships/slide" Target="slides/slide160.xml"/><Relationship Id="rId184" Type="http://schemas.openxmlformats.org/officeDocument/2006/relationships/slide" Target="slides/slide181.xml"/><Relationship Id="rId219" Type="http://schemas.openxmlformats.org/officeDocument/2006/relationships/slide" Target="slides/slide216.xml"/><Relationship Id="rId230" Type="http://schemas.openxmlformats.org/officeDocument/2006/relationships/slide" Target="slides/slide227.xml"/><Relationship Id="rId251" Type="http://schemas.openxmlformats.org/officeDocument/2006/relationships/slide" Target="slides/slide248.xml"/><Relationship Id="rId25" Type="http://schemas.openxmlformats.org/officeDocument/2006/relationships/slide" Target="slides/slide22.xml"/><Relationship Id="rId46" Type="http://schemas.openxmlformats.org/officeDocument/2006/relationships/slide" Target="slides/slide43.xml"/><Relationship Id="rId67" Type="http://schemas.openxmlformats.org/officeDocument/2006/relationships/slide" Target="slides/slide64.xml"/><Relationship Id="rId272" Type="http://schemas.openxmlformats.org/officeDocument/2006/relationships/slide" Target="slides/slide269.xml"/><Relationship Id="rId293" Type="http://schemas.openxmlformats.org/officeDocument/2006/relationships/slide" Target="slides/slide290.xml"/><Relationship Id="rId307" Type="http://schemas.openxmlformats.org/officeDocument/2006/relationships/slide" Target="slides/slide304.xml"/><Relationship Id="rId328" Type="http://schemas.openxmlformats.org/officeDocument/2006/relationships/slide" Target="slides/slide325.xml"/><Relationship Id="rId88" Type="http://schemas.openxmlformats.org/officeDocument/2006/relationships/slide" Target="slides/slide85.xml"/><Relationship Id="rId111" Type="http://schemas.openxmlformats.org/officeDocument/2006/relationships/slide" Target="slides/slide108.xml"/><Relationship Id="rId132" Type="http://schemas.openxmlformats.org/officeDocument/2006/relationships/slide" Target="slides/slide129.xml"/><Relationship Id="rId153" Type="http://schemas.openxmlformats.org/officeDocument/2006/relationships/slide" Target="slides/slide150.xml"/><Relationship Id="rId174" Type="http://schemas.openxmlformats.org/officeDocument/2006/relationships/slide" Target="slides/slide171.xml"/><Relationship Id="rId195" Type="http://schemas.openxmlformats.org/officeDocument/2006/relationships/slide" Target="slides/slide192.xml"/><Relationship Id="rId209" Type="http://schemas.openxmlformats.org/officeDocument/2006/relationships/slide" Target="slides/slide206.xml"/><Relationship Id="rId220" Type="http://schemas.openxmlformats.org/officeDocument/2006/relationships/slide" Target="slides/slide217.xml"/><Relationship Id="rId241" Type="http://schemas.openxmlformats.org/officeDocument/2006/relationships/slide" Target="slides/slide238.xml"/><Relationship Id="rId15" Type="http://schemas.openxmlformats.org/officeDocument/2006/relationships/slide" Target="slides/slide12.xml"/><Relationship Id="rId36" Type="http://schemas.openxmlformats.org/officeDocument/2006/relationships/slide" Target="slides/slide33.xml"/><Relationship Id="rId57" Type="http://schemas.openxmlformats.org/officeDocument/2006/relationships/slide" Target="slides/slide54.xml"/><Relationship Id="rId262" Type="http://schemas.openxmlformats.org/officeDocument/2006/relationships/slide" Target="slides/slide259.xml"/><Relationship Id="rId283" Type="http://schemas.openxmlformats.org/officeDocument/2006/relationships/slide" Target="slides/slide280.xml"/><Relationship Id="rId318" Type="http://schemas.openxmlformats.org/officeDocument/2006/relationships/slide" Target="slides/slide315.xml"/><Relationship Id="rId78" Type="http://schemas.openxmlformats.org/officeDocument/2006/relationships/slide" Target="slides/slide75.xml"/><Relationship Id="rId99" Type="http://schemas.openxmlformats.org/officeDocument/2006/relationships/slide" Target="slides/slide96.xml"/><Relationship Id="rId101" Type="http://schemas.openxmlformats.org/officeDocument/2006/relationships/slide" Target="slides/slide98.xml"/><Relationship Id="rId122" Type="http://schemas.openxmlformats.org/officeDocument/2006/relationships/slide" Target="slides/slide119.xml"/><Relationship Id="rId143" Type="http://schemas.openxmlformats.org/officeDocument/2006/relationships/slide" Target="slides/slide140.xml"/><Relationship Id="rId164" Type="http://schemas.openxmlformats.org/officeDocument/2006/relationships/slide" Target="slides/slide161.xml"/><Relationship Id="rId185" Type="http://schemas.openxmlformats.org/officeDocument/2006/relationships/slide" Target="slides/slide182.xml"/><Relationship Id="rId9" Type="http://schemas.openxmlformats.org/officeDocument/2006/relationships/slide" Target="slides/slide6.xml"/><Relationship Id="rId210" Type="http://schemas.openxmlformats.org/officeDocument/2006/relationships/slide" Target="slides/slide207.xml"/><Relationship Id="rId26" Type="http://schemas.openxmlformats.org/officeDocument/2006/relationships/slide" Target="slides/slide23.xml"/><Relationship Id="rId231" Type="http://schemas.openxmlformats.org/officeDocument/2006/relationships/slide" Target="slides/slide228.xml"/><Relationship Id="rId252" Type="http://schemas.openxmlformats.org/officeDocument/2006/relationships/slide" Target="slides/slide249.xml"/><Relationship Id="rId273" Type="http://schemas.openxmlformats.org/officeDocument/2006/relationships/slide" Target="slides/slide270.xml"/><Relationship Id="rId294" Type="http://schemas.openxmlformats.org/officeDocument/2006/relationships/slide" Target="slides/slide291.xml"/><Relationship Id="rId308" Type="http://schemas.openxmlformats.org/officeDocument/2006/relationships/slide" Target="slides/slide305.xml"/><Relationship Id="rId329" Type="http://schemas.openxmlformats.org/officeDocument/2006/relationships/notesMaster" Target="notesMasters/notesMaster1.xml"/><Relationship Id="rId47" Type="http://schemas.openxmlformats.org/officeDocument/2006/relationships/slide" Target="slides/slide44.xml"/><Relationship Id="rId68" Type="http://schemas.openxmlformats.org/officeDocument/2006/relationships/slide" Target="slides/slide65.xml"/><Relationship Id="rId89" Type="http://schemas.openxmlformats.org/officeDocument/2006/relationships/slide" Target="slides/slide86.xml"/><Relationship Id="rId112" Type="http://schemas.openxmlformats.org/officeDocument/2006/relationships/slide" Target="slides/slide109.xml"/><Relationship Id="rId133" Type="http://schemas.openxmlformats.org/officeDocument/2006/relationships/slide" Target="slides/slide130.xml"/><Relationship Id="rId154" Type="http://schemas.openxmlformats.org/officeDocument/2006/relationships/slide" Target="slides/slide151.xml"/><Relationship Id="rId175" Type="http://schemas.openxmlformats.org/officeDocument/2006/relationships/slide" Target="slides/slide172.xml"/><Relationship Id="rId196" Type="http://schemas.openxmlformats.org/officeDocument/2006/relationships/slide" Target="slides/slide193.xml"/><Relationship Id="rId200" Type="http://schemas.openxmlformats.org/officeDocument/2006/relationships/slide" Target="slides/slide197.xml"/><Relationship Id="rId16" Type="http://schemas.openxmlformats.org/officeDocument/2006/relationships/slide" Target="slides/slide13.xml"/><Relationship Id="rId221" Type="http://schemas.openxmlformats.org/officeDocument/2006/relationships/slide" Target="slides/slide218.xml"/><Relationship Id="rId242" Type="http://schemas.openxmlformats.org/officeDocument/2006/relationships/slide" Target="slides/slide239.xml"/><Relationship Id="rId263" Type="http://schemas.openxmlformats.org/officeDocument/2006/relationships/slide" Target="slides/slide260.xml"/><Relationship Id="rId284" Type="http://schemas.openxmlformats.org/officeDocument/2006/relationships/slide" Target="slides/slide281.xml"/><Relationship Id="rId319" Type="http://schemas.openxmlformats.org/officeDocument/2006/relationships/slide" Target="slides/slide316.xml"/><Relationship Id="rId37" Type="http://schemas.openxmlformats.org/officeDocument/2006/relationships/slide" Target="slides/slide34.xml"/><Relationship Id="rId58" Type="http://schemas.openxmlformats.org/officeDocument/2006/relationships/slide" Target="slides/slide55.xml"/><Relationship Id="rId79" Type="http://schemas.openxmlformats.org/officeDocument/2006/relationships/slide" Target="slides/slide76.xml"/><Relationship Id="rId102" Type="http://schemas.openxmlformats.org/officeDocument/2006/relationships/slide" Target="slides/slide99.xml"/><Relationship Id="rId123" Type="http://schemas.openxmlformats.org/officeDocument/2006/relationships/slide" Target="slides/slide120.xml"/><Relationship Id="rId144" Type="http://schemas.openxmlformats.org/officeDocument/2006/relationships/slide" Target="slides/slide141.xml"/><Relationship Id="rId330" Type="http://schemas.openxmlformats.org/officeDocument/2006/relationships/handoutMaster" Target="handoutMasters/handoutMaster1.xml"/><Relationship Id="rId90" Type="http://schemas.openxmlformats.org/officeDocument/2006/relationships/slide" Target="slides/slide87.xml"/><Relationship Id="rId165" Type="http://schemas.openxmlformats.org/officeDocument/2006/relationships/slide" Target="slides/slide162.xml"/><Relationship Id="rId186" Type="http://schemas.openxmlformats.org/officeDocument/2006/relationships/slide" Target="slides/slide183.xml"/><Relationship Id="rId211" Type="http://schemas.openxmlformats.org/officeDocument/2006/relationships/slide" Target="slides/slide208.xml"/><Relationship Id="rId232" Type="http://schemas.openxmlformats.org/officeDocument/2006/relationships/slide" Target="slides/slide229.xml"/><Relationship Id="rId253" Type="http://schemas.openxmlformats.org/officeDocument/2006/relationships/slide" Target="slides/slide250.xml"/><Relationship Id="rId274" Type="http://schemas.openxmlformats.org/officeDocument/2006/relationships/slide" Target="slides/slide271.xml"/><Relationship Id="rId295" Type="http://schemas.openxmlformats.org/officeDocument/2006/relationships/slide" Target="slides/slide292.xml"/><Relationship Id="rId309" Type="http://schemas.openxmlformats.org/officeDocument/2006/relationships/slide" Target="slides/slide306.xml"/><Relationship Id="rId27" Type="http://schemas.openxmlformats.org/officeDocument/2006/relationships/slide" Target="slides/slide24.xml"/><Relationship Id="rId48" Type="http://schemas.openxmlformats.org/officeDocument/2006/relationships/slide" Target="slides/slide45.xml"/><Relationship Id="rId69" Type="http://schemas.openxmlformats.org/officeDocument/2006/relationships/slide" Target="slides/slide66.xml"/><Relationship Id="rId113" Type="http://schemas.openxmlformats.org/officeDocument/2006/relationships/slide" Target="slides/slide110.xml"/><Relationship Id="rId134" Type="http://schemas.openxmlformats.org/officeDocument/2006/relationships/slide" Target="slides/slide131.xml"/><Relationship Id="rId320" Type="http://schemas.openxmlformats.org/officeDocument/2006/relationships/slide" Target="slides/slide317.xml"/><Relationship Id="rId80" Type="http://schemas.openxmlformats.org/officeDocument/2006/relationships/slide" Target="slides/slide77.xml"/><Relationship Id="rId155" Type="http://schemas.openxmlformats.org/officeDocument/2006/relationships/slide" Target="slides/slide152.xml"/><Relationship Id="rId176" Type="http://schemas.openxmlformats.org/officeDocument/2006/relationships/slide" Target="slides/slide173.xml"/><Relationship Id="rId197" Type="http://schemas.openxmlformats.org/officeDocument/2006/relationships/slide" Target="slides/slide194.xml"/><Relationship Id="rId201" Type="http://schemas.openxmlformats.org/officeDocument/2006/relationships/slide" Target="slides/slide198.xml"/><Relationship Id="rId222" Type="http://schemas.openxmlformats.org/officeDocument/2006/relationships/slide" Target="slides/slide219.xml"/><Relationship Id="rId243" Type="http://schemas.openxmlformats.org/officeDocument/2006/relationships/slide" Target="slides/slide240.xml"/><Relationship Id="rId264" Type="http://schemas.openxmlformats.org/officeDocument/2006/relationships/slide" Target="slides/slide261.xml"/><Relationship Id="rId285" Type="http://schemas.openxmlformats.org/officeDocument/2006/relationships/slide" Target="slides/slide282.xml"/><Relationship Id="rId17" Type="http://schemas.openxmlformats.org/officeDocument/2006/relationships/slide" Target="slides/slide14.xml"/><Relationship Id="rId38" Type="http://schemas.openxmlformats.org/officeDocument/2006/relationships/slide" Target="slides/slide35.xml"/><Relationship Id="rId59" Type="http://schemas.openxmlformats.org/officeDocument/2006/relationships/slide" Target="slides/slide56.xml"/><Relationship Id="rId103" Type="http://schemas.openxmlformats.org/officeDocument/2006/relationships/slide" Target="slides/slide100.xml"/><Relationship Id="rId124" Type="http://schemas.openxmlformats.org/officeDocument/2006/relationships/slide" Target="slides/slide121.xml"/><Relationship Id="rId310" Type="http://schemas.openxmlformats.org/officeDocument/2006/relationships/slide" Target="slides/slide307.xml"/><Relationship Id="rId70" Type="http://schemas.openxmlformats.org/officeDocument/2006/relationships/slide" Target="slides/slide67.xml"/><Relationship Id="rId91" Type="http://schemas.openxmlformats.org/officeDocument/2006/relationships/slide" Target="slides/slide88.xml"/><Relationship Id="rId145" Type="http://schemas.openxmlformats.org/officeDocument/2006/relationships/slide" Target="slides/slide142.xml"/><Relationship Id="rId166" Type="http://schemas.openxmlformats.org/officeDocument/2006/relationships/slide" Target="slides/slide163.xml"/><Relationship Id="rId187" Type="http://schemas.openxmlformats.org/officeDocument/2006/relationships/slide" Target="slides/slide184.xml"/><Relationship Id="rId331" Type="http://schemas.openxmlformats.org/officeDocument/2006/relationships/tags" Target="tags/tag1.xml"/><Relationship Id="rId1" Type="http://schemas.openxmlformats.org/officeDocument/2006/relationships/slideMaster" Target="slideMasters/slideMaster1.xml"/><Relationship Id="rId212" Type="http://schemas.openxmlformats.org/officeDocument/2006/relationships/slide" Target="slides/slide209.xml"/><Relationship Id="rId233" Type="http://schemas.openxmlformats.org/officeDocument/2006/relationships/slide" Target="slides/slide230.xml"/><Relationship Id="rId254" Type="http://schemas.openxmlformats.org/officeDocument/2006/relationships/slide" Target="slides/slide251.xml"/><Relationship Id="rId28" Type="http://schemas.openxmlformats.org/officeDocument/2006/relationships/slide" Target="slides/slide25.xml"/><Relationship Id="rId49" Type="http://schemas.openxmlformats.org/officeDocument/2006/relationships/slide" Target="slides/slide46.xml"/><Relationship Id="rId114" Type="http://schemas.openxmlformats.org/officeDocument/2006/relationships/slide" Target="slides/slide111.xml"/><Relationship Id="rId275" Type="http://schemas.openxmlformats.org/officeDocument/2006/relationships/slide" Target="slides/slide272.xml"/><Relationship Id="rId296" Type="http://schemas.openxmlformats.org/officeDocument/2006/relationships/slide" Target="slides/slide293.xml"/><Relationship Id="rId300" Type="http://schemas.openxmlformats.org/officeDocument/2006/relationships/slide" Target="slides/slide297.xml"/><Relationship Id="rId60" Type="http://schemas.openxmlformats.org/officeDocument/2006/relationships/slide" Target="slides/slide57.xml"/><Relationship Id="rId81" Type="http://schemas.openxmlformats.org/officeDocument/2006/relationships/slide" Target="slides/slide78.xml"/><Relationship Id="rId135" Type="http://schemas.openxmlformats.org/officeDocument/2006/relationships/slide" Target="slides/slide132.xml"/><Relationship Id="rId156" Type="http://schemas.openxmlformats.org/officeDocument/2006/relationships/slide" Target="slides/slide153.xml"/><Relationship Id="rId177" Type="http://schemas.openxmlformats.org/officeDocument/2006/relationships/slide" Target="slides/slide174.xml"/><Relationship Id="rId198" Type="http://schemas.openxmlformats.org/officeDocument/2006/relationships/slide" Target="slides/slide195.xml"/><Relationship Id="rId321" Type="http://schemas.openxmlformats.org/officeDocument/2006/relationships/slide" Target="slides/slide318.xml"/><Relationship Id="rId202" Type="http://schemas.openxmlformats.org/officeDocument/2006/relationships/slide" Target="slides/slide199.xml"/><Relationship Id="rId223" Type="http://schemas.openxmlformats.org/officeDocument/2006/relationships/slide" Target="slides/slide220.xml"/><Relationship Id="rId244" Type="http://schemas.openxmlformats.org/officeDocument/2006/relationships/slide" Target="slides/slide241.xml"/><Relationship Id="rId18" Type="http://schemas.openxmlformats.org/officeDocument/2006/relationships/slide" Target="slides/slide15.xml"/><Relationship Id="rId39" Type="http://schemas.openxmlformats.org/officeDocument/2006/relationships/slide" Target="slides/slide36.xml"/><Relationship Id="rId265" Type="http://schemas.openxmlformats.org/officeDocument/2006/relationships/slide" Target="slides/slide262.xml"/><Relationship Id="rId286" Type="http://schemas.openxmlformats.org/officeDocument/2006/relationships/slide" Target="slides/slide283.xml"/><Relationship Id="rId50" Type="http://schemas.openxmlformats.org/officeDocument/2006/relationships/slide" Target="slides/slide47.xml"/><Relationship Id="rId104" Type="http://schemas.openxmlformats.org/officeDocument/2006/relationships/slide" Target="slides/slide101.xml"/><Relationship Id="rId125" Type="http://schemas.openxmlformats.org/officeDocument/2006/relationships/slide" Target="slides/slide122.xml"/><Relationship Id="rId146" Type="http://schemas.openxmlformats.org/officeDocument/2006/relationships/slide" Target="slides/slide143.xml"/><Relationship Id="rId167" Type="http://schemas.openxmlformats.org/officeDocument/2006/relationships/slide" Target="slides/slide164.xml"/><Relationship Id="rId188" Type="http://schemas.openxmlformats.org/officeDocument/2006/relationships/slide" Target="slides/slide185.xml"/><Relationship Id="rId311" Type="http://schemas.openxmlformats.org/officeDocument/2006/relationships/slide" Target="slides/slide308.xml"/><Relationship Id="rId332" Type="http://schemas.openxmlformats.org/officeDocument/2006/relationships/presProps" Target="presProps.xml"/><Relationship Id="rId71" Type="http://schemas.openxmlformats.org/officeDocument/2006/relationships/slide" Target="slides/slide68.xml"/><Relationship Id="rId92" Type="http://schemas.openxmlformats.org/officeDocument/2006/relationships/slide" Target="slides/slide89.xml"/><Relationship Id="rId213" Type="http://schemas.openxmlformats.org/officeDocument/2006/relationships/slide" Target="slides/slide210.xml"/><Relationship Id="rId234" Type="http://schemas.openxmlformats.org/officeDocument/2006/relationships/slide" Target="slides/slide231.xml"/><Relationship Id="rId2" Type="http://schemas.openxmlformats.org/officeDocument/2006/relationships/slideMaster" Target="slideMasters/slideMaster2.xml"/><Relationship Id="rId29" Type="http://schemas.openxmlformats.org/officeDocument/2006/relationships/slide" Target="slides/slide26.xml"/><Relationship Id="rId255" Type="http://schemas.openxmlformats.org/officeDocument/2006/relationships/slide" Target="slides/slide252.xml"/><Relationship Id="rId276" Type="http://schemas.openxmlformats.org/officeDocument/2006/relationships/slide" Target="slides/slide273.xml"/><Relationship Id="rId297" Type="http://schemas.openxmlformats.org/officeDocument/2006/relationships/slide" Target="slides/slide294.xml"/><Relationship Id="rId40" Type="http://schemas.openxmlformats.org/officeDocument/2006/relationships/slide" Target="slides/slide37.xml"/><Relationship Id="rId115" Type="http://schemas.openxmlformats.org/officeDocument/2006/relationships/slide" Target="slides/slide112.xml"/><Relationship Id="rId136" Type="http://schemas.openxmlformats.org/officeDocument/2006/relationships/slide" Target="slides/slide133.xml"/><Relationship Id="rId157" Type="http://schemas.openxmlformats.org/officeDocument/2006/relationships/slide" Target="slides/slide154.xml"/><Relationship Id="rId178" Type="http://schemas.openxmlformats.org/officeDocument/2006/relationships/slide" Target="slides/slide175.xml"/><Relationship Id="rId301" Type="http://schemas.openxmlformats.org/officeDocument/2006/relationships/slide" Target="slides/slide298.xml"/><Relationship Id="rId322" Type="http://schemas.openxmlformats.org/officeDocument/2006/relationships/slide" Target="slides/slide319.xml"/><Relationship Id="rId61" Type="http://schemas.openxmlformats.org/officeDocument/2006/relationships/slide" Target="slides/slide58.xml"/><Relationship Id="rId82" Type="http://schemas.openxmlformats.org/officeDocument/2006/relationships/slide" Target="slides/slide79.xml"/><Relationship Id="rId199" Type="http://schemas.openxmlformats.org/officeDocument/2006/relationships/slide" Target="slides/slide196.xml"/><Relationship Id="rId203" Type="http://schemas.openxmlformats.org/officeDocument/2006/relationships/slide" Target="slides/slide200.xml"/><Relationship Id="rId19" Type="http://schemas.openxmlformats.org/officeDocument/2006/relationships/slide" Target="slides/slide16.xml"/><Relationship Id="rId224" Type="http://schemas.openxmlformats.org/officeDocument/2006/relationships/slide" Target="slides/slide221.xml"/><Relationship Id="rId245" Type="http://schemas.openxmlformats.org/officeDocument/2006/relationships/slide" Target="slides/slide242.xml"/><Relationship Id="rId266" Type="http://schemas.openxmlformats.org/officeDocument/2006/relationships/slide" Target="slides/slide263.xml"/><Relationship Id="rId287" Type="http://schemas.openxmlformats.org/officeDocument/2006/relationships/slide" Target="slides/slide284.xml"/><Relationship Id="rId30" Type="http://schemas.openxmlformats.org/officeDocument/2006/relationships/slide" Target="slides/slide27.xml"/><Relationship Id="rId105" Type="http://schemas.openxmlformats.org/officeDocument/2006/relationships/slide" Target="slides/slide102.xml"/><Relationship Id="rId126" Type="http://schemas.openxmlformats.org/officeDocument/2006/relationships/slide" Target="slides/slide123.xml"/><Relationship Id="rId147" Type="http://schemas.openxmlformats.org/officeDocument/2006/relationships/slide" Target="slides/slide144.xml"/><Relationship Id="rId168" Type="http://schemas.openxmlformats.org/officeDocument/2006/relationships/slide" Target="slides/slide165.xml"/><Relationship Id="rId312" Type="http://schemas.openxmlformats.org/officeDocument/2006/relationships/slide" Target="slides/slide309.xml"/><Relationship Id="rId333" Type="http://schemas.openxmlformats.org/officeDocument/2006/relationships/viewProps" Target="viewProps.xml"/><Relationship Id="rId51" Type="http://schemas.openxmlformats.org/officeDocument/2006/relationships/slide" Target="slides/slide48.xml"/><Relationship Id="rId72" Type="http://schemas.openxmlformats.org/officeDocument/2006/relationships/slide" Target="slides/slide69.xml"/><Relationship Id="rId93" Type="http://schemas.openxmlformats.org/officeDocument/2006/relationships/slide" Target="slides/slide90.xml"/><Relationship Id="rId189" Type="http://schemas.openxmlformats.org/officeDocument/2006/relationships/slide" Target="slides/slide186.xml"/><Relationship Id="rId3" Type="http://schemas.openxmlformats.org/officeDocument/2006/relationships/slideMaster" Target="slideMasters/slideMaster3.xml"/><Relationship Id="rId214" Type="http://schemas.openxmlformats.org/officeDocument/2006/relationships/slide" Target="slides/slide211.xml"/><Relationship Id="rId235" Type="http://schemas.openxmlformats.org/officeDocument/2006/relationships/slide" Target="slides/slide232.xml"/><Relationship Id="rId256" Type="http://schemas.openxmlformats.org/officeDocument/2006/relationships/slide" Target="slides/slide253.xml"/><Relationship Id="rId277" Type="http://schemas.openxmlformats.org/officeDocument/2006/relationships/slide" Target="slides/slide274.xml"/><Relationship Id="rId298" Type="http://schemas.openxmlformats.org/officeDocument/2006/relationships/slide" Target="slides/slide295.xml"/><Relationship Id="rId116" Type="http://schemas.openxmlformats.org/officeDocument/2006/relationships/slide" Target="slides/slide113.xml"/><Relationship Id="rId137" Type="http://schemas.openxmlformats.org/officeDocument/2006/relationships/slide" Target="slides/slide134.xml"/><Relationship Id="rId158" Type="http://schemas.openxmlformats.org/officeDocument/2006/relationships/slide" Target="slides/slide155.xml"/><Relationship Id="rId302" Type="http://schemas.openxmlformats.org/officeDocument/2006/relationships/slide" Target="slides/slide299.xml"/><Relationship Id="rId323" Type="http://schemas.openxmlformats.org/officeDocument/2006/relationships/slide" Target="slides/slide320.xml"/><Relationship Id="rId20" Type="http://schemas.openxmlformats.org/officeDocument/2006/relationships/slide" Target="slides/slide17.xml"/><Relationship Id="rId41" Type="http://schemas.openxmlformats.org/officeDocument/2006/relationships/slide" Target="slides/slide38.xml"/><Relationship Id="rId62" Type="http://schemas.openxmlformats.org/officeDocument/2006/relationships/slide" Target="slides/slide59.xml"/><Relationship Id="rId83" Type="http://schemas.openxmlformats.org/officeDocument/2006/relationships/slide" Target="slides/slide80.xml"/><Relationship Id="rId179" Type="http://schemas.openxmlformats.org/officeDocument/2006/relationships/slide" Target="slides/slide176.xml"/><Relationship Id="rId190" Type="http://schemas.openxmlformats.org/officeDocument/2006/relationships/slide" Target="slides/slide187.xml"/><Relationship Id="rId204" Type="http://schemas.openxmlformats.org/officeDocument/2006/relationships/slide" Target="slides/slide201.xml"/><Relationship Id="rId225" Type="http://schemas.openxmlformats.org/officeDocument/2006/relationships/slide" Target="slides/slide222.xml"/><Relationship Id="rId246" Type="http://schemas.openxmlformats.org/officeDocument/2006/relationships/slide" Target="slides/slide243.xml"/><Relationship Id="rId267" Type="http://schemas.openxmlformats.org/officeDocument/2006/relationships/slide" Target="slides/slide264.xml"/><Relationship Id="rId288" Type="http://schemas.openxmlformats.org/officeDocument/2006/relationships/slide" Target="slides/slide285.xml"/><Relationship Id="rId106" Type="http://schemas.openxmlformats.org/officeDocument/2006/relationships/slide" Target="slides/slide103.xml"/><Relationship Id="rId127" Type="http://schemas.openxmlformats.org/officeDocument/2006/relationships/slide" Target="slides/slide124.xml"/><Relationship Id="rId313" Type="http://schemas.openxmlformats.org/officeDocument/2006/relationships/slide" Target="slides/slide310.xml"/><Relationship Id="rId10" Type="http://schemas.openxmlformats.org/officeDocument/2006/relationships/slide" Target="slides/slide7.xml"/><Relationship Id="rId31" Type="http://schemas.openxmlformats.org/officeDocument/2006/relationships/slide" Target="slides/slide28.xml"/><Relationship Id="rId52" Type="http://schemas.openxmlformats.org/officeDocument/2006/relationships/slide" Target="slides/slide49.xml"/><Relationship Id="rId73" Type="http://schemas.openxmlformats.org/officeDocument/2006/relationships/slide" Target="slides/slide70.xml"/><Relationship Id="rId94" Type="http://schemas.openxmlformats.org/officeDocument/2006/relationships/slide" Target="slides/slide91.xml"/><Relationship Id="rId148" Type="http://schemas.openxmlformats.org/officeDocument/2006/relationships/slide" Target="slides/slide145.xml"/><Relationship Id="rId169" Type="http://schemas.openxmlformats.org/officeDocument/2006/relationships/slide" Target="slides/slide166.xml"/><Relationship Id="rId334" Type="http://schemas.openxmlformats.org/officeDocument/2006/relationships/theme" Target="theme/theme1.xml"/><Relationship Id="rId4" Type="http://schemas.openxmlformats.org/officeDocument/2006/relationships/slide" Target="slides/slide1.xml"/><Relationship Id="rId180" Type="http://schemas.openxmlformats.org/officeDocument/2006/relationships/slide" Target="slides/slide177.xml"/><Relationship Id="rId215" Type="http://schemas.openxmlformats.org/officeDocument/2006/relationships/slide" Target="slides/slide212.xml"/><Relationship Id="rId236" Type="http://schemas.openxmlformats.org/officeDocument/2006/relationships/slide" Target="slides/slide233.xml"/><Relationship Id="rId257" Type="http://schemas.openxmlformats.org/officeDocument/2006/relationships/slide" Target="slides/slide254.xml"/><Relationship Id="rId278" Type="http://schemas.openxmlformats.org/officeDocument/2006/relationships/slide" Target="slides/slide275.xml"/><Relationship Id="rId303" Type="http://schemas.openxmlformats.org/officeDocument/2006/relationships/slide" Target="slides/slide300.xml"/><Relationship Id="rId42" Type="http://schemas.openxmlformats.org/officeDocument/2006/relationships/slide" Target="slides/slide39.xml"/><Relationship Id="rId84" Type="http://schemas.openxmlformats.org/officeDocument/2006/relationships/slide" Target="slides/slide81.xml"/><Relationship Id="rId138" Type="http://schemas.openxmlformats.org/officeDocument/2006/relationships/slide" Target="slides/slide135.xml"/><Relationship Id="rId191" Type="http://schemas.openxmlformats.org/officeDocument/2006/relationships/slide" Target="slides/slide188.xml"/><Relationship Id="rId205" Type="http://schemas.openxmlformats.org/officeDocument/2006/relationships/slide" Target="slides/slide202.xml"/><Relationship Id="rId247" Type="http://schemas.openxmlformats.org/officeDocument/2006/relationships/slide" Target="slides/slide244.xml"/><Relationship Id="rId107" Type="http://schemas.openxmlformats.org/officeDocument/2006/relationships/slide" Target="slides/slide104.xml"/><Relationship Id="rId289" Type="http://schemas.openxmlformats.org/officeDocument/2006/relationships/slide" Target="slides/slide286.xml"/><Relationship Id="rId11" Type="http://schemas.openxmlformats.org/officeDocument/2006/relationships/slide" Target="slides/slide8.xml"/><Relationship Id="rId53" Type="http://schemas.openxmlformats.org/officeDocument/2006/relationships/slide" Target="slides/slide50.xml"/><Relationship Id="rId149" Type="http://schemas.openxmlformats.org/officeDocument/2006/relationships/slide" Target="slides/slide146.xml"/><Relationship Id="rId314" Type="http://schemas.openxmlformats.org/officeDocument/2006/relationships/slide" Target="slides/slide311.xml"/><Relationship Id="rId95" Type="http://schemas.openxmlformats.org/officeDocument/2006/relationships/slide" Target="slides/slide92.xml"/><Relationship Id="rId160" Type="http://schemas.openxmlformats.org/officeDocument/2006/relationships/slide" Target="slides/slide157.xml"/><Relationship Id="rId216" Type="http://schemas.openxmlformats.org/officeDocument/2006/relationships/slide" Target="slides/slide213.xml"/><Relationship Id="rId258" Type="http://schemas.openxmlformats.org/officeDocument/2006/relationships/slide" Target="slides/slide255.xml"/><Relationship Id="rId22" Type="http://schemas.openxmlformats.org/officeDocument/2006/relationships/slide" Target="slides/slide19.xml"/><Relationship Id="rId64" Type="http://schemas.openxmlformats.org/officeDocument/2006/relationships/slide" Target="slides/slide61.xml"/><Relationship Id="rId118" Type="http://schemas.openxmlformats.org/officeDocument/2006/relationships/slide" Target="slides/slide115.xml"/><Relationship Id="rId325" Type="http://schemas.openxmlformats.org/officeDocument/2006/relationships/slide" Target="slides/slide322.xml"/><Relationship Id="rId171" Type="http://schemas.openxmlformats.org/officeDocument/2006/relationships/slide" Target="slides/slide168.xml"/><Relationship Id="rId227" Type="http://schemas.openxmlformats.org/officeDocument/2006/relationships/slide" Target="slides/slide224.xml"/><Relationship Id="rId269" Type="http://schemas.openxmlformats.org/officeDocument/2006/relationships/slide" Target="slides/slide266.xml"/><Relationship Id="rId33" Type="http://schemas.openxmlformats.org/officeDocument/2006/relationships/slide" Target="slides/slide30.xml"/><Relationship Id="rId129" Type="http://schemas.openxmlformats.org/officeDocument/2006/relationships/slide" Target="slides/slide126.xml"/><Relationship Id="rId280" Type="http://schemas.openxmlformats.org/officeDocument/2006/relationships/slide" Target="slides/slide277.xml"/><Relationship Id="rId75" Type="http://schemas.openxmlformats.org/officeDocument/2006/relationships/slide" Target="slides/slide72.xml"/><Relationship Id="rId140" Type="http://schemas.openxmlformats.org/officeDocument/2006/relationships/slide" Target="slides/slide137.xml"/><Relationship Id="rId182" Type="http://schemas.openxmlformats.org/officeDocument/2006/relationships/slide" Target="slides/slide179.xml"/><Relationship Id="rId6" Type="http://schemas.openxmlformats.org/officeDocument/2006/relationships/slide" Target="slides/slide3.xml"/><Relationship Id="rId238" Type="http://schemas.openxmlformats.org/officeDocument/2006/relationships/slide" Target="slides/slide235.xml"/><Relationship Id="rId291" Type="http://schemas.openxmlformats.org/officeDocument/2006/relationships/slide" Target="slides/slide288.xml"/><Relationship Id="rId305" Type="http://schemas.openxmlformats.org/officeDocument/2006/relationships/slide" Target="slides/slide302.xml"/><Relationship Id="rId44" Type="http://schemas.openxmlformats.org/officeDocument/2006/relationships/slide" Target="slides/slide41.xml"/><Relationship Id="rId86" Type="http://schemas.openxmlformats.org/officeDocument/2006/relationships/slide" Target="slides/slide83.xml"/><Relationship Id="rId151" Type="http://schemas.openxmlformats.org/officeDocument/2006/relationships/slide" Target="slides/slide148.xml"/><Relationship Id="rId193" Type="http://schemas.openxmlformats.org/officeDocument/2006/relationships/slide" Target="slides/slide190.xml"/><Relationship Id="rId207" Type="http://schemas.openxmlformats.org/officeDocument/2006/relationships/slide" Target="slides/slide204.xml"/><Relationship Id="rId249" Type="http://schemas.openxmlformats.org/officeDocument/2006/relationships/slide" Target="slides/slide246.xml"/><Relationship Id="rId13" Type="http://schemas.openxmlformats.org/officeDocument/2006/relationships/slide" Target="slides/slide10.xml"/><Relationship Id="rId109" Type="http://schemas.openxmlformats.org/officeDocument/2006/relationships/slide" Target="slides/slide106.xml"/><Relationship Id="rId260" Type="http://schemas.openxmlformats.org/officeDocument/2006/relationships/slide" Target="slides/slide257.xml"/><Relationship Id="rId316" Type="http://schemas.openxmlformats.org/officeDocument/2006/relationships/slide" Target="slides/slide313.xml"/><Relationship Id="rId55" Type="http://schemas.openxmlformats.org/officeDocument/2006/relationships/slide" Target="slides/slide52.xml"/><Relationship Id="rId97" Type="http://schemas.openxmlformats.org/officeDocument/2006/relationships/slide" Target="slides/slide94.xml"/><Relationship Id="rId120" Type="http://schemas.openxmlformats.org/officeDocument/2006/relationships/slide" Target="slides/slide117.xml"/><Relationship Id="rId162" Type="http://schemas.openxmlformats.org/officeDocument/2006/relationships/slide" Target="slides/slide159.xml"/><Relationship Id="rId218" Type="http://schemas.openxmlformats.org/officeDocument/2006/relationships/slide" Target="slides/slide215.xml"/><Relationship Id="rId271" Type="http://schemas.openxmlformats.org/officeDocument/2006/relationships/slide" Target="slides/slide268.xml"/></Relationships>
</file>

<file path=ppt/diagrams/colors1.xml><?xml version="1.0" encoding="utf-8"?>
<dgm:colorsDef xmlns:dgm="http://schemas.openxmlformats.org/drawingml/2006/diagram" xmlns:a="http://schemas.openxmlformats.org/drawingml/2006/main" uniqueId="urn:microsoft.com/office/officeart/2005/8/colors/colorful1#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20F1359-646F-488C-85CD-77666BB48BD4}" type="doc">
      <dgm:prSet loTypeId="urn:microsoft.com/office/officeart/2005/8/layout/hierarchy1" loCatId="hierarchy" qsTypeId="urn:microsoft.com/office/officeart/2005/8/quickstyle/simple1" qsCatId="simple" csTypeId="urn:microsoft.com/office/officeart/2005/8/colors/colorful1#11" csCatId="colorful" phldr="1"/>
      <dgm:spPr/>
      <dgm:t>
        <a:bodyPr/>
        <a:lstStyle/>
        <a:p>
          <a:endParaRPr lang="en-CA"/>
        </a:p>
      </dgm:t>
    </dgm:pt>
    <dgm:pt modelId="{3A5E6C34-F599-45A6-B734-93C3EAABE5B9}">
      <dgm:prSet phldrT="[Text]"/>
      <dgm:spPr/>
      <dgm:t>
        <a:bodyPr/>
        <a:lstStyle/>
        <a:p>
          <a:r>
            <a:rPr lang="en-CA" dirty="0"/>
            <a:t>MySQL</a:t>
          </a:r>
        </a:p>
      </dgm:t>
    </dgm:pt>
    <dgm:pt modelId="{C21DFE80-C3F8-4B3B-AC5A-9FBD189C8E95}" type="parTrans" cxnId="{5065BE19-8073-4AE9-BDD1-3F7E5E1E987C}">
      <dgm:prSet/>
      <dgm:spPr/>
      <dgm:t>
        <a:bodyPr/>
        <a:lstStyle/>
        <a:p>
          <a:endParaRPr lang="en-CA"/>
        </a:p>
      </dgm:t>
    </dgm:pt>
    <dgm:pt modelId="{9D537574-A976-4090-A46E-C15049058DF0}" type="sibTrans" cxnId="{5065BE19-8073-4AE9-BDD1-3F7E5E1E987C}">
      <dgm:prSet/>
      <dgm:spPr/>
      <dgm:t>
        <a:bodyPr/>
        <a:lstStyle/>
        <a:p>
          <a:endParaRPr lang="en-CA"/>
        </a:p>
      </dgm:t>
    </dgm:pt>
    <dgm:pt modelId="{40A93A9B-0D31-44C4-8F90-9C029BF1F62B}">
      <dgm:prSet phldrT="[Text]"/>
      <dgm:spPr/>
      <dgm:t>
        <a:bodyPr/>
        <a:lstStyle/>
        <a:p>
          <a:r>
            <a:rPr lang="en-CA" dirty="0"/>
            <a:t>Database1</a:t>
          </a:r>
        </a:p>
      </dgm:t>
    </dgm:pt>
    <dgm:pt modelId="{E2B656CF-E95A-4CDC-A62A-0B47918C0F52}" type="parTrans" cxnId="{1C101549-0AD1-42AC-AB23-2144AAD1523B}">
      <dgm:prSet/>
      <dgm:spPr/>
      <dgm:t>
        <a:bodyPr/>
        <a:lstStyle/>
        <a:p>
          <a:endParaRPr lang="en-CA"/>
        </a:p>
      </dgm:t>
    </dgm:pt>
    <dgm:pt modelId="{D6E0071D-FB64-4ABF-810F-DB79FB095A88}" type="sibTrans" cxnId="{1C101549-0AD1-42AC-AB23-2144AAD1523B}">
      <dgm:prSet/>
      <dgm:spPr/>
      <dgm:t>
        <a:bodyPr/>
        <a:lstStyle/>
        <a:p>
          <a:endParaRPr lang="en-CA"/>
        </a:p>
      </dgm:t>
    </dgm:pt>
    <dgm:pt modelId="{493CBF25-C8ED-46AF-AF28-603D55081EEE}">
      <dgm:prSet phldrT="[Text]"/>
      <dgm:spPr/>
      <dgm:t>
        <a:bodyPr/>
        <a:lstStyle/>
        <a:p>
          <a:r>
            <a:rPr lang="en-CA" dirty="0"/>
            <a:t>Table1</a:t>
          </a:r>
        </a:p>
      </dgm:t>
    </dgm:pt>
    <dgm:pt modelId="{119A5413-EAD7-46BD-B6F4-EFB6CD18C62E}" type="parTrans" cxnId="{4253258C-5470-478C-AC25-9BD4E941634C}">
      <dgm:prSet/>
      <dgm:spPr/>
      <dgm:t>
        <a:bodyPr/>
        <a:lstStyle/>
        <a:p>
          <a:endParaRPr lang="en-CA"/>
        </a:p>
      </dgm:t>
    </dgm:pt>
    <dgm:pt modelId="{259B8021-055B-45F9-BCFE-E172BA708EF3}" type="sibTrans" cxnId="{4253258C-5470-478C-AC25-9BD4E941634C}">
      <dgm:prSet/>
      <dgm:spPr/>
      <dgm:t>
        <a:bodyPr/>
        <a:lstStyle/>
        <a:p>
          <a:endParaRPr lang="en-CA"/>
        </a:p>
      </dgm:t>
    </dgm:pt>
    <dgm:pt modelId="{C774AAC7-C97B-457A-9388-C667AEC985F2}">
      <dgm:prSet phldrT="[Text]"/>
      <dgm:spPr/>
      <dgm:t>
        <a:bodyPr/>
        <a:lstStyle/>
        <a:p>
          <a:r>
            <a:rPr lang="en-CA" dirty="0"/>
            <a:t>Table2</a:t>
          </a:r>
        </a:p>
      </dgm:t>
    </dgm:pt>
    <dgm:pt modelId="{9098E0E7-6BF5-4BAE-AE02-316A78DD7506}" type="parTrans" cxnId="{E20C3000-EEDE-4A29-B615-A8CFD739274F}">
      <dgm:prSet/>
      <dgm:spPr/>
      <dgm:t>
        <a:bodyPr/>
        <a:lstStyle/>
        <a:p>
          <a:endParaRPr lang="en-CA"/>
        </a:p>
      </dgm:t>
    </dgm:pt>
    <dgm:pt modelId="{CB0C8742-3166-44AC-996A-E2BA6007DE18}" type="sibTrans" cxnId="{E20C3000-EEDE-4A29-B615-A8CFD739274F}">
      <dgm:prSet/>
      <dgm:spPr/>
      <dgm:t>
        <a:bodyPr/>
        <a:lstStyle/>
        <a:p>
          <a:endParaRPr lang="en-CA"/>
        </a:p>
      </dgm:t>
    </dgm:pt>
    <dgm:pt modelId="{96D9E38A-3357-4A09-9D22-7B58BB986AED}">
      <dgm:prSet phldrT="[Text]"/>
      <dgm:spPr/>
      <dgm:t>
        <a:bodyPr/>
        <a:lstStyle/>
        <a:p>
          <a:r>
            <a:rPr lang="en-CA" dirty="0"/>
            <a:t>Database2</a:t>
          </a:r>
        </a:p>
      </dgm:t>
    </dgm:pt>
    <dgm:pt modelId="{A2F7F089-6FB5-4D1B-924F-C1F753A81C3E}" type="parTrans" cxnId="{9E5713B1-D81B-43CC-A8EF-72784DC03B4E}">
      <dgm:prSet/>
      <dgm:spPr/>
      <dgm:t>
        <a:bodyPr/>
        <a:lstStyle/>
        <a:p>
          <a:endParaRPr lang="en-CA"/>
        </a:p>
      </dgm:t>
    </dgm:pt>
    <dgm:pt modelId="{CB892101-71F3-43DC-BCF1-753244DF7B01}" type="sibTrans" cxnId="{9E5713B1-D81B-43CC-A8EF-72784DC03B4E}">
      <dgm:prSet/>
      <dgm:spPr/>
      <dgm:t>
        <a:bodyPr/>
        <a:lstStyle/>
        <a:p>
          <a:endParaRPr lang="en-CA"/>
        </a:p>
      </dgm:t>
    </dgm:pt>
    <dgm:pt modelId="{E3503EC6-A498-4C36-90E5-7D5F46C2BA4C}">
      <dgm:prSet phldrT="[Text]"/>
      <dgm:spPr/>
      <dgm:t>
        <a:bodyPr/>
        <a:lstStyle/>
        <a:p>
          <a:r>
            <a:rPr lang="en-CA" dirty="0"/>
            <a:t>Table1</a:t>
          </a:r>
        </a:p>
      </dgm:t>
    </dgm:pt>
    <dgm:pt modelId="{0AF01AB8-821E-4D63-B730-6B606EAAC450}" type="parTrans" cxnId="{6CF984C4-D8C9-470E-9A39-212BE534064A}">
      <dgm:prSet/>
      <dgm:spPr/>
      <dgm:t>
        <a:bodyPr/>
        <a:lstStyle/>
        <a:p>
          <a:endParaRPr lang="en-CA"/>
        </a:p>
      </dgm:t>
    </dgm:pt>
    <dgm:pt modelId="{28600726-FF43-46E7-BCE6-BFB739696DC3}" type="sibTrans" cxnId="{6CF984C4-D8C9-470E-9A39-212BE534064A}">
      <dgm:prSet/>
      <dgm:spPr/>
      <dgm:t>
        <a:bodyPr/>
        <a:lstStyle/>
        <a:p>
          <a:endParaRPr lang="en-CA"/>
        </a:p>
      </dgm:t>
    </dgm:pt>
    <dgm:pt modelId="{8EB40933-2B51-43E5-B9CE-53045E611571}">
      <dgm:prSet/>
      <dgm:spPr/>
      <dgm:t>
        <a:bodyPr/>
        <a:lstStyle/>
        <a:p>
          <a:r>
            <a:rPr lang="en-CA" dirty="0"/>
            <a:t>Database3</a:t>
          </a:r>
        </a:p>
      </dgm:t>
    </dgm:pt>
    <dgm:pt modelId="{6B97F46D-58C6-404A-AEBD-A75759AE39EF}" type="parTrans" cxnId="{06010846-68ED-4593-842D-117DBB58BB56}">
      <dgm:prSet/>
      <dgm:spPr/>
      <dgm:t>
        <a:bodyPr/>
        <a:lstStyle/>
        <a:p>
          <a:endParaRPr lang="en-CA"/>
        </a:p>
      </dgm:t>
    </dgm:pt>
    <dgm:pt modelId="{D793A496-1D4B-4022-8468-D930F72E9C5D}" type="sibTrans" cxnId="{06010846-68ED-4593-842D-117DBB58BB56}">
      <dgm:prSet/>
      <dgm:spPr/>
      <dgm:t>
        <a:bodyPr/>
        <a:lstStyle/>
        <a:p>
          <a:endParaRPr lang="en-CA"/>
        </a:p>
      </dgm:t>
    </dgm:pt>
    <dgm:pt modelId="{80996D2C-9222-485E-9964-D9E00484F46B}">
      <dgm:prSet/>
      <dgm:spPr/>
      <dgm:t>
        <a:bodyPr/>
        <a:lstStyle/>
        <a:p>
          <a:r>
            <a:rPr lang="en-CA" dirty="0"/>
            <a:t>Table1</a:t>
          </a:r>
        </a:p>
      </dgm:t>
    </dgm:pt>
    <dgm:pt modelId="{511B4E05-7DC2-4B3C-8372-1AA837322C75}" type="parTrans" cxnId="{65CA3679-C94B-4226-B6ED-953A25FD37FD}">
      <dgm:prSet/>
      <dgm:spPr/>
      <dgm:t>
        <a:bodyPr/>
        <a:lstStyle/>
        <a:p>
          <a:endParaRPr lang="en-CA"/>
        </a:p>
      </dgm:t>
    </dgm:pt>
    <dgm:pt modelId="{E5F7C120-9642-4E28-8607-8BFFA0EE96D8}" type="sibTrans" cxnId="{65CA3679-C94B-4226-B6ED-953A25FD37FD}">
      <dgm:prSet/>
      <dgm:spPr/>
      <dgm:t>
        <a:bodyPr/>
        <a:lstStyle/>
        <a:p>
          <a:endParaRPr lang="en-CA"/>
        </a:p>
      </dgm:t>
    </dgm:pt>
    <dgm:pt modelId="{42010BD1-B832-427D-93B3-E21F5147A429}" type="pres">
      <dgm:prSet presAssocID="{320F1359-646F-488C-85CD-77666BB48BD4}" presName="hierChild1" presStyleCnt="0">
        <dgm:presLayoutVars>
          <dgm:chPref val="1"/>
          <dgm:dir/>
          <dgm:animOne val="branch"/>
          <dgm:animLvl val="lvl"/>
          <dgm:resizeHandles/>
        </dgm:presLayoutVars>
      </dgm:prSet>
      <dgm:spPr/>
    </dgm:pt>
    <dgm:pt modelId="{0E3EF08D-55FC-4D7D-806F-4D88F0ABBDB2}" type="pres">
      <dgm:prSet presAssocID="{3A5E6C34-F599-45A6-B734-93C3EAABE5B9}" presName="hierRoot1" presStyleCnt="0"/>
      <dgm:spPr/>
    </dgm:pt>
    <dgm:pt modelId="{58970A84-8BD0-437B-8E8D-03439A7E155E}" type="pres">
      <dgm:prSet presAssocID="{3A5E6C34-F599-45A6-B734-93C3EAABE5B9}" presName="composite" presStyleCnt="0"/>
      <dgm:spPr/>
    </dgm:pt>
    <dgm:pt modelId="{33B1C616-81EE-4F1C-9F8A-362854FE1148}" type="pres">
      <dgm:prSet presAssocID="{3A5E6C34-F599-45A6-B734-93C3EAABE5B9}" presName="background" presStyleLbl="node0" presStyleIdx="0" presStyleCnt="1"/>
      <dgm:spPr/>
    </dgm:pt>
    <dgm:pt modelId="{DB40AA32-EB9B-48BE-A4D5-9F8768ECAC9C}" type="pres">
      <dgm:prSet presAssocID="{3A5E6C34-F599-45A6-B734-93C3EAABE5B9}" presName="text" presStyleLbl="fgAcc0" presStyleIdx="0" presStyleCnt="1">
        <dgm:presLayoutVars>
          <dgm:chPref val="3"/>
        </dgm:presLayoutVars>
      </dgm:prSet>
      <dgm:spPr/>
    </dgm:pt>
    <dgm:pt modelId="{FAB6B602-10DE-442D-A1EA-FCD922E134CA}" type="pres">
      <dgm:prSet presAssocID="{3A5E6C34-F599-45A6-B734-93C3EAABE5B9}" presName="hierChild2" presStyleCnt="0"/>
      <dgm:spPr/>
    </dgm:pt>
    <dgm:pt modelId="{C7FF8201-BC83-49BC-A02D-E9742480D7AC}" type="pres">
      <dgm:prSet presAssocID="{E2B656CF-E95A-4CDC-A62A-0B47918C0F52}" presName="Name10" presStyleLbl="parChTrans1D2" presStyleIdx="0" presStyleCnt="3"/>
      <dgm:spPr/>
    </dgm:pt>
    <dgm:pt modelId="{C4338D9F-5B0A-47CD-B62E-AC2ED6C23BFF}" type="pres">
      <dgm:prSet presAssocID="{40A93A9B-0D31-44C4-8F90-9C029BF1F62B}" presName="hierRoot2" presStyleCnt="0"/>
      <dgm:spPr/>
    </dgm:pt>
    <dgm:pt modelId="{C9D00A72-4806-495F-BF97-12CF4A588777}" type="pres">
      <dgm:prSet presAssocID="{40A93A9B-0D31-44C4-8F90-9C029BF1F62B}" presName="composite2" presStyleCnt="0"/>
      <dgm:spPr/>
    </dgm:pt>
    <dgm:pt modelId="{EB037CA7-B0B1-4276-B379-6925899ADD63}" type="pres">
      <dgm:prSet presAssocID="{40A93A9B-0D31-44C4-8F90-9C029BF1F62B}" presName="background2" presStyleLbl="node2" presStyleIdx="0" presStyleCnt="3"/>
      <dgm:spPr/>
    </dgm:pt>
    <dgm:pt modelId="{EFEC2F66-434F-4449-B5AD-17D8A34C9627}" type="pres">
      <dgm:prSet presAssocID="{40A93A9B-0D31-44C4-8F90-9C029BF1F62B}" presName="text2" presStyleLbl="fgAcc2" presStyleIdx="0" presStyleCnt="3">
        <dgm:presLayoutVars>
          <dgm:chPref val="3"/>
        </dgm:presLayoutVars>
      </dgm:prSet>
      <dgm:spPr/>
    </dgm:pt>
    <dgm:pt modelId="{FB82D230-7752-4431-8215-292A633ADC55}" type="pres">
      <dgm:prSet presAssocID="{40A93A9B-0D31-44C4-8F90-9C029BF1F62B}" presName="hierChild3" presStyleCnt="0"/>
      <dgm:spPr/>
    </dgm:pt>
    <dgm:pt modelId="{4A146749-21FE-4C9D-AFD8-59B8C3ADF821}" type="pres">
      <dgm:prSet presAssocID="{119A5413-EAD7-46BD-B6F4-EFB6CD18C62E}" presName="Name17" presStyleLbl="parChTrans1D3" presStyleIdx="0" presStyleCnt="4"/>
      <dgm:spPr/>
    </dgm:pt>
    <dgm:pt modelId="{E99372E4-ACE4-4EA6-80AD-AE85557A4B84}" type="pres">
      <dgm:prSet presAssocID="{493CBF25-C8ED-46AF-AF28-603D55081EEE}" presName="hierRoot3" presStyleCnt="0"/>
      <dgm:spPr/>
    </dgm:pt>
    <dgm:pt modelId="{0FD59AC0-1314-450A-A182-CFD347A8C7A4}" type="pres">
      <dgm:prSet presAssocID="{493CBF25-C8ED-46AF-AF28-603D55081EEE}" presName="composite3" presStyleCnt="0"/>
      <dgm:spPr/>
    </dgm:pt>
    <dgm:pt modelId="{8412A7F4-0BAA-4B5D-9885-DBD4E53E92CB}" type="pres">
      <dgm:prSet presAssocID="{493CBF25-C8ED-46AF-AF28-603D55081EEE}" presName="background3" presStyleLbl="node3" presStyleIdx="0" presStyleCnt="4"/>
      <dgm:spPr/>
    </dgm:pt>
    <dgm:pt modelId="{6E3BD378-C59B-4DA6-83E8-7531983C945E}" type="pres">
      <dgm:prSet presAssocID="{493CBF25-C8ED-46AF-AF28-603D55081EEE}" presName="text3" presStyleLbl="fgAcc3" presStyleIdx="0" presStyleCnt="4">
        <dgm:presLayoutVars>
          <dgm:chPref val="3"/>
        </dgm:presLayoutVars>
      </dgm:prSet>
      <dgm:spPr/>
    </dgm:pt>
    <dgm:pt modelId="{EEA4C3FB-0DA9-45A8-AB1D-E14CC8717542}" type="pres">
      <dgm:prSet presAssocID="{493CBF25-C8ED-46AF-AF28-603D55081EEE}" presName="hierChild4" presStyleCnt="0"/>
      <dgm:spPr/>
    </dgm:pt>
    <dgm:pt modelId="{BDFD0EA1-31A9-4A3D-81AF-0BAFAC0DEE43}" type="pres">
      <dgm:prSet presAssocID="{9098E0E7-6BF5-4BAE-AE02-316A78DD7506}" presName="Name17" presStyleLbl="parChTrans1D3" presStyleIdx="1" presStyleCnt="4"/>
      <dgm:spPr/>
    </dgm:pt>
    <dgm:pt modelId="{48FABEA0-4B1C-4370-A694-ABBEDB53F5C4}" type="pres">
      <dgm:prSet presAssocID="{C774AAC7-C97B-457A-9388-C667AEC985F2}" presName="hierRoot3" presStyleCnt="0"/>
      <dgm:spPr/>
    </dgm:pt>
    <dgm:pt modelId="{84B74C12-5620-4731-AE5D-6227A4F3E61F}" type="pres">
      <dgm:prSet presAssocID="{C774AAC7-C97B-457A-9388-C667AEC985F2}" presName="composite3" presStyleCnt="0"/>
      <dgm:spPr/>
    </dgm:pt>
    <dgm:pt modelId="{16B854C9-7B46-4F84-8DE4-54442D9E86CF}" type="pres">
      <dgm:prSet presAssocID="{C774AAC7-C97B-457A-9388-C667AEC985F2}" presName="background3" presStyleLbl="node3" presStyleIdx="1" presStyleCnt="4"/>
      <dgm:spPr/>
    </dgm:pt>
    <dgm:pt modelId="{0F2C5905-3E11-402C-9AFE-688489458263}" type="pres">
      <dgm:prSet presAssocID="{C774AAC7-C97B-457A-9388-C667AEC985F2}" presName="text3" presStyleLbl="fgAcc3" presStyleIdx="1" presStyleCnt="4">
        <dgm:presLayoutVars>
          <dgm:chPref val="3"/>
        </dgm:presLayoutVars>
      </dgm:prSet>
      <dgm:spPr/>
    </dgm:pt>
    <dgm:pt modelId="{59224824-4B8B-4E39-82F7-26CD33056DC5}" type="pres">
      <dgm:prSet presAssocID="{C774AAC7-C97B-457A-9388-C667AEC985F2}" presName="hierChild4" presStyleCnt="0"/>
      <dgm:spPr/>
    </dgm:pt>
    <dgm:pt modelId="{100917A3-8935-4934-9E25-D52B6B59CE8B}" type="pres">
      <dgm:prSet presAssocID="{A2F7F089-6FB5-4D1B-924F-C1F753A81C3E}" presName="Name10" presStyleLbl="parChTrans1D2" presStyleIdx="1" presStyleCnt="3"/>
      <dgm:spPr/>
    </dgm:pt>
    <dgm:pt modelId="{3650E27D-A6F9-4B66-8112-1CC9DE627831}" type="pres">
      <dgm:prSet presAssocID="{96D9E38A-3357-4A09-9D22-7B58BB986AED}" presName="hierRoot2" presStyleCnt="0"/>
      <dgm:spPr/>
    </dgm:pt>
    <dgm:pt modelId="{168F9FA7-5C87-4DDE-BD52-535AD67F0C9C}" type="pres">
      <dgm:prSet presAssocID="{96D9E38A-3357-4A09-9D22-7B58BB986AED}" presName="composite2" presStyleCnt="0"/>
      <dgm:spPr/>
    </dgm:pt>
    <dgm:pt modelId="{691648F7-11AB-413F-8ECA-6DC10C983C0A}" type="pres">
      <dgm:prSet presAssocID="{96D9E38A-3357-4A09-9D22-7B58BB986AED}" presName="background2" presStyleLbl="node2" presStyleIdx="1" presStyleCnt="3"/>
      <dgm:spPr/>
    </dgm:pt>
    <dgm:pt modelId="{4005464C-C703-484A-B325-C9ADFC4E141E}" type="pres">
      <dgm:prSet presAssocID="{96D9E38A-3357-4A09-9D22-7B58BB986AED}" presName="text2" presStyleLbl="fgAcc2" presStyleIdx="1" presStyleCnt="3">
        <dgm:presLayoutVars>
          <dgm:chPref val="3"/>
        </dgm:presLayoutVars>
      </dgm:prSet>
      <dgm:spPr/>
    </dgm:pt>
    <dgm:pt modelId="{F02AA2F4-BC33-49E3-AD62-3062B43571A3}" type="pres">
      <dgm:prSet presAssocID="{96D9E38A-3357-4A09-9D22-7B58BB986AED}" presName="hierChild3" presStyleCnt="0"/>
      <dgm:spPr/>
    </dgm:pt>
    <dgm:pt modelId="{A91D8289-27EA-49AC-8351-6E4F5A4CABAE}" type="pres">
      <dgm:prSet presAssocID="{0AF01AB8-821E-4D63-B730-6B606EAAC450}" presName="Name17" presStyleLbl="parChTrans1D3" presStyleIdx="2" presStyleCnt="4"/>
      <dgm:spPr/>
    </dgm:pt>
    <dgm:pt modelId="{F87F55C0-0BAF-4F35-89F8-2411F3D4E1F5}" type="pres">
      <dgm:prSet presAssocID="{E3503EC6-A498-4C36-90E5-7D5F46C2BA4C}" presName="hierRoot3" presStyleCnt="0"/>
      <dgm:spPr/>
    </dgm:pt>
    <dgm:pt modelId="{C194357E-2611-49A8-83F9-E24AEBAD5045}" type="pres">
      <dgm:prSet presAssocID="{E3503EC6-A498-4C36-90E5-7D5F46C2BA4C}" presName="composite3" presStyleCnt="0"/>
      <dgm:spPr/>
    </dgm:pt>
    <dgm:pt modelId="{82DAC6EC-21AC-4536-911A-12019B5A3796}" type="pres">
      <dgm:prSet presAssocID="{E3503EC6-A498-4C36-90E5-7D5F46C2BA4C}" presName="background3" presStyleLbl="node3" presStyleIdx="2" presStyleCnt="4"/>
      <dgm:spPr/>
    </dgm:pt>
    <dgm:pt modelId="{8619F606-5F73-4214-B1D9-AD02456051F2}" type="pres">
      <dgm:prSet presAssocID="{E3503EC6-A498-4C36-90E5-7D5F46C2BA4C}" presName="text3" presStyleLbl="fgAcc3" presStyleIdx="2" presStyleCnt="4">
        <dgm:presLayoutVars>
          <dgm:chPref val="3"/>
        </dgm:presLayoutVars>
      </dgm:prSet>
      <dgm:spPr/>
    </dgm:pt>
    <dgm:pt modelId="{7A026597-C7A1-4D1F-A2AB-DBF9C357AB08}" type="pres">
      <dgm:prSet presAssocID="{E3503EC6-A498-4C36-90E5-7D5F46C2BA4C}" presName="hierChild4" presStyleCnt="0"/>
      <dgm:spPr/>
    </dgm:pt>
    <dgm:pt modelId="{BD426D66-2B8E-4BD0-AC28-71711287B09B}" type="pres">
      <dgm:prSet presAssocID="{6B97F46D-58C6-404A-AEBD-A75759AE39EF}" presName="Name10" presStyleLbl="parChTrans1D2" presStyleIdx="2" presStyleCnt="3"/>
      <dgm:spPr/>
    </dgm:pt>
    <dgm:pt modelId="{2A20DA40-7C10-46D2-8C66-FD4645D7E4F4}" type="pres">
      <dgm:prSet presAssocID="{8EB40933-2B51-43E5-B9CE-53045E611571}" presName="hierRoot2" presStyleCnt="0"/>
      <dgm:spPr/>
    </dgm:pt>
    <dgm:pt modelId="{DE5C8E83-C5AB-4DFB-A1AA-9349F670F0CC}" type="pres">
      <dgm:prSet presAssocID="{8EB40933-2B51-43E5-B9CE-53045E611571}" presName="composite2" presStyleCnt="0"/>
      <dgm:spPr/>
    </dgm:pt>
    <dgm:pt modelId="{7551A6B0-0D70-41F0-BBC4-1547B244D193}" type="pres">
      <dgm:prSet presAssocID="{8EB40933-2B51-43E5-B9CE-53045E611571}" presName="background2" presStyleLbl="node2" presStyleIdx="2" presStyleCnt="3"/>
      <dgm:spPr/>
    </dgm:pt>
    <dgm:pt modelId="{1B2205E7-13EE-4617-87E9-0ED2D6B86F37}" type="pres">
      <dgm:prSet presAssocID="{8EB40933-2B51-43E5-B9CE-53045E611571}" presName="text2" presStyleLbl="fgAcc2" presStyleIdx="2" presStyleCnt="3">
        <dgm:presLayoutVars>
          <dgm:chPref val="3"/>
        </dgm:presLayoutVars>
      </dgm:prSet>
      <dgm:spPr/>
    </dgm:pt>
    <dgm:pt modelId="{B6FF1092-E2BD-4A95-BAFE-30C767806194}" type="pres">
      <dgm:prSet presAssocID="{8EB40933-2B51-43E5-B9CE-53045E611571}" presName="hierChild3" presStyleCnt="0"/>
      <dgm:spPr/>
    </dgm:pt>
    <dgm:pt modelId="{7AD91267-A660-4971-BC2E-E3B65818E73C}" type="pres">
      <dgm:prSet presAssocID="{511B4E05-7DC2-4B3C-8372-1AA837322C75}" presName="Name17" presStyleLbl="parChTrans1D3" presStyleIdx="3" presStyleCnt="4"/>
      <dgm:spPr/>
    </dgm:pt>
    <dgm:pt modelId="{199BA29C-4C85-4245-999B-EACB6526815A}" type="pres">
      <dgm:prSet presAssocID="{80996D2C-9222-485E-9964-D9E00484F46B}" presName="hierRoot3" presStyleCnt="0"/>
      <dgm:spPr/>
    </dgm:pt>
    <dgm:pt modelId="{0B516BC3-E27B-4E3A-B2BF-F29731EFEFAC}" type="pres">
      <dgm:prSet presAssocID="{80996D2C-9222-485E-9964-D9E00484F46B}" presName="composite3" presStyleCnt="0"/>
      <dgm:spPr/>
    </dgm:pt>
    <dgm:pt modelId="{C64C203C-791B-4335-A7AB-6980CF3B4F26}" type="pres">
      <dgm:prSet presAssocID="{80996D2C-9222-485E-9964-D9E00484F46B}" presName="background3" presStyleLbl="node3" presStyleIdx="3" presStyleCnt="4"/>
      <dgm:spPr/>
    </dgm:pt>
    <dgm:pt modelId="{6C29FC3C-FC2A-4A39-B589-9FCEEA72D21E}" type="pres">
      <dgm:prSet presAssocID="{80996D2C-9222-485E-9964-D9E00484F46B}" presName="text3" presStyleLbl="fgAcc3" presStyleIdx="3" presStyleCnt="4">
        <dgm:presLayoutVars>
          <dgm:chPref val="3"/>
        </dgm:presLayoutVars>
      </dgm:prSet>
      <dgm:spPr/>
    </dgm:pt>
    <dgm:pt modelId="{75C14CB8-B73B-4FAF-B725-C46D1063D948}" type="pres">
      <dgm:prSet presAssocID="{80996D2C-9222-485E-9964-D9E00484F46B}" presName="hierChild4" presStyleCnt="0"/>
      <dgm:spPr/>
    </dgm:pt>
  </dgm:ptLst>
  <dgm:cxnLst>
    <dgm:cxn modelId="{E20C3000-EEDE-4A29-B615-A8CFD739274F}" srcId="{40A93A9B-0D31-44C4-8F90-9C029BF1F62B}" destId="{C774AAC7-C97B-457A-9388-C667AEC985F2}" srcOrd="1" destOrd="0" parTransId="{9098E0E7-6BF5-4BAE-AE02-316A78DD7506}" sibTransId="{CB0C8742-3166-44AC-996A-E2BA6007DE18}"/>
    <dgm:cxn modelId="{EACBA005-DBC8-45A1-94D8-23EB8BD57111}" type="presOf" srcId="{9098E0E7-6BF5-4BAE-AE02-316A78DD7506}" destId="{BDFD0EA1-31A9-4A3D-81AF-0BAFAC0DEE43}" srcOrd="0" destOrd="0" presId="urn:microsoft.com/office/officeart/2005/8/layout/hierarchy1"/>
    <dgm:cxn modelId="{5065BE19-8073-4AE9-BDD1-3F7E5E1E987C}" srcId="{320F1359-646F-488C-85CD-77666BB48BD4}" destId="{3A5E6C34-F599-45A6-B734-93C3EAABE5B9}" srcOrd="0" destOrd="0" parTransId="{C21DFE80-C3F8-4B3B-AC5A-9FBD189C8E95}" sibTransId="{9D537574-A976-4090-A46E-C15049058DF0}"/>
    <dgm:cxn modelId="{1088BC1A-2E38-4244-ABC2-98D0F92B7ACF}" type="presOf" srcId="{3A5E6C34-F599-45A6-B734-93C3EAABE5B9}" destId="{DB40AA32-EB9B-48BE-A4D5-9F8768ECAC9C}" srcOrd="0" destOrd="0" presId="urn:microsoft.com/office/officeart/2005/8/layout/hierarchy1"/>
    <dgm:cxn modelId="{F6CA3D3D-7C7D-4164-B850-C279B656273D}" type="presOf" srcId="{511B4E05-7DC2-4B3C-8372-1AA837322C75}" destId="{7AD91267-A660-4971-BC2E-E3B65818E73C}" srcOrd="0" destOrd="0" presId="urn:microsoft.com/office/officeart/2005/8/layout/hierarchy1"/>
    <dgm:cxn modelId="{6CCF965B-750E-4E62-AFF3-1508BC1C6C4C}" type="presOf" srcId="{80996D2C-9222-485E-9964-D9E00484F46B}" destId="{6C29FC3C-FC2A-4A39-B589-9FCEEA72D21E}" srcOrd="0" destOrd="0" presId="urn:microsoft.com/office/officeart/2005/8/layout/hierarchy1"/>
    <dgm:cxn modelId="{FB269161-D26D-4747-B9EA-576602461F01}" type="presOf" srcId="{0AF01AB8-821E-4D63-B730-6B606EAAC450}" destId="{A91D8289-27EA-49AC-8351-6E4F5A4CABAE}" srcOrd="0" destOrd="0" presId="urn:microsoft.com/office/officeart/2005/8/layout/hierarchy1"/>
    <dgm:cxn modelId="{B4E74062-E6AE-4940-A62A-973E5C223F13}" type="presOf" srcId="{320F1359-646F-488C-85CD-77666BB48BD4}" destId="{42010BD1-B832-427D-93B3-E21F5147A429}" srcOrd="0" destOrd="0" presId="urn:microsoft.com/office/officeart/2005/8/layout/hierarchy1"/>
    <dgm:cxn modelId="{06010846-68ED-4593-842D-117DBB58BB56}" srcId="{3A5E6C34-F599-45A6-B734-93C3EAABE5B9}" destId="{8EB40933-2B51-43E5-B9CE-53045E611571}" srcOrd="2" destOrd="0" parTransId="{6B97F46D-58C6-404A-AEBD-A75759AE39EF}" sibTransId="{D793A496-1D4B-4022-8468-D930F72E9C5D}"/>
    <dgm:cxn modelId="{6B3A4E48-3439-4011-991F-E2C7D12A593B}" type="presOf" srcId="{C774AAC7-C97B-457A-9388-C667AEC985F2}" destId="{0F2C5905-3E11-402C-9AFE-688489458263}" srcOrd="0" destOrd="0" presId="urn:microsoft.com/office/officeart/2005/8/layout/hierarchy1"/>
    <dgm:cxn modelId="{606BA068-17AB-43DB-9709-A924DA828D98}" type="presOf" srcId="{E3503EC6-A498-4C36-90E5-7D5F46C2BA4C}" destId="{8619F606-5F73-4214-B1D9-AD02456051F2}" srcOrd="0" destOrd="0" presId="urn:microsoft.com/office/officeart/2005/8/layout/hierarchy1"/>
    <dgm:cxn modelId="{1C101549-0AD1-42AC-AB23-2144AAD1523B}" srcId="{3A5E6C34-F599-45A6-B734-93C3EAABE5B9}" destId="{40A93A9B-0D31-44C4-8F90-9C029BF1F62B}" srcOrd="0" destOrd="0" parTransId="{E2B656CF-E95A-4CDC-A62A-0B47918C0F52}" sibTransId="{D6E0071D-FB64-4ABF-810F-DB79FB095A88}"/>
    <dgm:cxn modelId="{F433B16B-61E9-4BAC-8795-81D4FACC4A95}" type="presOf" srcId="{40A93A9B-0D31-44C4-8F90-9C029BF1F62B}" destId="{EFEC2F66-434F-4449-B5AD-17D8A34C9627}" srcOrd="0" destOrd="0" presId="urn:microsoft.com/office/officeart/2005/8/layout/hierarchy1"/>
    <dgm:cxn modelId="{2C3B7C6D-79EA-4264-B6D4-7BD310244B8A}" type="presOf" srcId="{E2B656CF-E95A-4CDC-A62A-0B47918C0F52}" destId="{C7FF8201-BC83-49BC-A02D-E9742480D7AC}" srcOrd="0" destOrd="0" presId="urn:microsoft.com/office/officeart/2005/8/layout/hierarchy1"/>
    <dgm:cxn modelId="{65CA3679-C94B-4226-B6ED-953A25FD37FD}" srcId="{8EB40933-2B51-43E5-B9CE-53045E611571}" destId="{80996D2C-9222-485E-9964-D9E00484F46B}" srcOrd="0" destOrd="0" parTransId="{511B4E05-7DC2-4B3C-8372-1AA837322C75}" sibTransId="{E5F7C120-9642-4E28-8607-8BFFA0EE96D8}"/>
    <dgm:cxn modelId="{50859886-B798-4A2D-9FCF-8AE7D65611AD}" type="presOf" srcId="{A2F7F089-6FB5-4D1B-924F-C1F753A81C3E}" destId="{100917A3-8935-4934-9E25-D52B6B59CE8B}" srcOrd="0" destOrd="0" presId="urn:microsoft.com/office/officeart/2005/8/layout/hierarchy1"/>
    <dgm:cxn modelId="{4253258C-5470-478C-AC25-9BD4E941634C}" srcId="{40A93A9B-0D31-44C4-8F90-9C029BF1F62B}" destId="{493CBF25-C8ED-46AF-AF28-603D55081EEE}" srcOrd="0" destOrd="0" parTransId="{119A5413-EAD7-46BD-B6F4-EFB6CD18C62E}" sibTransId="{259B8021-055B-45F9-BCFE-E172BA708EF3}"/>
    <dgm:cxn modelId="{385E3690-2BD9-4AE3-9013-59654252602E}" type="presOf" srcId="{96D9E38A-3357-4A09-9D22-7B58BB986AED}" destId="{4005464C-C703-484A-B325-C9ADFC4E141E}" srcOrd="0" destOrd="0" presId="urn:microsoft.com/office/officeart/2005/8/layout/hierarchy1"/>
    <dgm:cxn modelId="{9E5713B1-D81B-43CC-A8EF-72784DC03B4E}" srcId="{3A5E6C34-F599-45A6-B734-93C3EAABE5B9}" destId="{96D9E38A-3357-4A09-9D22-7B58BB986AED}" srcOrd="1" destOrd="0" parTransId="{A2F7F089-6FB5-4D1B-924F-C1F753A81C3E}" sibTransId="{CB892101-71F3-43DC-BCF1-753244DF7B01}"/>
    <dgm:cxn modelId="{E54F1EB1-7087-46B5-BB72-9DBE9DFC8095}" type="presOf" srcId="{8EB40933-2B51-43E5-B9CE-53045E611571}" destId="{1B2205E7-13EE-4617-87E9-0ED2D6B86F37}" srcOrd="0" destOrd="0" presId="urn:microsoft.com/office/officeart/2005/8/layout/hierarchy1"/>
    <dgm:cxn modelId="{0FBA96C2-2C4A-4EA7-8503-BDCAA5914EDB}" type="presOf" srcId="{493CBF25-C8ED-46AF-AF28-603D55081EEE}" destId="{6E3BD378-C59B-4DA6-83E8-7531983C945E}" srcOrd="0" destOrd="0" presId="urn:microsoft.com/office/officeart/2005/8/layout/hierarchy1"/>
    <dgm:cxn modelId="{6CF984C4-D8C9-470E-9A39-212BE534064A}" srcId="{96D9E38A-3357-4A09-9D22-7B58BB986AED}" destId="{E3503EC6-A498-4C36-90E5-7D5F46C2BA4C}" srcOrd="0" destOrd="0" parTransId="{0AF01AB8-821E-4D63-B730-6B606EAAC450}" sibTransId="{28600726-FF43-46E7-BCE6-BFB739696DC3}"/>
    <dgm:cxn modelId="{E04D2DD1-E2C2-4F3E-8593-6016BF6F2EC4}" type="presOf" srcId="{6B97F46D-58C6-404A-AEBD-A75759AE39EF}" destId="{BD426D66-2B8E-4BD0-AC28-71711287B09B}" srcOrd="0" destOrd="0" presId="urn:microsoft.com/office/officeart/2005/8/layout/hierarchy1"/>
    <dgm:cxn modelId="{332C05D4-EF73-4CD8-82C9-97DD8CB6F06E}" type="presOf" srcId="{119A5413-EAD7-46BD-B6F4-EFB6CD18C62E}" destId="{4A146749-21FE-4C9D-AFD8-59B8C3ADF821}" srcOrd="0" destOrd="0" presId="urn:microsoft.com/office/officeart/2005/8/layout/hierarchy1"/>
    <dgm:cxn modelId="{50BC5976-31E8-4174-8EDC-FF17F1299F99}" type="presParOf" srcId="{42010BD1-B832-427D-93B3-E21F5147A429}" destId="{0E3EF08D-55FC-4D7D-806F-4D88F0ABBDB2}" srcOrd="0" destOrd="0" presId="urn:microsoft.com/office/officeart/2005/8/layout/hierarchy1"/>
    <dgm:cxn modelId="{DEC1F4F3-F273-4910-B5FF-D8A21692314F}" type="presParOf" srcId="{0E3EF08D-55FC-4D7D-806F-4D88F0ABBDB2}" destId="{58970A84-8BD0-437B-8E8D-03439A7E155E}" srcOrd="0" destOrd="0" presId="urn:microsoft.com/office/officeart/2005/8/layout/hierarchy1"/>
    <dgm:cxn modelId="{DC52A6DB-5F8B-4192-95FE-2AE9F3B55598}" type="presParOf" srcId="{58970A84-8BD0-437B-8E8D-03439A7E155E}" destId="{33B1C616-81EE-4F1C-9F8A-362854FE1148}" srcOrd="0" destOrd="0" presId="urn:microsoft.com/office/officeart/2005/8/layout/hierarchy1"/>
    <dgm:cxn modelId="{49F83480-912A-4F75-94D8-BDAFCC089065}" type="presParOf" srcId="{58970A84-8BD0-437B-8E8D-03439A7E155E}" destId="{DB40AA32-EB9B-48BE-A4D5-9F8768ECAC9C}" srcOrd="1" destOrd="0" presId="urn:microsoft.com/office/officeart/2005/8/layout/hierarchy1"/>
    <dgm:cxn modelId="{9C0977F7-227D-485F-B380-5CE23DAC9507}" type="presParOf" srcId="{0E3EF08D-55FC-4D7D-806F-4D88F0ABBDB2}" destId="{FAB6B602-10DE-442D-A1EA-FCD922E134CA}" srcOrd="1" destOrd="0" presId="urn:microsoft.com/office/officeart/2005/8/layout/hierarchy1"/>
    <dgm:cxn modelId="{0C4314D0-1A63-46AF-87DF-91A3FD2618F0}" type="presParOf" srcId="{FAB6B602-10DE-442D-A1EA-FCD922E134CA}" destId="{C7FF8201-BC83-49BC-A02D-E9742480D7AC}" srcOrd="0" destOrd="0" presId="urn:microsoft.com/office/officeart/2005/8/layout/hierarchy1"/>
    <dgm:cxn modelId="{C1976C5C-B405-423C-94B6-E5BE3609D0AD}" type="presParOf" srcId="{FAB6B602-10DE-442D-A1EA-FCD922E134CA}" destId="{C4338D9F-5B0A-47CD-B62E-AC2ED6C23BFF}" srcOrd="1" destOrd="0" presId="urn:microsoft.com/office/officeart/2005/8/layout/hierarchy1"/>
    <dgm:cxn modelId="{44542C0B-A790-44CD-A28F-5955911B1CD4}" type="presParOf" srcId="{C4338D9F-5B0A-47CD-B62E-AC2ED6C23BFF}" destId="{C9D00A72-4806-495F-BF97-12CF4A588777}" srcOrd="0" destOrd="0" presId="urn:microsoft.com/office/officeart/2005/8/layout/hierarchy1"/>
    <dgm:cxn modelId="{B3095A47-240D-456D-B74C-A3770C83B382}" type="presParOf" srcId="{C9D00A72-4806-495F-BF97-12CF4A588777}" destId="{EB037CA7-B0B1-4276-B379-6925899ADD63}" srcOrd="0" destOrd="0" presId="urn:microsoft.com/office/officeart/2005/8/layout/hierarchy1"/>
    <dgm:cxn modelId="{00E192E5-0BD2-42F5-9B8F-91F374C2A151}" type="presParOf" srcId="{C9D00A72-4806-495F-BF97-12CF4A588777}" destId="{EFEC2F66-434F-4449-B5AD-17D8A34C9627}" srcOrd="1" destOrd="0" presId="urn:microsoft.com/office/officeart/2005/8/layout/hierarchy1"/>
    <dgm:cxn modelId="{D2BB6F64-3310-4A33-8960-EE3151B7CB16}" type="presParOf" srcId="{C4338D9F-5B0A-47CD-B62E-AC2ED6C23BFF}" destId="{FB82D230-7752-4431-8215-292A633ADC55}" srcOrd="1" destOrd="0" presId="urn:microsoft.com/office/officeart/2005/8/layout/hierarchy1"/>
    <dgm:cxn modelId="{22172620-33E3-46B4-A7FE-1A4B8C2791AC}" type="presParOf" srcId="{FB82D230-7752-4431-8215-292A633ADC55}" destId="{4A146749-21FE-4C9D-AFD8-59B8C3ADF821}" srcOrd="0" destOrd="0" presId="urn:microsoft.com/office/officeart/2005/8/layout/hierarchy1"/>
    <dgm:cxn modelId="{1D6F2707-2FC3-4817-9EE4-2606CA8AD64D}" type="presParOf" srcId="{FB82D230-7752-4431-8215-292A633ADC55}" destId="{E99372E4-ACE4-4EA6-80AD-AE85557A4B84}" srcOrd="1" destOrd="0" presId="urn:microsoft.com/office/officeart/2005/8/layout/hierarchy1"/>
    <dgm:cxn modelId="{F362D088-B7D8-41DF-9287-E3C7B3DCED0A}" type="presParOf" srcId="{E99372E4-ACE4-4EA6-80AD-AE85557A4B84}" destId="{0FD59AC0-1314-450A-A182-CFD347A8C7A4}" srcOrd="0" destOrd="0" presId="urn:microsoft.com/office/officeart/2005/8/layout/hierarchy1"/>
    <dgm:cxn modelId="{3F231F67-9BE2-4AE2-BB80-C420299D3508}" type="presParOf" srcId="{0FD59AC0-1314-450A-A182-CFD347A8C7A4}" destId="{8412A7F4-0BAA-4B5D-9885-DBD4E53E92CB}" srcOrd="0" destOrd="0" presId="urn:microsoft.com/office/officeart/2005/8/layout/hierarchy1"/>
    <dgm:cxn modelId="{B75129AF-6515-459D-9520-3E4F83A275FE}" type="presParOf" srcId="{0FD59AC0-1314-450A-A182-CFD347A8C7A4}" destId="{6E3BD378-C59B-4DA6-83E8-7531983C945E}" srcOrd="1" destOrd="0" presId="urn:microsoft.com/office/officeart/2005/8/layout/hierarchy1"/>
    <dgm:cxn modelId="{92F82F66-411C-4283-9607-09FBA5064E52}" type="presParOf" srcId="{E99372E4-ACE4-4EA6-80AD-AE85557A4B84}" destId="{EEA4C3FB-0DA9-45A8-AB1D-E14CC8717542}" srcOrd="1" destOrd="0" presId="urn:microsoft.com/office/officeart/2005/8/layout/hierarchy1"/>
    <dgm:cxn modelId="{77F8A990-6513-42AB-B9E1-E196E38D065D}" type="presParOf" srcId="{FB82D230-7752-4431-8215-292A633ADC55}" destId="{BDFD0EA1-31A9-4A3D-81AF-0BAFAC0DEE43}" srcOrd="2" destOrd="0" presId="urn:microsoft.com/office/officeart/2005/8/layout/hierarchy1"/>
    <dgm:cxn modelId="{FDFF0FFC-D3C0-43EB-AB38-837D79D94B6D}" type="presParOf" srcId="{FB82D230-7752-4431-8215-292A633ADC55}" destId="{48FABEA0-4B1C-4370-A694-ABBEDB53F5C4}" srcOrd="3" destOrd="0" presId="urn:microsoft.com/office/officeart/2005/8/layout/hierarchy1"/>
    <dgm:cxn modelId="{11B6A5DE-A89E-4BF3-A005-09FBC56852C0}" type="presParOf" srcId="{48FABEA0-4B1C-4370-A694-ABBEDB53F5C4}" destId="{84B74C12-5620-4731-AE5D-6227A4F3E61F}" srcOrd="0" destOrd="0" presId="urn:microsoft.com/office/officeart/2005/8/layout/hierarchy1"/>
    <dgm:cxn modelId="{9D355BB0-CAAA-4F1B-9A41-46B8C00451EA}" type="presParOf" srcId="{84B74C12-5620-4731-AE5D-6227A4F3E61F}" destId="{16B854C9-7B46-4F84-8DE4-54442D9E86CF}" srcOrd="0" destOrd="0" presId="urn:microsoft.com/office/officeart/2005/8/layout/hierarchy1"/>
    <dgm:cxn modelId="{9B216D1E-0B36-47B2-A98B-0998A699AD32}" type="presParOf" srcId="{84B74C12-5620-4731-AE5D-6227A4F3E61F}" destId="{0F2C5905-3E11-402C-9AFE-688489458263}" srcOrd="1" destOrd="0" presId="urn:microsoft.com/office/officeart/2005/8/layout/hierarchy1"/>
    <dgm:cxn modelId="{DB5BD5C8-F8FA-4141-A4A3-613423173BBE}" type="presParOf" srcId="{48FABEA0-4B1C-4370-A694-ABBEDB53F5C4}" destId="{59224824-4B8B-4E39-82F7-26CD33056DC5}" srcOrd="1" destOrd="0" presId="urn:microsoft.com/office/officeart/2005/8/layout/hierarchy1"/>
    <dgm:cxn modelId="{DBAB2868-5252-4CD3-83DB-7CC617E2435C}" type="presParOf" srcId="{FAB6B602-10DE-442D-A1EA-FCD922E134CA}" destId="{100917A3-8935-4934-9E25-D52B6B59CE8B}" srcOrd="2" destOrd="0" presId="urn:microsoft.com/office/officeart/2005/8/layout/hierarchy1"/>
    <dgm:cxn modelId="{1AEF03BB-2F44-487C-921D-17D64F847B44}" type="presParOf" srcId="{FAB6B602-10DE-442D-A1EA-FCD922E134CA}" destId="{3650E27D-A6F9-4B66-8112-1CC9DE627831}" srcOrd="3" destOrd="0" presId="urn:microsoft.com/office/officeart/2005/8/layout/hierarchy1"/>
    <dgm:cxn modelId="{57CB9A64-8C9C-4D56-A13D-6AA43B743196}" type="presParOf" srcId="{3650E27D-A6F9-4B66-8112-1CC9DE627831}" destId="{168F9FA7-5C87-4DDE-BD52-535AD67F0C9C}" srcOrd="0" destOrd="0" presId="urn:microsoft.com/office/officeart/2005/8/layout/hierarchy1"/>
    <dgm:cxn modelId="{647A3926-60A4-41C6-81DE-39121C2BDB5D}" type="presParOf" srcId="{168F9FA7-5C87-4DDE-BD52-535AD67F0C9C}" destId="{691648F7-11AB-413F-8ECA-6DC10C983C0A}" srcOrd="0" destOrd="0" presId="urn:microsoft.com/office/officeart/2005/8/layout/hierarchy1"/>
    <dgm:cxn modelId="{0CA9E0DF-8231-46A9-BCE6-B00E737C9EFB}" type="presParOf" srcId="{168F9FA7-5C87-4DDE-BD52-535AD67F0C9C}" destId="{4005464C-C703-484A-B325-C9ADFC4E141E}" srcOrd="1" destOrd="0" presId="urn:microsoft.com/office/officeart/2005/8/layout/hierarchy1"/>
    <dgm:cxn modelId="{8EB4DA90-5DB1-496F-BB09-FC9A0129F5EC}" type="presParOf" srcId="{3650E27D-A6F9-4B66-8112-1CC9DE627831}" destId="{F02AA2F4-BC33-49E3-AD62-3062B43571A3}" srcOrd="1" destOrd="0" presId="urn:microsoft.com/office/officeart/2005/8/layout/hierarchy1"/>
    <dgm:cxn modelId="{C6D0DE18-E1B3-4CAC-A486-FF3EFB1E05FE}" type="presParOf" srcId="{F02AA2F4-BC33-49E3-AD62-3062B43571A3}" destId="{A91D8289-27EA-49AC-8351-6E4F5A4CABAE}" srcOrd="0" destOrd="0" presId="urn:microsoft.com/office/officeart/2005/8/layout/hierarchy1"/>
    <dgm:cxn modelId="{1B2A7495-F9A6-49FA-A99E-925ADBB558D9}" type="presParOf" srcId="{F02AA2F4-BC33-49E3-AD62-3062B43571A3}" destId="{F87F55C0-0BAF-4F35-89F8-2411F3D4E1F5}" srcOrd="1" destOrd="0" presId="urn:microsoft.com/office/officeart/2005/8/layout/hierarchy1"/>
    <dgm:cxn modelId="{E0FFC859-CF3B-4721-BAF2-54CF662EF4B3}" type="presParOf" srcId="{F87F55C0-0BAF-4F35-89F8-2411F3D4E1F5}" destId="{C194357E-2611-49A8-83F9-E24AEBAD5045}" srcOrd="0" destOrd="0" presId="urn:microsoft.com/office/officeart/2005/8/layout/hierarchy1"/>
    <dgm:cxn modelId="{5C75D496-78E0-479B-B5CF-D6BF79470BC6}" type="presParOf" srcId="{C194357E-2611-49A8-83F9-E24AEBAD5045}" destId="{82DAC6EC-21AC-4536-911A-12019B5A3796}" srcOrd="0" destOrd="0" presId="urn:microsoft.com/office/officeart/2005/8/layout/hierarchy1"/>
    <dgm:cxn modelId="{E4DE0F1E-76EE-4030-AA3D-40371A7B2B98}" type="presParOf" srcId="{C194357E-2611-49A8-83F9-E24AEBAD5045}" destId="{8619F606-5F73-4214-B1D9-AD02456051F2}" srcOrd="1" destOrd="0" presId="urn:microsoft.com/office/officeart/2005/8/layout/hierarchy1"/>
    <dgm:cxn modelId="{DEEEDC69-A116-4875-93C3-F3841EC64CA9}" type="presParOf" srcId="{F87F55C0-0BAF-4F35-89F8-2411F3D4E1F5}" destId="{7A026597-C7A1-4D1F-A2AB-DBF9C357AB08}" srcOrd="1" destOrd="0" presId="urn:microsoft.com/office/officeart/2005/8/layout/hierarchy1"/>
    <dgm:cxn modelId="{C958C947-F8C3-465A-8C08-6F62D89629CB}" type="presParOf" srcId="{FAB6B602-10DE-442D-A1EA-FCD922E134CA}" destId="{BD426D66-2B8E-4BD0-AC28-71711287B09B}" srcOrd="4" destOrd="0" presId="urn:microsoft.com/office/officeart/2005/8/layout/hierarchy1"/>
    <dgm:cxn modelId="{95E9A123-E2F6-468A-B499-282825769E5F}" type="presParOf" srcId="{FAB6B602-10DE-442D-A1EA-FCD922E134CA}" destId="{2A20DA40-7C10-46D2-8C66-FD4645D7E4F4}" srcOrd="5" destOrd="0" presId="urn:microsoft.com/office/officeart/2005/8/layout/hierarchy1"/>
    <dgm:cxn modelId="{882BD12F-A9C5-4199-A4AC-11656599AB69}" type="presParOf" srcId="{2A20DA40-7C10-46D2-8C66-FD4645D7E4F4}" destId="{DE5C8E83-C5AB-4DFB-A1AA-9349F670F0CC}" srcOrd="0" destOrd="0" presId="urn:microsoft.com/office/officeart/2005/8/layout/hierarchy1"/>
    <dgm:cxn modelId="{B2680866-9EFD-4C5E-A7E1-B3AE9E660D75}" type="presParOf" srcId="{DE5C8E83-C5AB-4DFB-A1AA-9349F670F0CC}" destId="{7551A6B0-0D70-41F0-BBC4-1547B244D193}" srcOrd="0" destOrd="0" presId="urn:microsoft.com/office/officeart/2005/8/layout/hierarchy1"/>
    <dgm:cxn modelId="{3C4130CA-DBC9-4246-9B3B-8C4575437685}" type="presParOf" srcId="{DE5C8E83-C5AB-4DFB-A1AA-9349F670F0CC}" destId="{1B2205E7-13EE-4617-87E9-0ED2D6B86F37}" srcOrd="1" destOrd="0" presId="urn:microsoft.com/office/officeart/2005/8/layout/hierarchy1"/>
    <dgm:cxn modelId="{D40589C9-CC28-49BB-8E88-FF67FEC867F9}" type="presParOf" srcId="{2A20DA40-7C10-46D2-8C66-FD4645D7E4F4}" destId="{B6FF1092-E2BD-4A95-BAFE-30C767806194}" srcOrd="1" destOrd="0" presId="urn:microsoft.com/office/officeart/2005/8/layout/hierarchy1"/>
    <dgm:cxn modelId="{4DA601C7-25C6-44C9-BEE6-1EC8CCFAAA34}" type="presParOf" srcId="{B6FF1092-E2BD-4A95-BAFE-30C767806194}" destId="{7AD91267-A660-4971-BC2E-E3B65818E73C}" srcOrd="0" destOrd="0" presId="urn:microsoft.com/office/officeart/2005/8/layout/hierarchy1"/>
    <dgm:cxn modelId="{EF298AB2-D853-4987-A6B4-BDBE3846C4F1}" type="presParOf" srcId="{B6FF1092-E2BD-4A95-BAFE-30C767806194}" destId="{199BA29C-4C85-4245-999B-EACB6526815A}" srcOrd="1" destOrd="0" presId="urn:microsoft.com/office/officeart/2005/8/layout/hierarchy1"/>
    <dgm:cxn modelId="{ACA0B06D-6C60-4C86-9686-F0BF2DFF7C44}" type="presParOf" srcId="{199BA29C-4C85-4245-999B-EACB6526815A}" destId="{0B516BC3-E27B-4E3A-B2BF-F29731EFEFAC}" srcOrd="0" destOrd="0" presId="urn:microsoft.com/office/officeart/2005/8/layout/hierarchy1"/>
    <dgm:cxn modelId="{68660BFA-3417-45A4-926C-DFDC43182240}" type="presParOf" srcId="{0B516BC3-E27B-4E3A-B2BF-F29731EFEFAC}" destId="{C64C203C-791B-4335-A7AB-6980CF3B4F26}" srcOrd="0" destOrd="0" presId="urn:microsoft.com/office/officeart/2005/8/layout/hierarchy1"/>
    <dgm:cxn modelId="{840DE976-0076-40E6-A5C5-1F94BCCE7B03}" type="presParOf" srcId="{0B516BC3-E27B-4E3A-B2BF-F29731EFEFAC}" destId="{6C29FC3C-FC2A-4A39-B589-9FCEEA72D21E}" srcOrd="1" destOrd="0" presId="urn:microsoft.com/office/officeart/2005/8/layout/hierarchy1"/>
    <dgm:cxn modelId="{210CF2E6-4F53-4A6B-BFCF-AF1F6FB845C5}" type="presParOf" srcId="{199BA29C-4C85-4245-999B-EACB6526815A}" destId="{75C14CB8-B73B-4FAF-B725-C46D1063D948}"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D91267-A660-4971-BC2E-E3B65818E73C}">
      <dsp:nvSpPr>
        <dsp:cNvPr id="0" name=""/>
        <dsp:cNvSpPr/>
      </dsp:nvSpPr>
      <dsp:spPr>
        <a:xfrm>
          <a:off x="7066496" y="2446762"/>
          <a:ext cx="91440" cy="455672"/>
        </a:xfrm>
        <a:custGeom>
          <a:avLst/>
          <a:gdLst/>
          <a:ahLst/>
          <a:cxnLst/>
          <a:rect l="0" t="0" r="0" b="0"/>
          <a:pathLst>
            <a:path>
              <a:moveTo>
                <a:pt x="45720" y="0"/>
              </a:moveTo>
              <a:lnTo>
                <a:pt x="45720" y="455672"/>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D426D66-2B8E-4BD0-AC28-71711287B09B}">
      <dsp:nvSpPr>
        <dsp:cNvPr id="0" name=""/>
        <dsp:cNvSpPr/>
      </dsp:nvSpPr>
      <dsp:spPr>
        <a:xfrm>
          <a:off x="4718519" y="996181"/>
          <a:ext cx="2393697" cy="455672"/>
        </a:xfrm>
        <a:custGeom>
          <a:avLst/>
          <a:gdLst/>
          <a:ahLst/>
          <a:cxnLst/>
          <a:rect l="0" t="0" r="0" b="0"/>
          <a:pathLst>
            <a:path>
              <a:moveTo>
                <a:pt x="0" y="0"/>
              </a:moveTo>
              <a:lnTo>
                <a:pt x="0" y="310527"/>
              </a:lnTo>
              <a:lnTo>
                <a:pt x="2393697" y="310527"/>
              </a:lnTo>
              <a:lnTo>
                <a:pt x="2393697" y="455672"/>
              </a:lnTo>
            </a:path>
          </a:pathLst>
        </a:custGeom>
        <a:noFill/>
        <a:ln w="2540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91D8289-27EA-49AC-8351-6E4F5A4CABAE}">
      <dsp:nvSpPr>
        <dsp:cNvPr id="0" name=""/>
        <dsp:cNvSpPr/>
      </dsp:nvSpPr>
      <dsp:spPr>
        <a:xfrm>
          <a:off x="5151539" y="2446762"/>
          <a:ext cx="91440" cy="455672"/>
        </a:xfrm>
        <a:custGeom>
          <a:avLst/>
          <a:gdLst/>
          <a:ahLst/>
          <a:cxnLst/>
          <a:rect l="0" t="0" r="0" b="0"/>
          <a:pathLst>
            <a:path>
              <a:moveTo>
                <a:pt x="45720" y="0"/>
              </a:moveTo>
              <a:lnTo>
                <a:pt x="45720" y="455672"/>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00917A3-8935-4934-9E25-D52B6B59CE8B}">
      <dsp:nvSpPr>
        <dsp:cNvPr id="0" name=""/>
        <dsp:cNvSpPr/>
      </dsp:nvSpPr>
      <dsp:spPr>
        <a:xfrm>
          <a:off x="4718519" y="996181"/>
          <a:ext cx="478739" cy="455672"/>
        </a:xfrm>
        <a:custGeom>
          <a:avLst/>
          <a:gdLst/>
          <a:ahLst/>
          <a:cxnLst/>
          <a:rect l="0" t="0" r="0" b="0"/>
          <a:pathLst>
            <a:path>
              <a:moveTo>
                <a:pt x="0" y="0"/>
              </a:moveTo>
              <a:lnTo>
                <a:pt x="0" y="310527"/>
              </a:lnTo>
              <a:lnTo>
                <a:pt x="478739" y="310527"/>
              </a:lnTo>
              <a:lnTo>
                <a:pt x="478739" y="455672"/>
              </a:lnTo>
            </a:path>
          </a:pathLst>
        </a:custGeom>
        <a:noFill/>
        <a:ln w="2540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DFD0EA1-31A9-4A3D-81AF-0BAFAC0DEE43}">
      <dsp:nvSpPr>
        <dsp:cNvPr id="0" name=""/>
        <dsp:cNvSpPr/>
      </dsp:nvSpPr>
      <dsp:spPr>
        <a:xfrm>
          <a:off x="2324822" y="2446762"/>
          <a:ext cx="957478" cy="455672"/>
        </a:xfrm>
        <a:custGeom>
          <a:avLst/>
          <a:gdLst/>
          <a:ahLst/>
          <a:cxnLst/>
          <a:rect l="0" t="0" r="0" b="0"/>
          <a:pathLst>
            <a:path>
              <a:moveTo>
                <a:pt x="0" y="0"/>
              </a:moveTo>
              <a:lnTo>
                <a:pt x="0" y="310527"/>
              </a:lnTo>
              <a:lnTo>
                <a:pt x="957478" y="310527"/>
              </a:lnTo>
              <a:lnTo>
                <a:pt x="957478" y="455672"/>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A146749-21FE-4C9D-AFD8-59B8C3ADF821}">
      <dsp:nvSpPr>
        <dsp:cNvPr id="0" name=""/>
        <dsp:cNvSpPr/>
      </dsp:nvSpPr>
      <dsp:spPr>
        <a:xfrm>
          <a:off x="1367343" y="2446762"/>
          <a:ext cx="957478" cy="455672"/>
        </a:xfrm>
        <a:custGeom>
          <a:avLst/>
          <a:gdLst/>
          <a:ahLst/>
          <a:cxnLst/>
          <a:rect l="0" t="0" r="0" b="0"/>
          <a:pathLst>
            <a:path>
              <a:moveTo>
                <a:pt x="957478" y="0"/>
              </a:moveTo>
              <a:lnTo>
                <a:pt x="957478" y="310527"/>
              </a:lnTo>
              <a:lnTo>
                <a:pt x="0" y="310527"/>
              </a:lnTo>
              <a:lnTo>
                <a:pt x="0" y="455672"/>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7FF8201-BC83-49BC-A02D-E9742480D7AC}">
      <dsp:nvSpPr>
        <dsp:cNvPr id="0" name=""/>
        <dsp:cNvSpPr/>
      </dsp:nvSpPr>
      <dsp:spPr>
        <a:xfrm>
          <a:off x="2324822" y="996181"/>
          <a:ext cx="2393697" cy="455672"/>
        </a:xfrm>
        <a:custGeom>
          <a:avLst/>
          <a:gdLst/>
          <a:ahLst/>
          <a:cxnLst/>
          <a:rect l="0" t="0" r="0" b="0"/>
          <a:pathLst>
            <a:path>
              <a:moveTo>
                <a:pt x="2393697" y="0"/>
              </a:moveTo>
              <a:lnTo>
                <a:pt x="2393697" y="310527"/>
              </a:lnTo>
              <a:lnTo>
                <a:pt x="0" y="310527"/>
              </a:lnTo>
              <a:lnTo>
                <a:pt x="0" y="455672"/>
              </a:lnTo>
            </a:path>
          </a:pathLst>
        </a:custGeom>
        <a:noFill/>
        <a:ln w="2540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3B1C616-81EE-4F1C-9F8A-362854FE1148}">
      <dsp:nvSpPr>
        <dsp:cNvPr id="0" name=""/>
        <dsp:cNvSpPr/>
      </dsp:nvSpPr>
      <dsp:spPr>
        <a:xfrm>
          <a:off x="3935128" y="1274"/>
          <a:ext cx="1566783" cy="994907"/>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B40AA32-EB9B-48BE-A4D5-9F8768ECAC9C}">
      <dsp:nvSpPr>
        <dsp:cNvPr id="0" name=""/>
        <dsp:cNvSpPr/>
      </dsp:nvSpPr>
      <dsp:spPr>
        <a:xfrm>
          <a:off x="4109215" y="166657"/>
          <a:ext cx="1566783" cy="994907"/>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CA" sz="2400" kern="1200" dirty="0"/>
            <a:t>MySQL</a:t>
          </a:r>
        </a:p>
      </dsp:txBody>
      <dsp:txXfrm>
        <a:off x="4138355" y="195797"/>
        <a:ext cx="1508503" cy="936627"/>
      </dsp:txXfrm>
    </dsp:sp>
    <dsp:sp modelId="{EB037CA7-B0B1-4276-B379-6925899ADD63}">
      <dsp:nvSpPr>
        <dsp:cNvPr id="0" name=""/>
        <dsp:cNvSpPr/>
      </dsp:nvSpPr>
      <dsp:spPr>
        <a:xfrm>
          <a:off x="1541431" y="1451854"/>
          <a:ext cx="1566783" cy="994907"/>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FEC2F66-434F-4449-B5AD-17D8A34C9627}">
      <dsp:nvSpPr>
        <dsp:cNvPr id="0" name=""/>
        <dsp:cNvSpPr/>
      </dsp:nvSpPr>
      <dsp:spPr>
        <a:xfrm>
          <a:off x="1715518" y="1617237"/>
          <a:ext cx="1566783" cy="994907"/>
        </a:xfrm>
        <a:prstGeom prst="roundRect">
          <a:avLst>
            <a:gd name="adj" fmla="val 10000"/>
          </a:avLst>
        </a:prstGeom>
        <a:solidFill>
          <a:schemeClr val="lt1">
            <a:alpha val="90000"/>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CA" sz="2400" kern="1200" dirty="0"/>
            <a:t>Database1</a:t>
          </a:r>
        </a:p>
      </dsp:txBody>
      <dsp:txXfrm>
        <a:off x="1744658" y="1646377"/>
        <a:ext cx="1508503" cy="936627"/>
      </dsp:txXfrm>
    </dsp:sp>
    <dsp:sp modelId="{8412A7F4-0BAA-4B5D-9885-DBD4E53E92CB}">
      <dsp:nvSpPr>
        <dsp:cNvPr id="0" name=""/>
        <dsp:cNvSpPr/>
      </dsp:nvSpPr>
      <dsp:spPr>
        <a:xfrm>
          <a:off x="583952" y="2902435"/>
          <a:ext cx="1566783" cy="994907"/>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E3BD378-C59B-4DA6-83E8-7531983C945E}">
      <dsp:nvSpPr>
        <dsp:cNvPr id="0" name=""/>
        <dsp:cNvSpPr/>
      </dsp:nvSpPr>
      <dsp:spPr>
        <a:xfrm>
          <a:off x="758039" y="3067818"/>
          <a:ext cx="1566783" cy="994907"/>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CA" sz="2400" kern="1200" dirty="0"/>
            <a:t>Table1</a:t>
          </a:r>
        </a:p>
      </dsp:txBody>
      <dsp:txXfrm>
        <a:off x="787179" y="3096958"/>
        <a:ext cx="1508503" cy="936627"/>
      </dsp:txXfrm>
    </dsp:sp>
    <dsp:sp modelId="{16B854C9-7B46-4F84-8DE4-54442D9E86CF}">
      <dsp:nvSpPr>
        <dsp:cNvPr id="0" name=""/>
        <dsp:cNvSpPr/>
      </dsp:nvSpPr>
      <dsp:spPr>
        <a:xfrm>
          <a:off x="2498909" y="2902435"/>
          <a:ext cx="1566783" cy="994907"/>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F2C5905-3E11-402C-9AFE-688489458263}">
      <dsp:nvSpPr>
        <dsp:cNvPr id="0" name=""/>
        <dsp:cNvSpPr/>
      </dsp:nvSpPr>
      <dsp:spPr>
        <a:xfrm>
          <a:off x="2672996" y="3067818"/>
          <a:ext cx="1566783" cy="994907"/>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CA" sz="2400" kern="1200" dirty="0"/>
            <a:t>Table2</a:t>
          </a:r>
        </a:p>
      </dsp:txBody>
      <dsp:txXfrm>
        <a:off x="2702136" y="3096958"/>
        <a:ext cx="1508503" cy="936627"/>
      </dsp:txXfrm>
    </dsp:sp>
    <dsp:sp modelId="{691648F7-11AB-413F-8ECA-6DC10C983C0A}">
      <dsp:nvSpPr>
        <dsp:cNvPr id="0" name=""/>
        <dsp:cNvSpPr/>
      </dsp:nvSpPr>
      <dsp:spPr>
        <a:xfrm>
          <a:off x="4413867" y="1451854"/>
          <a:ext cx="1566783" cy="994907"/>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005464C-C703-484A-B325-C9ADFC4E141E}">
      <dsp:nvSpPr>
        <dsp:cNvPr id="0" name=""/>
        <dsp:cNvSpPr/>
      </dsp:nvSpPr>
      <dsp:spPr>
        <a:xfrm>
          <a:off x="4587954" y="1617237"/>
          <a:ext cx="1566783" cy="994907"/>
        </a:xfrm>
        <a:prstGeom prst="roundRect">
          <a:avLst>
            <a:gd name="adj" fmla="val 10000"/>
          </a:avLst>
        </a:prstGeom>
        <a:solidFill>
          <a:schemeClr val="lt1">
            <a:alpha val="90000"/>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CA" sz="2400" kern="1200" dirty="0"/>
            <a:t>Database2</a:t>
          </a:r>
        </a:p>
      </dsp:txBody>
      <dsp:txXfrm>
        <a:off x="4617094" y="1646377"/>
        <a:ext cx="1508503" cy="936627"/>
      </dsp:txXfrm>
    </dsp:sp>
    <dsp:sp modelId="{82DAC6EC-21AC-4536-911A-12019B5A3796}">
      <dsp:nvSpPr>
        <dsp:cNvPr id="0" name=""/>
        <dsp:cNvSpPr/>
      </dsp:nvSpPr>
      <dsp:spPr>
        <a:xfrm>
          <a:off x="4413867" y="2902435"/>
          <a:ext cx="1566783" cy="994907"/>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619F606-5F73-4214-B1D9-AD02456051F2}">
      <dsp:nvSpPr>
        <dsp:cNvPr id="0" name=""/>
        <dsp:cNvSpPr/>
      </dsp:nvSpPr>
      <dsp:spPr>
        <a:xfrm>
          <a:off x="4587954" y="3067818"/>
          <a:ext cx="1566783" cy="994907"/>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CA" sz="2400" kern="1200" dirty="0"/>
            <a:t>Table1</a:t>
          </a:r>
        </a:p>
      </dsp:txBody>
      <dsp:txXfrm>
        <a:off x="4617094" y="3096958"/>
        <a:ext cx="1508503" cy="936627"/>
      </dsp:txXfrm>
    </dsp:sp>
    <dsp:sp modelId="{7551A6B0-0D70-41F0-BBC4-1547B244D193}">
      <dsp:nvSpPr>
        <dsp:cNvPr id="0" name=""/>
        <dsp:cNvSpPr/>
      </dsp:nvSpPr>
      <dsp:spPr>
        <a:xfrm>
          <a:off x="6328825" y="1451854"/>
          <a:ext cx="1566783" cy="994907"/>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B2205E7-13EE-4617-87E9-0ED2D6B86F37}">
      <dsp:nvSpPr>
        <dsp:cNvPr id="0" name=""/>
        <dsp:cNvSpPr/>
      </dsp:nvSpPr>
      <dsp:spPr>
        <a:xfrm>
          <a:off x="6502912" y="1617237"/>
          <a:ext cx="1566783" cy="994907"/>
        </a:xfrm>
        <a:prstGeom prst="roundRect">
          <a:avLst>
            <a:gd name="adj" fmla="val 10000"/>
          </a:avLst>
        </a:prstGeom>
        <a:solidFill>
          <a:schemeClr val="lt1">
            <a:alpha val="90000"/>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CA" sz="2400" kern="1200" dirty="0"/>
            <a:t>Database3</a:t>
          </a:r>
        </a:p>
      </dsp:txBody>
      <dsp:txXfrm>
        <a:off x="6532052" y="1646377"/>
        <a:ext cx="1508503" cy="936627"/>
      </dsp:txXfrm>
    </dsp:sp>
    <dsp:sp modelId="{C64C203C-791B-4335-A7AB-6980CF3B4F26}">
      <dsp:nvSpPr>
        <dsp:cNvPr id="0" name=""/>
        <dsp:cNvSpPr/>
      </dsp:nvSpPr>
      <dsp:spPr>
        <a:xfrm>
          <a:off x="6328825" y="2902435"/>
          <a:ext cx="1566783" cy="994907"/>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C29FC3C-FC2A-4A39-B589-9FCEEA72D21E}">
      <dsp:nvSpPr>
        <dsp:cNvPr id="0" name=""/>
        <dsp:cNvSpPr/>
      </dsp:nvSpPr>
      <dsp:spPr>
        <a:xfrm>
          <a:off x="6502912" y="3067818"/>
          <a:ext cx="1566783" cy="994907"/>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CA" sz="2400" kern="1200" dirty="0"/>
            <a:t>Table1</a:t>
          </a:r>
        </a:p>
      </dsp:txBody>
      <dsp:txXfrm>
        <a:off x="6532052" y="3096958"/>
        <a:ext cx="1508503" cy="936627"/>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3305BA8-B334-C05D-0C9F-D1C4FD7023F7}"/>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charset="0"/>
                <a:cs typeface="Arial" charset="0"/>
              </a:defRPr>
            </a:lvl1pPr>
          </a:lstStyle>
          <a:p>
            <a:pPr>
              <a:defRPr/>
            </a:pPr>
            <a:endParaRPr lang="en-US"/>
          </a:p>
        </p:txBody>
      </p:sp>
      <p:sp>
        <p:nvSpPr>
          <p:cNvPr id="3" name="Date Placeholder 2">
            <a:extLst>
              <a:ext uri="{FF2B5EF4-FFF2-40B4-BE49-F238E27FC236}">
                <a16:creationId xmlns:a16="http://schemas.microsoft.com/office/drawing/2014/main" id="{207DAE64-C7E8-7AE8-1DEB-919B5CFE56E4}"/>
              </a:ext>
            </a:extLst>
          </p:cNvPr>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eaLnBrk="1" hangingPunct="1">
              <a:defRPr sz="1200">
                <a:latin typeface="Arial" charset="0"/>
                <a:cs typeface="Arial" charset="0"/>
              </a:defRPr>
            </a:lvl1pPr>
          </a:lstStyle>
          <a:p>
            <a:pPr>
              <a:defRPr/>
            </a:pPr>
            <a:fld id="{EAF9489F-4460-47AD-A226-388221396F25}" type="datetimeFigureOut">
              <a:rPr lang="en-US"/>
              <a:pPr>
                <a:defRPr/>
              </a:pPr>
              <a:t>6/13/2025</a:t>
            </a:fld>
            <a:endParaRPr lang="en-US"/>
          </a:p>
        </p:txBody>
      </p:sp>
      <p:sp>
        <p:nvSpPr>
          <p:cNvPr id="4" name="Footer Placeholder 3">
            <a:extLst>
              <a:ext uri="{FF2B5EF4-FFF2-40B4-BE49-F238E27FC236}">
                <a16:creationId xmlns:a16="http://schemas.microsoft.com/office/drawing/2014/main" id="{44CE6DEB-AC32-CED2-0D9A-462F323522AC}"/>
              </a:ext>
            </a:extLst>
          </p:cNvPr>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charset="0"/>
                <a:cs typeface="Arial" charset="0"/>
              </a:defRPr>
            </a:lvl1pPr>
          </a:lstStyle>
          <a:p>
            <a:pPr>
              <a:defRPr/>
            </a:pPr>
            <a:endParaRPr lang="en-US"/>
          </a:p>
        </p:txBody>
      </p:sp>
      <p:sp>
        <p:nvSpPr>
          <p:cNvPr id="5" name="Slide Number Placeholder 4">
            <a:extLst>
              <a:ext uri="{FF2B5EF4-FFF2-40B4-BE49-F238E27FC236}">
                <a16:creationId xmlns:a16="http://schemas.microsoft.com/office/drawing/2014/main" id="{B8C558E2-F0C7-88B1-6BF7-A217BF041B7B}"/>
              </a:ext>
            </a:extLst>
          </p:cNvPr>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4B13B6B8-D33B-4C99-94D7-626E579458DF}"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79CE482-DB18-D258-AE18-D83F65617096}"/>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cs typeface="+mn-cs"/>
              </a:defRPr>
            </a:lvl1pPr>
          </a:lstStyle>
          <a:p>
            <a:pPr>
              <a:defRPr/>
            </a:pPr>
            <a:endParaRPr lang="en-US"/>
          </a:p>
        </p:txBody>
      </p:sp>
      <p:sp>
        <p:nvSpPr>
          <p:cNvPr id="3" name="Date Placeholder 2">
            <a:extLst>
              <a:ext uri="{FF2B5EF4-FFF2-40B4-BE49-F238E27FC236}">
                <a16:creationId xmlns:a16="http://schemas.microsoft.com/office/drawing/2014/main" id="{B44B74FA-776E-69C1-6946-2D8BCE500405}"/>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cs typeface="+mn-cs"/>
              </a:defRPr>
            </a:lvl1pPr>
          </a:lstStyle>
          <a:p>
            <a:pPr>
              <a:defRPr/>
            </a:pPr>
            <a:fld id="{984AEC15-3644-4A45-A200-56DB1F85DE3A}" type="datetimeFigureOut">
              <a:rPr lang="en-US"/>
              <a:pPr>
                <a:defRPr/>
              </a:pPr>
              <a:t>6/13/2025</a:t>
            </a:fld>
            <a:endParaRPr lang="en-US"/>
          </a:p>
        </p:txBody>
      </p:sp>
      <p:sp>
        <p:nvSpPr>
          <p:cNvPr id="4" name="Slide Image Placeholder 3">
            <a:extLst>
              <a:ext uri="{FF2B5EF4-FFF2-40B4-BE49-F238E27FC236}">
                <a16:creationId xmlns:a16="http://schemas.microsoft.com/office/drawing/2014/main" id="{2E80D329-E051-8FDE-A324-6B68A39C68C7}"/>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9E6626B8-AC9B-C716-45D7-C401116ED68F}"/>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1C6A534F-E5F5-177B-8056-757DBACA5906}"/>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cs typeface="+mn-cs"/>
              </a:defRPr>
            </a:lvl1pPr>
          </a:lstStyle>
          <a:p>
            <a:pPr>
              <a:defRPr/>
            </a:pPr>
            <a:endParaRPr lang="en-US"/>
          </a:p>
        </p:txBody>
      </p:sp>
      <p:sp>
        <p:nvSpPr>
          <p:cNvPr id="7" name="Slide Number Placeholder 6">
            <a:extLst>
              <a:ext uri="{FF2B5EF4-FFF2-40B4-BE49-F238E27FC236}">
                <a16:creationId xmlns:a16="http://schemas.microsoft.com/office/drawing/2014/main" id="{AE107BA1-BDF3-00B3-08DD-EBB50281A6E4}"/>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pPr>
              <a:defRPr/>
            </a:pPr>
            <a:fld id="{A651ACCE-D311-4388-94E4-B5401C969EF3}"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7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8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65C44148-A612-9AAE-23FA-5811D4BFFCCA}"/>
              </a:ext>
            </a:extLst>
          </p:cNvPr>
          <p:cNvSpPr>
            <a:spLocks noGrp="1" noRot="1" noChangeAspect="1" noChangeArrowheads="1" noTextEdit="1"/>
          </p:cNvSpPr>
          <p:nvPr>
            <p:ph type="sldImg"/>
          </p:nvPr>
        </p:nvSpPr>
        <p:spPr>
          <a:xfrm>
            <a:off x="1144588" y="685800"/>
            <a:ext cx="4572000" cy="3429000"/>
          </a:xfrm>
          <a:ln/>
        </p:spPr>
      </p:sp>
      <p:sp>
        <p:nvSpPr>
          <p:cNvPr id="7171" name="Rectangle 3">
            <a:extLst>
              <a:ext uri="{FF2B5EF4-FFF2-40B4-BE49-F238E27FC236}">
                <a16:creationId xmlns:a16="http://schemas.microsoft.com/office/drawing/2014/main" id="{6CFAA7D6-089B-D2B5-859B-8599BFA7043D}"/>
              </a:ext>
            </a:extLst>
          </p:cNvPr>
          <p:cNvSpPr>
            <a:spLocks noGrp="1" noChangeArrowheads="1"/>
          </p:cNvSpPr>
          <p:nvPr>
            <p:ph type="body" idx="1"/>
          </p:nvPr>
        </p:nvSpPr>
        <p:spPr>
          <a:noFill/>
        </p:spPr>
        <p:txBody>
          <a:bodyPr lIns="91432" tIns="45716" rIns="91432" bIns="45716"/>
          <a:lstStyle/>
          <a:p>
            <a:pPr eaLnBrk="1" hangingPunct="1"/>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307A12A8-2FA8-7D9E-415E-65CD8DEE549B}"/>
              </a:ext>
            </a:extLst>
          </p:cNvPr>
          <p:cNvSpPr>
            <a:spLocks noGrp="1" noRot="1" noChangeAspect="1" noChangeArrowheads="1" noTextEdit="1"/>
          </p:cNvSpPr>
          <p:nvPr>
            <p:ph type="sldImg"/>
          </p:nvPr>
        </p:nvSpPr>
        <p:spPr>
          <a:xfrm>
            <a:off x="1144588" y="685800"/>
            <a:ext cx="4572000" cy="3429000"/>
          </a:xfrm>
          <a:ln/>
        </p:spPr>
      </p:sp>
      <p:sp>
        <p:nvSpPr>
          <p:cNvPr id="9219" name="Rectangle 3">
            <a:extLst>
              <a:ext uri="{FF2B5EF4-FFF2-40B4-BE49-F238E27FC236}">
                <a16:creationId xmlns:a16="http://schemas.microsoft.com/office/drawing/2014/main" id="{1E87705B-1544-18A7-FE49-A3742660433B}"/>
              </a:ext>
            </a:extLst>
          </p:cNvPr>
          <p:cNvSpPr>
            <a:spLocks noGrp="1" noChangeArrowheads="1"/>
          </p:cNvSpPr>
          <p:nvPr>
            <p:ph type="body" idx="1"/>
          </p:nvPr>
        </p:nvSpPr>
        <p:spPr>
          <a:noFill/>
        </p:spPr>
        <p:txBody>
          <a:bodyPr lIns="91432" tIns="45716" rIns="91432" bIns="45716"/>
          <a:lstStyle/>
          <a:p>
            <a:pPr eaLnBrk="1" hangingPunct="1"/>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E16C816F-359B-E423-9789-23361252E9FE}"/>
              </a:ext>
            </a:extLst>
          </p:cNvPr>
          <p:cNvSpPr>
            <a:spLocks noGrp="1" noRot="1" noChangeAspect="1" noChangeArrowheads="1" noTextEdit="1"/>
          </p:cNvSpPr>
          <p:nvPr>
            <p:ph type="sldImg"/>
          </p:nvPr>
        </p:nvSpPr>
        <p:spPr>
          <a:xfrm>
            <a:off x="1144588" y="685800"/>
            <a:ext cx="4572000" cy="3429000"/>
          </a:xfrm>
          <a:ln/>
        </p:spPr>
      </p:sp>
      <p:sp>
        <p:nvSpPr>
          <p:cNvPr id="14339" name="Rectangle 3">
            <a:extLst>
              <a:ext uri="{FF2B5EF4-FFF2-40B4-BE49-F238E27FC236}">
                <a16:creationId xmlns:a16="http://schemas.microsoft.com/office/drawing/2014/main" id="{38CF1DDA-C444-0E33-1CBF-C4CAF1537BA0}"/>
              </a:ext>
            </a:extLst>
          </p:cNvPr>
          <p:cNvSpPr>
            <a:spLocks noGrp="1" noChangeArrowheads="1"/>
          </p:cNvSpPr>
          <p:nvPr>
            <p:ph type="body" idx="1"/>
          </p:nvPr>
        </p:nvSpPr>
        <p:spPr>
          <a:noFill/>
        </p:spPr>
        <p:txBody>
          <a:bodyPr lIns="91432" tIns="45716" rIns="91432" bIns="45716"/>
          <a:lstStyle/>
          <a:p>
            <a:pPr eaLnBrk="1" hangingPunct="1"/>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a:extLst>
              <a:ext uri="{FF2B5EF4-FFF2-40B4-BE49-F238E27FC236}">
                <a16:creationId xmlns:a16="http://schemas.microsoft.com/office/drawing/2014/main" id="{BCDECC4F-A14E-655D-047C-0E827FFE992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7BDFC8CA-1C76-45A5-80AB-BDFCCDCB617D}" type="slidenum">
              <a:rPr kumimoji="0" lang="en-US"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211</a:t>
            </a:fld>
            <a:endParaRPr kumimoji="0" lang="en-US"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1987" name="Rectangle 2">
            <a:extLst>
              <a:ext uri="{FF2B5EF4-FFF2-40B4-BE49-F238E27FC236}">
                <a16:creationId xmlns:a16="http://schemas.microsoft.com/office/drawing/2014/main" id="{2B5E2C28-E680-6F3A-8629-4AB88F36671D}"/>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988" name="Rectangle 3">
            <a:extLst>
              <a:ext uri="{FF2B5EF4-FFF2-40B4-BE49-F238E27FC236}">
                <a16:creationId xmlns:a16="http://schemas.microsoft.com/office/drawing/2014/main" id="{466E9D65-7C85-48AC-10F3-855E5D84164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GB"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a:extLst>
              <a:ext uri="{FF2B5EF4-FFF2-40B4-BE49-F238E27FC236}">
                <a16:creationId xmlns:a16="http://schemas.microsoft.com/office/drawing/2014/main" id="{B55C4DB8-41B3-02DC-A3C4-2ECBF0E79AA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Notes Placeholder 2">
            <a:extLst>
              <a:ext uri="{FF2B5EF4-FFF2-40B4-BE49-F238E27FC236}">
                <a16:creationId xmlns:a16="http://schemas.microsoft.com/office/drawing/2014/main" id="{5426F19F-D39C-42CF-F140-6F331536EB9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20484" name="Slide Number Placeholder 3">
            <a:extLst>
              <a:ext uri="{FF2B5EF4-FFF2-40B4-BE49-F238E27FC236}">
                <a16:creationId xmlns:a16="http://schemas.microsoft.com/office/drawing/2014/main" id="{ED153349-2444-5F90-12CC-B13010F19E3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4DC90643-14D8-4D3B-BD89-5C5EBB21D23E}" type="slidenum">
              <a:rPr kumimoji="0" lang="en-MY" altLang="en-US" sz="12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275</a:t>
            </a:fld>
            <a:endParaRPr kumimoji="0" lang="en-MY" altLang="en-US" sz="12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a:extLst>
              <a:ext uri="{FF2B5EF4-FFF2-40B4-BE49-F238E27FC236}">
                <a16:creationId xmlns:a16="http://schemas.microsoft.com/office/drawing/2014/main" id="{636C4B0B-9D23-BF62-D3D2-DAF65D997C6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7" name="Notes Placeholder 2">
            <a:extLst>
              <a:ext uri="{FF2B5EF4-FFF2-40B4-BE49-F238E27FC236}">
                <a16:creationId xmlns:a16="http://schemas.microsoft.com/office/drawing/2014/main" id="{1704C5D2-DE84-DFC6-F076-2DF7821CB25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52228" name="Slide Number Placeholder 3">
            <a:extLst>
              <a:ext uri="{FF2B5EF4-FFF2-40B4-BE49-F238E27FC236}">
                <a16:creationId xmlns:a16="http://schemas.microsoft.com/office/drawing/2014/main" id="{3B4FE4EF-E179-AB36-8FF5-07376FD236C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70F7296-5733-4287-BAC9-0744F0FE816E}" type="slidenum">
              <a:rPr kumimoji="0" lang="en-MY" altLang="en-US" sz="12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286</a:t>
            </a:fld>
            <a:endParaRPr kumimoji="0" lang="en-MY" altLang="en-US" sz="12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905000"/>
            <a:ext cx="7543800" cy="2593975"/>
          </a:xfrm>
        </p:spPr>
        <p:txBody>
          <a:bodyPr anchor="b"/>
          <a:lstStyle>
            <a:lvl1pPr>
              <a:defRPr sz="6600">
                <a:ln>
                  <a:noFill/>
                </a:ln>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685800" y="4572000"/>
            <a:ext cx="6461760" cy="1066800"/>
          </a:xfrm>
        </p:spPr>
        <p:txBody>
          <a:bodyPr>
            <a:normAutofit/>
          </a:bodyPr>
          <a:lstStyle>
            <a:lvl1pPr marL="0" indent="0" algn="l">
              <a:buNone/>
              <a:defRPr sz="20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Slide Number Placeholder 5">
            <a:extLst>
              <a:ext uri="{FF2B5EF4-FFF2-40B4-BE49-F238E27FC236}">
                <a16:creationId xmlns:a16="http://schemas.microsoft.com/office/drawing/2014/main" id="{076741F3-3255-4E2C-13AE-0DB91022CB41}"/>
              </a:ext>
            </a:extLst>
          </p:cNvPr>
          <p:cNvSpPr>
            <a:spLocks noGrp="1"/>
          </p:cNvSpPr>
          <p:nvPr>
            <p:ph type="sldNum" sz="quarter" idx="10"/>
          </p:nvPr>
        </p:nvSpPr>
        <p:spPr>
          <a:ln/>
        </p:spPr>
        <p:txBody>
          <a:bodyPr/>
          <a:lstStyle>
            <a:lvl1pPr>
              <a:defRPr/>
            </a:lvl1pPr>
          </a:lstStyle>
          <a:p>
            <a:pPr>
              <a:defRPr/>
            </a:pPr>
            <a:fld id="{8C1FF03E-A8D5-44CC-BEB8-03567B815F88}" type="slidenum">
              <a:rPr lang="en-US" altLang="en-US"/>
              <a:pPr>
                <a:defRPr/>
              </a:pPr>
              <a:t>‹#›</a:t>
            </a:fld>
            <a:endParaRPr lang="en-US" altLang="en-US"/>
          </a:p>
        </p:txBody>
      </p:sp>
      <p:sp>
        <p:nvSpPr>
          <p:cNvPr id="5" name="Footer Placeholder 4">
            <a:extLst>
              <a:ext uri="{FF2B5EF4-FFF2-40B4-BE49-F238E27FC236}">
                <a16:creationId xmlns:a16="http://schemas.microsoft.com/office/drawing/2014/main" id="{1332612E-0D19-2F54-3E3A-49BF9D5E0677}"/>
              </a:ext>
            </a:extLst>
          </p:cNvPr>
          <p:cNvSpPr>
            <a:spLocks noGrp="1"/>
          </p:cNvSpPr>
          <p:nvPr>
            <p:ph type="ftr" sz="quarter" idx="11"/>
          </p:nvPr>
        </p:nvSpPr>
        <p:spPr/>
        <p:txBody>
          <a:bodyPr/>
          <a:lstStyle>
            <a:lvl1pPr>
              <a:defRPr/>
            </a:lvl1pPr>
          </a:lstStyle>
          <a:p>
            <a:pPr>
              <a:defRPr/>
            </a:pPr>
            <a:endParaRPr lang="en-US"/>
          </a:p>
        </p:txBody>
      </p:sp>
      <p:sp>
        <p:nvSpPr>
          <p:cNvPr id="6" name="Date Placeholder 3">
            <a:extLst>
              <a:ext uri="{FF2B5EF4-FFF2-40B4-BE49-F238E27FC236}">
                <a16:creationId xmlns:a16="http://schemas.microsoft.com/office/drawing/2014/main" id="{537CE375-A0A2-8468-7324-BFBDC00AC743}"/>
              </a:ext>
            </a:extLst>
          </p:cNvPr>
          <p:cNvSpPr>
            <a:spLocks noGrp="1"/>
          </p:cNvSpPr>
          <p:nvPr>
            <p:ph type="dt" sz="half" idx="12"/>
          </p:nvPr>
        </p:nvSpPr>
        <p:spPr/>
        <p:txBody>
          <a:bodyPr/>
          <a:lstStyle>
            <a:lvl1pPr>
              <a:defRPr/>
            </a:lvl1pPr>
          </a:lstStyle>
          <a:p>
            <a:pPr>
              <a:defRPr/>
            </a:pPr>
            <a:fld id="{A3699671-6453-4FF8-AE75-D94455977970}" type="datetime1">
              <a:rPr lang="en-US"/>
              <a:pPr>
                <a:defRPr/>
              </a:pPr>
              <a:t>6/13/2025</a:t>
            </a:fld>
            <a:endParaRPr lang="en-US"/>
          </a:p>
        </p:txBody>
      </p:sp>
    </p:spTree>
    <p:extLst>
      <p:ext uri="{BB962C8B-B14F-4D97-AF65-F5344CB8AC3E}">
        <p14:creationId xmlns:p14="http://schemas.microsoft.com/office/powerpoint/2010/main" val="8767113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5">
            <a:extLst>
              <a:ext uri="{FF2B5EF4-FFF2-40B4-BE49-F238E27FC236}">
                <a16:creationId xmlns:a16="http://schemas.microsoft.com/office/drawing/2014/main" id="{44AC2F49-7CDC-9EA9-38C3-C88A75D02EC3}"/>
              </a:ext>
            </a:extLst>
          </p:cNvPr>
          <p:cNvSpPr>
            <a:spLocks noGrp="1"/>
          </p:cNvSpPr>
          <p:nvPr>
            <p:ph type="sldNum" sz="quarter" idx="10"/>
          </p:nvPr>
        </p:nvSpPr>
        <p:spPr>
          <a:ln/>
        </p:spPr>
        <p:txBody>
          <a:bodyPr/>
          <a:lstStyle>
            <a:lvl1pPr>
              <a:defRPr/>
            </a:lvl1pPr>
          </a:lstStyle>
          <a:p>
            <a:pPr>
              <a:defRPr/>
            </a:pPr>
            <a:fld id="{49084687-BE72-469E-B8C2-AF856575F5C0}" type="slidenum">
              <a:rPr lang="en-US" altLang="en-US"/>
              <a:pPr>
                <a:defRPr/>
              </a:pPr>
              <a:t>‹#›</a:t>
            </a:fld>
            <a:endParaRPr lang="en-US" altLang="en-US"/>
          </a:p>
        </p:txBody>
      </p:sp>
      <p:sp>
        <p:nvSpPr>
          <p:cNvPr id="5" name="Footer Placeholder 4">
            <a:extLst>
              <a:ext uri="{FF2B5EF4-FFF2-40B4-BE49-F238E27FC236}">
                <a16:creationId xmlns:a16="http://schemas.microsoft.com/office/drawing/2014/main" id="{31E32DF1-0B77-CE71-D733-4797CA280636}"/>
              </a:ext>
            </a:extLst>
          </p:cNvPr>
          <p:cNvSpPr>
            <a:spLocks noGrp="1"/>
          </p:cNvSpPr>
          <p:nvPr>
            <p:ph type="ftr" sz="quarter" idx="11"/>
          </p:nvPr>
        </p:nvSpPr>
        <p:spPr/>
        <p:txBody>
          <a:bodyPr/>
          <a:lstStyle>
            <a:lvl1pPr>
              <a:defRPr/>
            </a:lvl1pPr>
          </a:lstStyle>
          <a:p>
            <a:pPr>
              <a:defRPr/>
            </a:pPr>
            <a:endParaRPr lang="en-US"/>
          </a:p>
        </p:txBody>
      </p:sp>
      <p:sp>
        <p:nvSpPr>
          <p:cNvPr id="6" name="Date Placeholder 3">
            <a:extLst>
              <a:ext uri="{FF2B5EF4-FFF2-40B4-BE49-F238E27FC236}">
                <a16:creationId xmlns:a16="http://schemas.microsoft.com/office/drawing/2014/main" id="{ECD37993-329B-5238-5C6B-AF994012589A}"/>
              </a:ext>
            </a:extLst>
          </p:cNvPr>
          <p:cNvSpPr>
            <a:spLocks noGrp="1"/>
          </p:cNvSpPr>
          <p:nvPr>
            <p:ph type="dt" sz="half" idx="12"/>
          </p:nvPr>
        </p:nvSpPr>
        <p:spPr/>
        <p:txBody>
          <a:bodyPr/>
          <a:lstStyle>
            <a:lvl1pPr>
              <a:defRPr/>
            </a:lvl1pPr>
          </a:lstStyle>
          <a:p>
            <a:pPr>
              <a:defRPr/>
            </a:pPr>
            <a:fld id="{E0118F9C-7489-4532-B4A6-BE8FF192BBD2}" type="datetime1">
              <a:rPr lang="en-US"/>
              <a:pPr>
                <a:defRPr/>
              </a:pPr>
              <a:t>6/13/2025</a:t>
            </a:fld>
            <a:endParaRPr lang="en-US"/>
          </a:p>
        </p:txBody>
      </p:sp>
    </p:spTree>
    <p:extLst>
      <p:ext uri="{BB962C8B-B14F-4D97-AF65-F5344CB8AC3E}">
        <p14:creationId xmlns:p14="http://schemas.microsoft.com/office/powerpoint/2010/main" val="31844636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5486400"/>
            <a:ext cx="7659687" cy="1168400"/>
          </a:xfrm>
        </p:spPr>
        <p:txBody>
          <a:bodyPr anchor="t"/>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722313" y="3852863"/>
            <a:ext cx="6135687" cy="163353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Slide Number Placeholder 5">
            <a:extLst>
              <a:ext uri="{FF2B5EF4-FFF2-40B4-BE49-F238E27FC236}">
                <a16:creationId xmlns:a16="http://schemas.microsoft.com/office/drawing/2014/main" id="{1131E83B-6C69-2D14-767F-FA8F2964023F}"/>
              </a:ext>
            </a:extLst>
          </p:cNvPr>
          <p:cNvSpPr>
            <a:spLocks noGrp="1"/>
          </p:cNvSpPr>
          <p:nvPr>
            <p:ph type="sldNum" sz="quarter" idx="10"/>
          </p:nvPr>
        </p:nvSpPr>
        <p:spPr>
          <a:ln/>
        </p:spPr>
        <p:txBody>
          <a:bodyPr/>
          <a:lstStyle>
            <a:lvl1pPr>
              <a:defRPr/>
            </a:lvl1pPr>
          </a:lstStyle>
          <a:p>
            <a:pPr>
              <a:defRPr/>
            </a:pPr>
            <a:fld id="{0A36E0BC-1D61-495C-B544-C666672E0552}" type="slidenum">
              <a:rPr lang="en-US" altLang="en-US"/>
              <a:pPr>
                <a:defRPr/>
              </a:pPr>
              <a:t>‹#›</a:t>
            </a:fld>
            <a:endParaRPr lang="en-US" altLang="en-US"/>
          </a:p>
        </p:txBody>
      </p:sp>
      <p:sp>
        <p:nvSpPr>
          <p:cNvPr id="5" name="Footer Placeholder 4">
            <a:extLst>
              <a:ext uri="{FF2B5EF4-FFF2-40B4-BE49-F238E27FC236}">
                <a16:creationId xmlns:a16="http://schemas.microsoft.com/office/drawing/2014/main" id="{BA299D14-D882-6E4F-04A5-A7ED5F70BC86}"/>
              </a:ext>
            </a:extLst>
          </p:cNvPr>
          <p:cNvSpPr>
            <a:spLocks noGrp="1"/>
          </p:cNvSpPr>
          <p:nvPr>
            <p:ph type="ftr" sz="quarter" idx="11"/>
          </p:nvPr>
        </p:nvSpPr>
        <p:spPr/>
        <p:txBody>
          <a:bodyPr/>
          <a:lstStyle>
            <a:lvl1pPr>
              <a:defRPr/>
            </a:lvl1pPr>
          </a:lstStyle>
          <a:p>
            <a:pPr>
              <a:defRPr/>
            </a:pPr>
            <a:endParaRPr lang="en-US"/>
          </a:p>
        </p:txBody>
      </p:sp>
      <p:sp>
        <p:nvSpPr>
          <p:cNvPr id="6" name="Date Placeholder 3">
            <a:extLst>
              <a:ext uri="{FF2B5EF4-FFF2-40B4-BE49-F238E27FC236}">
                <a16:creationId xmlns:a16="http://schemas.microsoft.com/office/drawing/2014/main" id="{3563921C-F858-58E3-E3D7-F649E76EF542}"/>
              </a:ext>
            </a:extLst>
          </p:cNvPr>
          <p:cNvSpPr>
            <a:spLocks noGrp="1"/>
          </p:cNvSpPr>
          <p:nvPr>
            <p:ph type="dt" sz="half" idx="12"/>
          </p:nvPr>
        </p:nvSpPr>
        <p:spPr/>
        <p:txBody>
          <a:bodyPr/>
          <a:lstStyle>
            <a:lvl1pPr>
              <a:defRPr/>
            </a:lvl1pPr>
          </a:lstStyle>
          <a:p>
            <a:pPr>
              <a:defRPr/>
            </a:pPr>
            <a:fld id="{E26F3EF8-63E7-40F9-B13F-03E06ED3D926}" type="datetime1">
              <a:rPr lang="en-US"/>
              <a:pPr>
                <a:defRPr/>
              </a:pPr>
              <a:t>6/13/2025</a:t>
            </a:fld>
            <a:endParaRPr lang="en-US"/>
          </a:p>
        </p:txBody>
      </p:sp>
    </p:spTree>
    <p:extLst>
      <p:ext uri="{BB962C8B-B14F-4D97-AF65-F5344CB8AC3E}">
        <p14:creationId xmlns:p14="http://schemas.microsoft.com/office/powerpoint/2010/main" val="27741379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96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a:extLst>
              <a:ext uri="{FF2B5EF4-FFF2-40B4-BE49-F238E27FC236}">
                <a16:creationId xmlns:a16="http://schemas.microsoft.com/office/drawing/2014/main" id="{F31558D5-637E-E48E-504C-0133D16BB331}"/>
              </a:ext>
            </a:extLst>
          </p:cNvPr>
          <p:cNvSpPr>
            <a:spLocks noGrp="1"/>
          </p:cNvSpPr>
          <p:nvPr>
            <p:ph type="sldNum" sz="quarter" idx="10"/>
          </p:nvPr>
        </p:nvSpPr>
        <p:spPr>
          <a:ln/>
        </p:spPr>
        <p:txBody>
          <a:bodyPr/>
          <a:lstStyle>
            <a:lvl1pPr>
              <a:defRPr/>
            </a:lvl1pPr>
          </a:lstStyle>
          <a:p>
            <a:pPr>
              <a:defRPr/>
            </a:pPr>
            <a:fld id="{8C0B94BE-F60E-462D-B3DA-596DDF69A684}" type="slidenum">
              <a:rPr lang="en-US" altLang="en-US"/>
              <a:pPr>
                <a:defRPr/>
              </a:pPr>
              <a:t>‹#›</a:t>
            </a:fld>
            <a:endParaRPr lang="en-US" altLang="en-US"/>
          </a:p>
        </p:txBody>
      </p:sp>
      <p:sp>
        <p:nvSpPr>
          <p:cNvPr id="6" name="Footer Placeholder 4">
            <a:extLst>
              <a:ext uri="{FF2B5EF4-FFF2-40B4-BE49-F238E27FC236}">
                <a16:creationId xmlns:a16="http://schemas.microsoft.com/office/drawing/2014/main" id="{FDB72FED-2512-367E-2149-44E22AD890FE}"/>
              </a:ext>
            </a:extLst>
          </p:cNvPr>
          <p:cNvSpPr>
            <a:spLocks noGrp="1"/>
          </p:cNvSpPr>
          <p:nvPr>
            <p:ph type="ftr" sz="quarter" idx="11"/>
          </p:nvPr>
        </p:nvSpPr>
        <p:spPr/>
        <p:txBody>
          <a:bodyPr/>
          <a:lstStyle>
            <a:lvl1pPr>
              <a:defRPr/>
            </a:lvl1pPr>
          </a:lstStyle>
          <a:p>
            <a:pPr>
              <a:defRPr/>
            </a:pPr>
            <a:endParaRPr lang="en-US"/>
          </a:p>
        </p:txBody>
      </p:sp>
      <p:sp>
        <p:nvSpPr>
          <p:cNvPr id="7" name="Date Placeholder 3">
            <a:extLst>
              <a:ext uri="{FF2B5EF4-FFF2-40B4-BE49-F238E27FC236}">
                <a16:creationId xmlns:a16="http://schemas.microsoft.com/office/drawing/2014/main" id="{07E5B6F5-3932-5191-65D6-5C301A6C4EAF}"/>
              </a:ext>
            </a:extLst>
          </p:cNvPr>
          <p:cNvSpPr>
            <a:spLocks noGrp="1"/>
          </p:cNvSpPr>
          <p:nvPr>
            <p:ph type="dt" sz="half" idx="12"/>
          </p:nvPr>
        </p:nvSpPr>
        <p:spPr/>
        <p:txBody>
          <a:bodyPr/>
          <a:lstStyle>
            <a:lvl1pPr>
              <a:defRPr/>
            </a:lvl1pPr>
          </a:lstStyle>
          <a:p>
            <a:pPr>
              <a:defRPr/>
            </a:pPr>
            <a:fld id="{0CBD0D76-8476-4FF9-AF6E-B924DA40A0D5}" type="datetime1">
              <a:rPr lang="en-US"/>
              <a:pPr>
                <a:defRPr/>
              </a:pPr>
              <a:t>6/13/2025</a:t>
            </a:fld>
            <a:endParaRPr lang="en-US"/>
          </a:p>
        </p:txBody>
      </p:sp>
    </p:spTree>
    <p:extLst>
      <p:ext uri="{BB962C8B-B14F-4D97-AF65-F5344CB8AC3E}">
        <p14:creationId xmlns:p14="http://schemas.microsoft.com/office/powerpoint/2010/main" val="40011065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4196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4196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5">
            <a:extLst>
              <a:ext uri="{FF2B5EF4-FFF2-40B4-BE49-F238E27FC236}">
                <a16:creationId xmlns:a16="http://schemas.microsoft.com/office/drawing/2014/main" id="{39B8728D-2CC1-C552-6092-D2A05C8F85F1}"/>
              </a:ext>
            </a:extLst>
          </p:cNvPr>
          <p:cNvSpPr>
            <a:spLocks noGrp="1"/>
          </p:cNvSpPr>
          <p:nvPr>
            <p:ph type="sldNum" sz="quarter" idx="10"/>
          </p:nvPr>
        </p:nvSpPr>
        <p:spPr>
          <a:ln/>
        </p:spPr>
        <p:txBody>
          <a:bodyPr/>
          <a:lstStyle>
            <a:lvl1pPr>
              <a:defRPr/>
            </a:lvl1pPr>
          </a:lstStyle>
          <a:p>
            <a:pPr>
              <a:defRPr/>
            </a:pPr>
            <a:fld id="{0277A13D-1230-4EE6-AC1E-C9BCAE61CCCC}" type="slidenum">
              <a:rPr lang="en-US" altLang="en-US"/>
              <a:pPr>
                <a:defRPr/>
              </a:pPr>
              <a:t>‹#›</a:t>
            </a:fld>
            <a:endParaRPr lang="en-US" altLang="en-US"/>
          </a:p>
        </p:txBody>
      </p:sp>
      <p:sp>
        <p:nvSpPr>
          <p:cNvPr id="8" name="Footer Placeholder 4">
            <a:extLst>
              <a:ext uri="{FF2B5EF4-FFF2-40B4-BE49-F238E27FC236}">
                <a16:creationId xmlns:a16="http://schemas.microsoft.com/office/drawing/2014/main" id="{4F08CE59-7129-17E2-B7FE-B542020FD00E}"/>
              </a:ext>
            </a:extLst>
          </p:cNvPr>
          <p:cNvSpPr>
            <a:spLocks noGrp="1"/>
          </p:cNvSpPr>
          <p:nvPr>
            <p:ph type="ftr" sz="quarter" idx="11"/>
          </p:nvPr>
        </p:nvSpPr>
        <p:spPr/>
        <p:txBody>
          <a:bodyPr/>
          <a:lstStyle>
            <a:lvl1pPr>
              <a:defRPr/>
            </a:lvl1pPr>
          </a:lstStyle>
          <a:p>
            <a:pPr>
              <a:defRPr/>
            </a:pPr>
            <a:endParaRPr lang="en-US"/>
          </a:p>
        </p:txBody>
      </p:sp>
      <p:sp>
        <p:nvSpPr>
          <p:cNvPr id="9" name="Date Placeholder 3">
            <a:extLst>
              <a:ext uri="{FF2B5EF4-FFF2-40B4-BE49-F238E27FC236}">
                <a16:creationId xmlns:a16="http://schemas.microsoft.com/office/drawing/2014/main" id="{622A45D7-411F-D15C-DDA2-3A90C95F1955}"/>
              </a:ext>
            </a:extLst>
          </p:cNvPr>
          <p:cNvSpPr>
            <a:spLocks noGrp="1"/>
          </p:cNvSpPr>
          <p:nvPr>
            <p:ph type="dt" sz="half" idx="12"/>
          </p:nvPr>
        </p:nvSpPr>
        <p:spPr/>
        <p:txBody>
          <a:bodyPr/>
          <a:lstStyle>
            <a:lvl1pPr>
              <a:defRPr/>
            </a:lvl1pPr>
          </a:lstStyle>
          <a:p>
            <a:pPr>
              <a:defRPr/>
            </a:pPr>
            <a:fld id="{C00E397C-F851-4695-AC93-6F9260CABE5F}" type="datetime1">
              <a:rPr lang="en-US"/>
              <a:pPr>
                <a:defRPr/>
              </a:pPr>
              <a:t>6/13/2025</a:t>
            </a:fld>
            <a:endParaRPr lang="en-US"/>
          </a:p>
        </p:txBody>
      </p:sp>
    </p:spTree>
    <p:extLst>
      <p:ext uri="{BB962C8B-B14F-4D97-AF65-F5344CB8AC3E}">
        <p14:creationId xmlns:p14="http://schemas.microsoft.com/office/powerpoint/2010/main" val="13639305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5">
            <a:extLst>
              <a:ext uri="{FF2B5EF4-FFF2-40B4-BE49-F238E27FC236}">
                <a16:creationId xmlns:a16="http://schemas.microsoft.com/office/drawing/2014/main" id="{3CC8F31B-3872-82A6-4793-F6FBDA900E61}"/>
              </a:ext>
            </a:extLst>
          </p:cNvPr>
          <p:cNvSpPr>
            <a:spLocks noGrp="1"/>
          </p:cNvSpPr>
          <p:nvPr>
            <p:ph type="sldNum" sz="quarter" idx="10"/>
          </p:nvPr>
        </p:nvSpPr>
        <p:spPr>
          <a:ln/>
        </p:spPr>
        <p:txBody>
          <a:bodyPr/>
          <a:lstStyle>
            <a:lvl1pPr>
              <a:defRPr/>
            </a:lvl1pPr>
          </a:lstStyle>
          <a:p>
            <a:pPr>
              <a:defRPr/>
            </a:pPr>
            <a:fld id="{775D1FD1-9852-4F97-8714-5670E21A0045}" type="slidenum">
              <a:rPr lang="en-US" altLang="en-US"/>
              <a:pPr>
                <a:defRPr/>
              </a:pPr>
              <a:t>‹#›</a:t>
            </a:fld>
            <a:endParaRPr lang="en-US" altLang="en-US"/>
          </a:p>
        </p:txBody>
      </p:sp>
      <p:sp>
        <p:nvSpPr>
          <p:cNvPr id="4" name="Footer Placeholder 4">
            <a:extLst>
              <a:ext uri="{FF2B5EF4-FFF2-40B4-BE49-F238E27FC236}">
                <a16:creationId xmlns:a16="http://schemas.microsoft.com/office/drawing/2014/main" id="{038D0CD5-2173-DB98-C097-A24466059ADC}"/>
              </a:ext>
            </a:extLst>
          </p:cNvPr>
          <p:cNvSpPr>
            <a:spLocks noGrp="1"/>
          </p:cNvSpPr>
          <p:nvPr>
            <p:ph type="ftr" sz="quarter" idx="11"/>
          </p:nvPr>
        </p:nvSpPr>
        <p:spPr/>
        <p:txBody>
          <a:bodyPr/>
          <a:lstStyle>
            <a:lvl1pPr>
              <a:defRPr/>
            </a:lvl1pPr>
          </a:lstStyle>
          <a:p>
            <a:pPr>
              <a:defRPr/>
            </a:pPr>
            <a:endParaRPr lang="en-US"/>
          </a:p>
        </p:txBody>
      </p:sp>
      <p:sp>
        <p:nvSpPr>
          <p:cNvPr id="5" name="Date Placeholder 3">
            <a:extLst>
              <a:ext uri="{FF2B5EF4-FFF2-40B4-BE49-F238E27FC236}">
                <a16:creationId xmlns:a16="http://schemas.microsoft.com/office/drawing/2014/main" id="{4ABB3390-05B6-C6F0-1AD1-68A200FB9A42}"/>
              </a:ext>
            </a:extLst>
          </p:cNvPr>
          <p:cNvSpPr>
            <a:spLocks noGrp="1"/>
          </p:cNvSpPr>
          <p:nvPr>
            <p:ph type="dt" sz="half" idx="12"/>
          </p:nvPr>
        </p:nvSpPr>
        <p:spPr/>
        <p:txBody>
          <a:bodyPr/>
          <a:lstStyle>
            <a:lvl1pPr>
              <a:defRPr/>
            </a:lvl1pPr>
          </a:lstStyle>
          <a:p>
            <a:pPr>
              <a:defRPr/>
            </a:pPr>
            <a:fld id="{46A9A814-C1B0-45E3-9B49-57173317C30C}" type="datetime1">
              <a:rPr lang="en-US"/>
              <a:pPr>
                <a:defRPr/>
              </a:pPr>
              <a:t>6/13/2025</a:t>
            </a:fld>
            <a:endParaRPr lang="en-US"/>
          </a:p>
        </p:txBody>
      </p:sp>
    </p:spTree>
    <p:extLst>
      <p:ext uri="{BB962C8B-B14F-4D97-AF65-F5344CB8AC3E}">
        <p14:creationId xmlns:p14="http://schemas.microsoft.com/office/powerpoint/2010/main" val="916082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A991A7DC-2C8D-E87B-DEFE-F0DD751B2AEB}"/>
              </a:ext>
            </a:extLst>
          </p:cNvPr>
          <p:cNvSpPr>
            <a:spLocks noGrp="1"/>
          </p:cNvSpPr>
          <p:nvPr>
            <p:ph type="sldNum" sz="quarter" idx="10"/>
          </p:nvPr>
        </p:nvSpPr>
        <p:spPr>
          <a:ln/>
        </p:spPr>
        <p:txBody>
          <a:bodyPr/>
          <a:lstStyle>
            <a:lvl1pPr>
              <a:defRPr/>
            </a:lvl1pPr>
          </a:lstStyle>
          <a:p>
            <a:pPr>
              <a:defRPr/>
            </a:pPr>
            <a:fld id="{33BAAC43-5FB6-4CFA-BB62-4BB0A01CF972}" type="slidenum">
              <a:rPr lang="en-US" altLang="en-US"/>
              <a:pPr>
                <a:defRPr/>
              </a:pPr>
              <a:t>‹#›</a:t>
            </a:fld>
            <a:endParaRPr lang="en-US" altLang="en-US"/>
          </a:p>
        </p:txBody>
      </p:sp>
      <p:sp>
        <p:nvSpPr>
          <p:cNvPr id="3" name="Footer Placeholder 4">
            <a:extLst>
              <a:ext uri="{FF2B5EF4-FFF2-40B4-BE49-F238E27FC236}">
                <a16:creationId xmlns:a16="http://schemas.microsoft.com/office/drawing/2014/main" id="{0EED40CE-2604-AA34-78DE-F2030D3093D9}"/>
              </a:ext>
            </a:extLst>
          </p:cNvPr>
          <p:cNvSpPr>
            <a:spLocks noGrp="1"/>
          </p:cNvSpPr>
          <p:nvPr>
            <p:ph type="ftr" sz="quarter" idx="11"/>
          </p:nvPr>
        </p:nvSpPr>
        <p:spPr/>
        <p:txBody>
          <a:bodyPr/>
          <a:lstStyle>
            <a:lvl1pPr>
              <a:defRPr/>
            </a:lvl1pPr>
          </a:lstStyle>
          <a:p>
            <a:pPr>
              <a:defRPr/>
            </a:pPr>
            <a:endParaRPr lang="en-US"/>
          </a:p>
        </p:txBody>
      </p:sp>
      <p:sp>
        <p:nvSpPr>
          <p:cNvPr id="4" name="Date Placeholder 3">
            <a:extLst>
              <a:ext uri="{FF2B5EF4-FFF2-40B4-BE49-F238E27FC236}">
                <a16:creationId xmlns:a16="http://schemas.microsoft.com/office/drawing/2014/main" id="{796632A2-3207-1B2C-5A6C-9B114A6AA68F}"/>
              </a:ext>
            </a:extLst>
          </p:cNvPr>
          <p:cNvSpPr>
            <a:spLocks noGrp="1"/>
          </p:cNvSpPr>
          <p:nvPr>
            <p:ph type="dt" sz="half" idx="12"/>
          </p:nvPr>
        </p:nvSpPr>
        <p:spPr/>
        <p:txBody>
          <a:bodyPr/>
          <a:lstStyle>
            <a:lvl1pPr>
              <a:defRPr/>
            </a:lvl1pPr>
          </a:lstStyle>
          <a:p>
            <a:pPr>
              <a:defRPr/>
            </a:pPr>
            <a:fld id="{AEA42C6D-E770-41D1-987E-7BD6126C11F2}" type="datetime1">
              <a:rPr lang="en-US"/>
              <a:pPr>
                <a:defRPr/>
              </a:pPr>
              <a:t>6/13/2025</a:t>
            </a:fld>
            <a:endParaRPr lang="en-US"/>
          </a:p>
        </p:txBody>
      </p:sp>
    </p:spTree>
    <p:extLst>
      <p:ext uri="{BB962C8B-B14F-4D97-AF65-F5344CB8AC3E}">
        <p14:creationId xmlns:p14="http://schemas.microsoft.com/office/powerpoint/2010/main" val="13287773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1" y="5495544"/>
            <a:ext cx="7772400" cy="594360"/>
          </a:xfrm>
        </p:spPr>
        <p:txBody>
          <a:bodyPr anchor="b"/>
          <a:lstStyle>
            <a:lvl1pPr algn="ctr">
              <a:defRPr sz="2200" b="1"/>
            </a:lvl1pPr>
          </a:lstStyle>
          <a:p>
            <a:r>
              <a:rPr lang="en-US"/>
              <a:t>Click to edit Master title style</a:t>
            </a:r>
            <a:endParaRPr lang="en-US" dirty="0"/>
          </a:p>
        </p:txBody>
      </p:sp>
      <p:sp>
        <p:nvSpPr>
          <p:cNvPr id="4" name="Text Placeholder 3"/>
          <p:cNvSpPr>
            <a:spLocks noGrp="1"/>
          </p:cNvSpPr>
          <p:nvPr>
            <p:ph type="body" sz="half" idx="2"/>
          </p:nvPr>
        </p:nvSpPr>
        <p:spPr>
          <a:xfrm>
            <a:off x="304799" y="6096000"/>
            <a:ext cx="7772401" cy="6096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Content Placeholder 8"/>
          <p:cNvSpPr>
            <a:spLocks noGrp="1"/>
          </p:cNvSpPr>
          <p:nvPr>
            <p:ph sz="quarter" idx="13"/>
          </p:nvPr>
        </p:nvSpPr>
        <p:spPr>
          <a:xfrm>
            <a:off x="304800" y="381000"/>
            <a:ext cx="7772400" cy="49428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Slide Number Placeholder 5">
            <a:extLst>
              <a:ext uri="{FF2B5EF4-FFF2-40B4-BE49-F238E27FC236}">
                <a16:creationId xmlns:a16="http://schemas.microsoft.com/office/drawing/2014/main" id="{5F708DBA-D826-6178-0AC2-9F8606147B46}"/>
              </a:ext>
            </a:extLst>
          </p:cNvPr>
          <p:cNvSpPr>
            <a:spLocks noGrp="1"/>
          </p:cNvSpPr>
          <p:nvPr>
            <p:ph type="sldNum" sz="quarter" idx="14"/>
          </p:nvPr>
        </p:nvSpPr>
        <p:spPr>
          <a:ln/>
        </p:spPr>
        <p:txBody>
          <a:bodyPr/>
          <a:lstStyle>
            <a:lvl1pPr>
              <a:defRPr/>
            </a:lvl1pPr>
          </a:lstStyle>
          <a:p>
            <a:pPr>
              <a:defRPr/>
            </a:pPr>
            <a:fld id="{F593CF48-8F65-489E-88CB-88C8F2E83806}" type="slidenum">
              <a:rPr lang="en-US" altLang="en-US"/>
              <a:pPr>
                <a:defRPr/>
              </a:pPr>
              <a:t>‹#›</a:t>
            </a:fld>
            <a:endParaRPr lang="en-US" altLang="en-US"/>
          </a:p>
        </p:txBody>
      </p:sp>
      <p:sp>
        <p:nvSpPr>
          <p:cNvPr id="5" name="Footer Placeholder 4">
            <a:extLst>
              <a:ext uri="{FF2B5EF4-FFF2-40B4-BE49-F238E27FC236}">
                <a16:creationId xmlns:a16="http://schemas.microsoft.com/office/drawing/2014/main" id="{6E4BA6F6-A335-BCF1-0075-BA43786A2508}"/>
              </a:ext>
            </a:extLst>
          </p:cNvPr>
          <p:cNvSpPr>
            <a:spLocks noGrp="1"/>
          </p:cNvSpPr>
          <p:nvPr>
            <p:ph type="ftr" sz="quarter" idx="15"/>
          </p:nvPr>
        </p:nvSpPr>
        <p:spPr/>
        <p:txBody>
          <a:bodyPr/>
          <a:lstStyle>
            <a:lvl1pPr>
              <a:defRPr/>
            </a:lvl1pPr>
          </a:lstStyle>
          <a:p>
            <a:pPr>
              <a:defRPr/>
            </a:pPr>
            <a:endParaRPr lang="en-US"/>
          </a:p>
        </p:txBody>
      </p:sp>
      <p:sp>
        <p:nvSpPr>
          <p:cNvPr id="6" name="Date Placeholder 3">
            <a:extLst>
              <a:ext uri="{FF2B5EF4-FFF2-40B4-BE49-F238E27FC236}">
                <a16:creationId xmlns:a16="http://schemas.microsoft.com/office/drawing/2014/main" id="{8A439FCD-C18A-0955-AB33-C2192815C985}"/>
              </a:ext>
            </a:extLst>
          </p:cNvPr>
          <p:cNvSpPr>
            <a:spLocks noGrp="1"/>
          </p:cNvSpPr>
          <p:nvPr>
            <p:ph type="dt" sz="half" idx="16"/>
          </p:nvPr>
        </p:nvSpPr>
        <p:spPr/>
        <p:txBody>
          <a:bodyPr/>
          <a:lstStyle>
            <a:lvl1pPr>
              <a:defRPr/>
            </a:lvl1pPr>
          </a:lstStyle>
          <a:p>
            <a:pPr>
              <a:defRPr/>
            </a:pPr>
            <a:fld id="{C3414F2B-C44D-4E59-861E-82BCCA4D8765}" type="datetime1">
              <a:rPr lang="en-US"/>
              <a:pPr>
                <a:defRPr/>
              </a:pPr>
              <a:t>6/13/2025</a:t>
            </a:fld>
            <a:endParaRPr lang="en-US"/>
          </a:p>
        </p:txBody>
      </p:sp>
    </p:spTree>
    <p:extLst>
      <p:ext uri="{BB962C8B-B14F-4D97-AF65-F5344CB8AC3E}">
        <p14:creationId xmlns:p14="http://schemas.microsoft.com/office/powerpoint/2010/main" val="29628291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1752" y="5495278"/>
            <a:ext cx="7772400" cy="594626"/>
          </a:xfrm>
        </p:spPr>
        <p:txBody>
          <a:bodyPr anchor="b"/>
          <a:lstStyle>
            <a:lvl1pPr algn="ctr">
              <a:defRPr sz="2200" b="1">
                <a:ln>
                  <a:noFill/>
                </a:ln>
                <a:solidFill>
                  <a:schemeClr val="tx2"/>
                </a:solidFill>
              </a:defRPr>
            </a:lvl1pPr>
          </a:lstStyle>
          <a:p>
            <a:r>
              <a:rPr lang="en-US"/>
              <a:t>Click to edit Master title style</a:t>
            </a:r>
            <a:endParaRPr lang="en-US" dirty="0"/>
          </a:p>
        </p:txBody>
      </p:sp>
      <p:sp>
        <p:nvSpPr>
          <p:cNvPr id="3" name="Picture Placeholder 2"/>
          <p:cNvSpPr>
            <a:spLocks noGrp="1"/>
          </p:cNvSpPr>
          <p:nvPr>
            <p:ph type="pic" idx="1"/>
          </p:nvPr>
        </p:nvSpPr>
        <p:spPr>
          <a:xfrm>
            <a:off x="0" y="0"/>
            <a:ext cx="8458200" cy="54864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301752" y="6096000"/>
            <a:ext cx="7772400" cy="612648"/>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5">
            <a:extLst>
              <a:ext uri="{FF2B5EF4-FFF2-40B4-BE49-F238E27FC236}">
                <a16:creationId xmlns:a16="http://schemas.microsoft.com/office/drawing/2014/main" id="{D4C37C7F-6C37-EFD6-AD2B-1C3136C9C365}"/>
              </a:ext>
            </a:extLst>
          </p:cNvPr>
          <p:cNvSpPr>
            <a:spLocks noGrp="1"/>
          </p:cNvSpPr>
          <p:nvPr>
            <p:ph type="sldNum" sz="quarter" idx="10"/>
          </p:nvPr>
        </p:nvSpPr>
        <p:spPr>
          <a:ln/>
        </p:spPr>
        <p:txBody>
          <a:bodyPr/>
          <a:lstStyle>
            <a:lvl1pPr>
              <a:defRPr/>
            </a:lvl1pPr>
          </a:lstStyle>
          <a:p>
            <a:pPr>
              <a:defRPr/>
            </a:pPr>
            <a:fld id="{DE01B550-317B-4EEB-BD64-4CAC100FC0B5}" type="slidenum">
              <a:rPr lang="en-US" altLang="en-US"/>
              <a:pPr>
                <a:defRPr/>
              </a:pPr>
              <a:t>‹#›</a:t>
            </a:fld>
            <a:endParaRPr lang="en-US" altLang="en-US"/>
          </a:p>
        </p:txBody>
      </p:sp>
      <p:sp>
        <p:nvSpPr>
          <p:cNvPr id="6" name="Footer Placeholder 4">
            <a:extLst>
              <a:ext uri="{FF2B5EF4-FFF2-40B4-BE49-F238E27FC236}">
                <a16:creationId xmlns:a16="http://schemas.microsoft.com/office/drawing/2014/main" id="{8A50AA04-88D3-EED4-BCB8-53E7F78034B2}"/>
              </a:ext>
            </a:extLst>
          </p:cNvPr>
          <p:cNvSpPr>
            <a:spLocks noGrp="1"/>
          </p:cNvSpPr>
          <p:nvPr>
            <p:ph type="ftr" sz="quarter" idx="11"/>
          </p:nvPr>
        </p:nvSpPr>
        <p:spPr/>
        <p:txBody>
          <a:bodyPr/>
          <a:lstStyle>
            <a:lvl1pPr>
              <a:defRPr/>
            </a:lvl1pPr>
          </a:lstStyle>
          <a:p>
            <a:pPr>
              <a:defRPr/>
            </a:pPr>
            <a:endParaRPr lang="en-US"/>
          </a:p>
        </p:txBody>
      </p:sp>
      <p:sp>
        <p:nvSpPr>
          <p:cNvPr id="7" name="Date Placeholder 3">
            <a:extLst>
              <a:ext uri="{FF2B5EF4-FFF2-40B4-BE49-F238E27FC236}">
                <a16:creationId xmlns:a16="http://schemas.microsoft.com/office/drawing/2014/main" id="{8A09CE75-D57D-B2EB-788B-EFF39D087CAB}"/>
              </a:ext>
            </a:extLst>
          </p:cNvPr>
          <p:cNvSpPr>
            <a:spLocks noGrp="1"/>
          </p:cNvSpPr>
          <p:nvPr>
            <p:ph type="dt" sz="half" idx="12"/>
          </p:nvPr>
        </p:nvSpPr>
        <p:spPr/>
        <p:txBody>
          <a:bodyPr/>
          <a:lstStyle>
            <a:lvl1pPr>
              <a:defRPr/>
            </a:lvl1pPr>
          </a:lstStyle>
          <a:p>
            <a:pPr>
              <a:defRPr/>
            </a:pPr>
            <a:fld id="{A035D2EA-9511-441F-996C-A1512D972506}" type="datetime1">
              <a:rPr lang="en-US"/>
              <a:pPr>
                <a:defRPr/>
              </a:pPr>
              <a:t>6/13/2025</a:t>
            </a:fld>
            <a:endParaRPr lang="en-US"/>
          </a:p>
        </p:txBody>
      </p:sp>
    </p:spTree>
    <p:extLst>
      <p:ext uri="{BB962C8B-B14F-4D97-AF65-F5344CB8AC3E}">
        <p14:creationId xmlns:p14="http://schemas.microsoft.com/office/powerpoint/2010/main" val="33504260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5">
            <a:extLst>
              <a:ext uri="{FF2B5EF4-FFF2-40B4-BE49-F238E27FC236}">
                <a16:creationId xmlns:a16="http://schemas.microsoft.com/office/drawing/2014/main" id="{D2F6328C-5B40-FCFA-63F9-619D25011A6F}"/>
              </a:ext>
            </a:extLst>
          </p:cNvPr>
          <p:cNvSpPr>
            <a:spLocks noGrp="1"/>
          </p:cNvSpPr>
          <p:nvPr>
            <p:ph type="sldNum" sz="quarter" idx="10"/>
          </p:nvPr>
        </p:nvSpPr>
        <p:spPr>
          <a:ln/>
        </p:spPr>
        <p:txBody>
          <a:bodyPr/>
          <a:lstStyle>
            <a:lvl1pPr>
              <a:defRPr/>
            </a:lvl1pPr>
          </a:lstStyle>
          <a:p>
            <a:pPr>
              <a:defRPr/>
            </a:pPr>
            <a:fld id="{D7C1D2FA-3377-49AD-BF8F-4182B05323A5}" type="slidenum">
              <a:rPr lang="en-US" altLang="en-US"/>
              <a:pPr>
                <a:defRPr/>
              </a:pPr>
              <a:t>‹#›</a:t>
            </a:fld>
            <a:endParaRPr lang="en-US" altLang="en-US"/>
          </a:p>
        </p:txBody>
      </p:sp>
      <p:sp>
        <p:nvSpPr>
          <p:cNvPr id="5" name="Footer Placeholder 4">
            <a:extLst>
              <a:ext uri="{FF2B5EF4-FFF2-40B4-BE49-F238E27FC236}">
                <a16:creationId xmlns:a16="http://schemas.microsoft.com/office/drawing/2014/main" id="{6746C997-0524-2BA1-4F13-EC3E20D208E7}"/>
              </a:ext>
            </a:extLst>
          </p:cNvPr>
          <p:cNvSpPr>
            <a:spLocks noGrp="1"/>
          </p:cNvSpPr>
          <p:nvPr>
            <p:ph type="ftr" sz="quarter" idx="11"/>
          </p:nvPr>
        </p:nvSpPr>
        <p:spPr/>
        <p:txBody>
          <a:bodyPr/>
          <a:lstStyle>
            <a:lvl1pPr>
              <a:defRPr/>
            </a:lvl1pPr>
          </a:lstStyle>
          <a:p>
            <a:pPr>
              <a:defRPr/>
            </a:pPr>
            <a:endParaRPr lang="en-US"/>
          </a:p>
        </p:txBody>
      </p:sp>
      <p:sp>
        <p:nvSpPr>
          <p:cNvPr id="6" name="Date Placeholder 3">
            <a:extLst>
              <a:ext uri="{FF2B5EF4-FFF2-40B4-BE49-F238E27FC236}">
                <a16:creationId xmlns:a16="http://schemas.microsoft.com/office/drawing/2014/main" id="{11AA6DFD-3A38-9793-6386-F8397F3046D5}"/>
              </a:ext>
            </a:extLst>
          </p:cNvPr>
          <p:cNvSpPr>
            <a:spLocks noGrp="1"/>
          </p:cNvSpPr>
          <p:nvPr>
            <p:ph type="dt" sz="half" idx="12"/>
          </p:nvPr>
        </p:nvSpPr>
        <p:spPr/>
        <p:txBody>
          <a:bodyPr/>
          <a:lstStyle>
            <a:lvl1pPr>
              <a:defRPr/>
            </a:lvl1pPr>
          </a:lstStyle>
          <a:p>
            <a:pPr>
              <a:defRPr/>
            </a:pPr>
            <a:fld id="{AE4A2BBB-C698-45E3-BCA1-416C0AF3F778}" type="datetime1">
              <a:rPr lang="en-US"/>
              <a:pPr>
                <a:defRPr/>
              </a:pPr>
              <a:t>6/13/2025</a:t>
            </a:fld>
            <a:endParaRPr lang="en-US"/>
          </a:p>
        </p:txBody>
      </p:sp>
    </p:spTree>
    <p:extLst>
      <p:ext uri="{BB962C8B-B14F-4D97-AF65-F5344CB8AC3E}">
        <p14:creationId xmlns:p14="http://schemas.microsoft.com/office/powerpoint/2010/main" val="16260995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1752600" cy="58515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5">
            <a:extLst>
              <a:ext uri="{FF2B5EF4-FFF2-40B4-BE49-F238E27FC236}">
                <a16:creationId xmlns:a16="http://schemas.microsoft.com/office/drawing/2014/main" id="{72AA0B3E-85BA-BE46-6660-7DD7C1C890D7}"/>
              </a:ext>
            </a:extLst>
          </p:cNvPr>
          <p:cNvSpPr>
            <a:spLocks noGrp="1"/>
          </p:cNvSpPr>
          <p:nvPr>
            <p:ph type="sldNum" sz="quarter" idx="10"/>
          </p:nvPr>
        </p:nvSpPr>
        <p:spPr>
          <a:ln/>
        </p:spPr>
        <p:txBody>
          <a:bodyPr/>
          <a:lstStyle>
            <a:lvl1pPr>
              <a:defRPr/>
            </a:lvl1pPr>
          </a:lstStyle>
          <a:p>
            <a:pPr>
              <a:defRPr/>
            </a:pPr>
            <a:fld id="{8CC2E201-8EE7-4F61-9D01-7932295ED62F}" type="slidenum">
              <a:rPr lang="en-US" altLang="en-US"/>
              <a:pPr>
                <a:defRPr/>
              </a:pPr>
              <a:t>‹#›</a:t>
            </a:fld>
            <a:endParaRPr lang="en-US" altLang="en-US"/>
          </a:p>
        </p:txBody>
      </p:sp>
      <p:sp>
        <p:nvSpPr>
          <p:cNvPr id="5" name="Footer Placeholder 4">
            <a:extLst>
              <a:ext uri="{FF2B5EF4-FFF2-40B4-BE49-F238E27FC236}">
                <a16:creationId xmlns:a16="http://schemas.microsoft.com/office/drawing/2014/main" id="{CC29E3DF-AC1A-6D96-D465-A8B6BC0E8AA7}"/>
              </a:ext>
            </a:extLst>
          </p:cNvPr>
          <p:cNvSpPr>
            <a:spLocks noGrp="1"/>
          </p:cNvSpPr>
          <p:nvPr>
            <p:ph type="ftr" sz="quarter" idx="11"/>
          </p:nvPr>
        </p:nvSpPr>
        <p:spPr/>
        <p:txBody>
          <a:bodyPr/>
          <a:lstStyle>
            <a:lvl1pPr>
              <a:defRPr/>
            </a:lvl1pPr>
          </a:lstStyle>
          <a:p>
            <a:pPr>
              <a:defRPr/>
            </a:pPr>
            <a:endParaRPr lang="en-US"/>
          </a:p>
        </p:txBody>
      </p:sp>
      <p:sp>
        <p:nvSpPr>
          <p:cNvPr id="6" name="Date Placeholder 3">
            <a:extLst>
              <a:ext uri="{FF2B5EF4-FFF2-40B4-BE49-F238E27FC236}">
                <a16:creationId xmlns:a16="http://schemas.microsoft.com/office/drawing/2014/main" id="{DBD76B34-1658-6E99-10DA-DB1F5ADBE906}"/>
              </a:ext>
            </a:extLst>
          </p:cNvPr>
          <p:cNvSpPr>
            <a:spLocks noGrp="1"/>
          </p:cNvSpPr>
          <p:nvPr>
            <p:ph type="dt" sz="half" idx="12"/>
          </p:nvPr>
        </p:nvSpPr>
        <p:spPr/>
        <p:txBody>
          <a:bodyPr/>
          <a:lstStyle>
            <a:lvl1pPr>
              <a:defRPr/>
            </a:lvl1pPr>
          </a:lstStyle>
          <a:p>
            <a:pPr>
              <a:defRPr/>
            </a:pPr>
            <a:fld id="{1763F9CA-8F88-4778-BA82-F21336FEF2F0}" type="datetime1">
              <a:rPr lang="en-US"/>
              <a:pPr>
                <a:defRPr/>
              </a:pPr>
              <a:t>6/13/2025</a:t>
            </a:fld>
            <a:endParaRPr lang="en-US"/>
          </a:p>
        </p:txBody>
      </p:sp>
    </p:spTree>
    <p:extLst>
      <p:ext uri="{BB962C8B-B14F-4D97-AF65-F5344CB8AC3E}">
        <p14:creationId xmlns:p14="http://schemas.microsoft.com/office/powerpoint/2010/main" val="1396708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a:t>Click to edit Master title style</a:t>
            </a:r>
            <a:endParaRPr lang="en-MY" dirty="0"/>
          </a:p>
        </p:txBody>
      </p:sp>
    </p:spTree>
    <p:extLst>
      <p:ext uri="{BB962C8B-B14F-4D97-AF65-F5344CB8AC3E}">
        <p14:creationId xmlns:p14="http://schemas.microsoft.com/office/powerpoint/2010/main" val="21897588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a:t>Click to edit Master title style</a:t>
            </a:r>
            <a:endParaRPr lang="en-MY" dirty="0"/>
          </a:p>
        </p:txBody>
      </p:sp>
    </p:spTree>
    <p:extLst>
      <p:ext uri="{BB962C8B-B14F-4D97-AF65-F5344CB8AC3E}">
        <p14:creationId xmlns:p14="http://schemas.microsoft.com/office/powerpoint/2010/main" val="282096425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a:t>Click to edit Master title style</a:t>
            </a:r>
            <a:endParaRPr lang="en-MY" dirty="0"/>
          </a:p>
        </p:txBody>
      </p:sp>
    </p:spTree>
    <p:extLst>
      <p:ext uri="{BB962C8B-B14F-4D97-AF65-F5344CB8AC3E}">
        <p14:creationId xmlns:p14="http://schemas.microsoft.com/office/powerpoint/2010/main" val="36576424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a:t>Click to edit Master title style</a:t>
            </a:r>
            <a:endParaRPr lang="en-MY" dirty="0"/>
          </a:p>
        </p:txBody>
      </p:sp>
    </p:spTree>
    <p:extLst>
      <p:ext uri="{BB962C8B-B14F-4D97-AF65-F5344CB8AC3E}">
        <p14:creationId xmlns:p14="http://schemas.microsoft.com/office/powerpoint/2010/main" val="295396765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a:t>Click to edit Master title style</a:t>
            </a:r>
            <a:endParaRPr lang="en-MY" dirty="0"/>
          </a:p>
        </p:txBody>
      </p:sp>
    </p:spTree>
    <p:extLst>
      <p:ext uri="{BB962C8B-B14F-4D97-AF65-F5344CB8AC3E}">
        <p14:creationId xmlns:p14="http://schemas.microsoft.com/office/powerpoint/2010/main" val="40200521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a:t>Click to edit Master title style</a:t>
            </a:r>
            <a:endParaRPr lang="en-MY" dirty="0"/>
          </a:p>
        </p:txBody>
      </p:sp>
    </p:spTree>
    <p:extLst>
      <p:ext uri="{BB962C8B-B14F-4D97-AF65-F5344CB8AC3E}">
        <p14:creationId xmlns:p14="http://schemas.microsoft.com/office/powerpoint/2010/main" val="27747756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7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a:t>Click to edit Master title style</a:t>
            </a:r>
            <a:endParaRPr lang="en-MY" dirty="0"/>
          </a:p>
        </p:txBody>
      </p:sp>
    </p:spTree>
    <p:extLst>
      <p:ext uri="{BB962C8B-B14F-4D97-AF65-F5344CB8AC3E}">
        <p14:creationId xmlns:p14="http://schemas.microsoft.com/office/powerpoint/2010/main" val="260273867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8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a:t>Click to edit Master title style</a:t>
            </a:r>
            <a:endParaRPr lang="en-MY" dirty="0"/>
          </a:p>
        </p:txBody>
      </p:sp>
    </p:spTree>
    <p:extLst>
      <p:ext uri="{BB962C8B-B14F-4D97-AF65-F5344CB8AC3E}">
        <p14:creationId xmlns:p14="http://schemas.microsoft.com/office/powerpoint/2010/main" val="95079421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9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a:t>Click to edit Master title style</a:t>
            </a:r>
            <a:endParaRPr lang="en-MY" dirty="0"/>
          </a:p>
        </p:txBody>
      </p:sp>
    </p:spTree>
    <p:extLst>
      <p:ext uri="{BB962C8B-B14F-4D97-AF65-F5344CB8AC3E}">
        <p14:creationId xmlns:p14="http://schemas.microsoft.com/office/powerpoint/2010/main" val="273998620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able Placeholder 2"/>
          <p:cNvSpPr>
            <a:spLocks noGrp="1"/>
          </p:cNvSpPr>
          <p:nvPr>
            <p:ph type="tbl" idx="1"/>
          </p:nvPr>
        </p:nvSpPr>
        <p:spPr>
          <a:xfrm>
            <a:off x="457200" y="1600200"/>
            <a:ext cx="8229600" cy="4525963"/>
          </a:xfrm>
        </p:spPr>
        <p:txBody>
          <a:bodyPr/>
          <a:lstStyle/>
          <a:p>
            <a:pPr lvl="0"/>
            <a:endParaRPr lang="en-US" noProof="0"/>
          </a:p>
        </p:txBody>
      </p:sp>
      <p:sp>
        <p:nvSpPr>
          <p:cNvPr id="4" name="Date Placeholder 3">
            <a:extLst>
              <a:ext uri="{FF2B5EF4-FFF2-40B4-BE49-F238E27FC236}">
                <a16:creationId xmlns:a16="http://schemas.microsoft.com/office/drawing/2014/main" id="{BAB3942A-E6E4-0041-F2E8-C12D8420D3E2}"/>
              </a:ext>
            </a:extLst>
          </p:cNvPr>
          <p:cNvSpPr>
            <a:spLocks noGrp="1"/>
          </p:cNvSpPr>
          <p:nvPr>
            <p:ph type="dt" sz="half" idx="10"/>
          </p:nvPr>
        </p:nvSpPr>
        <p:spPr>
          <a:xfrm>
            <a:off x="457200" y="6245225"/>
            <a:ext cx="2133600" cy="476250"/>
          </a:xfrm>
        </p:spPr>
        <p:txBody>
          <a:bodyPr/>
          <a:lstStyle>
            <a:lvl1pPr>
              <a:defRPr/>
            </a:lvl1pPr>
          </a:lstStyle>
          <a:p>
            <a:pPr>
              <a:defRPr/>
            </a:pPr>
            <a:endParaRPr lang="en-US" altLang="en-US"/>
          </a:p>
        </p:txBody>
      </p:sp>
      <p:sp>
        <p:nvSpPr>
          <p:cNvPr id="5" name="Footer Placeholder 4">
            <a:extLst>
              <a:ext uri="{FF2B5EF4-FFF2-40B4-BE49-F238E27FC236}">
                <a16:creationId xmlns:a16="http://schemas.microsoft.com/office/drawing/2014/main" id="{8CA1CF39-15A8-D988-9433-CFE16DBC602D}"/>
              </a:ext>
            </a:extLst>
          </p:cNvPr>
          <p:cNvSpPr>
            <a:spLocks noGrp="1"/>
          </p:cNvSpPr>
          <p:nvPr>
            <p:ph type="ftr" sz="quarter" idx="11"/>
          </p:nvPr>
        </p:nvSpPr>
        <p:spPr>
          <a:xfrm>
            <a:off x="3124200" y="6245225"/>
            <a:ext cx="2895600" cy="476250"/>
          </a:xfrm>
        </p:spPr>
        <p:txBody>
          <a:bodyPr/>
          <a:lstStyle>
            <a:lvl1pPr>
              <a:defRPr/>
            </a:lvl1pPr>
          </a:lstStyle>
          <a:p>
            <a:pPr>
              <a:defRPr/>
            </a:pPr>
            <a:endParaRPr lang="en-US" altLang="en-US"/>
          </a:p>
        </p:txBody>
      </p:sp>
      <p:sp>
        <p:nvSpPr>
          <p:cNvPr id="6" name="Slide Number Placeholder 5">
            <a:extLst>
              <a:ext uri="{FF2B5EF4-FFF2-40B4-BE49-F238E27FC236}">
                <a16:creationId xmlns:a16="http://schemas.microsoft.com/office/drawing/2014/main" id="{27745B86-ED15-11D4-9B21-B846F8AAF2AE}"/>
              </a:ext>
            </a:extLst>
          </p:cNvPr>
          <p:cNvSpPr>
            <a:spLocks noGrp="1"/>
          </p:cNvSpPr>
          <p:nvPr>
            <p:ph type="sldNum" sz="quarter" idx="12"/>
          </p:nvPr>
        </p:nvSpPr>
        <p:spPr>
          <a:xfrm>
            <a:off x="6553200" y="6245225"/>
            <a:ext cx="2133600" cy="476250"/>
          </a:xfrm>
        </p:spPr>
        <p:txBody>
          <a:bodyPr/>
          <a:lstStyle>
            <a:lvl1pPr>
              <a:defRPr smtClean="0"/>
            </a:lvl1pPr>
          </a:lstStyle>
          <a:p>
            <a:pPr>
              <a:defRPr/>
            </a:pPr>
            <a:fld id="{09307934-9437-45BE-8BCF-041951A3A158}" type="slidenum">
              <a:rPr lang="en-US" altLang="en-US"/>
              <a:pPr>
                <a:defRPr/>
              </a:pPr>
              <a:t>‹#›</a:t>
            </a:fld>
            <a:endParaRPr lang="en-US" altLang="en-US"/>
          </a:p>
        </p:txBody>
      </p:sp>
    </p:spTree>
    <p:extLst>
      <p:ext uri="{BB962C8B-B14F-4D97-AF65-F5344CB8AC3E}">
        <p14:creationId xmlns:p14="http://schemas.microsoft.com/office/powerpoint/2010/main" val="240919229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2860EFA-0BB2-F35A-1D62-6CEA4063FDF3}"/>
              </a:ext>
            </a:extLst>
          </p:cNvPr>
          <p:cNvSpPr>
            <a:spLocks noGrp="1"/>
          </p:cNvSpPr>
          <p:nvPr>
            <p:ph type="dt" sz="half" idx="10"/>
          </p:nvPr>
        </p:nvSpPr>
        <p:spPr>
          <a:xfrm>
            <a:off x="457200" y="6245225"/>
            <a:ext cx="2133600" cy="476250"/>
          </a:xfrm>
        </p:spPr>
        <p:txBody>
          <a:bodyPr/>
          <a:lstStyle>
            <a:lvl1pPr>
              <a:defRPr/>
            </a:lvl1pPr>
          </a:lstStyle>
          <a:p>
            <a:pPr>
              <a:defRPr/>
            </a:pPr>
            <a:endParaRPr lang="en-US" altLang="en-US"/>
          </a:p>
        </p:txBody>
      </p:sp>
      <p:sp>
        <p:nvSpPr>
          <p:cNvPr id="6" name="Footer Placeholder 5">
            <a:extLst>
              <a:ext uri="{FF2B5EF4-FFF2-40B4-BE49-F238E27FC236}">
                <a16:creationId xmlns:a16="http://schemas.microsoft.com/office/drawing/2014/main" id="{BAAC24DC-A7A8-D15A-FEAA-2E03BE534D63}"/>
              </a:ext>
            </a:extLst>
          </p:cNvPr>
          <p:cNvSpPr>
            <a:spLocks noGrp="1"/>
          </p:cNvSpPr>
          <p:nvPr>
            <p:ph type="ftr" sz="quarter" idx="11"/>
          </p:nvPr>
        </p:nvSpPr>
        <p:spPr>
          <a:xfrm>
            <a:off x="3124200" y="6245225"/>
            <a:ext cx="2895600" cy="476250"/>
          </a:xfrm>
        </p:spPr>
        <p:txBody>
          <a:bodyPr/>
          <a:lstStyle>
            <a:lvl1pPr>
              <a:defRPr/>
            </a:lvl1pPr>
          </a:lstStyle>
          <a:p>
            <a:pPr>
              <a:defRPr/>
            </a:pPr>
            <a:endParaRPr lang="en-US" altLang="en-US"/>
          </a:p>
        </p:txBody>
      </p:sp>
      <p:sp>
        <p:nvSpPr>
          <p:cNvPr id="7" name="Slide Number Placeholder 6">
            <a:extLst>
              <a:ext uri="{FF2B5EF4-FFF2-40B4-BE49-F238E27FC236}">
                <a16:creationId xmlns:a16="http://schemas.microsoft.com/office/drawing/2014/main" id="{1F7A3B5B-E501-E441-E14B-8B8710CF4631}"/>
              </a:ext>
            </a:extLst>
          </p:cNvPr>
          <p:cNvSpPr>
            <a:spLocks noGrp="1"/>
          </p:cNvSpPr>
          <p:nvPr>
            <p:ph type="sldNum" sz="quarter" idx="12"/>
          </p:nvPr>
        </p:nvSpPr>
        <p:spPr>
          <a:xfrm>
            <a:off x="6553200" y="6245225"/>
            <a:ext cx="2133600" cy="476250"/>
          </a:xfrm>
        </p:spPr>
        <p:txBody>
          <a:bodyPr/>
          <a:lstStyle>
            <a:lvl1pPr>
              <a:defRPr smtClean="0"/>
            </a:lvl1pPr>
          </a:lstStyle>
          <a:p>
            <a:pPr>
              <a:defRPr/>
            </a:pPr>
            <a:fld id="{E6120A57-7190-4EB6-9D96-4393DD28D29C}" type="slidenum">
              <a:rPr lang="en-US" altLang="en-US"/>
              <a:pPr>
                <a:defRPr/>
              </a:pPr>
              <a:t>‹#›</a:t>
            </a:fld>
            <a:endParaRPr lang="en-US" altLang="en-US"/>
          </a:p>
        </p:txBody>
      </p:sp>
    </p:spTree>
    <p:extLst>
      <p:ext uri="{BB962C8B-B14F-4D97-AF65-F5344CB8AC3E}">
        <p14:creationId xmlns:p14="http://schemas.microsoft.com/office/powerpoint/2010/main" val="143720367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905000"/>
            <a:ext cx="7543800" cy="2593975"/>
          </a:xfrm>
        </p:spPr>
        <p:txBody>
          <a:bodyPr anchor="b"/>
          <a:lstStyle>
            <a:lvl1pPr>
              <a:defRPr sz="6600">
                <a:ln>
                  <a:noFill/>
                </a:ln>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685800" y="4572000"/>
            <a:ext cx="6461760" cy="1066800"/>
          </a:xfrm>
        </p:spPr>
        <p:txBody>
          <a:bodyPr>
            <a:normAutofit/>
          </a:bodyPr>
          <a:lstStyle>
            <a:lvl1pPr marL="0" indent="0" algn="l">
              <a:buNone/>
              <a:defRPr sz="20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Slide Number Placeholder 5">
            <a:extLst>
              <a:ext uri="{FF2B5EF4-FFF2-40B4-BE49-F238E27FC236}">
                <a16:creationId xmlns:a16="http://schemas.microsoft.com/office/drawing/2014/main" id="{6A9231A1-8C06-A2E3-C4D9-FD90BFBA55CE}"/>
              </a:ext>
            </a:extLst>
          </p:cNvPr>
          <p:cNvSpPr>
            <a:spLocks noGrp="1"/>
          </p:cNvSpPr>
          <p:nvPr>
            <p:ph type="sldNum" sz="quarter" idx="10"/>
          </p:nvPr>
        </p:nvSpPr>
        <p:spPr>
          <a:ln/>
        </p:spPr>
        <p:txBody>
          <a:bodyPr/>
          <a:lstStyle>
            <a:lvl1pPr>
              <a:defRPr/>
            </a:lvl1pPr>
          </a:lstStyle>
          <a:p>
            <a:fld id="{2CE95F75-E92D-45D7-BFEA-C536E6EBBAC8}" type="slidenum">
              <a:rPr lang="en-US" altLang="en-US"/>
              <a:pPr/>
              <a:t>‹#›</a:t>
            </a:fld>
            <a:endParaRPr lang="en-US" altLang="en-US"/>
          </a:p>
        </p:txBody>
      </p:sp>
      <p:sp>
        <p:nvSpPr>
          <p:cNvPr id="5" name="Footer Placeholder 4">
            <a:extLst>
              <a:ext uri="{FF2B5EF4-FFF2-40B4-BE49-F238E27FC236}">
                <a16:creationId xmlns:a16="http://schemas.microsoft.com/office/drawing/2014/main" id="{57CDBFC8-B46A-E1A5-62C5-BE07FEE36D01}"/>
              </a:ext>
            </a:extLst>
          </p:cNvPr>
          <p:cNvSpPr>
            <a:spLocks noGrp="1"/>
          </p:cNvSpPr>
          <p:nvPr>
            <p:ph type="ftr" sz="quarter" idx="11"/>
          </p:nvPr>
        </p:nvSpPr>
        <p:spPr/>
        <p:txBody>
          <a:bodyPr/>
          <a:lstStyle>
            <a:lvl1pPr>
              <a:defRPr/>
            </a:lvl1pPr>
          </a:lstStyle>
          <a:p>
            <a:pPr>
              <a:defRPr/>
            </a:pPr>
            <a:endParaRPr lang="en-US"/>
          </a:p>
        </p:txBody>
      </p:sp>
      <p:sp>
        <p:nvSpPr>
          <p:cNvPr id="6" name="Date Placeholder 3">
            <a:extLst>
              <a:ext uri="{FF2B5EF4-FFF2-40B4-BE49-F238E27FC236}">
                <a16:creationId xmlns:a16="http://schemas.microsoft.com/office/drawing/2014/main" id="{BED74F93-9AFE-7615-4DA4-BFC2453B62BA}"/>
              </a:ext>
            </a:extLst>
          </p:cNvPr>
          <p:cNvSpPr>
            <a:spLocks noGrp="1"/>
          </p:cNvSpPr>
          <p:nvPr>
            <p:ph type="dt" sz="half" idx="12"/>
          </p:nvPr>
        </p:nvSpPr>
        <p:spPr/>
        <p:txBody>
          <a:bodyPr/>
          <a:lstStyle>
            <a:lvl1pPr>
              <a:defRPr/>
            </a:lvl1pPr>
          </a:lstStyle>
          <a:p>
            <a:pPr>
              <a:defRPr/>
            </a:pPr>
            <a:fld id="{F86F7FB1-2999-4C53-8342-ECF99DEF197D}" type="datetime1">
              <a:rPr lang="en-US"/>
              <a:pPr>
                <a:defRPr/>
              </a:pPr>
              <a:t>6/13/2025</a:t>
            </a:fld>
            <a:endParaRPr lang="en-US"/>
          </a:p>
        </p:txBody>
      </p:sp>
    </p:spTree>
    <p:extLst>
      <p:ext uri="{BB962C8B-B14F-4D97-AF65-F5344CB8AC3E}">
        <p14:creationId xmlns:p14="http://schemas.microsoft.com/office/powerpoint/2010/main" val="175276808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5">
            <a:extLst>
              <a:ext uri="{FF2B5EF4-FFF2-40B4-BE49-F238E27FC236}">
                <a16:creationId xmlns:a16="http://schemas.microsoft.com/office/drawing/2014/main" id="{26810934-4771-2738-C710-69C523868CCE}"/>
              </a:ext>
            </a:extLst>
          </p:cNvPr>
          <p:cNvSpPr>
            <a:spLocks noGrp="1"/>
          </p:cNvSpPr>
          <p:nvPr>
            <p:ph type="sldNum" sz="quarter" idx="10"/>
          </p:nvPr>
        </p:nvSpPr>
        <p:spPr>
          <a:ln/>
        </p:spPr>
        <p:txBody>
          <a:bodyPr/>
          <a:lstStyle>
            <a:lvl1pPr>
              <a:defRPr/>
            </a:lvl1pPr>
          </a:lstStyle>
          <a:p>
            <a:fld id="{AF9B7092-5484-4EE7-97B0-1C25CD721908}" type="slidenum">
              <a:rPr lang="en-US" altLang="en-US"/>
              <a:pPr/>
              <a:t>‹#›</a:t>
            </a:fld>
            <a:endParaRPr lang="en-US" altLang="en-US"/>
          </a:p>
        </p:txBody>
      </p:sp>
      <p:sp>
        <p:nvSpPr>
          <p:cNvPr id="5" name="Footer Placeholder 4">
            <a:extLst>
              <a:ext uri="{FF2B5EF4-FFF2-40B4-BE49-F238E27FC236}">
                <a16:creationId xmlns:a16="http://schemas.microsoft.com/office/drawing/2014/main" id="{8C1CAE4F-5C44-001F-F8D3-560DD3463E30}"/>
              </a:ext>
            </a:extLst>
          </p:cNvPr>
          <p:cNvSpPr>
            <a:spLocks noGrp="1"/>
          </p:cNvSpPr>
          <p:nvPr>
            <p:ph type="ftr" sz="quarter" idx="11"/>
          </p:nvPr>
        </p:nvSpPr>
        <p:spPr/>
        <p:txBody>
          <a:bodyPr/>
          <a:lstStyle>
            <a:lvl1pPr>
              <a:defRPr/>
            </a:lvl1pPr>
          </a:lstStyle>
          <a:p>
            <a:pPr>
              <a:defRPr/>
            </a:pPr>
            <a:endParaRPr lang="en-US"/>
          </a:p>
        </p:txBody>
      </p:sp>
      <p:sp>
        <p:nvSpPr>
          <p:cNvPr id="6" name="Date Placeholder 3">
            <a:extLst>
              <a:ext uri="{FF2B5EF4-FFF2-40B4-BE49-F238E27FC236}">
                <a16:creationId xmlns:a16="http://schemas.microsoft.com/office/drawing/2014/main" id="{16909240-2FDA-D5EE-68A8-5D14A01D387E}"/>
              </a:ext>
            </a:extLst>
          </p:cNvPr>
          <p:cNvSpPr>
            <a:spLocks noGrp="1"/>
          </p:cNvSpPr>
          <p:nvPr>
            <p:ph type="dt" sz="half" idx="12"/>
          </p:nvPr>
        </p:nvSpPr>
        <p:spPr/>
        <p:txBody>
          <a:bodyPr/>
          <a:lstStyle>
            <a:lvl1pPr>
              <a:defRPr/>
            </a:lvl1pPr>
          </a:lstStyle>
          <a:p>
            <a:pPr>
              <a:defRPr/>
            </a:pPr>
            <a:fld id="{931DF557-B3E9-4FE3-9B67-509ABB51C2EF}" type="datetime1">
              <a:rPr lang="en-US"/>
              <a:pPr>
                <a:defRPr/>
              </a:pPr>
              <a:t>6/13/2025</a:t>
            </a:fld>
            <a:endParaRPr lang="en-US"/>
          </a:p>
        </p:txBody>
      </p:sp>
    </p:spTree>
    <p:extLst>
      <p:ext uri="{BB962C8B-B14F-4D97-AF65-F5344CB8AC3E}">
        <p14:creationId xmlns:p14="http://schemas.microsoft.com/office/powerpoint/2010/main" val="245345822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5486400"/>
            <a:ext cx="7659687" cy="1168400"/>
          </a:xfrm>
        </p:spPr>
        <p:txBody>
          <a:bodyPr anchor="t"/>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722313" y="3852863"/>
            <a:ext cx="6135687" cy="163353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Slide Number Placeholder 5">
            <a:extLst>
              <a:ext uri="{FF2B5EF4-FFF2-40B4-BE49-F238E27FC236}">
                <a16:creationId xmlns:a16="http://schemas.microsoft.com/office/drawing/2014/main" id="{9884A709-D0A6-94AA-5898-925697039105}"/>
              </a:ext>
            </a:extLst>
          </p:cNvPr>
          <p:cNvSpPr>
            <a:spLocks noGrp="1"/>
          </p:cNvSpPr>
          <p:nvPr>
            <p:ph type="sldNum" sz="quarter" idx="10"/>
          </p:nvPr>
        </p:nvSpPr>
        <p:spPr>
          <a:ln/>
        </p:spPr>
        <p:txBody>
          <a:bodyPr/>
          <a:lstStyle>
            <a:lvl1pPr>
              <a:defRPr/>
            </a:lvl1pPr>
          </a:lstStyle>
          <a:p>
            <a:fld id="{4BE79EC4-4E22-4A08-A495-A54AE83E75C3}" type="slidenum">
              <a:rPr lang="en-US" altLang="en-US"/>
              <a:pPr/>
              <a:t>‹#›</a:t>
            </a:fld>
            <a:endParaRPr lang="en-US" altLang="en-US"/>
          </a:p>
        </p:txBody>
      </p:sp>
      <p:sp>
        <p:nvSpPr>
          <p:cNvPr id="5" name="Footer Placeholder 4">
            <a:extLst>
              <a:ext uri="{FF2B5EF4-FFF2-40B4-BE49-F238E27FC236}">
                <a16:creationId xmlns:a16="http://schemas.microsoft.com/office/drawing/2014/main" id="{D2B71F48-077F-0BE4-EBB5-293D7937BA6D}"/>
              </a:ext>
            </a:extLst>
          </p:cNvPr>
          <p:cNvSpPr>
            <a:spLocks noGrp="1"/>
          </p:cNvSpPr>
          <p:nvPr>
            <p:ph type="ftr" sz="quarter" idx="11"/>
          </p:nvPr>
        </p:nvSpPr>
        <p:spPr/>
        <p:txBody>
          <a:bodyPr/>
          <a:lstStyle>
            <a:lvl1pPr>
              <a:defRPr/>
            </a:lvl1pPr>
          </a:lstStyle>
          <a:p>
            <a:pPr>
              <a:defRPr/>
            </a:pPr>
            <a:endParaRPr lang="en-US"/>
          </a:p>
        </p:txBody>
      </p:sp>
      <p:sp>
        <p:nvSpPr>
          <p:cNvPr id="6" name="Date Placeholder 3">
            <a:extLst>
              <a:ext uri="{FF2B5EF4-FFF2-40B4-BE49-F238E27FC236}">
                <a16:creationId xmlns:a16="http://schemas.microsoft.com/office/drawing/2014/main" id="{73E018CB-AEAF-76C3-AD40-0B92A84B42E5}"/>
              </a:ext>
            </a:extLst>
          </p:cNvPr>
          <p:cNvSpPr>
            <a:spLocks noGrp="1"/>
          </p:cNvSpPr>
          <p:nvPr>
            <p:ph type="dt" sz="half" idx="12"/>
          </p:nvPr>
        </p:nvSpPr>
        <p:spPr/>
        <p:txBody>
          <a:bodyPr/>
          <a:lstStyle>
            <a:lvl1pPr>
              <a:defRPr/>
            </a:lvl1pPr>
          </a:lstStyle>
          <a:p>
            <a:pPr>
              <a:defRPr/>
            </a:pPr>
            <a:fld id="{DD257B98-900F-4726-955E-E83644AB9BD6}" type="datetime1">
              <a:rPr lang="en-US"/>
              <a:pPr>
                <a:defRPr/>
              </a:pPr>
              <a:t>6/13/2025</a:t>
            </a:fld>
            <a:endParaRPr lang="en-US"/>
          </a:p>
        </p:txBody>
      </p:sp>
    </p:spTree>
    <p:extLst>
      <p:ext uri="{BB962C8B-B14F-4D97-AF65-F5344CB8AC3E}">
        <p14:creationId xmlns:p14="http://schemas.microsoft.com/office/powerpoint/2010/main" val="186486732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96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a:extLst>
              <a:ext uri="{FF2B5EF4-FFF2-40B4-BE49-F238E27FC236}">
                <a16:creationId xmlns:a16="http://schemas.microsoft.com/office/drawing/2014/main" id="{7C710681-7C9D-8C5E-0AD5-E1FBA222E3FC}"/>
              </a:ext>
            </a:extLst>
          </p:cNvPr>
          <p:cNvSpPr>
            <a:spLocks noGrp="1"/>
          </p:cNvSpPr>
          <p:nvPr>
            <p:ph type="sldNum" sz="quarter" idx="10"/>
          </p:nvPr>
        </p:nvSpPr>
        <p:spPr>
          <a:ln/>
        </p:spPr>
        <p:txBody>
          <a:bodyPr/>
          <a:lstStyle>
            <a:lvl1pPr>
              <a:defRPr/>
            </a:lvl1pPr>
          </a:lstStyle>
          <a:p>
            <a:fld id="{431CEC99-9D1E-4295-AE5F-2C98B40FCBCC}" type="slidenum">
              <a:rPr lang="en-US" altLang="en-US"/>
              <a:pPr/>
              <a:t>‹#›</a:t>
            </a:fld>
            <a:endParaRPr lang="en-US" altLang="en-US"/>
          </a:p>
        </p:txBody>
      </p:sp>
      <p:sp>
        <p:nvSpPr>
          <p:cNvPr id="6" name="Footer Placeholder 4">
            <a:extLst>
              <a:ext uri="{FF2B5EF4-FFF2-40B4-BE49-F238E27FC236}">
                <a16:creationId xmlns:a16="http://schemas.microsoft.com/office/drawing/2014/main" id="{8E89AC1E-BFC1-796E-9239-A4CF7C22910B}"/>
              </a:ext>
            </a:extLst>
          </p:cNvPr>
          <p:cNvSpPr>
            <a:spLocks noGrp="1"/>
          </p:cNvSpPr>
          <p:nvPr>
            <p:ph type="ftr" sz="quarter" idx="11"/>
          </p:nvPr>
        </p:nvSpPr>
        <p:spPr/>
        <p:txBody>
          <a:bodyPr/>
          <a:lstStyle>
            <a:lvl1pPr>
              <a:defRPr/>
            </a:lvl1pPr>
          </a:lstStyle>
          <a:p>
            <a:pPr>
              <a:defRPr/>
            </a:pPr>
            <a:endParaRPr lang="en-US"/>
          </a:p>
        </p:txBody>
      </p:sp>
      <p:sp>
        <p:nvSpPr>
          <p:cNvPr id="7" name="Date Placeholder 3">
            <a:extLst>
              <a:ext uri="{FF2B5EF4-FFF2-40B4-BE49-F238E27FC236}">
                <a16:creationId xmlns:a16="http://schemas.microsoft.com/office/drawing/2014/main" id="{694AF260-8AA4-08CF-7840-DB5FD4E7E3FA}"/>
              </a:ext>
            </a:extLst>
          </p:cNvPr>
          <p:cNvSpPr>
            <a:spLocks noGrp="1"/>
          </p:cNvSpPr>
          <p:nvPr>
            <p:ph type="dt" sz="half" idx="12"/>
          </p:nvPr>
        </p:nvSpPr>
        <p:spPr/>
        <p:txBody>
          <a:bodyPr/>
          <a:lstStyle>
            <a:lvl1pPr>
              <a:defRPr/>
            </a:lvl1pPr>
          </a:lstStyle>
          <a:p>
            <a:pPr>
              <a:defRPr/>
            </a:pPr>
            <a:fld id="{DDC7E16B-5949-4122-ABCB-80943503AAA1}" type="datetime1">
              <a:rPr lang="en-US"/>
              <a:pPr>
                <a:defRPr/>
              </a:pPr>
              <a:t>6/13/2025</a:t>
            </a:fld>
            <a:endParaRPr lang="en-US"/>
          </a:p>
        </p:txBody>
      </p:sp>
    </p:spTree>
    <p:extLst>
      <p:ext uri="{BB962C8B-B14F-4D97-AF65-F5344CB8AC3E}">
        <p14:creationId xmlns:p14="http://schemas.microsoft.com/office/powerpoint/2010/main" val="224694961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4196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4196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5">
            <a:extLst>
              <a:ext uri="{FF2B5EF4-FFF2-40B4-BE49-F238E27FC236}">
                <a16:creationId xmlns:a16="http://schemas.microsoft.com/office/drawing/2014/main" id="{7E72D675-1E8D-A21E-78CE-799FCE9AA59C}"/>
              </a:ext>
            </a:extLst>
          </p:cNvPr>
          <p:cNvSpPr>
            <a:spLocks noGrp="1"/>
          </p:cNvSpPr>
          <p:nvPr>
            <p:ph type="sldNum" sz="quarter" idx="10"/>
          </p:nvPr>
        </p:nvSpPr>
        <p:spPr>
          <a:ln/>
        </p:spPr>
        <p:txBody>
          <a:bodyPr/>
          <a:lstStyle>
            <a:lvl1pPr>
              <a:defRPr/>
            </a:lvl1pPr>
          </a:lstStyle>
          <a:p>
            <a:fld id="{8AE3BEE1-A960-45D2-8097-81F24B656820}" type="slidenum">
              <a:rPr lang="en-US" altLang="en-US"/>
              <a:pPr/>
              <a:t>‹#›</a:t>
            </a:fld>
            <a:endParaRPr lang="en-US" altLang="en-US"/>
          </a:p>
        </p:txBody>
      </p:sp>
      <p:sp>
        <p:nvSpPr>
          <p:cNvPr id="8" name="Footer Placeholder 4">
            <a:extLst>
              <a:ext uri="{FF2B5EF4-FFF2-40B4-BE49-F238E27FC236}">
                <a16:creationId xmlns:a16="http://schemas.microsoft.com/office/drawing/2014/main" id="{4D2BA775-96ED-A3D6-F2F4-36E478771661}"/>
              </a:ext>
            </a:extLst>
          </p:cNvPr>
          <p:cNvSpPr>
            <a:spLocks noGrp="1"/>
          </p:cNvSpPr>
          <p:nvPr>
            <p:ph type="ftr" sz="quarter" idx="11"/>
          </p:nvPr>
        </p:nvSpPr>
        <p:spPr/>
        <p:txBody>
          <a:bodyPr/>
          <a:lstStyle>
            <a:lvl1pPr>
              <a:defRPr/>
            </a:lvl1pPr>
          </a:lstStyle>
          <a:p>
            <a:pPr>
              <a:defRPr/>
            </a:pPr>
            <a:endParaRPr lang="en-US"/>
          </a:p>
        </p:txBody>
      </p:sp>
      <p:sp>
        <p:nvSpPr>
          <p:cNvPr id="9" name="Date Placeholder 3">
            <a:extLst>
              <a:ext uri="{FF2B5EF4-FFF2-40B4-BE49-F238E27FC236}">
                <a16:creationId xmlns:a16="http://schemas.microsoft.com/office/drawing/2014/main" id="{AB7F1C4A-C3F2-F493-73EE-B5FD43B00CC7}"/>
              </a:ext>
            </a:extLst>
          </p:cNvPr>
          <p:cNvSpPr>
            <a:spLocks noGrp="1"/>
          </p:cNvSpPr>
          <p:nvPr>
            <p:ph type="dt" sz="half" idx="12"/>
          </p:nvPr>
        </p:nvSpPr>
        <p:spPr/>
        <p:txBody>
          <a:bodyPr/>
          <a:lstStyle>
            <a:lvl1pPr>
              <a:defRPr/>
            </a:lvl1pPr>
          </a:lstStyle>
          <a:p>
            <a:pPr>
              <a:defRPr/>
            </a:pPr>
            <a:fld id="{FCFD7329-0C44-4FBF-9DFA-C6BFFCC10B65}" type="datetime1">
              <a:rPr lang="en-US"/>
              <a:pPr>
                <a:defRPr/>
              </a:pPr>
              <a:t>6/13/2025</a:t>
            </a:fld>
            <a:endParaRPr lang="en-US"/>
          </a:p>
        </p:txBody>
      </p:sp>
    </p:spTree>
    <p:extLst>
      <p:ext uri="{BB962C8B-B14F-4D97-AF65-F5344CB8AC3E}">
        <p14:creationId xmlns:p14="http://schemas.microsoft.com/office/powerpoint/2010/main" val="349971880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5">
            <a:extLst>
              <a:ext uri="{FF2B5EF4-FFF2-40B4-BE49-F238E27FC236}">
                <a16:creationId xmlns:a16="http://schemas.microsoft.com/office/drawing/2014/main" id="{1FF31FCF-2DC8-A355-29D8-966BC5E8E83B}"/>
              </a:ext>
            </a:extLst>
          </p:cNvPr>
          <p:cNvSpPr>
            <a:spLocks noGrp="1"/>
          </p:cNvSpPr>
          <p:nvPr>
            <p:ph type="sldNum" sz="quarter" idx="10"/>
          </p:nvPr>
        </p:nvSpPr>
        <p:spPr>
          <a:ln/>
        </p:spPr>
        <p:txBody>
          <a:bodyPr/>
          <a:lstStyle>
            <a:lvl1pPr>
              <a:defRPr/>
            </a:lvl1pPr>
          </a:lstStyle>
          <a:p>
            <a:fld id="{4B791706-BD34-44A7-A0E9-2C68A3AD2669}" type="slidenum">
              <a:rPr lang="en-US" altLang="en-US"/>
              <a:pPr/>
              <a:t>‹#›</a:t>
            </a:fld>
            <a:endParaRPr lang="en-US" altLang="en-US"/>
          </a:p>
        </p:txBody>
      </p:sp>
      <p:sp>
        <p:nvSpPr>
          <p:cNvPr id="4" name="Footer Placeholder 4">
            <a:extLst>
              <a:ext uri="{FF2B5EF4-FFF2-40B4-BE49-F238E27FC236}">
                <a16:creationId xmlns:a16="http://schemas.microsoft.com/office/drawing/2014/main" id="{8F349188-D562-466B-F562-32ABA215DA27}"/>
              </a:ext>
            </a:extLst>
          </p:cNvPr>
          <p:cNvSpPr>
            <a:spLocks noGrp="1"/>
          </p:cNvSpPr>
          <p:nvPr>
            <p:ph type="ftr" sz="quarter" idx="11"/>
          </p:nvPr>
        </p:nvSpPr>
        <p:spPr/>
        <p:txBody>
          <a:bodyPr/>
          <a:lstStyle>
            <a:lvl1pPr>
              <a:defRPr/>
            </a:lvl1pPr>
          </a:lstStyle>
          <a:p>
            <a:pPr>
              <a:defRPr/>
            </a:pPr>
            <a:endParaRPr lang="en-US"/>
          </a:p>
        </p:txBody>
      </p:sp>
      <p:sp>
        <p:nvSpPr>
          <p:cNvPr id="5" name="Date Placeholder 3">
            <a:extLst>
              <a:ext uri="{FF2B5EF4-FFF2-40B4-BE49-F238E27FC236}">
                <a16:creationId xmlns:a16="http://schemas.microsoft.com/office/drawing/2014/main" id="{2A386CC5-AAE8-E693-18DB-C82011E16DA0}"/>
              </a:ext>
            </a:extLst>
          </p:cNvPr>
          <p:cNvSpPr>
            <a:spLocks noGrp="1"/>
          </p:cNvSpPr>
          <p:nvPr>
            <p:ph type="dt" sz="half" idx="12"/>
          </p:nvPr>
        </p:nvSpPr>
        <p:spPr/>
        <p:txBody>
          <a:bodyPr/>
          <a:lstStyle>
            <a:lvl1pPr>
              <a:defRPr/>
            </a:lvl1pPr>
          </a:lstStyle>
          <a:p>
            <a:pPr>
              <a:defRPr/>
            </a:pPr>
            <a:fld id="{0FD3EEA3-EFDF-4802-9088-2AF7BB4076C4}" type="datetime1">
              <a:rPr lang="en-US"/>
              <a:pPr>
                <a:defRPr/>
              </a:pPr>
              <a:t>6/13/2025</a:t>
            </a:fld>
            <a:endParaRPr lang="en-US"/>
          </a:p>
        </p:txBody>
      </p:sp>
    </p:spTree>
    <p:extLst>
      <p:ext uri="{BB962C8B-B14F-4D97-AF65-F5344CB8AC3E}">
        <p14:creationId xmlns:p14="http://schemas.microsoft.com/office/powerpoint/2010/main" val="372631781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35A5D22B-A76D-A446-7C58-AE27BC52CF24}"/>
              </a:ext>
            </a:extLst>
          </p:cNvPr>
          <p:cNvSpPr>
            <a:spLocks noGrp="1"/>
          </p:cNvSpPr>
          <p:nvPr>
            <p:ph type="sldNum" sz="quarter" idx="10"/>
          </p:nvPr>
        </p:nvSpPr>
        <p:spPr>
          <a:ln/>
        </p:spPr>
        <p:txBody>
          <a:bodyPr/>
          <a:lstStyle>
            <a:lvl1pPr>
              <a:defRPr/>
            </a:lvl1pPr>
          </a:lstStyle>
          <a:p>
            <a:fld id="{6F1BE39D-C099-4919-9CE1-507203439AE3}" type="slidenum">
              <a:rPr lang="en-US" altLang="en-US"/>
              <a:pPr/>
              <a:t>‹#›</a:t>
            </a:fld>
            <a:endParaRPr lang="en-US" altLang="en-US"/>
          </a:p>
        </p:txBody>
      </p:sp>
      <p:sp>
        <p:nvSpPr>
          <p:cNvPr id="3" name="Footer Placeholder 4">
            <a:extLst>
              <a:ext uri="{FF2B5EF4-FFF2-40B4-BE49-F238E27FC236}">
                <a16:creationId xmlns:a16="http://schemas.microsoft.com/office/drawing/2014/main" id="{E56EC5DD-B8E6-4298-E64E-706F90787F11}"/>
              </a:ext>
            </a:extLst>
          </p:cNvPr>
          <p:cNvSpPr>
            <a:spLocks noGrp="1"/>
          </p:cNvSpPr>
          <p:nvPr>
            <p:ph type="ftr" sz="quarter" idx="11"/>
          </p:nvPr>
        </p:nvSpPr>
        <p:spPr/>
        <p:txBody>
          <a:bodyPr/>
          <a:lstStyle>
            <a:lvl1pPr>
              <a:defRPr/>
            </a:lvl1pPr>
          </a:lstStyle>
          <a:p>
            <a:pPr>
              <a:defRPr/>
            </a:pPr>
            <a:endParaRPr lang="en-US"/>
          </a:p>
        </p:txBody>
      </p:sp>
      <p:sp>
        <p:nvSpPr>
          <p:cNvPr id="4" name="Date Placeholder 3">
            <a:extLst>
              <a:ext uri="{FF2B5EF4-FFF2-40B4-BE49-F238E27FC236}">
                <a16:creationId xmlns:a16="http://schemas.microsoft.com/office/drawing/2014/main" id="{E40ADE70-4AD9-376B-B98C-F4ABDA578DCB}"/>
              </a:ext>
            </a:extLst>
          </p:cNvPr>
          <p:cNvSpPr>
            <a:spLocks noGrp="1"/>
          </p:cNvSpPr>
          <p:nvPr>
            <p:ph type="dt" sz="half" idx="12"/>
          </p:nvPr>
        </p:nvSpPr>
        <p:spPr/>
        <p:txBody>
          <a:bodyPr/>
          <a:lstStyle>
            <a:lvl1pPr>
              <a:defRPr/>
            </a:lvl1pPr>
          </a:lstStyle>
          <a:p>
            <a:pPr>
              <a:defRPr/>
            </a:pPr>
            <a:fld id="{B75A7E2B-EF7F-4D34-A34B-796B338861BF}" type="datetime1">
              <a:rPr lang="en-US"/>
              <a:pPr>
                <a:defRPr/>
              </a:pPr>
              <a:t>6/13/2025</a:t>
            </a:fld>
            <a:endParaRPr lang="en-US"/>
          </a:p>
        </p:txBody>
      </p:sp>
    </p:spTree>
    <p:extLst>
      <p:ext uri="{BB962C8B-B14F-4D97-AF65-F5344CB8AC3E}">
        <p14:creationId xmlns:p14="http://schemas.microsoft.com/office/powerpoint/2010/main" val="279034643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1" y="5495544"/>
            <a:ext cx="7772400" cy="594360"/>
          </a:xfrm>
        </p:spPr>
        <p:txBody>
          <a:bodyPr anchor="b"/>
          <a:lstStyle>
            <a:lvl1pPr algn="ctr">
              <a:defRPr sz="2200" b="1"/>
            </a:lvl1pPr>
          </a:lstStyle>
          <a:p>
            <a:r>
              <a:rPr lang="en-US"/>
              <a:t>Click to edit Master title style</a:t>
            </a:r>
            <a:endParaRPr lang="en-US" dirty="0"/>
          </a:p>
        </p:txBody>
      </p:sp>
      <p:sp>
        <p:nvSpPr>
          <p:cNvPr id="4" name="Text Placeholder 3"/>
          <p:cNvSpPr>
            <a:spLocks noGrp="1"/>
          </p:cNvSpPr>
          <p:nvPr>
            <p:ph type="body" sz="half" idx="2"/>
          </p:nvPr>
        </p:nvSpPr>
        <p:spPr>
          <a:xfrm>
            <a:off x="304799" y="6096000"/>
            <a:ext cx="7772401" cy="6096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Content Placeholder 8"/>
          <p:cNvSpPr>
            <a:spLocks noGrp="1"/>
          </p:cNvSpPr>
          <p:nvPr>
            <p:ph sz="quarter" idx="13"/>
          </p:nvPr>
        </p:nvSpPr>
        <p:spPr>
          <a:xfrm>
            <a:off x="304800" y="381000"/>
            <a:ext cx="7772400" cy="49428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Slide Number Placeholder 5">
            <a:extLst>
              <a:ext uri="{FF2B5EF4-FFF2-40B4-BE49-F238E27FC236}">
                <a16:creationId xmlns:a16="http://schemas.microsoft.com/office/drawing/2014/main" id="{7BC6CF50-299A-B8C1-DA02-18886EBBFD4F}"/>
              </a:ext>
            </a:extLst>
          </p:cNvPr>
          <p:cNvSpPr>
            <a:spLocks noGrp="1"/>
          </p:cNvSpPr>
          <p:nvPr>
            <p:ph type="sldNum" sz="quarter" idx="14"/>
          </p:nvPr>
        </p:nvSpPr>
        <p:spPr>
          <a:ln/>
        </p:spPr>
        <p:txBody>
          <a:bodyPr/>
          <a:lstStyle>
            <a:lvl1pPr>
              <a:defRPr/>
            </a:lvl1pPr>
          </a:lstStyle>
          <a:p>
            <a:fld id="{6AC92230-89D6-42EB-B6BD-537D066F3E4B}" type="slidenum">
              <a:rPr lang="en-US" altLang="en-US"/>
              <a:pPr/>
              <a:t>‹#›</a:t>
            </a:fld>
            <a:endParaRPr lang="en-US" altLang="en-US"/>
          </a:p>
        </p:txBody>
      </p:sp>
      <p:sp>
        <p:nvSpPr>
          <p:cNvPr id="5" name="Footer Placeholder 4">
            <a:extLst>
              <a:ext uri="{FF2B5EF4-FFF2-40B4-BE49-F238E27FC236}">
                <a16:creationId xmlns:a16="http://schemas.microsoft.com/office/drawing/2014/main" id="{5867530D-0420-FC9C-C463-18035EFDE7A4}"/>
              </a:ext>
            </a:extLst>
          </p:cNvPr>
          <p:cNvSpPr>
            <a:spLocks noGrp="1"/>
          </p:cNvSpPr>
          <p:nvPr>
            <p:ph type="ftr" sz="quarter" idx="15"/>
          </p:nvPr>
        </p:nvSpPr>
        <p:spPr/>
        <p:txBody>
          <a:bodyPr/>
          <a:lstStyle>
            <a:lvl1pPr>
              <a:defRPr/>
            </a:lvl1pPr>
          </a:lstStyle>
          <a:p>
            <a:pPr>
              <a:defRPr/>
            </a:pPr>
            <a:endParaRPr lang="en-US"/>
          </a:p>
        </p:txBody>
      </p:sp>
      <p:sp>
        <p:nvSpPr>
          <p:cNvPr id="6" name="Date Placeholder 3">
            <a:extLst>
              <a:ext uri="{FF2B5EF4-FFF2-40B4-BE49-F238E27FC236}">
                <a16:creationId xmlns:a16="http://schemas.microsoft.com/office/drawing/2014/main" id="{972AC9A4-9F12-36F8-DD29-BB8089F92941}"/>
              </a:ext>
            </a:extLst>
          </p:cNvPr>
          <p:cNvSpPr>
            <a:spLocks noGrp="1"/>
          </p:cNvSpPr>
          <p:nvPr>
            <p:ph type="dt" sz="half" idx="16"/>
          </p:nvPr>
        </p:nvSpPr>
        <p:spPr/>
        <p:txBody>
          <a:bodyPr/>
          <a:lstStyle>
            <a:lvl1pPr>
              <a:defRPr/>
            </a:lvl1pPr>
          </a:lstStyle>
          <a:p>
            <a:pPr>
              <a:defRPr/>
            </a:pPr>
            <a:fld id="{E33CE7F0-863B-4075-8A74-2942AF57E5E5}" type="datetime1">
              <a:rPr lang="en-US"/>
              <a:pPr>
                <a:defRPr/>
              </a:pPr>
              <a:t>6/13/2025</a:t>
            </a:fld>
            <a:endParaRPr lang="en-US"/>
          </a:p>
        </p:txBody>
      </p:sp>
    </p:spTree>
    <p:extLst>
      <p:ext uri="{BB962C8B-B14F-4D97-AF65-F5344CB8AC3E}">
        <p14:creationId xmlns:p14="http://schemas.microsoft.com/office/powerpoint/2010/main" val="133175346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1752" y="5495278"/>
            <a:ext cx="7772400" cy="594626"/>
          </a:xfrm>
        </p:spPr>
        <p:txBody>
          <a:bodyPr anchor="b"/>
          <a:lstStyle>
            <a:lvl1pPr algn="ctr">
              <a:defRPr sz="2200" b="1">
                <a:ln>
                  <a:noFill/>
                </a:ln>
                <a:solidFill>
                  <a:schemeClr val="tx2"/>
                </a:solidFill>
              </a:defRPr>
            </a:lvl1pPr>
          </a:lstStyle>
          <a:p>
            <a:r>
              <a:rPr lang="en-US"/>
              <a:t>Click to edit Master title style</a:t>
            </a:r>
            <a:endParaRPr lang="en-US" dirty="0"/>
          </a:p>
        </p:txBody>
      </p:sp>
      <p:sp>
        <p:nvSpPr>
          <p:cNvPr id="3" name="Picture Placeholder 2"/>
          <p:cNvSpPr>
            <a:spLocks noGrp="1"/>
          </p:cNvSpPr>
          <p:nvPr>
            <p:ph type="pic" idx="1"/>
          </p:nvPr>
        </p:nvSpPr>
        <p:spPr>
          <a:xfrm>
            <a:off x="0" y="0"/>
            <a:ext cx="8458200" cy="54864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301752" y="6096000"/>
            <a:ext cx="7772400" cy="612648"/>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5">
            <a:extLst>
              <a:ext uri="{FF2B5EF4-FFF2-40B4-BE49-F238E27FC236}">
                <a16:creationId xmlns:a16="http://schemas.microsoft.com/office/drawing/2014/main" id="{BED93E1F-5AF7-D28B-497A-A44266AF0DC7}"/>
              </a:ext>
            </a:extLst>
          </p:cNvPr>
          <p:cNvSpPr>
            <a:spLocks noGrp="1"/>
          </p:cNvSpPr>
          <p:nvPr>
            <p:ph type="sldNum" sz="quarter" idx="10"/>
          </p:nvPr>
        </p:nvSpPr>
        <p:spPr>
          <a:ln/>
        </p:spPr>
        <p:txBody>
          <a:bodyPr/>
          <a:lstStyle>
            <a:lvl1pPr>
              <a:defRPr/>
            </a:lvl1pPr>
          </a:lstStyle>
          <a:p>
            <a:fld id="{B0DB4576-C1DC-41DE-948A-84D3FA5367F5}" type="slidenum">
              <a:rPr lang="en-US" altLang="en-US"/>
              <a:pPr/>
              <a:t>‹#›</a:t>
            </a:fld>
            <a:endParaRPr lang="en-US" altLang="en-US"/>
          </a:p>
        </p:txBody>
      </p:sp>
      <p:sp>
        <p:nvSpPr>
          <p:cNvPr id="6" name="Footer Placeholder 4">
            <a:extLst>
              <a:ext uri="{FF2B5EF4-FFF2-40B4-BE49-F238E27FC236}">
                <a16:creationId xmlns:a16="http://schemas.microsoft.com/office/drawing/2014/main" id="{577E53EB-F351-F9F4-3BFA-E7E3197B89FF}"/>
              </a:ext>
            </a:extLst>
          </p:cNvPr>
          <p:cNvSpPr>
            <a:spLocks noGrp="1"/>
          </p:cNvSpPr>
          <p:nvPr>
            <p:ph type="ftr" sz="quarter" idx="11"/>
          </p:nvPr>
        </p:nvSpPr>
        <p:spPr/>
        <p:txBody>
          <a:bodyPr/>
          <a:lstStyle>
            <a:lvl1pPr>
              <a:defRPr/>
            </a:lvl1pPr>
          </a:lstStyle>
          <a:p>
            <a:pPr>
              <a:defRPr/>
            </a:pPr>
            <a:endParaRPr lang="en-US"/>
          </a:p>
        </p:txBody>
      </p:sp>
      <p:sp>
        <p:nvSpPr>
          <p:cNvPr id="7" name="Date Placeholder 3">
            <a:extLst>
              <a:ext uri="{FF2B5EF4-FFF2-40B4-BE49-F238E27FC236}">
                <a16:creationId xmlns:a16="http://schemas.microsoft.com/office/drawing/2014/main" id="{3A96611B-AE83-85AC-2432-B3C1C393CA67}"/>
              </a:ext>
            </a:extLst>
          </p:cNvPr>
          <p:cNvSpPr>
            <a:spLocks noGrp="1"/>
          </p:cNvSpPr>
          <p:nvPr>
            <p:ph type="dt" sz="half" idx="12"/>
          </p:nvPr>
        </p:nvSpPr>
        <p:spPr/>
        <p:txBody>
          <a:bodyPr/>
          <a:lstStyle>
            <a:lvl1pPr>
              <a:defRPr/>
            </a:lvl1pPr>
          </a:lstStyle>
          <a:p>
            <a:pPr>
              <a:defRPr/>
            </a:pPr>
            <a:fld id="{22106C4C-C269-426F-B834-FC6B654CE3EC}" type="datetime1">
              <a:rPr lang="en-US"/>
              <a:pPr>
                <a:defRPr/>
              </a:pPr>
              <a:t>6/13/2025</a:t>
            </a:fld>
            <a:endParaRPr lang="en-US"/>
          </a:p>
        </p:txBody>
      </p:sp>
    </p:spTree>
    <p:extLst>
      <p:ext uri="{BB962C8B-B14F-4D97-AF65-F5344CB8AC3E}">
        <p14:creationId xmlns:p14="http://schemas.microsoft.com/office/powerpoint/2010/main" val="427204502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5">
            <a:extLst>
              <a:ext uri="{FF2B5EF4-FFF2-40B4-BE49-F238E27FC236}">
                <a16:creationId xmlns:a16="http://schemas.microsoft.com/office/drawing/2014/main" id="{6C0A4CB7-8E81-02A6-9ABC-9684FED49948}"/>
              </a:ext>
            </a:extLst>
          </p:cNvPr>
          <p:cNvSpPr>
            <a:spLocks noGrp="1"/>
          </p:cNvSpPr>
          <p:nvPr>
            <p:ph type="sldNum" sz="quarter" idx="10"/>
          </p:nvPr>
        </p:nvSpPr>
        <p:spPr>
          <a:ln/>
        </p:spPr>
        <p:txBody>
          <a:bodyPr/>
          <a:lstStyle>
            <a:lvl1pPr>
              <a:defRPr/>
            </a:lvl1pPr>
          </a:lstStyle>
          <a:p>
            <a:fld id="{DB7D9A99-CDF3-4847-B270-2B77B441D483}" type="slidenum">
              <a:rPr lang="en-US" altLang="en-US"/>
              <a:pPr/>
              <a:t>‹#›</a:t>
            </a:fld>
            <a:endParaRPr lang="en-US" altLang="en-US"/>
          </a:p>
        </p:txBody>
      </p:sp>
      <p:sp>
        <p:nvSpPr>
          <p:cNvPr id="5" name="Footer Placeholder 4">
            <a:extLst>
              <a:ext uri="{FF2B5EF4-FFF2-40B4-BE49-F238E27FC236}">
                <a16:creationId xmlns:a16="http://schemas.microsoft.com/office/drawing/2014/main" id="{4AAEFD8F-3553-6201-27DA-39066AA346D4}"/>
              </a:ext>
            </a:extLst>
          </p:cNvPr>
          <p:cNvSpPr>
            <a:spLocks noGrp="1"/>
          </p:cNvSpPr>
          <p:nvPr>
            <p:ph type="ftr" sz="quarter" idx="11"/>
          </p:nvPr>
        </p:nvSpPr>
        <p:spPr/>
        <p:txBody>
          <a:bodyPr/>
          <a:lstStyle>
            <a:lvl1pPr>
              <a:defRPr/>
            </a:lvl1pPr>
          </a:lstStyle>
          <a:p>
            <a:pPr>
              <a:defRPr/>
            </a:pPr>
            <a:endParaRPr lang="en-US"/>
          </a:p>
        </p:txBody>
      </p:sp>
      <p:sp>
        <p:nvSpPr>
          <p:cNvPr id="6" name="Date Placeholder 3">
            <a:extLst>
              <a:ext uri="{FF2B5EF4-FFF2-40B4-BE49-F238E27FC236}">
                <a16:creationId xmlns:a16="http://schemas.microsoft.com/office/drawing/2014/main" id="{03DA485A-C7C3-AF0A-3CDA-3040EA88BFCE}"/>
              </a:ext>
            </a:extLst>
          </p:cNvPr>
          <p:cNvSpPr>
            <a:spLocks noGrp="1"/>
          </p:cNvSpPr>
          <p:nvPr>
            <p:ph type="dt" sz="half" idx="12"/>
          </p:nvPr>
        </p:nvSpPr>
        <p:spPr/>
        <p:txBody>
          <a:bodyPr/>
          <a:lstStyle>
            <a:lvl1pPr>
              <a:defRPr/>
            </a:lvl1pPr>
          </a:lstStyle>
          <a:p>
            <a:pPr>
              <a:defRPr/>
            </a:pPr>
            <a:fld id="{06957A2B-291B-476D-A62C-BBBACCB6DC1A}" type="datetime1">
              <a:rPr lang="en-US"/>
              <a:pPr>
                <a:defRPr/>
              </a:pPr>
              <a:t>6/13/2025</a:t>
            </a:fld>
            <a:endParaRPr lang="en-US"/>
          </a:p>
        </p:txBody>
      </p:sp>
    </p:spTree>
    <p:extLst>
      <p:ext uri="{BB962C8B-B14F-4D97-AF65-F5344CB8AC3E}">
        <p14:creationId xmlns:p14="http://schemas.microsoft.com/office/powerpoint/2010/main" val="99670368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1752600" cy="58515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5">
            <a:extLst>
              <a:ext uri="{FF2B5EF4-FFF2-40B4-BE49-F238E27FC236}">
                <a16:creationId xmlns:a16="http://schemas.microsoft.com/office/drawing/2014/main" id="{2B2DDB0F-015B-8017-89E7-BD5E0E062DBC}"/>
              </a:ext>
            </a:extLst>
          </p:cNvPr>
          <p:cNvSpPr>
            <a:spLocks noGrp="1"/>
          </p:cNvSpPr>
          <p:nvPr>
            <p:ph type="sldNum" sz="quarter" idx="10"/>
          </p:nvPr>
        </p:nvSpPr>
        <p:spPr>
          <a:ln/>
        </p:spPr>
        <p:txBody>
          <a:bodyPr/>
          <a:lstStyle>
            <a:lvl1pPr>
              <a:defRPr/>
            </a:lvl1pPr>
          </a:lstStyle>
          <a:p>
            <a:fld id="{96F9B9C7-9D92-44E6-B863-4D64C043FCAC}" type="slidenum">
              <a:rPr lang="en-US" altLang="en-US"/>
              <a:pPr/>
              <a:t>‹#›</a:t>
            </a:fld>
            <a:endParaRPr lang="en-US" altLang="en-US"/>
          </a:p>
        </p:txBody>
      </p:sp>
      <p:sp>
        <p:nvSpPr>
          <p:cNvPr id="5" name="Footer Placeholder 4">
            <a:extLst>
              <a:ext uri="{FF2B5EF4-FFF2-40B4-BE49-F238E27FC236}">
                <a16:creationId xmlns:a16="http://schemas.microsoft.com/office/drawing/2014/main" id="{D5EBB582-73C4-5371-5205-FC1408876638}"/>
              </a:ext>
            </a:extLst>
          </p:cNvPr>
          <p:cNvSpPr>
            <a:spLocks noGrp="1"/>
          </p:cNvSpPr>
          <p:nvPr>
            <p:ph type="ftr" sz="quarter" idx="11"/>
          </p:nvPr>
        </p:nvSpPr>
        <p:spPr/>
        <p:txBody>
          <a:bodyPr/>
          <a:lstStyle>
            <a:lvl1pPr>
              <a:defRPr/>
            </a:lvl1pPr>
          </a:lstStyle>
          <a:p>
            <a:pPr>
              <a:defRPr/>
            </a:pPr>
            <a:endParaRPr lang="en-US"/>
          </a:p>
        </p:txBody>
      </p:sp>
      <p:sp>
        <p:nvSpPr>
          <p:cNvPr id="6" name="Date Placeholder 3">
            <a:extLst>
              <a:ext uri="{FF2B5EF4-FFF2-40B4-BE49-F238E27FC236}">
                <a16:creationId xmlns:a16="http://schemas.microsoft.com/office/drawing/2014/main" id="{CE910F7C-FBF1-2B69-C4E4-4D694E99F82E}"/>
              </a:ext>
            </a:extLst>
          </p:cNvPr>
          <p:cNvSpPr>
            <a:spLocks noGrp="1"/>
          </p:cNvSpPr>
          <p:nvPr>
            <p:ph type="dt" sz="half" idx="12"/>
          </p:nvPr>
        </p:nvSpPr>
        <p:spPr/>
        <p:txBody>
          <a:bodyPr/>
          <a:lstStyle>
            <a:lvl1pPr>
              <a:defRPr/>
            </a:lvl1pPr>
          </a:lstStyle>
          <a:p>
            <a:pPr>
              <a:defRPr/>
            </a:pPr>
            <a:fld id="{366D88AC-4A97-4D27-9996-EA63C02DC009}" type="datetime1">
              <a:rPr lang="en-US"/>
              <a:pPr>
                <a:defRPr/>
              </a:pPr>
              <a:t>6/13/2025</a:t>
            </a:fld>
            <a:endParaRPr lang="en-US"/>
          </a:p>
        </p:txBody>
      </p:sp>
    </p:spTree>
    <p:extLst>
      <p:ext uri="{BB962C8B-B14F-4D97-AF65-F5344CB8AC3E}">
        <p14:creationId xmlns:p14="http://schemas.microsoft.com/office/powerpoint/2010/main" val="343254575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05FD90BA-41AE-3251-691F-A7B740104B9D}"/>
              </a:ext>
            </a:extLst>
          </p:cNvPr>
          <p:cNvGrpSpPr>
            <a:grpSpLocks/>
          </p:cNvGrpSpPr>
          <p:nvPr/>
        </p:nvGrpSpPr>
        <p:grpSpPr bwMode="auto">
          <a:xfrm>
            <a:off x="0" y="0"/>
            <a:ext cx="9144000" cy="6858000"/>
            <a:chOff x="0" y="0"/>
            <a:chExt cx="5760" cy="4320"/>
          </a:xfrm>
        </p:grpSpPr>
        <p:sp>
          <p:nvSpPr>
            <p:cNvPr id="3" name="Rectangle 3">
              <a:extLst>
                <a:ext uri="{FF2B5EF4-FFF2-40B4-BE49-F238E27FC236}">
                  <a16:creationId xmlns:a16="http://schemas.microsoft.com/office/drawing/2014/main" id="{FF31F808-9EF4-AD05-FD8E-5BD7E7F9F0D1}"/>
                </a:ext>
              </a:extLst>
            </p:cNvPr>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en-US" sz="2400">
                <a:latin typeface="Times New Roman" panose="02020603050405020304" pitchFamily="18" charset="0"/>
              </a:endParaRPr>
            </a:p>
          </p:txBody>
        </p:sp>
        <p:sp>
          <p:nvSpPr>
            <p:cNvPr id="4" name="Rectangle 4">
              <a:extLst>
                <a:ext uri="{FF2B5EF4-FFF2-40B4-BE49-F238E27FC236}">
                  <a16:creationId xmlns:a16="http://schemas.microsoft.com/office/drawing/2014/main" id="{F1FE3A7B-E10F-A7EE-0F64-B52CC66750BA}"/>
                </a:ext>
              </a:extLst>
            </p:cNvPr>
            <p:cNvSpPr>
              <a:spLocks noChangeArrowheads="1"/>
            </p:cNvSpPr>
            <p:nvPr/>
          </p:nvSpPr>
          <p:spPr bwMode="hidden">
            <a:xfrm>
              <a:off x="1081" y="1065"/>
              <a:ext cx="4679" cy="1596"/>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sz="2400">
                <a:latin typeface="Times New Roman" panose="02020603050405020304" pitchFamily="18" charset="0"/>
              </a:endParaRPr>
            </a:p>
          </p:txBody>
        </p:sp>
        <p:grpSp>
          <p:nvGrpSpPr>
            <p:cNvPr id="5" name="Group 5">
              <a:extLst>
                <a:ext uri="{FF2B5EF4-FFF2-40B4-BE49-F238E27FC236}">
                  <a16:creationId xmlns:a16="http://schemas.microsoft.com/office/drawing/2014/main" id="{FC4E1C9D-8888-A192-8F50-4521DCAFB881}"/>
                </a:ext>
              </a:extLst>
            </p:cNvPr>
            <p:cNvGrpSpPr>
              <a:grpSpLocks/>
            </p:cNvGrpSpPr>
            <p:nvPr/>
          </p:nvGrpSpPr>
          <p:grpSpPr bwMode="auto">
            <a:xfrm>
              <a:off x="0" y="672"/>
              <a:ext cx="1806" cy="1989"/>
              <a:chOff x="0" y="672"/>
              <a:chExt cx="1806" cy="1989"/>
            </a:xfrm>
          </p:grpSpPr>
          <p:sp>
            <p:nvSpPr>
              <p:cNvPr id="6" name="Rectangle 6">
                <a:extLst>
                  <a:ext uri="{FF2B5EF4-FFF2-40B4-BE49-F238E27FC236}">
                    <a16:creationId xmlns:a16="http://schemas.microsoft.com/office/drawing/2014/main" id="{07BC9B6C-9381-0958-51F0-06DA99396A0F}"/>
                  </a:ext>
                </a:extLst>
              </p:cNvPr>
              <p:cNvSpPr>
                <a:spLocks noChangeArrowheads="1"/>
              </p:cNvSpPr>
              <p:nvPr userDrawn="1"/>
            </p:nvSpPr>
            <p:spPr bwMode="auto">
              <a:xfrm>
                <a:off x="361" y="2257"/>
                <a:ext cx="363" cy="404"/>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sz="2400">
                  <a:latin typeface="Times New Roman" panose="02020603050405020304" pitchFamily="18" charset="0"/>
                </a:endParaRPr>
              </a:p>
            </p:txBody>
          </p:sp>
          <p:sp>
            <p:nvSpPr>
              <p:cNvPr id="7" name="Rectangle 7">
                <a:extLst>
                  <a:ext uri="{FF2B5EF4-FFF2-40B4-BE49-F238E27FC236}">
                    <a16:creationId xmlns:a16="http://schemas.microsoft.com/office/drawing/2014/main" id="{1FE546BA-D346-CAF4-56D0-665E08393BE1}"/>
                  </a:ext>
                </a:extLst>
              </p:cNvPr>
              <p:cNvSpPr>
                <a:spLocks noChangeArrowheads="1"/>
              </p:cNvSpPr>
              <p:nvPr userDrawn="1"/>
            </p:nvSpPr>
            <p:spPr bwMode="auto">
              <a:xfrm>
                <a:off x="1081" y="1065"/>
                <a:ext cx="362" cy="405"/>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sz="2400">
                  <a:latin typeface="Times New Roman" panose="02020603050405020304" pitchFamily="18" charset="0"/>
                </a:endParaRPr>
              </a:p>
            </p:txBody>
          </p:sp>
          <p:sp>
            <p:nvSpPr>
              <p:cNvPr id="8" name="Rectangle 8">
                <a:extLst>
                  <a:ext uri="{FF2B5EF4-FFF2-40B4-BE49-F238E27FC236}">
                    <a16:creationId xmlns:a16="http://schemas.microsoft.com/office/drawing/2014/main" id="{9F615BD6-72BF-AC48-5D05-74ACECCB8B37}"/>
                  </a:ext>
                </a:extLst>
              </p:cNvPr>
              <p:cNvSpPr>
                <a:spLocks noChangeArrowheads="1"/>
              </p:cNvSpPr>
              <p:nvPr userDrawn="1"/>
            </p:nvSpPr>
            <p:spPr bwMode="auto">
              <a:xfrm>
                <a:off x="1437" y="672"/>
                <a:ext cx="369" cy="400"/>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sz="2400">
                  <a:latin typeface="Times New Roman" panose="02020603050405020304" pitchFamily="18" charset="0"/>
                </a:endParaRPr>
              </a:p>
            </p:txBody>
          </p:sp>
          <p:sp>
            <p:nvSpPr>
              <p:cNvPr id="9" name="Rectangle 9">
                <a:extLst>
                  <a:ext uri="{FF2B5EF4-FFF2-40B4-BE49-F238E27FC236}">
                    <a16:creationId xmlns:a16="http://schemas.microsoft.com/office/drawing/2014/main" id="{9663A3B8-D534-23ED-4805-F31558A06747}"/>
                  </a:ext>
                </a:extLst>
              </p:cNvPr>
              <p:cNvSpPr>
                <a:spLocks noChangeArrowheads="1"/>
              </p:cNvSpPr>
              <p:nvPr userDrawn="1"/>
            </p:nvSpPr>
            <p:spPr bwMode="auto">
              <a:xfrm>
                <a:off x="719" y="2257"/>
                <a:ext cx="368" cy="404"/>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sz="2400">
                  <a:latin typeface="Times New Roman" panose="02020603050405020304" pitchFamily="18" charset="0"/>
                </a:endParaRPr>
              </a:p>
            </p:txBody>
          </p:sp>
          <p:sp>
            <p:nvSpPr>
              <p:cNvPr id="10" name="Rectangle 10">
                <a:extLst>
                  <a:ext uri="{FF2B5EF4-FFF2-40B4-BE49-F238E27FC236}">
                    <a16:creationId xmlns:a16="http://schemas.microsoft.com/office/drawing/2014/main" id="{CD3ABEDB-348B-7DC2-7FD9-1C14658103EF}"/>
                  </a:ext>
                </a:extLst>
              </p:cNvPr>
              <p:cNvSpPr>
                <a:spLocks noChangeArrowheads="1"/>
              </p:cNvSpPr>
              <p:nvPr userDrawn="1"/>
            </p:nvSpPr>
            <p:spPr bwMode="auto">
              <a:xfrm>
                <a:off x="1437" y="1065"/>
                <a:ext cx="369" cy="405"/>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sz="2400">
                  <a:latin typeface="Times New Roman" panose="02020603050405020304" pitchFamily="18" charset="0"/>
                </a:endParaRPr>
              </a:p>
            </p:txBody>
          </p:sp>
          <p:sp>
            <p:nvSpPr>
              <p:cNvPr id="11" name="Rectangle 11">
                <a:extLst>
                  <a:ext uri="{FF2B5EF4-FFF2-40B4-BE49-F238E27FC236}">
                    <a16:creationId xmlns:a16="http://schemas.microsoft.com/office/drawing/2014/main" id="{900666E0-8A5D-9125-B493-D7C1E51E9688}"/>
                  </a:ext>
                </a:extLst>
              </p:cNvPr>
              <p:cNvSpPr>
                <a:spLocks noChangeArrowheads="1"/>
              </p:cNvSpPr>
              <p:nvPr userDrawn="1"/>
            </p:nvSpPr>
            <p:spPr bwMode="auto">
              <a:xfrm>
                <a:off x="719" y="1464"/>
                <a:ext cx="368" cy="3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sz="2400">
                  <a:latin typeface="Times New Roman" panose="02020603050405020304" pitchFamily="18" charset="0"/>
                </a:endParaRPr>
              </a:p>
            </p:txBody>
          </p:sp>
          <p:sp>
            <p:nvSpPr>
              <p:cNvPr id="12" name="Rectangle 12">
                <a:extLst>
                  <a:ext uri="{FF2B5EF4-FFF2-40B4-BE49-F238E27FC236}">
                    <a16:creationId xmlns:a16="http://schemas.microsoft.com/office/drawing/2014/main" id="{01BB7B72-CB15-A718-38EC-A3255C1BC413}"/>
                  </a:ext>
                </a:extLst>
              </p:cNvPr>
              <p:cNvSpPr>
                <a:spLocks noChangeArrowheads="1"/>
              </p:cNvSpPr>
              <p:nvPr userDrawn="1"/>
            </p:nvSpPr>
            <p:spPr bwMode="auto">
              <a:xfrm>
                <a:off x="0" y="1464"/>
                <a:ext cx="367" cy="399"/>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sz="2400">
                  <a:latin typeface="Times New Roman" panose="02020603050405020304" pitchFamily="18" charset="0"/>
                </a:endParaRPr>
              </a:p>
            </p:txBody>
          </p:sp>
          <p:sp>
            <p:nvSpPr>
              <p:cNvPr id="13" name="Rectangle 13">
                <a:extLst>
                  <a:ext uri="{FF2B5EF4-FFF2-40B4-BE49-F238E27FC236}">
                    <a16:creationId xmlns:a16="http://schemas.microsoft.com/office/drawing/2014/main" id="{74125F9E-286C-0EB8-D806-1F6B56EFBF1F}"/>
                  </a:ext>
                </a:extLst>
              </p:cNvPr>
              <p:cNvSpPr>
                <a:spLocks noChangeArrowheads="1"/>
              </p:cNvSpPr>
              <p:nvPr userDrawn="1"/>
            </p:nvSpPr>
            <p:spPr bwMode="auto">
              <a:xfrm>
                <a:off x="1081" y="1464"/>
                <a:ext cx="362" cy="39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sz="2400">
                  <a:latin typeface="Times New Roman" panose="02020603050405020304" pitchFamily="18" charset="0"/>
                </a:endParaRPr>
              </a:p>
            </p:txBody>
          </p:sp>
          <p:sp>
            <p:nvSpPr>
              <p:cNvPr id="14" name="Rectangle 14">
                <a:extLst>
                  <a:ext uri="{FF2B5EF4-FFF2-40B4-BE49-F238E27FC236}">
                    <a16:creationId xmlns:a16="http://schemas.microsoft.com/office/drawing/2014/main" id="{AC9C7419-BE49-7881-14C9-FBB2CA0CE246}"/>
                  </a:ext>
                </a:extLst>
              </p:cNvPr>
              <p:cNvSpPr>
                <a:spLocks noChangeArrowheads="1"/>
              </p:cNvSpPr>
              <p:nvPr userDrawn="1"/>
            </p:nvSpPr>
            <p:spPr bwMode="auto">
              <a:xfrm>
                <a:off x="361" y="1857"/>
                <a:ext cx="363" cy="406"/>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sz="2400">
                  <a:latin typeface="Times New Roman" panose="02020603050405020304" pitchFamily="18" charset="0"/>
                </a:endParaRPr>
              </a:p>
            </p:txBody>
          </p:sp>
          <p:sp>
            <p:nvSpPr>
              <p:cNvPr id="15" name="Rectangle 15">
                <a:extLst>
                  <a:ext uri="{FF2B5EF4-FFF2-40B4-BE49-F238E27FC236}">
                    <a16:creationId xmlns:a16="http://schemas.microsoft.com/office/drawing/2014/main" id="{306ACC40-D1D3-8603-C114-13935A607260}"/>
                  </a:ext>
                </a:extLst>
              </p:cNvPr>
              <p:cNvSpPr>
                <a:spLocks noChangeArrowheads="1"/>
              </p:cNvSpPr>
              <p:nvPr userDrawn="1"/>
            </p:nvSpPr>
            <p:spPr bwMode="auto">
              <a:xfrm>
                <a:off x="719" y="1857"/>
                <a:ext cx="368" cy="4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sz="2400">
                  <a:latin typeface="Times New Roman" panose="02020603050405020304" pitchFamily="18" charset="0"/>
                </a:endParaRPr>
              </a:p>
            </p:txBody>
          </p:sp>
        </p:grpSp>
      </p:grpSp>
      <p:sp>
        <p:nvSpPr>
          <p:cNvPr id="74771" name="Rectangle 19"/>
          <p:cNvSpPr>
            <a:spLocks noGrp="1" noChangeArrowheads="1"/>
          </p:cNvSpPr>
          <p:nvPr>
            <p:ph type="ctrTitle"/>
          </p:nvPr>
        </p:nvSpPr>
        <p:spPr>
          <a:xfrm>
            <a:off x="2971800" y="1828800"/>
            <a:ext cx="6019800" cy="2209800"/>
          </a:xfrm>
        </p:spPr>
        <p:txBody>
          <a:bodyPr/>
          <a:lstStyle>
            <a:lvl1pPr>
              <a:defRPr sz="5000">
                <a:solidFill>
                  <a:srgbClr val="FFFFFF"/>
                </a:solidFill>
              </a:defRPr>
            </a:lvl1pPr>
          </a:lstStyle>
          <a:p>
            <a:pPr lvl="0"/>
            <a:r>
              <a:rPr lang="en-US" altLang="en-US" noProof="0"/>
              <a:t>Click to edit Master title style</a:t>
            </a:r>
          </a:p>
        </p:txBody>
      </p:sp>
      <p:sp>
        <p:nvSpPr>
          <p:cNvPr id="74772" name="Rectangle 20"/>
          <p:cNvSpPr>
            <a:spLocks noGrp="1" noChangeArrowheads="1"/>
          </p:cNvSpPr>
          <p:nvPr>
            <p:ph type="subTitle" idx="1"/>
          </p:nvPr>
        </p:nvSpPr>
        <p:spPr>
          <a:xfrm>
            <a:off x="2971800" y="4267200"/>
            <a:ext cx="6019800" cy="1752600"/>
          </a:xfrm>
        </p:spPr>
        <p:txBody>
          <a:bodyPr/>
          <a:lstStyle>
            <a:lvl1pPr marL="0" indent="0">
              <a:buFont typeface="Wingdings" panose="05000000000000000000" pitchFamily="2" charset="2"/>
              <a:buNone/>
              <a:defRPr sz="3000"/>
            </a:lvl1pPr>
          </a:lstStyle>
          <a:p>
            <a:pPr lvl="0"/>
            <a:r>
              <a:rPr lang="en-US" altLang="en-US" noProof="0"/>
              <a:t>Click to edit Master subtitle style</a:t>
            </a:r>
          </a:p>
        </p:txBody>
      </p:sp>
      <p:sp>
        <p:nvSpPr>
          <p:cNvPr id="16" name="Rectangle 16">
            <a:extLst>
              <a:ext uri="{FF2B5EF4-FFF2-40B4-BE49-F238E27FC236}">
                <a16:creationId xmlns:a16="http://schemas.microsoft.com/office/drawing/2014/main" id="{B863C970-6C9A-AFAD-05A5-D616448AEED6}"/>
              </a:ext>
            </a:extLst>
          </p:cNvPr>
          <p:cNvSpPr>
            <a:spLocks noGrp="1" noChangeArrowheads="1"/>
          </p:cNvSpPr>
          <p:nvPr>
            <p:ph type="dt" sz="half" idx="10"/>
          </p:nvPr>
        </p:nvSpPr>
        <p:spPr>
          <a:xfrm>
            <a:off x="457200" y="6248400"/>
            <a:ext cx="2133600" cy="457200"/>
          </a:xfrm>
        </p:spPr>
        <p:txBody>
          <a:bodyPr/>
          <a:lstStyle>
            <a:lvl1pPr>
              <a:defRPr/>
            </a:lvl1pPr>
          </a:lstStyle>
          <a:p>
            <a:pPr>
              <a:defRPr/>
            </a:pPr>
            <a:fld id="{947DF31C-A0C1-4189-BB8F-49FAC4249877}" type="datetimeFigureOut">
              <a:rPr lang="en-US" altLang="en-US"/>
              <a:pPr>
                <a:defRPr/>
              </a:pPr>
              <a:t>6/13/2025</a:t>
            </a:fld>
            <a:endParaRPr lang="en-US" altLang="en-US"/>
          </a:p>
        </p:txBody>
      </p:sp>
      <p:sp>
        <p:nvSpPr>
          <p:cNvPr id="17" name="Rectangle 17">
            <a:extLst>
              <a:ext uri="{FF2B5EF4-FFF2-40B4-BE49-F238E27FC236}">
                <a16:creationId xmlns:a16="http://schemas.microsoft.com/office/drawing/2014/main" id="{CF10FE83-5CA1-C6C1-FC77-186C3701633E}"/>
              </a:ext>
            </a:extLst>
          </p:cNvPr>
          <p:cNvSpPr>
            <a:spLocks noGrp="1" noChangeArrowheads="1"/>
          </p:cNvSpPr>
          <p:nvPr>
            <p:ph type="ftr" sz="quarter" idx="11"/>
          </p:nvPr>
        </p:nvSpPr>
        <p:spPr/>
        <p:txBody>
          <a:bodyPr/>
          <a:lstStyle>
            <a:lvl1pPr>
              <a:defRPr/>
            </a:lvl1pPr>
          </a:lstStyle>
          <a:p>
            <a:pPr>
              <a:defRPr/>
            </a:pPr>
            <a:endParaRPr lang="en-US" altLang="en-US"/>
          </a:p>
        </p:txBody>
      </p:sp>
      <p:sp>
        <p:nvSpPr>
          <p:cNvPr id="18" name="Rectangle 18">
            <a:extLst>
              <a:ext uri="{FF2B5EF4-FFF2-40B4-BE49-F238E27FC236}">
                <a16:creationId xmlns:a16="http://schemas.microsoft.com/office/drawing/2014/main" id="{D505BFEF-5133-5F4D-68E3-63A74BBDA643}"/>
              </a:ext>
            </a:extLst>
          </p:cNvPr>
          <p:cNvSpPr>
            <a:spLocks noGrp="1" noChangeArrowheads="1"/>
          </p:cNvSpPr>
          <p:nvPr>
            <p:ph type="sldNum" sz="quarter" idx="12"/>
          </p:nvPr>
        </p:nvSpPr>
        <p:spPr/>
        <p:txBody>
          <a:bodyPr/>
          <a:lstStyle>
            <a:lvl1pPr>
              <a:defRPr/>
            </a:lvl1pPr>
          </a:lstStyle>
          <a:p>
            <a:fld id="{E00B5A85-1915-440F-9B19-A2D99BCE0C35}" type="slidenum">
              <a:rPr lang="en-US" altLang="en-US"/>
              <a:pPr/>
              <a:t>‹#›</a:t>
            </a:fld>
            <a:endParaRPr lang="en-US" altLang="en-US"/>
          </a:p>
        </p:txBody>
      </p:sp>
    </p:spTree>
    <p:extLst>
      <p:ext uri="{BB962C8B-B14F-4D97-AF65-F5344CB8AC3E}">
        <p14:creationId xmlns:p14="http://schemas.microsoft.com/office/powerpoint/2010/main" val="16290140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
            <a:extLst>
              <a:ext uri="{FF2B5EF4-FFF2-40B4-BE49-F238E27FC236}">
                <a16:creationId xmlns:a16="http://schemas.microsoft.com/office/drawing/2014/main" id="{0EDE7E9A-F857-8DFA-9469-9E03B4A181CB}"/>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5" name="Rectangle 3">
            <a:extLst>
              <a:ext uri="{FF2B5EF4-FFF2-40B4-BE49-F238E27FC236}">
                <a16:creationId xmlns:a16="http://schemas.microsoft.com/office/drawing/2014/main" id="{590F8D3E-41D4-36A0-DB59-A379FDD0524B}"/>
              </a:ext>
            </a:extLst>
          </p:cNvPr>
          <p:cNvSpPr>
            <a:spLocks noGrp="1" noChangeArrowheads="1"/>
          </p:cNvSpPr>
          <p:nvPr>
            <p:ph type="sldNum" sz="quarter" idx="11"/>
          </p:nvPr>
        </p:nvSpPr>
        <p:spPr>
          <a:ln/>
        </p:spPr>
        <p:txBody>
          <a:bodyPr/>
          <a:lstStyle>
            <a:lvl1pPr>
              <a:defRPr/>
            </a:lvl1pPr>
          </a:lstStyle>
          <a:p>
            <a:fld id="{199257DC-9D09-4DC2-B127-93CD7AFB6E7E}" type="slidenum">
              <a:rPr lang="en-US" altLang="en-US"/>
              <a:pPr/>
              <a:t>‹#›</a:t>
            </a:fld>
            <a:endParaRPr lang="en-US" altLang="en-US"/>
          </a:p>
        </p:txBody>
      </p:sp>
      <p:sp>
        <p:nvSpPr>
          <p:cNvPr id="6" name="Rectangle 16">
            <a:extLst>
              <a:ext uri="{FF2B5EF4-FFF2-40B4-BE49-F238E27FC236}">
                <a16:creationId xmlns:a16="http://schemas.microsoft.com/office/drawing/2014/main" id="{4C125697-A60F-3338-9493-B6A00B7AAC46}"/>
              </a:ext>
            </a:extLst>
          </p:cNvPr>
          <p:cNvSpPr>
            <a:spLocks noGrp="1" noChangeArrowheads="1"/>
          </p:cNvSpPr>
          <p:nvPr>
            <p:ph type="dt" sz="half" idx="12"/>
          </p:nvPr>
        </p:nvSpPr>
        <p:spPr>
          <a:ln/>
        </p:spPr>
        <p:txBody>
          <a:bodyPr/>
          <a:lstStyle>
            <a:lvl1pPr>
              <a:defRPr/>
            </a:lvl1pPr>
          </a:lstStyle>
          <a:p>
            <a:pPr>
              <a:defRPr/>
            </a:pPr>
            <a:fld id="{CB04A7D7-09E5-4634-ACB9-DF8309015839}" type="datetimeFigureOut">
              <a:rPr lang="en-US" altLang="en-US"/>
              <a:pPr>
                <a:defRPr/>
              </a:pPr>
              <a:t>6/13/2025</a:t>
            </a:fld>
            <a:endParaRPr lang="en-US" altLang="en-US"/>
          </a:p>
        </p:txBody>
      </p:sp>
    </p:spTree>
    <p:extLst>
      <p:ext uri="{BB962C8B-B14F-4D97-AF65-F5344CB8AC3E}">
        <p14:creationId xmlns:p14="http://schemas.microsoft.com/office/powerpoint/2010/main" val="403205959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Edit Master text styles</a:t>
            </a:r>
          </a:p>
        </p:txBody>
      </p:sp>
      <p:sp>
        <p:nvSpPr>
          <p:cNvPr id="4" name="Rectangle 2">
            <a:extLst>
              <a:ext uri="{FF2B5EF4-FFF2-40B4-BE49-F238E27FC236}">
                <a16:creationId xmlns:a16="http://schemas.microsoft.com/office/drawing/2014/main" id="{B92B3CB2-8795-839B-BB87-7F78528446E7}"/>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5" name="Rectangle 3">
            <a:extLst>
              <a:ext uri="{FF2B5EF4-FFF2-40B4-BE49-F238E27FC236}">
                <a16:creationId xmlns:a16="http://schemas.microsoft.com/office/drawing/2014/main" id="{4238C1F1-31F2-D0CE-3A94-E89E9DD90748}"/>
              </a:ext>
            </a:extLst>
          </p:cNvPr>
          <p:cNvSpPr>
            <a:spLocks noGrp="1" noChangeArrowheads="1"/>
          </p:cNvSpPr>
          <p:nvPr>
            <p:ph type="sldNum" sz="quarter" idx="11"/>
          </p:nvPr>
        </p:nvSpPr>
        <p:spPr>
          <a:ln/>
        </p:spPr>
        <p:txBody>
          <a:bodyPr/>
          <a:lstStyle>
            <a:lvl1pPr>
              <a:defRPr/>
            </a:lvl1pPr>
          </a:lstStyle>
          <a:p>
            <a:fld id="{17E5358A-BED4-4C99-A563-79F3BFAD7F42}" type="slidenum">
              <a:rPr lang="en-US" altLang="en-US"/>
              <a:pPr/>
              <a:t>‹#›</a:t>
            </a:fld>
            <a:endParaRPr lang="en-US" altLang="en-US"/>
          </a:p>
        </p:txBody>
      </p:sp>
      <p:sp>
        <p:nvSpPr>
          <p:cNvPr id="6" name="Rectangle 16">
            <a:extLst>
              <a:ext uri="{FF2B5EF4-FFF2-40B4-BE49-F238E27FC236}">
                <a16:creationId xmlns:a16="http://schemas.microsoft.com/office/drawing/2014/main" id="{7DC7C0FB-BE3A-8BF1-D9CA-79732F23635E}"/>
              </a:ext>
            </a:extLst>
          </p:cNvPr>
          <p:cNvSpPr>
            <a:spLocks noGrp="1" noChangeArrowheads="1"/>
          </p:cNvSpPr>
          <p:nvPr>
            <p:ph type="dt" sz="half" idx="12"/>
          </p:nvPr>
        </p:nvSpPr>
        <p:spPr>
          <a:ln/>
        </p:spPr>
        <p:txBody>
          <a:bodyPr/>
          <a:lstStyle>
            <a:lvl1pPr>
              <a:defRPr/>
            </a:lvl1pPr>
          </a:lstStyle>
          <a:p>
            <a:pPr>
              <a:defRPr/>
            </a:pPr>
            <a:fld id="{2778ED9F-B304-4DE7-A720-1FC29EA1DD77}" type="datetimeFigureOut">
              <a:rPr lang="en-US" altLang="en-US"/>
              <a:pPr>
                <a:defRPr/>
              </a:pPr>
              <a:t>6/13/2025</a:t>
            </a:fld>
            <a:endParaRPr lang="en-US" altLang="en-US"/>
          </a:p>
        </p:txBody>
      </p:sp>
    </p:spTree>
    <p:extLst>
      <p:ext uri="{BB962C8B-B14F-4D97-AF65-F5344CB8AC3E}">
        <p14:creationId xmlns:p14="http://schemas.microsoft.com/office/powerpoint/2010/main" val="355787641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981200"/>
            <a:ext cx="4038600" cy="3886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4038600" cy="3886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
            <a:extLst>
              <a:ext uri="{FF2B5EF4-FFF2-40B4-BE49-F238E27FC236}">
                <a16:creationId xmlns:a16="http://schemas.microsoft.com/office/drawing/2014/main" id="{D67E02FA-B4AE-267D-BD59-0EBF5B4012F5}"/>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6" name="Rectangle 3">
            <a:extLst>
              <a:ext uri="{FF2B5EF4-FFF2-40B4-BE49-F238E27FC236}">
                <a16:creationId xmlns:a16="http://schemas.microsoft.com/office/drawing/2014/main" id="{B3A1EEA5-4058-FB7B-2F54-6BE3224B0528}"/>
              </a:ext>
            </a:extLst>
          </p:cNvPr>
          <p:cNvSpPr>
            <a:spLocks noGrp="1" noChangeArrowheads="1"/>
          </p:cNvSpPr>
          <p:nvPr>
            <p:ph type="sldNum" sz="quarter" idx="11"/>
          </p:nvPr>
        </p:nvSpPr>
        <p:spPr>
          <a:ln/>
        </p:spPr>
        <p:txBody>
          <a:bodyPr/>
          <a:lstStyle>
            <a:lvl1pPr>
              <a:defRPr/>
            </a:lvl1pPr>
          </a:lstStyle>
          <a:p>
            <a:fld id="{3EFC43D8-DB1D-4878-8882-BA2039A16D92}" type="slidenum">
              <a:rPr lang="en-US" altLang="en-US"/>
              <a:pPr/>
              <a:t>‹#›</a:t>
            </a:fld>
            <a:endParaRPr lang="en-US" altLang="en-US"/>
          </a:p>
        </p:txBody>
      </p:sp>
      <p:sp>
        <p:nvSpPr>
          <p:cNvPr id="7" name="Rectangle 16">
            <a:extLst>
              <a:ext uri="{FF2B5EF4-FFF2-40B4-BE49-F238E27FC236}">
                <a16:creationId xmlns:a16="http://schemas.microsoft.com/office/drawing/2014/main" id="{1DC4C647-B734-2379-8D82-BDF2E7B35425}"/>
              </a:ext>
            </a:extLst>
          </p:cNvPr>
          <p:cNvSpPr>
            <a:spLocks noGrp="1" noChangeArrowheads="1"/>
          </p:cNvSpPr>
          <p:nvPr>
            <p:ph type="dt" sz="half" idx="12"/>
          </p:nvPr>
        </p:nvSpPr>
        <p:spPr>
          <a:ln/>
        </p:spPr>
        <p:txBody>
          <a:bodyPr/>
          <a:lstStyle>
            <a:lvl1pPr>
              <a:defRPr/>
            </a:lvl1pPr>
          </a:lstStyle>
          <a:p>
            <a:pPr>
              <a:defRPr/>
            </a:pPr>
            <a:fld id="{0A266CAA-E7AF-427B-BDB5-3B795460D748}" type="datetimeFigureOut">
              <a:rPr lang="en-US" altLang="en-US"/>
              <a:pPr>
                <a:defRPr/>
              </a:pPr>
              <a:t>6/13/2025</a:t>
            </a:fld>
            <a:endParaRPr lang="en-US" altLang="en-US"/>
          </a:p>
        </p:txBody>
      </p:sp>
    </p:spTree>
    <p:extLst>
      <p:ext uri="{BB962C8B-B14F-4D97-AF65-F5344CB8AC3E}">
        <p14:creationId xmlns:p14="http://schemas.microsoft.com/office/powerpoint/2010/main" val="68405910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
            <a:extLst>
              <a:ext uri="{FF2B5EF4-FFF2-40B4-BE49-F238E27FC236}">
                <a16:creationId xmlns:a16="http://schemas.microsoft.com/office/drawing/2014/main" id="{7522B025-3E30-BAC3-49CA-90E381497996}"/>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8" name="Rectangle 3">
            <a:extLst>
              <a:ext uri="{FF2B5EF4-FFF2-40B4-BE49-F238E27FC236}">
                <a16:creationId xmlns:a16="http://schemas.microsoft.com/office/drawing/2014/main" id="{213BD002-57AE-C9D8-64E1-CE95B521531F}"/>
              </a:ext>
            </a:extLst>
          </p:cNvPr>
          <p:cNvSpPr>
            <a:spLocks noGrp="1" noChangeArrowheads="1"/>
          </p:cNvSpPr>
          <p:nvPr>
            <p:ph type="sldNum" sz="quarter" idx="11"/>
          </p:nvPr>
        </p:nvSpPr>
        <p:spPr>
          <a:ln/>
        </p:spPr>
        <p:txBody>
          <a:bodyPr/>
          <a:lstStyle>
            <a:lvl1pPr>
              <a:defRPr/>
            </a:lvl1pPr>
          </a:lstStyle>
          <a:p>
            <a:fld id="{CDD79FB8-D086-46CF-B8FA-7589BCD7E409}" type="slidenum">
              <a:rPr lang="en-US" altLang="en-US"/>
              <a:pPr/>
              <a:t>‹#›</a:t>
            </a:fld>
            <a:endParaRPr lang="en-US" altLang="en-US"/>
          </a:p>
        </p:txBody>
      </p:sp>
      <p:sp>
        <p:nvSpPr>
          <p:cNvPr id="9" name="Rectangle 16">
            <a:extLst>
              <a:ext uri="{FF2B5EF4-FFF2-40B4-BE49-F238E27FC236}">
                <a16:creationId xmlns:a16="http://schemas.microsoft.com/office/drawing/2014/main" id="{B616BFFA-9BEF-6B51-CEFC-82002A89DB85}"/>
              </a:ext>
            </a:extLst>
          </p:cNvPr>
          <p:cNvSpPr>
            <a:spLocks noGrp="1" noChangeArrowheads="1"/>
          </p:cNvSpPr>
          <p:nvPr>
            <p:ph type="dt" sz="half" idx="12"/>
          </p:nvPr>
        </p:nvSpPr>
        <p:spPr>
          <a:ln/>
        </p:spPr>
        <p:txBody>
          <a:bodyPr/>
          <a:lstStyle>
            <a:lvl1pPr>
              <a:defRPr/>
            </a:lvl1pPr>
          </a:lstStyle>
          <a:p>
            <a:pPr>
              <a:defRPr/>
            </a:pPr>
            <a:fld id="{32D0C9FF-462A-4D1A-AD11-D57FCEA91D91}" type="datetimeFigureOut">
              <a:rPr lang="en-US" altLang="en-US"/>
              <a:pPr>
                <a:defRPr/>
              </a:pPr>
              <a:t>6/13/2025</a:t>
            </a:fld>
            <a:endParaRPr lang="en-US" altLang="en-US"/>
          </a:p>
        </p:txBody>
      </p:sp>
    </p:spTree>
    <p:extLst>
      <p:ext uri="{BB962C8B-B14F-4D97-AF65-F5344CB8AC3E}">
        <p14:creationId xmlns:p14="http://schemas.microsoft.com/office/powerpoint/2010/main" val="10479382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2">
            <a:extLst>
              <a:ext uri="{FF2B5EF4-FFF2-40B4-BE49-F238E27FC236}">
                <a16:creationId xmlns:a16="http://schemas.microsoft.com/office/drawing/2014/main" id="{1C6C59F9-FF1E-740F-B504-F95770D6C0F5}"/>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4" name="Rectangle 3">
            <a:extLst>
              <a:ext uri="{FF2B5EF4-FFF2-40B4-BE49-F238E27FC236}">
                <a16:creationId xmlns:a16="http://schemas.microsoft.com/office/drawing/2014/main" id="{4F4EB53E-2DB8-52EB-3B9D-2E4D2E3DB670}"/>
              </a:ext>
            </a:extLst>
          </p:cNvPr>
          <p:cNvSpPr>
            <a:spLocks noGrp="1" noChangeArrowheads="1"/>
          </p:cNvSpPr>
          <p:nvPr>
            <p:ph type="sldNum" sz="quarter" idx="11"/>
          </p:nvPr>
        </p:nvSpPr>
        <p:spPr>
          <a:ln/>
        </p:spPr>
        <p:txBody>
          <a:bodyPr/>
          <a:lstStyle>
            <a:lvl1pPr>
              <a:defRPr/>
            </a:lvl1pPr>
          </a:lstStyle>
          <a:p>
            <a:fld id="{67D601C5-F1F9-4F48-8A57-5684FA8B8307}" type="slidenum">
              <a:rPr lang="en-US" altLang="en-US"/>
              <a:pPr/>
              <a:t>‹#›</a:t>
            </a:fld>
            <a:endParaRPr lang="en-US" altLang="en-US"/>
          </a:p>
        </p:txBody>
      </p:sp>
      <p:sp>
        <p:nvSpPr>
          <p:cNvPr id="5" name="Rectangle 16">
            <a:extLst>
              <a:ext uri="{FF2B5EF4-FFF2-40B4-BE49-F238E27FC236}">
                <a16:creationId xmlns:a16="http://schemas.microsoft.com/office/drawing/2014/main" id="{796FF96F-96CC-E4BB-3644-B66651D183B3}"/>
              </a:ext>
            </a:extLst>
          </p:cNvPr>
          <p:cNvSpPr>
            <a:spLocks noGrp="1" noChangeArrowheads="1"/>
          </p:cNvSpPr>
          <p:nvPr>
            <p:ph type="dt" sz="half" idx="12"/>
          </p:nvPr>
        </p:nvSpPr>
        <p:spPr>
          <a:ln/>
        </p:spPr>
        <p:txBody>
          <a:bodyPr/>
          <a:lstStyle>
            <a:lvl1pPr>
              <a:defRPr/>
            </a:lvl1pPr>
          </a:lstStyle>
          <a:p>
            <a:pPr>
              <a:defRPr/>
            </a:pPr>
            <a:fld id="{0A78C9B0-38AC-4100-8381-F3F83523B343}" type="datetimeFigureOut">
              <a:rPr lang="en-US" altLang="en-US"/>
              <a:pPr>
                <a:defRPr/>
              </a:pPr>
              <a:t>6/13/2025</a:t>
            </a:fld>
            <a:endParaRPr lang="en-US" altLang="en-US"/>
          </a:p>
        </p:txBody>
      </p:sp>
    </p:spTree>
    <p:extLst>
      <p:ext uri="{BB962C8B-B14F-4D97-AF65-F5344CB8AC3E}">
        <p14:creationId xmlns:p14="http://schemas.microsoft.com/office/powerpoint/2010/main" val="261987164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761771B4-439A-D99E-F268-1337EAFE712D}"/>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3" name="Rectangle 3">
            <a:extLst>
              <a:ext uri="{FF2B5EF4-FFF2-40B4-BE49-F238E27FC236}">
                <a16:creationId xmlns:a16="http://schemas.microsoft.com/office/drawing/2014/main" id="{01C17B54-5948-2FA4-C9C2-2AE1BC0F24E4}"/>
              </a:ext>
            </a:extLst>
          </p:cNvPr>
          <p:cNvSpPr>
            <a:spLocks noGrp="1" noChangeArrowheads="1"/>
          </p:cNvSpPr>
          <p:nvPr>
            <p:ph type="sldNum" sz="quarter" idx="11"/>
          </p:nvPr>
        </p:nvSpPr>
        <p:spPr>
          <a:ln/>
        </p:spPr>
        <p:txBody>
          <a:bodyPr/>
          <a:lstStyle>
            <a:lvl1pPr>
              <a:defRPr/>
            </a:lvl1pPr>
          </a:lstStyle>
          <a:p>
            <a:fld id="{EEB661DF-B5DF-4146-B005-CE5EA548EAA1}" type="slidenum">
              <a:rPr lang="en-US" altLang="en-US"/>
              <a:pPr/>
              <a:t>‹#›</a:t>
            </a:fld>
            <a:endParaRPr lang="en-US" altLang="en-US"/>
          </a:p>
        </p:txBody>
      </p:sp>
      <p:sp>
        <p:nvSpPr>
          <p:cNvPr id="4" name="Rectangle 16">
            <a:extLst>
              <a:ext uri="{FF2B5EF4-FFF2-40B4-BE49-F238E27FC236}">
                <a16:creationId xmlns:a16="http://schemas.microsoft.com/office/drawing/2014/main" id="{9713A68F-1BFC-71A8-E103-6322C3D6F370}"/>
              </a:ext>
            </a:extLst>
          </p:cNvPr>
          <p:cNvSpPr>
            <a:spLocks noGrp="1" noChangeArrowheads="1"/>
          </p:cNvSpPr>
          <p:nvPr>
            <p:ph type="dt" sz="half" idx="12"/>
          </p:nvPr>
        </p:nvSpPr>
        <p:spPr>
          <a:ln/>
        </p:spPr>
        <p:txBody>
          <a:bodyPr/>
          <a:lstStyle>
            <a:lvl1pPr>
              <a:defRPr/>
            </a:lvl1pPr>
          </a:lstStyle>
          <a:p>
            <a:pPr>
              <a:defRPr/>
            </a:pPr>
            <a:fld id="{42133ED0-D69D-4077-BE8C-073A64040911}" type="datetimeFigureOut">
              <a:rPr lang="en-US" altLang="en-US"/>
              <a:pPr>
                <a:defRPr/>
              </a:pPr>
              <a:t>6/13/2025</a:t>
            </a:fld>
            <a:endParaRPr lang="en-US" altLang="en-US"/>
          </a:p>
        </p:txBody>
      </p:sp>
    </p:spTree>
    <p:extLst>
      <p:ext uri="{BB962C8B-B14F-4D97-AF65-F5344CB8AC3E}">
        <p14:creationId xmlns:p14="http://schemas.microsoft.com/office/powerpoint/2010/main" val="313766659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Rectangle 2">
            <a:extLst>
              <a:ext uri="{FF2B5EF4-FFF2-40B4-BE49-F238E27FC236}">
                <a16:creationId xmlns:a16="http://schemas.microsoft.com/office/drawing/2014/main" id="{FC86BAB4-037C-D9B7-C51A-BCF779605B65}"/>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6" name="Rectangle 3">
            <a:extLst>
              <a:ext uri="{FF2B5EF4-FFF2-40B4-BE49-F238E27FC236}">
                <a16:creationId xmlns:a16="http://schemas.microsoft.com/office/drawing/2014/main" id="{15780CD6-17B8-92CF-730B-83C2ECCA6471}"/>
              </a:ext>
            </a:extLst>
          </p:cNvPr>
          <p:cNvSpPr>
            <a:spLocks noGrp="1" noChangeArrowheads="1"/>
          </p:cNvSpPr>
          <p:nvPr>
            <p:ph type="sldNum" sz="quarter" idx="11"/>
          </p:nvPr>
        </p:nvSpPr>
        <p:spPr>
          <a:ln/>
        </p:spPr>
        <p:txBody>
          <a:bodyPr/>
          <a:lstStyle>
            <a:lvl1pPr>
              <a:defRPr/>
            </a:lvl1pPr>
          </a:lstStyle>
          <a:p>
            <a:fld id="{D3A6EDD8-9758-4269-8CCE-3EE534186A6F}" type="slidenum">
              <a:rPr lang="en-US" altLang="en-US"/>
              <a:pPr/>
              <a:t>‹#›</a:t>
            </a:fld>
            <a:endParaRPr lang="en-US" altLang="en-US"/>
          </a:p>
        </p:txBody>
      </p:sp>
      <p:sp>
        <p:nvSpPr>
          <p:cNvPr id="7" name="Rectangle 16">
            <a:extLst>
              <a:ext uri="{FF2B5EF4-FFF2-40B4-BE49-F238E27FC236}">
                <a16:creationId xmlns:a16="http://schemas.microsoft.com/office/drawing/2014/main" id="{9922C54B-A690-867C-2A1A-63649204FBE9}"/>
              </a:ext>
            </a:extLst>
          </p:cNvPr>
          <p:cNvSpPr>
            <a:spLocks noGrp="1" noChangeArrowheads="1"/>
          </p:cNvSpPr>
          <p:nvPr>
            <p:ph type="dt" sz="half" idx="12"/>
          </p:nvPr>
        </p:nvSpPr>
        <p:spPr>
          <a:ln/>
        </p:spPr>
        <p:txBody>
          <a:bodyPr/>
          <a:lstStyle>
            <a:lvl1pPr>
              <a:defRPr/>
            </a:lvl1pPr>
          </a:lstStyle>
          <a:p>
            <a:pPr>
              <a:defRPr/>
            </a:pPr>
            <a:fld id="{2EA809AE-9041-4769-B838-D2A961269AB6}" type="datetimeFigureOut">
              <a:rPr lang="en-US" altLang="en-US"/>
              <a:pPr>
                <a:defRPr/>
              </a:pPr>
              <a:t>6/13/2025</a:t>
            </a:fld>
            <a:endParaRPr lang="en-US" altLang="en-US"/>
          </a:p>
        </p:txBody>
      </p:sp>
    </p:spTree>
    <p:extLst>
      <p:ext uri="{BB962C8B-B14F-4D97-AF65-F5344CB8AC3E}">
        <p14:creationId xmlns:p14="http://schemas.microsoft.com/office/powerpoint/2010/main" val="31118661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Rectangle 2">
            <a:extLst>
              <a:ext uri="{FF2B5EF4-FFF2-40B4-BE49-F238E27FC236}">
                <a16:creationId xmlns:a16="http://schemas.microsoft.com/office/drawing/2014/main" id="{33D3CE0C-41B0-B31B-BF26-D315CA2BC392}"/>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6" name="Rectangle 3">
            <a:extLst>
              <a:ext uri="{FF2B5EF4-FFF2-40B4-BE49-F238E27FC236}">
                <a16:creationId xmlns:a16="http://schemas.microsoft.com/office/drawing/2014/main" id="{D6715911-476C-6307-8003-6D07CB106F6B}"/>
              </a:ext>
            </a:extLst>
          </p:cNvPr>
          <p:cNvSpPr>
            <a:spLocks noGrp="1" noChangeArrowheads="1"/>
          </p:cNvSpPr>
          <p:nvPr>
            <p:ph type="sldNum" sz="quarter" idx="11"/>
          </p:nvPr>
        </p:nvSpPr>
        <p:spPr>
          <a:ln/>
        </p:spPr>
        <p:txBody>
          <a:bodyPr/>
          <a:lstStyle>
            <a:lvl1pPr>
              <a:defRPr/>
            </a:lvl1pPr>
          </a:lstStyle>
          <a:p>
            <a:fld id="{0B53C7D4-32F3-405A-8E64-E78C32E8CD10}" type="slidenum">
              <a:rPr lang="en-US" altLang="en-US"/>
              <a:pPr/>
              <a:t>‹#›</a:t>
            </a:fld>
            <a:endParaRPr lang="en-US" altLang="en-US"/>
          </a:p>
        </p:txBody>
      </p:sp>
      <p:sp>
        <p:nvSpPr>
          <p:cNvPr id="7" name="Rectangle 16">
            <a:extLst>
              <a:ext uri="{FF2B5EF4-FFF2-40B4-BE49-F238E27FC236}">
                <a16:creationId xmlns:a16="http://schemas.microsoft.com/office/drawing/2014/main" id="{A38F5F37-771D-8151-519B-33B2F4C8C519}"/>
              </a:ext>
            </a:extLst>
          </p:cNvPr>
          <p:cNvSpPr>
            <a:spLocks noGrp="1" noChangeArrowheads="1"/>
          </p:cNvSpPr>
          <p:nvPr>
            <p:ph type="dt" sz="half" idx="12"/>
          </p:nvPr>
        </p:nvSpPr>
        <p:spPr>
          <a:ln/>
        </p:spPr>
        <p:txBody>
          <a:bodyPr/>
          <a:lstStyle>
            <a:lvl1pPr>
              <a:defRPr/>
            </a:lvl1pPr>
          </a:lstStyle>
          <a:p>
            <a:pPr>
              <a:defRPr/>
            </a:pPr>
            <a:fld id="{CE031DC1-6A5B-4D4B-90F3-22C3D97B8C0C}" type="datetimeFigureOut">
              <a:rPr lang="en-US" altLang="en-US"/>
              <a:pPr>
                <a:defRPr/>
              </a:pPr>
              <a:t>6/13/2025</a:t>
            </a:fld>
            <a:endParaRPr lang="en-US" altLang="en-US"/>
          </a:p>
        </p:txBody>
      </p:sp>
    </p:spTree>
    <p:extLst>
      <p:ext uri="{BB962C8B-B14F-4D97-AF65-F5344CB8AC3E}">
        <p14:creationId xmlns:p14="http://schemas.microsoft.com/office/powerpoint/2010/main" val="265538653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
            <a:extLst>
              <a:ext uri="{FF2B5EF4-FFF2-40B4-BE49-F238E27FC236}">
                <a16:creationId xmlns:a16="http://schemas.microsoft.com/office/drawing/2014/main" id="{11731B24-AC93-407F-8E31-60596CB58DFB}"/>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5" name="Rectangle 3">
            <a:extLst>
              <a:ext uri="{FF2B5EF4-FFF2-40B4-BE49-F238E27FC236}">
                <a16:creationId xmlns:a16="http://schemas.microsoft.com/office/drawing/2014/main" id="{26EA99DF-1C3A-9C5C-A08F-BD5B9C879F6B}"/>
              </a:ext>
            </a:extLst>
          </p:cNvPr>
          <p:cNvSpPr>
            <a:spLocks noGrp="1" noChangeArrowheads="1"/>
          </p:cNvSpPr>
          <p:nvPr>
            <p:ph type="sldNum" sz="quarter" idx="11"/>
          </p:nvPr>
        </p:nvSpPr>
        <p:spPr>
          <a:ln/>
        </p:spPr>
        <p:txBody>
          <a:bodyPr/>
          <a:lstStyle>
            <a:lvl1pPr>
              <a:defRPr/>
            </a:lvl1pPr>
          </a:lstStyle>
          <a:p>
            <a:fld id="{F5C340D7-4A95-4A56-9152-C5EDA185FF96}" type="slidenum">
              <a:rPr lang="en-US" altLang="en-US"/>
              <a:pPr/>
              <a:t>‹#›</a:t>
            </a:fld>
            <a:endParaRPr lang="en-US" altLang="en-US"/>
          </a:p>
        </p:txBody>
      </p:sp>
      <p:sp>
        <p:nvSpPr>
          <p:cNvPr id="6" name="Rectangle 16">
            <a:extLst>
              <a:ext uri="{FF2B5EF4-FFF2-40B4-BE49-F238E27FC236}">
                <a16:creationId xmlns:a16="http://schemas.microsoft.com/office/drawing/2014/main" id="{17B1065D-CE10-B33E-6FFE-8744EC3810B7}"/>
              </a:ext>
            </a:extLst>
          </p:cNvPr>
          <p:cNvSpPr>
            <a:spLocks noGrp="1" noChangeArrowheads="1"/>
          </p:cNvSpPr>
          <p:nvPr>
            <p:ph type="dt" sz="half" idx="12"/>
          </p:nvPr>
        </p:nvSpPr>
        <p:spPr>
          <a:ln/>
        </p:spPr>
        <p:txBody>
          <a:bodyPr/>
          <a:lstStyle>
            <a:lvl1pPr>
              <a:defRPr/>
            </a:lvl1pPr>
          </a:lstStyle>
          <a:p>
            <a:pPr>
              <a:defRPr/>
            </a:pPr>
            <a:fld id="{1E27530C-8A6B-43BF-A410-366A6A48540E}" type="datetimeFigureOut">
              <a:rPr lang="en-US" altLang="en-US"/>
              <a:pPr>
                <a:defRPr/>
              </a:pPr>
              <a:t>6/13/2025</a:t>
            </a:fld>
            <a:endParaRPr lang="en-US" altLang="en-US"/>
          </a:p>
        </p:txBody>
      </p:sp>
    </p:spTree>
    <p:extLst>
      <p:ext uri="{BB962C8B-B14F-4D97-AF65-F5344CB8AC3E}">
        <p14:creationId xmlns:p14="http://schemas.microsoft.com/office/powerpoint/2010/main" val="303407826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457200"/>
            <a:ext cx="2057400" cy="5410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457200"/>
            <a:ext cx="6019800" cy="54102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
            <a:extLst>
              <a:ext uri="{FF2B5EF4-FFF2-40B4-BE49-F238E27FC236}">
                <a16:creationId xmlns:a16="http://schemas.microsoft.com/office/drawing/2014/main" id="{2123CC41-843A-DD85-B13B-76226BE1584E}"/>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5" name="Rectangle 3">
            <a:extLst>
              <a:ext uri="{FF2B5EF4-FFF2-40B4-BE49-F238E27FC236}">
                <a16:creationId xmlns:a16="http://schemas.microsoft.com/office/drawing/2014/main" id="{906AE864-BEC5-9BE7-E685-7A824718A42B}"/>
              </a:ext>
            </a:extLst>
          </p:cNvPr>
          <p:cNvSpPr>
            <a:spLocks noGrp="1" noChangeArrowheads="1"/>
          </p:cNvSpPr>
          <p:nvPr>
            <p:ph type="sldNum" sz="quarter" idx="11"/>
          </p:nvPr>
        </p:nvSpPr>
        <p:spPr>
          <a:ln/>
        </p:spPr>
        <p:txBody>
          <a:bodyPr/>
          <a:lstStyle>
            <a:lvl1pPr>
              <a:defRPr/>
            </a:lvl1pPr>
          </a:lstStyle>
          <a:p>
            <a:fld id="{C13E5496-2547-4653-BC9A-CFC53CF7C840}" type="slidenum">
              <a:rPr lang="en-US" altLang="en-US"/>
              <a:pPr/>
              <a:t>‹#›</a:t>
            </a:fld>
            <a:endParaRPr lang="en-US" altLang="en-US"/>
          </a:p>
        </p:txBody>
      </p:sp>
      <p:sp>
        <p:nvSpPr>
          <p:cNvPr id="6" name="Rectangle 16">
            <a:extLst>
              <a:ext uri="{FF2B5EF4-FFF2-40B4-BE49-F238E27FC236}">
                <a16:creationId xmlns:a16="http://schemas.microsoft.com/office/drawing/2014/main" id="{4BAF6BE9-D230-C2D0-EBBC-117208F765D1}"/>
              </a:ext>
            </a:extLst>
          </p:cNvPr>
          <p:cNvSpPr>
            <a:spLocks noGrp="1" noChangeArrowheads="1"/>
          </p:cNvSpPr>
          <p:nvPr>
            <p:ph type="dt" sz="half" idx="12"/>
          </p:nvPr>
        </p:nvSpPr>
        <p:spPr>
          <a:ln/>
        </p:spPr>
        <p:txBody>
          <a:bodyPr/>
          <a:lstStyle>
            <a:lvl1pPr>
              <a:defRPr/>
            </a:lvl1pPr>
          </a:lstStyle>
          <a:p>
            <a:pPr>
              <a:defRPr/>
            </a:pPr>
            <a:fld id="{828A0D4D-CDF3-4BD8-BBC3-ADE1B6ECFA68}" type="datetimeFigureOut">
              <a:rPr lang="en-US" altLang="en-US"/>
              <a:pPr>
                <a:defRPr/>
              </a:pPr>
              <a:t>6/13/2025</a:t>
            </a:fld>
            <a:endParaRPr lang="en-US" altLang="en-US"/>
          </a:p>
        </p:txBody>
      </p:sp>
    </p:spTree>
    <p:extLst>
      <p:ext uri="{BB962C8B-B14F-4D97-AF65-F5344CB8AC3E}">
        <p14:creationId xmlns:p14="http://schemas.microsoft.com/office/powerpoint/2010/main" val="222757990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1371600"/>
          </a:xfrm>
        </p:spPr>
        <p:txBody>
          <a:bodyPr/>
          <a:lstStyle/>
          <a:p>
            <a:r>
              <a:rPr lang="en-US"/>
              <a:t>Click to edit Master title style</a:t>
            </a:r>
          </a:p>
        </p:txBody>
      </p:sp>
      <p:sp>
        <p:nvSpPr>
          <p:cNvPr id="3" name="Table Placeholder 2"/>
          <p:cNvSpPr>
            <a:spLocks noGrp="1"/>
          </p:cNvSpPr>
          <p:nvPr>
            <p:ph type="tbl" idx="1"/>
          </p:nvPr>
        </p:nvSpPr>
        <p:spPr>
          <a:xfrm>
            <a:off x="457200" y="1981200"/>
            <a:ext cx="8229600" cy="3886200"/>
          </a:xfrm>
        </p:spPr>
        <p:txBody>
          <a:bodyPr/>
          <a:lstStyle/>
          <a:p>
            <a:pPr lvl="0"/>
            <a:endParaRPr lang="en-US" noProof="0"/>
          </a:p>
        </p:txBody>
      </p:sp>
      <p:sp>
        <p:nvSpPr>
          <p:cNvPr id="4" name="Rectangle 2">
            <a:extLst>
              <a:ext uri="{FF2B5EF4-FFF2-40B4-BE49-F238E27FC236}">
                <a16:creationId xmlns:a16="http://schemas.microsoft.com/office/drawing/2014/main" id="{70EFD4DF-6D46-1A98-C4E7-8EF095BE773F}"/>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5" name="Rectangle 3">
            <a:extLst>
              <a:ext uri="{FF2B5EF4-FFF2-40B4-BE49-F238E27FC236}">
                <a16:creationId xmlns:a16="http://schemas.microsoft.com/office/drawing/2014/main" id="{B677CDEC-A792-0D13-3803-2A5AC1A200EB}"/>
              </a:ext>
            </a:extLst>
          </p:cNvPr>
          <p:cNvSpPr>
            <a:spLocks noGrp="1" noChangeArrowheads="1"/>
          </p:cNvSpPr>
          <p:nvPr>
            <p:ph type="sldNum" sz="quarter" idx="11"/>
          </p:nvPr>
        </p:nvSpPr>
        <p:spPr>
          <a:ln/>
        </p:spPr>
        <p:txBody>
          <a:bodyPr/>
          <a:lstStyle>
            <a:lvl1pPr>
              <a:defRPr/>
            </a:lvl1pPr>
          </a:lstStyle>
          <a:p>
            <a:fld id="{50C9B816-2B00-4097-8940-98D80D01B826}" type="slidenum">
              <a:rPr lang="en-US" altLang="en-US"/>
              <a:pPr/>
              <a:t>‹#›</a:t>
            </a:fld>
            <a:endParaRPr lang="en-US" altLang="en-US"/>
          </a:p>
        </p:txBody>
      </p:sp>
      <p:sp>
        <p:nvSpPr>
          <p:cNvPr id="6" name="Rectangle 16">
            <a:extLst>
              <a:ext uri="{FF2B5EF4-FFF2-40B4-BE49-F238E27FC236}">
                <a16:creationId xmlns:a16="http://schemas.microsoft.com/office/drawing/2014/main" id="{5EC899EE-9C57-DE08-F1F1-69524BF16FC7}"/>
              </a:ext>
            </a:extLst>
          </p:cNvPr>
          <p:cNvSpPr>
            <a:spLocks noGrp="1" noChangeArrowheads="1"/>
          </p:cNvSpPr>
          <p:nvPr>
            <p:ph type="dt" sz="half" idx="12"/>
          </p:nvPr>
        </p:nvSpPr>
        <p:spPr>
          <a:ln/>
        </p:spPr>
        <p:txBody>
          <a:bodyPr/>
          <a:lstStyle>
            <a:lvl1pPr>
              <a:defRPr/>
            </a:lvl1pPr>
          </a:lstStyle>
          <a:p>
            <a:pPr>
              <a:defRPr/>
            </a:pPr>
            <a:fld id="{8A8213B3-507F-41C3-8F4B-8ABBA967F99E}" type="datetimeFigureOut">
              <a:rPr lang="en-US" altLang="en-US"/>
              <a:pPr>
                <a:defRPr/>
              </a:pPr>
              <a:t>6/13/2025</a:t>
            </a:fld>
            <a:endParaRPr lang="en-US" altLang="en-US"/>
          </a:p>
        </p:txBody>
      </p:sp>
    </p:spTree>
    <p:extLst>
      <p:ext uri="{BB962C8B-B14F-4D97-AF65-F5344CB8AC3E}">
        <p14:creationId xmlns:p14="http://schemas.microsoft.com/office/powerpoint/2010/main" val="38609932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2.jpe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2.jpe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2.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theme" Target="../theme/theme3.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slideLayout" Target="../slideLayouts/slideLayout45.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24"/>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618632F-F1EC-8D8A-EFD8-1DEE5E73D6F8}"/>
              </a:ext>
            </a:extLst>
          </p:cNvPr>
          <p:cNvSpPr>
            <a:spLocks noGrp="1"/>
          </p:cNvSpPr>
          <p:nvPr>
            <p:ph type="title"/>
          </p:nvPr>
        </p:nvSpPr>
        <p:spPr>
          <a:xfrm>
            <a:off x="457200" y="274638"/>
            <a:ext cx="7620000" cy="1143000"/>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1027" name="Text Placeholder 2">
            <a:extLst>
              <a:ext uri="{FF2B5EF4-FFF2-40B4-BE49-F238E27FC236}">
                <a16:creationId xmlns:a16="http://schemas.microsoft.com/office/drawing/2014/main" id="{5A116658-9C64-01E9-EEDA-DE604980F89D}"/>
              </a:ext>
            </a:extLst>
          </p:cNvPr>
          <p:cNvSpPr>
            <a:spLocks noGrp="1"/>
          </p:cNvSpPr>
          <p:nvPr>
            <p:ph type="body" idx="1"/>
          </p:nvPr>
        </p:nvSpPr>
        <p:spPr bwMode="auto">
          <a:xfrm>
            <a:off x="457200" y="1600200"/>
            <a:ext cx="76200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7" name="Rectangle 6">
            <a:extLst>
              <a:ext uri="{FF2B5EF4-FFF2-40B4-BE49-F238E27FC236}">
                <a16:creationId xmlns:a16="http://schemas.microsoft.com/office/drawing/2014/main" id="{F9F93A5C-016C-1A59-21F6-0B7E995C183B}"/>
              </a:ext>
            </a:extLst>
          </p:cNvPr>
          <p:cNvSpPr/>
          <p:nvPr/>
        </p:nvSpPr>
        <p:spPr>
          <a:xfrm>
            <a:off x="8458200" y="0"/>
            <a:ext cx="6858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8" name="Rectangle 7">
            <a:extLst>
              <a:ext uri="{FF2B5EF4-FFF2-40B4-BE49-F238E27FC236}">
                <a16:creationId xmlns:a16="http://schemas.microsoft.com/office/drawing/2014/main" id="{048D4F88-0F31-ECBD-885F-58EFB3A1A294}"/>
              </a:ext>
            </a:extLst>
          </p:cNvPr>
          <p:cNvSpPr/>
          <p:nvPr/>
        </p:nvSpPr>
        <p:spPr>
          <a:xfrm>
            <a:off x="8458200" y="5486400"/>
            <a:ext cx="685800" cy="685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6" name="Slide Number Placeholder 5">
            <a:extLst>
              <a:ext uri="{FF2B5EF4-FFF2-40B4-BE49-F238E27FC236}">
                <a16:creationId xmlns:a16="http://schemas.microsoft.com/office/drawing/2014/main" id="{C4B97F68-831B-C162-8386-AE974492C007}"/>
              </a:ext>
            </a:extLst>
          </p:cNvPr>
          <p:cNvSpPr>
            <a:spLocks noGrp="1"/>
          </p:cNvSpPr>
          <p:nvPr>
            <p:ph type="sldNum" sz="quarter" idx="4"/>
          </p:nvPr>
        </p:nvSpPr>
        <p:spPr>
          <a:xfrm>
            <a:off x="8531225" y="5648325"/>
            <a:ext cx="549275" cy="396875"/>
          </a:xfrm>
          <a:prstGeom prst="bracketPair">
            <a:avLst>
              <a:gd name="adj" fmla="val 17949"/>
            </a:avLst>
          </a:prstGeom>
          <a:ln w="19050">
            <a:solidFill>
              <a:srgbClr val="FFFFFF"/>
            </a:solidFill>
          </a:ln>
        </p:spPr>
        <p:txBody>
          <a:bodyPr vert="horz" wrap="square" lIns="0" tIns="0" rIns="0" bIns="0" numCol="1" anchor="ctr" anchorCtr="0" compatLnSpc="1">
            <a:prstTxWarp prst="textNoShape">
              <a:avLst/>
            </a:prstTxWarp>
          </a:bodyPr>
          <a:lstStyle>
            <a:lvl1pPr algn="ctr" eaLnBrk="1" hangingPunct="1">
              <a:defRPr>
                <a:solidFill>
                  <a:srgbClr val="FFFFFF"/>
                </a:solidFill>
              </a:defRPr>
            </a:lvl1pPr>
          </a:lstStyle>
          <a:p>
            <a:pPr>
              <a:defRPr/>
            </a:pPr>
            <a:fld id="{8A5CF730-E509-45AD-8A48-9BFCF0721298}" type="slidenum">
              <a:rPr lang="en-US" altLang="en-US"/>
              <a:pPr>
                <a:defRPr/>
              </a:pPr>
              <a:t>‹#›</a:t>
            </a:fld>
            <a:endParaRPr lang="en-US" altLang="en-US"/>
          </a:p>
        </p:txBody>
      </p:sp>
      <p:sp>
        <p:nvSpPr>
          <p:cNvPr id="5" name="Footer Placeholder 4">
            <a:extLst>
              <a:ext uri="{FF2B5EF4-FFF2-40B4-BE49-F238E27FC236}">
                <a16:creationId xmlns:a16="http://schemas.microsoft.com/office/drawing/2014/main" id="{8EE5AD31-4DEF-471E-AF9B-0CACCCB33637}"/>
              </a:ext>
            </a:extLst>
          </p:cNvPr>
          <p:cNvSpPr>
            <a:spLocks noGrp="1"/>
          </p:cNvSpPr>
          <p:nvPr>
            <p:ph type="ftr" sz="quarter" idx="3"/>
          </p:nvPr>
        </p:nvSpPr>
        <p:spPr>
          <a:xfrm rot="16200000">
            <a:off x="7587456" y="4048919"/>
            <a:ext cx="2366963" cy="365125"/>
          </a:xfrm>
          <a:prstGeom prst="rect">
            <a:avLst/>
          </a:prstGeom>
        </p:spPr>
        <p:txBody>
          <a:bodyPr vert="horz" lIns="91440" tIns="45720" rIns="91440" bIns="45720" rtlCol="0" anchor="ctr"/>
          <a:lstStyle>
            <a:lvl1pPr algn="r" eaLnBrk="1" hangingPunct="1">
              <a:defRPr sz="1200">
                <a:solidFill>
                  <a:schemeClr val="bg2"/>
                </a:solidFill>
                <a:latin typeface="Arial" charset="0"/>
                <a:cs typeface="Arial" charset="0"/>
              </a:defRPr>
            </a:lvl1pPr>
          </a:lstStyle>
          <a:p>
            <a:pPr>
              <a:defRPr/>
            </a:pPr>
            <a:endParaRPr lang="en-US"/>
          </a:p>
        </p:txBody>
      </p:sp>
      <p:sp>
        <p:nvSpPr>
          <p:cNvPr id="4" name="Date Placeholder 3">
            <a:extLst>
              <a:ext uri="{FF2B5EF4-FFF2-40B4-BE49-F238E27FC236}">
                <a16:creationId xmlns:a16="http://schemas.microsoft.com/office/drawing/2014/main" id="{7F1E9D31-DD52-E01C-E1F9-B534C57ECFC9}"/>
              </a:ext>
            </a:extLst>
          </p:cNvPr>
          <p:cNvSpPr>
            <a:spLocks noGrp="1"/>
          </p:cNvSpPr>
          <p:nvPr>
            <p:ph type="dt" sz="half" idx="2"/>
          </p:nvPr>
        </p:nvSpPr>
        <p:spPr>
          <a:xfrm rot="16200000">
            <a:off x="7551738" y="1646237"/>
            <a:ext cx="2438400" cy="365125"/>
          </a:xfrm>
          <a:prstGeom prst="rect">
            <a:avLst/>
          </a:prstGeom>
        </p:spPr>
        <p:txBody>
          <a:bodyPr vert="horz" lIns="91440" tIns="45720" rIns="91440" bIns="45720" rtlCol="0" anchor="ctr"/>
          <a:lstStyle>
            <a:lvl1pPr algn="l" eaLnBrk="1" hangingPunct="1">
              <a:defRPr sz="1200">
                <a:solidFill>
                  <a:schemeClr val="bg2"/>
                </a:solidFill>
                <a:latin typeface="Arial" charset="0"/>
                <a:cs typeface="Arial" charset="0"/>
              </a:defRPr>
            </a:lvl1pPr>
          </a:lstStyle>
          <a:p>
            <a:pPr>
              <a:defRPr/>
            </a:pPr>
            <a:fld id="{FA269FAA-64EE-418A-8F0D-26DA1DC1DF69}" type="datetime1">
              <a:rPr lang="en-US"/>
              <a:pPr>
                <a:defRPr/>
              </a:pPr>
              <a:t>6/13/2025</a:t>
            </a:fld>
            <a:endParaRPr lang="en-US"/>
          </a:p>
        </p:txBody>
      </p:sp>
    </p:spTree>
  </p:cSld>
  <p:clrMap bg1="lt1" tx1="dk1" bg2="lt2" tx2="dk2" accent1="accent1" accent2="accent2" accent3="accent3" accent4="accent4" accent5="accent5" accent6="accent6" hlink="hlink" folHlink="folHlink"/>
  <p:sldLayoutIdLst>
    <p:sldLayoutId id="2147484153" r:id="rId1"/>
    <p:sldLayoutId id="2147484154" r:id="rId2"/>
    <p:sldLayoutId id="2147484155" r:id="rId3"/>
    <p:sldLayoutId id="2147484156" r:id="rId4"/>
    <p:sldLayoutId id="2147484157" r:id="rId5"/>
    <p:sldLayoutId id="2147484158" r:id="rId6"/>
    <p:sldLayoutId id="2147484159" r:id="rId7"/>
    <p:sldLayoutId id="2147484160" r:id="rId8"/>
    <p:sldLayoutId id="2147484161" r:id="rId9"/>
    <p:sldLayoutId id="2147484162" r:id="rId10"/>
    <p:sldLayoutId id="2147484163" r:id="rId11"/>
    <p:sldLayoutId id="2147484164" r:id="rId12"/>
    <p:sldLayoutId id="2147484165" r:id="rId13"/>
    <p:sldLayoutId id="2147484166" r:id="rId14"/>
    <p:sldLayoutId id="2147484167" r:id="rId15"/>
    <p:sldLayoutId id="2147484168" r:id="rId16"/>
    <p:sldLayoutId id="2147484169" r:id="rId17"/>
    <p:sldLayoutId id="2147484170" r:id="rId18"/>
    <p:sldLayoutId id="2147484171" r:id="rId19"/>
    <p:sldLayoutId id="2147484172" r:id="rId20"/>
    <p:sldLayoutId id="2147484173" r:id="rId21"/>
    <p:sldLayoutId id="2147484174" r:id="rId22"/>
  </p:sldLayoutIdLst>
  <p:hf hdr="0" ftr="0" dt="0"/>
  <p:txStyles>
    <p:titleStyle>
      <a:lvl1pPr algn="l" rtl="0" eaLnBrk="0" fontAlgn="base" hangingPunct="0">
        <a:spcBef>
          <a:spcPct val="0"/>
        </a:spcBef>
        <a:spcAft>
          <a:spcPct val="0"/>
        </a:spcAft>
        <a:defRPr sz="4600" kern="1200" spc="-100">
          <a:solidFill>
            <a:schemeClr val="tx2"/>
          </a:solidFill>
          <a:latin typeface="+mj-lt"/>
          <a:ea typeface="+mj-ea"/>
          <a:cs typeface="+mj-cs"/>
        </a:defRPr>
      </a:lvl1pPr>
      <a:lvl2pPr algn="l" rtl="0" eaLnBrk="0" fontAlgn="base" hangingPunct="0">
        <a:spcBef>
          <a:spcPct val="0"/>
        </a:spcBef>
        <a:spcAft>
          <a:spcPct val="0"/>
        </a:spcAft>
        <a:defRPr sz="4600">
          <a:solidFill>
            <a:schemeClr val="tx2"/>
          </a:solidFill>
          <a:latin typeface="Cambria" pitchFamily="18" charset="0"/>
        </a:defRPr>
      </a:lvl2pPr>
      <a:lvl3pPr algn="l" rtl="0" eaLnBrk="0" fontAlgn="base" hangingPunct="0">
        <a:spcBef>
          <a:spcPct val="0"/>
        </a:spcBef>
        <a:spcAft>
          <a:spcPct val="0"/>
        </a:spcAft>
        <a:defRPr sz="4600">
          <a:solidFill>
            <a:schemeClr val="tx2"/>
          </a:solidFill>
          <a:latin typeface="Cambria" pitchFamily="18" charset="0"/>
        </a:defRPr>
      </a:lvl3pPr>
      <a:lvl4pPr algn="l" rtl="0" eaLnBrk="0" fontAlgn="base" hangingPunct="0">
        <a:spcBef>
          <a:spcPct val="0"/>
        </a:spcBef>
        <a:spcAft>
          <a:spcPct val="0"/>
        </a:spcAft>
        <a:defRPr sz="4600">
          <a:solidFill>
            <a:schemeClr val="tx2"/>
          </a:solidFill>
          <a:latin typeface="Cambria" pitchFamily="18" charset="0"/>
        </a:defRPr>
      </a:lvl4pPr>
      <a:lvl5pPr algn="l" rtl="0" eaLnBrk="0" fontAlgn="base" hangingPunct="0">
        <a:spcBef>
          <a:spcPct val="0"/>
        </a:spcBef>
        <a:spcAft>
          <a:spcPct val="0"/>
        </a:spcAft>
        <a:defRPr sz="4600">
          <a:solidFill>
            <a:schemeClr val="tx2"/>
          </a:solidFill>
          <a:latin typeface="Cambria" pitchFamily="18" charset="0"/>
        </a:defRPr>
      </a:lvl5pPr>
      <a:lvl6pPr marL="457200" algn="l" rtl="0" fontAlgn="base">
        <a:spcBef>
          <a:spcPct val="0"/>
        </a:spcBef>
        <a:spcAft>
          <a:spcPct val="0"/>
        </a:spcAft>
        <a:defRPr sz="4600">
          <a:solidFill>
            <a:schemeClr val="tx2"/>
          </a:solidFill>
          <a:latin typeface="Cambria" pitchFamily="18" charset="0"/>
        </a:defRPr>
      </a:lvl6pPr>
      <a:lvl7pPr marL="914400" algn="l" rtl="0" fontAlgn="base">
        <a:spcBef>
          <a:spcPct val="0"/>
        </a:spcBef>
        <a:spcAft>
          <a:spcPct val="0"/>
        </a:spcAft>
        <a:defRPr sz="4600">
          <a:solidFill>
            <a:schemeClr val="tx2"/>
          </a:solidFill>
          <a:latin typeface="Cambria" pitchFamily="18" charset="0"/>
        </a:defRPr>
      </a:lvl7pPr>
      <a:lvl8pPr marL="1371600" algn="l" rtl="0" fontAlgn="base">
        <a:spcBef>
          <a:spcPct val="0"/>
        </a:spcBef>
        <a:spcAft>
          <a:spcPct val="0"/>
        </a:spcAft>
        <a:defRPr sz="4600">
          <a:solidFill>
            <a:schemeClr val="tx2"/>
          </a:solidFill>
          <a:latin typeface="Cambria" pitchFamily="18" charset="0"/>
        </a:defRPr>
      </a:lvl8pPr>
      <a:lvl9pPr marL="1828800" algn="l" rtl="0" fontAlgn="base">
        <a:spcBef>
          <a:spcPct val="0"/>
        </a:spcBef>
        <a:spcAft>
          <a:spcPct val="0"/>
        </a:spcAft>
        <a:defRPr sz="4600">
          <a:solidFill>
            <a:schemeClr val="tx2"/>
          </a:solidFill>
          <a:latin typeface="Cambria" pitchFamily="18" charset="0"/>
        </a:defRPr>
      </a:lvl9pPr>
    </p:titleStyle>
    <p:bodyStyle>
      <a:lvl1pPr marL="342900" indent="-228600" algn="l" rtl="0" eaLnBrk="0" fontAlgn="base" hangingPunct="0">
        <a:spcBef>
          <a:spcPct val="20000"/>
        </a:spcBef>
        <a:spcAft>
          <a:spcPct val="0"/>
        </a:spcAft>
        <a:buClr>
          <a:schemeClr val="accent1"/>
        </a:buClr>
        <a:buFont typeface="Arial" panose="020B0604020202020204" pitchFamily="34" charset="0"/>
        <a:buChar char="•"/>
        <a:defRPr sz="2200" kern="1200">
          <a:solidFill>
            <a:schemeClr val="tx1"/>
          </a:solidFill>
          <a:latin typeface="+mn-lt"/>
          <a:ea typeface="+mn-ea"/>
          <a:cs typeface="+mn-cs"/>
        </a:defRPr>
      </a:lvl1pPr>
      <a:lvl2pPr marL="639763" indent="-228600" algn="l" rtl="0" eaLnBrk="0" fontAlgn="base" hangingPunct="0">
        <a:spcBef>
          <a:spcPct val="20000"/>
        </a:spcBef>
        <a:spcAft>
          <a:spcPct val="0"/>
        </a:spcAft>
        <a:buClr>
          <a:schemeClr val="accent2"/>
        </a:buClr>
        <a:buFont typeface="Arial" panose="020B0604020202020204" pitchFamily="34" charset="0"/>
        <a:buChar char="•"/>
        <a:defRPr sz="2000" kern="1200">
          <a:solidFill>
            <a:schemeClr val="tx1"/>
          </a:solidFill>
          <a:latin typeface="+mn-lt"/>
          <a:ea typeface="+mn-ea"/>
          <a:cs typeface="+mn-cs"/>
        </a:defRPr>
      </a:lvl2pPr>
      <a:lvl3pPr marL="1004888" indent="-228600" algn="l" rtl="0" eaLnBrk="0" fontAlgn="base" hangingPunct="0">
        <a:spcBef>
          <a:spcPct val="20000"/>
        </a:spcBef>
        <a:spcAft>
          <a:spcPct val="0"/>
        </a:spcAft>
        <a:buClr>
          <a:srgbClr val="D2CB6C"/>
        </a:buClr>
        <a:buFont typeface="Arial" panose="020B0604020202020204" pitchFamily="34" charset="0"/>
        <a:buChar char="•"/>
        <a:defRPr kern="1200">
          <a:solidFill>
            <a:schemeClr val="tx1"/>
          </a:solidFill>
          <a:latin typeface="+mn-lt"/>
          <a:ea typeface="+mn-ea"/>
          <a:cs typeface="+mn-cs"/>
        </a:defRPr>
      </a:lvl3pPr>
      <a:lvl4pPr marL="1279525" indent="-228600" algn="l" rtl="0" eaLnBrk="0" fontAlgn="base" hangingPunct="0">
        <a:spcBef>
          <a:spcPct val="20000"/>
        </a:spcBef>
        <a:spcAft>
          <a:spcPct val="0"/>
        </a:spcAft>
        <a:buClr>
          <a:srgbClr val="95A39D"/>
        </a:buClr>
        <a:buFont typeface="Arial" panose="020B0604020202020204" pitchFamily="34" charset="0"/>
        <a:buChar char="•"/>
        <a:defRPr sz="1600" kern="1200">
          <a:solidFill>
            <a:schemeClr val="tx1"/>
          </a:solidFill>
          <a:latin typeface="+mn-lt"/>
          <a:ea typeface="+mn-ea"/>
          <a:cs typeface="+mn-cs"/>
        </a:defRPr>
      </a:lvl4pPr>
      <a:lvl5pPr marL="1554163" indent="-228600" algn="l" rtl="0" eaLnBrk="0" fontAlgn="base" hangingPunct="0">
        <a:spcBef>
          <a:spcPct val="20000"/>
        </a:spcBef>
        <a:spcAft>
          <a:spcPct val="0"/>
        </a:spcAft>
        <a:buClr>
          <a:srgbClr val="C89F5D"/>
        </a:buClr>
        <a:buFont typeface="Arial" panose="020B0604020202020204" pitchFamily="34" charset="0"/>
        <a:buChar char="•"/>
        <a:defRPr sz="1400" kern="120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03B5A84-B027-22BB-E6A2-FCB1A9E75A19}"/>
              </a:ext>
            </a:extLst>
          </p:cNvPr>
          <p:cNvSpPr>
            <a:spLocks noGrp="1"/>
          </p:cNvSpPr>
          <p:nvPr>
            <p:ph type="title"/>
          </p:nvPr>
        </p:nvSpPr>
        <p:spPr>
          <a:xfrm>
            <a:off x="457200" y="274638"/>
            <a:ext cx="7620000" cy="1143000"/>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1027" name="Text Placeholder 2">
            <a:extLst>
              <a:ext uri="{FF2B5EF4-FFF2-40B4-BE49-F238E27FC236}">
                <a16:creationId xmlns:a16="http://schemas.microsoft.com/office/drawing/2014/main" id="{A17C30C7-5435-663B-8123-2D1E873DC258}"/>
              </a:ext>
            </a:extLst>
          </p:cNvPr>
          <p:cNvSpPr>
            <a:spLocks noGrp="1"/>
          </p:cNvSpPr>
          <p:nvPr>
            <p:ph type="body" idx="1"/>
          </p:nvPr>
        </p:nvSpPr>
        <p:spPr bwMode="auto">
          <a:xfrm>
            <a:off x="457200" y="1600200"/>
            <a:ext cx="76200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7" name="Rectangle 6">
            <a:extLst>
              <a:ext uri="{FF2B5EF4-FFF2-40B4-BE49-F238E27FC236}">
                <a16:creationId xmlns:a16="http://schemas.microsoft.com/office/drawing/2014/main" id="{757EF6BD-4D78-CA4F-CD63-E78CC82A21E1}"/>
              </a:ext>
            </a:extLst>
          </p:cNvPr>
          <p:cNvSpPr/>
          <p:nvPr/>
        </p:nvSpPr>
        <p:spPr>
          <a:xfrm>
            <a:off x="8458200" y="0"/>
            <a:ext cx="6858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8" name="Rectangle 7">
            <a:extLst>
              <a:ext uri="{FF2B5EF4-FFF2-40B4-BE49-F238E27FC236}">
                <a16:creationId xmlns:a16="http://schemas.microsoft.com/office/drawing/2014/main" id="{287BA03E-4209-D793-6030-32EBDAFA5266}"/>
              </a:ext>
            </a:extLst>
          </p:cNvPr>
          <p:cNvSpPr/>
          <p:nvPr/>
        </p:nvSpPr>
        <p:spPr>
          <a:xfrm>
            <a:off x="8458200" y="5486400"/>
            <a:ext cx="685800" cy="685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6" name="Slide Number Placeholder 5">
            <a:extLst>
              <a:ext uri="{FF2B5EF4-FFF2-40B4-BE49-F238E27FC236}">
                <a16:creationId xmlns:a16="http://schemas.microsoft.com/office/drawing/2014/main" id="{1360EA5D-89DF-1288-3F8E-BC8704D7F233}"/>
              </a:ext>
            </a:extLst>
          </p:cNvPr>
          <p:cNvSpPr>
            <a:spLocks noGrp="1"/>
          </p:cNvSpPr>
          <p:nvPr>
            <p:ph type="sldNum" sz="quarter" idx="4"/>
          </p:nvPr>
        </p:nvSpPr>
        <p:spPr>
          <a:xfrm>
            <a:off x="8531225" y="5648325"/>
            <a:ext cx="549275" cy="396875"/>
          </a:xfrm>
          <a:prstGeom prst="bracketPair">
            <a:avLst>
              <a:gd name="adj" fmla="val 17949"/>
            </a:avLst>
          </a:prstGeom>
          <a:ln w="19050">
            <a:solidFill>
              <a:srgbClr val="FFFFFF"/>
            </a:solidFill>
          </a:ln>
        </p:spPr>
        <p:txBody>
          <a:bodyPr vert="horz" wrap="square" lIns="0" tIns="0" rIns="0" bIns="0" numCol="1" anchor="ctr" anchorCtr="0" compatLnSpc="1">
            <a:prstTxWarp prst="textNoShape">
              <a:avLst/>
            </a:prstTxWarp>
          </a:bodyPr>
          <a:lstStyle>
            <a:lvl1pPr algn="ctr" eaLnBrk="1" hangingPunct="1">
              <a:defRPr>
                <a:solidFill>
                  <a:srgbClr val="FFFFFF"/>
                </a:solidFill>
              </a:defRPr>
            </a:lvl1pPr>
          </a:lstStyle>
          <a:p>
            <a:fld id="{67405831-6630-44EE-B71A-22B451A04C9D}" type="slidenum">
              <a:rPr lang="en-US" altLang="en-US"/>
              <a:pPr/>
              <a:t>‹#›</a:t>
            </a:fld>
            <a:endParaRPr lang="en-US" altLang="en-US"/>
          </a:p>
        </p:txBody>
      </p:sp>
      <p:sp>
        <p:nvSpPr>
          <p:cNvPr id="5" name="Footer Placeholder 4">
            <a:extLst>
              <a:ext uri="{FF2B5EF4-FFF2-40B4-BE49-F238E27FC236}">
                <a16:creationId xmlns:a16="http://schemas.microsoft.com/office/drawing/2014/main" id="{2AAD490D-A304-E84A-3F18-5471F51A383C}"/>
              </a:ext>
            </a:extLst>
          </p:cNvPr>
          <p:cNvSpPr>
            <a:spLocks noGrp="1"/>
          </p:cNvSpPr>
          <p:nvPr>
            <p:ph type="ftr" sz="quarter" idx="3"/>
          </p:nvPr>
        </p:nvSpPr>
        <p:spPr>
          <a:xfrm rot="16200000">
            <a:off x="7587456" y="4048919"/>
            <a:ext cx="2366963" cy="365125"/>
          </a:xfrm>
          <a:prstGeom prst="rect">
            <a:avLst/>
          </a:prstGeom>
        </p:spPr>
        <p:txBody>
          <a:bodyPr vert="horz" lIns="91440" tIns="45720" rIns="91440" bIns="45720" rtlCol="0" anchor="ctr"/>
          <a:lstStyle>
            <a:lvl1pPr algn="r" eaLnBrk="1" hangingPunct="1">
              <a:defRPr sz="1200">
                <a:solidFill>
                  <a:schemeClr val="bg2"/>
                </a:solidFill>
                <a:latin typeface="Arial" charset="0"/>
                <a:cs typeface="Arial" charset="0"/>
              </a:defRPr>
            </a:lvl1pPr>
          </a:lstStyle>
          <a:p>
            <a:pPr>
              <a:defRPr/>
            </a:pPr>
            <a:endParaRPr lang="en-US"/>
          </a:p>
        </p:txBody>
      </p:sp>
      <p:sp>
        <p:nvSpPr>
          <p:cNvPr id="4" name="Date Placeholder 3">
            <a:extLst>
              <a:ext uri="{FF2B5EF4-FFF2-40B4-BE49-F238E27FC236}">
                <a16:creationId xmlns:a16="http://schemas.microsoft.com/office/drawing/2014/main" id="{67ADDDC7-5BCD-11CD-22E0-8CD306927B76}"/>
              </a:ext>
            </a:extLst>
          </p:cNvPr>
          <p:cNvSpPr>
            <a:spLocks noGrp="1"/>
          </p:cNvSpPr>
          <p:nvPr>
            <p:ph type="dt" sz="half" idx="2"/>
          </p:nvPr>
        </p:nvSpPr>
        <p:spPr>
          <a:xfrm rot="16200000">
            <a:off x="7551738" y="1646237"/>
            <a:ext cx="2438400" cy="365125"/>
          </a:xfrm>
          <a:prstGeom prst="rect">
            <a:avLst/>
          </a:prstGeom>
        </p:spPr>
        <p:txBody>
          <a:bodyPr vert="horz" lIns="91440" tIns="45720" rIns="91440" bIns="45720" rtlCol="0" anchor="ctr"/>
          <a:lstStyle>
            <a:lvl1pPr algn="l" eaLnBrk="1" hangingPunct="1">
              <a:defRPr sz="1200">
                <a:solidFill>
                  <a:schemeClr val="bg2"/>
                </a:solidFill>
                <a:latin typeface="Arial" charset="0"/>
                <a:cs typeface="Arial" charset="0"/>
              </a:defRPr>
            </a:lvl1pPr>
          </a:lstStyle>
          <a:p>
            <a:pPr>
              <a:defRPr/>
            </a:pPr>
            <a:fld id="{071240BD-D636-4A2E-BB63-EB12F27E7DDF}" type="datetime1">
              <a:rPr lang="en-US"/>
              <a:pPr>
                <a:defRPr/>
              </a:pPr>
              <a:t>6/13/2025</a:t>
            </a:fld>
            <a:endParaRPr lang="en-US"/>
          </a:p>
        </p:txBody>
      </p:sp>
    </p:spTree>
    <p:extLst>
      <p:ext uri="{BB962C8B-B14F-4D97-AF65-F5344CB8AC3E}">
        <p14:creationId xmlns:p14="http://schemas.microsoft.com/office/powerpoint/2010/main" val="1691624052"/>
      </p:ext>
    </p:extLst>
  </p:cSld>
  <p:clrMap bg1="lt1" tx1="dk1" bg2="lt2" tx2="dk2" accent1="accent1" accent2="accent2" accent3="accent3" accent4="accent4" accent5="accent5" accent6="accent6" hlink="hlink" folHlink="folHlink"/>
  <p:sldLayoutIdLst>
    <p:sldLayoutId id="2147484176" r:id="rId1"/>
    <p:sldLayoutId id="2147484177" r:id="rId2"/>
    <p:sldLayoutId id="2147484178" r:id="rId3"/>
    <p:sldLayoutId id="2147484179" r:id="rId4"/>
    <p:sldLayoutId id="2147484180" r:id="rId5"/>
    <p:sldLayoutId id="2147484181" r:id="rId6"/>
    <p:sldLayoutId id="2147484182" r:id="rId7"/>
    <p:sldLayoutId id="2147484183" r:id="rId8"/>
    <p:sldLayoutId id="2147484184" r:id="rId9"/>
    <p:sldLayoutId id="2147484185" r:id="rId10"/>
    <p:sldLayoutId id="2147484186" r:id="rId11"/>
  </p:sldLayoutIdLst>
  <p:hf hdr="0" ftr="0" dt="0"/>
  <p:txStyles>
    <p:titleStyle>
      <a:lvl1pPr algn="l" rtl="0" eaLnBrk="0" fontAlgn="base" hangingPunct="0">
        <a:spcBef>
          <a:spcPct val="0"/>
        </a:spcBef>
        <a:spcAft>
          <a:spcPct val="0"/>
        </a:spcAft>
        <a:defRPr sz="4600" kern="1200" spc="-100">
          <a:solidFill>
            <a:schemeClr val="tx2"/>
          </a:solidFill>
          <a:latin typeface="+mj-lt"/>
          <a:ea typeface="+mj-ea"/>
          <a:cs typeface="+mj-cs"/>
        </a:defRPr>
      </a:lvl1pPr>
      <a:lvl2pPr algn="l" rtl="0" eaLnBrk="0" fontAlgn="base" hangingPunct="0">
        <a:spcBef>
          <a:spcPct val="0"/>
        </a:spcBef>
        <a:spcAft>
          <a:spcPct val="0"/>
        </a:spcAft>
        <a:defRPr sz="4600">
          <a:solidFill>
            <a:schemeClr val="tx2"/>
          </a:solidFill>
          <a:latin typeface="Cambria" pitchFamily="18" charset="0"/>
        </a:defRPr>
      </a:lvl2pPr>
      <a:lvl3pPr algn="l" rtl="0" eaLnBrk="0" fontAlgn="base" hangingPunct="0">
        <a:spcBef>
          <a:spcPct val="0"/>
        </a:spcBef>
        <a:spcAft>
          <a:spcPct val="0"/>
        </a:spcAft>
        <a:defRPr sz="4600">
          <a:solidFill>
            <a:schemeClr val="tx2"/>
          </a:solidFill>
          <a:latin typeface="Cambria" pitchFamily="18" charset="0"/>
        </a:defRPr>
      </a:lvl3pPr>
      <a:lvl4pPr algn="l" rtl="0" eaLnBrk="0" fontAlgn="base" hangingPunct="0">
        <a:spcBef>
          <a:spcPct val="0"/>
        </a:spcBef>
        <a:spcAft>
          <a:spcPct val="0"/>
        </a:spcAft>
        <a:defRPr sz="4600">
          <a:solidFill>
            <a:schemeClr val="tx2"/>
          </a:solidFill>
          <a:latin typeface="Cambria" pitchFamily="18" charset="0"/>
        </a:defRPr>
      </a:lvl4pPr>
      <a:lvl5pPr algn="l" rtl="0" eaLnBrk="0" fontAlgn="base" hangingPunct="0">
        <a:spcBef>
          <a:spcPct val="0"/>
        </a:spcBef>
        <a:spcAft>
          <a:spcPct val="0"/>
        </a:spcAft>
        <a:defRPr sz="4600">
          <a:solidFill>
            <a:schemeClr val="tx2"/>
          </a:solidFill>
          <a:latin typeface="Cambria" pitchFamily="18" charset="0"/>
        </a:defRPr>
      </a:lvl5pPr>
      <a:lvl6pPr marL="457200" algn="l" rtl="0" fontAlgn="base">
        <a:spcBef>
          <a:spcPct val="0"/>
        </a:spcBef>
        <a:spcAft>
          <a:spcPct val="0"/>
        </a:spcAft>
        <a:defRPr sz="4600">
          <a:solidFill>
            <a:schemeClr val="tx2"/>
          </a:solidFill>
          <a:latin typeface="Cambria" pitchFamily="18" charset="0"/>
        </a:defRPr>
      </a:lvl6pPr>
      <a:lvl7pPr marL="914400" algn="l" rtl="0" fontAlgn="base">
        <a:spcBef>
          <a:spcPct val="0"/>
        </a:spcBef>
        <a:spcAft>
          <a:spcPct val="0"/>
        </a:spcAft>
        <a:defRPr sz="4600">
          <a:solidFill>
            <a:schemeClr val="tx2"/>
          </a:solidFill>
          <a:latin typeface="Cambria" pitchFamily="18" charset="0"/>
        </a:defRPr>
      </a:lvl7pPr>
      <a:lvl8pPr marL="1371600" algn="l" rtl="0" fontAlgn="base">
        <a:spcBef>
          <a:spcPct val="0"/>
        </a:spcBef>
        <a:spcAft>
          <a:spcPct val="0"/>
        </a:spcAft>
        <a:defRPr sz="4600">
          <a:solidFill>
            <a:schemeClr val="tx2"/>
          </a:solidFill>
          <a:latin typeface="Cambria" pitchFamily="18" charset="0"/>
        </a:defRPr>
      </a:lvl8pPr>
      <a:lvl9pPr marL="1828800" algn="l" rtl="0" fontAlgn="base">
        <a:spcBef>
          <a:spcPct val="0"/>
        </a:spcBef>
        <a:spcAft>
          <a:spcPct val="0"/>
        </a:spcAft>
        <a:defRPr sz="4600">
          <a:solidFill>
            <a:schemeClr val="tx2"/>
          </a:solidFill>
          <a:latin typeface="Cambria" pitchFamily="18" charset="0"/>
        </a:defRPr>
      </a:lvl9pPr>
    </p:titleStyle>
    <p:bodyStyle>
      <a:lvl1pPr marL="342900" indent="-228600" algn="l" rtl="0" eaLnBrk="0" fontAlgn="base" hangingPunct="0">
        <a:spcBef>
          <a:spcPct val="20000"/>
        </a:spcBef>
        <a:spcAft>
          <a:spcPct val="0"/>
        </a:spcAft>
        <a:buClr>
          <a:schemeClr val="accent1"/>
        </a:buClr>
        <a:buFont typeface="Arial" panose="020B0604020202020204" pitchFamily="34" charset="0"/>
        <a:buChar char="•"/>
        <a:defRPr sz="2200" kern="1200">
          <a:solidFill>
            <a:schemeClr val="tx1"/>
          </a:solidFill>
          <a:latin typeface="+mn-lt"/>
          <a:ea typeface="+mn-ea"/>
          <a:cs typeface="+mn-cs"/>
        </a:defRPr>
      </a:lvl1pPr>
      <a:lvl2pPr marL="639763" indent="-228600" algn="l" rtl="0" eaLnBrk="0" fontAlgn="base" hangingPunct="0">
        <a:spcBef>
          <a:spcPct val="20000"/>
        </a:spcBef>
        <a:spcAft>
          <a:spcPct val="0"/>
        </a:spcAft>
        <a:buClr>
          <a:schemeClr val="accent2"/>
        </a:buClr>
        <a:buFont typeface="Arial" panose="020B0604020202020204" pitchFamily="34" charset="0"/>
        <a:buChar char="•"/>
        <a:defRPr sz="2000" kern="1200">
          <a:solidFill>
            <a:schemeClr val="tx1"/>
          </a:solidFill>
          <a:latin typeface="+mn-lt"/>
          <a:ea typeface="+mn-ea"/>
          <a:cs typeface="+mn-cs"/>
        </a:defRPr>
      </a:lvl2pPr>
      <a:lvl3pPr marL="1004888" indent="-228600" algn="l" rtl="0" eaLnBrk="0" fontAlgn="base" hangingPunct="0">
        <a:spcBef>
          <a:spcPct val="20000"/>
        </a:spcBef>
        <a:spcAft>
          <a:spcPct val="0"/>
        </a:spcAft>
        <a:buClr>
          <a:srgbClr val="D2CB6C"/>
        </a:buClr>
        <a:buFont typeface="Arial" panose="020B0604020202020204" pitchFamily="34" charset="0"/>
        <a:buChar char="•"/>
        <a:defRPr kern="1200">
          <a:solidFill>
            <a:schemeClr val="tx1"/>
          </a:solidFill>
          <a:latin typeface="+mn-lt"/>
          <a:ea typeface="+mn-ea"/>
          <a:cs typeface="+mn-cs"/>
        </a:defRPr>
      </a:lvl3pPr>
      <a:lvl4pPr marL="1279525" indent="-228600" algn="l" rtl="0" eaLnBrk="0" fontAlgn="base" hangingPunct="0">
        <a:spcBef>
          <a:spcPct val="20000"/>
        </a:spcBef>
        <a:spcAft>
          <a:spcPct val="0"/>
        </a:spcAft>
        <a:buClr>
          <a:srgbClr val="95A39D"/>
        </a:buClr>
        <a:buFont typeface="Arial" panose="020B0604020202020204" pitchFamily="34" charset="0"/>
        <a:buChar char="•"/>
        <a:defRPr sz="1600" kern="1200">
          <a:solidFill>
            <a:schemeClr val="tx1"/>
          </a:solidFill>
          <a:latin typeface="+mn-lt"/>
          <a:ea typeface="+mn-ea"/>
          <a:cs typeface="+mn-cs"/>
        </a:defRPr>
      </a:lvl4pPr>
      <a:lvl5pPr marL="1554163" indent="-228600" algn="l" rtl="0" eaLnBrk="0" fontAlgn="base" hangingPunct="0">
        <a:spcBef>
          <a:spcPct val="20000"/>
        </a:spcBef>
        <a:spcAft>
          <a:spcPct val="0"/>
        </a:spcAft>
        <a:buClr>
          <a:srgbClr val="C89F5D"/>
        </a:buClr>
        <a:buFont typeface="Arial" panose="020B0604020202020204" pitchFamily="34" charset="0"/>
        <a:buChar char="•"/>
        <a:defRPr sz="1400" kern="120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BD86E451-E552-A3A3-7EF2-9C7F34FFF0BB}"/>
              </a:ext>
            </a:extLst>
          </p:cNvPr>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eaLnBrk="1" hangingPunct="1">
              <a:defRPr sz="1200"/>
            </a:lvl1pPr>
          </a:lstStyle>
          <a:p>
            <a:pPr>
              <a:defRPr/>
            </a:pPr>
            <a:endParaRPr lang="en-US" altLang="en-US"/>
          </a:p>
        </p:txBody>
      </p:sp>
      <p:sp>
        <p:nvSpPr>
          <p:cNvPr id="73731" name="Rectangle 3">
            <a:extLst>
              <a:ext uri="{FF2B5EF4-FFF2-40B4-BE49-F238E27FC236}">
                <a16:creationId xmlns:a16="http://schemas.microsoft.com/office/drawing/2014/main" id="{7A787DEA-74F8-EADC-A85E-FAFE93A865B2}"/>
              </a:ext>
            </a:extLst>
          </p:cNvPr>
          <p:cNvSpPr>
            <a:spLocks noGrp="1" noChangeArrowheads="1"/>
          </p:cNvSpPr>
          <p:nvPr>
            <p:ph type="sldNum" sz="quarter" idx="4"/>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atin typeface="Arial Black" panose="020B0A04020102020204" pitchFamily="34" charset="0"/>
              </a:defRPr>
            </a:lvl1pPr>
          </a:lstStyle>
          <a:p>
            <a:fld id="{528A3A70-E33D-4658-A788-179BC28561E8}" type="slidenum">
              <a:rPr lang="en-US" altLang="en-US"/>
              <a:pPr/>
              <a:t>‹#›</a:t>
            </a:fld>
            <a:endParaRPr lang="en-US" altLang="en-US"/>
          </a:p>
        </p:txBody>
      </p:sp>
      <p:grpSp>
        <p:nvGrpSpPr>
          <p:cNvPr id="1028" name="Group 4">
            <a:extLst>
              <a:ext uri="{FF2B5EF4-FFF2-40B4-BE49-F238E27FC236}">
                <a16:creationId xmlns:a16="http://schemas.microsoft.com/office/drawing/2014/main" id="{D46CC118-396B-2E6D-4CEA-1E0C6AD7EC22}"/>
              </a:ext>
            </a:extLst>
          </p:cNvPr>
          <p:cNvGrpSpPr>
            <a:grpSpLocks/>
          </p:cNvGrpSpPr>
          <p:nvPr/>
        </p:nvGrpSpPr>
        <p:grpSpPr bwMode="auto">
          <a:xfrm>
            <a:off x="0" y="0"/>
            <a:ext cx="9144000" cy="546100"/>
            <a:chOff x="0" y="0"/>
            <a:chExt cx="5760" cy="344"/>
          </a:xfrm>
        </p:grpSpPr>
        <p:sp>
          <p:nvSpPr>
            <p:cNvPr id="1032" name="Rectangle 5">
              <a:extLst>
                <a:ext uri="{FF2B5EF4-FFF2-40B4-BE49-F238E27FC236}">
                  <a16:creationId xmlns:a16="http://schemas.microsoft.com/office/drawing/2014/main" id="{55DC2714-00DB-4E73-55BC-96A8C79D7107}"/>
                </a:ext>
              </a:extLst>
            </p:cNvPr>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en-US" sz="2400">
                <a:latin typeface="Times New Roman" panose="02020603050405020304" pitchFamily="18" charset="0"/>
              </a:endParaRPr>
            </a:p>
          </p:txBody>
        </p:sp>
        <p:sp>
          <p:nvSpPr>
            <p:cNvPr id="1033" name="Rectangle 6">
              <a:extLst>
                <a:ext uri="{FF2B5EF4-FFF2-40B4-BE49-F238E27FC236}">
                  <a16:creationId xmlns:a16="http://schemas.microsoft.com/office/drawing/2014/main" id="{BA6ABD4D-B018-2BB1-7E99-6E47BD4A51AE}"/>
                </a:ext>
              </a:extLst>
            </p:cNvPr>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sz="2400">
                <a:latin typeface="Times New Roman" panose="02020603050405020304" pitchFamily="18" charset="0"/>
              </a:endParaRPr>
            </a:p>
          </p:txBody>
        </p:sp>
        <p:sp>
          <p:nvSpPr>
            <p:cNvPr id="1034" name="Rectangle 7">
              <a:extLst>
                <a:ext uri="{FF2B5EF4-FFF2-40B4-BE49-F238E27FC236}">
                  <a16:creationId xmlns:a16="http://schemas.microsoft.com/office/drawing/2014/main" id="{C02EA2B9-CF19-D0A0-894A-630D56FB3684}"/>
                </a:ext>
              </a:extLst>
            </p:cNvPr>
            <p:cNvSpPr>
              <a:spLocks noChangeArrowheads="1"/>
            </p:cNvSpPr>
            <p:nvPr/>
          </p:nvSpPr>
          <p:spPr bwMode="auto">
            <a:xfrm>
              <a:off x="258" y="85"/>
              <a:ext cx="87" cy="8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solidFill>
                  <a:schemeClr val="hlink"/>
                </a:solidFill>
              </a:endParaRPr>
            </a:p>
          </p:txBody>
        </p:sp>
        <p:sp>
          <p:nvSpPr>
            <p:cNvPr id="1035" name="Rectangle 8">
              <a:extLst>
                <a:ext uri="{FF2B5EF4-FFF2-40B4-BE49-F238E27FC236}">
                  <a16:creationId xmlns:a16="http://schemas.microsoft.com/office/drawing/2014/main" id="{741281C6-618F-ABF5-2A50-13A18397BC31}"/>
                </a:ext>
              </a:extLst>
            </p:cNvPr>
            <p:cNvSpPr>
              <a:spLocks noChangeArrowheads="1"/>
            </p:cNvSpPr>
            <p:nvPr/>
          </p:nvSpPr>
          <p:spPr bwMode="auto">
            <a:xfrm>
              <a:off x="345" y="0"/>
              <a:ext cx="88"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solidFill>
                  <a:schemeClr val="hlink"/>
                </a:solidFill>
              </a:endParaRPr>
            </a:p>
          </p:txBody>
        </p:sp>
        <p:sp>
          <p:nvSpPr>
            <p:cNvPr id="1036" name="Rectangle 9">
              <a:extLst>
                <a:ext uri="{FF2B5EF4-FFF2-40B4-BE49-F238E27FC236}">
                  <a16:creationId xmlns:a16="http://schemas.microsoft.com/office/drawing/2014/main" id="{84C7634F-35DB-1F55-90B9-297A365A102F}"/>
                </a:ext>
              </a:extLst>
            </p:cNvPr>
            <p:cNvSpPr>
              <a:spLocks noChangeArrowheads="1"/>
            </p:cNvSpPr>
            <p:nvPr/>
          </p:nvSpPr>
          <p:spPr bwMode="auto">
            <a:xfrm>
              <a:off x="345" y="85"/>
              <a:ext cx="88" cy="8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solidFill>
                  <a:schemeClr val="accent2"/>
                </a:solidFill>
              </a:endParaRPr>
            </a:p>
          </p:txBody>
        </p:sp>
        <p:sp>
          <p:nvSpPr>
            <p:cNvPr id="1037" name="Rectangle 10">
              <a:extLst>
                <a:ext uri="{FF2B5EF4-FFF2-40B4-BE49-F238E27FC236}">
                  <a16:creationId xmlns:a16="http://schemas.microsoft.com/office/drawing/2014/main" id="{F180AFAB-B265-3BFC-6496-3034A902CC20}"/>
                </a:ext>
              </a:extLst>
            </p:cNvPr>
            <p:cNvSpPr>
              <a:spLocks noChangeArrowheads="1"/>
            </p:cNvSpPr>
            <p:nvPr/>
          </p:nvSpPr>
          <p:spPr bwMode="auto">
            <a:xfrm>
              <a:off x="173" y="173"/>
              <a:ext cx="86"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solidFill>
                  <a:schemeClr val="hlink"/>
                </a:solidFill>
              </a:endParaRPr>
            </a:p>
          </p:txBody>
        </p:sp>
        <p:sp>
          <p:nvSpPr>
            <p:cNvPr id="1038" name="Rectangle 11">
              <a:extLst>
                <a:ext uri="{FF2B5EF4-FFF2-40B4-BE49-F238E27FC236}">
                  <a16:creationId xmlns:a16="http://schemas.microsoft.com/office/drawing/2014/main" id="{3085421A-5BB4-FFBC-AB3D-0848A6D07153}"/>
                </a:ext>
              </a:extLst>
            </p:cNvPr>
            <p:cNvSpPr>
              <a:spLocks noChangeArrowheads="1"/>
            </p:cNvSpPr>
            <p:nvPr/>
          </p:nvSpPr>
          <p:spPr bwMode="auto">
            <a:xfrm>
              <a:off x="83" y="86"/>
              <a:ext cx="89" cy="87"/>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sz="2400">
                <a:latin typeface="Times New Roman" panose="02020603050405020304" pitchFamily="18" charset="0"/>
              </a:endParaRPr>
            </a:p>
          </p:txBody>
        </p:sp>
        <p:sp>
          <p:nvSpPr>
            <p:cNvPr id="1039" name="Rectangle 12">
              <a:extLst>
                <a:ext uri="{FF2B5EF4-FFF2-40B4-BE49-F238E27FC236}">
                  <a16:creationId xmlns:a16="http://schemas.microsoft.com/office/drawing/2014/main" id="{1AD019A4-699B-FC6E-29BA-DBAC3BD53564}"/>
                </a:ext>
              </a:extLst>
            </p:cNvPr>
            <p:cNvSpPr>
              <a:spLocks noChangeArrowheads="1"/>
            </p:cNvSpPr>
            <p:nvPr/>
          </p:nvSpPr>
          <p:spPr bwMode="auto">
            <a:xfrm>
              <a:off x="258" y="171"/>
              <a:ext cx="87" cy="87"/>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solidFill>
                  <a:schemeClr val="accent2"/>
                </a:solidFill>
              </a:endParaRPr>
            </a:p>
          </p:txBody>
        </p:sp>
        <p:sp>
          <p:nvSpPr>
            <p:cNvPr id="1040" name="Rectangle 13">
              <a:extLst>
                <a:ext uri="{FF2B5EF4-FFF2-40B4-BE49-F238E27FC236}">
                  <a16:creationId xmlns:a16="http://schemas.microsoft.com/office/drawing/2014/main" id="{E1DEB333-BB95-70AF-B5B5-8A33CD8D0591}"/>
                </a:ext>
              </a:extLst>
            </p:cNvPr>
            <p:cNvSpPr>
              <a:spLocks noChangeArrowheads="1"/>
            </p:cNvSpPr>
            <p:nvPr/>
          </p:nvSpPr>
          <p:spPr bwMode="auto">
            <a:xfrm>
              <a:off x="173" y="258"/>
              <a:ext cx="86" cy="8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solidFill>
                  <a:schemeClr val="accent2"/>
                </a:solidFill>
              </a:endParaRPr>
            </a:p>
          </p:txBody>
        </p:sp>
      </p:grpSp>
      <p:sp>
        <p:nvSpPr>
          <p:cNvPr id="1029" name="Rectangle 14">
            <a:extLst>
              <a:ext uri="{FF2B5EF4-FFF2-40B4-BE49-F238E27FC236}">
                <a16:creationId xmlns:a16="http://schemas.microsoft.com/office/drawing/2014/main" id="{8F82B5CD-3579-0A7D-833C-38FBA21F4BC1}"/>
              </a:ext>
            </a:extLst>
          </p:cNvPr>
          <p:cNvSpPr>
            <a:spLocks noGrp="1" noChangeArrowheads="1"/>
          </p:cNvSpPr>
          <p:nvPr>
            <p:ph type="title"/>
          </p:nvPr>
        </p:nvSpPr>
        <p:spPr bwMode="auto">
          <a:xfrm>
            <a:off x="457200" y="457200"/>
            <a:ext cx="82296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30" name="Rectangle 15">
            <a:extLst>
              <a:ext uri="{FF2B5EF4-FFF2-40B4-BE49-F238E27FC236}">
                <a16:creationId xmlns:a16="http://schemas.microsoft.com/office/drawing/2014/main" id="{51778C15-7779-3F27-89C8-268806EA46A6}"/>
              </a:ext>
            </a:extLst>
          </p:cNvPr>
          <p:cNvSpPr>
            <a:spLocks noGrp="1" noChangeArrowheads="1"/>
          </p:cNvSpPr>
          <p:nvPr>
            <p:ph type="body" idx="1"/>
          </p:nvPr>
        </p:nvSpPr>
        <p:spPr bwMode="auto">
          <a:xfrm>
            <a:off x="457200" y="1981200"/>
            <a:ext cx="8229600" cy="388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73744" name="Rectangle 16">
            <a:extLst>
              <a:ext uri="{FF2B5EF4-FFF2-40B4-BE49-F238E27FC236}">
                <a16:creationId xmlns:a16="http://schemas.microsoft.com/office/drawing/2014/main" id="{075B12F1-CA7C-0263-AD71-02D911E5AA2D}"/>
              </a:ext>
            </a:extLst>
          </p:cNvPr>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vl1pPr>
          </a:lstStyle>
          <a:p>
            <a:pPr>
              <a:defRPr/>
            </a:pPr>
            <a:fld id="{AB8733A4-6EF2-4D3F-B500-A2980DB81AF0}" type="datetimeFigureOut">
              <a:rPr lang="en-US" altLang="en-US"/>
              <a:pPr>
                <a:defRPr/>
              </a:pPr>
              <a:t>6/13/2025</a:t>
            </a:fld>
            <a:endParaRPr lang="en-US" altLang="en-US"/>
          </a:p>
        </p:txBody>
      </p:sp>
    </p:spTree>
    <p:extLst>
      <p:ext uri="{BB962C8B-B14F-4D97-AF65-F5344CB8AC3E}">
        <p14:creationId xmlns:p14="http://schemas.microsoft.com/office/powerpoint/2010/main" val="76145150"/>
      </p:ext>
    </p:extLst>
  </p:cSld>
  <p:clrMap bg1="lt1" tx1="dk1" bg2="lt2" tx2="dk2" accent1="accent1" accent2="accent2" accent3="accent3" accent4="accent4" accent5="accent5" accent6="accent6" hlink="hlink" folHlink="folHlink"/>
  <p:sldLayoutIdLst>
    <p:sldLayoutId id="2147484188" r:id="rId1"/>
    <p:sldLayoutId id="2147484189" r:id="rId2"/>
    <p:sldLayoutId id="2147484190" r:id="rId3"/>
    <p:sldLayoutId id="2147484191" r:id="rId4"/>
    <p:sldLayoutId id="2147484192" r:id="rId5"/>
    <p:sldLayoutId id="2147484193" r:id="rId6"/>
    <p:sldLayoutId id="2147484194" r:id="rId7"/>
    <p:sldLayoutId id="2147484195" r:id="rId8"/>
    <p:sldLayoutId id="2147484196" r:id="rId9"/>
    <p:sldLayoutId id="2147484197" r:id="rId10"/>
    <p:sldLayoutId id="2147484198" r:id="rId11"/>
    <p:sldLayoutId id="2147484199" r:id="rId12"/>
  </p:sldLayoutIdLst>
  <p:txStyles>
    <p:titleStyle>
      <a:lvl1pPr algn="l" rtl="0" eaLnBrk="0" fontAlgn="base" hangingPunct="0">
        <a:spcBef>
          <a:spcPct val="0"/>
        </a:spcBef>
        <a:spcAft>
          <a:spcPct val="0"/>
        </a:spcAft>
        <a:defRPr sz="4400" kern="12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panose="020B0604020202020204" pitchFamily="34" charset="0"/>
          <a:cs typeface="Arial" panose="020B0604020202020204" pitchFamily="34" charset="0"/>
        </a:defRPr>
      </a:lvl2pPr>
      <a:lvl3pPr algn="l" rtl="0" eaLnBrk="0" fontAlgn="base" hangingPunct="0">
        <a:spcBef>
          <a:spcPct val="0"/>
        </a:spcBef>
        <a:spcAft>
          <a:spcPct val="0"/>
        </a:spcAft>
        <a:defRPr sz="4400">
          <a:solidFill>
            <a:schemeClr val="tx1"/>
          </a:solidFill>
          <a:latin typeface="Arial" panose="020B0604020202020204" pitchFamily="34" charset="0"/>
          <a:cs typeface="Arial" panose="020B0604020202020204" pitchFamily="34" charset="0"/>
        </a:defRPr>
      </a:lvl3pPr>
      <a:lvl4pPr algn="l" rtl="0" eaLnBrk="0" fontAlgn="base" hangingPunct="0">
        <a:spcBef>
          <a:spcPct val="0"/>
        </a:spcBef>
        <a:spcAft>
          <a:spcPct val="0"/>
        </a:spcAft>
        <a:defRPr sz="4400">
          <a:solidFill>
            <a:schemeClr val="tx1"/>
          </a:solidFill>
          <a:latin typeface="Arial" panose="020B0604020202020204" pitchFamily="34" charset="0"/>
          <a:cs typeface="Arial" panose="020B0604020202020204" pitchFamily="34" charset="0"/>
        </a:defRPr>
      </a:lvl4pPr>
      <a:lvl5pPr algn="l" rtl="0" eaLnBrk="0" fontAlgn="base" hangingPunct="0">
        <a:spcBef>
          <a:spcPct val="0"/>
        </a:spcBef>
        <a:spcAft>
          <a:spcPct val="0"/>
        </a:spcAft>
        <a:defRPr sz="4400">
          <a:solidFill>
            <a:schemeClr val="tx1"/>
          </a:solidFill>
          <a:latin typeface="Arial" panose="020B0604020202020204" pitchFamily="34" charset="0"/>
          <a:cs typeface="Arial" panose="020B0604020202020204" pitchFamily="34" charset="0"/>
        </a:defRPr>
      </a:lvl5pPr>
      <a:lvl6pPr marL="457200" algn="l" rtl="0" fontAlgn="base">
        <a:spcBef>
          <a:spcPct val="0"/>
        </a:spcBef>
        <a:spcAft>
          <a:spcPct val="0"/>
        </a:spcAft>
        <a:defRPr sz="4400">
          <a:solidFill>
            <a:schemeClr val="tx1"/>
          </a:solidFill>
          <a:latin typeface="Arial" panose="020B0604020202020204" pitchFamily="34" charset="0"/>
          <a:cs typeface="Arial" panose="020B0604020202020204" pitchFamily="34" charset="0"/>
        </a:defRPr>
      </a:lvl6pPr>
      <a:lvl7pPr marL="914400" algn="l" rtl="0" fontAlgn="base">
        <a:spcBef>
          <a:spcPct val="0"/>
        </a:spcBef>
        <a:spcAft>
          <a:spcPct val="0"/>
        </a:spcAft>
        <a:defRPr sz="4400">
          <a:solidFill>
            <a:schemeClr val="tx1"/>
          </a:solidFill>
          <a:latin typeface="Arial" panose="020B0604020202020204" pitchFamily="34" charset="0"/>
          <a:cs typeface="Arial" panose="020B0604020202020204" pitchFamily="34" charset="0"/>
        </a:defRPr>
      </a:lvl7pPr>
      <a:lvl8pPr marL="1371600" algn="l" rtl="0" fontAlgn="base">
        <a:spcBef>
          <a:spcPct val="0"/>
        </a:spcBef>
        <a:spcAft>
          <a:spcPct val="0"/>
        </a:spcAft>
        <a:defRPr sz="4400">
          <a:solidFill>
            <a:schemeClr val="tx1"/>
          </a:solidFill>
          <a:latin typeface="Arial" panose="020B0604020202020204" pitchFamily="34" charset="0"/>
          <a:cs typeface="Arial" panose="020B0604020202020204" pitchFamily="34" charset="0"/>
        </a:defRPr>
      </a:lvl8pPr>
      <a:lvl9pPr marL="1828800" algn="l" rtl="0" fontAlgn="base">
        <a:spcBef>
          <a:spcPct val="0"/>
        </a:spcBef>
        <a:spcAft>
          <a:spcPct val="0"/>
        </a:spcAft>
        <a:defRPr sz="4400">
          <a:solidFill>
            <a:schemeClr val="tx1"/>
          </a:solidFill>
          <a:latin typeface="Arial" panose="020B0604020202020204" pitchFamily="34" charset="0"/>
          <a:cs typeface="Arial" panose="020B0604020202020204" pitchFamily="34" charset="0"/>
        </a:defRPr>
      </a:lvl9pPr>
    </p:titleStyle>
    <p:body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8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8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15.xml"/><Relationship Id="rId5" Type="http://schemas.openxmlformats.org/officeDocument/2006/relationships/image" Target="../media/image4.png"/><Relationship Id="rId4" Type="http://schemas.openxmlformats.org/officeDocument/2006/relationships/image" Target="../media/image7.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3" Type="http://schemas.openxmlformats.org/officeDocument/2006/relationships/slide" Target="slide17.xml"/><Relationship Id="rId2" Type="http://schemas.openxmlformats.org/officeDocument/2006/relationships/slide" Target="slide16.xml"/><Relationship Id="rId1" Type="http://schemas.openxmlformats.org/officeDocument/2006/relationships/slideLayout" Target="../slideLayouts/slideLayout17.xml"/><Relationship Id="rId4" Type="http://schemas.openxmlformats.org/officeDocument/2006/relationships/slide" Target="slide1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slide" Target="slide29.xml"/><Relationship Id="rId2" Type="http://schemas.openxmlformats.org/officeDocument/2006/relationships/slide" Target="slide21.xml"/><Relationship Id="rId1" Type="http://schemas.openxmlformats.org/officeDocument/2006/relationships/slideLayout" Target="../slideLayouts/slideLayout12.xml"/><Relationship Id="rId6" Type="http://schemas.openxmlformats.org/officeDocument/2006/relationships/slide" Target="slide37.xml"/><Relationship Id="rId5" Type="http://schemas.openxmlformats.org/officeDocument/2006/relationships/slide" Target="slide32.xml"/><Relationship Id="rId4" Type="http://schemas.openxmlformats.org/officeDocument/2006/relationships/slide" Target="slide3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slide" Target="slide25.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slide" Target="slide24.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slide" Target="slide34.xml"/><Relationship Id="rId2" Type="http://schemas.openxmlformats.org/officeDocument/2006/relationships/slide" Target="slide33.xml"/><Relationship Id="rId1" Type="http://schemas.openxmlformats.org/officeDocument/2006/relationships/slideLayout" Target="../slideLayouts/slideLayout12.xml"/><Relationship Id="rId4" Type="http://schemas.openxmlformats.org/officeDocument/2006/relationships/slide" Target="slide3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slide" Target="slide42.xml"/><Relationship Id="rId2" Type="http://schemas.openxmlformats.org/officeDocument/2006/relationships/slide" Target="slide39.xml"/><Relationship Id="rId1" Type="http://schemas.openxmlformats.org/officeDocument/2006/relationships/slideLayout" Target="../slideLayouts/slideLayout12.xml"/><Relationship Id="rId5" Type="http://schemas.openxmlformats.org/officeDocument/2006/relationships/slide" Target="slide52.xml"/><Relationship Id="rId4" Type="http://schemas.openxmlformats.org/officeDocument/2006/relationships/slide" Target="slide4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2" Type="http://schemas.openxmlformats.org/officeDocument/2006/relationships/slide" Target="slide62.xml"/><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3" Type="http://schemas.openxmlformats.org/officeDocument/2006/relationships/slide" Target="slide81.xml"/><Relationship Id="rId2" Type="http://schemas.openxmlformats.org/officeDocument/2006/relationships/slide" Target="slide64.xml"/><Relationship Id="rId1" Type="http://schemas.openxmlformats.org/officeDocument/2006/relationships/slideLayout" Target="../slideLayouts/slideLayout12.xml"/><Relationship Id="rId5" Type="http://schemas.openxmlformats.org/officeDocument/2006/relationships/slide" Target="slide68.xml"/><Relationship Id="rId4" Type="http://schemas.openxmlformats.org/officeDocument/2006/relationships/slide" Target="slide8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4.xml.rels><?xml version="1.0" encoding="UTF-8" standalone="yes"?>
<Relationships xmlns="http://schemas.openxmlformats.org/package/2006/relationships"><Relationship Id="rId3" Type="http://schemas.openxmlformats.org/officeDocument/2006/relationships/slide" Target="slide85.xml"/><Relationship Id="rId2" Type="http://schemas.openxmlformats.org/officeDocument/2006/relationships/slide" Target="slide92.xml"/><Relationship Id="rId1" Type="http://schemas.openxmlformats.org/officeDocument/2006/relationships/slideLayout" Target="../slideLayouts/slideLayout2.xml"/><Relationship Id="rId6" Type="http://schemas.openxmlformats.org/officeDocument/2006/relationships/slide" Target="slide94.xml"/><Relationship Id="rId5" Type="http://schemas.openxmlformats.org/officeDocument/2006/relationships/slide" Target="slide93.xml"/><Relationship Id="rId4" Type="http://schemas.openxmlformats.org/officeDocument/2006/relationships/slide" Target="slide86.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slide" Target="slide122.xml"/><Relationship Id="rId2" Type="http://schemas.openxmlformats.org/officeDocument/2006/relationships/slide" Target="slide121.xml"/><Relationship Id="rId1" Type="http://schemas.openxmlformats.org/officeDocument/2006/relationships/slideLayout" Target="../slideLayouts/slideLayout2.xml"/><Relationship Id="rId6" Type="http://schemas.openxmlformats.org/officeDocument/2006/relationships/slide" Target="slide126.xml"/><Relationship Id="rId5" Type="http://schemas.openxmlformats.org/officeDocument/2006/relationships/slide" Target="slide124.xml"/><Relationship Id="rId4" Type="http://schemas.openxmlformats.org/officeDocument/2006/relationships/slide" Target="slide123.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slide" Target="slide128.xml"/><Relationship Id="rId2" Type="http://schemas.openxmlformats.org/officeDocument/2006/relationships/slide" Target="slide135.xml"/><Relationship Id="rId1" Type="http://schemas.openxmlformats.org/officeDocument/2006/relationships/slideLayout" Target="../slideLayouts/slideLayout2.xml"/><Relationship Id="rId6" Type="http://schemas.openxmlformats.org/officeDocument/2006/relationships/slide" Target="slide137.xml"/><Relationship Id="rId5" Type="http://schemas.openxmlformats.org/officeDocument/2006/relationships/slide" Target="slide136.xml"/><Relationship Id="rId4" Type="http://schemas.openxmlformats.org/officeDocument/2006/relationships/slide" Target="slide129.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41.xml.rels><?xml version="1.0" encoding="UTF-8" standalone="yes"?>
<Relationships xmlns="http://schemas.openxmlformats.org/package/2006/relationships"><Relationship Id="rId3" Type="http://schemas.openxmlformats.org/officeDocument/2006/relationships/slide" Target="slide143.xml"/><Relationship Id="rId2" Type="http://schemas.openxmlformats.org/officeDocument/2006/relationships/slide" Target="slide142.xml"/><Relationship Id="rId1" Type="http://schemas.openxmlformats.org/officeDocument/2006/relationships/slideLayout" Target="../slideLayouts/slideLayout24.xml"/><Relationship Id="rId4" Type="http://schemas.openxmlformats.org/officeDocument/2006/relationships/slide" Target="slide144.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44.xml.rels><?xml version="1.0" encoding="UTF-8" standalone="yes"?>
<Relationships xmlns="http://schemas.openxmlformats.org/package/2006/relationships"><Relationship Id="rId3" Type="http://schemas.openxmlformats.org/officeDocument/2006/relationships/slide" Target="slide146.xml"/><Relationship Id="rId2" Type="http://schemas.openxmlformats.org/officeDocument/2006/relationships/slide" Target="slide145.xml"/><Relationship Id="rId1" Type="http://schemas.openxmlformats.org/officeDocument/2006/relationships/slideLayout" Target="../slideLayouts/slideLayout24.xml"/><Relationship Id="rId4" Type="http://schemas.openxmlformats.org/officeDocument/2006/relationships/slide" Target="slide14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54.xml.rels><?xml version="1.0" encoding="UTF-8" standalone="yes"?>
<Relationships xmlns="http://schemas.openxmlformats.org/package/2006/relationships"><Relationship Id="rId8" Type="http://schemas.openxmlformats.org/officeDocument/2006/relationships/slide" Target="slide170.xml"/><Relationship Id="rId3" Type="http://schemas.openxmlformats.org/officeDocument/2006/relationships/slide" Target="slide157.xml"/><Relationship Id="rId7" Type="http://schemas.openxmlformats.org/officeDocument/2006/relationships/slide" Target="slide171.xml"/><Relationship Id="rId2" Type="http://schemas.openxmlformats.org/officeDocument/2006/relationships/slide" Target="slide155.xml"/><Relationship Id="rId1" Type="http://schemas.openxmlformats.org/officeDocument/2006/relationships/slideLayout" Target="../slideLayouts/slideLayout24.xml"/><Relationship Id="rId6" Type="http://schemas.openxmlformats.org/officeDocument/2006/relationships/slide" Target="slide165.xml"/><Relationship Id="rId5" Type="http://schemas.openxmlformats.org/officeDocument/2006/relationships/slide" Target="slide166.xml"/><Relationship Id="rId4" Type="http://schemas.openxmlformats.org/officeDocument/2006/relationships/slide" Target="slide156.xml"/></Relationships>
</file>

<file path=ppt/slides/_rels/slide155.xml.rels><?xml version="1.0" encoding="UTF-8" standalone="yes"?>
<Relationships xmlns="http://schemas.openxmlformats.org/package/2006/relationships"><Relationship Id="rId3" Type="http://schemas.openxmlformats.org/officeDocument/2006/relationships/slide" Target="slide170.xml"/><Relationship Id="rId2" Type="http://schemas.openxmlformats.org/officeDocument/2006/relationships/slide" Target="slide171.xml"/><Relationship Id="rId1" Type="http://schemas.openxmlformats.org/officeDocument/2006/relationships/slideLayout" Target="../slideLayouts/slideLayout24.xml"/><Relationship Id="rId4" Type="http://schemas.openxmlformats.org/officeDocument/2006/relationships/slide" Target="slide154.xml"/></Relationships>
</file>

<file path=ppt/slides/_rels/slide156.xml.rels><?xml version="1.0" encoding="UTF-8" standalone="yes"?>
<Relationships xmlns="http://schemas.openxmlformats.org/package/2006/relationships"><Relationship Id="rId3" Type="http://schemas.openxmlformats.org/officeDocument/2006/relationships/slide" Target="slide170.xml"/><Relationship Id="rId2" Type="http://schemas.openxmlformats.org/officeDocument/2006/relationships/slide" Target="slide171.xml"/><Relationship Id="rId1" Type="http://schemas.openxmlformats.org/officeDocument/2006/relationships/slideLayout" Target="../slideLayouts/slideLayout24.xml"/><Relationship Id="rId4" Type="http://schemas.openxmlformats.org/officeDocument/2006/relationships/slide" Target="slide154.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65.xml.rels><?xml version="1.0" encoding="UTF-8" standalone="yes"?>
<Relationships xmlns="http://schemas.openxmlformats.org/package/2006/relationships"><Relationship Id="rId3" Type="http://schemas.openxmlformats.org/officeDocument/2006/relationships/slide" Target="slide170.xml"/><Relationship Id="rId2" Type="http://schemas.openxmlformats.org/officeDocument/2006/relationships/slide" Target="slide171.xml"/><Relationship Id="rId1" Type="http://schemas.openxmlformats.org/officeDocument/2006/relationships/slideLayout" Target="../slideLayouts/slideLayout24.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70.xml.rels><?xml version="1.0" encoding="UTF-8" standalone="yes"?>
<Relationships xmlns="http://schemas.openxmlformats.org/package/2006/relationships"><Relationship Id="rId3" Type="http://schemas.openxmlformats.org/officeDocument/2006/relationships/slide" Target="slide170.xml"/><Relationship Id="rId2" Type="http://schemas.openxmlformats.org/officeDocument/2006/relationships/slide" Target="slide171.xml"/><Relationship Id="rId1" Type="http://schemas.openxmlformats.org/officeDocument/2006/relationships/slideLayout" Target="../slideLayouts/slideLayout24.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75.xml.rels><?xml version="1.0" encoding="UTF-8" standalone="yes"?>
<Relationships xmlns="http://schemas.openxmlformats.org/package/2006/relationships"><Relationship Id="rId2" Type="http://schemas.openxmlformats.org/officeDocument/2006/relationships/slide" Target="slide176.xml"/><Relationship Id="rId1" Type="http://schemas.openxmlformats.org/officeDocument/2006/relationships/slideLayout" Target="../slideLayouts/slideLayout24.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8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slideLayout" Target="../slideLayouts/slideLayout24.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8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7.xml"/></Relationships>
</file>

<file path=ppt/slides/_rels/slide18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5.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9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0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5.xml"/></Relationships>
</file>

<file path=ppt/slides/_rels/slide204.xml.rels><?xml version="1.0" encoding="UTF-8" standalone="yes"?>
<Relationships xmlns="http://schemas.openxmlformats.org/package/2006/relationships"><Relationship Id="rId3" Type="http://schemas.openxmlformats.org/officeDocument/2006/relationships/hyperlink" Target="https://blog.udemy.com/wp-content/uploads/2014/05/s6.png" TargetMode="External"/><Relationship Id="rId2" Type="http://schemas.openxmlformats.org/officeDocument/2006/relationships/image" Target="../media/image11.png"/><Relationship Id="rId1" Type="http://schemas.openxmlformats.org/officeDocument/2006/relationships/slideLayout" Target="../slideLayouts/slideLayout35.xml"/><Relationship Id="rId6" Type="http://schemas.openxmlformats.org/officeDocument/2006/relationships/image" Target="../media/image13.png"/><Relationship Id="rId5" Type="http://schemas.openxmlformats.org/officeDocument/2006/relationships/hyperlink" Target="https://blog.udemy.com/wp-content/uploads/2014/05/S74.png" TargetMode="External"/><Relationship Id="rId4" Type="http://schemas.openxmlformats.org/officeDocument/2006/relationships/image" Target="../media/image12.png"/></Relationships>
</file>

<file path=ppt/slides/_rels/slide205.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35.xml"/></Relationships>
</file>

<file path=ppt/slides/_rels/slide206.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35.xml"/></Relationships>
</file>

<file path=ppt/slides/_rels/slide207.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emf"/><Relationship Id="rId1" Type="http://schemas.openxmlformats.org/officeDocument/2006/relationships/slideLayout" Target="../slideLayouts/slideLayout35.xml"/><Relationship Id="rId4" Type="http://schemas.openxmlformats.org/officeDocument/2006/relationships/image" Target="../media/image18.emf"/></Relationships>
</file>

<file path=ppt/slides/_rels/slide208.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19.emf"/><Relationship Id="rId1" Type="http://schemas.openxmlformats.org/officeDocument/2006/relationships/slideLayout" Target="../slideLayouts/slideLayout35.xml"/><Relationship Id="rId5" Type="http://schemas.openxmlformats.org/officeDocument/2006/relationships/image" Target="../media/image18.emf"/><Relationship Id="rId4" Type="http://schemas.openxmlformats.org/officeDocument/2006/relationships/image" Target="../media/image17.emf"/></Relationships>
</file>

<file path=ppt/slides/_rels/slide20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1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3.xml"/></Relationships>
</file>

<file path=ppt/slides/_rels/slide2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3" Type="http://schemas.openxmlformats.org/officeDocument/2006/relationships/slide" Target="slide220.xml"/><Relationship Id="rId2" Type="http://schemas.openxmlformats.org/officeDocument/2006/relationships/slide" Target="slide213.xml"/><Relationship Id="rId1" Type="http://schemas.openxmlformats.org/officeDocument/2006/relationships/slideLayout" Target="../slideLayouts/slideLayout14.xml"/><Relationship Id="rId6" Type="http://schemas.openxmlformats.org/officeDocument/2006/relationships/slide" Target="slide235.xml"/><Relationship Id="rId5" Type="http://schemas.openxmlformats.org/officeDocument/2006/relationships/slide" Target="slide233.xml"/><Relationship Id="rId4" Type="http://schemas.openxmlformats.org/officeDocument/2006/relationships/slide" Target="slide226.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4.xml.rels><?xml version="1.0" encoding="UTF-8" standalone="yes"?>
<Relationships xmlns="http://schemas.openxmlformats.org/package/2006/relationships"><Relationship Id="rId2" Type="http://schemas.openxmlformats.org/officeDocument/2006/relationships/slide" Target="slide225.xml"/><Relationship Id="rId1" Type="http://schemas.openxmlformats.org/officeDocument/2006/relationships/slideLayout" Target="../slideLayouts/slideLayout12.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6.xml.rels><?xml version="1.0" encoding="UTF-8" standalone="yes"?>
<Relationships xmlns="http://schemas.openxmlformats.org/package/2006/relationships"><Relationship Id="rId3" Type="http://schemas.openxmlformats.org/officeDocument/2006/relationships/slide" Target="slide231.xml"/><Relationship Id="rId2" Type="http://schemas.openxmlformats.org/officeDocument/2006/relationships/slide" Target="slide227.xml"/><Relationship Id="rId1" Type="http://schemas.openxmlformats.org/officeDocument/2006/relationships/slideLayout" Target="../slideLayouts/slideLayout12.xml"/><Relationship Id="rId4" Type="http://schemas.openxmlformats.org/officeDocument/2006/relationships/slide" Target="slide229.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3.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46.xml.rels><?xml version="1.0" encoding="UTF-8" standalone="yes"?>
<Relationships xmlns="http://schemas.openxmlformats.org/package/2006/relationships"><Relationship Id="rId3" Type="http://schemas.openxmlformats.org/officeDocument/2006/relationships/slide" Target="slide248.xml"/><Relationship Id="rId7" Type="http://schemas.openxmlformats.org/officeDocument/2006/relationships/slide" Target="slide252.xml"/><Relationship Id="rId2" Type="http://schemas.openxmlformats.org/officeDocument/2006/relationships/slide" Target="slide247.xml"/><Relationship Id="rId1" Type="http://schemas.openxmlformats.org/officeDocument/2006/relationships/slideLayout" Target="../slideLayouts/slideLayout18.xml"/><Relationship Id="rId6" Type="http://schemas.openxmlformats.org/officeDocument/2006/relationships/slide" Target="slide251.xml"/><Relationship Id="rId5" Type="http://schemas.openxmlformats.org/officeDocument/2006/relationships/slide" Target="slide250.xml"/><Relationship Id="rId4" Type="http://schemas.openxmlformats.org/officeDocument/2006/relationships/slide" Target="slide249.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5.xml.rels><?xml version="1.0" encoding="UTF-8" standalone="yes"?>
<Relationships xmlns="http://schemas.openxmlformats.org/package/2006/relationships"><Relationship Id="rId3" Type="http://schemas.openxmlformats.org/officeDocument/2006/relationships/slide" Target="slide257.xml"/><Relationship Id="rId2" Type="http://schemas.openxmlformats.org/officeDocument/2006/relationships/slide" Target="slide256.xml"/><Relationship Id="rId1" Type="http://schemas.openxmlformats.org/officeDocument/2006/relationships/slideLayout" Target="../slideLayouts/slideLayout12.xml"/><Relationship Id="rId6" Type="http://schemas.openxmlformats.org/officeDocument/2006/relationships/slide" Target="slide260.xml"/><Relationship Id="rId5" Type="http://schemas.openxmlformats.org/officeDocument/2006/relationships/slide" Target="slide259.xml"/><Relationship Id="rId4" Type="http://schemas.openxmlformats.org/officeDocument/2006/relationships/slide" Target="slide258.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3.xml.rels><?xml version="1.0" encoding="UTF-8" standalone="yes"?>
<Relationships xmlns="http://schemas.openxmlformats.org/package/2006/relationships"><Relationship Id="rId3" Type="http://schemas.openxmlformats.org/officeDocument/2006/relationships/slide" Target="slide265.xml"/><Relationship Id="rId2" Type="http://schemas.openxmlformats.org/officeDocument/2006/relationships/slide" Target="slide264.xml"/><Relationship Id="rId1" Type="http://schemas.openxmlformats.org/officeDocument/2006/relationships/slideLayout" Target="../slideLayouts/slideLayout12.xml"/><Relationship Id="rId6" Type="http://schemas.openxmlformats.org/officeDocument/2006/relationships/slide" Target="slide270.xml"/><Relationship Id="rId5" Type="http://schemas.openxmlformats.org/officeDocument/2006/relationships/slide" Target="slide269.xml"/><Relationship Id="rId4" Type="http://schemas.openxmlformats.org/officeDocument/2006/relationships/slide" Target="slide268.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3.xml.rels><?xml version="1.0" encoding="UTF-8" standalone="yes"?>
<Relationships xmlns="http://schemas.openxmlformats.org/package/2006/relationships"><Relationship Id="rId3" Type="http://schemas.openxmlformats.org/officeDocument/2006/relationships/slide" Target="slide276.xml"/><Relationship Id="rId2" Type="http://schemas.openxmlformats.org/officeDocument/2006/relationships/slide" Target="slide274.xml"/><Relationship Id="rId1" Type="http://schemas.openxmlformats.org/officeDocument/2006/relationships/slideLayout" Target="../slideLayouts/slideLayout12.xml"/><Relationship Id="rId6" Type="http://schemas.openxmlformats.org/officeDocument/2006/relationships/slide" Target="slide279.xml"/><Relationship Id="rId5" Type="http://schemas.openxmlformats.org/officeDocument/2006/relationships/slide" Target="slide278.xml"/><Relationship Id="rId4" Type="http://schemas.openxmlformats.org/officeDocument/2006/relationships/slide" Target="slide277.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83.xml.rels><?xml version="1.0" encoding="UTF-8" standalone="yes"?>
<Relationships xmlns="http://schemas.openxmlformats.org/package/2006/relationships"><Relationship Id="rId3" Type="http://schemas.openxmlformats.org/officeDocument/2006/relationships/slide" Target="slide286.xml"/><Relationship Id="rId2" Type="http://schemas.openxmlformats.org/officeDocument/2006/relationships/slide" Target="slide284.xml"/><Relationship Id="rId1" Type="http://schemas.openxmlformats.org/officeDocument/2006/relationships/slideLayout" Target="../slideLayouts/slideLayout17.xml"/><Relationship Id="rId6" Type="http://schemas.openxmlformats.org/officeDocument/2006/relationships/slide" Target="slide289.xml"/><Relationship Id="rId5" Type="http://schemas.openxmlformats.org/officeDocument/2006/relationships/slide" Target="slide288.xml"/><Relationship Id="rId4" Type="http://schemas.openxmlformats.org/officeDocument/2006/relationships/slide" Target="slide287.xml"/></Relationships>
</file>

<file path=ppt/slides/_rels/slide284.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18.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8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0.xml"/></Relationships>
</file>

<file path=ppt/slides/_rels/slide28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2.xml"/></Relationships>
</file>

<file path=ppt/slides/_rels/slide288.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12.xml"/></Relationships>
</file>

<file path=ppt/slides/_rels/slide28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12.xml"/></Relationships>
</file>

<file path=ppt/slides/_rels/slide290.xml.rels><?xml version="1.0" encoding="UTF-8" standalone="yes"?>
<Relationships xmlns="http://schemas.openxmlformats.org/package/2006/relationships"><Relationship Id="rId3" Type="http://schemas.openxmlformats.org/officeDocument/2006/relationships/slide" Target="slide291.xml"/><Relationship Id="rId2" Type="http://schemas.openxmlformats.org/officeDocument/2006/relationships/image" Target="../media/image28.jpeg"/><Relationship Id="rId1" Type="http://schemas.openxmlformats.org/officeDocument/2006/relationships/slideLayout" Target="../slideLayouts/slideLayout12.xml"/><Relationship Id="rId4" Type="http://schemas.openxmlformats.org/officeDocument/2006/relationships/slide" Target="slide294.xml"/></Relationships>
</file>

<file path=ppt/slides/_rels/slide291.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12.xml"/></Relationships>
</file>

<file path=ppt/slides/_rels/slide29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2.xml"/></Relationships>
</file>

<file path=ppt/slides/_rels/slide29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2.xml"/></Relationships>
</file>

<file path=ppt/slides/_rels/slide29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2.xml"/></Relationships>
</file>

<file path=ppt/slides/_rels/slide29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2.xml"/></Relationships>
</file>

<file path=ppt/slides/_rels/slide29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2.xml"/></Relationships>
</file>

<file path=ppt/slides/_rels/slide29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2.xml"/></Relationships>
</file>

<file path=ppt/slides/_rels/slide29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2.xml"/></Relationships>
</file>

<file path=ppt/slides/_rels/slide29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2.xml"/></Relationships>
</file>

<file path=ppt/slides/_rels/slide300.xml.rels><?xml version="1.0" encoding="UTF-8" standalone="yes"?>
<Relationships xmlns="http://schemas.openxmlformats.org/package/2006/relationships"><Relationship Id="rId3" Type="http://schemas.openxmlformats.org/officeDocument/2006/relationships/slide" Target="slide303.xml"/><Relationship Id="rId2" Type="http://schemas.openxmlformats.org/officeDocument/2006/relationships/slide" Target="slide301.xml"/><Relationship Id="rId1" Type="http://schemas.openxmlformats.org/officeDocument/2006/relationships/slideLayout" Target="../slideLayouts/slideLayout12.xml"/></Relationships>
</file>

<file path=ppt/slides/_rels/slide301.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12.xml"/></Relationships>
</file>

<file path=ppt/slides/_rels/slide302.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12.xml"/></Relationships>
</file>

<file path=ppt/slides/_rels/slide30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2.xml"/></Relationships>
</file>

<file path=ppt/slides/_rels/slide30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2.xml"/></Relationships>
</file>

<file path=ppt/slides/_rels/slide30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2.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2.xml"/></Relationships>
</file>

<file path=ppt/slides/_rels/slide30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2.xml"/></Relationships>
</file>

<file path=ppt/slides/_rels/slide30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2.xml"/></Relationships>
</file>

<file path=ppt/slides/_rels/slide31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2.xml"/></Relationships>
</file>

<file path=ppt/slides/_rels/slide31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2.xml"/></Relationships>
</file>

<file path=ppt/slides/_rels/slide31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2.xml"/></Relationships>
</file>

<file path=ppt/slides/_rels/slide31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2.xml"/></Relationships>
</file>

<file path=ppt/slides/_rels/slide31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2.xml"/></Relationships>
</file>

<file path=ppt/slides/_rels/slide31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2.xml"/></Relationships>
</file>

<file path=ppt/slides/_rels/slide316.xml.rels><?xml version="1.0" encoding="UTF-8" standalone="yes"?>
<Relationships xmlns="http://schemas.openxmlformats.org/package/2006/relationships"><Relationship Id="rId3" Type="http://schemas.openxmlformats.org/officeDocument/2006/relationships/slide" Target="slide322.xml"/><Relationship Id="rId2" Type="http://schemas.openxmlformats.org/officeDocument/2006/relationships/slide" Target="slide317.xml"/><Relationship Id="rId1" Type="http://schemas.openxmlformats.org/officeDocument/2006/relationships/slideLayout" Target="../slideLayouts/slideLayout12.xml"/><Relationship Id="rId5" Type="http://schemas.openxmlformats.org/officeDocument/2006/relationships/slide" Target="slide325.xml"/><Relationship Id="rId4" Type="http://schemas.openxmlformats.org/officeDocument/2006/relationships/slide" Target="slide323.xml"/></Relationships>
</file>

<file path=ppt/slides/_rels/slide31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1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1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2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2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2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2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32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3.png"/><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32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67A55A85-3D29-6685-69F4-20C2ED546FB4}"/>
              </a:ext>
            </a:extLst>
          </p:cNvPr>
          <p:cNvSpPr>
            <a:spLocks noGrp="1" noChangeArrowheads="1"/>
          </p:cNvSpPr>
          <p:nvPr>
            <p:ph type="title"/>
          </p:nvPr>
        </p:nvSpPr>
        <p:spPr>
          <a:xfrm>
            <a:off x="685800" y="0"/>
            <a:ext cx="7010400" cy="1143000"/>
          </a:xfrm>
        </p:spPr>
        <p:txBody>
          <a:bodyPr/>
          <a:lstStyle/>
          <a:p>
            <a:pPr algn="ctr">
              <a:defRPr/>
            </a:pPr>
            <a:r>
              <a:rPr lang="en-US" altLang="en-US" dirty="0"/>
              <a:t>Introduction</a:t>
            </a:r>
          </a:p>
        </p:txBody>
      </p:sp>
      <p:sp>
        <p:nvSpPr>
          <p:cNvPr id="15363" name="Rectangle 3">
            <a:extLst>
              <a:ext uri="{FF2B5EF4-FFF2-40B4-BE49-F238E27FC236}">
                <a16:creationId xmlns:a16="http://schemas.microsoft.com/office/drawing/2014/main" id="{4B3F8456-CB9E-FC52-DAE6-2F7FAEF06DE3}"/>
              </a:ext>
            </a:extLst>
          </p:cNvPr>
          <p:cNvSpPr>
            <a:spLocks noGrp="1"/>
          </p:cNvSpPr>
          <p:nvPr>
            <p:ph type="body" idx="1"/>
          </p:nvPr>
        </p:nvSpPr>
        <p:spPr>
          <a:xfrm>
            <a:off x="685800" y="1447800"/>
            <a:ext cx="7620000" cy="5029200"/>
          </a:xfrm>
        </p:spPr>
        <p:txBody>
          <a:bodyPr/>
          <a:lstStyle/>
          <a:p>
            <a:r>
              <a:rPr lang="en-US" altLang="en-US" sz="2800"/>
              <a:t>SQL is also pronounced as “Sequel”</a:t>
            </a:r>
          </a:p>
          <a:p>
            <a:r>
              <a:rPr lang="en-US" altLang="en-US" sz="2800"/>
              <a:t>A de-facto standard for relational DBMS</a:t>
            </a:r>
          </a:p>
          <a:p>
            <a:r>
              <a:rPr lang="en-US" altLang="en-US" sz="2800"/>
              <a:t>The standard accepted by bodies like ANSI and ISO</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3">
            <a:extLst>
              <a:ext uri="{FF2B5EF4-FFF2-40B4-BE49-F238E27FC236}">
                <a16:creationId xmlns:a16="http://schemas.microsoft.com/office/drawing/2014/main" id="{819B5E0E-E004-E15D-8BB7-6A5FFA8E7BDD}"/>
              </a:ext>
            </a:extLst>
          </p:cNvPr>
          <p:cNvSpPr>
            <a:spLocks noGrp="1"/>
          </p:cNvSpPr>
          <p:nvPr>
            <p:ph type="body" idx="1"/>
          </p:nvPr>
        </p:nvSpPr>
        <p:spPr>
          <a:xfrm>
            <a:off x="304800" y="1447800"/>
            <a:ext cx="8001000" cy="4953000"/>
          </a:xfrm>
        </p:spPr>
        <p:txBody>
          <a:bodyPr/>
          <a:lstStyle/>
          <a:p>
            <a:pPr algn="just">
              <a:lnSpc>
                <a:spcPct val="150000"/>
              </a:lnSpc>
            </a:pPr>
            <a:r>
              <a:rPr lang="en-US" altLang="en-US" sz="2800"/>
              <a:t>The first commercial DBMS that supported SQL in 1979 was Oracle</a:t>
            </a:r>
          </a:p>
          <a:p>
            <a:pPr algn="just">
              <a:lnSpc>
                <a:spcPct val="150000"/>
              </a:lnSpc>
            </a:pPr>
            <a:r>
              <a:rPr lang="en-US" altLang="en-US" sz="2800"/>
              <a:t>Another form of query language is Query-by-Example (QBE) supported by PC-based DBMSs</a:t>
            </a:r>
          </a:p>
        </p:txBody>
      </p:sp>
      <p:sp>
        <p:nvSpPr>
          <p:cNvPr id="5" name="Rectangle 2">
            <a:extLst>
              <a:ext uri="{FF2B5EF4-FFF2-40B4-BE49-F238E27FC236}">
                <a16:creationId xmlns:a16="http://schemas.microsoft.com/office/drawing/2014/main" id="{BE855AEC-964B-9470-5A67-5BC09CEF1861}"/>
              </a:ext>
            </a:extLst>
          </p:cNvPr>
          <p:cNvSpPr txBox="1">
            <a:spLocks noChangeArrowheads="1"/>
          </p:cNvSpPr>
          <p:nvPr/>
        </p:nvSpPr>
        <p:spPr>
          <a:xfrm>
            <a:off x="685800" y="0"/>
            <a:ext cx="7010400" cy="1143000"/>
          </a:xfrm>
          <a:prstGeom prst="rect">
            <a:avLst/>
          </a:prstGeom>
        </p:spPr>
        <p:txBody>
          <a:bodyPr anchor="ctr"/>
          <a:lstStyle>
            <a:lvl1pPr algn="l" rtl="0" eaLnBrk="0" fontAlgn="base" hangingPunct="0">
              <a:spcBef>
                <a:spcPct val="0"/>
              </a:spcBef>
              <a:spcAft>
                <a:spcPct val="0"/>
              </a:spcAft>
              <a:defRPr sz="4600" kern="1200" spc="-100">
                <a:solidFill>
                  <a:schemeClr val="tx2"/>
                </a:solidFill>
                <a:latin typeface="+mj-lt"/>
                <a:ea typeface="+mj-ea"/>
                <a:cs typeface="+mj-cs"/>
              </a:defRPr>
            </a:lvl1pPr>
            <a:lvl2pPr algn="l" rtl="0" eaLnBrk="0" fontAlgn="base" hangingPunct="0">
              <a:spcBef>
                <a:spcPct val="0"/>
              </a:spcBef>
              <a:spcAft>
                <a:spcPct val="0"/>
              </a:spcAft>
              <a:defRPr sz="4600">
                <a:solidFill>
                  <a:schemeClr val="tx2"/>
                </a:solidFill>
                <a:latin typeface="Cambria" pitchFamily="18" charset="0"/>
              </a:defRPr>
            </a:lvl2pPr>
            <a:lvl3pPr algn="l" rtl="0" eaLnBrk="0" fontAlgn="base" hangingPunct="0">
              <a:spcBef>
                <a:spcPct val="0"/>
              </a:spcBef>
              <a:spcAft>
                <a:spcPct val="0"/>
              </a:spcAft>
              <a:defRPr sz="4600">
                <a:solidFill>
                  <a:schemeClr val="tx2"/>
                </a:solidFill>
                <a:latin typeface="Cambria" pitchFamily="18" charset="0"/>
              </a:defRPr>
            </a:lvl3pPr>
            <a:lvl4pPr algn="l" rtl="0" eaLnBrk="0" fontAlgn="base" hangingPunct="0">
              <a:spcBef>
                <a:spcPct val="0"/>
              </a:spcBef>
              <a:spcAft>
                <a:spcPct val="0"/>
              </a:spcAft>
              <a:defRPr sz="4600">
                <a:solidFill>
                  <a:schemeClr val="tx2"/>
                </a:solidFill>
                <a:latin typeface="Cambria" pitchFamily="18" charset="0"/>
              </a:defRPr>
            </a:lvl4pPr>
            <a:lvl5pPr algn="l" rtl="0" eaLnBrk="0" fontAlgn="base" hangingPunct="0">
              <a:spcBef>
                <a:spcPct val="0"/>
              </a:spcBef>
              <a:spcAft>
                <a:spcPct val="0"/>
              </a:spcAft>
              <a:defRPr sz="4600">
                <a:solidFill>
                  <a:schemeClr val="tx2"/>
                </a:solidFill>
                <a:latin typeface="Cambria" pitchFamily="18" charset="0"/>
              </a:defRPr>
            </a:lvl5pPr>
            <a:lvl6pPr marL="457200" algn="l" rtl="0" fontAlgn="base">
              <a:spcBef>
                <a:spcPct val="0"/>
              </a:spcBef>
              <a:spcAft>
                <a:spcPct val="0"/>
              </a:spcAft>
              <a:defRPr sz="4600">
                <a:solidFill>
                  <a:schemeClr val="tx2"/>
                </a:solidFill>
                <a:latin typeface="Cambria" pitchFamily="18" charset="0"/>
              </a:defRPr>
            </a:lvl6pPr>
            <a:lvl7pPr marL="914400" algn="l" rtl="0" fontAlgn="base">
              <a:spcBef>
                <a:spcPct val="0"/>
              </a:spcBef>
              <a:spcAft>
                <a:spcPct val="0"/>
              </a:spcAft>
              <a:defRPr sz="4600">
                <a:solidFill>
                  <a:schemeClr val="tx2"/>
                </a:solidFill>
                <a:latin typeface="Cambria" pitchFamily="18" charset="0"/>
              </a:defRPr>
            </a:lvl7pPr>
            <a:lvl8pPr marL="1371600" algn="l" rtl="0" fontAlgn="base">
              <a:spcBef>
                <a:spcPct val="0"/>
              </a:spcBef>
              <a:spcAft>
                <a:spcPct val="0"/>
              </a:spcAft>
              <a:defRPr sz="4600">
                <a:solidFill>
                  <a:schemeClr val="tx2"/>
                </a:solidFill>
                <a:latin typeface="Cambria" pitchFamily="18" charset="0"/>
              </a:defRPr>
            </a:lvl8pPr>
            <a:lvl9pPr marL="1828800" algn="l" rtl="0" fontAlgn="base">
              <a:spcBef>
                <a:spcPct val="0"/>
              </a:spcBef>
              <a:spcAft>
                <a:spcPct val="0"/>
              </a:spcAft>
              <a:defRPr sz="4600">
                <a:solidFill>
                  <a:schemeClr val="tx2"/>
                </a:solidFill>
                <a:latin typeface="Cambria" pitchFamily="18" charset="0"/>
              </a:defRPr>
            </a:lvl9pPr>
          </a:lstStyle>
          <a:p>
            <a:pPr algn="ctr">
              <a:defRPr/>
            </a:pPr>
            <a:r>
              <a:rPr lang="en-US" altLang="en-US"/>
              <a:t>Introduction</a:t>
            </a:r>
            <a:endParaRPr lang="en-US"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0B7CC05C-10D0-7188-0A3E-746A2DF90266}"/>
              </a:ext>
            </a:extLst>
          </p:cNvPr>
          <p:cNvSpPr>
            <a:spLocks noGrp="1" noChangeArrowheads="1"/>
          </p:cNvSpPr>
          <p:nvPr>
            <p:ph type="title"/>
          </p:nvPr>
        </p:nvSpPr>
        <p:spPr>
          <a:xfrm>
            <a:off x="762000" y="3175"/>
            <a:ext cx="7010400" cy="990600"/>
          </a:xfrm>
        </p:spPr>
        <p:txBody>
          <a:bodyPr/>
          <a:lstStyle/>
          <a:p>
            <a:pPr algn="ctr">
              <a:defRPr/>
            </a:pPr>
            <a:r>
              <a:rPr lang="en-US" altLang="en-US" sz="6000" dirty="0"/>
              <a:t>History</a:t>
            </a:r>
          </a:p>
        </p:txBody>
      </p:sp>
      <p:sp>
        <p:nvSpPr>
          <p:cNvPr id="17411" name="Rectangle 3">
            <a:extLst>
              <a:ext uri="{FF2B5EF4-FFF2-40B4-BE49-F238E27FC236}">
                <a16:creationId xmlns:a16="http://schemas.microsoft.com/office/drawing/2014/main" id="{EC8BBCF1-E206-1DA8-CCA8-93110F92BCFF}"/>
              </a:ext>
            </a:extLst>
          </p:cNvPr>
          <p:cNvSpPr>
            <a:spLocks noGrp="1"/>
          </p:cNvSpPr>
          <p:nvPr>
            <p:ph type="body" idx="1"/>
          </p:nvPr>
        </p:nvSpPr>
        <p:spPr>
          <a:xfrm>
            <a:off x="152400" y="1447800"/>
            <a:ext cx="8077200" cy="5029200"/>
          </a:xfrm>
        </p:spPr>
        <p:txBody>
          <a:bodyPr/>
          <a:lstStyle/>
          <a:p>
            <a:pPr algn="just">
              <a:lnSpc>
                <a:spcPct val="200000"/>
              </a:lnSpc>
            </a:pPr>
            <a:r>
              <a:rPr lang="en-US" altLang="en-US" sz="2800"/>
              <a:t>Relational data model introduced by Codd in 1970</a:t>
            </a:r>
          </a:p>
          <a:p>
            <a:pPr algn="just">
              <a:lnSpc>
                <a:spcPct val="200000"/>
              </a:lnSpc>
            </a:pPr>
            <a:r>
              <a:rPr lang="en-US" altLang="en-US" sz="2800"/>
              <a:t>A relational DBMS project started by IBM was System R which included a sequel as a manipulation language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3">
            <a:extLst>
              <a:ext uri="{FF2B5EF4-FFF2-40B4-BE49-F238E27FC236}">
                <a16:creationId xmlns:a16="http://schemas.microsoft.com/office/drawing/2014/main" id="{4C735C3C-F7C7-FE35-61A3-7FBF3213E820}"/>
              </a:ext>
            </a:extLst>
          </p:cNvPr>
          <p:cNvSpPr>
            <a:spLocks noGrp="1"/>
          </p:cNvSpPr>
          <p:nvPr>
            <p:ph type="body" idx="1"/>
          </p:nvPr>
        </p:nvSpPr>
        <p:spPr>
          <a:xfrm>
            <a:off x="152400" y="1524000"/>
            <a:ext cx="8077200" cy="4953000"/>
          </a:xfrm>
        </p:spPr>
        <p:txBody>
          <a:bodyPr/>
          <a:lstStyle/>
          <a:p>
            <a:pPr algn="just">
              <a:lnSpc>
                <a:spcPct val="150000"/>
              </a:lnSpc>
            </a:pPr>
            <a:r>
              <a:rPr lang="en-US" altLang="en-US" sz="2800"/>
              <a:t>The first commercial DBMS launched was Oracle in 1979</a:t>
            </a:r>
          </a:p>
          <a:p>
            <a:pPr algn="just">
              <a:lnSpc>
                <a:spcPct val="150000"/>
              </a:lnSpc>
            </a:pPr>
            <a:r>
              <a:rPr lang="en-US" altLang="en-US" sz="2800"/>
              <a:t>Other early DBMSs DB2, INGRES</a:t>
            </a:r>
          </a:p>
          <a:p>
            <a:pPr algn="just">
              <a:lnSpc>
                <a:spcPct val="150000"/>
              </a:lnSpc>
            </a:pPr>
            <a:r>
              <a:rPr lang="en-US" altLang="en-US" sz="2800"/>
              <a:t>ANSI and ISO defined the first standard of SQL in 1986 known as SQL-86 which was further extended to SQL-89</a:t>
            </a:r>
          </a:p>
        </p:txBody>
      </p:sp>
      <p:sp>
        <p:nvSpPr>
          <p:cNvPr id="5" name="Rectangle 2">
            <a:extLst>
              <a:ext uri="{FF2B5EF4-FFF2-40B4-BE49-F238E27FC236}">
                <a16:creationId xmlns:a16="http://schemas.microsoft.com/office/drawing/2014/main" id="{DC17E38B-2BF9-9499-C37E-50119B0F0235}"/>
              </a:ext>
            </a:extLst>
          </p:cNvPr>
          <p:cNvSpPr txBox="1">
            <a:spLocks noChangeArrowheads="1"/>
          </p:cNvSpPr>
          <p:nvPr/>
        </p:nvSpPr>
        <p:spPr>
          <a:xfrm>
            <a:off x="762000" y="3175"/>
            <a:ext cx="7010400" cy="990600"/>
          </a:xfrm>
          <a:prstGeom prst="rect">
            <a:avLst/>
          </a:prstGeom>
        </p:spPr>
        <p:txBody>
          <a:bodyPr anchor="ctr"/>
          <a:lstStyle>
            <a:lvl1pPr algn="l" rtl="0" eaLnBrk="0" fontAlgn="base" hangingPunct="0">
              <a:spcBef>
                <a:spcPct val="0"/>
              </a:spcBef>
              <a:spcAft>
                <a:spcPct val="0"/>
              </a:spcAft>
              <a:defRPr sz="4600" kern="1200" spc="-100">
                <a:solidFill>
                  <a:schemeClr val="tx2"/>
                </a:solidFill>
                <a:latin typeface="+mj-lt"/>
                <a:ea typeface="+mj-ea"/>
                <a:cs typeface="+mj-cs"/>
              </a:defRPr>
            </a:lvl1pPr>
            <a:lvl2pPr algn="l" rtl="0" eaLnBrk="0" fontAlgn="base" hangingPunct="0">
              <a:spcBef>
                <a:spcPct val="0"/>
              </a:spcBef>
              <a:spcAft>
                <a:spcPct val="0"/>
              </a:spcAft>
              <a:defRPr sz="4600">
                <a:solidFill>
                  <a:schemeClr val="tx2"/>
                </a:solidFill>
                <a:latin typeface="Cambria" pitchFamily="18" charset="0"/>
              </a:defRPr>
            </a:lvl2pPr>
            <a:lvl3pPr algn="l" rtl="0" eaLnBrk="0" fontAlgn="base" hangingPunct="0">
              <a:spcBef>
                <a:spcPct val="0"/>
              </a:spcBef>
              <a:spcAft>
                <a:spcPct val="0"/>
              </a:spcAft>
              <a:defRPr sz="4600">
                <a:solidFill>
                  <a:schemeClr val="tx2"/>
                </a:solidFill>
                <a:latin typeface="Cambria" pitchFamily="18" charset="0"/>
              </a:defRPr>
            </a:lvl3pPr>
            <a:lvl4pPr algn="l" rtl="0" eaLnBrk="0" fontAlgn="base" hangingPunct="0">
              <a:spcBef>
                <a:spcPct val="0"/>
              </a:spcBef>
              <a:spcAft>
                <a:spcPct val="0"/>
              </a:spcAft>
              <a:defRPr sz="4600">
                <a:solidFill>
                  <a:schemeClr val="tx2"/>
                </a:solidFill>
                <a:latin typeface="Cambria" pitchFamily="18" charset="0"/>
              </a:defRPr>
            </a:lvl4pPr>
            <a:lvl5pPr algn="l" rtl="0" eaLnBrk="0" fontAlgn="base" hangingPunct="0">
              <a:spcBef>
                <a:spcPct val="0"/>
              </a:spcBef>
              <a:spcAft>
                <a:spcPct val="0"/>
              </a:spcAft>
              <a:defRPr sz="4600">
                <a:solidFill>
                  <a:schemeClr val="tx2"/>
                </a:solidFill>
                <a:latin typeface="Cambria" pitchFamily="18" charset="0"/>
              </a:defRPr>
            </a:lvl5pPr>
            <a:lvl6pPr marL="457200" algn="l" rtl="0" fontAlgn="base">
              <a:spcBef>
                <a:spcPct val="0"/>
              </a:spcBef>
              <a:spcAft>
                <a:spcPct val="0"/>
              </a:spcAft>
              <a:defRPr sz="4600">
                <a:solidFill>
                  <a:schemeClr val="tx2"/>
                </a:solidFill>
                <a:latin typeface="Cambria" pitchFamily="18" charset="0"/>
              </a:defRPr>
            </a:lvl6pPr>
            <a:lvl7pPr marL="914400" algn="l" rtl="0" fontAlgn="base">
              <a:spcBef>
                <a:spcPct val="0"/>
              </a:spcBef>
              <a:spcAft>
                <a:spcPct val="0"/>
              </a:spcAft>
              <a:defRPr sz="4600">
                <a:solidFill>
                  <a:schemeClr val="tx2"/>
                </a:solidFill>
                <a:latin typeface="Cambria" pitchFamily="18" charset="0"/>
              </a:defRPr>
            </a:lvl7pPr>
            <a:lvl8pPr marL="1371600" algn="l" rtl="0" fontAlgn="base">
              <a:spcBef>
                <a:spcPct val="0"/>
              </a:spcBef>
              <a:spcAft>
                <a:spcPct val="0"/>
              </a:spcAft>
              <a:defRPr sz="4600">
                <a:solidFill>
                  <a:schemeClr val="tx2"/>
                </a:solidFill>
                <a:latin typeface="Cambria" pitchFamily="18" charset="0"/>
              </a:defRPr>
            </a:lvl8pPr>
            <a:lvl9pPr marL="1828800" algn="l" rtl="0" fontAlgn="base">
              <a:spcBef>
                <a:spcPct val="0"/>
              </a:spcBef>
              <a:spcAft>
                <a:spcPct val="0"/>
              </a:spcAft>
              <a:defRPr sz="4600">
                <a:solidFill>
                  <a:schemeClr val="tx2"/>
                </a:solidFill>
                <a:latin typeface="Cambria" pitchFamily="18" charset="0"/>
              </a:defRPr>
            </a:lvl9pPr>
          </a:lstStyle>
          <a:p>
            <a:pPr algn="ctr">
              <a:defRPr/>
            </a:pPr>
            <a:r>
              <a:rPr lang="en-US" altLang="en-US" sz="6000"/>
              <a:t>History</a:t>
            </a:r>
            <a:endParaRPr lang="en-US" altLang="en-US" sz="6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3">
            <a:extLst>
              <a:ext uri="{FF2B5EF4-FFF2-40B4-BE49-F238E27FC236}">
                <a16:creationId xmlns:a16="http://schemas.microsoft.com/office/drawing/2014/main" id="{02484DB4-67CB-6668-FF00-1E1B4FA379BE}"/>
              </a:ext>
            </a:extLst>
          </p:cNvPr>
          <p:cNvSpPr>
            <a:spLocks noGrp="1"/>
          </p:cNvSpPr>
          <p:nvPr>
            <p:ph type="body" idx="1"/>
          </p:nvPr>
        </p:nvSpPr>
        <p:spPr>
          <a:xfrm>
            <a:off x="381000" y="1219200"/>
            <a:ext cx="7696200" cy="5257800"/>
          </a:xfrm>
        </p:spPr>
        <p:txBody>
          <a:bodyPr/>
          <a:lstStyle/>
          <a:p>
            <a:pPr algn="just">
              <a:lnSpc>
                <a:spcPct val="150000"/>
              </a:lnSpc>
            </a:pPr>
            <a:r>
              <a:rPr lang="en-US" altLang="en-US" sz="2800"/>
              <a:t>Later two more standards known as SQL-92 and SQL-99 were defined</a:t>
            </a:r>
          </a:p>
          <a:p>
            <a:pPr algn="just">
              <a:lnSpc>
                <a:spcPct val="150000"/>
              </a:lnSpc>
            </a:pPr>
            <a:r>
              <a:rPr lang="en-US" altLang="en-US" sz="2800"/>
              <a:t>Almost all of the current DBMSs support SQL-92 and many support SQL-99 partially or completely</a:t>
            </a:r>
          </a:p>
          <a:p>
            <a:pPr algn="just">
              <a:lnSpc>
                <a:spcPct val="150000"/>
              </a:lnSpc>
            </a:pPr>
            <a:r>
              <a:rPr lang="en-US" altLang="en-US" sz="2800"/>
              <a:t>SQL today is supported in all sort of machines</a:t>
            </a:r>
          </a:p>
        </p:txBody>
      </p:sp>
      <p:sp>
        <p:nvSpPr>
          <p:cNvPr id="5" name="Rectangle 2">
            <a:extLst>
              <a:ext uri="{FF2B5EF4-FFF2-40B4-BE49-F238E27FC236}">
                <a16:creationId xmlns:a16="http://schemas.microsoft.com/office/drawing/2014/main" id="{8390E8E3-C926-28CC-946A-68B4415419F9}"/>
              </a:ext>
            </a:extLst>
          </p:cNvPr>
          <p:cNvSpPr>
            <a:spLocks noGrp="1" noChangeArrowheads="1"/>
          </p:cNvSpPr>
          <p:nvPr>
            <p:ph type="title"/>
          </p:nvPr>
        </p:nvSpPr>
        <p:spPr>
          <a:xfrm>
            <a:off x="457200" y="0"/>
            <a:ext cx="7620000" cy="1143000"/>
          </a:xfrm>
        </p:spPr>
        <p:txBody>
          <a:bodyPr/>
          <a:lstStyle/>
          <a:p>
            <a:pPr algn="ctr">
              <a:defRPr/>
            </a:pPr>
            <a:r>
              <a:rPr lang="en-US" altLang="en-US" sz="6000" dirty="0"/>
              <a:t>History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2CEAACF1-B3A0-B4F5-DD74-C9D6234AC32E}"/>
              </a:ext>
            </a:extLst>
          </p:cNvPr>
          <p:cNvSpPr>
            <a:spLocks noGrp="1" noChangeArrowheads="1"/>
          </p:cNvSpPr>
          <p:nvPr>
            <p:ph type="title"/>
          </p:nvPr>
        </p:nvSpPr>
        <p:spPr>
          <a:xfrm>
            <a:off x="563563" y="0"/>
            <a:ext cx="7437437" cy="944563"/>
          </a:xfrm>
        </p:spPr>
        <p:txBody>
          <a:bodyPr/>
          <a:lstStyle/>
          <a:p>
            <a:pPr algn="ctr">
              <a:defRPr/>
            </a:pPr>
            <a:r>
              <a:rPr lang="en-US" altLang="en-US" sz="5400" dirty="0"/>
              <a:t>Benefits of Standard SQL</a:t>
            </a:r>
          </a:p>
        </p:txBody>
      </p:sp>
      <p:sp>
        <p:nvSpPr>
          <p:cNvPr id="20483" name="Rectangle 3">
            <a:extLst>
              <a:ext uri="{FF2B5EF4-FFF2-40B4-BE49-F238E27FC236}">
                <a16:creationId xmlns:a16="http://schemas.microsoft.com/office/drawing/2014/main" id="{D7EF973B-0B27-8C12-C16D-9368C3B5921C}"/>
              </a:ext>
            </a:extLst>
          </p:cNvPr>
          <p:cNvSpPr>
            <a:spLocks noGrp="1"/>
          </p:cNvSpPr>
          <p:nvPr>
            <p:ph type="body" idx="1"/>
          </p:nvPr>
        </p:nvSpPr>
        <p:spPr>
          <a:xfrm>
            <a:off x="381000" y="1143000"/>
            <a:ext cx="7543800" cy="4953000"/>
          </a:xfrm>
        </p:spPr>
        <p:txBody>
          <a:bodyPr/>
          <a:lstStyle/>
          <a:p>
            <a:pPr>
              <a:lnSpc>
                <a:spcPct val="150000"/>
              </a:lnSpc>
            </a:pPr>
            <a:r>
              <a:rPr lang="en-US" altLang="en-US" sz="2800"/>
              <a:t>Reduced training cost</a:t>
            </a:r>
          </a:p>
          <a:p>
            <a:pPr>
              <a:lnSpc>
                <a:spcPct val="150000"/>
              </a:lnSpc>
            </a:pPr>
            <a:r>
              <a:rPr lang="en-US" altLang="en-US" sz="2800"/>
              <a:t>Application portability</a:t>
            </a:r>
          </a:p>
          <a:p>
            <a:pPr>
              <a:lnSpc>
                <a:spcPct val="150000"/>
              </a:lnSpc>
            </a:pPr>
            <a:r>
              <a:rPr lang="en-US" altLang="en-US" sz="2800"/>
              <a:t>Application longevity</a:t>
            </a:r>
          </a:p>
          <a:p>
            <a:pPr>
              <a:lnSpc>
                <a:spcPct val="150000"/>
              </a:lnSpc>
            </a:pPr>
            <a:r>
              <a:rPr lang="en-US" altLang="en-US" sz="2800"/>
              <a:t>Reduced dependence on a single vendor</a:t>
            </a:r>
          </a:p>
          <a:p>
            <a:pPr>
              <a:lnSpc>
                <a:spcPct val="150000"/>
              </a:lnSpc>
            </a:pPr>
            <a:r>
              <a:rPr lang="en-US" altLang="en-US" sz="2800"/>
              <a:t>Cross-system communication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1AFC52DB-4ACB-0F1B-36D8-10D03BE2C58A}"/>
              </a:ext>
            </a:extLst>
          </p:cNvPr>
          <p:cNvSpPr>
            <a:spLocks noGrp="1" noChangeArrowheads="1"/>
          </p:cNvSpPr>
          <p:nvPr>
            <p:ph type="title"/>
          </p:nvPr>
        </p:nvSpPr>
        <p:spPr>
          <a:xfrm>
            <a:off x="685800" y="0"/>
            <a:ext cx="7086600" cy="990600"/>
          </a:xfrm>
        </p:spPr>
        <p:txBody>
          <a:bodyPr/>
          <a:lstStyle/>
          <a:p>
            <a:pPr algn="ctr">
              <a:defRPr/>
            </a:pPr>
            <a:r>
              <a:rPr lang="en-US" altLang="en-US" dirty="0"/>
              <a:t>SQL</a:t>
            </a:r>
          </a:p>
        </p:txBody>
      </p:sp>
      <p:sp>
        <p:nvSpPr>
          <p:cNvPr id="21507" name="Rectangle 3">
            <a:extLst>
              <a:ext uri="{FF2B5EF4-FFF2-40B4-BE49-F238E27FC236}">
                <a16:creationId xmlns:a16="http://schemas.microsoft.com/office/drawing/2014/main" id="{EA610CD6-FA35-8884-9868-F2CA0FB63239}"/>
              </a:ext>
            </a:extLst>
          </p:cNvPr>
          <p:cNvSpPr>
            <a:spLocks noGrp="1"/>
          </p:cNvSpPr>
          <p:nvPr>
            <p:ph type="body" idx="1"/>
          </p:nvPr>
        </p:nvSpPr>
        <p:spPr>
          <a:xfrm>
            <a:off x="304800" y="1524000"/>
            <a:ext cx="7772400" cy="4572000"/>
          </a:xfrm>
        </p:spPr>
        <p:txBody>
          <a:bodyPr/>
          <a:lstStyle/>
          <a:p>
            <a:pPr algn="just">
              <a:lnSpc>
                <a:spcPct val="150000"/>
              </a:lnSpc>
            </a:pPr>
            <a:r>
              <a:rPr lang="en-US" altLang="en-US" sz="2800"/>
              <a:t>SQL is used for any type of interaction with the database through DBMS</a:t>
            </a:r>
          </a:p>
          <a:p>
            <a:pPr algn="just">
              <a:lnSpc>
                <a:spcPct val="150000"/>
              </a:lnSpc>
            </a:pPr>
            <a:r>
              <a:rPr lang="en-US" altLang="en-US" sz="2800"/>
              <a:t>Right from creating a database, tables, views, users</a:t>
            </a:r>
          </a:p>
          <a:p>
            <a:pPr algn="just">
              <a:lnSpc>
                <a:spcPct val="150000"/>
              </a:lnSpc>
            </a:pPr>
            <a:r>
              <a:rPr lang="en-US" altLang="en-US" sz="2800"/>
              <a:t>Insertion, updation, and deletion of data in the database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BE6FF6D7-DA50-0CEE-0498-B3D7E588B86B}"/>
              </a:ext>
            </a:extLst>
          </p:cNvPr>
          <p:cNvSpPr>
            <a:spLocks noGrp="1" noChangeArrowheads="1"/>
          </p:cNvSpPr>
          <p:nvPr>
            <p:ph type="title"/>
          </p:nvPr>
        </p:nvSpPr>
        <p:spPr>
          <a:xfrm>
            <a:off x="457200" y="0"/>
            <a:ext cx="7620000" cy="1143000"/>
          </a:xfrm>
        </p:spPr>
        <p:txBody>
          <a:bodyPr/>
          <a:lstStyle/>
          <a:p>
            <a:pPr algn="ctr">
              <a:defRPr/>
            </a:pPr>
            <a:r>
              <a:rPr lang="en-US" altLang="en-US" sz="6000" dirty="0"/>
              <a:t>SQL and DBMSs</a:t>
            </a:r>
          </a:p>
        </p:txBody>
      </p:sp>
      <p:sp>
        <p:nvSpPr>
          <p:cNvPr id="22531" name="Rectangle 3">
            <a:extLst>
              <a:ext uri="{FF2B5EF4-FFF2-40B4-BE49-F238E27FC236}">
                <a16:creationId xmlns:a16="http://schemas.microsoft.com/office/drawing/2014/main" id="{76327EEE-D355-1059-DC48-7F61946CE13C}"/>
              </a:ext>
            </a:extLst>
          </p:cNvPr>
          <p:cNvSpPr>
            <a:spLocks noGrp="1"/>
          </p:cNvSpPr>
          <p:nvPr>
            <p:ph type="body" idx="1"/>
          </p:nvPr>
        </p:nvSpPr>
        <p:spPr>
          <a:xfrm>
            <a:off x="457200" y="1524000"/>
            <a:ext cx="7315200" cy="5105400"/>
          </a:xfrm>
        </p:spPr>
        <p:txBody>
          <a:bodyPr/>
          <a:lstStyle/>
          <a:p>
            <a:pPr algn="just">
              <a:lnSpc>
                <a:spcPct val="150000"/>
              </a:lnSpc>
            </a:pPr>
            <a:r>
              <a:rPr lang="en-US" altLang="en-US" sz="2800"/>
              <a:t>Implementation of SQL always includes the flavor of the particular DBMS, like in the names of data types</a:t>
            </a:r>
          </a:p>
          <a:p>
            <a:pPr algn="just">
              <a:lnSpc>
                <a:spcPct val="150000"/>
              </a:lnSpc>
            </a:pPr>
            <a:r>
              <a:rPr lang="en-US" altLang="en-US" sz="2800"/>
              <a:t>Proprietary SQLs exist, like T-SQL and PL-SQL</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78981BEA-5461-B22E-B646-33A9AF9C90B1}"/>
              </a:ext>
            </a:extLst>
          </p:cNvPr>
          <p:cNvSpPr>
            <a:spLocks noGrp="1" noChangeArrowheads="1"/>
          </p:cNvSpPr>
          <p:nvPr>
            <p:ph type="title"/>
          </p:nvPr>
        </p:nvSpPr>
        <p:spPr>
          <a:xfrm>
            <a:off x="685800" y="152400"/>
            <a:ext cx="7162800" cy="838200"/>
          </a:xfrm>
        </p:spPr>
        <p:txBody>
          <a:bodyPr/>
          <a:lstStyle/>
          <a:p>
            <a:pPr algn="ctr">
              <a:defRPr/>
            </a:pPr>
            <a:r>
              <a:rPr lang="en-US" altLang="en-US" sz="6000" dirty="0"/>
              <a:t>DBMS</a:t>
            </a:r>
          </a:p>
        </p:txBody>
      </p:sp>
      <p:sp>
        <p:nvSpPr>
          <p:cNvPr id="23555" name="Rectangle 3">
            <a:extLst>
              <a:ext uri="{FF2B5EF4-FFF2-40B4-BE49-F238E27FC236}">
                <a16:creationId xmlns:a16="http://schemas.microsoft.com/office/drawing/2014/main" id="{03948716-3903-7C15-DB05-968123E12193}"/>
              </a:ext>
            </a:extLst>
          </p:cNvPr>
          <p:cNvSpPr>
            <a:spLocks noGrp="1"/>
          </p:cNvSpPr>
          <p:nvPr>
            <p:ph type="body" idx="1"/>
          </p:nvPr>
        </p:nvSpPr>
        <p:spPr>
          <a:xfrm>
            <a:off x="76200" y="1371600"/>
            <a:ext cx="8229600" cy="5105400"/>
          </a:xfrm>
        </p:spPr>
        <p:txBody>
          <a:bodyPr/>
          <a:lstStyle/>
          <a:p>
            <a:pPr algn="just"/>
            <a:r>
              <a:rPr lang="en-US" altLang="en-US" sz="2800"/>
              <a:t>The DBMS for our course is Oracle Database and MySQL</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BC75B388-C1F7-AE47-7AAF-0B77748FEB47}"/>
              </a:ext>
            </a:extLst>
          </p:cNvPr>
          <p:cNvSpPr txBox="1">
            <a:spLocks/>
          </p:cNvSpPr>
          <p:nvPr/>
        </p:nvSpPr>
        <p:spPr bwMode="auto">
          <a:xfrm>
            <a:off x="250825" y="3810000"/>
            <a:ext cx="7975600"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rgbClr val="FF6600"/>
              </a:buClr>
              <a:buFont typeface="Wingdings 3" panose="05040102010807070707" pitchFamily="18" charset="2"/>
              <a:buNone/>
            </a:pPr>
            <a:r>
              <a:rPr lang="en-US" altLang="en-US" sz="2800">
                <a:latin typeface="Calibri" panose="020F0502020204030204" pitchFamily="34" charset="0"/>
              </a:rPr>
              <a:t>In the field of IT, programming languages are used to communicate with computer hardware and software</a:t>
            </a:r>
          </a:p>
          <a:p>
            <a:pPr lvl="1" algn="just" eaLnBrk="1" hangingPunct="1">
              <a:buClr>
                <a:srgbClr val="FF6600"/>
              </a:buClr>
              <a:buFont typeface="Wingdings 3" panose="05040102010807070707" pitchFamily="18" charset="2"/>
              <a:buChar char=""/>
            </a:pPr>
            <a:r>
              <a:rPr lang="en-US" altLang="en-US" sz="2800">
                <a:latin typeface="Calibri" panose="020F0502020204030204" pitchFamily="34" charset="0"/>
              </a:rPr>
              <a:t>E.g. To create new computer programs</a:t>
            </a:r>
          </a:p>
          <a:p>
            <a:pPr lvl="1" algn="just" eaLnBrk="1" hangingPunct="1">
              <a:buClr>
                <a:srgbClr val="FF6600"/>
              </a:buClr>
              <a:buFont typeface="Wingdings 3" panose="05040102010807070707" pitchFamily="18" charset="2"/>
              <a:buChar char=""/>
            </a:pPr>
            <a:r>
              <a:rPr lang="en-US" altLang="en-US" sz="2800">
                <a:latin typeface="Calibri" panose="020F0502020204030204" pitchFamily="34" charset="0"/>
              </a:rPr>
              <a:t>E.g. To direct computer programs to take certain actions</a:t>
            </a:r>
          </a:p>
          <a:p>
            <a:pPr algn="just" eaLnBrk="1" hangingPunct="1">
              <a:spcBef>
                <a:spcPct val="20000"/>
              </a:spcBef>
              <a:buClr>
                <a:srgbClr val="FF6600"/>
              </a:buClr>
              <a:buFont typeface="Wingdings 3" panose="05040102010807070707" pitchFamily="18" charset="2"/>
              <a:buNone/>
            </a:pPr>
            <a:endParaRPr lang="en-US" altLang="en-US" sz="32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US" altLang="en-US" sz="3200">
              <a:solidFill>
                <a:srgbClr val="000000"/>
              </a:solidFill>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p:txBody>
      </p:sp>
      <p:sp>
        <p:nvSpPr>
          <p:cNvPr id="2" name="Title 1">
            <a:extLst>
              <a:ext uri="{FF2B5EF4-FFF2-40B4-BE49-F238E27FC236}">
                <a16:creationId xmlns:a16="http://schemas.microsoft.com/office/drawing/2014/main" id="{6606E746-7E4B-2E86-0609-9CF2817EAD0F}"/>
              </a:ext>
            </a:extLst>
          </p:cNvPr>
          <p:cNvSpPr>
            <a:spLocks noGrp="1"/>
          </p:cNvSpPr>
          <p:nvPr>
            <p:ph type="title"/>
          </p:nvPr>
        </p:nvSpPr>
        <p:spPr>
          <a:xfrm>
            <a:off x="457200" y="0"/>
            <a:ext cx="7620000" cy="1143000"/>
          </a:xfrm>
        </p:spPr>
        <p:txBody>
          <a:bodyPr/>
          <a:lstStyle/>
          <a:p>
            <a:pPr algn="ctr">
              <a:defRPr/>
            </a:pPr>
            <a:r>
              <a:rPr lang="en-US" dirty="0"/>
              <a:t>INTRODUCTION</a:t>
            </a:r>
            <a:endParaRPr lang="en-MY" dirty="0"/>
          </a:p>
        </p:txBody>
      </p:sp>
      <p:sp>
        <p:nvSpPr>
          <p:cNvPr id="5" name="Rounded Rectangle 4">
            <a:extLst>
              <a:ext uri="{FF2B5EF4-FFF2-40B4-BE49-F238E27FC236}">
                <a16:creationId xmlns:a16="http://schemas.microsoft.com/office/drawing/2014/main" id="{0CFF57B0-2D33-52BC-0020-2BE72A01FB6A}"/>
              </a:ext>
            </a:extLst>
          </p:cNvPr>
          <p:cNvSpPr/>
          <p:nvPr/>
        </p:nvSpPr>
        <p:spPr bwMode="auto">
          <a:xfrm>
            <a:off x="304800" y="1412875"/>
            <a:ext cx="7921625" cy="1787525"/>
          </a:xfrm>
          <a:prstGeom prst="roundRect">
            <a:avLst/>
          </a:prstGeom>
          <a:ln>
            <a:headEnd type="none" w="med" len="med"/>
            <a:tailEnd type="none" w="med" len="med"/>
          </a:ln>
        </p:spPr>
        <p:style>
          <a:lnRef idx="3">
            <a:schemeClr val="lt1"/>
          </a:lnRef>
          <a:fillRef idx="1">
            <a:schemeClr val="accent3"/>
          </a:fillRef>
          <a:effectRef idx="1">
            <a:schemeClr val="accent3"/>
          </a:effectRef>
          <a:fontRef idx="minor">
            <a:schemeClr val="lt1"/>
          </a:fontRef>
        </p:style>
        <p:txBody>
          <a:bodyPr/>
          <a:lstStyle/>
          <a:p>
            <a:pPr algn="ctr">
              <a:defRPr/>
            </a:pPr>
            <a:r>
              <a:rPr lang="en-CA" sz="3200" dirty="0">
                <a:solidFill>
                  <a:schemeClr val="bg1"/>
                </a:solidFill>
                <a:latin typeface="Arial" charset="0"/>
              </a:rPr>
              <a:t>A </a:t>
            </a:r>
            <a:r>
              <a:rPr lang="en-CA" sz="3200" b="1" dirty="0">
                <a:solidFill>
                  <a:schemeClr val="bg1"/>
                </a:solidFill>
                <a:latin typeface="Arial" charset="0"/>
              </a:rPr>
              <a:t>programing language </a:t>
            </a:r>
            <a:r>
              <a:rPr lang="en-CA" sz="3200" dirty="0">
                <a:solidFill>
                  <a:schemeClr val="bg1"/>
                </a:solidFill>
                <a:latin typeface="Arial" charset="0"/>
              </a:rPr>
              <a:t>is designed to communicate a series of instructions so that those instructions can be executed</a:t>
            </a:r>
            <a:endParaRPr lang="en-CA" sz="3200" b="1" dirty="0">
              <a:solidFill>
                <a:schemeClr val="bg1"/>
              </a:solidFill>
              <a:latin typeface="Arial"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
                                            <p:txEl>
                                              <p:pRg st="0" end="0"/>
                                            </p:txEl>
                                          </p:spTgt>
                                        </p:tgtEl>
                                        <p:attrNameLst>
                                          <p:attrName>style.visibility</p:attrName>
                                        </p:attrNameLst>
                                      </p:cBhvr>
                                      <p:to>
                                        <p:strVal val="visible"/>
                                      </p:to>
                                    </p:set>
                                    <p:animEffect transition="in" filter="wipe(left)">
                                      <p:cBhvr>
                                        <p:cTn id="12" dur="500"/>
                                        <p:tgtEl>
                                          <p:spTgt spid="9">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
                                            <p:txEl>
                                              <p:pRg st="1" end="1"/>
                                            </p:txEl>
                                          </p:spTgt>
                                        </p:tgtEl>
                                        <p:attrNameLst>
                                          <p:attrName>style.visibility</p:attrName>
                                        </p:attrNameLst>
                                      </p:cBhvr>
                                      <p:to>
                                        <p:strVal val="visible"/>
                                      </p:to>
                                    </p:set>
                                    <p:animEffect transition="in" filter="wipe(left)">
                                      <p:cBhvr>
                                        <p:cTn id="17" dur="500"/>
                                        <p:tgtEl>
                                          <p:spTgt spid="9">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
                                            <p:txEl>
                                              <p:pRg st="2" end="2"/>
                                            </p:txEl>
                                          </p:spTgt>
                                        </p:tgtEl>
                                        <p:attrNameLst>
                                          <p:attrName>style.visibility</p:attrName>
                                        </p:attrNameLst>
                                      </p:cBhvr>
                                      <p:to>
                                        <p:strVal val="visible"/>
                                      </p:to>
                                    </p:set>
                                    <p:animEffect transition="in" filter="wipe(left)">
                                      <p:cBhvr>
                                        <p:cTn id="22" dur="500"/>
                                        <p:tgtEl>
                                          <p:spTgt spid="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P spid="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C2CD0D-5C69-BCB9-95F8-E8528C6A1783}"/>
              </a:ext>
            </a:extLst>
          </p:cNvPr>
          <p:cNvSpPr>
            <a:spLocks noGrp="1"/>
          </p:cNvSpPr>
          <p:nvPr>
            <p:ph type="title"/>
          </p:nvPr>
        </p:nvSpPr>
        <p:spPr>
          <a:xfrm>
            <a:off x="457200" y="0"/>
            <a:ext cx="7620000" cy="1143000"/>
          </a:xfrm>
        </p:spPr>
        <p:txBody>
          <a:bodyPr/>
          <a:lstStyle/>
          <a:p>
            <a:pPr algn="ctr">
              <a:defRPr/>
            </a:pPr>
            <a:r>
              <a:rPr lang="en-US" dirty="0"/>
              <a:t>INTRODUCTION</a:t>
            </a:r>
            <a:endParaRPr lang="en-MY" dirty="0"/>
          </a:p>
        </p:txBody>
      </p:sp>
      <p:sp>
        <p:nvSpPr>
          <p:cNvPr id="6" name="Content Placeholder 2">
            <a:extLst>
              <a:ext uri="{FF2B5EF4-FFF2-40B4-BE49-F238E27FC236}">
                <a16:creationId xmlns:a16="http://schemas.microsoft.com/office/drawing/2014/main" id="{8FE89F31-7AC8-E697-FE7F-92E3F55E71E9}"/>
              </a:ext>
            </a:extLst>
          </p:cNvPr>
          <p:cNvSpPr txBox="1">
            <a:spLocks/>
          </p:cNvSpPr>
          <p:nvPr/>
        </p:nvSpPr>
        <p:spPr bwMode="auto">
          <a:xfrm>
            <a:off x="250825" y="1268413"/>
            <a:ext cx="7978775"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rgbClr val="FF6600"/>
              </a:buClr>
              <a:buFont typeface="Wingdings 3" panose="05040102010807070707" pitchFamily="18" charset="2"/>
              <a:buNone/>
            </a:pPr>
            <a:r>
              <a:rPr lang="en-US" altLang="en-US" sz="3200">
                <a:latin typeface="Calibri" panose="020F0502020204030204" pitchFamily="34" charset="0"/>
              </a:rPr>
              <a:t>Over the years, many programming languages have been created, each with its advantages and disadvantages</a:t>
            </a:r>
            <a:endParaRPr lang="en-CA" altLang="en-US">
              <a:latin typeface="Calibri" panose="020F0502020204030204" pitchFamily="34" charset="0"/>
            </a:endParaRPr>
          </a:p>
        </p:txBody>
      </p:sp>
      <p:pic>
        <p:nvPicPr>
          <p:cNvPr id="7" name="Picture 6">
            <a:extLst>
              <a:ext uri="{FF2B5EF4-FFF2-40B4-BE49-F238E27FC236}">
                <a16:creationId xmlns:a16="http://schemas.microsoft.com/office/drawing/2014/main" id="{33B29FA5-0986-3CC6-9C16-EDD1E0FEBDA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111375" y="2849563"/>
            <a:ext cx="4921250" cy="3459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3DC0B851-2392-83C7-8E19-DA39CAE40AA6}"/>
              </a:ext>
            </a:extLst>
          </p:cNvPr>
          <p:cNvSpPr txBox="1"/>
          <p:nvPr/>
        </p:nvSpPr>
        <p:spPr>
          <a:xfrm>
            <a:off x="4094163" y="6165850"/>
            <a:ext cx="955675" cy="274638"/>
          </a:xfrm>
          <a:prstGeom prst="rect">
            <a:avLst/>
          </a:prstGeom>
          <a:noFill/>
        </p:spPr>
        <p:txBody>
          <a:bodyPr>
            <a:spAutoFit/>
          </a:bodyPr>
          <a:lstStyle/>
          <a:p>
            <a:pPr algn="ctr">
              <a:lnSpc>
                <a:spcPts val="1600"/>
              </a:lnSpc>
              <a:defRPr/>
            </a:pPr>
            <a:r>
              <a:rPr lang="en-US" sz="1000" i="1" dirty="0">
                <a:solidFill>
                  <a:schemeClr val="bg1">
                    <a:lumMod val="50000"/>
                  </a:schemeClr>
                </a:solidFill>
              </a:rPr>
              <a:t>Figure 01</a:t>
            </a:r>
            <a:endParaRPr lang="en-MY" sz="1000" i="1" dirty="0">
              <a:solidFill>
                <a:schemeClr val="bg1">
                  <a:lumMod val="50000"/>
                </a:schemeClr>
              </a:solidFill>
              <a:latin typeface="Trebuchet MS" pitchFamily="3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par>
                          <p:cTn id="8" fill="hold" nodeType="afterGroup">
                            <p:stCondLst>
                              <p:cond delay="500"/>
                            </p:stCondLst>
                            <p:childTnLst>
                              <p:par>
                                <p:cTn id="9" presetID="31" presetClass="entr" presetSubtype="0"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p:cTn id="11" dur="1000" fill="hold"/>
                                        <p:tgtEl>
                                          <p:spTgt spid="7"/>
                                        </p:tgtEl>
                                        <p:attrNameLst>
                                          <p:attrName>ppt_w</p:attrName>
                                        </p:attrNameLst>
                                      </p:cBhvr>
                                      <p:tavLst>
                                        <p:tav tm="0">
                                          <p:val>
                                            <p:fltVal val="0"/>
                                          </p:val>
                                        </p:tav>
                                        <p:tav tm="100000">
                                          <p:val>
                                            <p:strVal val="#ppt_w"/>
                                          </p:val>
                                        </p:tav>
                                      </p:tavLst>
                                    </p:anim>
                                    <p:anim calcmode="lin" valueType="num">
                                      <p:cBhvr>
                                        <p:cTn id="12" dur="1000" fill="hold"/>
                                        <p:tgtEl>
                                          <p:spTgt spid="7"/>
                                        </p:tgtEl>
                                        <p:attrNameLst>
                                          <p:attrName>ppt_h</p:attrName>
                                        </p:attrNameLst>
                                      </p:cBhvr>
                                      <p:tavLst>
                                        <p:tav tm="0">
                                          <p:val>
                                            <p:fltVal val="0"/>
                                          </p:val>
                                        </p:tav>
                                        <p:tav tm="100000">
                                          <p:val>
                                            <p:strVal val="#ppt_h"/>
                                          </p:val>
                                        </p:tav>
                                      </p:tavLst>
                                    </p:anim>
                                    <p:anim calcmode="lin" valueType="num">
                                      <p:cBhvr>
                                        <p:cTn id="13" dur="1000" fill="hold"/>
                                        <p:tgtEl>
                                          <p:spTgt spid="7"/>
                                        </p:tgtEl>
                                        <p:attrNameLst>
                                          <p:attrName>style.rotation</p:attrName>
                                        </p:attrNameLst>
                                      </p:cBhvr>
                                      <p:tavLst>
                                        <p:tav tm="0">
                                          <p:val>
                                            <p:fltVal val="90"/>
                                          </p:val>
                                        </p:tav>
                                        <p:tav tm="100000">
                                          <p:val>
                                            <p:fltVal val="0"/>
                                          </p:val>
                                        </p:tav>
                                      </p:tavLst>
                                    </p:anim>
                                    <p:animEffect transition="in" filter="fade">
                                      <p:cBhvr>
                                        <p:cTn id="14" dur="1000"/>
                                        <p:tgtEl>
                                          <p:spTgt spid="7"/>
                                        </p:tgtEl>
                                      </p:cBhvr>
                                    </p:animEffect>
                                  </p:childTnLst>
                                </p:cTn>
                              </p:par>
                            </p:childTnLst>
                          </p:cTn>
                        </p:par>
                        <p:par>
                          <p:cTn id="15" fill="hold" nodeType="afterGroup">
                            <p:stCondLst>
                              <p:cond delay="1500"/>
                            </p:stCondLst>
                            <p:childTnLst>
                              <p:par>
                                <p:cTn id="16" presetID="1" presetClass="entr" presetSubtype="0" fill="hold" grpId="0" nodeType="afterEffect">
                                  <p:stCondLst>
                                    <p:cond delay="0"/>
                                  </p:stCondLst>
                                  <p:childTnLst>
                                    <p:set>
                                      <p:cBhvr>
                                        <p:cTn id="17"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982600-739F-2928-8243-17AADD2F409D}"/>
              </a:ext>
            </a:extLst>
          </p:cNvPr>
          <p:cNvSpPr>
            <a:spLocks noGrp="1"/>
          </p:cNvSpPr>
          <p:nvPr>
            <p:ph type="title"/>
          </p:nvPr>
        </p:nvSpPr>
        <p:spPr>
          <a:xfrm>
            <a:off x="457200" y="152400"/>
            <a:ext cx="7620000" cy="1143000"/>
          </a:xfrm>
        </p:spPr>
        <p:txBody>
          <a:bodyPr/>
          <a:lstStyle/>
          <a:p>
            <a:pPr algn="ctr">
              <a:defRPr/>
            </a:pPr>
            <a:r>
              <a:rPr lang="en-US" dirty="0"/>
              <a:t>Structured Query Language (SQL)</a:t>
            </a:r>
            <a:endParaRPr lang="en-MY" dirty="0"/>
          </a:p>
        </p:txBody>
      </p:sp>
      <p:sp>
        <p:nvSpPr>
          <p:cNvPr id="9" name="Content Placeholder 2">
            <a:extLst>
              <a:ext uri="{FF2B5EF4-FFF2-40B4-BE49-F238E27FC236}">
                <a16:creationId xmlns:a16="http://schemas.microsoft.com/office/drawing/2014/main" id="{571CAF7E-7EBB-C348-21EF-2351C89F34C0}"/>
              </a:ext>
            </a:extLst>
          </p:cNvPr>
          <p:cNvSpPr txBox="1">
            <a:spLocks/>
          </p:cNvSpPr>
          <p:nvPr/>
        </p:nvSpPr>
        <p:spPr bwMode="auto">
          <a:xfrm>
            <a:off x="250825" y="1600200"/>
            <a:ext cx="7978775"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rgbClr val="FF6600"/>
              </a:buClr>
              <a:buFont typeface="Wingdings 3" panose="05040102010807070707" pitchFamily="18" charset="2"/>
              <a:buNone/>
            </a:pPr>
            <a:r>
              <a:rPr lang="en-US" altLang="en-US" sz="3200">
                <a:latin typeface="Calibri" panose="020F0502020204030204" pitchFamily="34" charset="0"/>
              </a:rPr>
              <a:t>The structured query language (SQL) is the standard programming language for interacting with the relational database management system (RDBMS)</a:t>
            </a:r>
            <a:endParaRPr lang="en-US" altLang="en-US" sz="3200">
              <a:solidFill>
                <a:srgbClr val="000000"/>
              </a:solidFill>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p:txBody>
      </p:sp>
      <p:sp>
        <p:nvSpPr>
          <p:cNvPr id="10" name="Rounded Rectangle 9">
            <a:extLst>
              <a:ext uri="{FF2B5EF4-FFF2-40B4-BE49-F238E27FC236}">
                <a16:creationId xmlns:a16="http://schemas.microsoft.com/office/drawing/2014/main" id="{47F29567-F551-7B61-F0D5-0594BD9577A8}"/>
              </a:ext>
            </a:extLst>
          </p:cNvPr>
          <p:cNvSpPr/>
          <p:nvPr/>
        </p:nvSpPr>
        <p:spPr bwMode="auto">
          <a:xfrm>
            <a:off x="396875" y="4370388"/>
            <a:ext cx="2590800" cy="1430337"/>
          </a:xfrm>
          <a:prstGeom prst="roundRect">
            <a:avLst/>
          </a:prstGeom>
          <a:ln>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anchor="ctr" anchorCtr="1"/>
          <a:lstStyle/>
          <a:p>
            <a:pPr algn="ctr">
              <a:defRPr/>
            </a:pPr>
            <a:r>
              <a:rPr lang="en-CA" sz="2800" b="1" dirty="0">
                <a:solidFill>
                  <a:schemeClr val="tx1"/>
                </a:solidFill>
                <a:latin typeface="Arial" charset="0"/>
              </a:rPr>
              <a:t>RDBMS</a:t>
            </a:r>
          </a:p>
        </p:txBody>
      </p:sp>
      <p:grpSp>
        <p:nvGrpSpPr>
          <p:cNvPr id="3" name="Group 5">
            <a:extLst>
              <a:ext uri="{FF2B5EF4-FFF2-40B4-BE49-F238E27FC236}">
                <a16:creationId xmlns:a16="http://schemas.microsoft.com/office/drawing/2014/main" id="{EB04F361-2CFA-7C62-A1EA-E4F22DE9BCF9}"/>
              </a:ext>
            </a:extLst>
          </p:cNvPr>
          <p:cNvGrpSpPr>
            <a:grpSpLocks/>
          </p:cNvGrpSpPr>
          <p:nvPr/>
        </p:nvGrpSpPr>
        <p:grpSpPr bwMode="auto">
          <a:xfrm>
            <a:off x="3203575" y="4573588"/>
            <a:ext cx="1693863" cy="720725"/>
            <a:chOff x="3203847" y="3881813"/>
            <a:chExt cx="1693503" cy="721000"/>
          </a:xfrm>
        </p:grpSpPr>
        <p:cxnSp>
          <p:nvCxnSpPr>
            <p:cNvPr id="26631" name="Straight Arrow Connector 14">
              <a:extLst>
                <a:ext uri="{FF2B5EF4-FFF2-40B4-BE49-F238E27FC236}">
                  <a16:creationId xmlns:a16="http://schemas.microsoft.com/office/drawing/2014/main" id="{35654860-8472-4F21-7046-5A933CBB48DB}"/>
                </a:ext>
              </a:extLst>
            </p:cNvPr>
            <p:cNvCxnSpPr>
              <a:cxnSpLocks noChangeShapeType="1"/>
            </p:cNvCxnSpPr>
            <p:nvPr/>
          </p:nvCxnSpPr>
          <p:spPr bwMode="auto">
            <a:xfrm flipH="1">
              <a:off x="3203847" y="4602813"/>
              <a:ext cx="1693503" cy="0"/>
            </a:xfrm>
            <a:prstGeom prst="straightConnector1">
              <a:avLst/>
            </a:prstGeom>
            <a:noFill/>
            <a:ln w="25400"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26632" name="TextBox 3">
              <a:extLst>
                <a:ext uri="{FF2B5EF4-FFF2-40B4-BE49-F238E27FC236}">
                  <a16:creationId xmlns:a16="http://schemas.microsoft.com/office/drawing/2014/main" id="{4DCE0F42-F1A9-1230-2D6B-B9A97C941B87}"/>
                </a:ext>
              </a:extLst>
            </p:cNvPr>
            <p:cNvSpPr txBox="1">
              <a:spLocks noChangeArrowheads="1"/>
            </p:cNvSpPr>
            <p:nvPr/>
          </p:nvSpPr>
          <p:spPr bwMode="auto">
            <a:xfrm>
              <a:off x="3346014" y="3881813"/>
              <a:ext cx="1494824"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CA" altLang="en-US"/>
                <a:t>instructions using SQL</a:t>
              </a:r>
            </a:p>
          </p:txBody>
        </p:sp>
      </p:grpSp>
      <p:pic>
        <p:nvPicPr>
          <p:cNvPr id="1026" name="Picture 2" descr="http://www.oscargradylibrary.org/wp-content/uploads/2012/10/computer.png">
            <a:extLst>
              <a:ext uri="{FF2B5EF4-FFF2-40B4-BE49-F238E27FC236}">
                <a16:creationId xmlns:a16="http://schemas.microsoft.com/office/drawing/2014/main" id="{7158FD3E-F3D5-C3A3-29DA-C870434593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38800" y="3432175"/>
            <a:ext cx="2751138" cy="280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wipe(left)">
                                      <p:cBhvr>
                                        <p:cTn id="7" dur="500"/>
                                        <p:tgtEl>
                                          <p:spTgt spid="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1026"/>
                                        </p:tgtEl>
                                        <p:attrNameLst>
                                          <p:attrName>style.visibility</p:attrName>
                                        </p:attrNameLst>
                                      </p:cBhvr>
                                      <p:to>
                                        <p:strVal val="visible"/>
                                      </p:to>
                                    </p:set>
                                    <p:animEffect transition="in" filter="wipe(down)">
                                      <p:cBhvr>
                                        <p:cTn id="12" dur="500"/>
                                        <p:tgtEl>
                                          <p:spTgt spid="1026"/>
                                        </p:tgtEl>
                                      </p:cBhvr>
                                    </p:animEffect>
                                  </p:childTnLst>
                                </p:cTn>
                              </p:par>
                            </p:childTnLst>
                          </p:cTn>
                        </p:par>
                        <p:par>
                          <p:cTn id="13" fill="hold" nodeType="afterGroup">
                            <p:stCondLst>
                              <p:cond delay="500"/>
                            </p:stCondLst>
                            <p:childTnLst>
                              <p:par>
                                <p:cTn id="14" presetID="22" presetClass="entr" presetSubtype="1"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wipe(up)">
                                      <p:cBhvr>
                                        <p:cTn id="16" dur="500"/>
                                        <p:tgtEl>
                                          <p:spTgt spid="10"/>
                                        </p:tgtEl>
                                      </p:cBhvr>
                                    </p:animEffect>
                                  </p:childTnLst>
                                </p:cTn>
                              </p:par>
                            </p:childTnLst>
                          </p:cTn>
                        </p:par>
                        <p:par>
                          <p:cTn id="17" fill="hold" nodeType="afterGroup">
                            <p:stCondLst>
                              <p:cond delay="1000"/>
                            </p:stCondLst>
                            <p:childTnLst>
                              <p:par>
                                <p:cTn id="18" presetID="22" presetClass="entr" presetSubtype="2" fill="hold" nodeType="after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wipe(right)">
                                      <p:cBhvr>
                                        <p:cTn id="2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P spid="10"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C2E1D0-BB63-1AD4-B21C-2AD17756C4C4}"/>
              </a:ext>
            </a:extLst>
          </p:cNvPr>
          <p:cNvSpPr>
            <a:spLocks noGrp="1"/>
          </p:cNvSpPr>
          <p:nvPr>
            <p:ph type="title"/>
          </p:nvPr>
        </p:nvSpPr>
        <p:spPr>
          <a:xfrm>
            <a:off x="457200" y="152400"/>
            <a:ext cx="7620000" cy="1143000"/>
          </a:xfrm>
        </p:spPr>
        <p:txBody>
          <a:bodyPr/>
          <a:lstStyle/>
          <a:p>
            <a:pPr algn="ctr">
              <a:defRPr/>
            </a:pPr>
            <a:r>
              <a:rPr lang="en-US" dirty="0"/>
              <a:t>Structured Query Language (SQL)</a:t>
            </a:r>
            <a:endParaRPr lang="en-MY" dirty="0"/>
          </a:p>
        </p:txBody>
      </p:sp>
      <p:sp>
        <p:nvSpPr>
          <p:cNvPr id="9" name="Content Placeholder 2">
            <a:extLst>
              <a:ext uri="{FF2B5EF4-FFF2-40B4-BE49-F238E27FC236}">
                <a16:creationId xmlns:a16="http://schemas.microsoft.com/office/drawing/2014/main" id="{FCD28D44-370A-B862-30B4-5FF9ACE2574C}"/>
              </a:ext>
            </a:extLst>
          </p:cNvPr>
          <p:cNvSpPr txBox="1">
            <a:spLocks/>
          </p:cNvSpPr>
          <p:nvPr/>
        </p:nvSpPr>
        <p:spPr bwMode="auto">
          <a:xfrm>
            <a:off x="123825" y="1720850"/>
            <a:ext cx="8181975"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rgbClr val="FF6600"/>
              </a:buClr>
              <a:buFont typeface="Wingdings 3" panose="05040102010807070707" pitchFamily="18" charset="2"/>
              <a:buNone/>
            </a:pPr>
            <a:r>
              <a:rPr lang="en-US" altLang="en-US" sz="3200">
                <a:latin typeface="Calibri" panose="020F0502020204030204" pitchFamily="34" charset="0"/>
              </a:rPr>
              <a:t>As SQL is a standard, is supported by all the major RDBMS vendors. </a:t>
            </a:r>
            <a:endParaRPr lang="en-US" altLang="en-US" sz="3200">
              <a:solidFill>
                <a:srgbClr val="000000"/>
              </a:solidFill>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p:txBody>
      </p:sp>
      <p:grpSp>
        <p:nvGrpSpPr>
          <p:cNvPr id="3" name="Group 6">
            <a:extLst>
              <a:ext uri="{FF2B5EF4-FFF2-40B4-BE49-F238E27FC236}">
                <a16:creationId xmlns:a16="http://schemas.microsoft.com/office/drawing/2014/main" id="{E899971C-FA3E-6131-CFD8-4E7E5DDA4443}"/>
              </a:ext>
            </a:extLst>
          </p:cNvPr>
          <p:cNvGrpSpPr>
            <a:grpSpLocks/>
          </p:cNvGrpSpPr>
          <p:nvPr/>
        </p:nvGrpSpPr>
        <p:grpSpPr bwMode="auto">
          <a:xfrm>
            <a:off x="123825" y="2965450"/>
            <a:ext cx="3465513" cy="3435350"/>
            <a:chOff x="375776" y="2644634"/>
            <a:chExt cx="3692168" cy="3448661"/>
          </a:xfrm>
        </p:grpSpPr>
        <p:grpSp>
          <p:nvGrpSpPr>
            <p:cNvPr id="27658" name="Group 22">
              <a:extLst>
                <a:ext uri="{FF2B5EF4-FFF2-40B4-BE49-F238E27FC236}">
                  <a16:creationId xmlns:a16="http://schemas.microsoft.com/office/drawing/2014/main" id="{624D71EE-E860-96C4-F39E-48C8ED8D5742}"/>
                </a:ext>
              </a:extLst>
            </p:cNvPr>
            <p:cNvGrpSpPr>
              <a:grpSpLocks/>
            </p:cNvGrpSpPr>
            <p:nvPr/>
          </p:nvGrpSpPr>
          <p:grpSpPr bwMode="auto">
            <a:xfrm>
              <a:off x="375776" y="2644634"/>
              <a:ext cx="3692168" cy="3448661"/>
              <a:chOff x="2438401" y="2204864"/>
              <a:chExt cx="4242854" cy="3541455"/>
            </a:xfrm>
          </p:grpSpPr>
          <p:cxnSp>
            <p:nvCxnSpPr>
              <p:cNvPr id="27661" name="Straight Connector 29">
                <a:extLst>
                  <a:ext uri="{FF2B5EF4-FFF2-40B4-BE49-F238E27FC236}">
                    <a16:creationId xmlns:a16="http://schemas.microsoft.com/office/drawing/2014/main" id="{20350D21-16C9-2AA1-B98F-B45D453BF01E}"/>
                  </a:ext>
                </a:extLst>
              </p:cNvPr>
              <p:cNvCxnSpPr>
                <a:cxnSpLocks noChangeShapeType="1"/>
              </p:cNvCxnSpPr>
              <p:nvPr/>
            </p:nvCxnSpPr>
            <p:spPr bwMode="auto">
              <a:xfrm>
                <a:off x="6681254" y="2217927"/>
                <a:ext cx="0" cy="3528392"/>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pic>
            <p:nvPicPr>
              <p:cNvPr id="27662" name="Picture 30">
                <a:extLst>
                  <a:ext uri="{FF2B5EF4-FFF2-40B4-BE49-F238E27FC236}">
                    <a16:creationId xmlns:a16="http://schemas.microsoft.com/office/drawing/2014/main" id="{993DE6BA-2F56-1426-F7A0-6BFF645ABB2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895599" y="4375265"/>
                <a:ext cx="1105594" cy="806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63" name="Picture 38">
                <a:extLst>
                  <a:ext uri="{FF2B5EF4-FFF2-40B4-BE49-F238E27FC236}">
                    <a16:creationId xmlns:a16="http://schemas.microsoft.com/office/drawing/2014/main" id="{D0C04310-AD68-5129-DAE4-2747876B438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591761" y="2492896"/>
                <a:ext cx="1640670" cy="1230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7664" name="Straight Connector 33">
                <a:extLst>
                  <a:ext uri="{FF2B5EF4-FFF2-40B4-BE49-F238E27FC236}">
                    <a16:creationId xmlns:a16="http://schemas.microsoft.com/office/drawing/2014/main" id="{32E4F5B3-B251-0E23-AF78-F9B90EB51BD8}"/>
                  </a:ext>
                </a:extLst>
              </p:cNvPr>
              <p:cNvCxnSpPr>
                <a:cxnSpLocks noChangeShapeType="1"/>
                <a:stCxn id="35" idx="1"/>
              </p:cNvCxnSpPr>
              <p:nvPr/>
            </p:nvCxnSpPr>
            <p:spPr bwMode="auto">
              <a:xfrm flipV="1">
                <a:off x="2438401" y="3969063"/>
                <a:ext cx="4242853" cy="6529"/>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35" name="Rectangle 34">
                <a:extLst>
                  <a:ext uri="{FF2B5EF4-FFF2-40B4-BE49-F238E27FC236}">
                    <a16:creationId xmlns:a16="http://schemas.microsoft.com/office/drawing/2014/main" id="{B2F6CDA7-A0C5-73BE-22DA-891A2BDAE76E}"/>
                  </a:ext>
                </a:extLst>
              </p:cNvPr>
              <p:cNvSpPr/>
              <p:nvPr/>
            </p:nvSpPr>
            <p:spPr bwMode="auto">
              <a:xfrm>
                <a:off x="2438401" y="2217956"/>
                <a:ext cx="4242854" cy="3515270"/>
              </a:xfrm>
              <a:prstGeom prst="rect">
                <a:avLst/>
              </a:prstGeom>
              <a:noFill/>
              <a:ln w="9525" cap="flat" cmpd="sng" algn="ctr">
                <a:solidFill>
                  <a:schemeClr val="tx1"/>
                </a:solidFill>
                <a:prstDash val="solid"/>
                <a:round/>
                <a:headEnd type="none" w="med" len="med"/>
                <a:tailEnd type="none" w="med" len="med"/>
              </a:ln>
              <a:effectLst/>
            </p:spPr>
            <p:txBody>
              <a:bodyPr/>
              <a:lstStyle/>
              <a:p>
                <a:pPr>
                  <a:defRPr/>
                </a:pPr>
                <a:endParaRPr lang="en-CA" b="1" cap="all">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Arial" charset="0"/>
                </a:endParaRPr>
              </a:p>
            </p:txBody>
          </p:sp>
          <p:cxnSp>
            <p:nvCxnSpPr>
              <p:cNvPr id="27666" name="Straight Connector 35">
                <a:extLst>
                  <a:ext uri="{FF2B5EF4-FFF2-40B4-BE49-F238E27FC236}">
                    <a16:creationId xmlns:a16="http://schemas.microsoft.com/office/drawing/2014/main" id="{197A9477-E4B3-A583-9BB0-CE45CC39BE88}"/>
                  </a:ext>
                </a:extLst>
              </p:cNvPr>
              <p:cNvCxnSpPr>
                <a:cxnSpLocks noChangeShapeType="1"/>
              </p:cNvCxnSpPr>
              <p:nvPr/>
            </p:nvCxnSpPr>
            <p:spPr bwMode="auto">
              <a:xfrm>
                <a:off x="4419600" y="2204864"/>
                <a:ext cx="0" cy="3528392"/>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pic>
          <p:nvPicPr>
            <p:cNvPr id="27659" name="Picture 39">
              <a:extLst>
                <a:ext uri="{FF2B5EF4-FFF2-40B4-BE49-F238E27FC236}">
                  <a16:creationId xmlns:a16="http://schemas.microsoft.com/office/drawing/2014/main" id="{54C50FE1-CEE4-4E26-8D59-5B3BEE2E23B6}"/>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391579" y="2899611"/>
              <a:ext cx="1381125" cy="1134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60" name="TextBox 40">
              <a:extLst>
                <a:ext uri="{FF2B5EF4-FFF2-40B4-BE49-F238E27FC236}">
                  <a16:creationId xmlns:a16="http://schemas.microsoft.com/office/drawing/2014/main" id="{81DF124F-966D-B8C5-FF98-9EDAC7253CED}"/>
                </a:ext>
              </a:extLst>
            </p:cNvPr>
            <p:cNvSpPr txBox="1">
              <a:spLocks noChangeArrowheads="1"/>
            </p:cNvSpPr>
            <p:nvPr/>
          </p:nvSpPr>
          <p:spPr bwMode="auto">
            <a:xfrm>
              <a:off x="2256304" y="4874245"/>
              <a:ext cx="158410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CA" altLang="en-US" sz="3200" b="1"/>
                <a:t>…</a:t>
              </a:r>
            </a:p>
          </p:txBody>
        </p:sp>
      </p:grpSp>
      <p:grpSp>
        <p:nvGrpSpPr>
          <p:cNvPr id="5" name="Group 41">
            <a:extLst>
              <a:ext uri="{FF2B5EF4-FFF2-40B4-BE49-F238E27FC236}">
                <a16:creationId xmlns:a16="http://schemas.microsoft.com/office/drawing/2014/main" id="{E3EAB075-E2E1-04E3-9588-24CA114762E4}"/>
              </a:ext>
            </a:extLst>
          </p:cNvPr>
          <p:cNvGrpSpPr>
            <a:grpSpLocks/>
          </p:cNvGrpSpPr>
          <p:nvPr/>
        </p:nvGrpSpPr>
        <p:grpSpPr bwMode="auto">
          <a:xfrm>
            <a:off x="3816350" y="5327650"/>
            <a:ext cx="2736850" cy="652463"/>
            <a:chOff x="3203848" y="3956482"/>
            <a:chExt cx="2736303" cy="651263"/>
          </a:xfrm>
        </p:grpSpPr>
        <p:cxnSp>
          <p:nvCxnSpPr>
            <p:cNvPr id="27656" name="Straight Arrow Connector 42">
              <a:extLst>
                <a:ext uri="{FF2B5EF4-FFF2-40B4-BE49-F238E27FC236}">
                  <a16:creationId xmlns:a16="http://schemas.microsoft.com/office/drawing/2014/main" id="{35D5423B-F127-4D8F-0404-1E0B40ECDABB}"/>
                </a:ext>
              </a:extLst>
            </p:cNvPr>
            <p:cNvCxnSpPr>
              <a:cxnSpLocks noChangeShapeType="1"/>
            </p:cNvCxnSpPr>
            <p:nvPr/>
          </p:nvCxnSpPr>
          <p:spPr bwMode="auto">
            <a:xfrm flipH="1" flipV="1">
              <a:off x="3203848" y="4602813"/>
              <a:ext cx="2736303" cy="4932"/>
            </a:xfrm>
            <a:prstGeom prst="straightConnector1">
              <a:avLst/>
            </a:prstGeom>
            <a:noFill/>
            <a:ln w="25400"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27657" name="TextBox 43">
              <a:extLst>
                <a:ext uri="{FF2B5EF4-FFF2-40B4-BE49-F238E27FC236}">
                  <a16:creationId xmlns:a16="http://schemas.microsoft.com/office/drawing/2014/main" id="{0ADCE810-E7CA-1B92-762E-44EA5F38E0B7}"/>
                </a:ext>
              </a:extLst>
            </p:cNvPr>
            <p:cNvSpPr txBox="1">
              <a:spLocks noChangeArrowheads="1"/>
            </p:cNvSpPr>
            <p:nvPr/>
          </p:nvSpPr>
          <p:spPr bwMode="auto">
            <a:xfrm>
              <a:off x="3548391" y="3956482"/>
              <a:ext cx="204721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CA" altLang="en-US"/>
                <a:t>instructions using SQL</a:t>
              </a:r>
            </a:p>
          </p:txBody>
        </p:sp>
      </p:grpSp>
      <p:cxnSp>
        <p:nvCxnSpPr>
          <p:cNvPr id="45" name="Straight Arrow Connector 44">
            <a:extLst>
              <a:ext uri="{FF2B5EF4-FFF2-40B4-BE49-F238E27FC236}">
                <a16:creationId xmlns:a16="http://schemas.microsoft.com/office/drawing/2014/main" id="{8604B5F9-D8AB-131E-90A2-2FB8BFE272E5}"/>
              </a:ext>
            </a:extLst>
          </p:cNvPr>
          <p:cNvCxnSpPr>
            <a:cxnSpLocks noChangeShapeType="1"/>
          </p:cNvCxnSpPr>
          <p:nvPr/>
        </p:nvCxnSpPr>
        <p:spPr bwMode="auto">
          <a:xfrm>
            <a:off x="6548438" y="5294313"/>
            <a:ext cx="0" cy="690562"/>
          </a:xfrm>
          <a:prstGeom prst="straightConnector1">
            <a:avLst/>
          </a:prstGeom>
          <a:noFill/>
          <a:ln w="25400" algn="ctr">
            <a:solidFill>
              <a:schemeClr val="tx1"/>
            </a:solidFill>
            <a:round/>
            <a:headEnd/>
            <a:tailEnd/>
          </a:ln>
          <a:extLst>
            <a:ext uri="{909E8E84-426E-40DD-AFC4-6F175D3DCCD1}">
              <a14:hiddenFill xmlns:a14="http://schemas.microsoft.com/office/drawing/2010/main">
                <a:noFill/>
              </a14:hiddenFill>
            </a:ext>
          </a:extLst>
        </p:spPr>
      </p:cxnSp>
      <p:pic>
        <p:nvPicPr>
          <p:cNvPr id="24" name="Picture 2" descr="http://www.oscargradylibrary.org/wp-content/uploads/2012/10/computer.png">
            <a:extLst>
              <a:ext uri="{FF2B5EF4-FFF2-40B4-BE49-F238E27FC236}">
                <a16:creationId xmlns:a16="http://schemas.microsoft.com/office/drawing/2014/main" id="{E03D5C68-CD2C-A683-EE0C-55046DFFDC9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40388" y="2438400"/>
            <a:ext cx="2749550" cy="280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wipe(left)">
                                      <p:cBhvr>
                                        <p:cTn id="7" dur="500"/>
                                        <p:tgtEl>
                                          <p:spTgt spid="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wipe(down)">
                                      <p:cBhvr>
                                        <p:cTn id="12" dur="500"/>
                                        <p:tgtEl>
                                          <p:spTgt spid="24"/>
                                        </p:tgtEl>
                                      </p:cBhvr>
                                    </p:animEffect>
                                  </p:childTnLst>
                                </p:cTn>
                              </p:par>
                            </p:childTnLst>
                          </p:cTn>
                        </p:par>
                        <p:par>
                          <p:cTn id="13" fill="hold" nodeType="afterGroup">
                            <p:stCondLst>
                              <p:cond delay="500"/>
                            </p:stCondLst>
                            <p:childTnLst>
                              <p:par>
                                <p:cTn id="14" presetID="22" presetClass="entr" presetSubtype="1" fill="hold" nodeType="after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wipe(up)">
                                      <p:cBhvr>
                                        <p:cTn id="16" dur="500"/>
                                        <p:tgtEl>
                                          <p:spTgt spid="3"/>
                                        </p:tgtEl>
                                      </p:cBhvr>
                                    </p:animEffect>
                                  </p:childTnLst>
                                </p:cTn>
                              </p:par>
                            </p:childTnLst>
                          </p:cTn>
                        </p:par>
                        <p:par>
                          <p:cTn id="17" fill="hold" nodeType="afterGroup">
                            <p:stCondLst>
                              <p:cond delay="1000"/>
                            </p:stCondLst>
                            <p:childTnLst>
                              <p:par>
                                <p:cTn id="18" presetID="22" presetClass="entr" presetSubtype="1" fill="hold" nodeType="afterEffect">
                                  <p:stCondLst>
                                    <p:cond delay="0"/>
                                  </p:stCondLst>
                                  <p:childTnLst>
                                    <p:set>
                                      <p:cBhvr>
                                        <p:cTn id="19" dur="1" fill="hold">
                                          <p:stCondLst>
                                            <p:cond delay="0"/>
                                          </p:stCondLst>
                                        </p:cTn>
                                        <p:tgtEl>
                                          <p:spTgt spid="45"/>
                                        </p:tgtEl>
                                        <p:attrNameLst>
                                          <p:attrName>style.visibility</p:attrName>
                                        </p:attrNameLst>
                                      </p:cBhvr>
                                      <p:to>
                                        <p:strVal val="visible"/>
                                      </p:to>
                                    </p:set>
                                    <p:animEffect transition="in" filter="wipe(up)">
                                      <p:cBhvr>
                                        <p:cTn id="20" dur="500"/>
                                        <p:tgtEl>
                                          <p:spTgt spid="45"/>
                                        </p:tgtEl>
                                      </p:cBhvr>
                                    </p:animEffect>
                                  </p:childTnLst>
                                </p:cTn>
                              </p:par>
                            </p:childTnLst>
                          </p:cTn>
                        </p:par>
                        <p:par>
                          <p:cTn id="21" fill="hold" nodeType="afterGroup">
                            <p:stCondLst>
                              <p:cond delay="1500"/>
                            </p:stCondLst>
                            <p:childTnLst>
                              <p:par>
                                <p:cTn id="22" presetID="22" presetClass="entr" presetSubtype="2" fill="hold"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wipe(right)">
                                      <p:cBhvr>
                                        <p:cTn id="2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17D57-FDFA-106A-D69E-2E13B20F7F69}"/>
              </a:ext>
            </a:extLst>
          </p:cNvPr>
          <p:cNvSpPr>
            <a:spLocks noGrp="1"/>
          </p:cNvSpPr>
          <p:nvPr>
            <p:ph type="title"/>
          </p:nvPr>
        </p:nvSpPr>
        <p:spPr>
          <a:xfrm>
            <a:off x="457200" y="152400"/>
            <a:ext cx="7620000" cy="1143000"/>
          </a:xfrm>
        </p:spPr>
        <p:txBody>
          <a:bodyPr/>
          <a:lstStyle/>
          <a:p>
            <a:pPr algn="ctr">
              <a:defRPr/>
            </a:pPr>
            <a:r>
              <a:rPr lang="en-US" dirty="0"/>
              <a:t>Structured Query Language (SQL)</a:t>
            </a:r>
            <a:endParaRPr lang="en-MY" dirty="0"/>
          </a:p>
        </p:txBody>
      </p:sp>
      <p:sp>
        <p:nvSpPr>
          <p:cNvPr id="6" name="Content Placeholder 2">
            <a:extLst>
              <a:ext uri="{FF2B5EF4-FFF2-40B4-BE49-F238E27FC236}">
                <a16:creationId xmlns:a16="http://schemas.microsoft.com/office/drawing/2014/main" id="{C925BEC8-073E-6126-3765-D9BA8CA33CB7}"/>
              </a:ext>
            </a:extLst>
          </p:cNvPr>
          <p:cNvSpPr txBox="1">
            <a:spLocks/>
          </p:cNvSpPr>
          <p:nvPr/>
        </p:nvSpPr>
        <p:spPr bwMode="auto">
          <a:xfrm>
            <a:off x="250825" y="1524000"/>
            <a:ext cx="7902575"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rgbClr val="FF6600"/>
              </a:buClr>
              <a:buFont typeface="Wingdings 3" panose="05040102010807070707" pitchFamily="18" charset="2"/>
              <a:buNone/>
            </a:pPr>
            <a:r>
              <a:rPr lang="en-US" altLang="en-US" sz="3200">
                <a:latin typeface="Calibri" panose="020F0502020204030204" pitchFamily="34" charset="0"/>
              </a:rPr>
              <a:t>According to the standard, SQL can be thought of as consisting of two major components</a:t>
            </a:r>
          </a:p>
          <a:p>
            <a:pPr algn="just" eaLnBrk="1" hangingPunct="1">
              <a:spcBef>
                <a:spcPct val="20000"/>
              </a:spcBef>
              <a:buClr>
                <a:srgbClr val="FF6600"/>
              </a:buClr>
              <a:buFont typeface="Wingdings 3" panose="05040102010807070707" pitchFamily="18" charset="2"/>
              <a:buNone/>
            </a:pPr>
            <a:endParaRPr lang="en-US" altLang="en-US" sz="3200">
              <a:solidFill>
                <a:srgbClr val="000000"/>
              </a:solidFill>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p:txBody>
      </p:sp>
      <p:sp>
        <p:nvSpPr>
          <p:cNvPr id="3" name="Rounded Rectangle 2">
            <a:extLst>
              <a:ext uri="{FF2B5EF4-FFF2-40B4-BE49-F238E27FC236}">
                <a16:creationId xmlns:a16="http://schemas.microsoft.com/office/drawing/2014/main" id="{1A2C50F3-E90E-1DD2-B325-F3C36BB4BE28}"/>
              </a:ext>
            </a:extLst>
          </p:cNvPr>
          <p:cNvSpPr/>
          <p:nvPr/>
        </p:nvSpPr>
        <p:spPr bwMode="auto">
          <a:xfrm>
            <a:off x="2895600" y="2586038"/>
            <a:ext cx="3414713" cy="1223962"/>
          </a:xfrm>
          <a:prstGeom prst="roundRect">
            <a:avLst/>
          </a:prstGeom>
          <a:ln>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anchor="ctr" anchorCtr="1"/>
          <a:lstStyle/>
          <a:p>
            <a:pPr>
              <a:defRPr/>
            </a:pPr>
            <a:r>
              <a:rPr lang="en-CA" sz="3600" b="1" dirty="0">
                <a:solidFill>
                  <a:schemeClr val="tx1"/>
                </a:solidFill>
                <a:latin typeface="Arial" charset="0"/>
              </a:rPr>
              <a:t>SQL</a:t>
            </a:r>
          </a:p>
        </p:txBody>
      </p:sp>
      <p:sp>
        <p:nvSpPr>
          <p:cNvPr id="7" name="Rounded Rectangle 6">
            <a:extLst>
              <a:ext uri="{FF2B5EF4-FFF2-40B4-BE49-F238E27FC236}">
                <a16:creationId xmlns:a16="http://schemas.microsoft.com/office/drawing/2014/main" id="{D3061353-0CDC-ED6C-B948-E630912779A8}"/>
              </a:ext>
            </a:extLst>
          </p:cNvPr>
          <p:cNvSpPr/>
          <p:nvPr/>
        </p:nvSpPr>
        <p:spPr bwMode="auto">
          <a:xfrm>
            <a:off x="76200" y="4724400"/>
            <a:ext cx="4248150" cy="1752600"/>
          </a:xfrm>
          <a:prstGeom prst="roundRect">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anchor="ctr" anchorCtr="1"/>
          <a:lstStyle/>
          <a:p>
            <a:pPr algn="ctr">
              <a:spcAft>
                <a:spcPts val="600"/>
              </a:spcAft>
              <a:defRPr/>
            </a:pPr>
            <a:r>
              <a:rPr lang="en-CA" sz="2000" b="1" dirty="0">
                <a:solidFill>
                  <a:schemeClr val="tx1"/>
                </a:solidFill>
                <a:latin typeface="Arial" charset="0"/>
              </a:rPr>
              <a:t>DDL (Data Definition Language)</a:t>
            </a:r>
          </a:p>
          <a:p>
            <a:pPr marL="0" lvl="1" algn="ctr">
              <a:defRPr/>
            </a:pPr>
            <a:r>
              <a:rPr lang="en-CA" sz="2000" dirty="0"/>
              <a:t>Defining the database structure (e.g. defining tables needed) and controlling access to the data (e.g. </a:t>
            </a:r>
            <a:r>
              <a:rPr lang="en-US" sz="2000" dirty="0"/>
              <a:t>Create/alter/delete)</a:t>
            </a:r>
            <a:endParaRPr lang="en-CA" sz="2000" dirty="0"/>
          </a:p>
        </p:txBody>
      </p:sp>
      <p:sp>
        <p:nvSpPr>
          <p:cNvPr id="8" name="Rounded Rectangle 7">
            <a:extLst>
              <a:ext uri="{FF2B5EF4-FFF2-40B4-BE49-F238E27FC236}">
                <a16:creationId xmlns:a16="http://schemas.microsoft.com/office/drawing/2014/main" id="{7A5E1B7C-B214-3410-BC49-31DA03C8A273}"/>
              </a:ext>
            </a:extLst>
          </p:cNvPr>
          <p:cNvSpPr/>
          <p:nvPr/>
        </p:nvSpPr>
        <p:spPr bwMode="auto">
          <a:xfrm>
            <a:off x="4497388" y="4816475"/>
            <a:ext cx="3808412" cy="1584325"/>
          </a:xfrm>
          <a:prstGeom prst="roundRect">
            <a:avLst/>
          </a:prstGeom>
          <a:ln>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anchor="ctr" anchorCtr="1"/>
          <a:lstStyle/>
          <a:p>
            <a:pPr algn="ctr">
              <a:spcAft>
                <a:spcPts val="600"/>
              </a:spcAft>
              <a:defRPr/>
            </a:pPr>
            <a:r>
              <a:rPr lang="en-CA" sz="2000" b="1" dirty="0">
                <a:solidFill>
                  <a:schemeClr val="tx1"/>
                </a:solidFill>
                <a:latin typeface="Arial" charset="0"/>
              </a:rPr>
              <a:t>DML (Data Manipulation Language)</a:t>
            </a:r>
          </a:p>
          <a:p>
            <a:pPr algn="ctr">
              <a:defRPr/>
            </a:pPr>
            <a:r>
              <a:rPr lang="en-CA" sz="2000" dirty="0"/>
              <a:t>Retrieving and modifying data</a:t>
            </a:r>
            <a:endParaRPr lang="en-CA" sz="2000" b="1" dirty="0">
              <a:solidFill>
                <a:schemeClr val="tx1"/>
              </a:solidFill>
              <a:latin typeface="Arial" charset="0"/>
            </a:endParaRPr>
          </a:p>
        </p:txBody>
      </p:sp>
      <p:sp>
        <p:nvSpPr>
          <p:cNvPr id="4" name="Down Arrow 3">
            <a:extLst>
              <a:ext uri="{FF2B5EF4-FFF2-40B4-BE49-F238E27FC236}">
                <a16:creationId xmlns:a16="http://schemas.microsoft.com/office/drawing/2014/main" id="{BD21DF4A-6054-652E-A2A3-6C2021AC05E4}"/>
              </a:ext>
            </a:extLst>
          </p:cNvPr>
          <p:cNvSpPr>
            <a:spLocks noChangeArrowheads="1"/>
          </p:cNvSpPr>
          <p:nvPr/>
        </p:nvSpPr>
        <p:spPr bwMode="auto">
          <a:xfrm>
            <a:off x="2895600" y="3886200"/>
            <a:ext cx="792163" cy="768350"/>
          </a:xfrm>
          <a:prstGeom prst="downArrow">
            <a:avLst>
              <a:gd name="adj1" fmla="val 50000"/>
              <a:gd name="adj2" fmla="val 50000"/>
            </a:avLst>
          </a:prstGeom>
          <a:noFill/>
          <a:ln w="2540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endParaRPr lang="en-CA" altLang="en-US"/>
          </a:p>
        </p:txBody>
      </p:sp>
      <p:sp>
        <p:nvSpPr>
          <p:cNvPr id="10" name="Down Arrow 9">
            <a:extLst>
              <a:ext uri="{FF2B5EF4-FFF2-40B4-BE49-F238E27FC236}">
                <a16:creationId xmlns:a16="http://schemas.microsoft.com/office/drawing/2014/main" id="{F5B5F102-EF6E-A590-26B6-1B991C5EDC02}"/>
              </a:ext>
            </a:extLst>
          </p:cNvPr>
          <p:cNvSpPr>
            <a:spLocks noChangeArrowheads="1"/>
          </p:cNvSpPr>
          <p:nvPr/>
        </p:nvSpPr>
        <p:spPr bwMode="auto">
          <a:xfrm>
            <a:off x="5456238" y="3886200"/>
            <a:ext cx="792162" cy="768350"/>
          </a:xfrm>
          <a:prstGeom prst="downArrow">
            <a:avLst>
              <a:gd name="adj1" fmla="val 50000"/>
              <a:gd name="adj2" fmla="val 50000"/>
            </a:avLst>
          </a:prstGeom>
          <a:noFill/>
          <a:ln w="2540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endParaRPr lang="en-CA" altLang="en-US"/>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up)">
                                      <p:cBhvr>
                                        <p:cTn id="12" dur="500"/>
                                        <p:tgtEl>
                                          <p:spTgt spid="3"/>
                                        </p:tgtEl>
                                      </p:cBhvr>
                                    </p:animEffect>
                                  </p:childTnLst>
                                </p:cTn>
                              </p:par>
                            </p:childTnLst>
                          </p:cTn>
                        </p:par>
                        <p:par>
                          <p:cTn id="13" fill="hold" nodeType="afterGroup">
                            <p:stCondLst>
                              <p:cond delay="500"/>
                            </p:stCondLst>
                            <p:childTnLst>
                              <p:par>
                                <p:cTn id="14" presetID="22" presetClass="entr" presetSubtype="1"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wipe(up)">
                                      <p:cBhvr>
                                        <p:cTn id="16" dur="500"/>
                                        <p:tgtEl>
                                          <p:spTgt spid="4"/>
                                        </p:tgtEl>
                                      </p:cBhvr>
                                    </p:animEffect>
                                  </p:childTnLst>
                                </p:cTn>
                              </p:par>
                              <p:par>
                                <p:cTn id="17" presetID="22" presetClass="entr" presetSubtype="1"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wipe(up)">
                                      <p:cBhvr>
                                        <p:cTn id="19" dur="500"/>
                                        <p:tgtEl>
                                          <p:spTgt spid="10"/>
                                        </p:tgtEl>
                                      </p:cBhvr>
                                    </p:animEffect>
                                  </p:childTnLst>
                                </p:cTn>
                              </p:par>
                            </p:childTnLst>
                          </p:cTn>
                        </p:par>
                        <p:par>
                          <p:cTn id="20" fill="hold" nodeType="afterGroup">
                            <p:stCondLst>
                              <p:cond delay="1000"/>
                            </p:stCondLst>
                            <p:childTnLst>
                              <p:par>
                                <p:cTn id="21" presetID="22" presetClass="entr" presetSubtype="1"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wipe(up)">
                                      <p:cBhvr>
                                        <p:cTn id="23" dur="500"/>
                                        <p:tgtEl>
                                          <p:spTgt spid="7"/>
                                        </p:tgtEl>
                                      </p:cBhvr>
                                    </p:animEffect>
                                  </p:childTnLst>
                                </p:cTn>
                              </p:par>
                              <p:par>
                                <p:cTn id="24" presetID="22" presetClass="entr" presetSubtype="1" fill="hold" grpId="0" nodeType="with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wipe(up)">
                                      <p:cBhvr>
                                        <p:cTn id="2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3" grpId="0" animBg="1"/>
      <p:bldP spid="7" grpId="0" animBg="1"/>
      <p:bldP spid="8" grpId="0" animBg="1"/>
      <p:bldP spid="4" grpId="0" animBg="1"/>
      <p:bldP spid="10"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F69A6-3A8B-A1D3-C591-4A8DE0D23BC2}"/>
              </a:ext>
            </a:extLst>
          </p:cNvPr>
          <p:cNvSpPr>
            <a:spLocks noGrp="1"/>
          </p:cNvSpPr>
          <p:nvPr>
            <p:ph type="title"/>
          </p:nvPr>
        </p:nvSpPr>
        <p:spPr>
          <a:xfrm>
            <a:off x="457200" y="152400"/>
            <a:ext cx="7620000" cy="1143000"/>
          </a:xfrm>
        </p:spPr>
        <p:txBody>
          <a:bodyPr/>
          <a:lstStyle/>
          <a:p>
            <a:pPr algn="ctr">
              <a:defRPr/>
            </a:pPr>
            <a:r>
              <a:rPr lang="en-US" dirty="0"/>
              <a:t>Manipulating Databases Using SQL</a:t>
            </a:r>
            <a:endParaRPr lang="en-MY" dirty="0"/>
          </a:p>
        </p:txBody>
      </p:sp>
      <p:sp>
        <p:nvSpPr>
          <p:cNvPr id="12" name="Content Placeholder 2">
            <a:extLst>
              <a:ext uri="{FF2B5EF4-FFF2-40B4-BE49-F238E27FC236}">
                <a16:creationId xmlns:a16="http://schemas.microsoft.com/office/drawing/2014/main" id="{25F77067-46E9-049A-DFB9-7A51C213F9FF}"/>
              </a:ext>
            </a:extLst>
          </p:cNvPr>
          <p:cNvSpPr txBox="1">
            <a:spLocks/>
          </p:cNvSpPr>
          <p:nvPr/>
        </p:nvSpPr>
        <p:spPr bwMode="auto">
          <a:xfrm>
            <a:off x="228600" y="1511300"/>
            <a:ext cx="7978775"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rgbClr val="FF6600"/>
              </a:buClr>
              <a:buFont typeface="Wingdings 3" panose="05040102010807070707" pitchFamily="18" charset="2"/>
              <a:buNone/>
            </a:pPr>
            <a:r>
              <a:rPr lang="en-US" altLang="en-US" sz="3200">
                <a:latin typeface="Calibri" panose="020F0502020204030204" pitchFamily="34" charset="0"/>
              </a:rPr>
              <a:t>There are three ways that one can manipulate databases using SQL</a:t>
            </a:r>
          </a:p>
          <a:p>
            <a:pPr algn="just" eaLnBrk="1" hangingPunct="1">
              <a:spcBef>
                <a:spcPct val="20000"/>
              </a:spcBef>
              <a:buClr>
                <a:srgbClr val="FF6600"/>
              </a:buClr>
              <a:buFont typeface="Wingdings 3" panose="05040102010807070707" pitchFamily="18" charset="2"/>
              <a:buNone/>
            </a:pPr>
            <a:endParaRPr lang="en-US" altLang="en-US" sz="3200">
              <a:solidFill>
                <a:srgbClr val="000000"/>
              </a:solidFill>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US" altLang="en-US" sz="3200">
              <a:solidFill>
                <a:srgbClr val="000000"/>
              </a:solidFill>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US" altLang="en-US" sz="3600">
              <a:solidFill>
                <a:srgbClr val="000000"/>
              </a:solidFill>
              <a:latin typeface="Calibri" panose="020F0502020204030204" pitchFamily="34" charset="0"/>
            </a:endParaRPr>
          </a:p>
        </p:txBody>
      </p:sp>
      <p:sp>
        <p:nvSpPr>
          <p:cNvPr id="13" name="Rounded Rectangle 12">
            <a:hlinkClick r:id="rId2" action="ppaction://hlinksldjump"/>
            <a:extLst>
              <a:ext uri="{FF2B5EF4-FFF2-40B4-BE49-F238E27FC236}">
                <a16:creationId xmlns:a16="http://schemas.microsoft.com/office/drawing/2014/main" id="{48863101-C518-1038-7E83-565AD19D6A2E}"/>
              </a:ext>
            </a:extLst>
          </p:cNvPr>
          <p:cNvSpPr/>
          <p:nvPr/>
        </p:nvSpPr>
        <p:spPr bwMode="auto">
          <a:xfrm>
            <a:off x="685800" y="2736850"/>
            <a:ext cx="3398838" cy="1776413"/>
          </a:xfrm>
          <a:prstGeom prst="roundRect">
            <a:avLst/>
          </a:prstGeom>
          <a:ln>
            <a:headEnd type="none" w="med" len="med"/>
            <a:tailEnd type="none" w="med" len="med"/>
          </a:ln>
        </p:spPr>
        <p:style>
          <a:lnRef idx="2">
            <a:schemeClr val="accent6">
              <a:shade val="50000"/>
            </a:schemeClr>
          </a:lnRef>
          <a:fillRef idx="1">
            <a:schemeClr val="accent6"/>
          </a:fillRef>
          <a:effectRef idx="0">
            <a:schemeClr val="accent6"/>
          </a:effectRef>
          <a:fontRef idx="minor">
            <a:schemeClr val="lt1"/>
          </a:fontRef>
        </p:style>
        <p:txBody>
          <a:bodyPr anchor="ctr" anchorCtr="1"/>
          <a:lstStyle/>
          <a:p>
            <a:pPr algn="ctr">
              <a:defRPr/>
            </a:pPr>
            <a:r>
              <a:rPr lang="en-CA" sz="3600" dirty="0">
                <a:solidFill>
                  <a:schemeClr val="bg1"/>
                </a:solidFill>
              </a:rPr>
              <a:t>Create a database</a:t>
            </a:r>
          </a:p>
        </p:txBody>
      </p:sp>
      <p:sp>
        <p:nvSpPr>
          <p:cNvPr id="18" name="Rounded Rectangle 17">
            <a:hlinkClick r:id="rId3" action="ppaction://hlinksldjump"/>
            <a:extLst>
              <a:ext uri="{FF2B5EF4-FFF2-40B4-BE49-F238E27FC236}">
                <a16:creationId xmlns:a16="http://schemas.microsoft.com/office/drawing/2014/main" id="{502264C5-76AE-9281-FDBB-A1DCADE47259}"/>
              </a:ext>
            </a:extLst>
          </p:cNvPr>
          <p:cNvSpPr/>
          <p:nvPr/>
        </p:nvSpPr>
        <p:spPr bwMode="auto">
          <a:xfrm>
            <a:off x="4476750" y="2736850"/>
            <a:ext cx="3398838" cy="1776413"/>
          </a:xfrm>
          <a:prstGeom prst="round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anchor="ctr" anchorCtr="1"/>
          <a:lstStyle/>
          <a:p>
            <a:pPr algn="ctr">
              <a:defRPr/>
            </a:pPr>
            <a:r>
              <a:rPr lang="en-CA" sz="3600" dirty="0">
                <a:solidFill>
                  <a:schemeClr val="bg1"/>
                </a:solidFill>
              </a:rPr>
              <a:t>List the databases</a:t>
            </a:r>
          </a:p>
        </p:txBody>
      </p:sp>
      <p:sp>
        <p:nvSpPr>
          <p:cNvPr id="19" name="Rounded Rectangle 18">
            <a:hlinkClick r:id="rId4" action="ppaction://hlinksldjump"/>
            <a:extLst>
              <a:ext uri="{FF2B5EF4-FFF2-40B4-BE49-F238E27FC236}">
                <a16:creationId xmlns:a16="http://schemas.microsoft.com/office/drawing/2014/main" id="{99B02EC2-50EE-4FDA-4D23-2FA8D9E85B2A}"/>
              </a:ext>
            </a:extLst>
          </p:cNvPr>
          <p:cNvSpPr/>
          <p:nvPr/>
        </p:nvSpPr>
        <p:spPr bwMode="auto">
          <a:xfrm>
            <a:off x="685800" y="4776788"/>
            <a:ext cx="3398838" cy="1776412"/>
          </a:xfrm>
          <a:prstGeom prst="roundRect">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anchor="ctr" anchorCtr="1"/>
          <a:lstStyle/>
          <a:p>
            <a:pPr algn="ctr">
              <a:defRPr/>
            </a:pPr>
            <a:r>
              <a:rPr lang="en-CA" sz="3600" dirty="0">
                <a:solidFill>
                  <a:schemeClr val="bg1"/>
                </a:solidFill>
              </a:rPr>
              <a:t>Delete a database</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wipe(left)">
                                      <p:cBhvr>
                                        <p:cTn id="7" dur="500"/>
                                        <p:tgtEl>
                                          <p:spTgt spid="12">
                                            <p:txEl>
                                              <p:pRg st="0" end="0"/>
                                            </p:txEl>
                                          </p:spTgt>
                                        </p:tgtEl>
                                      </p:cBhvr>
                                    </p:animEffect>
                                  </p:childTnLst>
                                </p:cTn>
                              </p:par>
                            </p:childTnLst>
                          </p:cTn>
                        </p:par>
                        <p:par>
                          <p:cTn id="8" fill="hold" nodeType="afterGroup">
                            <p:stCondLst>
                              <p:cond delay="500"/>
                            </p:stCondLst>
                            <p:childTnLst>
                              <p:par>
                                <p:cTn id="9" presetID="42" presetClass="entr" presetSubtype="0"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1000"/>
                                        <p:tgtEl>
                                          <p:spTgt spid="13"/>
                                        </p:tgtEl>
                                      </p:cBhvr>
                                    </p:animEffect>
                                    <p:anim calcmode="lin" valueType="num">
                                      <p:cBhvr>
                                        <p:cTn id="12" dur="1000" fill="hold"/>
                                        <p:tgtEl>
                                          <p:spTgt spid="13"/>
                                        </p:tgtEl>
                                        <p:attrNameLst>
                                          <p:attrName>ppt_x</p:attrName>
                                        </p:attrNameLst>
                                      </p:cBhvr>
                                      <p:tavLst>
                                        <p:tav tm="0">
                                          <p:val>
                                            <p:strVal val="#ppt_x"/>
                                          </p:val>
                                        </p:tav>
                                        <p:tav tm="100000">
                                          <p:val>
                                            <p:strVal val="#ppt_x"/>
                                          </p:val>
                                        </p:tav>
                                      </p:tavLst>
                                    </p:anim>
                                    <p:anim calcmode="lin" valueType="num">
                                      <p:cBhvr>
                                        <p:cTn id="13" dur="1000" fill="hold"/>
                                        <p:tgtEl>
                                          <p:spTgt spid="13"/>
                                        </p:tgtEl>
                                        <p:attrNameLst>
                                          <p:attrName>ppt_y</p:attrName>
                                        </p:attrNameLst>
                                      </p:cBhvr>
                                      <p:tavLst>
                                        <p:tav tm="0">
                                          <p:val>
                                            <p:strVal val="#ppt_y+.1"/>
                                          </p:val>
                                        </p:tav>
                                        <p:tav tm="100000">
                                          <p:val>
                                            <p:strVal val="#ppt_y"/>
                                          </p:val>
                                        </p:tav>
                                      </p:tavLst>
                                    </p:anim>
                                  </p:childTnLst>
                                </p:cTn>
                              </p:par>
                            </p:childTnLst>
                          </p:cTn>
                        </p:par>
                        <p:par>
                          <p:cTn id="14" fill="hold" nodeType="afterGroup">
                            <p:stCondLst>
                              <p:cond delay="1500"/>
                            </p:stCondLst>
                            <p:childTnLst>
                              <p:par>
                                <p:cTn id="15" presetID="42" presetClass="entr" presetSubtype="0" fill="hold" grpId="0" nodeType="after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1000"/>
                                        <p:tgtEl>
                                          <p:spTgt spid="18"/>
                                        </p:tgtEl>
                                      </p:cBhvr>
                                    </p:animEffect>
                                    <p:anim calcmode="lin" valueType="num">
                                      <p:cBhvr>
                                        <p:cTn id="18" dur="1000" fill="hold"/>
                                        <p:tgtEl>
                                          <p:spTgt spid="18"/>
                                        </p:tgtEl>
                                        <p:attrNameLst>
                                          <p:attrName>ppt_x</p:attrName>
                                        </p:attrNameLst>
                                      </p:cBhvr>
                                      <p:tavLst>
                                        <p:tav tm="0">
                                          <p:val>
                                            <p:strVal val="#ppt_x"/>
                                          </p:val>
                                        </p:tav>
                                        <p:tav tm="100000">
                                          <p:val>
                                            <p:strVal val="#ppt_x"/>
                                          </p:val>
                                        </p:tav>
                                      </p:tavLst>
                                    </p:anim>
                                    <p:anim calcmode="lin" valueType="num">
                                      <p:cBhvr>
                                        <p:cTn id="19" dur="1000" fill="hold"/>
                                        <p:tgtEl>
                                          <p:spTgt spid="18"/>
                                        </p:tgtEl>
                                        <p:attrNameLst>
                                          <p:attrName>ppt_y</p:attrName>
                                        </p:attrNameLst>
                                      </p:cBhvr>
                                      <p:tavLst>
                                        <p:tav tm="0">
                                          <p:val>
                                            <p:strVal val="#ppt_y+.1"/>
                                          </p:val>
                                        </p:tav>
                                        <p:tav tm="100000">
                                          <p:val>
                                            <p:strVal val="#ppt_y"/>
                                          </p:val>
                                        </p:tav>
                                      </p:tavLst>
                                    </p:anim>
                                  </p:childTnLst>
                                </p:cTn>
                              </p:par>
                            </p:childTnLst>
                          </p:cTn>
                        </p:par>
                        <p:par>
                          <p:cTn id="20" fill="hold" nodeType="afterGroup">
                            <p:stCondLst>
                              <p:cond delay="2500"/>
                            </p:stCondLst>
                            <p:childTnLst>
                              <p:par>
                                <p:cTn id="21" presetID="42" presetClass="entr" presetSubtype="0" fill="hold" grpId="0" nodeType="after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1000"/>
                                        <p:tgtEl>
                                          <p:spTgt spid="19"/>
                                        </p:tgtEl>
                                      </p:cBhvr>
                                    </p:animEffect>
                                    <p:anim calcmode="lin" valueType="num">
                                      <p:cBhvr>
                                        <p:cTn id="24" dur="1000" fill="hold"/>
                                        <p:tgtEl>
                                          <p:spTgt spid="19"/>
                                        </p:tgtEl>
                                        <p:attrNameLst>
                                          <p:attrName>ppt_x</p:attrName>
                                        </p:attrNameLst>
                                      </p:cBhvr>
                                      <p:tavLst>
                                        <p:tav tm="0">
                                          <p:val>
                                            <p:strVal val="#ppt_x"/>
                                          </p:val>
                                        </p:tav>
                                        <p:tav tm="100000">
                                          <p:val>
                                            <p:strVal val="#ppt_x"/>
                                          </p:val>
                                        </p:tav>
                                      </p:tavLst>
                                    </p:anim>
                                    <p:anim calcmode="lin" valueType="num">
                                      <p:cBhvr>
                                        <p:cTn id="25"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P spid="13" grpId="0" animBg="1"/>
      <p:bldP spid="18" grpId="0" animBg="1"/>
      <p:bldP spid="19"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5">
            <a:extLst>
              <a:ext uri="{FF2B5EF4-FFF2-40B4-BE49-F238E27FC236}">
                <a16:creationId xmlns:a16="http://schemas.microsoft.com/office/drawing/2014/main" id="{6F92BFF2-4984-1017-E504-B0E1BA63F40F}"/>
              </a:ext>
            </a:extLst>
          </p:cNvPr>
          <p:cNvSpPr txBox="1">
            <a:spLocks/>
          </p:cNvSpPr>
          <p:nvPr/>
        </p:nvSpPr>
        <p:spPr bwMode="auto">
          <a:xfrm>
            <a:off x="381000" y="2540000"/>
            <a:ext cx="7696200" cy="973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rgbClr val="FF6600"/>
              </a:buClr>
              <a:buFont typeface="Wingdings 3" panose="05040102010807070707" pitchFamily="18" charset="2"/>
              <a:buNone/>
            </a:pPr>
            <a:r>
              <a:rPr lang="en-CA" altLang="en-US" sz="2800">
                <a:latin typeface="Calibri" panose="020F0502020204030204" pitchFamily="34" charset="0"/>
              </a:rPr>
              <a:t>SQL syntax:</a:t>
            </a:r>
          </a:p>
          <a:p>
            <a:pPr algn="just" eaLnBrk="1" hangingPunct="1">
              <a:spcBef>
                <a:spcPct val="20000"/>
              </a:spcBef>
              <a:buClr>
                <a:srgbClr val="FF6600"/>
              </a:buClr>
              <a:buFont typeface="Wingdings 3" panose="05040102010807070707" pitchFamily="18" charset="2"/>
              <a:buNone/>
            </a:pPr>
            <a:endParaRPr lang="en-CA"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r>
              <a:rPr lang="en-CA" altLang="en-US" sz="2800">
                <a:latin typeface="Calibri" panose="020F0502020204030204" pitchFamily="34" charset="0"/>
              </a:rPr>
              <a:t>For example, to create a database named “Amazon”</a:t>
            </a:r>
          </a:p>
        </p:txBody>
      </p:sp>
      <p:sp>
        <p:nvSpPr>
          <p:cNvPr id="2" name="Title 1">
            <a:extLst>
              <a:ext uri="{FF2B5EF4-FFF2-40B4-BE49-F238E27FC236}">
                <a16:creationId xmlns:a16="http://schemas.microsoft.com/office/drawing/2014/main" id="{13C4402B-09F1-FE71-0CB4-D3081BC0FC65}"/>
              </a:ext>
            </a:extLst>
          </p:cNvPr>
          <p:cNvSpPr>
            <a:spLocks noGrp="1"/>
          </p:cNvSpPr>
          <p:nvPr>
            <p:ph type="title"/>
          </p:nvPr>
        </p:nvSpPr>
        <p:spPr>
          <a:xfrm>
            <a:off x="457200" y="152400"/>
            <a:ext cx="7620000" cy="1143000"/>
          </a:xfrm>
        </p:spPr>
        <p:txBody>
          <a:bodyPr/>
          <a:lstStyle/>
          <a:p>
            <a:pPr algn="ctr">
              <a:defRPr/>
            </a:pPr>
            <a:r>
              <a:rPr lang="en-US" dirty="0"/>
              <a:t>Manipulating Databases Using SQL</a:t>
            </a:r>
            <a:endParaRPr lang="en-MY" dirty="0"/>
          </a:p>
        </p:txBody>
      </p:sp>
      <p:sp>
        <p:nvSpPr>
          <p:cNvPr id="9" name="Snip Single Corner Rectangle 8">
            <a:extLst>
              <a:ext uri="{FF2B5EF4-FFF2-40B4-BE49-F238E27FC236}">
                <a16:creationId xmlns:a16="http://schemas.microsoft.com/office/drawing/2014/main" id="{17C613E9-DE21-CB02-5E67-ADBCE7937430}"/>
              </a:ext>
            </a:extLst>
          </p:cNvPr>
          <p:cNvSpPr/>
          <p:nvPr/>
        </p:nvSpPr>
        <p:spPr>
          <a:xfrm>
            <a:off x="49213" y="1676400"/>
            <a:ext cx="2160587" cy="401638"/>
          </a:xfrm>
          <a:prstGeom prst="snip1Rect">
            <a:avLst/>
          </a:prstGeom>
          <a:solidFill>
            <a:schemeClr val="accent6">
              <a:alpha val="70000"/>
            </a:schemeClr>
          </a:solidFill>
          <a:ln>
            <a:solidFill>
              <a:schemeClr val="accent6"/>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indent="-342900" algn="just" eaLnBrk="1" hangingPunct="1">
              <a:spcBef>
                <a:spcPct val="20000"/>
              </a:spcBef>
              <a:buClr>
                <a:srgbClr val="FF6600"/>
              </a:buClr>
              <a:buSzPct val="100000"/>
              <a:defRPr/>
            </a:pPr>
            <a:r>
              <a:rPr lang="en-US" dirty="0">
                <a:latin typeface="Arial" pitchFamily="34" charset="0"/>
                <a:ea typeface="Times New Roman" pitchFamily="18" charset="0"/>
                <a:cs typeface="Arial" pitchFamily="34" charset="0"/>
              </a:rPr>
              <a:t>Create a database</a:t>
            </a:r>
            <a:endParaRPr lang="en-GB" kern="0" dirty="0">
              <a:solidFill>
                <a:schemeClr val="tx1"/>
              </a:solidFill>
            </a:endParaRPr>
          </a:p>
        </p:txBody>
      </p:sp>
      <p:sp>
        <p:nvSpPr>
          <p:cNvPr id="4" name="Rounded Rectangle 3">
            <a:extLst>
              <a:ext uri="{FF2B5EF4-FFF2-40B4-BE49-F238E27FC236}">
                <a16:creationId xmlns:a16="http://schemas.microsoft.com/office/drawing/2014/main" id="{9CC84798-CF2A-C17D-00A0-8931F7F9A3CC}"/>
              </a:ext>
            </a:extLst>
          </p:cNvPr>
          <p:cNvSpPr>
            <a:spLocks noChangeArrowheads="1"/>
          </p:cNvSpPr>
          <p:nvPr/>
        </p:nvSpPr>
        <p:spPr bwMode="auto">
          <a:xfrm>
            <a:off x="838200" y="3189288"/>
            <a:ext cx="6985000" cy="790575"/>
          </a:xfrm>
          <a:prstGeom prst="roundRect">
            <a:avLst>
              <a:gd name="adj" fmla="val 16667"/>
            </a:avLst>
          </a:prstGeom>
          <a:solidFill>
            <a:srgbClr val="7F7B00">
              <a:alpha val="30196"/>
            </a:srgbClr>
          </a:solidFill>
          <a:ln w="9525" algn="ctr">
            <a:solidFill>
              <a:srgbClr val="7F7B00"/>
            </a:solidFill>
            <a:round/>
            <a:headEnd/>
            <a:tailEnd/>
          </a:ln>
        </p:spPr>
        <p:txBody>
          <a:bodyPr anchor="ctr" anchorCtr="1"/>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CA" altLang="en-US" sz="2800"/>
              <a:t>CREATE DATABASE &lt;database_name&gt;;</a:t>
            </a:r>
          </a:p>
        </p:txBody>
      </p:sp>
      <p:sp>
        <p:nvSpPr>
          <p:cNvPr id="11" name="Rounded Rectangle 10">
            <a:extLst>
              <a:ext uri="{FF2B5EF4-FFF2-40B4-BE49-F238E27FC236}">
                <a16:creationId xmlns:a16="http://schemas.microsoft.com/office/drawing/2014/main" id="{7C67F02D-F29C-0AD8-8FE6-0B1D64D2B9D2}"/>
              </a:ext>
            </a:extLst>
          </p:cNvPr>
          <p:cNvSpPr/>
          <p:nvPr/>
        </p:nvSpPr>
        <p:spPr bwMode="auto">
          <a:xfrm>
            <a:off x="838200" y="5348288"/>
            <a:ext cx="6985000" cy="792162"/>
          </a:xfrm>
          <a:prstGeom prst="roundRect">
            <a:avLst/>
          </a:prstGeom>
          <a:solidFill>
            <a:schemeClr val="accent6">
              <a:alpha val="30000"/>
            </a:schemeClr>
          </a:solidFill>
          <a:ln w="9525" cap="flat" cmpd="sng" algn="ctr">
            <a:solidFill>
              <a:schemeClr val="accent6"/>
            </a:solidFill>
            <a:prstDash val="solid"/>
            <a:round/>
            <a:headEnd type="none" w="med" len="med"/>
            <a:tailEnd type="none" w="med" len="med"/>
          </a:ln>
          <a:effectLst/>
        </p:spPr>
        <p:txBody>
          <a:bodyPr anchor="ctr" anchorCtr="1"/>
          <a:lstStyle/>
          <a:p>
            <a:pPr>
              <a:defRPr/>
            </a:pPr>
            <a:r>
              <a:rPr lang="en-CA" sz="2800" dirty="0">
                <a:latin typeface="Arial" charset="0"/>
              </a:rPr>
              <a:t>CREATE DATABASE Amazon;</a:t>
            </a:r>
          </a:p>
        </p:txBody>
      </p:sp>
      <p:grpSp>
        <p:nvGrpSpPr>
          <p:cNvPr id="5" name="Group 6">
            <a:extLst>
              <a:ext uri="{FF2B5EF4-FFF2-40B4-BE49-F238E27FC236}">
                <a16:creationId xmlns:a16="http://schemas.microsoft.com/office/drawing/2014/main" id="{F1A92353-ED6C-FC16-3258-E82760241A05}"/>
              </a:ext>
            </a:extLst>
          </p:cNvPr>
          <p:cNvGrpSpPr>
            <a:grpSpLocks/>
          </p:cNvGrpSpPr>
          <p:nvPr/>
        </p:nvGrpSpPr>
        <p:grpSpPr bwMode="auto">
          <a:xfrm>
            <a:off x="5302250" y="1890713"/>
            <a:ext cx="2663825" cy="1527175"/>
            <a:chOff x="5364088" y="1325997"/>
            <a:chExt cx="2664296" cy="1526939"/>
          </a:xfrm>
        </p:grpSpPr>
        <p:sp>
          <p:nvSpPr>
            <p:cNvPr id="3" name="Rectangle 2">
              <a:extLst>
                <a:ext uri="{FF2B5EF4-FFF2-40B4-BE49-F238E27FC236}">
                  <a16:creationId xmlns:a16="http://schemas.microsoft.com/office/drawing/2014/main" id="{97757FD0-B263-2576-38B5-3A4A09144C71}"/>
                </a:ext>
              </a:extLst>
            </p:cNvPr>
            <p:cNvSpPr/>
            <p:nvPr/>
          </p:nvSpPr>
          <p:spPr bwMode="auto">
            <a:xfrm>
              <a:off x="5364088" y="1325997"/>
              <a:ext cx="2664296" cy="949178"/>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a:lstStyle/>
            <a:p>
              <a:pPr algn="ctr">
                <a:defRPr/>
              </a:pPr>
              <a:r>
                <a:rPr lang="en-CA" dirty="0">
                  <a:solidFill>
                    <a:schemeClr val="tx1"/>
                  </a:solidFill>
                  <a:latin typeface="Arial" charset="0"/>
                </a:rPr>
                <a:t>You should always end an SQL statement with a semicolon</a:t>
              </a:r>
            </a:p>
          </p:txBody>
        </p:sp>
        <p:cxnSp>
          <p:nvCxnSpPr>
            <p:cNvPr id="6" name="Straight Arrow Connector 5">
              <a:extLst>
                <a:ext uri="{FF2B5EF4-FFF2-40B4-BE49-F238E27FC236}">
                  <a16:creationId xmlns:a16="http://schemas.microsoft.com/office/drawing/2014/main" id="{A1E0C71B-388F-A084-526C-DCDD9267AA8E}"/>
                </a:ext>
              </a:extLst>
            </p:cNvPr>
            <p:cNvCxnSpPr/>
            <p:nvPr/>
          </p:nvCxnSpPr>
          <p:spPr bwMode="auto">
            <a:xfrm>
              <a:off x="7307532" y="2275175"/>
              <a:ext cx="217526" cy="577761"/>
            </a:xfrm>
            <a:prstGeom prst="straightConnector1">
              <a:avLst/>
            </a:prstGeom>
            <a:ln>
              <a:headEnd type="none" w="med" len="med"/>
              <a:tailEnd type="triangle"/>
            </a:ln>
          </p:spPr>
          <p:style>
            <a:lnRef idx="1">
              <a:schemeClr val="accent1"/>
            </a:lnRef>
            <a:fillRef idx="2">
              <a:schemeClr val="accent1"/>
            </a:fillRef>
            <a:effectRef idx="1">
              <a:schemeClr val="accent1"/>
            </a:effectRef>
            <a:fontRef idx="minor">
              <a:schemeClr val="dk1"/>
            </a:fontRef>
          </p:style>
        </p:cxnSp>
      </p:gr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0">
                                            <p:txEl>
                                              <p:pRg st="0" end="0"/>
                                            </p:txEl>
                                          </p:spTgt>
                                        </p:tgtEl>
                                        <p:attrNameLst>
                                          <p:attrName>style.visibility</p:attrName>
                                        </p:attrNameLst>
                                      </p:cBhvr>
                                      <p:to>
                                        <p:strVal val="visible"/>
                                      </p:to>
                                    </p:set>
                                    <p:animEffect transition="in" filter="wipe(left)">
                                      <p:cBhvr>
                                        <p:cTn id="11" dur="500"/>
                                        <p:tgtEl>
                                          <p:spTgt spid="10">
                                            <p:txEl>
                                              <p:pRg st="0" end="0"/>
                                            </p:txEl>
                                          </p:spTgt>
                                        </p:tgtEl>
                                      </p:cBhvr>
                                    </p:animEffect>
                                  </p:childTnLst>
                                </p:cTn>
                              </p:par>
                            </p:childTnLst>
                          </p:cTn>
                        </p:par>
                        <p:par>
                          <p:cTn id="12" fill="hold" nodeType="afterGroup">
                            <p:stCondLst>
                              <p:cond delay="1000"/>
                            </p:stCondLst>
                            <p:childTnLst>
                              <p:par>
                                <p:cTn id="13" presetID="16" presetClass="entr" presetSubtype="21"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barn(inVertical)">
                                      <p:cBhvr>
                                        <p:cTn id="15" dur="500"/>
                                        <p:tgtEl>
                                          <p:spTgt spid="4"/>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 presetClass="entr" presetSubtype="2" fill="hold" nodeType="clickEffect">
                                  <p:stCondLst>
                                    <p:cond delay="0"/>
                                  </p:stCondLst>
                                  <p:childTnLst>
                                    <p:set>
                                      <p:cBhvr>
                                        <p:cTn id="19" dur="1" fill="hold">
                                          <p:stCondLst>
                                            <p:cond delay="0"/>
                                          </p:stCondLst>
                                        </p:cTn>
                                        <p:tgtEl>
                                          <p:spTgt spid="5"/>
                                        </p:tgtEl>
                                        <p:attrNameLst>
                                          <p:attrName>style.visibility</p:attrName>
                                        </p:attrNameLst>
                                      </p:cBhvr>
                                      <p:to>
                                        <p:strVal val="visible"/>
                                      </p:to>
                                    </p:set>
                                    <p:anim calcmode="lin" valueType="num">
                                      <p:cBhvr additive="base">
                                        <p:cTn id="20" dur="500" fill="hold"/>
                                        <p:tgtEl>
                                          <p:spTgt spid="5"/>
                                        </p:tgtEl>
                                        <p:attrNameLst>
                                          <p:attrName>ppt_x</p:attrName>
                                        </p:attrNameLst>
                                      </p:cBhvr>
                                      <p:tavLst>
                                        <p:tav tm="0">
                                          <p:val>
                                            <p:strVal val="1+#ppt_w/2"/>
                                          </p:val>
                                        </p:tav>
                                        <p:tav tm="100000">
                                          <p:val>
                                            <p:strVal val="#ppt_x"/>
                                          </p:val>
                                        </p:tav>
                                      </p:tavLst>
                                    </p:anim>
                                    <p:anim calcmode="lin" valueType="num">
                                      <p:cBhvr additive="base">
                                        <p:cTn id="21"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0">
                                            <p:txEl>
                                              <p:pRg st="4" end="4"/>
                                            </p:txEl>
                                          </p:spTgt>
                                        </p:tgtEl>
                                        <p:attrNameLst>
                                          <p:attrName>style.visibility</p:attrName>
                                        </p:attrNameLst>
                                      </p:cBhvr>
                                      <p:to>
                                        <p:strVal val="visible"/>
                                      </p:to>
                                    </p:set>
                                    <p:animEffect transition="in" filter="wipe(left)">
                                      <p:cBhvr>
                                        <p:cTn id="26" dur="500"/>
                                        <p:tgtEl>
                                          <p:spTgt spid="10">
                                            <p:txEl>
                                              <p:pRg st="4" end="4"/>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6" presetClass="entr" presetSubtype="21"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barn(inVertical)">
                                      <p:cBhvr>
                                        <p:cTn id="31"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P spid="9" grpId="0" animBg="1"/>
      <p:bldP spid="4" grpId="0" animBg="1"/>
      <p:bldP spid="11"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5">
            <a:extLst>
              <a:ext uri="{FF2B5EF4-FFF2-40B4-BE49-F238E27FC236}">
                <a16:creationId xmlns:a16="http://schemas.microsoft.com/office/drawing/2014/main" id="{46EFA52C-FB58-6C8F-9B3B-9BC74D1413FB}"/>
              </a:ext>
            </a:extLst>
          </p:cNvPr>
          <p:cNvSpPr txBox="1">
            <a:spLocks/>
          </p:cNvSpPr>
          <p:nvPr/>
        </p:nvSpPr>
        <p:spPr bwMode="auto">
          <a:xfrm>
            <a:off x="304800" y="2287588"/>
            <a:ext cx="7848600" cy="973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rgbClr val="FF6600"/>
              </a:buClr>
              <a:buFont typeface="Wingdings 3" panose="05040102010807070707" pitchFamily="18" charset="2"/>
              <a:buNone/>
            </a:pPr>
            <a:r>
              <a:rPr lang="en-CA" altLang="en-US" sz="2800">
                <a:latin typeface="Calibri" panose="020F0502020204030204" pitchFamily="34" charset="0"/>
              </a:rPr>
              <a:t>SQL syntax:</a:t>
            </a:r>
          </a:p>
          <a:p>
            <a:pPr algn="just" eaLnBrk="1" hangingPunct="1">
              <a:spcBef>
                <a:spcPct val="20000"/>
              </a:spcBef>
              <a:buClr>
                <a:srgbClr val="FF6600"/>
              </a:buClr>
              <a:buFont typeface="Wingdings 3" panose="05040102010807070707" pitchFamily="18" charset="2"/>
              <a:buNone/>
            </a:pPr>
            <a:endParaRPr lang="en-CA"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r>
              <a:rPr lang="en-CA" altLang="en-US" sz="2800">
                <a:latin typeface="Calibri" panose="020F0502020204030204" pitchFamily="34" charset="0"/>
              </a:rPr>
              <a:t>For example, to see a list of all the databases that have been created in MySQL </a:t>
            </a:r>
          </a:p>
        </p:txBody>
      </p:sp>
      <p:sp>
        <p:nvSpPr>
          <p:cNvPr id="2" name="Title 1">
            <a:extLst>
              <a:ext uri="{FF2B5EF4-FFF2-40B4-BE49-F238E27FC236}">
                <a16:creationId xmlns:a16="http://schemas.microsoft.com/office/drawing/2014/main" id="{408D3D6B-857B-286B-7505-CBFC97A28595}"/>
              </a:ext>
            </a:extLst>
          </p:cNvPr>
          <p:cNvSpPr>
            <a:spLocks noGrp="1"/>
          </p:cNvSpPr>
          <p:nvPr>
            <p:ph type="title"/>
          </p:nvPr>
        </p:nvSpPr>
        <p:spPr>
          <a:xfrm>
            <a:off x="457200" y="152400"/>
            <a:ext cx="7620000" cy="1143000"/>
          </a:xfrm>
        </p:spPr>
        <p:txBody>
          <a:bodyPr/>
          <a:lstStyle/>
          <a:p>
            <a:pPr algn="ctr">
              <a:defRPr/>
            </a:pPr>
            <a:r>
              <a:rPr lang="en-US" dirty="0"/>
              <a:t>Manipulating Databases Using SQL</a:t>
            </a:r>
            <a:endParaRPr lang="en-MY" dirty="0"/>
          </a:p>
        </p:txBody>
      </p:sp>
      <p:sp>
        <p:nvSpPr>
          <p:cNvPr id="9" name="Snip Single Corner Rectangle 8">
            <a:extLst>
              <a:ext uri="{FF2B5EF4-FFF2-40B4-BE49-F238E27FC236}">
                <a16:creationId xmlns:a16="http://schemas.microsoft.com/office/drawing/2014/main" id="{AF217F6E-C810-7D32-9A51-5C9089F5F521}"/>
              </a:ext>
            </a:extLst>
          </p:cNvPr>
          <p:cNvSpPr/>
          <p:nvPr/>
        </p:nvSpPr>
        <p:spPr>
          <a:xfrm>
            <a:off x="49213" y="1423988"/>
            <a:ext cx="2160587" cy="401637"/>
          </a:xfrm>
          <a:prstGeom prst="snip1Rect">
            <a:avLst/>
          </a:prstGeom>
          <a:solidFill>
            <a:schemeClr val="accent1">
              <a:alpha val="70000"/>
            </a:schemeClr>
          </a:solidFill>
          <a:ln>
            <a:solidFill>
              <a:schemeClr val="accent1"/>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indent="-342900" algn="just" eaLnBrk="1" hangingPunct="1">
              <a:spcBef>
                <a:spcPct val="20000"/>
              </a:spcBef>
              <a:buClr>
                <a:srgbClr val="FF6600"/>
              </a:buClr>
              <a:buSzPct val="100000"/>
              <a:defRPr/>
            </a:pPr>
            <a:r>
              <a:rPr lang="en-US" dirty="0">
                <a:latin typeface="Arial" pitchFamily="34" charset="0"/>
                <a:ea typeface="Times New Roman" pitchFamily="18" charset="0"/>
                <a:cs typeface="Arial" pitchFamily="34" charset="0"/>
              </a:rPr>
              <a:t>List the databases</a:t>
            </a:r>
            <a:endParaRPr lang="en-GB" kern="0" dirty="0">
              <a:solidFill>
                <a:schemeClr val="tx1"/>
              </a:solidFill>
            </a:endParaRPr>
          </a:p>
        </p:txBody>
      </p:sp>
      <p:sp>
        <p:nvSpPr>
          <p:cNvPr id="4" name="Rounded Rectangle 3">
            <a:extLst>
              <a:ext uri="{FF2B5EF4-FFF2-40B4-BE49-F238E27FC236}">
                <a16:creationId xmlns:a16="http://schemas.microsoft.com/office/drawing/2014/main" id="{4CFA9C0B-FF2F-81DE-0E97-F0A4B5652F31}"/>
              </a:ext>
            </a:extLst>
          </p:cNvPr>
          <p:cNvSpPr>
            <a:spLocks noChangeArrowheads="1"/>
          </p:cNvSpPr>
          <p:nvPr/>
        </p:nvSpPr>
        <p:spPr bwMode="auto">
          <a:xfrm>
            <a:off x="762000" y="2935288"/>
            <a:ext cx="6985000" cy="792162"/>
          </a:xfrm>
          <a:prstGeom prst="roundRect">
            <a:avLst>
              <a:gd name="adj" fmla="val 16667"/>
            </a:avLst>
          </a:prstGeom>
          <a:solidFill>
            <a:srgbClr val="7F7B00">
              <a:alpha val="30196"/>
            </a:srgbClr>
          </a:solidFill>
          <a:ln w="9525" algn="ctr">
            <a:solidFill>
              <a:srgbClr val="7F7B00"/>
            </a:solidFill>
            <a:round/>
            <a:headEnd/>
            <a:tailEnd/>
          </a:ln>
        </p:spPr>
        <p:txBody>
          <a:bodyPr anchor="ctr" anchorCtr="1"/>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CA" altLang="en-US" sz="2800"/>
              <a:t>SHOW DATABASES;</a:t>
            </a:r>
          </a:p>
        </p:txBody>
      </p:sp>
      <p:sp>
        <p:nvSpPr>
          <p:cNvPr id="11" name="Rounded Rectangle 10">
            <a:extLst>
              <a:ext uri="{FF2B5EF4-FFF2-40B4-BE49-F238E27FC236}">
                <a16:creationId xmlns:a16="http://schemas.microsoft.com/office/drawing/2014/main" id="{8693EA7E-0CEF-DFA8-4577-ABCE4E2E1D35}"/>
              </a:ext>
            </a:extLst>
          </p:cNvPr>
          <p:cNvSpPr/>
          <p:nvPr/>
        </p:nvSpPr>
        <p:spPr bwMode="auto">
          <a:xfrm>
            <a:off x="762000" y="5456238"/>
            <a:ext cx="6985000" cy="792162"/>
          </a:xfrm>
          <a:prstGeom prst="roundRect">
            <a:avLst/>
          </a:prstGeom>
          <a:solidFill>
            <a:schemeClr val="accent6">
              <a:alpha val="30000"/>
            </a:schemeClr>
          </a:solidFill>
          <a:ln w="9525" cap="flat" cmpd="sng" algn="ctr">
            <a:solidFill>
              <a:schemeClr val="accent6"/>
            </a:solidFill>
            <a:prstDash val="solid"/>
            <a:round/>
            <a:headEnd type="none" w="med" len="med"/>
            <a:tailEnd type="none" w="med" len="med"/>
          </a:ln>
          <a:effectLst/>
        </p:spPr>
        <p:txBody>
          <a:bodyPr anchor="ctr" anchorCtr="1"/>
          <a:lstStyle/>
          <a:p>
            <a:pPr>
              <a:defRPr/>
            </a:pPr>
            <a:r>
              <a:rPr lang="en-CA" sz="2800" dirty="0">
                <a:latin typeface="Arial" charset="0"/>
              </a:rPr>
              <a:t>SHOW DATABASES;</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0">
                                            <p:txEl>
                                              <p:pRg st="0" end="0"/>
                                            </p:txEl>
                                          </p:spTgt>
                                        </p:tgtEl>
                                        <p:attrNameLst>
                                          <p:attrName>style.visibility</p:attrName>
                                        </p:attrNameLst>
                                      </p:cBhvr>
                                      <p:to>
                                        <p:strVal val="visible"/>
                                      </p:to>
                                    </p:set>
                                    <p:animEffect transition="in" filter="wipe(left)">
                                      <p:cBhvr>
                                        <p:cTn id="11" dur="500"/>
                                        <p:tgtEl>
                                          <p:spTgt spid="10">
                                            <p:txEl>
                                              <p:pRg st="0" end="0"/>
                                            </p:txEl>
                                          </p:spTgt>
                                        </p:tgtEl>
                                      </p:cBhvr>
                                    </p:animEffect>
                                  </p:childTnLst>
                                </p:cTn>
                              </p:par>
                            </p:childTnLst>
                          </p:cTn>
                        </p:par>
                        <p:par>
                          <p:cTn id="12" fill="hold" nodeType="afterGroup">
                            <p:stCondLst>
                              <p:cond delay="1000"/>
                            </p:stCondLst>
                            <p:childTnLst>
                              <p:par>
                                <p:cTn id="13" presetID="16" presetClass="entr" presetSubtype="21"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barn(inVertical)">
                                      <p:cBhvr>
                                        <p:cTn id="15" dur="500"/>
                                        <p:tgtEl>
                                          <p:spTgt spid="4"/>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0">
                                            <p:txEl>
                                              <p:pRg st="4" end="4"/>
                                            </p:txEl>
                                          </p:spTgt>
                                        </p:tgtEl>
                                        <p:attrNameLst>
                                          <p:attrName>style.visibility</p:attrName>
                                        </p:attrNameLst>
                                      </p:cBhvr>
                                      <p:to>
                                        <p:strVal val="visible"/>
                                      </p:to>
                                    </p:set>
                                    <p:animEffect transition="in" filter="wipe(left)">
                                      <p:cBhvr>
                                        <p:cTn id="20" dur="500"/>
                                        <p:tgtEl>
                                          <p:spTgt spid="10">
                                            <p:txEl>
                                              <p:pRg st="4" end="4"/>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6" presetClass="entr" presetSubtype="21"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barn(inVertical)">
                                      <p:cBhvr>
                                        <p:cTn id="25"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P spid="9" grpId="0" animBg="1"/>
      <p:bldP spid="4" grpId="0" animBg="1"/>
      <p:bldP spid="11"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5">
            <a:extLst>
              <a:ext uri="{FF2B5EF4-FFF2-40B4-BE49-F238E27FC236}">
                <a16:creationId xmlns:a16="http://schemas.microsoft.com/office/drawing/2014/main" id="{7DD6D0DA-6179-C1CE-B659-C40CCAE8C237}"/>
              </a:ext>
            </a:extLst>
          </p:cNvPr>
          <p:cNvSpPr txBox="1">
            <a:spLocks/>
          </p:cNvSpPr>
          <p:nvPr/>
        </p:nvSpPr>
        <p:spPr bwMode="auto">
          <a:xfrm>
            <a:off x="152400" y="2211388"/>
            <a:ext cx="8153400" cy="973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rgbClr val="FF6600"/>
              </a:buClr>
              <a:buFont typeface="Wingdings 3" panose="05040102010807070707" pitchFamily="18" charset="2"/>
              <a:buNone/>
            </a:pPr>
            <a:r>
              <a:rPr lang="en-CA" altLang="en-US" sz="2800">
                <a:latin typeface="Calibri" panose="020F0502020204030204" pitchFamily="34" charset="0"/>
              </a:rPr>
              <a:t>SQL syntax:</a:t>
            </a:r>
          </a:p>
          <a:p>
            <a:pPr algn="just" eaLnBrk="1" hangingPunct="1">
              <a:spcBef>
                <a:spcPct val="20000"/>
              </a:spcBef>
              <a:buClr>
                <a:srgbClr val="FF6600"/>
              </a:buClr>
              <a:buFont typeface="Wingdings 3" panose="05040102010807070707" pitchFamily="18" charset="2"/>
              <a:buNone/>
            </a:pPr>
            <a:endParaRPr lang="en-CA"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r>
              <a:rPr lang="en-CA" altLang="en-US" sz="2800">
                <a:latin typeface="Calibri" panose="020F0502020204030204" pitchFamily="34" charset="0"/>
              </a:rPr>
              <a:t>For example, to delete the database named “Amazon”</a:t>
            </a:r>
          </a:p>
        </p:txBody>
      </p:sp>
      <p:sp>
        <p:nvSpPr>
          <p:cNvPr id="2" name="Title 1">
            <a:extLst>
              <a:ext uri="{FF2B5EF4-FFF2-40B4-BE49-F238E27FC236}">
                <a16:creationId xmlns:a16="http://schemas.microsoft.com/office/drawing/2014/main" id="{785F3777-00F0-890A-105F-B22823A38EFF}"/>
              </a:ext>
            </a:extLst>
          </p:cNvPr>
          <p:cNvSpPr>
            <a:spLocks noGrp="1"/>
          </p:cNvSpPr>
          <p:nvPr>
            <p:ph type="title"/>
          </p:nvPr>
        </p:nvSpPr>
        <p:spPr>
          <a:xfrm>
            <a:off x="457200" y="152400"/>
            <a:ext cx="7620000" cy="1143000"/>
          </a:xfrm>
        </p:spPr>
        <p:txBody>
          <a:bodyPr/>
          <a:lstStyle/>
          <a:p>
            <a:pPr algn="ctr">
              <a:defRPr/>
            </a:pPr>
            <a:r>
              <a:rPr lang="en-US" dirty="0"/>
              <a:t>Manipulating Databases Using SQL</a:t>
            </a:r>
            <a:endParaRPr lang="en-MY" dirty="0"/>
          </a:p>
        </p:txBody>
      </p:sp>
      <p:sp>
        <p:nvSpPr>
          <p:cNvPr id="9" name="Snip Single Corner Rectangle 8">
            <a:extLst>
              <a:ext uri="{FF2B5EF4-FFF2-40B4-BE49-F238E27FC236}">
                <a16:creationId xmlns:a16="http://schemas.microsoft.com/office/drawing/2014/main" id="{59776855-8C9E-B791-79CB-FD74BD148EDA}"/>
              </a:ext>
            </a:extLst>
          </p:cNvPr>
          <p:cNvSpPr/>
          <p:nvPr/>
        </p:nvSpPr>
        <p:spPr>
          <a:xfrm>
            <a:off x="49213" y="1579563"/>
            <a:ext cx="2160587" cy="401637"/>
          </a:xfrm>
          <a:prstGeom prst="snip1Rect">
            <a:avLst/>
          </a:prstGeom>
          <a:solidFill>
            <a:schemeClr val="accent3">
              <a:alpha val="70000"/>
            </a:schemeClr>
          </a:solidFill>
          <a:ln>
            <a:solidFill>
              <a:schemeClr val="accent3"/>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indent="-342900" algn="just" eaLnBrk="1" hangingPunct="1">
              <a:spcBef>
                <a:spcPct val="20000"/>
              </a:spcBef>
              <a:buClr>
                <a:srgbClr val="FF6600"/>
              </a:buClr>
              <a:buSzPct val="100000"/>
              <a:defRPr/>
            </a:pPr>
            <a:r>
              <a:rPr lang="en-US" dirty="0">
                <a:latin typeface="Arial" pitchFamily="34" charset="0"/>
                <a:ea typeface="Times New Roman" pitchFamily="18" charset="0"/>
                <a:cs typeface="Arial" pitchFamily="34" charset="0"/>
              </a:rPr>
              <a:t>Delete a database</a:t>
            </a:r>
            <a:endParaRPr lang="en-GB" kern="0" dirty="0">
              <a:solidFill>
                <a:schemeClr val="tx1"/>
              </a:solidFill>
            </a:endParaRPr>
          </a:p>
        </p:txBody>
      </p:sp>
      <p:sp>
        <p:nvSpPr>
          <p:cNvPr id="4" name="Rounded Rectangle 3">
            <a:extLst>
              <a:ext uri="{FF2B5EF4-FFF2-40B4-BE49-F238E27FC236}">
                <a16:creationId xmlns:a16="http://schemas.microsoft.com/office/drawing/2014/main" id="{E31D410D-B3EA-EC49-8BB9-B873AB6ACE3D}"/>
              </a:ext>
            </a:extLst>
          </p:cNvPr>
          <p:cNvSpPr>
            <a:spLocks noChangeArrowheads="1"/>
          </p:cNvSpPr>
          <p:nvPr/>
        </p:nvSpPr>
        <p:spPr bwMode="auto">
          <a:xfrm>
            <a:off x="698500" y="2859088"/>
            <a:ext cx="6985000" cy="792162"/>
          </a:xfrm>
          <a:prstGeom prst="roundRect">
            <a:avLst>
              <a:gd name="adj" fmla="val 16667"/>
            </a:avLst>
          </a:prstGeom>
          <a:solidFill>
            <a:srgbClr val="7F7B00">
              <a:alpha val="30196"/>
            </a:srgbClr>
          </a:solidFill>
          <a:ln w="9525" algn="ctr">
            <a:solidFill>
              <a:srgbClr val="7F7B00"/>
            </a:solidFill>
            <a:round/>
            <a:headEnd/>
            <a:tailEnd/>
          </a:ln>
        </p:spPr>
        <p:txBody>
          <a:bodyPr anchor="ctr" anchorCtr="1"/>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CA" altLang="en-US" sz="2800"/>
              <a:t>DROP DATABASE &lt;database_name&gt;;</a:t>
            </a:r>
          </a:p>
        </p:txBody>
      </p:sp>
      <p:sp>
        <p:nvSpPr>
          <p:cNvPr id="11" name="Rounded Rectangle 10">
            <a:extLst>
              <a:ext uri="{FF2B5EF4-FFF2-40B4-BE49-F238E27FC236}">
                <a16:creationId xmlns:a16="http://schemas.microsoft.com/office/drawing/2014/main" id="{BA145FB6-6A5B-BD5F-BEF3-33AE905C4FF4}"/>
              </a:ext>
            </a:extLst>
          </p:cNvPr>
          <p:cNvSpPr/>
          <p:nvPr/>
        </p:nvSpPr>
        <p:spPr bwMode="auto">
          <a:xfrm>
            <a:off x="698500" y="5380038"/>
            <a:ext cx="6985000" cy="792162"/>
          </a:xfrm>
          <a:prstGeom prst="roundRect">
            <a:avLst/>
          </a:prstGeom>
          <a:solidFill>
            <a:schemeClr val="accent6">
              <a:alpha val="30000"/>
            </a:schemeClr>
          </a:solidFill>
          <a:ln w="9525" cap="flat" cmpd="sng" algn="ctr">
            <a:solidFill>
              <a:schemeClr val="accent6"/>
            </a:solidFill>
            <a:prstDash val="solid"/>
            <a:round/>
            <a:headEnd type="none" w="med" len="med"/>
            <a:tailEnd type="none" w="med" len="med"/>
          </a:ln>
          <a:effectLst/>
        </p:spPr>
        <p:txBody>
          <a:bodyPr anchor="ctr" anchorCtr="1"/>
          <a:lstStyle/>
          <a:p>
            <a:pPr>
              <a:defRPr/>
            </a:pPr>
            <a:r>
              <a:rPr lang="en-CA" sz="2800" dirty="0"/>
              <a:t>DROP DATABASE Amazon;</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0">
                                            <p:txEl>
                                              <p:pRg st="0" end="0"/>
                                            </p:txEl>
                                          </p:spTgt>
                                        </p:tgtEl>
                                        <p:attrNameLst>
                                          <p:attrName>style.visibility</p:attrName>
                                        </p:attrNameLst>
                                      </p:cBhvr>
                                      <p:to>
                                        <p:strVal val="visible"/>
                                      </p:to>
                                    </p:set>
                                    <p:animEffect transition="in" filter="wipe(left)">
                                      <p:cBhvr>
                                        <p:cTn id="11" dur="500"/>
                                        <p:tgtEl>
                                          <p:spTgt spid="10">
                                            <p:txEl>
                                              <p:pRg st="0" end="0"/>
                                            </p:txEl>
                                          </p:spTgt>
                                        </p:tgtEl>
                                      </p:cBhvr>
                                    </p:animEffect>
                                  </p:childTnLst>
                                </p:cTn>
                              </p:par>
                            </p:childTnLst>
                          </p:cTn>
                        </p:par>
                        <p:par>
                          <p:cTn id="12" fill="hold" nodeType="afterGroup">
                            <p:stCondLst>
                              <p:cond delay="1000"/>
                            </p:stCondLst>
                            <p:childTnLst>
                              <p:par>
                                <p:cTn id="13" presetID="16" presetClass="entr" presetSubtype="21"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barn(inVertical)">
                                      <p:cBhvr>
                                        <p:cTn id="15" dur="500"/>
                                        <p:tgtEl>
                                          <p:spTgt spid="4"/>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nodeType="clickEffect">
                                  <p:stCondLst>
                                    <p:cond delay="0"/>
                                  </p:stCondLst>
                                  <p:childTnLst>
                                    <p:set>
                                      <p:cBhvr>
                                        <p:cTn id="19" dur="1" fill="hold">
                                          <p:stCondLst>
                                            <p:cond delay="0"/>
                                          </p:stCondLst>
                                        </p:cTn>
                                        <p:tgtEl>
                                          <p:spTgt spid="10">
                                            <p:txEl>
                                              <p:pRg st="4" end="4"/>
                                            </p:txEl>
                                          </p:spTgt>
                                        </p:tgtEl>
                                        <p:attrNameLst>
                                          <p:attrName>style.visibility</p:attrName>
                                        </p:attrNameLst>
                                      </p:cBhvr>
                                      <p:to>
                                        <p:strVal val="visible"/>
                                      </p:to>
                                    </p:set>
                                    <p:animEffect transition="in" filter="wipe(left)">
                                      <p:cBhvr>
                                        <p:cTn id="20" dur="500"/>
                                        <p:tgtEl>
                                          <p:spTgt spid="10">
                                            <p:txEl>
                                              <p:pRg st="4" end="4"/>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6" presetClass="entr" presetSubtype="21"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barn(inVertical)">
                                      <p:cBhvr>
                                        <p:cTn id="25"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P spid="9" grpId="0" animBg="1"/>
      <p:bldP spid="4" grpId="0" animBg="1"/>
      <p:bldP spid="11"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76182E-4DB4-85AE-4115-3A77D817114F}"/>
              </a:ext>
            </a:extLst>
          </p:cNvPr>
          <p:cNvSpPr>
            <a:spLocks noGrp="1"/>
          </p:cNvSpPr>
          <p:nvPr>
            <p:ph type="title"/>
          </p:nvPr>
        </p:nvSpPr>
        <p:spPr>
          <a:xfrm>
            <a:off x="457200" y="0"/>
            <a:ext cx="7620000" cy="1143000"/>
          </a:xfrm>
        </p:spPr>
        <p:txBody>
          <a:bodyPr/>
          <a:lstStyle/>
          <a:p>
            <a:pPr algn="ctr">
              <a:defRPr/>
            </a:pPr>
            <a:r>
              <a:rPr lang="en-US" dirty="0"/>
              <a:t>Manipulating Tables Using SQL</a:t>
            </a:r>
            <a:endParaRPr lang="en-MY" dirty="0"/>
          </a:p>
        </p:txBody>
      </p:sp>
      <p:sp>
        <p:nvSpPr>
          <p:cNvPr id="4" name="Snip Single Corner Rectangle 3">
            <a:extLst>
              <a:ext uri="{FF2B5EF4-FFF2-40B4-BE49-F238E27FC236}">
                <a16:creationId xmlns:a16="http://schemas.microsoft.com/office/drawing/2014/main" id="{AD5F35DD-D2ED-117B-4A39-FAE6B1A54938}"/>
              </a:ext>
            </a:extLst>
          </p:cNvPr>
          <p:cNvSpPr/>
          <p:nvPr/>
        </p:nvSpPr>
        <p:spPr>
          <a:xfrm>
            <a:off x="46038" y="1427163"/>
            <a:ext cx="2087562" cy="401637"/>
          </a:xfrm>
          <a:prstGeom prst="snip1Rect">
            <a:avLst/>
          </a:prstGeom>
          <a:solidFill>
            <a:schemeClr val="tx1">
              <a:alpha val="70000"/>
            </a:schemeClr>
          </a:solidFill>
          <a:ln>
            <a:no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indent="-342900" algn="just" eaLnBrk="1" hangingPunct="1">
              <a:spcBef>
                <a:spcPct val="20000"/>
              </a:spcBef>
              <a:buClr>
                <a:srgbClr val="FF6600"/>
              </a:buClr>
              <a:buSzPct val="100000"/>
              <a:defRPr/>
            </a:pPr>
            <a:r>
              <a:rPr lang="en-US" dirty="0">
                <a:latin typeface="Arial" pitchFamily="34" charset="0"/>
                <a:ea typeface="Times New Roman" pitchFamily="18" charset="0"/>
                <a:cs typeface="Arial" pitchFamily="34" charset="0"/>
              </a:rPr>
              <a:t>Select a database</a:t>
            </a:r>
            <a:endParaRPr lang="en-GB" kern="0" dirty="0">
              <a:solidFill>
                <a:schemeClr val="tx1"/>
              </a:solidFill>
            </a:endParaRPr>
          </a:p>
        </p:txBody>
      </p:sp>
      <p:sp>
        <p:nvSpPr>
          <p:cNvPr id="10" name="Content Placeholder 5">
            <a:extLst>
              <a:ext uri="{FF2B5EF4-FFF2-40B4-BE49-F238E27FC236}">
                <a16:creationId xmlns:a16="http://schemas.microsoft.com/office/drawing/2014/main" id="{ACF8B3A1-DB24-60CD-C7ED-C17596E138AE}"/>
              </a:ext>
            </a:extLst>
          </p:cNvPr>
          <p:cNvSpPr txBox="1">
            <a:spLocks/>
          </p:cNvSpPr>
          <p:nvPr/>
        </p:nvSpPr>
        <p:spPr bwMode="auto">
          <a:xfrm>
            <a:off x="228600" y="2000250"/>
            <a:ext cx="807720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rgbClr val="FF6600"/>
              </a:buClr>
              <a:buFont typeface="Wingdings 3" panose="05040102010807070707" pitchFamily="18" charset="2"/>
              <a:buNone/>
            </a:pPr>
            <a:r>
              <a:rPr lang="en-CA" altLang="en-US" sz="2800">
                <a:latin typeface="Calibri" panose="020F0502020204030204" pitchFamily="34" charset="0"/>
              </a:rPr>
              <a:t>Tables can only exist within a database. Therefore one needs to select a database first before one can perform table manipulation. The SQL syntax is:</a:t>
            </a:r>
          </a:p>
          <a:p>
            <a:pPr algn="just" eaLnBrk="1" hangingPunct="1">
              <a:spcBef>
                <a:spcPct val="20000"/>
              </a:spcBef>
              <a:buClr>
                <a:srgbClr val="FF6600"/>
              </a:buClr>
              <a:buFont typeface="Wingdings 3" panose="05040102010807070707" pitchFamily="18" charset="2"/>
              <a:buNone/>
            </a:pPr>
            <a:endParaRPr lang="en-CA"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r>
              <a:rPr lang="en-CA" altLang="en-US" sz="2800">
                <a:latin typeface="Calibri" panose="020F0502020204030204" pitchFamily="34" charset="0"/>
              </a:rPr>
              <a:t>For example, to select a database named “Amazon”</a:t>
            </a:r>
          </a:p>
        </p:txBody>
      </p:sp>
      <p:sp>
        <p:nvSpPr>
          <p:cNvPr id="11" name="Rounded Rectangle 10">
            <a:extLst>
              <a:ext uri="{FF2B5EF4-FFF2-40B4-BE49-F238E27FC236}">
                <a16:creationId xmlns:a16="http://schemas.microsoft.com/office/drawing/2014/main" id="{4660E6C6-E9F8-99BA-22E0-5F38991BB353}"/>
              </a:ext>
            </a:extLst>
          </p:cNvPr>
          <p:cNvSpPr>
            <a:spLocks noChangeArrowheads="1"/>
          </p:cNvSpPr>
          <p:nvPr/>
        </p:nvSpPr>
        <p:spPr bwMode="auto">
          <a:xfrm>
            <a:off x="774700" y="3454400"/>
            <a:ext cx="6985000" cy="792163"/>
          </a:xfrm>
          <a:prstGeom prst="roundRect">
            <a:avLst>
              <a:gd name="adj" fmla="val 16667"/>
            </a:avLst>
          </a:prstGeom>
          <a:solidFill>
            <a:srgbClr val="7F7B00">
              <a:alpha val="30196"/>
            </a:srgbClr>
          </a:solidFill>
          <a:ln w="9525" algn="ctr">
            <a:solidFill>
              <a:srgbClr val="7F7B00"/>
            </a:solidFill>
            <a:round/>
            <a:headEnd/>
            <a:tailEnd/>
          </a:ln>
        </p:spPr>
        <p:txBody>
          <a:bodyPr anchor="ctr" anchorCtr="1"/>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CA" altLang="en-US" sz="2800"/>
              <a:t>USE &lt;database_name&gt;;</a:t>
            </a:r>
          </a:p>
        </p:txBody>
      </p:sp>
      <p:sp>
        <p:nvSpPr>
          <p:cNvPr id="12" name="Rounded Rectangle 11">
            <a:extLst>
              <a:ext uri="{FF2B5EF4-FFF2-40B4-BE49-F238E27FC236}">
                <a16:creationId xmlns:a16="http://schemas.microsoft.com/office/drawing/2014/main" id="{457B4CE4-F97E-D923-89AA-5D4B3BEA4233}"/>
              </a:ext>
            </a:extLst>
          </p:cNvPr>
          <p:cNvSpPr/>
          <p:nvPr/>
        </p:nvSpPr>
        <p:spPr bwMode="auto">
          <a:xfrm>
            <a:off x="774700" y="5456238"/>
            <a:ext cx="6985000" cy="792162"/>
          </a:xfrm>
          <a:prstGeom prst="roundRect">
            <a:avLst/>
          </a:prstGeom>
          <a:solidFill>
            <a:schemeClr val="accent6">
              <a:alpha val="30000"/>
            </a:schemeClr>
          </a:solidFill>
          <a:ln w="9525" cap="flat" cmpd="sng" algn="ctr">
            <a:solidFill>
              <a:schemeClr val="accent6"/>
            </a:solidFill>
            <a:prstDash val="solid"/>
            <a:round/>
            <a:headEnd type="none" w="med" len="med"/>
            <a:tailEnd type="none" w="med" len="med"/>
          </a:ln>
          <a:effectLst/>
        </p:spPr>
        <p:txBody>
          <a:bodyPr anchor="ctr" anchorCtr="1"/>
          <a:lstStyle/>
          <a:p>
            <a:pPr>
              <a:defRPr/>
            </a:pPr>
            <a:r>
              <a:rPr lang="en-CA" sz="2800" dirty="0">
                <a:latin typeface="Arial" charset="0"/>
              </a:rPr>
              <a:t>USE Amazon;</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0">
                                            <p:txEl>
                                              <p:pRg st="0" end="0"/>
                                            </p:txEl>
                                          </p:spTgt>
                                        </p:tgtEl>
                                        <p:attrNameLst>
                                          <p:attrName>style.visibility</p:attrName>
                                        </p:attrNameLst>
                                      </p:cBhvr>
                                      <p:to>
                                        <p:strVal val="visible"/>
                                      </p:to>
                                    </p:set>
                                    <p:animEffect transition="in" filter="wipe(left)">
                                      <p:cBhvr>
                                        <p:cTn id="11" dur="500"/>
                                        <p:tgtEl>
                                          <p:spTgt spid="10">
                                            <p:txEl>
                                              <p:pRg st="0" end="0"/>
                                            </p:txEl>
                                          </p:spTgt>
                                        </p:tgtEl>
                                      </p:cBhvr>
                                    </p:animEffect>
                                  </p:childTnLst>
                                </p:cTn>
                              </p:par>
                            </p:childTnLst>
                          </p:cTn>
                        </p:par>
                        <p:par>
                          <p:cTn id="12" fill="hold" nodeType="afterGroup">
                            <p:stCondLst>
                              <p:cond delay="1000"/>
                            </p:stCondLst>
                            <p:childTnLst>
                              <p:par>
                                <p:cTn id="13" presetID="16" presetClass="entr" presetSubtype="21" fill="hold" grpId="0"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barn(inVertical)">
                                      <p:cBhvr>
                                        <p:cTn id="15" dur="500"/>
                                        <p:tgtEl>
                                          <p:spTgt spid="11"/>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0">
                                            <p:txEl>
                                              <p:pRg st="4" end="4"/>
                                            </p:txEl>
                                          </p:spTgt>
                                        </p:tgtEl>
                                        <p:attrNameLst>
                                          <p:attrName>style.visibility</p:attrName>
                                        </p:attrNameLst>
                                      </p:cBhvr>
                                      <p:to>
                                        <p:strVal val="visible"/>
                                      </p:to>
                                    </p:set>
                                    <p:animEffect transition="in" filter="wipe(left)">
                                      <p:cBhvr>
                                        <p:cTn id="20" dur="500"/>
                                        <p:tgtEl>
                                          <p:spTgt spid="10">
                                            <p:txEl>
                                              <p:pRg st="4" end="4"/>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6" presetClass="entr" presetSubtype="21"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barn(inVertical)">
                                      <p:cBhvr>
                                        <p:cTn id="2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0" grpId="0" build="p"/>
      <p:bldP spid="11" grpId="0" animBg="1"/>
      <p:bldP spid="12"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BF6B86-3595-10A4-C166-25CCD31834F0}"/>
              </a:ext>
            </a:extLst>
          </p:cNvPr>
          <p:cNvSpPr>
            <a:spLocks noGrp="1"/>
          </p:cNvSpPr>
          <p:nvPr>
            <p:ph type="title"/>
          </p:nvPr>
        </p:nvSpPr>
        <p:spPr>
          <a:xfrm>
            <a:off x="457200" y="0"/>
            <a:ext cx="7620000" cy="1143000"/>
          </a:xfrm>
        </p:spPr>
        <p:txBody>
          <a:bodyPr/>
          <a:lstStyle/>
          <a:p>
            <a:pPr algn="ctr">
              <a:defRPr/>
            </a:pPr>
            <a:r>
              <a:rPr lang="en-US" dirty="0"/>
              <a:t>Manipulating Tables Using SQL</a:t>
            </a:r>
            <a:endParaRPr lang="en-MY" dirty="0"/>
          </a:p>
        </p:txBody>
      </p:sp>
      <p:sp>
        <p:nvSpPr>
          <p:cNvPr id="12" name="Content Placeholder 2">
            <a:extLst>
              <a:ext uri="{FF2B5EF4-FFF2-40B4-BE49-F238E27FC236}">
                <a16:creationId xmlns:a16="http://schemas.microsoft.com/office/drawing/2014/main" id="{4DB087EA-6B2D-BEF9-1F6F-7C0314C7F7CA}"/>
              </a:ext>
            </a:extLst>
          </p:cNvPr>
          <p:cNvSpPr txBox="1">
            <a:spLocks/>
          </p:cNvSpPr>
          <p:nvPr/>
        </p:nvSpPr>
        <p:spPr bwMode="auto">
          <a:xfrm>
            <a:off x="228600" y="1509713"/>
            <a:ext cx="8077200"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rgbClr val="FF6600"/>
              </a:buClr>
              <a:buFont typeface="Wingdings 3" panose="05040102010807070707" pitchFamily="18" charset="2"/>
              <a:buNone/>
            </a:pPr>
            <a:r>
              <a:rPr lang="en-US" altLang="en-US" sz="3200">
                <a:latin typeface="Calibri" panose="020F0502020204030204" pitchFamily="34" charset="0"/>
              </a:rPr>
              <a:t>With a database selected, all the table manipulation using SQL would now occur within the selected database </a:t>
            </a:r>
          </a:p>
          <a:p>
            <a:pPr algn="just" eaLnBrk="1" hangingPunct="1">
              <a:spcBef>
                <a:spcPct val="20000"/>
              </a:spcBef>
              <a:buClr>
                <a:srgbClr val="FF6600"/>
              </a:buClr>
              <a:buFont typeface="Wingdings 3" panose="05040102010807070707" pitchFamily="18" charset="2"/>
              <a:buNone/>
            </a:pPr>
            <a:endParaRPr lang="en-US" altLang="en-US" sz="3200">
              <a:solidFill>
                <a:srgbClr val="000000"/>
              </a:solidFill>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US" altLang="en-US" sz="3200">
              <a:solidFill>
                <a:srgbClr val="000000"/>
              </a:solidFill>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US" altLang="en-US" sz="3600">
              <a:solidFill>
                <a:srgbClr val="000000"/>
              </a:solidFill>
              <a:latin typeface="Calibri" panose="020F0502020204030204" pitchFamily="34" charset="0"/>
            </a:endParaRPr>
          </a:p>
        </p:txBody>
      </p:sp>
      <p:sp>
        <p:nvSpPr>
          <p:cNvPr id="10" name="Rounded Rectangle 9">
            <a:hlinkClick r:id="rId2" action="ppaction://hlinksldjump"/>
            <a:extLst>
              <a:ext uri="{FF2B5EF4-FFF2-40B4-BE49-F238E27FC236}">
                <a16:creationId xmlns:a16="http://schemas.microsoft.com/office/drawing/2014/main" id="{B91545E5-F6B9-EA9B-DF77-6FC6D66BB67B}"/>
              </a:ext>
            </a:extLst>
          </p:cNvPr>
          <p:cNvSpPr/>
          <p:nvPr/>
        </p:nvSpPr>
        <p:spPr>
          <a:xfrm>
            <a:off x="700088" y="3144838"/>
            <a:ext cx="2235200" cy="1341437"/>
          </a:xfrm>
          <a:prstGeom prst="roundRect">
            <a:avLst/>
          </a:prstGeom>
          <a:ln/>
        </p:spPr>
        <p:style>
          <a:lnRef idx="2">
            <a:schemeClr val="accent1">
              <a:shade val="50000"/>
            </a:schemeClr>
          </a:lnRef>
          <a:fillRef idx="1">
            <a:schemeClr val="accent1"/>
          </a:fillRef>
          <a:effectRef idx="0">
            <a:schemeClr val="accent1"/>
          </a:effectRef>
          <a:fontRef idx="minor">
            <a:schemeClr val="lt1"/>
          </a:fontRef>
        </p:style>
        <p:txBody>
          <a:bodyPr lIns="83820" tIns="83820" rIns="83820" bIns="83820" spcCol="1270" anchor="ctr"/>
          <a:lstStyle/>
          <a:p>
            <a:pPr algn="ctr" defTabSz="977900">
              <a:lnSpc>
                <a:spcPct val="90000"/>
              </a:lnSpc>
              <a:spcAft>
                <a:spcPct val="35000"/>
              </a:spcAft>
              <a:defRPr/>
            </a:pPr>
            <a:r>
              <a:rPr lang="en-CA" sz="2200" dirty="0"/>
              <a:t>Create a table</a:t>
            </a:r>
          </a:p>
        </p:txBody>
      </p:sp>
      <p:sp>
        <p:nvSpPr>
          <p:cNvPr id="11" name="Rounded Rectangle 10">
            <a:hlinkClick r:id="rId3" action="ppaction://hlinksldjump"/>
            <a:extLst>
              <a:ext uri="{FF2B5EF4-FFF2-40B4-BE49-F238E27FC236}">
                <a16:creationId xmlns:a16="http://schemas.microsoft.com/office/drawing/2014/main" id="{A31508E3-0B06-3481-CEBB-ED567586DD79}"/>
              </a:ext>
            </a:extLst>
          </p:cNvPr>
          <p:cNvSpPr/>
          <p:nvPr/>
        </p:nvSpPr>
        <p:spPr>
          <a:xfrm>
            <a:off x="3159125" y="3144838"/>
            <a:ext cx="2236788" cy="1341437"/>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lIns="83820" tIns="83820" rIns="83820" bIns="83820" spcCol="1270" anchor="ctr"/>
          <a:lstStyle/>
          <a:p>
            <a:pPr algn="ctr" defTabSz="977900">
              <a:lnSpc>
                <a:spcPct val="90000"/>
              </a:lnSpc>
              <a:spcAft>
                <a:spcPct val="35000"/>
              </a:spcAft>
              <a:defRPr/>
            </a:pPr>
            <a:r>
              <a:rPr lang="en-CA" sz="2200" dirty="0"/>
              <a:t>List the tables</a:t>
            </a:r>
          </a:p>
        </p:txBody>
      </p:sp>
      <p:sp>
        <p:nvSpPr>
          <p:cNvPr id="14" name="Rounded Rectangle 13">
            <a:hlinkClick r:id="rId4" action="ppaction://hlinksldjump"/>
            <a:extLst>
              <a:ext uri="{FF2B5EF4-FFF2-40B4-BE49-F238E27FC236}">
                <a16:creationId xmlns:a16="http://schemas.microsoft.com/office/drawing/2014/main" id="{54FA968F-DF4B-86E2-5129-E42232747669}"/>
              </a:ext>
            </a:extLst>
          </p:cNvPr>
          <p:cNvSpPr/>
          <p:nvPr/>
        </p:nvSpPr>
        <p:spPr>
          <a:xfrm>
            <a:off x="5619750" y="3144838"/>
            <a:ext cx="2235200" cy="1341437"/>
          </a:xfrm>
          <a:prstGeom prst="roundRect">
            <a:avLst/>
          </a:prstGeom>
          <a:ln/>
        </p:spPr>
        <p:style>
          <a:lnRef idx="2">
            <a:schemeClr val="accent3">
              <a:shade val="50000"/>
            </a:schemeClr>
          </a:lnRef>
          <a:fillRef idx="1">
            <a:schemeClr val="accent3"/>
          </a:fillRef>
          <a:effectRef idx="0">
            <a:schemeClr val="accent3"/>
          </a:effectRef>
          <a:fontRef idx="minor">
            <a:schemeClr val="lt1"/>
          </a:fontRef>
        </p:style>
        <p:txBody>
          <a:bodyPr lIns="83820" tIns="83820" rIns="83820" bIns="83820" spcCol="1270" anchor="ctr"/>
          <a:lstStyle/>
          <a:p>
            <a:pPr algn="ctr" defTabSz="977900">
              <a:lnSpc>
                <a:spcPct val="90000"/>
              </a:lnSpc>
              <a:spcAft>
                <a:spcPct val="35000"/>
              </a:spcAft>
              <a:defRPr/>
            </a:pPr>
            <a:r>
              <a:rPr lang="en-CA" sz="2200" dirty="0"/>
              <a:t>Examine a table</a:t>
            </a:r>
          </a:p>
        </p:txBody>
      </p:sp>
      <p:sp>
        <p:nvSpPr>
          <p:cNvPr id="15" name="Rounded Rectangle 14">
            <a:hlinkClick r:id="rId5" action="ppaction://hlinksldjump"/>
            <a:extLst>
              <a:ext uri="{FF2B5EF4-FFF2-40B4-BE49-F238E27FC236}">
                <a16:creationId xmlns:a16="http://schemas.microsoft.com/office/drawing/2014/main" id="{91ECE58E-FC1B-8E8A-3ED1-1AF47B59ED24}"/>
              </a:ext>
            </a:extLst>
          </p:cNvPr>
          <p:cNvSpPr/>
          <p:nvPr/>
        </p:nvSpPr>
        <p:spPr>
          <a:xfrm>
            <a:off x="1928813" y="4678363"/>
            <a:ext cx="2236787" cy="1341437"/>
          </a:xfrm>
          <a:prstGeom prst="roundRect">
            <a:avLst/>
          </a:prstGeom>
          <a:ln/>
        </p:spPr>
        <p:style>
          <a:lnRef idx="2">
            <a:schemeClr val="accent4">
              <a:shade val="50000"/>
            </a:schemeClr>
          </a:lnRef>
          <a:fillRef idx="1">
            <a:schemeClr val="accent4"/>
          </a:fillRef>
          <a:effectRef idx="0">
            <a:schemeClr val="accent4"/>
          </a:effectRef>
          <a:fontRef idx="minor">
            <a:schemeClr val="lt1"/>
          </a:fontRef>
        </p:style>
        <p:txBody>
          <a:bodyPr lIns="83820" tIns="83820" rIns="83820" bIns="83820" spcCol="1270" anchor="ctr"/>
          <a:lstStyle/>
          <a:p>
            <a:pPr algn="ctr" defTabSz="977900">
              <a:lnSpc>
                <a:spcPct val="90000"/>
              </a:lnSpc>
              <a:spcAft>
                <a:spcPct val="35000"/>
              </a:spcAft>
              <a:defRPr/>
            </a:pPr>
            <a:r>
              <a:rPr lang="en-CA" sz="2200" dirty="0"/>
              <a:t>Alter an existing table</a:t>
            </a:r>
          </a:p>
        </p:txBody>
      </p:sp>
      <p:sp>
        <p:nvSpPr>
          <p:cNvPr id="16" name="Rounded Rectangle 15">
            <a:hlinkClick r:id="rId6" action="ppaction://hlinksldjump"/>
            <a:extLst>
              <a:ext uri="{FF2B5EF4-FFF2-40B4-BE49-F238E27FC236}">
                <a16:creationId xmlns:a16="http://schemas.microsoft.com/office/drawing/2014/main" id="{AAFAF8D3-67E3-5559-76FB-900A52FE866B}"/>
              </a:ext>
            </a:extLst>
          </p:cNvPr>
          <p:cNvSpPr/>
          <p:nvPr/>
        </p:nvSpPr>
        <p:spPr>
          <a:xfrm>
            <a:off x="4389438" y="4678363"/>
            <a:ext cx="2235200" cy="1341437"/>
          </a:xfrm>
          <a:prstGeom prst="roundRect">
            <a:avLst/>
          </a:prstGeom>
          <a:ln/>
        </p:spPr>
        <p:style>
          <a:lnRef idx="2">
            <a:schemeClr val="accent6">
              <a:shade val="50000"/>
            </a:schemeClr>
          </a:lnRef>
          <a:fillRef idx="1">
            <a:schemeClr val="accent6"/>
          </a:fillRef>
          <a:effectRef idx="0">
            <a:schemeClr val="accent6"/>
          </a:effectRef>
          <a:fontRef idx="minor">
            <a:schemeClr val="lt1"/>
          </a:fontRef>
        </p:style>
        <p:txBody>
          <a:bodyPr lIns="83820" tIns="83820" rIns="83820" bIns="83820" spcCol="1270" anchor="ctr"/>
          <a:lstStyle/>
          <a:p>
            <a:pPr algn="ctr" defTabSz="977900">
              <a:lnSpc>
                <a:spcPct val="90000"/>
              </a:lnSpc>
              <a:spcAft>
                <a:spcPct val="35000"/>
              </a:spcAft>
              <a:defRPr/>
            </a:pPr>
            <a:r>
              <a:rPr lang="en-CA" sz="2200" dirty="0"/>
              <a:t>Delete a table</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wipe(left)">
                                      <p:cBhvr>
                                        <p:cTn id="7" dur="500"/>
                                        <p:tgtEl>
                                          <p:spTgt spid="12">
                                            <p:txEl>
                                              <p:pRg st="0" end="0"/>
                                            </p:txEl>
                                          </p:spTgt>
                                        </p:tgtEl>
                                      </p:cBhvr>
                                    </p:animEffect>
                                  </p:childTnLst>
                                </p:cTn>
                              </p:par>
                            </p:childTnLst>
                          </p:cTn>
                        </p:par>
                        <p:par>
                          <p:cTn id="8" fill="hold" nodeType="afterGroup">
                            <p:stCondLst>
                              <p:cond delay="500"/>
                            </p:stCondLst>
                            <p:childTnLst>
                              <p:par>
                                <p:cTn id="9" presetID="42" presetClass="entr" presetSubtype="0"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1000"/>
                                        <p:tgtEl>
                                          <p:spTgt spid="10"/>
                                        </p:tgtEl>
                                      </p:cBhvr>
                                    </p:animEffect>
                                    <p:anim calcmode="lin" valueType="num">
                                      <p:cBhvr>
                                        <p:cTn id="12" dur="1000" fill="hold"/>
                                        <p:tgtEl>
                                          <p:spTgt spid="10"/>
                                        </p:tgtEl>
                                        <p:attrNameLst>
                                          <p:attrName>ppt_x</p:attrName>
                                        </p:attrNameLst>
                                      </p:cBhvr>
                                      <p:tavLst>
                                        <p:tav tm="0">
                                          <p:val>
                                            <p:strVal val="#ppt_x"/>
                                          </p:val>
                                        </p:tav>
                                        <p:tav tm="100000">
                                          <p:val>
                                            <p:strVal val="#ppt_x"/>
                                          </p:val>
                                        </p:tav>
                                      </p:tavLst>
                                    </p:anim>
                                    <p:anim calcmode="lin" valueType="num">
                                      <p:cBhvr>
                                        <p:cTn id="13" dur="1000" fill="hold"/>
                                        <p:tgtEl>
                                          <p:spTgt spid="10"/>
                                        </p:tgtEl>
                                        <p:attrNameLst>
                                          <p:attrName>ppt_y</p:attrName>
                                        </p:attrNameLst>
                                      </p:cBhvr>
                                      <p:tavLst>
                                        <p:tav tm="0">
                                          <p:val>
                                            <p:strVal val="#ppt_y+.1"/>
                                          </p:val>
                                        </p:tav>
                                        <p:tav tm="100000">
                                          <p:val>
                                            <p:strVal val="#ppt_y"/>
                                          </p:val>
                                        </p:tav>
                                      </p:tavLst>
                                    </p:anim>
                                  </p:childTnLst>
                                </p:cTn>
                              </p:par>
                            </p:childTnLst>
                          </p:cTn>
                        </p:par>
                        <p:par>
                          <p:cTn id="14" fill="hold" nodeType="afterGroup">
                            <p:stCondLst>
                              <p:cond delay="1500"/>
                            </p:stCondLst>
                            <p:childTnLst>
                              <p:par>
                                <p:cTn id="15" presetID="42" presetClass="entr" presetSubtype="0" fill="hold" grpId="0" nodeType="after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1000"/>
                                        <p:tgtEl>
                                          <p:spTgt spid="11"/>
                                        </p:tgtEl>
                                      </p:cBhvr>
                                    </p:animEffect>
                                    <p:anim calcmode="lin" valueType="num">
                                      <p:cBhvr>
                                        <p:cTn id="18" dur="1000" fill="hold"/>
                                        <p:tgtEl>
                                          <p:spTgt spid="11"/>
                                        </p:tgtEl>
                                        <p:attrNameLst>
                                          <p:attrName>ppt_x</p:attrName>
                                        </p:attrNameLst>
                                      </p:cBhvr>
                                      <p:tavLst>
                                        <p:tav tm="0">
                                          <p:val>
                                            <p:strVal val="#ppt_x"/>
                                          </p:val>
                                        </p:tav>
                                        <p:tav tm="100000">
                                          <p:val>
                                            <p:strVal val="#ppt_x"/>
                                          </p:val>
                                        </p:tav>
                                      </p:tavLst>
                                    </p:anim>
                                    <p:anim calcmode="lin" valueType="num">
                                      <p:cBhvr>
                                        <p:cTn id="19" dur="1000" fill="hold"/>
                                        <p:tgtEl>
                                          <p:spTgt spid="11"/>
                                        </p:tgtEl>
                                        <p:attrNameLst>
                                          <p:attrName>ppt_y</p:attrName>
                                        </p:attrNameLst>
                                      </p:cBhvr>
                                      <p:tavLst>
                                        <p:tav tm="0">
                                          <p:val>
                                            <p:strVal val="#ppt_y+.1"/>
                                          </p:val>
                                        </p:tav>
                                        <p:tav tm="100000">
                                          <p:val>
                                            <p:strVal val="#ppt_y"/>
                                          </p:val>
                                        </p:tav>
                                      </p:tavLst>
                                    </p:anim>
                                  </p:childTnLst>
                                </p:cTn>
                              </p:par>
                            </p:childTnLst>
                          </p:cTn>
                        </p:par>
                        <p:par>
                          <p:cTn id="20" fill="hold" nodeType="afterGroup">
                            <p:stCondLst>
                              <p:cond delay="2500"/>
                            </p:stCondLst>
                            <p:childTnLst>
                              <p:par>
                                <p:cTn id="21" presetID="42" presetClass="entr" presetSubtype="0" fill="hold" grpId="0" nodeType="after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1000"/>
                                        <p:tgtEl>
                                          <p:spTgt spid="14"/>
                                        </p:tgtEl>
                                      </p:cBhvr>
                                    </p:animEffect>
                                    <p:anim calcmode="lin" valueType="num">
                                      <p:cBhvr>
                                        <p:cTn id="24" dur="1000" fill="hold"/>
                                        <p:tgtEl>
                                          <p:spTgt spid="14"/>
                                        </p:tgtEl>
                                        <p:attrNameLst>
                                          <p:attrName>ppt_x</p:attrName>
                                        </p:attrNameLst>
                                      </p:cBhvr>
                                      <p:tavLst>
                                        <p:tav tm="0">
                                          <p:val>
                                            <p:strVal val="#ppt_x"/>
                                          </p:val>
                                        </p:tav>
                                        <p:tav tm="100000">
                                          <p:val>
                                            <p:strVal val="#ppt_x"/>
                                          </p:val>
                                        </p:tav>
                                      </p:tavLst>
                                    </p:anim>
                                    <p:anim calcmode="lin" valueType="num">
                                      <p:cBhvr>
                                        <p:cTn id="25" dur="1000" fill="hold"/>
                                        <p:tgtEl>
                                          <p:spTgt spid="14"/>
                                        </p:tgtEl>
                                        <p:attrNameLst>
                                          <p:attrName>ppt_y</p:attrName>
                                        </p:attrNameLst>
                                      </p:cBhvr>
                                      <p:tavLst>
                                        <p:tav tm="0">
                                          <p:val>
                                            <p:strVal val="#ppt_y+.1"/>
                                          </p:val>
                                        </p:tav>
                                        <p:tav tm="100000">
                                          <p:val>
                                            <p:strVal val="#ppt_y"/>
                                          </p:val>
                                        </p:tav>
                                      </p:tavLst>
                                    </p:anim>
                                  </p:childTnLst>
                                </p:cTn>
                              </p:par>
                            </p:childTnLst>
                          </p:cTn>
                        </p:par>
                        <p:par>
                          <p:cTn id="26" fill="hold" nodeType="afterGroup">
                            <p:stCondLst>
                              <p:cond delay="3500"/>
                            </p:stCondLst>
                            <p:childTnLst>
                              <p:par>
                                <p:cTn id="27" presetID="42" presetClass="entr" presetSubtype="0" fill="hold" grpId="0" nodeType="after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1000"/>
                                        <p:tgtEl>
                                          <p:spTgt spid="15"/>
                                        </p:tgtEl>
                                      </p:cBhvr>
                                    </p:animEffect>
                                    <p:anim calcmode="lin" valueType="num">
                                      <p:cBhvr>
                                        <p:cTn id="30" dur="1000" fill="hold"/>
                                        <p:tgtEl>
                                          <p:spTgt spid="15"/>
                                        </p:tgtEl>
                                        <p:attrNameLst>
                                          <p:attrName>ppt_x</p:attrName>
                                        </p:attrNameLst>
                                      </p:cBhvr>
                                      <p:tavLst>
                                        <p:tav tm="0">
                                          <p:val>
                                            <p:strVal val="#ppt_x"/>
                                          </p:val>
                                        </p:tav>
                                        <p:tav tm="100000">
                                          <p:val>
                                            <p:strVal val="#ppt_x"/>
                                          </p:val>
                                        </p:tav>
                                      </p:tavLst>
                                    </p:anim>
                                    <p:anim calcmode="lin" valueType="num">
                                      <p:cBhvr>
                                        <p:cTn id="31" dur="1000" fill="hold"/>
                                        <p:tgtEl>
                                          <p:spTgt spid="15"/>
                                        </p:tgtEl>
                                        <p:attrNameLst>
                                          <p:attrName>ppt_y</p:attrName>
                                        </p:attrNameLst>
                                      </p:cBhvr>
                                      <p:tavLst>
                                        <p:tav tm="0">
                                          <p:val>
                                            <p:strVal val="#ppt_y+.1"/>
                                          </p:val>
                                        </p:tav>
                                        <p:tav tm="100000">
                                          <p:val>
                                            <p:strVal val="#ppt_y"/>
                                          </p:val>
                                        </p:tav>
                                      </p:tavLst>
                                    </p:anim>
                                  </p:childTnLst>
                                </p:cTn>
                              </p:par>
                            </p:childTnLst>
                          </p:cTn>
                        </p:par>
                        <p:par>
                          <p:cTn id="32" fill="hold" nodeType="afterGroup">
                            <p:stCondLst>
                              <p:cond delay="4500"/>
                            </p:stCondLst>
                            <p:childTnLst>
                              <p:par>
                                <p:cTn id="33" presetID="42" presetClass="entr" presetSubtype="0" fill="hold" grpId="0" nodeType="after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1000"/>
                                        <p:tgtEl>
                                          <p:spTgt spid="16"/>
                                        </p:tgtEl>
                                      </p:cBhvr>
                                    </p:animEffect>
                                    <p:anim calcmode="lin" valueType="num">
                                      <p:cBhvr>
                                        <p:cTn id="36" dur="1000" fill="hold"/>
                                        <p:tgtEl>
                                          <p:spTgt spid="16"/>
                                        </p:tgtEl>
                                        <p:attrNameLst>
                                          <p:attrName>ppt_x</p:attrName>
                                        </p:attrNameLst>
                                      </p:cBhvr>
                                      <p:tavLst>
                                        <p:tav tm="0">
                                          <p:val>
                                            <p:strVal val="#ppt_x"/>
                                          </p:val>
                                        </p:tav>
                                        <p:tav tm="100000">
                                          <p:val>
                                            <p:strVal val="#ppt_x"/>
                                          </p:val>
                                        </p:tav>
                                      </p:tavLst>
                                    </p:anim>
                                    <p:anim calcmode="lin" valueType="num">
                                      <p:cBhvr>
                                        <p:cTn id="37"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P spid="10" grpId="0" animBg="1"/>
      <p:bldP spid="11" grpId="0" animBg="1"/>
      <p:bldP spid="14" grpId="0" animBg="1"/>
      <p:bldP spid="15" grpId="0" animBg="1"/>
      <p:bldP spid="16"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539AD7-2A2D-1D11-E301-404C340E23DE}"/>
              </a:ext>
            </a:extLst>
          </p:cNvPr>
          <p:cNvSpPr>
            <a:spLocks noGrp="1"/>
          </p:cNvSpPr>
          <p:nvPr>
            <p:ph type="title"/>
          </p:nvPr>
        </p:nvSpPr>
        <p:spPr>
          <a:xfrm>
            <a:off x="457200" y="0"/>
            <a:ext cx="7620000" cy="1143000"/>
          </a:xfrm>
        </p:spPr>
        <p:txBody>
          <a:bodyPr/>
          <a:lstStyle/>
          <a:p>
            <a:pPr algn="ctr">
              <a:defRPr/>
            </a:pPr>
            <a:r>
              <a:rPr lang="en-US" dirty="0"/>
              <a:t>Manipulating Tables Using SQL</a:t>
            </a:r>
            <a:endParaRPr lang="en-MY" dirty="0"/>
          </a:p>
        </p:txBody>
      </p:sp>
      <p:sp>
        <p:nvSpPr>
          <p:cNvPr id="4" name="Snip Single Corner Rectangle 3">
            <a:extLst>
              <a:ext uri="{FF2B5EF4-FFF2-40B4-BE49-F238E27FC236}">
                <a16:creationId xmlns:a16="http://schemas.microsoft.com/office/drawing/2014/main" id="{A42EAE77-E5E3-430B-DA39-EBF14956DE7E}"/>
              </a:ext>
            </a:extLst>
          </p:cNvPr>
          <p:cNvSpPr/>
          <p:nvPr/>
        </p:nvSpPr>
        <p:spPr>
          <a:xfrm>
            <a:off x="100013" y="1350963"/>
            <a:ext cx="1728787" cy="401637"/>
          </a:xfrm>
          <a:prstGeom prst="snip1Rect">
            <a:avLst/>
          </a:prstGeom>
          <a:solidFill>
            <a:schemeClr val="accent1">
              <a:alpha val="70000"/>
            </a:schemeClr>
          </a:solidFill>
          <a:ln>
            <a:solidFill>
              <a:schemeClr val="accent1"/>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indent="-342900" algn="just" eaLnBrk="1" hangingPunct="1">
              <a:spcBef>
                <a:spcPct val="20000"/>
              </a:spcBef>
              <a:buClr>
                <a:srgbClr val="FF6600"/>
              </a:buClr>
              <a:buSzPct val="100000"/>
              <a:defRPr/>
            </a:pPr>
            <a:r>
              <a:rPr lang="en-US" dirty="0">
                <a:latin typeface="Arial" pitchFamily="34" charset="0"/>
                <a:ea typeface="Times New Roman" pitchFamily="18" charset="0"/>
                <a:cs typeface="Arial" pitchFamily="34" charset="0"/>
              </a:rPr>
              <a:t>Create a table</a:t>
            </a:r>
            <a:endParaRPr lang="en-GB" kern="0" dirty="0">
              <a:solidFill>
                <a:schemeClr val="tx1"/>
              </a:solidFill>
            </a:endParaRPr>
          </a:p>
        </p:txBody>
      </p:sp>
      <p:sp>
        <p:nvSpPr>
          <p:cNvPr id="10" name="Content Placeholder 5">
            <a:extLst>
              <a:ext uri="{FF2B5EF4-FFF2-40B4-BE49-F238E27FC236}">
                <a16:creationId xmlns:a16="http://schemas.microsoft.com/office/drawing/2014/main" id="{236B5F3D-69DC-39A8-6F22-AEA02D96F2AF}"/>
              </a:ext>
            </a:extLst>
          </p:cNvPr>
          <p:cNvSpPr txBox="1">
            <a:spLocks/>
          </p:cNvSpPr>
          <p:nvPr/>
        </p:nvSpPr>
        <p:spPr bwMode="auto">
          <a:xfrm>
            <a:off x="227013" y="2055813"/>
            <a:ext cx="7850187"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rgbClr val="FF6600"/>
              </a:buClr>
              <a:buFont typeface="Wingdings 3" panose="05040102010807070707" pitchFamily="18" charset="2"/>
              <a:buNone/>
            </a:pPr>
            <a:r>
              <a:rPr lang="en-CA" altLang="en-US" sz="2800">
                <a:latin typeface="Calibri" panose="020F0502020204030204" pitchFamily="34" charset="0"/>
              </a:rPr>
              <a:t>SQL syntax:</a:t>
            </a:r>
          </a:p>
          <a:p>
            <a:pPr eaLnBrk="1" hangingPunct="1">
              <a:spcBef>
                <a:spcPct val="20000"/>
              </a:spcBef>
              <a:buClr>
                <a:srgbClr val="FF6600"/>
              </a:buClr>
              <a:buFont typeface="Wingdings 3" panose="05040102010807070707" pitchFamily="18" charset="2"/>
              <a:buNone/>
            </a:pPr>
            <a:endParaRPr lang="en-CA" altLang="en-US" sz="2800">
              <a:latin typeface="Calibri" panose="020F0502020204030204" pitchFamily="34" charset="0"/>
            </a:endParaRPr>
          </a:p>
          <a:p>
            <a:pPr eaLnBrk="1" hangingPunct="1">
              <a:spcBef>
                <a:spcPct val="20000"/>
              </a:spcBef>
              <a:buClr>
                <a:srgbClr val="FF6600"/>
              </a:buClr>
              <a:buFont typeface="Wingdings 3" panose="05040102010807070707" pitchFamily="18" charset="2"/>
              <a:buNone/>
            </a:pPr>
            <a:endParaRPr lang="en-CA" altLang="en-US" sz="2800">
              <a:latin typeface="Calibri" panose="020F0502020204030204" pitchFamily="34" charset="0"/>
            </a:endParaRPr>
          </a:p>
          <a:p>
            <a:pPr eaLnBrk="1" hangingPunct="1">
              <a:spcBef>
                <a:spcPct val="20000"/>
              </a:spcBef>
              <a:buClr>
                <a:srgbClr val="FF6600"/>
              </a:buClr>
              <a:buFont typeface="Wingdings 3" panose="05040102010807070707" pitchFamily="18" charset="2"/>
              <a:buNone/>
            </a:pPr>
            <a:endParaRPr lang="en-CA" altLang="en-US" sz="2800">
              <a:latin typeface="Calibri" panose="020F0502020204030204" pitchFamily="34" charset="0"/>
            </a:endParaRPr>
          </a:p>
        </p:txBody>
      </p:sp>
      <p:sp>
        <p:nvSpPr>
          <p:cNvPr id="11" name="Rounded Rectangle 10">
            <a:extLst>
              <a:ext uri="{FF2B5EF4-FFF2-40B4-BE49-F238E27FC236}">
                <a16:creationId xmlns:a16="http://schemas.microsoft.com/office/drawing/2014/main" id="{111DEF2F-D9B5-9769-4D6D-1BECEB43523D}"/>
              </a:ext>
            </a:extLst>
          </p:cNvPr>
          <p:cNvSpPr>
            <a:spLocks noChangeArrowheads="1"/>
          </p:cNvSpPr>
          <p:nvPr/>
        </p:nvSpPr>
        <p:spPr bwMode="auto">
          <a:xfrm>
            <a:off x="1042988" y="2619375"/>
            <a:ext cx="6985000" cy="3240088"/>
          </a:xfrm>
          <a:prstGeom prst="roundRect">
            <a:avLst>
              <a:gd name="adj" fmla="val 16667"/>
            </a:avLst>
          </a:prstGeom>
          <a:solidFill>
            <a:srgbClr val="7F7B00">
              <a:alpha val="30196"/>
            </a:srgbClr>
          </a:solidFill>
          <a:ln w="9525" algn="ctr">
            <a:solidFill>
              <a:srgbClr val="7F7B00"/>
            </a:solidFill>
            <a:round/>
            <a:headEnd/>
            <a:tailEnd/>
          </a:ln>
        </p:spPr>
        <p:txBody>
          <a:bodyPr anchor="ctr" anchorCtr="1"/>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CA" altLang="en-US" sz="2800"/>
              <a:t>CREATE TABLE &lt;table_name&gt;</a:t>
            </a:r>
          </a:p>
          <a:p>
            <a:r>
              <a:rPr lang="en-CA" altLang="en-US" sz="2800"/>
              <a:t>(</a:t>
            </a:r>
          </a:p>
          <a:p>
            <a:r>
              <a:rPr lang="en-CA" altLang="en-US" sz="2800"/>
              <a:t>	&lt;column_name&gt; &lt;data_type&gt;,</a:t>
            </a:r>
          </a:p>
          <a:p>
            <a:r>
              <a:rPr lang="en-CA" altLang="en-US" sz="2800"/>
              <a:t>	&lt;column_name&gt; &lt;data_type&gt;,</a:t>
            </a:r>
          </a:p>
          <a:p>
            <a:r>
              <a:rPr lang="en-CA" altLang="en-US" sz="2800"/>
              <a:t>	…</a:t>
            </a:r>
          </a:p>
          <a:p>
            <a:r>
              <a:rPr lang="en-CA" altLang="en-US" sz="2800"/>
              <a:t>	&lt;column_name&gt; &lt;data_type&gt;</a:t>
            </a:r>
          </a:p>
          <a:p>
            <a:r>
              <a:rPr lang="en-CA" altLang="en-US" sz="2800"/>
              <a:t>);</a:t>
            </a:r>
          </a:p>
        </p:txBody>
      </p:sp>
      <p:grpSp>
        <p:nvGrpSpPr>
          <p:cNvPr id="3" name="Group 6">
            <a:extLst>
              <a:ext uri="{FF2B5EF4-FFF2-40B4-BE49-F238E27FC236}">
                <a16:creationId xmlns:a16="http://schemas.microsoft.com/office/drawing/2014/main" id="{5A1CE0E6-4B7F-F0D0-DB9A-6A818C1E59B0}"/>
              </a:ext>
            </a:extLst>
          </p:cNvPr>
          <p:cNvGrpSpPr>
            <a:grpSpLocks/>
          </p:cNvGrpSpPr>
          <p:nvPr/>
        </p:nvGrpSpPr>
        <p:grpSpPr bwMode="auto">
          <a:xfrm>
            <a:off x="5292725" y="5221288"/>
            <a:ext cx="2303463" cy="1408112"/>
            <a:chOff x="6012160" y="724722"/>
            <a:chExt cx="2304256" cy="1408134"/>
          </a:xfrm>
        </p:grpSpPr>
        <p:sp>
          <p:nvSpPr>
            <p:cNvPr id="8" name="Rectangle 7">
              <a:extLst>
                <a:ext uri="{FF2B5EF4-FFF2-40B4-BE49-F238E27FC236}">
                  <a16:creationId xmlns:a16="http://schemas.microsoft.com/office/drawing/2014/main" id="{C491395C-54DD-8B22-2B1E-AEB5CF59CBFE}"/>
                </a:ext>
              </a:extLst>
            </p:cNvPr>
            <p:cNvSpPr/>
            <p:nvPr/>
          </p:nvSpPr>
          <p:spPr bwMode="auto">
            <a:xfrm>
              <a:off x="6012160" y="1526422"/>
              <a:ext cx="2304256" cy="606434"/>
            </a:xfrm>
            <a:prstGeom prst="rect">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a:lstStyle/>
            <a:p>
              <a:pPr algn="ctr">
                <a:defRPr/>
              </a:pPr>
              <a:r>
                <a:rPr lang="en-CA" dirty="0">
                  <a:solidFill>
                    <a:schemeClr val="tx1"/>
                  </a:solidFill>
                  <a:latin typeface="Arial" charset="0"/>
                </a:rPr>
                <a:t>No comma for the last column</a:t>
              </a:r>
            </a:p>
          </p:txBody>
        </p:sp>
        <p:cxnSp>
          <p:nvCxnSpPr>
            <p:cNvPr id="9" name="Straight Arrow Connector 8">
              <a:extLst>
                <a:ext uri="{FF2B5EF4-FFF2-40B4-BE49-F238E27FC236}">
                  <a16:creationId xmlns:a16="http://schemas.microsoft.com/office/drawing/2014/main" id="{3933F424-BFB8-7959-2B7C-AB2A999FF8DA}"/>
                </a:ext>
              </a:extLst>
            </p:cNvPr>
            <p:cNvCxnSpPr/>
            <p:nvPr/>
          </p:nvCxnSpPr>
          <p:spPr bwMode="auto">
            <a:xfrm flipV="1">
              <a:off x="7739955" y="724722"/>
              <a:ext cx="281085" cy="819163"/>
            </a:xfrm>
            <a:prstGeom prst="straightConnector1">
              <a:avLst/>
            </a:prstGeom>
            <a:ln>
              <a:headEnd type="none" w="med" len="med"/>
              <a:tailEnd type="triangle"/>
            </a:ln>
          </p:spPr>
          <p:style>
            <a:lnRef idx="1">
              <a:schemeClr val="accent6"/>
            </a:lnRef>
            <a:fillRef idx="2">
              <a:schemeClr val="accent6"/>
            </a:fillRef>
            <a:effectRef idx="1">
              <a:schemeClr val="accent6"/>
            </a:effectRef>
            <a:fontRef idx="minor">
              <a:schemeClr val="dk1"/>
            </a:fontRef>
          </p:style>
        </p:cxnSp>
      </p:grpSp>
      <p:grpSp>
        <p:nvGrpSpPr>
          <p:cNvPr id="5" name="Group 17">
            <a:extLst>
              <a:ext uri="{FF2B5EF4-FFF2-40B4-BE49-F238E27FC236}">
                <a16:creationId xmlns:a16="http://schemas.microsoft.com/office/drawing/2014/main" id="{E57F49F5-1E24-95EA-7EF9-8F2DCAA404F6}"/>
              </a:ext>
            </a:extLst>
          </p:cNvPr>
          <p:cNvGrpSpPr>
            <a:grpSpLocks/>
          </p:cNvGrpSpPr>
          <p:nvPr/>
        </p:nvGrpSpPr>
        <p:grpSpPr bwMode="auto">
          <a:xfrm>
            <a:off x="3384550" y="1725613"/>
            <a:ext cx="2843213" cy="1901825"/>
            <a:chOff x="6212586" y="1376697"/>
            <a:chExt cx="2844316" cy="1902777"/>
          </a:xfrm>
        </p:grpSpPr>
        <p:sp>
          <p:nvSpPr>
            <p:cNvPr id="19" name="Rectangle 18">
              <a:extLst>
                <a:ext uri="{FF2B5EF4-FFF2-40B4-BE49-F238E27FC236}">
                  <a16:creationId xmlns:a16="http://schemas.microsoft.com/office/drawing/2014/main" id="{35F24F93-C947-5E7C-45AB-619C271FBC5C}"/>
                </a:ext>
              </a:extLst>
            </p:cNvPr>
            <p:cNvSpPr/>
            <p:nvPr/>
          </p:nvSpPr>
          <p:spPr bwMode="auto">
            <a:xfrm>
              <a:off x="6212586" y="1376697"/>
              <a:ext cx="2844316" cy="606729"/>
            </a:xfrm>
            <a:prstGeom prst="rect">
              <a:avLst/>
            </a:prstGeom>
            <a:ln>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a:lstStyle/>
            <a:p>
              <a:pPr algn="ctr">
                <a:defRPr/>
              </a:pPr>
              <a:r>
                <a:rPr lang="en-CA" dirty="0">
                  <a:solidFill>
                    <a:schemeClr val="tx1"/>
                  </a:solidFill>
                  <a:latin typeface="Arial" charset="0"/>
                </a:rPr>
                <a:t>A column name cannot have any spaces</a:t>
              </a:r>
            </a:p>
          </p:txBody>
        </p:sp>
        <p:cxnSp>
          <p:nvCxnSpPr>
            <p:cNvPr id="20" name="Straight Arrow Connector 19">
              <a:extLst>
                <a:ext uri="{FF2B5EF4-FFF2-40B4-BE49-F238E27FC236}">
                  <a16:creationId xmlns:a16="http://schemas.microsoft.com/office/drawing/2014/main" id="{2B05D08B-1C44-91C0-1A1C-7A27E619F426}"/>
                </a:ext>
              </a:extLst>
            </p:cNvPr>
            <p:cNvCxnSpPr>
              <a:stCxn id="19" idx="2"/>
            </p:cNvCxnSpPr>
            <p:nvPr/>
          </p:nvCxnSpPr>
          <p:spPr bwMode="auto">
            <a:xfrm flipH="1">
              <a:off x="6752545" y="1983426"/>
              <a:ext cx="882992" cy="1296048"/>
            </a:xfrm>
            <a:prstGeom prst="straightConnector1">
              <a:avLst/>
            </a:prstGeom>
            <a:ln>
              <a:headEnd type="none" w="med" len="med"/>
              <a:tailEnd type="triangle"/>
            </a:ln>
          </p:spPr>
          <p:style>
            <a:lnRef idx="1">
              <a:schemeClr val="accent3"/>
            </a:lnRef>
            <a:fillRef idx="2">
              <a:schemeClr val="accent3"/>
            </a:fillRef>
            <a:effectRef idx="1">
              <a:schemeClr val="accent3"/>
            </a:effectRef>
            <a:fontRef idx="minor">
              <a:schemeClr val="dk1"/>
            </a:fontRef>
          </p:style>
        </p:cxnSp>
      </p:gr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0">
                                            <p:txEl>
                                              <p:pRg st="0" end="0"/>
                                            </p:txEl>
                                          </p:spTgt>
                                        </p:tgtEl>
                                        <p:attrNameLst>
                                          <p:attrName>style.visibility</p:attrName>
                                        </p:attrNameLst>
                                      </p:cBhvr>
                                      <p:to>
                                        <p:strVal val="visible"/>
                                      </p:to>
                                    </p:set>
                                    <p:animEffect transition="in" filter="wipe(left)">
                                      <p:cBhvr>
                                        <p:cTn id="11" dur="500"/>
                                        <p:tgtEl>
                                          <p:spTgt spid="10">
                                            <p:txEl>
                                              <p:pRg st="0" end="0"/>
                                            </p:txEl>
                                          </p:spTgt>
                                        </p:tgtEl>
                                      </p:cBhvr>
                                    </p:animEffect>
                                  </p:childTnLst>
                                </p:cTn>
                              </p:par>
                            </p:childTnLst>
                          </p:cTn>
                        </p:par>
                        <p:par>
                          <p:cTn id="12" fill="hold" nodeType="afterGroup">
                            <p:stCondLst>
                              <p:cond delay="1000"/>
                            </p:stCondLst>
                            <p:childTnLst>
                              <p:par>
                                <p:cTn id="13" presetID="16" presetClass="entr" presetSubtype="21" fill="hold" grpId="0"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barn(inVertical)">
                                      <p:cBhvr>
                                        <p:cTn id="15" dur="500"/>
                                        <p:tgtEl>
                                          <p:spTgt spid="11"/>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 presetClass="entr" presetSubtype="2" fill="hold" nodeType="clickEffect">
                                  <p:stCondLst>
                                    <p:cond delay="0"/>
                                  </p:stCondLst>
                                  <p:childTnLst>
                                    <p:set>
                                      <p:cBhvr>
                                        <p:cTn id="19" dur="1" fill="hold">
                                          <p:stCondLst>
                                            <p:cond delay="0"/>
                                          </p:stCondLst>
                                        </p:cTn>
                                        <p:tgtEl>
                                          <p:spTgt spid="5"/>
                                        </p:tgtEl>
                                        <p:attrNameLst>
                                          <p:attrName>style.visibility</p:attrName>
                                        </p:attrNameLst>
                                      </p:cBhvr>
                                      <p:to>
                                        <p:strVal val="visible"/>
                                      </p:to>
                                    </p:set>
                                    <p:anim calcmode="lin" valueType="num">
                                      <p:cBhvr additive="base">
                                        <p:cTn id="20" dur="500" fill="hold"/>
                                        <p:tgtEl>
                                          <p:spTgt spid="5"/>
                                        </p:tgtEl>
                                        <p:attrNameLst>
                                          <p:attrName>ppt_x</p:attrName>
                                        </p:attrNameLst>
                                      </p:cBhvr>
                                      <p:tavLst>
                                        <p:tav tm="0">
                                          <p:val>
                                            <p:strVal val="1+#ppt_w/2"/>
                                          </p:val>
                                        </p:tav>
                                        <p:tav tm="100000">
                                          <p:val>
                                            <p:strVal val="#ppt_x"/>
                                          </p:val>
                                        </p:tav>
                                      </p:tavLst>
                                    </p:anim>
                                    <p:anim calcmode="lin" valueType="num">
                                      <p:cBhvr additive="base">
                                        <p:cTn id="21"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22" fill="hold" nodeType="clickPar">
                      <p:stCondLst>
                        <p:cond delay="indefinite"/>
                      </p:stCondLst>
                      <p:childTnLst>
                        <p:par>
                          <p:cTn id="23" fill="hold" nodeType="withGroup">
                            <p:stCondLst>
                              <p:cond delay="0"/>
                            </p:stCondLst>
                            <p:childTnLst>
                              <p:par>
                                <p:cTn id="24" presetID="2" presetClass="entr" presetSubtype="2" fill="hold" nodeType="clickEffect">
                                  <p:stCondLst>
                                    <p:cond delay="0"/>
                                  </p:stCondLst>
                                  <p:childTnLst>
                                    <p:set>
                                      <p:cBhvr>
                                        <p:cTn id="25" dur="1" fill="hold">
                                          <p:stCondLst>
                                            <p:cond delay="0"/>
                                          </p:stCondLst>
                                        </p:cTn>
                                        <p:tgtEl>
                                          <p:spTgt spid="3"/>
                                        </p:tgtEl>
                                        <p:attrNameLst>
                                          <p:attrName>style.visibility</p:attrName>
                                        </p:attrNameLst>
                                      </p:cBhvr>
                                      <p:to>
                                        <p:strVal val="visible"/>
                                      </p:to>
                                    </p:set>
                                    <p:anim calcmode="lin" valueType="num">
                                      <p:cBhvr additive="base">
                                        <p:cTn id="26" dur="500" fill="hold"/>
                                        <p:tgtEl>
                                          <p:spTgt spid="3"/>
                                        </p:tgtEl>
                                        <p:attrNameLst>
                                          <p:attrName>ppt_x</p:attrName>
                                        </p:attrNameLst>
                                      </p:cBhvr>
                                      <p:tavLst>
                                        <p:tav tm="0">
                                          <p:val>
                                            <p:strVal val="1+#ppt_w/2"/>
                                          </p:val>
                                        </p:tav>
                                        <p:tav tm="100000">
                                          <p:val>
                                            <p:strVal val="#ppt_x"/>
                                          </p:val>
                                        </p:tav>
                                      </p:tavLst>
                                    </p:anim>
                                    <p:anim calcmode="lin" valueType="num">
                                      <p:cBhvr additive="base">
                                        <p:cTn id="27"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0" grpId="0" build="p"/>
      <p:bldP spid="11"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0EF712-A352-95DF-FA5B-99A6CCFF9A98}"/>
              </a:ext>
            </a:extLst>
          </p:cNvPr>
          <p:cNvSpPr>
            <a:spLocks noGrp="1"/>
          </p:cNvSpPr>
          <p:nvPr>
            <p:ph type="title"/>
          </p:nvPr>
        </p:nvSpPr>
        <p:spPr>
          <a:xfrm>
            <a:off x="412750" y="152400"/>
            <a:ext cx="7740650" cy="504825"/>
          </a:xfrm>
        </p:spPr>
        <p:txBody>
          <a:bodyPr/>
          <a:lstStyle/>
          <a:p>
            <a:pPr algn="ctr">
              <a:defRPr/>
            </a:pPr>
            <a:r>
              <a:rPr lang="en-US" dirty="0"/>
              <a:t>Manipulating Tables Using SQL</a:t>
            </a:r>
            <a:endParaRPr lang="en-MY" dirty="0"/>
          </a:p>
        </p:txBody>
      </p:sp>
      <p:sp>
        <p:nvSpPr>
          <p:cNvPr id="10" name="Content Placeholder 5">
            <a:extLst>
              <a:ext uri="{FF2B5EF4-FFF2-40B4-BE49-F238E27FC236}">
                <a16:creationId xmlns:a16="http://schemas.microsoft.com/office/drawing/2014/main" id="{5C2B4E07-D86B-3774-085C-AF99C59AC043}"/>
              </a:ext>
            </a:extLst>
          </p:cNvPr>
          <p:cNvSpPr txBox="1">
            <a:spLocks/>
          </p:cNvSpPr>
          <p:nvPr/>
        </p:nvSpPr>
        <p:spPr bwMode="auto">
          <a:xfrm>
            <a:off x="227013" y="1857375"/>
            <a:ext cx="7926387"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rgbClr val="FF6600"/>
              </a:buClr>
              <a:buFont typeface="Wingdings 3" panose="05040102010807070707" pitchFamily="18" charset="2"/>
              <a:buNone/>
            </a:pPr>
            <a:r>
              <a:rPr lang="en-CA" altLang="en-US" sz="2800">
                <a:latin typeface="Calibri" panose="020F0502020204030204" pitchFamily="34" charset="0"/>
              </a:rPr>
              <a:t>To store text in a column, choose from the following data types</a:t>
            </a:r>
          </a:p>
          <a:p>
            <a:pPr algn="just" eaLnBrk="1" hangingPunct="1">
              <a:spcBef>
                <a:spcPct val="20000"/>
              </a:spcBef>
              <a:buClr>
                <a:srgbClr val="FF6600"/>
              </a:buClr>
              <a:buFont typeface="Wingdings 3" panose="05040102010807070707" pitchFamily="18" charset="2"/>
              <a:buNone/>
            </a:pPr>
            <a:endParaRPr lang="en-CA"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2800">
              <a:latin typeface="Calibri" panose="020F0502020204030204" pitchFamily="34" charset="0"/>
            </a:endParaRPr>
          </a:p>
        </p:txBody>
      </p:sp>
      <p:graphicFrame>
        <p:nvGraphicFramePr>
          <p:cNvPr id="5" name="Table 4">
            <a:extLst>
              <a:ext uri="{FF2B5EF4-FFF2-40B4-BE49-F238E27FC236}">
                <a16:creationId xmlns:a16="http://schemas.microsoft.com/office/drawing/2014/main" id="{FC82FAB4-05EF-2440-56C5-76AF01C20F0E}"/>
              </a:ext>
            </a:extLst>
          </p:cNvPr>
          <p:cNvGraphicFramePr>
            <a:graphicFrameLocks noGrp="1"/>
          </p:cNvGraphicFramePr>
          <p:nvPr/>
        </p:nvGraphicFramePr>
        <p:xfrm>
          <a:off x="276225" y="2854325"/>
          <a:ext cx="7877176" cy="2747996"/>
        </p:xfrm>
        <a:graphic>
          <a:graphicData uri="http://schemas.openxmlformats.org/drawingml/2006/table">
            <a:tbl>
              <a:tblPr firstRow="1" bandRow="1">
                <a:tableStyleId>{D27102A9-8310-4765-A935-A1911B00CA55}</a:tableStyleId>
              </a:tblPr>
              <a:tblGrid>
                <a:gridCol w="1562163">
                  <a:extLst>
                    <a:ext uri="{9D8B030D-6E8A-4147-A177-3AD203B41FA5}">
                      <a16:colId xmlns:a16="http://schemas.microsoft.com/office/drawing/2014/main" val="20000"/>
                    </a:ext>
                  </a:extLst>
                </a:gridCol>
                <a:gridCol w="3300590">
                  <a:extLst>
                    <a:ext uri="{9D8B030D-6E8A-4147-A177-3AD203B41FA5}">
                      <a16:colId xmlns:a16="http://schemas.microsoft.com/office/drawing/2014/main" val="20001"/>
                    </a:ext>
                  </a:extLst>
                </a:gridCol>
                <a:gridCol w="3014423">
                  <a:extLst>
                    <a:ext uri="{9D8B030D-6E8A-4147-A177-3AD203B41FA5}">
                      <a16:colId xmlns:a16="http://schemas.microsoft.com/office/drawing/2014/main" val="20002"/>
                    </a:ext>
                  </a:extLst>
                </a:gridCol>
              </a:tblGrid>
              <a:tr h="370648">
                <a:tc>
                  <a:txBody>
                    <a:bodyPr/>
                    <a:lstStyle/>
                    <a:p>
                      <a:pPr algn="ctr"/>
                      <a:r>
                        <a:rPr lang="en-CA" sz="1800" dirty="0"/>
                        <a:t>Data Type</a:t>
                      </a:r>
                    </a:p>
                  </a:txBody>
                  <a:tcPr marL="91433" marR="91433" marT="45697" marB="45697"/>
                </a:tc>
                <a:tc>
                  <a:txBody>
                    <a:bodyPr/>
                    <a:lstStyle/>
                    <a:p>
                      <a:pPr algn="ctr"/>
                      <a:r>
                        <a:rPr lang="en-CA" sz="1800" dirty="0"/>
                        <a:t>Meaning</a:t>
                      </a:r>
                    </a:p>
                  </a:txBody>
                  <a:tcPr marL="91433" marR="91433" marT="45697" marB="45697"/>
                </a:tc>
                <a:tc>
                  <a:txBody>
                    <a:bodyPr/>
                    <a:lstStyle/>
                    <a:p>
                      <a:pPr algn="ctr"/>
                      <a:r>
                        <a:rPr lang="en-CA" sz="1800" dirty="0"/>
                        <a:t>Example</a:t>
                      </a:r>
                    </a:p>
                  </a:txBody>
                  <a:tcPr marL="91433" marR="91433" marT="45697" marB="45697"/>
                </a:tc>
                <a:extLst>
                  <a:ext uri="{0D108BD9-81ED-4DB2-BD59-A6C34878D82A}">
                    <a16:rowId xmlns:a16="http://schemas.microsoft.com/office/drawing/2014/main" val="10000"/>
                  </a:ext>
                </a:extLst>
              </a:tr>
              <a:tr h="1188657">
                <a:tc>
                  <a:txBody>
                    <a:bodyPr/>
                    <a:lstStyle/>
                    <a:p>
                      <a:pPr algn="ctr"/>
                      <a:r>
                        <a:rPr lang="en-CA" sz="1800" dirty="0"/>
                        <a:t>CHAR(n)</a:t>
                      </a:r>
                    </a:p>
                  </a:txBody>
                  <a:tcPr marL="91433" marR="91433" marT="45697" marB="45697"/>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CA" sz="1800" dirty="0"/>
                        <a:t>If all the data have the same number of characters, use CHAR(n)</a:t>
                      </a:r>
                    </a:p>
                  </a:txBody>
                  <a:tcPr marL="91433" marR="91433" marT="45697" marB="45697"/>
                </a:tc>
                <a:tc>
                  <a:txBody>
                    <a:bodyPr/>
                    <a:lstStyle/>
                    <a:p>
                      <a:r>
                        <a:rPr lang="en-CA" sz="1800" baseline="0" dirty="0"/>
                        <a:t>E.g. Gender CHAR(1)</a:t>
                      </a:r>
                    </a:p>
                    <a:p>
                      <a:endParaRPr lang="en-CA" sz="1800" baseline="0" dirty="0"/>
                    </a:p>
                    <a:p>
                      <a:r>
                        <a:rPr lang="en-CA" sz="1800" baseline="0" dirty="0"/>
                        <a:t>The data is either 'M' or 'F', both are 1 character</a:t>
                      </a:r>
                      <a:endParaRPr lang="en-CA" sz="1800" dirty="0"/>
                    </a:p>
                  </a:txBody>
                  <a:tcPr marL="91433" marR="91433" marT="45697" marB="45697"/>
                </a:tc>
                <a:extLst>
                  <a:ext uri="{0D108BD9-81ED-4DB2-BD59-A6C34878D82A}">
                    <a16:rowId xmlns:a16="http://schemas.microsoft.com/office/drawing/2014/main" val="10001"/>
                  </a:ext>
                </a:extLst>
              </a:tr>
              <a:tr h="1188657">
                <a:tc>
                  <a:txBody>
                    <a:bodyPr/>
                    <a:lstStyle/>
                    <a:p>
                      <a:pPr algn="ctr"/>
                      <a:r>
                        <a:rPr lang="en-CA" sz="1800" dirty="0"/>
                        <a:t>VARCHAR(n)</a:t>
                      </a:r>
                    </a:p>
                  </a:txBody>
                  <a:tcPr marL="91433" marR="91433" marT="45697" marB="45697"/>
                </a:tc>
                <a:tc>
                  <a:txBody>
                    <a:bodyPr/>
                    <a:lstStyle/>
                    <a:p>
                      <a:r>
                        <a:rPr lang="en-CA" sz="1800" dirty="0"/>
                        <a:t>If all the data have different</a:t>
                      </a:r>
                      <a:r>
                        <a:rPr lang="en-CA" sz="1800" baseline="0" dirty="0"/>
                        <a:t> number of characters, use VARCHAR(n)</a:t>
                      </a:r>
                      <a:endParaRPr lang="en-CA" sz="1800" b="1" dirty="0"/>
                    </a:p>
                  </a:txBody>
                  <a:tcPr marL="91433" marR="91433" marT="45697" marB="45697"/>
                </a:tc>
                <a:tc>
                  <a:txBody>
                    <a:bodyPr/>
                    <a:lstStyle/>
                    <a:p>
                      <a:r>
                        <a:rPr lang="en-CA" sz="1800" baseline="0" dirty="0"/>
                        <a:t>E.g. </a:t>
                      </a:r>
                      <a:r>
                        <a:rPr lang="en-CA" sz="1800" baseline="0" dirty="0" err="1"/>
                        <a:t>LastName</a:t>
                      </a:r>
                      <a:r>
                        <a:rPr lang="en-CA" sz="1800" baseline="0" dirty="0"/>
                        <a:t> VARCHAR(20)</a:t>
                      </a:r>
                    </a:p>
                    <a:p>
                      <a:endParaRPr lang="en-CA" sz="1800" baseline="0" dirty="0"/>
                    </a:p>
                    <a:p>
                      <a:r>
                        <a:rPr lang="en-CA" sz="1800" baseline="0" dirty="0"/>
                        <a:t>The data cannot have more than 20 characters</a:t>
                      </a:r>
                      <a:endParaRPr lang="en-CA" sz="1800" dirty="0"/>
                    </a:p>
                  </a:txBody>
                  <a:tcPr marL="91433" marR="91433" marT="45697" marB="45697"/>
                </a:tc>
                <a:extLst>
                  <a:ext uri="{0D108BD9-81ED-4DB2-BD59-A6C34878D82A}">
                    <a16:rowId xmlns:a16="http://schemas.microsoft.com/office/drawing/2014/main" val="10002"/>
                  </a:ext>
                </a:extLst>
              </a:tr>
            </a:tbl>
          </a:graphicData>
        </a:graphic>
      </p:graphicFrame>
      <p:sp>
        <p:nvSpPr>
          <p:cNvPr id="6" name="Snip Single Corner Rectangle 5">
            <a:extLst>
              <a:ext uri="{FF2B5EF4-FFF2-40B4-BE49-F238E27FC236}">
                <a16:creationId xmlns:a16="http://schemas.microsoft.com/office/drawing/2014/main" id="{985465A4-602D-BB35-51BE-EE1BD885E402}"/>
              </a:ext>
            </a:extLst>
          </p:cNvPr>
          <p:cNvSpPr/>
          <p:nvPr/>
        </p:nvSpPr>
        <p:spPr>
          <a:xfrm>
            <a:off x="100013" y="1350963"/>
            <a:ext cx="1728787" cy="401637"/>
          </a:xfrm>
          <a:prstGeom prst="snip1Rect">
            <a:avLst/>
          </a:prstGeom>
          <a:solidFill>
            <a:schemeClr val="accent1">
              <a:alpha val="70000"/>
            </a:schemeClr>
          </a:solidFill>
          <a:ln>
            <a:solidFill>
              <a:schemeClr val="accent1"/>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indent="-342900" algn="just" eaLnBrk="1" hangingPunct="1">
              <a:spcBef>
                <a:spcPct val="20000"/>
              </a:spcBef>
              <a:buClr>
                <a:srgbClr val="FF6600"/>
              </a:buClr>
              <a:buSzPct val="100000"/>
              <a:defRPr/>
            </a:pPr>
            <a:r>
              <a:rPr lang="en-US" dirty="0">
                <a:latin typeface="Arial" pitchFamily="34" charset="0"/>
                <a:ea typeface="Times New Roman" pitchFamily="18" charset="0"/>
                <a:cs typeface="Arial" pitchFamily="34" charset="0"/>
              </a:rPr>
              <a:t>Create a table</a:t>
            </a:r>
            <a:endParaRPr lang="en-GB" kern="0" dirty="0">
              <a:solidFill>
                <a:schemeClr val="tx1"/>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wipe(left)">
                                      <p:cBhvr>
                                        <p:cTn id="7" dur="500"/>
                                        <p:tgtEl>
                                          <p:spTgt spid="10">
                                            <p:txEl>
                                              <p:pRg st="0" end="0"/>
                                            </p:txEl>
                                          </p:spTgt>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up)">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13131C-C926-3B9C-9C1E-CF35B142C706}"/>
              </a:ext>
            </a:extLst>
          </p:cNvPr>
          <p:cNvSpPr>
            <a:spLocks noGrp="1"/>
          </p:cNvSpPr>
          <p:nvPr>
            <p:ph type="title"/>
          </p:nvPr>
        </p:nvSpPr>
        <p:spPr>
          <a:xfrm>
            <a:off x="457200" y="0"/>
            <a:ext cx="7620000" cy="1143000"/>
          </a:xfrm>
        </p:spPr>
        <p:txBody>
          <a:bodyPr/>
          <a:lstStyle/>
          <a:p>
            <a:pPr algn="ctr">
              <a:defRPr/>
            </a:pPr>
            <a:r>
              <a:rPr lang="en-US" dirty="0"/>
              <a:t>Manipulating Tables Using SQL</a:t>
            </a:r>
            <a:endParaRPr lang="en-MY" dirty="0"/>
          </a:p>
        </p:txBody>
      </p:sp>
      <p:sp>
        <p:nvSpPr>
          <p:cNvPr id="32771" name="Content Placeholder 5">
            <a:extLst>
              <a:ext uri="{FF2B5EF4-FFF2-40B4-BE49-F238E27FC236}">
                <a16:creationId xmlns:a16="http://schemas.microsoft.com/office/drawing/2014/main" id="{5BC3A90C-130E-81D2-20DB-3FDF1F3BBFC6}"/>
              </a:ext>
            </a:extLst>
          </p:cNvPr>
          <p:cNvSpPr txBox="1">
            <a:spLocks/>
          </p:cNvSpPr>
          <p:nvPr/>
        </p:nvSpPr>
        <p:spPr bwMode="auto">
          <a:xfrm>
            <a:off x="227013" y="1857375"/>
            <a:ext cx="8002587"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rgbClr val="FF6600"/>
              </a:buClr>
              <a:buFont typeface="Wingdings 3" panose="05040102010807070707" pitchFamily="18" charset="2"/>
              <a:buNone/>
            </a:pPr>
            <a:r>
              <a:rPr lang="en-CA" altLang="en-US" sz="2800">
                <a:latin typeface="Calibri" panose="020F0502020204030204" pitchFamily="34" charset="0"/>
              </a:rPr>
              <a:t>To store text in a column, choose from the following data types</a:t>
            </a:r>
          </a:p>
          <a:p>
            <a:pPr algn="just" eaLnBrk="1" hangingPunct="1">
              <a:spcBef>
                <a:spcPct val="20000"/>
              </a:spcBef>
              <a:buClr>
                <a:srgbClr val="FF6600"/>
              </a:buClr>
              <a:buFont typeface="Wingdings 3" panose="05040102010807070707" pitchFamily="18" charset="2"/>
              <a:buNone/>
            </a:pPr>
            <a:endParaRPr lang="en-CA"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2800">
              <a:latin typeface="Calibri" panose="020F0502020204030204" pitchFamily="34" charset="0"/>
            </a:endParaRPr>
          </a:p>
        </p:txBody>
      </p:sp>
      <p:graphicFrame>
        <p:nvGraphicFramePr>
          <p:cNvPr id="5" name="Table 4">
            <a:extLst>
              <a:ext uri="{FF2B5EF4-FFF2-40B4-BE49-F238E27FC236}">
                <a16:creationId xmlns:a16="http://schemas.microsoft.com/office/drawing/2014/main" id="{DD1EC4DD-8872-03BE-5069-8B0966686D8E}"/>
              </a:ext>
            </a:extLst>
          </p:cNvPr>
          <p:cNvGraphicFramePr>
            <a:graphicFrameLocks noGrp="1"/>
          </p:cNvGraphicFramePr>
          <p:nvPr/>
        </p:nvGraphicFramePr>
        <p:xfrm>
          <a:off x="276225" y="2854325"/>
          <a:ext cx="7953375" cy="2382838"/>
        </p:xfrm>
        <a:graphic>
          <a:graphicData uri="http://schemas.openxmlformats.org/drawingml/2006/table">
            <a:tbl>
              <a:tblPr firstRow="1" bandRow="1">
                <a:tableStyleId>{D27102A9-8310-4765-A935-A1911B00CA55}</a:tableStyleId>
              </a:tblPr>
              <a:tblGrid>
                <a:gridCol w="1910527">
                  <a:extLst>
                    <a:ext uri="{9D8B030D-6E8A-4147-A177-3AD203B41FA5}">
                      <a16:colId xmlns:a16="http://schemas.microsoft.com/office/drawing/2014/main" val="20000"/>
                    </a:ext>
                  </a:extLst>
                </a:gridCol>
                <a:gridCol w="2532714">
                  <a:extLst>
                    <a:ext uri="{9D8B030D-6E8A-4147-A177-3AD203B41FA5}">
                      <a16:colId xmlns:a16="http://schemas.microsoft.com/office/drawing/2014/main" val="20001"/>
                    </a:ext>
                  </a:extLst>
                </a:gridCol>
                <a:gridCol w="3510134">
                  <a:extLst>
                    <a:ext uri="{9D8B030D-6E8A-4147-A177-3AD203B41FA5}">
                      <a16:colId xmlns:a16="http://schemas.microsoft.com/office/drawing/2014/main" val="20002"/>
                    </a:ext>
                  </a:extLst>
                </a:gridCol>
              </a:tblGrid>
              <a:tr h="370889">
                <a:tc>
                  <a:txBody>
                    <a:bodyPr/>
                    <a:lstStyle/>
                    <a:p>
                      <a:pPr algn="ctr"/>
                      <a:r>
                        <a:rPr lang="en-CA" sz="1800" dirty="0"/>
                        <a:t>Data Type</a:t>
                      </a:r>
                    </a:p>
                  </a:txBody>
                  <a:tcPr marL="91433" marR="91433" marT="45726" marB="45726"/>
                </a:tc>
                <a:tc>
                  <a:txBody>
                    <a:bodyPr/>
                    <a:lstStyle/>
                    <a:p>
                      <a:pPr algn="ctr"/>
                      <a:r>
                        <a:rPr lang="en-CA" sz="1800" dirty="0"/>
                        <a:t>Meaning</a:t>
                      </a:r>
                    </a:p>
                  </a:txBody>
                  <a:tcPr marL="91433" marR="91433" marT="45726" marB="45726"/>
                </a:tc>
                <a:tc>
                  <a:txBody>
                    <a:bodyPr/>
                    <a:lstStyle/>
                    <a:p>
                      <a:pPr algn="ctr"/>
                      <a:r>
                        <a:rPr lang="en-CA" sz="1800" dirty="0"/>
                        <a:t>Example</a:t>
                      </a:r>
                    </a:p>
                  </a:txBody>
                  <a:tcPr marL="91433" marR="91433" marT="45726" marB="45726"/>
                </a:tc>
                <a:extLst>
                  <a:ext uri="{0D108BD9-81ED-4DB2-BD59-A6C34878D82A}">
                    <a16:rowId xmlns:a16="http://schemas.microsoft.com/office/drawing/2014/main" val="10000"/>
                  </a:ext>
                </a:extLst>
              </a:tr>
              <a:tr h="2011949">
                <a:tc>
                  <a:txBody>
                    <a:bodyPr/>
                    <a:lstStyle/>
                    <a:p>
                      <a:pPr algn="ctr"/>
                      <a:r>
                        <a:rPr lang="en-CA" sz="1800" dirty="0"/>
                        <a:t>ENUM(valid_text1,</a:t>
                      </a:r>
                      <a:r>
                        <a:rPr lang="en-CA" sz="1800" baseline="0" dirty="0"/>
                        <a:t> valid_text2…)</a:t>
                      </a:r>
                      <a:endParaRPr lang="en-CA" sz="1800" dirty="0"/>
                    </a:p>
                  </a:txBody>
                  <a:tcPr marL="91433" marR="91433" marT="45726" marB="45726"/>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CA" sz="1800" dirty="0"/>
                        <a:t>Provide</a:t>
                      </a:r>
                      <a:r>
                        <a:rPr lang="en-CA" sz="1800" baseline="0" dirty="0"/>
                        <a:t> a list of allowed text for a column. Any text not listed will result in error</a:t>
                      </a:r>
                      <a:endParaRPr lang="en-CA" sz="1800" dirty="0"/>
                    </a:p>
                  </a:txBody>
                  <a:tcPr marL="91433" marR="91433" marT="45726" marB="45726"/>
                </a:tc>
                <a:tc>
                  <a:txBody>
                    <a:bodyPr/>
                    <a:lstStyle/>
                    <a:p>
                      <a:r>
                        <a:rPr lang="en-CA" sz="1800" baseline="0" dirty="0"/>
                        <a:t>E.g. </a:t>
                      </a:r>
                      <a:r>
                        <a:rPr lang="en-CA" sz="1800" baseline="0" dirty="0" err="1"/>
                        <a:t>DepartmentName</a:t>
                      </a:r>
                      <a:r>
                        <a:rPr lang="en-CA" sz="1800" baseline="0" dirty="0"/>
                        <a:t> ENUM('Information Technology', 'Business', 'Engineering')</a:t>
                      </a:r>
                    </a:p>
                    <a:p>
                      <a:endParaRPr lang="en-CA" sz="1800" baseline="0" dirty="0"/>
                    </a:p>
                    <a:p>
                      <a:r>
                        <a:rPr lang="en-CA" sz="1800" baseline="0" dirty="0"/>
                        <a:t>Only three valid pieces of text is allowed: Information Technology, Business and Engineering</a:t>
                      </a:r>
                      <a:endParaRPr lang="en-CA" sz="1800" dirty="0"/>
                    </a:p>
                  </a:txBody>
                  <a:tcPr marL="91433" marR="91433" marT="45726" marB="45726"/>
                </a:tc>
                <a:extLst>
                  <a:ext uri="{0D108BD9-81ED-4DB2-BD59-A6C34878D82A}">
                    <a16:rowId xmlns:a16="http://schemas.microsoft.com/office/drawing/2014/main" val="10001"/>
                  </a:ext>
                </a:extLst>
              </a:tr>
            </a:tbl>
          </a:graphicData>
        </a:graphic>
      </p:graphicFrame>
      <p:sp>
        <p:nvSpPr>
          <p:cNvPr id="6" name="Snip Single Corner Rectangle 5">
            <a:extLst>
              <a:ext uri="{FF2B5EF4-FFF2-40B4-BE49-F238E27FC236}">
                <a16:creationId xmlns:a16="http://schemas.microsoft.com/office/drawing/2014/main" id="{B2C4562A-F008-8F66-E5C2-C42C549E4564}"/>
              </a:ext>
            </a:extLst>
          </p:cNvPr>
          <p:cNvSpPr/>
          <p:nvPr/>
        </p:nvSpPr>
        <p:spPr>
          <a:xfrm>
            <a:off x="100013" y="1427163"/>
            <a:ext cx="1728787" cy="401637"/>
          </a:xfrm>
          <a:prstGeom prst="snip1Rect">
            <a:avLst/>
          </a:prstGeom>
          <a:solidFill>
            <a:schemeClr val="accent1">
              <a:alpha val="70000"/>
            </a:schemeClr>
          </a:solidFill>
          <a:ln>
            <a:solidFill>
              <a:schemeClr val="accent1"/>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indent="-342900" algn="just" eaLnBrk="1" hangingPunct="1">
              <a:spcBef>
                <a:spcPct val="20000"/>
              </a:spcBef>
              <a:buClr>
                <a:srgbClr val="FF6600"/>
              </a:buClr>
              <a:buSzPct val="100000"/>
              <a:defRPr/>
            </a:pPr>
            <a:r>
              <a:rPr lang="en-US" dirty="0">
                <a:latin typeface="Arial" pitchFamily="34" charset="0"/>
                <a:ea typeface="Times New Roman" pitchFamily="18" charset="0"/>
                <a:cs typeface="Arial" pitchFamily="34" charset="0"/>
              </a:rPr>
              <a:t>Create a table</a:t>
            </a:r>
            <a:endParaRPr lang="en-GB" kern="0" dirty="0">
              <a:solidFill>
                <a:schemeClr val="tx1"/>
              </a:solidFill>
            </a:endParaRPr>
          </a:p>
        </p:txBody>
      </p:sp>
      <p:grpSp>
        <p:nvGrpSpPr>
          <p:cNvPr id="3" name="Group 16">
            <a:extLst>
              <a:ext uri="{FF2B5EF4-FFF2-40B4-BE49-F238E27FC236}">
                <a16:creationId xmlns:a16="http://schemas.microsoft.com/office/drawing/2014/main" id="{94EFFE61-01DE-0268-FE30-58D824F3296C}"/>
              </a:ext>
            </a:extLst>
          </p:cNvPr>
          <p:cNvGrpSpPr>
            <a:grpSpLocks/>
          </p:cNvGrpSpPr>
          <p:nvPr/>
        </p:nvGrpSpPr>
        <p:grpSpPr bwMode="auto">
          <a:xfrm>
            <a:off x="1979613" y="4005263"/>
            <a:ext cx="3240087" cy="2119312"/>
            <a:chOff x="3563888" y="-46649"/>
            <a:chExt cx="3240360" cy="2118801"/>
          </a:xfrm>
        </p:grpSpPr>
        <p:sp>
          <p:nvSpPr>
            <p:cNvPr id="18" name="Rectangle 17">
              <a:extLst>
                <a:ext uri="{FF2B5EF4-FFF2-40B4-BE49-F238E27FC236}">
                  <a16:creationId xmlns:a16="http://schemas.microsoft.com/office/drawing/2014/main" id="{F1C3AD19-4E14-317D-D4B2-D9E4CDC4D6FC}"/>
                </a:ext>
              </a:extLst>
            </p:cNvPr>
            <p:cNvSpPr/>
            <p:nvPr/>
          </p:nvSpPr>
          <p:spPr bwMode="auto">
            <a:xfrm>
              <a:off x="3563888" y="1465873"/>
              <a:ext cx="3240360" cy="606279"/>
            </a:xfrm>
            <a:prstGeom prst="rect">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a:lstStyle/>
            <a:p>
              <a:pPr algn="ctr">
                <a:defRPr/>
              </a:pPr>
              <a:r>
                <a:rPr lang="en-CA" dirty="0">
                  <a:solidFill>
                    <a:schemeClr val="tx1"/>
                  </a:solidFill>
                  <a:latin typeface="Arial" charset="0"/>
                </a:rPr>
                <a:t>Every allowed text needs to be enclosed in quotes (</a:t>
              </a:r>
              <a:r>
                <a:rPr lang="en-CA" dirty="0"/>
                <a:t>'')</a:t>
              </a:r>
              <a:endParaRPr lang="en-CA" dirty="0">
                <a:solidFill>
                  <a:schemeClr val="tx1"/>
                </a:solidFill>
                <a:latin typeface="Arial" charset="0"/>
              </a:endParaRPr>
            </a:p>
          </p:txBody>
        </p:sp>
        <p:cxnSp>
          <p:nvCxnSpPr>
            <p:cNvPr id="19" name="Straight Arrow Connector 18">
              <a:extLst>
                <a:ext uri="{FF2B5EF4-FFF2-40B4-BE49-F238E27FC236}">
                  <a16:creationId xmlns:a16="http://schemas.microsoft.com/office/drawing/2014/main" id="{0CCB1431-6D60-246F-0EDB-3ECDC67D5FC5}"/>
                </a:ext>
              </a:extLst>
            </p:cNvPr>
            <p:cNvCxnSpPr>
              <a:stCxn id="18" idx="0"/>
            </p:cNvCxnSpPr>
            <p:nvPr/>
          </p:nvCxnSpPr>
          <p:spPr bwMode="auto">
            <a:xfrm flipV="1">
              <a:off x="5184862" y="-46649"/>
              <a:ext cx="1474912" cy="1512522"/>
            </a:xfrm>
            <a:prstGeom prst="straightConnector1">
              <a:avLst/>
            </a:prstGeom>
            <a:ln>
              <a:headEnd type="none" w="med" len="med"/>
              <a:tailEnd type="triangle"/>
            </a:ln>
          </p:spPr>
          <p:style>
            <a:lnRef idx="1">
              <a:schemeClr val="accent6"/>
            </a:lnRef>
            <a:fillRef idx="2">
              <a:schemeClr val="accent6"/>
            </a:fillRef>
            <a:effectRef idx="1">
              <a:schemeClr val="accent6"/>
            </a:effectRef>
            <a:fontRef idx="minor">
              <a:schemeClr val="dk1"/>
            </a:fontRef>
          </p:style>
        </p:cxnSp>
      </p:gr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0-#ppt_w/2"/>
                                          </p:val>
                                        </p:tav>
                                        <p:tav tm="100000">
                                          <p:val>
                                            <p:strVal val="#ppt_x"/>
                                          </p:val>
                                        </p:tav>
                                      </p:tavLst>
                                    </p:anim>
                                    <p:anim calcmode="lin" valueType="num">
                                      <p:cBhvr additive="base">
                                        <p:cTn id="13"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5561B-80E6-564E-4FDF-351DA75AB445}"/>
              </a:ext>
            </a:extLst>
          </p:cNvPr>
          <p:cNvSpPr>
            <a:spLocks noGrp="1"/>
          </p:cNvSpPr>
          <p:nvPr>
            <p:ph type="title"/>
          </p:nvPr>
        </p:nvSpPr>
        <p:spPr>
          <a:xfrm>
            <a:off x="457200" y="0"/>
            <a:ext cx="7620000" cy="1143000"/>
          </a:xfrm>
        </p:spPr>
        <p:txBody>
          <a:bodyPr/>
          <a:lstStyle/>
          <a:p>
            <a:pPr algn="ctr">
              <a:defRPr/>
            </a:pPr>
            <a:r>
              <a:rPr lang="en-US" dirty="0"/>
              <a:t>Manipulating Tables Using SQL</a:t>
            </a:r>
            <a:endParaRPr lang="en-MY" dirty="0"/>
          </a:p>
        </p:txBody>
      </p:sp>
      <p:sp>
        <p:nvSpPr>
          <p:cNvPr id="10" name="Content Placeholder 5">
            <a:extLst>
              <a:ext uri="{FF2B5EF4-FFF2-40B4-BE49-F238E27FC236}">
                <a16:creationId xmlns:a16="http://schemas.microsoft.com/office/drawing/2014/main" id="{DB62C51F-6AFF-2644-6143-FEB1E94DDA3B}"/>
              </a:ext>
            </a:extLst>
          </p:cNvPr>
          <p:cNvSpPr txBox="1">
            <a:spLocks/>
          </p:cNvSpPr>
          <p:nvPr/>
        </p:nvSpPr>
        <p:spPr bwMode="auto">
          <a:xfrm>
            <a:off x="227013" y="1857375"/>
            <a:ext cx="8002587"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rgbClr val="FF6600"/>
              </a:buClr>
              <a:buFont typeface="Wingdings 3" panose="05040102010807070707" pitchFamily="18" charset="2"/>
              <a:buNone/>
            </a:pPr>
            <a:r>
              <a:rPr lang="en-CA" altLang="en-US" sz="2800">
                <a:latin typeface="Calibri" panose="020F0502020204030204" pitchFamily="34" charset="0"/>
              </a:rPr>
              <a:t>To store numbers in a column, choose from the following data types</a:t>
            </a:r>
          </a:p>
          <a:p>
            <a:pPr algn="just" eaLnBrk="1" hangingPunct="1">
              <a:spcBef>
                <a:spcPct val="20000"/>
              </a:spcBef>
              <a:buClr>
                <a:srgbClr val="FF6600"/>
              </a:buClr>
              <a:buFont typeface="Wingdings 3" panose="05040102010807070707" pitchFamily="18" charset="2"/>
              <a:buNone/>
            </a:pPr>
            <a:endParaRPr lang="en-CA"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2800">
              <a:latin typeface="Calibri" panose="020F0502020204030204" pitchFamily="34" charset="0"/>
            </a:endParaRPr>
          </a:p>
        </p:txBody>
      </p:sp>
      <p:graphicFrame>
        <p:nvGraphicFramePr>
          <p:cNvPr id="5" name="Table 4">
            <a:extLst>
              <a:ext uri="{FF2B5EF4-FFF2-40B4-BE49-F238E27FC236}">
                <a16:creationId xmlns:a16="http://schemas.microsoft.com/office/drawing/2014/main" id="{BE1EA83B-18C8-06ED-AF3A-37DD3C270AE3}"/>
              </a:ext>
            </a:extLst>
          </p:cNvPr>
          <p:cNvGraphicFramePr>
            <a:graphicFrameLocks noGrp="1"/>
          </p:cNvGraphicFramePr>
          <p:nvPr/>
        </p:nvGraphicFramePr>
        <p:xfrm>
          <a:off x="276225" y="2852738"/>
          <a:ext cx="7953375" cy="2687637"/>
        </p:xfrm>
        <a:graphic>
          <a:graphicData uri="http://schemas.openxmlformats.org/drawingml/2006/table">
            <a:tbl>
              <a:tblPr firstRow="1" bandRow="1">
                <a:tableStyleId>{C083E6E3-FA7D-4D7B-A595-EF9225AFEA82}</a:tableStyleId>
              </a:tblPr>
              <a:tblGrid>
                <a:gridCol w="1710575">
                  <a:extLst>
                    <a:ext uri="{9D8B030D-6E8A-4147-A177-3AD203B41FA5}">
                      <a16:colId xmlns:a16="http://schemas.microsoft.com/office/drawing/2014/main" val="20000"/>
                    </a:ext>
                  </a:extLst>
                </a:gridCol>
                <a:gridCol w="3199217">
                  <a:extLst>
                    <a:ext uri="{9D8B030D-6E8A-4147-A177-3AD203B41FA5}">
                      <a16:colId xmlns:a16="http://schemas.microsoft.com/office/drawing/2014/main" val="20001"/>
                    </a:ext>
                  </a:extLst>
                </a:gridCol>
                <a:gridCol w="3043583">
                  <a:extLst>
                    <a:ext uri="{9D8B030D-6E8A-4147-A177-3AD203B41FA5}">
                      <a16:colId xmlns:a16="http://schemas.microsoft.com/office/drawing/2014/main" val="20002"/>
                    </a:ext>
                  </a:extLst>
                </a:gridCol>
              </a:tblGrid>
              <a:tr h="370884">
                <a:tc>
                  <a:txBody>
                    <a:bodyPr/>
                    <a:lstStyle/>
                    <a:p>
                      <a:pPr algn="ctr"/>
                      <a:r>
                        <a:rPr lang="en-CA" sz="1800" dirty="0"/>
                        <a:t>Data Type</a:t>
                      </a:r>
                    </a:p>
                  </a:txBody>
                  <a:tcPr marL="91433" marR="91433" marT="45725" marB="45725"/>
                </a:tc>
                <a:tc>
                  <a:txBody>
                    <a:bodyPr/>
                    <a:lstStyle/>
                    <a:p>
                      <a:pPr algn="ctr"/>
                      <a:r>
                        <a:rPr lang="en-CA" sz="1800" dirty="0"/>
                        <a:t>Meaning</a:t>
                      </a:r>
                    </a:p>
                  </a:txBody>
                  <a:tcPr marL="91433" marR="91433" marT="45725" marB="45725"/>
                </a:tc>
                <a:tc>
                  <a:txBody>
                    <a:bodyPr/>
                    <a:lstStyle/>
                    <a:p>
                      <a:pPr algn="ctr"/>
                      <a:r>
                        <a:rPr lang="en-CA" sz="1800" dirty="0"/>
                        <a:t>Example</a:t>
                      </a:r>
                    </a:p>
                  </a:txBody>
                  <a:tcPr marL="91433" marR="91433" marT="45725" marB="45725"/>
                </a:tc>
                <a:extLst>
                  <a:ext uri="{0D108BD9-81ED-4DB2-BD59-A6C34878D82A}">
                    <a16:rowId xmlns:a16="http://schemas.microsoft.com/office/drawing/2014/main" val="10000"/>
                  </a:ext>
                </a:extLst>
              </a:tr>
              <a:tr h="1188860">
                <a:tc>
                  <a:txBody>
                    <a:bodyPr/>
                    <a:lstStyle/>
                    <a:p>
                      <a:pPr algn="ctr"/>
                      <a:r>
                        <a:rPr lang="en-CA" sz="1800" dirty="0"/>
                        <a:t>INT</a:t>
                      </a:r>
                    </a:p>
                  </a:txBody>
                  <a:tcPr marL="91433" marR="91433" marT="45725" marB="45725"/>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CA" sz="1800" dirty="0"/>
                        <a:t>Column can store any integer from that is between </a:t>
                      </a:r>
                    </a:p>
                    <a:p>
                      <a:pPr marL="0" marR="0" indent="0" algn="l" defTabSz="914400" rtl="0" eaLnBrk="1" fontAlgn="auto" latinLnBrk="0" hangingPunct="1">
                        <a:lnSpc>
                          <a:spcPct val="100000"/>
                        </a:lnSpc>
                        <a:spcBef>
                          <a:spcPts val="0"/>
                        </a:spcBef>
                        <a:spcAft>
                          <a:spcPts val="0"/>
                        </a:spcAft>
                        <a:buClrTx/>
                        <a:buSzTx/>
                        <a:buFontTx/>
                        <a:buNone/>
                        <a:tabLst/>
                        <a:defRPr/>
                      </a:pPr>
                      <a:r>
                        <a:rPr lang="en-CA" sz="1800" kern="1200" dirty="0">
                          <a:effectLst/>
                        </a:rPr>
                        <a:t>-2147483648 to 2147483648</a:t>
                      </a:r>
                    </a:p>
                    <a:p>
                      <a:pPr marL="0" marR="0" indent="0" algn="l" defTabSz="914400" rtl="0" eaLnBrk="1" fontAlgn="auto" latinLnBrk="0" hangingPunct="1">
                        <a:lnSpc>
                          <a:spcPct val="100000"/>
                        </a:lnSpc>
                        <a:spcBef>
                          <a:spcPts val="0"/>
                        </a:spcBef>
                        <a:spcAft>
                          <a:spcPts val="0"/>
                        </a:spcAft>
                        <a:buClrTx/>
                        <a:buSzTx/>
                        <a:buFontTx/>
                        <a:buNone/>
                        <a:tabLst/>
                        <a:defRPr/>
                      </a:pPr>
                      <a:endParaRPr lang="en-CA" sz="1800" b="0" dirty="0"/>
                    </a:p>
                  </a:txBody>
                  <a:tcPr marL="91433" marR="91433" marT="45725" marB="45725"/>
                </a:tc>
                <a:tc>
                  <a:txBody>
                    <a:bodyPr/>
                    <a:lstStyle/>
                    <a:p>
                      <a:r>
                        <a:rPr lang="en-CA" sz="1800" dirty="0"/>
                        <a:t>E.g. Quantity INT</a:t>
                      </a:r>
                    </a:p>
                  </a:txBody>
                  <a:tcPr marL="91433" marR="91433" marT="45725" marB="45725"/>
                </a:tc>
                <a:extLst>
                  <a:ext uri="{0D108BD9-81ED-4DB2-BD59-A6C34878D82A}">
                    <a16:rowId xmlns:a16="http://schemas.microsoft.com/office/drawing/2014/main" val="10001"/>
                  </a:ext>
                </a:extLst>
              </a:tr>
              <a:tr h="1127893">
                <a:tc>
                  <a:txBody>
                    <a:bodyPr/>
                    <a:lstStyle/>
                    <a:p>
                      <a:pPr algn="ctr"/>
                      <a:r>
                        <a:rPr lang="en-CA" sz="1800" dirty="0"/>
                        <a:t>DECIMAL(m, n)</a:t>
                      </a:r>
                    </a:p>
                    <a:p>
                      <a:pPr algn="ctr"/>
                      <a:endParaRPr lang="en-CA" sz="1400" dirty="0"/>
                    </a:p>
                    <a:p>
                      <a:pPr algn="ctr"/>
                      <a:endParaRPr lang="en-CA" sz="1800" dirty="0"/>
                    </a:p>
                  </a:txBody>
                  <a:tcPr marL="91433" marR="91433" marT="45725" marB="45725"/>
                </a:tc>
                <a:tc>
                  <a:txBody>
                    <a:bodyPr/>
                    <a:lstStyle/>
                    <a:p>
                      <a:r>
                        <a:rPr lang="en-CA" sz="1800" dirty="0"/>
                        <a:t>Column can store m </a:t>
                      </a:r>
                      <a:r>
                        <a:rPr lang="en-CA" sz="1800" dirty="0">
                          <a:hlinkClick r:id="rId2" action="ppaction://hlinksldjump"/>
                        </a:rPr>
                        <a:t>digits</a:t>
                      </a:r>
                      <a:r>
                        <a:rPr lang="en-CA" sz="1800" dirty="0"/>
                        <a:t> with n of the digits being</a:t>
                      </a:r>
                      <a:r>
                        <a:rPr lang="en-CA" sz="1800" baseline="0" dirty="0"/>
                        <a:t> after the decimal point (.)</a:t>
                      </a:r>
                      <a:endParaRPr lang="en-CA" sz="1800" dirty="0"/>
                    </a:p>
                  </a:txBody>
                  <a:tcPr marL="91433" marR="91433" marT="45725" marB="45725"/>
                </a:tc>
                <a:tc>
                  <a:txBody>
                    <a:bodyPr/>
                    <a:lstStyle/>
                    <a:p>
                      <a:r>
                        <a:rPr lang="en-CA" sz="1800" dirty="0"/>
                        <a:t>E.g. Salary</a:t>
                      </a:r>
                      <a:r>
                        <a:rPr lang="en-CA" sz="1800" baseline="0" dirty="0"/>
                        <a:t> DECIMAL(5, 2)</a:t>
                      </a:r>
                    </a:p>
                    <a:p>
                      <a:endParaRPr lang="en-CA" sz="1400" baseline="0" dirty="0"/>
                    </a:p>
                    <a:p>
                      <a:r>
                        <a:rPr lang="en-CA" sz="1800" baseline="0" dirty="0"/>
                        <a:t>The input data must be between -999.99 and 999.99</a:t>
                      </a:r>
                    </a:p>
                  </a:txBody>
                  <a:tcPr marL="91433" marR="91433" marT="45725" marB="45725"/>
                </a:tc>
                <a:extLst>
                  <a:ext uri="{0D108BD9-81ED-4DB2-BD59-A6C34878D82A}">
                    <a16:rowId xmlns:a16="http://schemas.microsoft.com/office/drawing/2014/main" val="10002"/>
                  </a:ext>
                </a:extLst>
              </a:tr>
            </a:tbl>
          </a:graphicData>
        </a:graphic>
      </p:graphicFrame>
      <p:sp>
        <p:nvSpPr>
          <p:cNvPr id="6" name="Snip Single Corner Rectangle 5">
            <a:extLst>
              <a:ext uri="{FF2B5EF4-FFF2-40B4-BE49-F238E27FC236}">
                <a16:creationId xmlns:a16="http://schemas.microsoft.com/office/drawing/2014/main" id="{895F9A03-3DAE-D94F-1E6D-66B0B91D93D9}"/>
              </a:ext>
            </a:extLst>
          </p:cNvPr>
          <p:cNvSpPr/>
          <p:nvPr/>
        </p:nvSpPr>
        <p:spPr>
          <a:xfrm>
            <a:off x="76200" y="1447800"/>
            <a:ext cx="1728788" cy="401638"/>
          </a:xfrm>
          <a:prstGeom prst="snip1Rect">
            <a:avLst/>
          </a:prstGeom>
          <a:solidFill>
            <a:schemeClr val="accent1">
              <a:alpha val="70000"/>
            </a:schemeClr>
          </a:solidFill>
          <a:ln>
            <a:solidFill>
              <a:schemeClr val="accent1"/>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indent="-342900" algn="just" eaLnBrk="1" hangingPunct="1">
              <a:spcBef>
                <a:spcPct val="20000"/>
              </a:spcBef>
              <a:buClr>
                <a:srgbClr val="FF6600"/>
              </a:buClr>
              <a:buSzPct val="100000"/>
              <a:defRPr/>
            </a:pPr>
            <a:r>
              <a:rPr lang="en-US" dirty="0">
                <a:latin typeface="Arial" pitchFamily="34" charset="0"/>
                <a:ea typeface="Times New Roman" pitchFamily="18" charset="0"/>
                <a:cs typeface="Arial" pitchFamily="34" charset="0"/>
              </a:rPr>
              <a:t>Create a table</a:t>
            </a:r>
            <a:endParaRPr lang="en-GB" kern="0" dirty="0">
              <a:solidFill>
                <a:schemeClr val="tx1"/>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up)">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C11F91-7876-FB0C-6BF6-862D18302372}"/>
              </a:ext>
            </a:extLst>
          </p:cNvPr>
          <p:cNvSpPr>
            <a:spLocks noGrp="1"/>
          </p:cNvSpPr>
          <p:nvPr>
            <p:ph type="title"/>
          </p:nvPr>
        </p:nvSpPr>
        <p:spPr>
          <a:xfrm>
            <a:off x="457200" y="0"/>
            <a:ext cx="7620000" cy="1143000"/>
          </a:xfrm>
        </p:spPr>
        <p:txBody>
          <a:bodyPr/>
          <a:lstStyle/>
          <a:p>
            <a:pPr algn="ctr">
              <a:defRPr/>
            </a:pPr>
            <a:r>
              <a:rPr lang="en-US" dirty="0"/>
              <a:t>Manipulating Tables Using SQL</a:t>
            </a:r>
            <a:endParaRPr lang="en-MY" dirty="0"/>
          </a:p>
        </p:txBody>
      </p:sp>
      <p:sp>
        <p:nvSpPr>
          <p:cNvPr id="34819" name="Content Placeholder 5">
            <a:extLst>
              <a:ext uri="{FF2B5EF4-FFF2-40B4-BE49-F238E27FC236}">
                <a16:creationId xmlns:a16="http://schemas.microsoft.com/office/drawing/2014/main" id="{38255B33-22E1-9F08-C571-2A05C40CC593}"/>
              </a:ext>
            </a:extLst>
          </p:cNvPr>
          <p:cNvSpPr txBox="1">
            <a:spLocks/>
          </p:cNvSpPr>
          <p:nvPr/>
        </p:nvSpPr>
        <p:spPr bwMode="auto">
          <a:xfrm>
            <a:off x="227013" y="1857375"/>
            <a:ext cx="8002587"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rgbClr val="FF6600"/>
              </a:buClr>
              <a:buFont typeface="Wingdings 3" panose="05040102010807070707" pitchFamily="18" charset="2"/>
              <a:buNone/>
            </a:pPr>
            <a:r>
              <a:rPr lang="en-CA" altLang="en-US" sz="2800">
                <a:latin typeface="Calibri" panose="020F0502020204030204" pitchFamily="34" charset="0"/>
              </a:rPr>
              <a:t>To store numbers in a column, choose from the following data types</a:t>
            </a:r>
          </a:p>
          <a:p>
            <a:pPr algn="just" eaLnBrk="1" hangingPunct="1">
              <a:spcBef>
                <a:spcPct val="20000"/>
              </a:spcBef>
              <a:buClr>
                <a:srgbClr val="FF6600"/>
              </a:buClr>
              <a:buFont typeface="Wingdings 3" panose="05040102010807070707" pitchFamily="18" charset="2"/>
              <a:buNone/>
            </a:pPr>
            <a:endParaRPr lang="en-CA"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2800">
              <a:latin typeface="Calibri" panose="020F0502020204030204" pitchFamily="34" charset="0"/>
            </a:endParaRPr>
          </a:p>
        </p:txBody>
      </p:sp>
      <p:graphicFrame>
        <p:nvGraphicFramePr>
          <p:cNvPr id="5" name="Table 4">
            <a:extLst>
              <a:ext uri="{FF2B5EF4-FFF2-40B4-BE49-F238E27FC236}">
                <a16:creationId xmlns:a16="http://schemas.microsoft.com/office/drawing/2014/main" id="{2CAEAAFF-23FC-2E4F-930A-B3C80AC491E5}"/>
              </a:ext>
            </a:extLst>
          </p:cNvPr>
          <p:cNvGraphicFramePr>
            <a:graphicFrameLocks noGrp="1"/>
          </p:cNvGraphicFramePr>
          <p:nvPr/>
        </p:nvGraphicFramePr>
        <p:xfrm>
          <a:off x="276225" y="2852738"/>
          <a:ext cx="7953375" cy="2687637"/>
        </p:xfrm>
        <a:graphic>
          <a:graphicData uri="http://schemas.openxmlformats.org/drawingml/2006/table">
            <a:tbl>
              <a:tblPr firstRow="1" bandRow="1">
                <a:tableStyleId>{C083E6E3-FA7D-4D7B-A595-EF9225AFEA82}</a:tableStyleId>
              </a:tblPr>
              <a:tblGrid>
                <a:gridCol w="1710575">
                  <a:extLst>
                    <a:ext uri="{9D8B030D-6E8A-4147-A177-3AD203B41FA5}">
                      <a16:colId xmlns:a16="http://schemas.microsoft.com/office/drawing/2014/main" val="20000"/>
                    </a:ext>
                  </a:extLst>
                </a:gridCol>
                <a:gridCol w="3199217">
                  <a:extLst>
                    <a:ext uri="{9D8B030D-6E8A-4147-A177-3AD203B41FA5}">
                      <a16:colId xmlns:a16="http://schemas.microsoft.com/office/drawing/2014/main" val="20001"/>
                    </a:ext>
                  </a:extLst>
                </a:gridCol>
                <a:gridCol w="3043583">
                  <a:extLst>
                    <a:ext uri="{9D8B030D-6E8A-4147-A177-3AD203B41FA5}">
                      <a16:colId xmlns:a16="http://schemas.microsoft.com/office/drawing/2014/main" val="20002"/>
                    </a:ext>
                  </a:extLst>
                </a:gridCol>
              </a:tblGrid>
              <a:tr h="370884">
                <a:tc>
                  <a:txBody>
                    <a:bodyPr/>
                    <a:lstStyle/>
                    <a:p>
                      <a:pPr algn="ctr"/>
                      <a:r>
                        <a:rPr lang="en-CA" sz="1800" dirty="0"/>
                        <a:t>Data Type</a:t>
                      </a:r>
                    </a:p>
                  </a:txBody>
                  <a:tcPr marL="91433" marR="91433" marT="45725" marB="45725"/>
                </a:tc>
                <a:tc>
                  <a:txBody>
                    <a:bodyPr/>
                    <a:lstStyle/>
                    <a:p>
                      <a:pPr algn="ctr"/>
                      <a:r>
                        <a:rPr lang="en-CA" sz="1800" dirty="0"/>
                        <a:t>Meaning</a:t>
                      </a:r>
                    </a:p>
                  </a:txBody>
                  <a:tcPr marL="91433" marR="91433" marT="45725" marB="45725"/>
                </a:tc>
                <a:tc>
                  <a:txBody>
                    <a:bodyPr/>
                    <a:lstStyle/>
                    <a:p>
                      <a:pPr algn="ctr"/>
                      <a:r>
                        <a:rPr lang="en-CA" sz="1800" dirty="0"/>
                        <a:t>Example</a:t>
                      </a:r>
                    </a:p>
                  </a:txBody>
                  <a:tcPr marL="91433" marR="91433" marT="45725" marB="45725"/>
                </a:tc>
                <a:extLst>
                  <a:ext uri="{0D108BD9-81ED-4DB2-BD59-A6C34878D82A}">
                    <a16:rowId xmlns:a16="http://schemas.microsoft.com/office/drawing/2014/main" val="10000"/>
                  </a:ext>
                </a:extLst>
              </a:tr>
              <a:tr h="1188860">
                <a:tc>
                  <a:txBody>
                    <a:bodyPr/>
                    <a:lstStyle/>
                    <a:p>
                      <a:pPr algn="ctr"/>
                      <a:r>
                        <a:rPr lang="en-CA" sz="1800" dirty="0"/>
                        <a:t>INT</a:t>
                      </a:r>
                    </a:p>
                  </a:txBody>
                  <a:tcPr marL="91433" marR="91433" marT="45725" marB="45725"/>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CA" sz="1800" dirty="0"/>
                        <a:t>Column can store any integer from that is between </a:t>
                      </a:r>
                    </a:p>
                    <a:p>
                      <a:pPr marL="0" marR="0" indent="0" algn="l" defTabSz="914400" rtl="0" eaLnBrk="1" fontAlgn="auto" latinLnBrk="0" hangingPunct="1">
                        <a:lnSpc>
                          <a:spcPct val="100000"/>
                        </a:lnSpc>
                        <a:spcBef>
                          <a:spcPts val="0"/>
                        </a:spcBef>
                        <a:spcAft>
                          <a:spcPts val="0"/>
                        </a:spcAft>
                        <a:buClrTx/>
                        <a:buSzTx/>
                        <a:buFontTx/>
                        <a:buNone/>
                        <a:tabLst/>
                        <a:defRPr/>
                      </a:pPr>
                      <a:r>
                        <a:rPr lang="en-CA" sz="1800" kern="1200" dirty="0">
                          <a:effectLst/>
                        </a:rPr>
                        <a:t>-2147483648 to 2147483648</a:t>
                      </a:r>
                    </a:p>
                    <a:p>
                      <a:pPr marL="0" marR="0" indent="0" algn="l" defTabSz="914400" rtl="0" eaLnBrk="1" fontAlgn="auto" latinLnBrk="0" hangingPunct="1">
                        <a:lnSpc>
                          <a:spcPct val="100000"/>
                        </a:lnSpc>
                        <a:spcBef>
                          <a:spcPts val="0"/>
                        </a:spcBef>
                        <a:spcAft>
                          <a:spcPts val="0"/>
                        </a:spcAft>
                        <a:buClrTx/>
                        <a:buSzTx/>
                        <a:buFontTx/>
                        <a:buNone/>
                        <a:tabLst/>
                        <a:defRPr/>
                      </a:pPr>
                      <a:endParaRPr lang="en-CA" sz="1800" b="0" dirty="0"/>
                    </a:p>
                  </a:txBody>
                  <a:tcPr marL="91433" marR="91433" marT="45725" marB="45725"/>
                </a:tc>
                <a:tc>
                  <a:txBody>
                    <a:bodyPr/>
                    <a:lstStyle/>
                    <a:p>
                      <a:r>
                        <a:rPr lang="en-CA" sz="1800" dirty="0"/>
                        <a:t>E.g. Quantity INT</a:t>
                      </a:r>
                    </a:p>
                  </a:txBody>
                  <a:tcPr marL="91433" marR="91433" marT="45725" marB="45725"/>
                </a:tc>
                <a:extLst>
                  <a:ext uri="{0D108BD9-81ED-4DB2-BD59-A6C34878D82A}">
                    <a16:rowId xmlns:a16="http://schemas.microsoft.com/office/drawing/2014/main" val="10001"/>
                  </a:ext>
                </a:extLst>
              </a:tr>
              <a:tr h="1127893">
                <a:tc>
                  <a:txBody>
                    <a:bodyPr/>
                    <a:lstStyle/>
                    <a:p>
                      <a:pPr algn="ctr"/>
                      <a:r>
                        <a:rPr lang="en-CA" sz="1800" dirty="0"/>
                        <a:t>DECIMAL(m, n)</a:t>
                      </a:r>
                    </a:p>
                    <a:p>
                      <a:pPr algn="ctr"/>
                      <a:endParaRPr lang="en-CA" sz="1400" dirty="0"/>
                    </a:p>
                    <a:p>
                      <a:pPr algn="ctr"/>
                      <a:endParaRPr lang="en-CA" sz="1800" dirty="0"/>
                    </a:p>
                  </a:txBody>
                  <a:tcPr marL="91433" marR="91433" marT="45725" marB="45725"/>
                </a:tc>
                <a:tc>
                  <a:txBody>
                    <a:bodyPr/>
                    <a:lstStyle/>
                    <a:p>
                      <a:r>
                        <a:rPr lang="en-CA" sz="1800" dirty="0"/>
                        <a:t>Column can store m </a:t>
                      </a:r>
                      <a:r>
                        <a:rPr lang="en-CA" sz="1800" dirty="0">
                          <a:solidFill>
                            <a:srgbClr val="0000FF"/>
                          </a:solidFill>
                        </a:rPr>
                        <a:t>digits</a:t>
                      </a:r>
                      <a:r>
                        <a:rPr lang="en-CA" sz="1800" dirty="0"/>
                        <a:t> with n of the digits being</a:t>
                      </a:r>
                      <a:r>
                        <a:rPr lang="en-CA" sz="1800" baseline="0" dirty="0"/>
                        <a:t> after the decimal point (.)</a:t>
                      </a:r>
                      <a:endParaRPr lang="en-CA" sz="1800" dirty="0"/>
                    </a:p>
                  </a:txBody>
                  <a:tcPr marL="91433" marR="91433" marT="45725" marB="45725"/>
                </a:tc>
                <a:tc>
                  <a:txBody>
                    <a:bodyPr/>
                    <a:lstStyle/>
                    <a:p>
                      <a:r>
                        <a:rPr lang="en-CA" sz="1800" dirty="0"/>
                        <a:t>E.g. Salary</a:t>
                      </a:r>
                      <a:r>
                        <a:rPr lang="en-CA" sz="1800" baseline="0" dirty="0"/>
                        <a:t> DECIMAL(5, 2)</a:t>
                      </a:r>
                    </a:p>
                    <a:p>
                      <a:endParaRPr lang="en-CA" sz="1400" baseline="0" dirty="0"/>
                    </a:p>
                    <a:p>
                      <a:r>
                        <a:rPr lang="en-CA" sz="1800" baseline="0" dirty="0"/>
                        <a:t>The input data must be between -999.99 and 999.99</a:t>
                      </a:r>
                    </a:p>
                  </a:txBody>
                  <a:tcPr marL="91433" marR="91433" marT="45725" marB="45725"/>
                </a:tc>
                <a:extLst>
                  <a:ext uri="{0D108BD9-81ED-4DB2-BD59-A6C34878D82A}">
                    <a16:rowId xmlns:a16="http://schemas.microsoft.com/office/drawing/2014/main" val="10002"/>
                  </a:ext>
                </a:extLst>
              </a:tr>
            </a:tbl>
          </a:graphicData>
        </a:graphic>
      </p:graphicFrame>
      <p:sp>
        <p:nvSpPr>
          <p:cNvPr id="6" name="Snip Single Corner Rectangle 5">
            <a:extLst>
              <a:ext uri="{FF2B5EF4-FFF2-40B4-BE49-F238E27FC236}">
                <a16:creationId xmlns:a16="http://schemas.microsoft.com/office/drawing/2014/main" id="{49A62014-96ED-3C80-7AA4-3EB42D65EDB6}"/>
              </a:ext>
            </a:extLst>
          </p:cNvPr>
          <p:cNvSpPr/>
          <p:nvPr/>
        </p:nvSpPr>
        <p:spPr>
          <a:xfrm>
            <a:off x="100013" y="1427163"/>
            <a:ext cx="1728787" cy="401637"/>
          </a:xfrm>
          <a:prstGeom prst="snip1Rect">
            <a:avLst/>
          </a:prstGeom>
          <a:solidFill>
            <a:schemeClr val="accent1">
              <a:alpha val="70000"/>
            </a:schemeClr>
          </a:solidFill>
          <a:ln>
            <a:solidFill>
              <a:schemeClr val="accent1"/>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indent="-342900" algn="just" eaLnBrk="1" hangingPunct="1">
              <a:spcBef>
                <a:spcPct val="20000"/>
              </a:spcBef>
              <a:buClr>
                <a:srgbClr val="FF6600"/>
              </a:buClr>
              <a:buSzPct val="100000"/>
              <a:defRPr/>
            </a:pPr>
            <a:r>
              <a:rPr lang="en-US" dirty="0">
                <a:latin typeface="Arial" pitchFamily="34" charset="0"/>
                <a:ea typeface="Times New Roman" pitchFamily="18" charset="0"/>
                <a:cs typeface="Arial" pitchFamily="34" charset="0"/>
              </a:rPr>
              <a:t>Create a table</a:t>
            </a:r>
            <a:endParaRPr lang="en-GB" kern="0" dirty="0">
              <a:solidFill>
                <a:schemeClr val="tx1"/>
              </a:solidFill>
            </a:endParaRPr>
          </a:p>
        </p:txBody>
      </p:sp>
      <p:grpSp>
        <p:nvGrpSpPr>
          <p:cNvPr id="34834" name="Group 16">
            <a:extLst>
              <a:ext uri="{FF2B5EF4-FFF2-40B4-BE49-F238E27FC236}">
                <a16:creationId xmlns:a16="http://schemas.microsoft.com/office/drawing/2014/main" id="{D08B81E4-FFEA-3255-E3B4-F85DF907E260}"/>
              </a:ext>
            </a:extLst>
          </p:cNvPr>
          <p:cNvGrpSpPr>
            <a:grpSpLocks/>
          </p:cNvGrpSpPr>
          <p:nvPr/>
        </p:nvGrpSpPr>
        <p:grpSpPr bwMode="auto">
          <a:xfrm>
            <a:off x="3505200" y="3425825"/>
            <a:ext cx="2938463" cy="862013"/>
            <a:chOff x="-101008" y="1935432"/>
            <a:chExt cx="8410716" cy="1447800"/>
          </a:xfrm>
        </p:grpSpPr>
        <p:sp>
          <p:nvSpPr>
            <p:cNvPr id="34836" name="Rounded Rectangular Callout 17">
              <a:extLst>
                <a:ext uri="{FF2B5EF4-FFF2-40B4-BE49-F238E27FC236}">
                  <a16:creationId xmlns:a16="http://schemas.microsoft.com/office/drawing/2014/main" id="{27F6707D-8394-70E8-7CC1-17BDA3247808}"/>
                </a:ext>
              </a:extLst>
            </p:cNvPr>
            <p:cNvSpPr>
              <a:spLocks noChangeArrowheads="1"/>
            </p:cNvSpPr>
            <p:nvPr/>
          </p:nvSpPr>
          <p:spPr bwMode="auto">
            <a:xfrm flipV="1">
              <a:off x="-101008" y="1935432"/>
              <a:ext cx="8039421" cy="1447800"/>
            </a:xfrm>
            <a:prstGeom prst="wedgeRoundRectCallout">
              <a:avLst>
                <a:gd name="adj1" fmla="val -19319"/>
                <a:gd name="adj2" fmla="val -73634"/>
                <a:gd name="adj3" fmla="val 16667"/>
              </a:avLst>
            </a:prstGeom>
            <a:solidFill>
              <a:srgbClr val="B50C00"/>
            </a:solidFill>
            <a:ln w="9525" algn="ctr">
              <a:solidFill>
                <a:schemeClr val="tx1"/>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a:endParaRPr lang="en-CA" altLang="en-US"/>
            </a:p>
          </p:txBody>
        </p:sp>
        <p:sp>
          <p:nvSpPr>
            <p:cNvPr id="34837" name="TextBox 18">
              <a:extLst>
                <a:ext uri="{FF2B5EF4-FFF2-40B4-BE49-F238E27FC236}">
                  <a16:creationId xmlns:a16="http://schemas.microsoft.com/office/drawing/2014/main" id="{43801B25-C56C-7CD8-C500-17FDA057EBC8}"/>
                </a:ext>
              </a:extLst>
            </p:cNvPr>
            <p:cNvSpPr txBox="1">
              <a:spLocks noChangeArrowheads="1"/>
            </p:cNvSpPr>
            <p:nvPr/>
          </p:nvSpPr>
          <p:spPr bwMode="auto">
            <a:xfrm>
              <a:off x="146993" y="2148079"/>
              <a:ext cx="816271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CA" altLang="en-US">
                  <a:solidFill>
                    <a:schemeClr val="bg1"/>
                  </a:solidFill>
                </a:rPr>
                <a:t>There are 10 digits: </a:t>
              </a:r>
            </a:p>
            <a:p>
              <a:r>
                <a:rPr lang="en-CA" altLang="en-US">
                  <a:solidFill>
                    <a:schemeClr val="bg1"/>
                  </a:solidFill>
                </a:rPr>
                <a:t>0, 1, 2, 3, 4, 5, 6, 7, 8, 9</a:t>
              </a:r>
            </a:p>
          </p:txBody>
        </p:sp>
      </p:grpSp>
      <p:sp>
        <p:nvSpPr>
          <p:cNvPr id="20" name="Teardrop 19">
            <a:hlinkClick r:id="rId2" action="ppaction://hlinksldjump"/>
            <a:extLst>
              <a:ext uri="{FF2B5EF4-FFF2-40B4-BE49-F238E27FC236}">
                <a16:creationId xmlns:a16="http://schemas.microsoft.com/office/drawing/2014/main" id="{34CEA41B-172A-DECF-D007-B0DE15DDE7D0}"/>
              </a:ext>
            </a:extLst>
          </p:cNvPr>
          <p:cNvSpPr/>
          <p:nvPr/>
        </p:nvSpPr>
        <p:spPr bwMode="auto">
          <a:xfrm>
            <a:off x="5867400" y="3314164"/>
            <a:ext cx="570644" cy="431301"/>
          </a:xfrm>
          <a:prstGeom prst="teardrop">
            <a:avLst/>
          </a:prstGeom>
          <a:ln>
            <a:headEnd type="none" w="med" len="med"/>
            <a:tailEnd type="none" w="med" len="med"/>
          </a:ln>
        </p:spPr>
        <p:style>
          <a:lnRef idx="3">
            <a:schemeClr val="lt1"/>
          </a:lnRef>
          <a:fillRef idx="1">
            <a:schemeClr val="accent3"/>
          </a:fillRef>
          <a:effectRef idx="1">
            <a:schemeClr val="accent3"/>
          </a:effectRef>
          <a:fontRef idx="minor">
            <a:schemeClr val="lt1"/>
          </a:fontRef>
        </p:style>
        <p:txBody>
          <a:bodyPr anchor="ctr"/>
          <a:lstStyle/>
          <a:p>
            <a:pPr algn="ctr">
              <a:defRPr/>
            </a:pPr>
            <a:r>
              <a:rPr lang="en-GB" sz="24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Arial" charset="0"/>
              </a:rPr>
              <a:t>X</a:t>
            </a:r>
          </a:p>
        </p:txBody>
      </p:sp>
    </p:spTree>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04D4E-1B18-4A1F-4C9F-7E6FCE8E93D7}"/>
              </a:ext>
            </a:extLst>
          </p:cNvPr>
          <p:cNvSpPr>
            <a:spLocks noGrp="1"/>
          </p:cNvSpPr>
          <p:nvPr>
            <p:ph type="title"/>
          </p:nvPr>
        </p:nvSpPr>
        <p:spPr>
          <a:xfrm>
            <a:off x="457200" y="0"/>
            <a:ext cx="7620000" cy="1143000"/>
          </a:xfrm>
        </p:spPr>
        <p:txBody>
          <a:bodyPr/>
          <a:lstStyle/>
          <a:p>
            <a:pPr algn="ctr">
              <a:defRPr/>
            </a:pPr>
            <a:r>
              <a:rPr lang="en-US" dirty="0"/>
              <a:t>Manipulating Tables Using SQL</a:t>
            </a:r>
            <a:endParaRPr lang="en-MY" dirty="0"/>
          </a:p>
        </p:txBody>
      </p:sp>
      <p:sp>
        <p:nvSpPr>
          <p:cNvPr id="10" name="Content Placeholder 5">
            <a:extLst>
              <a:ext uri="{FF2B5EF4-FFF2-40B4-BE49-F238E27FC236}">
                <a16:creationId xmlns:a16="http://schemas.microsoft.com/office/drawing/2014/main" id="{4D6BEC47-0BF8-DC99-EBA1-09C3EDACE08A}"/>
              </a:ext>
            </a:extLst>
          </p:cNvPr>
          <p:cNvSpPr txBox="1">
            <a:spLocks/>
          </p:cNvSpPr>
          <p:nvPr/>
        </p:nvSpPr>
        <p:spPr bwMode="auto">
          <a:xfrm>
            <a:off x="227013" y="1857375"/>
            <a:ext cx="8713787"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rgbClr val="FF6600"/>
              </a:buClr>
              <a:buFont typeface="Wingdings 3" panose="05040102010807070707" pitchFamily="18" charset="2"/>
              <a:buNone/>
            </a:pPr>
            <a:r>
              <a:rPr lang="en-CA" altLang="en-US" sz="2800">
                <a:latin typeface="Calibri" panose="020F0502020204030204" pitchFamily="34" charset="0"/>
              </a:rPr>
              <a:t>To store date and time in a column, choose from the following data types</a:t>
            </a:r>
          </a:p>
          <a:p>
            <a:pPr eaLnBrk="1" hangingPunct="1">
              <a:spcBef>
                <a:spcPct val="20000"/>
              </a:spcBef>
              <a:buClr>
                <a:srgbClr val="FF6600"/>
              </a:buClr>
              <a:buFont typeface="Wingdings 3" panose="05040102010807070707" pitchFamily="18" charset="2"/>
              <a:buNone/>
            </a:pPr>
            <a:endParaRPr lang="en-CA" altLang="en-US" sz="2800">
              <a:latin typeface="Calibri" panose="020F0502020204030204" pitchFamily="34" charset="0"/>
            </a:endParaRPr>
          </a:p>
          <a:p>
            <a:pPr eaLnBrk="1" hangingPunct="1">
              <a:spcBef>
                <a:spcPct val="20000"/>
              </a:spcBef>
              <a:buClr>
                <a:srgbClr val="FF6600"/>
              </a:buClr>
              <a:buFont typeface="Wingdings 3" panose="05040102010807070707" pitchFamily="18" charset="2"/>
              <a:buNone/>
            </a:pPr>
            <a:endParaRPr lang="en-CA" altLang="en-US" sz="2800">
              <a:latin typeface="Calibri" panose="020F0502020204030204" pitchFamily="34" charset="0"/>
            </a:endParaRPr>
          </a:p>
          <a:p>
            <a:pPr eaLnBrk="1" hangingPunct="1">
              <a:spcBef>
                <a:spcPct val="20000"/>
              </a:spcBef>
              <a:buClr>
                <a:srgbClr val="FF6600"/>
              </a:buClr>
              <a:buFont typeface="Wingdings 3" panose="05040102010807070707" pitchFamily="18" charset="2"/>
              <a:buNone/>
            </a:pPr>
            <a:endParaRPr lang="en-CA" altLang="en-US" sz="2800">
              <a:latin typeface="Calibri" panose="020F0502020204030204" pitchFamily="34" charset="0"/>
            </a:endParaRPr>
          </a:p>
        </p:txBody>
      </p:sp>
      <p:graphicFrame>
        <p:nvGraphicFramePr>
          <p:cNvPr id="5" name="Table 4">
            <a:extLst>
              <a:ext uri="{FF2B5EF4-FFF2-40B4-BE49-F238E27FC236}">
                <a16:creationId xmlns:a16="http://schemas.microsoft.com/office/drawing/2014/main" id="{791D78D9-09D3-044A-8177-A4E408BCFDA0}"/>
              </a:ext>
            </a:extLst>
          </p:cNvPr>
          <p:cNvGraphicFramePr>
            <a:graphicFrameLocks noGrp="1"/>
          </p:cNvGraphicFramePr>
          <p:nvPr/>
        </p:nvGraphicFramePr>
        <p:xfrm>
          <a:off x="276225" y="2852738"/>
          <a:ext cx="7953375" cy="2474912"/>
        </p:xfrm>
        <a:graphic>
          <a:graphicData uri="http://schemas.openxmlformats.org/drawingml/2006/table">
            <a:tbl>
              <a:tblPr firstRow="1" bandRow="1">
                <a:tableStyleId>{0E3FDE45-AF77-4B5C-9715-49D594BDF05E}</a:tableStyleId>
              </a:tblPr>
              <a:tblGrid>
                <a:gridCol w="1443974">
                  <a:extLst>
                    <a:ext uri="{9D8B030D-6E8A-4147-A177-3AD203B41FA5}">
                      <a16:colId xmlns:a16="http://schemas.microsoft.com/office/drawing/2014/main" val="20000"/>
                    </a:ext>
                  </a:extLst>
                </a:gridCol>
                <a:gridCol w="3465818">
                  <a:extLst>
                    <a:ext uri="{9D8B030D-6E8A-4147-A177-3AD203B41FA5}">
                      <a16:colId xmlns:a16="http://schemas.microsoft.com/office/drawing/2014/main" val="20001"/>
                    </a:ext>
                  </a:extLst>
                </a:gridCol>
                <a:gridCol w="3043583">
                  <a:extLst>
                    <a:ext uri="{9D8B030D-6E8A-4147-A177-3AD203B41FA5}">
                      <a16:colId xmlns:a16="http://schemas.microsoft.com/office/drawing/2014/main" val="20002"/>
                    </a:ext>
                  </a:extLst>
                </a:gridCol>
              </a:tblGrid>
              <a:tr h="370983">
                <a:tc>
                  <a:txBody>
                    <a:bodyPr/>
                    <a:lstStyle/>
                    <a:p>
                      <a:pPr algn="ctr"/>
                      <a:r>
                        <a:rPr lang="en-CA" sz="1800" dirty="0"/>
                        <a:t>Data Type</a:t>
                      </a:r>
                    </a:p>
                  </a:txBody>
                  <a:tcPr marL="91433" marR="91433" marT="45738" marB="45738"/>
                </a:tc>
                <a:tc>
                  <a:txBody>
                    <a:bodyPr/>
                    <a:lstStyle/>
                    <a:p>
                      <a:pPr algn="ctr"/>
                      <a:r>
                        <a:rPr lang="en-CA" sz="1800" dirty="0"/>
                        <a:t>Meaning</a:t>
                      </a:r>
                    </a:p>
                  </a:txBody>
                  <a:tcPr marL="91433" marR="91433" marT="45738" marB="45738"/>
                </a:tc>
                <a:tc>
                  <a:txBody>
                    <a:bodyPr/>
                    <a:lstStyle/>
                    <a:p>
                      <a:pPr algn="ctr"/>
                      <a:r>
                        <a:rPr lang="en-CA" sz="1800" dirty="0"/>
                        <a:t>Example</a:t>
                      </a:r>
                    </a:p>
                  </a:txBody>
                  <a:tcPr marL="91433" marR="91433" marT="45738" marB="45738"/>
                </a:tc>
                <a:extLst>
                  <a:ext uri="{0D108BD9-81ED-4DB2-BD59-A6C34878D82A}">
                    <a16:rowId xmlns:a16="http://schemas.microsoft.com/office/drawing/2014/main" val="10000"/>
                  </a:ext>
                </a:extLst>
              </a:tr>
              <a:tr h="914752">
                <a:tc>
                  <a:txBody>
                    <a:bodyPr/>
                    <a:lstStyle/>
                    <a:p>
                      <a:pPr algn="ctr"/>
                      <a:r>
                        <a:rPr lang="en-CA" sz="1800" dirty="0"/>
                        <a:t>DATE</a:t>
                      </a:r>
                    </a:p>
                  </a:txBody>
                  <a:tcPr marL="91433" marR="91433" marT="45738" marB="45738"/>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CA" sz="1800" dirty="0"/>
                        <a:t>Column can store date that is in the format</a:t>
                      </a:r>
                      <a:r>
                        <a:rPr lang="en-CA" sz="1800" baseline="0" dirty="0"/>
                        <a:t> </a:t>
                      </a:r>
                      <a:r>
                        <a:rPr lang="en-CA" sz="1800" dirty="0"/>
                        <a:t>of ‘year-month-day’</a:t>
                      </a:r>
                      <a:endParaRPr lang="en-CA" sz="1800" b="0" dirty="0"/>
                    </a:p>
                  </a:txBody>
                  <a:tcPr marL="91433" marR="91433" marT="45738" marB="45738"/>
                </a:tc>
                <a:tc>
                  <a:txBody>
                    <a:bodyPr/>
                    <a:lstStyle/>
                    <a:p>
                      <a:r>
                        <a:rPr lang="en-CA" sz="1800" dirty="0"/>
                        <a:t>E.g. Birthdate DATE</a:t>
                      </a:r>
                    </a:p>
                    <a:p>
                      <a:endParaRPr lang="en-CA" sz="1800" dirty="0"/>
                    </a:p>
                    <a:p>
                      <a:r>
                        <a:rPr lang="en-CA" sz="1800" dirty="0"/>
                        <a:t>Data could be </a:t>
                      </a:r>
                      <a:r>
                        <a:rPr lang="en-CA" sz="1800" baseline="0" dirty="0"/>
                        <a:t>'</a:t>
                      </a:r>
                      <a:r>
                        <a:rPr lang="en-CA" sz="1800" kern="1200" dirty="0">
                          <a:effectLst/>
                        </a:rPr>
                        <a:t>1998-09-04</a:t>
                      </a:r>
                      <a:r>
                        <a:rPr lang="en-CA" sz="1800" baseline="0" dirty="0"/>
                        <a:t>'</a:t>
                      </a:r>
                      <a:endParaRPr lang="en-CA" sz="1800" kern="1200" dirty="0">
                        <a:effectLst/>
                      </a:endParaRPr>
                    </a:p>
                  </a:txBody>
                  <a:tcPr marL="91433" marR="91433" marT="45738" marB="45738"/>
                </a:tc>
                <a:extLst>
                  <a:ext uri="{0D108BD9-81ED-4DB2-BD59-A6C34878D82A}">
                    <a16:rowId xmlns:a16="http://schemas.microsoft.com/office/drawing/2014/main" val="10001"/>
                  </a:ext>
                </a:extLst>
              </a:tr>
              <a:tr h="1189177">
                <a:tc>
                  <a:txBody>
                    <a:bodyPr/>
                    <a:lstStyle/>
                    <a:p>
                      <a:pPr algn="ctr"/>
                      <a:r>
                        <a:rPr lang="en-CA" sz="1800" dirty="0"/>
                        <a:t>DATETIME</a:t>
                      </a:r>
                    </a:p>
                  </a:txBody>
                  <a:tcPr marL="91433" marR="91433" marT="45738" marB="45738"/>
                </a:tc>
                <a:tc>
                  <a:txBody>
                    <a:bodyPr/>
                    <a:lstStyle/>
                    <a:p>
                      <a:r>
                        <a:rPr lang="en-CA" sz="1800" dirty="0"/>
                        <a:t>Column can store both date and time that is in the format of  ‘year-month-day </a:t>
                      </a:r>
                      <a:r>
                        <a:rPr lang="en-CA" sz="1800" dirty="0" err="1"/>
                        <a:t>hour:minute:second</a:t>
                      </a:r>
                      <a:r>
                        <a:rPr lang="en-CA" sz="1800" dirty="0"/>
                        <a:t>’</a:t>
                      </a:r>
                    </a:p>
                  </a:txBody>
                  <a:tcPr marL="91433" marR="91433" marT="45738" marB="45738"/>
                </a:tc>
                <a:tc>
                  <a:txBody>
                    <a:bodyPr/>
                    <a:lstStyle/>
                    <a:p>
                      <a:r>
                        <a:rPr lang="en-CA" sz="1800" baseline="0" dirty="0"/>
                        <a:t>E.g. Arrival DATETIME</a:t>
                      </a:r>
                    </a:p>
                    <a:p>
                      <a:endParaRPr lang="en-CA" sz="1800" baseline="0" dirty="0"/>
                    </a:p>
                    <a:p>
                      <a:r>
                        <a:rPr lang="en-CA" sz="1800" baseline="0" dirty="0"/>
                        <a:t>Data could be '</a:t>
                      </a:r>
                      <a:r>
                        <a:rPr lang="en-CA" sz="1800" kern="1200" dirty="0">
                          <a:effectLst/>
                        </a:rPr>
                        <a:t>2011-11-14 09:41:30</a:t>
                      </a:r>
                      <a:r>
                        <a:rPr lang="en-CA" sz="1800" baseline="0" dirty="0"/>
                        <a:t>'</a:t>
                      </a:r>
                      <a:endParaRPr lang="en-CA" sz="1800" b="0" baseline="0" dirty="0"/>
                    </a:p>
                  </a:txBody>
                  <a:tcPr marL="91433" marR="91433" marT="45738" marB="45738"/>
                </a:tc>
                <a:extLst>
                  <a:ext uri="{0D108BD9-81ED-4DB2-BD59-A6C34878D82A}">
                    <a16:rowId xmlns:a16="http://schemas.microsoft.com/office/drawing/2014/main" val="10002"/>
                  </a:ext>
                </a:extLst>
              </a:tr>
            </a:tbl>
          </a:graphicData>
        </a:graphic>
      </p:graphicFrame>
      <p:sp>
        <p:nvSpPr>
          <p:cNvPr id="6" name="Snip Single Corner Rectangle 5">
            <a:extLst>
              <a:ext uri="{FF2B5EF4-FFF2-40B4-BE49-F238E27FC236}">
                <a16:creationId xmlns:a16="http://schemas.microsoft.com/office/drawing/2014/main" id="{C5C45F13-EA8E-4485-9283-8F8C1CAF0CBC}"/>
              </a:ext>
            </a:extLst>
          </p:cNvPr>
          <p:cNvSpPr/>
          <p:nvPr/>
        </p:nvSpPr>
        <p:spPr>
          <a:xfrm>
            <a:off x="100013" y="1427163"/>
            <a:ext cx="1728787" cy="401637"/>
          </a:xfrm>
          <a:prstGeom prst="snip1Rect">
            <a:avLst/>
          </a:prstGeom>
          <a:solidFill>
            <a:schemeClr val="accent1">
              <a:alpha val="70000"/>
            </a:schemeClr>
          </a:solidFill>
          <a:ln>
            <a:solidFill>
              <a:schemeClr val="accent1"/>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indent="-342900" algn="just" eaLnBrk="1" hangingPunct="1">
              <a:spcBef>
                <a:spcPct val="20000"/>
              </a:spcBef>
              <a:buClr>
                <a:srgbClr val="FF6600"/>
              </a:buClr>
              <a:buSzPct val="100000"/>
              <a:defRPr/>
            </a:pPr>
            <a:r>
              <a:rPr lang="en-US" dirty="0">
                <a:latin typeface="Arial" pitchFamily="34" charset="0"/>
                <a:ea typeface="Times New Roman" pitchFamily="18" charset="0"/>
                <a:cs typeface="Arial" pitchFamily="34" charset="0"/>
              </a:rPr>
              <a:t>Create a table</a:t>
            </a:r>
            <a:endParaRPr lang="en-GB" kern="0" dirty="0">
              <a:solidFill>
                <a:schemeClr val="tx1"/>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up)">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B57193-5D66-4149-B6B4-60C2C819EE1E}"/>
              </a:ext>
            </a:extLst>
          </p:cNvPr>
          <p:cNvSpPr>
            <a:spLocks noGrp="1"/>
          </p:cNvSpPr>
          <p:nvPr>
            <p:ph type="title"/>
          </p:nvPr>
        </p:nvSpPr>
        <p:spPr>
          <a:xfrm>
            <a:off x="457200" y="0"/>
            <a:ext cx="7620000" cy="1143000"/>
          </a:xfrm>
        </p:spPr>
        <p:txBody>
          <a:bodyPr/>
          <a:lstStyle/>
          <a:p>
            <a:pPr algn="ctr">
              <a:defRPr/>
            </a:pPr>
            <a:r>
              <a:rPr lang="en-US" dirty="0"/>
              <a:t>Manipulating Tables Using SQL</a:t>
            </a:r>
            <a:endParaRPr lang="en-MY" dirty="0"/>
          </a:p>
        </p:txBody>
      </p:sp>
      <p:sp>
        <p:nvSpPr>
          <p:cNvPr id="10" name="Content Placeholder 5">
            <a:extLst>
              <a:ext uri="{FF2B5EF4-FFF2-40B4-BE49-F238E27FC236}">
                <a16:creationId xmlns:a16="http://schemas.microsoft.com/office/drawing/2014/main" id="{2C717CBE-D643-4172-7756-49A2F0BB646E}"/>
              </a:ext>
            </a:extLst>
          </p:cNvPr>
          <p:cNvSpPr txBox="1">
            <a:spLocks/>
          </p:cNvSpPr>
          <p:nvPr/>
        </p:nvSpPr>
        <p:spPr bwMode="auto">
          <a:xfrm>
            <a:off x="227013" y="1857375"/>
            <a:ext cx="8002587"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rgbClr val="FF6600"/>
              </a:buClr>
              <a:buFont typeface="Wingdings 3" panose="05040102010807070707" pitchFamily="18" charset="2"/>
              <a:buNone/>
            </a:pPr>
            <a:r>
              <a:rPr lang="en-CA" altLang="en-US" sz="2800">
                <a:latin typeface="Calibri" panose="020F0502020204030204" pitchFamily="34" charset="0"/>
              </a:rPr>
              <a:t>For example, to create a “Book” table with the following columns</a:t>
            </a:r>
          </a:p>
          <a:p>
            <a:pPr algn="just" eaLnBrk="1" hangingPunct="1">
              <a:spcBef>
                <a:spcPct val="20000"/>
              </a:spcBef>
              <a:buClr>
                <a:srgbClr val="FF6600"/>
              </a:buClr>
              <a:buFont typeface="Wingdings 3" panose="05040102010807070707" pitchFamily="18" charset="2"/>
              <a:buNone/>
            </a:pPr>
            <a:endParaRPr lang="en-CA"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2800">
              <a:latin typeface="Calibri" panose="020F0502020204030204" pitchFamily="34" charset="0"/>
            </a:endParaRPr>
          </a:p>
        </p:txBody>
      </p:sp>
      <p:graphicFrame>
        <p:nvGraphicFramePr>
          <p:cNvPr id="6" name="Table 5">
            <a:extLst>
              <a:ext uri="{FF2B5EF4-FFF2-40B4-BE49-F238E27FC236}">
                <a16:creationId xmlns:a16="http://schemas.microsoft.com/office/drawing/2014/main" id="{841D12EF-6FDD-D3EE-2A0D-29E042305735}"/>
              </a:ext>
            </a:extLst>
          </p:cNvPr>
          <p:cNvGraphicFramePr>
            <a:graphicFrameLocks noGrp="1"/>
          </p:cNvGraphicFramePr>
          <p:nvPr/>
        </p:nvGraphicFramePr>
        <p:xfrm>
          <a:off x="1447800" y="3068638"/>
          <a:ext cx="5640388" cy="2181225"/>
        </p:xfrm>
        <a:graphic>
          <a:graphicData uri="http://schemas.openxmlformats.org/drawingml/2006/table">
            <a:tbl>
              <a:tblPr firstRow="1" bandRow="1">
                <a:tableStyleId>{5FD0F851-EC5A-4D38-B0AD-8093EC10F338}</a:tableStyleId>
              </a:tblPr>
              <a:tblGrid>
                <a:gridCol w="2460153">
                  <a:extLst>
                    <a:ext uri="{9D8B030D-6E8A-4147-A177-3AD203B41FA5}">
                      <a16:colId xmlns:a16="http://schemas.microsoft.com/office/drawing/2014/main" val="20000"/>
                    </a:ext>
                  </a:extLst>
                </a:gridCol>
                <a:gridCol w="3180235">
                  <a:extLst>
                    <a:ext uri="{9D8B030D-6E8A-4147-A177-3AD203B41FA5}">
                      <a16:colId xmlns:a16="http://schemas.microsoft.com/office/drawing/2014/main" val="20001"/>
                    </a:ext>
                  </a:extLst>
                </a:gridCol>
              </a:tblGrid>
              <a:tr h="504289">
                <a:tc>
                  <a:txBody>
                    <a:bodyPr/>
                    <a:lstStyle/>
                    <a:p>
                      <a:pPr algn="ctr"/>
                      <a:r>
                        <a:rPr lang="en-CA" sz="1800" dirty="0"/>
                        <a:t>Column Name</a:t>
                      </a:r>
                    </a:p>
                  </a:txBody>
                  <a:tcPr marT="45741" marB="45741" anchor="ctr"/>
                </a:tc>
                <a:tc>
                  <a:txBody>
                    <a:bodyPr/>
                    <a:lstStyle/>
                    <a:p>
                      <a:pPr algn="ctr"/>
                      <a:r>
                        <a:rPr lang="en-CA" sz="1800" dirty="0"/>
                        <a:t>Data Type</a:t>
                      </a:r>
                    </a:p>
                  </a:txBody>
                  <a:tcPr marT="45741" marB="45741" anchor="ctr"/>
                </a:tc>
                <a:extLst>
                  <a:ext uri="{0D108BD9-81ED-4DB2-BD59-A6C34878D82A}">
                    <a16:rowId xmlns:a16="http://schemas.microsoft.com/office/drawing/2014/main" val="10000"/>
                  </a:ext>
                </a:extLst>
              </a:tr>
              <a:tr h="518280">
                <a:tc>
                  <a:txBody>
                    <a:bodyPr/>
                    <a:lstStyle/>
                    <a:p>
                      <a:pPr algn="ctr"/>
                      <a:r>
                        <a:rPr lang="en-CA" sz="1800" dirty="0"/>
                        <a:t>ISBN</a:t>
                      </a:r>
                    </a:p>
                  </a:txBody>
                  <a:tcPr marT="45741" marB="45741" anchor="ctr"/>
                </a:tc>
                <a:tc>
                  <a:txBody>
                    <a:bodyPr/>
                    <a:lstStyle/>
                    <a:p>
                      <a:pPr algn="ctr"/>
                      <a:r>
                        <a:rPr lang="en-CA" sz="1800" dirty="0"/>
                        <a:t>Integer</a:t>
                      </a:r>
                    </a:p>
                  </a:txBody>
                  <a:tcPr marT="45741" marB="45741" anchor="ctr"/>
                </a:tc>
                <a:extLst>
                  <a:ext uri="{0D108BD9-81ED-4DB2-BD59-A6C34878D82A}">
                    <a16:rowId xmlns:a16="http://schemas.microsoft.com/office/drawing/2014/main" val="10001"/>
                  </a:ext>
                </a:extLst>
              </a:tr>
              <a:tr h="640376">
                <a:tc>
                  <a:txBody>
                    <a:bodyPr/>
                    <a:lstStyle/>
                    <a:p>
                      <a:pPr algn="ctr"/>
                      <a:r>
                        <a:rPr lang="en-CA" sz="1800" dirty="0"/>
                        <a:t>Title</a:t>
                      </a:r>
                    </a:p>
                  </a:txBody>
                  <a:tcPr marT="45741" marB="45741" anchor="ctr"/>
                </a:tc>
                <a:tc>
                  <a:txBody>
                    <a:bodyPr/>
                    <a:lstStyle/>
                    <a:p>
                      <a:pPr algn="ctr"/>
                      <a:r>
                        <a:rPr lang="en-CA" sz="1800" dirty="0"/>
                        <a:t>Characters</a:t>
                      </a:r>
                      <a:r>
                        <a:rPr lang="en-CA" sz="1800" baseline="0" dirty="0"/>
                        <a:t> (No more than 100 characters)</a:t>
                      </a:r>
                      <a:endParaRPr lang="en-CA" sz="1800" dirty="0"/>
                    </a:p>
                  </a:txBody>
                  <a:tcPr marT="45741" marB="45741" anchor="ctr"/>
                </a:tc>
                <a:extLst>
                  <a:ext uri="{0D108BD9-81ED-4DB2-BD59-A6C34878D82A}">
                    <a16:rowId xmlns:a16="http://schemas.microsoft.com/office/drawing/2014/main" val="10002"/>
                  </a:ext>
                </a:extLst>
              </a:tr>
              <a:tr h="518280">
                <a:tc>
                  <a:txBody>
                    <a:bodyPr/>
                    <a:lstStyle/>
                    <a:p>
                      <a:pPr algn="ctr"/>
                      <a:r>
                        <a:rPr lang="en-CA" sz="1800" dirty="0"/>
                        <a:t>Quantity</a:t>
                      </a:r>
                    </a:p>
                  </a:txBody>
                  <a:tcPr marT="45741" marB="45741" anchor="ctr"/>
                </a:tc>
                <a:tc>
                  <a:txBody>
                    <a:bodyPr/>
                    <a:lstStyle/>
                    <a:p>
                      <a:pPr algn="ctr"/>
                      <a:r>
                        <a:rPr lang="en-CA" sz="1800" dirty="0"/>
                        <a:t>Integer</a:t>
                      </a:r>
                    </a:p>
                  </a:txBody>
                  <a:tcPr marT="45741" marB="45741" anchor="ctr"/>
                </a:tc>
                <a:extLst>
                  <a:ext uri="{0D108BD9-81ED-4DB2-BD59-A6C34878D82A}">
                    <a16:rowId xmlns:a16="http://schemas.microsoft.com/office/drawing/2014/main" val="10003"/>
                  </a:ext>
                </a:extLst>
              </a:tr>
            </a:tbl>
          </a:graphicData>
        </a:graphic>
      </p:graphicFrame>
      <p:sp>
        <p:nvSpPr>
          <p:cNvPr id="7" name="Snip Single Corner Rectangle 6">
            <a:extLst>
              <a:ext uri="{FF2B5EF4-FFF2-40B4-BE49-F238E27FC236}">
                <a16:creationId xmlns:a16="http://schemas.microsoft.com/office/drawing/2014/main" id="{06CEDBD6-1D80-AA47-3577-D3CB1A26CD61}"/>
              </a:ext>
            </a:extLst>
          </p:cNvPr>
          <p:cNvSpPr/>
          <p:nvPr/>
        </p:nvSpPr>
        <p:spPr>
          <a:xfrm>
            <a:off x="100013" y="1427163"/>
            <a:ext cx="1728787" cy="401637"/>
          </a:xfrm>
          <a:prstGeom prst="snip1Rect">
            <a:avLst/>
          </a:prstGeom>
          <a:solidFill>
            <a:schemeClr val="accent1">
              <a:alpha val="70000"/>
            </a:schemeClr>
          </a:solidFill>
          <a:ln>
            <a:solidFill>
              <a:schemeClr val="accent1"/>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indent="-342900" algn="just" eaLnBrk="1" hangingPunct="1">
              <a:spcBef>
                <a:spcPct val="20000"/>
              </a:spcBef>
              <a:buClr>
                <a:srgbClr val="FF6600"/>
              </a:buClr>
              <a:buSzPct val="100000"/>
              <a:defRPr/>
            </a:pPr>
            <a:r>
              <a:rPr lang="en-US" dirty="0">
                <a:latin typeface="Arial" pitchFamily="34" charset="0"/>
                <a:ea typeface="Times New Roman" pitchFamily="18" charset="0"/>
                <a:cs typeface="Arial" pitchFamily="34" charset="0"/>
              </a:rPr>
              <a:t>Create a table</a:t>
            </a:r>
            <a:endParaRPr lang="en-GB" kern="0" dirty="0">
              <a:solidFill>
                <a:schemeClr val="tx1"/>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up)">
                                      <p:cBhvr>
                                        <p:cTn id="1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Content Placeholder 5">
            <a:extLst>
              <a:ext uri="{FF2B5EF4-FFF2-40B4-BE49-F238E27FC236}">
                <a16:creationId xmlns:a16="http://schemas.microsoft.com/office/drawing/2014/main" id="{B4E5B6CD-0AE8-D979-A97A-511FD4357DD5}"/>
              </a:ext>
            </a:extLst>
          </p:cNvPr>
          <p:cNvSpPr txBox="1">
            <a:spLocks/>
          </p:cNvSpPr>
          <p:nvPr/>
        </p:nvSpPr>
        <p:spPr bwMode="auto">
          <a:xfrm>
            <a:off x="227013" y="1857375"/>
            <a:ext cx="7926387"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rgbClr val="FF6600"/>
              </a:buClr>
              <a:buFont typeface="Wingdings 3" panose="05040102010807070707" pitchFamily="18" charset="2"/>
              <a:buNone/>
            </a:pPr>
            <a:r>
              <a:rPr lang="en-CA" altLang="en-US" sz="2800">
                <a:latin typeface="Calibri" panose="020F0502020204030204" pitchFamily="34" charset="0"/>
              </a:rPr>
              <a:t>The SQL would be as follows</a:t>
            </a:r>
          </a:p>
          <a:p>
            <a:pPr algn="just" eaLnBrk="1" hangingPunct="1">
              <a:spcBef>
                <a:spcPct val="20000"/>
              </a:spcBef>
              <a:buClr>
                <a:srgbClr val="FF6600"/>
              </a:buClr>
              <a:buFont typeface="Wingdings 3" panose="05040102010807070707" pitchFamily="18" charset="2"/>
              <a:buNone/>
            </a:pPr>
            <a:endParaRPr lang="en-CA"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r>
              <a:rPr lang="en-CA" altLang="en-US" sz="2800">
                <a:latin typeface="Calibri" panose="020F0502020204030204" pitchFamily="34" charset="0"/>
              </a:rPr>
              <a:t>If you execute this SQL, a table named “Book” with 3 columns would be created</a:t>
            </a:r>
          </a:p>
          <a:p>
            <a:pPr algn="just" eaLnBrk="1" hangingPunct="1">
              <a:spcBef>
                <a:spcPct val="20000"/>
              </a:spcBef>
              <a:buClr>
                <a:srgbClr val="FF6600"/>
              </a:buClr>
              <a:buFont typeface="Wingdings 3" panose="05040102010807070707" pitchFamily="18" charset="2"/>
              <a:buNone/>
            </a:pPr>
            <a:endParaRPr lang="en-CA"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2800">
              <a:latin typeface="Calibri" panose="020F0502020204030204" pitchFamily="34" charset="0"/>
            </a:endParaRPr>
          </a:p>
        </p:txBody>
      </p:sp>
      <p:sp>
        <p:nvSpPr>
          <p:cNvPr id="8" name="Rounded Rectangle 7">
            <a:extLst>
              <a:ext uri="{FF2B5EF4-FFF2-40B4-BE49-F238E27FC236}">
                <a16:creationId xmlns:a16="http://schemas.microsoft.com/office/drawing/2014/main" id="{E9891404-C71D-589C-33CA-BD0FA3D98048}"/>
              </a:ext>
            </a:extLst>
          </p:cNvPr>
          <p:cNvSpPr/>
          <p:nvPr/>
        </p:nvSpPr>
        <p:spPr bwMode="auto">
          <a:xfrm>
            <a:off x="1600200" y="2424113"/>
            <a:ext cx="5508625" cy="2905125"/>
          </a:xfrm>
          <a:prstGeom prst="roundRect">
            <a:avLst/>
          </a:prstGeom>
          <a:solidFill>
            <a:schemeClr val="accent6">
              <a:alpha val="30000"/>
            </a:schemeClr>
          </a:solidFill>
          <a:ln w="9525" cap="flat" cmpd="sng" algn="ctr">
            <a:solidFill>
              <a:schemeClr val="accent6"/>
            </a:solidFill>
            <a:prstDash val="solid"/>
            <a:round/>
            <a:headEnd type="none" w="med" len="med"/>
            <a:tailEnd type="none" w="med" len="med"/>
          </a:ln>
          <a:effectLst/>
        </p:spPr>
        <p:txBody>
          <a:bodyPr anchor="ctr" anchorCtr="1"/>
          <a:lstStyle/>
          <a:p>
            <a:pPr>
              <a:defRPr/>
            </a:pPr>
            <a:r>
              <a:rPr lang="en-CA" sz="2800" dirty="0"/>
              <a:t>CREATE TABLE Book</a:t>
            </a:r>
          </a:p>
          <a:p>
            <a:pPr>
              <a:defRPr/>
            </a:pPr>
            <a:r>
              <a:rPr lang="en-CA" sz="2800" dirty="0"/>
              <a:t>(</a:t>
            </a:r>
          </a:p>
          <a:p>
            <a:pPr>
              <a:defRPr/>
            </a:pPr>
            <a:r>
              <a:rPr lang="en-CA" sz="2800" dirty="0"/>
              <a:t>   ISBN INT,</a:t>
            </a:r>
          </a:p>
          <a:p>
            <a:pPr>
              <a:defRPr/>
            </a:pPr>
            <a:r>
              <a:rPr lang="en-CA" sz="2800" dirty="0"/>
              <a:t>   Title VARCHAR(100),</a:t>
            </a:r>
          </a:p>
          <a:p>
            <a:pPr>
              <a:defRPr/>
            </a:pPr>
            <a:r>
              <a:rPr lang="en-CA" sz="2800" dirty="0"/>
              <a:t>   Quantity INT</a:t>
            </a:r>
          </a:p>
          <a:p>
            <a:pPr>
              <a:defRPr/>
            </a:pPr>
            <a:r>
              <a:rPr lang="en-CA" sz="2800" dirty="0"/>
              <a:t>);</a:t>
            </a:r>
          </a:p>
        </p:txBody>
      </p:sp>
      <p:sp>
        <p:nvSpPr>
          <p:cNvPr id="2" name="Title 1">
            <a:extLst>
              <a:ext uri="{FF2B5EF4-FFF2-40B4-BE49-F238E27FC236}">
                <a16:creationId xmlns:a16="http://schemas.microsoft.com/office/drawing/2014/main" id="{0F91FAE5-F8F3-1D5F-3F1B-4550155F95DD}"/>
              </a:ext>
            </a:extLst>
          </p:cNvPr>
          <p:cNvSpPr>
            <a:spLocks noGrp="1"/>
          </p:cNvSpPr>
          <p:nvPr>
            <p:ph type="title"/>
          </p:nvPr>
        </p:nvSpPr>
        <p:spPr>
          <a:xfrm>
            <a:off x="457200" y="0"/>
            <a:ext cx="7620000" cy="1143000"/>
          </a:xfrm>
        </p:spPr>
        <p:txBody>
          <a:bodyPr/>
          <a:lstStyle/>
          <a:p>
            <a:pPr algn="ctr">
              <a:defRPr/>
            </a:pPr>
            <a:r>
              <a:rPr lang="en-US" dirty="0"/>
              <a:t>Manipulating Tables Using SQL</a:t>
            </a:r>
            <a:endParaRPr lang="en-MY" dirty="0"/>
          </a:p>
        </p:txBody>
      </p:sp>
      <p:sp>
        <p:nvSpPr>
          <p:cNvPr id="11" name="Snip Single Corner Rectangle 10">
            <a:extLst>
              <a:ext uri="{FF2B5EF4-FFF2-40B4-BE49-F238E27FC236}">
                <a16:creationId xmlns:a16="http://schemas.microsoft.com/office/drawing/2014/main" id="{CFB67E91-B7E0-296E-52B2-A6F55ED0B062}"/>
              </a:ext>
            </a:extLst>
          </p:cNvPr>
          <p:cNvSpPr/>
          <p:nvPr/>
        </p:nvSpPr>
        <p:spPr>
          <a:xfrm>
            <a:off x="100013" y="1350963"/>
            <a:ext cx="1728787" cy="401637"/>
          </a:xfrm>
          <a:prstGeom prst="snip1Rect">
            <a:avLst/>
          </a:prstGeom>
          <a:solidFill>
            <a:schemeClr val="accent1">
              <a:alpha val="70000"/>
            </a:schemeClr>
          </a:solidFill>
          <a:ln>
            <a:solidFill>
              <a:schemeClr val="accent1"/>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indent="-342900" algn="just" eaLnBrk="1" hangingPunct="1">
              <a:spcBef>
                <a:spcPct val="20000"/>
              </a:spcBef>
              <a:buClr>
                <a:srgbClr val="FF6600"/>
              </a:buClr>
              <a:buSzPct val="100000"/>
              <a:defRPr/>
            </a:pPr>
            <a:r>
              <a:rPr lang="en-US" dirty="0">
                <a:latin typeface="Arial" pitchFamily="34" charset="0"/>
                <a:ea typeface="Times New Roman" pitchFamily="18" charset="0"/>
                <a:cs typeface="Arial" pitchFamily="34" charset="0"/>
              </a:rPr>
              <a:t>Create a table</a:t>
            </a:r>
            <a:endParaRPr lang="en-GB" kern="0" dirty="0">
              <a:solidFill>
                <a:schemeClr val="tx1"/>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24">
                                            <p:txEl>
                                              <p:pRg st="0" end="0"/>
                                            </p:txEl>
                                          </p:spTgt>
                                        </p:tgtEl>
                                        <p:attrNameLst>
                                          <p:attrName>style.visibility</p:attrName>
                                        </p:attrNameLst>
                                      </p:cBhvr>
                                      <p:to>
                                        <p:strVal val="visible"/>
                                      </p:to>
                                    </p:set>
                                    <p:animEffect transition="in" filter="wipe(left)">
                                      <p:cBhvr>
                                        <p:cTn id="7" dur="500"/>
                                        <p:tgtEl>
                                          <p:spTgt spid="24">
                                            <p:txEl>
                                              <p:pRg st="0" end="0"/>
                                            </p:txEl>
                                          </p:spTgt>
                                        </p:tgtEl>
                                      </p:cBhvr>
                                    </p:animEffect>
                                  </p:childTnLst>
                                </p:cTn>
                              </p:par>
                            </p:childTnLst>
                          </p:cTn>
                        </p:par>
                        <p:par>
                          <p:cTn id="8" fill="hold" nodeType="afterGroup">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up)">
                                      <p:cBhvr>
                                        <p:cTn id="11" dur="500"/>
                                        <p:tgtEl>
                                          <p:spTgt spid="8"/>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24">
                                            <p:txEl>
                                              <p:pRg st="7" end="7"/>
                                            </p:txEl>
                                          </p:spTgt>
                                        </p:tgtEl>
                                        <p:attrNameLst>
                                          <p:attrName>style.visibility</p:attrName>
                                        </p:attrNameLst>
                                      </p:cBhvr>
                                      <p:to>
                                        <p:strVal val="visible"/>
                                      </p:to>
                                    </p:set>
                                    <p:animEffect transition="in" filter="wipe(left)">
                                      <p:cBhvr>
                                        <p:cTn id="16" dur="500"/>
                                        <p:tgtEl>
                                          <p:spTgt spid="2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5">
            <a:extLst>
              <a:ext uri="{FF2B5EF4-FFF2-40B4-BE49-F238E27FC236}">
                <a16:creationId xmlns:a16="http://schemas.microsoft.com/office/drawing/2014/main" id="{35E753C2-F3C5-3C2A-BEBD-3C1AF3FF120A}"/>
              </a:ext>
            </a:extLst>
          </p:cNvPr>
          <p:cNvSpPr txBox="1">
            <a:spLocks/>
          </p:cNvSpPr>
          <p:nvPr/>
        </p:nvSpPr>
        <p:spPr bwMode="auto">
          <a:xfrm>
            <a:off x="250825" y="1989138"/>
            <a:ext cx="7902575"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rgbClr val="FF6600"/>
              </a:buClr>
              <a:buFont typeface="Wingdings 3" panose="05040102010807070707" pitchFamily="18" charset="2"/>
              <a:buNone/>
            </a:pPr>
            <a:r>
              <a:rPr lang="en-CA" altLang="en-US" sz="2800">
                <a:latin typeface="Calibri" panose="020F0502020204030204" pitchFamily="34" charset="0"/>
              </a:rPr>
              <a:t>SQL syntax:</a:t>
            </a:r>
          </a:p>
          <a:p>
            <a:pPr algn="just" eaLnBrk="1" hangingPunct="1">
              <a:spcBef>
                <a:spcPct val="20000"/>
              </a:spcBef>
              <a:buClr>
                <a:srgbClr val="FF6600"/>
              </a:buClr>
              <a:buFont typeface="Wingdings 3" panose="05040102010807070707" pitchFamily="18" charset="2"/>
              <a:buNone/>
            </a:pPr>
            <a:endParaRPr lang="en-CA"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r>
              <a:rPr lang="en-CA" altLang="en-US" sz="2800">
                <a:latin typeface="Calibri" panose="020F0502020204030204" pitchFamily="34" charset="0"/>
              </a:rPr>
              <a:t>For example, to see a list of all the tables that have been created within the </a:t>
            </a:r>
            <a:r>
              <a:rPr lang="en-CA" altLang="en-US" sz="2800" b="1">
                <a:latin typeface="Calibri" panose="020F0502020204030204" pitchFamily="34" charset="0"/>
              </a:rPr>
              <a:t>selected database</a:t>
            </a:r>
          </a:p>
        </p:txBody>
      </p:sp>
      <p:sp>
        <p:nvSpPr>
          <p:cNvPr id="2" name="Title 1">
            <a:extLst>
              <a:ext uri="{FF2B5EF4-FFF2-40B4-BE49-F238E27FC236}">
                <a16:creationId xmlns:a16="http://schemas.microsoft.com/office/drawing/2014/main" id="{5AB9142A-4B41-C13D-61F0-850BFC32A5BF}"/>
              </a:ext>
            </a:extLst>
          </p:cNvPr>
          <p:cNvSpPr>
            <a:spLocks noGrp="1"/>
          </p:cNvSpPr>
          <p:nvPr>
            <p:ph type="title"/>
          </p:nvPr>
        </p:nvSpPr>
        <p:spPr>
          <a:xfrm>
            <a:off x="457200" y="0"/>
            <a:ext cx="7620000" cy="1143000"/>
          </a:xfrm>
        </p:spPr>
        <p:txBody>
          <a:bodyPr/>
          <a:lstStyle/>
          <a:p>
            <a:pPr algn="ctr">
              <a:defRPr/>
            </a:pPr>
            <a:r>
              <a:rPr lang="en-US" dirty="0"/>
              <a:t>Manipulating Tables Using SQL</a:t>
            </a:r>
            <a:endParaRPr lang="en-MY" dirty="0"/>
          </a:p>
        </p:txBody>
      </p:sp>
      <p:sp>
        <p:nvSpPr>
          <p:cNvPr id="9" name="Snip Single Corner Rectangle 8">
            <a:extLst>
              <a:ext uri="{FF2B5EF4-FFF2-40B4-BE49-F238E27FC236}">
                <a16:creationId xmlns:a16="http://schemas.microsoft.com/office/drawing/2014/main" id="{0E6E4925-3045-AA7E-D692-D0D6D1E0712F}"/>
              </a:ext>
            </a:extLst>
          </p:cNvPr>
          <p:cNvSpPr/>
          <p:nvPr/>
        </p:nvSpPr>
        <p:spPr>
          <a:xfrm>
            <a:off x="100013" y="1350963"/>
            <a:ext cx="1728787" cy="401637"/>
          </a:xfrm>
          <a:prstGeom prst="snip1Rect">
            <a:avLst/>
          </a:prstGeom>
          <a:solidFill>
            <a:schemeClr val="accent2">
              <a:alpha val="70000"/>
            </a:schemeClr>
          </a:solidFill>
          <a:ln>
            <a:solidFill>
              <a:schemeClr val="accent2"/>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indent="-342900" algn="just" eaLnBrk="1" hangingPunct="1">
              <a:spcBef>
                <a:spcPct val="20000"/>
              </a:spcBef>
              <a:buClr>
                <a:srgbClr val="FF6600"/>
              </a:buClr>
              <a:buSzPct val="100000"/>
              <a:defRPr/>
            </a:pPr>
            <a:r>
              <a:rPr lang="en-US" dirty="0">
                <a:latin typeface="Arial" pitchFamily="34" charset="0"/>
                <a:ea typeface="Times New Roman" pitchFamily="18" charset="0"/>
                <a:cs typeface="Arial" pitchFamily="34" charset="0"/>
              </a:rPr>
              <a:t>List the tables</a:t>
            </a:r>
            <a:endParaRPr lang="en-GB" kern="0" dirty="0">
              <a:solidFill>
                <a:schemeClr val="tx1"/>
              </a:solidFill>
            </a:endParaRPr>
          </a:p>
        </p:txBody>
      </p:sp>
      <p:sp>
        <p:nvSpPr>
          <p:cNvPr id="4" name="Rounded Rectangle 3">
            <a:extLst>
              <a:ext uri="{FF2B5EF4-FFF2-40B4-BE49-F238E27FC236}">
                <a16:creationId xmlns:a16="http://schemas.microsoft.com/office/drawing/2014/main" id="{5B1C9F11-F633-2825-906A-656BFB8EBFB0}"/>
              </a:ext>
            </a:extLst>
          </p:cNvPr>
          <p:cNvSpPr>
            <a:spLocks noChangeArrowheads="1"/>
          </p:cNvSpPr>
          <p:nvPr/>
        </p:nvSpPr>
        <p:spPr bwMode="auto">
          <a:xfrm>
            <a:off x="787400" y="2636838"/>
            <a:ext cx="6985000" cy="792162"/>
          </a:xfrm>
          <a:prstGeom prst="roundRect">
            <a:avLst>
              <a:gd name="adj" fmla="val 16667"/>
            </a:avLst>
          </a:prstGeom>
          <a:solidFill>
            <a:srgbClr val="7F7B00">
              <a:alpha val="30196"/>
            </a:srgbClr>
          </a:solidFill>
          <a:ln w="9525" algn="ctr">
            <a:solidFill>
              <a:srgbClr val="7F7B00"/>
            </a:solidFill>
            <a:round/>
            <a:headEnd/>
            <a:tailEnd/>
          </a:ln>
        </p:spPr>
        <p:txBody>
          <a:bodyPr anchor="ctr" anchorCtr="1"/>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CA" altLang="en-US" sz="2800"/>
              <a:t>SHOW TABLES;</a:t>
            </a:r>
          </a:p>
        </p:txBody>
      </p:sp>
      <p:sp>
        <p:nvSpPr>
          <p:cNvPr id="11" name="Rounded Rectangle 10">
            <a:extLst>
              <a:ext uri="{FF2B5EF4-FFF2-40B4-BE49-F238E27FC236}">
                <a16:creationId xmlns:a16="http://schemas.microsoft.com/office/drawing/2014/main" id="{49D73D1B-2218-742E-73FF-02E174F674B2}"/>
              </a:ext>
            </a:extLst>
          </p:cNvPr>
          <p:cNvSpPr/>
          <p:nvPr/>
        </p:nvSpPr>
        <p:spPr bwMode="auto">
          <a:xfrm>
            <a:off x="787400" y="5157788"/>
            <a:ext cx="6985000" cy="792162"/>
          </a:xfrm>
          <a:prstGeom prst="roundRect">
            <a:avLst/>
          </a:prstGeom>
          <a:solidFill>
            <a:schemeClr val="accent6">
              <a:alpha val="30000"/>
            </a:schemeClr>
          </a:solidFill>
          <a:ln w="9525" cap="flat" cmpd="sng" algn="ctr">
            <a:solidFill>
              <a:schemeClr val="accent6"/>
            </a:solidFill>
            <a:prstDash val="solid"/>
            <a:round/>
            <a:headEnd type="none" w="med" len="med"/>
            <a:tailEnd type="none" w="med" len="med"/>
          </a:ln>
          <a:effectLst/>
        </p:spPr>
        <p:txBody>
          <a:bodyPr anchor="ctr" anchorCtr="1"/>
          <a:lstStyle/>
          <a:p>
            <a:pPr>
              <a:defRPr/>
            </a:pPr>
            <a:r>
              <a:rPr lang="en-CA" sz="2800" dirty="0">
                <a:latin typeface="Arial" charset="0"/>
              </a:rPr>
              <a:t>SHOW TABLES;</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0">
                                            <p:txEl>
                                              <p:pRg st="0" end="0"/>
                                            </p:txEl>
                                          </p:spTgt>
                                        </p:tgtEl>
                                        <p:attrNameLst>
                                          <p:attrName>style.visibility</p:attrName>
                                        </p:attrNameLst>
                                      </p:cBhvr>
                                      <p:to>
                                        <p:strVal val="visible"/>
                                      </p:to>
                                    </p:set>
                                    <p:animEffect transition="in" filter="wipe(left)">
                                      <p:cBhvr>
                                        <p:cTn id="11" dur="500"/>
                                        <p:tgtEl>
                                          <p:spTgt spid="10">
                                            <p:txEl>
                                              <p:pRg st="0" end="0"/>
                                            </p:txEl>
                                          </p:spTgt>
                                        </p:tgtEl>
                                      </p:cBhvr>
                                    </p:animEffect>
                                  </p:childTnLst>
                                </p:cTn>
                              </p:par>
                            </p:childTnLst>
                          </p:cTn>
                        </p:par>
                        <p:par>
                          <p:cTn id="12" fill="hold" nodeType="afterGroup">
                            <p:stCondLst>
                              <p:cond delay="1000"/>
                            </p:stCondLst>
                            <p:childTnLst>
                              <p:par>
                                <p:cTn id="13" presetID="16" presetClass="entr" presetSubtype="21"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barn(inVertical)">
                                      <p:cBhvr>
                                        <p:cTn id="15" dur="500"/>
                                        <p:tgtEl>
                                          <p:spTgt spid="4"/>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0">
                                            <p:txEl>
                                              <p:pRg st="4" end="4"/>
                                            </p:txEl>
                                          </p:spTgt>
                                        </p:tgtEl>
                                        <p:attrNameLst>
                                          <p:attrName>style.visibility</p:attrName>
                                        </p:attrNameLst>
                                      </p:cBhvr>
                                      <p:to>
                                        <p:strVal val="visible"/>
                                      </p:to>
                                    </p:set>
                                    <p:animEffect transition="in" filter="wipe(left)">
                                      <p:cBhvr>
                                        <p:cTn id="20" dur="500"/>
                                        <p:tgtEl>
                                          <p:spTgt spid="10">
                                            <p:txEl>
                                              <p:pRg st="4" end="4"/>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6" presetClass="entr" presetSubtype="21"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barn(inVertical)">
                                      <p:cBhvr>
                                        <p:cTn id="25"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P spid="9" grpId="0" animBg="1"/>
      <p:bldP spid="4" grpId="0" animBg="1"/>
      <p:bldP spid="11"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5">
            <a:extLst>
              <a:ext uri="{FF2B5EF4-FFF2-40B4-BE49-F238E27FC236}">
                <a16:creationId xmlns:a16="http://schemas.microsoft.com/office/drawing/2014/main" id="{E9CBBC89-E959-A426-43EB-C2F0B27F3AFD}"/>
              </a:ext>
            </a:extLst>
          </p:cNvPr>
          <p:cNvSpPr txBox="1">
            <a:spLocks/>
          </p:cNvSpPr>
          <p:nvPr/>
        </p:nvSpPr>
        <p:spPr bwMode="auto">
          <a:xfrm>
            <a:off x="250825" y="1989138"/>
            <a:ext cx="7902575"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903288" indent="-446088">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rgbClr val="FF6600"/>
              </a:buClr>
              <a:buFont typeface="Wingdings 3" panose="05040102010807070707" pitchFamily="18" charset="2"/>
              <a:buNone/>
            </a:pPr>
            <a:r>
              <a:rPr lang="en-CA" altLang="en-US" sz="2800">
                <a:latin typeface="Calibri" panose="020F0502020204030204" pitchFamily="34" charset="0"/>
              </a:rPr>
              <a:t>SQL syntax:</a:t>
            </a:r>
          </a:p>
          <a:p>
            <a:pPr algn="just" eaLnBrk="1" hangingPunct="1">
              <a:spcBef>
                <a:spcPct val="20000"/>
              </a:spcBef>
              <a:buClr>
                <a:srgbClr val="FF6600"/>
              </a:buClr>
              <a:buFont typeface="Wingdings 3" panose="05040102010807070707" pitchFamily="18" charset="2"/>
              <a:buNone/>
            </a:pPr>
            <a:endParaRPr lang="en-CA"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r>
              <a:rPr lang="en-CA" altLang="en-US" sz="2800">
                <a:latin typeface="Calibri" panose="020F0502020204030204" pitchFamily="34" charset="0"/>
              </a:rPr>
              <a:t>DESCRIBE provides information about the columns of the table including</a:t>
            </a:r>
          </a:p>
          <a:p>
            <a:pPr lvl="1" algn="just" eaLnBrk="1" hangingPunct="1">
              <a:spcBef>
                <a:spcPct val="20000"/>
              </a:spcBef>
              <a:buClr>
                <a:srgbClr val="FF6600"/>
              </a:buClr>
              <a:buFont typeface="Wingdings 3" panose="05040102010807070707" pitchFamily="18" charset="2"/>
              <a:buChar char=""/>
            </a:pPr>
            <a:r>
              <a:rPr lang="en-CA" altLang="en-US" sz="2800">
                <a:latin typeface="Calibri" panose="020F0502020204030204" pitchFamily="34" charset="0"/>
              </a:rPr>
              <a:t>Column name, data type, whether the column accepts null or not, is the column a primary key, etc.</a:t>
            </a:r>
          </a:p>
        </p:txBody>
      </p:sp>
      <p:sp>
        <p:nvSpPr>
          <p:cNvPr id="2" name="Title 1">
            <a:extLst>
              <a:ext uri="{FF2B5EF4-FFF2-40B4-BE49-F238E27FC236}">
                <a16:creationId xmlns:a16="http://schemas.microsoft.com/office/drawing/2014/main" id="{B0114C93-3CE5-1269-3C42-83A0B142FDE8}"/>
              </a:ext>
            </a:extLst>
          </p:cNvPr>
          <p:cNvSpPr>
            <a:spLocks noGrp="1"/>
          </p:cNvSpPr>
          <p:nvPr>
            <p:ph type="title"/>
          </p:nvPr>
        </p:nvSpPr>
        <p:spPr>
          <a:xfrm>
            <a:off x="457200" y="0"/>
            <a:ext cx="7620000" cy="1143000"/>
          </a:xfrm>
        </p:spPr>
        <p:txBody>
          <a:bodyPr/>
          <a:lstStyle/>
          <a:p>
            <a:pPr algn="ctr">
              <a:defRPr/>
            </a:pPr>
            <a:r>
              <a:rPr lang="en-US" dirty="0"/>
              <a:t>Manipulating Tables Using SQL</a:t>
            </a:r>
            <a:endParaRPr lang="en-MY" dirty="0"/>
          </a:p>
        </p:txBody>
      </p:sp>
      <p:sp>
        <p:nvSpPr>
          <p:cNvPr id="9" name="Snip Single Corner Rectangle 8">
            <a:extLst>
              <a:ext uri="{FF2B5EF4-FFF2-40B4-BE49-F238E27FC236}">
                <a16:creationId xmlns:a16="http://schemas.microsoft.com/office/drawing/2014/main" id="{7BE0C4A5-A90E-507B-3C44-09604DBA60B9}"/>
              </a:ext>
            </a:extLst>
          </p:cNvPr>
          <p:cNvSpPr/>
          <p:nvPr/>
        </p:nvSpPr>
        <p:spPr>
          <a:xfrm>
            <a:off x="109538" y="1350963"/>
            <a:ext cx="1871662" cy="401637"/>
          </a:xfrm>
          <a:prstGeom prst="snip1Rect">
            <a:avLst/>
          </a:prstGeom>
          <a:solidFill>
            <a:schemeClr val="accent3">
              <a:alpha val="70000"/>
            </a:schemeClr>
          </a:solidFill>
          <a:ln>
            <a:solidFill>
              <a:schemeClr val="accent3"/>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indent="-342900" algn="just" eaLnBrk="1" hangingPunct="1">
              <a:spcBef>
                <a:spcPct val="20000"/>
              </a:spcBef>
              <a:buClr>
                <a:srgbClr val="FF6600"/>
              </a:buClr>
              <a:buSzPct val="100000"/>
              <a:defRPr/>
            </a:pPr>
            <a:r>
              <a:rPr lang="en-US" dirty="0">
                <a:latin typeface="Arial" pitchFamily="34" charset="0"/>
                <a:ea typeface="Times New Roman" pitchFamily="18" charset="0"/>
                <a:cs typeface="Arial" pitchFamily="34" charset="0"/>
              </a:rPr>
              <a:t>Examine a table</a:t>
            </a:r>
            <a:endParaRPr lang="en-GB" kern="0" dirty="0">
              <a:solidFill>
                <a:schemeClr val="tx1"/>
              </a:solidFill>
            </a:endParaRPr>
          </a:p>
        </p:txBody>
      </p:sp>
      <p:sp>
        <p:nvSpPr>
          <p:cNvPr id="4" name="Rounded Rectangle 3">
            <a:extLst>
              <a:ext uri="{FF2B5EF4-FFF2-40B4-BE49-F238E27FC236}">
                <a16:creationId xmlns:a16="http://schemas.microsoft.com/office/drawing/2014/main" id="{9EB2B446-9CD8-FB49-1A6D-BF723F65EC17}"/>
              </a:ext>
            </a:extLst>
          </p:cNvPr>
          <p:cNvSpPr>
            <a:spLocks noChangeArrowheads="1"/>
          </p:cNvSpPr>
          <p:nvPr/>
        </p:nvSpPr>
        <p:spPr bwMode="auto">
          <a:xfrm>
            <a:off x="711200" y="2636838"/>
            <a:ext cx="6985000" cy="792162"/>
          </a:xfrm>
          <a:prstGeom prst="roundRect">
            <a:avLst>
              <a:gd name="adj" fmla="val 16667"/>
            </a:avLst>
          </a:prstGeom>
          <a:solidFill>
            <a:srgbClr val="7F7B00">
              <a:alpha val="30196"/>
            </a:srgbClr>
          </a:solidFill>
          <a:ln w="9525" algn="ctr">
            <a:solidFill>
              <a:srgbClr val="7F7B00"/>
            </a:solidFill>
            <a:round/>
            <a:headEnd/>
            <a:tailEnd/>
          </a:ln>
        </p:spPr>
        <p:txBody>
          <a:bodyPr anchor="ctr" anchorCtr="1"/>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CA" altLang="en-US" sz="2800"/>
              <a:t>DESCRIBE &lt;table_name&gt;;</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0">
                                            <p:txEl>
                                              <p:pRg st="0" end="0"/>
                                            </p:txEl>
                                          </p:spTgt>
                                        </p:tgtEl>
                                        <p:attrNameLst>
                                          <p:attrName>style.visibility</p:attrName>
                                        </p:attrNameLst>
                                      </p:cBhvr>
                                      <p:to>
                                        <p:strVal val="visible"/>
                                      </p:to>
                                    </p:set>
                                    <p:animEffect transition="in" filter="wipe(left)">
                                      <p:cBhvr>
                                        <p:cTn id="11" dur="500"/>
                                        <p:tgtEl>
                                          <p:spTgt spid="10">
                                            <p:txEl>
                                              <p:pRg st="0" end="0"/>
                                            </p:txEl>
                                          </p:spTgt>
                                        </p:tgtEl>
                                      </p:cBhvr>
                                    </p:animEffect>
                                  </p:childTnLst>
                                </p:cTn>
                              </p:par>
                            </p:childTnLst>
                          </p:cTn>
                        </p:par>
                        <p:par>
                          <p:cTn id="12" fill="hold" nodeType="afterGroup">
                            <p:stCondLst>
                              <p:cond delay="1000"/>
                            </p:stCondLst>
                            <p:childTnLst>
                              <p:par>
                                <p:cTn id="13" presetID="16" presetClass="entr" presetSubtype="21"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barn(inVertical)">
                                      <p:cBhvr>
                                        <p:cTn id="15" dur="500"/>
                                        <p:tgtEl>
                                          <p:spTgt spid="4"/>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0">
                                            <p:txEl>
                                              <p:pRg st="4" end="4"/>
                                            </p:txEl>
                                          </p:spTgt>
                                        </p:tgtEl>
                                        <p:attrNameLst>
                                          <p:attrName>style.visibility</p:attrName>
                                        </p:attrNameLst>
                                      </p:cBhvr>
                                      <p:to>
                                        <p:strVal val="visible"/>
                                      </p:to>
                                    </p:set>
                                    <p:animEffect transition="in" filter="wipe(left)">
                                      <p:cBhvr>
                                        <p:cTn id="20" dur="500"/>
                                        <p:tgtEl>
                                          <p:spTgt spid="10">
                                            <p:txEl>
                                              <p:pRg st="4" end="4"/>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0">
                                            <p:txEl>
                                              <p:pRg st="5" end="5"/>
                                            </p:txEl>
                                          </p:spTgt>
                                        </p:tgtEl>
                                        <p:attrNameLst>
                                          <p:attrName>style.visibility</p:attrName>
                                        </p:attrNameLst>
                                      </p:cBhvr>
                                      <p:to>
                                        <p:strVal val="visible"/>
                                      </p:to>
                                    </p:set>
                                    <p:animEffect transition="in" filter="wipe(left)">
                                      <p:cBhvr>
                                        <p:cTn id="25" dur="500"/>
                                        <p:tgtEl>
                                          <p:spTgt spid="10">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P spid="9" grpId="0" animBg="1"/>
      <p:bldP spid="4"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5">
            <a:extLst>
              <a:ext uri="{FF2B5EF4-FFF2-40B4-BE49-F238E27FC236}">
                <a16:creationId xmlns:a16="http://schemas.microsoft.com/office/drawing/2014/main" id="{DE8526E9-F33B-DAD7-E5E6-E1F6386A27F1}"/>
              </a:ext>
            </a:extLst>
          </p:cNvPr>
          <p:cNvSpPr txBox="1">
            <a:spLocks/>
          </p:cNvSpPr>
          <p:nvPr/>
        </p:nvSpPr>
        <p:spPr bwMode="auto">
          <a:xfrm>
            <a:off x="250825" y="1989138"/>
            <a:ext cx="7978775"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rgbClr val="FF6600"/>
              </a:buClr>
              <a:buFont typeface="Wingdings 3" panose="05040102010807070707" pitchFamily="18" charset="2"/>
              <a:buNone/>
            </a:pPr>
            <a:r>
              <a:rPr lang="en-CA" altLang="en-US" sz="2800">
                <a:latin typeface="Calibri" panose="020F0502020204030204" pitchFamily="34" charset="0"/>
              </a:rPr>
              <a:t>For example, to figure out the data type assigned to each column of  the “Book” table</a:t>
            </a:r>
          </a:p>
          <a:p>
            <a:pPr algn="just" eaLnBrk="1" hangingPunct="1">
              <a:spcBef>
                <a:spcPct val="20000"/>
              </a:spcBef>
              <a:buClr>
                <a:srgbClr val="FF6600"/>
              </a:buClr>
              <a:buFont typeface="Wingdings 3" panose="05040102010807070707" pitchFamily="18" charset="2"/>
              <a:buNone/>
            </a:pPr>
            <a:endParaRPr lang="en-CA"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r>
              <a:rPr lang="en-CA" altLang="en-US" sz="2800">
                <a:latin typeface="Calibri" panose="020F0502020204030204" pitchFamily="34" charset="0"/>
              </a:rPr>
              <a:t>Output of executing the SQL</a:t>
            </a:r>
          </a:p>
        </p:txBody>
      </p:sp>
      <p:sp>
        <p:nvSpPr>
          <p:cNvPr id="2" name="Title 1">
            <a:extLst>
              <a:ext uri="{FF2B5EF4-FFF2-40B4-BE49-F238E27FC236}">
                <a16:creationId xmlns:a16="http://schemas.microsoft.com/office/drawing/2014/main" id="{63AE0C7C-61C9-1F1D-2DA6-308393E24A99}"/>
              </a:ext>
            </a:extLst>
          </p:cNvPr>
          <p:cNvSpPr>
            <a:spLocks noGrp="1"/>
          </p:cNvSpPr>
          <p:nvPr>
            <p:ph type="title"/>
          </p:nvPr>
        </p:nvSpPr>
        <p:spPr>
          <a:xfrm>
            <a:off x="457200" y="0"/>
            <a:ext cx="7620000" cy="1143000"/>
          </a:xfrm>
        </p:spPr>
        <p:txBody>
          <a:bodyPr/>
          <a:lstStyle/>
          <a:p>
            <a:pPr algn="ctr">
              <a:defRPr/>
            </a:pPr>
            <a:r>
              <a:rPr lang="en-US" dirty="0"/>
              <a:t>Manipulating Tables Using SQL</a:t>
            </a:r>
            <a:endParaRPr lang="en-MY" dirty="0"/>
          </a:p>
        </p:txBody>
      </p:sp>
      <p:sp>
        <p:nvSpPr>
          <p:cNvPr id="11" name="Rounded Rectangle 10">
            <a:extLst>
              <a:ext uri="{FF2B5EF4-FFF2-40B4-BE49-F238E27FC236}">
                <a16:creationId xmlns:a16="http://schemas.microsoft.com/office/drawing/2014/main" id="{7E9F3600-30D3-2430-8924-6AAB4BBC13E0}"/>
              </a:ext>
            </a:extLst>
          </p:cNvPr>
          <p:cNvSpPr/>
          <p:nvPr/>
        </p:nvSpPr>
        <p:spPr bwMode="auto">
          <a:xfrm>
            <a:off x="787400" y="2987675"/>
            <a:ext cx="6985000" cy="792163"/>
          </a:xfrm>
          <a:prstGeom prst="roundRect">
            <a:avLst/>
          </a:prstGeom>
          <a:solidFill>
            <a:schemeClr val="accent6">
              <a:alpha val="30000"/>
            </a:schemeClr>
          </a:solidFill>
          <a:ln w="9525" cap="flat" cmpd="sng" algn="ctr">
            <a:solidFill>
              <a:schemeClr val="accent6"/>
            </a:solidFill>
            <a:prstDash val="solid"/>
            <a:round/>
            <a:headEnd type="none" w="med" len="med"/>
            <a:tailEnd type="none" w="med" len="med"/>
          </a:ln>
          <a:effectLst/>
        </p:spPr>
        <p:txBody>
          <a:bodyPr anchor="ctr" anchorCtr="1"/>
          <a:lstStyle/>
          <a:p>
            <a:pPr>
              <a:defRPr/>
            </a:pPr>
            <a:r>
              <a:rPr lang="en-CA" sz="2800" dirty="0">
                <a:latin typeface="Arial" charset="0"/>
              </a:rPr>
              <a:t>DESCRIBE Book;</a:t>
            </a:r>
          </a:p>
        </p:txBody>
      </p:sp>
      <p:graphicFrame>
        <p:nvGraphicFramePr>
          <p:cNvPr id="3" name="Table 2">
            <a:extLst>
              <a:ext uri="{FF2B5EF4-FFF2-40B4-BE49-F238E27FC236}">
                <a16:creationId xmlns:a16="http://schemas.microsoft.com/office/drawing/2014/main" id="{4C3ED632-16AC-89A9-D787-EDDC19172491}"/>
              </a:ext>
            </a:extLst>
          </p:cNvPr>
          <p:cNvGraphicFramePr>
            <a:graphicFrameLocks noGrp="1"/>
          </p:cNvGraphicFramePr>
          <p:nvPr/>
        </p:nvGraphicFramePr>
        <p:xfrm>
          <a:off x="684213" y="4826000"/>
          <a:ext cx="6096000" cy="1482724"/>
        </p:xfrm>
        <a:graphic>
          <a:graphicData uri="http://schemas.openxmlformats.org/drawingml/2006/table">
            <a:tbl>
              <a:tblPr firstRow="1" bandRow="1">
                <a:tableStyleId>{3B4B98B0-60AC-42C2-AFA5-B58CD77FA1E5}</a:tableStyleId>
              </a:tblPr>
              <a:tblGrid>
                <a:gridCol w="15240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tblGrid>
              <a:tr h="370681">
                <a:tc>
                  <a:txBody>
                    <a:bodyPr/>
                    <a:lstStyle/>
                    <a:p>
                      <a:pPr algn="ctr"/>
                      <a:r>
                        <a:rPr lang="en-CA" sz="1800" dirty="0"/>
                        <a:t>Field</a:t>
                      </a:r>
                    </a:p>
                  </a:txBody>
                  <a:tcPr marT="45700" marB="45700"/>
                </a:tc>
                <a:tc>
                  <a:txBody>
                    <a:bodyPr/>
                    <a:lstStyle/>
                    <a:p>
                      <a:pPr algn="ctr"/>
                      <a:r>
                        <a:rPr lang="en-CA" sz="1800" dirty="0"/>
                        <a:t>Type</a:t>
                      </a:r>
                    </a:p>
                  </a:txBody>
                  <a:tcPr marT="45700" marB="45700"/>
                </a:tc>
                <a:tc>
                  <a:txBody>
                    <a:bodyPr/>
                    <a:lstStyle/>
                    <a:p>
                      <a:pPr algn="ctr"/>
                      <a:r>
                        <a:rPr lang="en-CA" sz="1800" dirty="0"/>
                        <a:t>Null</a:t>
                      </a:r>
                    </a:p>
                  </a:txBody>
                  <a:tcPr marT="45700" marB="45700"/>
                </a:tc>
                <a:tc>
                  <a:txBody>
                    <a:bodyPr/>
                    <a:lstStyle/>
                    <a:p>
                      <a:pPr algn="ctr"/>
                      <a:r>
                        <a:rPr lang="en-CA" sz="1800" dirty="0"/>
                        <a:t>…</a:t>
                      </a:r>
                    </a:p>
                  </a:txBody>
                  <a:tcPr marT="45700" marB="45700"/>
                </a:tc>
                <a:extLst>
                  <a:ext uri="{0D108BD9-81ED-4DB2-BD59-A6C34878D82A}">
                    <a16:rowId xmlns:a16="http://schemas.microsoft.com/office/drawing/2014/main" val="10000"/>
                  </a:ext>
                </a:extLst>
              </a:tr>
              <a:tr h="370681">
                <a:tc>
                  <a:txBody>
                    <a:bodyPr/>
                    <a:lstStyle/>
                    <a:p>
                      <a:pPr algn="ctr"/>
                      <a:r>
                        <a:rPr lang="en-CA" sz="1800" dirty="0"/>
                        <a:t>ISBN</a:t>
                      </a:r>
                    </a:p>
                  </a:txBody>
                  <a:tcPr marT="45700" marB="45700"/>
                </a:tc>
                <a:tc>
                  <a:txBody>
                    <a:bodyPr/>
                    <a:lstStyle/>
                    <a:p>
                      <a:pPr algn="ctr"/>
                      <a:r>
                        <a:rPr lang="en-CA" sz="1800" dirty="0" err="1"/>
                        <a:t>int</a:t>
                      </a:r>
                      <a:r>
                        <a:rPr lang="en-CA" sz="1800" dirty="0"/>
                        <a:t>(11)</a:t>
                      </a:r>
                    </a:p>
                  </a:txBody>
                  <a:tcPr marT="45700" marB="45700"/>
                </a:tc>
                <a:tc>
                  <a:txBody>
                    <a:bodyPr/>
                    <a:lstStyle/>
                    <a:p>
                      <a:pPr algn="ctr"/>
                      <a:r>
                        <a:rPr lang="en-CA" sz="1800" dirty="0"/>
                        <a:t>YES</a:t>
                      </a:r>
                    </a:p>
                  </a:txBody>
                  <a:tcPr marT="45700" marB="45700"/>
                </a:tc>
                <a:tc>
                  <a:txBody>
                    <a:bodyPr/>
                    <a:lstStyle/>
                    <a:p>
                      <a:pPr algn="ctr"/>
                      <a:r>
                        <a:rPr lang="en-CA" sz="1800" dirty="0"/>
                        <a:t>…</a:t>
                      </a:r>
                    </a:p>
                  </a:txBody>
                  <a:tcPr marT="45700" marB="45700"/>
                </a:tc>
                <a:extLst>
                  <a:ext uri="{0D108BD9-81ED-4DB2-BD59-A6C34878D82A}">
                    <a16:rowId xmlns:a16="http://schemas.microsoft.com/office/drawing/2014/main" val="10001"/>
                  </a:ext>
                </a:extLst>
              </a:tr>
              <a:tr h="370681">
                <a:tc>
                  <a:txBody>
                    <a:bodyPr/>
                    <a:lstStyle/>
                    <a:p>
                      <a:pPr algn="ctr"/>
                      <a:r>
                        <a:rPr lang="en-CA" sz="1800" dirty="0"/>
                        <a:t>Quantity</a:t>
                      </a:r>
                    </a:p>
                  </a:txBody>
                  <a:tcPr marT="45700" marB="45700"/>
                </a:tc>
                <a:tc>
                  <a:txBody>
                    <a:bodyPr/>
                    <a:lstStyle/>
                    <a:p>
                      <a:pPr algn="ctr"/>
                      <a:r>
                        <a:rPr lang="en-CA" sz="1800" dirty="0" err="1"/>
                        <a:t>int</a:t>
                      </a:r>
                      <a:r>
                        <a:rPr lang="en-CA" sz="1800" dirty="0"/>
                        <a:t>(11)</a:t>
                      </a:r>
                    </a:p>
                  </a:txBody>
                  <a:tcPr marT="45700" marB="4570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CA" sz="1800" dirty="0"/>
                        <a:t>YES</a:t>
                      </a:r>
                    </a:p>
                  </a:txBody>
                  <a:tcPr marT="45700" marB="4570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CA" sz="1800" dirty="0"/>
                        <a:t>…</a:t>
                      </a:r>
                    </a:p>
                  </a:txBody>
                  <a:tcPr marT="45700" marB="45700"/>
                </a:tc>
                <a:extLst>
                  <a:ext uri="{0D108BD9-81ED-4DB2-BD59-A6C34878D82A}">
                    <a16:rowId xmlns:a16="http://schemas.microsoft.com/office/drawing/2014/main" val="10002"/>
                  </a:ext>
                </a:extLst>
              </a:tr>
              <a:tr h="370681">
                <a:tc>
                  <a:txBody>
                    <a:bodyPr/>
                    <a:lstStyle/>
                    <a:p>
                      <a:pPr algn="ctr"/>
                      <a:r>
                        <a:rPr lang="en-CA" sz="1800" dirty="0"/>
                        <a:t>Title</a:t>
                      </a:r>
                    </a:p>
                  </a:txBody>
                  <a:tcPr marT="45700" marB="45700"/>
                </a:tc>
                <a:tc>
                  <a:txBody>
                    <a:bodyPr/>
                    <a:lstStyle/>
                    <a:p>
                      <a:pPr algn="ctr"/>
                      <a:r>
                        <a:rPr lang="en-CA" sz="1800" dirty="0" err="1"/>
                        <a:t>varchar</a:t>
                      </a:r>
                      <a:r>
                        <a:rPr lang="en-CA" sz="1800" dirty="0"/>
                        <a:t>(100)</a:t>
                      </a:r>
                    </a:p>
                  </a:txBody>
                  <a:tcPr marT="45700" marB="4570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CA" sz="1800" dirty="0"/>
                        <a:t>YES</a:t>
                      </a:r>
                    </a:p>
                  </a:txBody>
                  <a:tcPr marT="45700" marB="4570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CA" sz="1800" dirty="0"/>
                        <a:t>…</a:t>
                      </a:r>
                    </a:p>
                  </a:txBody>
                  <a:tcPr marT="45700" marB="45700"/>
                </a:tc>
                <a:extLst>
                  <a:ext uri="{0D108BD9-81ED-4DB2-BD59-A6C34878D82A}">
                    <a16:rowId xmlns:a16="http://schemas.microsoft.com/office/drawing/2014/main" val="10003"/>
                  </a:ext>
                </a:extLst>
              </a:tr>
            </a:tbl>
          </a:graphicData>
        </a:graphic>
      </p:graphicFrame>
      <p:sp>
        <p:nvSpPr>
          <p:cNvPr id="16" name="Snip Single Corner Rectangle 15">
            <a:extLst>
              <a:ext uri="{FF2B5EF4-FFF2-40B4-BE49-F238E27FC236}">
                <a16:creationId xmlns:a16="http://schemas.microsoft.com/office/drawing/2014/main" id="{E860846A-06BC-B949-CD1C-C434069A4B15}"/>
              </a:ext>
            </a:extLst>
          </p:cNvPr>
          <p:cNvSpPr/>
          <p:nvPr/>
        </p:nvSpPr>
        <p:spPr>
          <a:xfrm>
            <a:off x="109538" y="1350963"/>
            <a:ext cx="1871662" cy="401637"/>
          </a:xfrm>
          <a:prstGeom prst="snip1Rect">
            <a:avLst/>
          </a:prstGeom>
          <a:solidFill>
            <a:schemeClr val="accent3">
              <a:alpha val="70000"/>
            </a:schemeClr>
          </a:solidFill>
          <a:ln>
            <a:solidFill>
              <a:schemeClr val="accent3"/>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indent="-342900" algn="just" eaLnBrk="1" hangingPunct="1">
              <a:spcBef>
                <a:spcPct val="20000"/>
              </a:spcBef>
              <a:buClr>
                <a:srgbClr val="FF6600"/>
              </a:buClr>
              <a:buSzPct val="100000"/>
              <a:defRPr/>
            </a:pPr>
            <a:r>
              <a:rPr lang="en-US" dirty="0">
                <a:latin typeface="Arial" pitchFamily="34" charset="0"/>
                <a:ea typeface="Times New Roman" pitchFamily="18" charset="0"/>
                <a:cs typeface="Arial" pitchFamily="34" charset="0"/>
              </a:rPr>
              <a:t>Examine a table</a:t>
            </a:r>
            <a:endParaRPr lang="en-GB" kern="0" dirty="0">
              <a:solidFill>
                <a:schemeClr val="tx1"/>
              </a:solidFill>
            </a:endParaRPr>
          </a:p>
        </p:txBody>
      </p:sp>
      <p:grpSp>
        <p:nvGrpSpPr>
          <p:cNvPr id="4" name="Group 16">
            <a:extLst>
              <a:ext uri="{FF2B5EF4-FFF2-40B4-BE49-F238E27FC236}">
                <a16:creationId xmlns:a16="http://schemas.microsoft.com/office/drawing/2014/main" id="{363DAB3E-89DB-2E51-D2AD-F10867506441}"/>
              </a:ext>
            </a:extLst>
          </p:cNvPr>
          <p:cNvGrpSpPr>
            <a:grpSpLocks/>
          </p:cNvGrpSpPr>
          <p:nvPr/>
        </p:nvGrpSpPr>
        <p:grpSpPr bwMode="auto">
          <a:xfrm>
            <a:off x="6921500" y="5232400"/>
            <a:ext cx="2049463" cy="1076325"/>
            <a:chOff x="4570249" y="4077072"/>
            <a:chExt cx="2049244" cy="1076394"/>
          </a:xfrm>
        </p:grpSpPr>
        <p:sp>
          <p:nvSpPr>
            <p:cNvPr id="40987" name="Right Brace 17">
              <a:extLst>
                <a:ext uri="{FF2B5EF4-FFF2-40B4-BE49-F238E27FC236}">
                  <a16:creationId xmlns:a16="http://schemas.microsoft.com/office/drawing/2014/main" id="{E724CE01-9AFF-8A89-3B38-D4F95534C9D5}"/>
                </a:ext>
              </a:extLst>
            </p:cNvPr>
            <p:cNvSpPr>
              <a:spLocks/>
            </p:cNvSpPr>
            <p:nvPr/>
          </p:nvSpPr>
          <p:spPr bwMode="auto">
            <a:xfrm>
              <a:off x="4570249" y="4077072"/>
              <a:ext cx="288032" cy="1076394"/>
            </a:xfrm>
            <a:prstGeom prst="rightBrace">
              <a:avLst>
                <a:gd name="adj1" fmla="val 8339"/>
                <a:gd name="adj2" fmla="val 50000"/>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endParaRPr lang="en-CA" altLang="en-US"/>
            </a:p>
          </p:txBody>
        </p:sp>
        <p:sp>
          <p:nvSpPr>
            <p:cNvPr id="40988" name="TextBox 18">
              <a:extLst>
                <a:ext uri="{FF2B5EF4-FFF2-40B4-BE49-F238E27FC236}">
                  <a16:creationId xmlns:a16="http://schemas.microsoft.com/office/drawing/2014/main" id="{C9EA8100-AE54-7F22-84B4-F1163019DE48}"/>
                </a:ext>
              </a:extLst>
            </p:cNvPr>
            <p:cNvSpPr txBox="1">
              <a:spLocks noChangeArrowheads="1"/>
            </p:cNvSpPr>
            <p:nvPr/>
          </p:nvSpPr>
          <p:spPr bwMode="auto">
            <a:xfrm>
              <a:off x="4813748" y="4422500"/>
              <a:ext cx="180574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CA" altLang="en-US" sz="2000"/>
                <a:t>Metadata</a:t>
              </a:r>
            </a:p>
          </p:txBody>
        </p:sp>
      </p:gr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wipe(left)">
                                      <p:cBhvr>
                                        <p:cTn id="7" dur="500"/>
                                        <p:tgtEl>
                                          <p:spTgt spid="10">
                                            <p:txEl>
                                              <p:pRg st="0" end="0"/>
                                            </p:txEl>
                                          </p:spTgt>
                                        </p:tgtEl>
                                      </p:cBhvr>
                                    </p:animEffect>
                                  </p:childTnLst>
                                </p:cTn>
                              </p:par>
                            </p:childTnLst>
                          </p:cTn>
                        </p:par>
                        <p:par>
                          <p:cTn id="8" fill="hold" nodeType="afterGroup">
                            <p:stCondLst>
                              <p:cond delay="500"/>
                            </p:stCondLst>
                            <p:childTnLst>
                              <p:par>
                                <p:cTn id="9" presetID="16" presetClass="entr" presetSubtype="21"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barn(inVertical)">
                                      <p:cBhvr>
                                        <p:cTn id="11" dur="500"/>
                                        <p:tgtEl>
                                          <p:spTgt spid="11"/>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0">
                                            <p:txEl>
                                              <p:pRg st="4" end="4"/>
                                            </p:txEl>
                                          </p:spTgt>
                                        </p:tgtEl>
                                        <p:attrNameLst>
                                          <p:attrName>style.visibility</p:attrName>
                                        </p:attrNameLst>
                                      </p:cBhvr>
                                      <p:to>
                                        <p:strVal val="visible"/>
                                      </p:to>
                                    </p:set>
                                    <p:animEffect transition="in" filter="wipe(left)">
                                      <p:cBhvr>
                                        <p:cTn id="16" dur="500"/>
                                        <p:tgtEl>
                                          <p:spTgt spid="10">
                                            <p:txEl>
                                              <p:pRg st="4" end="4"/>
                                            </p:txEl>
                                          </p:spTgt>
                                        </p:tgtEl>
                                      </p:cBhvr>
                                    </p:animEffect>
                                  </p:childTnLst>
                                </p:cTn>
                              </p:par>
                            </p:childTnLst>
                          </p:cTn>
                        </p:par>
                        <p:par>
                          <p:cTn id="17" fill="hold" nodeType="afterGroup">
                            <p:stCondLst>
                              <p:cond delay="500"/>
                            </p:stCondLst>
                            <p:childTnLst>
                              <p:par>
                                <p:cTn id="18" presetID="22" presetClass="entr" presetSubtype="1" fill="hold" nodeType="after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wipe(up)">
                                      <p:cBhvr>
                                        <p:cTn id="20" dur="500"/>
                                        <p:tgtEl>
                                          <p:spTgt spid="3"/>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ppt_x"/>
                                          </p:val>
                                        </p:tav>
                                        <p:tav tm="100000">
                                          <p:val>
                                            <p:strVal val="#ppt_x"/>
                                          </p:val>
                                        </p:tav>
                                      </p:tavLst>
                                    </p:anim>
                                    <p:anim calcmode="lin" valueType="num">
                                      <p:cBhvr additive="base">
                                        <p:cTn id="2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P spid="11"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Content Placeholder 2">
            <a:extLst>
              <a:ext uri="{FF2B5EF4-FFF2-40B4-BE49-F238E27FC236}">
                <a16:creationId xmlns:a16="http://schemas.microsoft.com/office/drawing/2014/main" id="{56ABD422-5767-FD22-E893-7BF64A62D4C7}"/>
              </a:ext>
            </a:extLst>
          </p:cNvPr>
          <p:cNvSpPr txBox="1">
            <a:spLocks/>
          </p:cNvSpPr>
          <p:nvPr/>
        </p:nvSpPr>
        <p:spPr bwMode="auto">
          <a:xfrm>
            <a:off x="195263" y="1874838"/>
            <a:ext cx="8034337"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rgbClr val="FF6600"/>
              </a:buClr>
              <a:buFont typeface="Wingdings 3" panose="05040102010807070707" pitchFamily="18" charset="2"/>
              <a:buNone/>
            </a:pPr>
            <a:r>
              <a:rPr lang="en-CA" altLang="en-US" sz="3200">
                <a:latin typeface="Calibri" panose="020F0502020204030204" pitchFamily="34" charset="0"/>
              </a:rPr>
              <a:t>There are three ways that one can alter an existing table</a:t>
            </a:r>
          </a:p>
          <a:p>
            <a:pPr algn="just" eaLnBrk="1" hangingPunct="1">
              <a:spcBef>
                <a:spcPct val="20000"/>
              </a:spcBef>
              <a:buClr>
                <a:srgbClr val="FF6600"/>
              </a:buClr>
              <a:buFont typeface="Wingdings 3" panose="05040102010807070707" pitchFamily="18" charset="2"/>
              <a:buNone/>
            </a:pPr>
            <a:endParaRPr lang="en-CA" altLang="en-US" sz="32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32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32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36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3600">
              <a:latin typeface="Calibri" panose="020F0502020204030204" pitchFamily="34" charset="0"/>
            </a:endParaRPr>
          </a:p>
        </p:txBody>
      </p:sp>
      <p:sp>
        <p:nvSpPr>
          <p:cNvPr id="2" name="Title 1">
            <a:extLst>
              <a:ext uri="{FF2B5EF4-FFF2-40B4-BE49-F238E27FC236}">
                <a16:creationId xmlns:a16="http://schemas.microsoft.com/office/drawing/2014/main" id="{C85F87FF-0F99-FFF2-48D2-BCEBF18F961B}"/>
              </a:ext>
            </a:extLst>
          </p:cNvPr>
          <p:cNvSpPr>
            <a:spLocks noGrp="1"/>
          </p:cNvSpPr>
          <p:nvPr>
            <p:ph type="title"/>
          </p:nvPr>
        </p:nvSpPr>
        <p:spPr>
          <a:xfrm>
            <a:off x="457200" y="0"/>
            <a:ext cx="7620000" cy="1143000"/>
          </a:xfrm>
        </p:spPr>
        <p:txBody>
          <a:bodyPr/>
          <a:lstStyle/>
          <a:p>
            <a:pPr algn="ctr">
              <a:defRPr/>
            </a:pPr>
            <a:r>
              <a:rPr lang="en-US" dirty="0"/>
              <a:t>Manipulating Tables Using SQL</a:t>
            </a:r>
            <a:endParaRPr lang="en-MY" dirty="0"/>
          </a:p>
        </p:txBody>
      </p:sp>
      <p:sp>
        <p:nvSpPr>
          <p:cNvPr id="9" name="Snip Single Corner Rectangle 8">
            <a:extLst>
              <a:ext uri="{FF2B5EF4-FFF2-40B4-BE49-F238E27FC236}">
                <a16:creationId xmlns:a16="http://schemas.microsoft.com/office/drawing/2014/main" id="{AF74180B-5668-4595-42C4-90EB1746D632}"/>
              </a:ext>
            </a:extLst>
          </p:cNvPr>
          <p:cNvSpPr/>
          <p:nvPr/>
        </p:nvSpPr>
        <p:spPr>
          <a:xfrm>
            <a:off x="69850" y="1427163"/>
            <a:ext cx="2520950" cy="401637"/>
          </a:xfrm>
          <a:prstGeom prst="snip1Rect">
            <a:avLst/>
          </a:prstGeom>
          <a:solidFill>
            <a:schemeClr val="accent4">
              <a:alpha val="70000"/>
            </a:schemeClr>
          </a:solidFill>
          <a:ln>
            <a:solidFill>
              <a:schemeClr val="accent4"/>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indent="-342900" algn="just" eaLnBrk="1" hangingPunct="1">
              <a:spcBef>
                <a:spcPct val="20000"/>
              </a:spcBef>
              <a:buClr>
                <a:srgbClr val="FF6600"/>
              </a:buClr>
              <a:buSzPct val="100000"/>
              <a:defRPr/>
            </a:pPr>
            <a:r>
              <a:rPr lang="en-US" dirty="0">
                <a:latin typeface="Arial" pitchFamily="34" charset="0"/>
                <a:ea typeface="Times New Roman" pitchFamily="18" charset="0"/>
                <a:cs typeface="Arial" pitchFamily="34" charset="0"/>
              </a:rPr>
              <a:t>Alter an existing table</a:t>
            </a:r>
            <a:endParaRPr lang="en-GB" kern="0" dirty="0">
              <a:solidFill>
                <a:schemeClr val="tx1"/>
              </a:solidFill>
            </a:endParaRPr>
          </a:p>
        </p:txBody>
      </p:sp>
      <p:sp>
        <p:nvSpPr>
          <p:cNvPr id="7" name="Snip Diagonal Corner Rectangle 6">
            <a:extLst>
              <a:ext uri="{FF2B5EF4-FFF2-40B4-BE49-F238E27FC236}">
                <a16:creationId xmlns:a16="http://schemas.microsoft.com/office/drawing/2014/main" id="{080676BD-AC85-1A70-686E-2737E06B5FAE}"/>
              </a:ext>
            </a:extLst>
          </p:cNvPr>
          <p:cNvSpPr/>
          <p:nvPr/>
        </p:nvSpPr>
        <p:spPr>
          <a:xfrm>
            <a:off x="417513" y="3911600"/>
            <a:ext cx="2670175" cy="1081088"/>
          </a:xfrm>
          <a:prstGeom prst="snip2DiagRect">
            <a:avLst/>
          </a:prstGeom>
          <a:effectLst>
            <a:outerShdw blurRad="50800" dist="38100" dir="2700000" algn="tl" rotWithShape="0">
              <a:prstClr val="black">
                <a:alpha val="40000"/>
              </a:prstClr>
            </a:outerShdw>
          </a:effectLst>
        </p:spPr>
        <p:style>
          <a:lnRef idx="2">
            <a:schemeClr val="accent5"/>
          </a:lnRef>
          <a:fillRef idx="1">
            <a:schemeClr val="lt1"/>
          </a:fillRef>
          <a:effectRef idx="0">
            <a:schemeClr val="accent5"/>
          </a:effectRef>
          <a:fontRef idx="minor">
            <a:schemeClr val="dk1"/>
          </a:fontRef>
        </p:style>
        <p:txBody>
          <a:bodyPr lIns="161425" tIns="161425" rIns="161425" bIns="161425" spcCol="1270" anchor="ctr"/>
          <a:lstStyle/>
          <a:p>
            <a:pPr algn="ctr" defTabSz="1422400">
              <a:lnSpc>
                <a:spcPct val="90000"/>
              </a:lnSpc>
              <a:spcAft>
                <a:spcPct val="35000"/>
              </a:spcAft>
              <a:defRPr/>
            </a:pPr>
            <a:r>
              <a:rPr lang="en-CA" sz="2800" dirty="0">
                <a:solidFill>
                  <a:schemeClr val="tx1"/>
                </a:solidFill>
              </a:rPr>
              <a:t>Altering Table</a:t>
            </a:r>
          </a:p>
        </p:txBody>
      </p:sp>
      <p:grpSp>
        <p:nvGrpSpPr>
          <p:cNvPr id="3" name="Group 7">
            <a:extLst>
              <a:ext uri="{FF2B5EF4-FFF2-40B4-BE49-F238E27FC236}">
                <a16:creationId xmlns:a16="http://schemas.microsoft.com/office/drawing/2014/main" id="{08E7D88D-2BB4-E161-0709-C13ADF014003}"/>
              </a:ext>
            </a:extLst>
          </p:cNvPr>
          <p:cNvGrpSpPr>
            <a:grpSpLocks/>
          </p:cNvGrpSpPr>
          <p:nvPr/>
        </p:nvGrpSpPr>
        <p:grpSpPr bwMode="auto">
          <a:xfrm>
            <a:off x="3087688" y="2832100"/>
            <a:ext cx="4972050" cy="1670050"/>
            <a:chOff x="3408772" y="2313255"/>
            <a:chExt cx="4971615" cy="1671085"/>
          </a:xfrm>
        </p:grpSpPr>
        <p:sp>
          <p:nvSpPr>
            <p:cNvPr id="12" name="Freeform 11">
              <a:hlinkClick r:id="rId2" action="ppaction://hlinksldjump"/>
              <a:extLst>
                <a:ext uri="{FF2B5EF4-FFF2-40B4-BE49-F238E27FC236}">
                  <a16:creationId xmlns:a16="http://schemas.microsoft.com/office/drawing/2014/main" id="{19B6F074-015D-96D7-9FF3-8CB542DBA7A6}"/>
                </a:ext>
              </a:extLst>
            </p:cNvPr>
            <p:cNvSpPr/>
            <p:nvPr/>
          </p:nvSpPr>
          <p:spPr>
            <a:xfrm>
              <a:off x="4738981" y="2313255"/>
              <a:ext cx="3641406" cy="860958"/>
            </a:xfrm>
            <a:custGeom>
              <a:avLst/>
              <a:gdLst>
                <a:gd name="connsiteX0" fmla="*/ 0 w 2592290"/>
                <a:gd name="connsiteY0" fmla="*/ 183336 h 1099994"/>
                <a:gd name="connsiteX1" fmla="*/ 183336 w 2592290"/>
                <a:gd name="connsiteY1" fmla="*/ 0 h 1099994"/>
                <a:gd name="connsiteX2" fmla="*/ 2408954 w 2592290"/>
                <a:gd name="connsiteY2" fmla="*/ 0 h 1099994"/>
                <a:gd name="connsiteX3" fmla="*/ 2592290 w 2592290"/>
                <a:gd name="connsiteY3" fmla="*/ 183336 h 1099994"/>
                <a:gd name="connsiteX4" fmla="*/ 2592290 w 2592290"/>
                <a:gd name="connsiteY4" fmla="*/ 916658 h 1099994"/>
                <a:gd name="connsiteX5" fmla="*/ 2408954 w 2592290"/>
                <a:gd name="connsiteY5" fmla="*/ 1099994 h 1099994"/>
                <a:gd name="connsiteX6" fmla="*/ 183336 w 2592290"/>
                <a:gd name="connsiteY6" fmla="*/ 1099994 h 1099994"/>
                <a:gd name="connsiteX7" fmla="*/ 0 w 2592290"/>
                <a:gd name="connsiteY7" fmla="*/ 916658 h 1099994"/>
                <a:gd name="connsiteX8" fmla="*/ 0 w 2592290"/>
                <a:gd name="connsiteY8" fmla="*/ 183336 h 1099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2290" h="1099994">
                  <a:moveTo>
                    <a:pt x="0" y="183336"/>
                  </a:moveTo>
                  <a:cubicBezTo>
                    <a:pt x="0" y="82082"/>
                    <a:pt x="82082" y="0"/>
                    <a:pt x="183336" y="0"/>
                  </a:cubicBezTo>
                  <a:lnTo>
                    <a:pt x="2408954" y="0"/>
                  </a:lnTo>
                  <a:cubicBezTo>
                    <a:pt x="2510208" y="0"/>
                    <a:pt x="2592290" y="82082"/>
                    <a:pt x="2592290" y="183336"/>
                  </a:cubicBezTo>
                  <a:lnTo>
                    <a:pt x="2592290" y="916658"/>
                  </a:lnTo>
                  <a:cubicBezTo>
                    <a:pt x="2592290" y="1017912"/>
                    <a:pt x="2510208" y="1099994"/>
                    <a:pt x="2408954" y="1099994"/>
                  </a:cubicBezTo>
                  <a:lnTo>
                    <a:pt x="183336" y="1099994"/>
                  </a:lnTo>
                  <a:cubicBezTo>
                    <a:pt x="82082" y="1099994"/>
                    <a:pt x="0" y="1017912"/>
                    <a:pt x="0" y="916658"/>
                  </a:cubicBezTo>
                  <a:lnTo>
                    <a:pt x="0" y="183336"/>
                  </a:lnTo>
                  <a:close/>
                </a:path>
              </a:pathLst>
            </a:custGeom>
            <a:solidFill>
              <a:srgbClr val="7F7B00"/>
            </a:solidFill>
            <a:ln/>
          </p:spPr>
          <p:style>
            <a:lnRef idx="3">
              <a:schemeClr val="lt1"/>
            </a:lnRef>
            <a:fillRef idx="1">
              <a:schemeClr val="accent3"/>
            </a:fillRef>
            <a:effectRef idx="1">
              <a:schemeClr val="accent3"/>
            </a:effectRef>
            <a:fontRef idx="minor">
              <a:schemeClr val="lt1"/>
            </a:fontRef>
          </p:style>
          <p:txBody>
            <a:bodyPr lIns="124817" tIns="124817" rIns="124817" bIns="124817" spcCol="1270" anchor="ctr"/>
            <a:lstStyle/>
            <a:p>
              <a:pPr algn="ctr" defTabSz="1244600">
                <a:lnSpc>
                  <a:spcPct val="90000"/>
                </a:lnSpc>
                <a:spcAft>
                  <a:spcPct val="35000"/>
                </a:spcAft>
                <a:defRPr/>
              </a:pPr>
              <a:r>
                <a:rPr lang="en-CA" sz="2800" dirty="0"/>
                <a:t>Add a column</a:t>
              </a:r>
            </a:p>
          </p:txBody>
        </p:sp>
        <p:cxnSp>
          <p:nvCxnSpPr>
            <p:cNvPr id="41998" name="Straight Connector 12">
              <a:extLst>
                <a:ext uri="{FF2B5EF4-FFF2-40B4-BE49-F238E27FC236}">
                  <a16:creationId xmlns:a16="http://schemas.microsoft.com/office/drawing/2014/main" id="{42463AE7-BB32-A135-FE98-47E0B7E021A7}"/>
                </a:ext>
              </a:extLst>
            </p:cNvPr>
            <p:cNvCxnSpPr>
              <a:cxnSpLocks noChangeShapeType="1"/>
              <a:stCxn id="7" idx="0"/>
              <a:endCxn id="12" idx="7"/>
            </p:cNvCxnSpPr>
            <p:nvPr/>
          </p:nvCxnSpPr>
          <p:spPr bwMode="auto">
            <a:xfrm flipV="1">
              <a:off x="3408772" y="3031055"/>
              <a:ext cx="1330206" cy="953285"/>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grpSp>
      <p:grpSp>
        <p:nvGrpSpPr>
          <p:cNvPr id="4" name="Group 13">
            <a:extLst>
              <a:ext uri="{FF2B5EF4-FFF2-40B4-BE49-F238E27FC236}">
                <a16:creationId xmlns:a16="http://schemas.microsoft.com/office/drawing/2014/main" id="{2A24E7A4-A35B-A3C0-818E-A1840A846283}"/>
              </a:ext>
            </a:extLst>
          </p:cNvPr>
          <p:cNvGrpSpPr>
            <a:grpSpLocks/>
          </p:cNvGrpSpPr>
          <p:nvPr/>
        </p:nvGrpSpPr>
        <p:grpSpPr bwMode="auto">
          <a:xfrm>
            <a:off x="3087688" y="4059238"/>
            <a:ext cx="5270500" cy="862012"/>
            <a:chOff x="3087884" y="3247993"/>
            <a:chExt cx="5270330" cy="861364"/>
          </a:xfrm>
        </p:grpSpPr>
        <p:sp>
          <p:nvSpPr>
            <p:cNvPr id="15" name="Freeform 14">
              <a:hlinkClick r:id="rId3" action="ppaction://hlinksldjump"/>
              <a:extLst>
                <a:ext uri="{FF2B5EF4-FFF2-40B4-BE49-F238E27FC236}">
                  <a16:creationId xmlns:a16="http://schemas.microsoft.com/office/drawing/2014/main" id="{23D45FC7-9AB3-827A-D692-C79410FC59D5}"/>
                </a:ext>
              </a:extLst>
            </p:cNvPr>
            <p:cNvSpPr/>
            <p:nvPr/>
          </p:nvSpPr>
          <p:spPr>
            <a:xfrm>
              <a:off x="4716606" y="3247993"/>
              <a:ext cx="3641608" cy="861364"/>
            </a:xfrm>
            <a:custGeom>
              <a:avLst/>
              <a:gdLst>
                <a:gd name="connsiteX0" fmla="*/ 0 w 2592290"/>
                <a:gd name="connsiteY0" fmla="*/ 183336 h 1099994"/>
                <a:gd name="connsiteX1" fmla="*/ 183336 w 2592290"/>
                <a:gd name="connsiteY1" fmla="*/ 0 h 1099994"/>
                <a:gd name="connsiteX2" fmla="*/ 2408954 w 2592290"/>
                <a:gd name="connsiteY2" fmla="*/ 0 h 1099994"/>
                <a:gd name="connsiteX3" fmla="*/ 2592290 w 2592290"/>
                <a:gd name="connsiteY3" fmla="*/ 183336 h 1099994"/>
                <a:gd name="connsiteX4" fmla="*/ 2592290 w 2592290"/>
                <a:gd name="connsiteY4" fmla="*/ 916658 h 1099994"/>
                <a:gd name="connsiteX5" fmla="*/ 2408954 w 2592290"/>
                <a:gd name="connsiteY5" fmla="*/ 1099994 h 1099994"/>
                <a:gd name="connsiteX6" fmla="*/ 183336 w 2592290"/>
                <a:gd name="connsiteY6" fmla="*/ 1099994 h 1099994"/>
                <a:gd name="connsiteX7" fmla="*/ 0 w 2592290"/>
                <a:gd name="connsiteY7" fmla="*/ 916658 h 1099994"/>
                <a:gd name="connsiteX8" fmla="*/ 0 w 2592290"/>
                <a:gd name="connsiteY8" fmla="*/ 183336 h 1099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2290" h="1099994">
                  <a:moveTo>
                    <a:pt x="0" y="183336"/>
                  </a:moveTo>
                  <a:cubicBezTo>
                    <a:pt x="0" y="82082"/>
                    <a:pt x="82082" y="0"/>
                    <a:pt x="183336" y="0"/>
                  </a:cubicBezTo>
                  <a:lnTo>
                    <a:pt x="2408954" y="0"/>
                  </a:lnTo>
                  <a:cubicBezTo>
                    <a:pt x="2510208" y="0"/>
                    <a:pt x="2592290" y="82082"/>
                    <a:pt x="2592290" y="183336"/>
                  </a:cubicBezTo>
                  <a:lnTo>
                    <a:pt x="2592290" y="916658"/>
                  </a:lnTo>
                  <a:cubicBezTo>
                    <a:pt x="2592290" y="1017912"/>
                    <a:pt x="2510208" y="1099994"/>
                    <a:pt x="2408954" y="1099994"/>
                  </a:cubicBezTo>
                  <a:lnTo>
                    <a:pt x="183336" y="1099994"/>
                  </a:lnTo>
                  <a:cubicBezTo>
                    <a:pt x="82082" y="1099994"/>
                    <a:pt x="0" y="1017912"/>
                    <a:pt x="0" y="916658"/>
                  </a:cubicBezTo>
                  <a:lnTo>
                    <a:pt x="0" y="183336"/>
                  </a:lnTo>
                  <a:close/>
                </a:path>
              </a:pathLst>
            </a:custGeom>
            <a:solidFill>
              <a:srgbClr val="120B7C"/>
            </a:solidFill>
            <a:ln/>
          </p:spPr>
          <p:style>
            <a:lnRef idx="3">
              <a:schemeClr val="lt1"/>
            </a:lnRef>
            <a:fillRef idx="1">
              <a:schemeClr val="accent5"/>
            </a:fillRef>
            <a:effectRef idx="1">
              <a:schemeClr val="accent5"/>
            </a:effectRef>
            <a:fontRef idx="minor">
              <a:schemeClr val="lt1"/>
            </a:fontRef>
          </p:style>
          <p:txBody>
            <a:bodyPr lIns="124817" tIns="124817" rIns="124817" bIns="124817" spcCol="1270" anchor="ctr"/>
            <a:lstStyle/>
            <a:p>
              <a:pPr algn="ctr" defTabSz="1244600">
                <a:lnSpc>
                  <a:spcPct val="90000"/>
                </a:lnSpc>
                <a:spcAft>
                  <a:spcPct val="35000"/>
                </a:spcAft>
                <a:defRPr/>
              </a:pPr>
              <a:r>
                <a:rPr lang="en-CA" sz="2800" dirty="0"/>
                <a:t>Alter a column</a:t>
              </a:r>
            </a:p>
          </p:txBody>
        </p:sp>
        <p:cxnSp>
          <p:nvCxnSpPr>
            <p:cNvPr id="41996" name="Straight Connector 15">
              <a:extLst>
                <a:ext uri="{FF2B5EF4-FFF2-40B4-BE49-F238E27FC236}">
                  <a16:creationId xmlns:a16="http://schemas.microsoft.com/office/drawing/2014/main" id="{7C154F42-6644-393D-6D61-F8728DE2A811}"/>
                </a:ext>
              </a:extLst>
            </p:cNvPr>
            <p:cNvCxnSpPr>
              <a:cxnSpLocks noChangeShapeType="1"/>
              <a:stCxn id="7" idx="0"/>
            </p:cNvCxnSpPr>
            <p:nvPr/>
          </p:nvCxnSpPr>
          <p:spPr bwMode="auto">
            <a:xfrm>
              <a:off x="3087884" y="3694942"/>
              <a:ext cx="1308034" cy="34638"/>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grpSp>
      <p:grpSp>
        <p:nvGrpSpPr>
          <p:cNvPr id="5" name="Group 16">
            <a:extLst>
              <a:ext uri="{FF2B5EF4-FFF2-40B4-BE49-F238E27FC236}">
                <a16:creationId xmlns:a16="http://schemas.microsoft.com/office/drawing/2014/main" id="{8AE17A66-7945-C7A9-4C67-1714EF2F85B7}"/>
              </a:ext>
            </a:extLst>
          </p:cNvPr>
          <p:cNvGrpSpPr>
            <a:grpSpLocks/>
          </p:cNvGrpSpPr>
          <p:nvPr/>
        </p:nvGrpSpPr>
        <p:grpSpPr bwMode="auto">
          <a:xfrm>
            <a:off x="3087688" y="4502150"/>
            <a:ext cx="4978400" cy="1641475"/>
            <a:chOff x="3408771" y="3552292"/>
            <a:chExt cx="4978865" cy="1641283"/>
          </a:xfrm>
        </p:grpSpPr>
        <p:sp>
          <p:nvSpPr>
            <p:cNvPr id="18" name="Freeform 17">
              <a:hlinkClick r:id="rId4" action="ppaction://hlinksldjump"/>
              <a:extLst>
                <a:ext uri="{FF2B5EF4-FFF2-40B4-BE49-F238E27FC236}">
                  <a16:creationId xmlns:a16="http://schemas.microsoft.com/office/drawing/2014/main" id="{BCD3E1BD-ECF7-7651-346F-5040A8F70DA2}"/>
                </a:ext>
              </a:extLst>
            </p:cNvPr>
            <p:cNvSpPr/>
            <p:nvPr/>
          </p:nvSpPr>
          <p:spPr>
            <a:xfrm>
              <a:off x="4739220" y="4331664"/>
              <a:ext cx="3648416" cy="861911"/>
            </a:xfrm>
            <a:custGeom>
              <a:avLst/>
              <a:gdLst>
                <a:gd name="connsiteX0" fmla="*/ 0 w 2592290"/>
                <a:gd name="connsiteY0" fmla="*/ 183336 h 1099994"/>
                <a:gd name="connsiteX1" fmla="*/ 183336 w 2592290"/>
                <a:gd name="connsiteY1" fmla="*/ 0 h 1099994"/>
                <a:gd name="connsiteX2" fmla="*/ 2408954 w 2592290"/>
                <a:gd name="connsiteY2" fmla="*/ 0 h 1099994"/>
                <a:gd name="connsiteX3" fmla="*/ 2592290 w 2592290"/>
                <a:gd name="connsiteY3" fmla="*/ 183336 h 1099994"/>
                <a:gd name="connsiteX4" fmla="*/ 2592290 w 2592290"/>
                <a:gd name="connsiteY4" fmla="*/ 916658 h 1099994"/>
                <a:gd name="connsiteX5" fmla="*/ 2408954 w 2592290"/>
                <a:gd name="connsiteY5" fmla="*/ 1099994 h 1099994"/>
                <a:gd name="connsiteX6" fmla="*/ 183336 w 2592290"/>
                <a:gd name="connsiteY6" fmla="*/ 1099994 h 1099994"/>
                <a:gd name="connsiteX7" fmla="*/ 0 w 2592290"/>
                <a:gd name="connsiteY7" fmla="*/ 916658 h 1099994"/>
                <a:gd name="connsiteX8" fmla="*/ 0 w 2592290"/>
                <a:gd name="connsiteY8" fmla="*/ 183336 h 1099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2290" h="1099994">
                  <a:moveTo>
                    <a:pt x="0" y="183336"/>
                  </a:moveTo>
                  <a:cubicBezTo>
                    <a:pt x="0" y="82082"/>
                    <a:pt x="82082" y="0"/>
                    <a:pt x="183336" y="0"/>
                  </a:cubicBezTo>
                  <a:lnTo>
                    <a:pt x="2408954" y="0"/>
                  </a:lnTo>
                  <a:cubicBezTo>
                    <a:pt x="2510208" y="0"/>
                    <a:pt x="2592290" y="82082"/>
                    <a:pt x="2592290" y="183336"/>
                  </a:cubicBezTo>
                  <a:lnTo>
                    <a:pt x="2592290" y="916658"/>
                  </a:lnTo>
                  <a:cubicBezTo>
                    <a:pt x="2592290" y="1017912"/>
                    <a:pt x="2510208" y="1099994"/>
                    <a:pt x="2408954" y="1099994"/>
                  </a:cubicBezTo>
                  <a:lnTo>
                    <a:pt x="183336" y="1099994"/>
                  </a:lnTo>
                  <a:cubicBezTo>
                    <a:pt x="82082" y="1099994"/>
                    <a:pt x="0" y="1017912"/>
                    <a:pt x="0" y="916658"/>
                  </a:cubicBezTo>
                  <a:lnTo>
                    <a:pt x="0" y="183336"/>
                  </a:lnTo>
                  <a:close/>
                </a:path>
              </a:pathLst>
            </a:custGeom>
            <a:solidFill>
              <a:srgbClr val="525759"/>
            </a:solidFill>
            <a:ln/>
          </p:spPr>
          <p:style>
            <a:lnRef idx="3">
              <a:schemeClr val="lt1"/>
            </a:lnRef>
            <a:fillRef idx="1">
              <a:schemeClr val="accent2"/>
            </a:fillRef>
            <a:effectRef idx="1">
              <a:schemeClr val="accent2"/>
            </a:effectRef>
            <a:fontRef idx="minor">
              <a:schemeClr val="lt1"/>
            </a:fontRef>
          </p:style>
          <p:txBody>
            <a:bodyPr lIns="124817" tIns="124817" rIns="124817" bIns="124817" spcCol="1270" anchor="ctr"/>
            <a:lstStyle/>
            <a:p>
              <a:pPr algn="ctr" defTabSz="1244600">
                <a:lnSpc>
                  <a:spcPct val="90000"/>
                </a:lnSpc>
                <a:spcAft>
                  <a:spcPct val="35000"/>
                </a:spcAft>
                <a:defRPr/>
              </a:pPr>
              <a:r>
                <a:rPr lang="en-CA" sz="2800" dirty="0"/>
                <a:t>Delete a column</a:t>
              </a:r>
            </a:p>
          </p:txBody>
        </p:sp>
        <p:cxnSp>
          <p:nvCxnSpPr>
            <p:cNvPr id="41994" name="Straight Connector 18">
              <a:extLst>
                <a:ext uri="{FF2B5EF4-FFF2-40B4-BE49-F238E27FC236}">
                  <a16:creationId xmlns:a16="http://schemas.microsoft.com/office/drawing/2014/main" id="{D1D5FDA1-0A05-D19B-0B56-961345EB53C2}"/>
                </a:ext>
              </a:extLst>
            </p:cNvPr>
            <p:cNvCxnSpPr>
              <a:cxnSpLocks noChangeShapeType="1"/>
              <a:stCxn id="7" idx="0"/>
              <a:endCxn id="18" idx="0"/>
            </p:cNvCxnSpPr>
            <p:nvPr/>
          </p:nvCxnSpPr>
          <p:spPr bwMode="auto">
            <a:xfrm>
              <a:off x="3408771" y="3552292"/>
              <a:ext cx="1330207" cy="923483"/>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gr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20">
                                            <p:txEl>
                                              <p:pRg st="0" end="0"/>
                                            </p:txEl>
                                          </p:spTgt>
                                        </p:tgtEl>
                                        <p:attrNameLst>
                                          <p:attrName>style.visibility</p:attrName>
                                        </p:attrNameLst>
                                      </p:cBhvr>
                                      <p:to>
                                        <p:strVal val="visible"/>
                                      </p:to>
                                    </p:set>
                                    <p:animEffect transition="in" filter="wipe(up)">
                                      <p:cBhvr>
                                        <p:cTn id="11" dur="500"/>
                                        <p:tgtEl>
                                          <p:spTgt spid="20">
                                            <p:txEl>
                                              <p:pRg st="0" end="0"/>
                                            </p:txEl>
                                          </p:spTgt>
                                        </p:tgtEl>
                                      </p:cBhvr>
                                    </p:animEffect>
                                  </p:childTnLst>
                                </p:cTn>
                              </p:par>
                            </p:childTnLst>
                          </p:cTn>
                        </p:par>
                        <p:par>
                          <p:cTn id="12" fill="hold" nodeType="afterGroup">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up)">
                                      <p:cBhvr>
                                        <p:cTn id="15" dur="500"/>
                                        <p:tgtEl>
                                          <p:spTgt spid="7"/>
                                        </p:tgtEl>
                                      </p:cBhvr>
                                    </p:animEffect>
                                  </p:childTnLst>
                                </p:cTn>
                              </p:par>
                            </p:childTnLst>
                          </p:cTn>
                        </p:par>
                        <p:par>
                          <p:cTn id="16" fill="hold" nodeType="afterGroup">
                            <p:stCondLst>
                              <p:cond delay="1500"/>
                            </p:stCondLst>
                            <p:childTnLst>
                              <p:par>
                                <p:cTn id="17" presetID="22" presetClass="entr" presetSubtype="8" fill="hold" nodeType="after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wipe(left)">
                                      <p:cBhvr>
                                        <p:cTn id="19" dur="500"/>
                                        <p:tgtEl>
                                          <p:spTgt spid="3"/>
                                        </p:tgtEl>
                                      </p:cBhvr>
                                    </p:animEffect>
                                  </p:childTnLst>
                                </p:cTn>
                              </p:par>
                            </p:childTnLst>
                          </p:cTn>
                        </p:par>
                        <p:par>
                          <p:cTn id="20" fill="hold" nodeType="afterGroup">
                            <p:stCondLst>
                              <p:cond delay="2000"/>
                            </p:stCondLst>
                            <p:childTnLst>
                              <p:par>
                                <p:cTn id="21" presetID="22" presetClass="entr" presetSubtype="8" fill="hold" nodeType="after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wipe(left)">
                                      <p:cBhvr>
                                        <p:cTn id="23" dur="500"/>
                                        <p:tgtEl>
                                          <p:spTgt spid="4"/>
                                        </p:tgtEl>
                                      </p:cBhvr>
                                    </p:animEffect>
                                  </p:childTnLst>
                                </p:cTn>
                              </p:par>
                            </p:childTnLst>
                          </p:cTn>
                        </p:par>
                        <p:par>
                          <p:cTn id="24" fill="hold" nodeType="afterGroup">
                            <p:stCondLst>
                              <p:cond delay="2500"/>
                            </p:stCondLst>
                            <p:childTnLst>
                              <p:par>
                                <p:cTn id="25" presetID="22" presetClass="entr" presetSubtype="8" fill="hold" nodeType="after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left)">
                                      <p:cBhvr>
                                        <p:cTn id="2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7"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5">
            <a:extLst>
              <a:ext uri="{FF2B5EF4-FFF2-40B4-BE49-F238E27FC236}">
                <a16:creationId xmlns:a16="http://schemas.microsoft.com/office/drawing/2014/main" id="{B3034799-D65F-83C1-A000-0BB2C16880A5}"/>
              </a:ext>
            </a:extLst>
          </p:cNvPr>
          <p:cNvSpPr txBox="1">
            <a:spLocks/>
          </p:cNvSpPr>
          <p:nvPr/>
        </p:nvSpPr>
        <p:spPr bwMode="auto">
          <a:xfrm>
            <a:off x="250825" y="1989138"/>
            <a:ext cx="7978775"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rgbClr val="FF6600"/>
              </a:buClr>
              <a:buFont typeface="Wingdings 3" panose="05040102010807070707" pitchFamily="18" charset="2"/>
              <a:buNone/>
            </a:pPr>
            <a:r>
              <a:rPr lang="en-CA" altLang="en-US" sz="2800">
                <a:latin typeface="Calibri" panose="020F0502020204030204" pitchFamily="34" charset="0"/>
              </a:rPr>
              <a:t>SQL syntax:</a:t>
            </a:r>
          </a:p>
          <a:p>
            <a:pPr algn="just" eaLnBrk="1" hangingPunct="1">
              <a:spcBef>
                <a:spcPct val="20000"/>
              </a:spcBef>
              <a:buClr>
                <a:srgbClr val="FF6600"/>
              </a:buClr>
              <a:buFont typeface="Wingdings 3" panose="05040102010807070707" pitchFamily="18" charset="2"/>
              <a:buNone/>
            </a:pPr>
            <a:endParaRPr lang="en-CA"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36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r>
              <a:rPr lang="en-CA" altLang="en-US" sz="2800">
                <a:latin typeface="Calibri" panose="020F0502020204030204" pitchFamily="34" charset="0"/>
              </a:rPr>
              <a:t>For example, to add a column named “NumOfPages” of type INT to the “Book” table</a:t>
            </a:r>
          </a:p>
        </p:txBody>
      </p:sp>
      <p:sp>
        <p:nvSpPr>
          <p:cNvPr id="2" name="Title 1">
            <a:extLst>
              <a:ext uri="{FF2B5EF4-FFF2-40B4-BE49-F238E27FC236}">
                <a16:creationId xmlns:a16="http://schemas.microsoft.com/office/drawing/2014/main" id="{026CF723-DC29-AAD0-29C1-A9F3A9F93E42}"/>
              </a:ext>
            </a:extLst>
          </p:cNvPr>
          <p:cNvSpPr>
            <a:spLocks noGrp="1"/>
          </p:cNvSpPr>
          <p:nvPr>
            <p:ph type="title"/>
          </p:nvPr>
        </p:nvSpPr>
        <p:spPr>
          <a:xfrm>
            <a:off x="457200" y="0"/>
            <a:ext cx="7620000" cy="1143000"/>
          </a:xfrm>
        </p:spPr>
        <p:txBody>
          <a:bodyPr/>
          <a:lstStyle/>
          <a:p>
            <a:pPr algn="ctr">
              <a:defRPr/>
            </a:pPr>
            <a:r>
              <a:rPr lang="en-US" dirty="0"/>
              <a:t>Manipulating Tables Using SQL</a:t>
            </a:r>
            <a:endParaRPr lang="en-MY" dirty="0"/>
          </a:p>
        </p:txBody>
      </p:sp>
      <p:sp>
        <p:nvSpPr>
          <p:cNvPr id="9" name="Snip Single Corner Rectangle 8">
            <a:extLst>
              <a:ext uri="{FF2B5EF4-FFF2-40B4-BE49-F238E27FC236}">
                <a16:creationId xmlns:a16="http://schemas.microsoft.com/office/drawing/2014/main" id="{45451461-C1F2-5275-9217-E831C183DD6A}"/>
              </a:ext>
            </a:extLst>
          </p:cNvPr>
          <p:cNvSpPr/>
          <p:nvPr/>
        </p:nvSpPr>
        <p:spPr>
          <a:xfrm>
            <a:off x="100013" y="1350963"/>
            <a:ext cx="1728787" cy="401637"/>
          </a:xfrm>
          <a:prstGeom prst="snip1Rect">
            <a:avLst/>
          </a:prstGeom>
          <a:solidFill>
            <a:srgbClr val="7F7B00">
              <a:alpha val="70000"/>
            </a:srgbClr>
          </a:solidFill>
          <a:ln>
            <a:solidFill>
              <a:srgbClr val="7F7B00"/>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indent="-342900" algn="just" eaLnBrk="1" hangingPunct="1">
              <a:spcBef>
                <a:spcPct val="20000"/>
              </a:spcBef>
              <a:buClr>
                <a:srgbClr val="FF6600"/>
              </a:buClr>
              <a:buSzPct val="100000"/>
              <a:defRPr/>
            </a:pPr>
            <a:r>
              <a:rPr lang="en-US" dirty="0">
                <a:latin typeface="Arial" pitchFamily="34" charset="0"/>
                <a:ea typeface="Times New Roman" pitchFamily="18" charset="0"/>
                <a:cs typeface="Arial" pitchFamily="34" charset="0"/>
              </a:rPr>
              <a:t>Add a column</a:t>
            </a:r>
            <a:endParaRPr lang="en-GB" kern="0" dirty="0">
              <a:solidFill>
                <a:schemeClr val="tx1"/>
              </a:solidFill>
            </a:endParaRPr>
          </a:p>
        </p:txBody>
      </p:sp>
      <p:sp>
        <p:nvSpPr>
          <p:cNvPr id="4" name="Rounded Rectangle 3">
            <a:extLst>
              <a:ext uri="{FF2B5EF4-FFF2-40B4-BE49-F238E27FC236}">
                <a16:creationId xmlns:a16="http://schemas.microsoft.com/office/drawing/2014/main" id="{A9153447-B3E8-890E-8100-47FB65823F6E}"/>
              </a:ext>
            </a:extLst>
          </p:cNvPr>
          <p:cNvSpPr>
            <a:spLocks noChangeArrowheads="1"/>
          </p:cNvSpPr>
          <p:nvPr/>
        </p:nvSpPr>
        <p:spPr bwMode="auto">
          <a:xfrm>
            <a:off x="728663" y="2636838"/>
            <a:ext cx="6985000" cy="1079500"/>
          </a:xfrm>
          <a:prstGeom prst="roundRect">
            <a:avLst>
              <a:gd name="adj" fmla="val 16667"/>
            </a:avLst>
          </a:prstGeom>
          <a:solidFill>
            <a:srgbClr val="7F7B00">
              <a:alpha val="30196"/>
            </a:srgbClr>
          </a:solidFill>
          <a:ln w="9525" algn="ctr">
            <a:solidFill>
              <a:srgbClr val="7F7B00"/>
            </a:solidFill>
            <a:round/>
            <a:headEnd/>
            <a:tailEnd/>
          </a:ln>
        </p:spPr>
        <p:txBody>
          <a:bodyPr anchor="ctr" anchorCtr="1"/>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CA" altLang="en-US" sz="2800"/>
              <a:t>ALTER TABLE &lt;table_name&gt; ADD &lt;column_name&gt; &lt;data_type&gt;;</a:t>
            </a:r>
          </a:p>
        </p:txBody>
      </p:sp>
      <p:sp>
        <p:nvSpPr>
          <p:cNvPr id="11" name="Rounded Rectangle 10">
            <a:extLst>
              <a:ext uri="{FF2B5EF4-FFF2-40B4-BE49-F238E27FC236}">
                <a16:creationId xmlns:a16="http://schemas.microsoft.com/office/drawing/2014/main" id="{0D54684A-374C-4A8B-8B04-3D3E1A78A839}"/>
              </a:ext>
            </a:extLst>
          </p:cNvPr>
          <p:cNvSpPr/>
          <p:nvPr/>
        </p:nvSpPr>
        <p:spPr bwMode="auto">
          <a:xfrm>
            <a:off x="512763" y="5229225"/>
            <a:ext cx="7488237" cy="792163"/>
          </a:xfrm>
          <a:prstGeom prst="roundRect">
            <a:avLst/>
          </a:prstGeom>
          <a:solidFill>
            <a:schemeClr val="accent6">
              <a:alpha val="30000"/>
            </a:schemeClr>
          </a:solidFill>
          <a:ln w="9525" cap="flat" cmpd="sng" algn="ctr">
            <a:solidFill>
              <a:schemeClr val="accent6"/>
            </a:solidFill>
            <a:prstDash val="solid"/>
            <a:round/>
            <a:headEnd type="none" w="med" len="med"/>
            <a:tailEnd type="none" w="med" len="med"/>
          </a:ln>
          <a:effectLst/>
        </p:spPr>
        <p:txBody>
          <a:bodyPr anchor="ctr" anchorCtr="1"/>
          <a:lstStyle/>
          <a:p>
            <a:pPr>
              <a:defRPr/>
            </a:pPr>
            <a:r>
              <a:rPr lang="en-CA" sz="2800" dirty="0"/>
              <a:t>ALTER TABLE Book ADD </a:t>
            </a:r>
            <a:r>
              <a:rPr lang="en-CA" sz="2800" dirty="0" err="1"/>
              <a:t>NumOfPages</a:t>
            </a:r>
            <a:r>
              <a:rPr lang="en-CA" sz="2800" dirty="0"/>
              <a:t> INT;</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0">
                                            <p:txEl>
                                              <p:pRg st="0" end="0"/>
                                            </p:txEl>
                                          </p:spTgt>
                                        </p:tgtEl>
                                        <p:attrNameLst>
                                          <p:attrName>style.visibility</p:attrName>
                                        </p:attrNameLst>
                                      </p:cBhvr>
                                      <p:to>
                                        <p:strVal val="visible"/>
                                      </p:to>
                                    </p:set>
                                    <p:animEffect transition="in" filter="wipe(left)">
                                      <p:cBhvr>
                                        <p:cTn id="11" dur="500"/>
                                        <p:tgtEl>
                                          <p:spTgt spid="10">
                                            <p:txEl>
                                              <p:pRg st="0" end="0"/>
                                            </p:txEl>
                                          </p:spTgt>
                                        </p:tgtEl>
                                      </p:cBhvr>
                                    </p:animEffect>
                                  </p:childTnLst>
                                </p:cTn>
                              </p:par>
                            </p:childTnLst>
                          </p:cTn>
                        </p:par>
                        <p:par>
                          <p:cTn id="12" fill="hold" nodeType="afterGroup">
                            <p:stCondLst>
                              <p:cond delay="1000"/>
                            </p:stCondLst>
                            <p:childTnLst>
                              <p:par>
                                <p:cTn id="13" presetID="16" presetClass="entr" presetSubtype="21"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barn(inVertical)">
                                      <p:cBhvr>
                                        <p:cTn id="15" dur="500"/>
                                        <p:tgtEl>
                                          <p:spTgt spid="4"/>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0">
                                            <p:txEl>
                                              <p:pRg st="4" end="4"/>
                                            </p:txEl>
                                          </p:spTgt>
                                        </p:tgtEl>
                                        <p:attrNameLst>
                                          <p:attrName>style.visibility</p:attrName>
                                        </p:attrNameLst>
                                      </p:cBhvr>
                                      <p:to>
                                        <p:strVal val="visible"/>
                                      </p:to>
                                    </p:set>
                                    <p:animEffect transition="in" filter="wipe(left)">
                                      <p:cBhvr>
                                        <p:cTn id="20" dur="500"/>
                                        <p:tgtEl>
                                          <p:spTgt spid="10">
                                            <p:txEl>
                                              <p:pRg st="4" end="4"/>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6" presetClass="entr" presetSubtype="21"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barn(inVertical)">
                                      <p:cBhvr>
                                        <p:cTn id="25"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P spid="9" grpId="0" animBg="1"/>
      <p:bldP spid="4" grpId="0" animBg="1"/>
      <p:bldP spid="11"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5">
            <a:extLst>
              <a:ext uri="{FF2B5EF4-FFF2-40B4-BE49-F238E27FC236}">
                <a16:creationId xmlns:a16="http://schemas.microsoft.com/office/drawing/2014/main" id="{0A605C46-D143-ABBB-945E-754DBD626F14}"/>
              </a:ext>
            </a:extLst>
          </p:cNvPr>
          <p:cNvSpPr txBox="1">
            <a:spLocks/>
          </p:cNvSpPr>
          <p:nvPr/>
        </p:nvSpPr>
        <p:spPr bwMode="auto">
          <a:xfrm>
            <a:off x="250825" y="1989138"/>
            <a:ext cx="7902575"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rgbClr val="FF6600"/>
              </a:buClr>
              <a:buFont typeface="Wingdings 3" panose="05040102010807070707" pitchFamily="18" charset="2"/>
              <a:buNone/>
            </a:pPr>
            <a:r>
              <a:rPr lang="en-CA" altLang="en-US" sz="2800">
                <a:latin typeface="Calibri" panose="020F0502020204030204" pitchFamily="34" charset="0"/>
              </a:rPr>
              <a:t>SQL syntax:</a:t>
            </a:r>
          </a:p>
          <a:p>
            <a:pPr algn="just" eaLnBrk="1" hangingPunct="1">
              <a:spcBef>
                <a:spcPct val="20000"/>
              </a:spcBef>
              <a:buClr>
                <a:srgbClr val="FF6600"/>
              </a:buClr>
              <a:buFont typeface="Wingdings 3" panose="05040102010807070707" pitchFamily="18" charset="2"/>
              <a:buNone/>
            </a:pPr>
            <a:endParaRPr lang="en-CA"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40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r>
              <a:rPr lang="en-CA" altLang="en-US" sz="2800">
                <a:latin typeface="Calibri" panose="020F0502020204030204" pitchFamily="34" charset="0"/>
              </a:rPr>
              <a:t>For example, to change the column named “Title” to “Title1” with data type of VARCHAR(120)</a:t>
            </a:r>
          </a:p>
        </p:txBody>
      </p:sp>
      <p:sp>
        <p:nvSpPr>
          <p:cNvPr id="2" name="Title 1">
            <a:extLst>
              <a:ext uri="{FF2B5EF4-FFF2-40B4-BE49-F238E27FC236}">
                <a16:creationId xmlns:a16="http://schemas.microsoft.com/office/drawing/2014/main" id="{C11F87E0-6B7B-8D50-6AC1-D229C3DC4409}"/>
              </a:ext>
            </a:extLst>
          </p:cNvPr>
          <p:cNvSpPr>
            <a:spLocks noGrp="1"/>
          </p:cNvSpPr>
          <p:nvPr>
            <p:ph type="title"/>
          </p:nvPr>
        </p:nvSpPr>
        <p:spPr>
          <a:xfrm>
            <a:off x="457200" y="0"/>
            <a:ext cx="7620000" cy="1143000"/>
          </a:xfrm>
        </p:spPr>
        <p:txBody>
          <a:bodyPr/>
          <a:lstStyle/>
          <a:p>
            <a:pPr algn="ctr">
              <a:defRPr/>
            </a:pPr>
            <a:r>
              <a:rPr lang="en-US" dirty="0"/>
              <a:t>Manipulating Tables Using SQL</a:t>
            </a:r>
            <a:endParaRPr lang="en-MY" dirty="0"/>
          </a:p>
        </p:txBody>
      </p:sp>
      <p:sp>
        <p:nvSpPr>
          <p:cNvPr id="9" name="Snip Single Corner Rectangle 8">
            <a:extLst>
              <a:ext uri="{FF2B5EF4-FFF2-40B4-BE49-F238E27FC236}">
                <a16:creationId xmlns:a16="http://schemas.microsoft.com/office/drawing/2014/main" id="{28C53D90-CFE3-B3E8-2B21-6035DF5D0234}"/>
              </a:ext>
            </a:extLst>
          </p:cNvPr>
          <p:cNvSpPr/>
          <p:nvPr/>
        </p:nvSpPr>
        <p:spPr>
          <a:xfrm>
            <a:off x="100013" y="1350963"/>
            <a:ext cx="1728787" cy="401637"/>
          </a:xfrm>
          <a:prstGeom prst="snip1Rect">
            <a:avLst/>
          </a:prstGeom>
          <a:solidFill>
            <a:srgbClr val="120B7C">
              <a:alpha val="70000"/>
            </a:srgbClr>
          </a:solidFill>
          <a:ln>
            <a:solidFill>
              <a:srgbClr val="120B7C"/>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indent="-342900" algn="just" eaLnBrk="1" hangingPunct="1">
              <a:spcBef>
                <a:spcPct val="20000"/>
              </a:spcBef>
              <a:buClr>
                <a:srgbClr val="FF6600"/>
              </a:buClr>
              <a:buSzPct val="100000"/>
              <a:defRPr/>
            </a:pPr>
            <a:r>
              <a:rPr lang="en-US" dirty="0">
                <a:latin typeface="Arial" pitchFamily="34" charset="0"/>
                <a:ea typeface="Times New Roman" pitchFamily="18" charset="0"/>
                <a:cs typeface="Arial" pitchFamily="34" charset="0"/>
              </a:rPr>
              <a:t>Alter a column</a:t>
            </a:r>
            <a:endParaRPr lang="en-GB" kern="0" dirty="0">
              <a:solidFill>
                <a:schemeClr val="tx1"/>
              </a:solidFill>
            </a:endParaRPr>
          </a:p>
        </p:txBody>
      </p:sp>
      <p:sp>
        <p:nvSpPr>
          <p:cNvPr id="4" name="Rounded Rectangle 3">
            <a:extLst>
              <a:ext uri="{FF2B5EF4-FFF2-40B4-BE49-F238E27FC236}">
                <a16:creationId xmlns:a16="http://schemas.microsoft.com/office/drawing/2014/main" id="{E578C63C-B3D6-1F7D-D452-040AFDF3762F}"/>
              </a:ext>
            </a:extLst>
          </p:cNvPr>
          <p:cNvSpPr>
            <a:spLocks noChangeArrowheads="1"/>
          </p:cNvSpPr>
          <p:nvPr/>
        </p:nvSpPr>
        <p:spPr bwMode="auto">
          <a:xfrm>
            <a:off x="685800" y="2636838"/>
            <a:ext cx="7007225" cy="1368425"/>
          </a:xfrm>
          <a:prstGeom prst="roundRect">
            <a:avLst>
              <a:gd name="adj" fmla="val 16667"/>
            </a:avLst>
          </a:prstGeom>
          <a:solidFill>
            <a:srgbClr val="7F7B00">
              <a:alpha val="30196"/>
            </a:srgbClr>
          </a:solidFill>
          <a:ln w="9525" algn="ctr">
            <a:solidFill>
              <a:srgbClr val="7F7B00"/>
            </a:solidFill>
            <a:round/>
            <a:headEnd/>
            <a:tailEnd/>
          </a:ln>
        </p:spPr>
        <p:txBody>
          <a:bodyPr anchor="ctr" anchorCtr="1"/>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CA" altLang="en-US" sz="2800"/>
              <a:t>ALTER TABLE &lt;table_name&gt; CHANGE &lt;column_name&gt; &lt;new_column_name&gt; &lt;new_data_type&gt;;</a:t>
            </a:r>
          </a:p>
        </p:txBody>
      </p:sp>
      <p:sp>
        <p:nvSpPr>
          <p:cNvPr id="11" name="Rounded Rectangle 10">
            <a:extLst>
              <a:ext uri="{FF2B5EF4-FFF2-40B4-BE49-F238E27FC236}">
                <a16:creationId xmlns:a16="http://schemas.microsoft.com/office/drawing/2014/main" id="{75FA4436-BAF4-F1EF-985C-98E810F86160}"/>
              </a:ext>
            </a:extLst>
          </p:cNvPr>
          <p:cNvSpPr/>
          <p:nvPr/>
        </p:nvSpPr>
        <p:spPr bwMode="auto">
          <a:xfrm>
            <a:off x="685800" y="5229225"/>
            <a:ext cx="7007225" cy="1079500"/>
          </a:xfrm>
          <a:prstGeom prst="roundRect">
            <a:avLst/>
          </a:prstGeom>
          <a:solidFill>
            <a:schemeClr val="accent6">
              <a:alpha val="30000"/>
            </a:schemeClr>
          </a:solidFill>
          <a:ln w="9525" cap="flat" cmpd="sng" algn="ctr">
            <a:solidFill>
              <a:schemeClr val="accent6"/>
            </a:solidFill>
            <a:prstDash val="solid"/>
            <a:round/>
            <a:headEnd type="none" w="med" len="med"/>
            <a:tailEnd type="none" w="med" len="med"/>
          </a:ln>
          <a:effectLst/>
        </p:spPr>
        <p:txBody>
          <a:bodyPr anchor="ctr" anchorCtr="1"/>
          <a:lstStyle/>
          <a:p>
            <a:pPr>
              <a:defRPr/>
            </a:pPr>
            <a:r>
              <a:rPr lang="en-CA" sz="2800" dirty="0"/>
              <a:t>ALTER TABLE Book CHANGE Title Title1 VARCHAR(120);</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0">
                                            <p:txEl>
                                              <p:pRg st="0" end="0"/>
                                            </p:txEl>
                                          </p:spTgt>
                                        </p:tgtEl>
                                        <p:attrNameLst>
                                          <p:attrName>style.visibility</p:attrName>
                                        </p:attrNameLst>
                                      </p:cBhvr>
                                      <p:to>
                                        <p:strVal val="visible"/>
                                      </p:to>
                                    </p:set>
                                    <p:animEffect transition="in" filter="wipe(left)">
                                      <p:cBhvr>
                                        <p:cTn id="11" dur="500"/>
                                        <p:tgtEl>
                                          <p:spTgt spid="10">
                                            <p:txEl>
                                              <p:pRg st="0" end="0"/>
                                            </p:txEl>
                                          </p:spTgt>
                                        </p:tgtEl>
                                      </p:cBhvr>
                                    </p:animEffect>
                                  </p:childTnLst>
                                </p:cTn>
                              </p:par>
                            </p:childTnLst>
                          </p:cTn>
                        </p:par>
                        <p:par>
                          <p:cTn id="12" fill="hold" nodeType="afterGroup">
                            <p:stCondLst>
                              <p:cond delay="1000"/>
                            </p:stCondLst>
                            <p:childTnLst>
                              <p:par>
                                <p:cTn id="13" presetID="16" presetClass="entr" presetSubtype="21"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barn(inVertical)">
                                      <p:cBhvr>
                                        <p:cTn id="15" dur="500"/>
                                        <p:tgtEl>
                                          <p:spTgt spid="4"/>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0">
                                            <p:txEl>
                                              <p:pRg st="4" end="4"/>
                                            </p:txEl>
                                          </p:spTgt>
                                        </p:tgtEl>
                                        <p:attrNameLst>
                                          <p:attrName>style.visibility</p:attrName>
                                        </p:attrNameLst>
                                      </p:cBhvr>
                                      <p:to>
                                        <p:strVal val="visible"/>
                                      </p:to>
                                    </p:set>
                                    <p:animEffect transition="in" filter="wipe(left)">
                                      <p:cBhvr>
                                        <p:cTn id="20" dur="500"/>
                                        <p:tgtEl>
                                          <p:spTgt spid="10">
                                            <p:txEl>
                                              <p:pRg st="4" end="4"/>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6" presetClass="entr" presetSubtype="21"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barn(inVertical)">
                                      <p:cBhvr>
                                        <p:cTn id="25"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P spid="9" grpId="0" animBg="1"/>
      <p:bldP spid="4" grpId="0" animBg="1"/>
      <p:bldP spid="11"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5">
            <a:extLst>
              <a:ext uri="{FF2B5EF4-FFF2-40B4-BE49-F238E27FC236}">
                <a16:creationId xmlns:a16="http://schemas.microsoft.com/office/drawing/2014/main" id="{DFF615FD-7B74-187D-857D-B266FD568E06}"/>
              </a:ext>
            </a:extLst>
          </p:cNvPr>
          <p:cNvSpPr txBox="1">
            <a:spLocks/>
          </p:cNvSpPr>
          <p:nvPr/>
        </p:nvSpPr>
        <p:spPr bwMode="auto">
          <a:xfrm>
            <a:off x="250825" y="1989138"/>
            <a:ext cx="7826375"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rgbClr val="FF6600"/>
              </a:buClr>
              <a:buFont typeface="Wingdings 3" panose="05040102010807070707" pitchFamily="18" charset="2"/>
              <a:buNone/>
            </a:pPr>
            <a:r>
              <a:rPr lang="en-CA" altLang="en-US" sz="2800">
                <a:latin typeface="Calibri" panose="020F0502020204030204" pitchFamily="34" charset="0"/>
              </a:rPr>
              <a:t>SQL syntax:</a:t>
            </a:r>
          </a:p>
          <a:p>
            <a:pPr algn="just" eaLnBrk="1" hangingPunct="1">
              <a:spcBef>
                <a:spcPct val="20000"/>
              </a:spcBef>
              <a:buClr>
                <a:srgbClr val="FF6600"/>
              </a:buClr>
              <a:buFont typeface="Wingdings 3" panose="05040102010807070707" pitchFamily="18" charset="2"/>
              <a:buNone/>
            </a:pPr>
            <a:endParaRPr lang="en-CA"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40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r>
              <a:rPr lang="en-CA" altLang="en-US" sz="2800">
                <a:latin typeface="Calibri" panose="020F0502020204030204" pitchFamily="34" charset="0"/>
              </a:rPr>
              <a:t>For example, to change the data type of “Title” to VARCHAR(120)</a:t>
            </a:r>
          </a:p>
        </p:txBody>
      </p:sp>
      <p:sp>
        <p:nvSpPr>
          <p:cNvPr id="2" name="Title 1">
            <a:extLst>
              <a:ext uri="{FF2B5EF4-FFF2-40B4-BE49-F238E27FC236}">
                <a16:creationId xmlns:a16="http://schemas.microsoft.com/office/drawing/2014/main" id="{49B6E0BF-615E-D1D2-DAD8-D78322A59A77}"/>
              </a:ext>
            </a:extLst>
          </p:cNvPr>
          <p:cNvSpPr>
            <a:spLocks noGrp="1"/>
          </p:cNvSpPr>
          <p:nvPr>
            <p:ph type="title"/>
          </p:nvPr>
        </p:nvSpPr>
        <p:spPr>
          <a:xfrm>
            <a:off x="457200" y="0"/>
            <a:ext cx="7620000" cy="1143000"/>
          </a:xfrm>
        </p:spPr>
        <p:txBody>
          <a:bodyPr/>
          <a:lstStyle/>
          <a:p>
            <a:pPr algn="ctr">
              <a:defRPr/>
            </a:pPr>
            <a:r>
              <a:rPr lang="en-US" dirty="0"/>
              <a:t>Manipulating Tables Using SQL</a:t>
            </a:r>
            <a:endParaRPr lang="en-MY" dirty="0"/>
          </a:p>
        </p:txBody>
      </p:sp>
      <p:sp>
        <p:nvSpPr>
          <p:cNvPr id="45060" name="Rounded Rectangle 3">
            <a:extLst>
              <a:ext uri="{FF2B5EF4-FFF2-40B4-BE49-F238E27FC236}">
                <a16:creationId xmlns:a16="http://schemas.microsoft.com/office/drawing/2014/main" id="{FB52CD8D-8E0F-9FB3-408C-273B1D24C00E}"/>
              </a:ext>
            </a:extLst>
          </p:cNvPr>
          <p:cNvSpPr>
            <a:spLocks noChangeArrowheads="1"/>
          </p:cNvSpPr>
          <p:nvPr/>
        </p:nvSpPr>
        <p:spPr bwMode="auto">
          <a:xfrm>
            <a:off x="685800" y="2636838"/>
            <a:ext cx="7007225" cy="1368425"/>
          </a:xfrm>
          <a:prstGeom prst="roundRect">
            <a:avLst>
              <a:gd name="adj" fmla="val 16667"/>
            </a:avLst>
          </a:prstGeom>
          <a:solidFill>
            <a:srgbClr val="7F7B00">
              <a:alpha val="30196"/>
            </a:srgbClr>
          </a:solidFill>
          <a:ln w="9525" algn="ctr">
            <a:solidFill>
              <a:srgbClr val="7F7B00"/>
            </a:solidFill>
            <a:round/>
            <a:headEnd/>
            <a:tailEnd/>
          </a:ln>
        </p:spPr>
        <p:txBody>
          <a:bodyPr anchor="ctr" anchorCtr="1"/>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CA" altLang="en-US" sz="2800"/>
              <a:t>ALTER TABLE &lt;table_name&gt; CHANGE &lt;column_name&gt; &lt;new_column_name&gt; &lt;new_data_type&gt;;</a:t>
            </a:r>
          </a:p>
        </p:txBody>
      </p:sp>
      <p:sp>
        <p:nvSpPr>
          <p:cNvPr id="11" name="Rounded Rectangle 10">
            <a:extLst>
              <a:ext uri="{FF2B5EF4-FFF2-40B4-BE49-F238E27FC236}">
                <a16:creationId xmlns:a16="http://schemas.microsoft.com/office/drawing/2014/main" id="{AEB5B674-E10E-52E0-0171-3FE1091B9A3F}"/>
              </a:ext>
            </a:extLst>
          </p:cNvPr>
          <p:cNvSpPr/>
          <p:nvPr/>
        </p:nvSpPr>
        <p:spPr bwMode="auto">
          <a:xfrm>
            <a:off x="685800" y="5229225"/>
            <a:ext cx="7007225" cy="1079500"/>
          </a:xfrm>
          <a:prstGeom prst="roundRect">
            <a:avLst/>
          </a:prstGeom>
          <a:solidFill>
            <a:schemeClr val="accent6">
              <a:alpha val="30000"/>
            </a:schemeClr>
          </a:solidFill>
          <a:ln w="9525" cap="flat" cmpd="sng" algn="ctr">
            <a:solidFill>
              <a:schemeClr val="accent6"/>
            </a:solidFill>
            <a:prstDash val="solid"/>
            <a:round/>
            <a:headEnd type="none" w="med" len="med"/>
            <a:tailEnd type="none" w="med" len="med"/>
          </a:ln>
          <a:effectLst/>
        </p:spPr>
        <p:txBody>
          <a:bodyPr anchor="ctr" anchorCtr="1"/>
          <a:lstStyle/>
          <a:p>
            <a:pPr>
              <a:defRPr/>
            </a:pPr>
            <a:r>
              <a:rPr lang="en-CA" sz="2800" dirty="0"/>
              <a:t>ALTER TABLE Book CHANGE Title </a:t>
            </a:r>
            <a:r>
              <a:rPr lang="en-CA" sz="2800" dirty="0" err="1"/>
              <a:t>Title</a:t>
            </a:r>
            <a:r>
              <a:rPr lang="en-CA" sz="2800" dirty="0"/>
              <a:t> VARCHAR(120);</a:t>
            </a:r>
          </a:p>
        </p:txBody>
      </p:sp>
      <p:sp>
        <p:nvSpPr>
          <p:cNvPr id="13" name="Snip Single Corner Rectangle 12">
            <a:extLst>
              <a:ext uri="{FF2B5EF4-FFF2-40B4-BE49-F238E27FC236}">
                <a16:creationId xmlns:a16="http://schemas.microsoft.com/office/drawing/2014/main" id="{1667D19B-94FE-8B9C-3B08-FA3D5A191ECD}"/>
              </a:ext>
            </a:extLst>
          </p:cNvPr>
          <p:cNvSpPr/>
          <p:nvPr/>
        </p:nvSpPr>
        <p:spPr>
          <a:xfrm>
            <a:off x="100013" y="1427163"/>
            <a:ext cx="1728787" cy="401637"/>
          </a:xfrm>
          <a:prstGeom prst="snip1Rect">
            <a:avLst/>
          </a:prstGeom>
          <a:solidFill>
            <a:srgbClr val="120B7C">
              <a:alpha val="70000"/>
            </a:srgbClr>
          </a:solidFill>
          <a:ln>
            <a:solidFill>
              <a:srgbClr val="120B7C"/>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indent="-342900" algn="just" eaLnBrk="1" hangingPunct="1">
              <a:spcBef>
                <a:spcPct val="20000"/>
              </a:spcBef>
              <a:buClr>
                <a:srgbClr val="FF6600"/>
              </a:buClr>
              <a:buSzPct val="100000"/>
              <a:defRPr/>
            </a:pPr>
            <a:r>
              <a:rPr lang="en-US" dirty="0">
                <a:latin typeface="Arial" pitchFamily="34" charset="0"/>
                <a:ea typeface="Times New Roman" pitchFamily="18" charset="0"/>
                <a:cs typeface="Arial" pitchFamily="34" charset="0"/>
              </a:rPr>
              <a:t>Alter a column</a:t>
            </a:r>
            <a:endParaRPr lang="en-GB" kern="0" dirty="0">
              <a:solidFill>
                <a:schemeClr val="tx1"/>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
                                            <p:txEl>
                                              <p:pRg st="4" end="4"/>
                                            </p:txEl>
                                          </p:spTgt>
                                        </p:tgtEl>
                                        <p:attrNameLst>
                                          <p:attrName>style.visibility</p:attrName>
                                        </p:attrNameLst>
                                      </p:cBhvr>
                                      <p:to>
                                        <p:strVal val="visible"/>
                                      </p:to>
                                    </p:set>
                                    <p:animEffect transition="in" filter="wipe(left)">
                                      <p:cBhvr>
                                        <p:cTn id="7" dur="500"/>
                                        <p:tgtEl>
                                          <p:spTgt spid="10">
                                            <p:txEl>
                                              <p:pRg st="4" end="4"/>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barn(inVertical)">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P spid="11"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5">
            <a:extLst>
              <a:ext uri="{FF2B5EF4-FFF2-40B4-BE49-F238E27FC236}">
                <a16:creationId xmlns:a16="http://schemas.microsoft.com/office/drawing/2014/main" id="{AFF76923-1DF1-CCB9-C449-C11E4BDB4707}"/>
              </a:ext>
            </a:extLst>
          </p:cNvPr>
          <p:cNvSpPr txBox="1">
            <a:spLocks/>
          </p:cNvSpPr>
          <p:nvPr/>
        </p:nvSpPr>
        <p:spPr bwMode="auto">
          <a:xfrm>
            <a:off x="250825" y="1989138"/>
            <a:ext cx="7902575"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rgbClr val="FF6600"/>
              </a:buClr>
              <a:buFont typeface="Wingdings 3" panose="05040102010807070707" pitchFamily="18" charset="2"/>
              <a:buNone/>
            </a:pPr>
            <a:r>
              <a:rPr lang="en-CA" altLang="en-US" sz="2800">
                <a:latin typeface="Calibri" panose="020F0502020204030204" pitchFamily="34" charset="0"/>
              </a:rPr>
              <a:t>SQL syntax:</a:t>
            </a:r>
          </a:p>
          <a:p>
            <a:pPr algn="just" eaLnBrk="1" hangingPunct="1">
              <a:spcBef>
                <a:spcPct val="20000"/>
              </a:spcBef>
              <a:buClr>
                <a:srgbClr val="FF6600"/>
              </a:buClr>
              <a:buFont typeface="Wingdings 3" panose="05040102010807070707" pitchFamily="18" charset="2"/>
              <a:buNone/>
            </a:pPr>
            <a:endParaRPr lang="en-CA"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36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r>
              <a:rPr lang="en-CA" altLang="en-US" sz="2800">
                <a:latin typeface="Calibri" panose="020F0502020204030204" pitchFamily="34" charset="0"/>
              </a:rPr>
              <a:t>For example, to delete the column “NumOfPages” from the “Book” table</a:t>
            </a:r>
          </a:p>
        </p:txBody>
      </p:sp>
      <p:sp>
        <p:nvSpPr>
          <p:cNvPr id="2" name="Title 1">
            <a:extLst>
              <a:ext uri="{FF2B5EF4-FFF2-40B4-BE49-F238E27FC236}">
                <a16:creationId xmlns:a16="http://schemas.microsoft.com/office/drawing/2014/main" id="{C51CB681-C7D6-B758-2FD7-3EB2D4C54EBB}"/>
              </a:ext>
            </a:extLst>
          </p:cNvPr>
          <p:cNvSpPr>
            <a:spLocks noGrp="1"/>
          </p:cNvSpPr>
          <p:nvPr>
            <p:ph type="title"/>
          </p:nvPr>
        </p:nvSpPr>
        <p:spPr>
          <a:xfrm>
            <a:off x="457200" y="0"/>
            <a:ext cx="7620000" cy="1143000"/>
          </a:xfrm>
        </p:spPr>
        <p:txBody>
          <a:bodyPr/>
          <a:lstStyle/>
          <a:p>
            <a:pPr algn="ctr">
              <a:defRPr/>
            </a:pPr>
            <a:r>
              <a:rPr lang="en-US" dirty="0"/>
              <a:t>Manipulating Tables Using SQL</a:t>
            </a:r>
            <a:endParaRPr lang="en-MY" dirty="0"/>
          </a:p>
        </p:txBody>
      </p:sp>
      <p:sp>
        <p:nvSpPr>
          <p:cNvPr id="9" name="Snip Single Corner Rectangle 8">
            <a:extLst>
              <a:ext uri="{FF2B5EF4-FFF2-40B4-BE49-F238E27FC236}">
                <a16:creationId xmlns:a16="http://schemas.microsoft.com/office/drawing/2014/main" id="{EAB19437-2A4D-D28F-6725-D246BCCCE103}"/>
              </a:ext>
            </a:extLst>
          </p:cNvPr>
          <p:cNvSpPr/>
          <p:nvPr/>
        </p:nvSpPr>
        <p:spPr>
          <a:xfrm>
            <a:off x="112713" y="1427163"/>
            <a:ext cx="1944687" cy="401637"/>
          </a:xfrm>
          <a:prstGeom prst="snip1Rect">
            <a:avLst/>
          </a:prstGeom>
          <a:solidFill>
            <a:srgbClr val="525759">
              <a:alpha val="70000"/>
            </a:srgbClr>
          </a:solidFill>
          <a:ln>
            <a:solidFill>
              <a:srgbClr val="525759"/>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indent="-342900" algn="just" eaLnBrk="1" hangingPunct="1">
              <a:spcBef>
                <a:spcPct val="20000"/>
              </a:spcBef>
              <a:buClr>
                <a:srgbClr val="FF6600"/>
              </a:buClr>
              <a:buSzPct val="100000"/>
              <a:defRPr/>
            </a:pPr>
            <a:r>
              <a:rPr lang="en-US" dirty="0">
                <a:latin typeface="Arial" pitchFamily="34" charset="0"/>
                <a:ea typeface="Times New Roman" pitchFamily="18" charset="0"/>
                <a:cs typeface="Arial" pitchFamily="34" charset="0"/>
              </a:rPr>
              <a:t>Delete a column</a:t>
            </a:r>
            <a:endParaRPr lang="en-GB" kern="0" dirty="0">
              <a:solidFill>
                <a:schemeClr val="tx1"/>
              </a:solidFill>
            </a:endParaRPr>
          </a:p>
        </p:txBody>
      </p:sp>
      <p:sp>
        <p:nvSpPr>
          <p:cNvPr id="4" name="Rounded Rectangle 3">
            <a:extLst>
              <a:ext uri="{FF2B5EF4-FFF2-40B4-BE49-F238E27FC236}">
                <a16:creationId xmlns:a16="http://schemas.microsoft.com/office/drawing/2014/main" id="{854A806A-1940-5D9F-0650-28ED59842411}"/>
              </a:ext>
            </a:extLst>
          </p:cNvPr>
          <p:cNvSpPr>
            <a:spLocks noChangeArrowheads="1"/>
          </p:cNvSpPr>
          <p:nvPr/>
        </p:nvSpPr>
        <p:spPr bwMode="auto">
          <a:xfrm>
            <a:off x="685800" y="2636838"/>
            <a:ext cx="6985000" cy="1079500"/>
          </a:xfrm>
          <a:prstGeom prst="roundRect">
            <a:avLst>
              <a:gd name="adj" fmla="val 16667"/>
            </a:avLst>
          </a:prstGeom>
          <a:solidFill>
            <a:srgbClr val="7F7B00">
              <a:alpha val="30196"/>
            </a:srgbClr>
          </a:solidFill>
          <a:ln w="9525" algn="ctr">
            <a:solidFill>
              <a:srgbClr val="7F7B00"/>
            </a:solidFill>
            <a:round/>
            <a:headEnd/>
            <a:tailEnd/>
          </a:ln>
        </p:spPr>
        <p:txBody>
          <a:bodyPr anchor="ctr" anchorCtr="1"/>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CA" altLang="en-US" sz="2800"/>
              <a:t>ALTER TABLE &lt;table_name&gt; DROP &lt;column_name&gt;;</a:t>
            </a:r>
          </a:p>
        </p:txBody>
      </p:sp>
      <p:sp>
        <p:nvSpPr>
          <p:cNvPr id="11" name="Rounded Rectangle 10">
            <a:extLst>
              <a:ext uri="{FF2B5EF4-FFF2-40B4-BE49-F238E27FC236}">
                <a16:creationId xmlns:a16="http://schemas.microsoft.com/office/drawing/2014/main" id="{722CEB7C-3844-64FF-ACE4-1E355A6018F4}"/>
              </a:ext>
            </a:extLst>
          </p:cNvPr>
          <p:cNvSpPr/>
          <p:nvPr/>
        </p:nvSpPr>
        <p:spPr bwMode="auto">
          <a:xfrm>
            <a:off x="685800" y="5229225"/>
            <a:ext cx="6985000" cy="1079500"/>
          </a:xfrm>
          <a:prstGeom prst="roundRect">
            <a:avLst/>
          </a:prstGeom>
          <a:solidFill>
            <a:schemeClr val="accent6">
              <a:alpha val="30000"/>
            </a:schemeClr>
          </a:solidFill>
          <a:ln w="9525" cap="flat" cmpd="sng" algn="ctr">
            <a:solidFill>
              <a:schemeClr val="accent6"/>
            </a:solidFill>
            <a:prstDash val="solid"/>
            <a:round/>
            <a:headEnd type="none" w="med" len="med"/>
            <a:tailEnd type="none" w="med" len="med"/>
          </a:ln>
          <a:effectLst/>
        </p:spPr>
        <p:txBody>
          <a:bodyPr anchor="ctr" anchorCtr="1"/>
          <a:lstStyle/>
          <a:p>
            <a:pPr>
              <a:defRPr/>
            </a:pPr>
            <a:r>
              <a:rPr lang="en-CA" sz="2800" dirty="0"/>
              <a:t>ALTER TABLE Book DROP </a:t>
            </a:r>
            <a:r>
              <a:rPr lang="en-CA" sz="2800" dirty="0" err="1"/>
              <a:t>NumOfPages</a:t>
            </a:r>
            <a:r>
              <a:rPr lang="en-CA" sz="2800" dirty="0"/>
              <a:t>;</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0">
                                            <p:txEl>
                                              <p:pRg st="0" end="0"/>
                                            </p:txEl>
                                          </p:spTgt>
                                        </p:tgtEl>
                                        <p:attrNameLst>
                                          <p:attrName>style.visibility</p:attrName>
                                        </p:attrNameLst>
                                      </p:cBhvr>
                                      <p:to>
                                        <p:strVal val="visible"/>
                                      </p:to>
                                    </p:set>
                                    <p:animEffect transition="in" filter="wipe(left)">
                                      <p:cBhvr>
                                        <p:cTn id="11" dur="500"/>
                                        <p:tgtEl>
                                          <p:spTgt spid="10">
                                            <p:txEl>
                                              <p:pRg st="0" end="0"/>
                                            </p:txEl>
                                          </p:spTgt>
                                        </p:tgtEl>
                                      </p:cBhvr>
                                    </p:animEffect>
                                  </p:childTnLst>
                                </p:cTn>
                              </p:par>
                            </p:childTnLst>
                          </p:cTn>
                        </p:par>
                        <p:par>
                          <p:cTn id="12" fill="hold" nodeType="afterGroup">
                            <p:stCondLst>
                              <p:cond delay="1000"/>
                            </p:stCondLst>
                            <p:childTnLst>
                              <p:par>
                                <p:cTn id="13" presetID="16" presetClass="entr" presetSubtype="21"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barn(inVertical)">
                                      <p:cBhvr>
                                        <p:cTn id="15" dur="500"/>
                                        <p:tgtEl>
                                          <p:spTgt spid="4"/>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0">
                                            <p:txEl>
                                              <p:pRg st="4" end="4"/>
                                            </p:txEl>
                                          </p:spTgt>
                                        </p:tgtEl>
                                        <p:attrNameLst>
                                          <p:attrName>style.visibility</p:attrName>
                                        </p:attrNameLst>
                                      </p:cBhvr>
                                      <p:to>
                                        <p:strVal val="visible"/>
                                      </p:to>
                                    </p:set>
                                    <p:animEffect transition="in" filter="wipe(left)">
                                      <p:cBhvr>
                                        <p:cTn id="20" dur="500"/>
                                        <p:tgtEl>
                                          <p:spTgt spid="10">
                                            <p:txEl>
                                              <p:pRg st="4" end="4"/>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6" presetClass="entr" presetSubtype="21"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barn(inVertical)">
                                      <p:cBhvr>
                                        <p:cTn id="25"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P spid="9" grpId="0" animBg="1"/>
      <p:bldP spid="4" grpId="0" animBg="1"/>
      <p:bldP spid="11"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5">
            <a:extLst>
              <a:ext uri="{FF2B5EF4-FFF2-40B4-BE49-F238E27FC236}">
                <a16:creationId xmlns:a16="http://schemas.microsoft.com/office/drawing/2014/main" id="{C99AEC45-B1D2-6132-5CE9-D5CDCFD10C69}"/>
              </a:ext>
            </a:extLst>
          </p:cNvPr>
          <p:cNvSpPr txBox="1">
            <a:spLocks/>
          </p:cNvSpPr>
          <p:nvPr/>
        </p:nvSpPr>
        <p:spPr bwMode="auto">
          <a:xfrm>
            <a:off x="250825" y="1989138"/>
            <a:ext cx="7826375"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rgbClr val="FF6600"/>
              </a:buClr>
              <a:buFont typeface="Wingdings 3" panose="05040102010807070707" pitchFamily="18" charset="2"/>
              <a:buNone/>
            </a:pPr>
            <a:r>
              <a:rPr lang="en-CA" altLang="en-US" sz="2800">
                <a:latin typeface="Calibri" panose="020F0502020204030204" pitchFamily="34" charset="0"/>
              </a:rPr>
              <a:t>SQL syntax:</a:t>
            </a:r>
          </a:p>
          <a:p>
            <a:pPr algn="just" eaLnBrk="1" hangingPunct="1">
              <a:spcBef>
                <a:spcPct val="20000"/>
              </a:spcBef>
              <a:buClr>
                <a:srgbClr val="FF6600"/>
              </a:buClr>
              <a:buFont typeface="Wingdings 3" panose="05040102010807070707" pitchFamily="18" charset="2"/>
              <a:buNone/>
            </a:pPr>
            <a:endParaRPr lang="en-CA"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r>
              <a:rPr lang="en-CA" altLang="en-US" sz="2800">
                <a:latin typeface="Calibri" panose="020F0502020204030204" pitchFamily="34" charset="0"/>
              </a:rPr>
              <a:t>For example, to delete the table named “Book”</a:t>
            </a:r>
          </a:p>
        </p:txBody>
      </p:sp>
      <p:sp>
        <p:nvSpPr>
          <p:cNvPr id="2" name="Title 1">
            <a:extLst>
              <a:ext uri="{FF2B5EF4-FFF2-40B4-BE49-F238E27FC236}">
                <a16:creationId xmlns:a16="http://schemas.microsoft.com/office/drawing/2014/main" id="{F97B7C0D-6BF7-D536-B5E7-0DFEEC49B2AC}"/>
              </a:ext>
            </a:extLst>
          </p:cNvPr>
          <p:cNvSpPr>
            <a:spLocks noGrp="1"/>
          </p:cNvSpPr>
          <p:nvPr>
            <p:ph type="title"/>
          </p:nvPr>
        </p:nvSpPr>
        <p:spPr>
          <a:xfrm>
            <a:off x="457200" y="0"/>
            <a:ext cx="7620000" cy="1143000"/>
          </a:xfrm>
        </p:spPr>
        <p:txBody>
          <a:bodyPr/>
          <a:lstStyle/>
          <a:p>
            <a:pPr algn="ctr">
              <a:defRPr/>
            </a:pPr>
            <a:r>
              <a:rPr lang="en-US" dirty="0"/>
              <a:t>Manipulating Tables Using SQL</a:t>
            </a:r>
            <a:endParaRPr lang="en-MY" dirty="0"/>
          </a:p>
        </p:txBody>
      </p:sp>
      <p:sp>
        <p:nvSpPr>
          <p:cNvPr id="9" name="Snip Single Corner Rectangle 8">
            <a:extLst>
              <a:ext uri="{FF2B5EF4-FFF2-40B4-BE49-F238E27FC236}">
                <a16:creationId xmlns:a16="http://schemas.microsoft.com/office/drawing/2014/main" id="{CDD32E37-D7C8-F640-A573-9A6883395DC2}"/>
              </a:ext>
            </a:extLst>
          </p:cNvPr>
          <p:cNvSpPr/>
          <p:nvPr/>
        </p:nvSpPr>
        <p:spPr>
          <a:xfrm>
            <a:off x="96838" y="1350963"/>
            <a:ext cx="1655762" cy="401637"/>
          </a:xfrm>
          <a:prstGeom prst="snip1Rect">
            <a:avLst/>
          </a:prstGeom>
          <a:solidFill>
            <a:schemeClr val="accent6">
              <a:alpha val="70000"/>
            </a:schemeClr>
          </a:solidFill>
          <a:ln>
            <a:solidFill>
              <a:schemeClr val="accent6"/>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indent="-342900" algn="just" eaLnBrk="1" hangingPunct="1">
              <a:spcBef>
                <a:spcPct val="20000"/>
              </a:spcBef>
              <a:buClr>
                <a:srgbClr val="FF6600"/>
              </a:buClr>
              <a:buSzPct val="100000"/>
              <a:defRPr/>
            </a:pPr>
            <a:r>
              <a:rPr lang="en-US" dirty="0">
                <a:latin typeface="Arial" pitchFamily="34" charset="0"/>
                <a:ea typeface="Times New Roman" pitchFamily="18" charset="0"/>
                <a:cs typeface="Arial" pitchFamily="34" charset="0"/>
              </a:rPr>
              <a:t>Delete a table</a:t>
            </a:r>
            <a:endParaRPr lang="en-GB" kern="0" dirty="0">
              <a:solidFill>
                <a:schemeClr val="tx1"/>
              </a:solidFill>
            </a:endParaRPr>
          </a:p>
        </p:txBody>
      </p:sp>
      <p:sp>
        <p:nvSpPr>
          <p:cNvPr id="4" name="Rounded Rectangle 3">
            <a:extLst>
              <a:ext uri="{FF2B5EF4-FFF2-40B4-BE49-F238E27FC236}">
                <a16:creationId xmlns:a16="http://schemas.microsoft.com/office/drawing/2014/main" id="{1D0E28FC-F189-7E29-BA19-70BA64716CDD}"/>
              </a:ext>
            </a:extLst>
          </p:cNvPr>
          <p:cNvSpPr>
            <a:spLocks noChangeArrowheads="1"/>
          </p:cNvSpPr>
          <p:nvPr/>
        </p:nvSpPr>
        <p:spPr bwMode="auto">
          <a:xfrm>
            <a:off x="685800" y="2636838"/>
            <a:ext cx="6985000" cy="792162"/>
          </a:xfrm>
          <a:prstGeom prst="roundRect">
            <a:avLst>
              <a:gd name="adj" fmla="val 16667"/>
            </a:avLst>
          </a:prstGeom>
          <a:solidFill>
            <a:srgbClr val="7F7B00">
              <a:alpha val="30196"/>
            </a:srgbClr>
          </a:solidFill>
          <a:ln w="9525" algn="ctr">
            <a:solidFill>
              <a:srgbClr val="7F7B00"/>
            </a:solidFill>
            <a:round/>
            <a:headEnd/>
            <a:tailEnd/>
          </a:ln>
        </p:spPr>
        <p:txBody>
          <a:bodyPr anchor="ctr" anchorCtr="1"/>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CA" altLang="en-US" sz="2800"/>
              <a:t>DROP TABLE &lt;table_name&gt;;</a:t>
            </a:r>
          </a:p>
        </p:txBody>
      </p:sp>
      <p:sp>
        <p:nvSpPr>
          <p:cNvPr id="11" name="Rounded Rectangle 10">
            <a:extLst>
              <a:ext uri="{FF2B5EF4-FFF2-40B4-BE49-F238E27FC236}">
                <a16:creationId xmlns:a16="http://schemas.microsoft.com/office/drawing/2014/main" id="{A3C49A86-8F2B-E65F-F4B7-4A698B455425}"/>
              </a:ext>
            </a:extLst>
          </p:cNvPr>
          <p:cNvSpPr/>
          <p:nvPr/>
        </p:nvSpPr>
        <p:spPr bwMode="auto">
          <a:xfrm>
            <a:off x="685800" y="4724400"/>
            <a:ext cx="6985000" cy="792163"/>
          </a:xfrm>
          <a:prstGeom prst="roundRect">
            <a:avLst/>
          </a:prstGeom>
          <a:solidFill>
            <a:schemeClr val="accent6">
              <a:alpha val="30000"/>
            </a:schemeClr>
          </a:solidFill>
          <a:ln w="9525" cap="flat" cmpd="sng" algn="ctr">
            <a:solidFill>
              <a:schemeClr val="accent6"/>
            </a:solidFill>
            <a:prstDash val="solid"/>
            <a:round/>
            <a:headEnd type="none" w="med" len="med"/>
            <a:tailEnd type="none" w="med" len="med"/>
          </a:ln>
          <a:effectLst/>
        </p:spPr>
        <p:txBody>
          <a:bodyPr anchor="ctr" anchorCtr="1"/>
          <a:lstStyle/>
          <a:p>
            <a:pPr>
              <a:defRPr/>
            </a:pPr>
            <a:r>
              <a:rPr lang="en-CA" sz="2800" dirty="0"/>
              <a:t>DROP TABLE Book;</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0">
                                            <p:txEl>
                                              <p:pRg st="0" end="0"/>
                                            </p:txEl>
                                          </p:spTgt>
                                        </p:tgtEl>
                                        <p:attrNameLst>
                                          <p:attrName>style.visibility</p:attrName>
                                        </p:attrNameLst>
                                      </p:cBhvr>
                                      <p:to>
                                        <p:strVal val="visible"/>
                                      </p:to>
                                    </p:set>
                                    <p:animEffect transition="in" filter="wipe(left)">
                                      <p:cBhvr>
                                        <p:cTn id="11" dur="500"/>
                                        <p:tgtEl>
                                          <p:spTgt spid="10">
                                            <p:txEl>
                                              <p:pRg st="0" end="0"/>
                                            </p:txEl>
                                          </p:spTgt>
                                        </p:tgtEl>
                                      </p:cBhvr>
                                    </p:animEffect>
                                  </p:childTnLst>
                                </p:cTn>
                              </p:par>
                            </p:childTnLst>
                          </p:cTn>
                        </p:par>
                        <p:par>
                          <p:cTn id="12" fill="hold" nodeType="afterGroup">
                            <p:stCondLst>
                              <p:cond delay="1000"/>
                            </p:stCondLst>
                            <p:childTnLst>
                              <p:par>
                                <p:cTn id="13" presetID="16" presetClass="entr" presetSubtype="21"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barn(inVertical)">
                                      <p:cBhvr>
                                        <p:cTn id="15" dur="500"/>
                                        <p:tgtEl>
                                          <p:spTgt spid="4"/>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0">
                                            <p:txEl>
                                              <p:pRg st="4" end="4"/>
                                            </p:txEl>
                                          </p:spTgt>
                                        </p:tgtEl>
                                        <p:attrNameLst>
                                          <p:attrName>style.visibility</p:attrName>
                                        </p:attrNameLst>
                                      </p:cBhvr>
                                      <p:to>
                                        <p:strVal val="visible"/>
                                      </p:to>
                                    </p:set>
                                    <p:animEffect transition="in" filter="wipe(left)">
                                      <p:cBhvr>
                                        <p:cTn id="20" dur="500"/>
                                        <p:tgtEl>
                                          <p:spTgt spid="10">
                                            <p:txEl>
                                              <p:pRg st="4" end="4"/>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6" presetClass="entr" presetSubtype="21"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barn(inVertical)">
                                      <p:cBhvr>
                                        <p:cTn id="25"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P spid="9" grpId="0" animBg="1"/>
      <p:bldP spid="4" grpId="0" animBg="1"/>
      <p:bldP spid="11"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C20542-674C-8762-C51D-9833F7826887}"/>
              </a:ext>
            </a:extLst>
          </p:cNvPr>
          <p:cNvSpPr>
            <a:spLocks noGrp="1"/>
          </p:cNvSpPr>
          <p:nvPr>
            <p:ph type="title"/>
          </p:nvPr>
        </p:nvSpPr>
        <p:spPr>
          <a:xfrm>
            <a:off x="457200" y="0"/>
            <a:ext cx="7620000" cy="1143000"/>
          </a:xfrm>
        </p:spPr>
        <p:txBody>
          <a:bodyPr/>
          <a:lstStyle/>
          <a:p>
            <a:pPr>
              <a:defRPr/>
            </a:pPr>
            <a:r>
              <a:rPr lang="en-US" dirty="0"/>
              <a:t>Manipulating Tables Using SQL</a:t>
            </a:r>
            <a:endParaRPr lang="en-MY" dirty="0"/>
          </a:p>
        </p:txBody>
      </p:sp>
      <p:sp>
        <p:nvSpPr>
          <p:cNvPr id="11" name="Title 1">
            <a:extLst>
              <a:ext uri="{FF2B5EF4-FFF2-40B4-BE49-F238E27FC236}">
                <a16:creationId xmlns:a16="http://schemas.microsoft.com/office/drawing/2014/main" id="{33FF3901-B2AD-A540-35B8-0ABC9EAE6183}"/>
              </a:ext>
            </a:extLst>
          </p:cNvPr>
          <p:cNvSpPr txBox="1">
            <a:spLocks/>
          </p:cNvSpPr>
          <p:nvPr/>
        </p:nvSpPr>
        <p:spPr bwMode="auto">
          <a:xfrm>
            <a:off x="0" y="1609725"/>
            <a:ext cx="8172450" cy="323850"/>
          </a:xfrm>
          <a:prstGeom prst="rect">
            <a:avLst/>
          </a:prstGeom>
          <a:noFill/>
          <a:ln w="9525">
            <a:noFill/>
            <a:miter lim="800000"/>
            <a:headEnd/>
            <a:tailEnd/>
          </a:ln>
        </p:spPr>
        <p:txBody>
          <a:bodyPr lIns="72000" tIns="0" rIns="72000" bIns="0"/>
          <a:lstStyle/>
          <a:p>
            <a:pPr defTabSz="720000" eaLnBrk="1" hangingPunct="1">
              <a:lnSpc>
                <a:spcPts val="1800"/>
              </a:lnSpc>
              <a:spcBef>
                <a:spcPts val="0"/>
              </a:spcBef>
              <a:spcAft>
                <a:spcPts val="0"/>
              </a:spcAft>
              <a:tabLst>
                <a:tab pos="0" algn="l"/>
              </a:tabLst>
              <a:defRPr/>
            </a:pPr>
            <a:r>
              <a:rPr lang="en-CA" b="1" kern="0" dirty="0">
                <a:latin typeface="+mn-lt"/>
                <a:ea typeface="+mj-ea"/>
                <a:cs typeface="Calibri" pitchFamily="34" charset="0"/>
              </a:rPr>
              <a:t>Enforcing Data Integrity Using SQL</a:t>
            </a:r>
            <a:endParaRPr lang="en-MY" b="1" kern="0" dirty="0">
              <a:latin typeface="+mn-lt"/>
              <a:ea typeface="+mj-ea"/>
              <a:cs typeface="Calibri" pitchFamily="34" charset="0"/>
            </a:endParaRPr>
          </a:p>
        </p:txBody>
      </p:sp>
      <p:sp>
        <p:nvSpPr>
          <p:cNvPr id="6" name="Content Placeholder 3">
            <a:extLst>
              <a:ext uri="{FF2B5EF4-FFF2-40B4-BE49-F238E27FC236}">
                <a16:creationId xmlns:a16="http://schemas.microsoft.com/office/drawing/2014/main" id="{5392E27A-7FCF-861E-5BFC-2E2FC84BD8E4}"/>
              </a:ext>
            </a:extLst>
          </p:cNvPr>
          <p:cNvSpPr txBox="1">
            <a:spLocks/>
          </p:cNvSpPr>
          <p:nvPr/>
        </p:nvSpPr>
        <p:spPr bwMode="auto">
          <a:xfrm>
            <a:off x="250825" y="2114550"/>
            <a:ext cx="7921625" cy="459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rgbClr val="FF6600"/>
              </a:buClr>
              <a:buFont typeface="Wingdings 3" panose="05040102010807070707" pitchFamily="18" charset="2"/>
              <a:buNone/>
            </a:pPr>
            <a:r>
              <a:rPr lang="en-CA" altLang="en-US" sz="2800">
                <a:latin typeface="Calibri" panose="020F0502020204030204" pitchFamily="34" charset="0"/>
              </a:rPr>
              <a:t>Since data are stored in tables, MySQL therefore enforce data integrity (i.e. data correctness) by allowing restrictions to be placed on the tables</a:t>
            </a:r>
          </a:p>
        </p:txBody>
      </p:sp>
      <p:sp>
        <p:nvSpPr>
          <p:cNvPr id="8" name="Rounded Rectangle 7">
            <a:hlinkClick r:id="rId2" action="ppaction://hlinksldjump"/>
            <a:extLst>
              <a:ext uri="{FF2B5EF4-FFF2-40B4-BE49-F238E27FC236}">
                <a16:creationId xmlns:a16="http://schemas.microsoft.com/office/drawing/2014/main" id="{9C8234E6-7320-5437-647B-59673EDDA7B5}"/>
              </a:ext>
            </a:extLst>
          </p:cNvPr>
          <p:cNvSpPr/>
          <p:nvPr/>
        </p:nvSpPr>
        <p:spPr>
          <a:xfrm>
            <a:off x="1794789" y="3626023"/>
            <a:ext cx="2236185" cy="1341711"/>
          </a:xfrm>
          <a:prstGeom prst="roundRect">
            <a:avLst/>
          </a:prstGeom>
          <a:solidFill>
            <a:schemeClr val="bg1">
              <a:lumMod val="5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lIns="83820" tIns="83820" rIns="83820" bIns="83820" spcCol="1270" anchor="ctr"/>
          <a:lstStyle/>
          <a:p>
            <a:pPr algn="ctr" defTabSz="977900">
              <a:lnSpc>
                <a:spcPct val="90000"/>
              </a:lnSpc>
              <a:spcAft>
                <a:spcPct val="35000"/>
              </a:spcAft>
              <a:defRPr/>
            </a:pPr>
            <a:r>
              <a:rPr lang="en-CA" sz="2200" dirty="0"/>
              <a:t>NOT NULL</a:t>
            </a:r>
          </a:p>
        </p:txBody>
      </p:sp>
      <p:sp>
        <p:nvSpPr>
          <p:cNvPr id="9" name="Rounded Rectangle 8">
            <a:hlinkClick r:id="rId3" action="ppaction://hlinksldjump"/>
            <a:extLst>
              <a:ext uri="{FF2B5EF4-FFF2-40B4-BE49-F238E27FC236}">
                <a16:creationId xmlns:a16="http://schemas.microsoft.com/office/drawing/2014/main" id="{20A4E9B4-63CE-9B87-D316-9BAD154ACE74}"/>
              </a:ext>
            </a:extLst>
          </p:cNvPr>
          <p:cNvSpPr/>
          <p:nvPr/>
        </p:nvSpPr>
        <p:spPr>
          <a:xfrm>
            <a:off x="4545615" y="3626022"/>
            <a:ext cx="2236185" cy="1341711"/>
          </a:xfrm>
          <a:prstGeom prst="roundRect">
            <a:avLst/>
          </a:prstGeom>
          <a:solidFill>
            <a:schemeClr val="accent3">
              <a:lumMod val="7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lIns="83820" tIns="83820" rIns="83820" bIns="83820" spcCol="1270" anchor="ctr"/>
          <a:lstStyle/>
          <a:p>
            <a:pPr algn="ctr" defTabSz="977900">
              <a:lnSpc>
                <a:spcPct val="90000"/>
              </a:lnSpc>
              <a:spcAft>
                <a:spcPct val="35000"/>
              </a:spcAft>
              <a:defRPr/>
            </a:pPr>
            <a:r>
              <a:rPr lang="en-CA" sz="2200" dirty="0"/>
              <a:t>UNIQUE</a:t>
            </a:r>
          </a:p>
        </p:txBody>
      </p:sp>
      <p:sp>
        <p:nvSpPr>
          <p:cNvPr id="13" name="Rounded Rectangle 12">
            <a:hlinkClick r:id="rId4" action="ppaction://hlinksldjump"/>
            <a:extLst>
              <a:ext uri="{FF2B5EF4-FFF2-40B4-BE49-F238E27FC236}">
                <a16:creationId xmlns:a16="http://schemas.microsoft.com/office/drawing/2014/main" id="{70ED2103-E028-FFAE-2979-D13BA086AF41}"/>
              </a:ext>
            </a:extLst>
          </p:cNvPr>
          <p:cNvSpPr/>
          <p:nvPr/>
        </p:nvSpPr>
        <p:spPr>
          <a:xfrm>
            <a:off x="1829124" y="5210200"/>
            <a:ext cx="2236185" cy="1341711"/>
          </a:xfrm>
          <a:prstGeom prst="roundRect">
            <a:avLst/>
          </a:prstGeom>
          <a:solidFill>
            <a:schemeClr val="accent5">
              <a:lumMod val="7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lIns="83820" tIns="83820" rIns="83820" bIns="83820" spcCol="1270" anchor="ctr"/>
          <a:lstStyle/>
          <a:p>
            <a:pPr algn="ctr" defTabSz="977900">
              <a:lnSpc>
                <a:spcPct val="90000"/>
              </a:lnSpc>
              <a:spcAft>
                <a:spcPct val="35000"/>
              </a:spcAft>
              <a:defRPr/>
            </a:pPr>
            <a:r>
              <a:rPr lang="en-CA" sz="2200" dirty="0"/>
              <a:t>PRIMARY KEY</a:t>
            </a:r>
          </a:p>
        </p:txBody>
      </p:sp>
      <p:sp>
        <p:nvSpPr>
          <p:cNvPr id="14" name="Rounded Rectangle 13">
            <a:hlinkClick r:id="rId5" action="ppaction://hlinksldjump"/>
            <a:extLst>
              <a:ext uri="{FF2B5EF4-FFF2-40B4-BE49-F238E27FC236}">
                <a16:creationId xmlns:a16="http://schemas.microsoft.com/office/drawing/2014/main" id="{34E3660E-2966-3A30-5870-81F53DC7EBCD}"/>
              </a:ext>
            </a:extLst>
          </p:cNvPr>
          <p:cNvSpPr/>
          <p:nvPr/>
        </p:nvSpPr>
        <p:spPr>
          <a:xfrm>
            <a:off x="4545615" y="5210478"/>
            <a:ext cx="2236185" cy="1341711"/>
          </a:xfrm>
          <a:prstGeom prst="roundRect">
            <a:avLst/>
          </a:prstGeom>
          <a:solidFill>
            <a:schemeClr val="bg2">
              <a:lumMod val="5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lIns="83820" tIns="83820" rIns="83820" bIns="83820" spcCol="1270" anchor="ctr"/>
          <a:lstStyle/>
          <a:p>
            <a:pPr algn="ctr" defTabSz="977900">
              <a:lnSpc>
                <a:spcPct val="90000"/>
              </a:lnSpc>
              <a:spcAft>
                <a:spcPct val="35000"/>
              </a:spcAft>
              <a:defRPr/>
            </a:pPr>
            <a:r>
              <a:rPr lang="en-CA" sz="2200" dirty="0"/>
              <a:t>FOREIGN KEY</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par>
                          <p:cTn id="8" fill="hold" nodeType="afterGroup">
                            <p:stCondLst>
                              <p:cond delay="500"/>
                            </p:stCondLst>
                            <p:childTnLst>
                              <p:par>
                                <p:cTn id="9" presetID="42" presetClass="entr" presetSubtype="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1000"/>
                                        <p:tgtEl>
                                          <p:spTgt spid="8"/>
                                        </p:tgtEl>
                                      </p:cBhvr>
                                    </p:animEffect>
                                    <p:anim calcmode="lin" valueType="num">
                                      <p:cBhvr>
                                        <p:cTn id="12" dur="1000" fill="hold"/>
                                        <p:tgtEl>
                                          <p:spTgt spid="8"/>
                                        </p:tgtEl>
                                        <p:attrNameLst>
                                          <p:attrName>ppt_x</p:attrName>
                                        </p:attrNameLst>
                                      </p:cBhvr>
                                      <p:tavLst>
                                        <p:tav tm="0">
                                          <p:val>
                                            <p:strVal val="#ppt_x"/>
                                          </p:val>
                                        </p:tav>
                                        <p:tav tm="100000">
                                          <p:val>
                                            <p:strVal val="#ppt_x"/>
                                          </p:val>
                                        </p:tav>
                                      </p:tavLst>
                                    </p:anim>
                                    <p:anim calcmode="lin" valueType="num">
                                      <p:cBhvr>
                                        <p:cTn id="13" dur="1000" fill="hold"/>
                                        <p:tgtEl>
                                          <p:spTgt spid="8"/>
                                        </p:tgtEl>
                                        <p:attrNameLst>
                                          <p:attrName>ppt_y</p:attrName>
                                        </p:attrNameLst>
                                      </p:cBhvr>
                                      <p:tavLst>
                                        <p:tav tm="0">
                                          <p:val>
                                            <p:strVal val="#ppt_y+.1"/>
                                          </p:val>
                                        </p:tav>
                                        <p:tav tm="100000">
                                          <p:val>
                                            <p:strVal val="#ppt_y"/>
                                          </p:val>
                                        </p:tav>
                                      </p:tavLst>
                                    </p:anim>
                                  </p:childTnLst>
                                </p:cTn>
                              </p:par>
                            </p:childTnLst>
                          </p:cTn>
                        </p:par>
                        <p:par>
                          <p:cTn id="14" fill="hold" nodeType="afterGroup">
                            <p:stCondLst>
                              <p:cond delay="1500"/>
                            </p:stCondLst>
                            <p:childTnLst>
                              <p:par>
                                <p:cTn id="15" presetID="42" presetClass="entr" presetSubtype="0" fill="hold" nodeType="after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1000"/>
                                        <p:tgtEl>
                                          <p:spTgt spid="9"/>
                                        </p:tgtEl>
                                      </p:cBhvr>
                                    </p:animEffect>
                                    <p:anim calcmode="lin" valueType="num">
                                      <p:cBhvr>
                                        <p:cTn id="18" dur="1000" fill="hold"/>
                                        <p:tgtEl>
                                          <p:spTgt spid="9"/>
                                        </p:tgtEl>
                                        <p:attrNameLst>
                                          <p:attrName>ppt_x</p:attrName>
                                        </p:attrNameLst>
                                      </p:cBhvr>
                                      <p:tavLst>
                                        <p:tav tm="0">
                                          <p:val>
                                            <p:strVal val="#ppt_x"/>
                                          </p:val>
                                        </p:tav>
                                        <p:tav tm="100000">
                                          <p:val>
                                            <p:strVal val="#ppt_x"/>
                                          </p:val>
                                        </p:tav>
                                      </p:tavLst>
                                    </p:anim>
                                    <p:anim calcmode="lin" valueType="num">
                                      <p:cBhvr>
                                        <p:cTn id="19" dur="1000" fill="hold"/>
                                        <p:tgtEl>
                                          <p:spTgt spid="9"/>
                                        </p:tgtEl>
                                        <p:attrNameLst>
                                          <p:attrName>ppt_y</p:attrName>
                                        </p:attrNameLst>
                                      </p:cBhvr>
                                      <p:tavLst>
                                        <p:tav tm="0">
                                          <p:val>
                                            <p:strVal val="#ppt_y+.1"/>
                                          </p:val>
                                        </p:tav>
                                        <p:tav tm="100000">
                                          <p:val>
                                            <p:strVal val="#ppt_y"/>
                                          </p:val>
                                        </p:tav>
                                      </p:tavLst>
                                    </p:anim>
                                  </p:childTnLst>
                                </p:cTn>
                              </p:par>
                            </p:childTnLst>
                          </p:cTn>
                        </p:par>
                        <p:par>
                          <p:cTn id="20" fill="hold" nodeType="afterGroup">
                            <p:stCondLst>
                              <p:cond delay="2500"/>
                            </p:stCondLst>
                            <p:childTnLst>
                              <p:par>
                                <p:cTn id="21" presetID="42" presetClass="entr" presetSubtype="0" fill="hold" nodeType="after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1000"/>
                                        <p:tgtEl>
                                          <p:spTgt spid="13"/>
                                        </p:tgtEl>
                                      </p:cBhvr>
                                    </p:animEffect>
                                    <p:anim calcmode="lin" valueType="num">
                                      <p:cBhvr>
                                        <p:cTn id="24" dur="1000" fill="hold"/>
                                        <p:tgtEl>
                                          <p:spTgt spid="13"/>
                                        </p:tgtEl>
                                        <p:attrNameLst>
                                          <p:attrName>ppt_x</p:attrName>
                                        </p:attrNameLst>
                                      </p:cBhvr>
                                      <p:tavLst>
                                        <p:tav tm="0">
                                          <p:val>
                                            <p:strVal val="#ppt_x"/>
                                          </p:val>
                                        </p:tav>
                                        <p:tav tm="100000">
                                          <p:val>
                                            <p:strVal val="#ppt_x"/>
                                          </p:val>
                                        </p:tav>
                                      </p:tavLst>
                                    </p:anim>
                                    <p:anim calcmode="lin" valueType="num">
                                      <p:cBhvr>
                                        <p:cTn id="25" dur="1000" fill="hold"/>
                                        <p:tgtEl>
                                          <p:spTgt spid="13"/>
                                        </p:tgtEl>
                                        <p:attrNameLst>
                                          <p:attrName>ppt_y</p:attrName>
                                        </p:attrNameLst>
                                      </p:cBhvr>
                                      <p:tavLst>
                                        <p:tav tm="0">
                                          <p:val>
                                            <p:strVal val="#ppt_y+.1"/>
                                          </p:val>
                                        </p:tav>
                                        <p:tav tm="100000">
                                          <p:val>
                                            <p:strVal val="#ppt_y"/>
                                          </p:val>
                                        </p:tav>
                                      </p:tavLst>
                                    </p:anim>
                                  </p:childTnLst>
                                </p:cTn>
                              </p:par>
                            </p:childTnLst>
                          </p:cTn>
                        </p:par>
                        <p:par>
                          <p:cTn id="26" fill="hold" nodeType="afterGroup">
                            <p:stCondLst>
                              <p:cond delay="3500"/>
                            </p:stCondLst>
                            <p:childTnLst>
                              <p:par>
                                <p:cTn id="27" presetID="42" presetClass="entr" presetSubtype="0" fill="hold" nodeType="after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1000"/>
                                        <p:tgtEl>
                                          <p:spTgt spid="14"/>
                                        </p:tgtEl>
                                      </p:cBhvr>
                                    </p:animEffect>
                                    <p:anim calcmode="lin" valueType="num">
                                      <p:cBhvr>
                                        <p:cTn id="30" dur="1000" fill="hold"/>
                                        <p:tgtEl>
                                          <p:spTgt spid="14"/>
                                        </p:tgtEl>
                                        <p:attrNameLst>
                                          <p:attrName>ppt_x</p:attrName>
                                        </p:attrNameLst>
                                      </p:cBhvr>
                                      <p:tavLst>
                                        <p:tav tm="0">
                                          <p:val>
                                            <p:strVal val="#ppt_x"/>
                                          </p:val>
                                        </p:tav>
                                        <p:tav tm="100000">
                                          <p:val>
                                            <p:strVal val="#ppt_x"/>
                                          </p:val>
                                        </p:tav>
                                      </p:tavLst>
                                    </p:anim>
                                    <p:anim calcmode="lin" valueType="num">
                                      <p:cBhvr>
                                        <p:cTn id="31"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A66858-E6DD-95BF-D56E-6DFD1169FBFD}"/>
              </a:ext>
            </a:extLst>
          </p:cNvPr>
          <p:cNvSpPr>
            <a:spLocks noGrp="1"/>
          </p:cNvSpPr>
          <p:nvPr>
            <p:ph type="title"/>
          </p:nvPr>
        </p:nvSpPr>
        <p:spPr>
          <a:xfrm>
            <a:off x="457200" y="0"/>
            <a:ext cx="7620000" cy="1143000"/>
          </a:xfrm>
        </p:spPr>
        <p:txBody>
          <a:bodyPr/>
          <a:lstStyle/>
          <a:p>
            <a:pPr>
              <a:defRPr/>
            </a:pPr>
            <a:r>
              <a:rPr lang="en-US" dirty="0"/>
              <a:t>Manipulating Tables Using SQL</a:t>
            </a:r>
            <a:endParaRPr lang="en-MY" dirty="0"/>
          </a:p>
        </p:txBody>
      </p:sp>
      <p:sp>
        <p:nvSpPr>
          <p:cNvPr id="23" name="Title 1">
            <a:extLst>
              <a:ext uri="{FF2B5EF4-FFF2-40B4-BE49-F238E27FC236}">
                <a16:creationId xmlns:a16="http://schemas.microsoft.com/office/drawing/2014/main" id="{788A7A67-952B-043F-C12B-662C3A655EC6}"/>
              </a:ext>
            </a:extLst>
          </p:cNvPr>
          <p:cNvSpPr txBox="1">
            <a:spLocks/>
          </p:cNvSpPr>
          <p:nvPr/>
        </p:nvSpPr>
        <p:spPr bwMode="auto">
          <a:xfrm>
            <a:off x="0" y="1047750"/>
            <a:ext cx="8172450" cy="323850"/>
          </a:xfrm>
          <a:prstGeom prst="rect">
            <a:avLst/>
          </a:prstGeom>
          <a:noFill/>
          <a:ln w="9525">
            <a:noFill/>
            <a:miter lim="800000"/>
            <a:headEnd/>
            <a:tailEnd/>
          </a:ln>
        </p:spPr>
        <p:txBody>
          <a:bodyPr lIns="72000" tIns="0" rIns="72000" bIns="0"/>
          <a:lstStyle/>
          <a:p>
            <a:pPr defTabSz="720000" eaLnBrk="1" hangingPunct="1">
              <a:lnSpc>
                <a:spcPts val="1800"/>
              </a:lnSpc>
              <a:spcBef>
                <a:spcPts val="0"/>
              </a:spcBef>
              <a:spcAft>
                <a:spcPts val="0"/>
              </a:spcAft>
              <a:tabLst>
                <a:tab pos="0" algn="l"/>
              </a:tabLst>
              <a:defRPr/>
            </a:pPr>
            <a:r>
              <a:rPr lang="en-CA" b="1" kern="0" dirty="0">
                <a:cs typeface="Calibri" pitchFamily="34" charset="0"/>
              </a:rPr>
              <a:t>Enforcing Data Integrity Using SQL</a:t>
            </a:r>
            <a:r>
              <a:rPr lang="en-US" b="1" kern="0" dirty="0">
                <a:cs typeface="Calibri" pitchFamily="34" charset="0"/>
              </a:rPr>
              <a:t> </a:t>
            </a:r>
            <a:endParaRPr lang="en-MY" b="1" kern="0" dirty="0">
              <a:latin typeface="+mn-lt"/>
              <a:ea typeface="+mj-ea"/>
              <a:cs typeface="Calibri" pitchFamily="34" charset="0"/>
            </a:endParaRPr>
          </a:p>
        </p:txBody>
      </p:sp>
      <p:sp>
        <p:nvSpPr>
          <p:cNvPr id="12" name="Snip Single Corner Rectangle 11">
            <a:extLst>
              <a:ext uri="{FF2B5EF4-FFF2-40B4-BE49-F238E27FC236}">
                <a16:creationId xmlns:a16="http://schemas.microsoft.com/office/drawing/2014/main" id="{E25C218A-0467-4E99-3EB2-C9CCB844CA32}"/>
              </a:ext>
            </a:extLst>
          </p:cNvPr>
          <p:cNvSpPr/>
          <p:nvPr/>
        </p:nvSpPr>
        <p:spPr>
          <a:xfrm>
            <a:off x="-36513" y="1371600"/>
            <a:ext cx="1439863" cy="401638"/>
          </a:xfrm>
          <a:prstGeom prst="snip1Rect">
            <a:avLst/>
          </a:prstGeom>
          <a:solidFill>
            <a:schemeClr val="bg1">
              <a:lumMod val="50000"/>
            </a:schemeClr>
          </a:solidFill>
          <a:ln>
            <a:solidFill>
              <a:schemeClr val="bg1">
                <a:lumMod val="50000"/>
              </a:schemeClr>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indent="-342900" algn="just" eaLnBrk="1" hangingPunct="1">
              <a:spcBef>
                <a:spcPct val="20000"/>
              </a:spcBef>
              <a:buClr>
                <a:srgbClr val="FF6600"/>
              </a:buClr>
              <a:buSzPct val="100000"/>
              <a:defRPr/>
            </a:pPr>
            <a:r>
              <a:rPr lang="en-GB" kern="0" dirty="0">
                <a:solidFill>
                  <a:schemeClr val="bg1"/>
                </a:solidFill>
              </a:rPr>
              <a:t>NOT NULL</a:t>
            </a:r>
          </a:p>
        </p:txBody>
      </p:sp>
      <p:sp>
        <p:nvSpPr>
          <p:cNvPr id="13" name="Content Placeholder 2">
            <a:extLst>
              <a:ext uri="{FF2B5EF4-FFF2-40B4-BE49-F238E27FC236}">
                <a16:creationId xmlns:a16="http://schemas.microsoft.com/office/drawing/2014/main" id="{549BA579-2DD5-A540-B28E-68E65CC26FF1}"/>
              </a:ext>
            </a:extLst>
          </p:cNvPr>
          <p:cNvSpPr txBox="1">
            <a:spLocks/>
          </p:cNvSpPr>
          <p:nvPr/>
        </p:nvSpPr>
        <p:spPr bwMode="auto">
          <a:xfrm>
            <a:off x="125413" y="2060575"/>
            <a:ext cx="8047037" cy="108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rgbClr val="FF6600"/>
              </a:buClr>
              <a:buFont typeface="Wingdings 3" panose="05040102010807070707" pitchFamily="18" charset="2"/>
              <a:buNone/>
            </a:pPr>
            <a:r>
              <a:rPr lang="en-US" altLang="en-US" sz="2800">
                <a:latin typeface="Calibri" panose="020F0502020204030204" pitchFamily="34" charset="0"/>
              </a:rPr>
              <a:t>By declaring a column as NOT NULL, this ensures that the column values cannot be NULL. SQL syntax is:</a:t>
            </a: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p:txBody>
      </p:sp>
      <p:sp>
        <p:nvSpPr>
          <p:cNvPr id="20" name="Rounded Rectangle 19">
            <a:extLst>
              <a:ext uri="{FF2B5EF4-FFF2-40B4-BE49-F238E27FC236}">
                <a16:creationId xmlns:a16="http://schemas.microsoft.com/office/drawing/2014/main" id="{DB51E3B3-BB95-CEB0-EDE7-DB54C51A31C1}"/>
              </a:ext>
            </a:extLst>
          </p:cNvPr>
          <p:cNvSpPr>
            <a:spLocks noChangeArrowheads="1"/>
          </p:cNvSpPr>
          <p:nvPr/>
        </p:nvSpPr>
        <p:spPr bwMode="auto">
          <a:xfrm>
            <a:off x="304800" y="3200400"/>
            <a:ext cx="7885113" cy="2460625"/>
          </a:xfrm>
          <a:prstGeom prst="roundRect">
            <a:avLst>
              <a:gd name="adj" fmla="val 16667"/>
            </a:avLst>
          </a:prstGeom>
          <a:solidFill>
            <a:srgbClr val="7F7B00">
              <a:alpha val="30196"/>
            </a:srgbClr>
          </a:solidFill>
          <a:ln w="9525" algn="ctr">
            <a:solidFill>
              <a:srgbClr val="7F7B00"/>
            </a:solidFill>
            <a:round/>
            <a:headEnd/>
            <a:tailEnd/>
          </a:ln>
        </p:spPr>
        <p:txBody>
          <a:bodyPr anchor="ctr" anchorCtr="1"/>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CA" altLang="en-US" sz="2800"/>
              <a:t>CREATE TABLE &lt;table_name&gt;</a:t>
            </a:r>
          </a:p>
          <a:p>
            <a:r>
              <a:rPr lang="en-CA" altLang="en-US" sz="2800"/>
              <a:t>(</a:t>
            </a:r>
          </a:p>
          <a:p>
            <a:r>
              <a:rPr lang="en-CA" altLang="en-US" sz="2800"/>
              <a:t>   &lt;column_name&gt; &lt;data_type&gt; NOT NULL,</a:t>
            </a:r>
          </a:p>
          <a:p>
            <a:r>
              <a:rPr lang="en-CA" altLang="en-US" sz="2800"/>
              <a:t>   …</a:t>
            </a:r>
          </a:p>
          <a:p>
            <a:r>
              <a:rPr lang="en-CA" altLang="en-US" sz="2800"/>
              <a:t>);</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3">
                                            <p:txEl>
                                              <p:pRg st="0" end="0"/>
                                            </p:txEl>
                                          </p:spTgt>
                                        </p:tgtEl>
                                        <p:attrNameLst>
                                          <p:attrName>style.visibility</p:attrName>
                                        </p:attrNameLst>
                                      </p:cBhvr>
                                      <p:to>
                                        <p:strVal val="visible"/>
                                      </p:to>
                                    </p:set>
                                    <p:animEffect transition="in" filter="wipe(left)">
                                      <p:cBhvr>
                                        <p:cTn id="11" dur="500"/>
                                        <p:tgtEl>
                                          <p:spTgt spid="13">
                                            <p:txEl>
                                              <p:pRg st="0" end="0"/>
                                            </p:txEl>
                                          </p:spTgt>
                                        </p:tgtEl>
                                      </p:cBhvr>
                                    </p:animEffect>
                                  </p:childTnLst>
                                </p:cTn>
                              </p:par>
                            </p:childTnLst>
                          </p:cTn>
                        </p:par>
                        <p:par>
                          <p:cTn id="12" fill="hold" nodeType="afterGroup">
                            <p:stCondLst>
                              <p:cond delay="1000"/>
                            </p:stCondLst>
                            <p:childTnLst>
                              <p:par>
                                <p:cTn id="13" presetID="16" presetClass="entr" presetSubtype="21" fill="hold" grpId="0" nodeType="after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barn(inVertical)">
                                      <p:cBhvr>
                                        <p:cTn id="15"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build="p"/>
      <p:bldP spid="20"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ounded Rectangle 19">
            <a:extLst>
              <a:ext uri="{FF2B5EF4-FFF2-40B4-BE49-F238E27FC236}">
                <a16:creationId xmlns:a16="http://schemas.microsoft.com/office/drawing/2014/main" id="{95B87B86-7B07-686F-C7D9-D9384FE4A2AC}"/>
              </a:ext>
            </a:extLst>
          </p:cNvPr>
          <p:cNvSpPr/>
          <p:nvPr/>
        </p:nvSpPr>
        <p:spPr bwMode="auto">
          <a:xfrm>
            <a:off x="804863" y="3200400"/>
            <a:ext cx="6967537" cy="2894013"/>
          </a:xfrm>
          <a:prstGeom prst="roundRect">
            <a:avLst/>
          </a:prstGeom>
          <a:solidFill>
            <a:schemeClr val="accent6">
              <a:alpha val="30000"/>
            </a:schemeClr>
          </a:solidFill>
          <a:ln w="9525" cap="flat" cmpd="sng" algn="ctr">
            <a:solidFill>
              <a:schemeClr val="accent6"/>
            </a:solidFill>
            <a:prstDash val="solid"/>
            <a:round/>
            <a:headEnd type="none" w="med" len="med"/>
            <a:tailEnd type="none" w="med" len="med"/>
          </a:ln>
          <a:effectLst/>
        </p:spPr>
        <p:txBody>
          <a:bodyPr anchor="ctr" anchorCtr="1"/>
          <a:lstStyle/>
          <a:p>
            <a:pPr>
              <a:defRPr/>
            </a:pPr>
            <a:r>
              <a:rPr lang="en-CA" sz="2800" dirty="0"/>
              <a:t>CREATE TABLE Book</a:t>
            </a:r>
          </a:p>
          <a:p>
            <a:pPr>
              <a:defRPr/>
            </a:pPr>
            <a:r>
              <a:rPr lang="en-CA" sz="2800" dirty="0"/>
              <a:t>(</a:t>
            </a:r>
          </a:p>
          <a:p>
            <a:pPr>
              <a:defRPr/>
            </a:pPr>
            <a:r>
              <a:rPr lang="en-CA" sz="2800" dirty="0"/>
              <a:t>   ISBN INT,</a:t>
            </a:r>
          </a:p>
          <a:p>
            <a:pPr>
              <a:defRPr/>
            </a:pPr>
            <a:r>
              <a:rPr lang="en-CA" sz="2800" dirty="0"/>
              <a:t>   Title VARCHAR(100) NOT NULL,</a:t>
            </a:r>
          </a:p>
          <a:p>
            <a:pPr>
              <a:defRPr/>
            </a:pPr>
            <a:r>
              <a:rPr lang="en-CA" sz="2800" dirty="0"/>
              <a:t>   Quantity INT</a:t>
            </a:r>
          </a:p>
          <a:p>
            <a:pPr>
              <a:defRPr/>
            </a:pPr>
            <a:r>
              <a:rPr lang="en-CA" sz="2800" dirty="0"/>
              <a:t>);</a:t>
            </a:r>
          </a:p>
        </p:txBody>
      </p:sp>
      <p:sp>
        <p:nvSpPr>
          <p:cNvPr id="2" name="Title 1">
            <a:extLst>
              <a:ext uri="{FF2B5EF4-FFF2-40B4-BE49-F238E27FC236}">
                <a16:creationId xmlns:a16="http://schemas.microsoft.com/office/drawing/2014/main" id="{295BCF9A-E458-138A-4A26-DDA6B02F99A4}"/>
              </a:ext>
            </a:extLst>
          </p:cNvPr>
          <p:cNvSpPr>
            <a:spLocks noGrp="1"/>
          </p:cNvSpPr>
          <p:nvPr>
            <p:ph type="title"/>
          </p:nvPr>
        </p:nvSpPr>
        <p:spPr>
          <a:xfrm>
            <a:off x="457200" y="0"/>
            <a:ext cx="7620000" cy="1143000"/>
          </a:xfrm>
        </p:spPr>
        <p:txBody>
          <a:bodyPr/>
          <a:lstStyle/>
          <a:p>
            <a:pPr>
              <a:defRPr/>
            </a:pPr>
            <a:r>
              <a:rPr lang="en-US" dirty="0"/>
              <a:t>Manipulating Tables Using SQL</a:t>
            </a:r>
            <a:endParaRPr lang="en-MY" dirty="0"/>
          </a:p>
        </p:txBody>
      </p:sp>
      <p:sp>
        <p:nvSpPr>
          <p:cNvPr id="23" name="Title 1">
            <a:extLst>
              <a:ext uri="{FF2B5EF4-FFF2-40B4-BE49-F238E27FC236}">
                <a16:creationId xmlns:a16="http://schemas.microsoft.com/office/drawing/2014/main" id="{FFF007F9-D53A-EF9E-1389-1DD5D916070E}"/>
              </a:ext>
            </a:extLst>
          </p:cNvPr>
          <p:cNvSpPr txBox="1">
            <a:spLocks/>
          </p:cNvSpPr>
          <p:nvPr/>
        </p:nvSpPr>
        <p:spPr bwMode="auto">
          <a:xfrm>
            <a:off x="0" y="1123950"/>
            <a:ext cx="8172450" cy="323850"/>
          </a:xfrm>
          <a:prstGeom prst="rect">
            <a:avLst/>
          </a:prstGeom>
          <a:noFill/>
          <a:ln w="9525">
            <a:noFill/>
            <a:miter lim="800000"/>
            <a:headEnd/>
            <a:tailEnd/>
          </a:ln>
        </p:spPr>
        <p:txBody>
          <a:bodyPr lIns="72000" tIns="0" rIns="72000" bIns="0"/>
          <a:lstStyle/>
          <a:p>
            <a:pPr defTabSz="720000" eaLnBrk="1" hangingPunct="1">
              <a:lnSpc>
                <a:spcPts val="1800"/>
              </a:lnSpc>
              <a:spcBef>
                <a:spcPts val="0"/>
              </a:spcBef>
              <a:spcAft>
                <a:spcPts val="0"/>
              </a:spcAft>
              <a:tabLst>
                <a:tab pos="0" algn="l"/>
              </a:tabLst>
              <a:defRPr/>
            </a:pPr>
            <a:r>
              <a:rPr lang="en-CA" b="1" kern="0" dirty="0">
                <a:cs typeface="Calibri" pitchFamily="34" charset="0"/>
              </a:rPr>
              <a:t>Enforcing Data Integrity Using SQL</a:t>
            </a:r>
            <a:r>
              <a:rPr lang="en-US" b="1" kern="0" dirty="0">
                <a:cs typeface="Calibri" pitchFamily="34" charset="0"/>
              </a:rPr>
              <a:t> </a:t>
            </a:r>
            <a:endParaRPr lang="en-MY" b="1" kern="0" dirty="0">
              <a:cs typeface="Calibri" pitchFamily="34" charset="0"/>
            </a:endParaRPr>
          </a:p>
          <a:p>
            <a:pPr defTabSz="720000" eaLnBrk="1" hangingPunct="1">
              <a:lnSpc>
                <a:spcPts val="1800"/>
              </a:lnSpc>
              <a:spcBef>
                <a:spcPts val="0"/>
              </a:spcBef>
              <a:spcAft>
                <a:spcPts val="0"/>
              </a:spcAft>
              <a:tabLst>
                <a:tab pos="0" algn="l"/>
              </a:tabLst>
              <a:defRPr/>
            </a:pPr>
            <a:endParaRPr lang="en-MY" b="1" kern="0" dirty="0">
              <a:latin typeface="+mn-lt"/>
              <a:ea typeface="+mj-ea"/>
              <a:cs typeface="Calibri" pitchFamily="34" charset="0"/>
            </a:endParaRPr>
          </a:p>
        </p:txBody>
      </p:sp>
      <p:sp>
        <p:nvSpPr>
          <p:cNvPr id="13" name="Content Placeholder 2">
            <a:extLst>
              <a:ext uri="{FF2B5EF4-FFF2-40B4-BE49-F238E27FC236}">
                <a16:creationId xmlns:a16="http://schemas.microsoft.com/office/drawing/2014/main" id="{61FB2962-FDB6-C9B3-EBFA-5EF72A8D3C94}"/>
              </a:ext>
            </a:extLst>
          </p:cNvPr>
          <p:cNvSpPr txBox="1">
            <a:spLocks/>
          </p:cNvSpPr>
          <p:nvPr/>
        </p:nvSpPr>
        <p:spPr bwMode="auto">
          <a:xfrm>
            <a:off x="125413" y="2060575"/>
            <a:ext cx="8893175" cy="108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rgbClr val="FF6600"/>
              </a:buClr>
              <a:buFont typeface="Wingdings 3" panose="05040102010807070707" pitchFamily="18" charset="2"/>
              <a:buNone/>
            </a:pPr>
            <a:r>
              <a:rPr lang="en-CA" altLang="en-US" sz="2800">
                <a:latin typeface="Calibri" panose="020F0502020204030204" pitchFamily="34" charset="0"/>
              </a:rPr>
              <a:t>For example, to ensure that every book must have a non NULL “Title”</a:t>
            </a:r>
            <a:endParaRPr lang="en-CA" altLang="en-US">
              <a:latin typeface="Calibri" panose="020F0502020204030204" pitchFamily="34" charset="0"/>
            </a:endParaRPr>
          </a:p>
          <a:p>
            <a:pPr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p:txBody>
      </p:sp>
      <p:sp>
        <p:nvSpPr>
          <p:cNvPr id="16" name="Snip Single Corner Rectangle 15">
            <a:extLst>
              <a:ext uri="{FF2B5EF4-FFF2-40B4-BE49-F238E27FC236}">
                <a16:creationId xmlns:a16="http://schemas.microsoft.com/office/drawing/2014/main" id="{58799D83-9D54-5555-28C8-AC44913FF0CD}"/>
              </a:ext>
            </a:extLst>
          </p:cNvPr>
          <p:cNvSpPr/>
          <p:nvPr/>
        </p:nvSpPr>
        <p:spPr>
          <a:xfrm>
            <a:off x="-36513" y="1371600"/>
            <a:ext cx="1439863" cy="401638"/>
          </a:xfrm>
          <a:prstGeom prst="snip1Rect">
            <a:avLst/>
          </a:prstGeom>
          <a:solidFill>
            <a:schemeClr val="bg1">
              <a:lumMod val="50000"/>
            </a:schemeClr>
          </a:solidFill>
          <a:ln>
            <a:solidFill>
              <a:schemeClr val="bg1">
                <a:lumMod val="50000"/>
              </a:schemeClr>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indent="-342900" algn="just" eaLnBrk="1" hangingPunct="1">
              <a:spcBef>
                <a:spcPct val="20000"/>
              </a:spcBef>
              <a:buClr>
                <a:srgbClr val="FF6600"/>
              </a:buClr>
              <a:buSzPct val="100000"/>
              <a:defRPr/>
            </a:pPr>
            <a:r>
              <a:rPr lang="en-GB" kern="0" dirty="0">
                <a:solidFill>
                  <a:schemeClr val="bg1"/>
                </a:solidFill>
              </a:rPr>
              <a:t>NOT NULL</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wipe(left)">
                                      <p:cBhvr>
                                        <p:cTn id="7" dur="500"/>
                                        <p:tgtEl>
                                          <p:spTgt spid="1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barn(inVertical)">
                                      <p:cBhvr>
                                        <p:cTn id="1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3"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CABD4-26B5-D96E-5912-503B92AF109C}"/>
              </a:ext>
            </a:extLst>
          </p:cNvPr>
          <p:cNvSpPr>
            <a:spLocks noGrp="1"/>
          </p:cNvSpPr>
          <p:nvPr>
            <p:ph type="title"/>
          </p:nvPr>
        </p:nvSpPr>
        <p:spPr>
          <a:xfrm>
            <a:off x="457200" y="0"/>
            <a:ext cx="7620000" cy="1143000"/>
          </a:xfrm>
        </p:spPr>
        <p:txBody>
          <a:bodyPr/>
          <a:lstStyle/>
          <a:p>
            <a:pPr>
              <a:defRPr/>
            </a:pPr>
            <a:r>
              <a:rPr lang="en-US" dirty="0"/>
              <a:t>Manipulating Tables Using SQL</a:t>
            </a:r>
            <a:endParaRPr lang="en-MY" dirty="0"/>
          </a:p>
        </p:txBody>
      </p:sp>
      <p:sp>
        <p:nvSpPr>
          <p:cNvPr id="23" name="Title 1">
            <a:extLst>
              <a:ext uri="{FF2B5EF4-FFF2-40B4-BE49-F238E27FC236}">
                <a16:creationId xmlns:a16="http://schemas.microsoft.com/office/drawing/2014/main" id="{B9F8F84C-09E8-104E-74B9-6CC4BEA74729}"/>
              </a:ext>
            </a:extLst>
          </p:cNvPr>
          <p:cNvSpPr txBox="1">
            <a:spLocks/>
          </p:cNvSpPr>
          <p:nvPr/>
        </p:nvSpPr>
        <p:spPr bwMode="auto">
          <a:xfrm>
            <a:off x="0" y="1123950"/>
            <a:ext cx="8172450" cy="323850"/>
          </a:xfrm>
          <a:prstGeom prst="rect">
            <a:avLst/>
          </a:prstGeom>
          <a:noFill/>
          <a:ln w="9525">
            <a:noFill/>
            <a:miter lim="800000"/>
            <a:headEnd/>
            <a:tailEnd/>
          </a:ln>
        </p:spPr>
        <p:txBody>
          <a:bodyPr lIns="72000" tIns="0" rIns="72000" bIns="0"/>
          <a:lstStyle/>
          <a:p>
            <a:pPr defTabSz="720000" eaLnBrk="1" hangingPunct="1">
              <a:lnSpc>
                <a:spcPts val="1800"/>
              </a:lnSpc>
              <a:spcBef>
                <a:spcPts val="0"/>
              </a:spcBef>
              <a:spcAft>
                <a:spcPts val="0"/>
              </a:spcAft>
              <a:tabLst>
                <a:tab pos="0" algn="l"/>
              </a:tabLst>
              <a:defRPr/>
            </a:pPr>
            <a:r>
              <a:rPr lang="en-CA" b="1" kern="0" dirty="0">
                <a:cs typeface="Calibri" pitchFamily="34" charset="0"/>
              </a:rPr>
              <a:t>Enforcing Data Integrity Using SQL</a:t>
            </a:r>
            <a:r>
              <a:rPr lang="en-US" b="1" kern="0" dirty="0">
                <a:cs typeface="Calibri" pitchFamily="34" charset="0"/>
              </a:rPr>
              <a:t> </a:t>
            </a:r>
            <a:endParaRPr lang="en-MY" b="1" kern="0" dirty="0">
              <a:cs typeface="Calibri" pitchFamily="34" charset="0"/>
            </a:endParaRPr>
          </a:p>
          <a:p>
            <a:pPr defTabSz="720000" eaLnBrk="1" hangingPunct="1">
              <a:lnSpc>
                <a:spcPts val="1800"/>
              </a:lnSpc>
              <a:spcBef>
                <a:spcPts val="0"/>
              </a:spcBef>
              <a:spcAft>
                <a:spcPts val="0"/>
              </a:spcAft>
              <a:tabLst>
                <a:tab pos="0" algn="l"/>
              </a:tabLst>
              <a:defRPr/>
            </a:pPr>
            <a:endParaRPr lang="en-MY" b="1" kern="0" dirty="0">
              <a:latin typeface="+mn-lt"/>
              <a:ea typeface="+mj-ea"/>
              <a:cs typeface="Calibri" pitchFamily="34" charset="0"/>
            </a:endParaRPr>
          </a:p>
        </p:txBody>
      </p:sp>
      <p:sp>
        <p:nvSpPr>
          <p:cNvPr id="13" name="Content Placeholder 2">
            <a:extLst>
              <a:ext uri="{FF2B5EF4-FFF2-40B4-BE49-F238E27FC236}">
                <a16:creationId xmlns:a16="http://schemas.microsoft.com/office/drawing/2014/main" id="{12492579-6C6A-71F6-871F-0AE68DCE69CF}"/>
              </a:ext>
            </a:extLst>
          </p:cNvPr>
          <p:cNvSpPr txBox="1">
            <a:spLocks/>
          </p:cNvSpPr>
          <p:nvPr/>
        </p:nvSpPr>
        <p:spPr bwMode="auto">
          <a:xfrm>
            <a:off x="125413" y="2060575"/>
            <a:ext cx="8104187" cy="108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rgbClr val="FF6600"/>
              </a:buClr>
              <a:buFont typeface="Wingdings 3" panose="05040102010807070707" pitchFamily="18" charset="2"/>
              <a:buNone/>
            </a:pPr>
            <a:r>
              <a:rPr lang="en-CA" altLang="en-US" sz="2800">
                <a:latin typeface="Calibri" panose="020F0502020204030204" pitchFamily="34" charset="0"/>
              </a:rPr>
              <a:t>To set a column to NOT NULL in an existing table, </a:t>
            </a:r>
            <a:r>
              <a:rPr lang="en-US" altLang="en-US" sz="2800">
                <a:latin typeface="Calibri" panose="020F0502020204030204" pitchFamily="34" charset="0"/>
              </a:rPr>
              <a:t>the SQL syntax is:</a:t>
            </a:r>
          </a:p>
          <a:p>
            <a:pPr algn="just" eaLnBrk="1" hangingPunct="1">
              <a:spcBef>
                <a:spcPct val="20000"/>
              </a:spcBef>
              <a:buClr>
                <a:srgbClr val="FF6600"/>
              </a:buClr>
              <a:buFont typeface="Wingdings 3" panose="05040102010807070707" pitchFamily="18" charset="2"/>
              <a:buNone/>
            </a:pPr>
            <a:endParaRPr lang="en-US"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US"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US" altLang="en-US" sz="36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r>
              <a:rPr lang="en-US" altLang="en-US" sz="2800">
                <a:latin typeface="Calibri" panose="020F0502020204030204" pitchFamily="34" charset="0"/>
              </a:rPr>
              <a:t>For example, to set the column </a:t>
            </a:r>
            <a:r>
              <a:rPr lang="en-CA" altLang="en-US" sz="2800">
                <a:latin typeface="Calibri" panose="020F0502020204030204" pitchFamily="34" charset="0"/>
              </a:rPr>
              <a:t>“Title” to NOT NULL</a:t>
            </a: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p:txBody>
      </p:sp>
      <p:sp>
        <p:nvSpPr>
          <p:cNvPr id="25" name="Rounded Rectangle 24">
            <a:extLst>
              <a:ext uri="{FF2B5EF4-FFF2-40B4-BE49-F238E27FC236}">
                <a16:creationId xmlns:a16="http://schemas.microsoft.com/office/drawing/2014/main" id="{1E01686F-D5A8-A806-F8C0-28243BB57F21}"/>
              </a:ext>
            </a:extLst>
          </p:cNvPr>
          <p:cNvSpPr>
            <a:spLocks noChangeArrowheads="1"/>
          </p:cNvSpPr>
          <p:nvPr/>
        </p:nvSpPr>
        <p:spPr bwMode="auto">
          <a:xfrm>
            <a:off x="765175" y="3068638"/>
            <a:ext cx="7007225" cy="1368425"/>
          </a:xfrm>
          <a:prstGeom prst="roundRect">
            <a:avLst>
              <a:gd name="adj" fmla="val 16667"/>
            </a:avLst>
          </a:prstGeom>
          <a:solidFill>
            <a:srgbClr val="7F7B00">
              <a:alpha val="30196"/>
            </a:srgbClr>
          </a:solidFill>
          <a:ln w="9525" algn="ctr">
            <a:solidFill>
              <a:srgbClr val="7F7B00"/>
            </a:solidFill>
            <a:round/>
            <a:headEnd/>
            <a:tailEnd/>
          </a:ln>
        </p:spPr>
        <p:txBody>
          <a:bodyPr anchor="ctr" anchorCtr="1"/>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CA" altLang="en-US" sz="2800"/>
              <a:t>ALTER TABLE &lt;table_name&gt; CHANGE &lt;column_name&gt; &lt;new_column_name&gt; &lt;new_data_type&gt; NOT NULL;</a:t>
            </a:r>
          </a:p>
        </p:txBody>
      </p:sp>
      <p:sp>
        <p:nvSpPr>
          <p:cNvPr id="26" name="Rounded Rectangle 25">
            <a:extLst>
              <a:ext uri="{FF2B5EF4-FFF2-40B4-BE49-F238E27FC236}">
                <a16:creationId xmlns:a16="http://schemas.microsoft.com/office/drawing/2014/main" id="{7C81457C-3487-8A41-EDAD-E6052AD411E3}"/>
              </a:ext>
            </a:extLst>
          </p:cNvPr>
          <p:cNvSpPr/>
          <p:nvPr/>
        </p:nvSpPr>
        <p:spPr bwMode="auto">
          <a:xfrm>
            <a:off x="765175" y="5229225"/>
            <a:ext cx="7007225" cy="1079500"/>
          </a:xfrm>
          <a:prstGeom prst="roundRect">
            <a:avLst/>
          </a:prstGeom>
          <a:solidFill>
            <a:schemeClr val="accent6">
              <a:alpha val="30000"/>
            </a:schemeClr>
          </a:solidFill>
          <a:ln w="9525" cap="flat" cmpd="sng" algn="ctr">
            <a:solidFill>
              <a:schemeClr val="accent6"/>
            </a:solidFill>
            <a:prstDash val="solid"/>
            <a:round/>
            <a:headEnd type="none" w="med" len="med"/>
            <a:tailEnd type="none" w="med" len="med"/>
          </a:ln>
          <a:effectLst/>
        </p:spPr>
        <p:txBody>
          <a:bodyPr anchor="ctr" anchorCtr="1"/>
          <a:lstStyle/>
          <a:p>
            <a:pPr>
              <a:defRPr/>
            </a:pPr>
            <a:r>
              <a:rPr lang="en-CA" sz="2800" dirty="0"/>
              <a:t>ALTER TABLE Book CHANGE Title Title VARCHAR(100) NOT NULL;</a:t>
            </a:r>
          </a:p>
        </p:txBody>
      </p:sp>
      <p:sp>
        <p:nvSpPr>
          <p:cNvPr id="14" name="Snip Single Corner Rectangle 13">
            <a:extLst>
              <a:ext uri="{FF2B5EF4-FFF2-40B4-BE49-F238E27FC236}">
                <a16:creationId xmlns:a16="http://schemas.microsoft.com/office/drawing/2014/main" id="{9151F60C-185C-C26A-3B73-9EC145E520E5}"/>
              </a:ext>
            </a:extLst>
          </p:cNvPr>
          <p:cNvSpPr/>
          <p:nvPr/>
        </p:nvSpPr>
        <p:spPr>
          <a:xfrm>
            <a:off x="-36513" y="1371600"/>
            <a:ext cx="1439863" cy="401638"/>
          </a:xfrm>
          <a:prstGeom prst="snip1Rect">
            <a:avLst/>
          </a:prstGeom>
          <a:solidFill>
            <a:schemeClr val="bg1">
              <a:lumMod val="50000"/>
            </a:schemeClr>
          </a:solidFill>
          <a:ln>
            <a:solidFill>
              <a:schemeClr val="bg1">
                <a:lumMod val="50000"/>
              </a:schemeClr>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indent="-342900" algn="just" eaLnBrk="1" hangingPunct="1">
              <a:spcBef>
                <a:spcPct val="20000"/>
              </a:spcBef>
              <a:buClr>
                <a:srgbClr val="FF6600"/>
              </a:buClr>
              <a:buSzPct val="100000"/>
              <a:defRPr/>
            </a:pPr>
            <a:r>
              <a:rPr lang="en-GB" kern="0" dirty="0">
                <a:solidFill>
                  <a:schemeClr val="bg1"/>
                </a:solidFill>
              </a:rPr>
              <a:t>NOT NULL</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wipe(left)">
                                      <p:cBhvr>
                                        <p:cTn id="7" dur="500"/>
                                        <p:tgtEl>
                                          <p:spTgt spid="13">
                                            <p:txEl>
                                              <p:pRg st="0" end="0"/>
                                            </p:txEl>
                                          </p:spTgt>
                                        </p:tgtEl>
                                      </p:cBhvr>
                                    </p:animEffect>
                                  </p:childTnLst>
                                </p:cTn>
                              </p:par>
                            </p:childTnLst>
                          </p:cTn>
                        </p:par>
                        <p:par>
                          <p:cTn id="8" fill="hold" nodeType="afterGroup">
                            <p:stCondLst>
                              <p:cond delay="500"/>
                            </p:stCondLst>
                            <p:childTnLst>
                              <p:par>
                                <p:cTn id="9" presetID="16" presetClass="entr" presetSubtype="21"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barn(inVertical)">
                                      <p:cBhvr>
                                        <p:cTn id="11" dur="500"/>
                                        <p:tgtEl>
                                          <p:spTgt spid="25"/>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3">
                                            <p:txEl>
                                              <p:pRg st="4" end="4"/>
                                            </p:txEl>
                                          </p:spTgt>
                                        </p:tgtEl>
                                        <p:attrNameLst>
                                          <p:attrName>style.visibility</p:attrName>
                                        </p:attrNameLst>
                                      </p:cBhvr>
                                      <p:to>
                                        <p:strVal val="visible"/>
                                      </p:to>
                                    </p:set>
                                    <p:animEffect transition="in" filter="wipe(left)">
                                      <p:cBhvr>
                                        <p:cTn id="16" dur="500"/>
                                        <p:tgtEl>
                                          <p:spTgt spid="13">
                                            <p:txEl>
                                              <p:pRg st="4" end="4"/>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6" presetClass="entr" presetSubtype="21" fill="hold" grpId="0" nodeType="click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barn(inVertical)">
                                      <p:cBhvr>
                                        <p:cTn id="21"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P spid="25" grpId="0" animBg="1"/>
      <p:bldP spid="26"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3E1DC-6405-EC82-46FD-85F889A4C646}"/>
              </a:ext>
            </a:extLst>
          </p:cNvPr>
          <p:cNvSpPr>
            <a:spLocks noGrp="1"/>
          </p:cNvSpPr>
          <p:nvPr>
            <p:ph type="title"/>
          </p:nvPr>
        </p:nvSpPr>
        <p:spPr>
          <a:xfrm>
            <a:off x="457200" y="0"/>
            <a:ext cx="7620000" cy="1143000"/>
          </a:xfrm>
        </p:spPr>
        <p:txBody>
          <a:bodyPr/>
          <a:lstStyle/>
          <a:p>
            <a:pPr>
              <a:defRPr/>
            </a:pPr>
            <a:r>
              <a:rPr lang="en-US" dirty="0"/>
              <a:t>Manipulating Tables Using SQL</a:t>
            </a:r>
            <a:endParaRPr lang="en-MY" dirty="0"/>
          </a:p>
        </p:txBody>
      </p:sp>
      <p:sp>
        <p:nvSpPr>
          <p:cNvPr id="23" name="Title 1">
            <a:extLst>
              <a:ext uri="{FF2B5EF4-FFF2-40B4-BE49-F238E27FC236}">
                <a16:creationId xmlns:a16="http://schemas.microsoft.com/office/drawing/2014/main" id="{76439F8E-AC69-1737-1FDE-BE362E94DFC5}"/>
              </a:ext>
            </a:extLst>
          </p:cNvPr>
          <p:cNvSpPr txBox="1">
            <a:spLocks/>
          </p:cNvSpPr>
          <p:nvPr/>
        </p:nvSpPr>
        <p:spPr bwMode="auto">
          <a:xfrm>
            <a:off x="0" y="1123950"/>
            <a:ext cx="8172450" cy="323850"/>
          </a:xfrm>
          <a:prstGeom prst="rect">
            <a:avLst/>
          </a:prstGeom>
          <a:noFill/>
          <a:ln w="9525">
            <a:noFill/>
            <a:miter lim="800000"/>
            <a:headEnd/>
            <a:tailEnd/>
          </a:ln>
        </p:spPr>
        <p:txBody>
          <a:bodyPr lIns="72000" tIns="0" rIns="72000" bIns="0"/>
          <a:lstStyle/>
          <a:p>
            <a:pPr defTabSz="720000" eaLnBrk="1" hangingPunct="1">
              <a:lnSpc>
                <a:spcPts val="1800"/>
              </a:lnSpc>
              <a:spcBef>
                <a:spcPts val="0"/>
              </a:spcBef>
              <a:spcAft>
                <a:spcPts val="0"/>
              </a:spcAft>
              <a:tabLst>
                <a:tab pos="0" algn="l"/>
              </a:tabLst>
              <a:defRPr/>
            </a:pPr>
            <a:r>
              <a:rPr lang="en-CA" b="1" kern="0" dirty="0">
                <a:cs typeface="Calibri" pitchFamily="34" charset="0"/>
              </a:rPr>
              <a:t>Enforcing Data Integrity Using SQL</a:t>
            </a:r>
            <a:r>
              <a:rPr lang="en-US" b="1" kern="0" dirty="0">
                <a:cs typeface="Calibri" pitchFamily="34" charset="0"/>
              </a:rPr>
              <a:t> </a:t>
            </a:r>
            <a:endParaRPr lang="en-MY" b="1" kern="0" dirty="0">
              <a:cs typeface="Calibri" pitchFamily="34" charset="0"/>
            </a:endParaRPr>
          </a:p>
          <a:p>
            <a:pPr defTabSz="720000" eaLnBrk="1" hangingPunct="1">
              <a:lnSpc>
                <a:spcPts val="1800"/>
              </a:lnSpc>
              <a:spcBef>
                <a:spcPts val="0"/>
              </a:spcBef>
              <a:spcAft>
                <a:spcPts val="0"/>
              </a:spcAft>
              <a:tabLst>
                <a:tab pos="0" algn="l"/>
              </a:tabLst>
              <a:defRPr/>
            </a:pPr>
            <a:endParaRPr lang="en-MY" b="1" kern="0" dirty="0">
              <a:cs typeface="Calibri" pitchFamily="34" charset="0"/>
            </a:endParaRPr>
          </a:p>
          <a:p>
            <a:pPr defTabSz="720000" eaLnBrk="1" hangingPunct="1">
              <a:lnSpc>
                <a:spcPts val="1800"/>
              </a:lnSpc>
              <a:spcBef>
                <a:spcPts val="0"/>
              </a:spcBef>
              <a:spcAft>
                <a:spcPts val="0"/>
              </a:spcAft>
              <a:tabLst>
                <a:tab pos="0" algn="l"/>
              </a:tabLst>
              <a:defRPr/>
            </a:pPr>
            <a:endParaRPr lang="en-MY" b="1" kern="0" dirty="0">
              <a:latin typeface="+mn-lt"/>
              <a:ea typeface="+mj-ea"/>
              <a:cs typeface="Calibri" pitchFamily="34" charset="0"/>
            </a:endParaRPr>
          </a:p>
        </p:txBody>
      </p:sp>
      <p:sp>
        <p:nvSpPr>
          <p:cNvPr id="12" name="Snip Single Corner Rectangle 11">
            <a:extLst>
              <a:ext uri="{FF2B5EF4-FFF2-40B4-BE49-F238E27FC236}">
                <a16:creationId xmlns:a16="http://schemas.microsoft.com/office/drawing/2014/main" id="{14EDED40-95CF-2F65-42B2-5142024B0E7B}"/>
              </a:ext>
            </a:extLst>
          </p:cNvPr>
          <p:cNvSpPr/>
          <p:nvPr/>
        </p:nvSpPr>
        <p:spPr>
          <a:xfrm>
            <a:off x="-36513" y="1371600"/>
            <a:ext cx="1152526" cy="401638"/>
          </a:xfrm>
          <a:prstGeom prst="snip1Rect">
            <a:avLst/>
          </a:prstGeom>
          <a:solidFill>
            <a:schemeClr val="accent3">
              <a:lumMod val="75000"/>
            </a:schemeClr>
          </a:solidFill>
          <a:ln>
            <a:solidFill>
              <a:schemeClr val="accent3">
                <a:lumMod val="75000"/>
              </a:schemeClr>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indent="-342900" algn="just" eaLnBrk="1" hangingPunct="1">
              <a:spcBef>
                <a:spcPct val="20000"/>
              </a:spcBef>
              <a:buClr>
                <a:srgbClr val="FF6600"/>
              </a:buClr>
              <a:buSzPct val="100000"/>
              <a:defRPr/>
            </a:pPr>
            <a:r>
              <a:rPr lang="en-GB" kern="0" dirty="0">
                <a:solidFill>
                  <a:schemeClr val="bg1"/>
                </a:solidFill>
              </a:rPr>
              <a:t>UNIQUE</a:t>
            </a:r>
          </a:p>
        </p:txBody>
      </p:sp>
      <p:sp>
        <p:nvSpPr>
          <p:cNvPr id="13" name="Content Placeholder 2">
            <a:extLst>
              <a:ext uri="{FF2B5EF4-FFF2-40B4-BE49-F238E27FC236}">
                <a16:creationId xmlns:a16="http://schemas.microsoft.com/office/drawing/2014/main" id="{577D0F40-1342-3533-4E7B-26F149E36C54}"/>
              </a:ext>
            </a:extLst>
          </p:cNvPr>
          <p:cNvSpPr txBox="1">
            <a:spLocks/>
          </p:cNvSpPr>
          <p:nvPr/>
        </p:nvSpPr>
        <p:spPr bwMode="auto">
          <a:xfrm>
            <a:off x="125413" y="2060575"/>
            <a:ext cx="8180387" cy="108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rgbClr val="FF6600"/>
              </a:buClr>
              <a:buFont typeface="Wingdings 3" panose="05040102010807070707" pitchFamily="18" charset="2"/>
              <a:buNone/>
            </a:pPr>
            <a:r>
              <a:rPr lang="en-US" altLang="en-US" sz="2800">
                <a:latin typeface="Calibri" panose="020F0502020204030204" pitchFamily="34" charset="0"/>
              </a:rPr>
              <a:t>By declaring a column as UNIQUE, this ensures that every column value is different. SQL syntax is:</a:t>
            </a: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p:txBody>
      </p:sp>
      <p:sp>
        <p:nvSpPr>
          <p:cNvPr id="20" name="Rounded Rectangle 19">
            <a:extLst>
              <a:ext uri="{FF2B5EF4-FFF2-40B4-BE49-F238E27FC236}">
                <a16:creationId xmlns:a16="http://schemas.microsoft.com/office/drawing/2014/main" id="{8BFFD2EC-E7C3-FC18-BF52-9D4410DCA99A}"/>
              </a:ext>
            </a:extLst>
          </p:cNvPr>
          <p:cNvSpPr>
            <a:spLocks noChangeArrowheads="1"/>
          </p:cNvSpPr>
          <p:nvPr/>
        </p:nvSpPr>
        <p:spPr bwMode="auto">
          <a:xfrm>
            <a:off x="304800" y="3200400"/>
            <a:ext cx="7912100" cy="2460625"/>
          </a:xfrm>
          <a:prstGeom prst="roundRect">
            <a:avLst>
              <a:gd name="adj" fmla="val 16667"/>
            </a:avLst>
          </a:prstGeom>
          <a:solidFill>
            <a:srgbClr val="7F7B00">
              <a:alpha val="30196"/>
            </a:srgbClr>
          </a:solidFill>
          <a:ln w="9525" algn="ctr">
            <a:solidFill>
              <a:srgbClr val="7F7B00"/>
            </a:solidFill>
            <a:round/>
            <a:headEnd/>
            <a:tailEnd/>
          </a:ln>
        </p:spPr>
        <p:txBody>
          <a:bodyPr anchor="ctr" anchorCtr="1"/>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CA" altLang="en-US" sz="2800"/>
              <a:t>CREATE TABLE &lt;table_name&gt;</a:t>
            </a:r>
          </a:p>
          <a:p>
            <a:r>
              <a:rPr lang="en-CA" altLang="en-US" sz="2800"/>
              <a:t>(</a:t>
            </a:r>
          </a:p>
          <a:p>
            <a:r>
              <a:rPr lang="en-CA" altLang="en-US" sz="2800"/>
              <a:t>   &lt;column_name&gt; &lt;data_type&gt; UNIQUE,</a:t>
            </a:r>
          </a:p>
          <a:p>
            <a:r>
              <a:rPr lang="en-CA" altLang="en-US" sz="2800"/>
              <a:t>   …</a:t>
            </a:r>
          </a:p>
          <a:p>
            <a:r>
              <a:rPr lang="en-CA" altLang="en-US" sz="2800"/>
              <a:t>);</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3">
                                            <p:txEl>
                                              <p:pRg st="0" end="0"/>
                                            </p:txEl>
                                          </p:spTgt>
                                        </p:tgtEl>
                                        <p:attrNameLst>
                                          <p:attrName>style.visibility</p:attrName>
                                        </p:attrNameLst>
                                      </p:cBhvr>
                                      <p:to>
                                        <p:strVal val="visible"/>
                                      </p:to>
                                    </p:set>
                                    <p:animEffect transition="in" filter="wipe(left)">
                                      <p:cBhvr>
                                        <p:cTn id="11" dur="500"/>
                                        <p:tgtEl>
                                          <p:spTgt spid="13">
                                            <p:txEl>
                                              <p:pRg st="0" end="0"/>
                                            </p:txEl>
                                          </p:spTgt>
                                        </p:tgtEl>
                                      </p:cBhvr>
                                    </p:animEffect>
                                  </p:childTnLst>
                                </p:cTn>
                              </p:par>
                            </p:childTnLst>
                          </p:cTn>
                        </p:par>
                        <p:par>
                          <p:cTn id="12" fill="hold" nodeType="afterGroup">
                            <p:stCondLst>
                              <p:cond delay="1000"/>
                            </p:stCondLst>
                            <p:childTnLst>
                              <p:par>
                                <p:cTn id="13" presetID="16" presetClass="entr" presetSubtype="21" fill="hold" grpId="0" nodeType="after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barn(inVertical)">
                                      <p:cBhvr>
                                        <p:cTn id="15"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build="p"/>
      <p:bldP spid="20"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ounded Rectangle 19">
            <a:extLst>
              <a:ext uri="{FF2B5EF4-FFF2-40B4-BE49-F238E27FC236}">
                <a16:creationId xmlns:a16="http://schemas.microsoft.com/office/drawing/2014/main" id="{5F276413-E497-E571-2AFF-52AD6FFA7554}"/>
              </a:ext>
            </a:extLst>
          </p:cNvPr>
          <p:cNvSpPr/>
          <p:nvPr/>
        </p:nvSpPr>
        <p:spPr bwMode="auto">
          <a:xfrm>
            <a:off x="468313" y="3200400"/>
            <a:ext cx="7537450" cy="2894013"/>
          </a:xfrm>
          <a:prstGeom prst="roundRect">
            <a:avLst/>
          </a:prstGeom>
          <a:solidFill>
            <a:schemeClr val="accent6">
              <a:alpha val="30000"/>
            </a:schemeClr>
          </a:solidFill>
          <a:ln w="9525" cap="flat" cmpd="sng" algn="ctr">
            <a:solidFill>
              <a:schemeClr val="accent6"/>
            </a:solidFill>
            <a:prstDash val="solid"/>
            <a:round/>
            <a:headEnd type="none" w="med" len="med"/>
            <a:tailEnd type="none" w="med" len="med"/>
          </a:ln>
          <a:effectLst/>
        </p:spPr>
        <p:txBody>
          <a:bodyPr anchor="ctr" anchorCtr="1"/>
          <a:lstStyle/>
          <a:p>
            <a:pPr>
              <a:defRPr/>
            </a:pPr>
            <a:r>
              <a:rPr lang="en-CA" sz="2800" dirty="0"/>
              <a:t>CREATE TABLE Book</a:t>
            </a:r>
          </a:p>
          <a:p>
            <a:pPr>
              <a:defRPr/>
            </a:pPr>
            <a:r>
              <a:rPr lang="en-CA" sz="2800" dirty="0"/>
              <a:t>(</a:t>
            </a:r>
          </a:p>
          <a:p>
            <a:pPr>
              <a:defRPr/>
            </a:pPr>
            <a:r>
              <a:rPr lang="en-CA" sz="2800" dirty="0"/>
              <a:t>   ISBN INT,</a:t>
            </a:r>
          </a:p>
          <a:p>
            <a:pPr>
              <a:defRPr/>
            </a:pPr>
            <a:r>
              <a:rPr lang="en-CA" sz="2800" dirty="0"/>
              <a:t>   Title VARCHAR(100) NOT NULL UNIQUE,</a:t>
            </a:r>
          </a:p>
          <a:p>
            <a:pPr>
              <a:defRPr/>
            </a:pPr>
            <a:r>
              <a:rPr lang="en-CA" sz="2800" dirty="0"/>
              <a:t>   Quantity INT</a:t>
            </a:r>
          </a:p>
          <a:p>
            <a:pPr>
              <a:defRPr/>
            </a:pPr>
            <a:r>
              <a:rPr lang="en-CA" sz="2800" dirty="0"/>
              <a:t>);</a:t>
            </a:r>
          </a:p>
        </p:txBody>
      </p:sp>
      <p:sp>
        <p:nvSpPr>
          <p:cNvPr id="23" name="Title 1">
            <a:extLst>
              <a:ext uri="{FF2B5EF4-FFF2-40B4-BE49-F238E27FC236}">
                <a16:creationId xmlns:a16="http://schemas.microsoft.com/office/drawing/2014/main" id="{ABED0C4E-39B7-DE9A-7E17-86755578375A}"/>
              </a:ext>
            </a:extLst>
          </p:cNvPr>
          <p:cNvSpPr txBox="1">
            <a:spLocks/>
          </p:cNvSpPr>
          <p:nvPr/>
        </p:nvSpPr>
        <p:spPr bwMode="auto">
          <a:xfrm>
            <a:off x="0" y="1123950"/>
            <a:ext cx="8172450" cy="323850"/>
          </a:xfrm>
          <a:prstGeom prst="rect">
            <a:avLst/>
          </a:prstGeom>
          <a:noFill/>
          <a:ln w="9525">
            <a:noFill/>
            <a:miter lim="800000"/>
            <a:headEnd/>
            <a:tailEnd/>
          </a:ln>
        </p:spPr>
        <p:txBody>
          <a:bodyPr lIns="72000" tIns="0" rIns="72000" bIns="0"/>
          <a:lstStyle/>
          <a:p>
            <a:pPr defTabSz="720000" eaLnBrk="1" hangingPunct="1">
              <a:lnSpc>
                <a:spcPts val="1800"/>
              </a:lnSpc>
              <a:spcBef>
                <a:spcPts val="0"/>
              </a:spcBef>
              <a:spcAft>
                <a:spcPts val="0"/>
              </a:spcAft>
              <a:tabLst>
                <a:tab pos="0" algn="l"/>
              </a:tabLst>
              <a:defRPr/>
            </a:pPr>
            <a:r>
              <a:rPr lang="en-CA" b="1" kern="0" dirty="0">
                <a:cs typeface="Calibri" pitchFamily="34" charset="0"/>
              </a:rPr>
              <a:t>Enforcing Data Integrity Using SQL</a:t>
            </a:r>
            <a:r>
              <a:rPr lang="en-US" b="1" kern="0" dirty="0">
                <a:cs typeface="Calibri" pitchFamily="34" charset="0"/>
              </a:rPr>
              <a:t> </a:t>
            </a:r>
            <a:endParaRPr lang="en-MY" b="1" kern="0" dirty="0">
              <a:cs typeface="Calibri" pitchFamily="34" charset="0"/>
            </a:endParaRPr>
          </a:p>
          <a:p>
            <a:pPr defTabSz="720000" eaLnBrk="1" hangingPunct="1">
              <a:lnSpc>
                <a:spcPts val="1800"/>
              </a:lnSpc>
              <a:spcBef>
                <a:spcPts val="0"/>
              </a:spcBef>
              <a:spcAft>
                <a:spcPts val="0"/>
              </a:spcAft>
              <a:tabLst>
                <a:tab pos="0" algn="l"/>
              </a:tabLst>
              <a:defRPr/>
            </a:pPr>
            <a:endParaRPr lang="en-MY" b="1" kern="0" dirty="0">
              <a:latin typeface="+mn-lt"/>
              <a:ea typeface="+mj-ea"/>
              <a:cs typeface="Calibri" pitchFamily="34" charset="0"/>
            </a:endParaRPr>
          </a:p>
        </p:txBody>
      </p:sp>
      <p:sp>
        <p:nvSpPr>
          <p:cNvPr id="13" name="Content Placeholder 2">
            <a:extLst>
              <a:ext uri="{FF2B5EF4-FFF2-40B4-BE49-F238E27FC236}">
                <a16:creationId xmlns:a16="http://schemas.microsoft.com/office/drawing/2014/main" id="{F84AA5F5-63CE-AEF5-A3FD-7624ECCAE184}"/>
              </a:ext>
            </a:extLst>
          </p:cNvPr>
          <p:cNvSpPr txBox="1">
            <a:spLocks/>
          </p:cNvSpPr>
          <p:nvPr/>
        </p:nvSpPr>
        <p:spPr bwMode="auto">
          <a:xfrm>
            <a:off x="125413" y="2060575"/>
            <a:ext cx="8180387" cy="108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rgbClr val="FF6600"/>
              </a:buClr>
              <a:buFont typeface="Wingdings 3" panose="05040102010807070707" pitchFamily="18" charset="2"/>
              <a:buNone/>
            </a:pPr>
            <a:r>
              <a:rPr lang="en-CA" altLang="en-US" sz="2800">
                <a:latin typeface="Calibri" panose="020F0502020204030204" pitchFamily="34" charset="0"/>
              </a:rPr>
              <a:t>For example, to ensure that every book has a non NULL and unique title</a:t>
            </a: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p:txBody>
      </p:sp>
      <p:grpSp>
        <p:nvGrpSpPr>
          <p:cNvPr id="2" name="Group 13">
            <a:extLst>
              <a:ext uri="{FF2B5EF4-FFF2-40B4-BE49-F238E27FC236}">
                <a16:creationId xmlns:a16="http://schemas.microsoft.com/office/drawing/2014/main" id="{67DA7D01-2076-2927-E346-425D283821E1}"/>
              </a:ext>
            </a:extLst>
          </p:cNvPr>
          <p:cNvGrpSpPr>
            <a:grpSpLocks/>
          </p:cNvGrpSpPr>
          <p:nvPr/>
        </p:nvGrpSpPr>
        <p:grpSpPr bwMode="auto">
          <a:xfrm>
            <a:off x="5184775" y="3425825"/>
            <a:ext cx="2305050" cy="1222375"/>
            <a:chOff x="5184889" y="3426415"/>
            <a:chExt cx="2304256" cy="1221117"/>
          </a:xfrm>
        </p:grpSpPr>
        <p:grpSp>
          <p:nvGrpSpPr>
            <p:cNvPr id="53256" name="Group 16">
              <a:extLst>
                <a:ext uri="{FF2B5EF4-FFF2-40B4-BE49-F238E27FC236}">
                  <a16:creationId xmlns:a16="http://schemas.microsoft.com/office/drawing/2014/main" id="{1FDA368E-4C24-6E96-03A0-39BA586A9041}"/>
                </a:ext>
              </a:extLst>
            </p:cNvPr>
            <p:cNvGrpSpPr>
              <a:grpSpLocks/>
            </p:cNvGrpSpPr>
            <p:nvPr/>
          </p:nvGrpSpPr>
          <p:grpSpPr bwMode="auto">
            <a:xfrm>
              <a:off x="5184889" y="3426415"/>
              <a:ext cx="2304256" cy="1221117"/>
              <a:chOff x="5976977" y="1811671"/>
              <a:chExt cx="2304256" cy="1221117"/>
            </a:xfrm>
          </p:grpSpPr>
          <p:sp>
            <p:nvSpPr>
              <p:cNvPr id="21" name="Rectangle 20">
                <a:extLst>
                  <a:ext uri="{FF2B5EF4-FFF2-40B4-BE49-F238E27FC236}">
                    <a16:creationId xmlns:a16="http://schemas.microsoft.com/office/drawing/2014/main" id="{94F4A047-4F47-07D2-3CF5-5081B16C302E}"/>
                  </a:ext>
                </a:extLst>
              </p:cNvPr>
              <p:cNvSpPr/>
              <p:nvPr/>
            </p:nvSpPr>
            <p:spPr bwMode="auto">
              <a:xfrm>
                <a:off x="5976977" y="1811671"/>
                <a:ext cx="2304256" cy="913459"/>
              </a:xfrm>
              <a:prstGeom prst="rect">
                <a:avLst/>
              </a:prstGeom>
              <a:ln>
                <a:headEnd type="none" w="med" len="med"/>
                <a:tailEnd type="none" w="med" len="med"/>
              </a:ln>
            </p:spPr>
            <p:style>
              <a:lnRef idx="1">
                <a:schemeClr val="accent4"/>
              </a:lnRef>
              <a:fillRef idx="3">
                <a:schemeClr val="accent4"/>
              </a:fillRef>
              <a:effectRef idx="2">
                <a:schemeClr val="accent4"/>
              </a:effectRef>
              <a:fontRef idx="minor">
                <a:schemeClr val="lt1"/>
              </a:fontRef>
            </p:style>
            <p:txBody>
              <a:bodyPr/>
              <a:lstStyle/>
              <a:p>
                <a:pPr algn="ctr">
                  <a:defRPr/>
                </a:pPr>
                <a:r>
                  <a:rPr lang="en-CA" dirty="0">
                    <a:solidFill>
                      <a:schemeClr val="bg1"/>
                    </a:solidFill>
                    <a:latin typeface="Arial" charset="0"/>
                  </a:rPr>
                  <a:t>You can have multiple constraints per column</a:t>
                </a:r>
              </a:p>
            </p:txBody>
          </p:sp>
          <p:cxnSp>
            <p:nvCxnSpPr>
              <p:cNvPr id="27" name="Straight Arrow Connector 26">
                <a:extLst>
                  <a:ext uri="{FF2B5EF4-FFF2-40B4-BE49-F238E27FC236}">
                    <a16:creationId xmlns:a16="http://schemas.microsoft.com/office/drawing/2014/main" id="{E43CFB33-9FB3-62AB-3036-4B1B27846DF5}"/>
                  </a:ext>
                </a:extLst>
              </p:cNvPr>
              <p:cNvCxnSpPr>
                <a:stCxn id="21" idx="2"/>
              </p:cNvCxnSpPr>
              <p:nvPr/>
            </p:nvCxnSpPr>
            <p:spPr bwMode="auto">
              <a:xfrm flipH="1">
                <a:off x="6300715" y="2725130"/>
                <a:ext cx="828390" cy="307658"/>
              </a:xfrm>
              <a:prstGeom prst="straightConnector1">
                <a:avLst/>
              </a:prstGeom>
              <a:ln>
                <a:headEnd type="none" w="med" len="med"/>
                <a:tailEnd type="triangle"/>
              </a:ln>
            </p:spPr>
            <p:style>
              <a:lnRef idx="1">
                <a:schemeClr val="accent4"/>
              </a:lnRef>
              <a:fillRef idx="3">
                <a:schemeClr val="accent4"/>
              </a:fillRef>
              <a:effectRef idx="2">
                <a:schemeClr val="accent4"/>
              </a:effectRef>
              <a:fontRef idx="minor">
                <a:schemeClr val="lt1"/>
              </a:fontRef>
            </p:style>
          </p:cxnSp>
        </p:grpSp>
        <p:cxnSp>
          <p:nvCxnSpPr>
            <p:cNvPr id="28" name="Straight Arrow Connector 27">
              <a:extLst>
                <a:ext uri="{FF2B5EF4-FFF2-40B4-BE49-F238E27FC236}">
                  <a16:creationId xmlns:a16="http://schemas.microsoft.com/office/drawing/2014/main" id="{DD495612-229F-2E0B-C49E-7F9618C1633F}"/>
                </a:ext>
              </a:extLst>
            </p:cNvPr>
            <p:cNvCxnSpPr/>
            <p:nvPr/>
          </p:nvCxnSpPr>
          <p:spPr bwMode="auto">
            <a:xfrm>
              <a:off x="6337017" y="4339874"/>
              <a:ext cx="439587" cy="307658"/>
            </a:xfrm>
            <a:prstGeom prst="straightConnector1">
              <a:avLst/>
            </a:prstGeom>
            <a:ln>
              <a:headEnd type="none" w="med" len="med"/>
              <a:tailEnd type="triangle"/>
            </a:ln>
          </p:spPr>
          <p:style>
            <a:lnRef idx="1">
              <a:schemeClr val="accent4"/>
            </a:lnRef>
            <a:fillRef idx="3">
              <a:schemeClr val="accent4"/>
            </a:fillRef>
            <a:effectRef idx="2">
              <a:schemeClr val="accent4"/>
            </a:effectRef>
            <a:fontRef idx="minor">
              <a:schemeClr val="lt1"/>
            </a:fontRef>
          </p:style>
        </p:cxnSp>
      </p:grpSp>
      <p:sp>
        <p:nvSpPr>
          <p:cNvPr id="29" name="Snip Single Corner Rectangle 28">
            <a:extLst>
              <a:ext uri="{FF2B5EF4-FFF2-40B4-BE49-F238E27FC236}">
                <a16:creationId xmlns:a16="http://schemas.microsoft.com/office/drawing/2014/main" id="{53BED0DA-8212-C948-8615-F3697AA0EF8B}"/>
              </a:ext>
            </a:extLst>
          </p:cNvPr>
          <p:cNvSpPr/>
          <p:nvPr/>
        </p:nvSpPr>
        <p:spPr>
          <a:xfrm>
            <a:off x="-36513" y="1371600"/>
            <a:ext cx="1152526" cy="401638"/>
          </a:xfrm>
          <a:prstGeom prst="snip1Rect">
            <a:avLst/>
          </a:prstGeom>
          <a:solidFill>
            <a:schemeClr val="accent3">
              <a:lumMod val="75000"/>
            </a:schemeClr>
          </a:solidFill>
          <a:ln>
            <a:solidFill>
              <a:schemeClr val="accent3">
                <a:lumMod val="75000"/>
              </a:schemeClr>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indent="-342900" algn="just" eaLnBrk="1" hangingPunct="1">
              <a:spcBef>
                <a:spcPct val="20000"/>
              </a:spcBef>
              <a:buClr>
                <a:srgbClr val="FF6600"/>
              </a:buClr>
              <a:buSzPct val="100000"/>
              <a:defRPr/>
            </a:pPr>
            <a:r>
              <a:rPr lang="en-GB" kern="0" dirty="0">
                <a:solidFill>
                  <a:schemeClr val="bg1"/>
                </a:solidFill>
              </a:rPr>
              <a:t>UNIQUE</a:t>
            </a:r>
          </a:p>
        </p:txBody>
      </p:sp>
      <p:sp>
        <p:nvSpPr>
          <p:cNvPr id="30" name="Title 1">
            <a:extLst>
              <a:ext uri="{FF2B5EF4-FFF2-40B4-BE49-F238E27FC236}">
                <a16:creationId xmlns:a16="http://schemas.microsoft.com/office/drawing/2014/main" id="{C469A18D-42AE-0B5D-0D41-262BC409E55D}"/>
              </a:ext>
            </a:extLst>
          </p:cNvPr>
          <p:cNvSpPr>
            <a:spLocks noGrp="1"/>
          </p:cNvSpPr>
          <p:nvPr>
            <p:ph type="title"/>
          </p:nvPr>
        </p:nvSpPr>
        <p:spPr>
          <a:xfrm>
            <a:off x="457200" y="0"/>
            <a:ext cx="7620000" cy="1143000"/>
          </a:xfrm>
        </p:spPr>
        <p:txBody>
          <a:bodyPr/>
          <a:lstStyle/>
          <a:p>
            <a:pPr>
              <a:defRPr/>
            </a:pPr>
            <a:r>
              <a:rPr lang="en-US" dirty="0"/>
              <a:t>Manipulating Tables Using SQL</a:t>
            </a:r>
            <a:endParaRPr lang="en-MY"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wipe(left)">
                                      <p:cBhvr>
                                        <p:cTn id="7" dur="500"/>
                                        <p:tgtEl>
                                          <p:spTgt spid="1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barn(inVertical)">
                                      <p:cBhvr>
                                        <p:cTn id="12" dur="500"/>
                                        <p:tgtEl>
                                          <p:spTgt spid="2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2"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fill="hold"/>
                                        <p:tgtEl>
                                          <p:spTgt spid="2"/>
                                        </p:tgtEl>
                                        <p:attrNameLst>
                                          <p:attrName>ppt_x</p:attrName>
                                        </p:attrNameLst>
                                      </p:cBhvr>
                                      <p:tavLst>
                                        <p:tav tm="0">
                                          <p:val>
                                            <p:strVal val="1+#ppt_w/2"/>
                                          </p:val>
                                        </p:tav>
                                        <p:tav tm="100000">
                                          <p:val>
                                            <p:strVal val="#ppt_x"/>
                                          </p:val>
                                        </p:tav>
                                      </p:tavLst>
                                    </p:anim>
                                    <p:anim calcmode="lin" valueType="num">
                                      <p:cBhvr additive="base">
                                        <p:cTn id="1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3"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F486CE-70FB-0F73-FD1B-3E7CF57EC056}"/>
              </a:ext>
            </a:extLst>
          </p:cNvPr>
          <p:cNvSpPr>
            <a:spLocks noGrp="1"/>
          </p:cNvSpPr>
          <p:nvPr>
            <p:ph type="title"/>
          </p:nvPr>
        </p:nvSpPr>
        <p:spPr>
          <a:xfrm>
            <a:off x="457200" y="0"/>
            <a:ext cx="7620000" cy="1143000"/>
          </a:xfrm>
        </p:spPr>
        <p:txBody>
          <a:bodyPr/>
          <a:lstStyle/>
          <a:p>
            <a:pPr>
              <a:defRPr/>
            </a:pPr>
            <a:r>
              <a:rPr lang="en-US" dirty="0"/>
              <a:t>Manipulating Tables Using SQL</a:t>
            </a:r>
            <a:endParaRPr lang="en-MY" dirty="0"/>
          </a:p>
        </p:txBody>
      </p:sp>
      <p:sp>
        <p:nvSpPr>
          <p:cNvPr id="23" name="Title 1">
            <a:extLst>
              <a:ext uri="{FF2B5EF4-FFF2-40B4-BE49-F238E27FC236}">
                <a16:creationId xmlns:a16="http://schemas.microsoft.com/office/drawing/2014/main" id="{0AD4D52F-D31B-DEE8-8418-E49FD3EB6680}"/>
              </a:ext>
            </a:extLst>
          </p:cNvPr>
          <p:cNvSpPr txBox="1">
            <a:spLocks/>
          </p:cNvSpPr>
          <p:nvPr/>
        </p:nvSpPr>
        <p:spPr bwMode="auto">
          <a:xfrm>
            <a:off x="0" y="1123950"/>
            <a:ext cx="8172450" cy="323850"/>
          </a:xfrm>
          <a:prstGeom prst="rect">
            <a:avLst/>
          </a:prstGeom>
          <a:noFill/>
          <a:ln w="9525">
            <a:noFill/>
            <a:miter lim="800000"/>
            <a:headEnd/>
            <a:tailEnd/>
          </a:ln>
        </p:spPr>
        <p:txBody>
          <a:bodyPr lIns="72000" tIns="0" rIns="72000" bIns="0"/>
          <a:lstStyle/>
          <a:p>
            <a:pPr defTabSz="720000" eaLnBrk="1" hangingPunct="1">
              <a:lnSpc>
                <a:spcPts val="1800"/>
              </a:lnSpc>
              <a:spcBef>
                <a:spcPts val="0"/>
              </a:spcBef>
              <a:spcAft>
                <a:spcPts val="0"/>
              </a:spcAft>
              <a:tabLst>
                <a:tab pos="0" algn="l"/>
              </a:tabLst>
              <a:defRPr/>
            </a:pPr>
            <a:r>
              <a:rPr lang="en-CA" b="1" kern="0" dirty="0">
                <a:cs typeface="Calibri" pitchFamily="34" charset="0"/>
              </a:rPr>
              <a:t>Enforcing Data Integrity Using SQL</a:t>
            </a:r>
            <a:r>
              <a:rPr lang="en-US" b="1" kern="0" dirty="0">
                <a:cs typeface="Calibri" pitchFamily="34" charset="0"/>
              </a:rPr>
              <a:t> </a:t>
            </a:r>
            <a:endParaRPr lang="en-MY" b="1" kern="0" dirty="0">
              <a:cs typeface="Calibri" pitchFamily="34" charset="0"/>
            </a:endParaRPr>
          </a:p>
          <a:p>
            <a:pPr defTabSz="720000" eaLnBrk="1" hangingPunct="1">
              <a:lnSpc>
                <a:spcPts val="1800"/>
              </a:lnSpc>
              <a:spcBef>
                <a:spcPts val="0"/>
              </a:spcBef>
              <a:spcAft>
                <a:spcPts val="0"/>
              </a:spcAft>
              <a:tabLst>
                <a:tab pos="0" algn="l"/>
              </a:tabLst>
              <a:defRPr/>
            </a:pPr>
            <a:endParaRPr lang="en-MY" b="1" kern="0" dirty="0">
              <a:cs typeface="Calibri" pitchFamily="34" charset="0"/>
            </a:endParaRPr>
          </a:p>
          <a:p>
            <a:pPr defTabSz="720000" eaLnBrk="1" hangingPunct="1">
              <a:lnSpc>
                <a:spcPts val="1800"/>
              </a:lnSpc>
              <a:spcBef>
                <a:spcPts val="0"/>
              </a:spcBef>
              <a:spcAft>
                <a:spcPts val="0"/>
              </a:spcAft>
              <a:tabLst>
                <a:tab pos="0" algn="l"/>
              </a:tabLst>
              <a:defRPr/>
            </a:pPr>
            <a:endParaRPr lang="en-MY" b="1" kern="0" dirty="0">
              <a:latin typeface="+mn-lt"/>
              <a:ea typeface="+mj-ea"/>
              <a:cs typeface="Calibri" pitchFamily="34" charset="0"/>
            </a:endParaRPr>
          </a:p>
        </p:txBody>
      </p:sp>
      <p:sp>
        <p:nvSpPr>
          <p:cNvPr id="13" name="Content Placeholder 2">
            <a:extLst>
              <a:ext uri="{FF2B5EF4-FFF2-40B4-BE49-F238E27FC236}">
                <a16:creationId xmlns:a16="http://schemas.microsoft.com/office/drawing/2014/main" id="{82FE71FD-0C4F-2109-1C1F-2CE36606CB29}"/>
              </a:ext>
            </a:extLst>
          </p:cNvPr>
          <p:cNvSpPr txBox="1">
            <a:spLocks/>
          </p:cNvSpPr>
          <p:nvPr/>
        </p:nvSpPr>
        <p:spPr bwMode="auto">
          <a:xfrm>
            <a:off x="125413" y="2060575"/>
            <a:ext cx="8893175" cy="108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rgbClr val="FF6600"/>
              </a:buClr>
              <a:buFont typeface="Wingdings 3" panose="05040102010807070707" pitchFamily="18" charset="2"/>
              <a:buNone/>
            </a:pPr>
            <a:r>
              <a:rPr lang="en-CA" altLang="en-US" sz="2800">
                <a:latin typeface="Calibri" panose="020F0502020204030204" pitchFamily="34" charset="0"/>
              </a:rPr>
              <a:t>To set a column to UNIQUE in an existing table, </a:t>
            </a:r>
            <a:r>
              <a:rPr lang="en-US" altLang="en-US" sz="2800">
                <a:latin typeface="Calibri" panose="020F0502020204030204" pitchFamily="34" charset="0"/>
              </a:rPr>
              <a:t>the SQL syntax is:</a:t>
            </a:r>
          </a:p>
          <a:p>
            <a:pPr eaLnBrk="1" hangingPunct="1">
              <a:spcBef>
                <a:spcPct val="20000"/>
              </a:spcBef>
              <a:buClr>
                <a:srgbClr val="FF6600"/>
              </a:buClr>
              <a:buFont typeface="Wingdings 3" panose="05040102010807070707" pitchFamily="18" charset="2"/>
              <a:buNone/>
            </a:pPr>
            <a:endParaRPr lang="en-US" altLang="en-US" sz="2800">
              <a:latin typeface="Calibri" panose="020F0502020204030204" pitchFamily="34" charset="0"/>
            </a:endParaRPr>
          </a:p>
          <a:p>
            <a:pPr eaLnBrk="1" hangingPunct="1">
              <a:spcBef>
                <a:spcPct val="20000"/>
              </a:spcBef>
              <a:buClr>
                <a:srgbClr val="FF6600"/>
              </a:buClr>
              <a:buFont typeface="Wingdings 3" panose="05040102010807070707" pitchFamily="18" charset="2"/>
              <a:buNone/>
            </a:pPr>
            <a:endParaRPr lang="en-US" altLang="en-US" sz="2800">
              <a:latin typeface="Calibri" panose="020F0502020204030204" pitchFamily="34" charset="0"/>
            </a:endParaRPr>
          </a:p>
          <a:p>
            <a:pPr eaLnBrk="1" hangingPunct="1">
              <a:spcBef>
                <a:spcPct val="20000"/>
              </a:spcBef>
              <a:buClr>
                <a:srgbClr val="FF6600"/>
              </a:buClr>
              <a:buFont typeface="Wingdings 3" panose="05040102010807070707" pitchFamily="18" charset="2"/>
              <a:buNone/>
            </a:pPr>
            <a:endParaRPr lang="en-US" altLang="en-US" sz="3200">
              <a:latin typeface="Calibri" panose="020F0502020204030204" pitchFamily="34" charset="0"/>
            </a:endParaRPr>
          </a:p>
          <a:p>
            <a:pPr eaLnBrk="1" hangingPunct="1">
              <a:spcBef>
                <a:spcPct val="20000"/>
              </a:spcBef>
              <a:buClr>
                <a:srgbClr val="FF6600"/>
              </a:buClr>
              <a:buFont typeface="Wingdings 3" panose="05040102010807070707" pitchFamily="18" charset="2"/>
              <a:buNone/>
            </a:pPr>
            <a:r>
              <a:rPr lang="en-US" altLang="en-US" sz="2800">
                <a:latin typeface="Calibri" panose="020F0502020204030204" pitchFamily="34" charset="0"/>
              </a:rPr>
              <a:t>For example, to set the column </a:t>
            </a:r>
            <a:r>
              <a:rPr lang="en-CA" altLang="en-US" sz="2800">
                <a:latin typeface="Calibri" panose="020F0502020204030204" pitchFamily="34" charset="0"/>
              </a:rPr>
              <a:t>“Title” to UNIQUE</a:t>
            </a:r>
          </a:p>
          <a:p>
            <a:pPr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p:txBody>
      </p:sp>
      <p:sp>
        <p:nvSpPr>
          <p:cNvPr id="25" name="Rounded Rectangle 24">
            <a:extLst>
              <a:ext uri="{FF2B5EF4-FFF2-40B4-BE49-F238E27FC236}">
                <a16:creationId xmlns:a16="http://schemas.microsoft.com/office/drawing/2014/main" id="{9E3EC408-AAF1-404C-3564-32921CCCBFA0}"/>
              </a:ext>
            </a:extLst>
          </p:cNvPr>
          <p:cNvSpPr>
            <a:spLocks noChangeArrowheads="1"/>
          </p:cNvSpPr>
          <p:nvPr/>
        </p:nvSpPr>
        <p:spPr bwMode="auto">
          <a:xfrm>
            <a:off x="762000" y="2997200"/>
            <a:ext cx="7007225" cy="1368425"/>
          </a:xfrm>
          <a:prstGeom prst="roundRect">
            <a:avLst>
              <a:gd name="adj" fmla="val 16667"/>
            </a:avLst>
          </a:prstGeom>
          <a:solidFill>
            <a:srgbClr val="7F7B00">
              <a:alpha val="30196"/>
            </a:srgbClr>
          </a:solidFill>
          <a:ln w="9525" algn="ctr">
            <a:solidFill>
              <a:srgbClr val="7F7B00"/>
            </a:solidFill>
            <a:round/>
            <a:headEnd/>
            <a:tailEnd/>
          </a:ln>
        </p:spPr>
        <p:txBody>
          <a:bodyPr anchor="ctr" anchorCtr="1"/>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CA" altLang="en-US" sz="2800"/>
              <a:t>ALTER TABLE &lt;table_name&gt; CHANGE &lt;column_name&gt; &lt;new_column_name&gt; &lt;new_data_type&gt; UNIQUE;</a:t>
            </a:r>
          </a:p>
        </p:txBody>
      </p:sp>
      <p:sp>
        <p:nvSpPr>
          <p:cNvPr id="26" name="Rounded Rectangle 25">
            <a:extLst>
              <a:ext uri="{FF2B5EF4-FFF2-40B4-BE49-F238E27FC236}">
                <a16:creationId xmlns:a16="http://schemas.microsoft.com/office/drawing/2014/main" id="{5FF3E11A-DDF2-268E-3D0C-A29B97B1704B}"/>
              </a:ext>
            </a:extLst>
          </p:cNvPr>
          <p:cNvSpPr/>
          <p:nvPr/>
        </p:nvSpPr>
        <p:spPr bwMode="auto">
          <a:xfrm>
            <a:off x="762000" y="5146675"/>
            <a:ext cx="7007225" cy="1081088"/>
          </a:xfrm>
          <a:prstGeom prst="roundRect">
            <a:avLst/>
          </a:prstGeom>
          <a:solidFill>
            <a:schemeClr val="accent6">
              <a:alpha val="30000"/>
            </a:schemeClr>
          </a:solidFill>
          <a:ln w="9525" cap="flat" cmpd="sng" algn="ctr">
            <a:solidFill>
              <a:schemeClr val="accent6"/>
            </a:solidFill>
            <a:prstDash val="solid"/>
            <a:round/>
            <a:headEnd type="none" w="med" len="med"/>
            <a:tailEnd type="none" w="med" len="med"/>
          </a:ln>
          <a:effectLst/>
        </p:spPr>
        <p:txBody>
          <a:bodyPr anchor="ctr" anchorCtr="1"/>
          <a:lstStyle/>
          <a:p>
            <a:pPr>
              <a:defRPr/>
            </a:pPr>
            <a:r>
              <a:rPr lang="en-CA" sz="2800" dirty="0"/>
              <a:t>ALTER TABLE Book CHANGE Title </a:t>
            </a:r>
            <a:r>
              <a:rPr lang="en-CA" sz="2800" dirty="0" err="1"/>
              <a:t>Title</a:t>
            </a:r>
            <a:r>
              <a:rPr lang="en-CA" sz="2800" dirty="0"/>
              <a:t> VARCHAR(100) UNIQUE;</a:t>
            </a:r>
          </a:p>
        </p:txBody>
      </p:sp>
      <p:sp>
        <p:nvSpPr>
          <p:cNvPr id="15" name="Snip Single Corner Rectangle 14">
            <a:extLst>
              <a:ext uri="{FF2B5EF4-FFF2-40B4-BE49-F238E27FC236}">
                <a16:creationId xmlns:a16="http://schemas.microsoft.com/office/drawing/2014/main" id="{69736F0B-701D-1BEC-76C6-DD168E363C12}"/>
              </a:ext>
            </a:extLst>
          </p:cNvPr>
          <p:cNvSpPr/>
          <p:nvPr/>
        </p:nvSpPr>
        <p:spPr>
          <a:xfrm>
            <a:off x="-36513" y="1371600"/>
            <a:ext cx="1152526" cy="401638"/>
          </a:xfrm>
          <a:prstGeom prst="snip1Rect">
            <a:avLst/>
          </a:prstGeom>
          <a:solidFill>
            <a:schemeClr val="accent3">
              <a:lumMod val="75000"/>
            </a:schemeClr>
          </a:solidFill>
          <a:ln>
            <a:solidFill>
              <a:schemeClr val="accent3">
                <a:lumMod val="75000"/>
              </a:schemeClr>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indent="-342900" algn="just" eaLnBrk="1" hangingPunct="1">
              <a:spcBef>
                <a:spcPct val="20000"/>
              </a:spcBef>
              <a:buClr>
                <a:srgbClr val="FF6600"/>
              </a:buClr>
              <a:buSzPct val="100000"/>
              <a:defRPr/>
            </a:pPr>
            <a:r>
              <a:rPr lang="en-GB" kern="0" dirty="0">
                <a:solidFill>
                  <a:schemeClr val="bg1"/>
                </a:solidFill>
              </a:rPr>
              <a:t>UNIQUE</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wipe(left)">
                                      <p:cBhvr>
                                        <p:cTn id="7" dur="500"/>
                                        <p:tgtEl>
                                          <p:spTgt spid="13">
                                            <p:txEl>
                                              <p:pRg st="0" end="0"/>
                                            </p:txEl>
                                          </p:spTgt>
                                        </p:tgtEl>
                                      </p:cBhvr>
                                    </p:animEffect>
                                  </p:childTnLst>
                                </p:cTn>
                              </p:par>
                            </p:childTnLst>
                          </p:cTn>
                        </p:par>
                        <p:par>
                          <p:cTn id="8" fill="hold" nodeType="afterGroup">
                            <p:stCondLst>
                              <p:cond delay="500"/>
                            </p:stCondLst>
                            <p:childTnLst>
                              <p:par>
                                <p:cTn id="9" presetID="16" presetClass="entr" presetSubtype="21"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barn(inVertical)">
                                      <p:cBhvr>
                                        <p:cTn id="11" dur="500"/>
                                        <p:tgtEl>
                                          <p:spTgt spid="25"/>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3">
                                            <p:txEl>
                                              <p:pRg st="4" end="4"/>
                                            </p:txEl>
                                          </p:spTgt>
                                        </p:tgtEl>
                                        <p:attrNameLst>
                                          <p:attrName>style.visibility</p:attrName>
                                        </p:attrNameLst>
                                      </p:cBhvr>
                                      <p:to>
                                        <p:strVal val="visible"/>
                                      </p:to>
                                    </p:set>
                                    <p:animEffect transition="in" filter="wipe(left)">
                                      <p:cBhvr>
                                        <p:cTn id="16" dur="500"/>
                                        <p:tgtEl>
                                          <p:spTgt spid="13">
                                            <p:txEl>
                                              <p:pRg st="4" end="4"/>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6" presetClass="entr" presetSubtype="21" fill="hold" grpId="0" nodeType="click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barn(inVertical)">
                                      <p:cBhvr>
                                        <p:cTn id="21"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P spid="25" grpId="0" animBg="1"/>
      <p:bldP spid="26"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568EDE-30F0-A359-A5D9-0517D27705EA}"/>
              </a:ext>
            </a:extLst>
          </p:cNvPr>
          <p:cNvSpPr>
            <a:spLocks noGrp="1"/>
          </p:cNvSpPr>
          <p:nvPr>
            <p:ph type="title"/>
          </p:nvPr>
        </p:nvSpPr>
        <p:spPr>
          <a:xfrm>
            <a:off x="457200" y="0"/>
            <a:ext cx="7620000" cy="1143000"/>
          </a:xfrm>
        </p:spPr>
        <p:txBody>
          <a:bodyPr/>
          <a:lstStyle/>
          <a:p>
            <a:pPr>
              <a:defRPr/>
            </a:pPr>
            <a:r>
              <a:rPr lang="en-US" dirty="0"/>
              <a:t>Manipulating Tables Using SQL</a:t>
            </a:r>
            <a:endParaRPr lang="en-MY" dirty="0"/>
          </a:p>
        </p:txBody>
      </p:sp>
      <p:sp>
        <p:nvSpPr>
          <p:cNvPr id="23" name="Title 1">
            <a:extLst>
              <a:ext uri="{FF2B5EF4-FFF2-40B4-BE49-F238E27FC236}">
                <a16:creationId xmlns:a16="http://schemas.microsoft.com/office/drawing/2014/main" id="{A77B63C4-E9F5-B137-AE29-450B98B8491C}"/>
              </a:ext>
            </a:extLst>
          </p:cNvPr>
          <p:cNvSpPr txBox="1">
            <a:spLocks/>
          </p:cNvSpPr>
          <p:nvPr/>
        </p:nvSpPr>
        <p:spPr bwMode="auto">
          <a:xfrm>
            <a:off x="0" y="1123950"/>
            <a:ext cx="8172450" cy="323850"/>
          </a:xfrm>
          <a:prstGeom prst="rect">
            <a:avLst/>
          </a:prstGeom>
          <a:noFill/>
          <a:ln w="9525">
            <a:noFill/>
            <a:miter lim="800000"/>
            <a:headEnd/>
            <a:tailEnd/>
          </a:ln>
        </p:spPr>
        <p:txBody>
          <a:bodyPr lIns="72000" tIns="0" rIns="72000" bIns="0"/>
          <a:lstStyle/>
          <a:p>
            <a:pPr defTabSz="720000" eaLnBrk="1" hangingPunct="1">
              <a:lnSpc>
                <a:spcPts val="1800"/>
              </a:lnSpc>
              <a:spcBef>
                <a:spcPts val="0"/>
              </a:spcBef>
              <a:spcAft>
                <a:spcPts val="0"/>
              </a:spcAft>
              <a:tabLst>
                <a:tab pos="0" algn="l"/>
              </a:tabLst>
              <a:defRPr/>
            </a:pPr>
            <a:r>
              <a:rPr lang="en-CA" b="1" kern="0" dirty="0">
                <a:cs typeface="Calibri" pitchFamily="34" charset="0"/>
              </a:rPr>
              <a:t>Enforcing Data Integrity Using SQL</a:t>
            </a:r>
            <a:r>
              <a:rPr lang="en-US" b="1" kern="0" dirty="0">
                <a:cs typeface="Calibri" pitchFamily="34" charset="0"/>
              </a:rPr>
              <a:t> </a:t>
            </a:r>
            <a:endParaRPr lang="en-MY" b="1" kern="0" dirty="0">
              <a:cs typeface="Calibri" pitchFamily="34" charset="0"/>
            </a:endParaRPr>
          </a:p>
          <a:p>
            <a:pPr defTabSz="720000" eaLnBrk="1" hangingPunct="1">
              <a:lnSpc>
                <a:spcPts val="1800"/>
              </a:lnSpc>
              <a:spcBef>
                <a:spcPts val="0"/>
              </a:spcBef>
              <a:spcAft>
                <a:spcPts val="0"/>
              </a:spcAft>
              <a:tabLst>
                <a:tab pos="0" algn="l"/>
              </a:tabLst>
              <a:defRPr/>
            </a:pPr>
            <a:endParaRPr lang="en-MY" b="1" kern="0" dirty="0">
              <a:cs typeface="Calibri" pitchFamily="34" charset="0"/>
            </a:endParaRPr>
          </a:p>
          <a:p>
            <a:pPr defTabSz="720000" eaLnBrk="1" hangingPunct="1">
              <a:lnSpc>
                <a:spcPts val="1800"/>
              </a:lnSpc>
              <a:spcBef>
                <a:spcPts val="0"/>
              </a:spcBef>
              <a:spcAft>
                <a:spcPts val="0"/>
              </a:spcAft>
              <a:tabLst>
                <a:tab pos="0" algn="l"/>
              </a:tabLst>
              <a:defRPr/>
            </a:pPr>
            <a:endParaRPr lang="en-MY" b="1" kern="0" dirty="0">
              <a:latin typeface="+mn-lt"/>
              <a:ea typeface="+mj-ea"/>
              <a:cs typeface="Calibri" pitchFamily="34" charset="0"/>
            </a:endParaRPr>
          </a:p>
        </p:txBody>
      </p:sp>
      <p:sp>
        <p:nvSpPr>
          <p:cNvPr id="12" name="Snip Single Corner Rectangle 11">
            <a:extLst>
              <a:ext uri="{FF2B5EF4-FFF2-40B4-BE49-F238E27FC236}">
                <a16:creationId xmlns:a16="http://schemas.microsoft.com/office/drawing/2014/main" id="{DA4A1BD9-5545-15A2-9749-FC73071F8001}"/>
              </a:ext>
            </a:extLst>
          </p:cNvPr>
          <p:cNvSpPr/>
          <p:nvPr/>
        </p:nvSpPr>
        <p:spPr>
          <a:xfrm>
            <a:off x="-36513" y="1371600"/>
            <a:ext cx="1800226" cy="401638"/>
          </a:xfrm>
          <a:prstGeom prst="snip1Rect">
            <a:avLst/>
          </a:prstGeom>
          <a:solidFill>
            <a:schemeClr val="accent5">
              <a:lumMod val="75000"/>
            </a:schemeClr>
          </a:solidFill>
          <a:ln>
            <a:solidFill>
              <a:schemeClr val="accent5">
                <a:lumMod val="75000"/>
              </a:schemeClr>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indent="-342900" algn="just" eaLnBrk="1" hangingPunct="1">
              <a:spcBef>
                <a:spcPct val="20000"/>
              </a:spcBef>
              <a:buClr>
                <a:srgbClr val="FF6600"/>
              </a:buClr>
              <a:buSzPct val="100000"/>
              <a:defRPr/>
            </a:pPr>
            <a:r>
              <a:rPr lang="en-GB" kern="0" dirty="0">
                <a:solidFill>
                  <a:schemeClr val="bg1"/>
                </a:solidFill>
              </a:rPr>
              <a:t>PRIMARY KEY</a:t>
            </a:r>
          </a:p>
        </p:txBody>
      </p:sp>
      <p:sp>
        <p:nvSpPr>
          <p:cNvPr id="13" name="Content Placeholder 2">
            <a:extLst>
              <a:ext uri="{FF2B5EF4-FFF2-40B4-BE49-F238E27FC236}">
                <a16:creationId xmlns:a16="http://schemas.microsoft.com/office/drawing/2014/main" id="{7E810EF5-0F7B-9C2C-B4FA-3405E3103B48}"/>
              </a:ext>
            </a:extLst>
          </p:cNvPr>
          <p:cNvSpPr txBox="1">
            <a:spLocks/>
          </p:cNvSpPr>
          <p:nvPr/>
        </p:nvSpPr>
        <p:spPr bwMode="auto">
          <a:xfrm>
            <a:off x="125413" y="2060575"/>
            <a:ext cx="8180387" cy="108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rgbClr val="FF6600"/>
              </a:buClr>
              <a:buFont typeface="Wingdings 3" panose="05040102010807070707" pitchFamily="18" charset="2"/>
              <a:buNone/>
            </a:pPr>
            <a:r>
              <a:rPr lang="en-US" altLang="en-US" sz="2800">
                <a:latin typeface="Calibri" panose="020F0502020204030204" pitchFamily="34" charset="0"/>
              </a:rPr>
              <a:t>By declaring a column as a PRIMARY KEY, this ensures that every </a:t>
            </a:r>
            <a:r>
              <a:rPr lang="en-CA" altLang="en-US" sz="2800">
                <a:latin typeface="Calibri" panose="020F0502020204030204" pitchFamily="34" charset="0"/>
              </a:rPr>
              <a:t>column value is different</a:t>
            </a:r>
          </a:p>
          <a:p>
            <a:pPr algn="just" eaLnBrk="1" hangingPunct="1">
              <a:spcBef>
                <a:spcPct val="20000"/>
              </a:spcBef>
              <a:buClr>
                <a:srgbClr val="FF6600"/>
              </a:buClr>
              <a:buFont typeface="Wingdings 3" panose="05040102010807070707" pitchFamily="18" charset="2"/>
              <a:buNone/>
            </a:pPr>
            <a:endParaRPr lang="en-CA" altLang="en-US" sz="16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r>
              <a:rPr lang="en-CA" altLang="en-US" sz="2800">
                <a:latin typeface="Calibri" panose="020F0502020204030204" pitchFamily="34" charset="0"/>
              </a:rPr>
              <a:t>Comparison of UNIQUE and PRIMARY KEY</a:t>
            </a:r>
            <a:endParaRPr lang="en-CA" altLang="en-US">
              <a:latin typeface="Calibri" panose="020F0502020204030204" pitchFamily="34" charset="0"/>
            </a:endParaRPr>
          </a:p>
        </p:txBody>
      </p:sp>
      <p:graphicFrame>
        <p:nvGraphicFramePr>
          <p:cNvPr id="18" name="Table 17">
            <a:extLst>
              <a:ext uri="{FF2B5EF4-FFF2-40B4-BE49-F238E27FC236}">
                <a16:creationId xmlns:a16="http://schemas.microsoft.com/office/drawing/2014/main" id="{F75A1145-999E-B4C7-1D3B-FF00DD8830F4}"/>
              </a:ext>
            </a:extLst>
          </p:cNvPr>
          <p:cNvGraphicFramePr>
            <a:graphicFrameLocks noGrp="1"/>
          </p:cNvGraphicFramePr>
          <p:nvPr/>
        </p:nvGraphicFramePr>
        <p:xfrm>
          <a:off x="685800" y="3879850"/>
          <a:ext cx="7200900" cy="2327277"/>
        </p:xfrm>
        <a:graphic>
          <a:graphicData uri="http://schemas.openxmlformats.org/drawingml/2006/table">
            <a:tbl>
              <a:tblPr firstRow="1" bandRow="1">
                <a:tableStyleId>{912C8C85-51F0-491E-9774-3900AFEF0FD7}</a:tableStyleId>
              </a:tblPr>
              <a:tblGrid>
                <a:gridCol w="3600450">
                  <a:extLst>
                    <a:ext uri="{9D8B030D-6E8A-4147-A177-3AD203B41FA5}">
                      <a16:colId xmlns:a16="http://schemas.microsoft.com/office/drawing/2014/main" val="20000"/>
                    </a:ext>
                  </a:extLst>
                </a:gridCol>
                <a:gridCol w="3600450">
                  <a:extLst>
                    <a:ext uri="{9D8B030D-6E8A-4147-A177-3AD203B41FA5}">
                      <a16:colId xmlns:a16="http://schemas.microsoft.com/office/drawing/2014/main" val="20001"/>
                    </a:ext>
                  </a:extLst>
                </a:gridCol>
              </a:tblGrid>
              <a:tr h="365683">
                <a:tc>
                  <a:txBody>
                    <a:bodyPr/>
                    <a:lstStyle/>
                    <a:p>
                      <a:pPr algn="ctr"/>
                      <a:r>
                        <a:rPr lang="en-CA" sz="1800" dirty="0"/>
                        <a:t>UNIQUE</a:t>
                      </a:r>
                    </a:p>
                  </a:txBody>
                  <a:tcPr marL="91441" marR="91441" marT="45682" marB="45682" anchor="ctr"/>
                </a:tc>
                <a:tc>
                  <a:txBody>
                    <a:bodyPr/>
                    <a:lstStyle/>
                    <a:p>
                      <a:pPr algn="ctr"/>
                      <a:r>
                        <a:rPr lang="en-CA" sz="1800" dirty="0"/>
                        <a:t>PRIMARY</a:t>
                      </a:r>
                      <a:r>
                        <a:rPr lang="en-CA" sz="1800" baseline="0" dirty="0"/>
                        <a:t> KEY</a:t>
                      </a:r>
                      <a:endParaRPr lang="en-CA" sz="1800" dirty="0"/>
                    </a:p>
                  </a:txBody>
                  <a:tcPr marL="91441" marR="91441" marT="45682" marB="45682" anchor="ctr"/>
                </a:tc>
                <a:extLst>
                  <a:ext uri="{0D108BD9-81ED-4DB2-BD59-A6C34878D82A}">
                    <a16:rowId xmlns:a16="http://schemas.microsoft.com/office/drawing/2014/main" val="10000"/>
                  </a:ext>
                </a:extLst>
              </a:tr>
              <a:tr h="479674">
                <a:tc>
                  <a:txBody>
                    <a:bodyPr/>
                    <a:lstStyle/>
                    <a:p>
                      <a:r>
                        <a:rPr lang="en-CA" sz="1800" dirty="0"/>
                        <a:t>Every column value is different</a:t>
                      </a:r>
                    </a:p>
                  </a:txBody>
                  <a:tcPr marL="91441" marR="91441" marT="45682" marB="45682"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CA" sz="1800" dirty="0"/>
                        <a:t>Every column value is different</a:t>
                      </a:r>
                    </a:p>
                  </a:txBody>
                  <a:tcPr marL="91441" marR="91441" marT="45682" marB="45682" anchor="ctr"/>
                </a:tc>
                <a:extLst>
                  <a:ext uri="{0D108BD9-81ED-4DB2-BD59-A6C34878D82A}">
                    <a16:rowId xmlns:a16="http://schemas.microsoft.com/office/drawing/2014/main" val="10001"/>
                  </a:ext>
                </a:extLst>
              </a:tr>
              <a:tr h="640003">
                <a:tc>
                  <a:txBody>
                    <a:bodyPr/>
                    <a:lstStyle/>
                    <a:p>
                      <a:r>
                        <a:rPr lang="en-CA" sz="1800" dirty="0"/>
                        <a:t>A table can have </a:t>
                      </a:r>
                      <a:r>
                        <a:rPr lang="en-CA" sz="1800" b="1" dirty="0"/>
                        <a:t>many</a:t>
                      </a:r>
                      <a:r>
                        <a:rPr lang="en-CA" sz="1800" dirty="0"/>
                        <a:t> UNIQUE columns</a:t>
                      </a:r>
                    </a:p>
                  </a:txBody>
                  <a:tcPr marL="91441" marR="91441" marT="45682" marB="45682" anchor="ctr"/>
                </a:tc>
                <a:tc>
                  <a:txBody>
                    <a:bodyPr/>
                    <a:lstStyle/>
                    <a:p>
                      <a:r>
                        <a:rPr lang="en-CA" sz="1800" dirty="0"/>
                        <a:t>A table can only have </a:t>
                      </a:r>
                      <a:r>
                        <a:rPr lang="en-CA" sz="1800" b="1" dirty="0"/>
                        <a:t>one</a:t>
                      </a:r>
                      <a:r>
                        <a:rPr lang="en-CA" sz="1800" dirty="0"/>
                        <a:t> PRIMARY</a:t>
                      </a:r>
                      <a:r>
                        <a:rPr lang="en-CA" sz="1800" baseline="0" dirty="0"/>
                        <a:t> KEY column</a:t>
                      </a:r>
                      <a:endParaRPr lang="en-CA" sz="1800" dirty="0"/>
                    </a:p>
                  </a:txBody>
                  <a:tcPr marL="91441" marR="91441" marT="45682" marB="45682" anchor="ctr"/>
                </a:tc>
                <a:extLst>
                  <a:ext uri="{0D108BD9-81ED-4DB2-BD59-A6C34878D82A}">
                    <a16:rowId xmlns:a16="http://schemas.microsoft.com/office/drawing/2014/main" val="10002"/>
                  </a:ext>
                </a:extLst>
              </a:tr>
              <a:tr h="841915">
                <a:tc>
                  <a:txBody>
                    <a:bodyPr/>
                    <a:lstStyle/>
                    <a:p>
                      <a:r>
                        <a:rPr lang="en-CA" sz="1800" dirty="0"/>
                        <a:t>No data</a:t>
                      </a:r>
                      <a:r>
                        <a:rPr lang="en-CA" sz="1800" baseline="0" dirty="0"/>
                        <a:t> retrieval optimization</a:t>
                      </a:r>
                      <a:endParaRPr lang="en-CA" sz="1800" dirty="0"/>
                    </a:p>
                  </a:txBody>
                  <a:tcPr marL="91441" marR="91441" marT="45682" marB="45682"/>
                </a:tc>
                <a:tc>
                  <a:txBody>
                    <a:bodyPr/>
                    <a:lstStyle/>
                    <a:p>
                      <a:r>
                        <a:rPr lang="en-CA" sz="1800" dirty="0"/>
                        <a:t>Data retrieval using the primary key is optimized to be fast </a:t>
                      </a:r>
                    </a:p>
                  </a:txBody>
                  <a:tcPr marL="91441" marR="91441" marT="45682" marB="45682"/>
                </a:tc>
                <a:extLst>
                  <a:ext uri="{0D108BD9-81ED-4DB2-BD59-A6C34878D82A}">
                    <a16:rowId xmlns:a16="http://schemas.microsoft.com/office/drawing/2014/main" val="10003"/>
                  </a:ext>
                </a:extLst>
              </a:tr>
            </a:tbl>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13">
                                            <p:txEl>
                                              <p:pRg st="0" end="0"/>
                                            </p:txEl>
                                          </p:spTgt>
                                        </p:tgtEl>
                                        <p:attrNameLst>
                                          <p:attrName>style.visibility</p:attrName>
                                        </p:attrNameLst>
                                      </p:cBhvr>
                                      <p:to>
                                        <p:strVal val="visible"/>
                                      </p:to>
                                    </p:set>
                                    <p:animEffect transition="in" filter="wipe(left)">
                                      <p:cBhvr>
                                        <p:cTn id="11" dur="500"/>
                                        <p:tgtEl>
                                          <p:spTgt spid="13">
                                            <p:txEl>
                                              <p:pRg st="0" end="0"/>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13">
                                            <p:txEl>
                                              <p:pRg st="2" end="2"/>
                                            </p:txEl>
                                          </p:spTgt>
                                        </p:tgtEl>
                                        <p:attrNameLst>
                                          <p:attrName>style.visibility</p:attrName>
                                        </p:attrNameLst>
                                      </p:cBhvr>
                                      <p:to>
                                        <p:strVal val="visible"/>
                                      </p:to>
                                    </p:set>
                                    <p:animEffect transition="in" filter="wipe(left)">
                                      <p:cBhvr>
                                        <p:cTn id="16" dur="500"/>
                                        <p:tgtEl>
                                          <p:spTgt spid="13">
                                            <p:txEl>
                                              <p:pRg st="2" end="2"/>
                                            </p:txEl>
                                          </p:spTgt>
                                        </p:tgtEl>
                                      </p:cBhvr>
                                    </p:animEffect>
                                  </p:childTnLst>
                                </p:cTn>
                              </p:par>
                            </p:childTnLst>
                          </p:cTn>
                        </p:par>
                        <p:par>
                          <p:cTn id="17" fill="hold" nodeType="afterGroup">
                            <p:stCondLst>
                              <p:cond delay="500"/>
                            </p:stCondLst>
                            <p:childTnLst>
                              <p:par>
                                <p:cTn id="18" presetID="22" presetClass="entr" presetSubtype="1" fill="hold" nodeType="after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wipe(up)">
                                      <p:cBhvr>
                                        <p:cTn id="20"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BD134-EF86-900E-2994-C616A08A378B}"/>
              </a:ext>
            </a:extLst>
          </p:cNvPr>
          <p:cNvSpPr>
            <a:spLocks noGrp="1"/>
          </p:cNvSpPr>
          <p:nvPr>
            <p:ph type="title"/>
          </p:nvPr>
        </p:nvSpPr>
        <p:spPr>
          <a:xfrm>
            <a:off x="457200" y="0"/>
            <a:ext cx="7620000" cy="1143000"/>
          </a:xfrm>
        </p:spPr>
        <p:txBody>
          <a:bodyPr/>
          <a:lstStyle/>
          <a:p>
            <a:pPr>
              <a:defRPr/>
            </a:pPr>
            <a:r>
              <a:rPr lang="en-US" dirty="0"/>
              <a:t>Manipulating Tables Using SQL</a:t>
            </a:r>
            <a:endParaRPr lang="en-MY" dirty="0"/>
          </a:p>
        </p:txBody>
      </p:sp>
      <p:sp>
        <p:nvSpPr>
          <p:cNvPr id="23" name="Title 1">
            <a:extLst>
              <a:ext uri="{FF2B5EF4-FFF2-40B4-BE49-F238E27FC236}">
                <a16:creationId xmlns:a16="http://schemas.microsoft.com/office/drawing/2014/main" id="{8CF0BFAB-397A-AEBF-AB71-A6FB49822F10}"/>
              </a:ext>
            </a:extLst>
          </p:cNvPr>
          <p:cNvSpPr txBox="1">
            <a:spLocks/>
          </p:cNvSpPr>
          <p:nvPr/>
        </p:nvSpPr>
        <p:spPr bwMode="auto">
          <a:xfrm>
            <a:off x="0" y="1123950"/>
            <a:ext cx="8172450" cy="323850"/>
          </a:xfrm>
          <a:prstGeom prst="rect">
            <a:avLst/>
          </a:prstGeom>
          <a:noFill/>
          <a:ln w="9525">
            <a:noFill/>
            <a:miter lim="800000"/>
            <a:headEnd/>
            <a:tailEnd/>
          </a:ln>
        </p:spPr>
        <p:txBody>
          <a:bodyPr lIns="72000" tIns="0" rIns="72000" bIns="0"/>
          <a:lstStyle/>
          <a:p>
            <a:pPr defTabSz="720000" eaLnBrk="1" hangingPunct="1">
              <a:lnSpc>
                <a:spcPts val="1800"/>
              </a:lnSpc>
              <a:spcBef>
                <a:spcPts val="0"/>
              </a:spcBef>
              <a:spcAft>
                <a:spcPts val="0"/>
              </a:spcAft>
              <a:tabLst>
                <a:tab pos="0" algn="l"/>
              </a:tabLst>
              <a:defRPr/>
            </a:pPr>
            <a:r>
              <a:rPr lang="en-CA" b="1" kern="0" dirty="0">
                <a:cs typeface="Calibri" pitchFamily="34" charset="0"/>
              </a:rPr>
              <a:t>Enforcing Data Integrity Using SQL</a:t>
            </a:r>
            <a:r>
              <a:rPr lang="en-US" b="1" kern="0" dirty="0">
                <a:cs typeface="Calibri" pitchFamily="34" charset="0"/>
              </a:rPr>
              <a:t> </a:t>
            </a:r>
            <a:endParaRPr lang="en-MY" b="1" kern="0" dirty="0">
              <a:cs typeface="Calibri" pitchFamily="34" charset="0"/>
            </a:endParaRPr>
          </a:p>
          <a:p>
            <a:pPr defTabSz="720000" eaLnBrk="1" hangingPunct="1">
              <a:lnSpc>
                <a:spcPts val="1800"/>
              </a:lnSpc>
              <a:spcBef>
                <a:spcPts val="0"/>
              </a:spcBef>
              <a:spcAft>
                <a:spcPts val="0"/>
              </a:spcAft>
              <a:tabLst>
                <a:tab pos="0" algn="l"/>
              </a:tabLst>
              <a:defRPr/>
            </a:pPr>
            <a:endParaRPr lang="en-MY" b="1" kern="0" dirty="0">
              <a:cs typeface="Calibri" pitchFamily="34" charset="0"/>
            </a:endParaRPr>
          </a:p>
          <a:p>
            <a:pPr defTabSz="720000" eaLnBrk="1" hangingPunct="1">
              <a:lnSpc>
                <a:spcPts val="1800"/>
              </a:lnSpc>
              <a:spcBef>
                <a:spcPts val="0"/>
              </a:spcBef>
              <a:spcAft>
                <a:spcPts val="0"/>
              </a:spcAft>
              <a:tabLst>
                <a:tab pos="0" algn="l"/>
              </a:tabLst>
              <a:defRPr/>
            </a:pPr>
            <a:endParaRPr lang="en-MY" b="1" kern="0" dirty="0">
              <a:latin typeface="+mn-lt"/>
              <a:ea typeface="+mj-ea"/>
              <a:cs typeface="Calibri" pitchFamily="34" charset="0"/>
            </a:endParaRPr>
          </a:p>
        </p:txBody>
      </p:sp>
      <p:sp>
        <p:nvSpPr>
          <p:cNvPr id="13" name="Content Placeholder 2">
            <a:extLst>
              <a:ext uri="{FF2B5EF4-FFF2-40B4-BE49-F238E27FC236}">
                <a16:creationId xmlns:a16="http://schemas.microsoft.com/office/drawing/2014/main" id="{261187A9-6201-3C1B-836A-343B082C6B43}"/>
              </a:ext>
            </a:extLst>
          </p:cNvPr>
          <p:cNvSpPr txBox="1">
            <a:spLocks/>
          </p:cNvSpPr>
          <p:nvPr/>
        </p:nvSpPr>
        <p:spPr bwMode="auto">
          <a:xfrm>
            <a:off x="125413" y="2060575"/>
            <a:ext cx="8180387" cy="108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rgbClr val="FF6600"/>
              </a:buClr>
              <a:buFont typeface="Wingdings 3" panose="05040102010807070707" pitchFamily="18" charset="2"/>
              <a:buNone/>
            </a:pPr>
            <a:r>
              <a:rPr lang="en-US" altLang="en-US" sz="2800">
                <a:latin typeface="Calibri" panose="020F0502020204030204" pitchFamily="34" charset="0"/>
              </a:rPr>
              <a:t>The SQL syntax for declaring a column as a PRIMARY KEY is:</a:t>
            </a:r>
            <a:endParaRPr lang="en-CA"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p:txBody>
      </p:sp>
      <p:sp>
        <p:nvSpPr>
          <p:cNvPr id="17" name="Rounded Rectangle 16">
            <a:extLst>
              <a:ext uri="{FF2B5EF4-FFF2-40B4-BE49-F238E27FC236}">
                <a16:creationId xmlns:a16="http://schemas.microsoft.com/office/drawing/2014/main" id="{79F22C3D-E3EE-436A-2F39-562A34FBAADC}"/>
              </a:ext>
            </a:extLst>
          </p:cNvPr>
          <p:cNvSpPr>
            <a:spLocks noChangeArrowheads="1"/>
          </p:cNvSpPr>
          <p:nvPr/>
        </p:nvSpPr>
        <p:spPr bwMode="auto">
          <a:xfrm>
            <a:off x="203200" y="3068638"/>
            <a:ext cx="8102600" cy="2460625"/>
          </a:xfrm>
          <a:prstGeom prst="roundRect">
            <a:avLst>
              <a:gd name="adj" fmla="val 16667"/>
            </a:avLst>
          </a:prstGeom>
          <a:solidFill>
            <a:srgbClr val="7F7B00">
              <a:alpha val="30196"/>
            </a:srgbClr>
          </a:solidFill>
          <a:ln w="9525" algn="ctr">
            <a:solidFill>
              <a:srgbClr val="7F7B00"/>
            </a:solidFill>
            <a:round/>
            <a:headEnd/>
            <a:tailEnd/>
          </a:ln>
        </p:spPr>
        <p:txBody>
          <a:bodyPr anchor="ctr" anchorCtr="1"/>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CA" altLang="en-US" sz="2800"/>
              <a:t>CREATE TABLE &lt;table_name&gt;</a:t>
            </a:r>
          </a:p>
          <a:p>
            <a:r>
              <a:rPr lang="en-CA" altLang="en-US" sz="2800"/>
              <a:t>(</a:t>
            </a:r>
          </a:p>
          <a:p>
            <a:r>
              <a:rPr lang="en-CA" altLang="en-US" sz="2800"/>
              <a:t>   &lt;column_name&gt; &lt;data_type&gt; PRIMARY KEY,</a:t>
            </a:r>
          </a:p>
          <a:p>
            <a:r>
              <a:rPr lang="en-CA" altLang="en-US" sz="2800"/>
              <a:t>   …</a:t>
            </a:r>
          </a:p>
          <a:p>
            <a:r>
              <a:rPr lang="en-CA" altLang="en-US" sz="2800"/>
              <a:t>);</a:t>
            </a:r>
          </a:p>
        </p:txBody>
      </p:sp>
      <p:sp>
        <p:nvSpPr>
          <p:cNvPr id="18" name="Snip Single Corner Rectangle 17">
            <a:extLst>
              <a:ext uri="{FF2B5EF4-FFF2-40B4-BE49-F238E27FC236}">
                <a16:creationId xmlns:a16="http://schemas.microsoft.com/office/drawing/2014/main" id="{63909B08-9F0E-0C10-DC94-BC41026A4DB4}"/>
              </a:ext>
            </a:extLst>
          </p:cNvPr>
          <p:cNvSpPr/>
          <p:nvPr/>
        </p:nvSpPr>
        <p:spPr>
          <a:xfrm>
            <a:off x="-36513" y="1371600"/>
            <a:ext cx="1800226" cy="401638"/>
          </a:xfrm>
          <a:prstGeom prst="snip1Rect">
            <a:avLst/>
          </a:prstGeom>
          <a:solidFill>
            <a:schemeClr val="accent5">
              <a:lumMod val="75000"/>
            </a:schemeClr>
          </a:solidFill>
          <a:ln>
            <a:solidFill>
              <a:schemeClr val="accent5">
                <a:lumMod val="75000"/>
              </a:schemeClr>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indent="-342900" algn="just" eaLnBrk="1" hangingPunct="1">
              <a:spcBef>
                <a:spcPct val="20000"/>
              </a:spcBef>
              <a:buClr>
                <a:srgbClr val="FF6600"/>
              </a:buClr>
              <a:buSzPct val="100000"/>
              <a:defRPr/>
            </a:pPr>
            <a:r>
              <a:rPr lang="en-GB" kern="0" dirty="0">
                <a:solidFill>
                  <a:schemeClr val="bg1"/>
                </a:solidFill>
              </a:rPr>
              <a:t>PRIMARY KEY</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wipe(left)">
                                      <p:cBhvr>
                                        <p:cTn id="7" dur="500"/>
                                        <p:tgtEl>
                                          <p:spTgt spid="13">
                                            <p:txEl>
                                              <p:pRg st="0" end="0"/>
                                            </p:txEl>
                                          </p:spTgt>
                                        </p:tgtEl>
                                      </p:cBhvr>
                                    </p:animEffect>
                                  </p:childTnLst>
                                </p:cTn>
                              </p:par>
                            </p:childTnLst>
                          </p:cTn>
                        </p:par>
                        <p:par>
                          <p:cTn id="8" fill="hold" nodeType="afterGroup">
                            <p:stCondLst>
                              <p:cond delay="500"/>
                            </p:stCondLst>
                            <p:childTnLst>
                              <p:par>
                                <p:cTn id="9" presetID="16" presetClass="entr" presetSubtype="21" fill="hold" grpId="0" nodeType="after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barn(inVertical)">
                                      <p:cBhvr>
                                        <p:cTn id="11"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199A83-A645-E208-4846-899C2B391DB5}"/>
              </a:ext>
            </a:extLst>
          </p:cNvPr>
          <p:cNvSpPr>
            <a:spLocks noGrp="1"/>
          </p:cNvSpPr>
          <p:nvPr>
            <p:ph type="title"/>
          </p:nvPr>
        </p:nvSpPr>
        <p:spPr>
          <a:xfrm>
            <a:off x="457200" y="0"/>
            <a:ext cx="7620000" cy="1143000"/>
          </a:xfrm>
        </p:spPr>
        <p:txBody>
          <a:bodyPr/>
          <a:lstStyle/>
          <a:p>
            <a:pPr>
              <a:defRPr/>
            </a:pPr>
            <a:r>
              <a:rPr lang="en-US" dirty="0"/>
              <a:t>Manipulating Tables Using SQL</a:t>
            </a:r>
            <a:endParaRPr lang="en-MY" dirty="0"/>
          </a:p>
        </p:txBody>
      </p:sp>
      <p:sp>
        <p:nvSpPr>
          <p:cNvPr id="23" name="Title 1">
            <a:extLst>
              <a:ext uri="{FF2B5EF4-FFF2-40B4-BE49-F238E27FC236}">
                <a16:creationId xmlns:a16="http://schemas.microsoft.com/office/drawing/2014/main" id="{E374617C-E266-E22F-3E17-6B097DF8A196}"/>
              </a:ext>
            </a:extLst>
          </p:cNvPr>
          <p:cNvSpPr txBox="1">
            <a:spLocks/>
          </p:cNvSpPr>
          <p:nvPr/>
        </p:nvSpPr>
        <p:spPr bwMode="auto">
          <a:xfrm>
            <a:off x="0" y="1123950"/>
            <a:ext cx="8172450" cy="323850"/>
          </a:xfrm>
          <a:prstGeom prst="rect">
            <a:avLst/>
          </a:prstGeom>
          <a:noFill/>
          <a:ln w="9525">
            <a:noFill/>
            <a:miter lim="800000"/>
            <a:headEnd/>
            <a:tailEnd/>
          </a:ln>
        </p:spPr>
        <p:txBody>
          <a:bodyPr lIns="72000" tIns="0" rIns="72000" bIns="0"/>
          <a:lstStyle/>
          <a:p>
            <a:pPr defTabSz="720000" eaLnBrk="1" hangingPunct="1">
              <a:lnSpc>
                <a:spcPts val="1800"/>
              </a:lnSpc>
              <a:spcBef>
                <a:spcPts val="0"/>
              </a:spcBef>
              <a:spcAft>
                <a:spcPts val="0"/>
              </a:spcAft>
              <a:tabLst>
                <a:tab pos="0" algn="l"/>
              </a:tabLst>
              <a:defRPr/>
            </a:pPr>
            <a:r>
              <a:rPr lang="en-CA" b="1" kern="0" dirty="0">
                <a:cs typeface="Calibri" pitchFamily="34" charset="0"/>
              </a:rPr>
              <a:t>Enforcing Data Integrity Using SQL</a:t>
            </a:r>
            <a:r>
              <a:rPr lang="en-US" b="1" kern="0" dirty="0">
                <a:cs typeface="Calibri" pitchFamily="34" charset="0"/>
              </a:rPr>
              <a:t> </a:t>
            </a:r>
            <a:endParaRPr lang="en-MY" b="1" kern="0" dirty="0">
              <a:cs typeface="Calibri" pitchFamily="34" charset="0"/>
            </a:endParaRPr>
          </a:p>
          <a:p>
            <a:pPr defTabSz="720000" eaLnBrk="1" hangingPunct="1">
              <a:lnSpc>
                <a:spcPts val="1800"/>
              </a:lnSpc>
              <a:spcBef>
                <a:spcPts val="0"/>
              </a:spcBef>
              <a:spcAft>
                <a:spcPts val="0"/>
              </a:spcAft>
              <a:tabLst>
                <a:tab pos="0" algn="l"/>
              </a:tabLst>
              <a:defRPr/>
            </a:pPr>
            <a:endParaRPr lang="en-MY" b="1" kern="0" dirty="0">
              <a:latin typeface="+mn-lt"/>
              <a:ea typeface="+mj-ea"/>
              <a:cs typeface="Calibri" pitchFamily="34" charset="0"/>
            </a:endParaRPr>
          </a:p>
        </p:txBody>
      </p:sp>
      <p:sp>
        <p:nvSpPr>
          <p:cNvPr id="13" name="Content Placeholder 2">
            <a:extLst>
              <a:ext uri="{FF2B5EF4-FFF2-40B4-BE49-F238E27FC236}">
                <a16:creationId xmlns:a16="http://schemas.microsoft.com/office/drawing/2014/main" id="{FBAB0AE2-4FFE-1841-5622-BF25B0FEDD20}"/>
              </a:ext>
            </a:extLst>
          </p:cNvPr>
          <p:cNvSpPr txBox="1">
            <a:spLocks/>
          </p:cNvSpPr>
          <p:nvPr/>
        </p:nvSpPr>
        <p:spPr bwMode="auto">
          <a:xfrm>
            <a:off x="125413" y="2060575"/>
            <a:ext cx="8180387" cy="108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rgbClr val="FF6600"/>
              </a:buClr>
              <a:buFont typeface="Wingdings 3" panose="05040102010807070707" pitchFamily="18" charset="2"/>
              <a:buNone/>
            </a:pPr>
            <a:r>
              <a:rPr lang="en-CA" altLang="en-US" sz="2800">
                <a:latin typeface="Calibri" panose="020F0502020204030204" pitchFamily="34" charset="0"/>
              </a:rPr>
              <a:t>If the primary key consists of more than one column, the SQL syntax is:</a:t>
            </a: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p:txBody>
      </p:sp>
      <p:sp>
        <p:nvSpPr>
          <p:cNvPr id="20" name="Rounded Rectangle 19">
            <a:extLst>
              <a:ext uri="{FF2B5EF4-FFF2-40B4-BE49-F238E27FC236}">
                <a16:creationId xmlns:a16="http://schemas.microsoft.com/office/drawing/2014/main" id="{10E66AC3-CA2C-19E5-6363-D2AE8A386A8C}"/>
              </a:ext>
            </a:extLst>
          </p:cNvPr>
          <p:cNvSpPr>
            <a:spLocks noChangeArrowheads="1"/>
          </p:cNvSpPr>
          <p:nvPr/>
        </p:nvSpPr>
        <p:spPr bwMode="auto">
          <a:xfrm>
            <a:off x="152400" y="3141663"/>
            <a:ext cx="8102600" cy="2459037"/>
          </a:xfrm>
          <a:prstGeom prst="roundRect">
            <a:avLst>
              <a:gd name="adj" fmla="val 16667"/>
            </a:avLst>
          </a:prstGeom>
          <a:solidFill>
            <a:srgbClr val="7F7B00">
              <a:alpha val="30196"/>
            </a:srgbClr>
          </a:solidFill>
          <a:ln w="9525" algn="ctr">
            <a:solidFill>
              <a:srgbClr val="7F7B00"/>
            </a:solidFill>
            <a:round/>
            <a:headEnd/>
            <a:tailEnd/>
          </a:ln>
        </p:spPr>
        <p:txBody>
          <a:bodyPr anchor="ctr" anchorCtr="1"/>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CA" altLang="en-US" sz="2800"/>
              <a:t>CREATE TABLE &lt;table_name&gt;</a:t>
            </a:r>
          </a:p>
          <a:p>
            <a:r>
              <a:rPr lang="en-CA" altLang="en-US" sz="2800"/>
              <a:t>(</a:t>
            </a:r>
          </a:p>
          <a:p>
            <a:r>
              <a:rPr lang="en-CA" altLang="en-US" sz="2800"/>
              <a:t>   …,</a:t>
            </a:r>
          </a:p>
          <a:p>
            <a:r>
              <a:rPr lang="en-CA" altLang="en-US" sz="2800"/>
              <a:t>   PRIMARY KEY(&lt;col_name&gt;, &lt;col_name&gt; …)</a:t>
            </a:r>
          </a:p>
          <a:p>
            <a:r>
              <a:rPr lang="en-CA" altLang="en-US" sz="2800"/>
              <a:t>);</a:t>
            </a:r>
          </a:p>
        </p:txBody>
      </p:sp>
      <p:sp>
        <p:nvSpPr>
          <p:cNvPr id="21" name="Snip Single Corner Rectangle 20">
            <a:extLst>
              <a:ext uri="{FF2B5EF4-FFF2-40B4-BE49-F238E27FC236}">
                <a16:creationId xmlns:a16="http://schemas.microsoft.com/office/drawing/2014/main" id="{905E1A3D-6EF9-1615-FB46-A66A5894AC91}"/>
              </a:ext>
            </a:extLst>
          </p:cNvPr>
          <p:cNvSpPr/>
          <p:nvPr/>
        </p:nvSpPr>
        <p:spPr>
          <a:xfrm>
            <a:off x="-36513" y="1371600"/>
            <a:ext cx="1800226" cy="401638"/>
          </a:xfrm>
          <a:prstGeom prst="snip1Rect">
            <a:avLst/>
          </a:prstGeom>
          <a:solidFill>
            <a:schemeClr val="accent5">
              <a:lumMod val="75000"/>
            </a:schemeClr>
          </a:solidFill>
          <a:ln>
            <a:solidFill>
              <a:schemeClr val="accent5">
                <a:lumMod val="75000"/>
              </a:schemeClr>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indent="-342900" algn="just" eaLnBrk="1" hangingPunct="1">
              <a:spcBef>
                <a:spcPct val="20000"/>
              </a:spcBef>
              <a:buClr>
                <a:srgbClr val="FF6600"/>
              </a:buClr>
              <a:buSzPct val="100000"/>
              <a:defRPr/>
            </a:pPr>
            <a:r>
              <a:rPr lang="en-GB" kern="0" dirty="0">
                <a:solidFill>
                  <a:schemeClr val="bg1"/>
                </a:solidFill>
              </a:rPr>
              <a:t>PRIMARY KEY</a:t>
            </a:r>
          </a:p>
        </p:txBody>
      </p:sp>
      <p:grpSp>
        <p:nvGrpSpPr>
          <p:cNvPr id="3" name="Group 23">
            <a:extLst>
              <a:ext uri="{FF2B5EF4-FFF2-40B4-BE49-F238E27FC236}">
                <a16:creationId xmlns:a16="http://schemas.microsoft.com/office/drawing/2014/main" id="{F2A6BD3F-9599-0BB8-22C5-A04D99781CDC}"/>
              </a:ext>
            </a:extLst>
          </p:cNvPr>
          <p:cNvGrpSpPr>
            <a:grpSpLocks/>
          </p:cNvGrpSpPr>
          <p:nvPr/>
        </p:nvGrpSpPr>
        <p:grpSpPr bwMode="auto">
          <a:xfrm>
            <a:off x="1665288" y="5049838"/>
            <a:ext cx="3095625" cy="1081087"/>
            <a:chOff x="4410995" y="1378493"/>
            <a:chExt cx="3096344" cy="1080410"/>
          </a:xfrm>
        </p:grpSpPr>
        <p:sp>
          <p:nvSpPr>
            <p:cNvPr id="26" name="Rectangle 25">
              <a:extLst>
                <a:ext uri="{FF2B5EF4-FFF2-40B4-BE49-F238E27FC236}">
                  <a16:creationId xmlns:a16="http://schemas.microsoft.com/office/drawing/2014/main" id="{E7EE3B06-8384-ADA2-9998-C5B25869791E}"/>
                </a:ext>
              </a:extLst>
            </p:cNvPr>
            <p:cNvSpPr/>
            <p:nvPr/>
          </p:nvSpPr>
          <p:spPr bwMode="auto">
            <a:xfrm>
              <a:off x="4410995" y="1740216"/>
              <a:ext cx="3096344" cy="718687"/>
            </a:xfrm>
            <a:prstGeom prst="rect">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anchor="ctr" anchorCtr="1"/>
            <a:lstStyle/>
            <a:p>
              <a:pPr algn="ctr">
                <a:defRPr/>
              </a:pPr>
              <a:r>
                <a:rPr lang="en-CA" dirty="0">
                  <a:solidFill>
                    <a:schemeClr val="bg1"/>
                  </a:solidFill>
                  <a:latin typeface="Arial" charset="0"/>
                </a:rPr>
                <a:t>The PRIMARY KEY declaration is on its own line</a:t>
              </a:r>
            </a:p>
          </p:txBody>
        </p:sp>
        <p:cxnSp>
          <p:nvCxnSpPr>
            <p:cNvPr id="27" name="Straight Arrow Connector 26">
              <a:extLst>
                <a:ext uri="{FF2B5EF4-FFF2-40B4-BE49-F238E27FC236}">
                  <a16:creationId xmlns:a16="http://schemas.microsoft.com/office/drawing/2014/main" id="{3D62CF4C-2357-0138-40EC-3E49831012A4}"/>
                </a:ext>
              </a:extLst>
            </p:cNvPr>
            <p:cNvCxnSpPr>
              <a:stCxn id="26" idx="0"/>
            </p:cNvCxnSpPr>
            <p:nvPr/>
          </p:nvCxnSpPr>
          <p:spPr bwMode="auto">
            <a:xfrm flipH="1" flipV="1">
              <a:off x="5741629" y="1378493"/>
              <a:ext cx="217538" cy="361723"/>
            </a:xfrm>
            <a:prstGeom prst="straightConnector1">
              <a:avLst/>
            </a:prstGeom>
            <a:ln>
              <a:headEnd type="none" w="med" len="med"/>
              <a:tailEnd type="triangle"/>
            </a:ln>
          </p:spPr>
          <p:style>
            <a:lnRef idx="1">
              <a:schemeClr val="accent2"/>
            </a:lnRef>
            <a:fillRef idx="3">
              <a:schemeClr val="accent2"/>
            </a:fillRef>
            <a:effectRef idx="2">
              <a:schemeClr val="accent2"/>
            </a:effectRef>
            <a:fontRef idx="minor">
              <a:schemeClr val="lt1"/>
            </a:fontRef>
          </p:style>
        </p:cxnSp>
      </p:gr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wipe(left)">
                                      <p:cBhvr>
                                        <p:cTn id="7" dur="500"/>
                                        <p:tgtEl>
                                          <p:spTgt spid="13">
                                            <p:txEl>
                                              <p:pRg st="0" end="0"/>
                                            </p:txEl>
                                          </p:spTgt>
                                        </p:tgtEl>
                                      </p:cBhvr>
                                    </p:animEffect>
                                  </p:childTnLst>
                                </p:cTn>
                              </p:par>
                            </p:childTnLst>
                          </p:cTn>
                        </p:par>
                        <p:par>
                          <p:cTn id="8" fill="hold" nodeType="afterGroup">
                            <p:stCondLst>
                              <p:cond delay="500"/>
                            </p:stCondLst>
                            <p:childTnLst>
                              <p:par>
                                <p:cTn id="9" presetID="16" presetClass="entr" presetSubtype="21" fill="hold" grpId="0" nodeType="after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barn(inVertical)">
                                      <p:cBhvr>
                                        <p:cTn id="11" dur="500"/>
                                        <p:tgtEl>
                                          <p:spTgt spid="20"/>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 presetClass="entr" presetSubtype="2" fill="hold" nodeType="clickEffect">
                                  <p:stCondLst>
                                    <p:cond delay="0"/>
                                  </p:stCondLst>
                                  <p:childTnLst>
                                    <p:set>
                                      <p:cBhvr>
                                        <p:cTn id="15" dur="1" fill="hold">
                                          <p:stCondLst>
                                            <p:cond delay="0"/>
                                          </p:stCondLst>
                                        </p:cTn>
                                        <p:tgtEl>
                                          <p:spTgt spid="3"/>
                                        </p:tgtEl>
                                        <p:attrNameLst>
                                          <p:attrName>style.visibility</p:attrName>
                                        </p:attrNameLst>
                                      </p:cBhvr>
                                      <p:to>
                                        <p:strVal val="visible"/>
                                      </p:to>
                                    </p:set>
                                    <p:anim calcmode="lin" valueType="num">
                                      <p:cBhvr additive="base">
                                        <p:cTn id="16" dur="500" fill="hold"/>
                                        <p:tgtEl>
                                          <p:spTgt spid="3"/>
                                        </p:tgtEl>
                                        <p:attrNameLst>
                                          <p:attrName>ppt_x</p:attrName>
                                        </p:attrNameLst>
                                      </p:cBhvr>
                                      <p:tavLst>
                                        <p:tav tm="0">
                                          <p:val>
                                            <p:strVal val="1+#ppt_w/2"/>
                                          </p:val>
                                        </p:tav>
                                        <p:tav tm="100000">
                                          <p:val>
                                            <p:strVal val="#ppt_x"/>
                                          </p:val>
                                        </p:tav>
                                      </p:tavLst>
                                    </p:anim>
                                    <p:anim calcmode="lin" valueType="num">
                                      <p:cBhvr additive="base">
                                        <p:cTn id="17"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ounded Rectangle 19">
            <a:extLst>
              <a:ext uri="{FF2B5EF4-FFF2-40B4-BE49-F238E27FC236}">
                <a16:creationId xmlns:a16="http://schemas.microsoft.com/office/drawing/2014/main" id="{B3ACD390-D212-0659-927A-187D6E1C0439}"/>
              </a:ext>
            </a:extLst>
          </p:cNvPr>
          <p:cNvSpPr/>
          <p:nvPr/>
        </p:nvSpPr>
        <p:spPr bwMode="auto">
          <a:xfrm>
            <a:off x="152400" y="2997200"/>
            <a:ext cx="4191000" cy="2735263"/>
          </a:xfrm>
          <a:prstGeom prst="roundRect">
            <a:avLst/>
          </a:prstGeom>
          <a:solidFill>
            <a:schemeClr val="accent6">
              <a:alpha val="30000"/>
            </a:schemeClr>
          </a:solidFill>
          <a:ln w="9525" cap="flat" cmpd="sng" algn="ctr">
            <a:solidFill>
              <a:schemeClr val="accent6"/>
            </a:solidFill>
            <a:prstDash val="solid"/>
            <a:round/>
            <a:headEnd type="none" w="med" len="med"/>
            <a:tailEnd type="none" w="med" len="med"/>
          </a:ln>
          <a:effectLst/>
        </p:spPr>
        <p:txBody>
          <a:bodyPr anchor="ctr" anchorCtr="1"/>
          <a:lstStyle/>
          <a:p>
            <a:pPr>
              <a:defRPr/>
            </a:pPr>
            <a:r>
              <a:rPr lang="en-CA" sz="2400" dirty="0"/>
              <a:t>CREATE TABLE Book</a:t>
            </a:r>
          </a:p>
          <a:p>
            <a:pPr>
              <a:defRPr/>
            </a:pPr>
            <a:r>
              <a:rPr lang="en-CA" sz="2400" dirty="0"/>
              <a:t>(</a:t>
            </a:r>
          </a:p>
          <a:p>
            <a:pPr>
              <a:defRPr/>
            </a:pPr>
            <a:r>
              <a:rPr lang="en-CA" sz="2400" dirty="0"/>
              <a:t>   ISBN INT PRIMARY KEY,</a:t>
            </a:r>
          </a:p>
          <a:p>
            <a:pPr>
              <a:defRPr/>
            </a:pPr>
            <a:r>
              <a:rPr lang="en-CA" sz="2400" dirty="0"/>
              <a:t>   Title VARCHAR(100),</a:t>
            </a:r>
          </a:p>
          <a:p>
            <a:pPr>
              <a:defRPr/>
            </a:pPr>
            <a:r>
              <a:rPr lang="en-CA" sz="2400" dirty="0"/>
              <a:t>   Quantity INT</a:t>
            </a:r>
          </a:p>
          <a:p>
            <a:pPr>
              <a:defRPr/>
            </a:pPr>
            <a:r>
              <a:rPr lang="en-CA" sz="2400" dirty="0"/>
              <a:t>);</a:t>
            </a:r>
          </a:p>
        </p:txBody>
      </p:sp>
      <p:sp>
        <p:nvSpPr>
          <p:cNvPr id="2" name="Title 1">
            <a:extLst>
              <a:ext uri="{FF2B5EF4-FFF2-40B4-BE49-F238E27FC236}">
                <a16:creationId xmlns:a16="http://schemas.microsoft.com/office/drawing/2014/main" id="{6BF11AD7-EDC6-A5C0-3053-EE112CCA7883}"/>
              </a:ext>
            </a:extLst>
          </p:cNvPr>
          <p:cNvSpPr>
            <a:spLocks noGrp="1"/>
          </p:cNvSpPr>
          <p:nvPr>
            <p:ph type="title"/>
          </p:nvPr>
        </p:nvSpPr>
        <p:spPr>
          <a:xfrm>
            <a:off x="457200" y="0"/>
            <a:ext cx="7620000" cy="1143000"/>
          </a:xfrm>
        </p:spPr>
        <p:txBody>
          <a:bodyPr/>
          <a:lstStyle/>
          <a:p>
            <a:pPr>
              <a:defRPr/>
            </a:pPr>
            <a:r>
              <a:rPr lang="en-US" dirty="0"/>
              <a:t>Manipulating Tables Using SQL</a:t>
            </a:r>
            <a:endParaRPr lang="en-MY" dirty="0"/>
          </a:p>
        </p:txBody>
      </p:sp>
      <p:sp>
        <p:nvSpPr>
          <p:cNvPr id="23" name="Title 1">
            <a:extLst>
              <a:ext uri="{FF2B5EF4-FFF2-40B4-BE49-F238E27FC236}">
                <a16:creationId xmlns:a16="http://schemas.microsoft.com/office/drawing/2014/main" id="{E44F2BDD-AE84-5722-3780-B397C336952C}"/>
              </a:ext>
            </a:extLst>
          </p:cNvPr>
          <p:cNvSpPr txBox="1">
            <a:spLocks/>
          </p:cNvSpPr>
          <p:nvPr/>
        </p:nvSpPr>
        <p:spPr bwMode="auto">
          <a:xfrm>
            <a:off x="0" y="1123950"/>
            <a:ext cx="8172450" cy="323850"/>
          </a:xfrm>
          <a:prstGeom prst="rect">
            <a:avLst/>
          </a:prstGeom>
          <a:noFill/>
          <a:ln w="9525">
            <a:noFill/>
            <a:miter lim="800000"/>
            <a:headEnd/>
            <a:tailEnd/>
          </a:ln>
        </p:spPr>
        <p:txBody>
          <a:bodyPr lIns="72000" tIns="0" rIns="72000" bIns="0"/>
          <a:lstStyle/>
          <a:p>
            <a:pPr defTabSz="720000" eaLnBrk="1" hangingPunct="1">
              <a:lnSpc>
                <a:spcPts val="1800"/>
              </a:lnSpc>
              <a:spcBef>
                <a:spcPts val="0"/>
              </a:spcBef>
              <a:spcAft>
                <a:spcPts val="0"/>
              </a:spcAft>
              <a:tabLst>
                <a:tab pos="0" algn="l"/>
              </a:tabLst>
              <a:defRPr/>
            </a:pPr>
            <a:r>
              <a:rPr lang="en-CA" b="1" kern="0" dirty="0">
                <a:cs typeface="Calibri" pitchFamily="34" charset="0"/>
              </a:rPr>
              <a:t>Enforcing Data Integrity Using SQL</a:t>
            </a:r>
            <a:r>
              <a:rPr lang="en-US" b="1" kern="0" dirty="0">
                <a:cs typeface="Calibri" pitchFamily="34" charset="0"/>
              </a:rPr>
              <a:t> </a:t>
            </a:r>
            <a:endParaRPr lang="en-MY" b="1" kern="0" dirty="0">
              <a:cs typeface="Calibri" pitchFamily="34" charset="0"/>
            </a:endParaRPr>
          </a:p>
          <a:p>
            <a:pPr defTabSz="720000" eaLnBrk="1" hangingPunct="1">
              <a:lnSpc>
                <a:spcPts val="1800"/>
              </a:lnSpc>
              <a:spcBef>
                <a:spcPts val="0"/>
              </a:spcBef>
              <a:spcAft>
                <a:spcPts val="0"/>
              </a:spcAft>
              <a:tabLst>
                <a:tab pos="0" algn="l"/>
              </a:tabLst>
              <a:defRPr/>
            </a:pPr>
            <a:endParaRPr lang="en-MY" b="1" kern="0" dirty="0">
              <a:latin typeface="+mn-lt"/>
              <a:ea typeface="+mj-ea"/>
              <a:cs typeface="Calibri" pitchFamily="34" charset="0"/>
            </a:endParaRPr>
          </a:p>
        </p:txBody>
      </p:sp>
      <p:sp>
        <p:nvSpPr>
          <p:cNvPr id="13" name="Content Placeholder 2">
            <a:extLst>
              <a:ext uri="{FF2B5EF4-FFF2-40B4-BE49-F238E27FC236}">
                <a16:creationId xmlns:a16="http://schemas.microsoft.com/office/drawing/2014/main" id="{9BDCEC45-B789-49DF-5880-07A49DF3597B}"/>
              </a:ext>
            </a:extLst>
          </p:cNvPr>
          <p:cNvSpPr txBox="1">
            <a:spLocks/>
          </p:cNvSpPr>
          <p:nvPr/>
        </p:nvSpPr>
        <p:spPr bwMode="auto">
          <a:xfrm>
            <a:off x="125413" y="2060575"/>
            <a:ext cx="8180387"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rgbClr val="FF6600"/>
              </a:buClr>
              <a:buFont typeface="Wingdings 3" panose="05040102010807070707" pitchFamily="18" charset="2"/>
              <a:buNone/>
            </a:pPr>
            <a:r>
              <a:rPr lang="en-CA" altLang="en-US" sz="2800">
                <a:latin typeface="Calibri" panose="020F0502020204030204" pitchFamily="34" charset="0"/>
              </a:rPr>
              <a:t>For example, suppose the primary key for the Book table is ISBN</a:t>
            </a: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p:txBody>
      </p:sp>
      <p:sp>
        <p:nvSpPr>
          <p:cNvPr id="21" name="Rounded Rectangle 20">
            <a:extLst>
              <a:ext uri="{FF2B5EF4-FFF2-40B4-BE49-F238E27FC236}">
                <a16:creationId xmlns:a16="http://schemas.microsoft.com/office/drawing/2014/main" id="{2BA9B8B8-88EA-9464-890C-9F784D73A98F}"/>
              </a:ext>
            </a:extLst>
          </p:cNvPr>
          <p:cNvSpPr/>
          <p:nvPr/>
        </p:nvSpPr>
        <p:spPr bwMode="auto">
          <a:xfrm>
            <a:off x="4495800" y="2997200"/>
            <a:ext cx="3819525" cy="2736850"/>
          </a:xfrm>
          <a:prstGeom prst="roundRect">
            <a:avLst/>
          </a:prstGeom>
          <a:solidFill>
            <a:schemeClr val="accent3">
              <a:alpha val="30000"/>
            </a:schemeClr>
          </a:solidFill>
          <a:ln w="9525" cap="flat" cmpd="sng" algn="ctr">
            <a:solidFill>
              <a:schemeClr val="accent3"/>
            </a:solidFill>
            <a:prstDash val="solid"/>
            <a:round/>
            <a:headEnd type="none" w="med" len="med"/>
            <a:tailEnd type="none" w="med" len="med"/>
          </a:ln>
          <a:effectLst/>
        </p:spPr>
        <p:txBody>
          <a:bodyPr anchor="ctr" anchorCtr="1"/>
          <a:lstStyle/>
          <a:p>
            <a:pPr>
              <a:defRPr/>
            </a:pPr>
            <a:r>
              <a:rPr lang="en-CA" sz="2400" dirty="0"/>
              <a:t>CREATE TABLE Book</a:t>
            </a:r>
          </a:p>
          <a:p>
            <a:pPr>
              <a:defRPr/>
            </a:pPr>
            <a:r>
              <a:rPr lang="en-CA" sz="2400" dirty="0"/>
              <a:t>(</a:t>
            </a:r>
          </a:p>
          <a:p>
            <a:pPr>
              <a:defRPr/>
            </a:pPr>
            <a:r>
              <a:rPr lang="en-CA" sz="2400" dirty="0"/>
              <a:t>   ISBN INT,</a:t>
            </a:r>
          </a:p>
          <a:p>
            <a:pPr>
              <a:defRPr/>
            </a:pPr>
            <a:r>
              <a:rPr lang="en-CA" sz="2400" dirty="0"/>
              <a:t>   Title VARCHAR(100),</a:t>
            </a:r>
          </a:p>
          <a:p>
            <a:pPr>
              <a:defRPr/>
            </a:pPr>
            <a:r>
              <a:rPr lang="en-CA" sz="2400" dirty="0"/>
              <a:t>   Quantity INT,</a:t>
            </a:r>
          </a:p>
          <a:p>
            <a:pPr>
              <a:defRPr/>
            </a:pPr>
            <a:r>
              <a:rPr lang="en-CA" sz="2400" dirty="0"/>
              <a:t>   PRIMARY KEY(ISBN)</a:t>
            </a:r>
          </a:p>
          <a:p>
            <a:pPr>
              <a:defRPr/>
            </a:pPr>
            <a:r>
              <a:rPr lang="en-CA" sz="2400" dirty="0"/>
              <a:t>);</a:t>
            </a:r>
          </a:p>
        </p:txBody>
      </p:sp>
      <p:sp>
        <p:nvSpPr>
          <p:cNvPr id="3" name="Rectangle 2">
            <a:extLst>
              <a:ext uri="{FF2B5EF4-FFF2-40B4-BE49-F238E27FC236}">
                <a16:creationId xmlns:a16="http://schemas.microsoft.com/office/drawing/2014/main" id="{AE9E91AB-0B45-B15B-DB74-6DA71DDBE03E}"/>
              </a:ext>
            </a:extLst>
          </p:cNvPr>
          <p:cNvSpPr>
            <a:spLocks noChangeArrowheads="1"/>
          </p:cNvSpPr>
          <p:nvPr/>
        </p:nvSpPr>
        <p:spPr bwMode="auto">
          <a:xfrm>
            <a:off x="977900" y="5895975"/>
            <a:ext cx="6337300" cy="466725"/>
          </a:xfrm>
          <a:prstGeom prst="rect">
            <a:avLst/>
          </a:prstGeom>
          <a:solidFill>
            <a:srgbClr val="525759">
              <a:alpha val="30196"/>
            </a:srgbClr>
          </a:solidFill>
          <a:ln w="9525" algn="ctr">
            <a:solidFill>
              <a:srgbClr val="525759"/>
            </a:solidFill>
            <a:round/>
            <a:headEnd/>
            <a:tailEnd/>
          </a:ln>
        </p:spPr>
        <p:txBody>
          <a:bodyPr anchor="ctr" anchorCtr="1"/>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CA" altLang="en-US" sz="2000"/>
              <a:t>Both SQL statements produce the same table</a:t>
            </a:r>
          </a:p>
        </p:txBody>
      </p:sp>
      <p:sp>
        <p:nvSpPr>
          <p:cNvPr id="27" name="Snip Single Corner Rectangle 26">
            <a:extLst>
              <a:ext uri="{FF2B5EF4-FFF2-40B4-BE49-F238E27FC236}">
                <a16:creationId xmlns:a16="http://schemas.microsoft.com/office/drawing/2014/main" id="{EC24BFD7-1CFF-54F0-1260-D2FF189E5118}"/>
              </a:ext>
            </a:extLst>
          </p:cNvPr>
          <p:cNvSpPr/>
          <p:nvPr/>
        </p:nvSpPr>
        <p:spPr>
          <a:xfrm>
            <a:off x="-36513" y="1371600"/>
            <a:ext cx="1800226" cy="401638"/>
          </a:xfrm>
          <a:prstGeom prst="snip1Rect">
            <a:avLst/>
          </a:prstGeom>
          <a:solidFill>
            <a:schemeClr val="accent5">
              <a:lumMod val="75000"/>
            </a:schemeClr>
          </a:solidFill>
          <a:ln>
            <a:solidFill>
              <a:schemeClr val="accent5">
                <a:lumMod val="75000"/>
              </a:schemeClr>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indent="-342900" algn="just" eaLnBrk="1" hangingPunct="1">
              <a:spcBef>
                <a:spcPct val="20000"/>
              </a:spcBef>
              <a:buClr>
                <a:srgbClr val="FF6600"/>
              </a:buClr>
              <a:buSzPct val="100000"/>
              <a:defRPr/>
            </a:pPr>
            <a:r>
              <a:rPr lang="en-GB" kern="0" dirty="0">
                <a:solidFill>
                  <a:schemeClr val="bg1"/>
                </a:solidFill>
              </a:rPr>
              <a:t>PRIMARY KEY</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wipe(left)">
                                      <p:cBhvr>
                                        <p:cTn id="7" dur="500"/>
                                        <p:tgtEl>
                                          <p:spTgt spid="1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barn(inVertical)">
                                      <p:cBhvr>
                                        <p:cTn id="12" dur="500"/>
                                        <p:tgtEl>
                                          <p:spTgt spid="2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barn(inVertical)">
                                      <p:cBhvr>
                                        <p:cTn id="17" dur="500"/>
                                        <p:tgtEl>
                                          <p:spTgt spid="2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barn(inVertical)">
                                      <p:cBhvr>
                                        <p:cTn id="2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3" grpId="0" build="p"/>
      <p:bldP spid="21" grpId="0" animBg="1"/>
      <p:bldP spid="3"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Content Placeholder 2">
            <a:extLst>
              <a:ext uri="{FF2B5EF4-FFF2-40B4-BE49-F238E27FC236}">
                <a16:creationId xmlns:a16="http://schemas.microsoft.com/office/drawing/2014/main" id="{AEF6DFF6-ED8A-8080-092B-BB1522D1596F}"/>
              </a:ext>
            </a:extLst>
          </p:cNvPr>
          <p:cNvSpPr txBox="1">
            <a:spLocks/>
          </p:cNvSpPr>
          <p:nvPr/>
        </p:nvSpPr>
        <p:spPr bwMode="auto">
          <a:xfrm>
            <a:off x="125413" y="2060575"/>
            <a:ext cx="8180387" cy="108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rgbClr val="FF6600"/>
              </a:buClr>
              <a:buFont typeface="Wingdings 3" panose="05040102010807070707" pitchFamily="18" charset="2"/>
              <a:buNone/>
            </a:pPr>
            <a:r>
              <a:rPr lang="en-CA" altLang="en-US" sz="2800">
                <a:latin typeface="Calibri" panose="020F0502020204030204" pitchFamily="34" charset="0"/>
              </a:rPr>
              <a:t>For example, suppose the primary key for the Class table is class code and class section </a:t>
            </a: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p:txBody>
      </p:sp>
      <p:sp>
        <p:nvSpPr>
          <p:cNvPr id="2" name="Title 1">
            <a:extLst>
              <a:ext uri="{FF2B5EF4-FFF2-40B4-BE49-F238E27FC236}">
                <a16:creationId xmlns:a16="http://schemas.microsoft.com/office/drawing/2014/main" id="{1BD6D6A7-ED58-2118-D0B8-50AA157712B8}"/>
              </a:ext>
            </a:extLst>
          </p:cNvPr>
          <p:cNvSpPr>
            <a:spLocks noGrp="1"/>
          </p:cNvSpPr>
          <p:nvPr>
            <p:ph type="title"/>
          </p:nvPr>
        </p:nvSpPr>
        <p:spPr>
          <a:xfrm>
            <a:off x="457200" y="0"/>
            <a:ext cx="7620000" cy="1143000"/>
          </a:xfrm>
        </p:spPr>
        <p:txBody>
          <a:bodyPr/>
          <a:lstStyle/>
          <a:p>
            <a:pPr>
              <a:defRPr/>
            </a:pPr>
            <a:r>
              <a:rPr lang="en-US" dirty="0"/>
              <a:t>Manipulating Tables Using SQL</a:t>
            </a:r>
            <a:endParaRPr lang="en-MY" dirty="0"/>
          </a:p>
        </p:txBody>
      </p:sp>
      <p:sp>
        <p:nvSpPr>
          <p:cNvPr id="23" name="Title 1">
            <a:extLst>
              <a:ext uri="{FF2B5EF4-FFF2-40B4-BE49-F238E27FC236}">
                <a16:creationId xmlns:a16="http://schemas.microsoft.com/office/drawing/2014/main" id="{9634DB81-7E41-7303-3F57-A395B224AB2B}"/>
              </a:ext>
            </a:extLst>
          </p:cNvPr>
          <p:cNvSpPr txBox="1">
            <a:spLocks/>
          </p:cNvSpPr>
          <p:nvPr/>
        </p:nvSpPr>
        <p:spPr bwMode="auto">
          <a:xfrm>
            <a:off x="0" y="1123950"/>
            <a:ext cx="8172450" cy="323850"/>
          </a:xfrm>
          <a:prstGeom prst="rect">
            <a:avLst/>
          </a:prstGeom>
          <a:noFill/>
          <a:ln w="9525">
            <a:noFill/>
            <a:miter lim="800000"/>
            <a:headEnd/>
            <a:tailEnd/>
          </a:ln>
        </p:spPr>
        <p:txBody>
          <a:bodyPr lIns="72000" tIns="0" rIns="72000" bIns="0"/>
          <a:lstStyle/>
          <a:p>
            <a:pPr defTabSz="720000" eaLnBrk="1" hangingPunct="1">
              <a:lnSpc>
                <a:spcPts val="1800"/>
              </a:lnSpc>
              <a:spcBef>
                <a:spcPts val="0"/>
              </a:spcBef>
              <a:spcAft>
                <a:spcPts val="0"/>
              </a:spcAft>
              <a:tabLst>
                <a:tab pos="0" algn="l"/>
              </a:tabLst>
              <a:defRPr/>
            </a:pPr>
            <a:r>
              <a:rPr lang="en-CA" b="1" kern="0" dirty="0">
                <a:cs typeface="Calibri" pitchFamily="34" charset="0"/>
              </a:rPr>
              <a:t>Enforcing Data Integrity Using SQL</a:t>
            </a:r>
            <a:r>
              <a:rPr lang="en-US" b="1" kern="0" dirty="0">
                <a:cs typeface="Calibri" pitchFamily="34" charset="0"/>
              </a:rPr>
              <a:t> </a:t>
            </a:r>
            <a:endParaRPr lang="en-MY" b="1" kern="0" dirty="0">
              <a:cs typeface="Calibri" pitchFamily="34" charset="0"/>
            </a:endParaRPr>
          </a:p>
          <a:p>
            <a:pPr defTabSz="720000" eaLnBrk="1" hangingPunct="1">
              <a:lnSpc>
                <a:spcPts val="1800"/>
              </a:lnSpc>
              <a:spcBef>
                <a:spcPts val="0"/>
              </a:spcBef>
              <a:spcAft>
                <a:spcPts val="0"/>
              </a:spcAft>
              <a:tabLst>
                <a:tab pos="0" algn="l"/>
              </a:tabLst>
              <a:defRPr/>
            </a:pPr>
            <a:endParaRPr lang="en-MY" b="1" kern="0" dirty="0">
              <a:latin typeface="+mn-lt"/>
              <a:ea typeface="+mj-ea"/>
              <a:cs typeface="Calibri" pitchFamily="34" charset="0"/>
            </a:endParaRPr>
          </a:p>
        </p:txBody>
      </p:sp>
      <p:sp>
        <p:nvSpPr>
          <p:cNvPr id="21" name="Rounded Rectangle 20">
            <a:extLst>
              <a:ext uri="{FF2B5EF4-FFF2-40B4-BE49-F238E27FC236}">
                <a16:creationId xmlns:a16="http://schemas.microsoft.com/office/drawing/2014/main" id="{DEF56289-580F-1830-67BE-79AE7883BCD7}"/>
              </a:ext>
            </a:extLst>
          </p:cNvPr>
          <p:cNvSpPr/>
          <p:nvPr/>
        </p:nvSpPr>
        <p:spPr bwMode="auto">
          <a:xfrm>
            <a:off x="1550988" y="3068638"/>
            <a:ext cx="5383212" cy="2736850"/>
          </a:xfrm>
          <a:prstGeom prst="roundRect">
            <a:avLst/>
          </a:prstGeom>
          <a:solidFill>
            <a:schemeClr val="accent6">
              <a:alpha val="30000"/>
            </a:schemeClr>
          </a:solidFill>
          <a:ln w="9525" cap="flat" cmpd="sng" algn="ctr">
            <a:solidFill>
              <a:schemeClr val="accent6"/>
            </a:solidFill>
            <a:prstDash val="solid"/>
            <a:round/>
            <a:headEnd type="none" w="med" len="med"/>
            <a:tailEnd type="none" w="med" len="med"/>
          </a:ln>
          <a:effectLst/>
        </p:spPr>
        <p:txBody>
          <a:bodyPr anchor="ctr" anchorCtr="1"/>
          <a:lstStyle/>
          <a:p>
            <a:pPr>
              <a:defRPr/>
            </a:pPr>
            <a:r>
              <a:rPr lang="en-CA" sz="2400" dirty="0"/>
              <a:t>CREATE TABLE Class</a:t>
            </a:r>
          </a:p>
          <a:p>
            <a:pPr>
              <a:defRPr/>
            </a:pPr>
            <a:r>
              <a:rPr lang="en-CA" sz="2400" dirty="0"/>
              <a:t>(</a:t>
            </a:r>
          </a:p>
          <a:p>
            <a:pPr>
              <a:defRPr/>
            </a:pPr>
            <a:r>
              <a:rPr lang="en-CA" sz="2400" dirty="0"/>
              <a:t>   Code CHAR(6),</a:t>
            </a:r>
          </a:p>
          <a:p>
            <a:pPr>
              <a:defRPr/>
            </a:pPr>
            <a:r>
              <a:rPr lang="en-CA" sz="2400" dirty="0"/>
              <a:t>   Section CHAR(6),</a:t>
            </a:r>
          </a:p>
          <a:p>
            <a:pPr>
              <a:defRPr/>
            </a:pPr>
            <a:r>
              <a:rPr lang="en-CA" sz="2400" dirty="0"/>
              <a:t>   Name VARCHAR(50),</a:t>
            </a:r>
          </a:p>
          <a:p>
            <a:pPr>
              <a:defRPr/>
            </a:pPr>
            <a:r>
              <a:rPr lang="en-CA" sz="2400" dirty="0"/>
              <a:t>   PRIMARY KEY(Code, Section)</a:t>
            </a:r>
          </a:p>
          <a:p>
            <a:pPr>
              <a:defRPr/>
            </a:pPr>
            <a:r>
              <a:rPr lang="en-CA" sz="2400" dirty="0"/>
              <a:t>);</a:t>
            </a:r>
          </a:p>
        </p:txBody>
      </p:sp>
      <p:sp>
        <p:nvSpPr>
          <p:cNvPr id="16" name="Snip Single Corner Rectangle 15">
            <a:extLst>
              <a:ext uri="{FF2B5EF4-FFF2-40B4-BE49-F238E27FC236}">
                <a16:creationId xmlns:a16="http://schemas.microsoft.com/office/drawing/2014/main" id="{DCFF8D66-D61F-0928-5A7D-38E69F1FD00A}"/>
              </a:ext>
            </a:extLst>
          </p:cNvPr>
          <p:cNvSpPr/>
          <p:nvPr/>
        </p:nvSpPr>
        <p:spPr>
          <a:xfrm>
            <a:off x="-36513" y="1371600"/>
            <a:ext cx="1800226" cy="401638"/>
          </a:xfrm>
          <a:prstGeom prst="snip1Rect">
            <a:avLst/>
          </a:prstGeom>
          <a:solidFill>
            <a:schemeClr val="accent5">
              <a:lumMod val="75000"/>
            </a:schemeClr>
          </a:solidFill>
          <a:ln>
            <a:solidFill>
              <a:schemeClr val="accent5">
                <a:lumMod val="75000"/>
              </a:schemeClr>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indent="-342900" algn="just" eaLnBrk="1" hangingPunct="1">
              <a:spcBef>
                <a:spcPct val="20000"/>
              </a:spcBef>
              <a:buClr>
                <a:srgbClr val="FF6600"/>
              </a:buClr>
              <a:buSzPct val="100000"/>
              <a:defRPr/>
            </a:pPr>
            <a:r>
              <a:rPr lang="en-GB" kern="0" dirty="0">
                <a:solidFill>
                  <a:schemeClr val="bg1"/>
                </a:solidFill>
              </a:rPr>
              <a:t>PRIMARY KEY</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wipe(left)">
                                      <p:cBhvr>
                                        <p:cTn id="7" dur="500"/>
                                        <p:tgtEl>
                                          <p:spTgt spid="1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barn(inVertical)">
                                      <p:cBhvr>
                                        <p:cTn id="1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P spid="21"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Content Placeholder 2">
            <a:extLst>
              <a:ext uri="{FF2B5EF4-FFF2-40B4-BE49-F238E27FC236}">
                <a16:creationId xmlns:a16="http://schemas.microsoft.com/office/drawing/2014/main" id="{321A6F5C-C850-1B6B-F6EC-44250F2DDB7A}"/>
              </a:ext>
            </a:extLst>
          </p:cNvPr>
          <p:cNvSpPr txBox="1">
            <a:spLocks/>
          </p:cNvSpPr>
          <p:nvPr/>
        </p:nvSpPr>
        <p:spPr bwMode="auto">
          <a:xfrm>
            <a:off x="125413" y="2060575"/>
            <a:ext cx="8180387" cy="108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rgbClr val="FF6600"/>
              </a:buClr>
              <a:buFont typeface="Wingdings 3" panose="05040102010807070707" pitchFamily="18" charset="2"/>
              <a:buNone/>
            </a:pPr>
            <a:r>
              <a:rPr lang="en-CA" altLang="en-US" sz="2800">
                <a:latin typeface="Calibri" panose="020F0502020204030204" pitchFamily="34" charset="0"/>
              </a:rPr>
              <a:t>For example, suppose the primary key for the Class table is class code and class section </a:t>
            </a: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p:txBody>
      </p:sp>
      <p:sp>
        <p:nvSpPr>
          <p:cNvPr id="2" name="Title 1">
            <a:extLst>
              <a:ext uri="{FF2B5EF4-FFF2-40B4-BE49-F238E27FC236}">
                <a16:creationId xmlns:a16="http://schemas.microsoft.com/office/drawing/2014/main" id="{48158E59-119D-CC72-FDF6-7E632F67A6AC}"/>
              </a:ext>
            </a:extLst>
          </p:cNvPr>
          <p:cNvSpPr>
            <a:spLocks noGrp="1"/>
          </p:cNvSpPr>
          <p:nvPr>
            <p:ph type="title"/>
          </p:nvPr>
        </p:nvSpPr>
        <p:spPr>
          <a:xfrm>
            <a:off x="457200" y="0"/>
            <a:ext cx="7620000" cy="1143000"/>
          </a:xfrm>
        </p:spPr>
        <p:txBody>
          <a:bodyPr/>
          <a:lstStyle/>
          <a:p>
            <a:pPr>
              <a:defRPr/>
            </a:pPr>
            <a:r>
              <a:rPr lang="en-US" dirty="0"/>
              <a:t>Manipulating Tables Using SQL</a:t>
            </a:r>
            <a:endParaRPr lang="en-MY" dirty="0"/>
          </a:p>
        </p:txBody>
      </p:sp>
      <p:sp>
        <p:nvSpPr>
          <p:cNvPr id="23" name="Title 1">
            <a:extLst>
              <a:ext uri="{FF2B5EF4-FFF2-40B4-BE49-F238E27FC236}">
                <a16:creationId xmlns:a16="http://schemas.microsoft.com/office/drawing/2014/main" id="{728624EC-713B-C6C6-05BA-B89BCDC0334B}"/>
              </a:ext>
            </a:extLst>
          </p:cNvPr>
          <p:cNvSpPr txBox="1">
            <a:spLocks/>
          </p:cNvSpPr>
          <p:nvPr/>
        </p:nvSpPr>
        <p:spPr bwMode="auto">
          <a:xfrm>
            <a:off x="0" y="1123950"/>
            <a:ext cx="8172450" cy="323850"/>
          </a:xfrm>
          <a:prstGeom prst="rect">
            <a:avLst/>
          </a:prstGeom>
          <a:noFill/>
          <a:ln w="9525">
            <a:noFill/>
            <a:miter lim="800000"/>
            <a:headEnd/>
            <a:tailEnd/>
          </a:ln>
        </p:spPr>
        <p:txBody>
          <a:bodyPr lIns="72000" tIns="0" rIns="72000" bIns="0"/>
          <a:lstStyle/>
          <a:p>
            <a:pPr defTabSz="720000" eaLnBrk="1" hangingPunct="1">
              <a:lnSpc>
                <a:spcPts val="1800"/>
              </a:lnSpc>
              <a:spcBef>
                <a:spcPts val="0"/>
              </a:spcBef>
              <a:spcAft>
                <a:spcPts val="0"/>
              </a:spcAft>
              <a:tabLst>
                <a:tab pos="0" algn="l"/>
              </a:tabLst>
              <a:defRPr/>
            </a:pPr>
            <a:r>
              <a:rPr lang="en-CA" b="1" kern="0" dirty="0">
                <a:cs typeface="Calibri" pitchFamily="34" charset="0"/>
              </a:rPr>
              <a:t>Enforcing Data Integrity Using SQL</a:t>
            </a:r>
            <a:r>
              <a:rPr lang="en-US" b="1" kern="0" dirty="0">
                <a:cs typeface="Calibri" pitchFamily="34" charset="0"/>
              </a:rPr>
              <a:t> </a:t>
            </a:r>
            <a:endParaRPr lang="en-MY" b="1" kern="0" dirty="0">
              <a:cs typeface="Calibri" pitchFamily="34" charset="0"/>
            </a:endParaRPr>
          </a:p>
          <a:p>
            <a:pPr defTabSz="720000" eaLnBrk="1" hangingPunct="1">
              <a:lnSpc>
                <a:spcPts val="1800"/>
              </a:lnSpc>
              <a:spcBef>
                <a:spcPts val="0"/>
              </a:spcBef>
              <a:spcAft>
                <a:spcPts val="0"/>
              </a:spcAft>
              <a:tabLst>
                <a:tab pos="0" algn="l"/>
              </a:tabLst>
              <a:defRPr/>
            </a:pPr>
            <a:endParaRPr lang="en-MY" b="1" kern="0" dirty="0">
              <a:latin typeface="+mn-lt"/>
              <a:ea typeface="+mj-ea"/>
              <a:cs typeface="Calibri" pitchFamily="34" charset="0"/>
            </a:endParaRPr>
          </a:p>
        </p:txBody>
      </p:sp>
      <p:sp>
        <p:nvSpPr>
          <p:cNvPr id="21" name="Rounded Rectangle 20">
            <a:extLst>
              <a:ext uri="{FF2B5EF4-FFF2-40B4-BE49-F238E27FC236}">
                <a16:creationId xmlns:a16="http://schemas.microsoft.com/office/drawing/2014/main" id="{23AD0760-2E96-7AC4-407E-3A59EA1EC74D}"/>
              </a:ext>
            </a:extLst>
          </p:cNvPr>
          <p:cNvSpPr/>
          <p:nvPr/>
        </p:nvSpPr>
        <p:spPr bwMode="auto">
          <a:xfrm>
            <a:off x="76200" y="3448050"/>
            <a:ext cx="5383213" cy="2736850"/>
          </a:xfrm>
          <a:prstGeom prst="roundRect">
            <a:avLst/>
          </a:prstGeom>
          <a:solidFill>
            <a:schemeClr val="accent3">
              <a:alpha val="30000"/>
            </a:schemeClr>
          </a:solidFill>
          <a:ln w="9525" cap="flat" cmpd="sng" algn="ctr">
            <a:solidFill>
              <a:schemeClr val="accent3"/>
            </a:solidFill>
            <a:prstDash val="solid"/>
            <a:round/>
            <a:headEnd type="none" w="med" len="med"/>
            <a:tailEnd type="none" w="med" len="med"/>
          </a:ln>
          <a:effectLst/>
        </p:spPr>
        <p:txBody>
          <a:bodyPr anchor="ctr" anchorCtr="1"/>
          <a:lstStyle/>
          <a:p>
            <a:pPr>
              <a:defRPr/>
            </a:pPr>
            <a:r>
              <a:rPr lang="en-CA" sz="2400" dirty="0"/>
              <a:t>CREATE TABLE Class</a:t>
            </a:r>
          </a:p>
          <a:p>
            <a:pPr>
              <a:defRPr/>
            </a:pPr>
            <a:r>
              <a:rPr lang="en-CA" sz="2400" dirty="0"/>
              <a:t>(</a:t>
            </a:r>
          </a:p>
          <a:p>
            <a:pPr>
              <a:defRPr/>
            </a:pPr>
            <a:r>
              <a:rPr lang="en-CA" sz="2400" dirty="0"/>
              <a:t>   Code CHAR(6) PRIMARY KEY,</a:t>
            </a:r>
          </a:p>
          <a:p>
            <a:pPr>
              <a:defRPr/>
            </a:pPr>
            <a:r>
              <a:rPr lang="en-CA" sz="2400" dirty="0"/>
              <a:t>   Section CHAR(6) PRIMARY KEY,</a:t>
            </a:r>
          </a:p>
          <a:p>
            <a:pPr>
              <a:defRPr/>
            </a:pPr>
            <a:r>
              <a:rPr lang="en-CA" sz="2400" dirty="0"/>
              <a:t>   Name VARCHAR(50),</a:t>
            </a:r>
          </a:p>
          <a:p>
            <a:pPr>
              <a:defRPr/>
            </a:pPr>
            <a:r>
              <a:rPr lang="en-CA" sz="2400" dirty="0"/>
              <a:t>);</a:t>
            </a:r>
          </a:p>
        </p:txBody>
      </p:sp>
      <p:grpSp>
        <p:nvGrpSpPr>
          <p:cNvPr id="3" name="Group 8">
            <a:extLst>
              <a:ext uri="{FF2B5EF4-FFF2-40B4-BE49-F238E27FC236}">
                <a16:creationId xmlns:a16="http://schemas.microsoft.com/office/drawing/2014/main" id="{C1479426-9501-4204-832A-6461466ADCDA}"/>
              </a:ext>
            </a:extLst>
          </p:cNvPr>
          <p:cNvGrpSpPr>
            <a:grpSpLocks/>
          </p:cNvGrpSpPr>
          <p:nvPr/>
        </p:nvGrpSpPr>
        <p:grpSpPr bwMode="auto">
          <a:xfrm>
            <a:off x="4845050" y="3663950"/>
            <a:ext cx="3529013" cy="1657350"/>
            <a:chOff x="5508104" y="3284984"/>
            <a:chExt cx="3398390" cy="1656184"/>
          </a:xfrm>
        </p:grpSpPr>
        <p:grpSp>
          <p:nvGrpSpPr>
            <p:cNvPr id="60427" name="Group 15">
              <a:extLst>
                <a:ext uri="{FF2B5EF4-FFF2-40B4-BE49-F238E27FC236}">
                  <a16:creationId xmlns:a16="http://schemas.microsoft.com/office/drawing/2014/main" id="{43D885BB-F8B7-2E5E-9B5F-8CDE3C67BBD0}"/>
                </a:ext>
              </a:extLst>
            </p:cNvPr>
            <p:cNvGrpSpPr>
              <a:grpSpLocks/>
            </p:cNvGrpSpPr>
            <p:nvPr/>
          </p:nvGrpSpPr>
          <p:grpSpPr bwMode="auto">
            <a:xfrm>
              <a:off x="5508104" y="3284984"/>
              <a:ext cx="3398390" cy="1656184"/>
              <a:chOff x="5652120" y="1916832"/>
              <a:chExt cx="3398390" cy="1656184"/>
            </a:xfrm>
          </p:grpSpPr>
          <p:sp>
            <p:nvSpPr>
              <p:cNvPr id="20" name="Rectangle 19">
                <a:extLst>
                  <a:ext uri="{FF2B5EF4-FFF2-40B4-BE49-F238E27FC236}">
                    <a16:creationId xmlns:a16="http://schemas.microsoft.com/office/drawing/2014/main" id="{7B8F773C-6104-0E59-FA88-72568742B2E9}"/>
                  </a:ext>
                </a:extLst>
              </p:cNvPr>
              <p:cNvSpPr/>
              <p:nvPr/>
            </p:nvSpPr>
            <p:spPr bwMode="auto">
              <a:xfrm>
                <a:off x="6372157" y="1916832"/>
                <a:ext cx="2678353" cy="1656184"/>
              </a:xfrm>
              <a:prstGeom prst="rect">
                <a:avLst/>
              </a:prstGeom>
              <a:ln>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nchorCtr="1"/>
              <a:lstStyle/>
              <a:p>
                <a:pPr algn="ctr">
                  <a:defRPr/>
                </a:pPr>
                <a:r>
                  <a:rPr lang="en-CA" dirty="0"/>
                  <a:t>DBMS will interpret this as the declaration of two primary keys. It will display an error message</a:t>
                </a:r>
                <a:endParaRPr lang="en-CA" dirty="0">
                  <a:solidFill>
                    <a:schemeClr val="tx1"/>
                  </a:solidFill>
                  <a:latin typeface="Arial" charset="0"/>
                </a:endParaRPr>
              </a:p>
            </p:txBody>
          </p:sp>
          <p:cxnSp>
            <p:nvCxnSpPr>
              <p:cNvPr id="27" name="Straight Arrow Connector 26">
                <a:extLst>
                  <a:ext uri="{FF2B5EF4-FFF2-40B4-BE49-F238E27FC236}">
                    <a16:creationId xmlns:a16="http://schemas.microsoft.com/office/drawing/2014/main" id="{E8741735-36E1-33BF-7774-4B5EC44B1A57}"/>
                  </a:ext>
                </a:extLst>
              </p:cNvPr>
              <p:cNvCxnSpPr/>
              <p:nvPr/>
            </p:nvCxnSpPr>
            <p:spPr bwMode="auto">
              <a:xfrm flipH="1">
                <a:off x="5652120" y="2744924"/>
                <a:ext cx="720037" cy="179262"/>
              </a:xfrm>
              <a:prstGeom prst="straightConnector1">
                <a:avLst/>
              </a:prstGeom>
              <a:ln>
                <a:headEnd type="none" w="med" len="med"/>
                <a:tailEnd type="triangle"/>
              </a:ln>
            </p:spPr>
            <p:style>
              <a:lnRef idx="1">
                <a:schemeClr val="accent1"/>
              </a:lnRef>
              <a:fillRef idx="3">
                <a:schemeClr val="accent1"/>
              </a:fillRef>
              <a:effectRef idx="2">
                <a:schemeClr val="accent1"/>
              </a:effectRef>
              <a:fontRef idx="minor">
                <a:schemeClr val="lt1"/>
              </a:fontRef>
            </p:style>
          </p:cxnSp>
        </p:grpSp>
        <p:cxnSp>
          <p:nvCxnSpPr>
            <p:cNvPr id="28" name="Straight Arrow Connector 27">
              <a:extLst>
                <a:ext uri="{FF2B5EF4-FFF2-40B4-BE49-F238E27FC236}">
                  <a16:creationId xmlns:a16="http://schemas.microsoft.com/office/drawing/2014/main" id="{7DC4AEEA-765E-A49C-439E-6B46992335C2}"/>
                </a:ext>
              </a:extLst>
            </p:cNvPr>
            <p:cNvCxnSpPr/>
            <p:nvPr/>
          </p:nvCxnSpPr>
          <p:spPr bwMode="auto">
            <a:xfrm flipH="1">
              <a:off x="5793979" y="4113076"/>
              <a:ext cx="434162" cy="390250"/>
            </a:xfrm>
            <a:prstGeom prst="straightConnector1">
              <a:avLst/>
            </a:prstGeom>
            <a:ln>
              <a:headEnd type="none" w="med" len="med"/>
              <a:tailEnd type="triangle"/>
            </a:ln>
          </p:spPr>
          <p:style>
            <a:lnRef idx="1">
              <a:schemeClr val="accent1"/>
            </a:lnRef>
            <a:fillRef idx="3">
              <a:schemeClr val="accent1"/>
            </a:fillRef>
            <a:effectRef idx="2">
              <a:schemeClr val="accent1"/>
            </a:effectRef>
            <a:fontRef idx="minor">
              <a:schemeClr val="lt1"/>
            </a:fontRef>
          </p:style>
        </p:cxnSp>
      </p:grpSp>
      <p:sp>
        <p:nvSpPr>
          <p:cNvPr id="30" name="Snip Single Corner Rectangle 29">
            <a:extLst>
              <a:ext uri="{FF2B5EF4-FFF2-40B4-BE49-F238E27FC236}">
                <a16:creationId xmlns:a16="http://schemas.microsoft.com/office/drawing/2014/main" id="{0409F8A7-BD72-BE08-7EE5-DA0B82BBF4DA}"/>
              </a:ext>
            </a:extLst>
          </p:cNvPr>
          <p:cNvSpPr/>
          <p:nvPr/>
        </p:nvSpPr>
        <p:spPr>
          <a:xfrm>
            <a:off x="-36513" y="1371600"/>
            <a:ext cx="1800226" cy="401638"/>
          </a:xfrm>
          <a:prstGeom prst="snip1Rect">
            <a:avLst/>
          </a:prstGeom>
          <a:solidFill>
            <a:schemeClr val="accent5">
              <a:lumMod val="75000"/>
            </a:schemeClr>
          </a:solidFill>
          <a:ln>
            <a:solidFill>
              <a:schemeClr val="accent5">
                <a:lumMod val="75000"/>
              </a:schemeClr>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indent="-342900" algn="just" eaLnBrk="1" hangingPunct="1">
              <a:spcBef>
                <a:spcPct val="20000"/>
              </a:spcBef>
              <a:buClr>
                <a:srgbClr val="FF6600"/>
              </a:buClr>
              <a:buSzPct val="100000"/>
              <a:defRPr/>
            </a:pPr>
            <a:r>
              <a:rPr lang="en-GB" kern="0" dirty="0">
                <a:solidFill>
                  <a:schemeClr val="bg1"/>
                </a:solidFill>
              </a:rPr>
              <a:t>PRIMARY KEY</a:t>
            </a:r>
          </a:p>
        </p:txBody>
      </p:sp>
      <p:sp>
        <p:nvSpPr>
          <p:cNvPr id="31" name="Multiply 30">
            <a:extLst>
              <a:ext uri="{FF2B5EF4-FFF2-40B4-BE49-F238E27FC236}">
                <a16:creationId xmlns:a16="http://schemas.microsoft.com/office/drawing/2014/main" id="{32F28466-8F16-35CF-3258-CA99D24C3073}"/>
              </a:ext>
            </a:extLst>
          </p:cNvPr>
          <p:cNvSpPr/>
          <p:nvPr/>
        </p:nvSpPr>
        <p:spPr bwMode="auto">
          <a:xfrm>
            <a:off x="881785" y="3160440"/>
            <a:ext cx="3771427" cy="3240360"/>
          </a:xfrm>
          <a:prstGeom prst="mathMultiply">
            <a:avLst>
              <a:gd name="adj1" fmla="val 14809"/>
            </a:avLst>
          </a:prstGeom>
          <a:solidFill>
            <a:srgbClr val="C00000"/>
          </a:solidFill>
          <a:ln w="9525" cap="flat" cmpd="sng" algn="ctr">
            <a:noFill/>
            <a:prstDash val="solid"/>
            <a:round/>
            <a:headEnd type="none" w="med" len="med"/>
            <a:tailEnd type="none" w="med" len="med"/>
          </a:ln>
          <a:effectLst/>
          <a:scene3d>
            <a:camera prst="orthographicFront"/>
            <a:lightRig rig="threePt" dir="t"/>
          </a:scene3d>
          <a:sp3d>
            <a:bevelT w="25400" h="25400"/>
          </a:sp3d>
        </p:spPr>
        <p:txBody>
          <a:bodyPr/>
          <a:lstStyle/>
          <a:p>
            <a:pPr>
              <a:defRPr/>
            </a:pPr>
            <a:endParaRPr lang="en-MY">
              <a:latin typeface="Arial"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barn(inVertical)">
                                      <p:cBhvr>
                                        <p:cTn id="7" dur="500"/>
                                        <p:tgtEl>
                                          <p:spTgt spid="2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ppt_x"/>
                                          </p:val>
                                        </p:tav>
                                        <p:tav tm="100000">
                                          <p:val>
                                            <p:strVal val="#ppt_x"/>
                                          </p:val>
                                        </p:tav>
                                      </p:tavLst>
                                    </p:anim>
                                    <p:anim calcmode="lin" valueType="num">
                                      <p:cBhvr additive="base">
                                        <p:cTn id="13"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42" presetClass="entr" presetSubtype="0" fill="hold" nodeType="clickEffect">
                                  <p:stCondLst>
                                    <p:cond delay="0"/>
                                  </p:stCondLst>
                                  <p:childTnLst>
                                    <p:set>
                                      <p:cBhvr>
                                        <p:cTn id="17" dur="1" fill="hold">
                                          <p:stCondLst>
                                            <p:cond delay="0"/>
                                          </p:stCondLst>
                                        </p:cTn>
                                        <p:tgtEl>
                                          <p:spTgt spid="31"/>
                                        </p:tgtEl>
                                        <p:attrNameLst>
                                          <p:attrName>style.visibility</p:attrName>
                                        </p:attrNameLst>
                                      </p:cBhvr>
                                      <p:to>
                                        <p:strVal val="visible"/>
                                      </p:to>
                                    </p:set>
                                    <p:animEffect transition="in" filter="fade">
                                      <p:cBhvr>
                                        <p:cTn id="18" dur="1000"/>
                                        <p:tgtEl>
                                          <p:spTgt spid="31"/>
                                        </p:tgtEl>
                                      </p:cBhvr>
                                    </p:animEffect>
                                    <p:anim calcmode="lin" valueType="num">
                                      <p:cBhvr>
                                        <p:cTn id="19" dur="1000" fill="hold"/>
                                        <p:tgtEl>
                                          <p:spTgt spid="31"/>
                                        </p:tgtEl>
                                        <p:attrNameLst>
                                          <p:attrName>ppt_x</p:attrName>
                                        </p:attrNameLst>
                                      </p:cBhvr>
                                      <p:tavLst>
                                        <p:tav tm="0">
                                          <p:val>
                                            <p:strVal val="#ppt_x"/>
                                          </p:val>
                                        </p:tav>
                                        <p:tav tm="100000">
                                          <p:val>
                                            <p:strVal val="#ppt_x"/>
                                          </p:val>
                                        </p:tav>
                                      </p:tavLst>
                                    </p:anim>
                                    <p:anim calcmode="lin" valueType="num">
                                      <p:cBhvr>
                                        <p:cTn id="20"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4D7C69-50D7-9232-DD40-86F5CEC09E19}"/>
              </a:ext>
            </a:extLst>
          </p:cNvPr>
          <p:cNvSpPr>
            <a:spLocks noGrp="1"/>
          </p:cNvSpPr>
          <p:nvPr>
            <p:ph type="title"/>
          </p:nvPr>
        </p:nvSpPr>
        <p:spPr>
          <a:xfrm>
            <a:off x="457200" y="0"/>
            <a:ext cx="7620000" cy="1143000"/>
          </a:xfrm>
        </p:spPr>
        <p:txBody>
          <a:bodyPr/>
          <a:lstStyle/>
          <a:p>
            <a:pPr>
              <a:defRPr/>
            </a:pPr>
            <a:r>
              <a:rPr lang="en-US" dirty="0"/>
              <a:t>Manipulating Tables Using SQL</a:t>
            </a:r>
            <a:endParaRPr lang="en-MY" dirty="0"/>
          </a:p>
        </p:txBody>
      </p:sp>
      <p:sp>
        <p:nvSpPr>
          <p:cNvPr id="23" name="Title 1">
            <a:extLst>
              <a:ext uri="{FF2B5EF4-FFF2-40B4-BE49-F238E27FC236}">
                <a16:creationId xmlns:a16="http://schemas.microsoft.com/office/drawing/2014/main" id="{17485012-62D2-5784-B59F-386759BF1F23}"/>
              </a:ext>
            </a:extLst>
          </p:cNvPr>
          <p:cNvSpPr txBox="1">
            <a:spLocks/>
          </p:cNvSpPr>
          <p:nvPr/>
        </p:nvSpPr>
        <p:spPr bwMode="auto">
          <a:xfrm>
            <a:off x="0" y="1123950"/>
            <a:ext cx="8172450" cy="323850"/>
          </a:xfrm>
          <a:prstGeom prst="rect">
            <a:avLst/>
          </a:prstGeom>
          <a:noFill/>
          <a:ln w="9525">
            <a:noFill/>
            <a:miter lim="800000"/>
            <a:headEnd/>
            <a:tailEnd/>
          </a:ln>
        </p:spPr>
        <p:txBody>
          <a:bodyPr lIns="72000" tIns="0" rIns="72000" bIns="0"/>
          <a:lstStyle/>
          <a:p>
            <a:pPr defTabSz="720000" eaLnBrk="1" hangingPunct="1">
              <a:lnSpc>
                <a:spcPts val="1800"/>
              </a:lnSpc>
              <a:spcBef>
                <a:spcPts val="0"/>
              </a:spcBef>
              <a:spcAft>
                <a:spcPts val="0"/>
              </a:spcAft>
              <a:tabLst>
                <a:tab pos="0" algn="l"/>
              </a:tabLst>
              <a:defRPr/>
            </a:pPr>
            <a:r>
              <a:rPr lang="en-CA" b="1" kern="0" dirty="0">
                <a:cs typeface="Calibri" pitchFamily="34" charset="0"/>
              </a:rPr>
              <a:t>Enforcing Data Integrity Using SQL</a:t>
            </a:r>
            <a:r>
              <a:rPr lang="en-US" b="1" kern="0" dirty="0">
                <a:cs typeface="Calibri" pitchFamily="34" charset="0"/>
              </a:rPr>
              <a:t> </a:t>
            </a:r>
            <a:endParaRPr lang="en-MY" b="1" kern="0" dirty="0">
              <a:cs typeface="Calibri" pitchFamily="34" charset="0"/>
            </a:endParaRPr>
          </a:p>
          <a:p>
            <a:pPr defTabSz="720000" eaLnBrk="1" hangingPunct="1">
              <a:lnSpc>
                <a:spcPts val="1800"/>
              </a:lnSpc>
              <a:spcBef>
                <a:spcPts val="0"/>
              </a:spcBef>
              <a:spcAft>
                <a:spcPts val="0"/>
              </a:spcAft>
              <a:tabLst>
                <a:tab pos="0" algn="l"/>
              </a:tabLst>
              <a:defRPr/>
            </a:pPr>
            <a:endParaRPr lang="en-MY" b="1" kern="0" dirty="0">
              <a:latin typeface="+mn-lt"/>
              <a:ea typeface="+mj-ea"/>
              <a:cs typeface="Calibri" pitchFamily="34" charset="0"/>
            </a:endParaRPr>
          </a:p>
        </p:txBody>
      </p:sp>
      <p:sp>
        <p:nvSpPr>
          <p:cNvPr id="13" name="Content Placeholder 2">
            <a:extLst>
              <a:ext uri="{FF2B5EF4-FFF2-40B4-BE49-F238E27FC236}">
                <a16:creationId xmlns:a16="http://schemas.microsoft.com/office/drawing/2014/main" id="{BE775EAF-253D-94A4-20D5-F3CAC70090D9}"/>
              </a:ext>
            </a:extLst>
          </p:cNvPr>
          <p:cNvSpPr txBox="1">
            <a:spLocks/>
          </p:cNvSpPr>
          <p:nvPr/>
        </p:nvSpPr>
        <p:spPr bwMode="auto">
          <a:xfrm>
            <a:off x="125413" y="2060575"/>
            <a:ext cx="8180387" cy="108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rgbClr val="FF6600"/>
              </a:buClr>
              <a:buFont typeface="Wingdings 3" panose="05040102010807070707" pitchFamily="18" charset="2"/>
              <a:buNone/>
            </a:pPr>
            <a:r>
              <a:rPr lang="en-CA" altLang="en-US" sz="2800">
                <a:latin typeface="Calibri" panose="020F0502020204030204" pitchFamily="34" charset="0"/>
              </a:rPr>
              <a:t>To set a column as a PRIMARY KEY in an existing table, </a:t>
            </a:r>
            <a:r>
              <a:rPr lang="en-US" altLang="en-US" sz="2800">
                <a:latin typeface="Calibri" panose="020F0502020204030204" pitchFamily="34" charset="0"/>
              </a:rPr>
              <a:t>the SQL syntax is:</a:t>
            </a:r>
          </a:p>
          <a:p>
            <a:pPr algn="just" eaLnBrk="1" hangingPunct="1">
              <a:spcBef>
                <a:spcPct val="20000"/>
              </a:spcBef>
              <a:buClr>
                <a:srgbClr val="FF6600"/>
              </a:buClr>
              <a:buFont typeface="Wingdings 3" panose="05040102010807070707" pitchFamily="18" charset="2"/>
              <a:buNone/>
            </a:pPr>
            <a:endParaRPr lang="en-US"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US"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US" altLang="en-US" sz="36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r>
              <a:rPr lang="en-US" altLang="en-US" sz="2800">
                <a:latin typeface="Calibri" panose="020F0502020204030204" pitchFamily="34" charset="0"/>
              </a:rPr>
              <a:t>For example, to set </a:t>
            </a:r>
            <a:r>
              <a:rPr lang="en-CA" altLang="en-US" sz="2800">
                <a:latin typeface="Calibri" panose="020F0502020204030204" pitchFamily="34" charset="0"/>
              </a:rPr>
              <a:t>“ISBN” as a PRIMARY KEY</a:t>
            </a: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p:txBody>
      </p:sp>
      <p:sp>
        <p:nvSpPr>
          <p:cNvPr id="25" name="Rounded Rectangle 24">
            <a:extLst>
              <a:ext uri="{FF2B5EF4-FFF2-40B4-BE49-F238E27FC236}">
                <a16:creationId xmlns:a16="http://schemas.microsoft.com/office/drawing/2014/main" id="{003B1954-10FE-2F2F-C082-7A0ED13F2A2E}"/>
              </a:ext>
            </a:extLst>
          </p:cNvPr>
          <p:cNvSpPr>
            <a:spLocks noChangeArrowheads="1"/>
          </p:cNvSpPr>
          <p:nvPr/>
        </p:nvSpPr>
        <p:spPr bwMode="auto">
          <a:xfrm>
            <a:off x="762000" y="2997200"/>
            <a:ext cx="7007225" cy="1368425"/>
          </a:xfrm>
          <a:prstGeom prst="roundRect">
            <a:avLst>
              <a:gd name="adj" fmla="val 16667"/>
            </a:avLst>
          </a:prstGeom>
          <a:solidFill>
            <a:srgbClr val="7F7B00">
              <a:alpha val="30196"/>
            </a:srgbClr>
          </a:solidFill>
          <a:ln w="9525" algn="ctr">
            <a:solidFill>
              <a:srgbClr val="7F7B00"/>
            </a:solidFill>
            <a:round/>
            <a:headEnd/>
            <a:tailEnd/>
          </a:ln>
        </p:spPr>
        <p:txBody>
          <a:bodyPr anchor="ctr" anchorCtr="1"/>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CA" altLang="en-US" sz="2800"/>
              <a:t>ALTER TABLE &lt;table_name&gt; ADD PRIMARY KEY(&lt;column_name&gt;, &lt;column_name&gt;…) ;</a:t>
            </a:r>
          </a:p>
        </p:txBody>
      </p:sp>
      <p:sp>
        <p:nvSpPr>
          <p:cNvPr id="26" name="Rounded Rectangle 25">
            <a:extLst>
              <a:ext uri="{FF2B5EF4-FFF2-40B4-BE49-F238E27FC236}">
                <a16:creationId xmlns:a16="http://schemas.microsoft.com/office/drawing/2014/main" id="{B6A358C4-06BC-6C7C-2ED5-15C95869D8E3}"/>
              </a:ext>
            </a:extLst>
          </p:cNvPr>
          <p:cNvSpPr/>
          <p:nvPr/>
        </p:nvSpPr>
        <p:spPr bwMode="auto">
          <a:xfrm>
            <a:off x="762000" y="5229225"/>
            <a:ext cx="7007225" cy="1079500"/>
          </a:xfrm>
          <a:prstGeom prst="roundRect">
            <a:avLst/>
          </a:prstGeom>
          <a:solidFill>
            <a:schemeClr val="accent6">
              <a:alpha val="30000"/>
            </a:schemeClr>
          </a:solidFill>
          <a:ln w="9525" cap="flat" cmpd="sng" algn="ctr">
            <a:solidFill>
              <a:schemeClr val="accent6"/>
            </a:solidFill>
            <a:prstDash val="solid"/>
            <a:round/>
            <a:headEnd type="none" w="med" len="med"/>
            <a:tailEnd type="none" w="med" len="med"/>
          </a:ln>
          <a:effectLst/>
        </p:spPr>
        <p:txBody>
          <a:bodyPr anchor="ctr" anchorCtr="1"/>
          <a:lstStyle/>
          <a:p>
            <a:pPr>
              <a:defRPr/>
            </a:pPr>
            <a:r>
              <a:rPr lang="en-CA" sz="2800" dirty="0"/>
              <a:t>ALTER TABLE Book ADD PRIMARY KEY(ISBN);</a:t>
            </a:r>
          </a:p>
        </p:txBody>
      </p:sp>
      <p:sp>
        <p:nvSpPr>
          <p:cNvPr id="15" name="Snip Single Corner Rectangle 14">
            <a:extLst>
              <a:ext uri="{FF2B5EF4-FFF2-40B4-BE49-F238E27FC236}">
                <a16:creationId xmlns:a16="http://schemas.microsoft.com/office/drawing/2014/main" id="{89B38A92-CE86-20B0-CFD1-759BDD46477C}"/>
              </a:ext>
            </a:extLst>
          </p:cNvPr>
          <p:cNvSpPr/>
          <p:nvPr/>
        </p:nvSpPr>
        <p:spPr>
          <a:xfrm>
            <a:off x="-36513" y="1371600"/>
            <a:ext cx="1800226" cy="401638"/>
          </a:xfrm>
          <a:prstGeom prst="snip1Rect">
            <a:avLst/>
          </a:prstGeom>
          <a:solidFill>
            <a:schemeClr val="accent5">
              <a:lumMod val="75000"/>
            </a:schemeClr>
          </a:solidFill>
          <a:ln>
            <a:solidFill>
              <a:schemeClr val="accent5">
                <a:lumMod val="75000"/>
              </a:schemeClr>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indent="-342900" algn="just" eaLnBrk="1" hangingPunct="1">
              <a:spcBef>
                <a:spcPct val="20000"/>
              </a:spcBef>
              <a:buClr>
                <a:srgbClr val="FF6600"/>
              </a:buClr>
              <a:buSzPct val="100000"/>
              <a:defRPr/>
            </a:pPr>
            <a:r>
              <a:rPr lang="en-GB" kern="0" dirty="0">
                <a:solidFill>
                  <a:schemeClr val="bg1"/>
                </a:solidFill>
              </a:rPr>
              <a:t>PRIMARY KEY</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wipe(left)">
                                      <p:cBhvr>
                                        <p:cTn id="7" dur="500"/>
                                        <p:tgtEl>
                                          <p:spTgt spid="13">
                                            <p:txEl>
                                              <p:pRg st="0" end="0"/>
                                            </p:txEl>
                                          </p:spTgt>
                                        </p:tgtEl>
                                      </p:cBhvr>
                                    </p:animEffect>
                                  </p:childTnLst>
                                </p:cTn>
                              </p:par>
                            </p:childTnLst>
                          </p:cTn>
                        </p:par>
                        <p:par>
                          <p:cTn id="8" fill="hold" nodeType="afterGroup">
                            <p:stCondLst>
                              <p:cond delay="500"/>
                            </p:stCondLst>
                            <p:childTnLst>
                              <p:par>
                                <p:cTn id="9" presetID="16" presetClass="entr" presetSubtype="21"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barn(inVertical)">
                                      <p:cBhvr>
                                        <p:cTn id="11" dur="500"/>
                                        <p:tgtEl>
                                          <p:spTgt spid="25"/>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3">
                                            <p:txEl>
                                              <p:pRg st="4" end="4"/>
                                            </p:txEl>
                                          </p:spTgt>
                                        </p:tgtEl>
                                        <p:attrNameLst>
                                          <p:attrName>style.visibility</p:attrName>
                                        </p:attrNameLst>
                                      </p:cBhvr>
                                      <p:to>
                                        <p:strVal val="visible"/>
                                      </p:to>
                                    </p:set>
                                    <p:animEffect transition="in" filter="wipe(left)">
                                      <p:cBhvr>
                                        <p:cTn id="16" dur="500"/>
                                        <p:tgtEl>
                                          <p:spTgt spid="13">
                                            <p:txEl>
                                              <p:pRg st="4" end="4"/>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6" presetClass="entr" presetSubtype="21" fill="hold" grpId="0" nodeType="click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barn(inVertical)">
                                      <p:cBhvr>
                                        <p:cTn id="21"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P spid="25" grpId="0" animBg="1"/>
      <p:bldP spid="26"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59461-3D18-B66B-4A4A-7384E601F739}"/>
              </a:ext>
            </a:extLst>
          </p:cNvPr>
          <p:cNvSpPr>
            <a:spLocks noGrp="1"/>
          </p:cNvSpPr>
          <p:nvPr>
            <p:ph type="title"/>
          </p:nvPr>
        </p:nvSpPr>
        <p:spPr>
          <a:xfrm>
            <a:off x="457200" y="0"/>
            <a:ext cx="7620000" cy="1143000"/>
          </a:xfrm>
        </p:spPr>
        <p:txBody>
          <a:bodyPr/>
          <a:lstStyle/>
          <a:p>
            <a:pPr>
              <a:defRPr/>
            </a:pPr>
            <a:r>
              <a:rPr lang="en-US" dirty="0"/>
              <a:t>Manipulating Tables Using SQL</a:t>
            </a:r>
            <a:endParaRPr lang="en-MY" dirty="0"/>
          </a:p>
        </p:txBody>
      </p:sp>
      <p:sp>
        <p:nvSpPr>
          <p:cNvPr id="23" name="Title 1">
            <a:extLst>
              <a:ext uri="{FF2B5EF4-FFF2-40B4-BE49-F238E27FC236}">
                <a16:creationId xmlns:a16="http://schemas.microsoft.com/office/drawing/2014/main" id="{9ACC692A-BD36-63F6-24A0-B347DA9EFD3B}"/>
              </a:ext>
            </a:extLst>
          </p:cNvPr>
          <p:cNvSpPr txBox="1">
            <a:spLocks/>
          </p:cNvSpPr>
          <p:nvPr/>
        </p:nvSpPr>
        <p:spPr bwMode="auto">
          <a:xfrm>
            <a:off x="0" y="1123950"/>
            <a:ext cx="8172450" cy="323850"/>
          </a:xfrm>
          <a:prstGeom prst="rect">
            <a:avLst/>
          </a:prstGeom>
          <a:noFill/>
          <a:ln w="9525">
            <a:noFill/>
            <a:miter lim="800000"/>
            <a:headEnd/>
            <a:tailEnd/>
          </a:ln>
        </p:spPr>
        <p:txBody>
          <a:bodyPr lIns="72000" tIns="0" rIns="72000" bIns="0"/>
          <a:lstStyle/>
          <a:p>
            <a:pPr defTabSz="720000" eaLnBrk="1" hangingPunct="1">
              <a:lnSpc>
                <a:spcPts val="1800"/>
              </a:lnSpc>
              <a:spcBef>
                <a:spcPts val="0"/>
              </a:spcBef>
              <a:spcAft>
                <a:spcPts val="0"/>
              </a:spcAft>
              <a:tabLst>
                <a:tab pos="0" algn="l"/>
              </a:tabLst>
              <a:defRPr/>
            </a:pPr>
            <a:r>
              <a:rPr lang="en-CA" b="1" kern="0" dirty="0">
                <a:cs typeface="Calibri" pitchFamily="34" charset="0"/>
              </a:rPr>
              <a:t>Enforcing Data Integrity Using SQL</a:t>
            </a:r>
            <a:r>
              <a:rPr lang="en-US" b="1" kern="0" dirty="0">
                <a:cs typeface="Calibri" pitchFamily="34" charset="0"/>
              </a:rPr>
              <a:t> </a:t>
            </a:r>
            <a:endParaRPr lang="en-MY" b="1" kern="0" dirty="0">
              <a:cs typeface="Calibri" pitchFamily="34" charset="0"/>
            </a:endParaRPr>
          </a:p>
          <a:p>
            <a:pPr defTabSz="720000" eaLnBrk="1" hangingPunct="1">
              <a:lnSpc>
                <a:spcPts val="1800"/>
              </a:lnSpc>
              <a:spcBef>
                <a:spcPts val="0"/>
              </a:spcBef>
              <a:spcAft>
                <a:spcPts val="0"/>
              </a:spcAft>
              <a:tabLst>
                <a:tab pos="0" algn="l"/>
              </a:tabLst>
              <a:defRPr/>
            </a:pPr>
            <a:endParaRPr lang="en-MY" b="1" kern="0" dirty="0">
              <a:latin typeface="+mn-lt"/>
              <a:ea typeface="+mj-ea"/>
              <a:cs typeface="Calibri" pitchFamily="34" charset="0"/>
            </a:endParaRPr>
          </a:p>
        </p:txBody>
      </p:sp>
      <p:sp>
        <p:nvSpPr>
          <p:cNvPr id="12" name="Snip Single Corner Rectangle 11">
            <a:extLst>
              <a:ext uri="{FF2B5EF4-FFF2-40B4-BE49-F238E27FC236}">
                <a16:creationId xmlns:a16="http://schemas.microsoft.com/office/drawing/2014/main" id="{5D630055-D85B-3219-6ECA-5A9BFD9C2AAA}"/>
              </a:ext>
            </a:extLst>
          </p:cNvPr>
          <p:cNvSpPr/>
          <p:nvPr/>
        </p:nvSpPr>
        <p:spPr>
          <a:xfrm>
            <a:off x="0" y="1447800"/>
            <a:ext cx="1800225" cy="401638"/>
          </a:xfrm>
          <a:prstGeom prst="snip1Rect">
            <a:avLst/>
          </a:prstGeom>
          <a:solidFill>
            <a:schemeClr val="bg2">
              <a:lumMod val="50000"/>
            </a:schemeClr>
          </a:solidFill>
          <a:ln>
            <a:solidFill>
              <a:schemeClr val="bg2">
                <a:lumMod val="50000"/>
              </a:schemeClr>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indent="-342900" algn="just" eaLnBrk="1" hangingPunct="1">
              <a:spcBef>
                <a:spcPct val="20000"/>
              </a:spcBef>
              <a:buClr>
                <a:srgbClr val="FF6600"/>
              </a:buClr>
              <a:buSzPct val="100000"/>
              <a:defRPr/>
            </a:pPr>
            <a:r>
              <a:rPr lang="en-GB" kern="0" dirty="0">
                <a:solidFill>
                  <a:schemeClr val="bg1"/>
                </a:solidFill>
              </a:rPr>
              <a:t>FOREIGN KEY</a:t>
            </a:r>
          </a:p>
        </p:txBody>
      </p:sp>
      <p:sp>
        <p:nvSpPr>
          <p:cNvPr id="13" name="Content Placeholder 2">
            <a:extLst>
              <a:ext uri="{FF2B5EF4-FFF2-40B4-BE49-F238E27FC236}">
                <a16:creationId xmlns:a16="http://schemas.microsoft.com/office/drawing/2014/main" id="{F7EB7774-9001-503F-405B-A99DFED0162B}"/>
              </a:ext>
            </a:extLst>
          </p:cNvPr>
          <p:cNvSpPr txBox="1">
            <a:spLocks/>
          </p:cNvSpPr>
          <p:nvPr/>
        </p:nvSpPr>
        <p:spPr bwMode="auto">
          <a:xfrm>
            <a:off x="125413" y="2060575"/>
            <a:ext cx="8180387" cy="108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rgbClr val="FF6600"/>
              </a:buClr>
              <a:buFont typeface="Wingdings 3" panose="05040102010807070707" pitchFamily="18" charset="2"/>
              <a:buNone/>
            </a:pPr>
            <a:r>
              <a:rPr lang="en-US" altLang="en-US" sz="2800">
                <a:latin typeface="Calibri" panose="020F0502020204030204" pitchFamily="34" charset="0"/>
              </a:rPr>
              <a:t>By declaring a column as a FOREIGN KEY, this ensures that its values will refer to an existing primary key of a related table or is set to NULL. SQL syntax is:</a:t>
            </a:r>
            <a:endParaRPr lang="en-CA"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p:txBody>
      </p:sp>
      <p:sp>
        <p:nvSpPr>
          <p:cNvPr id="20" name="Rounded Rectangle 19">
            <a:extLst>
              <a:ext uri="{FF2B5EF4-FFF2-40B4-BE49-F238E27FC236}">
                <a16:creationId xmlns:a16="http://schemas.microsoft.com/office/drawing/2014/main" id="{0BC6C41C-D6C7-BC41-0E1A-23A4BF01A428}"/>
              </a:ext>
            </a:extLst>
          </p:cNvPr>
          <p:cNvSpPr>
            <a:spLocks noChangeArrowheads="1"/>
          </p:cNvSpPr>
          <p:nvPr/>
        </p:nvSpPr>
        <p:spPr bwMode="auto">
          <a:xfrm>
            <a:off x="142875" y="3522663"/>
            <a:ext cx="8029575" cy="2462212"/>
          </a:xfrm>
          <a:prstGeom prst="roundRect">
            <a:avLst>
              <a:gd name="adj" fmla="val 16667"/>
            </a:avLst>
          </a:prstGeom>
          <a:solidFill>
            <a:srgbClr val="7F7B00">
              <a:alpha val="30196"/>
            </a:srgbClr>
          </a:solidFill>
          <a:ln w="9525" algn="ctr">
            <a:solidFill>
              <a:srgbClr val="7F7B00"/>
            </a:solidFill>
            <a:round/>
            <a:headEnd/>
            <a:tailEnd/>
          </a:ln>
        </p:spPr>
        <p:txBody>
          <a:bodyPr anchor="ctr" anchorCtr="1"/>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CA" altLang="en-US" sz="2400"/>
              <a:t>CREATE TABLE &lt;table_name&gt;</a:t>
            </a:r>
          </a:p>
          <a:p>
            <a:r>
              <a:rPr lang="en-CA" altLang="en-US" sz="2400"/>
              <a:t>(</a:t>
            </a:r>
          </a:p>
          <a:p>
            <a:r>
              <a:rPr lang="en-CA" altLang="en-US" sz="2400"/>
              <a:t>   …,</a:t>
            </a:r>
          </a:p>
          <a:p>
            <a:r>
              <a:rPr lang="en-CA" altLang="en-US" sz="2400"/>
              <a:t>   FOREIGN KEY(&lt;column_name&gt;) REFERENCES &lt;table_name&gt;(&lt;table_column_name&gt;) </a:t>
            </a:r>
          </a:p>
          <a:p>
            <a:r>
              <a:rPr lang="en-CA" altLang="en-US" sz="2400"/>
              <a:t>);</a:t>
            </a:r>
          </a:p>
        </p:txBody>
      </p:sp>
      <p:grpSp>
        <p:nvGrpSpPr>
          <p:cNvPr id="3" name="Group 13">
            <a:extLst>
              <a:ext uri="{FF2B5EF4-FFF2-40B4-BE49-F238E27FC236}">
                <a16:creationId xmlns:a16="http://schemas.microsoft.com/office/drawing/2014/main" id="{5DB3F876-C895-DE00-09EE-2F7100F9FE05}"/>
              </a:ext>
            </a:extLst>
          </p:cNvPr>
          <p:cNvGrpSpPr>
            <a:grpSpLocks/>
          </p:cNvGrpSpPr>
          <p:nvPr/>
        </p:nvGrpSpPr>
        <p:grpSpPr bwMode="auto">
          <a:xfrm>
            <a:off x="4716463" y="5157788"/>
            <a:ext cx="3095625" cy="1223962"/>
            <a:chOff x="4410995" y="1234622"/>
            <a:chExt cx="3096344" cy="1224281"/>
          </a:xfrm>
        </p:grpSpPr>
        <p:sp>
          <p:nvSpPr>
            <p:cNvPr id="15" name="Rectangle 14">
              <a:extLst>
                <a:ext uri="{FF2B5EF4-FFF2-40B4-BE49-F238E27FC236}">
                  <a16:creationId xmlns:a16="http://schemas.microsoft.com/office/drawing/2014/main" id="{DCFF25AA-C575-A97B-CEF6-151F385D5D97}"/>
                </a:ext>
              </a:extLst>
            </p:cNvPr>
            <p:cNvSpPr/>
            <p:nvPr/>
          </p:nvSpPr>
          <p:spPr bwMode="auto">
            <a:xfrm>
              <a:off x="4410995" y="1739579"/>
              <a:ext cx="3096344" cy="719324"/>
            </a:xfrm>
            <a:prstGeom prst="rect">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anchor="ctr" anchorCtr="1"/>
            <a:lstStyle/>
            <a:p>
              <a:pPr algn="ctr">
                <a:defRPr/>
              </a:pPr>
              <a:r>
                <a:rPr lang="en-CA" dirty="0">
                  <a:solidFill>
                    <a:schemeClr val="bg1"/>
                  </a:solidFill>
                  <a:latin typeface="Arial" charset="0"/>
                </a:rPr>
                <a:t>The FOREIGN KEY declaration is on its own line</a:t>
              </a:r>
            </a:p>
          </p:txBody>
        </p:sp>
        <p:cxnSp>
          <p:nvCxnSpPr>
            <p:cNvPr id="16" name="Straight Arrow Connector 15">
              <a:extLst>
                <a:ext uri="{FF2B5EF4-FFF2-40B4-BE49-F238E27FC236}">
                  <a16:creationId xmlns:a16="http://schemas.microsoft.com/office/drawing/2014/main" id="{CE6B2AD7-D83D-A039-5E43-5397B83896D4}"/>
                </a:ext>
              </a:extLst>
            </p:cNvPr>
            <p:cNvCxnSpPr>
              <a:stCxn id="15" idx="0"/>
            </p:cNvCxnSpPr>
            <p:nvPr/>
          </p:nvCxnSpPr>
          <p:spPr bwMode="auto">
            <a:xfrm flipH="1" flipV="1">
              <a:off x="5849604" y="1234622"/>
              <a:ext cx="109562" cy="504957"/>
            </a:xfrm>
            <a:prstGeom prst="straightConnector1">
              <a:avLst/>
            </a:prstGeom>
            <a:ln>
              <a:headEnd type="none" w="med" len="med"/>
              <a:tailEnd type="triangle"/>
            </a:ln>
          </p:spPr>
          <p:style>
            <a:lnRef idx="1">
              <a:schemeClr val="accent2"/>
            </a:lnRef>
            <a:fillRef idx="3">
              <a:schemeClr val="accent2"/>
            </a:fillRef>
            <a:effectRef idx="2">
              <a:schemeClr val="accent2"/>
            </a:effectRef>
            <a:fontRef idx="minor">
              <a:schemeClr val="lt1"/>
            </a:fontRef>
          </p:style>
        </p:cxnSp>
      </p:gr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left)">
                                      <p:cBhvr>
                                        <p:cTn id="11" dur="500"/>
                                        <p:tgtEl>
                                          <p:spTgt spid="13"/>
                                        </p:tgtEl>
                                      </p:cBhvr>
                                    </p:animEffect>
                                  </p:childTnLst>
                                </p:cTn>
                              </p:par>
                            </p:childTnLst>
                          </p:cTn>
                        </p:par>
                        <p:par>
                          <p:cTn id="12" fill="hold" nodeType="afterGroup">
                            <p:stCondLst>
                              <p:cond delay="1000"/>
                            </p:stCondLst>
                            <p:childTnLst>
                              <p:par>
                                <p:cTn id="13" presetID="16" presetClass="entr" presetSubtype="21" fill="hold" grpId="0" nodeType="after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barn(inVertical)">
                                      <p:cBhvr>
                                        <p:cTn id="15" dur="500"/>
                                        <p:tgtEl>
                                          <p:spTgt spid="20"/>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 presetClass="entr" presetSubtype="2" fill="hold" nodeType="clickEffect">
                                  <p:stCondLst>
                                    <p:cond delay="0"/>
                                  </p:stCondLst>
                                  <p:childTnLst>
                                    <p:set>
                                      <p:cBhvr>
                                        <p:cTn id="19" dur="1" fill="hold">
                                          <p:stCondLst>
                                            <p:cond delay="0"/>
                                          </p:stCondLst>
                                        </p:cTn>
                                        <p:tgtEl>
                                          <p:spTgt spid="3"/>
                                        </p:tgtEl>
                                        <p:attrNameLst>
                                          <p:attrName>style.visibility</p:attrName>
                                        </p:attrNameLst>
                                      </p:cBhvr>
                                      <p:to>
                                        <p:strVal val="visible"/>
                                      </p:to>
                                    </p:set>
                                    <p:anim calcmode="lin" valueType="num">
                                      <p:cBhvr additive="base">
                                        <p:cTn id="20" dur="500" fill="hold"/>
                                        <p:tgtEl>
                                          <p:spTgt spid="3"/>
                                        </p:tgtEl>
                                        <p:attrNameLst>
                                          <p:attrName>ppt_x</p:attrName>
                                        </p:attrNameLst>
                                      </p:cBhvr>
                                      <p:tavLst>
                                        <p:tav tm="0">
                                          <p:val>
                                            <p:strVal val="1+#ppt_w/2"/>
                                          </p:val>
                                        </p:tav>
                                        <p:tav tm="100000">
                                          <p:val>
                                            <p:strVal val="#ppt_x"/>
                                          </p:val>
                                        </p:tav>
                                      </p:tavLst>
                                    </p:anim>
                                    <p:anim calcmode="lin" valueType="num">
                                      <p:cBhvr additive="base">
                                        <p:cTn id="21"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p:bldP spid="20"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1B458F-3629-CBA4-1A88-EFE67D6446DB}"/>
              </a:ext>
            </a:extLst>
          </p:cNvPr>
          <p:cNvSpPr>
            <a:spLocks noGrp="1"/>
          </p:cNvSpPr>
          <p:nvPr>
            <p:ph type="title"/>
          </p:nvPr>
        </p:nvSpPr>
        <p:spPr>
          <a:xfrm>
            <a:off x="457200" y="0"/>
            <a:ext cx="7620000" cy="1143000"/>
          </a:xfrm>
        </p:spPr>
        <p:txBody>
          <a:bodyPr/>
          <a:lstStyle/>
          <a:p>
            <a:pPr>
              <a:defRPr/>
            </a:pPr>
            <a:r>
              <a:rPr lang="en-US" dirty="0"/>
              <a:t>Manipulating Tables Using SQL</a:t>
            </a:r>
            <a:endParaRPr lang="en-MY" dirty="0"/>
          </a:p>
        </p:txBody>
      </p:sp>
      <p:sp>
        <p:nvSpPr>
          <p:cNvPr id="23" name="Title 1">
            <a:extLst>
              <a:ext uri="{FF2B5EF4-FFF2-40B4-BE49-F238E27FC236}">
                <a16:creationId xmlns:a16="http://schemas.microsoft.com/office/drawing/2014/main" id="{C0687FB5-6FEA-9076-EABA-D88EF53109EC}"/>
              </a:ext>
            </a:extLst>
          </p:cNvPr>
          <p:cNvSpPr txBox="1">
            <a:spLocks/>
          </p:cNvSpPr>
          <p:nvPr/>
        </p:nvSpPr>
        <p:spPr bwMode="auto">
          <a:xfrm>
            <a:off x="0" y="1123950"/>
            <a:ext cx="8172450" cy="323850"/>
          </a:xfrm>
          <a:prstGeom prst="rect">
            <a:avLst/>
          </a:prstGeom>
          <a:noFill/>
          <a:ln w="9525">
            <a:noFill/>
            <a:miter lim="800000"/>
            <a:headEnd/>
            <a:tailEnd/>
          </a:ln>
        </p:spPr>
        <p:txBody>
          <a:bodyPr lIns="72000" tIns="0" rIns="72000" bIns="0"/>
          <a:lstStyle/>
          <a:p>
            <a:pPr defTabSz="720000" eaLnBrk="1" hangingPunct="1">
              <a:lnSpc>
                <a:spcPts val="1800"/>
              </a:lnSpc>
              <a:spcBef>
                <a:spcPts val="0"/>
              </a:spcBef>
              <a:spcAft>
                <a:spcPts val="0"/>
              </a:spcAft>
              <a:tabLst>
                <a:tab pos="0" algn="l"/>
              </a:tabLst>
              <a:defRPr/>
            </a:pPr>
            <a:r>
              <a:rPr lang="en-CA" b="1" kern="0" dirty="0">
                <a:cs typeface="Calibri" pitchFamily="34" charset="0"/>
              </a:rPr>
              <a:t>Enforcing Data Integrity Using SQL</a:t>
            </a:r>
            <a:r>
              <a:rPr lang="en-US" b="1" kern="0" dirty="0">
                <a:cs typeface="Calibri" pitchFamily="34" charset="0"/>
              </a:rPr>
              <a:t> </a:t>
            </a:r>
            <a:endParaRPr lang="en-MY" b="1" kern="0" dirty="0">
              <a:cs typeface="Calibri" pitchFamily="34" charset="0"/>
            </a:endParaRPr>
          </a:p>
          <a:p>
            <a:pPr defTabSz="720000" eaLnBrk="1" hangingPunct="1">
              <a:lnSpc>
                <a:spcPts val="1800"/>
              </a:lnSpc>
              <a:spcBef>
                <a:spcPts val="0"/>
              </a:spcBef>
              <a:spcAft>
                <a:spcPts val="0"/>
              </a:spcAft>
              <a:tabLst>
                <a:tab pos="0" algn="l"/>
              </a:tabLst>
              <a:defRPr/>
            </a:pPr>
            <a:endParaRPr lang="en-MY" b="1" kern="0" dirty="0">
              <a:latin typeface="+mn-lt"/>
              <a:ea typeface="+mj-ea"/>
              <a:cs typeface="Calibri" pitchFamily="34" charset="0"/>
            </a:endParaRPr>
          </a:p>
        </p:txBody>
      </p:sp>
      <p:sp>
        <p:nvSpPr>
          <p:cNvPr id="13" name="Content Placeholder 2">
            <a:extLst>
              <a:ext uri="{FF2B5EF4-FFF2-40B4-BE49-F238E27FC236}">
                <a16:creationId xmlns:a16="http://schemas.microsoft.com/office/drawing/2014/main" id="{B26F19FC-A50E-3DD4-A456-3D33F834F611}"/>
              </a:ext>
            </a:extLst>
          </p:cNvPr>
          <p:cNvSpPr txBox="1">
            <a:spLocks/>
          </p:cNvSpPr>
          <p:nvPr/>
        </p:nvSpPr>
        <p:spPr bwMode="auto">
          <a:xfrm>
            <a:off x="125413" y="2060575"/>
            <a:ext cx="8047037" cy="108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rgbClr val="FF6600"/>
              </a:buClr>
              <a:buFont typeface="Wingdings 3" panose="05040102010807070707" pitchFamily="18" charset="2"/>
              <a:buNone/>
            </a:pPr>
            <a:r>
              <a:rPr lang="en-CA" altLang="en-US" sz="2800">
                <a:latin typeface="Calibri" panose="020F0502020204030204" pitchFamily="34" charset="0"/>
              </a:rPr>
              <a:t>For example, suppose there are two tables: “Book” table and “Author” table</a:t>
            </a: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p:txBody>
      </p:sp>
      <p:sp>
        <p:nvSpPr>
          <p:cNvPr id="28" name="Rounded Rectangle 27">
            <a:extLst>
              <a:ext uri="{FF2B5EF4-FFF2-40B4-BE49-F238E27FC236}">
                <a16:creationId xmlns:a16="http://schemas.microsoft.com/office/drawing/2014/main" id="{8F05FDA4-E98E-CCC8-62F9-6B105DFF16A5}"/>
              </a:ext>
            </a:extLst>
          </p:cNvPr>
          <p:cNvSpPr/>
          <p:nvPr/>
        </p:nvSpPr>
        <p:spPr bwMode="auto">
          <a:xfrm>
            <a:off x="174625" y="3068638"/>
            <a:ext cx="4249738" cy="3240087"/>
          </a:xfrm>
          <a:prstGeom prst="roundRect">
            <a:avLst/>
          </a:prstGeom>
          <a:solidFill>
            <a:schemeClr val="accent6">
              <a:alpha val="30000"/>
            </a:schemeClr>
          </a:solidFill>
          <a:ln w="9525" cap="flat" cmpd="sng" algn="ctr">
            <a:solidFill>
              <a:schemeClr val="accent6"/>
            </a:solidFill>
            <a:prstDash val="solid"/>
            <a:round/>
            <a:headEnd type="none" w="med" len="med"/>
            <a:tailEnd type="none" w="med" len="med"/>
          </a:ln>
          <a:effectLst/>
        </p:spPr>
        <p:txBody>
          <a:bodyPr anchor="ctr" anchorCtr="1"/>
          <a:lstStyle/>
          <a:p>
            <a:pPr>
              <a:defRPr/>
            </a:pPr>
            <a:r>
              <a:rPr lang="en-CA" sz="2400" dirty="0"/>
              <a:t>CREATE TABLE Book</a:t>
            </a:r>
          </a:p>
          <a:p>
            <a:pPr>
              <a:defRPr/>
            </a:pPr>
            <a:r>
              <a:rPr lang="en-CA" sz="2400" dirty="0"/>
              <a:t>(</a:t>
            </a:r>
          </a:p>
          <a:p>
            <a:pPr>
              <a:defRPr/>
            </a:pPr>
            <a:r>
              <a:rPr lang="en-CA" sz="2400" dirty="0"/>
              <a:t>   ISBN INT PRIMARY KEY,</a:t>
            </a:r>
          </a:p>
          <a:p>
            <a:pPr>
              <a:defRPr/>
            </a:pPr>
            <a:r>
              <a:rPr lang="en-CA" sz="2400" dirty="0"/>
              <a:t>   Title VARCHAR(100),</a:t>
            </a:r>
          </a:p>
          <a:p>
            <a:pPr>
              <a:defRPr/>
            </a:pPr>
            <a:r>
              <a:rPr lang="en-CA" sz="2400" dirty="0"/>
              <a:t>   </a:t>
            </a:r>
            <a:r>
              <a:rPr lang="en-CA" sz="2400" dirty="0" err="1"/>
              <a:t>AuthorId</a:t>
            </a:r>
            <a:r>
              <a:rPr lang="en-CA" sz="2400" dirty="0"/>
              <a:t> INT,</a:t>
            </a:r>
          </a:p>
          <a:p>
            <a:pPr>
              <a:defRPr/>
            </a:pPr>
            <a:r>
              <a:rPr lang="en-CA" sz="2400" dirty="0"/>
              <a:t>   FOREIGN KEY(</a:t>
            </a:r>
            <a:r>
              <a:rPr lang="en-CA" sz="2400" dirty="0" err="1"/>
              <a:t>AuthorId</a:t>
            </a:r>
            <a:r>
              <a:rPr lang="en-CA" sz="2400" dirty="0"/>
              <a:t>) REFERENCES Author(Id)</a:t>
            </a:r>
          </a:p>
          <a:p>
            <a:pPr>
              <a:defRPr/>
            </a:pPr>
            <a:r>
              <a:rPr lang="en-CA" sz="2400" dirty="0"/>
              <a:t>);</a:t>
            </a:r>
          </a:p>
        </p:txBody>
      </p:sp>
      <p:sp>
        <p:nvSpPr>
          <p:cNvPr id="16" name="Rounded Rectangle 15">
            <a:extLst>
              <a:ext uri="{FF2B5EF4-FFF2-40B4-BE49-F238E27FC236}">
                <a16:creationId xmlns:a16="http://schemas.microsoft.com/office/drawing/2014/main" id="{480F817B-71D3-37AA-8F11-B75491E2AFE1}"/>
              </a:ext>
            </a:extLst>
          </p:cNvPr>
          <p:cNvSpPr/>
          <p:nvPr/>
        </p:nvSpPr>
        <p:spPr bwMode="auto">
          <a:xfrm>
            <a:off x="4567238" y="3068638"/>
            <a:ext cx="3738562" cy="2160587"/>
          </a:xfrm>
          <a:prstGeom prst="roundRect">
            <a:avLst/>
          </a:prstGeom>
          <a:solidFill>
            <a:schemeClr val="accent3">
              <a:alpha val="30000"/>
            </a:schemeClr>
          </a:solidFill>
          <a:ln w="9525" cap="flat" cmpd="sng" algn="ctr">
            <a:solidFill>
              <a:schemeClr val="accent3"/>
            </a:solidFill>
            <a:prstDash val="solid"/>
            <a:round/>
            <a:headEnd type="none" w="med" len="med"/>
            <a:tailEnd type="none" w="med" len="med"/>
          </a:ln>
          <a:effectLst/>
        </p:spPr>
        <p:txBody>
          <a:bodyPr anchor="ctr" anchorCtr="1"/>
          <a:lstStyle/>
          <a:p>
            <a:pPr>
              <a:defRPr/>
            </a:pPr>
            <a:r>
              <a:rPr lang="en-CA" sz="2400" dirty="0"/>
              <a:t>CREATE TABLE Author</a:t>
            </a:r>
          </a:p>
          <a:p>
            <a:pPr>
              <a:defRPr/>
            </a:pPr>
            <a:r>
              <a:rPr lang="en-CA" sz="2400" dirty="0"/>
              <a:t>(</a:t>
            </a:r>
          </a:p>
          <a:p>
            <a:pPr>
              <a:defRPr/>
            </a:pPr>
            <a:r>
              <a:rPr lang="en-CA" sz="2400" dirty="0"/>
              <a:t>   Id INT PRIMARY KEY,</a:t>
            </a:r>
          </a:p>
          <a:p>
            <a:pPr>
              <a:defRPr/>
            </a:pPr>
            <a:r>
              <a:rPr lang="en-CA" sz="2400" dirty="0"/>
              <a:t>   Name VARCHAR(50)</a:t>
            </a:r>
          </a:p>
          <a:p>
            <a:pPr>
              <a:defRPr/>
            </a:pPr>
            <a:r>
              <a:rPr lang="en-CA" sz="2400" dirty="0"/>
              <a:t>);</a:t>
            </a:r>
          </a:p>
        </p:txBody>
      </p:sp>
      <p:grpSp>
        <p:nvGrpSpPr>
          <p:cNvPr id="3" name="Group 19">
            <a:extLst>
              <a:ext uri="{FF2B5EF4-FFF2-40B4-BE49-F238E27FC236}">
                <a16:creationId xmlns:a16="http://schemas.microsoft.com/office/drawing/2014/main" id="{F4139143-7B9E-C447-FB4A-BBD9BCED32E2}"/>
              </a:ext>
            </a:extLst>
          </p:cNvPr>
          <p:cNvGrpSpPr>
            <a:grpSpLocks/>
          </p:cNvGrpSpPr>
          <p:nvPr/>
        </p:nvGrpSpPr>
        <p:grpSpPr bwMode="auto">
          <a:xfrm>
            <a:off x="4010025" y="5229225"/>
            <a:ext cx="3395663" cy="1111250"/>
            <a:chOff x="5547921" y="1266353"/>
            <a:chExt cx="3168708" cy="1886161"/>
          </a:xfrm>
        </p:grpSpPr>
        <p:sp>
          <p:nvSpPr>
            <p:cNvPr id="29" name="Rectangle 28">
              <a:extLst>
                <a:ext uri="{FF2B5EF4-FFF2-40B4-BE49-F238E27FC236}">
                  <a16:creationId xmlns:a16="http://schemas.microsoft.com/office/drawing/2014/main" id="{F5BDA3E6-0B64-ADD7-52A8-2A3FA27F95FA}"/>
                </a:ext>
              </a:extLst>
            </p:cNvPr>
            <p:cNvSpPr/>
            <p:nvPr/>
          </p:nvSpPr>
          <p:spPr bwMode="auto">
            <a:xfrm>
              <a:off x="6067892" y="1266353"/>
              <a:ext cx="2648737" cy="1886161"/>
            </a:xfrm>
            <a:prstGeom prst="rect">
              <a:avLst/>
            </a:prstGeom>
            <a:ln>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nchorCtr="1"/>
            <a:lstStyle/>
            <a:p>
              <a:pPr algn="ctr">
                <a:defRPr/>
              </a:pPr>
              <a:r>
                <a:rPr lang="en-CA" dirty="0"/>
                <a:t>“</a:t>
              </a:r>
              <a:r>
                <a:rPr lang="en-CA" dirty="0" err="1"/>
                <a:t>AuthorId</a:t>
              </a:r>
              <a:r>
                <a:rPr lang="en-CA" dirty="0"/>
                <a:t>” is a foreign key that points to the “Author” table’s “Id” column</a:t>
              </a:r>
              <a:endParaRPr lang="en-CA" dirty="0">
                <a:solidFill>
                  <a:schemeClr val="tx1"/>
                </a:solidFill>
                <a:latin typeface="Arial" charset="0"/>
              </a:endParaRPr>
            </a:p>
          </p:txBody>
        </p:sp>
        <p:cxnSp>
          <p:nvCxnSpPr>
            <p:cNvPr id="30" name="Straight Arrow Connector 29">
              <a:extLst>
                <a:ext uri="{FF2B5EF4-FFF2-40B4-BE49-F238E27FC236}">
                  <a16:creationId xmlns:a16="http://schemas.microsoft.com/office/drawing/2014/main" id="{21BDBCDD-5EF4-3EEA-A9AF-1D7CEA910A85}"/>
                </a:ext>
              </a:extLst>
            </p:cNvPr>
            <p:cNvCxnSpPr>
              <a:stCxn id="29" idx="1"/>
            </p:cNvCxnSpPr>
            <p:nvPr/>
          </p:nvCxnSpPr>
          <p:spPr bwMode="auto">
            <a:xfrm flipH="1" flipV="1">
              <a:off x="5547921" y="1694782"/>
              <a:ext cx="519971" cy="514652"/>
            </a:xfrm>
            <a:prstGeom prst="straightConnector1">
              <a:avLst/>
            </a:prstGeom>
            <a:ln>
              <a:headEnd type="none" w="med" len="med"/>
              <a:tailEnd type="triangle"/>
            </a:ln>
          </p:spPr>
          <p:style>
            <a:lnRef idx="1">
              <a:schemeClr val="accent1"/>
            </a:lnRef>
            <a:fillRef idx="3">
              <a:schemeClr val="accent1"/>
            </a:fillRef>
            <a:effectRef idx="2">
              <a:schemeClr val="accent1"/>
            </a:effectRef>
            <a:fontRef idx="minor">
              <a:schemeClr val="lt1"/>
            </a:fontRef>
          </p:style>
        </p:cxnSp>
      </p:grpSp>
      <p:sp>
        <p:nvSpPr>
          <p:cNvPr id="21" name="Snip Single Corner Rectangle 20">
            <a:extLst>
              <a:ext uri="{FF2B5EF4-FFF2-40B4-BE49-F238E27FC236}">
                <a16:creationId xmlns:a16="http://schemas.microsoft.com/office/drawing/2014/main" id="{77A3188C-8596-D737-4CD1-7E414603C150}"/>
              </a:ext>
            </a:extLst>
          </p:cNvPr>
          <p:cNvSpPr/>
          <p:nvPr/>
        </p:nvSpPr>
        <p:spPr>
          <a:xfrm>
            <a:off x="-36513" y="1371600"/>
            <a:ext cx="1800226" cy="401638"/>
          </a:xfrm>
          <a:prstGeom prst="snip1Rect">
            <a:avLst/>
          </a:prstGeom>
          <a:solidFill>
            <a:schemeClr val="bg2">
              <a:lumMod val="50000"/>
            </a:schemeClr>
          </a:solidFill>
          <a:ln>
            <a:solidFill>
              <a:schemeClr val="bg2">
                <a:lumMod val="50000"/>
              </a:schemeClr>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indent="-342900" algn="just" eaLnBrk="1" hangingPunct="1">
              <a:spcBef>
                <a:spcPct val="20000"/>
              </a:spcBef>
              <a:buClr>
                <a:srgbClr val="FF6600"/>
              </a:buClr>
              <a:buSzPct val="100000"/>
              <a:defRPr/>
            </a:pPr>
            <a:r>
              <a:rPr lang="en-GB" kern="0" dirty="0">
                <a:solidFill>
                  <a:schemeClr val="bg1"/>
                </a:solidFill>
              </a:rPr>
              <a:t>FOREIGN KEY</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wipe(left)">
                                      <p:cBhvr>
                                        <p:cTn id="7" dur="500"/>
                                        <p:tgtEl>
                                          <p:spTgt spid="13">
                                            <p:txEl>
                                              <p:pRg st="0" end="0"/>
                                            </p:txEl>
                                          </p:spTgt>
                                        </p:tgtEl>
                                      </p:cBhvr>
                                    </p:animEffect>
                                  </p:childTnLst>
                                </p:cTn>
                              </p:par>
                            </p:childTnLst>
                          </p:cTn>
                        </p:par>
                        <p:par>
                          <p:cTn id="8" fill="hold" nodeType="afterGroup">
                            <p:stCondLst>
                              <p:cond delay="500"/>
                            </p:stCondLst>
                            <p:childTnLst>
                              <p:par>
                                <p:cTn id="9" presetID="16" presetClass="entr" presetSubtype="21" fill="hold" grpId="0" nodeType="after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barn(inVertical)">
                                      <p:cBhvr>
                                        <p:cTn id="11" dur="500"/>
                                        <p:tgtEl>
                                          <p:spTgt spid="28"/>
                                        </p:tgtEl>
                                      </p:cBhvr>
                                    </p:animEffect>
                                  </p:childTnLst>
                                </p:cTn>
                              </p:par>
                            </p:childTnLst>
                          </p:cTn>
                        </p:par>
                        <p:par>
                          <p:cTn id="12" fill="hold" nodeType="afterGroup">
                            <p:stCondLst>
                              <p:cond delay="1000"/>
                            </p:stCondLst>
                            <p:childTnLst>
                              <p:par>
                                <p:cTn id="13" presetID="16" presetClass="entr" presetSubtype="21" fill="hold" grpId="0" nodeType="after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barn(inVertical)">
                                      <p:cBhvr>
                                        <p:cTn id="15" dur="500"/>
                                        <p:tgtEl>
                                          <p:spTgt spid="16"/>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 presetClass="entr" presetSubtype="2" fill="hold" nodeType="clickEffect">
                                  <p:stCondLst>
                                    <p:cond delay="0"/>
                                  </p:stCondLst>
                                  <p:childTnLst>
                                    <p:set>
                                      <p:cBhvr>
                                        <p:cTn id="19" dur="1" fill="hold">
                                          <p:stCondLst>
                                            <p:cond delay="0"/>
                                          </p:stCondLst>
                                        </p:cTn>
                                        <p:tgtEl>
                                          <p:spTgt spid="3"/>
                                        </p:tgtEl>
                                        <p:attrNameLst>
                                          <p:attrName>style.visibility</p:attrName>
                                        </p:attrNameLst>
                                      </p:cBhvr>
                                      <p:to>
                                        <p:strVal val="visible"/>
                                      </p:to>
                                    </p:set>
                                    <p:anim calcmode="lin" valueType="num">
                                      <p:cBhvr additive="base">
                                        <p:cTn id="20" dur="500" fill="hold"/>
                                        <p:tgtEl>
                                          <p:spTgt spid="3"/>
                                        </p:tgtEl>
                                        <p:attrNameLst>
                                          <p:attrName>ppt_x</p:attrName>
                                        </p:attrNameLst>
                                      </p:cBhvr>
                                      <p:tavLst>
                                        <p:tav tm="0">
                                          <p:val>
                                            <p:strVal val="1+#ppt_w/2"/>
                                          </p:val>
                                        </p:tav>
                                        <p:tav tm="100000">
                                          <p:val>
                                            <p:strVal val="#ppt_x"/>
                                          </p:val>
                                        </p:tav>
                                      </p:tavLst>
                                    </p:anim>
                                    <p:anim calcmode="lin" valueType="num">
                                      <p:cBhvr additive="base">
                                        <p:cTn id="21"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16"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7D65F7-BE1E-3736-D25D-893838E75970}"/>
              </a:ext>
            </a:extLst>
          </p:cNvPr>
          <p:cNvSpPr>
            <a:spLocks noGrp="1"/>
          </p:cNvSpPr>
          <p:nvPr>
            <p:ph type="title"/>
          </p:nvPr>
        </p:nvSpPr>
        <p:spPr>
          <a:xfrm>
            <a:off x="457200" y="0"/>
            <a:ext cx="7620000" cy="1143000"/>
          </a:xfrm>
        </p:spPr>
        <p:txBody>
          <a:bodyPr/>
          <a:lstStyle/>
          <a:p>
            <a:pPr>
              <a:defRPr/>
            </a:pPr>
            <a:r>
              <a:rPr lang="en-US" dirty="0"/>
              <a:t>Manipulating Tables Using SQL</a:t>
            </a:r>
            <a:endParaRPr lang="en-MY" dirty="0"/>
          </a:p>
        </p:txBody>
      </p:sp>
      <p:sp>
        <p:nvSpPr>
          <p:cNvPr id="23" name="Title 1">
            <a:extLst>
              <a:ext uri="{FF2B5EF4-FFF2-40B4-BE49-F238E27FC236}">
                <a16:creationId xmlns:a16="http://schemas.microsoft.com/office/drawing/2014/main" id="{7048DFDE-4DC0-F0CD-F72B-79E954498D05}"/>
              </a:ext>
            </a:extLst>
          </p:cNvPr>
          <p:cNvSpPr txBox="1">
            <a:spLocks/>
          </p:cNvSpPr>
          <p:nvPr/>
        </p:nvSpPr>
        <p:spPr bwMode="auto">
          <a:xfrm>
            <a:off x="0" y="1123950"/>
            <a:ext cx="8172450" cy="323850"/>
          </a:xfrm>
          <a:prstGeom prst="rect">
            <a:avLst/>
          </a:prstGeom>
          <a:noFill/>
          <a:ln w="9525">
            <a:noFill/>
            <a:miter lim="800000"/>
            <a:headEnd/>
            <a:tailEnd/>
          </a:ln>
        </p:spPr>
        <p:txBody>
          <a:bodyPr lIns="72000" tIns="0" rIns="72000" bIns="0"/>
          <a:lstStyle/>
          <a:p>
            <a:pPr defTabSz="720000" eaLnBrk="1" hangingPunct="1">
              <a:lnSpc>
                <a:spcPts val="1800"/>
              </a:lnSpc>
              <a:spcBef>
                <a:spcPts val="0"/>
              </a:spcBef>
              <a:spcAft>
                <a:spcPts val="0"/>
              </a:spcAft>
              <a:tabLst>
                <a:tab pos="0" algn="l"/>
              </a:tabLst>
              <a:defRPr/>
            </a:pPr>
            <a:r>
              <a:rPr lang="en-CA" b="1" kern="0" dirty="0">
                <a:cs typeface="Calibri" pitchFamily="34" charset="0"/>
              </a:rPr>
              <a:t>Enforcing Data Integrity Using SQL</a:t>
            </a:r>
            <a:r>
              <a:rPr lang="en-US" b="1" kern="0" dirty="0">
                <a:cs typeface="Calibri" pitchFamily="34" charset="0"/>
              </a:rPr>
              <a:t> </a:t>
            </a:r>
            <a:endParaRPr lang="en-MY" b="1" kern="0" dirty="0">
              <a:cs typeface="Calibri" pitchFamily="34" charset="0"/>
            </a:endParaRPr>
          </a:p>
          <a:p>
            <a:pPr defTabSz="720000" eaLnBrk="1" hangingPunct="1">
              <a:lnSpc>
                <a:spcPts val="1800"/>
              </a:lnSpc>
              <a:spcBef>
                <a:spcPts val="0"/>
              </a:spcBef>
              <a:spcAft>
                <a:spcPts val="0"/>
              </a:spcAft>
              <a:tabLst>
                <a:tab pos="0" algn="l"/>
              </a:tabLst>
              <a:defRPr/>
            </a:pPr>
            <a:endParaRPr lang="en-MY" b="1" kern="0" dirty="0">
              <a:latin typeface="+mn-lt"/>
              <a:ea typeface="+mj-ea"/>
              <a:cs typeface="Calibri" pitchFamily="34" charset="0"/>
            </a:endParaRPr>
          </a:p>
        </p:txBody>
      </p:sp>
      <p:sp>
        <p:nvSpPr>
          <p:cNvPr id="13" name="Content Placeholder 2">
            <a:extLst>
              <a:ext uri="{FF2B5EF4-FFF2-40B4-BE49-F238E27FC236}">
                <a16:creationId xmlns:a16="http://schemas.microsoft.com/office/drawing/2014/main" id="{42DFD88A-BCE8-000C-1E9F-B6BFB2AD49AB}"/>
              </a:ext>
            </a:extLst>
          </p:cNvPr>
          <p:cNvSpPr txBox="1">
            <a:spLocks/>
          </p:cNvSpPr>
          <p:nvPr/>
        </p:nvSpPr>
        <p:spPr bwMode="auto">
          <a:xfrm>
            <a:off x="125413" y="2060575"/>
            <a:ext cx="8893175" cy="108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rgbClr val="FF6600"/>
              </a:buClr>
              <a:buFont typeface="Wingdings 3" panose="05040102010807070707" pitchFamily="18" charset="2"/>
              <a:buNone/>
            </a:pPr>
            <a:r>
              <a:rPr lang="en-CA" altLang="en-US" sz="2800">
                <a:latin typeface="Calibri" panose="020F0502020204030204" pitchFamily="34" charset="0"/>
              </a:rPr>
              <a:t>Which of the SQL statements should be executed first?</a:t>
            </a:r>
          </a:p>
          <a:p>
            <a:pPr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p:txBody>
      </p:sp>
      <p:sp>
        <p:nvSpPr>
          <p:cNvPr id="21" name="Snip Single Corner Rectangle 20">
            <a:extLst>
              <a:ext uri="{FF2B5EF4-FFF2-40B4-BE49-F238E27FC236}">
                <a16:creationId xmlns:a16="http://schemas.microsoft.com/office/drawing/2014/main" id="{D650AF02-6F40-3EE8-5BA0-69A57E67AAFE}"/>
              </a:ext>
            </a:extLst>
          </p:cNvPr>
          <p:cNvSpPr/>
          <p:nvPr/>
        </p:nvSpPr>
        <p:spPr>
          <a:xfrm>
            <a:off x="-36513" y="1371600"/>
            <a:ext cx="1800226" cy="401638"/>
          </a:xfrm>
          <a:prstGeom prst="snip1Rect">
            <a:avLst/>
          </a:prstGeom>
          <a:solidFill>
            <a:schemeClr val="bg2">
              <a:lumMod val="50000"/>
            </a:schemeClr>
          </a:solidFill>
          <a:ln>
            <a:solidFill>
              <a:schemeClr val="bg2">
                <a:lumMod val="50000"/>
              </a:schemeClr>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indent="-342900" algn="just" eaLnBrk="1" hangingPunct="1">
              <a:spcBef>
                <a:spcPct val="20000"/>
              </a:spcBef>
              <a:buClr>
                <a:srgbClr val="FF6600"/>
              </a:buClr>
              <a:buSzPct val="100000"/>
              <a:defRPr/>
            </a:pPr>
            <a:r>
              <a:rPr lang="en-GB" kern="0" dirty="0">
                <a:solidFill>
                  <a:schemeClr val="bg1"/>
                </a:solidFill>
              </a:rPr>
              <a:t>FOREIGN KEY</a:t>
            </a:r>
          </a:p>
        </p:txBody>
      </p:sp>
      <p:sp>
        <p:nvSpPr>
          <p:cNvPr id="32" name="Rounded Rectangle 31">
            <a:extLst>
              <a:ext uri="{FF2B5EF4-FFF2-40B4-BE49-F238E27FC236}">
                <a16:creationId xmlns:a16="http://schemas.microsoft.com/office/drawing/2014/main" id="{4BAB7168-8261-5838-38D9-3525B4052A30}"/>
              </a:ext>
            </a:extLst>
          </p:cNvPr>
          <p:cNvSpPr/>
          <p:nvPr/>
        </p:nvSpPr>
        <p:spPr bwMode="auto">
          <a:xfrm>
            <a:off x="152400" y="2708275"/>
            <a:ext cx="4248150" cy="3241675"/>
          </a:xfrm>
          <a:prstGeom prst="roundRect">
            <a:avLst/>
          </a:prstGeom>
          <a:solidFill>
            <a:schemeClr val="accent6">
              <a:alpha val="30000"/>
            </a:schemeClr>
          </a:solidFill>
          <a:ln w="9525" cap="flat" cmpd="sng" algn="ctr">
            <a:solidFill>
              <a:schemeClr val="accent6"/>
            </a:solidFill>
            <a:prstDash val="solid"/>
            <a:round/>
            <a:headEnd type="none" w="med" len="med"/>
            <a:tailEnd type="none" w="med" len="med"/>
          </a:ln>
          <a:effectLst/>
        </p:spPr>
        <p:txBody>
          <a:bodyPr anchor="ctr" anchorCtr="1"/>
          <a:lstStyle/>
          <a:p>
            <a:pPr>
              <a:defRPr/>
            </a:pPr>
            <a:r>
              <a:rPr lang="en-CA" sz="2400" dirty="0"/>
              <a:t>CREATE TABLE Book</a:t>
            </a:r>
          </a:p>
          <a:p>
            <a:pPr>
              <a:defRPr/>
            </a:pPr>
            <a:r>
              <a:rPr lang="en-CA" sz="2400" dirty="0"/>
              <a:t>(</a:t>
            </a:r>
          </a:p>
          <a:p>
            <a:pPr>
              <a:defRPr/>
            </a:pPr>
            <a:r>
              <a:rPr lang="en-CA" sz="2400" dirty="0"/>
              <a:t>   ISBN INT PRIMARY KEY,</a:t>
            </a:r>
          </a:p>
          <a:p>
            <a:pPr>
              <a:defRPr/>
            </a:pPr>
            <a:r>
              <a:rPr lang="en-CA" sz="2400" dirty="0"/>
              <a:t>   Title VARCHAR(100),</a:t>
            </a:r>
          </a:p>
          <a:p>
            <a:pPr>
              <a:defRPr/>
            </a:pPr>
            <a:r>
              <a:rPr lang="en-CA" sz="2400" dirty="0"/>
              <a:t>   </a:t>
            </a:r>
            <a:r>
              <a:rPr lang="en-CA" sz="2400" dirty="0" err="1"/>
              <a:t>AuthorId</a:t>
            </a:r>
            <a:r>
              <a:rPr lang="en-CA" sz="2400" dirty="0"/>
              <a:t> INT,</a:t>
            </a:r>
          </a:p>
          <a:p>
            <a:pPr>
              <a:defRPr/>
            </a:pPr>
            <a:r>
              <a:rPr lang="en-CA" sz="2400" dirty="0"/>
              <a:t>   FOREIGN KEY(</a:t>
            </a:r>
            <a:r>
              <a:rPr lang="en-CA" sz="2400" dirty="0" err="1"/>
              <a:t>AuthorId</a:t>
            </a:r>
            <a:r>
              <a:rPr lang="en-CA" sz="2400" dirty="0"/>
              <a:t>) REFERENCES Author(Id)</a:t>
            </a:r>
          </a:p>
          <a:p>
            <a:pPr>
              <a:defRPr/>
            </a:pPr>
            <a:r>
              <a:rPr lang="en-CA" sz="2400" dirty="0"/>
              <a:t>);</a:t>
            </a:r>
          </a:p>
        </p:txBody>
      </p:sp>
      <p:sp>
        <p:nvSpPr>
          <p:cNvPr id="33" name="Rounded Rectangle 32">
            <a:extLst>
              <a:ext uri="{FF2B5EF4-FFF2-40B4-BE49-F238E27FC236}">
                <a16:creationId xmlns:a16="http://schemas.microsoft.com/office/drawing/2014/main" id="{5BC1BFCD-04E1-2D80-4B50-C71A3579772B}"/>
              </a:ext>
            </a:extLst>
          </p:cNvPr>
          <p:cNvSpPr/>
          <p:nvPr/>
        </p:nvSpPr>
        <p:spPr bwMode="auto">
          <a:xfrm>
            <a:off x="4545013" y="2708275"/>
            <a:ext cx="3752850" cy="2160588"/>
          </a:xfrm>
          <a:prstGeom prst="roundRect">
            <a:avLst/>
          </a:prstGeom>
          <a:solidFill>
            <a:schemeClr val="accent3">
              <a:alpha val="30000"/>
            </a:schemeClr>
          </a:solidFill>
          <a:ln w="9525" cap="flat" cmpd="sng" algn="ctr">
            <a:solidFill>
              <a:schemeClr val="accent3"/>
            </a:solidFill>
            <a:prstDash val="solid"/>
            <a:round/>
            <a:headEnd type="none" w="med" len="med"/>
            <a:tailEnd type="none" w="med" len="med"/>
          </a:ln>
          <a:effectLst/>
        </p:spPr>
        <p:txBody>
          <a:bodyPr anchor="ctr" anchorCtr="1"/>
          <a:lstStyle/>
          <a:p>
            <a:pPr>
              <a:defRPr/>
            </a:pPr>
            <a:r>
              <a:rPr lang="en-CA" sz="2400" dirty="0"/>
              <a:t>CREATE TABLE Author</a:t>
            </a:r>
          </a:p>
          <a:p>
            <a:pPr>
              <a:defRPr/>
            </a:pPr>
            <a:r>
              <a:rPr lang="en-CA" sz="2400" dirty="0"/>
              <a:t>(</a:t>
            </a:r>
          </a:p>
          <a:p>
            <a:pPr>
              <a:defRPr/>
            </a:pPr>
            <a:r>
              <a:rPr lang="en-CA" sz="2400" dirty="0"/>
              <a:t>   Id INT PRIMARY KEY,</a:t>
            </a:r>
          </a:p>
          <a:p>
            <a:pPr>
              <a:defRPr/>
            </a:pPr>
            <a:r>
              <a:rPr lang="en-CA" sz="2400" dirty="0"/>
              <a:t>   Name VARCHAR(50)</a:t>
            </a:r>
          </a:p>
          <a:p>
            <a:pPr>
              <a:defRPr/>
            </a:pPr>
            <a:r>
              <a:rPr lang="en-CA" sz="2400" dirty="0"/>
              <a:t>);</a:t>
            </a:r>
          </a:p>
        </p:txBody>
      </p:sp>
      <p:sp>
        <p:nvSpPr>
          <p:cNvPr id="38" name="Flowchart: Alternate Process 37">
            <a:extLst>
              <a:ext uri="{FF2B5EF4-FFF2-40B4-BE49-F238E27FC236}">
                <a16:creationId xmlns:a16="http://schemas.microsoft.com/office/drawing/2014/main" id="{FBB0976E-57C9-F15A-F061-848724EB7E02}"/>
              </a:ext>
            </a:extLst>
          </p:cNvPr>
          <p:cNvSpPr/>
          <p:nvPr/>
        </p:nvSpPr>
        <p:spPr bwMode="auto">
          <a:xfrm flipH="1">
            <a:off x="7825680" y="4396269"/>
            <a:ext cx="508744" cy="488573"/>
          </a:xfrm>
          <a:prstGeom prst="flowChartAlternateProcess">
            <a:avLst/>
          </a:prstGeom>
          <a:solidFill>
            <a:srgbClr val="FFC000"/>
          </a:solidFill>
          <a:ln>
            <a:noFill/>
            <a:headEnd type="none" w="med" len="med"/>
            <a:tailEnd type="none" w="med" len="med"/>
          </a:ln>
          <a:effectLst>
            <a:innerShdw blurRad="63500" dist="50800" dir="18900000">
              <a:prstClr val="black">
                <a:alpha val="50000"/>
              </a:prstClr>
            </a:innerShdw>
          </a:effectLst>
        </p:spPr>
        <p:style>
          <a:lnRef idx="1">
            <a:schemeClr val="accent5"/>
          </a:lnRef>
          <a:fillRef idx="3">
            <a:schemeClr val="accent5"/>
          </a:fillRef>
          <a:effectRef idx="2">
            <a:schemeClr val="accent5"/>
          </a:effectRef>
          <a:fontRef idx="minor">
            <a:schemeClr val="lt1"/>
          </a:fontRef>
        </p:style>
        <p:txBody>
          <a:bodyPr anchor="ctr"/>
          <a:lstStyle/>
          <a:p>
            <a:pPr algn="ctr" defTabSz="720000" eaLnBrk="1" hangingPunct="1">
              <a:spcBef>
                <a:spcPts val="0"/>
              </a:spcBef>
              <a:spcAft>
                <a:spcPts val="0"/>
              </a:spcAft>
              <a:tabLst>
                <a:tab pos="0" algn="l"/>
              </a:tabLst>
              <a:defRPr/>
            </a:pPr>
            <a:r>
              <a:rPr lang="en-US" b="1" i="1" kern="0" dirty="0">
                <a:solidFill>
                  <a:schemeClr val="bg1"/>
                </a:solidFill>
                <a:cs typeface="Calibri" pitchFamily="34" charset="0"/>
              </a:rPr>
              <a:t>1</a:t>
            </a:r>
            <a:endParaRPr lang="en-MY" b="1" i="1" kern="0" dirty="0">
              <a:solidFill>
                <a:schemeClr val="bg1"/>
              </a:solidFill>
              <a:cs typeface="Calibri" pitchFamily="34" charset="0"/>
            </a:endParaRPr>
          </a:p>
        </p:txBody>
      </p:sp>
      <p:sp>
        <p:nvSpPr>
          <p:cNvPr id="39" name="Flowchart: Alternate Process 38">
            <a:extLst>
              <a:ext uri="{FF2B5EF4-FFF2-40B4-BE49-F238E27FC236}">
                <a16:creationId xmlns:a16="http://schemas.microsoft.com/office/drawing/2014/main" id="{4AE93B94-E6F5-A05A-85B1-2AD627D39459}"/>
              </a:ext>
            </a:extLst>
          </p:cNvPr>
          <p:cNvSpPr/>
          <p:nvPr/>
        </p:nvSpPr>
        <p:spPr bwMode="auto">
          <a:xfrm flipH="1">
            <a:off x="3914817" y="5461022"/>
            <a:ext cx="508744" cy="488573"/>
          </a:xfrm>
          <a:prstGeom prst="flowChartAlternateProcess">
            <a:avLst/>
          </a:prstGeom>
          <a:solidFill>
            <a:srgbClr val="FFC000"/>
          </a:solidFill>
          <a:ln>
            <a:noFill/>
            <a:headEnd type="none" w="med" len="med"/>
            <a:tailEnd type="none" w="med" len="med"/>
          </a:ln>
          <a:effectLst>
            <a:innerShdw blurRad="63500" dist="50800" dir="18900000">
              <a:prstClr val="black">
                <a:alpha val="50000"/>
              </a:prstClr>
            </a:innerShdw>
          </a:effectLst>
        </p:spPr>
        <p:style>
          <a:lnRef idx="1">
            <a:schemeClr val="accent5"/>
          </a:lnRef>
          <a:fillRef idx="3">
            <a:schemeClr val="accent5"/>
          </a:fillRef>
          <a:effectRef idx="2">
            <a:schemeClr val="accent5"/>
          </a:effectRef>
          <a:fontRef idx="minor">
            <a:schemeClr val="lt1"/>
          </a:fontRef>
        </p:style>
        <p:txBody>
          <a:bodyPr anchor="ctr"/>
          <a:lstStyle/>
          <a:p>
            <a:pPr algn="ctr" defTabSz="720000" eaLnBrk="1" hangingPunct="1">
              <a:spcBef>
                <a:spcPts val="0"/>
              </a:spcBef>
              <a:spcAft>
                <a:spcPts val="0"/>
              </a:spcAft>
              <a:tabLst>
                <a:tab pos="0" algn="l"/>
              </a:tabLst>
              <a:defRPr/>
            </a:pPr>
            <a:r>
              <a:rPr lang="en-US" b="1" i="1" kern="0" dirty="0">
                <a:solidFill>
                  <a:schemeClr val="bg1"/>
                </a:solidFill>
                <a:cs typeface="Calibri" pitchFamily="34" charset="0"/>
              </a:rPr>
              <a:t>2</a:t>
            </a:r>
            <a:endParaRPr lang="en-MY" b="1" i="1" kern="0" dirty="0">
              <a:solidFill>
                <a:schemeClr val="bg1"/>
              </a:solidFill>
              <a:cs typeface="Calibri" pitchFamily="34" charset="0"/>
            </a:endParaRPr>
          </a:p>
        </p:txBody>
      </p:sp>
      <p:grpSp>
        <p:nvGrpSpPr>
          <p:cNvPr id="3" name="Group 39">
            <a:extLst>
              <a:ext uri="{FF2B5EF4-FFF2-40B4-BE49-F238E27FC236}">
                <a16:creationId xmlns:a16="http://schemas.microsoft.com/office/drawing/2014/main" id="{666FC859-51E5-9CA1-B449-E44D1E80C292}"/>
              </a:ext>
            </a:extLst>
          </p:cNvPr>
          <p:cNvGrpSpPr>
            <a:grpSpLocks/>
          </p:cNvGrpSpPr>
          <p:nvPr/>
        </p:nvGrpSpPr>
        <p:grpSpPr bwMode="auto">
          <a:xfrm>
            <a:off x="3987800" y="4843463"/>
            <a:ext cx="3652838" cy="1287462"/>
            <a:chOff x="5161840" y="1145206"/>
            <a:chExt cx="3408596" cy="2184330"/>
          </a:xfrm>
        </p:grpSpPr>
        <p:sp>
          <p:nvSpPr>
            <p:cNvPr id="41" name="Rectangle 40">
              <a:extLst>
                <a:ext uri="{FF2B5EF4-FFF2-40B4-BE49-F238E27FC236}">
                  <a16:creationId xmlns:a16="http://schemas.microsoft.com/office/drawing/2014/main" id="{0674056E-1E8F-F35F-144F-4ED52B5C315A}"/>
                </a:ext>
              </a:extLst>
            </p:cNvPr>
            <p:cNvSpPr/>
            <p:nvPr/>
          </p:nvSpPr>
          <p:spPr bwMode="auto">
            <a:xfrm>
              <a:off x="5681796" y="1145206"/>
              <a:ext cx="2888640" cy="2184330"/>
            </a:xfrm>
            <a:prstGeom prst="rect">
              <a:avLst/>
            </a:prstGeom>
            <a:ln>
              <a:headEnd type="none" w="med" len="med"/>
              <a:tailEnd type="none" w="med" len="med"/>
            </a:ln>
          </p:spPr>
          <p:style>
            <a:lnRef idx="1">
              <a:schemeClr val="accent5"/>
            </a:lnRef>
            <a:fillRef idx="3">
              <a:schemeClr val="accent5"/>
            </a:fillRef>
            <a:effectRef idx="2">
              <a:schemeClr val="accent5"/>
            </a:effectRef>
            <a:fontRef idx="minor">
              <a:schemeClr val="lt1"/>
            </a:fontRef>
          </p:style>
          <p:txBody>
            <a:bodyPr anchor="ctr" anchorCtr="1"/>
            <a:lstStyle/>
            <a:p>
              <a:pPr>
                <a:defRPr/>
              </a:pPr>
              <a:r>
                <a:rPr lang="en-CA" dirty="0"/>
                <a:t>The “Author” table is mentioned here. If the table does not exist, executing this SQL will cause an error</a:t>
              </a:r>
              <a:endParaRPr lang="en-CA" dirty="0">
                <a:solidFill>
                  <a:schemeClr val="tx1"/>
                </a:solidFill>
                <a:latin typeface="Arial" charset="0"/>
              </a:endParaRPr>
            </a:p>
          </p:txBody>
        </p:sp>
        <p:cxnSp>
          <p:nvCxnSpPr>
            <p:cNvPr id="42" name="Straight Arrow Connector 41">
              <a:extLst>
                <a:ext uri="{FF2B5EF4-FFF2-40B4-BE49-F238E27FC236}">
                  <a16:creationId xmlns:a16="http://schemas.microsoft.com/office/drawing/2014/main" id="{9ADAA9EF-663D-7095-B27F-CB57146716E2}"/>
                </a:ext>
              </a:extLst>
            </p:cNvPr>
            <p:cNvCxnSpPr/>
            <p:nvPr/>
          </p:nvCxnSpPr>
          <p:spPr bwMode="auto">
            <a:xfrm flipH="1">
              <a:off x="5161840" y="1829324"/>
              <a:ext cx="519956" cy="0"/>
            </a:xfrm>
            <a:prstGeom prst="straightConnector1">
              <a:avLst/>
            </a:prstGeom>
            <a:ln>
              <a:headEnd type="none" w="med" len="med"/>
              <a:tailEnd type="triangle"/>
            </a:ln>
          </p:spPr>
          <p:style>
            <a:lnRef idx="1">
              <a:schemeClr val="accent5"/>
            </a:lnRef>
            <a:fillRef idx="3">
              <a:schemeClr val="accent5"/>
            </a:fillRef>
            <a:effectRef idx="2">
              <a:schemeClr val="accent5"/>
            </a:effectRef>
            <a:fontRef idx="minor">
              <a:schemeClr val="lt1"/>
            </a:fontRef>
          </p:style>
        </p:cxnSp>
      </p:gr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wipe(left)">
                                      <p:cBhvr>
                                        <p:cTn id="7" dur="500"/>
                                        <p:tgtEl>
                                          <p:spTgt spid="13">
                                            <p:txEl>
                                              <p:pRg st="0" end="0"/>
                                            </p:txEl>
                                          </p:spTgt>
                                        </p:tgtEl>
                                      </p:cBhvr>
                                    </p:animEffect>
                                  </p:childTnLst>
                                </p:cTn>
                              </p:par>
                            </p:childTnLst>
                          </p:cTn>
                        </p:par>
                        <p:par>
                          <p:cTn id="8" fill="hold" nodeType="afterGroup">
                            <p:stCondLst>
                              <p:cond delay="500"/>
                            </p:stCondLst>
                            <p:childTnLst>
                              <p:par>
                                <p:cTn id="9" presetID="16" presetClass="entr" presetSubtype="21" fill="hold" grpId="0" nodeType="afterEffect">
                                  <p:stCondLst>
                                    <p:cond delay="0"/>
                                  </p:stCondLst>
                                  <p:childTnLst>
                                    <p:set>
                                      <p:cBhvr>
                                        <p:cTn id="10" dur="1" fill="hold">
                                          <p:stCondLst>
                                            <p:cond delay="0"/>
                                          </p:stCondLst>
                                        </p:cTn>
                                        <p:tgtEl>
                                          <p:spTgt spid="32"/>
                                        </p:tgtEl>
                                        <p:attrNameLst>
                                          <p:attrName>style.visibility</p:attrName>
                                        </p:attrNameLst>
                                      </p:cBhvr>
                                      <p:to>
                                        <p:strVal val="visible"/>
                                      </p:to>
                                    </p:set>
                                    <p:animEffect transition="in" filter="barn(inVertical)">
                                      <p:cBhvr>
                                        <p:cTn id="11" dur="500"/>
                                        <p:tgtEl>
                                          <p:spTgt spid="32"/>
                                        </p:tgtEl>
                                      </p:cBhvr>
                                    </p:animEffect>
                                  </p:childTnLst>
                                </p:cTn>
                              </p:par>
                            </p:childTnLst>
                          </p:cTn>
                        </p:par>
                        <p:par>
                          <p:cTn id="12" fill="hold" nodeType="afterGroup">
                            <p:stCondLst>
                              <p:cond delay="1000"/>
                            </p:stCondLst>
                            <p:childTnLst>
                              <p:par>
                                <p:cTn id="13" presetID="16" presetClass="entr" presetSubtype="21" fill="hold" grpId="0" nodeType="afterEffect">
                                  <p:stCondLst>
                                    <p:cond delay="0"/>
                                  </p:stCondLst>
                                  <p:childTnLst>
                                    <p:set>
                                      <p:cBhvr>
                                        <p:cTn id="14" dur="1" fill="hold">
                                          <p:stCondLst>
                                            <p:cond delay="0"/>
                                          </p:stCondLst>
                                        </p:cTn>
                                        <p:tgtEl>
                                          <p:spTgt spid="33"/>
                                        </p:tgtEl>
                                        <p:attrNameLst>
                                          <p:attrName>style.visibility</p:attrName>
                                        </p:attrNameLst>
                                      </p:cBhvr>
                                      <p:to>
                                        <p:strVal val="visible"/>
                                      </p:to>
                                    </p:set>
                                    <p:animEffect transition="in" filter="barn(inVertical)">
                                      <p:cBhvr>
                                        <p:cTn id="15" dur="500"/>
                                        <p:tgtEl>
                                          <p:spTgt spid="33"/>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42" presetClass="entr" presetSubtype="0" fill="hold" nodeType="clickEffect">
                                  <p:stCondLst>
                                    <p:cond delay="0"/>
                                  </p:stCondLst>
                                  <p:childTnLst>
                                    <p:set>
                                      <p:cBhvr>
                                        <p:cTn id="19" dur="1" fill="hold">
                                          <p:stCondLst>
                                            <p:cond delay="0"/>
                                          </p:stCondLst>
                                        </p:cTn>
                                        <p:tgtEl>
                                          <p:spTgt spid="38"/>
                                        </p:tgtEl>
                                        <p:attrNameLst>
                                          <p:attrName>style.visibility</p:attrName>
                                        </p:attrNameLst>
                                      </p:cBhvr>
                                      <p:to>
                                        <p:strVal val="visible"/>
                                      </p:to>
                                    </p:set>
                                    <p:animEffect transition="in" filter="fade">
                                      <p:cBhvr>
                                        <p:cTn id="20" dur="1000"/>
                                        <p:tgtEl>
                                          <p:spTgt spid="38"/>
                                        </p:tgtEl>
                                      </p:cBhvr>
                                    </p:animEffect>
                                    <p:anim calcmode="lin" valueType="num">
                                      <p:cBhvr>
                                        <p:cTn id="21" dur="1000" fill="hold"/>
                                        <p:tgtEl>
                                          <p:spTgt spid="38"/>
                                        </p:tgtEl>
                                        <p:attrNameLst>
                                          <p:attrName>ppt_x</p:attrName>
                                        </p:attrNameLst>
                                      </p:cBhvr>
                                      <p:tavLst>
                                        <p:tav tm="0">
                                          <p:val>
                                            <p:strVal val="#ppt_x"/>
                                          </p:val>
                                        </p:tav>
                                        <p:tav tm="100000">
                                          <p:val>
                                            <p:strVal val="#ppt_x"/>
                                          </p:val>
                                        </p:tav>
                                      </p:tavLst>
                                    </p:anim>
                                    <p:anim calcmode="lin" valueType="num">
                                      <p:cBhvr>
                                        <p:cTn id="22" dur="1000" fill="hold"/>
                                        <p:tgtEl>
                                          <p:spTgt spid="38"/>
                                        </p:tgtEl>
                                        <p:attrNameLst>
                                          <p:attrName>ppt_y</p:attrName>
                                        </p:attrNameLst>
                                      </p:cBhvr>
                                      <p:tavLst>
                                        <p:tav tm="0">
                                          <p:val>
                                            <p:strVal val="#ppt_y+.1"/>
                                          </p:val>
                                        </p:tav>
                                        <p:tav tm="100000">
                                          <p:val>
                                            <p:strVal val="#ppt_y"/>
                                          </p:val>
                                        </p:tav>
                                      </p:tavLst>
                                    </p:anim>
                                  </p:childTnLst>
                                </p:cTn>
                              </p:par>
                            </p:childTnLst>
                          </p:cTn>
                        </p:par>
                        <p:par>
                          <p:cTn id="23" fill="hold" nodeType="afterGroup">
                            <p:stCondLst>
                              <p:cond delay="1000"/>
                            </p:stCondLst>
                            <p:childTnLst>
                              <p:par>
                                <p:cTn id="24" presetID="42" presetClass="entr" presetSubtype="0" fill="hold" nodeType="afterEffect">
                                  <p:stCondLst>
                                    <p:cond delay="0"/>
                                  </p:stCondLst>
                                  <p:childTnLst>
                                    <p:set>
                                      <p:cBhvr>
                                        <p:cTn id="25" dur="1" fill="hold">
                                          <p:stCondLst>
                                            <p:cond delay="0"/>
                                          </p:stCondLst>
                                        </p:cTn>
                                        <p:tgtEl>
                                          <p:spTgt spid="39"/>
                                        </p:tgtEl>
                                        <p:attrNameLst>
                                          <p:attrName>style.visibility</p:attrName>
                                        </p:attrNameLst>
                                      </p:cBhvr>
                                      <p:to>
                                        <p:strVal val="visible"/>
                                      </p:to>
                                    </p:set>
                                    <p:animEffect transition="in" filter="fade">
                                      <p:cBhvr>
                                        <p:cTn id="26" dur="1000"/>
                                        <p:tgtEl>
                                          <p:spTgt spid="39"/>
                                        </p:tgtEl>
                                      </p:cBhvr>
                                    </p:animEffect>
                                    <p:anim calcmode="lin" valueType="num">
                                      <p:cBhvr>
                                        <p:cTn id="27" dur="1000" fill="hold"/>
                                        <p:tgtEl>
                                          <p:spTgt spid="39"/>
                                        </p:tgtEl>
                                        <p:attrNameLst>
                                          <p:attrName>ppt_x</p:attrName>
                                        </p:attrNameLst>
                                      </p:cBhvr>
                                      <p:tavLst>
                                        <p:tav tm="0">
                                          <p:val>
                                            <p:strVal val="#ppt_x"/>
                                          </p:val>
                                        </p:tav>
                                        <p:tav tm="100000">
                                          <p:val>
                                            <p:strVal val="#ppt_x"/>
                                          </p:val>
                                        </p:tav>
                                      </p:tavLst>
                                    </p:anim>
                                    <p:anim calcmode="lin" valueType="num">
                                      <p:cBhvr>
                                        <p:cTn id="28" dur="1000" fill="hold"/>
                                        <p:tgtEl>
                                          <p:spTgt spid="39"/>
                                        </p:tgtEl>
                                        <p:attrNameLst>
                                          <p:attrName>ppt_y</p:attrName>
                                        </p:attrNameLst>
                                      </p:cBhvr>
                                      <p:tavLst>
                                        <p:tav tm="0">
                                          <p:val>
                                            <p:strVal val="#ppt_y+.1"/>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2" fill="hold" nodeType="clickEffect">
                                  <p:stCondLst>
                                    <p:cond delay="0"/>
                                  </p:stCondLst>
                                  <p:childTnLst>
                                    <p:set>
                                      <p:cBhvr>
                                        <p:cTn id="32" dur="1" fill="hold">
                                          <p:stCondLst>
                                            <p:cond delay="0"/>
                                          </p:stCondLst>
                                        </p:cTn>
                                        <p:tgtEl>
                                          <p:spTgt spid="3"/>
                                        </p:tgtEl>
                                        <p:attrNameLst>
                                          <p:attrName>style.visibility</p:attrName>
                                        </p:attrNameLst>
                                      </p:cBhvr>
                                      <p:to>
                                        <p:strVal val="visible"/>
                                      </p:to>
                                    </p:set>
                                    <p:anim calcmode="lin" valueType="num">
                                      <p:cBhvr additive="base">
                                        <p:cTn id="33" dur="500" fill="hold"/>
                                        <p:tgtEl>
                                          <p:spTgt spid="3"/>
                                        </p:tgtEl>
                                        <p:attrNameLst>
                                          <p:attrName>ppt_x</p:attrName>
                                        </p:attrNameLst>
                                      </p:cBhvr>
                                      <p:tavLst>
                                        <p:tav tm="0">
                                          <p:val>
                                            <p:strVal val="1+#ppt_w/2"/>
                                          </p:val>
                                        </p:tav>
                                        <p:tav tm="100000">
                                          <p:val>
                                            <p:strVal val="#ppt_x"/>
                                          </p:val>
                                        </p:tav>
                                      </p:tavLst>
                                    </p:anim>
                                    <p:anim calcmode="lin" valueType="num">
                                      <p:cBhvr additive="base">
                                        <p:cTn id="34"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3"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862DC0-ECC6-D1C8-125D-B092BE2207EA}"/>
              </a:ext>
            </a:extLst>
          </p:cNvPr>
          <p:cNvSpPr>
            <a:spLocks noGrp="1"/>
          </p:cNvSpPr>
          <p:nvPr>
            <p:ph type="title"/>
          </p:nvPr>
        </p:nvSpPr>
        <p:spPr>
          <a:xfrm>
            <a:off x="457200" y="0"/>
            <a:ext cx="7620000" cy="1143000"/>
          </a:xfrm>
        </p:spPr>
        <p:txBody>
          <a:bodyPr/>
          <a:lstStyle/>
          <a:p>
            <a:pPr>
              <a:defRPr/>
            </a:pPr>
            <a:r>
              <a:rPr lang="en-US" dirty="0"/>
              <a:t>Manipulating Tables Using SQL</a:t>
            </a:r>
            <a:endParaRPr lang="en-MY" dirty="0"/>
          </a:p>
        </p:txBody>
      </p:sp>
      <p:sp>
        <p:nvSpPr>
          <p:cNvPr id="23" name="Title 1">
            <a:extLst>
              <a:ext uri="{FF2B5EF4-FFF2-40B4-BE49-F238E27FC236}">
                <a16:creationId xmlns:a16="http://schemas.microsoft.com/office/drawing/2014/main" id="{799B15DE-FD8B-ECA5-0E91-095796DB9E92}"/>
              </a:ext>
            </a:extLst>
          </p:cNvPr>
          <p:cNvSpPr txBox="1">
            <a:spLocks/>
          </p:cNvSpPr>
          <p:nvPr/>
        </p:nvSpPr>
        <p:spPr bwMode="auto">
          <a:xfrm>
            <a:off x="0" y="1123950"/>
            <a:ext cx="8172450" cy="323850"/>
          </a:xfrm>
          <a:prstGeom prst="rect">
            <a:avLst/>
          </a:prstGeom>
          <a:noFill/>
          <a:ln w="9525">
            <a:noFill/>
            <a:miter lim="800000"/>
            <a:headEnd/>
            <a:tailEnd/>
          </a:ln>
        </p:spPr>
        <p:txBody>
          <a:bodyPr lIns="72000" tIns="0" rIns="72000" bIns="0"/>
          <a:lstStyle/>
          <a:p>
            <a:pPr defTabSz="720000" eaLnBrk="1" hangingPunct="1">
              <a:lnSpc>
                <a:spcPts val="1800"/>
              </a:lnSpc>
              <a:spcBef>
                <a:spcPts val="0"/>
              </a:spcBef>
              <a:spcAft>
                <a:spcPts val="0"/>
              </a:spcAft>
              <a:tabLst>
                <a:tab pos="0" algn="l"/>
              </a:tabLst>
              <a:defRPr/>
            </a:pPr>
            <a:r>
              <a:rPr lang="en-CA" b="1" kern="0" dirty="0">
                <a:cs typeface="Calibri" pitchFamily="34" charset="0"/>
              </a:rPr>
              <a:t>Enforcing Data Integrity Using SQL</a:t>
            </a:r>
            <a:r>
              <a:rPr lang="en-US" b="1" kern="0" dirty="0">
                <a:cs typeface="Calibri" pitchFamily="34" charset="0"/>
              </a:rPr>
              <a:t> </a:t>
            </a:r>
            <a:endParaRPr lang="en-MY" b="1" kern="0" dirty="0">
              <a:cs typeface="Calibri" pitchFamily="34" charset="0"/>
            </a:endParaRPr>
          </a:p>
          <a:p>
            <a:pPr defTabSz="720000" eaLnBrk="1" hangingPunct="1">
              <a:lnSpc>
                <a:spcPts val="1800"/>
              </a:lnSpc>
              <a:spcBef>
                <a:spcPts val="0"/>
              </a:spcBef>
              <a:spcAft>
                <a:spcPts val="0"/>
              </a:spcAft>
              <a:tabLst>
                <a:tab pos="0" algn="l"/>
              </a:tabLst>
              <a:defRPr/>
            </a:pPr>
            <a:endParaRPr lang="en-MY" b="1" kern="0" dirty="0">
              <a:latin typeface="+mn-lt"/>
              <a:ea typeface="+mj-ea"/>
              <a:cs typeface="Calibri" pitchFamily="34" charset="0"/>
            </a:endParaRPr>
          </a:p>
        </p:txBody>
      </p:sp>
      <p:sp>
        <p:nvSpPr>
          <p:cNvPr id="13" name="Content Placeholder 2">
            <a:extLst>
              <a:ext uri="{FF2B5EF4-FFF2-40B4-BE49-F238E27FC236}">
                <a16:creationId xmlns:a16="http://schemas.microsoft.com/office/drawing/2014/main" id="{625C55DE-781F-72D5-EEEF-E3BB52C8E108}"/>
              </a:ext>
            </a:extLst>
          </p:cNvPr>
          <p:cNvSpPr txBox="1">
            <a:spLocks/>
          </p:cNvSpPr>
          <p:nvPr/>
        </p:nvSpPr>
        <p:spPr bwMode="auto">
          <a:xfrm>
            <a:off x="125413" y="2060575"/>
            <a:ext cx="8180387" cy="108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rgbClr val="FF6600"/>
              </a:buClr>
              <a:buFont typeface="Wingdings 3" panose="05040102010807070707" pitchFamily="18" charset="2"/>
              <a:buNone/>
            </a:pPr>
            <a:r>
              <a:rPr lang="en-CA" altLang="en-US" sz="2800">
                <a:latin typeface="Calibri" panose="020F0502020204030204" pitchFamily="34" charset="0"/>
              </a:rPr>
              <a:t>By declaring “AuthorId” as a foreign key, this means</a:t>
            </a: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p:txBody>
      </p:sp>
      <p:graphicFrame>
        <p:nvGraphicFramePr>
          <p:cNvPr id="3" name="Table 2">
            <a:extLst>
              <a:ext uri="{FF2B5EF4-FFF2-40B4-BE49-F238E27FC236}">
                <a16:creationId xmlns:a16="http://schemas.microsoft.com/office/drawing/2014/main" id="{74EF8F6A-A561-DA6C-65D7-1149C4C8727E}"/>
              </a:ext>
            </a:extLst>
          </p:cNvPr>
          <p:cNvGraphicFramePr>
            <a:graphicFrameLocks noGrp="1"/>
          </p:cNvGraphicFramePr>
          <p:nvPr/>
        </p:nvGraphicFramePr>
        <p:xfrm>
          <a:off x="76200" y="2708275"/>
          <a:ext cx="4608513" cy="2022474"/>
        </p:xfrm>
        <a:graphic>
          <a:graphicData uri="http://schemas.openxmlformats.org/drawingml/2006/table">
            <a:tbl>
              <a:tblPr firstRow="1" bandRow="1">
                <a:tableStyleId>{3B4B98B0-60AC-42C2-AFA5-B58CD77FA1E5}</a:tableStyleId>
              </a:tblPr>
              <a:tblGrid>
                <a:gridCol w="1152128">
                  <a:extLst>
                    <a:ext uri="{9D8B030D-6E8A-4147-A177-3AD203B41FA5}">
                      <a16:colId xmlns:a16="http://schemas.microsoft.com/office/drawing/2014/main" val="20000"/>
                    </a:ext>
                  </a:extLst>
                </a:gridCol>
                <a:gridCol w="1920214">
                  <a:extLst>
                    <a:ext uri="{9D8B030D-6E8A-4147-A177-3AD203B41FA5}">
                      <a16:colId xmlns:a16="http://schemas.microsoft.com/office/drawing/2014/main" val="20001"/>
                    </a:ext>
                  </a:extLst>
                </a:gridCol>
                <a:gridCol w="1536171">
                  <a:extLst>
                    <a:ext uri="{9D8B030D-6E8A-4147-A177-3AD203B41FA5}">
                      <a16:colId xmlns:a16="http://schemas.microsoft.com/office/drawing/2014/main" val="20002"/>
                    </a:ext>
                  </a:extLst>
                </a:gridCol>
              </a:tblGrid>
              <a:tr h="370956">
                <a:tc>
                  <a:txBody>
                    <a:bodyPr/>
                    <a:lstStyle/>
                    <a:p>
                      <a:pPr algn="ctr"/>
                      <a:r>
                        <a:rPr lang="en-CA" sz="1800" u="sng" dirty="0"/>
                        <a:t>ISBN</a:t>
                      </a:r>
                    </a:p>
                  </a:txBody>
                  <a:tcPr marT="45734" marB="45734"/>
                </a:tc>
                <a:tc>
                  <a:txBody>
                    <a:bodyPr/>
                    <a:lstStyle/>
                    <a:p>
                      <a:pPr algn="ctr"/>
                      <a:r>
                        <a:rPr lang="en-CA" sz="1800" dirty="0"/>
                        <a:t>Title</a:t>
                      </a:r>
                    </a:p>
                  </a:txBody>
                  <a:tcPr marT="45734" marB="45734"/>
                </a:tc>
                <a:tc>
                  <a:txBody>
                    <a:bodyPr/>
                    <a:lstStyle/>
                    <a:p>
                      <a:pPr algn="ctr"/>
                      <a:r>
                        <a:rPr lang="en-CA" sz="1800" dirty="0" err="1"/>
                        <a:t>AuthorId</a:t>
                      </a:r>
                      <a:endParaRPr lang="en-CA" sz="1800" dirty="0"/>
                    </a:p>
                  </a:txBody>
                  <a:tcPr marT="45734" marB="45734"/>
                </a:tc>
                <a:extLst>
                  <a:ext uri="{0D108BD9-81ED-4DB2-BD59-A6C34878D82A}">
                    <a16:rowId xmlns:a16="http://schemas.microsoft.com/office/drawing/2014/main" val="10000"/>
                  </a:ext>
                </a:extLst>
              </a:tr>
              <a:tr h="370956">
                <a:tc>
                  <a:txBody>
                    <a:bodyPr/>
                    <a:lstStyle/>
                    <a:p>
                      <a:pPr algn="ctr"/>
                      <a:r>
                        <a:rPr lang="en-CA" sz="1800" dirty="0"/>
                        <a:t>12345</a:t>
                      </a:r>
                    </a:p>
                  </a:txBody>
                  <a:tcPr marT="45734" marB="45734"/>
                </a:tc>
                <a:tc>
                  <a:txBody>
                    <a:bodyPr/>
                    <a:lstStyle/>
                    <a:p>
                      <a:pPr algn="ctr"/>
                      <a:r>
                        <a:rPr lang="en-CA" sz="1800" dirty="0"/>
                        <a:t>The Hunger Game</a:t>
                      </a:r>
                    </a:p>
                  </a:txBody>
                  <a:tcPr marT="45734" marB="45734"/>
                </a:tc>
                <a:tc>
                  <a:txBody>
                    <a:bodyPr/>
                    <a:lstStyle/>
                    <a:p>
                      <a:pPr algn="ctr"/>
                      <a:r>
                        <a:rPr lang="en-CA" sz="1800" dirty="0"/>
                        <a:t>1</a:t>
                      </a:r>
                    </a:p>
                  </a:txBody>
                  <a:tcPr marT="45734" marB="45734"/>
                </a:tc>
                <a:extLst>
                  <a:ext uri="{0D108BD9-81ED-4DB2-BD59-A6C34878D82A}">
                    <a16:rowId xmlns:a16="http://schemas.microsoft.com/office/drawing/2014/main" val="10001"/>
                  </a:ext>
                </a:extLst>
              </a:tr>
              <a:tr h="640281">
                <a:tc>
                  <a:txBody>
                    <a:bodyPr/>
                    <a:lstStyle/>
                    <a:p>
                      <a:pPr algn="ctr"/>
                      <a:r>
                        <a:rPr lang="en-CA" sz="1800" dirty="0"/>
                        <a:t>54321</a:t>
                      </a:r>
                    </a:p>
                  </a:txBody>
                  <a:tcPr marT="45734" marB="45734"/>
                </a:tc>
                <a:tc>
                  <a:txBody>
                    <a:bodyPr/>
                    <a:lstStyle/>
                    <a:p>
                      <a:pPr algn="ctr"/>
                      <a:r>
                        <a:rPr lang="en-CA" sz="1800" dirty="0"/>
                        <a:t>A Song</a:t>
                      </a:r>
                      <a:r>
                        <a:rPr lang="en-CA" sz="1800" baseline="0" dirty="0"/>
                        <a:t> of Ice and Fire</a:t>
                      </a:r>
                      <a:endParaRPr lang="en-CA" sz="1800" dirty="0"/>
                    </a:p>
                  </a:txBody>
                  <a:tcPr marT="45734" marB="45734"/>
                </a:tc>
                <a:tc>
                  <a:txBody>
                    <a:bodyPr/>
                    <a:lstStyle/>
                    <a:p>
                      <a:pPr algn="ctr"/>
                      <a:r>
                        <a:rPr lang="en-CA" sz="1800" dirty="0"/>
                        <a:t>NULL</a:t>
                      </a:r>
                    </a:p>
                  </a:txBody>
                  <a:tcPr marT="45734" marB="45734"/>
                </a:tc>
                <a:extLst>
                  <a:ext uri="{0D108BD9-81ED-4DB2-BD59-A6C34878D82A}">
                    <a16:rowId xmlns:a16="http://schemas.microsoft.com/office/drawing/2014/main" val="10002"/>
                  </a:ext>
                </a:extLst>
              </a:tr>
              <a:tr h="640281">
                <a:tc>
                  <a:txBody>
                    <a:bodyPr/>
                    <a:lstStyle/>
                    <a:p>
                      <a:pPr algn="ctr"/>
                      <a:r>
                        <a:rPr lang="en-CA" sz="1800" dirty="0"/>
                        <a:t>12321</a:t>
                      </a:r>
                    </a:p>
                  </a:txBody>
                  <a:tcPr marT="45734" marB="45734"/>
                </a:tc>
                <a:tc>
                  <a:txBody>
                    <a:bodyPr/>
                    <a:lstStyle/>
                    <a:p>
                      <a:pPr algn="ctr"/>
                      <a:r>
                        <a:rPr lang="en-CA" sz="1800" dirty="0"/>
                        <a:t>The Wheel of Time</a:t>
                      </a:r>
                    </a:p>
                  </a:txBody>
                  <a:tcPr marT="45734" marB="45734"/>
                </a:tc>
                <a:tc>
                  <a:txBody>
                    <a:bodyPr/>
                    <a:lstStyle/>
                    <a:p>
                      <a:pPr algn="ctr"/>
                      <a:r>
                        <a:rPr lang="en-CA" sz="1800" dirty="0"/>
                        <a:t>2</a:t>
                      </a:r>
                    </a:p>
                  </a:txBody>
                  <a:tcPr marT="45734" marB="45734"/>
                </a:tc>
                <a:extLst>
                  <a:ext uri="{0D108BD9-81ED-4DB2-BD59-A6C34878D82A}">
                    <a16:rowId xmlns:a16="http://schemas.microsoft.com/office/drawing/2014/main" val="10003"/>
                  </a:ext>
                </a:extLst>
              </a:tr>
            </a:tbl>
          </a:graphicData>
        </a:graphic>
      </p:graphicFrame>
      <p:graphicFrame>
        <p:nvGraphicFramePr>
          <p:cNvPr id="4" name="Table 3">
            <a:extLst>
              <a:ext uri="{FF2B5EF4-FFF2-40B4-BE49-F238E27FC236}">
                <a16:creationId xmlns:a16="http://schemas.microsoft.com/office/drawing/2014/main" id="{F05DA102-2F05-039D-3368-721A1B8A0B83}"/>
              </a:ext>
            </a:extLst>
          </p:cNvPr>
          <p:cNvGraphicFramePr>
            <a:graphicFrameLocks noGrp="1"/>
          </p:cNvGraphicFramePr>
          <p:nvPr/>
        </p:nvGraphicFramePr>
        <p:xfrm>
          <a:off x="76200" y="5494338"/>
          <a:ext cx="3497263" cy="741362"/>
        </p:xfrm>
        <a:graphic>
          <a:graphicData uri="http://schemas.openxmlformats.org/drawingml/2006/table">
            <a:tbl>
              <a:tblPr firstRow="1" bandRow="1">
                <a:tableStyleId>{C083E6E3-FA7D-4D7B-A595-EF9225AFEA82}</a:tableStyleId>
              </a:tblPr>
              <a:tblGrid>
                <a:gridCol w="1193093">
                  <a:extLst>
                    <a:ext uri="{9D8B030D-6E8A-4147-A177-3AD203B41FA5}">
                      <a16:colId xmlns:a16="http://schemas.microsoft.com/office/drawing/2014/main" val="20000"/>
                    </a:ext>
                  </a:extLst>
                </a:gridCol>
                <a:gridCol w="2304170">
                  <a:extLst>
                    <a:ext uri="{9D8B030D-6E8A-4147-A177-3AD203B41FA5}">
                      <a16:colId xmlns:a16="http://schemas.microsoft.com/office/drawing/2014/main" val="20001"/>
                    </a:ext>
                  </a:extLst>
                </a:gridCol>
              </a:tblGrid>
              <a:tr h="370681">
                <a:tc>
                  <a:txBody>
                    <a:bodyPr/>
                    <a:lstStyle/>
                    <a:p>
                      <a:pPr algn="ctr"/>
                      <a:r>
                        <a:rPr lang="en-CA" sz="1800" u="sng" dirty="0"/>
                        <a:t>Id</a:t>
                      </a:r>
                      <a:endParaRPr lang="en-CA" sz="1800" b="0" u="sng" dirty="0"/>
                    </a:p>
                  </a:txBody>
                  <a:tcPr marL="91437" marR="91437" marT="45700" marB="45700"/>
                </a:tc>
                <a:tc>
                  <a:txBody>
                    <a:bodyPr/>
                    <a:lstStyle/>
                    <a:p>
                      <a:pPr algn="ctr"/>
                      <a:r>
                        <a:rPr lang="en-CA" sz="1800" dirty="0"/>
                        <a:t>Name</a:t>
                      </a:r>
                    </a:p>
                  </a:txBody>
                  <a:tcPr marL="91437" marR="91437" marT="45700" marB="45700"/>
                </a:tc>
                <a:extLst>
                  <a:ext uri="{0D108BD9-81ED-4DB2-BD59-A6C34878D82A}">
                    <a16:rowId xmlns:a16="http://schemas.microsoft.com/office/drawing/2014/main" val="10000"/>
                  </a:ext>
                </a:extLst>
              </a:tr>
              <a:tr h="370681">
                <a:tc>
                  <a:txBody>
                    <a:bodyPr/>
                    <a:lstStyle/>
                    <a:p>
                      <a:pPr algn="ctr"/>
                      <a:r>
                        <a:rPr lang="en-CA" sz="1800" dirty="0"/>
                        <a:t>1</a:t>
                      </a:r>
                    </a:p>
                  </a:txBody>
                  <a:tcPr marL="91437" marR="91437" marT="45700" marB="45700"/>
                </a:tc>
                <a:tc>
                  <a:txBody>
                    <a:bodyPr/>
                    <a:lstStyle/>
                    <a:p>
                      <a:pPr algn="ctr"/>
                      <a:r>
                        <a:rPr lang="en-CA" sz="1800" dirty="0"/>
                        <a:t>Suzanne Collins</a:t>
                      </a:r>
                    </a:p>
                  </a:txBody>
                  <a:tcPr marL="91437" marR="91437" marT="45700" marB="45700"/>
                </a:tc>
                <a:extLst>
                  <a:ext uri="{0D108BD9-81ED-4DB2-BD59-A6C34878D82A}">
                    <a16:rowId xmlns:a16="http://schemas.microsoft.com/office/drawing/2014/main" val="10001"/>
                  </a:ext>
                </a:extLst>
              </a:tr>
            </a:tbl>
          </a:graphicData>
        </a:graphic>
      </p:graphicFrame>
      <p:sp>
        <p:nvSpPr>
          <p:cNvPr id="8" name="TextBox 7">
            <a:extLst>
              <a:ext uri="{FF2B5EF4-FFF2-40B4-BE49-F238E27FC236}">
                <a16:creationId xmlns:a16="http://schemas.microsoft.com/office/drawing/2014/main" id="{16967FDA-3F5D-41BA-C173-D2D4828FFF92}"/>
              </a:ext>
            </a:extLst>
          </p:cNvPr>
          <p:cNvSpPr txBox="1">
            <a:spLocks noChangeArrowheads="1"/>
          </p:cNvSpPr>
          <p:nvPr/>
        </p:nvSpPr>
        <p:spPr bwMode="auto">
          <a:xfrm>
            <a:off x="3568700" y="5949950"/>
            <a:ext cx="165576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CA" altLang="en-US"/>
              <a:t>Author table</a:t>
            </a:r>
          </a:p>
        </p:txBody>
      </p:sp>
      <p:sp>
        <p:nvSpPr>
          <p:cNvPr id="20" name="TextBox 19">
            <a:extLst>
              <a:ext uri="{FF2B5EF4-FFF2-40B4-BE49-F238E27FC236}">
                <a16:creationId xmlns:a16="http://schemas.microsoft.com/office/drawing/2014/main" id="{AD862F72-CDD7-A563-92FE-60ED64EA6119}"/>
              </a:ext>
            </a:extLst>
          </p:cNvPr>
          <p:cNvSpPr txBox="1">
            <a:spLocks noChangeArrowheads="1"/>
          </p:cNvSpPr>
          <p:nvPr/>
        </p:nvSpPr>
        <p:spPr bwMode="auto">
          <a:xfrm>
            <a:off x="1552575" y="5013325"/>
            <a:ext cx="16557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CA" altLang="en-US"/>
              <a:t>Book table</a:t>
            </a:r>
          </a:p>
        </p:txBody>
      </p:sp>
      <p:grpSp>
        <p:nvGrpSpPr>
          <p:cNvPr id="5" name="Group 10">
            <a:extLst>
              <a:ext uri="{FF2B5EF4-FFF2-40B4-BE49-F238E27FC236}">
                <a16:creationId xmlns:a16="http://schemas.microsoft.com/office/drawing/2014/main" id="{2DCBC6CD-A7A0-4D65-AD74-BA8E8186C0A5}"/>
              </a:ext>
            </a:extLst>
          </p:cNvPr>
          <p:cNvGrpSpPr>
            <a:grpSpLocks/>
          </p:cNvGrpSpPr>
          <p:nvPr/>
        </p:nvGrpSpPr>
        <p:grpSpPr bwMode="auto">
          <a:xfrm>
            <a:off x="4972050" y="2971800"/>
            <a:ext cx="3584575" cy="646113"/>
            <a:chOff x="5148064" y="3140968"/>
            <a:chExt cx="3584237" cy="646331"/>
          </a:xfrm>
        </p:grpSpPr>
        <p:sp>
          <p:nvSpPr>
            <p:cNvPr id="65581" name="Right Brace 8">
              <a:extLst>
                <a:ext uri="{FF2B5EF4-FFF2-40B4-BE49-F238E27FC236}">
                  <a16:creationId xmlns:a16="http://schemas.microsoft.com/office/drawing/2014/main" id="{ECA72D35-0432-E20C-B4C8-82F3DAA1C9B4}"/>
                </a:ext>
              </a:extLst>
            </p:cNvPr>
            <p:cNvSpPr>
              <a:spLocks/>
            </p:cNvSpPr>
            <p:nvPr/>
          </p:nvSpPr>
          <p:spPr bwMode="auto">
            <a:xfrm>
              <a:off x="5148064" y="3140968"/>
              <a:ext cx="252028" cy="576064"/>
            </a:xfrm>
            <a:prstGeom prst="rightBrace">
              <a:avLst>
                <a:gd name="adj1" fmla="val 8328"/>
                <a:gd name="adj2" fmla="val 50000"/>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endParaRPr lang="en-CA" altLang="en-US"/>
            </a:p>
          </p:txBody>
        </p:sp>
        <p:sp>
          <p:nvSpPr>
            <p:cNvPr id="65582" name="TextBox 9">
              <a:extLst>
                <a:ext uri="{FF2B5EF4-FFF2-40B4-BE49-F238E27FC236}">
                  <a16:creationId xmlns:a16="http://schemas.microsoft.com/office/drawing/2014/main" id="{6821A86C-2550-EBCF-2625-2000CBB56E34}"/>
                </a:ext>
              </a:extLst>
            </p:cNvPr>
            <p:cNvSpPr txBox="1">
              <a:spLocks noChangeArrowheads="1"/>
            </p:cNvSpPr>
            <p:nvPr/>
          </p:nvSpPr>
          <p:spPr bwMode="auto">
            <a:xfrm>
              <a:off x="5436096" y="3140968"/>
              <a:ext cx="329620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CA" altLang="en-US"/>
                <a:t>Valid foreign key value as there is an author with ID of 1</a:t>
              </a:r>
            </a:p>
          </p:txBody>
        </p:sp>
      </p:grpSp>
      <p:grpSp>
        <p:nvGrpSpPr>
          <p:cNvPr id="6" name="Group 28">
            <a:extLst>
              <a:ext uri="{FF2B5EF4-FFF2-40B4-BE49-F238E27FC236}">
                <a16:creationId xmlns:a16="http://schemas.microsoft.com/office/drawing/2014/main" id="{E500F973-4C20-3554-B227-2DDDCEB714E4}"/>
              </a:ext>
            </a:extLst>
          </p:cNvPr>
          <p:cNvGrpSpPr>
            <a:grpSpLocks/>
          </p:cNvGrpSpPr>
          <p:nvPr/>
        </p:nvGrpSpPr>
        <p:grpSpPr bwMode="auto">
          <a:xfrm>
            <a:off x="4989513" y="3608388"/>
            <a:ext cx="3582987" cy="646112"/>
            <a:chOff x="5148064" y="3140968"/>
            <a:chExt cx="3584237" cy="646331"/>
          </a:xfrm>
        </p:grpSpPr>
        <p:sp>
          <p:nvSpPr>
            <p:cNvPr id="65579" name="Right Brace 29">
              <a:extLst>
                <a:ext uri="{FF2B5EF4-FFF2-40B4-BE49-F238E27FC236}">
                  <a16:creationId xmlns:a16="http://schemas.microsoft.com/office/drawing/2014/main" id="{E6E0A6AE-92DF-FCF0-2869-9E92370B682D}"/>
                </a:ext>
              </a:extLst>
            </p:cNvPr>
            <p:cNvSpPr>
              <a:spLocks/>
            </p:cNvSpPr>
            <p:nvPr/>
          </p:nvSpPr>
          <p:spPr bwMode="auto">
            <a:xfrm>
              <a:off x="5148064" y="3140968"/>
              <a:ext cx="252028" cy="576064"/>
            </a:xfrm>
            <a:prstGeom prst="rightBrace">
              <a:avLst>
                <a:gd name="adj1" fmla="val 8328"/>
                <a:gd name="adj2" fmla="val 50000"/>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endParaRPr lang="en-CA" altLang="en-US"/>
            </a:p>
          </p:txBody>
        </p:sp>
        <p:sp>
          <p:nvSpPr>
            <p:cNvPr id="65580" name="TextBox 30">
              <a:extLst>
                <a:ext uri="{FF2B5EF4-FFF2-40B4-BE49-F238E27FC236}">
                  <a16:creationId xmlns:a16="http://schemas.microsoft.com/office/drawing/2014/main" id="{389A92EE-A1A4-91E9-5CB7-08418C7DF955}"/>
                </a:ext>
              </a:extLst>
            </p:cNvPr>
            <p:cNvSpPr txBox="1">
              <a:spLocks noChangeArrowheads="1"/>
            </p:cNvSpPr>
            <p:nvPr/>
          </p:nvSpPr>
          <p:spPr bwMode="auto">
            <a:xfrm>
              <a:off x="5436096" y="3140968"/>
              <a:ext cx="329620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CA" altLang="en-US"/>
                <a:t>Valid foreign key value as author is unknown</a:t>
              </a:r>
            </a:p>
          </p:txBody>
        </p:sp>
      </p:grpSp>
      <p:grpSp>
        <p:nvGrpSpPr>
          <p:cNvPr id="7" name="Group 31">
            <a:extLst>
              <a:ext uri="{FF2B5EF4-FFF2-40B4-BE49-F238E27FC236}">
                <a16:creationId xmlns:a16="http://schemas.microsoft.com/office/drawing/2014/main" id="{09D91C05-FEDF-DEE7-7F79-5A9A578FEB7F}"/>
              </a:ext>
            </a:extLst>
          </p:cNvPr>
          <p:cNvGrpSpPr>
            <a:grpSpLocks/>
          </p:cNvGrpSpPr>
          <p:nvPr/>
        </p:nvGrpSpPr>
        <p:grpSpPr bwMode="auto">
          <a:xfrm>
            <a:off x="4972050" y="4256088"/>
            <a:ext cx="3584575" cy="646112"/>
            <a:chOff x="5148064" y="3140968"/>
            <a:chExt cx="3584237" cy="646331"/>
          </a:xfrm>
        </p:grpSpPr>
        <p:sp>
          <p:nvSpPr>
            <p:cNvPr id="65577" name="Right Brace 32">
              <a:extLst>
                <a:ext uri="{FF2B5EF4-FFF2-40B4-BE49-F238E27FC236}">
                  <a16:creationId xmlns:a16="http://schemas.microsoft.com/office/drawing/2014/main" id="{E6D56D35-F944-45E2-0DDE-D9B6E627399E}"/>
                </a:ext>
              </a:extLst>
            </p:cNvPr>
            <p:cNvSpPr>
              <a:spLocks/>
            </p:cNvSpPr>
            <p:nvPr/>
          </p:nvSpPr>
          <p:spPr bwMode="auto">
            <a:xfrm>
              <a:off x="5148064" y="3140968"/>
              <a:ext cx="252028" cy="576064"/>
            </a:xfrm>
            <a:prstGeom prst="rightBrace">
              <a:avLst>
                <a:gd name="adj1" fmla="val 8328"/>
                <a:gd name="adj2" fmla="val 50000"/>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endParaRPr lang="en-CA" altLang="en-US"/>
            </a:p>
          </p:txBody>
        </p:sp>
        <p:sp>
          <p:nvSpPr>
            <p:cNvPr id="65578" name="TextBox 33">
              <a:extLst>
                <a:ext uri="{FF2B5EF4-FFF2-40B4-BE49-F238E27FC236}">
                  <a16:creationId xmlns:a16="http://schemas.microsoft.com/office/drawing/2014/main" id="{11E5FEE0-D418-9CA9-34C0-97012BD0AAB5}"/>
                </a:ext>
              </a:extLst>
            </p:cNvPr>
            <p:cNvSpPr txBox="1">
              <a:spLocks noChangeArrowheads="1"/>
            </p:cNvSpPr>
            <p:nvPr/>
          </p:nvSpPr>
          <p:spPr bwMode="auto">
            <a:xfrm>
              <a:off x="5436096" y="3140968"/>
              <a:ext cx="329620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CA" altLang="en-US"/>
                <a:t>Invalid foreign key value as there is no author with ID of 2</a:t>
              </a:r>
            </a:p>
          </p:txBody>
        </p:sp>
      </p:grpSp>
      <p:grpSp>
        <p:nvGrpSpPr>
          <p:cNvPr id="9" name="Group 35">
            <a:extLst>
              <a:ext uri="{FF2B5EF4-FFF2-40B4-BE49-F238E27FC236}">
                <a16:creationId xmlns:a16="http://schemas.microsoft.com/office/drawing/2014/main" id="{38F44C76-71BC-5BEB-E259-E460D1001CE4}"/>
              </a:ext>
            </a:extLst>
          </p:cNvPr>
          <p:cNvGrpSpPr>
            <a:grpSpLocks/>
          </p:cNvGrpSpPr>
          <p:nvPr/>
        </p:nvGrpSpPr>
        <p:grpSpPr bwMode="auto">
          <a:xfrm>
            <a:off x="3821113" y="4668838"/>
            <a:ext cx="3743325" cy="1208087"/>
            <a:chOff x="6721920" y="1864338"/>
            <a:chExt cx="3744416" cy="1208309"/>
          </a:xfrm>
        </p:grpSpPr>
        <p:sp>
          <p:nvSpPr>
            <p:cNvPr id="38" name="Rectangle 37">
              <a:extLst>
                <a:ext uri="{FF2B5EF4-FFF2-40B4-BE49-F238E27FC236}">
                  <a16:creationId xmlns:a16="http://schemas.microsoft.com/office/drawing/2014/main" id="{4043320C-9586-72E7-58D5-7376CDFBD380}"/>
                </a:ext>
              </a:extLst>
            </p:cNvPr>
            <p:cNvSpPr/>
            <p:nvPr/>
          </p:nvSpPr>
          <p:spPr bwMode="auto">
            <a:xfrm>
              <a:off x="6721920" y="2367667"/>
              <a:ext cx="3744416" cy="704980"/>
            </a:xfrm>
            <a:prstGeom prst="rect">
              <a:avLst/>
            </a:prstGeom>
            <a:ln>
              <a:headEnd type="none" w="med" len="med"/>
              <a:tailEnd type="none" w="med" len="med"/>
            </a:ln>
          </p:spPr>
          <p:style>
            <a:lnRef idx="1">
              <a:schemeClr val="accent4"/>
            </a:lnRef>
            <a:fillRef idx="3">
              <a:schemeClr val="accent4"/>
            </a:fillRef>
            <a:effectRef idx="2">
              <a:schemeClr val="accent4"/>
            </a:effectRef>
            <a:fontRef idx="minor">
              <a:schemeClr val="lt1"/>
            </a:fontRef>
          </p:style>
          <p:txBody>
            <a:bodyPr anchor="ctr" anchorCtr="1"/>
            <a:lstStyle/>
            <a:p>
              <a:pPr algn="ctr">
                <a:defRPr/>
              </a:pPr>
              <a:r>
                <a:rPr lang="en-CA" dirty="0"/>
                <a:t>This foreign key value will cause an error message to be displayed</a:t>
              </a:r>
              <a:endParaRPr lang="en-CA" dirty="0">
                <a:solidFill>
                  <a:schemeClr val="tx1"/>
                </a:solidFill>
                <a:latin typeface="Arial" charset="0"/>
              </a:endParaRPr>
            </a:p>
          </p:txBody>
        </p:sp>
        <p:cxnSp>
          <p:nvCxnSpPr>
            <p:cNvPr id="39" name="Straight Arrow Connector 38">
              <a:extLst>
                <a:ext uri="{FF2B5EF4-FFF2-40B4-BE49-F238E27FC236}">
                  <a16:creationId xmlns:a16="http://schemas.microsoft.com/office/drawing/2014/main" id="{0CA57FB4-BE81-FF51-C32C-A3E6121FFED9}"/>
                </a:ext>
              </a:extLst>
            </p:cNvPr>
            <p:cNvCxnSpPr/>
            <p:nvPr/>
          </p:nvCxnSpPr>
          <p:spPr bwMode="auto">
            <a:xfrm flipH="1" flipV="1">
              <a:off x="6836253" y="1864338"/>
              <a:ext cx="462097" cy="528734"/>
            </a:xfrm>
            <a:prstGeom prst="straightConnector1">
              <a:avLst/>
            </a:prstGeom>
            <a:ln>
              <a:headEnd type="none" w="med" len="med"/>
              <a:tailEnd type="triangle"/>
            </a:ln>
          </p:spPr>
          <p:style>
            <a:lnRef idx="1">
              <a:schemeClr val="accent4"/>
            </a:lnRef>
            <a:fillRef idx="3">
              <a:schemeClr val="accent4"/>
            </a:fillRef>
            <a:effectRef idx="2">
              <a:schemeClr val="accent4"/>
            </a:effectRef>
            <a:fontRef idx="minor">
              <a:schemeClr val="lt1"/>
            </a:fontRef>
          </p:style>
        </p:cxnSp>
      </p:grpSp>
      <p:sp>
        <p:nvSpPr>
          <p:cNvPr id="35" name="Snip Single Corner Rectangle 34">
            <a:extLst>
              <a:ext uri="{FF2B5EF4-FFF2-40B4-BE49-F238E27FC236}">
                <a16:creationId xmlns:a16="http://schemas.microsoft.com/office/drawing/2014/main" id="{0151120D-8CCF-9189-2A5D-951480BC6D4F}"/>
              </a:ext>
            </a:extLst>
          </p:cNvPr>
          <p:cNvSpPr/>
          <p:nvPr/>
        </p:nvSpPr>
        <p:spPr>
          <a:xfrm>
            <a:off x="-36513" y="1371600"/>
            <a:ext cx="1800226" cy="401638"/>
          </a:xfrm>
          <a:prstGeom prst="snip1Rect">
            <a:avLst/>
          </a:prstGeom>
          <a:solidFill>
            <a:schemeClr val="bg2">
              <a:lumMod val="50000"/>
            </a:schemeClr>
          </a:solidFill>
          <a:ln>
            <a:solidFill>
              <a:schemeClr val="bg2">
                <a:lumMod val="50000"/>
              </a:schemeClr>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indent="-342900" algn="just" eaLnBrk="1" hangingPunct="1">
              <a:spcBef>
                <a:spcPct val="20000"/>
              </a:spcBef>
              <a:buClr>
                <a:srgbClr val="FF6600"/>
              </a:buClr>
              <a:buSzPct val="100000"/>
              <a:defRPr/>
            </a:pPr>
            <a:r>
              <a:rPr lang="en-GB" kern="0" dirty="0">
                <a:solidFill>
                  <a:schemeClr val="bg1"/>
                </a:solidFill>
              </a:rPr>
              <a:t>FOREIGN KEY</a:t>
            </a:r>
          </a:p>
        </p:txBody>
      </p:sp>
      <p:sp>
        <p:nvSpPr>
          <p:cNvPr id="37" name="Multiply 36">
            <a:extLst>
              <a:ext uri="{FF2B5EF4-FFF2-40B4-BE49-F238E27FC236}">
                <a16:creationId xmlns:a16="http://schemas.microsoft.com/office/drawing/2014/main" id="{13065738-5EFC-913B-79C0-EC88DDD13699}"/>
              </a:ext>
            </a:extLst>
          </p:cNvPr>
          <p:cNvSpPr/>
          <p:nvPr/>
        </p:nvSpPr>
        <p:spPr bwMode="auto">
          <a:xfrm>
            <a:off x="3582286" y="4295082"/>
            <a:ext cx="634575" cy="646086"/>
          </a:xfrm>
          <a:prstGeom prst="mathMultiply">
            <a:avLst>
              <a:gd name="adj1" fmla="val 14809"/>
            </a:avLst>
          </a:prstGeom>
          <a:solidFill>
            <a:srgbClr val="C00000"/>
          </a:solidFill>
          <a:ln w="9525" cap="flat" cmpd="sng" algn="ctr">
            <a:noFill/>
            <a:prstDash val="solid"/>
            <a:round/>
            <a:headEnd type="none" w="med" len="med"/>
            <a:tailEnd type="none" w="med" len="med"/>
          </a:ln>
          <a:effectLst/>
          <a:scene3d>
            <a:camera prst="orthographicFront"/>
            <a:lightRig rig="threePt" dir="t"/>
          </a:scene3d>
          <a:sp3d>
            <a:bevelT w="25400" h="25400"/>
          </a:sp3d>
        </p:spPr>
        <p:txBody>
          <a:bodyPr/>
          <a:lstStyle/>
          <a:p>
            <a:pPr>
              <a:defRPr/>
            </a:pPr>
            <a:endParaRPr lang="en-MY">
              <a:latin typeface="Arial"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wipe(left)">
                                      <p:cBhvr>
                                        <p:cTn id="7" dur="500"/>
                                        <p:tgtEl>
                                          <p:spTgt spid="1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up)">
                                      <p:cBhvr>
                                        <p:cTn id="12" dur="500"/>
                                        <p:tgtEl>
                                          <p:spTgt spid="3"/>
                                        </p:tgtEl>
                                      </p:cBhvr>
                                    </p:animEffect>
                                  </p:childTnLst>
                                </p:cTn>
                              </p:par>
                            </p:childTnLst>
                          </p:cTn>
                        </p:par>
                        <p:par>
                          <p:cTn id="13" fill="hold" nodeType="afterGroup">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wipe(left)">
                                      <p:cBhvr>
                                        <p:cTn id="16" dur="500"/>
                                        <p:tgtEl>
                                          <p:spTgt spid="20"/>
                                        </p:tgtEl>
                                      </p:cBhvr>
                                    </p:animEffect>
                                  </p:childTnLst>
                                </p:cTn>
                              </p:par>
                            </p:childTnLst>
                          </p:cTn>
                        </p:par>
                        <p:par>
                          <p:cTn id="17" fill="hold" nodeType="afterGroup">
                            <p:stCondLst>
                              <p:cond delay="1000"/>
                            </p:stCondLst>
                            <p:childTnLst>
                              <p:par>
                                <p:cTn id="18" presetID="22" presetClass="entr" presetSubtype="1" fill="hold" nodeType="after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wipe(up)">
                                      <p:cBhvr>
                                        <p:cTn id="20" dur="500"/>
                                        <p:tgtEl>
                                          <p:spTgt spid="4"/>
                                        </p:tgtEl>
                                      </p:cBhvr>
                                    </p:animEffect>
                                  </p:childTnLst>
                                </p:cTn>
                              </p:par>
                            </p:childTnLst>
                          </p:cTn>
                        </p:par>
                        <p:par>
                          <p:cTn id="21" fill="hold" nodeType="afterGroup">
                            <p:stCondLst>
                              <p:cond delay="1500"/>
                            </p:stCondLst>
                            <p:childTnLst>
                              <p:par>
                                <p:cTn id="22" presetID="22" presetClass="entr" presetSubtype="8" fill="hold" grpId="0" nodeType="after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wipe(left)">
                                      <p:cBhvr>
                                        <p:cTn id="24" dur="500"/>
                                        <p:tgtEl>
                                          <p:spTgt spid="8"/>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42" presetClass="entr" presetSubtype="0" fill="hold" nodeType="clickEffect">
                                  <p:stCondLst>
                                    <p:cond delay="0"/>
                                  </p:stCondLst>
                                  <p:childTnLst>
                                    <p:set>
                                      <p:cBhvr>
                                        <p:cTn id="28" dur="1" fill="hold">
                                          <p:stCondLst>
                                            <p:cond delay="0"/>
                                          </p:stCondLst>
                                        </p:cTn>
                                        <p:tgtEl>
                                          <p:spTgt spid="5"/>
                                        </p:tgtEl>
                                        <p:attrNameLst>
                                          <p:attrName>style.visibility</p:attrName>
                                        </p:attrNameLst>
                                      </p:cBhvr>
                                      <p:to>
                                        <p:strVal val="visible"/>
                                      </p:to>
                                    </p:set>
                                    <p:animEffect transition="in" filter="fade">
                                      <p:cBhvr>
                                        <p:cTn id="29" dur="1000"/>
                                        <p:tgtEl>
                                          <p:spTgt spid="5"/>
                                        </p:tgtEl>
                                      </p:cBhvr>
                                    </p:animEffect>
                                    <p:anim calcmode="lin" valueType="num">
                                      <p:cBhvr>
                                        <p:cTn id="30" dur="1000" fill="hold"/>
                                        <p:tgtEl>
                                          <p:spTgt spid="5"/>
                                        </p:tgtEl>
                                        <p:attrNameLst>
                                          <p:attrName>ppt_x</p:attrName>
                                        </p:attrNameLst>
                                      </p:cBhvr>
                                      <p:tavLst>
                                        <p:tav tm="0">
                                          <p:val>
                                            <p:strVal val="#ppt_x"/>
                                          </p:val>
                                        </p:tav>
                                        <p:tav tm="100000">
                                          <p:val>
                                            <p:strVal val="#ppt_x"/>
                                          </p:val>
                                        </p:tav>
                                      </p:tavLst>
                                    </p:anim>
                                    <p:anim calcmode="lin" valueType="num">
                                      <p:cBhvr>
                                        <p:cTn id="31"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42" presetClass="entr" presetSubtype="0" fill="hold" nodeType="clickEffect">
                                  <p:stCondLst>
                                    <p:cond delay="0"/>
                                  </p:stCondLst>
                                  <p:childTnLst>
                                    <p:set>
                                      <p:cBhvr>
                                        <p:cTn id="35" dur="1" fill="hold">
                                          <p:stCondLst>
                                            <p:cond delay="0"/>
                                          </p:stCondLst>
                                        </p:cTn>
                                        <p:tgtEl>
                                          <p:spTgt spid="6"/>
                                        </p:tgtEl>
                                        <p:attrNameLst>
                                          <p:attrName>style.visibility</p:attrName>
                                        </p:attrNameLst>
                                      </p:cBhvr>
                                      <p:to>
                                        <p:strVal val="visible"/>
                                      </p:to>
                                    </p:set>
                                    <p:animEffect transition="in" filter="fade">
                                      <p:cBhvr>
                                        <p:cTn id="36" dur="1000"/>
                                        <p:tgtEl>
                                          <p:spTgt spid="6"/>
                                        </p:tgtEl>
                                      </p:cBhvr>
                                    </p:animEffect>
                                    <p:anim calcmode="lin" valueType="num">
                                      <p:cBhvr>
                                        <p:cTn id="37" dur="1000" fill="hold"/>
                                        <p:tgtEl>
                                          <p:spTgt spid="6"/>
                                        </p:tgtEl>
                                        <p:attrNameLst>
                                          <p:attrName>ppt_x</p:attrName>
                                        </p:attrNameLst>
                                      </p:cBhvr>
                                      <p:tavLst>
                                        <p:tav tm="0">
                                          <p:val>
                                            <p:strVal val="#ppt_x"/>
                                          </p:val>
                                        </p:tav>
                                        <p:tav tm="100000">
                                          <p:val>
                                            <p:strVal val="#ppt_x"/>
                                          </p:val>
                                        </p:tav>
                                      </p:tavLst>
                                    </p:anim>
                                    <p:anim calcmode="lin" valueType="num">
                                      <p:cBhvr>
                                        <p:cTn id="38"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42" presetClass="entr" presetSubtype="0" fill="hold" nodeType="clickEffect">
                                  <p:stCondLst>
                                    <p:cond delay="0"/>
                                  </p:stCondLst>
                                  <p:childTnLst>
                                    <p:set>
                                      <p:cBhvr>
                                        <p:cTn id="42" dur="1" fill="hold">
                                          <p:stCondLst>
                                            <p:cond delay="0"/>
                                          </p:stCondLst>
                                        </p:cTn>
                                        <p:tgtEl>
                                          <p:spTgt spid="7"/>
                                        </p:tgtEl>
                                        <p:attrNameLst>
                                          <p:attrName>style.visibility</p:attrName>
                                        </p:attrNameLst>
                                      </p:cBhvr>
                                      <p:to>
                                        <p:strVal val="visible"/>
                                      </p:to>
                                    </p:set>
                                    <p:animEffect transition="in" filter="fade">
                                      <p:cBhvr>
                                        <p:cTn id="43" dur="1000"/>
                                        <p:tgtEl>
                                          <p:spTgt spid="7"/>
                                        </p:tgtEl>
                                      </p:cBhvr>
                                    </p:animEffect>
                                    <p:anim calcmode="lin" valueType="num">
                                      <p:cBhvr>
                                        <p:cTn id="44" dur="1000" fill="hold"/>
                                        <p:tgtEl>
                                          <p:spTgt spid="7"/>
                                        </p:tgtEl>
                                        <p:attrNameLst>
                                          <p:attrName>ppt_x</p:attrName>
                                        </p:attrNameLst>
                                      </p:cBhvr>
                                      <p:tavLst>
                                        <p:tav tm="0">
                                          <p:val>
                                            <p:strVal val="#ppt_x"/>
                                          </p:val>
                                        </p:tav>
                                        <p:tav tm="100000">
                                          <p:val>
                                            <p:strVal val="#ppt_x"/>
                                          </p:val>
                                        </p:tav>
                                      </p:tavLst>
                                    </p:anim>
                                    <p:anim calcmode="lin" valueType="num">
                                      <p:cBhvr>
                                        <p:cTn id="45"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46" fill="hold" nodeType="clickPar">
                      <p:stCondLst>
                        <p:cond delay="indefinite"/>
                      </p:stCondLst>
                      <p:childTnLst>
                        <p:par>
                          <p:cTn id="47" fill="hold" nodeType="withGroup">
                            <p:stCondLst>
                              <p:cond delay="0"/>
                            </p:stCondLst>
                            <p:childTnLst>
                              <p:par>
                                <p:cTn id="48" presetID="2" presetClass="entr" presetSubtype="2" fill="hold" nodeType="clickEffect">
                                  <p:stCondLst>
                                    <p:cond delay="0"/>
                                  </p:stCondLst>
                                  <p:childTnLst>
                                    <p:set>
                                      <p:cBhvr>
                                        <p:cTn id="49" dur="1" fill="hold">
                                          <p:stCondLst>
                                            <p:cond delay="0"/>
                                          </p:stCondLst>
                                        </p:cTn>
                                        <p:tgtEl>
                                          <p:spTgt spid="9"/>
                                        </p:tgtEl>
                                        <p:attrNameLst>
                                          <p:attrName>style.visibility</p:attrName>
                                        </p:attrNameLst>
                                      </p:cBhvr>
                                      <p:to>
                                        <p:strVal val="visible"/>
                                      </p:to>
                                    </p:set>
                                    <p:anim calcmode="lin" valueType="num">
                                      <p:cBhvr additive="base">
                                        <p:cTn id="50" dur="500" fill="hold"/>
                                        <p:tgtEl>
                                          <p:spTgt spid="9"/>
                                        </p:tgtEl>
                                        <p:attrNameLst>
                                          <p:attrName>ppt_x</p:attrName>
                                        </p:attrNameLst>
                                      </p:cBhvr>
                                      <p:tavLst>
                                        <p:tav tm="0">
                                          <p:val>
                                            <p:strVal val="1+#ppt_w/2"/>
                                          </p:val>
                                        </p:tav>
                                        <p:tav tm="100000">
                                          <p:val>
                                            <p:strVal val="#ppt_x"/>
                                          </p:val>
                                        </p:tav>
                                      </p:tavLst>
                                    </p:anim>
                                    <p:anim calcmode="lin" valueType="num">
                                      <p:cBhvr additive="base">
                                        <p:cTn id="51"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52" fill="hold" nodeType="clickPar">
                      <p:stCondLst>
                        <p:cond delay="indefinite"/>
                      </p:stCondLst>
                      <p:childTnLst>
                        <p:par>
                          <p:cTn id="53" fill="hold" nodeType="withGroup">
                            <p:stCondLst>
                              <p:cond delay="0"/>
                            </p:stCondLst>
                            <p:childTnLst>
                              <p:par>
                                <p:cTn id="54" presetID="42" presetClass="entr" presetSubtype="0" fill="hold" nodeType="clickEffect">
                                  <p:stCondLst>
                                    <p:cond delay="0"/>
                                  </p:stCondLst>
                                  <p:childTnLst>
                                    <p:set>
                                      <p:cBhvr>
                                        <p:cTn id="55" dur="1" fill="hold">
                                          <p:stCondLst>
                                            <p:cond delay="0"/>
                                          </p:stCondLst>
                                        </p:cTn>
                                        <p:tgtEl>
                                          <p:spTgt spid="37"/>
                                        </p:tgtEl>
                                        <p:attrNameLst>
                                          <p:attrName>style.visibility</p:attrName>
                                        </p:attrNameLst>
                                      </p:cBhvr>
                                      <p:to>
                                        <p:strVal val="visible"/>
                                      </p:to>
                                    </p:set>
                                    <p:animEffect transition="in" filter="fade">
                                      <p:cBhvr>
                                        <p:cTn id="56" dur="1000"/>
                                        <p:tgtEl>
                                          <p:spTgt spid="37"/>
                                        </p:tgtEl>
                                      </p:cBhvr>
                                    </p:animEffect>
                                    <p:anim calcmode="lin" valueType="num">
                                      <p:cBhvr>
                                        <p:cTn id="57" dur="1000" fill="hold"/>
                                        <p:tgtEl>
                                          <p:spTgt spid="37"/>
                                        </p:tgtEl>
                                        <p:attrNameLst>
                                          <p:attrName>ppt_x</p:attrName>
                                        </p:attrNameLst>
                                      </p:cBhvr>
                                      <p:tavLst>
                                        <p:tav tm="0">
                                          <p:val>
                                            <p:strVal val="#ppt_x"/>
                                          </p:val>
                                        </p:tav>
                                        <p:tav tm="100000">
                                          <p:val>
                                            <p:strVal val="#ppt_x"/>
                                          </p:val>
                                        </p:tav>
                                      </p:tavLst>
                                    </p:anim>
                                    <p:anim calcmode="lin" valueType="num">
                                      <p:cBhvr>
                                        <p:cTn id="58" dur="1000" fill="hold"/>
                                        <p:tgtEl>
                                          <p:spTgt spid="3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0"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50D8F1-08C9-5BA5-D2FE-DBE357F97428}"/>
              </a:ext>
            </a:extLst>
          </p:cNvPr>
          <p:cNvSpPr>
            <a:spLocks noGrp="1"/>
          </p:cNvSpPr>
          <p:nvPr>
            <p:ph type="title"/>
          </p:nvPr>
        </p:nvSpPr>
        <p:spPr>
          <a:xfrm>
            <a:off x="457200" y="0"/>
            <a:ext cx="7620000" cy="1143000"/>
          </a:xfrm>
        </p:spPr>
        <p:txBody>
          <a:bodyPr/>
          <a:lstStyle/>
          <a:p>
            <a:pPr>
              <a:defRPr/>
            </a:pPr>
            <a:r>
              <a:rPr lang="en-US" dirty="0"/>
              <a:t>Manipulating Tables Using SQL</a:t>
            </a:r>
            <a:endParaRPr lang="en-MY" dirty="0"/>
          </a:p>
        </p:txBody>
      </p:sp>
      <p:sp>
        <p:nvSpPr>
          <p:cNvPr id="23" name="Title 1">
            <a:extLst>
              <a:ext uri="{FF2B5EF4-FFF2-40B4-BE49-F238E27FC236}">
                <a16:creationId xmlns:a16="http://schemas.microsoft.com/office/drawing/2014/main" id="{DE5258C5-04AE-5C50-9078-1CBAC63D456C}"/>
              </a:ext>
            </a:extLst>
          </p:cNvPr>
          <p:cNvSpPr txBox="1">
            <a:spLocks/>
          </p:cNvSpPr>
          <p:nvPr/>
        </p:nvSpPr>
        <p:spPr bwMode="auto">
          <a:xfrm>
            <a:off x="0" y="1123950"/>
            <a:ext cx="8172450" cy="323850"/>
          </a:xfrm>
          <a:prstGeom prst="rect">
            <a:avLst/>
          </a:prstGeom>
          <a:noFill/>
          <a:ln w="9525">
            <a:noFill/>
            <a:miter lim="800000"/>
            <a:headEnd/>
            <a:tailEnd/>
          </a:ln>
        </p:spPr>
        <p:txBody>
          <a:bodyPr lIns="72000" tIns="0" rIns="72000" bIns="0"/>
          <a:lstStyle/>
          <a:p>
            <a:pPr defTabSz="720000" eaLnBrk="1" hangingPunct="1">
              <a:lnSpc>
                <a:spcPts val="1800"/>
              </a:lnSpc>
              <a:spcBef>
                <a:spcPts val="0"/>
              </a:spcBef>
              <a:spcAft>
                <a:spcPts val="0"/>
              </a:spcAft>
              <a:tabLst>
                <a:tab pos="0" algn="l"/>
              </a:tabLst>
              <a:defRPr/>
            </a:pPr>
            <a:r>
              <a:rPr lang="en-CA" b="1" kern="0" dirty="0">
                <a:cs typeface="Calibri" pitchFamily="34" charset="0"/>
              </a:rPr>
              <a:t>Enforcing Data Integrity Using SQL</a:t>
            </a:r>
            <a:r>
              <a:rPr lang="en-US" b="1" kern="0" dirty="0">
                <a:cs typeface="Calibri" pitchFamily="34" charset="0"/>
              </a:rPr>
              <a:t> </a:t>
            </a:r>
            <a:endParaRPr lang="en-MY" b="1" kern="0" dirty="0">
              <a:cs typeface="Calibri" pitchFamily="34" charset="0"/>
            </a:endParaRPr>
          </a:p>
          <a:p>
            <a:pPr defTabSz="720000" eaLnBrk="1" hangingPunct="1">
              <a:lnSpc>
                <a:spcPts val="1800"/>
              </a:lnSpc>
              <a:spcBef>
                <a:spcPts val="0"/>
              </a:spcBef>
              <a:spcAft>
                <a:spcPts val="0"/>
              </a:spcAft>
              <a:tabLst>
                <a:tab pos="0" algn="l"/>
              </a:tabLst>
              <a:defRPr/>
            </a:pPr>
            <a:endParaRPr lang="en-MY" b="1" kern="0" dirty="0">
              <a:latin typeface="+mn-lt"/>
              <a:ea typeface="+mj-ea"/>
              <a:cs typeface="Calibri" pitchFamily="34" charset="0"/>
            </a:endParaRPr>
          </a:p>
        </p:txBody>
      </p:sp>
      <p:sp>
        <p:nvSpPr>
          <p:cNvPr id="13" name="Content Placeholder 2">
            <a:extLst>
              <a:ext uri="{FF2B5EF4-FFF2-40B4-BE49-F238E27FC236}">
                <a16:creationId xmlns:a16="http://schemas.microsoft.com/office/drawing/2014/main" id="{BC7FC6D9-63EB-D3BF-EFE2-D558A96BC980}"/>
              </a:ext>
            </a:extLst>
          </p:cNvPr>
          <p:cNvSpPr txBox="1">
            <a:spLocks/>
          </p:cNvSpPr>
          <p:nvPr/>
        </p:nvSpPr>
        <p:spPr bwMode="auto">
          <a:xfrm>
            <a:off x="125413" y="2060575"/>
            <a:ext cx="8180387" cy="108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rgbClr val="FF6600"/>
              </a:buClr>
              <a:buFont typeface="Wingdings 3" panose="05040102010807070707" pitchFamily="18" charset="2"/>
              <a:buNone/>
            </a:pPr>
            <a:r>
              <a:rPr lang="en-CA" altLang="en-US" sz="2800">
                <a:latin typeface="Calibri" panose="020F0502020204030204" pitchFamily="34" charset="0"/>
              </a:rPr>
              <a:t>To set a column as a FOREIGN KEY in an existing table, </a:t>
            </a:r>
            <a:r>
              <a:rPr lang="en-US" altLang="en-US" sz="2800">
                <a:latin typeface="Calibri" panose="020F0502020204030204" pitchFamily="34" charset="0"/>
              </a:rPr>
              <a:t>the SQL syntax is:</a:t>
            </a:r>
          </a:p>
          <a:p>
            <a:pPr algn="just" eaLnBrk="1" hangingPunct="1">
              <a:spcBef>
                <a:spcPct val="20000"/>
              </a:spcBef>
              <a:buClr>
                <a:srgbClr val="FF6600"/>
              </a:buClr>
              <a:buFont typeface="Wingdings 3" panose="05040102010807070707" pitchFamily="18" charset="2"/>
              <a:buNone/>
            </a:pPr>
            <a:endParaRPr lang="en-US"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US"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US" altLang="en-US" sz="32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r>
              <a:rPr lang="en-US" altLang="en-US" sz="2800">
                <a:latin typeface="Calibri" panose="020F0502020204030204" pitchFamily="34" charset="0"/>
              </a:rPr>
              <a:t>For example, to set </a:t>
            </a:r>
            <a:r>
              <a:rPr lang="en-CA" altLang="en-US" sz="2800">
                <a:latin typeface="Calibri" panose="020F0502020204030204" pitchFamily="34" charset="0"/>
              </a:rPr>
              <a:t>“AuthorID” as a FOREIGN KEY</a:t>
            </a: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p:txBody>
      </p:sp>
      <p:sp>
        <p:nvSpPr>
          <p:cNvPr id="25" name="Rounded Rectangle 24">
            <a:extLst>
              <a:ext uri="{FF2B5EF4-FFF2-40B4-BE49-F238E27FC236}">
                <a16:creationId xmlns:a16="http://schemas.microsoft.com/office/drawing/2014/main" id="{C14AE737-AFCE-845B-D96B-2AF4D0EA1117}"/>
              </a:ext>
            </a:extLst>
          </p:cNvPr>
          <p:cNvSpPr>
            <a:spLocks noChangeArrowheads="1"/>
          </p:cNvSpPr>
          <p:nvPr/>
        </p:nvSpPr>
        <p:spPr bwMode="auto">
          <a:xfrm>
            <a:off x="765175" y="2997200"/>
            <a:ext cx="7007225" cy="1295400"/>
          </a:xfrm>
          <a:prstGeom prst="roundRect">
            <a:avLst>
              <a:gd name="adj" fmla="val 16667"/>
            </a:avLst>
          </a:prstGeom>
          <a:solidFill>
            <a:srgbClr val="7F7B00">
              <a:alpha val="30196"/>
            </a:srgbClr>
          </a:solidFill>
          <a:ln w="9525" algn="ctr">
            <a:solidFill>
              <a:srgbClr val="7F7B00"/>
            </a:solidFill>
            <a:round/>
            <a:headEnd/>
            <a:tailEnd/>
          </a:ln>
        </p:spPr>
        <p:txBody>
          <a:bodyPr anchor="ctr" anchorCtr="1"/>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CA" altLang="en-US" sz="2400"/>
              <a:t>ALTER TABLE &lt;table_name&gt; ADD FOREIGN KEY(&lt;column_name&gt;) REFERENCES &lt;table_name&gt;(&lt;table_column_name&gt;);</a:t>
            </a:r>
          </a:p>
        </p:txBody>
      </p:sp>
      <p:sp>
        <p:nvSpPr>
          <p:cNvPr id="26" name="Rounded Rectangle 25">
            <a:extLst>
              <a:ext uri="{FF2B5EF4-FFF2-40B4-BE49-F238E27FC236}">
                <a16:creationId xmlns:a16="http://schemas.microsoft.com/office/drawing/2014/main" id="{1D5AA1AF-8A60-D818-425B-AC433F09DA37}"/>
              </a:ext>
            </a:extLst>
          </p:cNvPr>
          <p:cNvSpPr/>
          <p:nvPr/>
        </p:nvSpPr>
        <p:spPr bwMode="auto">
          <a:xfrm>
            <a:off x="765175" y="5160963"/>
            <a:ext cx="7007225" cy="1079500"/>
          </a:xfrm>
          <a:prstGeom prst="roundRect">
            <a:avLst/>
          </a:prstGeom>
          <a:solidFill>
            <a:schemeClr val="accent6">
              <a:alpha val="30000"/>
            </a:schemeClr>
          </a:solidFill>
          <a:ln w="9525" cap="flat" cmpd="sng" algn="ctr">
            <a:solidFill>
              <a:schemeClr val="accent6"/>
            </a:solidFill>
            <a:prstDash val="solid"/>
            <a:round/>
            <a:headEnd type="none" w="med" len="med"/>
            <a:tailEnd type="none" w="med" len="med"/>
          </a:ln>
          <a:effectLst/>
        </p:spPr>
        <p:txBody>
          <a:bodyPr anchor="ctr" anchorCtr="1"/>
          <a:lstStyle/>
          <a:p>
            <a:pPr>
              <a:defRPr/>
            </a:pPr>
            <a:r>
              <a:rPr lang="en-CA" sz="2400" dirty="0"/>
              <a:t>ALTER TABLE Book ADD FOREIGN KEY(</a:t>
            </a:r>
            <a:r>
              <a:rPr lang="en-CA" sz="2400" dirty="0" err="1"/>
              <a:t>AuthorID</a:t>
            </a:r>
            <a:r>
              <a:rPr lang="en-CA" sz="2400" dirty="0"/>
              <a:t>) REFERENCES Author(ID);</a:t>
            </a:r>
          </a:p>
        </p:txBody>
      </p:sp>
      <p:sp>
        <p:nvSpPr>
          <p:cNvPr id="14" name="Snip Single Corner Rectangle 13">
            <a:extLst>
              <a:ext uri="{FF2B5EF4-FFF2-40B4-BE49-F238E27FC236}">
                <a16:creationId xmlns:a16="http://schemas.microsoft.com/office/drawing/2014/main" id="{6824A7AF-D133-17F8-2B4B-FB0EFAEB77AC}"/>
              </a:ext>
            </a:extLst>
          </p:cNvPr>
          <p:cNvSpPr/>
          <p:nvPr/>
        </p:nvSpPr>
        <p:spPr>
          <a:xfrm>
            <a:off x="-36513" y="1371600"/>
            <a:ext cx="1800226" cy="401638"/>
          </a:xfrm>
          <a:prstGeom prst="snip1Rect">
            <a:avLst/>
          </a:prstGeom>
          <a:solidFill>
            <a:schemeClr val="bg2">
              <a:lumMod val="50000"/>
            </a:schemeClr>
          </a:solidFill>
          <a:ln>
            <a:solidFill>
              <a:schemeClr val="bg2">
                <a:lumMod val="50000"/>
              </a:schemeClr>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indent="-342900" algn="just" eaLnBrk="1" hangingPunct="1">
              <a:spcBef>
                <a:spcPct val="20000"/>
              </a:spcBef>
              <a:buClr>
                <a:srgbClr val="FF6600"/>
              </a:buClr>
              <a:buSzPct val="100000"/>
              <a:defRPr/>
            </a:pPr>
            <a:r>
              <a:rPr lang="en-GB" kern="0" dirty="0">
                <a:solidFill>
                  <a:schemeClr val="bg1"/>
                </a:solidFill>
              </a:rPr>
              <a:t>FOREIGN KEY</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wipe(left)">
                                      <p:cBhvr>
                                        <p:cTn id="7" dur="500"/>
                                        <p:tgtEl>
                                          <p:spTgt spid="13">
                                            <p:txEl>
                                              <p:pRg st="0" end="0"/>
                                            </p:txEl>
                                          </p:spTgt>
                                        </p:tgtEl>
                                      </p:cBhvr>
                                    </p:animEffect>
                                  </p:childTnLst>
                                </p:cTn>
                              </p:par>
                            </p:childTnLst>
                          </p:cTn>
                        </p:par>
                        <p:par>
                          <p:cTn id="8" fill="hold" nodeType="afterGroup">
                            <p:stCondLst>
                              <p:cond delay="500"/>
                            </p:stCondLst>
                            <p:childTnLst>
                              <p:par>
                                <p:cTn id="9" presetID="16" presetClass="entr" presetSubtype="21"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barn(inVertical)">
                                      <p:cBhvr>
                                        <p:cTn id="11" dur="500"/>
                                        <p:tgtEl>
                                          <p:spTgt spid="25"/>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3">
                                            <p:txEl>
                                              <p:pRg st="4" end="4"/>
                                            </p:txEl>
                                          </p:spTgt>
                                        </p:tgtEl>
                                        <p:attrNameLst>
                                          <p:attrName>style.visibility</p:attrName>
                                        </p:attrNameLst>
                                      </p:cBhvr>
                                      <p:to>
                                        <p:strVal val="visible"/>
                                      </p:to>
                                    </p:set>
                                    <p:animEffect transition="in" filter="wipe(left)">
                                      <p:cBhvr>
                                        <p:cTn id="16" dur="500"/>
                                        <p:tgtEl>
                                          <p:spTgt spid="13">
                                            <p:txEl>
                                              <p:pRg st="4" end="4"/>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6" presetClass="entr" presetSubtype="21" fill="hold" grpId="0" nodeType="click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barn(inVertical)">
                                      <p:cBhvr>
                                        <p:cTn id="21"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P spid="25" grpId="0" animBg="1"/>
      <p:bldP spid="26"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61097-42B9-C5D7-7091-4DAB6A73A3EC}"/>
              </a:ext>
            </a:extLst>
          </p:cNvPr>
          <p:cNvSpPr>
            <a:spLocks noGrp="1"/>
          </p:cNvSpPr>
          <p:nvPr>
            <p:ph type="title"/>
          </p:nvPr>
        </p:nvSpPr>
        <p:spPr>
          <a:xfrm>
            <a:off x="457200" y="0"/>
            <a:ext cx="7620000" cy="1143000"/>
          </a:xfrm>
        </p:spPr>
        <p:txBody>
          <a:bodyPr/>
          <a:lstStyle/>
          <a:p>
            <a:pPr>
              <a:defRPr/>
            </a:pPr>
            <a:r>
              <a:rPr lang="en-US" dirty="0"/>
              <a:t>Manipulating Tables Using SQL</a:t>
            </a:r>
            <a:endParaRPr lang="en-MY" dirty="0"/>
          </a:p>
        </p:txBody>
      </p:sp>
      <p:sp>
        <p:nvSpPr>
          <p:cNvPr id="11" name="Title 1">
            <a:extLst>
              <a:ext uri="{FF2B5EF4-FFF2-40B4-BE49-F238E27FC236}">
                <a16:creationId xmlns:a16="http://schemas.microsoft.com/office/drawing/2014/main" id="{AB3C6E82-E546-A895-ED92-0BD8156BE6A3}"/>
              </a:ext>
            </a:extLst>
          </p:cNvPr>
          <p:cNvSpPr txBox="1">
            <a:spLocks/>
          </p:cNvSpPr>
          <p:nvPr/>
        </p:nvSpPr>
        <p:spPr bwMode="auto">
          <a:xfrm>
            <a:off x="0" y="1123950"/>
            <a:ext cx="8172450" cy="323850"/>
          </a:xfrm>
          <a:prstGeom prst="rect">
            <a:avLst/>
          </a:prstGeom>
          <a:noFill/>
          <a:ln w="9525">
            <a:noFill/>
            <a:miter lim="800000"/>
            <a:headEnd/>
            <a:tailEnd/>
          </a:ln>
        </p:spPr>
        <p:txBody>
          <a:bodyPr lIns="72000" tIns="0" rIns="72000" bIns="0"/>
          <a:lstStyle/>
          <a:p>
            <a:pPr defTabSz="720000" eaLnBrk="1" hangingPunct="1">
              <a:lnSpc>
                <a:spcPts val="1800"/>
              </a:lnSpc>
              <a:spcBef>
                <a:spcPts val="0"/>
              </a:spcBef>
              <a:spcAft>
                <a:spcPts val="0"/>
              </a:spcAft>
              <a:tabLst>
                <a:tab pos="0" algn="l"/>
              </a:tabLst>
              <a:defRPr/>
            </a:pPr>
            <a:r>
              <a:rPr lang="en-CA" b="1" kern="0" dirty="0">
                <a:latin typeface="+mn-lt"/>
                <a:ea typeface="+mj-ea"/>
                <a:cs typeface="Calibri" pitchFamily="34" charset="0"/>
              </a:rPr>
              <a:t>Other Table Related SQL</a:t>
            </a:r>
            <a:endParaRPr lang="en-MY" b="1" kern="0" dirty="0">
              <a:latin typeface="+mn-lt"/>
              <a:ea typeface="+mj-ea"/>
              <a:cs typeface="Calibri" pitchFamily="34" charset="0"/>
            </a:endParaRPr>
          </a:p>
        </p:txBody>
      </p:sp>
      <p:sp>
        <p:nvSpPr>
          <p:cNvPr id="10" name="Snip Single Corner Rectangle 9">
            <a:extLst>
              <a:ext uri="{FF2B5EF4-FFF2-40B4-BE49-F238E27FC236}">
                <a16:creationId xmlns:a16="http://schemas.microsoft.com/office/drawing/2014/main" id="{B06522EB-F229-BD5D-E9DB-72A108DF6899}"/>
              </a:ext>
            </a:extLst>
          </p:cNvPr>
          <p:cNvSpPr/>
          <p:nvPr/>
        </p:nvSpPr>
        <p:spPr>
          <a:xfrm>
            <a:off x="-36513" y="1385888"/>
            <a:ext cx="1079501" cy="371475"/>
          </a:xfrm>
          <a:prstGeom prst="snip1Rect">
            <a:avLst/>
          </a:prstGeom>
          <a:solidFill>
            <a:schemeClr val="tx1"/>
          </a:solidFill>
          <a:ln>
            <a:solidFill>
              <a:schemeClr val="tx1"/>
            </a:solidFill>
          </a:ln>
        </p:spPr>
        <p:style>
          <a:lnRef idx="1">
            <a:schemeClr val="accent2"/>
          </a:lnRef>
          <a:fillRef idx="3">
            <a:schemeClr val="accent2"/>
          </a:fillRef>
          <a:effectRef idx="2">
            <a:schemeClr val="accent2"/>
          </a:effectRef>
          <a:fontRef idx="minor">
            <a:schemeClr val="lt1"/>
          </a:fontRef>
        </p:style>
        <p:txBody>
          <a:bodyPr anchor="ctr">
            <a:spAutoFit/>
          </a:bodyPr>
          <a:lstStyle/>
          <a:p>
            <a:pPr algn="ctr" defTabSz="889000">
              <a:lnSpc>
                <a:spcPct val="90000"/>
              </a:lnSpc>
              <a:spcAft>
                <a:spcPct val="35000"/>
              </a:spcAft>
              <a:defRPr/>
            </a:pPr>
            <a:r>
              <a:rPr lang="en-CA" dirty="0"/>
              <a:t>Default</a:t>
            </a:r>
          </a:p>
        </p:txBody>
      </p:sp>
      <p:sp>
        <p:nvSpPr>
          <p:cNvPr id="18" name="Content Placeholder 2">
            <a:extLst>
              <a:ext uri="{FF2B5EF4-FFF2-40B4-BE49-F238E27FC236}">
                <a16:creationId xmlns:a16="http://schemas.microsoft.com/office/drawing/2014/main" id="{7D66654C-B075-8A60-E97B-BA0CA4ACCEAC}"/>
              </a:ext>
            </a:extLst>
          </p:cNvPr>
          <p:cNvSpPr txBox="1">
            <a:spLocks/>
          </p:cNvSpPr>
          <p:nvPr/>
        </p:nvSpPr>
        <p:spPr bwMode="auto">
          <a:xfrm>
            <a:off x="125413" y="2060575"/>
            <a:ext cx="8104187" cy="108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rgbClr val="FF6600"/>
              </a:buClr>
              <a:buFont typeface="Wingdings 3" panose="05040102010807070707" pitchFamily="18" charset="2"/>
              <a:buNone/>
            </a:pPr>
            <a:r>
              <a:rPr lang="en-US" altLang="en-US" sz="2800">
                <a:latin typeface="Calibri" panose="020F0502020204030204" pitchFamily="34" charset="0"/>
              </a:rPr>
              <a:t>During data entry, when no data is provided for a column, MySQL would try to enter the data on behalf of the user based on the following rules</a:t>
            </a:r>
          </a:p>
          <a:p>
            <a:pPr algn="just" eaLnBrk="1" hangingPunct="1">
              <a:spcBef>
                <a:spcPct val="20000"/>
              </a:spcBef>
              <a:buClr>
                <a:srgbClr val="FF6600"/>
              </a:buClr>
              <a:buFont typeface="Wingdings 3" panose="05040102010807070707" pitchFamily="18" charset="2"/>
              <a:buNone/>
            </a:pPr>
            <a:endParaRPr lang="en-US"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US"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US"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p:txBody>
      </p:sp>
      <p:grpSp>
        <p:nvGrpSpPr>
          <p:cNvPr id="3" name="Group 11">
            <a:extLst>
              <a:ext uri="{FF2B5EF4-FFF2-40B4-BE49-F238E27FC236}">
                <a16:creationId xmlns:a16="http://schemas.microsoft.com/office/drawing/2014/main" id="{CFEFFCC3-70EF-C809-A178-76EF83245688}"/>
              </a:ext>
            </a:extLst>
          </p:cNvPr>
          <p:cNvGrpSpPr>
            <a:grpSpLocks/>
          </p:cNvGrpSpPr>
          <p:nvPr/>
        </p:nvGrpSpPr>
        <p:grpSpPr bwMode="auto">
          <a:xfrm>
            <a:off x="131763" y="3573463"/>
            <a:ext cx="2635250" cy="1871662"/>
            <a:chOff x="603155" y="1611868"/>
            <a:chExt cx="2110644" cy="1872208"/>
          </a:xfrm>
        </p:grpSpPr>
        <p:sp>
          <p:nvSpPr>
            <p:cNvPr id="14" name="Rectangle 13">
              <a:extLst>
                <a:ext uri="{FF2B5EF4-FFF2-40B4-BE49-F238E27FC236}">
                  <a16:creationId xmlns:a16="http://schemas.microsoft.com/office/drawing/2014/main" id="{FE8F66C3-6239-0248-BAD5-F355CE8EAAF0}"/>
                </a:ext>
              </a:extLst>
            </p:cNvPr>
            <p:cNvSpPr/>
            <p:nvPr/>
          </p:nvSpPr>
          <p:spPr>
            <a:xfrm>
              <a:off x="609599" y="1611868"/>
              <a:ext cx="2104200" cy="1008112"/>
            </a:xfrm>
            <a:prstGeom prst="rect">
              <a:avLst/>
            </a:prstGeom>
          </p:spPr>
          <p:style>
            <a:lnRef idx="0">
              <a:schemeClr val="accent4"/>
            </a:lnRef>
            <a:fillRef idx="3">
              <a:schemeClr val="accent4"/>
            </a:fillRef>
            <a:effectRef idx="3">
              <a:schemeClr val="accent4"/>
            </a:effectRef>
            <a:fontRef idx="minor">
              <a:schemeClr val="lt1"/>
            </a:fontRef>
          </p:style>
          <p:txBody>
            <a:bodyPr anchor="ctr"/>
            <a:lstStyle/>
            <a:p>
              <a:pPr algn="ctr">
                <a:defRPr/>
              </a:pPr>
              <a:r>
                <a:rPr lang="en-US" sz="2000" b="1" dirty="0"/>
                <a:t>If the column has a default value assigned to it</a:t>
              </a:r>
              <a:endParaRPr lang="en-GB" sz="2000" b="1" dirty="0"/>
            </a:p>
          </p:txBody>
        </p:sp>
        <p:sp>
          <p:nvSpPr>
            <p:cNvPr id="15" name="Rectangle 14">
              <a:extLst>
                <a:ext uri="{FF2B5EF4-FFF2-40B4-BE49-F238E27FC236}">
                  <a16:creationId xmlns:a16="http://schemas.microsoft.com/office/drawing/2014/main" id="{81E104EA-4F57-5CE1-DDD7-BC0841024D3E}"/>
                </a:ext>
              </a:extLst>
            </p:cNvPr>
            <p:cNvSpPr/>
            <p:nvPr/>
          </p:nvSpPr>
          <p:spPr bwMode="auto">
            <a:xfrm>
              <a:off x="603155" y="2620224"/>
              <a:ext cx="2110644" cy="863852"/>
            </a:xfrm>
            <a:prstGeom prst="rect">
              <a:avLst/>
            </a:prstGeom>
            <a:solidFill>
              <a:schemeClr val="accent4">
                <a:lumMod val="20000"/>
                <a:lumOff val="80000"/>
              </a:schemeClr>
            </a:solidFill>
            <a:ln w="9525" cap="flat" cmpd="sng" algn="ctr">
              <a:solidFill>
                <a:schemeClr val="accent4">
                  <a:lumMod val="60000"/>
                  <a:lumOff val="40000"/>
                </a:schemeClr>
              </a:solidFill>
              <a:prstDash val="solid"/>
              <a:round/>
              <a:headEnd type="none" w="med" len="med"/>
              <a:tailEnd type="none" w="med" len="med"/>
            </a:ln>
            <a:effectLst/>
          </p:spPr>
          <p:txBody>
            <a:bodyPr/>
            <a:lstStyle/>
            <a:p>
              <a:pPr>
                <a:defRPr/>
              </a:pPr>
              <a:r>
                <a:rPr lang="en-MY" dirty="0">
                  <a:latin typeface="Arial" charset="0"/>
                </a:rPr>
                <a:t>The default value would be assigned as the column data</a:t>
              </a:r>
            </a:p>
          </p:txBody>
        </p:sp>
      </p:grpSp>
      <p:grpSp>
        <p:nvGrpSpPr>
          <p:cNvPr id="4" name="Group 15">
            <a:extLst>
              <a:ext uri="{FF2B5EF4-FFF2-40B4-BE49-F238E27FC236}">
                <a16:creationId xmlns:a16="http://schemas.microsoft.com/office/drawing/2014/main" id="{1BF781A2-27CF-8910-8A9B-4462B8D50F82}"/>
              </a:ext>
            </a:extLst>
          </p:cNvPr>
          <p:cNvGrpSpPr>
            <a:grpSpLocks/>
          </p:cNvGrpSpPr>
          <p:nvPr/>
        </p:nvGrpSpPr>
        <p:grpSpPr bwMode="auto">
          <a:xfrm>
            <a:off x="2843213" y="3573463"/>
            <a:ext cx="2520950" cy="1871662"/>
            <a:chOff x="3461467" y="1611868"/>
            <a:chExt cx="1738064" cy="1872208"/>
          </a:xfrm>
        </p:grpSpPr>
        <p:sp>
          <p:nvSpPr>
            <p:cNvPr id="17" name="Rectangle 16">
              <a:extLst>
                <a:ext uri="{FF2B5EF4-FFF2-40B4-BE49-F238E27FC236}">
                  <a16:creationId xmlns:a16="http://schemas.microsoft.com/office/drawing/2014/main" id="{A7F7FAA8-7237-59CC-2111-C19469B6E27B}"/>
                </a:ext>
              </a:extLst>
            </p:cNvPr>
            <p:cNvSpPr/>
            <p:nvPr/>
          </p:nvSpPr>
          <p:spPr>
            <a:xfrm>
              <a:off x="3461467" y="1611868"/>
              <a:ext cx="1738064" cy="1008112"/>
            </a:xfrm>
            <a:prstGeom prst="rect">
              <a:avLst/>
            </a:prstGeom>
          </p:spPr>
          <p:style>
            <a:lnRef idx="0">
              <a:schemeClr val="accent5"/>
            </a:lnRef>
            <a:fillRef idx="3">
              <a:schemeClr val="accent5"/>
            </a:fillRef>
            <a:effectRef idx="3">
              <a:schemeClr val="accent5"/>
            </a:effectRef>
            <a:fontRef idx="minor">
              <a:schemeClr val="lt1"/>
            </a:fontRef>
          </p:style>
          <p:txBody>
            <a:bodyPr anchor="ctr"/>
            <a:lstStyle/>
            <a:p>
              <a:pPr algn="ctr">
                <a:defRPr/>
              </a:pPr>
              <a:r>
                <a:rPr lang="en-US" sz="2000" b="1" dirty="0"/>
                <a:t>If the column has no default value but can accept NULL</a:t>
              </a:r>
              <a:endParaRPr lang="en-GB" sz="2000" b="1" dirty="0"/>
            </a:p>
          </p:txBody>
        </p:sp>
        <p:sp>
          <p:nvSpPr>
            <p:cNvPr id="19" name="Rectangle 18">
              <a:extLst>
                <a:ext uri="{FF2B5EF4-FFF2-40B4-BE49-F238E27FC236}">
                  <a16:creationId xmlns:a16="http://schemas.microsoft.com/office/drawing/2014/main" id="{FF03DE52-042C-32D1-530F-4D92C53B6045}"/>
                </a:ext>
              </a:extLst>
            </p:cNvPr>
            <p:cNvSpPr/>
            <p:nvPr/>
          </p:nvSpPr>
          <p:spPr bwMode="auto">
            <a:xfrm>
              <a:off x="3470223" y="2620224"/>
              <a:ext cx="1721646" cy="863852"/>
            </a:xfrm>
            <a:prstGeom prst="rect">
              <a:avLst/>
            </a:prstGeom>
            <a:solidFill>
              <a:schemeClr val="accent1">
                <a:lumMod val="20000"/>
                <a:lumOff val="80000"/>
              </a:schemeClr>
            </a:solidFill>
            <a:ln w="9525" cap="flat" cmpd="sng" algn="ctr">
              <a:solidFill>
                <a:schemeClr val="tx2">
                  <a:lumMod val="60000"/>
                  <a:lumOff val="40000"/>
                </a:schemeClr>
              </a:solidFill>
              <a:prstDash val="solid"/>
              <a:round/>
              <a:headEnd type="none" w="med" len="med"/>
              <a:tailEnd type="none" w="med" len="med"/>
            </a:ln>
            <a:effectLst/>
          </p:spPr>
          <p:txBody>
            <a:bodyPr/>
            <a:lstStyle/>
            <a:p>
              <a:pPr>
                <a:defRPr/>
              </a:pPr>
              <a:r>
                <a:rPr lang="en-MY" dirty="0">
                  <a:latin typeface="Arial" charset="0"/>
                </a:rPr>
                <a:t>The NULL value would be assigned as the column data</a:t>
              </a:r>
            </a:p>
          </p:txBody>
        </p:sp>
      </p:grpSp>
      <p:grpSp>
        <p:nvGrpSpPr>
          <p:cNvPr id="5" name="Group 19">
            <a:extLst>
              <a:ext uri="{FF2B5EF4-FFF2-40B4-BE49-F238E27FC236}">
                <a16:creationId xmlns:a16="http://schemas.microsoft.com/office/drawing/2014/main" id="{3D4BAB40-8BC6-5781-0717-9F042037D348}"/>
              </a:ext>
            </a:extLst>
          </p:cNvPr>
          <p:cNvGrpSpPr>
            <a:grpSpLocks/>
          </p:cNvGrpSpPr>
          <p:nvPr/>
        </p:nvGrpSpPr>
        <p:grpSpPr bwMode="auto">
          <a:xfrm>
            <a:off x="5434013" y="3573463"/>
            <a:ext cx="2871787" cy="1871662"/>
            <a:chOff x="6412769" y="1611868"/>
            <a:chExt cx="1721825" cy="1872208"/>
          </a:xfrm>
        </p:grpSpPr>
        <p:sp>
          <p:nvSpPr>
            <p:cNvPr id="21" name="Rectangle 20">
              <a:extLst>
                <a:ext uri="{FF2B5EF4-FFF2-40B4-BE49-F238E27FC236}">
                  <a16:creationId xmlns:a16="http://schemas.microsoft.com/office/drawing/2014/main" id="{0BB8F6FD-6E00-93F6-AA84-F4571D8550CC}"/>
                </a:ext>
              </a:extLst>
            </p:cNvPr>
            <p:cNvSpPr/>
            <p:nvPr/>
          </p:nvSpPr>
          <p:spPr>
            <a:xfrm>
              <a:off x="6414087" y="1611868"/>
              <a:ext cx="1720507" cy="1008112"/>
            </a:xfrm>
            <a:prstGeom prst="rect">
              <a:avLst/>
            </a:prstGeom>
          </p:spPr>
          <p:style>
            <a:lnRef idx="0">
              <a:schemeClr val="accent3"/>
            </a:lnRef>
            <a:fillRef idx="3">
              <a:schemeClr val="accent3"/>
            </a:fillRef>
            <a:effectRef idx="3">
              <a:schemeClr val="accent3"/>
            </a:effectRef>
            <a:fontRef idx="minor">
              <a:schemeClr val="lt1"/>
            </a:fontRef>
          </p:style>
          <p:txBody>
            <a:bodyPr anchor="ctr"/>
            <a:lstStyle/>
            <a:p>
              <a:pPr algn="ctr">
                <a:defRPr/>
              </a:pPr>
              <a:r>
                <a:rPr lang="en-US" sz="2000" b="1" dirty="0"/>
                <a:t>If the column has no default value and cannot accept NULL</a:t>
              </a:r>
              <a:endParaRPr lang="en-GB" sz="2000" b="1" dirty="0"/>
            </a:p>
          </p:txBody>
        </p:sp>
        <p:sp>
          <p:nvSpPr>
            <p:cNvPr id="22" name="Rectangle 21">
              <a:extLst>
                <a:ext uri="{FF2B5EF4-FFF2-40B4-BE49-F238E27FC236}">
                  <a16:creationId xmlns:a16="http://schemas.microsoft.com/office/drawing/2014/main" id="{CD327840-FFAB-F1EA-AEB9-A71C03F7DE0A}"/>
                </a:ext>
              </a:extLst>
            </p:cNvPr>
            <p:cNvSpPr/>
            <p:nvPr/>
          </p:nvSpPr>
          <p:spPr bwMode="auto">
            <a:xfrm>
              <a:off x="6412769" y="2620224"/>
              <a:ext cx="1721825" cy="863852"/>
            </a:xfrm>
            <a:prstGeom prst="rect">
              <a:avLst/>
            </a:prstGeom>
            <a:solidFill>
              <a:schemeClr val="accent3">
                <a:lumMod val="20000"/>
                <a:lumOff val="80000"/>
              </a:schemeClr>
            </a:solidFill>
            <a:ln w="9525" cap="flat" cmpd="sng" algn="ctr">
              <a:solidFill>
                <a:schemeClr val="accent3">
                  <a:lumMod val="50000"/>
                </a:schemeClr>
              </a:solidFill>
              <a:prstDash val="solid"/>
              <a:round/>
              <a:headEnd type="none" w="med" len="med"/>
              <a:tailEnd type="none" w="med" len="med"/>
            </a:ln>
            <a:effectLst/>
          </p:spPr>
          <p:txBody>
            <a:bodyPr/>
            <a:lstStyle/>
            <a:p>
              <a:pPr>
                <a:defRPr/>
              </a:pPr>
              <a:r>
                <a:rPr lang="en-MY" dirty="0">
                  <a:latin typeface="Arial" charset="0"/>
                </a:rPr>
                <a:t>MySQL would throw out an error message thereby denying the data entry</a:t>
              </a:r>
            </a:p>
          </p:txBody>
        </p:sp>
      </p:grpSp>
      <p:grpSp>
        <p:nvGrpSpPr>
          <p:cNvPr id="6" name="Group 22">
            <a:extLst>
              <a:ext uri="{FF2B5EF4-FFF2-40B4-BE49-F238E27FC236}">
                <a16:creationId xmlns:a16="http://schemas.microsoft.com/office/drawing/2014/main" id="{2A2AF3E9-921C-7BF9-E14F-2D16C9E60961}"/>
              </a:ext>
            </a:extLst>
          </p:cNvPr>
          <p:cNvGrpSpPr>
            <a:grpSpLocks/>
          </p:cNvGrpSpPr>
          <p:nvPr/>
        </p:nvGrpSpPr>
        <p:grpSpPr bwMode="auto">
          <a:xfrm>
            <a:off x="2035175" y="5157788"/>
            <a:ext cx="4138613" cy="1216025"/>
            <a:chOff x="6379362" y="1864338"/>
            <a:chExt cx="4138268" cy="1216911"/>
          </a:xfrm>
        </p:grpSpPr>
        <p:sp>
          <p:nvSpPr>
            <p:cNvPr id="24" name="Rectangle 23">
              <a:extLst>
                <a:ext uri="{FF2B5EF4-FFF2-40B4-BE49-F238E27FC236}">
                  <a16:creationId xmlns:a16="http://schemas.microsoft.com/office/drawing/2014/main" id="{286E9A1C-0FBF-0076-3236-80B65CC9121E}"/>
                </a:ext>
              </a:extLst>
            </p:cNvPr>
            <p:cNvSpPr/>
            <p:nvPr/>
          </p:nvSpPr>
          <p:spPr bwMode="auto">
            <a:xfrm>
              <a:off x="6379362" y="2375885"/>
              <a:ext cx="4138268" cy="705364"/>
            </a:xfrm>
            <a:prstGeom prst="rect">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anchor="ctr" anchorCtr="1"/>
            <a:lstStyle/>
            <a:p>
              <a:pPr algn="ctr">
                <a:defRPr/>
              </a:pPr>
              <a:r>
                <a:rPr lang="en-CA" dirty="0">
                  <a:solidFill>
                    <a:schemeClr val="bg1"/>
                  </a:solidFill>
                  <a:latin typeface="Arial" charset="0"/>
                </a:rPr>
                <a:t>We will be learning how to set a default value for a column using SQL</a:t>
              </a:r>
            </a:p>
          </p:txBody>
        </p:sp>
        <p:cxnSp>
          <p:nvCxnSpPr>
            <p:cNvPr id="25" name="Straight Arrow Connector 24">
              <a:extLst>
                <a:ext uri="{FF2B5EF4-FFF2-40B4-BE49-F238E27FC236}">
                  <a16:creationId xmlns:a16="http://schemas.microsoft.com/office/drawing/2014/main" id="{E2963898-6B1E-2D1E-01EB-440C0B89F7A2}"/>
                </a:ext>
              </a:extLst>
            </p:cNvPr>
            <p:cNvCxnSpPr/>
            <p:nvPr/>
          </p:nvCxnSpPr>
          <p:spPr bwMode="auto">
            <a:xfrm flipH="1" flipV="1">
              <a:off x="6836524" y="1864338"/>
              <a:ext cx="461924" cy="529022"/>
            </a:xfrm>
            <a:prstGeom prst="straightConnector1">
              <a:avLst/>
            </a:prstGeom>
            <a:ln>
              <a:headEnd type="none" w="med" len="med"/>
              <a:tailEnd type="triangle"/>
            </a:ln>
          </p:spPr>
          <p:style>
            <a:lnRef idx="1">
              <a:schemeClr val="accent2"/>
            </a:lnRef>
            <a:fillRef idx="3">
              <a:schemeClr val="accent2"/>
            </a:fillRef>
            <a:effectRef idx="2">
              <a:schemeClr val="accent2"/>
            </a:effectRef>
            <a:fontRef idx="minor">
              <a:schemeClr val="lt1"/>
            </a:fontRef>
          </p:style>
        </p:cxnSp>
      </p:gr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wipe(left)">
                                      <p:cBhvr>
                                        <p:cTn id="11" dur="500"/>
                                        <p:tgtEl>
                                          <p:spTgt spid="18"/>
                                        </p:tgtEl>
                                      </p:cBhvr>
                                    </p:animEffect>
                                  </p:childTnLst>
                                </p:cTn>
                              </p:par>
                            </p:childTnLst>
                          </p:cTn>
                        </p:par>
                        <p:par>
                          <p:cTn id="12" fill="hold" nodeType="afterGroup">
                            <p:stCondLst>
                              <p:cond delay="1000"/>
                            </p:stCondLst>
                            <p:childTnLst>
                              <p:par>
                                <p:cTn id="13" presetID="42" presetClass="entr" presetSubtype="0" fill="hold"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1000"/>
                                        <p:tgtEl>
                                          <p:spTgt spid="3"/>
                                        </p:tgtEl>
                                      </p:cBhvr>
                                    </p:animEffect>
                                    <p:anim calcmode="lin" valueType="num">
                                      <p:cBhvr>
                                        <p:cTn id="16" dur="1000" fill="hold"/>
                                        <p:tgtEl>
                                          <p:spTgt spid="3"/>
                                        </p:tgtEl>
                                        <p:attrNameLst>
                                          <p:attrName>ppt_x</p:attrName>
                                        </p:attrNameLst>
                                      </p:cBhvr>
                                      <p:tavLst>
                                        <p:tav tm="0">
                                          <p:val>
                                            <p:strVal val="#ppt_x"/>
                                          </p:val>
                                        </p:tav>
                                        <p:tav tm="100000">
                                          <p:val>
                                            <p:strVal val="#ppt_x"/>
                                          </p:val>
                                        </p:tav>
                                      </p:tavLst>
                                    </p:anim>
                                    <p:anim calcmode="lin" valueType="num">
                                      <p:cBhvr>
                                        <p:cTn id="17" dur="1000" fill="hold"/>
                                        <p:tgtEl>
                                          <p:spTgt spid="3"/>
                                        </p:tgtEl>
                                        <p:attrNameLst>
                                          <p:attrName>ppt_y</p:attrName>
                                        </p:attrNameLst>
                                      </p:cBhvr>
                                      <p:tavLst>
                                        <p:tav tm="0">
                                          <p:val>
                                            <p:strVal val="#ppt_y+.1"/>
                                          </p:val>
                                        </p:tav>
                                        <p:tav tm="100000">
                                          <p:val>
                                            <p:strVal val="#ppt_y"/>
                                          </p:val>
                                        </p:tav>
                                      </p:tavLst>
                                    </p:anim>
                                  </p:childTnLst>
                                </p:cTn>
                              </p:par>
                            </p:childTnLst>
                          </p:cTn>
                        </p:par>
                        <p:par>
                          <p:cTn id="18" fill="hold" nodeType="afterGroup">
                            <p:stCondLst>
                              <p:cond delay="2000"/>
                            </p:stCondLst>
                            <p:childTnLst>
                              <p:par>
                                <p:cTn id="19" presetID="42" presetClass="entr" presetSubtype="0" fill="hold" nodeType="after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anim calcmode="lin" valueType="num">
                                      <p:cBhvr>
                                        <p:cTn id="22" dur="1000" fill="hold"/>
                                        <p:tgtEl>
                                          <p:spTgt spid="4"/>
                                        </p:tgtEl>
                                        <p:attrNameLst>
                                          <p:attrName>ppt_x</p:attrName>
                                        </p:attrNameLst>
                                      </p:cBhvr>
                                      <p:tavLst>
                                        <p:tav tm="0">
                                          <p:val>
                                            <p:strVal val="#ppt_x"/>
                                          </p:val>
                                        </p:tav>
                                        <p:tav tm="100000">
                                          <p:val>
                                            <p:strVal val="#ppt_x"/>
                                          </p:val>
                                        </p:tav>
                                      </p:tavLst>
                                    </p:anim>
                                    <p:anim calcmode="lin" valueType="num">
                                      <p:cBhvr>
                                        <p:cTn id="23" dur="1000" fill="hold"/>
                                        <p:tgtEl>
                                          <p:spTgt spid="4"/>
                                        </p:tgtEl>
                                        <p:attrNameLst>
                                          <p:attrName>ppt_y</p:attrName>
                                        </p:attrNameLst>
                                      </p:cBhvr>
                                      <p:tavLst>
                                        <p:tav tm="0">
                                          <p:val>
                                            <p:strVal val="#ppt_y+.1"/>
                                          </p:val>
                                        </p:tav>
                                        <p:tav tm="100000">
                                          <p:val>
                                            <p:strVal val="#ppt_y"/>
                                          </p:val>
                                        </p:tav>
                                      </p:tavLst>
                                    </p:anim>
                                  </p:childTnLst>
                                </p:cTn>
                              </p:par>
                            </p:childTnLst>
                          </p:cTn>
                        </p:par>
                        <p:par>
                          <p:cTn id="24" fill="hold" nodeType="afterGroup">
                            <p:stCondLst>
                              <p:cond delay="3000"/>
                            </p:stCondLst>
                            <p:childTnLst>
                              <p:par>
                                <p:cTn id="25" presetID="42" presetClass="entr" presetSubtype="0" fill="hold" nodeType="after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fade">
                                      <p:cBhvr>
                                        <p:cTn id="27" dur="1000"/>
                                        <p:tgtEl>
                                          <p:spTgt spid="5"/>
                                        </p:tgtEl>
                                      </p:cBhvr>
                                    </p:animEffect>
                                    <p:anim calcmode="lin" valueType="num">
                                      <p:cBhvr>
                                        <p:cTn id="28" dur="1000" fill="hold"/>
                                        <p:tgtEl>
                                          <p:spTgt spid="5"/>
                                        </p:tgtEl>
                                        <p:attrNameLst>
                                          <p:attrName>ppt_x</p:attrName>
                                        </p:attrNameLst>
                                      </p:cBhvr>
                                      <p:tavLst>
                                        <p:tav tm="0">
                                          <p:val>
                                            <p:strVal val="#ppt_x"/>
                                          </p:val>
                                        </p:tav>
                                        <p:tav tm="100000">
                                          <p:val>
                                            <p:strVal val="#ppt_x"/>
                                          </p:val>
                                        </p:tav>
                                      </p:tavLst>
                                    </p:anim>
                                    <p:anim calcmode="lin" valueType="num">
                                      <p:cBhvr>
                                        <p:cTn id="2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2" presetClass="entr" presetSubtype="2" fill="hold" nodeType="clickEffect">
                                  <p:stCondLst>
                                    <p:cond delay="0"/>
                                  </p:stCondLst>
                                  <p:childTnLst>
                                    <p:set>
                                      <p:cBhvr>
                                        <p:cTn id="33" dur="1" fill="hold">
                                          <p:stCondLst>
                                            <p:cond delay="0"/>
                                          </p:stCondLst>
                                        </p:cTn>
                                        <p:tgtEl>
                                          <p:spTgt spid="6"/>
                                        </p:tgtEl>
                                        <p:attrNameLst>
                                          <p:attrName>style.visibility</p:attrName>
                                        </p:attrNameLst>
                                      </p:cBhvr>
                                      <p:to>
                                        <p:strVal val="visible"/>
                                      </p:to>
                                    </p:set>
                                    <p:anim calcmode="lin" valueType="num">
                                      <p:cBhvr additive="base">
                                        <p:cTn id="34" dur="500" fill="hold"/>
                                        <p:tgtEl>
                                          <p:spTgt spid="6"/>
                                        </p:tgtEl>
                                        <p:attrNameLst>
                                          <p:attrName>ppt_x</p:attrName>
                                        </p:attrNameLst>
                                      </p:cBhvr>
                                      <p:tavLst>
                                        <p:tav tm="0">
                                          <p:val>
                                            <p:strVal val="1+#ppt_w/2"/>
                                          </p:val>
                                        </p:tav>
                                        <p:tav tm="100000">
                                          <p:val>
                                            <p:strVal val="#ppt_x"/>
                                          </p:val>
                                        </p:tav>
                                      </p:tavLst>
                                    </p:anim>
                                    <p:anim calcmode="lin" valueType="num">
                                      <p:cBhvr additive="base">
                                        <p:cTn id="35"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8"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9F952E-2B79-D46D-5119-1C593CDCD4D1}"/>
              </a:ext>
            </a:extLst>
          </p:cNvPr>
          <p:cNvSpPr>
            <a:spLocks noGrp="1"/>
          </p:cNvSpPr>
          <p:nvPr>
            <p:ph type="title"/>
          </p:nvPr>
        </p:nvSpPr>
        <p:spPr>
          <a:xfrm>
            <a:off x="457200" y="0"/>
            <a:ext cx="7620000" cy="1143000"/>
          </a:xfrm>
        </p:spPr>
        <p:txBody>
          <a:bodyPr/>
          <a:lstStyle/>
          <a:p>
            <a:pPr>
              <a:defRPr/>
            </a:pPr>
            <a:r>
              <a:rPr lang="en-US" dirty="0"/>
              <a:t>Manipulating Tables Using SQL</a:t>
            </a:r>
            <a:endParaRPr lang="en-MY" dirty="0"/>
          </a:p>
        </p:txBody>
      </p:sp>
      <p:sp>
        <p:nvSpPr>
          <p:cNvPr id="11" name="Title 1">
            <a:extLst>
              <a:ext uri="{FF2B5EF4-FFF2-40B4-BE49-F238E27FC236}">
                <a16:creationId xmlns:a16="http://schemas.microsoft.com/office/drawing/2014/main" id="{2183BE6E-E1D5-B530-A504-E975217330EF}"/>
              </a:ext>
            </a:extLst>
          </p:cNvPr>
          <p:cNvSpPr txBox="1">
            <a:spLocks/>
          </p:cNvSpPr>
          <p:nvPr/>
        </p:nvSpPr>
        <p:spPr bwMode="auto">
          <a:xfrm>
            <a:off x="0" y="1123950"/>
            <a:ext cx="8172450" cy="323850"/>
          </a:xfrm>
          <a:prstGeom prst="rect">
            <a:avLst/>
          </a:prstGeom>
          <a:noFill/>
          <a:ln w="9525">
            <a:noFill/>
            <a:miter lim="800000"/>
            <a:headEnd/>
            <a:tailEnd/>
          </a:ln>
        </p:spPr>
        <p:txBody>
          <a:bodyPr lIns="72000" tIns="0" rIns="72000" bIns="0"/>
          <a:lstStyle/>
          <a:p>
            <a:pPr defTabSz="720000" eaLnBrk="1" hangingPunct="1">
              <a:lnSpc>
                <a:spcPts val="1800"/>
              </a:lnSpc>
              <a:spcBef>
                <a:spcPts val="0"/>
              </a:spcBef>
              <a:spcAft>
                <a:spcPts val="0"/>
              </a:spcAft>
              <a:tabLst>
                <a:tab pos="0" algn="l"/>
              </a:tabLst>
              <a:defRPr/>
            </a:pPr>
            <a:r>
              <a:rPr lang="en-CA" b="1" kern="0" dirty="0">
                <a:latin typeface="+mn-lt"/>
                <a:ea typeface="+mj-ea"/>
                <a:cs typeface="Calibri" pitchFamily="34" charset="0"/>
              </a:rPr>
              <a:t>Other Table Related SQL</a:t>
            </a:r>
            <a:endParaRPr lang="en-MY" b="1" kern="0" dirty="0">
              <a:latin typeface="+mn-lt"/>
              <a:ea typeface="+mj-ea"/>
              <a:cs typeface="Calibri" pitchFamily="34" charset="0"/>
            </a:endParaRPr>
          </a:p>
        </p:txBody>
      </p:sp>
      <p:sp>
        <p:nvSpPr>
          <p:cNvPr id="68612" name="Content Placeholder 2">
            <a:extLst>
              <a:ext uri="{FF2B5EF4-FFF2-40B4-BE49-F238E27FC236}">
                <a16:creationId xmlns:a16="http://schemas.microsoft.com/office/drawing/2014/main" id="{70952FF6-FB2B-38D1-05D4-9D1317C345EE}"/>
              </a:ext>
            </a:extLst>
          </p:cNvPr>
          <p:cNvSpPr txBox="1">
            <a:spLocks/>
          </p:cNvSpPr>
          <p:nvPr/>
        </p:nvSpPr>
        <p:spPr bwMode="auto">
          <a:xfrm>
            <a:off x="125413" y="2060575"/>
            <a:ext cx="8180387" cy="108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rgbClr val="FF6600"/>
              </a:buClr>
              <a:buFont typeface="Wingdings 3" panose="05040102010807070707" pitchFamily="18" charset="2"/>
              <a:buNone/>
            </a:pPr>
            <a:r>
              <a:rPr lang="en-CA" altLang="en-US" sz="2800">
                <a:latin typeface="Calibri" panose="020F0502020204030204" pitchFamily="34" charset="0"/>
              </a:rPr>
              <a:t>The SQL syntax for setting the default value for a column is:</a:t>
            </a: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p:txBody>
      </p:sp>
      <p:sp>
        <p:nvSpPr>
          <p:cNvPr id="19" name="Rounded Rectangle 18">
            <a:extLst>
              <a:ext uri="{FF2B5EF4-FFF2-40B4-BE49-F238E27FC236}">
                <a16:creationId xmlns:a16="http://schemas.microsoft.com/office/drawing/2014/main" id="{38E896B2-9836-4BD2-D6ED-614DA0B44333}"/>
              </a:ext>
            </a:extLst>
          </p:cNvPr>
          <p:cNvSpPr>
            <a:spLocks noChangeArrowheads="1"/>
          </p:cNvSpPr>
          <p:nvPr/>
        </p:nvSpPr>
        <p:spPr bwMode="auto">
          <a:xfrm>
            <a:off x="142875" y="3141663"/>
            <a:ext cx="8162925" cy="2747962"/>
          </a:xfrm>
          <a:prstGeom prst="roundRect">
            <a:avLst>
              <a:gd name="adj" fmla="val 16667"/>
            </a:avLst>
          </a:prstGeom>
          <a:solidFill>
            <a:srgbClr val="7F7B00">
              <a:alpha val="30196"/>
            </a:srgbClr>
          </a:solidFill>
          <a:ln w="9525" algn="ctr">
            <a:solidFill>
              <a:srgbClr val="7F7B00"/>
            </a:solidFill>
            <a:round/>
            <a:headEnd/>
            <a:tailEnd/>
          </a:ln>
        </p:spPr>
        <p:txBody>
          <a:bodyPr anchor="ctr" anchorCtr="1"/>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CA" altLang="en-US" sz="2600"/>
              <a:t>CREATE TABLE &lt;table_name&gt;</a:t>
            </a:r>
          </a:p>
          <a:p>
            <a:r>
              <a:rPr lang="en-CA" altLang="en-US" sz="2600"/>
              <a:t>(</a:t>
            </a:r>
          </a:p>
          <a:p>
            <a:r>
              <a:rPr lang="en-CA" altLang="en-US" sz="2600"/>
              <a:t>   &lt;column_name&gt; &lt;data_type&gt; DEFAULT &lt;value&gt;,</a:t>
            </a:r>
          </a:p>
          <a:p>
            <a:r>
              <a:rPr lang="en-CA" altLang="en-US" sz="2600"/>
              <a:t>   …</a:t>
            </a:r>
          </a:p>
          <a:p>
            <a:r>
              <a:rPr lang="en-CA" altLang="en-US" sz="2600"/>
              <a:t>);</a:t>
            </a:r>
          </a:p>
        </p:txBody>
      </p:sp>
      <p:sp>
        <p:nvSpPr>
          <p:cNvPr id="8" name="Snip Single Corner Rectangle 7">
            <a:extLst>
              <a:ext uri="{FF2B5EF4-FFF2-40B4-BE49-F238E27FC236}">
                <a16:creationId xmlns:a16="http://schemas.microsoft.com/office/drawing/2014/main" id="{4F3B9856-6B18-600C-67AD-D61ADEA53E48}"/>
              </a:ext>
            </a:extLst>
          </p:cNvPr>
          <p:cNvSpPr/>
          <p:nvPr/>
        </p:nvSpPr>
        <p:spPr>
          <a:xfrm>
            <a:off x="-36513" y="1385888"/>
            <a:ext cx="1079501" cy="371475"/>
          </a:xfrm>
          <a:prstGeom prst="snip1Rect">
            <a:avLst/>
          </a:prstGeom>
          <a:solidFill>
            <a:schemeClr val="tx1"/>
          </a:solidFill>
          <a:ln>
            <a:solidFill>
              <a:schemeClr val="tx1"/>
            </a:solidFill>
          </a:ln>
        </p:spPr>
        <p:style>
          <a:lnRef idx="1">
            <a:schemeClr val="accent2"/>
          </a:lnRef>
          <a:fillRef idx="3">
            <a:schemeClr val="accent2"/>
          </a:fillRef>
          <a:effectRef idx="2">
            <a:schemeClr val="accent2"/>
          </a:effectRef>
          <a:fontRef idx="minor">
            <a:schemeClr val="lt1"/>
          </a:fontRef>
        </p:style>
        <p:txBody>
          <a:bodyPr anchor="ctr">
            <a:spAutoFit/>
          </a:bodyPr>
          <a:lstStyle/>
          <a:p>
            <a:pPr algn="ctr" defTabSz="889000">
              <a:lnSpc>
                <a:spcPct val="90000"/>
              </a:lnSpc>
              <a:spcAft>
                <a:spcPct val="35000"/>
              </a:spcAft>
              <a:defRPr/>
            </a:pPr>
            <a:r>
              <a:rPr lang="en-CA" dirty="0"/>
              <a:t>Default</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barn(inVertical)">
                                      <p:cBhvr>
                                        <p:cTn id="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ounded Rectangle 19">
            <a:extLst>
              <a:ext uri="{FF2B5EF4-FFF2-40B4-BE49-F238E27FC236}">
                <a16:creationId xmlns:a16="http://schemas.microsoft.com/office/drawing/2014/main" id="{DEA4B46F-0DD3-7998-6C57-D60C0C10AAE8}"/>
              </a:ext>
            </a:extLst>
          </p:cNvPr>
          <p:cNvSpPr/>
          <p:nvPr/>
        </p:nvSpPr>
        <p:spPr bwMode="auto">
          <a:xfrm>
            <a:off x="762000" y="3200400"/>
            <a:ext cx="7007225" cy="2892425"/>
          </a:xfrm>
          <a:prstGeom prst="roundRect">
            <a:avLst/>
          </a:prstGeom>
          <a:solidFill>
            <a:schemeClr val="accent6">
              <a:alpha val="30000"/>
            </a:schemeClr>
          </a:solidFill>
          <a:ln w="9525" cap="flat" cmpd="sng" algn="ctr">
            <a:solidFill>
              <a:schemeClr val="accent6"/>
            </a:solidFill>
            <a:prstDash val="solid"/>
            <a:round/>
            <a:headEnd type="none" w="med" len="med"/>
            <a:tailEnd type="none" w="med" len="med"/>
          </a:ln>
          <a:effectLst/>
        </p:spPr>
        <p:txBody>
          <a:bodyPr anchor="ctr" anchorCtr="1"/>
          <a:lstStyle/>
          <a:p>
            <a:pPr>
              <a:defRPr/>
            </a:pPr>
            <a:r>
              <a:rPr lang="en-CA" sz="2800" dirty="0"/>
              <a:t>CREATE TABLE Book</a:t>
            </a:r>
          </a:p>
          <a:p>
            <a:pPr>
              <a:defRPr/>
            </a:pPr>
            <a:r>
              <a:rPr lang="en-CA" sz="2800" dirty="0"/>
              <a:t>(</a:t>
            </a:r>
          </a:p>
          <a:p>
            <a:pPr>
              <a:defRPr/>
            </a:pPr>
            <a:r>
              <a:rPr lang="en-CA" sz="2800" dirty="0"/>
              <a:t>   ISBN INT PRIMARY KEY,</a:t>
            </a:r>
          </a:p>
          <a:p>
            <a:pPr>
              <a:defRPr/>
            </a:pPr>
            <a:r>
              <a:rPr lang="en-CA" sz="2800" dirty="0"/>
              <a:t>   Title VARCHAR(100),</a:t>
            </a:r>
          </a:p>
          <a:p>
            <a:pPr>
              <a:defRPr/>
            </a:pPr>
            <a:r>
              <a:rPr lang="en-CA" sz="2800" dirty="0"/>
              <a:t>   Quantity INT DEFAULT 10</a:t>
            </a:r>
          </a:p>
          <a:p>
            <a:pPr>
              <a:defRPr/>
            </a:pPr>
            <a:r>
              <a:rPr lang="en-CA" sz="2800" dirty="0"/>
              <a:t>);</a:t>
            </a:r>
          </a:p>
        </p:txBody>
      </p:sp>
      <p:sp>
        <p:nvSpPr>
          <p:cNvPr id="2" name="Title 1">
            <a:extLst>
              <a:ext uri="{FF2B5EF4-FFF2-40B4-BE49-F238E27FC236}">
                <a16:creationId xmlns:a16="http://schemas.microsoft.com/office/drawing/2014/main" id="{D0C16A0B-75B1-D209-7B29-AF436AA8F4E2}"/>
              </a:ext>
            </a:extLst>
          </p:cNvPr>
          <p:cNvSpPr>
            <a:spLocks noGrp="1"/>
          </p:cNvSpPr>
          <p:nvPr>
            <p:ph type="title"/>
          </p:nvPr>
        </p:nvSpPr>
        <p:spPr>
          <a:xfrm>
            <a:off x="457200" y="0"/>
            <a:ext cx="7620000" cy="1143000"/>
          </a:xfrm>
        </p:spPr>
        <p:txBody>
          <a:bodyPr/>
          <a:lstStyle/>
          <a:p>
            <a:pPr>
              <a:defRPr/>
            </a:pPr>
            <a:r>
              <a:rPr lang="en-US" dirty="0"/>
              <a:t>Manipulating Tables Using SQL</a:t>
            </a:r>
            <a:endParaRPr lang="en-MY" dirty="0"/>
          </a:p>
        </p:txBody>
      </p:sp>
      <p:sp>
        <p:nvSpPr>
          <p:cNvPr id="23" name="Title 1">
            <a:extLst>
              <a:ext uri="{FF2B5EF4-FFF2-40B4-BE49-F238E27FC236}">
                <a16:creationId xmlns:a16="http://schemas.microsoft.com/office/drawing/2014/main" id="{29B3152E-E91D-C927-07D3-1877A27122DE}"/>
              </a:ext>
            </a:extLst>
          </p:cNvPr>
          <p:cNvSpPr txBox="1">
            <a:spLocks/>
          </p:cNvSpPr>
          <p:nvPr/>
        </p:nvSpPr>
        <p:spPr bwMode="auto">
          <a:xfrm>
            <a:off x="0" y="1123950"/>
            <a:ext cx="8172450" cy="323850"/>
          </a:xfrm>
          <a:prstGeom prst="rect">
            <a:avLst/>
          </a:prstGeom>
          <a:noFill/>
          <a:ln w="9525">
            <a:noFill/>
            <a:miter lim="800000"/>
            <a:headEnd/>
            <a:tailEnd/>
          </a:ln>
        </p:spPr>
        <p:txBody>
          <a:bodyPr lIns="72000" tIns="0" rIns="72000" bIns="0"/>
          <a:lstStyle/>
          <a:p>
            <a:pPr defTabSz="720000" eaLnBrk="1" hangingPunct="1">
              <a:lnSpc>
                <a:spcPts val="1800"/>
              </a:lnSpc>
              <a:spcBef>
                <a:spcPts val="0"/>
              </a:spcBef>
              <a:spcAft>
                <a:spcPts val="0"/>
              </a:spcAft>
              <a:tabLst>
                <a:tab pos="0" algn="l"/>
              </a:tabLst>
              <a:defRPr/>
            </a:pPr>
            <a:r>
              <a:rPr lang="en-CA" b="1" kern="0" dirty="0">
                <a:cs typeface="Calibri" pitchFamily="34" charset="0"/>
              </a:rPr>
              <a:t>Other Table Related SQL</a:t>
            </a:r>
            <a:endParaRPr lang="en-MY" b="1" kern="0" dirty="0">
              <a:cs typeface="Calibri" pitchFamily="34" charset="0"/>
            </a:endParaRPr>
          </a:p>
          <a:p>
            <a:pPr defTabSz="720000" eaLnBrk="1" hangingPunct="1">
              <a:lnSpc>
                <a:spcPts val="1800"/>
              </a:lnSpc>
              <a:spcBef>
                <a:spcPts val="0"/>
              </a:spcBef>
              <a:spcAft>
                <a:spcPts val="0"/>
              </a:spcAft>
              <a:tabLst>
                <a:tab pos="0" algn="l"/>
              </a:tabLst>
              <a:defRPr/>
            </a:pPr>
            <a:endParaRPr lang="en-MY" b="1" kern="0" dirty="0">
              <a:latin typeface="+mn-lt"/>
              <a:ea typeface="+mj-ea"/>
              <a:cs typeface="Calibri" pitchFamily="34" charset="0"/>
            </a:endParaRPr>
          </a:p>
        </p:txBody>
      </p:sp>
      <p:sp>
        <p:nvSpPr>
          <p:cNvPr id="13" name="Content Placeholder 2">
            <a:extLst>
              <a:ext uri="{FF2B5EF4-FFF2-40B4-BE49-F238E27FC236}">
                <a16:creationId xmlns:a16="http://schemas.microsoft.com/office/drawing/2014/main" id="{5DDC3EDC-189C-F787-89C1-81C1E67F0E05}"/>
              </a:ext>
            </a:extLst>
          </p:cNvPr>
          <p:cNvSpPr txBox="1">
            <a:spLocks/>
          </p:cNvSpPr>
          <p:nvPr/>
        </p:nvSpPr>
        <p:spPr bwMode="auto">
          <a:xfrm>
            <a:off x="125413" y="2060575"/>
            <a:ext cx="8104187" cy="108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rgbClr val="FF6600"/>
              </a:buClr>
              <a:buFont typeface="Wingdings 3" panose="05040102010807070707" pitchFamily="18" charset="2"/>
              <a:buNone/>
            </a:pPr>
            <a:r>
              <a:rPr lang="en-CA" altLang="en-US" sz="2800">
                <a:latin typeface="Calibri" panose="020F0502020204030204" pitchFamily="34" charset="0"/>
              </a:rPr>
              <a:t>For example, if “Quantity” is omitted from data entry, we want the default to be set to 10</a:t>
            </a: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p:txBody>
      </p:sp>
      <p:sp>
        <p:nvSpPr>
          <p:cNvPr id="8" name="Snip Single Corner Rectangle 7">
            <a:extLst>
              <a:ext uri="{FF2B5EF4-FFF2-40B4-BE49-F238E27FC236}">
                <a16:creationId xmlns:a16="http://schemas.microsoft.com/office/drawing/2014/main" id="{0EA01C73-1CCC-5FD9-06ED-59ED3308CDF4}"/>
              </a:ext>
            </a:extLst>
          </p:cNvPr>
          <p:cNvSpPr/>
          <p:nvPr/>
        </p:nvSpPr>
        <p:spPr>
          <a:xfrm>
            <a:off x="-36513" y="1385888"/>
            <a:ext cx="1079501" cy="371475"/>
          </a:xfrm>
          <a:prstGeom prst="snip1Rect">
            <a:avLst/>
          </a:prstGeom>
          <a:solidFill>
            <a:schemeClr val="tx1"/>
          </a:solidFill>
          <a:ln>
            <a:solidFill>
              <a:schemeClr val="tx1"/>
            </a:solidFill>
          </a:ln>
        </p:spPr>
        <p:style>
          <a:lnRef idx="1">
            <a:schemeClr val="accent2"/>
          </a:lnRef>
          <a:fillRef idx="3">
            <a:schemeClr val="accent2"/>
          </a:fillRef>
          <a:effectRef idx="2">
            <a:schemeClr val="accent2"/>
          </a:effectRef>
          <a:fontRef idx="minor">
            <a:schemeClr val="lt1"/>
          </a:fontRef>
        </p:style>
        <p:txBody>
          <a:bodyPr anchor="ctr">
            <a:spAutoFit/>
          </a:bodyPr>
          <a:lstStyle/>
          <a:p>
            <a:pPr algn="ctr" defTabSz="889000">
              <a:lnSpc>
                <a:spcPct val="90000"/>
              </a:lnSpc>
              <a:spcAft>
                <a:spcPct val="35000"/>
              </a:spcAft>
              <a:defRPr/>
            </a:pPr>
            <a:r>
              <a:rPr lang="en-CA" dirty="0"/>
              <a:t>Default</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wipe(left)">
                                      <p:cBhvr>
                                        <p:cTn id="7" dur="500"/>
                                        <p:tgtEl>
                                          <p:spTgt spid="1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barn(inVertical)">
                                      <p:cBhvr>
                                        <p:cTn id="1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3"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2AB253-FE00-D68E-713D-90679A8FBA60}"/>
              </a:ext>
            </a:extLst>
          </p:cNvPr>
          <p:cNvSpPr>
            <a:spLocks noGrp="1"/>
          </p:cNvSpPr>
          <p:nvPr>
            <p:ph type="title"/>
          </p:nvPr>
        </p:nvSpPr>
        <p:spPr>
          <a:xfrm>
            <a:off x="457200" y="0"/>
            <a:ext cx="7620000" cy="1143000"/>
          </a:xfrm>
        </p:spPr>
        <p:txBody>
          <a:bodyPr/>
          <a:lstStyle/>
          <a:p>
            <a:pPr>
              <a:defRPr/>
            </a:pPr>
            <a:r>
              <a:rPr lang="en-US" dirty="0"/>
              <a:t>Manipulating Tables Using SQL</a:t>
            </a:r>
            <a:endParaRPr lang="en-MY" dirty="0"/>
          </a:p>
        </p:txBody>
      </p:sp>
      <p:sp>
        <p:nvSpPr>
          <p:cNvPr id="23" name="Title 1">
            <a:extLst>
              <a:ext uri="{FF2B5EF4-FFF2-40B4-BE49-F238E27FC236}">
                <a16:creationId xmlns:a16="http://schemas.microsoft.com/office/drawing/2014/main" id="{82DFD4E8-ABC3-AD53-C1E3-AA9CD3CC86BB}"/>
              </a:ext>
            </a:extLst>
          </p:cNvPr>
          <p:cNvSpPr txBox="1">
            <a:spLocks/>
          </p:cNvSpPr>
          <p:nvPr/>
        </p:nvSpPr>
        <p:spPr bwMode="auto">
          <a:xfrm>
            <a:off x="0" y="1123950"/>
            <a:ext cx="8172450" cy="323850"/>
          </a:xfrm>
          <a:prstGeom prst="rect">
            <a:avLst/>
          </a:prstGeom>
          <a:noFill/>
          <a:ln w="9525">
            <a:noFill/>
            <a:miter lim="800000"/>
            <a:headEnd/>
            <a:tailEnd/>
          </a:ln>
        </p:spPr>
        <p:txBody>
          <a:bodyPr lIns="72000" tIns="0" rIns="72000" bIns="0"/>
          <a:lstStyle/>
          <a:p>
            <a:pPr defTabSz="720000" eaLnBrk="1" hangingPunct="1">
              <a:lnSpc>
                <a:spcPts val="1800"/>
              </a:lnSpc>
              <a:spcBef>
                <a:spcPts val="0"/>
              </a:spcBef>
              <a:spcAft>
                <a:spcPts val="0"/>
              </a:spcAft>
              <a:tabLst>
                <a:tab pos="0" algn="l"/>
              </a:tabLst>
              <a:defRPr/>
            </a:pPr>
            <a:r>
              <a:rPr lang="en-CA" b="1" kern="0" dirty="0">
                <a:cs typeface="Calibri" pitchFamily="34" charset="0"/>
              </a:rPr>
              <a:t>Other Table Related SQL</a:t>
            </a:r>
            <a:endParaRPr lang="en-MY" b="1" kern="0" dirty="0">
              <a:cs typeface="Calibri" pitchFamily="34" charset="0"/>
            </a:endParaRPr>
          </a:p>
          <a:p>
            <a:pPr defTabSz="720000" eaLnBrk="1" hangingPunct="1">
              <a:lnSpc>
                <a:spcPts val="1800"/>
              </a:lnSpc>
              <a:spcBef>
                <a:spcPts val="0"/>
              </a:spcBef>
              <a:spcAft>
                <a:spcPts val="0"/>
              </a:spcAft>
              <a:tabLst>
                <a:tab pos="0" algn="l"/>
              </a:tabLst>
              <a:defRPr/>
            </a:pPr>
            <a:endParaRPr lang="en-MY" b="1" kern="0" dirty="0">
              <a:latin typeface="+mn-lt"/>
              <a:ea typeface="+mj-ea"/>
              <a:cs typeface="Calibri" pitchFamily="34" charset="0"/>
            </a:endParaRPr>
          </a:p>
        </p:txBody>
      </p:sp>
      <p:sp>
        <p:nvSpPr>
          <p:cNvPr id="7" name="Content Placeholder 2">
            <a:extLst>
              <a:ext uri="{FF2B5EF4-FFF2-40B4-BE49-F238E27FC236}">
                <a16:creationId xmlns:a16="http://schemas.microsoft.com/office/drawing/2014/main" id="{9FF3AB74-361E-D4A0-FEB4-E3710E304B7E}"/>
              </a:ext>
            </a:extLst>
          </p:cNvPr>
          <p:cNvSpPr txBox="1">
            <a:spLocks/>
          </p:cNvSpPr>
          <p:nvPr/>
        </p:nvSpPr>
        <p:spPr bwMode="auto">
          <a:xfrm>
            <a:off x="125413" y="2060575"/>
            <a:ext cx="8180387" cy="108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rgbClr val="FF6600"/>
              </a:buClr>
              <a:buFont typeface="Wingdings 3" panose="05040102010807070707" pitchFamily="18" charset="2"/>
              <a:buNone/>
            </a:pPr>
            <a:r>
              <a:rPr lang="en-CA" altLang="en-US" sz="2800">
                <a:latin typeface="Calibri" panose="020F0502020204030204" pitchFamily="34" charset="0"/>
              </a:rPr>
              <a:t>To set the DEFAULT value for a column in an existing table, </a:t>
            </a:r>
            <a:r>
              <a:rPr lang="en-US" altLang="en-US" sz="2800">
                <a:latin typeface="Calibri" panose="020F0502020204030204" pitchFamily="34" charset="0"/>
              </a:rPr>
              <a:t>the SQL syntax is:</a:t>
            </a:r>
          </a:p>
          <a:p>
            <a:pPr algn="just" eaLnBrk="1" hangingPunct="1">
              <a:spcBef>
                <a:spcPct val="20000"/>
              </a:spcBef>
              <a:buClr>
                <a:srgbClr val="FF6600"/>
              </a:buClr>
              <a:buFont typeface="Wingdings 3" panose="05040102010807070707" pitchFamily="18" charset="2"/>
              <a:buNone/>
            </a:pPr>
            <a:endParaRPr lang="en-US"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US"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US" altLang="en-US" sz="32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r>
              <a:rPr lang="en-US" altLang="en-US" sz="2800">
                <a:latin typeface="Calibri" panose="020F0502020204030204" pitchFamily="34" charset="0"/>
              </a:rPr>
              <a:t>For example, to set the DEFAULT of </a:t>
            </a:r>
            <a:r>
              <a:rPr lang="en-CA" altLang="en-US" sz="2800">
                <a:latin typeface="Calibri" panose="020F0502020204030204" pitchFamily="34" charset="0"/>
              </a:rPr>
              <a:t>“Quantity” to 10</a:t>
            </a: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p:txBody>
      </p:sp>
      <p:sp>
        <p:nvSpPr>
          <p:cNvPr id="8" name="Rounded Rectangle 7">
            <a:extLst>
              <a:ext uri="{FF2B5EF4-FFF2-40B4-BE49-F238E27FC236}">
                <a16:creationId xmlns:a16="http://schemas.microsoft.com/office/drawing/2014/main" id="{651A1EA2-C0AD-679B-67F8-F5B12BC7AADA}"/>
              </a:ext>
            </a:extLst>
          </p:cNvPr>
          <p:cNvSpPr>
            <a:spLocks noChangeArrowheads="1"/>
          </p:cNvSpPr>
          <p:nvPr/>
        </p:nvSpPr>
        <p:spPr bwMode="auto">
          <a:xfrm>
            <a:off x="646113" y="3008313"/>
            <a:ext cx="7246937" cy="1368425"/>
          </a:xfrm>
          <a:prstGeom prst="roundRect">
            <a:avLst>
              <a:gd name="adj" fmla="val 16667"/>
            </a:avLst>
          </a:prstGeom>
          <a:solidFill>
            <a:srgbClr val="7F7B00">
              <a:alpha val="30196"/>
            </a:srgbClr>
          </a:solidFill>
          <a:ln w="9525" algn="ctr">
            <a:solidFill>
              <a:srgbClr val="7F7B00"/>
            </a:solidFill>
            <a:round/>
            <a:headEnd/>
            <a:tailEnd/>
          </a:ln>
        </p:spPr>
        <p:txBody>
          <a:bodyPr anchor="ctr" anchorCtr="1"/>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CA" altLang="en-US" sz="2800"/>
              <a:t>ALTER TABLE &lt;table_name&gt; CHANGE &lt;column_name&gt; &lt;new_column_name&gt; &lt;new_data_type&gt; DEFAULT &lt;value&gt;;</a:t>
            </a:r>
          </a:p>
        </p:txBody>
      </p:sp>
      <p:sp>
        <p:nvSpPr>
          <p:cNvPr id="9" name="Rounded Rectangle 8">
            <a:extLst>
              <a:ext uri="{FF2B5EF4-FFF2-40B4-BE49-F238E27FC236}">
                <a16:creationId xmlns:a16="http://schemas.microsoft.com/office/drawing/2014/main" id="{BB3563F9-50C7-940A-AFA4-336193366FC3}"/>
              </a:ext>
            </a:extLst>
          </p:cNvPr>
          <p:cNvSpPr/>
          <p:nvPr/>
        </p:nvSpPr>
        <p:spPr bwMode="auto">
          <a:xfrm>
            <a:off x="609600" y="5157788"/>
            <a:ext cx="7259638" cy="1079500"/>
          </a:xfrm>
          <a:prstGeom prst="roundRect">
            <a:avLst/>
          </a:prstGeom>
          <a:solidFill>
            <a:schemeClr val="accent6">
              <a:alpha val="30000"/>
            </a:schemeClr>
          </a:solidFill>
          <a:ln w="9525" cap="flat" cmpd="sng" algn="ctr">
            <a:solidFill>
              <a:schemeClr val="accent6"/>
            </a:solidFill>
            <a:prstDash val="solid"/>
            <a:round/>
            <a:headEnd type="none" w="med" len="med"/>
            <a:tailEnd type="none" w="med" len="med"/>
          </a:ln>
          <a:effectLst/>
        </p:spPr>
        <p:txBody>
          <a:bodyPr anchor="ctr" anchorCtr="1"/>
          <a:lstStyle/>
          <a:p>
            <a:pPr>
              <a:defRPr/>
            </a:pPr>
            <a:r>
              <a:rPr lang="en-CA" sz="2800" dirty="0"/>
              <a:t>ALTER TABLE Book CHANGE Quantity Quantity INT DEFAULT 10;</a:t>
            </a:r>
          </a:p>
        </p:txBody>
      </p:sp>
      <p:sp>
        <p:nvSpPr>
          <p:cNvPr id="11" name="Snip Single Corner Rectangle 10">
            <a:extLst>
              <a:ext uri="{FF2B5EF4-FFF2-40B4-BE49-F238E27FC236}">
                <a16:creationId xmlns:a16="http://schemas.microsoft.com/office/drawing/2014/main" id="{32735176-5D8C-4AD3-B2AF-A182FC95B760}"/>
              </a:ext>
            </a:extLst>
          </p:cNvPr>
          <p:cNvSpPr/>
          <p:nvPr/>
        </p:nvSpPr>
        <p:spPr>
          <a:xfrm>
            <a:off x="-36513" y="1385888"/>
            <a:ext cx="1079501" cy="371475"/>
          </a:xfrm>
          <a:prstGeom prst="snip1Rect">
            <a:avLst/>
          </a:prstGeom>
          <a:solidFill>
            <a:schemeClr val="tx1"/>
          </a:solidFill>
          <a:ln>
            <a:solidFill>
              <a:schemeClr val="tx1"/>
            </a:solidFill>
          </a:ln>
        </p:spPr>
        <p:style>
          <a:lnRef idx="1">
            <a:schemeClr val="accent2"/>
          </a:lnRef>
          <a:fillRef idx="3">
            <a:schemeClr val="accent2"/>
          </a:fillRef>
          <a:effectRef idx="2">
            <a:schemeClr val="accent2"/>
          </a:effectRef>
          <a:fontRef idx="minor">
            <a:schemeClr val="lt1"/>
          </a:fontRef>
        </p:style>
        <p:txBody>
          <a:bodyPr anchor="ctr">
            <a:spAutoFit/>
          </a:bodyPr>
          <a:lstStyle/>
          <a:p>
            <a:pPr algn="ctr" defTabSz="889000">
              <a:lnSpc>
                <a:spcPct val="90000"/>
              </a:lnSpc>
              <a:spcAft>
                <a:spcPct val="35000"/>
              </a:spcAft>
              <a:defRPr/>
            </a:pPr>
            <a:r>
              <a:rPr lang="en-CA" dirty="0"/>
              <a:t>Default</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wipe(left)">
                                      <p:cBhvr>
                                        <p:cTn id="7" dur="500"/>
                                        <p:tgtEl>
                                          <p:spTgt spid="7">
                                            <p:txEl>
                                              <p:pRg st="0" end="0"/>
                                            </p:txEl>
                                          </p:spTgt>
                                        </p:tgtEl>
                                      </p:cBhvr>
                                    </p:animEffect>
                                  </p:childTnLst>
                                </p:cTn>
                              </p:par>
                            </p:childTnLst>
                          </p:cTn>
                        </p:par>
                        <p:par>
                          <p:cTn id="8" fill="hold" nodeType="afterGroup">
                            <p:stCondLst>
                              <p:cond delay="500"/>
                            </p:stCondLst>
                            <p:childTnLst>
                              <p:par>
                                <p:cTn id="9" presetID="16" presetClass="entr" presetSubtype="21"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barn(inVertical)">
                                      <p:cBhvr>
                                        <p:cTn id="11" dur="500"/>
                                        <p:tgtEl>
                                          <p:spTgt spid="8"/>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7">
                                            <p:txEl>
                                              <p:pRg st="4" end="4"/>
                                            </p:txEl>
                                          </p:spTgt>
                                        </p:tgtEl>
                                        <p:attrNameLst>
                                          <p:attrName>style.visibility</p:attrName>
                                        </p:attrNameLst>
                                      </p:cBhvr>
                                      <p:to>
                                        <p:strVal val="visible"/>
                                      </p:to>
                                    </p:set>
                                    <p:animEffect transition="in" filter="wipe(left)">
                                      <p:cBhvr>
                                        <p:cTn id="16" dur="500"/>
                                        <p:tgtEl>
                                          <p:spTgt spid="7">
                                            <p:txEl>
                                              <p:pRg st="4" end="4"/>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6" presetClass="entr" presetSubtype="21"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barn(inVertical)">
                                      <p:cBhvr>
                                        <p:cTn id="2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8" grpId="0" animBg="1"/>
      <p:bldP spid="9"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7E08F-5467-40B2-2218-1CB656AB2A0C}"/>
              </a:ext>
            </a:extLst>
          </p:cNvPr>
          <p:cNvSpPr>
            <a:spLocks noGrp="1"/>
          </p:cNvSpPr>
          <p:nvPr>
            <p:ph type="title"/>
          </p:nvPr>
        </p:nvSpPr>
        <p:spPr>
          <a:xfrm>
            <a:off x="457200" y="0"/>
            <a:ext cx="7620000" cy="1143000"/>
          </a:xfrm>
        </p:spPr>
        <p:txBody>
          <a:bodyPr/>
          <a:lstStyle/>
          <a:p>
            <a:pPr algn="ctr">
              <a:defRPr/>
            </a:pPr>
            <a:r>
              <a:rPr lang="en-US" dirty="0"/>
              <a:t>Activity 1</a:t>
            </a:r>
            <a:endParaRPr lang="en-MY" dirty="0"/>
          </a:p>
        </p:txBody>
      </p:sp>
      <p:sp>
        <p:nvSpPr>
          <p:cNvPr id="23" name="Title 1">
            <a:extLst>
              <a:ext uri="{FF2B5EF4-FFF2-40B4-BE49-F238E27FC236}">
                <a16:creationId xmlns:a16="http://schemas.microsoft.com/office/drawing/2014/main" id="{78618B34-E5B1-9E79-9553-9FFA01603EE4}"/>
              </a:ext>
            </a:extLst>
          </p:cNvPr>
          <p:cNvSpPr txBox="1">
            <a:spLocks/>
          </p:cNvSpPr>
          <p:nvPr/>
        </p:nvSpPr>
        <p:spPr bwMode="auto">
          <a:xfrm>
            <a:off x="0" y="1066800"/>
            <a:ext cx="8172450" cy="323850"/>
          </a:xfrm>
          <a:prstGeom prst="rect">
            <a:avLst/>
          </a:prstGeom>
          <a:noFill/>
          <a:ln w="9525">
            <a:noFill/>
            <a:miter lim="800000"/>
            <a:headEnd/>
            <a:tailEnd/>
          </a:ln>
        </p:spPr>
        <p:txBody>
          <a:bodyPr lIns="72000" tIns="0" rIns="72000" bIns="0"/>
          <a:lstStyle/>
          <a:p>
            <a:pPr defTabSz="720000" eaLnBrk="1" hangingPunct="1">
              <a:lnSpc>
                <a:spcPts val="1800"/>
              </a:lnSpc>
              <a:spcBef>
                <a:spcPts val="0"/>
              </a:spcBef>
              <a:spcAft>
                <a:spcPts val="0"/>
              </a:spcAft>
              <a:tabLst>
                <a:tab pos="0" algn="l"/>
              </a:tabLst>
              <a:defRPr/>
            </a:pPr>
            <a:r>
              <a:rPr lang="en-CA" b="1" kern="0" dirty="0">
                <a:cs typeface="Calibri" pitchFamily="34" charset="0"/>
              </a:rPr>
              <a:t>CLASS ACTIVITY</a:t>
            </a:r>
            <a:endParaRPr lang="en-MY" b="1" kern="0" dirty="0">
              <a:cs typeface="Calibri" pitchFamily="34" charset="0"/>
            </a:endParaRPr>
          </a:p>
          <a:p>
            <a:pPr defTabSz="720000" eaLnBrk="1" hangingPunct="1">
              <a:lnSpc>
                <a:spcPts val="1800"/>
              </a:lnSpc>
              <a:spcBef>
                <a:spcPts val="0"/>
              </a:spcBef>
              <a:spcAft>
                <a:spcPts val="0"/>
              </a:spcAft>
              <a:tabLst>
                <a:tab pos="0" algn="l"/>
              </a:tabLst>
              <a:defRPr/>
            </a:pPr>
            <a:endParaRPr lang="en-MY" b="1" kern="0" dirty="0">
              <a:latin typeface="+mn-lt"/>
              <a:ea typeface="+mj-ea"/>
              <a:cs typeface="Calibri" pitchFamily="34" charset="0"/>
            </a:endParaRPr>
          </a:p>
        </p:txBody>
      </p:sp>
      <p:sp>
        <p:nvSpPr>
          <p:cNvPr id="12" name="Content Placeholder 2">
            <a:extLst>
              <a:ext uri="{FF2B5EF4-FFF2-40B4-BE49-F238E27FC236}">
                <a16:creationId xmlns:a16="http://schemas.microsoft.com/office/drawing/2014/main" id="{D9F8ACF8-5EFE-7973-F882-7EDE2CBDFAF3}"/>
              </a:ext>
            </a:extLst>
          </p:cNvPr>
          <p:cNvSpPr txBox="1">
            <a:spLocks/>
          </p:cNvSpPr>
          <p:nvPr/>
        </p:nvSpPr>
        <p:spPr bwMode="auto">
          <a:xfrm>
            <a:off x="250825" y="1341438"/>
            <a:ext cx="8054975"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rgbClr val="FF6600"/>
              </a:buClr>
              <a:buFont typeface="Wingdings 3" panose="05040102010807070707" pitchFamily="18" charset="2"/>
              <a:buNone/>
            </a:pPr>
            <a:r>
              <a:rPr lang="en-CA" altLang="en-US" sz="2800">
                <a:latin typeface="Calibri" panose="020F0502020204030204" pitchFamily="34" charset="0"/>
              </a:rPr>
              <a:t>Write down the SQL statements for creating the following tables</a:t>
            </a:r>
            <a:endParaRPr lang="en-US"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US" altLang="en-US" sz="3200">
              <a:solidFill>
                <a:srgbClr val="000000"/>
              </a:solidFill>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r>
              <a:rPr lang="en-US" altLang="en-US" sz="3200">
                <a:solidFill>
                  <a:srgbClr val="000000"/>
                </a:solidFill>
                <a:latin typeface="Calibri" panose="020F0502020204030204" pitchFamily="34" charset="0"/>
              </a:rPr>
              <a:t> </a:t>
            </a: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p:txBody>
      </p:sp>
      <p:graphicFrame>
        <p:nvGraphicFramePr>
          <p:cNvPr id="4" name="Table 3">
            <a:extLst>
              <a:ext uri="{FF2B5EF4-FFF2-40B4-BE49-F238E27FC236}">
                <a16:creationId xmlns:a16="http://schemas.microsoft.com/office/drawing/2014/main" id="{7963FED2-E883-732D-EEF9-2AF3082B2ACD}"/>
              </a:ext>
            </a:extLst>
          </p:cNvPr>
          <p:cNvGraphicFramePr>
            <a:graphicFrameLocks noGrp="1"/>
          </p:cNvGraphicFramePr>
          <p:nvPr/>
        </p:nvGraphicFramePr>
        <p:xfrm>
          <a:off x="77788" y="2403475"/>
          <a:ext cx="8302625" cy="1381125"/>
        </p:xfrm>
        <a:graphic>
          <a:graphicData uri="http://schemas.openxmlformats.org/drawingml/2006/table">
            <a:tbl>
              <a:tblPr firstRow="1" bandRow="1">
                <a:tableStyleId>{3B4B98B0-60AC-42C2-AFA5-B58CD77FA1E5}</a:tableStyleId>
              </a:tblPr>
              <a:tblGrid>
                <a:gridCol w="1688669">
                  <a:extLst>
                    <a:ext uri="{9D8B030D-6E8A-4147-A177-3AD203B41FA5}">
                      <a16:colId xmlns:a16="http://schemas.microsoft.com/office/drawing/2014/main" val="20000"/>
                    </a:ext>
                  </a:extLst>
                </a:gridCol>
                <a:gridCol w="4362398">
                  <a:extLst>
                    <a:ext uri="{9D8B030D-6E8A-4147-A177-3AD203B41FA5}">
                      <a16:colId xmlns:a16="http://schemas.microsoft.com/office/drawing/2014/main" val="20001"/>
                    </a:ext>
                  </a:extLst>
                </a:gridCol>
                <a:gridCol w="2251558">
                  <a:extLst>
                    <a:ext uri="{9D8B030D-6E8A-4147-A177-3AD203B41FA5}">
                      <a16:colId xmlns:a16="http://schemas.microsoft.com/office/drawing/2014/main" val="20002"/>
                    </a:ext>
                  </a:extLst>
                </a:gridCol>
              </a:tblGrid>
              <a:tr h="370557">
                <a:tc>
                  <a:txBody>
                    <a:bodyPr/>
                    <a:lstStyle/>
                    <a:p>
                      <a:pPr algn="ctr"/>
                      <a:r>
                        <a:rPr lang="en-CA" sz="1800" dirty="0"/>
                        <a:t>Column Name</a:t>
                      </a:r>
                    </a:p>
                  </a:txBody>
                  <a:tcPr marL="91450" marR="91450" marT="45686" marB="45686"/>
                </a:tc>
                <a:tc>
                  <a:txBody>
                    <a:bodyPr/>
                    <a:lstStyle/>
                    <a:p>
                      <a:pPr algn="ctr"/>
                      <a:r>
                        <a:rPr lang="en-CA" sz="1800" dirty="0"/>
                        <a:t>Data</a:t>
                      </a:r>
                      <a:r>
                        <a:rPr lang="en-CA" sz="1800" baseline="0" dirty="0"/>
                        <a:t> Type</a:t>
                      </a:r>
                      <a:endParaRPr lang="en-CA" sz="1800" dirty="0"/>
                    </a:p>
                  </a:txBody>
                  <a:tcPr marL="91450" marR="91450" marT="45686" marB="45686"/>
                </a:tc>
                <a:tc>
                  <a:txBody>
                    <a:bodyPr/>
                    <a:lstStyle/>
                    <a:p>
                      <a:pPr algn="ctr"/>
                      <a:r>
                        <a:rPr lang="en-CA" sz="1800" dirty="0"/>
                        <a:t>Constraint</a:t>
                      </a:r>
                    </a:p>
                  </a:txBody>
                  <a:tcPr marL="91450" marR="91450" marT="45686" marB="45686"/>
                </a:tc>
                <a:extLst>
                  <a:ext uri="{0D108BD9-81ED-4DB2-BD59-A6C34878D82A}">
                    <a16:rowId xmlns:a16="http://schemas.microsoft.com/office/drawing/2014/main" val="10000"/>
                  </a:ext>
                </a:extLst>
              </a:tr>
              <a:tr h="370557">
                <a:tc>
                  <a:txBody>
                    <a:bodyPr/>
                    <a:lstStyle/>
                    <a:p>
                      <a:pPr algn="ctr"/>
                      <a:r>
                        <a:rPr lang="en-CA" sz="1800" dirty="0" err="1"/>
                        <a:t>TeamId</a:t>
                      </a:r>
                      <a:endParaRPr lang="en-CA" sz="1800" dirty="0"/>
                    </a:p>
                  </a:txBody>
                  <a:tcPr marL="91450" marR="91450" marT="45686" marB="45686"/>
                </a:tc>
                <a:tc>
                  <a:txBody>
                    <a:bodyPr/>
                    <a:lstStyle/>
                    <a:p>
                      <a:pPr algn="ctr"/>
                      <a:r>
                        <a:rPr lang="en-CA" sz="1800" dirty="0"/>
                        <a:t>Characters</a:t>
                      </a:r>
                      <a:r>
                        <a:rPr lang="en-CA" sz="1800" baseline="0" dirty="0"/>
                        <a:t> (Exactly 3 characters)</a:t>
                      </a:r>
                      <a:endParaRPr lang="en-CA" sz="1800" dirty="0"/>
                    </a:p>
                  </a:txBody>
                  <a:tcPr marL="91450" marR="91450" marT="45686" marB="45686"/>
                </a:tc>
                <a:tc>
                  <a:txBody>
                    <a:bodyPr/>
                    <a:lstStyle/>
                    <a:p>
                      <a:pPr algn="ctr"/>
                      <a:r>
                        <a:rPr lang="en-CA" sz="1800" dirty="0"/>
                        <a:t>Primary key</a:t>
                      </a:r>
                    </a:p>
                  </a:txBody>
                  <a:tcPr marL="91450" marR="91450" marT="45686" marB="45686"/>
                </a:tc>
                <a:extLst>
                  <a:ext uri="{0D108BD9-81ED-4DB2-BD59-A6C34878D82A}">
                    <a16:rowId xmlns:a16="http://schemas.microsoft.com/office/drawing/2014/main" val="10001"/>
                  </a:ext>
                </a:extLst>
              </a:tr>
              <a:tr h="640011">
                <a:tc>
                  <a:txBody>
                    <a:bodyPr/>
                    <a:lstStyle/>
                    <a:p>
                      <a:pPr algn="ctr"/>
                      <a:r>
                        <a:rPr lang="en-CA" sz="1800" dirty="0"/>
                        <a:t>Name</a:t>
                      </a:r>
                    </a:p>
                  </a:txBody>
                  <a:tcPr marL="91450" marR="91450" marT="45686" marB="45686"/>
                </a:tc>
                <a:tc>
                  <a:txBody>
                    <a:bodyPr/>
                    <a:lstStyle/>
                    <a:p>
                      <a:pPr algn="ctr"/>
                      <a:r>
                        <a:rPr lang="en-CA" sz="1800" dirty="0"/>
                        <a:t>Characters</a:t>
                      </a:r>
                      <a:r>
                        <a:rPr lang="en-CA" sz="1800" baseline="0" dirty="0"/>
                        <a:t> (No more than 50 characters)</a:t>
                      </a:r>
                      <a:endParaRPr lang="en-CA" sz="1800" dirty="0"/>
                    </a:p>
                  </a:txBody>
                  <a:tcPr marL="91450" marR="91450" marT="45686" marB="45686"/>
                </a:tc>
                <a:tc>
                  <a:txBody>
                    <a:bodyPr/>
                    <a:lstStyle/>
                    <a:p>
                      <a:pPr algn="ctr"/>
                      <a:r>
                        <a:rPr lang="en-CA" sz="1800" kern="1200" dirty="0">
                          <a:solidFill>
                            <a:schemeClr val="tx1"/>
                          </a:solidFill>
                          <a:effectLst/>
                          <a:latin typeface="+mn-lt"/>
                          <a:ea typeface="+mn-ea"/>
                          <a:cs typeface="+mn-cs"/>
                        </a:rPr>
                        <a:t>Cannot be NULL,</a:t>
                      </a:r>
                      <a:r>
                        <a:rPr lang="en-CA" sz="1800" dirty="0"/>
                        <a:t> Unique</a:t>
                      </a:r>
                    </a:p>
                  </a:txBody>
                  <a:tcPr marL="91450" marR="91450" marT="45686" marB="45686"/>
                </a:tc>
                <a:extLst>
                  <a:ext uri="{0D108BD9-81ED-4DB2-BD59-A6C34878D82A}">
                    <a16:rowId xmlns:a16="http://schemas.microsoft.com/office/drawing/2014/main" val="10002"/>
                  </a:ext>
                </a:extLst>
              </a:tr>
            </a:tbl>
          </a:graphicData>
        </a:graphic>
      </p:graphicFrame>
      <p:sp>
        <p:nvSpPr>
          <p:cNvPr id="10" name="TextBox 9">
            <a:extLst>
              <a:ext uri="{FF2B5EF4-FFF2-40B4-BE49-F238E27FC236}">
                <a16:creationId xmlns:a16="http://schemas.microsoft.com/office/drawing/2014/main" id="{0B8ACDA1-B914-6E6E-1332-E91F15987BAA}"/>
              </a:ext>
            </a:extLst>
          </p:cNvPr>
          <p:cNvSpPr txBox="1">
            <a:spLocks noChangeArrowheads="1"/>
          </p:cNvSpPr>
          <p:nvPr/>
        </p:nvSpPr>
        <p:spPr bwMode="auto">
          <a:xfrm>
            <a:off x="3282950" y="3783013"/>
            <a:ext cx="20399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CA" altLang="en-US"/>
              <a:t>Team table</a:t>
            </a:r>
          </a:p>
        </p:txBody>
      </p:sp>
      <p:graphicFrame>
        <p:nvGraphicFramePr>
          <p:cNvPr id="14" name="Table 13">
            <a:extLst>
              <a:ext uri="{FF2B5EF4-FFF2-40B4-BE49-F238E27FC236}">
                <a16:creationId xmlns:a16="http://schemas.microsoft.com/office/drawing/2014/main" id="{FC576EA2-AF66-71C8-F768-16BEC8FC1D43}"/>
              </a:ext>
            </a:extLst>
          </p:cNvPr>
          <p:cNvGraphicFramePr>
            <a:graphicFrameLocks noGrp="1"/>
          </p:cNvGraphicFramePr>
          <p:nvPr/>
        </p:nvGraphicFramePr>
        <p:xfrm>
          <a:off x="76200" y="4229100"/>
          <a:ext cx="8305800" cy="1482725"/>
        </p:xfrm>
        <a:graphic>
          <a:graphicData uri="http://schemas.openxmlformats.org/drawingml/2006/table">
            <a:tbl>
              <a:tblPr firstRow="1" bandRow="1">
                <a:tableStyleId>{D27102A9-8310-4765-A935-A1911B00CA55}</a:tableStyleId>
              </a:tblPr>
              <a:tblGrid>
                <a:gridCol w="1856980">
                  <a:extLst>
                    <a:ext uri="{9D8B030D-6E8A-4147-A177-3AD203B41FA5}">
                      <a16:colId xmlns:a16="http://schemas.microsoft.com/office/drawing/2014/main" val="20000"/>
                    </a:ext>
                  </a:extLst>
                </a:gridCol>
                <a:gridCol w="4476874">
                  <a:extLst>
                    <a:ext uri="{9D8B030D-6E8A-4147-A177-3AD203B41FA5}">
                      <a16:colId xmlns:a16="http://schemas.microsoft.com/office/drawing/2014/main" val="20001"/>
                    </a:ext>
                  </a:extLst>
                </a:gridCol>
                <a:gridCol w="1971946">
                  <a:extLst>
                    <a:ext uri="{9D8B030D-6E8A-4147-A177-3AD203B41FA5}">
                      <a16:colId xmlns:a16="http://schemas.microsoft.com/office/drawing/2014/main" val="20002"/>
                    </a:ext>
                  </a:extLst>
                </a:gridCol>
              </a:tblGrid>
              <a:tr h="370681">
                <a:tc>
                  <a:txBody>
                    <a:bodyPr/>
                    <a:lstStyle/>
                    <a:p>
                      <a:pPr algn="ctr"/>
                      <a:r>
                        <a:rPr lang="en-CA" sz="1800" dirty="0"/>
                        <a:t>Column Name</a:t>
                      </a:r>
                    </a:p>
                  </a:txBody>
                  <a:tcPr marT="45700" marB="45700"/>
                </a:tc>
                <a:tc>
                  <a:txBody>
                    <a:bodyPr/>
                    <a:lstStyle/>
                    <a:p>
                      <a:pPr algn="ctr"/>
                      <a:r>
                        <a:rPr lang="en-CA" sz="1800" dirty="0"/>
                        <a:t>Data</a:t>
                      </a:r>
                      <a:r>
                        <a:rPr lang="en-CA" sz="1800" baseline="0" dirty="0"/>
                        <a:t> Type</a:t>
                      </a:r>
                      <a:endParaRPr lang="en-CA" sz="1800" dirty="0"/>
                    </a:p>
                  </a:txBody>
                  <a:tcPr marT="45700" marB="45700"/>
                </a:tc>
                <a:tc>
                  <a:txBody>
                    <a:bodyPr/>
                    <a:lstStyle/>
                    <a:p>
                      <a:pPr algn="ctr"/>
                      <a:r>
                        <a:rPr lang="en-CA" sz="1800" dirty="0"/>
                        <a:t>Constraint</a:t>
                      </a:r>
                    </a:p>
                  </a:txBody>
                  <a:tcPr marT="45700" marB="45700"/>
                </a:tc>
                <a:extLst>
                  <a:ext uri="{0D108BD9-81ED-4DB2-BD59-A6C34878D82A}">
                    <a16:rowId xmlns:a16="http://schemas.microsoft.com/office/drawing/2014/main" val="10000"/>
                  </a:ext>
                </a:extLst>
              </a:tr>
              <a:tr h="370681">
                <a:tc>
                  <a:txBody>
                    <a:bodyPr/>
                    <a:lstStyle/>
                    <a:p>
                      <a:pPr algn="ctr"/>
                      <a:r>
                        <a:rPr lang="en-CA" sz="1800" dirty="0" err="1"/>
                        <a:t>MemberId</a:t>
                      </a:r>
                      <a:endParaRPr lang="en-CA" sz="1800" dirty="0"/>
                    </a:p>
                  </a:txBody>
                  <a:tcPr marT="45700" marB="45700"/>
                </a:tc>
                <a:tc>
                  <a:txBody>
                    <a:bodyPr/>
                    <a:lstStyle/>
                    <a:p>
                      <a:pPr algn="ctr"/>
                      <a:r>
                        <a:rPr lang="en-CA" sz="1800" dirty="0"/>
                        <a:t>Integer</a:t>
                      </a:r>
                    </a:p>
                  </a:txBody>
                  <a:tcPr marT="45700" marB="45700"/>
                </a:tc>
                <a:tc>
                  <a:txBody>
                    <a:bodyPr/>
                    <a:lstStyle/>
                    <a:p>
                      <a:pPr algn="ctr"/>
                      <a:r>
                        <a:rPr lang="en-CA" sz="1800" dirty="0"/>
                        <a:t>Primary key</a:t>
                      </a:r>
                    </a:p>
                  </a:txBody>
                  <a:tcPr marT="45700" marB="45700"/>
                </a:tc>
                <a:extLst>
                  <a:ext uri="{0D108BD9-81ED-4DB2-BD59-A6C34878D82A}">
                    <a16:rowId xmlns:a16="http://schemas.microsoft.com/office/drawing/2014/main" val="10001"/>
                  </a:ext>
                </a:extLst>
              </a:tr>
              <a:tr h="370681">
                <a:tc>
                  <a:txBody>
                    <a:bodyPr/>
                    <a:lstStyle/>
                    <a:p>
                      <a:pPr algn="ctr"/>
                      <a:r>
                        <a:rPr lang="en-CA" sz="1800" dirty="0"/>
                        <a:t>Name</a:t>
                      </a:r>
                    </a:p>
                  </a:txBody>
                  <a:tcPr marT="45700" marB="45700"/>
                </a:tc>
                <a:tc>
                  <a:txBody>
                    <a:bodyPr/>
                    <a:lstStyle/>
                    <a:p>
                      <a:pPr algn="ctr"/>
                      <a:r>
                        <a:rPr lang="en-CA" sz="1800" dirty="0"/>
                        <a:t>Characters</a:t>
                      </a:r>
                      <a:r>
                        <a:rPr lang="en-CA" sz="1800" baseline="0" dirty="0"/>
                        <a:t> (No more than 50 characters)</a:t>
                      </a:r>
                      <a:endParaRPr lang="en-CA" sz="1800" dirty="0"/>
                    </a:p>
                  </a:txBody>
                  <a:tcPr marT="45700" marB="45700"/>
                </a:tc>
                <a:tc>
                  <a:txBody>
                    <a:bodyPr/>
                    <a:lstStyle/>
                    <a:p>
                      <a:pPr algn="ctr"/>
                      <a:r>
                        <a:rPr lang="en-CA" sz="1800" kern="1200" dirty="0">
                          <a:solidFill>
                            <a:schemeClr val="tx1"/>
                          </a:solidFill>
                          <a:effectLst/>
                          <a:latin typeface="+mn-lt"/>
                          <a:ea typeface="+mn-ea"/>
                          <a:cs typeface="+mn-cs"/>
                        </a:rPr>
                        <a:t>Cannot be NULL</a:t>
                      </a:r>
                      <a:endParaRPr lang="en-CA" sz="1800" dirty="0"/>
                    </a:p>
                  </a:txBody>
                  <a:tcPr marT="45700" marB="45700"/>
                </a:tc>
                <a:extLst>
                  <a:ext uri="{0D108BD9-81ED-4DB2-BD59-A6C34878D82A}">
                    <a16:rowId xmlns:a16="http://schemas.microsoft.com/office/drawing/2014/main" val="10002"/>
                  </a:ext>
                </a:extLst>
              </a:tr>
              <a:tr h="370681">
                <a:tc>
                  <a:txBody>
                    <a:bodyPr/>
                    <a:lstStyle/>
                    <a:p>
                      <a:pPr algn="ctr"/>
                      <a:r>
                        <a:rPr lang="en-CA" sz="1800" dirty="0"/>
                        <a:t>Team</a:t>
                      </a:r>
                    </a:p>
                  </a:txBody>
                  <a:tcPr marT="45700" marB="45700"/>
                </a:tc>
                <a:tc>
                  <a:txBody>
                    <a:bodyPr/>
                    <a:lstStyle/>
                    <a:p>
                      <a:pPr algn="ctr"/>
                      <a:r>
                        <a:rPr lang="en-CA" sz="1800" dirty="0"/>
                        <a:t>Characters</a:t>
                      </a:r>
                      <a:r>
                        <a:rPr lang="en-CA" sz="1800" baseline="0" dirty="0"/>
                        <a:t> (Exactly 3 characters)</a:t>
                      </a:r>
                      <a:endParaRPr lang="en-CA" sz="1800" dirty="0"/>
                    </a:p>
                  </a:txBody>
                  <a:tcPr marT="45700" marB="45700"/>
                </a:tc>
                <a:tc>
                  <a:txBody>
                    <a:bodyPr/>
                    <a:lstStyle/>
                    <a:p>
                      <a:pPr algn="ctr"/>
                      <a:r>
                        <a:rPr lang="en-CA" sz="1800" dirty="0"/>
                        <a:t>Foreign key</a:t>
                      </a:r>
                    </a:p>
                  </a:txBody>
                  <a:tcPr marT="45700" marB="45700"/>
                </a:tc>
                <a:extLst>
                  <a:ext uri="{0D108BD9-81ED-4DB2-BD59-A6C34878D82A}">
                    <a16:rowId xmlns:a16="http://schemas.microsoft.com/office/drawing/2014/main" val="10003"/>
                  </a:ext>
                </a:extLst>
              </a:tr>
            </a:tbl>
          </a:graphicData>
        </a:graphic>
      </p:graphicFrame>
      <p:sp>
        <p:nvSpPr>
          <p:cNvPr id="15" name="TextBox 14">
            <a:extLst>
              <a:ext uri="{FF2B5EF4-FFF2-40B4-BE49-F238E27FC236}">
                <a16:creationId xmlns:a16="http://schemas.microsoft.com/office/drawing/2014/main" id="{1F027140-DB6E-F831-6885-500EA8EFF0C6}"/>
              </a:ext>
            </a:extLst>
          </p:cNvPr>
          <p:cNvSpPr txBox="1">
            <a:spLocks noChangeArrowheads="1"/>
          </p:cNvSpPr>
          <p:nvPr/>
        </p:nvSpPr>
        <p:spPr bwMode="auto">
          <a:xfrm>
            <a:off x="3048000" y="5724525"/>
            <a:ext cx="24987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CA" altLang="en-US"/>
              <a:t>Member table</a:t>
            </a:r>
          </a:p>
        </p:txBody>
      </p:sp>
      <p:sp>
        <p:nvSpPr>
          <p:cNvPr id="11" name="Rounded Rectangle 10">
            <a:hlinkClick r:id="rId2" action="ppaction://hlinksldjump"/>
            <a:extLst>
              <a:ext uri="{FF2B5EF4-FFF2-40B4-BE49-F238E27FC236}">
                <a16:creationId xmlns:a16="http://schemas.microsoft.com/office/drawing/2014/main" id="{BD17B0B7-09D0-7993-EC17-714205A00B16}"/>
              </a:ext>
            </a:extLst>
          </p:cNvPr>
          <p:cNvSpPr/>
          <p:nvPr/>
        </p:nvSpPr>
        <p:spPr bwMode="auto">
          <a:xfrm>
            <a:off x="3048000" y="6154738"/>
            <a:ext cx="2197100" cy="482600"/>
          </a:xfrm>
          <a:prstGeom prst="roundRect">
            <a:avLst/>
          </a:prstGeom>
          <a:ln>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nchorCtr="1"/>
          <a:lstStyle/>
          <a:p>
            <a:pPr algn="ctr">
              <a:defRPr/>
            </a:pPr>
            <a:r>
              <a:rPr lang="en-CA" sz="3200" dirty="0">
                <a:solidFill>
                  <a:schemeClr val="bg1"/>
                </a:solidFill>
                <a:latin typeface="Arial" charset="0"/>
              </a:rPr>
              <a:t>Answer</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wipe(left)">
                                      <p:cBhvr>
                                        <p:cTn id="7" dur="500"/>
                                        <p:tgtEl>
                                          <p:spTgt spid="12">
                                            <p:txEl>
                                              <p:pRg st="0" end="0"/>
                                            </p:txEl>
                                          </p:spTgt>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up)">
                                      <p:cBhvr>
                                        <p:cTn id="11" dur="500"/>
                                        <p:tgtEl>
                                          <p:spTgt spid="4"/>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ipe(left)">
                                      <p:cBhvr>
                                        <p:cTn id="15" dur="500"/>
                                        <p:tgtEl>
                                          <p:spTgt spid="10"/>
                                        </p:tgtEl>
                                      </p:cBhvr>
                                    </p:animEffect>
                                  </p:childTnLst>
                                </p:cTn>
                              </p:par>
                            </p:childTnLst>
                          </p:cTn>
                        </p:par>
                        <p:par>
                          <p:cTn id="16" fill="hold" nodeType="afterGroup">
                            <p:stCondLst>
                              <p:cond delay="1500"/>
                            </p:stCondLst>
                            <p:childTnLst>
                              <p:par>
                                <p:cTn id="17" presetID="22" presetClass="entr" presetSubtype="1" fill="hold" nodeType="after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wipe(up)">
                                      <p:cBhvr>
                                        <p:cTn id="19" dur="500"/>
                                        <p:tgtEl>
                                          <p:spTgt spid="14"/>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par>
                          <p:cTn id="24" fill="hold" nodeType="afterGroup">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ipe(left)">
                                      <p:cBhvr>
                                        <p:cTn id="2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5" grpId="0"/>
      <p:bldP spid="11"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7DBC06-D550-7534-3163-6CD27098B4EE}"/>
              </a:ext>
            </a:extLst>
          </p:cNvPr>
          <p:cNvSpPr>
            <a:spLocks noGrp="1"/>
          </p:cNvSpPr>
          <p:nvPr>
            <p:ph type="title"/>
          </p:nvPr>
        </p:nvSpPr>
        <p:spPr>
          <a:xfrm>
            <a:off x="457200" y="0"/>
            <a:ext cx="7620000" cy="1143000"/>
          </a:xfrm>
        </p:spPr>
        <p:txBody>
          <a:bodyPr/>
          <a:lstStyle/>
          <a:p>
            <a:pPr algn="ctr">
              <a:defRPr/>
            </a:pPr>
            <a:r>
              <a:rPr lang="en-US" dirty="0"/>
              <a:t>Activity 1</a:t>
            </a:r>
            <a:endParaRPr lang="en-MY" dirty="0"/>
          </a:p>
        </p:txBody>
      </p:sp>
      <p:sp>
        <p:nvSpPr>
          <p:cNvPr id="23" name="Title 1">
            <a:extLst>
              <a:ext uri="{FF2B5EF4-FFF2-40B4-BE49-F238E27FC236}">
                <a16:creationId xmlns:a16="http://schemas.microsoft.com/office/drawing/2014/main" id="{ACAC2102-CC11-6521-6E57-AF2D4326405F}"/>
              </a:ext>
            </a:extLst>
          </p:cNvPr>
          <p:cNvSpPr txBox="1">
            <a:spLocks/>
          </p:cNvSpPr>
          <p:nvPr/>
        </p:nvSpPr>
        <p:spPr bwMode="auto">
          <a:xfrm>
            <a:off x="0" y="1047750"/>
            <a:ext cx="8172450" cy="323850"/>
          </a:xfrm>
          <a:prstGeom prst="rect">
            <a:avLst/>
          </a:prstGeom>
          <a:noFill/>
          <a:ln w="9525">
            <a:noFill/>
            <a:miter lim="800000"/>
            <a:headEnd/>
            <a:tailEnd/>
          </a:ln>
        </p:spPr>
        <p:txBody>
          <a:bodyPr lIns="72000" tIns="0" rIns="72000" bIns="0"/>
          <a:lstStyle/>
          <a:p>
            <a:pPr defTabSz="720000" eaLnBrk="1" hangingPunct="1">
              <a:lnSpc>
                <a:spcPts val="1800"/>
              </a:lnSpc>
              <a:spcBef>
                <a:spcPts val="0"/>
              </a:spcBef>
              <a:spcAft>
                <a:spcPts val="0"/>
              </a:spcAft>
              <a:tabLst>
                <a:tab pos="0" algn="l"/>
              </a:tabLst>
              <a:defRPr/>
            </a:pPr>
            <a:r>
              <a:rPr lang="en-CA" b="1" kern="0" dirty="0">
                <a:cs typeface="Calibri" pitchFamily="34" charset="0"/>
              </a:rPr>
              <a:t>CLASS ACTIVITY</a:t>
            </a:r>
            <a:endParaRPr lang="en-MY" b="1" kern="0" dirty="0">
              <a:cs typeface="Calibri" pitchFamily="34" charset="0"/>
            </a:endParaRPr>
          </a:p>
          <a:p>
            <a:pPr defTabSz="720000" eaLnBrk="1" hangingPunct="1">
              <a:lnSpc>
                <a:spcPts val="1800"/>
              </a:lnSpc>
              <a:spcBef>
                <a:spcPts val="0"/>
              </a:spcBef>
              <a:spcAft>
                <a:spcPts val="0"/>
              </a:spcAft>
              <a:tabLst>
                <a:tab pos="0" algn="l"/>
              </a:tabLst>
              <a:defRPr/>
            </a:pPr>
            <a:endParaRPr lang="en-MY" b="1" kern="0" dirty="0">
              <a:latin typeface="+mn-lt"/>
              <a:ea typeface="+mj-ea"/>
              <a:cs typeface="Calibri" pitchFamily="34" charset="0"/>
            </a:endParaRPr>
          </a:p>
        </p:txBody>
      </p:sp>
      <p:sp>
        <p:nvSpPr>
          <p:cNvPr id="19" name="Rounded Rectangle 18">
            <a:extLst>
              <a:ext uri="{FF2B5EF4-FFF2-40B4-BE49-F238E27FC236}">
                <a16:creationId xmlns:a16="http://schemas.microsoft.com/office/drawing/2014/main" id="{7C86A5AA-2721-01F3-53E1-815B3C01DFE5}"/>
              </a:ext>
            </a:extLst>
          </p:cNvPr>
          <p:cNvSpPr/>
          <p:nvPr/>
        </p:nvSpPr>
        <p:spPr bwMode="auto">
          <a:xfrm>
            <a:off x="1717675" y="2205038"/>
            <a:ext cx="5708650" cy="1728787"/>
          </a:xfrm>
          <a:prstGeom prst="roundRect">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anchor="ctr" anchorCtr="1"/>
          <a:lstStyle/>
          <a:p>
            <a:pPr>
              <a:defRPr/>
            </a:pPr>
            <a:r>
              <a:rPr lang="en-CA" sz="2000" dirty="0"/>
              <a:t>CREATE TABLE Team</a:t>
            </a:r>
          </a:p>
          <a:p>
            <a:pPr>
              <a:defRPr/>
            </a:pPr>
            <a:r>
              <a:rPr lang="en-CA" sz="2000" dirty="0"/>
              <a:t>(</a:t>
            </a:r>
          </a:p>
          <a:p>
            <a:pPr>
              <a:defRPr/>
            </a:pPr>
            <a:r>
              <a:rPr lang="en-CA" sz="2000" dirty="0"/>
              <a:t>   </a:t>
            </a:r>
            <a:r>
              <a:rPr lang="en-CA" sz="2000" dirty="0" err="1"/>
              <a:t>TeamId</a:t>
            </a:r>
            <a:r>
              <a:rPr lang="en-CA" sz="2000" dirty="0"/>
              <a:t> CHAR(3) PRIMARY KEY,</a:t>
            </a:r>
          </a:p>
          <a:p>
            <a:pPr>
              <a:defRPr/>
            </a:pPr>
            <a:r>
              <a:rPr lang="en-CA" sz="2000" dirty="0"/>
              <a:t>   Name VARCHAR(50) NOT NULL UNIQUE</a:t>
            </a:r>
          </a:p>
          <a:p>
            <a:pPr>
              <a:defRPr/>
            </a:pPr>
            <a:r>
              <a:rPr lang="en-CA" sz="2000" dirty="0"/>
              <a:t>);</a:t>
            </a:r>
          </a:p>
        </p:txBody>
      </p:sp>
      <p:sp>
        <p:nvSpPr>
          <p:cNvPr id="20" name="Rounded Rectangle 19">
            <a:extLst>
              <a:ext uri="{FF2B5EF4-FFF2-40B4-BE49-F238E27FC236}">
                <a16:creationId xmlns:a16="http://schemas.microsoft.com/office/drawing/2014/main" id="{07FDA0B3-D50B-8DFD-BCAB-5F89A4FB69B4}"/>
              </a:ext>
            </a:extLst>
          </p:cNvPr>
          <p:cNvSpPr/>
          <p:nvPr/>
        </p:nvSpPr>
        <p:spPr bwMode="auto">
          <a:xfrm>
            <a:off x="1181100" y="4149725"/>
            <a:ext cx="6781800" cy="2232025"/>
          </a:xfrm>
          <a:prstGeom prst="roundRect">
            <a:avLst/>
          </a:prstGeom>
          <a:ln>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anchor="ctr" anchorCtr="1"/>
          <a:lstStyle/>
          <a:p>
            <a:pPr>
              <a:defRPr/>
            </a:pPr>
            <a:r>
              <a:rPr lang="en-CA" sz="2000" dirty="0"/>
              <a:t>CREATE TABLE Member</a:t>
            </a:r>
          </a:p>
          <a:p>
            <a:pPr>
              <a:defRPr/>
            </a:pPr>
            <a:r>
              <a:rPr lang="en-CA" sz="2000" dirty="0"/>
              <a:t>(</a:t>
            </a:r>
          </a:p>
          <a:p>
            <a:pPr>
              <a:defRPr/>
            </a:pPr>
            <a:r>
              <a:rPr lang="en-CA" sz="2000" dirty="0"/>
              <a:t>   </a:t>
            </a:r>
            <a:r>
              <a:rPr lang="en-CA" sz="2000" dirty="0" err="1"/>
              <a:t>MemberId</a:t>
            </a:r>
            <a:r>
              <a:rPr lang="en-CA" sz="2000" dirty="0"/>
              <a:t> INT PRIMARY KEY,</a:t>
            </a:r>
          </a:p>
          <a:p>
            <a:pPr>
              <a:defRPr/>
            </a:pPr>
            <a:r>
              <a:rPr lang="en-CA" sz="2000" dirty="0"/>
              <a:t>   Name VARCHAR(50) NOT NULL,</a:t>
            </a:r>
          </a:p>
          <a:p>
            <a:pPr>
              <a:defRPr/>
            </a:pPr>
            <a:r>
              <a:rPr lang="en-CA" sz="2000" dirty="0"/>
              <a:t>   Team CHAR(3),</a:t>
            </a:r>
          </a:p>
          <a:p>
            <a:pPr>
              <a:defRPr/>
            </a:pPr>
            <a:r>
              <a:rPr lang="en-CA" sz="2000" dirty="0"/>
              <a:t>   FOREIGN KEY(Team) REFERENCES Team(</a:t>
            </a:r>
            <a:r>
              <a:rPr lang="en-CA" sz="2000" dirty="0" err="1"/>
              <a:t>TeamId</a:t>
            </a:r>
            <a:r>
              <a:rPr lang="en-CA" sz="2000" dirty="0"/>
              <a:t>)</a:t>
            </a:r>
          </a:p>
          <a:p>
            <a:pPr>
              <a:defRPr/>
            </a:pPr>
            <a:r>
              <a:rPr lang="en-CA" sz="2000" dirty="0"/>
              <a:t>);</a:t>
            </a:r>
          </a:p>
        </p:txBody>
      </p:sp>
      <p:sp>
        <p:nvSpPr>
          <p:cNvPr id="10" name="Rounded Rectangle 9">
            <a:extLst>
              <a:ext uri="{FF2B5EF4-FFF2-40B4-BE49-F238E27FC236}">
                <a16:creationId xmlns:a16="http://schemas.microsoft.com/office/drawing/2014/main" id="{24DD13B3-4423-FB9C-EF53-8D84A934EAFA}"/>
              </a:ext>
            </a:extLst>
          </p:cNvPr>
          <p:cNvSpPr/>
          <p:nvPr/>
        </p:nvSpPr>
        <p:spPr bwMode="auto">
          <a:xfrm>
            <a:off x="3473450" y="1484313"/>
            <a:ext cx="2197100" cy="482600"/>
          </a:xfrm>
          <a:prstGeom prst="roundRect">
            <a:avLst/>
          </a:prstGeom>
          <a:ln>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nchorCtr="1"/>
          <a:lstStyle/>
          <a:p>
            <a:pPr algn="ctr">
              <a:defRPr/>
            </a:pPr>
            <a:r>
              <a:rPr lang="en-CA" sz="3200" dirty="0">
                <a:solidFill>
                  <a:schemeClr val="bg1"/>
                </a:solidFill>
                <a:latin typeface="Arial" charset="0"/>
              </a:rPr>
              <a:t>Answer</a:t>
            </a:r>
          </a:p>
        </p:txBody>
      </p:sp>
    </p:spTree>
  </p:cSld>
  <p:clrMapOvr>
    <a:masterClrMapping/>
  </p:clrMapOvr>
  <p:transition spd="slow"/>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191F05-D970-C65A-F8EE-589DDA991B32}"/>
              </a:ext>
            </a:extLst>
          </p:cNvPr>
          <p:cNvSpPr>
            <a:spLocks noGrp="1"/>
          </p:cNvSpPr>
          <p:nvPr>
            <p:ph type="title"/>
          </p:nvPr>
        </p:nvSpPr>
        <p:spPr>
          <a:xfrm>
            <a:off x="457200" y="0"/>
            <a:ext cx="7620000" cy="1143000"/>
          </a:xfrm>
        </p:spPr>
        <p:txBody>
          <a:bodyPr/>
          <a:lstStyle/>
          <a:p>
            <a:pPr>
              <a:defRPr/>
            </a:pPr>
            <a:r>
              <a:rPr lang="en-US" dirty="0"/>
              <a:t>Manipulating Data Using SQL</a:t>
            </a:r>
            <a:endParaRPr lang="en-MY" dirty="0"/>
          </a:p>
        </p:txBody>
      </p:sp>
      <p:sp>
        <p:nvSpPr>
          <p:cNvPr id="13" name="Content Placeholder 2">
            <a:extLst>
              <a:ext uri="{FF2B5EF4-FFF2-40B4-BE49-F238E27FC236}">
                <a16:creationId xmlns:a16="http://schemas.microsoft.com/office/drawing/2014/main" id="{33F85E4A-B8A9-2C4E-2915-2CCFCC7CC90D}"/>
              </a:ext>
            </a:extLst>
          </p:cNvPr>
          <p:cNvSpPr txBox="1">
            <a:spLocks/>
          </p:cNvSpPr>
          <p:nvPr/>
        </p:nvSpPr>
        <p:spPr bwMode="auto">
          <a:xfrm>
            <a:off x="250825" y="1268413"/>
            <a:ext cx="7978775"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rgbClr val="FF6600"/>
              </a:buClr>
              <a:buFont typeface="Wingdings 3" panose="05040102010807070707" pitchFamily="18" charset="2"/>
              <a:buNone/>
            </a:pPr>
            <a:r>
              <a:rPr lang="en-US" altLang="en-US" sz="3200">
                <a:latin typeface="Calibri" panose="020F0502020204030204" pitchFamily="34" charset="0"/>
              </a:rPr>
              <a:t>There are four ways that one can manipulate data using SQL </a:t>
            </a:r>
          </a:p>
          <a:p>
            <a:pPr algn="just" eaLnBrk="1" hangingPunct="1">
              <a:spcBef>
                <a:spcPct val="20000"/>
              </a:spcBef>
              <a:buClr>
                <a:srgbClr val="FF6600"/>
              </a:buClr>
              <a:buFont typeface="Wingdings 3" panose="05040102010807070707" pitchFamily="18" charset="2"/>
              <a:buNone/>
            </a:pPr>
            <a:endParaRPr lang="en-US" altLang="en-US" sz="3200">
              <a:solidFill>
                <a:srgbClr val="000000"/>
              </a:solidFill>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p:txBody>
      </p:sp>
      <p:sp>
        <p:nvSpPr>
          <p:cNvPr id="15" name="Rounded Rectangle 14">
            <a:hlinkClick r:id="rId2" action="ppaction://hlinksldjump"/>
            <a:extLst>
              <a:ext uri="{FF2B5EF4-FFF2-40B4-BE49-F238E27FC236}">
                <a16:creationId xmlns:a16="http://schemas.microsoft.com/office/drawing/2014/main" id="{C81FADC3-DB9F-2145-29B2-9EE155EBE9D4}"/>
              </a:ext>
            </a:extLst>
          </p:cNvPr>
          <p:cNvSpPr>
            <a:spLocks noChangeArrowheads="1"/>
          </p:cNvSpPr>
          <p:nvPr/>
        </p:nvSpPr>
        <p:spPr bwMode="auto">
          <a:xfrm>
            <a:off x="1325563" y="2430463"/>
            <a:ext cx="2771775" cy="1463675"/>
          </a:xfrm>
          <a:prstGeom prst="roundRect">
            <a:avLst>
              <a:gd name="adj" fmla="val 16667"/>
            </a:avLst>
          </a:prstGeom>
          <a:solidFill>
            <a:srgbClr val="7F7B00">
              <a:alpha val="30196"/>
            </a:srgbClr>
          </a:solidFill>
          <a:ln w="9525" algn="ctr">
            <a:solidFill>
              <a:srgbClr val="7F7B00"/>
            </a:solidFill>
            <a:round/>
            <a:headEnd/>
            <a:tailEnd/>
          </a:ln>
        </p:spPr>
        <p:txBody>
          <a:bodyPr anchor="ctr" anchorCtr="1"/>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CA" altLang="en-US" sz="3600" b="1"/>
              <a:t>INSERT</a:t>
            </a:r>
          </a:p>
        </p:txBody>
      </p:sp>
      <p:sp>
        <p:nvSpPr>
          <p:cNvPr id="18" name="Rounded Rectangle 17">
            <a:hlinkClick r:id="rId3" action="ppaction://hlinksldjump"/>
            <a:extLst>
              <a:ext uri="{FF2B5EF4-FFF2-40B4-BE49-F238E27FC236}">
                <a16:creationId xmlns:a16="http://schemas.microsoft.com/office/drawing/2014/main" id="{95C66A8F-9C1C-5684-43B2-C43AF84A8498}"/>
              </a:ext>
            </a:extLst>
          </p:cNvPr>
          <p:cNvSpPr>
            <a:spLocks noChangeArrowheads="1"/>
          </p:cNvSpPr>
          <p:nvPr/>
        </p:nvSpPr>
        <p:spPr bwMode="auto">
          <a:xfrm>
            <a:off x="1335088" y="4132263"/>
            <a:ext cx="2767012" cy="1449387"/>
          </a:xfrm>
          <a:prstGeom prst="roundRect">
            <a:avLst>
              <a:gd name="adj" fmla="val 16667"/>
            </a:avLst>
          </a:prstGeom>
          <a:solidFill>
            <a:srgbClr val="B50C00">
              <a:alpha val="30196"/>
            </a:srgbClr>
          </a:solidFill>
          <a:ln w="9525" algn="ctr">
            <a:solidFill>
              <a:srgbClr val="B50C00"/>
            </a:solidFill>
            <a:round/>
            <a:headEnd/>
            <a:tailEnd/>
          </a:ln>
        </p:spPr>
        <p:txBody>
          <a:bodyPr anchor="ctr" anchorCtr="1"/>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CA" altLang="en-US" sz="3600" b="1"/>
              <a:t>UPDATE</a:t>
            </a:r>
            <a:endParaRPr lang="en-CA" altLang="en-US" sz="2800" b="1"/>
          </a:p>
        </p:txBody>
      </p:sp>
      <p:sp>
        <p:nvSpPr>
          <p:cNvPr id="19" name="Rounded Rectangle 18">
            <a:hlinkClick r:id="rId4" action="ppaction://hlinksldjump"/>
            <a:extLst>
              <a:ext uri="{FF2B5EF4-FFF2-40B4-BE49-F238E27FC236}">
                <a16:creationId xmlns:a16="http://schemas.microsoft.com/office/drawing/2014/main" id="{DED67273-75B8-31BC-E2F6-948CECBA4752}"/>
              </a:ext>
            </a:extLst>
          </p:cNvPr>
          <p:cNvSpPr>
            <a:spLocks noChangeArrowheads="1"/>
          </p:cNvSpPr>
          <p:nvPr/>
        </p:nvSpPr>
        <p:spPr bwMode="auto">
          <a:xfrm>
            <a:off x="4394200" y="4132263"/>
            <a:ext cx="2768600" cy="1462087"/>
          </a:xfrm>
          <a:prstGeom prst="roundRect">
            <a:avLst>
              <a:gd name="adj" fmla="val 16667"/>
            </a:avLst>
          </a:prstGeom>
          <a:solidFill>
            <a:srgbClr val="525759">
              <a:alpha val="30196"/>
            </a:srgbClr>
          </a:solidFill>
          <a:ln w="9525" algn="ctr">
            <a:solidFill>
              <a:srgbClr val="525759"/>
            </a:solidFill>
            <a:round/>
            <a:headEnd/>
            <a:tailEnd/>
          </a:ln>
        </p:spPr>
        <p:txBody>
          <a:bodyPr anchor="ctr" anchorCtr="1"/>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CA" altLang="en-US" sz="3600" b="1"/>
              <a:t>DELETE</a:t>
            </a:r>
          </a:p>
        </p:txBody>
      </p:sp>
      <p:sp>
        <p:nvSpPr>
          <p:cNvPr id="10" name="Rounded Rectangle 9">
            <a:hlinkClick r:id="rId5" action="ppaction://hlinksldjump"/>
            <a:extLst>
              <a:ext uri="{FF2B5EF4-FFF2-40B4-BE49-F238E27FC236}">
                <a16:creationId xmlns:a16="http://schemas.microsoft.com/office/drawing/2014/main" id="{940444FE-9750-C7DF-94A1-FE6F84FBEA3F}"/>
              </a:ext>
            </a:extLst>
          </p:cNvPr>
          <p:cNvSpPr>
            <a:spLocks noChangeArrowheads="1"/>
          </p:cNvSpPr>
          <p:nvPr/>
        </p:nvSpPr>
        <p:spPr bwMode="auto">
          <a:xfrm>
            <a:off x="4391025" y="2393950"/>
            <a:ext cx="2771775" cy="1462088"/>
          </a:xfrm>
          <a:prstGeom prst="roundRect">
            <a:avLst>
              <a:gd name="adj" fmla="val 16667"/>
            </a:avLst>
          </a:prstGeom>
          <a:solidFill>
            <a:srgbClr val="120B7C">
              <a:alpha val="30196"/>
            </a:srgbClr>
          </a:solidFill>
          <a:ln w="9525" algn="ctr">
            <a:solidFill>
              <a:srgbClr val="120B7C"/>
            </a:solidFill>
            <a:round/>
            <a:headEnd/>
            <a:tailEnd/>
          </a:ln>
        </p:spPr>
        <p:txBody>
          <a:bodyPr anchor="ctr" anchorCtr="1"/>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CA" altLang="en-US" sz="3600" b="1"/>
              <a:t>SELECT</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wipe(left)">
                                      <p:cBhvr>
                                        <p:cTn id="7" dur="500"/>
                                        <p:tgtEl>
                                          <p:spTgt spid="13">
                                            <p:txEl>
                                              <p:pRg st="0" end="0"/>
                                            </p:txEl>
                                          </p:spTgt>
                                        </p:tgtEl>
                                      </p:cBhvr>
                                    </p:animEffect>
                                  </p:childTnLst>
                                </p:cTn>
                              </p:par>
                            </p:childTnLst>
                          </p:cTn>
                        </p:par>
                        <p:par>
                          <p:cTn id="8" fill="hold" nodeType="afterGroup">
                            <p:stCondLst>
                              <p:cond delay="500"/>
                            </p:stCondLst>
                            <p:childTnLst>
                              <p:par>
                                <p:cTn id="9" presetID="42" presetClass="entr" presetSubtype="0" fill="hold" grpId="0"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1000"/>
                                        <p:tgtEl>
                                          <p:spTgt spid="15"/>
                                        </p:tgtEl>
                                      </p:cBhvr>
                                    </p:animEffect>
                                    <p:anim calcmode="lin" valueType="num">
                                      <p:cBhvr>
                                        <p:cTn id="12" dur="1000" fill="hold"/>
                                        <p:tgtEl>
                                          <p:spTgt spid="15"/>
                                        </p:tgtEl>
                                        <p:attrNameLst>
                                          <p:attrName>ppt_x</p:attrName>
                                        </p:attrNameLst>
                                      </p:cBhvr>
                                      <p:tavLst>
                                        <p:tav tm="0">
                                          <p:val>
                                            <p:strVal val="#ppt_x"/>
                                          </p:val>
                                        </p:tav>
                                        <p:tav tm="100000">
                                          <p:val>
                                            <p:strVal val="#ppt_x"/>
                                          </p:val>
                                        </p:tav>
                                      </p:tavLst>
                                    </p:anim>
                                    <p:anim calcmode="lin" valueType="num">
                                      <p:cBhvr>
                                        <p:cTn id="13" dur="1000" fill="hold"/>
                                        <p:tgtEl>
                                          <p:spTgt spid="15"/>
                                        </p:tgtEl>
                                        <p:attrNameLst>
                                          <p:attrName>ppt_y</p:attrName>
                                        </p:attrNameLst>
                                      </p:cBhvr>
                                      <p:tavLst>
                                        <p:tav tm="0">
                                          <p:val>
                                            <p:strVal val="#ppt_y+.1"/>
                                          </p:val>
                                        </p:tav>
                                        <p:tav tm="100000">
                                          <p:val>
                                            <p:strVal val="#ppt_y"/>
                                          </p:val>
                                        </p:tav>
                                      </p:tavLst>
                                    </p:anim>
                                  </p:childTnLst>
                                </p:cTn>
                              </p:par>
                            </p:childTnLst>
                          </p:cTn>
                        </p:par>
                        <p:par>
                          <p:cTn id="14" fill="hold" nodeType="afterGroup">
                            <p:stCondLst>
                              <p:cond delay="1500"/>
                            </p:stCondLst>
                            <p:childTnLst>
                              <p:par>
                                <p:cTn id="15" presetID="42" presetClass="entr" presetSubtype="0" fill="hold" grpId="0" nodeType="after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1000"/>
                                        <p:tgtEl>
                                          <p:spTgt spid="10"/>
                                        </p:tgtEl>
                                      </p:cBhvr>
                                    </p:animEffect>
                                    <p:anim calcmode="lin" valueType="num">
                                      <p:cBhvr>
                                        <p:cTn id="18" dur="1000" fill="hold"/>
                                        <p:tgtEl>
                                          <p:spTgt spid="10"/>
                                        </p:tgtEl>
                                        <p:attrNameLst>
                                          <p:attrName>ppt_x</p:attrName>
                                        </p:attrNameLst>
                                      </p:cBhvr>
                                      <p:tavLst>
                                        <p:tav tm="0">
                                          <p:val>
                                            <p:strVal val="#ppt_x"/>
                                          </p:val>
                                        </p:tav>
                                        <p:tav tm="100000">
                                          <p:val>
                                            <p:strVal val="#ppt_x"/>
                                          </p:val>
                                        </p:tav>
                                      </p:tavLst>
                                    </p:anim>
                                    <p:anim calcmode="lin" valueType="num">
                                      <p:cBhvr>
                                        <p:cTn id="19" dur="1000" fill="hold"/>
                                        <p:tgtEl>
                                          <p:spTgt spid="10"/>
                                        </p:tgtEl>
                                        <p:attrNameLst>
                                          <p:attrName>ppt_y</p:attrName>
                                        </p:attrNameLst>
                                      </p:cBhvr>
                                      <p:tavLst>
                                        <p:tav tm="0">
                                          <p:val>
                                            <p:strVal val="#ppt_y+.1"/>
                                          </p:val>
                                        </p:tav>
                                        <p:tav tm="100000">
                                          <p:val>
                                            <p:strVal val="#ppt_y"/>
                                          </p:val>
                                        </p:tav>
                                      </p:tavLst>
                                    </p:anim>
                                  </p:childTnLst>
                                </p:cTn>
                              </p:par>
                            </p:childTnLst>
                          </p:cTn>
                        </p:par>
                        <p:par>
                          <p:cTn id="20" fill="hold" nodeType="afterGroup">
                            <p:stCondLst>
                              <p:cond delay="2500"/>
                            </p:stCondLst>
                            <p:childTnLst>
                              <p:par>
                                <p:cTn id="21" presetID="42" presetClass="entr" presetSubtype="0" fill="hold" grpId="0" nodeType="afterEffect">
                                  <p:stCondLst>
                                    <p:cond delay="0"/>
                                  </p:stCondLst>
                                  <p:childTnLst>
                                    <p:set>
                                      <p:cBhvr>
                                        <p:cTn id="22" dur="1" fill="hold">
                                          <p:stCondLst>
                                            <p:cond delay="0"/>
                                          </p:stCondLst>
                                        </p:cTn>
                                        <p:tgtEl>
                                          <p:spTgt spid="18"/>
                                        </p:tgtEl>
                                        <p:attrNameLst>
                                          <p:attrName>style.visibility</p:attrName>
                                        </p:attrNameLst>
                                      </p:cBhvr>
                                      <p:to>
                                        <p:strVal val="visible"/>
                                      </p:to>
                                    </p:set>
                                    <p:animEffect transition="in" filter="fade">
                                      <p:cBhvr>
                                        <p:cTn id="23" dur="1000"/>
                                        <p:tgtEl>
                                          <p:spTgt spid="18"/>
                                        </p:tgtEl>
                                      </p:cBhvr>
                                    </p:animEffect>
                                    <p:anim calcmode="lin" valueType="num">
                                      <p:cBhvr>
                                        <p:cTn id="24" dur="1000" fill="hold"/>
                                        <p:tgtEl>
                                          <p:spTgt spid="18"/>
                                        </p:tgtEl>
                                        <p:attrNameLst>
                                          <p:attrName>ppt_x</p:attrName>
                                        </p:attrNameLst>
                                      </p:cBhvr>
                                      <p:tavLst>
                                        <p:tav tm="0">
                                          <p:val>
                                            <p:strVal val="#ppt_x"/>
                                          </p:val>
                                        </p:tav>
                                        <p:tav tm="100000">
                                          <p:val>
                                            <p:strVal val="#ppt_x"/>
                                          </p:val>
                                        </p:tav>
                                      </p:tavLst>
                                    </p:anim>
                                    <p:anim calcmode="lin" valueType="num">
                                      <p:cBhvr>
                                        <p:cTn id="25" dur="1000" fill="hold"/>
                                        <p:tgtEl>
                                          <p:spTgt spid="18"/>
                                        </p:tgtEl>
                                        <p:attrNameLst>
                                          <p:attrName>ppt_y</p:attrName>
                                        </p:attrNameLst>
                                      </p:cBhvr>
                                      <p:tavLst>
                                        <p:tav tm="0">
                                          <p:val>
                                            <p:strVal val="#ppt_y+.1"/>
                                          </p:val>
                                        </p:tav>
                                        <p:tav tm="100000">
                                          <p:val>
                                            <p:strVal val="#ppt_y"/>
                                          </p:val>
                                        </p:tav>
                                      </p:tavLst>
                                    </p:anim>
                                  </p:childTnLst>
                                </p:cTn>
                              </p:par>
                            </p:childTnLst>
                          </p:cTn>
                        </p:par>
                        <p:par>
                          <p:cTn id="26" fill="hold" nodeType="afterGroup">
                            <p:stCondLst>
                              <p:cond delay="3500"/>
                            </p:stCondLst>
                            <p:childTnLst>
                              <p:par>
                                <p:cTn id="27" presetID="42" presetClass="entr" presetSubtype="0" fill="hold" grpId="0" nodeType="afterEffect">
                                  <p:stCondLst>
                                    <p:cond delay="0"/>
                                  </p:stCondLst>
                                  <p:childTnLst>
                                    <p:set>
                                      <p:cBhvr>
                                        <p:cTn id="28" dur="1" fill="hold">
                                          <p:stCondLst>
                                            <p:cond delay="0"/>
                                          </p:stCondLst>
                                        </p:cTn>
                                        <p:tgtEl>
                                          <p:spTgt spid="19"/>
                                        </p:tgtEl>
                                        <p:attrNameLst>
                                          <p:attrName>style.visibility</p:attrName>
                                        </p:attrNameLst>
                                      </p:cBhvr>
                                      <p:to>
                                        <p:strVal val="visible"/>
                                      </p:to>
                                    </p:set>
                                    <p:animEffect transition="in" filter="fade">
                                      <p:cBhvr>
                                        <p:cTn id="29" dur="1000"/>
                                        <p:tgtEl>
                                          <p:spTgt spid="19"/>
                                        </p:tgtEl>
                                      </p:cBhvr>
                                    </p:animEffect>
                                    <p:anim calcmode="lin" valueType="num">
                                      <p:cBhvr>
                                        <p:cTn id="30" dur="1000" fill="hold"/>
                                        <p:tgtEl>
                                          <p:spTgt spid="19"/>
                                        </p:tgtEl>
                                        <p:attrNameLst>
                                          <p:attrName>ppt_x</p:attrName>
                                        </p:attrNameLst>
                                      </p:cBhvr>
                                      <p:tavLst>
                                        <p:tav tm="0">
                                          <p:val>
                                            <p:strVal val="#ppt_x"/>
                                          </p:val>
                                        </p:tav>
                                        <p:tav tm="100000">
                                          <p:val>
                                            <p:strVal val="#ppt_x"/>
                                          </p:val>
                                        </p:tav>
                                      </p:tavLst>
                                    </p:anim>
                                    <p:anim calcmode="lin" valueType="num">
                                      <p:cBhvr>
                                        <p:cTn id="31"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P spid="15" grpId="0" animBg="1"/>
      <p:bldP spid="18" grpId="0" animBg="1"/>
      <p:bldP spid="19" grpId="0" animBg="1"/>
      <p:bldP spid="10"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9C160-834A-A60F-1673-1FE18BC85972}"/>
              </a:ext>
            </a:extLst>
          </p:cNvPr>
          <p:cNvSpPr>
            <a:spLocks noGrp="1"/>
          </p:cNvSpPr>
          <p:nvPr>
            <p:ph type="title"/>
          </p:nvPr>
        </p:nvSpPr>
        <p:spPr>
          <a:xfrm>
            <a:off x="457200" y="0"/>
            <a:ext cx="7620000" cy="1143000"/>
          </a:xfrm>
        </p:spPr>
        <p:txBody>
          <a:bodyPr/>
          <a:lstStyle/>
          <a:p>
            <a:pPr>
              <a:defRPr/>
            </a:pPr>
            <a:r>
              <a:rPr lang="en-US" dirty="0"/>
              <a:t>Manipulating Data Using SQL</a:t>
            </a:r>
            <a:endParaRPr lang="en-MY" dirty="0"/>
          </a:p>
        </p:txBody>
      </p:sp>
      <p:sp>
        <p:nvSpPr>
          <p:cNvPr id="14" name="Snip Single Corner Rectangle 13">
            <a:extLst>
              <a:ext uri="{FF2B5EF4-FFF2-40B4-BE49-F238E27FC236}">
                <a16:creationId xmlns:a16="http://schemas.microsoft.com/office/drawing/2014/main" id="{9C7BA15B-B577-F45B-4BCF-4CAD9D5C8DED}"/>
              </a:ext>
            </a:extLst>
          </p:cNvPr>
          <p:cNvSpPr/>
          <p:nvPr/>
        </p:nvSpPr>
        <p:spPr>
          <a:xfrm>
            <a:off x="-36513" y="1350963"/>
            <a:ext cx="1079501" cy="401637"/>
          </a:xfrm>
          <a:prstGeom prst="snip1Rect">
            <a:avLst/>
          </a:prstGeom>
          <a:solidFill>
            <a:srgbClr val="7F7B00">
              <a:alpha val="70000"/>
            </a:srgbClr>
          </a:solidFill>
          <a:ln>
            <a:solidFill>
              <a:srgbClr val="7F7B00"/>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indent="-342900" algn="just" eaLnBrk="1" hangingPunct="1">
              <a:spcBef>
                <a:spcPct val="20000"/>
              </a:spcBef>
              <a:buClr>
                <a:srgbClr val="FF6600"/>
              </a:buClr>
              <a:buSzPct val="100000"/>
              <a:defRPr/>
            </a:pPr>
            <a:r>
              <a:rPr lang="en-US" dirty="0">
                <a:latin typeface="Arial" pitchFamily="34" charset="0"/>
                <a:ea typeface="Times New Roman" pitchFamily="18" charset="0"/>
                <a:cs typeface="Arial" pitchFamily="34" charset="0"/>
              </a:rPr>
              <a:t>INSERT</a:t>
            </a:r>
            <a:endParaRPr lang="en-GB" kern="0" dirty="0">
              <a:solidFill>
                <a:schemeClr val="tx1"/>
              </a:solidFill>
            </a:endParaRPr>
          </a:p>
        </p:txBody>
      </p:sp>
      <p:sp>
        <p:nvSpPr>
          <p:cNvPr id="20" name="Content Placeholder 2">
            <a:extLst>
              <a:ext uri="{FF2B5EF4-FFF2-40B4-BE49-F238E27FC236}">
                <a16:creationId xmlns:a16="http://schemas.microsoft.com/office/drawing/2014/main" id="{0DB23EFC-9A6F-2938-3F43-9A8E57A0BD1E}"/>
              </a:ext>
            </a:extLst>
          </p:cNvPr>
          <p:cNvSpPr txBox="1">
            <a:spLocks/>
          </p:cNvSpPr>
          <p:nvPr/>
        </p:nvSpPr>
        <p:spPr bwMode="auto">
          <a:xfrm>
            <a:off x="250825" y="1773238"/>
            <a:ext cx="7902575"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rgbClr val="FF6600"/>
              </a:buClr>
              <a:buFont typeface="Wingdings 3" panose="05040102010807070707" pitchFamily="18" charset="2"/>
              <a:buNone/>
            </a:pPr>
            <a:r>
              <a:rPr lang="en-CA" altLang="en-US" sz="2800">
                <a:latin typeface="Calibri" panose="020F0502020204030204" pitchFamily="34" charset="0"/>
              </a:rPr>
              <a:t>INSERT can be used to add data into a table. The SQL syntax is </a:t>
            </a:r>
          </a:p>
          <a:p>
            <a:pPr algn="just" eaLnBrk="1" hangingPunct="1">
              <a:spcBef>
                <a:spcPct val="20000"/>
              </a:spcBef>
              <a:buClr>
                <a:srgbClr val="FF6600"/>
              </a:buClr>
              <a:buFont typeface="Wingdings 3" panose="05040102010807070707" pitchFamily="18" charset="2"/>
              <a:buNone/>
            </a:pPr>
            <a:endParaRPr lang="en-CA"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32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r>
              <a:rPr lang="en-CA" altLang="en-US" sz="2800">
                <a:latin typeface="Calibri" panose="020F0502020204030204" pitchFamily="34" charset="0"/>
              </a:rPr>
              <a:t>Note that the order of the data values is based on the order of the columns of the table</a:t>
            </a:r>
          </a:p>
          <a:p>
            <a:pPr algn="just" eaLnBrk="1" hangingPunct="1">
              <a:spcBef>
                <a:spcPct val="20000"/>
              </a:spcBef>
              <a:buClr>
                <a:srgbClr val="FF6600"/>
              </a:buClr>
              <a:buFont typeface="Wingdings 3" panose="05040102010807070707" pitchFamily="18" charset="2"/>
              <a:buNone/>
            </a:pPr>
            <a:endParaRPr lang="en-CA"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2800">
              <a:latin typeface="Calibri" panose="020F0502020204030204" pitchFamily="34" charset="0"/>
            </a:endParaRPr>
          </a:p>
        </p:txBody>
      </p:sp>
      <p:sp>
        <p:nvSpPr>
          <p:cNvPr id="13" name="Rounded Rectangle 12">
            <a:extLst>
              <a:ext uri="{FF2B5EF4-FFF2-40B4-BE49-F238E27FC236}">
                <a16:creationId xmlns:a16="http://schemas.microsoft.com/office/drawing/2014/main" id="{58CFF8D9-DCF6-D0BE-5EDE-4336533E40B8}"/>
              </a:ext>
            </a:extLst>
          </p:cNvPr>
          <p:cNvSpPr>
            <a:spLocks noChangeArrowheads="1"/>
          </p:cNvSpPr>
          <p:nvPr/>
        </p:nvSpPr>
        <p:spPr bwMode="auto">
          <a:xfrm>
            <a:off x="381000" y="2835275"/>
            <a:ext cx="7672388" cy="1152525"/>
          </a:xfrm>
          <a:prstGeom prst="roundRect">
            <a:avLst>
              <a:gd name="adj" fmla="val 16667"/>
            </a:avLst>
          </a:prstGeom>
          <a:solidFill>
            <a:srgbClr val="7F7B00">
              <a:alpha val="30196"/>
            </a:srgbClr>
          </a:solidFill>
          <a:ln w="9525" algn="ctr">
            <a:solidFill>
              <a:srgbClr val="7F7B00"/>
            </a:solidFill>
            <a:round/>
            <a:headEnd/>
            <a:tailEnd/>
          </a:ln>
        </p:spPr>
        <p:txBody>
          <a:bodyPr anchor="ctr" anchorCtr="1"/>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CA" altLang="en-US" sz="2800"/>
              <a:t>INSERT INTO &lt;table_name&gt; VALUES(&lt;data_value1&gt;, &lt;data_value2&gt;…);</a:t>
            </a:r>
          </a:p>
        </p:txBody>
      </p:sp>
      <p:sp>
        <p:nvSpPr>
          <p:cNvPr id="19" name="TextBox 18">
            <a:extLst>
              <a:ext uri="{FF2B5EF4-FFF2-40B4-BE49-F238E27FC236}">
                <a16:creationId xmlns:a16="http://schemas.microsoft.com/office/drawing/2014/main" id="{A633E7A9-7637-E00B-0FAA-D75C78B14D07}"/>
              </a:ext>
            </a:extLst>
          </p:cNvPr>
          <p:cNvSpPr>
            <a:spLocks noChangeArrowheads="1"/>
          </p:cNvSpPr>
          <p:nvPr/>
        </p:nvSpPr>
        <p:spPr bwMode="auto">
          <a:xfrm>
            <a:off x="1752600" y="5243513"/>
            <a:ext cx="4968875" cy="509587"/>
          </a:xfrm>
          <a:prstGeom prst="roundRect">
            <a:avLst>
              <a:gd name="adj" fmla="val 16667"/>
            </a:avLst>
          </a:prstGeom>
          <a:solidFill>
            <a:srgbClr val="FFFF00">
              <a:alpha val="30196"/>
            </a:srgbClr>
          </a:solidFill>
          <a:ln w="9525">
            <a:solidFill>
              <a:srgbClr val="FFFF00"/>
            </a:solidFill>
            <a:round/>
            <a:headEnd/>
            <a:tailEnd/>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CA" altLang="en-US" sz="2400"/>
              <a:t>&lt;data_value1&gt; → 1</a:t>
            </a:r>
            <a:r>
              <a:rPr lang="en-CA" altLang="en-US" sz="2400" baseline="30000"/>
              <a:t>st</a:t>
            </a:r>
            <a:r>
              <a:rPr lang="en-CA" altLang="en-US" sz="2400"/>
              <a:t> table column</a:t>
            </a:r>
          </a:p>
        </p:txBody>
      </p:sp>
      <p:sp>
        <p:nvSpPr>
          <p:cNvPr id="22" name="TextBox 21">
            <a:extLst>
              <a:ext uri="{FF2B5EF4-FFF2-40B4-BE49-F238E27FC236}">
                <a16:creationId xmlns:a16="http://schemas.microsoft.com/office/drawing/2014/main" id="{CBB7BCB2-BF86-1880-3B59-85BDAE04AA42}"/>
              </a:ext>
            </a:extLst>
          </p:cNvPr>
          <p:cNvSpPr>
            <a:spLocks noChangeArrowheads="1"/>
          </p:cNvSpPr>
          <p:nvPr/>
        </p:nvSpPr>
        <p:spPr bwMode="auto">
          <a:xfrm>
            <a:off x="1752600" y="5870575"/>
            <a:ext cx="4968875" cy="511175"/>
          </a:xfrm>
          <a:prstGeom prst="roundRect">
            <a:avLst>
              <a:gd name="adj" fmla="val 16667"/>
            </a:avLst>
          </a:prstGeom>
          <a:solidFill>
            <a:srgbClr val="FFFF00">
              <a:alpha val="30196"/>
            </a:srgbClr>
          </a:solidFill>
          <a:ln w="9525">
            <a:solidFill>
              <a:srgbClr val="FFFF00"/>
            </a:solidFill>
            <a:round/>
            <a:headEnd/>
            <a:tailEnd/>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CA" altLang="en-US" sz="2400"/>
              <a:t>&lt;data_value2&gt; → 2</a:t>
            </a:r>
            <a:r>
              <a:rPr lang="en-CA" altLang="en-US" sz="2400" baseline="30000"/>
              <a:t>nd</a:t>
            </a:r>
            <a:r>
              <a:rPr lang="en-CA" altLang="en-US" sz="2400"/>
              <a:t> table column</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20">
                                            <p:txEl>
                                              <p:pRg st="0" end="0"/>
                                            </p:txEl>
                                          </p:spTgt>
                                        </p:tgtEl>
                                        <p:attrNameLst>
                                          <p:attrName>style.visibility</p:attrName>
                                        </p:attrNameLst>
                                      </p:cBhvr>
                                      <p:to>
                                        <p:strVal val="visible"/>
                                      </p:to>
                                    </p:set>
                                    <p:animEffect transition="in" filter="wipe(up)">
                                      <p:cBhvr>
                                        <p:cTn id="11" dur="500"/>
                                        <p:tgtEl>
                                          <p:spTgt spid="20">
                                            <p:txEl>
                                              <p:pRg st="0" end="0"/>
                                            </p:txEl>
                                          </p:spTgt>
                                        </p:tgtEl>
                                      </p:cBhvr>
                                    </p:animEffect>
                                  </p:childTnLst>
                                </p:cTn>
                              </p:par>
                            </p:childTnLst>
                          </p:cTn>
                        </p:par>
                        <p:par>
                          <p:cTn id="12" fill="hold" nodeType="afterGroup">
                            <p:stCondLst>
                              <p:cond delay="1000"/>
                            </p:stCondLst>
                            <p:childTnLst>
                              <p:par>
                                <p:cTn id="13" presetID="16" presetClass="entr" presetSubtype="21" fill="hold" grpId="0"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barn(inVertical)">
                                      <p:cBhvr>
                                        <p:cTn id="15" dur="500"/>
                                        <p:tgtEl>
                                          <p:spTgt spid="13"/>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1" fill="hold" nodeType="clickEffect">
                                  <p:stCondLst>
                                    <p:cond delay="0"/>
                                  </p:stCondLst>
                                  <p:childTnLst>
                                    <p:set>
                                      <p:cBhvr>
                                        <p:cTn id="19" dur="1" fill="hold">
                                          <p:stCondLst>
                                            <p:cond delay="0"/>
                                          </p:stCondLst>
                                        </p:cTn>
                                        <p:tgtEl>
                                          <p:spTgt spid="20">
                                            <p:txEl>
                                              <p:pRg st="4" end="4"/>
                                            </p:txEl>
                                          </p:spTgt>
                                        </p:tgtEl>
                                        <p:attrNameLst>
                                          <p:attrName>style.visibility</p:attrName>
                                        </p:attrNameLst>
                                      </p:cBhvr>
                                      <p:to>
                                        <p:strVal val="visible"/>
                                      </p:to>
                                    </p:set>
                                    <p:animEffect transition="in" filter="wipe(up)">
                                      <p:cBhvr>
                                        <p:cTn id="20" dur="500"/>
                                        <p:tgtEl>
                                          <p:spTgt spid="20">
                                            <p:txEl>
                                              <p:pRg st="4" end="4"/>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wipe(left)">
                                      <p:cBhvr>
                                        <p:cTn id="25" dur="500"/>
                                        <p:tgtEl>
                                          <p:spTgt spid="19"/>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22"/>
                                        </p:tgtEl>
                                        <p:attrNameLst>
                                          <p:attrName>style.visibility</p:attrName>
                                        </p:attrNameLst>
                                      </p:cBhvr>
                                      <p:to>
                                        <p:strVal val="visible"/>
                                      </p:to>
                                    </p:set>
                                    <p:animEffect transition="in" filter="wipe(left)">
                                      <p:cBhvr>
                                        <p:cTn id="30"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3" grpId="0" animBg="1"/>
      <p:bldP spid="19" grpId="0" animBg="1"/>
      <p:bldP spid="22"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5EFB8-56F5-B578-9E34-0401BD85CDC9}"/>
              </a:ext>
            </a:extLst>
          </p:cNvPr>
          <p:cNvSpPr>
            <a:spLocks noGrp="1"/>
          </p:cNvSpPr>
          <p:nvPr>
            <p:ph type="title"/>
          </p:nvPr>
        </p:nvSpPr>
        <p:spPr>
          <a:xfrm>
            <a:off x="457200" y="0"/>
            <a:ext cx="7620000" cy="1143000"/>
          </a:xfrm>
        </p:spPr>
        <p:txBody>
          <a:bodyPr/>
          <a:lstStyle/>
          <a:p>
            <a:pPr>
              <a:defRPr/>
            </a:pPr>
            <a:r>
              <a:rPr lang="en-US" dirty="0"/>
              <a:t>Manipulating Data Using SQL</a:t>
            </a:r>
            <a:endParaRPr lang="en-MY" dirty="0"/>
          </a:p>
        </p:txBody>
      </p:sp>
      <p:sp>
        <p:nvSpPr>
          <p:cNvPr id="20" name="Content Placeholder 2">
            <a:extLst>
              <a:ext uri="{FF2B5EF4-FFF2-40B4-BE49-F238E27FC236}">
                <a16:creationId xmlns:a16="http://schemas.microsoft.com/office/drawing/2014/main" id="{B4025280-D0DF-B65A-9327-505A51B2E95E}"/>
              </a:ext>
            </a:extLst>
          </p:cNvPr>
          <p:cNvSpPr txBox="1">
            <a:spLocks/>
          </p:cNvSpPr>
          <p:nvPr/>
        </p:nvSpPr>
        <p:spPr bwMode="auto">
          <a:xfrm>
            <a:off x="250825" y="1773238"/>
            <a:ext cx="8655050"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rgbClr val="FF6600"/>
              </a:buClr>
              <a:buFont typeface="Wingdings 3" panose="05040102010807070707" pitchFamily="18" charset="2"/>
              <a:buNone/>
            </a:pPr>
            <a:r>
              <a:rPr lang="en-CA" altLang="en-US" sz="2800">
                <a:latin typeface="Calibri" panose="020F0502020204030204" pitchFamily="34" charset="0"/>
              </a:rPr>
              <a:t>For example, given the following “Book” table</a:t>
            </a:r>
          </a:p>
          <a:p>
            <a:pPr algn="just" eaLnBrk="1" hangingPunct="1">
              <a:spcBef>
                <a:spcPct val="20000"/>
              </a:spcBef>
              <a:buClr>
                <a:srgbClr val="FF6600"/>
              </a:buClr>
              <a:buFont typeface="Wingdings 3" panose="05040102010807070707" pitchFamily="18" charset="2"/>
              <a:buNone/>
            </a:pPr>
            <a:endParaRPr lang="en-CA"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44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r>
              <a:rPr lang="en-CA" altLang="en-US" sz="2800">
                <a:latin typeface="Calibri" panose="020F0502020204030204" pitchFamily="34" charset="0"/>
              </a:rPr>
              <a:t>To insert a book into the “Book” table</a:t>
            </a:r>
          </a:p>
        </p:txBody>
      </p:sp>
      <p:sp>
        <p:nvSpPr>
          <p:cNvPr id="15" name="Rounded Rectangle 14">
            <a:extLst>
              <a:ext uri="{FF2B5EF4-FFF2-40B4-BE49-F238E27FC236}">
                <a16:creationId xmlns:a16="http://schemas.microsoft.com/office/drawing/2014/main" id="{53062601-3939-8267-0946-99A69B6966C8}"/>
              </a:ext>
            </a:extLst>
          </p:cNvPr>
          <p:cNvSpPr/>
          <p:nvPr/>
        </p:nvSpPr>
        <p:spPr bwMode="auto">
          <a:xfrm>
            <a:off x="685800" y="4652963"/>
            <a:ext cx="6985000" cy="971550"/>
          </a:xfrm>
          <a:prstGeom prst="roundRect">
            <a:avLst/>
          </a:prstGeom>
          <a:solidFill>
            <a:schemeClr val="accent6">
              <a:alpha val="30000"/>
            </a:schemeClr>
          </a:solidFill>
          <a:ln w="9525" cap="flat" cmpd="sng" algn="ctr">
            <a:solidFill>
              <a:schemeClr val="accent6"/>
            </a:solidFill>
            <a:prstDash val="solid"/>
            <a:round/>
            <a:headEnd type="none" w="med" len="med"/>
            <a:tailEnd type="none" w="med" len="med"/>
          </a:ln>
          <a:effectLst/>
        </p:spPr>
        <p:txBody>
          <a:bodyPr anchor="ctr" anchorCtr="1"/>
          <a:lstStyle/>
          <a:p>
            <a:pPr>
              <a:defRPr/>
            </a:pPr>
            <a:r>
              <a:rPr lang="en-CA" sz="2800" dirty="0"/>
              <a:t>INSERT INTO Book VALUES(123, 'The Hunger Game', 5);</a:t>
            </a:r>
          </a:p>
        </p:txBody>
      </p:sp>
      <p:cxnSp>
        <p:nvCxnSpPr>
          <p:cNvPr id="35" name="Straight Connector 34">
            <a:extLst>
              <a:ext uri="{FF2B5EF4-FFF2-40B4-BE49-F238E27FC236}">
                <a16:creationId xmlns:a16="http://schemas.microsoft.com/office/drawing/2014/main" id="{460FA57D-95C7-032F-EDEB-62ED474FF589}"/>
              </a:ext>
            </a:extLst>
          </p:cNvPr>
          <p:cNvCxnSpPr>
            <a:cxnSpLocks noChangeShapeType="1"/>
          </p:cNvCxnSpPr>
          <p:nvPr/>
        </p:nvCxnSpPr>
        <p:spPr bwMode="auto">
          <a:xfrm>
            <a:off x="2125663" y="4059238"/>
            <a:ext cx="3989387" cy="0"/>
          </a:xfrm>
          <a:prstGeom prst="line">
            <a:avLst/>
          </a:prstGeom>
          <a:noFill/>
          <a:ln w="25400" algn="ctr">
            <a:solidFill>
              <a:srgbClr val="7F7B00"/>
            </a:solidFill>
            <a:round/>
            <a:headEnd/>
            <a:tailEnd/>
          </a:ln>
          <a:extLst>
            <a:ext uri="{909E8E84-426E-40DD-AFC4-6F175D3DCCD1}">
              <a14:hiddenFill xmlns:a14="http://schemas.microsoft.com/office/drawing/2010/main">
                <a:noFill/>
              </a14:hiddenFill>
            </a:ext>
          </a:extLst>
        </p:spPr>
      </p:cxnSp>
      <p:cxnSp>
        <p:nvCxnSpPr>
          <p:cNvPr id="36" name="Straight Connector 35">
            <a:extLst>
              <a:ext uri="{FF2B5EF4-FFF2-40B4-BE49-F238E27FC236}">
                <a16:creationId xmlns:a16="http://schemas.microsoft.com/office/drawing/2014/main" id="{4F69BC32-878E-4F84-F3E2-524D3B4AEEBB}"/>
              </a:ext>
            </a:extLst>
          </p:cNvPr>
          <p:cNvCxnSpPr>
            <a:cxnSpLocks noChangeShapeType="1"/>
          </p:cNvCxnSpPr>
          <p:nvPr/>
        </p:nvCxnSpPr>
        <p:spPr bwMode="auto">
          <a:xfrm>
            <a:off x="6115050" y="4059238"/>
            <a:ext cx="0" cy="639762"/>
          </a:xfrm>
          <a:prstGeom prst="line">
            <a:avLst/>
          </a:prstGeom>
          <a:noFill/>
          <a:ln w="25400" algn="ctr">
            <a:solidFill>
              <a:srgbClr val="7F7B00"/>
            </a:solidFill>
            <a:round/>
            <a:headEnd/>
            <a:tailEnd/>
          </a:ln>
          <a:extLst>
            <a:ext uri="{909E8E84-426E-40DD-AFC4-6F175D3DCCD1}">
              <a14:hiddenFill xmlns:a14="http://schemas.microsoft.com/office/drawing/2010/main">
                <a:noFill/>
              </a14:hiddenFill>
            </a:ext>
          </a:extLst>
        </p:spPr>
      </p:cxnSp>
      <p:cxnSp>
        <p:nvCxnSpPr>
          <p:cNvPr id="44" name="Straight Connector 43">
            <a:extLst>
              <a:ext uri="{FF2B5EF4-FFF2-40B4-BE49-F238E27FC236}">
                <a16:creationId xmlns:a16="http://schemas.microsoft.com/office/drawing/2014/main" id="{49FCB355-B967-2EA7-0CD5-782FCD241DBF}"/>
              </a:ext>
            </a:extLst>
          </p:cNvPr>
          <p:cNvCxnSpPr>
            <a:cxnSpLocks noChangeShapeType="1"/>
          </p:cNvCxnSpPr>
          <p:nvPr/>
        </p:nvCxnSpPr>
        <p:spPr bwMode="auto">
          <a:xfrm>
            <a:off x="7991475" y="2952750"/>
            <a:ext cx="0" cy="2439988"/>
          </a:xfrm>
          <a:prstGeom prst="line">
            <a:avLst/>
          </a:prstGeom>
          <a:noFill/>
          <a:ln w="25400" algn="ctr">
            <a:solidFill>
              <a:srgbClr val="7F7B00"/>
            </a:solidFill>
            <a:round/>
            <a:headEnd/>
            <a:tailEnd/>
          </a:ln>
          <a:extLst>
            <a:ext uri="{909E8E84-426E-40DD-AFC4-6F175D3DCCD1}">
              <a14:hiddenFill xmlns:a14="http://schemas.microsoft.com/office/drawing/2010/main">
                <a:noFill/>
              </a14:hiddenFill>
            </a:ext>
          </a:extLst>
        </p:spPr>
      </p:cxnSp>
      <p:cxnSp>
        <p:nvCxnSpPr>
          <p:cNvPr id="47" name="Straight Connector 46">
            <a:extLst>
              <a:ext uri="{FF2B5EF4-FFF2-40B4-BE49-F238E27FC236}">
                <a16:creationId xmlns:a16="http://schemas.microsoft.com/office/drawing/2014/main" id="{97C636C0-148C-0E31-CC2A-72BF71688AA0}"/>
              </a:ext>
            </a:extLst>
          </p:cNvPr>
          <p:cNvCxnSpPr>
            <a:cxnSpLocks noChangeShapeType="1"/>
          </p:cNvCxnSpPr>
          <p:nvPr/>
        </p:nvCxnSpPr>
        <p:spPr bwMode="auto">
          <a:xfrm>
            <a:off x="3944938" y="5373688"/>
            <a:ext cx="4046537" cy="0"/>
          </a:xfrm>
          <a:prstGeom prst="line">
            <a:avLst/>
          </a:prstGeom>
          <a:noFill/>
          <a:ln w="25400" algn="ctr">
            <a:solidFill>
              <a:srgbClr val="7F7B00"/>
            </a:solidFill>
            <a:round/>
            <a:headEnd/>
            <a:tailEnd/>
          </a:ln>
          <a:extLst>
            <a:ext uri="{909E8E84-426E-40DD-AFC4-6F175D3DCCD1}">
              <a14:hiddenFill xmlns:a14="http://schemas.microsoft.com/office/drawing/2010/main">
                <a:noFill/>
              </a14:hiddenFill>
            </a:ext>
          </a:extLst>
        </p:spPr>
      </p:cxnSp>
      <p:sp>
        <p:nvSpPr>
          <p:cNvPr id="31" name="Snip Single Corner Rectangle 30">
            <a:extLst>
              <a:ext uri="{FF2B5EF4-FFF2-40B4-BE49-F238E27FC236}">
                <a16:creationId xmlns:a16="http://schemas.microsoft.com/office/drawing/2014/main" id="{9981A76D-A20F-2E4C-AF57-C0FA8D2A2671}"/>
              </a:ext>
            </a:extLst>
          </p:cNvPr>
          <p:cNvSpPr/>
          <p:nvPr/>
        </p:nvSpPr>
        <p:spPr>
          <a:xfrm>
            <a:off x="-36513" y="1350963"/>
            <a:ext cx="1079501" cy="401637"/>
          </a:xfrm>
          <a:prstGeom prst="snip1Rect">
            <a:avLst/>
          </a:prstGeom>
          <a:solidFill>
            <a:srgbClr val="7F7B00">
              <a:alpha val="70000"/>
            </a:srgbClr>
          </a:solidFill>
          <a:ln>
            <a:solidFill>
              <a:srgbClr val="7F7B00"/>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indent="-342900" algn="just" eaLnBrk="1" hangingPunct="1">
              <a:spcBef>
                <a:spcPct val="20000"/>
              </a:spcBef>
              <a:buClr>
                <a:srgbClr val="FF6600"/>
              </a:buClr>
              <a:buSzPct val="100000"/>
              <a:defRPr/>
            </a:pPr>
            <a:r>
              <a:rPr lang="en-US" dirty="0">
                <a:latin typeface="Arial" pitchFamily="34" charset="0"/>
                <a:ea typeface="Times New Roman" pitchFamily="18" charset="0"/>
                <a:cs typeface="Arial" pitchFamily="34" charset="0"/>
              </a:rPr>
              <a:t>INSERT</a:t>
            </a:r>
            <a:endParaRPr lang="en-GB" kern="0" dirty="0">
              <a:solidFill>
                <a:schemeClr val="tx1"/>
              </a:solidFill>
            </a:endParaRPr>
          </a:p>
        </p:txBody>
      </p:sp>
      <p:graphicFrame>
        <p:nvGraphicFramePr>
          <p:cNvPr id="3" name="Table 2">
            <a:extLst>
              <a:ext uri="{FF2B5EF4-FFF2-40B4-BE49-F238E27FC236}">
                <a16:creationId xmlns:a16="http://schemas.microsoft.com/office/drawing/2014/main" id="{92F39C6C-9698-CDD9-8BA2-3FF69A6FB1E6}"/>
              </a:ext>
            </a:extLst>
          </p:cNvPr>
          <p:cNvGraphicFramePr>
            <a:graphicFrameLocks noGrp="1"/>
          </p:cNvGraphicFramePr>
          <p:nvPr/>
        </p:nvGraphicFramePr>
        <p:xfrm>
          <a:off x="1130300" y="2397125"/>
          <a:ext cx="6096000" cy="1111251"/>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370417">
                <a:tc>
                  <a:txBody>
                    <a:bodyPr/>
                    <a:lstStyle/>
                    <a:p>
                      <a:pPr algn="ctr"/>
                      <a:r>
                        <a:rPr lang="en-CA" sz="1800" dirty="0"/>
                        <a:t>ISBN</a:t>
                      </a:r>
                    </a:p>
                  </a:txBody>
                  <a:tcPr marT="45668" marB="45668"/>
                </a:tc>
                <a:tc>
                  <a:txBody>
                    <a:bodyPr/>
                    <a:lstStyle/>
                    <a:p>
                      <a:pPr algn="ctr"/>
                      <a:r>
                        <a:rPr lang="en-CA" sz="1800" dirty="0"/>
                        <a:t>Title</a:t>
                      </a:r>
                    </a:p>
                  </a:txBody>
                  <a:tcPr marT="45668" marB="45668"/>
                </a:tc>
                <a:tc>
                  <a:txBody>
                    <a:bodyPr/>
                    <a:lstStyle/>
                    <a:p>
                      <a:pPr algn="ctr"/>
                      <a:r>
                        <a:rPr lang="en-CA" sz="1800" dirty="0"/>
                        <a:t>Quantity</a:t>
                      </a:r>
                    </a:p>
                  </a:txBody>
                  <a:tcPr marT="45668" marB="45668"/>
                </a:tc>
                <a:extLst>
                  <a:ext uri="{0D108BD9-81ED-4DB2-BD59-A6C34878D82A}">
                    <a16:rowId xmlns:a16="http://schemas.microsoft.com/office/drawing/2014/main" val="10000"/>
                  </a:ext>
                </a:extLst>
              </a:tr>
              <a:tr h="370417">
                <a:tc>
                  <a:txBody>
                    <a:bodyPr/>
                    <a:lstStyle/>
                    <a:p>
                      <a:endParaRPr lang="en-CA" sz="1800"/>
                    </a:p>
                  </a:txBody>
                  <a:tcPr marT="45668" marB="45668"/>
                </a:tc>
                <a:tc>
                  <a:txBody>
                    <a:bodyPr/>
                    <a:lstStyle/>
                    <a:p>
                      <a:endParaRPr lang="en-CA" sz="1800"/>
                    </a:p>
                  </a:txBody>
                  <a:tcPr marT="45668" marB="45668"/>
                </a:tc>
                <a:tc>
                  <a:txBody>
                    <a:bodyPr/>
                    <a:lstStyle/>
                    <a:p>
                      <a:endParaRPr lang="en-CA" sz="1800"/>
                    </a:p>
                  </a:txBody>
                  <a:tcPr marT="45668" marB="45668"/>
                </a:tc>
                <a:extLst>
                  <a:ext uri="{0D108BD9-81ED-4DB2-BD59-A6C34878D82A}">
                    <a16:rowId xmlns:a16="http://schemas.microsoft.com/office/drawing/2014/main" val="10001"/>
                  </a:ext>
                </a:extLst>
              </a:tr>
              <a:tr h="370417">
                <a:tc>
                  <a:txBody>
                    <a:bodyPr/>
                    <a:lstStyle/>
                    <a:p>
                      <a:endParaRPr lang="en-CA" sz="1800"/>
                    </a:p>
                  </a:txBody>
                  <a:tcPr marT="45668" marB="45668"/>
                </a:tc>
                <a:tc>
                  <a:txBody>
                    <a:bodyPr/>
                    <a:lstStyle/>
                    <a:p>
                      <a:endParaRPr lang="en-CA" sz="1800"/>
                    </a:p>
                  </a:txBody>
                  <a:tcPr marT="45668" marB="45668"/>
                </a:tc>
                <a:tc>
                  <a:txBody>
                    <a:bodyPr/>
                    <a:lstStyle/>
                    <a:p>
                      <a:endParaRPr lang="en-CA" sz="1800" dirty="0"/>
                    </a:p>
                  </a:txBody>
                  <a:tcPr marT="45668" marB="45668"/>
                </a:tc>
                <a:extLst>
                  <a:ext uri="{0D108BD9-81ED-4DB2-BD59-A6C34878D82A}">
                    <a16:rowId xmlns:a16="http://schemas.microsoft.com/office/drawing/2014/main" val="10002"/>
                  </a:ext>
                </a:extLst>
              </a:tr>
            </a:tbl>
          </a:graphicData>
        </a:graphic>
      </p:graphicFrame>
      <p:sp>
        <p:nvSpPr>
          <p:cNvPr id="34" name="TextBox 33">
            <a:extLst>
              <a:ext uri="{FF2B5EF4-FFF2-40B4-BE49-F238E27FC236}">
                <a16:creationId xmlns:a16="http://schemas.microsoft.com/office/drawing/2014/main" id="{A26CE014-2F98-9BA4-45BC-90CB8C9FAF26}"/>
              </a:ext>
            </a:extLst>
          </p:cNvPr>
          <p:cNvSpPr txBox="1">
            <a:spLocks noChangeArrowheads="1"/>
          </p:cNvSpPr>
          <p:nvPr/>
        </p:nvSpPr>
        <p:spPr bwMode="auto">
          <a:xfrm>
            <a:off x="3133725" y="3563938"/>
            <a:ext cx="20891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CA" altLang="en-US"/>
              <a:t>Book table</a:t>
            </a:r>
          </a:p>
        </p:txBody>
      </p:sp>
      <p:cxnSp>
        <p:nvCxnSpPr>
          <p:cNvPr id="4" name="Straight Connector 3">
            <a:extLst>
              <a:ext uri="{FF2B5EF4-FFF2-40B4-BE49-F238E27FC236}">
                <a16:creationId xmlns:a16="http://schemas.microsoft.com/office/drawing/2014/main" id="{2957ADF3-03FE-4E4D-495E-31A565A9CE61}"/>
              </a:ext>
            </a:extLst>
          </p:cNvPr>
          <p:cNvCxnSpPr>
            <a:cxnSpLocks noChangeShapeType="1"/>
          </p:cNvCxnSpPr>
          <p:nvPr/>
        </p:nvCxnSpPr>
        <p:spPr bwMode="auto">
          <a:xfrm>
            <a:off x="2125663" y="2981325"/>
            <a:ext cx="0" cy="1077913"/>
          </a:xfrm>
          <a:prstGeom prst="line">
            <a:avLst/>
          </a:prstGeom>
          <a:noFill/>
          <a:ln w="25400" algn="ctr">
            <a:solidFill>
              <a:srgbClr val="7F7B00"/>
            </a:solidFill>
            <a:round/>
            <a:headEnd type="triangle" w="med" len="med"/>
            <a:tailEnd/>
          </a:ln>
          <a:extLst>
            <a:ext uri="{909E8E84-426E-40DD-AFC4-6F175D3DCCD1}">
              <a14:hiddenFill xmlns:a14="http://schemas.microsoft.com/office/drawing/2010/main">
                <a:noFill/>
              </a14:hiddenFill>
            </a:ext>
          </a:extLst>
        </p:spPr>
      </p:cxnSp>
      <p:cxnSp>
        <p:nvCxnSpPr>
          <p:cNvPr id="43" name="Straight Connector 42">
            <a:extLst>
              <a:ext uri="{FF2B5EF4-FFF2-40B4-BE49-F238E27FC236}">
                <a16:creationId xmlns:a16="http://schemas.microsoft.com/office/drawing/2014/main" id="{629102F5-BA09-2889-F720-D9D789E124D2}"/>
              </a:ext>
            </a:extLst>
          </p:cNvPr>
          <p:cNvCxnSpPr>
            <a:cxnSpLocks noChangeShapeType="1"/>
          </p:cNvCxnSpPr>
          <p:nvPr/>
        </p:nvCxnSpPr>
        <p:spPr bwMode="auto">
          <a:xfrm>
            <a:off x="6807200" y="2952750"/>
            <a:ext cx="1184275" cy="0"/>
          </a:xfrm>
          <a:prstGeom prst="line">
            <a:avLst/>
          </a:prstGeom>
          <a:noFill/>
          <a:ln w="25400" algn="ctr">
            <a:solidFill>
              <a:srgbClr val="7F7B00"/>
            </a:solidFill>
            <a:round/>
            <a:headEnd type="triangle" w="med" len="med"/>
            <a:tailEnd/>
          </a:ln>
          <a:extLst>
            <a:ext uri="{909E8E84-426E-40DD-AFC4-6F175D3DCCD1}">
              <a14:hiddenFill xmlns:a14="http://schemas.microsoft.com/office/drawing/2010/main">
                <a:noFill/>
              </a14:hiddenFill>
            </a:ext>
          </a:extLst>
        </p:spPr>
      </p:cxnSp>
      <p:cxnSp>
        <p:nvCxnSpPr>
          <p:cNvPr id="6" name="Straight Connector 5">
            <a:extLst>
              <a:ext uri="{FF2B5EF4-FFF2-40B4-BE49-F238E27FC236}">
                <a16:creationId xmlns:a16="http://schemas.microsoft.com/office/drawing/2014/main" id="{051F8160-C202-B169-71CE-DAFE2E721B7D}"/>
              </a:ext>
            </a:extLst>
          </p:cNvPr>
          <p:cNvCxnSpPr>
            <a:cxnSpLocks noChangeShapeType="1"/>
          </p:cNvCxnSpPr>
          <p:nvPr/>
        </p:nvCxnSpPr>
        <p:spPr bwMode="auto">
          <a:xfrm>
            <a:off x="7094538" y="3748088"/>
            <a:ext cx="0" cy="950912"/>
          </a:xfrm>
          <a:prstGeom prst="line">
            <a:avLst/>
          </a:prstGeom>
          <a:noFill/>
          <a:ln w="25400" algn="ctr">
            <a:solidFill>
              <a:srgbClr val="7F7B00"/>
            </a:solidFill>
            <a:round/>
            <a:headEnd/>
            <a:tailEnd/>
          </a:ln>
          <a:extLst>
            <a:ext uri="{909E8E84-426E-40DD-AFC4-6F175D3DCCD1}">
              <a14:hiddenFill xmlns:a14="http://schemas.microsoft.com/office/drawing/2010/main">
                <a:noFill/>
              </a14:hiddenFill>
            </a:ext>
          </a:extLst>
        </p:spPr>
      </p:cxnSp>
      <p:cxnSp>
        <p:nvCxnSpPr>
          <p:cNvPr id="49" name="Straight Connector 48">
            <a:extLst>
              <a:ext uri="{FF2B5EF4-FFF2-40B4-BE49-F238E27FC236}">
                <a16:creationId xmlns:a16="http://schemas.microsoft.com/office/drawing/2014/main" id="{2BE2A636-7F00-7661-6F99-D93F6353E6AC}"/>
              </a:ext>
            </a:extLst>
          </p:cNvPr>
          <p:cNvCxnSpPr>
            <a:cxnSpLocks noChangeShapeType="1"/>
          </p:cNvCxnSpPr>
          <p:nvPr/>
        </p:nvCxnSpPr>
        <p:spPr bwMode="auto">
          <a:xfrm>
            <a:off x="4933950" y="3748088"/>
            <a:ext cx="2160588" cy="22225"/>
          </a:xfrm>
          <a:prstGeom prst="line">
            <a:avLst/>
          </a:prstGeom>
          <a:noFill/>
          <a:ln w="25400" algn="ctr">
            <a:solidFill>
              <a:srgbClr val="7F7B00"/>
            </a:solidFill>
            <a:round/>
            <a:headEnd/>
            <a:tailEnd/>
          </a:ln>
          <a:extLst>
            <a:ext uri="{909E8E84-426E-40DD-AFC4-6F175D3DCCD1}">
              <a14:hiddenFill xmlns:a14="http://schemas.microsoft.com/office/drawing/2010/main">
                <a:noFill/>
              </a14:hiddenFill>
            </a:ext>
          </a:extLst>
        </p:spPr>
      </p:cxnSp>
      <p:cxnSp>
        <p:nvCxnSpPr>
          <p:cNvPr id="50" name="Straight Connector 49">
            <a:extLst>
              <a:ext uri="{FF2B5EF4-FFF2-40B4-BE49-F238E27FC236}">
                <a16:creationId xmlns:a16="http://schemas.microsoft.com/office/drawing/2014/main" id="{A2F409E3-97D1-A742-DD29-DFA984A49079}"/>
              </a:ext>
            </a:extLst>
          </p:cNvPr>
          <p:cNvCxnSpPr>
            <a:cxnSpLocks noChangeShapeType="1"/>
          </p:cNvCxnSpPr>
          <p:nvPr/>
        </p:nvCxnSpPr>
        <p:spPr bwMode="auto">
          <a:xfrm>
            <a:off x="4221163" y="2981325"/>
            <a:ext cx="728662" cy="788988"/>
          </a:xfrm>
          <a:prstGeom prst="line">
            <a:avLst/>
          </a:prstGeom>
          <a:noFill/>
          <a:ln w="25400" algn="ctr">
            <a:solidFill>
              <a:srgbClr val="7F7B00"/>
            </a:solidFill>
            <a:round/>
            <a:headEnd type="triangle" w="med" len="med"/>
            <a:tailEnd/>
          </a:ln>
          <a:extLst>
            <a:ext uri="{909E8E84-426E-40DD-AFC4-6F175D3DCCD1}">
              <a14:hiddenFill xmlns:a14="http://schemas.microsoft.com/office/drawing/2010/main">
                <a:noFill/>
              </a14:hiddenFill>
            </a:ext>
          </a:extLst>
        </p:spPr>
      </p:cxnSp>
      <p:grpSp>
        <p:nvGrpSpPr>
          <p:cNvPr id="5" name="Group 66">
            <a:extLst>
              <a:ext uri="{FF2B5EF4-FFF2-40B4-BE49-F238E27FC236}">
                <a16:creationId xmlns:a16="http://schemas.microsoft.com/office/drawing/2014/main" id="{6960F861-C158-E393-DD48-652F49CE3211}"/>
              </a:ext>
            </a:extLst>
          </p:cNvPr>
          <p:cNvGrpSpPr>
            <a:grpSpLocks/>
          </p:cNvGrpSpPr>
          <p:nvPr/>
        </p:nvGrpSpPr>
        <p:grpSpPr bwMode="auto">
          <a:xfrm>
            <a:off x="2713038" y="5138738"/>
            <a:ext cx="4237037" cy="1343025"/>
            <a:chOff x="3070903" y="5139190"/>
            <a:chExt cx="4237401" cy="1342236"/>
          </a:xfrm>
        </p:grpSpPr>
        <p:grpSp>
          <p:nvGrpSpPr>
            <p:cNvPr id="28707" name="Group 65">
              <a:extLst>
                <a:ext uri="{FF2B5EF4-FFF2-40B4-BE49-F238E27FC236}">
                  <a16:creationId xmlns:a16="http://schemas.microsoft.com/office/drawing/2014/main" id="{0E296C04-DE8A-52A6-DB3A-06978140ED4D}"/>
                </a:ext>
              </a:extLst>
            </p:cNvPr>
            <p:cNvGrpSpPr>
              <a:grpSpLocks/>
            </p:cNvGrpSpPr>
            <p:nvPr/>
          </p:nvGrpSpPr>
          <p:grpSpPr bwMode="auto">
            <a:xfrm>
              <a:off x="3070903" y="5139190"/>
              <a:ext cx="4237401" cy="1342236"/>
              <a:chOff x="3070903" y="5139190"/>
              <a:chExt cx="4237401" cy="1342236"/>
            </a:xfrm>
          </p:grpSpPr>
          <p:grpSp>
            <p:nvGrpSpPr>
              <p:cNvPr id="28709" name="Group 52">
                <a:extLst>
                  <a:ext uri="{FF2B5EF4-FFF2-40B4-BE49-F238E27FC236}">
                    <a16:creationId xmlns:a16="http://schemas.microsoft.com/office/drawing/2014/main" id="{4EAA3D79-A2FA-56AA-88A2-F5D2210C601D}"/>
                  </a:ext>
                </a:extLst>
              </p:cNvPr>
              <p:cNvGrpSpPr>
                <a:grpSpLocks/>
              </p:cNvGrpSpPr>
              <p:nvPr/>
            </p:nvGrpSpPr>
            <p:grpSpPr bwMode="auto">
              <a:xfrm>
                <a:off x="3070903" y="5139190"/>
                <a:ext cx="4237401" cy="1342236"/>
                <a:chOff x="6721920" y="1730411"/>
                <a:chExt cx="4237401" cy="1342236"/>
              </a:xfrm>
            </p:grpSpPr>
            <p:sp>
              <p:nvSpPr>
                <p:cNvPr id="54" name="Rectangle 53">
                  <a:extLst>
                    <a:ext uri="{FF2B5EF4-FFF2-40B4-BE49-F238E27FC236}">
                      <a16:creationId xmlns:a16="http://schemas.microsoft.com/office/drawing/2014/main" id="{3E9739AE-E013-0D38-B8F4-AAEF17453EF8}"/>
                    </a:ext>
                  </a:extLst>
                </p:cNvPr>
                <p:cNvSpPr/>
                <p:nvPr/>
              </p:nvSpPr>
              <p:spPr bwMode="auto">
                <a:xfrm>
                  <a:off x="6721920" y="2368211"/>
                  <a:ext cx="3400717" cy="704436"/>
                </a:xfrm>
                <a:prstGeom prst="rect">
                  <a:avLst/>
                </a:prstGeom>
                <a:ln>
                  <a:headEnd type="none" w="med" len="med"/>
                  <a:tailEnd type="none" w="med" len="med"/>
                </a:ln>
              </p:spPr>
              <p:style>
                <a:lnRef idx="1">
                  <a:schemeClr val="accent4"/>
                </a:lnRef>
                <a:fillRef idx="3">
                  <a:schemeClr val="accent4"/>
                </a:fillRef>
                <a:effectRef idx="2">
                  <a:schemeClr val="accent4"/>
                </a:effectRef>
                <a:fontRef idx="minor">
                  <a:schemeClr val="lt1"/>
                </a:fontRef>
              </p:style>
              <p:txBody>
                <a:bodyPr anchor="ctr" anchorCtr="1"/>
                <a:lstStyle/>
                <a:p>
                  <a:pPr algn="ctr">
                    <a:defRPr/>
                  </a:pPr>
                  <a:r>
                    <a:rPr lang="en-CA" dirty="0"/>
                    <a:t>Why do we quote some data values but not others?</a:t>
                  </a:r>
                  <a:endParaRPr lang="en-CA" dirty="0">
                    <a:solidFill>
                      <a:schemeClr val="tx1"/>
                    </a:solidFill>
                    <a:latin typeface="Arial" charset="0"/>
                  </a:endParaRPr>
                </a:p>
              </p:txBody>
            </p:sp>
            <p:cxnSp>
              <p:nvCxnSpPr>
                <p:cNvPr id="55" name="Straight Arrow Connector 54">
                  <a:extLst>
                    <a:ext uri="{FF2B5EF4-FFF2-40B4-BE49-F238E27FC236}">
                      <a16:creationId xmlns:a16="http://schemas.microsoft.com/office/drawing/2014/main" id="{DC349C9E-63C5-7B32-A2C7-DE54AEDC81BE}"/>
                    </a:ext>
                  </a:extLst>
                </p:cNvPr>
                <p:cNvCxnSpPr>
                  <a:stCxn id="54" idx="0"/>
                </p:cNvCxnSpPr>
                <p:nvPr/>
              </p:nvCxnSpPr>
              <p:spPr bwMode="auto">
                <a:xfrm flipV="1">
                  <a:off x="8422278" y="1730411"/>
                  <a:ext cx="2537043" cy="637800"/>
                </a:xfrm>
                <a:prstGeom prst="straightConnector1">
                  <a:avLst/>
                </a:prstGeom>
                <a:ln>
                  <a:headEnd type="none" w="med" len="med"/>
                  <a:tailEnd type="triangle"/>
                </a:ln>
              </p:spPr>
              <p:style>
                <a:lnRef idx="1">
                  <a:schemeClr val="accent4"/>
                </a:lnRef>
                <a:fillRef idx="3">
                  <a:schemeClr val="accent4"/>
                </a:fillRef>
                <a:effectRef idx="2">
                  <a:schemeClr val="accent4"/>
                </a:effectRef>
                <a:fontRef idx="minor">
                  <a:schemeClr val="lt1"/>
                </a:fontRef>
              </p:style>
            </p:cxnSp>
          </p:grpSp>
          <p:cxnSp>
            <p:nvCxnSpPr>
              <p:cNvPr id="58" name="Straight Arrow Connector 57">
                <a:extLst>
                  <a:ext uri="{FF2B5EF4-FFF2-40B4-BE49-F238E27FC236}">
                    <a16:creationId xmlns:a16="http://schemas.microsoft.com/office/drawing/2014/main" id="{5EE6E1D3-1E08-1A98-4D64-FE2A80E73B29}"/>
                  </a:ext>
                </a:extLst>
              </p:cNvPr>
              <p:cNvCxnSpPr>
                <a:stCxn id="54" idx="0"/>
              </p:cNvCxnSpPr>
              <p:nvPr/>
            </p:nvCxnSpPr>
            <p:spPr bwMode="auto">
              <a:xfrm flipH="1" flipV="1">
                <a:off x="4212413" y="5575496"/>
                <a:ext cx="558848" cy="201495"/>
              </a:xfrm>
              <a:prstGeom prst="straightConnector1">
                <a:avLst/>
              </a:prstGeom>
              <a:ln>
                <a:headEnd type="none" w="med" len="med"/>
                <a:tailEnd type="triangle"/>
              </a:ln>
            </p:spPr>
            <p:style>
              <a:lnRef idx="1">
                <a:schemeClr val="accent4"/>
              </a:lnRef>
              <a:fillRef idx="3">
                <a:schemeClr val="accent4"/>
              </a:fillRef>
              <a:effectRef idx="2">
                <a:schemeClr val="accent4"/>
              </a:effectRef>
              <a:fontRef idx="minor">
                <a:schemeClr val="lt1"/>
              </a:fontRef>
            </p:style>
          </p:cxnSp>
        </p:grpSp>
        <p:cxnSp>
          <p:nvCxnSpPr>
            <p:cNvPr id="61" name="Straight Arrow Connector 60">
              <a:extLst>
                <a:ext uri="{FF2B5EF4-FFF2-40B4-BE49-F238E27FC236}">
                  <a16:creationId xmlns:a16="http://schemas.microsoft.com/office/drawing/2014/main" id="{D8081E3E-F886-4E4F-2ACE-853AEFE61ED5}"/>
                </a:ext>
              </a:extLst>
            </p:cNvPr>
            <p:cNvCxnSpPr>
              <a:stCxn id="54" idx="0"/>
            </p:cNvCxnSpPr>
            <p:nvPr/>
          </p:nvCxnSpPr>
          <p:spPr bwMode="auto">
            <a:xfrm flipV="1">
              <a:off x="4771261" y="5139190"/>
              <a:ext cx="1601926" cy="637800"/>
            </a:xfrm>
            <a:prstGeom prst="straightConnector1">
              <a:avLst/>
            </a:prstGeom>
            <a:ln>
              <a:headEnd type="none" w="med" len="med"/>
              <a:tailEnd type="triangle"/>
            </a:ln>
          </p:spPr>
          <p:style>
            <a:lnRef idx="1">
              <a:schemeClr val="accent4"/>
            </a:lnRef>
            <a:fillRef idx="3">
              <a:schemeClr val="accent4"/>
            </a:fillRef>
            <a:effectRef idx="2">
              <a:schemeClr val="accent4"/>
            </a:effectRef>
            <a:fontRef idx="minor">
              <a:schemeClr val="lt1"/>
            </a:fontRef>
          </p:style>
        </p:cxnSp>
      </p:gr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Effect transition="in" filter="wipe(left)">
                                      <p:cBhvr>
                                        <p:cTn id="7" dur="500"/>
                                        <p:tgtEl>
                                          <p:spTgt spid="20">
                                            <p:txEl>
                                              <p:pRg st="0" end="0"/>
                                            </p:txEl>
                                          </p:spTgt>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up)">
                                      <p:cBhvr>
                                        <p:cTn id="11" dur="500"/>
                                        <p:tgtEl>
                                          <p:spTgt spid="3"/>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4"/>
                                        </p:tgtEl>
                                        <p:attrNameLst>
                                          <p:attrName>style.visibility</p:attrName>
                                        </p:attrNameLst>
                                      </p:cBhvr>
                                      <p:to>
                                        <p:strVal val="visible"/>
                                      </p:to>
                                    </p:set>
                                    <p:animEffect transition="in" filter="wipe(left)">
                                      <p:cBhvr>
                                        <p:cTn id="15" dur="500"/>
                                        <p:tgtEl>
                                          <p:spTgt spid="34"/>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nodeType="clickEffect">
                                  <p:stCondLst>
                                    <p:cond delay="0"/>
                                  </p:stCondLst>
                                  <p:childTnLst>
                                    <p:set>
                                      <p:cBhvr>
                                        <p:cTn id="19" dur="1" fill="hold">
                                          <p:stCondLst>
                                            <p:cond delay="0"/>
                                          </p:stCondLst>
                                        </p:cTn>
                                        <p:tgtEl>
                                          <p:spTgt spid="20">
                                            <p:txEl>
                                              <p:pRg st="4" end="4"/>
                                            </p:txEl>
                                          </p:spTgt>
                                        </p:tgtEl>
                                        <p:attrNameLst>
                                          <p:attrName>style.visibility</p:attrName>
                                        </p:attrNameLst>
                                      </p:cBhvr>
                                      <p:to>
                                        <p:strVal val="visible"/>
                                      </p:to>
                                    </p:set>
                                    <p:animEffect transition="in" filter="wipe(left)">
                                      <p:cBhvr>
                                        <p:cTn id="20" dur="500"/>
                                        <p:tgtEl>
                                          <p:spTgt spid="20">
                                            <p:txEl>
                                              <p:pRg st="4" end="4"/>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6" presetClass="entr" presetSubtype="21"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barn(inVertical)">
                                      <p:cBhvr>
                                        <p:cTn id="25" dur="500"/>
                                        <p:tgtEl>
                                          <p:spTgt spid="15"/>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4" fill="hold" nodeType="clickEffect">
                                  <p:stCondLst>
                                    <p:cond delay="0"/>
                                  </p:stCondLst>
                                  <p:childTnLst>
                                    <p:set>
                                      <p:cBhvr>
                                        <p:cTn id="29" dur="1" fill="hold">
                                          <p:stCondLst>
                                            <p:cond delay="0"/>
                                          </p:stCondLst>
                                        </p:cTn>
                                        <p:tgtEl>
                                          <p:spTgt spid="36"/>
                                        </p:tgtEl>
                                        <p:attrNameLst>
                                          <p:attrName>style.visibility</p:attrName>
                                        </p:attrNameLst>
                                      </p:cBhvr>
                                      <p:to>
                                        <p:strVal val="visible"/>
                                      </p:to>
                                    </p:set>
                                    <p:animEffect transition="in" filter="wipe(down)">
                                      <p:cBhvr>
                                        <p:cTn id="30" dur="500"/>
                                        <p:tgtEl>
                                          <p:spTgt spid="36"/>
                                        </p:tgtEl>
                                      </p:cBhvr>
                                    </p:animEffect>
                                  </p:childTnLst>
                                </p:cTn>
                              </p:par>
                            </p:childTnLst>
                          </p:cTn>
                        </p:par>
                        <p:par>
                          <p:cTn id="31" fill="hold" nodeType="afterGroup">
                            <p:stCondLst>
                              <p:cond delay="500"/>
                            </p:stCondLst>
                            <p:childTnLst>
                              <p:par>
                                <p:cTn id="32" presetID="22" presetClass="entr" presetSubtype="2" fill="hold" nodeType="afterEffect">
                                  <p:stCondLst>
                                    <p:cond delay="0"/>
                                  </p:stCondLst>
                                  <p:childTnLst>
                                    <p:set>
                                      <p:cBhvr>
                                        <p:cTn id="33" dur="1" fill="hold">
                                          <p:stCondLst>
                                            <p:cond delay="0"/>
                                          </p:stCondLst>
                                        </p:cTn>
                                        <p:tgtEl>
                                          <p:spTgt spid="35"/>
                                        </p:tgtEl>
                                        <p:attrNameLst>
                                          <p:attrName>style.visibility</p:attrName>
                                        </p:attrNameLst>
                                      </p:cBhvr>
                                      <p:to>
                                        <p:strVal val="visible"/>
                                      </p:to>
                                    </p:set>
                                    <p:animEffect transition="in" filter="wipe(right)">
                                      <p:cBhvr>
                                        <p:cTn id="34" dur="500"/>
                                        <p:tgtEl>
                                          <p:spTgt spid="35"/>
                                        </p:tgtEl>
                                      </p:cBhvr>
                                    </p:animEffect>
                                  </p:childTnLst>
                                </p:cTn>
                              </p:par>
                            </p:childTnLst>
                          </p:cTn>
                        </p:par>
                        <p:par>
                          <p:cTn id="35" fill="hold" nodeType="afterGroup">
                            <p:stCondLst>
                              <p:cond delay="1000"/>
                            </p:stCondLst>
                            <p:childTnLst>
                              <p:par>
                                <p:cTn id="36" presetID="22" presetClass="entr" presetSubtype="4" fill="hold" nodeType="afterEffect">
                                  <p:stCondLst>
                                    <p:cond delay="0"/>
                                  </p:stCondLst>
                                  <p:childTnLst>
                                    <p:set>
                                      <p:cBhvr>
                                        <p:cTn id="37" dur="1" fill="hold">
                                          <p:stCondLst>
                                            <p:cond delay="0"/>
                                          </p:stCondLst>
                                        </p:cTn>
                                        <p:tgtEl>
                                          <p:spTgt spid="4"/>
                                        </p:tgtEl>
                                        <p:attrNameLst>
                                          <p:attrName>style.visibility</p:attrName>
                                        </p:attrNameLst>
                                      </p:cBhvr>
                                      <p:to>
                                        <p:strVal val="visible"/>
                                      </p:to>
                                    </p:set>
                                    <p:animEffect transition="in" filter="wipe(down)">
                                      <p:cBhvr>
                                        <p:cTn id="38" dur="500"/>
                                        <p:tgtEl>
                                          <p:spTgt spid="4"/>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4" fill="hold" nodeType="clickEffect">
                                  <p:stCondLst>
                                    <p:cond delay="0"/>
                                  </p:stCondLst>
                                  <p:childTnLst>
                                    <p:set>
                                      <p:cBhvr>
                                        <p:cTn id="42" dur="1" fill="hold">
                                          <p:stCondLst>
                                            <p:cond delay="0"/>
                                          </p:stCondLst>
                                        </p:cTn>
                                        <p:tgtEl>
                                          <p:spTgt spid="6"/>
                                        </p:tgtEl>
                                        <p:attrNameLst>
                                          <p:attrName>style.visibility</p:attrName>
                                        </p:attrNameLst>
                                      </p:cBhvr>
                                      <p:to>
                                        <p:strVal val="visible"/>
                                      </p:to>
                                    </p:set>
                                    <p:animEffect transition="in" filter="wipe(down)">
                                      <p:cBhvr>
                                        <p:cTn id="43" dur="500"/>
                                        <p:tgtEl>
                                          <p:spTgt spid="6"/>
                                        </p:tgtEl>
                                      </p:cBhvr>
                                    </p:animEffect>
                                  </p:childTnLst>
                                </p:cTn>
                              </p:par>
                            </p:childTnLst>
                          </p:cTn>
                        </p:par>
                        <p:par>
                          <p:cTn id="44" fill="hold" nodeType="afterGroup">
                            <p:stCondLst>
                              <p:cond delay="500"/>
                            </p:stCondLst>
                            <p:childTnLst>
                              <p:par>
                                <p:cTn id="45" presetID="22" presetClass="entr" presetSubtype="2" fill="hold" nodeType="afterEffect">
                                  <p:stCondLst>
                                    <p:cond delay="0"/>
                                  </p:stCondLst>
                                  <p:childTnLst>
                                    <p:set>
                                      <p:cBhvr>
                                        <p:cTn id="46" dur="1" fill="hold">
                                          <p:stCondLst>
                                            <p:cond delay="0"/>
                                          </p:stCondLst>
                                        </p:cTn>
                                        <p:tgtEl>
                                          <p:spTgt spid="49"/>
                                        </p:tgtEl>
                                        <p:attrNameLst>
                                          <p:attrName>style.visibility</p:attrName>
                                        </p:attrNameLst>
                                      </p:cBhvr>
                                      <p:to>
                                        <p:strVal val="visible"/>
                                      </p:to>
                                    </p:set>
                                    <p:animEffect transition="in" filter="wipe(right)">
                                      <p:cBhvr>
                                        <p:cTn id="47" dur="500"/>
                                        <p:tgtEl>
                                          <p:spTgt spid="49"/>
                                        </p:tgtEl>
                                      </p:cBhvr>
                                    </p:animEffect>
                                  </p:childTnLst>
                                </p:cTn>
                              </p:par>
                            </p:childTnLst>
                          </p:cTn>
                        </p:par>
                        <p:par>
                          <p:cTn id="48" fill="hold" nodeType="afterGroup">
                            <p:stCondLst>
                              <p:cond delay="1000"/>
                            </p:stCondLst>
                            <p:childTnLst>
                              <p:par>
                                <p:cTn id="49" presetID="22" presetClass="entr" presetSubtype="4" fill="hold" nodeType="afterEffect">
                                  <p:stCondLst>
                                    <p:cond delay="0"/>
                                  </p:stCondLst>
                                  <p:childTnLst>
                                    <p:set>
                                      <p:cBhvr>
                                        <p:cTn id="50" dur="1" fill="hold">
                                          <p:stCondLst>
                                            <p:cond delay="0"/>
                                          </p:stCondLst>
                                        </p:cTn>
                                        <p:tgtEl>
                                          <p:spTgt spid="50"/>
                                        </p:tgtEl>
                                        <p:attrNameLst>
                                          <p:attrName>style.visibility</p:attrName>
                                        </p:attrNameLst>
                                      </p:cBhvr>
                                      <p:to>
                                        <p:strVal val="visible"/>
                                      </p:to>
                                    </p:set>
                                    <p:animEffect transition="in" filter="wipe(down)">
                                      <p:cBhvr>
                                        <p:cTn id="51" dur="500"/>
                                        <p:tgtEl>
                                          <p:spTgt spid="50"/>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nodeType="clickEffect">
                                  <p:stCondLst>
                                    <p:cond delay="0"/>
                                  </p:stCondLst>
                                  <p:childTnLst>
                                    <p:set>
                                      <p:cBhvr>
                                        <p:cTn id="55" dur="1" fill="hold">
                                          <p:stCondLst>
                                            <p:cond delay="0"/>
                                          </p:stCondLst>
                                        </p:cTn>
                                        <p:tgtEl>
                                          <p:spTgt spid="47"/>
                                        </p:tgtEl>
                                        <p:attrNameLst>
                                          <p:attrName>style.visibility</p:attrName>
                                        </p:attrNameLst>
                                      </p:cBhvr>
                                      <p:to>
                                        <p:strVal val="visible"/>
                                      </p:to>
                                    </p:set>
                                    <p:animEffect transition="in" filter="wipe(left)">
                                      <p:cBhvr>
                                        <p:cTn id="56" dur="500"/>
                                        <p:tgtEl>
                                          <p:spTgt spid="47"/>
                                        </p:tgtEl>
                                      </p:cBhvr>
                                    </p:animEffect>
                                  </p:childTnLst>
                                </p:cTn>
                              </p:par>
                            </p:childTnLst>
                          </p:cTn>
                        </p:par>
                        <p:par>
                          <p:cTn id="57" fill="hold" nodeType="afterGroup">
                            <p:stCondLst>
                              <p:cond delay="500"/>
                            </p:stCondLst>
                            <p:childTnLst>
                              <p:par>
                                <p:cTn id="58" presetID="22" presetClass="entr" presetSubtype="4" fill="hold" nodeType="afterEffect">
                                  <p:stCondLst>
                                    <p:cond delay="0"/>
                                  </p:stCondLst>
                                  <p:childTnLst>
                                    <p:set>
                                      <p:cBhvr>
                                        <p:cTn id="59" dur="1" fill="hold">
                                          <p:stCondLst>
                                            <p:cond delay="0"/>
                                          </p:stCondLst>
                                        </p:cTn>
                                        <p:tgtEl>
                                          <p:spTgt spid="44"/>
                                        </p:tgtEl>
                                        <p:attrNameLst>
                                          <p:attrName>style.visibility</p:attrName>
                                        </p:attrNameLst>
                                      </p:cBhvr>
                                      <p:to>
                                        <p:strVal val="visible"/>
                                      </p:to>
                                    </p:set>
                                    <p:animEffect transition="in" filter="wipe(down)">
                                      <p:cBhvr>
                                        <p:cTn id="60" dur="500"/>
                                        <p:tgtEl>
                                          <p:spTgt spid="44"/>
                                        </p:tgtEl>
                                      </p:cBhvr>
                                    </p:animEffect>
                                  </p:childTnLst>
                                </p:cTn>
                              </p:par>
                            </p:childTnLst>
                          </p:cTn>
                        </p:par>
                        <p:par>
                          <p:cTn id="61" fill="hold" nodeType="afterGroup">
                            <p:stCondLst>
                              <p:cond delay="1000"/>
                            </p:stCondLst>
                            <p:childTnLst>
                              <p:par>
                                <p:cTn id="62" presetID="22" presetClass="entr" presetSubtype="2" fill="hold" nodeType="afterEffect">
                                  <p:stCondLst>
                                    <p:cond delay="0"/>
                                  </p:stCondLst>
                                  <p:childTnLst>
                                    <p:set>
                                      <p:cBhvr>
                                        <p:cTn id="63" dur="1" fill="hold">
                                          <p:stCondLst>
                                            <p:cond delay="0"/>
                                          </p:stCondLst>
                                        </p:cTn>
                                        <p:tgtEl>
                                          <p:spTgt spid="43"/>
                                        </p:tgtEl>
                                        <p:attrNameLst>
                                          <p:attrName>style.visibility</p:attrName>
                                        </p:attrNameLst>
                                      </p:cBhvr>
                                      <p:to>
                                        <p:strVal val="visible"/>
                                      </p:to>
                                    </p:set>
                                    <p:animEffect transition="in" filter="wipe(right)">
                                      <p:cBhvr>
                                        <p:cTn id="64" dur="500"/>
                                        <p:tgtEl>
                                          <p:spTgt spid="43"/>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2" presetClass="entr" presetSubtype="2" fill="hold" nodeType="clickEffect">
                                  <p:stCondLst>
                                    <p:cond delay="0"/>
                                  </p:stCondLst>
                                  <p:childTnLst>
                                    <p:set>
                                      <p:cBhvr>
                                        <p:cTn id="68" dur="1" fill="hold">
                                          <p:stCondLst>
                                            <p:cond delay="0"/>
                                          </p:stCondLst>
                                        </p:cTn>
                                        <p:tgtEl>
                                          <p:spTgt spid="5"/>
                                        </p:tgtEl>
                                        <p:attrNameLst>
                                          <p:attrName>style.visibility</p:attrName>
                                        </p:attrNameLst>
                                      </p:cBhvr>
                                      <p:to>
                                        <p:strVal val="visible"/>
                                      </p:to>
                                    </p:set>
                                    <p:anim calcmode="lin" valueType="num">
                                      <p:cBhvr additive="base">
                                        <p:cTn id="69" dur="500" fill="hold"/>
                                        <p:tgtEl>
                                          <p:spTgt spid="5"/>
                                        </p:tgtEl>
                                        <p:attrNameLst>
                                          <p:attrName>ppt_x</p:attrName>
                                        </p:attrNameLst>
                                      </p:cBhvr>
                                      <p:tavLst>
                                        <p:tav tm="0">
                                          <p:val>
                                            <p:strVal val="1+#ppt_w/2"/>
                                          </p:val>
                                        </p:tav>
                                        <p:tav tm="100000">
                                          <p:val>
                                            <p:strVal val="#ppt_x"/>
                                          </p:val>
                                        </p:tav>
                                      </p:tavLst>
                                    </p:anim>
                                    <p:anim calcmode="lin" valueType="num">
                                      <p:cBhvr additive="base">
                                        <p:cTn id="70"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34"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1E8FB3-BF6D-1E6B-21D8-D49406C60518}"/>
              </a:ext>
            </a:extLst>
          </p:cNvPr>
          <p:cNvSpPr>
            <a:spLocks noGrp="1"/>
          </p:cNvSpPr>
          <p:nvPr>
            <p:ph type="title"/>
          </p:nvPr>
        </p:nvSpPr>
        <p:spPr>
          <a:xfrm>
            <a:off x="457200" y="0"/>
            <a:ext cx="7620000" cy="1143000"/>
          </a:xfrm>
        </p:spPr>
        <p:txBody>
          <a:bodyPr/>
          <a:lstStyle/>
          <a:p>
            <a:pPr>
              <a:defRPr/>
            </a:pPr>
            <a:r>
              <a:rPr lang="en-US" dirty="0"/>
              <a:t>Manipulating Data Using SQL</a:t>
            </a:r>
            <a:endParaRPr lang="en-MY" dirty="0"/>
          </a:p>
        </p:txBody>
      </p:sp>
      <p:sp>
        <p:nvSpPr>
          <p:cNvPr id="20" name="Content Placeholder 2">
            <a:extLst>
              <a:ext uri="{FF2B5EF4-FFF2-40B4-BE49-F238E27FC236}">
                <a16:creationId xmlns:a16="http://schemas.microsoft.com/office/drawing/2014/main" id="{AD5452A6-9DA5-8F51-2331-331A8EF2B9FA}"/>
              </a:ext>
            </a:extLst>
          </p:cNvPr>
          <p:cNvSpPr txBox="1">
            <a:spLocks/>
          </p:cNvSpPr>
          <p:nvPr/>
        </p:nvSpPr>
        <p:spPr bwMode="auto">
          <a:xfrm>
            <a:off x="250825" y="1773238"/>
            <a:ext cx="7978775"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rgbClr val="FF6600"/>
              </a:buClr>
              <a:buFont typeface="Wingdings 3" panose="05040102010807070707" pitchFamily="18" charset="2"/>
              <a:buNone/>
            </a:pPr>
            <a:r>
              <a:rPr lang="en-CA" altLang="en-US" sz="2800">
                <a:latin typeface="Calibri" panose="020F0502020204030204" pitchFamily="34" charset="0"/>
              </a:rPr>
              <a:t>The data values are quoted or not quoted based on the data type of the column</a:t>
            </a:r>
          </a:p>
          <a:p>
            <a:pPr algn="just" eaLnBrk="1" hangingPunct="1">
              <a:spcBef>
                <a:spcPct val="20000"/>
              </a:spcBef>
              <a:buClr>
                <a:srgbClr val="FF6600"/>
              </a:buClr>
              <a:buFont typeface="Wingdings 3" panose="05040102010807070707" pitchFamily="18" charset="2"/>
              <a:buNone/>
            </a:pPr>
            <a:endParaRPr lang="en-CA"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2800">
              <a:latin typeface="Calibri" panose="020F0502020204030204" pitchFamily="34" charset="0"/>
            </a:endParaRPr>
          </a:p>
        </p:txBody>
      </p:sp>
      <p:graphicFrame>
        <p:nvGraphicFramePr>
          <p:cNvPr id="3" name="Table 2">
            <a:extLst>
              <a:ext uri="{FF2B5EF4-FFF2-40B4-BE49-F238E27FC236}">
                <a16:creationId xmlns:a16="http://schemas.microsoft.com/office/drawing/2014/main" id="{8C2FEEAE-2165-BEB8-FC5E-3575336381E7}"/>
              </a:ext>
            </a:extLst>
          </p:cNvPr>
          <p:cNvGraphicFramePr>
            <a:graphicFrameLocks noGrp="1"/>
          </p:cNvGraphicFramePr>
          <p:nvPr/>
        </p:nvGraphicFramePr>
        <p:xfrm>
          <a:off x="609600" y="2873375"/>
          <a:ext cx="6792914" cy="3432177"/>
        </p:xfrm>
        <a:graphic>
          <a:graphicData uri="http://schemas.openxmlformats.org/drawingml/2006/table">
            <a:tbl>
              <a:tblPr firstRow="1" bandRow="1">
                <a:tableStyleId>{3B4B98B0-60AC-42C2-AFA5-B58CD77FA1E5}</a:tableStyleId>
              </a:tblPr>
              <a:tblGrid>
                <a:gridCol w="2016371">
                  <a:extLst>
                    <a:ext uri="{9D8B030D-6E8A-4147-A177-3AD203B41FA5}">
                      <a16:colId xmlns:a16="http://schemas.microsoft.com/office/drawing/2014/main" val="20000"/>
                    </a:ext>
                  </a:extLst>
                </a:gridCol>
                <a:gridCol w="2102247">
                  <a:extLst>
                    <a:ext uri="{9D8B030D-6E8A-4147-A177-3AD203B41FA5}">
                      <a16:colId xmlns:a16="http://schemas.microsoft.com/office/drawing/2014/main" val="20001"/>
                    </a:ext>
                  </a:extLst>
                </a:gridCol>
                <a:gridCol w="2674296">
                  <a:extLst>
                    <a:ext uri="{9D8B030D-6E8A-4147-A177-3AD203B41FA5}">
                      <a16:colId xmlns:a16="http://schemas.microsoft.com/office/drawing/2014/main" val="20002"/>
                    </a:ext>
                  </a:extLst>
                </a:gridCol>
              </a:tblGrid>
              <a:tr h="431893">
                <a:tc>
                  <a:txBody>
                    <a:bodyPr/>
                    <a:lstStyle/>
                    <a:p>
                      <a:pPr algn="ctr"/>
                      <a:r>
                        <a:rPr lang="en-CA" sz="1800" dirty="0"/>
                        <a:t>Data Type</a:t>
                      </a:r>
                    </a:p>
                  </a:txBody>
                  <a:tcPr marL="91447" marR="91447" marT="45704" marB="45704" anchor="ctr"/>
                </a:tc>
                <a:tc>
                  <a:txBody>
                    <a:bodyPr/>
                    <a:lstStyle/>
                    <a:p>
                      <a:pPr algn="ctr"/>
                      <a:r>
                        <a:rPr lang="en-CA" sz="1800" dirty="0"/>
                        <a:t>Quotation</a:t>
                      </a:r>
                      <a:r>
                        <a:rPr lang="en-CA" sz="1800" baseline="0" dirty="0"/>
                        <a:t> Marks</a:t>
                      </a:r>
                      <a:endParaRPr lang="en-CA" sz="1800" dirty="0"/>
                    </a:p>
                  </a:txBody>
                  <a:tcPr marL="91447" marR="91447" marT="45704" marB="45704" anchor="ctr"/>
                </a:tc>
                <a:tc>
                  <a:txBody>
                    <a:bodyPr/>
                    <a:lstStyle/>
                    <a:p>
                      <a:pPr algn="ctr"/>
                      <a:r>
                        <a:rPr lang="en-CA" sz="1800" dirty="0"/>
                        <a:t>Examples</a:t>
                      </a:r>
                    </a:p>
                  </a:txBody>
                  <a:tcPr marL="91447" marR="91447" marT="45704" marB="45704" anchor="ctr"/>
                </a:tc>
                <a:extLst>
                  <a:ext uri="{0D108BD9-81ED-4DB2-BD59-A6C34878D82A}">
                    <a16:rowId xmlns:a16="http://schemas.microsoft.com/office/drawing/2014/main" val="10000"/>
                  </a:ext>
                </a:extLst>
              </a:tr>
              <a:tr h="428612">
                <a:tc>
                  <a:txBody>
                    <a:bodyPr/>
                    <a:lstStyle/>
                    <a:p>
                      <a:pPr algn="l"/>
                      <a:r>
                        <a:rPr lang="en-CA" sz="1800" dirty="0"/>
                        <a:t>CHAR(n)</a:t>
                      </a:r>
                    </a:p>
                  </a:txBody>
                  <a:tcPr marL="91447" marR="91447" marT="45704" marB="45704" anchor="ctr"/>
                </a:tc>
                <a:tc>
                  <a:txBody>
                    <a:bodyPr/>
                    <a:lstStyle/>
                    <a:p>
                      <a:pPr algn="ctr"/>
                      <a:r>
                        <a:rPr lang="en-CA" sz="1800" dirty="0"/>
                        <a:t>YES</a:t>
                      </a:r>
                    </a:p>
                  </a:txBody>
                  <a:tcPr marL="91447" marR="91447" marT="45704" marB="45704" anchor="ctr"/>
                </a:tc>
                <a:tc>
                  <a:txBody>
                    <a:bodyPr/>
                    <a:lstStyle/>
                    <a:p>
                      <a:r>
                        <a:rPr lang="en-CA" sz="1800" baseline="0" dirty="0"/>
                        <a:t> 'M' or 'F'</a:t>
                      </a:r>
                      <a:endParaRPr lang="en-CA" sz="1800" dirty="0"/>
                    </a:p>
                  </a:txBody>
                  <a:tcPr marL="91447" marR="91447" marT="45704" marB="45704" anchor="ctr"/>
                </a:tc>
                <a:extLst>
                  <a:ext uri="{0D108BD9-81ED-4DB2-BD59-A6C34878D82A}">
                    <a16:rowId xmlns:a16="http://schemas.microsoft.com/office/drawing/2014/main" val="10001"/>
                  </a:ext>
                </a:extLst>
              </a:tr>
              <a:tr h="428612">
                <a:tc>
                  <a:txBody>
                    <a:bodyPr/>
                    <a:lstStyle/>
                    <a:p>
                      <a:pPr algn="l"/>
                      <a:r>
                        <a:rPr lang="en-CA" sz="1800" dirty="0"/>
                        <a:t>VARCHAR(n)</a:t>
                      </a:r>
                    </a:p>
                  </a:txBody>
                  <a:tcPr marL="91447" marR="91447" marT="45704" marB="45704" anchor="ctr"/>
                </a:tc>
                <a:tc>
                  <a:txBody>
                    <a:bodyPr/>
                    <a:lstStyle/>
                    <a:p>
                      <a:pPr algn="ctr"/>
                      <a:r>
                        <a:rPr lang="en-CA" sz="1800" dirty="0"/>
                        <a:t>YES</a:t>
                      </a:r>
                    </a:p>
                  </a:txBody>
                  <a:tcPr marL="91447" marR="91447" marT="45704" marB="45704" anchor="ctr"/>
                </a:tc>
                <a:tc>
                  <a:txBody>
                    <a:bodyPr/>
                    <a:lstStyle/>
                    <a:p>
                      <a:r>
                        <a:rPr lang="en-CA" sz="1800" baseline="0" dirty="0"/>
                        <a:t>'</a:t>
                      </a:r>
                      <a:r>
                        <a:rPr lang="en-CA" sz="1800" dirty="0"/>
                        <a:t>John</a:t>
                      </a:r>
                      <a:r>
                        <a:rPr lang="en-CA" sz="1800" baseline="0" dirty="0"/>
                        <a:t>'</a:t>
                      </a:r>
                      <a:r>
                        <a:rPr lang="en-CA" sz="1800" dirty="0"/>
                        <a:t>, </a:t>
                      </a:r>
                      <a:r>
                        <a:rPr lang="en-CA" sz="1800" baseline="0" dirty="0"/>
                        <a:t>'</a:t>
                      </a:r>
                      <a:r>
                        <a:rPr lang="en-CA" sz="1800" dirty="0"/>
                        <a:t>Mary</a:t>
                      </a:r>
                      <a:r>
                        <a:rPr lang="en-CA" sz="1800" baseline="0" dirty="0"/>
                        <a:t>'</a:t>
                      </a:r>
                      <a:endParaRPr lang="en-CA" sz="1800" dirty="0"/>
                    </a:p>
                  </a:txBody>
                  <a:tcPr marL="91447" marR="91447" marT="45704" marB="45704" anchor="ctr"/>
                </a:tc>
                <a:extLst>
                  <a:ext uri="{0D108BD9-81ED-4DB2-BD59-A6C34878D82A}">
                    <a16:rowId xmlns:a16="http://schemas.microsoft.com/office/drawing/2014/main" val="10002"/>
                  </a:ext>
                </a:extLst>
              </a:tr>
              <a:tr h="428612">
                <a:tc>
                  <a:txBody>
                    <a:bodyPr/>
                    <a:lstStyle/>
                    <a:p>
                      <a:pPr algn="l"/>
                      <a:r>
                        <a:rPr lang="en-CA" sz="1800" dirty="0"/>
                        <a:t>ENUM(txt1, txt2..)</a:t>
                      </a:r>
                    </a:p>
                  </a:txBody>
                  <a:tcPr marL="91447" marR="91447" marT="45704" marB="45704" anchor="ctr"/>
                </a:tc>
                <a:tc>
                  <a:txBody>
                    <a:bodyPr/>
                    <a:lstStyle/>
                    <a:p>
                      <a:pPr algn="ctr"/>
                      <a:r>
                        <a:rPr lang="en-CA" sz="1800" dirty="0"/>
                        <a:t>YES</a:t>
                      </a:r>
                    </a:p>
                  </a:txBody>
                  <a:tcPr marL="91447" marR="91447" marT="45704" marB="45704" anchor="ctr"/>
                </a:tc>
                <a:tc>
                  <a:txBody>
                    <a:bodyPr/>
                    <a:lstStyle/>
                    <a:p>
                      <a:pPr marL="0" marR="0" indent="0" defTabSz="914400" eaLnBrk="1" fontAlgn="auto" latinLnBrk="0" hangingPunct="1">
                        <a:lnSpc>
                          <a:spcPct val="100000"/>
                        </a:lnSpc>
                        <a:spcBef>
                          <a:spcPts val="0"/>
                        </a:spcBef>
                        <a:spcAft>
                          <a:spcPts val="0"/>
                        </a:spcAft>
                        <a:buClrTx/>
                        <a:buSzTx/>
                        <a:buFontTx/>
                        <a:buNone/>
                        <a:tabLst/>
                        <a:defRPr/>
                      </a:pPr>
                      <a:r>
                        <a:rPr lang="en-CA" sz="1800" baseline="0" dirty="0"/>
                        <a:t>‘Business'</a:t>
                      </a:r>
                      <a:r>
                        <a:rPr lang="en-CA" sz="1800" dirty="0"/>
                        <a:t>, </a:t>
                      </a:r>
                      <a:r>
                        <a:rPr lang="en-CA" sz="1800" baseline="0" dirty="0"/>
                        <a:t>‘Engineering'</a:t>
                      </a:r>
                      <a:endParaRPr lang="en-CA" sz="1800" dirty="0"/>
                    </a:p>
                  </a:txBody>
                  <a:tcPr marL="91447" marR="91447" marT="45704" marB="45704" anchor="ctr"/>
                </a:tc>
                <a:extLst>
                  <a:ext uri="{0D108BD9-81ED-4DB2-BD59-A6C34878D82A}">
                    <a16:rowId xmlns:a16="http://schemas.microsoft.com/office/drawing/2014/main" val="10003"/>
                  </a:ext>
                </a:extLst>
              </a:tr>
              <a:tr h="428612">
                <a:tc>
                  <a:txBody>
                    <a:bodyPr/>
                    <a:lstStyle/>
                    <a:p>
                      <a:pPr algn="l"/>
                      <a:r>
                        <a:rPr lang="en-CA" sz="1800" b="1" dirty="0"/>
                        <a:t>INT</a:t>
                      </a:r>
                    </a:p>
                  </a:txBody>
                  <a:tcPr marL="91447" marR="91447" marT="45704" marB="45704" anchor="ctr"/>
                </a:tc>
                <a:tc>
                  <a:txBody>
                    <a:bodyPr/>
                    <a:lstStyle/>
                    <a:p>
                      <a:pPr algn="ctr"/>
                      <a:r>
                        <a:rPr lang="en-CA" sz="1800" b="1" dirty="0"/>
                        <a:t>NO</a:t>
                      </a:r>
                    </a:p>
                  </a:txBody>
                  <a:tcPr marL="91447" marR="91447" marT="45704" marB="45704" anchor="ctr"/>
                </a:tc>
                <a:tc>
                  <a:txBody>
                    <a:bodyPr/>
                    <a:lstStyle/>
                    <a:p>
                      <a:r>
                        <a:rPr lang="en-CA" sz="1800" b="1" dirty="0"/>
                        <a:t>123, 22</a:t>
                      </a:r>
                    </a:p>
                  </a:txBody>
                  <a:tcPr marL="91447" marR="91447" marT="45704" marB="45704" anchor="ctr"/>
                </a:tc>
                <a:extLst>
                  <a:ext uri="{0D108BD9-81ED-4DB2-BD59-A6C34878D82A}">
                    <a16:rowId xmlns:a16="http://schemas.microsoft.com/office/drawing/2014/main" val="10004"/>
                  </a:ext>
                </a:extLst>
              </a:tr>
              <a:tr h="428612">
                <a:tc>
                  <a:txBody>
                    <a:bodyPr/>
                    <a:lstStyle/>
                    <a:p>
                      <a:pPr algn="l"/>
                      <a:r>
                        <a:rPr lang="en-CA" sz="1800" b="1" dirty="0"/>
                        <a:t>DECIMAL(</a:t>
                      </a:r>
                      <a:r>
                        <a:rPr lang="en-CA" sz="1800" b="1" dirty="0" err="1"/>
                        <a:t>m,n</a:t>
                      </a:r>
                      <a:r>
                        <a:rPr lang="en-CA" sz="1800" b="1" dirty="0"/>
                        <a:t>)</a:t>
                      </a:r>
                    </a:p>
                  </a:txBody>
                  <a:tcPr marL="91447" marR="91447" marT="45704" marB="45704" anchor="ctr"/>
                </a:tc>
                <a:tc>
                  <a:txBody>
                    <a:bodyPr/>
                    <a:lstStyle/>
                    <a:p>
                      <a:pPr algn="ctr"/>
                      <a:r>
                        <a:rPr lang="en-CA" sz="1800" b="1" dirty="0"/>
                        <a:t>NO</a:t>
                      </a:r>
                    </a:p>
                  </a:txBody>
                  <a:tcPr marL="91447" marR="91447" marT="45704" marB="45704" anchor="ctr"/>
                </a:tc>
                <a:tc>
                  <a:txBody>
                    <a:bodyPr/>
                    <a:lstStyle/>
                    <a:p>
                      <a:r>
                        <a:rPr lang="en-CA" sz="1800" b="1" dirty="0"/>
                        <a:t>123.22, 20.7</a:t>
                      </a:r>
                    </a:p>
                  </a:txBody>
                  <a:tcPr marL="91447" marR="91447" marT="45704" marB="45704" anchor="ctr"/>
                </a:tc>
                <a:extLst>
                  <a:ext uri="{0D108BD9-81ED-4DB2-BD59-A6C34878D82A}">
                    <a16:rowId xmlns:a16="http://schemas.microsoft.com/office/drawing/2014/main" val="10005"/>
                  </a:ext>
                </a:extLst>
              </a:tr>
              <a:tr h="428612">
                <a:tc>
                  <a:txBody>
                    <a:bodyPr/>
                    <a:lstStyle/>
                    <a:p>
                      <a:pPr algn="l"/>
                      <a:r>
                        <a:rPr lang="en-CA" sz="1800" dirty="0"/>
                        <a:t>DATE</a:t>
                      </a:r>
                    </a:p>
                  </a:txBody>
                  <a:tcPr marL="91447" marR="91447" marT="45704" marB="45704" anchor="ctr"/>
                </a:tc>
                <a:tc>
                  <a:txBody>
                    <a:bodyPr/>
                    <a:lstStyle/>
                    <a:p>
                      <a:pPr algn="ctr"/>
                      <a:r>
                        <a:rPr lang="en-CA" sz="1800" dirty="0"/>
                        <a:t>YES</a:t>
                      </a:r>
                    </a:p>
                  </a:txBody>
                  <a:tcPr marL="91447" marR="91447" marT="45704" marB="45704" anchor="ctr"/>
                </a:tc>
                <a:tc>
                  <a:txBody>
                    <a:bodyPr/>
                    <a:lstStyle/>
                    <a:p>
                      <a:r>
                        <a:rPr lang="en-CA" sz="1800" baseline="0" dirty="0"/>
                        <a:t>'</a:t>
                      </a:r>
                      <a:r>
                        <a:rPr lang="en-CA" sz="1800" dirty="0"/>
                        <a:t>1979-11-11</a:t>
                      </a:r>
                      <a:r>
                        <a:rPr lang="en-CA" sz="1800" baseline="0" dirty="0"/>
                        <a:t>'</a:t>
                      </a:r>
                      <a:endParaRPr lang="en-CA" sz="1800" dirty="0"/>
                    </a:p>
                  </a:txBody>
                  <a:tcPr marL="91447" marR="91447" marT="45704" marB="45704" anchor="ctr"/>
                </a:tc>
                <a:extLst>
                  <a:ext uri="{0D108BD9-81ED-4DB2-BD59-A6C34878D82A}">
                    <a16:rowId xmlns:a16="http://schemas.microsoft.com/office/drawing/2014/main" val="10006"/>
                  </a:ext>
                </a:extLst>
              </a:tr>
              <a:tr h="428612">
                <a:tc>
                  <a:txBody>
                    <a:bodyPr/>
                    <a:lstStyle/>
                    <a:p>
                      <a:pPr algn="l"/>
                      <a:r>
                        <a:rPr lang="en-CA" sz="1800" dirty="0"/>
                        <a:t>DATETIME</a:t>
                      </a:r>
                    </a:p>
                  </a:txBody>
                  <a:tcPr marL="91447" marR="91447" marT="45704" marB="45704" anchor="ctr"/>
                </a:tc>
                <a:tc>
                  <a:txBody>
                    <a:bodyPr/>
                    <a:lstStyle/>
                    <a:p>
                      <a:pPr algn="ctr"/>
                      <a:r>
                        <a:rPr lang="en-CA" sz="1800" dirty="0"/>
                        <a:t>YES</a:t>
                      </a:r>
                    </a:p>
                  </a:txBody>
                  <a:tcPr marL="91447" marR="91447" marT="45704" marB="45704" anchor="ctr"/>
                </a:tc>
                <a:tc>
                  <a:txBody>
                    <a:bodyPr/>
                    <a:lstStyle/>
                    <a:p>
                      <a:r>
                        <a:rPr lang="en-CA" sz="1800" baseline="0" dirty="0"/>
                        <a:t>'</a:t>
                      </a:r>
                      <a:r>
                        <a:rPr lang="en-CA" sz="1800" dirty="0"/>
                        <a:t>1979-11-11 20:08:30</a:t>
                      </a:r>
                      <a:r>
                        <a:rPr lang="en-CA" sz="1800" baseline="0" dirty="0"/>
                        <a:t>'</a:t>
                      </a:r>
                      <a:endParaRPr lang="en-CA" sz="1800" dirty="0"/>
                    </a:p>
                  </a:txBody>
                  <a:tcPr marL="91447" marR="91447" marT="45704" marB="45704" anchor="ctr"/>
                </a:tc>
                <a:extLst>
                  <a:ext uri="{0D108BD9-81ED-4DB2-BD59-A6C34878D82A}">
                    <a16:rowId xmlns:a16="http://schemas.microsoft.com/office/drawing/2014/main" val="10007"/>
                  </a:ext>
                </a:extLst>
              </a:tr>
            </a:tbl>
          </a:graphicData>
        </a:graphic>
      </p:graphicFrame>
      <p:sp>
        <p:nvSpPr>
          <p:cNvPr id="15" name="Snip Single Corner Rectangle 14">
            <a:extLst>
              <a:ext uri="{FF2B5EF4-FFF2-40B4-BE49-F238E27FC236}">
                <a16:creationId xmlns:a16="http://schemas.microsoft.com/office/drawing/2014/main" id="{F877BC4F-196C-B5EB-AC32-7C06473E7290}"/>
              </a:ext>
            </a:extLst>
          </p:cNvPr>
          <p:cNvSpPr/>
          <p:nvPr/>
        </p:nvSpPr>
        <p:spPr>
          <a:xfrm>
            <a:off x="-36513" y="1350963"/>
            <a:ext cx="1079501" cy="401637"/>
          </a:xfrm>
          <a:prstGeom prst="snip1Rect">
            <a:avLst/>
          </a:prstGeom>
          <a:solidFill>
            <a:srgbClr val="7F7B00">
              <a:alpha val="70000"/>
            </a:srgbClr>
          </a:solidFill>
          <a:ln>
            <a:solidFill>
              <a:srgbClr val="7F7B00"/>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indent="-342900" algn="just" eaLnBrk="1" hangingPunct="1">
              <a:spcBef>
                <a:spcPct val="20000"/>
              </a:spcBef>
              <a:buClr>
                <a:srgbClr val="FF6600"/>
              </a:buClr>
              <a:buSzPct val="100000"/>
              <a:defRPr/>
            </a:pPr>
            <a:r>
              <a:rPr lang="en-US" dirty="0">
                <a:latin typeface="Arial" pitchFamily="34" charset="0"/>
                <a:ea typeface="Times New Roman" pitchFamily="18" charset="0"/>
                <a:cs typeface="Arial" pitchFamily="34" charset="0"/>
              </a:rPr>
              <a:t>INSERT</a:t>
            </a:r>
            <a:endParaRPr lang="en-GB" kern="0" dirty="0">
              <a:solidFill>
                <a:schemeClr val="tx1"/>
              </a:solidFill>
            </a:endParaRPr>
          </a:p>
        </p:txBody>
      </p:sp>
      <p:grpSp>
        <p:nvGrpSpPr>
          <p:cNvPr id="4" name="Group 5">
            <a:extLst>
              <a:ext uri="{FF2B5EF4-FFF2-40B4-BE49-F238E27FC236}">
                <a16:creationId xmlns:a16="http://schemas.microsoft.com/office/drawing/2014/main" id="{B7493C9A-9E00-4C0A-293B-23AA021EAFAE}"/>
              </a:ext>
            </a:extLst>
          </p:cNvPr>
          <p:cNvGrpSpPr>
            <a:grpSpLocks/>
          </p:cNvGrpSpPr>
          <p:nvPr/>
        </p:nvGrpSpPr>
        <p:grpSpPr bwMode="auto">
          <a:xfrm>
            <a:off x="6383338" y="4581525"/>
            <a:ext cx="2052637" cy="863600"/>
            <a:chOff x="6588349" y="4149080"/>
            <a:chExt cx="2051697" cy="864096"/>
          </a:xfrm>
        </p:grpSpPr>
        <p:sp>
          <p:nvSpPr>
            <p:cNvPr id="29730" name="Right Brace 3">
              <a:extLst>
                <a:ext uri="{FF2B5EF4-FFF2-40B4-BE49-F238E27FC236}">
                  <a16:creationId xmlns:a16="http://schemas.microsoft.com/office/drawing/2014/main" id="{F7EE6E95-465C-A1FB-D40E-78F18C284C9C}"/>
                </a:ext>
              </a:extLst>
            </p:cNvPr>
            <p:cNvSpPr>
              <a:spLocks/>
            </p:cNvSpPr>
            <p:nvPr/>
          </p:nvSpPr>
          <p:spPr bwMode="auto">
            <a:xfrm>
              <a:off x="6588349" y="4149080"/>
              <a:ext cx="216024" cy="864096"/>
            </a:xfrm>
            <a:prstGeom prst="rightBrace">
              <a:avLst>
                <a:gd name="adj1" fmla="val 8333"/>
                <a:gd name="adj2" fmla="val 50000"/>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endParaRPr lang="en-CA" altLang="en-US"/>
            </a:p>
          </p:txBody>
        </p:sp>
        <p:sp>
          <p:nvSpPr>
            <p:cNvPr id="29731" name="TextBox 4">
              <a:extLst>
                <a:ext uri="{FF2B5EF4-FFF2-40B4-BE49-F238E27FC236}">
                  <a16:creationId xmlns:a16="http://schemas.microsoft.com/office/drawing/2014/main" id="{97AC96BD-5029-6B80-61FB-77EA6B144F6F}"/>
                </a:ext>
              </a:extLst>
            </p:cNvPr>
            <p:cNvSpPr txBox="1">
              <a:spLocks noChangeArrowheads="1"/>
            </p:cNvSpPr>
            <p:nvPr/>
          </p:nvSpPr>
          <p:spPr bwMode="auto">
            <a:xfrm>
              <a:off x="6870844" y="4257962"/>
              <a:ext cx="176920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CA" altLang="en-US"/>
                <a:t>No need to quote numbers</a:t>
              </a:r>
            </a:p>
          </p:txBody>
        </p:sp>
      </p:gr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Effect transition="in" filter="wipe(up)">
                                      <p:cBhvr>
                                        <p:cTn id="7" dur="500"/>
                                        <p:tgtEl>
                                          <p:spTgt spid="2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up)">
                                      <p:cBhvr>
                                        <p:cTn id="12" dur="500"/>
                                        <p:tgtEl>
                                          <p:spTgt spid="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ppt_x"/>
                                          </p:val>
                                        </p:tav>
                                        <p:tav tm="100000">
                                          <p:val>
                                            <p:strVal val="#ppt_x"/>
                                          </p:val>
                                        </p:tav>
                                      </p:tavLst>
                                    </p:anim>
                                    <p:anim calcmode="lin" valueType="num">
                                      <p:cBhvr additive="base">
                                        <p:cTn id="1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17C87C-9303-CB8A-52E7-CC86B37941CD}"/>
              </a:ext>
            </a:extLst>
          </p:cNvPr>
          <p:cNvSpPr>
            <a:spLocks noGrp="1"/>
          </p:cNvSpPr>
          <p:nvPr>
            <p:ph type="title"/>
          </p:nvPr>
        </p:nvSpPr>
        <p:spPr>
          <a:xfrm>
            <a:off x="457200" y="0"/>
            <a:ext cx="7620000" cy="1143000"/>
          </a:xfrm>
        </p:spPr>
        <p:txBody>
          <a:bodyPr/>
          <a:lstStyle/>
          <a:p>
            <a:pPr>
              <a:defRPr/>
            </a:pPr>
            <a:r>
              <a:rPr lang="en-US" dirty="0"/>
              <a:t>Manipulating Data Using SQL</a:t>
            </a:r>
            <a:endParaRPr lang="en-MY" dirty="0"/>
          </a:p>
        </p:txBody>
      </p:sp>
      <p:sp>
        <p:nvSpPr>
          <p:cNvPr id="20" name="Content Placeholder 2">
            <a:extLst>
              <a:ext uri="{FF2B5EF4-FFF2-40B4-BE49-F238E27FC236}">
                <a16:creationId xmlns:a16="http://schemas.microsoft.com/office/drawing/2014/main" id="{633F0745-F8AF-8639-9D68-614A884C428C}"/>
              </a:ext>
            </a:extLst>
          </p:cNvPr>
          <p:cNvSpPr txBox="1">
            <a:spLocks/>
          </p:cNvSpPr>
          <p:nvPr/>
        </p:nvSpPr>
        <p:spPr bwMode="auto">
          <a:xfrm>
            <a:off x="250825" y="1773238"/>
            <a:ext cx="7978775"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rgbClr val="FF6600"/>
              </a:buClr>
              <a:buFont typeface="Wingdings 3" panose="05040102010807070707" pitchFamily="18" charset="2"/>
              <a:buNone/>
            </a:pPr>
            <a:r>
              <a:rPr lang="en-CA" altLang="en-US" sz="2800">
                <a:latin typeface="Calibri" panose="020F0502020204030204" pitchFamily="34" charset="0"/>
              </a:rPr>
              <a:t>If the data to be added is only for some (i.e. not all) of the table columns, the SQL syntax is</a:t>
            </a:r>
          </a:p>
          <a:p>
            <a:pPr algn="just" eaLnBrk="1" hangingPunct="1">
              <a:spcBef>
                <a:spcPct val="20000"/>
              </a:spcBef>
              <a:buClr>
                <a:srgbClr val="FF6600"/>
              </a:buClr>
              <a:buFont typeface="Wingdings 3" panose="05040102010807070707" pitchFamily="18" charset="2"/>
              <a:buNone/>
            </a:pPr>
            <a:endParaRPr lang="en-CA"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14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r>
              <a:rPr lang="en-CA" altLang="en-US" sz="2800">
                <a:latin typeface="Calibri" panose="020F0502020204030204" pitchFamily="34" charset="0"/>
              </a:rPr>
              <a:t>For example, to insert into columns ISBN and Title</a:t>
            </a:r>
          </a:p>
          <a:p>
            <a:pPr algn="just" eaLnBrk="1" hangingPunct="1">
              <a:spcBef>
                <a:spcPct val="20000"/>
              </a:spcBef>
              <a:buClr>
                <a:srgbClr val="FF6600"/>
              </a:buClr>
              <a:buFont typeface="Wingdings 3" panose="05040102010807070707" pitchFamily="18" charset="2"/>
              <a:buNone/>
            </a:pPr>
            <a:endParaRPr lang="en-CA"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2800">
              <a:latin typeface="Calibri" panose="020F0502020204030204" pitchFamily="34" charset="0"/>
            </a:endParaRPr>
          </a:p>
        </p:txBody>
      </p:sp>
      <p:sp>
        <p:nvSpPr>
          <p:cNvPr id="15" name="Rounded Rectangle 14">
            <a:extLst>
              <a:ext uri="{FF2B5EF4-FFF2-40B4-BE49-F238E27FC236}">
                <a16:creationId xmlns:a16="http://schemas.microsoft.com/office/drawing/2014/main" id="{E8698AAD-16F4-33DA-4AF5-49DCFE24F3F1}"/>
              </a:ext>
            </a:extLst>
          </p:cNvPr>
          <p:cNvSpPr>
            <a:spLocks noChangeArrowheads="1"/>
          </p:cNvSpPr>
          <p:nvPr/>
        </p:nvSpPr>
        <p:spPr bwMode="auto">
          <a:xfrm>
            <a:off x="168275" y="2781300"/>
            <a:ext cx="8061325" cy="1295400"/>
          </a:xfrm>
          <a:prstGeom prst="roundRect">
            <a:avLst>
              <a:gd name="adj" fmla="val 16667"/>
            </a:avLst>
          </a:prstGeom>
          <a:solidFill>
            <a:srgbClr val="7F7B00">
              <a:alpha val="30196"/>
            </a:srgbClr>
          </a:solidFill>
          <a:ln w="9525" algn="ctr">
            <a:solidFill>
              <a:srgbClr val="7F7B00"/>
            </a:solidFill>
            <a:round/>
            <a:headEnd/>
            <a:tailEnd/>
          </a:ln>
        </p:spPr>
        <p:txBody>
          <a:bodyPr anchor="ctr" anchorCtr="1"/>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CA" altLang="en-US" sz="2800"/>
              <a:t>INSERT INTO &lt;table_name&gt;(&lt;column_name&gt;, &lt;column_name&gt;…) VALUES(&lt;data_value&gt;, &lt;data_value&gt;…);</a:t>
            </a:r>
          </a:p>
        </p:txBody>
      </p:sp>
      <p:sp>
        <p:nvSpPr>
          <p:cNvPr id="16" name="Rounded Rectangle 15">
            <a:extLst>
              <a:ext uri="{FF2B5EF4-FFF2-40B4-BE49-F238E27FC236}">
                <a16:creationId xmlns:a16="http://schemas.microsoft.com/office/drawing/2014/main" id="{3705AC55-E150-4EA4-67F5-CB9BD5527D5A}"/>
              </a:ext>
            </a:extLst>
          </p:cNvPr>
          <p:cNvSpPr/>
          <p:nvPr/>
        </p:nvSpPr>
        <p:spPr bwMode="auto">
          <a:xfrm>
            <a:off x="669925" y="5095875"/>
            <a:ext cx="7059613" cy="971550"/>
          </a:xfrm>
          <a:prstGeom prst="roundRect">
            <a:avLst/>
          </a:prstGeom>
          <a:solidFill>
            <a:schemeClr val="accent6">
              <a:alpha val="30000"/>
            </a:schemeClr>
          </a:solidFill>
          <a:ln w="9525" cap="flat" cmpd="sng" algn="ctr">
            <a:solidFill>
              <a:schemeClr val="accent6"/>
            </a:solidFill>
            <a:prstDash val="solid"/>
            <a:round/>
            <a:headEnd type="none" w="med" len="med"/>
            <a:tailEnd type="none" w="med" len="med"/>
          </a:ln>
          <a:effectLst/>
        </p:spPr>
        <p:txBody>
          <a:bodyPr anchor="ctr" anchorCtr="1"/>
          <a:lstStyle/>
          <a:p>
            <a:pPr>
              <a:defRPr/>
            </a:pPr>
            <a:r>
              <a:rPr lang="en-CA" sz="2800" dirty="0"/>
              <a:t>INSERT INTO Book(ISBN, Title) VALUES(123, 'The Hunger Game');</a:t>
            </a:r>
          </a:p>
        </p:txBody>
      </p:sp>
      <p:sp>
        <p:nvSpPr>
          <p:cNvPr id="13" name="Snip Single Corner Rectangle 12">
            <a:extLst>
              <a:ext uri="{FF2B5EF4-FFF2-40B4-BE49-F238E27FC236}">
                <a16:creationId xmlns:a16="http://schemas.microsoft.com/office/drawing/2014/main" id="{6033AD84-5FE3-FD27-B60E-05B5CC46589B}"/>
              </a:ext>
            </a:extLst>
          </p:cNvPr>
          <p:cNvSpPr/>
          <p:nvPr/>
        </p:nvSpPr>
        <p:spPr>
          <a:xfrm>
            <a:off x="-36513" y="1350963"/>
            <a:ext cx="1079501" cy="401637"/>
          </a:xfrm>
          <a:prstGeom prst="snip1Rect">
            <a:avLst/>
          </a:prstGeom>
          <a:solidFill>
            <a:srgbClr val="7F7B00">
              <a:alpha val="70000"/>
            </a:srgbClr>
          </a:solidFill>
          <a:ln>
            <a:solidFill>
              <a:srgbClr val="7F7B00"/>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indent="-342900" algn="just" eaLnBrk="1" hangingPunct="1">
              <a:spcBef>
                <a:spcPct val="20000"/>
              </a:spcBef>
              <a:buClr>
                <a:srgbClr val="FF6600"/>
              </a:buClr>
              <a:buSzPct val="100000"/>
              <a:defRPr/>
            </a:pPr>
            <a:r>
              <a:rPr lang="en-US" dirty="0">
                <a:latin typeface="Arial" pitchFamily="34" charset="0"/>
                <a:ea typeface="Times New Roman" pitchFamily="18" charset="0"/>
                <a:cs typeface="Arial" pitchFamily="34" charset="0"/>
              </a:rPr>
              <a:t>INSERT</a:t>
            </a:r>
            <a:endParaRPr lang="en-GB" kern="0" dirty="0">
              <a:solidFill>
                <a:schemeClr val="tx1"/>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Effect transition="in" filter="wipe(up)">
                                      <p:cBhvr>
                                        <p:cTn id="7" dur="500"/>
                                        <p:tgtEl>
                                          <p:spTgt spid="20">
                                            <p:txEl>
                                              <p:pRg st="0" end="0"/>
                                            </p:txEl>
                                          </p:spTgt>
                                        </p:tgtEl>
                                      </p:cBhvr>
                                    </p:animEffect>
                                  </p:childTnLst>
                                </p:cTn>
                              </p:par>
                            </p:childTnLst>
                          </p:cTn>
                        </p:par>
                        <p:par>
                          <p:cTn id="8" fill="hold" nodeType="afterGroup">
                            <p:stCondLst>
                              <p:cond delay="500"/>
                            </p:stCondLst>
                            <p:childTnLst>
                              <p:par>
                                <p:cTn id="9" presetID="16" presetClass="entr" presetSubtype="21" fill="hold" grpId="0"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barn(inVertical)">
                                      <p:cBhvr>
                                        <p:cTn id="11" dur="500"/>
                                        <p:tgtEl>
                                          <p:spTgt spid="15"/>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20">
                                            <p:txEl>
                                              <p:pRg st="5" end="5"/>
                                            </p:txEl>
                                          </p:spTgt>
                                        </p:tgtEl>
                                        <p:attrNameLst>
                                          <p:attrName>style.visibility</p:attrName>
                                        </p:attrNameLst>
                                      </p:cBhvr>
                                      <p:to>
                                        <p:strVal val="visible"/>
                                      </p:to>
                                    </p:set>
                                    <p:animEffect transition="in" filter="wipe(up)">
                                      <p:cBhvr>
                                        <p:cTn id="16" dur="500"/>
                                        <p:tgtEl>
                                          <p:spTgt spid="20">
                                            <p:txEl>
                                              <p:pRg st="5" end="5"/>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6" presetClass="entr" presetSubtype="21"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barn(inVertical)">
                                      <p:cBhvr>
                                        <p:cTn id="21"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C22A38-6821-9032-4FE4-3EA593116993}"/>
              </a:ext>
            </a:extLst>
          </p:cNvPr>
          <p:cNvSpPr>
            <a:spLocks noGrp="1"/>
          </p:cNvSpPr>
          <p:nvPr>
            <p:ph type="title"/>
          </p:nvPr>
        </p:nvSpPr>
        <p:spPr>
          <a:xfrm>
            <a:off x="457200" y="0"/>
            <a:ext cx="7620000" cy="1143000"/>
          </a:xfrm>
        </p:spPr>
        <p:txBody>
          <a:bodyPr/>
          <a:lstStyle/>
          <a:p>
            <a:pPr>
              <a:defRPr/>
            </a:pPr>
            <a:r>
              <a:rPr lang="en-US" dirty="0"/>
              <a:t>Manipulating Data Using SQL</a:t>
            </a:r>
            <a:endParaRPr lang="en-MY" dirty="0"/>
          </a:p>
        </p:txBody>
      </p:sp>
      <p:sp>
        <p:nvSpPr>
          <p:cNvPr id="14" name="Snip Single Corner Rectangle 13">
            <a:extLst>
              <a:ext uri="{FF2B5EF4-FFF2-40B4-BE49-F238E27FC236}">
                <a16:creationId xmlns:a16="http://schemas.microsoft.com/office/drawing/2014/main" id="{E6152EB5-BEC6-EC99-954F-B171C559FCBF}"/>
              </a:ext>
            </a:extLst>
          </p:cNvPr>
          <p:cNvSpPr/>
          <p:nvPr/>
        </p:nvSpPr>
        <p:spPr>
          <a:xfrm>
            <a:off x="-36513" y="1125538"/>
            <a:ext cx="1152526" cy="400050"/>
          </a:xfrm>
          <a:prstGeom prst="snip1Rect">
            <a:avLst/>
          </a:prstGeom>
          <a:solidFill>
            <a:srgbClr val="120B7C">
              <a:alpha val="70000"/>
            </a:srgbClr>
          </a:solidFill>
          <a:ln>
            <a:solidFill>
              <a:srgbClr val="120B7C"/>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indent="-342900" algn="just" eaLnBrk="1" hangingPunct="1">
              <a:spcBef>
                <a:spcPct val="20000"/>
              </a:spcBef>
              <a:buClr>
                <a:srgbClr val="FF6600"/>
              </a:buClr>
              <a:buSzPct val="100000"/>
              <a:defRPr/>
            </a:pPr>
            <a:r>
              <a:rPr lang="en-US" dirty="0">
                <a:latin typeface="Arial" pitchFamily="34" charset="0"/>
                <a:ea typeface="Times New Roman" pitchFamily="18" charset="0"/>
                <a:cs typeface="Arial" pitchFamily="34" charset="0"/>
              </a:rPr>
              <a:t>SELECT</a:t>
            </a:r>
            <a:endParaRPr lang="en-GB" kern="0" dirty="0">
              <a:solidFill>
                <a:schemeClr val="tx1"/>
              </a:solidFill>
            </a:endParaRPr>
          </a:p>
        </p:txBody>
      </p:sp>
      <p:sp>
        <p:nvSpPr>
          <p:cNvPr id="20" name="Content Placeholder 2">
            <a:extLst>
              <a:ext uri="{FF2B5EF4-FFF2-40B4-BE49-F238E27FC236}">
                <a16:creationId xmlns:a16="http://schemas.microsoft.com/office/drawing/2014/main" id="{F5C71426-493A-1A0D-37C8-8057E4659412}"/>
              </a:ext>
            </a:extLst>
          </p:cNvPr>
          <p:cNvSpPr txBox="1">
            <a:spLocks/>
          </p:cNvSpPr>
          <p:nvPr/>
        </p:nvSpPr>
        <p:spPr bwMode="auto">
          <a:xfrm>
            <a:off x="250825" y="1773238"/>
            <a:ext cx="7902575"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rgbClr val="FF6600"/>
              </a:buClr>
              <a:buFont typeface="Wingdings 3" panose="05040102010807070707" pitchFamily="18" charset="2"/>
              <a:buNone/>
            </a:pPr>
            <a:r>
              <a:rPr lang="en-CA" altLang="en-US" sz="2800">
                <a:latin typeface="Calibri" panose="020F0502020204030204" pitchFamily="34" charset="0"/>
              </a:rPr>
              <a:t>To display all the data in a table, the SQL syntax is:</a:t>
            </a:r>
          </a:p>
          <a:p>
            <a:pPr algn="just" eaLnBrk="1" hangingPunct="1">
              <a:spcBef>
                <a:spcPct val="20000"/>
              </a:spcBef>
              <a:buClr>
                <a:srgbClr val="FF6600"/>
              </a:buClr>
              <a:buFont typeface="Wingdings 3" panose="05040102010807070707" pitchFamily="18" charset="2"/>
              <a:buNone/>
            </a:pPr>
            <a:endParaRPr lang="en-CA"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r>
              <a:rPr lang="en-CA" altLang="en-US" sz="2800">
                <a:latin typeface="Calibri" panose="020F0502020204030204" pitchFamily="34" charset="0"/>
              </a:rPr>
              <a:t>For example, to display all the books in the “Book” table</a:t>
            </a:r>
          </a:p>
        </p:txBody>
      </p:sp>
      <p:sp>
        <p:nvSpPr>
          <p:cNvPr id="19" name="Rounded Rectangle 18">
            <a:extLst>
              <a:ext uri="{FF2B5EF4-FFF2-40B4-BE49-F238E27FC236}">
                <a16:creationId xmlns:a16="http://schemas.microsoft.com/office/drawing/2014/main" id="{F7C61027-9F3E-CEFD-D896-C041BFF793A5}"/>
              </a:ext>
            </a:extLst>
          </p:cNvPr>
          <p:cNvSpPr>
            <a:spLocks noChangeArrowheads="1"/>
          </p:cNvSpPr>
          <p:nvPr/>
        </p:nvSpPr>
        <p:spPr bwMode="auto">
          <a:xfrm>
            <a:off x="685800" y="2420938"/>
            <a:ext cx="7007225" cy="720725"/>
          </a:xfrm>
          <a:prstGeom prst="roundRect">
            <a:avLst>
              <a:gd name="adj" fmla="val 16667"/>
            </a:avLst>
          </a:prstGeom>
          <a:solidFill>
            <a:srgbClr val="7F7B00">
              <a:alpha val="30196"/>
            </a:srgbClr>
          </a:solidFill>
          <a:ln w="9525" algn="ctr">
            <a:solidFill>
              <a:srgbClr val="7F7B00"/>
            </a:solidFill>
            <a:round/>
            <a:headEnd/>
            <a:tailEnd/>
          </a:ln>
        </p:spPr>
        <p:txBody>
          <a:bodyPr anchor="ctr" anchorCtr="1"/>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CA" altLang="en-US" sz="2800"/>
              <a:t>SELECT * FROM &lt;table_name&gt;;</a:t>
            </a:r>
          </a:p>
        </p:txBody>
      </p:sp>
      <p:sp>
        <p:nvSpPr>
          <p:cNvPr id="21" name="Rounded Rectangle 20">
            <a:extLst>
              <a:ext uri="{FF2B5EF4-FFF2-40B4-BE49-F238E27FC236}">
                <a16:creationId xmlns:a16="http://schemas.microsoft.com/office/drawing/2014/main" id="{EB269655-35DA-6B6B-911E-FEC74D3C9E09}"/>
              </a:ext>
            </a:extLst>
          </p:cNvPr>
          <p:cNvSpPr/>
          <p:nvPr/>
        </p:nvSpPr>
        <p:spPr bwMode="auto">
          <a:xfrm>
            <a:off x="685800" y="4797425"/>
            <a:ext cx="7007225" cy="719138"/>
          </a:xfrm>
          <a:prstGeom prst="roundRect">
            <a:avLst/>
          </a:prstGeom>
          <a:solidFill>
            <a:schemeClr val="accent6">
              <a:alpha val="30000"/>
            </a:schemeClr>
          </a:solidFill>
          <a:ln w="9525" cap="flat" cmpd="sng" algn="ctr">
            <a:solidFill>
              <a:schemeClr val="accent6"/>
            </a:solidFill>
            <a:prstDash val="solid"/>
            <a:round/>
            <a:headEnd type="none" w="med" len="med"/>
            <a:tailEnd type="none" w="med" len="med"/>
          </a:ln>
          <a:effectLst/>
        </p:spPr>
        <p:txBody>
          <a:bodyPr anchor="ctr" anchorCtr="1"/>
          <a:lstStyle/>
          <a:p>
            <a:pPr>
              <a:defRPr/>
            </a:pPr>
            <a:r>
              <a:rPr lang="en-CA" sz="2800" dirty="0"/>
              <a:t>SELECT * FROM Book;</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20">
                                            <p:txEl>
                                              <p:pRg st="0" end="0"/>
                                            </p:txEl>
                                          </p:spTgt>
                                        </p:tgtEl>
                                        <p:attrNameLst>
                                          <p:attrName>style.visibility</p:attrName>
                                        </p:attrNameLst>
                                      </p:cBhvr>
                                      <p:to>
                                        <p:strVal val="visible"/>
                                      </p:to>
                                    </p:set>
                                    <p:animEffect transition="in" filter="wipe(up)">
                                      <p:cBhvr>
                                        <p:cTn id="11" dur="500"/>
                                        <p:tgtEl>
                                          <p:spTgt spid="20">
                                            <p:txEl>
                                              <p:pRg st="0" end="0"/>
                                            </p:txEl>
                                          </p:spTgt>
                                        </p:tgtEl>
                                      </p:cBhvr>
                                    </p:animEffect>
                                  </p:childTnLst>
                                </p:cTn>
                              </p:par>
                            </p:childTnLst>
                          </p:cTn>
                        </p:par>
                        <p:par>
                          <p:cTn id="12" fill="hold" nodeType="afterGroup">
                            <p:stCondLst>
                              <p:cond delay="1000"/>
                            </p:stCondLst>
                            <p:childTnLst>
                              <p:par>
                                <p:cTn id="13" presetID="16" presetClass="entr" presetSubtype="21" fill="hold" grpId="0" nodeType="after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barn(inVertical)">
                                      <p:cBhvr>
                                        <p:cTn id="15" dur="500"/>
                                        <p:tgtEl>
                                          <p:spTgt spid="19"/>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1" fill="hold" nodeType="clickEffect">
                                  <p:stCondLst>
                                    <p:cond delay="0"/>
                                  </p:stCondLst>
                                  <p:childTnLst>
                                    <p:set>
                                      <p:cBhvr>
                                        <p:cTn id="19" dur="1" fill="hold">
                                          <p:stCondLst>
                                            <p:cond delay="0"/>
                                          </p:stCondLst>
                                        </p:cTn>
                                        <p:tgtEl>
                                          <p:spTgt spid="20">
                                            <p:txEl>
                                              <p:pRg st="4" end="4"/>
                                            </p:txEl>
                                          </p:spTgt>
                                        </p:tgtEl>
                                        <p:attrNameLst>
                                          <p:attrName>style.visibility</p:attrName>
                                        </p:attrNameLst>
                                      </p:cBhvr>
                                      <p:to>
                                        <p:strVal val="visible"/>
                                      </p:to>
                                    </p:set>
                                    <p:animEffect transition="in" filter="wipe(up)">
                                      <p:cBhvr>
                                        <p:cTn id="20" dur="500"/>
                                        <p:tgtEl>
                                          <p:spTgt spid="20">
                                            <p:txEl>
                                              <p:pRg st="4" end="4"/>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6" presetClass="entr" presetSubtype="21" fill="hold" grpId="0" nodeType="click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barn(inVertical)">
                                      <p:cBhvr>
                                        <p:cTn id="25"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9" grpId="0" animBg="1"/>
      <p:bldP spid="21"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F7594-9160-3A31-9896-DF432B083F26}"/>
              </a:ext>
            </a:extLst>
          </p:cNvPr>
          <p:cNvSpPr>
            <a:spLocks noGrp="1"/>
          </p:cNvSpPr>
          <p:nvPr>
            <p:ph type="title"/>
          </p:nvPr>
        </p:nvSpPr>
        <p:spPr>
          <a:xfrm>
            <a:off x="457200" y="0"/>
            <a:ext cx="7620000" cy="1143000"/>
          </a:xfrm>
        </p:spPr>
        <p:txBody>
          <a:bodyPr/>
          <a:lstStyle/>
          <a:p>
            <a:pPr>
              <a:defRPr/>
            </a:pPr>
            <a:r>
              <a:rPr lang="en-US" dirty="0"/>
              <a:t>Manipulating Data Using SQL</a:t>
            </a:r>
            <a:endParaRPr lang="en-MY" dirty="0"/>
          </a:p>
        </p:txBody>
      </p:sp>
      <p:sp>
        <p:nvSpPr>
          <p:cNvPr id="14" name="Snip Single Corner Rectangle 13">
            <a:extLst>
              <a:ext uri="{FF2B5EF4-FFF2-40B4-BE49-F238E27FC236}">
                <a16:creationId xmlns:a16="http://schemas.microsoft.com/office/drawing/2014/main" id="{2573D198-09B8-B713-A50D-76F70F17DCE7}"/>
              </a:ext>
            </a:extLst>
          </p:cNvPr>
          <p:cNvSpPr/>
          <p:nvPr/>
        </p:nvSpPr>
        <p:spPr>
          <a:xfrm>
            <a:off x="-36513" y="1350963"/>
            <a:ext cx="1152526" cy="401637"/>
          </a:xfrm>
          <a:prstGeom prst="snip1Rect">
            <a:avLst/>
          </a:prstGeom>
          <a:solidFill>
            <a:srgbClr val="120B7C">
              <a:alpha val="70000"/>
            </a:srgbClr>
          </a:solidFill>
          <a:ln>
            <a:solidFill>
              <a:srgbClr val="120B7C"/>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indent="-342900" algn="just" eaLnBrk="1" hangingPunct="1">
              <a:spcBef>
                <a:spcPct val="20000"/>
              </a:spcBef>
              <a:buClr>
                <a:srgbClr val="FF6600"/>
              </a:buClr>
              <a:buSzPct val="100000"/>
              <a:defRPr/>
            </a:pPr>
            <a:r>
              <a:rPr lang="en-US" dirty="0">
                <a:latin typeface="Arial" pitchFamily="34" charset="0"/>
                <a:ea typeface="Times New Roman" pitchFamily="18" charset="0"/>
                <a:cs typeface="Arial" pitchFamily="34" charset="0"/>
              </a:rPr>
              <a:t>SELECT</a:t>
            </a:r>
            <a:endParaRPr lang="en-GB" kern="0" dirty="0">
              <a:solidFill>
                <a:schemeClr val="tx1"/>
              </a:solidFill>
            </a:endParaRPr>
          </a:p>
        </p:txBody>
      </p:sp>
      <p:sp>
        <p:nvSpPr>
          <p:cNvPr id="20" name="Content Placeholder 2">
            <a:extLst>
              <a:ext uri="{FF2B5EF4-FFF2-40B4-BE49-F238E27FC236}">
                <a16:creationId xmlns:a16="http://schemas.microsoft.com/office/drawing/2014/main" id="{4E3D4019-BD3E-2E00-240D-78A6CE9CB37E}"/>
              </a:ext>
            </a:extLst>
          </p:cNvPr>
          <p:cNvSpPr txBox="1">
            <a:spLocks/>
          </p:cNvSpPr>
          <p:nvPr/>
        </p:nvSpPr>
        <p:spPr bwMode="auto">
          <a:xfrm>
            <a:off x="250825" y="1773238"/>
            <a:ext cx="7978775"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rgbClr val="FF6600"/>
              </a:buClr>
              <a:buFont typeface="Wingdings 3" panose="05040102010807070707" pitchFamily="18" charset="2"/>
              <a:buNone/>
            </a:pPr>
            <a:r>
              <a:rPr lang="en-CA" altLang="en-US" sz="2800">
                <a:latin typeface="Calibri" panose="020F0502020204030204" pitchFamily="34" charset="0"/>
              </a:rPr>
              <a:t>To display only certain columns of a table, the SQL syntax is:</a:t>
            </a:r>
          </a:p>
          <a:p>
            <a:pPr algn="just" eaLnBrk="1" hangingPunct="1">
              <a:spcBef>
                <a:spcPct val="20000"/>
              </a:spcBef>
              <a:buClr>
                <a:srgbClr val="FF6600"/>
              </a:buClr>
              <a:buFont typeface="Wingdings 3" panose="05040102010807070707" pitchFamily="18" charset="2"/>
              <a:buNone/>
            </a:pPr>
            <a:endParaRPr lang="en-CA"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24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r>
              <a:rPr lang="en-CA" altLang="en-US" sz="2800">
                <a:latin typeface="Calibri" panose="020F0502020204030204" pitchFamily="34" charset="0"/>
              </a:rPr>
              <a:t>For example, to display only the columns “ISBN” and “Title” of the “Book” table</a:t>
            </a:r>
          </a:p>
        </p:txBody>
      </p:sp>
      <p:sp>
        <p:nvSpPr>
          <p:cNvPr id="19" name="Rounded Rectangle 18">
            <a:extLst>
              <a:ext uri="{FF2B5EF4-FFF2-40B4-BE49-F238E27FC236}">
                <a16:creationId xmlns:a16="http://schemas.microsoft.com/office/drawing/2014/main" id="{8B9ED3EE-FB2B-9BEA-E36E-7B43D0C7D9EA}"/>
              </a:ext>
            </a:extLst>
          </p:cNvPr>
          <p:cNvSpPr>
            <a:spLocks noChangeArrowheads="1"/>
          </p:cNvSpPr>
          <p:nvPr/>
        </p:nvSpPr>
        <p:spPr bwMode="auto">
          <a:xfrm>
            <a:off x="685800" y="2749550"/>
            <a:ext cx="7007225" cy="1008063"/>
          </a:xfrm>
          <a:prstGeom prst="roundRect">
            <a:avLst>
              <a:gd name="adj" fmla="val 16667"/>
            </a:avLst>
          </a:prstGeom>
          <a:solidFill>
            <a:srgbClr val="7F7B00">
              <a:alpha val="30196"/>
            </a:srgbClr>
          </a:solidFill>
          <a:ln w="9525" algn="ctr">
            <a:solidFill>
              <a:srgbClr val="7F7B00"/>
            </a:solidFill>
            <a:round/>
            <a:headEnd/>
            <a:tailEnd/>
          </a:ln>
        </p:spPr>
        <p:txBody>
          <a:bodyPr anchor="ctr" anchorCtr="1"/>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CA" altLang="en-US" sz="2800"/>
              <a:t>SELECT &lt;column_name&gt;, &lt;column_name&gt;… FROM &lt;table_name&gt;;</a:t>
            </a:r>
          </a:p>
        </p:txBody>
      </p:sp>
      <p:sp>
        <p:nvSpPr>
          <p:cNvPr id="21" name="Rounded Rectangle 20">
            <a:extLst>
              <a:ext uri="{FF2B5EF4-FFF2-40B4-BE49-F238E27FC236}">
                <a16:creationId xmlns:a16="http://schemas.microsoft.com/office/drawing/2014/main" id="{DFA91913-84ED-27BE-7EAD-C8310B0836AD}"/>
              </a:ext>
            </a:extLst>
          </p:cNvPr>
          <p:cNvSpPr/>
          <p:nvPr/>
        </p:nvSpPr>
        <p:spPr bwMode="auto">
          <a:xfrm>
            <a:off x="685800" y="5157788"/>
            <a:ext cx="7007225" cy="719137"/>
          </a:xfrm>
          <a:prstGeom prst="roundRect">
            <a:avLst/>
          </a:prstGeom>
          <a:solidFill>
            <a:schemeClr val="accent6">
              <a:alpha val="30000"/>
            </a:schemeClr>
          </a:solidFill>
          <a:ln w="9525" cap="flat" cmpd="sng" algn="ctr">
            <a:solidFill>
              <a:schemeClr val="accent6"/>
            </a:solidFill>
            <a:prstDash val="solid"/>
            <a:round/>
            <a:headEnd type="none" w="med" len="med"/>
            <a:tailEnd type="none" w="med" len="med"/>
          </a:ln>
          <a:effectLst/>
        </p:spPr>
        <p:txBody>
          <a:bodyPr anchor="ctr" anchorCtr="1"/>
          <a:lstStyle/>
          <a:p>
            <a:pPr>
              <a:defRPr/>
            </a:pPr>
            <a:r>
              <a:rPr lang="en-CA" sz="2800" dirty="0"/>
              <a:t>SELECT ISBN, Title FROM Book;</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Effect transition="in" filter="wipe(up)">
                                      <p:cBhvr>
                                        <p:cTn id="7" dur="500"/>
                                        <p:tgtEl>
                                          <p:spTgt spid="20">
                                            <p:txEl>
                                              <p:pRg st="0" end="0"/>
                                            </p:txEl>
                                          </p:spTgt>
                                        </p:tgtEl>
                                      </p:cBhvr>
                                    </p:animEffect>
                                  </p:childTnLst>
                                </p:cTn>
                              </p:par>
                            </p:childTnLst>
                          </p:cTn>
                        </p:par>
                        <p:par>
                          <p:cTn id="8" fill="hold" nodeType="afterGroup">
                            <p:stCondLst>
                              <p:cond delay="500"/>
                            </p:stCondLst>
                            <p:childTnLst>
                              <p:par>
                                <p:cTn id="9" presetID="16" presetClass="entr" presetSubtype="21" fill="hold" grpId="0"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barn(inVertical)">
                                      <p:cBhvr>
                                        <p:cTn id="11" dur="500"/>
                                        <p:tgtEl>
                                          <p:spTgt spid="19"/>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20">
                                            <p:txEl>
                                              <p:pRg st="4" end="4"/>
                                            </p:txEl>
                                          </p:spTgt>
                                        </p:tgtEl>
                                        <p:attrNameLst>
                                          <p:attrName>style.visibility</p:attrName>
                                        </p:attrNameLst>
                                      </p:cBhvr>
                                      <p:to>
                                        <p:strVal val="visible"/>
                                      </p:to>
                                    </p:set>
                                    <p:animEffect transition="in" filter="wipe(up)">
                                      <p:cBhvr>
                                        <p:cTn id="16" dur="500"/>
                                        <p:tgtEl>
                                          <p:spTgt spid="20">
                                            <p:txEl>
                                              <p:pRg st="4" end="4"/>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6" presetClass="entr" presetSubtype="21" fill="hold" grpId="0" nodeType="click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barn(inVertical)">
                                      <p:cBhvr>
                                        <p:cTn id="21"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1"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5FC589-DA96-9001-5299-CE849CFAE8F5}"/>
              </a:ext>
            </a:extLst>
          </p:cNvPr>
          <p:cNvSpPr>
            <a:spLocks noGrp="1"/>
          </p:cNvSpPr>
          <p:nvPr>
            <p:ph type="title"/>
          </p:nvPr>
        </p:nvSpPr>
        <p:spPr>
          <a:xfrm>
            <a:off x="457200" y="0"/>
            <a:ext cx="7620000" cy="1143000"/>
          </a:xfrm>
        </p:spPr>
        <p:txBody>
          <a:bodyPr/>
          <a:lstStyle/>
          <a:p>
            <a:pPr>
              <a:defRPr/>
            </a:pPr>
            <a:r>
              <a:rPr lang="en-US" dirty="0"/>
              <a:t>Manipulating Data Using SQL</a:t>
            </a:r>
            <a:endParaRPr lang="en-MY" dirty="0"/>
          </a:p>
        </p:txBody>
      </p:sp>
      <p:sp>
        <p:nvSpPr>
          <p:cNvPr id="14" name="Snip Single Corner Rectangle 13">
            <a:extLst>
              <a:ext uri="{FF2B5EF4-FFF2-40B4-BE49-F238E27FC236}">
                <a16:creationId xmlns:a16="http://schemas.microsoft.com/office/drawing/2014/main" id="{D6B44DE4-ACC3-164A-8B16-A3900408A109}"/>
              </a:ext>
            </a:extLst>
          </p:cNvPr>
          <p:cNvSpPr/>
          <p:nvPr/>
        </p:nvSpPr>
        <p:spPr>
          <a:xfrm>
            <a:off x="-36513" y="1371600"/>
            <a:ext cx="1152526" cy="401638"/>
          </a:xfrm>
          <a:prstGeom prst="snip1Rect">
            <a:avLst/>
          </a:prstGeom>
          <a:solidFill>
            <a:srgbClr val="120B7C">
              <a:alpha val="70000"/>
            </a:srgbClr>
          </a:solidFill>
          <a:ln>
            <a:solidFill>
              <a:srgbClr val="120B7C"/>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indent="-342900" algn="just" eaLnBrk="1" hangingPunct="1">
              <a:spcBef>
                <a:spcPct val="20000"/>
              </a:spcBef>
              <a:buClr>
                <a:srgbClr val="FF6600"/>
              </a:buClr>
              <a:buSzPct val="100000"/>
              <a:defRPr/>
            </a:pPr>
            <a:r>
              <a:rPr lang="en-US" dirty="0">
                <a:latin typeface="Arial" pitchFamily="34" charset="0"/>
                <a:ea typeface="Times New Roman" pitchFamily="18" charset="0"/>
                <a:cs typeface="Arial" pitchFamily="34" charset="0"/>
              </a:rPr>
              <a:t>SELECT</a:t>
            </a:r>
            <a:endParaRPr lang="en-GB" kern="0" dirty="0">
              <a:solidFill>
                <a:schemeClr val="tx1"/>
              </a:solidFill>
            </a:endParaRPr>
          </a:p>
        </p:txBody>
      </p:sp>
      <p:sp>
        <p:nvSpPr>
          <p:cNvPr id="20" name="Content Placeholder 2">
            <a:extLst>
              <a:ext uri="{FF2B5EF4-FFF2-40B4-BE49-F238E27FC236}">
                <a16:creationId xmlns:a16="http://schemas.microsoft.com/office/drawing/2014/main" id="{4991CE2A-4191-BD5C-5D35-F44ED956A201}"/>
              </a:ext>
            </a:extLst>
          </p:cNvPr>
          <p:cNvSpPr txBox="1">
            <a:spLocks/>
          </p:cNvSpPr>
          <p:nvPr/>
        </p:nvSpPr>
        <p:spPr bwMode="auto">
          <a:xfrm>
            <a:off x="250825" y="1773238"/>
            <a:ext cx="7978775"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rgbClr val="FF6600"/>
              </a:buClr>
              <a:buFont typeface="Wingdings 3" panose="05040102010807070707" pitchFamily="18" charset="2"/>
              <a:buNone/>
            </a:pPr>
            <a:r>
              <a:rPr lang="en-CA" altLang="en-US" sz="2800">
                <a:latin typeface="Calibri" panose="020F0502020204030204" pitchFamily="34" charset="0"/>
              </a:rPr>
              <a:t>DISTINCT can be used to remove duplicated rows. The SQL syntax is:</a:t>
            </a:r>
          </a:p>
          <a:p>
            <a:pPr algn="just" eaLnBrk="1" hangingPunct="1">
              <a:spcBef>
                <a:spcPct val="20000"/>
              </a:spcBef>
              <a:buClr>
                <a:srgbClr val="FF6600"/>
              </a:buClr>
              <a:buFont typeface="Wingdings 3" panose="05040102010807070707" pitchFamily="18" charset="2"/>
              <a:buNone/>
            </a:pPr>
            <a:endParaRPr lang="en-CA"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24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r>
              <a:rPr lang="en-CA" altLang="en-US" sz="2800">
                <a:latin typeface="Calibri" panose="020F0502020204030204" pitchFamily="34" charset="0"/>
              </a:rPr>
              <a:t>For example, to display only the column “Title” of the “Book” table with no duplicated titles</a:t>
            </a:r>
          </a:p>
        </p:txBody>
      </p:sp>
      <p:sp>
        <p:nvSpPr>
          <p:cNvPr id="19" name="Rounded Rectangle 18">
            <a:extLst>
              <a:ext uri="{FF2B5EF4-FFF2-40B4-BE49-F238E27FC236}">
                <a16:creationId xmlns:a16="http://schemas.microsoft.com/office/drawing/2014/main" id="{47FEE8D2-77FC-1A4F-4582-4D6FFA8DBCB4}"/>
              </a:ext>
            </a:extLst>
          </p:cNvPr>
          <p:cNvSpPr>
            <a:spLocks noChangeArrowheads="1"/>
          </p:cNvSpPr>
          <p:nvPr/>
        </p:nvSpPr>
        <p:spPr bwMode="auto">
          <a:xfrm>
            <a:off x="685800" y="2749550"/>
            <a:ext cx="7007225" cy="1008063"/>
          </a:xfrm>
          <a:prstGeom prst="roundRect">
            <a:avLst>
              <a:gd name="adj" fmla="val 16667"/>
            </a:avLst>
          </a:prstGeom>
          <a:solidFill>
            <a:srgbClr val="7F7B00">
              <a:alpha val="30196"/>
            </a:srgbClr>
          </a:solidFill>
          <a:ln w="9525" algn="ctr">
            <a:solidFill>
              <a:srgbClr val="7F7B00"/>
            </a:solidFill>
            <a:round/>
            <a:headEnd/>
            <a:tailEnd/>
          </a:ln>
        </p:spPr>
        <p:txBody>
          <a:bodyPr anchor="ctr" anchorCtr="1"/>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CA" altLang="en-US" sz="2800"/>
              <a:t>SELECT DISTINCT &lt;column_name&gt;, &lt;column_name&gt;… FROM &lt;table_name&gt;;</a:t>
            </a:r>
          </a:p>
        </p:txBody>
      </p:sp>
      <p:sp>
        <p:nvSpPr>
          <p:cNvPr id="21" name="Rounded Rectangle 20">
            <a:extLst>
              <a:ext uri="{FF2B5EF4-FFF2-40B4-BE49-F238E27FC236}">
                <a16:creationId xmlns:a16="http://schemas.microsoft.com/office/drawing/2014/main" id="{479A7B44-5DCD-8FB2-8ECE-80B07929EE95}"/>
              </a:ext>
            </a:extLst>
          </p:cNvPr>
          <p:cNvSpPr/>
          <p:nvPr/>
        </p:nvSpPr>
        <p:spPr bwMode="auto">
          <a:xfrm>
            <a:off x="685800" y="5157788"/>
            <a:ext cx="7007225" cy="719137"/>
          </a:xfrm>
          <a:prstGeom prst="roundRect">
            <a:avLst/>
          </a:prstGeom>
          <a:solidFill>
            <a:schemeClr val="accent6">
              <a:alpha val="30000"/>
            </a:schemeClr>
          </a:solidFill>
          <a:ln w="9525" cap="flat" cmpd="sng" algn="ctr">
            <a:solidFill>
              <a:schemeClr val="accent6"/>
            </a:solidFill>
            <a:prstDash val="solid"/>
            <a:round/>
            <a:headEnd type="none" w="med" len="med"/>
            <a:tailEnd type="none" w="med" len="med"/>
          </a:ln>
          <a:effectLst/>
        </p:spPr>
        <p:txBody>
          <a:bodyPr anchor="ctr" anchorCtr="1"/>
          <a:lstStyle/>
          <a:p>
            <a:pPr>
              <a:defRPr/>
            </a:pPr>
            <a:r>
              <a:rPr lang="en-CA" sz="2800" dirty="0"/>
              <a:t>SELECT DISTINCT Title FROM Book;</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Effect transition="in" filter="wipe(up)">
                                      <p:cBhvr>
                                        <p:cTn id="7" dur="500"/>
                                        <p:tgtEl>
                                          <p:spTgt spid="20">
                                            <p:txEl>
                                              <p:pRg st="0" end="0"/>
                                            </p:txEl>
                                          </p:spTgt>
                                        </p:tgtEl>
                                      </p:cBhvr>
                                    </p:animEffect>
                                  </p:childTnLst>
                                </p:cTn>
                              </p:par>
                            </p:childTnLst>
                          </p:cTn>
                        </p:par>
                        <p:par>
                          <p:cTn id="8" fill="hold" nodeType="afterGroup">
                            <p:stCondLst>
                              <p:cond delay="500"/>
                            </p:stCondLst>
                            <p:childTnLst>
                              <p:par>
                                <p:cTn id="9" presetID="16" presetClass="entr" presetSubtype="21" fill="hold" grpId="0"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barn(inVertical)">
                                      <p:cBhvr>
                                        <p:cTn id="11" dur="500"/>
                                        <p:tgtEl>
                                          <p:spTgt spid="19"/>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20">
                                            <p:txEl>
                                              <p:pRg st="4" end="4"/>
                                            </p:txEl>
                                          </p:spTgt>
                                        </p:tgtEl>
                                        <p:attrNameLst>
                                          <p:attrName>style.visibility</p:attrName>
                                        </p:attrNameLst>
                                      </p:cBhvr>
                                      <p:to>
                                        <p:strVal val="visible"/>
                                      </p:to>
                                    </p:set>
                                    <p:animEffect transition="in" filter="wipe(up)">
                                      <p:cBhvr>
                                        <p:cTn id="16" dur="500"/>
                                        <p:tgtEl>
                                          <p:spTgt spid="20">
                                            <p:txEl>
                                              <p:pRg st="4" end="4"/>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6" presetClass="entr" presetSubtype="21" fill="hold" grpId="0" nodeType="click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barn(inVertical)">
                                      <p:cBhvr>
                                        <p:cTn id="21"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1"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41C1B-6509-BD48-E2BC-4600031F7D13}"/>
              </a:ext>
            </a:extLst>
          </p:cNvPr>
          <p:cNvSpPr>
            <a:spLocks noGrp="1"/>
          </p:cNvSpPr>
          <p:nvPr>
            <p:ph type="title"/>
          </p:nvPr>
        </p:nvSpPr>
        <p:spPr>
          <a:xfrm>
            <a:off x="457200" y="0"/>
            <a:ext cx="7620000" cy="1143000"/>
          </a:xfrm>
        </p:spPr>
        <p:txBody>
          <a:bodyPr/>
          <a:lstStyle/>
          <a:p>
            <a:pPr>
              <a:defRPr/>
            </a:pPr>
            <a:r>
              <a:rPr lang="en-US" dirty="0"/>
              <a:t>Manipulating Data Using SQL</a:t>
            </a:r>
            <a:endParaRPr lang="en-MY" dirty="0"/>
          </a:p>
        </p:txBody>
      </p:sp>
      <p:sp>
        <p:nvSpPr>
          <p:cNvPr id="14" name="Snip Single Corner Rectangle 13">
            <a:extLst>
              <a:ext uri="{FF2B5EF4-FFF2-40B4-BE49-F238E27FC236}">
                <a16:creationId xmlns:a16="http://schemas.microsoft.com/office/drawing/2014/main" id="{47FEDF05-BB98-700D-8B65-53941EA186C5}"/>
              </a:ext>
            </a:extLst>
          </p:cNvPr>
          <p:cNvSpPr/>
          <p:nvPr/>
        </p:nvSpPr>
        <p:spPr>
          <a:xfrm>
            <a:off x="-36513" y="1350963"/>
            <a:ext cx="1152526" cy="401637"/>
          </a:xfrm>
          <a:prstGeom prst="snip1Rect">
            <a:avLst/>
          </a:prstGeom>
          <a:solidFill>
            <a:srgbClr val="120B7C">
              <a:alpha val="70000"/>
            </a:srgbClr>
          </a:solidFill>
          <a:ln>
            <a:solidFill>
              <a:srgbClr val="120B7C"/>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indent="-342900" algn="just" eaLnBrk="1" hangingPunct="1">
              <a:spcBef>
                <a:spcPct val="20000"/>
              </a:spcBef>
              <a:buClr>
                <a:srgbClr val="FF6600"/>
              </a:buClr>
              <a:buSzPct val="100000"/>
              <a:defRPr/>
            </a:pPr>
            <a:r>
              <a:rPr lang="en-US" dirty="0">
                <a:latin typeface="Arial" pitchFamily="34" charset="0"/>
                <a:ea typeface="Times New Roman" pitchFamily="18" charset="0"/>
                <a:cs typeface="Arial" pitchFamily="34" charset="0"/>
              </a:rPr>
              <a:t>SELECT</a:t>
            </a:r>
            <a:endParaRPr lang="en-GB" kern="0" dirty="0">
              <a:solidFill>
                <a:schemeClr val="tx1"/>
              </a:solidFill>
            </a:endParaRPr>
          </a:p>
        </p:txBody>
      </p:sp>
      <p:sp>
        <p:nvSpPr>
          <p:cNvPr id="20" name="Content Placeholder 2">
            <a:extLst>
              <a:ext uri="{FF2B5EF4-FFF2-40B4-BE49-F238E27FC236}">
                <a16:creationId xmlns:a16="http://schemas.microsoft.com/office/drawing/2014/main" id="{C9EE18E1-46D9-6B17-A910-B14E97517E17}"/>
              </a:ext>
            </a:extLst>
          </p:cNvPr>
          <p:cNvSpPr txBox="1">
            <a:spLocks/>
          </p:cNvSpPr>
          <p:nvPr/>
        </p:nvSpPr>
        <p:spPr bwMode="auto">
          <a:xfrm>
            <a:off x="250825" y="1773238"/>
            <a:ext cx="7902575"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rgbClr val="FF6600"/>
              </a:buClr>
              <a:buFont typeface="Wingdings 3" panose="05040102010807070707" pitchFamily="18" charset="2"/>
              <a:buNone/>
            </a:pPr>
            <a:r>
              <a:rPr lang="en-CA" altLang="en-US" sz="2800">
                <a:latin typeface="Calibri" panose="020F0502020204030204" pitchFamily="34" charset="0"/>
              </a:rPr>
              <a:t>The WHERE clause can be used to limit the rows to be displayed. The SQL syntax is:</a:t>
            </a:r>
          </a:p>
          <a:p>
            <a:pPr algn="just" eaLnBrk="1" hangingPunct="1">
              <a:spcBef>
                <a:spcPct val="20000"/>
              </a:spcBef>
              <a:buClr>
                <a:srgbClr val="FF6600"/>
              </a:buClr>
              <a:buFont typeface="Wingdings 3" panose="05040102010807070707" pitchFamily="18" charset="2"/>
              <a:buNone/>
            </a:pPr>
            <a:endParaRPr lang="en-CA"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40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r>
              <a:rPr lang="en-CA" altLang="en-US" sz="2800">
                <a:latin typeface="Calibri" panose="020F0502020204030204" pitchFamily="34" charset="0"/>
              </a:rPr>
              <a:t>For example, to display only those books where we have less than 5 copies</a:t>
            </a:r>
          </a:p>
        </p:txBody>
      </p:sp>
      <p:sp>
        <p:nvSpPr>
          <p:cNvPr id="19" name="Rounded Rectangle 18">
            <a:extLst>
              <a:ext uri="{FF2B5EF4-FFF2-40B4-BE49-F238E27FC236}">
                <a16:creationId xmlns:a16="http://schemas.microsoft.com/office/drawing/2014/main" id="{8ADB9FE1-E40E-6990-325A-DE470571780F}"/>
              </a:ext>
            </a:extLst>
          </p:cNvPr>
          <p:cNvSpPr>
            <a:spLocks noChangeArrowheads="1"/>
          </p:cNvSpPr>
          <p:nvPr/>
        </p:nvSpPr>
        <p:spPr bwMode="auto">
          <a:xfrm>
            <a:off x="765175" y="2781300"/>
            <a:ext cx="7007225" cy="1368425"/>
          </a:xfrm>
          <a:prstGeom prst="roundRect">
            <a:avLst>
              <a:gd name="adj" fmla="val 16667"/>
            </a:avLst>
          </a:prstGeom>
          <a:solidFill>
            <a:srgbClr val="7F7B00">
              <a:alpha val="30196"/>
            </a:srgbClr>
          </a:solidFill>
          <a:ln w="9525" algn="ctr">
            <a:solidFill>
              <a:srgbClr val="7F7B00"/>
            </a:solidFill>
            <a:round/>
            <a:headEnd/>
            <a:tailEnd/>
          </a:ln>
        </p:spPr>
        <p:txBody>
          <a:bodyPr anchor="ctr" anchorCtr="1"/>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CA" altLang="en-US" sz="2800"/>
              <a:t>SELECT &lt;column_name&gt;, &lt;column_name&gt;… FROM &lt;table_name&gt; WHERE  &lt;condition&gt;;</a:t>
            </a:r>
          </a:p>
        </p:txBody>
      </p:sp>
      <p:sp>
        <p:nvSpPr>
          <p:cNvPr id="21" name="Rounded Rectangle 20">
            <a:extLst>
              <a:ext uri="{FF2B5EF4-FFF2-40B4-BE49-F238E27FC236}">
                <a16:creationId xmlns:a16="http://schemas.microsoft.com/office/drawing/2014/main" id="{CD978992-2630-548F-3E0D-0D1A6B9FBF23}"/>
              </a:ext>
            </a:extLst>
          </p:cNvPr>
          <p:cNvSpPr/>
          <p:nvPr/>
        </p:nvSpPr>
        <p:spPr bwMode="auto">
          <a:xfrm>
            <a:off x="765175" y="5473700"/>
            <a:ext cx="6646863" cy="901700"/>
          </a:xfrm>
          <a:prstGeom prst="roundRect">
            <a:avLst/>
          </a:prstGeom>
          <a:solidFill>
            <a:schemeClr val="accent6">
              <a:alpha val="30000"/>
            </a:schemeClr>
          </a:solidFill>
          <a:ln w="9525" cap="flat" cmpd="sng" algn="ctr">
            <a:solidFill>
              <a:schemeClr val="accent6"/>
            </a:solidFill>
            <a:prstDash val="solid"/>
            <a:round/>
            <a:headEnd type="none" w="med" len="med"/>
            <a:tailEnd type="none" w="med" len="med"/>
          </a:ln>
          <a:effectLst/>
        </p:spPr>
        <p:txBody>
          <a:bodyPr anchor="ctr" anchorCtr="1"/>
          <a:lstStyle/>
          <a:p>
            <a:pPr>
              <a:defRPr/>
            </a:pPr>
            <a:r>
              <a:rPr lang="en-CA" sz="2800" dirty="0"/>
              <a:t>SELECT * FROM Book WHERE Quantity &lt; 5;</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Effect transition="in" filter="wipe(up)">
                                      <p:cBhvr>
                                        <p:cTn id="7" dur="500"/>
                                        <p:tgtEl>
                                          <p:spTgt spid="20">
                                            <p:txEl>
                                              <p:pRg st="0" end="0"/>
                                            </p:txEl>
                                          </p:spTgt>
                                        </p:tgtEl>
                                      </p:cBhvr>
                                    </p:animEffect>
                                  </p:childTnLst>
                                </p:cTn>
                              </p:par>
                            </p:childTnLst>
                          </p:cTn>
                        </p:par>
                        <p:par>
                          <p:cTn id="8" fill="hold" nodeType="afterGroup">
                            <p:stCondLst>
                              <p:cond delay="500"/>
                            </p:stCondLst>
                            <p:childTnLst>
                              <p:par>
                                <p:cTn id="9" presetID="16" presetClass="entr" presetSubtype="21" fill="hold" grpId="0"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barn(inVertical)">
                                      <p:cBhvr>
                                        <p:cTn id="11" dur="500"/>
                                        <p:tgtEl>
                                          <p:spTgt spid="19"/>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20">
                                            <p:txEl>
                                              <p:pRg st="4" end="4"/>
                                            </p:txEl>
                                          </p:spTgt>
                                        </p:tgtEl>
                                        <p:attrNameLst>
                                          <p:attrName>style.visibility</p:attrName>
                                        </p:attrNameLst>
                                      </p:cBhvr>
                                      <p:to>
                                        <p:strVal val="visible"/>
                                      </p:to>
                                    </p:set>
                                    <p:animEffect transition="in" filter="wipe(up)">
                                      <p:cBhvr>
                                        <p:cTn id="16" dur="500"/>
                                        <p:tgtEl>
                                          <p:spTgt spid="20">
                                            <p:txEl>
                                              <p:pRg st="4" end="4"/>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6" presetClass="entr" presetSubtype="21" fill="hold" grpId="0" nodeType="click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barn(inVertical)">
                                      <p:cBhvr>
                                        <p:cTn id="21"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1"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B04393-92AA-32AC-9104-F37DA41A37B8}"/>
              </a:ext>
            </a:extLst>
          </p:cNvPr>
          <p:cNvSpPr>
            <a:spLocks noGrp="1"/>
          </p:cNvSpPr>
          <p:nvPr>
            <p:ph type="title"/>
          </p:nvPr>
        </p:nvSpPr>
        <p:spPr>
          <a:xfrm>
            <a:off x="457200" y="0"/>
            <a:ext cx="7620000" cy="1143000"/>
          </a:xfrm>
        </p:spPr>
        <p:txBody>
          <a:bodyPr/>
          <a:lstStyle/>
          <a:p>
            <a:pPr>
              <a:defRPr/>
            </a:pPr>
            <a:r>
              <a:rPr lang="en-US" dirty="0"/>
              <a:t>Manipulating Data Using SQL</a:t>
            </a:r>
            <a:endParaRPr lang="en-MY" dirty="0"/>
          </a:p>
        </p:txBody>
      </p:sp>
      <p:sp>
        <p:nvSpPr>
          <p:cNvPr id="14" name="Snip Single Corner Rectangle 13">
            <a:extLst>
              <a:ext uri="{FF2B5EF4-FFF2-40B4-BE49-F238E27FC236}">
                <a16:creationId xmlns:a16="http://schemas.microsoft.com/office/drawing/2014/main" id="{0145021F-AB56-6660-4B3E-F77BAD9D0FEC}"/>
              </a:ext>
            </a:extLst>
          </p:cNvPr>
          <p:cNvSpPr/>
          <p:nvPr/>
        </p:nvSpPr>
        <p:spPr>
          <a:xfrm>
            <a:off x="-36513" y="1350963"/>
            <a:ext cx="1152526" cy="401637"/>
          </a:xfrm>
          <a:prstGeom prst="snip1Rect">
            <a:avLst/>
          </a:prstGeom>
          <a:solidFill>
            <a:srgbClr val="120B7C">
              <a:alpha val="70000"/>
            </a:srgbClr>
          </a:solidFill>
          <a:ln>
            <a:solidFill>
              <a:srgbClr val="120B7C"/>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indent="-342900" algn="just" eaLnBrk="1" hangingPunct="1">
              <a:spcBef>
                <a:spcPct val="20000"/>
              </a:spcBef>
              <a:buClr>
                <a:srgbClr val="FF6600"/>
              </a:buClr>
              <a:buSzPct val="100000"/>
              <a:defRPr/>
            </a:pPr>
            <a:r>
              <a:rPr lang="en-US" dirty="0">
                <a:latin typeface="Arial" pitchFamily="34" charset="0"/>
                <a:ea typeface="Times New Roman" pitchFamily="18" charset="0"/>
                <a:cs typeface="Arial" pitchFamily="34" charset="0"/>
              </a:rPr>
              <a:t>SELECT</a:t>
            </a:r>
            <a:endParaRPr lang="en-GB" kern="0" dirty="0">
              <a:solidFill>
                <a:schemeClr val="tx1"/>
              </a:solidFill>
            </a:endParaRPr>
          </a:p>
        </p:txBody>
      </p:sp>
      <p:sp>
        <p:nvSpPr>
          <p:cNvPr id="20" name="Content Placeholder 2">
            <a:extLst>
              <a:ext uri="{FF2B5EF4-FFF2-40B4-BE49-F238E27FC236}">
                <a16:creationId xmlns:a16="http://schemas.microsoft.com/office/drawing/2014/main" id="{1805AB7D-89D6-199D-1B6A-9DBA4BF3A7A2}"/>
              </a:ext>
            </a:extLst>
          </p:cNvPr>
          <p:cNvSpPr txBox="1">
            <a:spLocks/>
          </p:cNvSpPr>
          <p:nvPr/>
        </p:nvSpPr>
        <p:spPr bwMode="auto">
          <a:xfrm>
            <a:off x="250825" y="1700213"/>
            <a:ext cx="865505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rgbClr val="FF6600"/>
              </a:buClr>
              <a:buFont typeface="Wingdings 3" panose="05040102010807070707" pitchFamily="18" charset="2"/>
              <a:buNone/>
            </a:pPr>
            <a:r>
              <a:rPr lang="en-CA" altLang="en-US" sz="2800">
                <a:latin typeface="Calibri" panose="020F0502020204030204" pitchFamily="34" charset="0"/>
              </a:rPr>
              <a:t>In a &lt;condition&gt;, the operators supported are</a:t>
            </a:r>
          </a:p>
        </p:txBody>
      </p:sp>
      <p:graphicFrame>
        <p:nvGraphicFramePr>
          <p:cNvPr id="3" name="Table 2">
            <a:extLst>
              <a:ext uri="{FF2B5EF4-FFF2-40B4-BE49-F238E27FC236}">
                <a16:creationId xmlns:a16="http://schemas.microsoft.com/office/drawing/2014/main" id="{6E463AE0-6CA8-519D-1E15-307B08D4B4E7}"/>
              </a:ext>
            </a:extLst>
          </p:cNvPr>
          <p:cNvGraphicFramePr>
            <a:graphicFrameLocks noGrp="1"/>
          </p:cNvGraphicFramePr>
          <p:nvPr/>
        </p:nvGraphicFramePr>
        <p:xfrm>
          <a:off x="533400" y="2286000"/>
          <a:ext cx="7326313" cy="3375023"/>
        </p:xfrm>
        <a:graphic>
          <a:graphicData uri="http://schemas.openxmlformats.org/drawingml/2006/table">
            <a:tbl>
              <a:tblPr firstRow="1" bandRow="1">
                <a:tableStyleId>{D27102A9-8310-4765-A935-A1911B00CA55}</a:tableStyleId>
              </a:tblPr>
              <a:tblGrid>
                <a:gridCol w="1431563">
                  <a:extLst>
                    <a:ext uri="{9D8B030D-6E8A-4147-A177-3AD203B41FA5}">
                      <a16:colId xmlns:a16="http://schemas.microsoft.com/office/drawing/2014/main" val="20000"/>
                    </a:ext>
                  </a:extLst>
                </a:gridCol>
                <a:gridCol w="2880317">
                  <a:extLst>
                    <a:ext uri="{9D8B030D-6E8A-4147-A177-3AD203B41FA5}">
                      <a16:colId xmlns:a16="http://schemas.microsoft.com/office/drawing/2014/main" val="20001"/>
                    </a:ext>
                  </a:extLst>
                </a:gridCol>
                <a:gridCol w="3014433">
                  <a:extLst>
                    <a:ext uri="{9D8B030D-6E8A-4147-A177-3AD203B41FA5}">
                      <a16:colId xmlns:a16="http://schemas.microsoft.com/office/drawing/2014/main" val="20002"/>
                    </a:ext>
                  </a:extLst>
                </a:gridCol>
              </a:tblGrid>
              <a:tr h="499697">
                <a:tc>
                  <a:txBody>
                    <a:bodyPr/>
                    <a:lstStyle/>
                    <a:p>
                      <a:pPr algn="ctr"/>
                      <a:r>
                        <a:rPr lang="en-CA" sz="1800" dirty="0"/>
                        <a:t>Operator</a:t>
                      </a:r>
                    </a:p>
                  </a:txBody>
                  <a:tcPr marT="45717" marB="45717" anchor="ctr"/>
                </a:tc>
                <a:tc>
                  <a:txBody>
                    <a:bodyPr/>
                    <a:lstStyle/>
                    <a:p>
                      <a:pPr algn="ctr"/>
                      <a:r>
                        <a:rPr lang="en-CA" sz="1800" dirty="0"/>
                        <a:t>Name</a:t>
                      </a:r>
                    </a:p>
                  </a:txBody>
                  <a:tcPr marT="45717" marB="45717" anchor="ctr"/>
                </a:tc>
                <a:tc>
                  <a:txBody>
                    <a:bodyPr/>
                    <a:lstStyle/>
                    <a:p>
                      <a:pPr algn="ctr"/>
                      <a:r>
                        <a:rPr lang="en-CA" sz="1800" dirty="0"/>
                        <a:t>Example</a:t>
                      </a:r>
                    </a:p>
                  </a:txBody>
                  <a:tcPr marT="45717" marB="45717" anchor="ctr"/>
                </a:tc>
                <a:extLst>
                  <a:ext uri="{0D108BD9-81ED-4DB2-BD59-A6C34878D82A}">
                    <a16:rowId xmlns:a16="http://schemas.microsoft.com/office/drawing/2014/main" val="10000"/>
                  </a:ext>
                </a:extLst>
              </a:tr>
              <a:tr h="479221">
                <a:tc>
                  <a:txBody>
                    <a:bodyPr/>
                    <a:lstStyle/>
                    <a:p>
                      <a:pPr algn="ctr"/>
                      <a:r>
                        <a:rPr lang="en-CA" sz="1800" dirty="0"/>
                        <a:t>=</a:t>
                      </a:r>
                    </a:p>
                  </a:txBody>
                  <a:tcPr marT="45717" marB="45717" anchor="ctr"/>
                </a:tc>
                <a:tc>
                  <a:txBody>
                    <a:bodyPr/>
                    <a:lstStyle/>
                    <a:p>
                      <a:pPr algn="ctr"/>
                      <a:r>
                        <a:rPr lang="en-CA" sz="1800" dirty="0"/>
                        <a:t>Equals</a:t>
                      </a:r>
                    </a:p>
                  </a:txBody>
                  <a:tcPr marT="45717" marB="45717" anchor="ctr"/>
                </a:tc>
                <a:tc>
                  <a:txBody>
                    <a:bodyPr/>
                    <a:lstStyle/>
                    <a:p>
                      <a:pPr algn="l"/>
                      <a:r>
                        <a:rPr lang="en-CA" sz="1800" dirty="0"/>
                        <a:t>WHERE Quantity =</a:t>
                      </a:r>
                      <a:r>
                        <a:rPr lang="en-CA" sz="1800" baseline="0" dirty="0"/>
                        <a:t> 5</a:t>
                      </a:r>
                      <a:endParaRPr lang="en-CA" sz="1800" dirty="0"/>
                    </a:p>
                  </a:txBody>
                  <a:tcPr marT="45717" marB="45717" anchor="ctr"/>
                </a:tc>
                <a:extLst>
                  <a:ext uri="{0D108BD9-81ED-4DB2-BD59-A6C34878D82A}">
                    <a16:rowId xmlns:a16="http://schemas.microsoft.com/office/drawing/2014/main" val="10001"/>
                  </a:ext>
                </a:extLst>
              </a:tr>
              <a:tr h="479221">
                <a:tc>
                  <a:txBody>
                    <a:bodyPr/>
                    <a:lstStyle/>
                    <a:p>
                      <a:pPr algn="ctr"/>
                      <a:r>
                        <a:rPr lang="en-CA" sz="1800" dirty="0"/>
                        <a:t>&lt;&gt;</a:t>
                      </a:r>
                    </a:p>
                  </a:txBody>
                  <a:tcPr marT="45717" marB="45717" anchor="ctr"/>
                </a:tc>
                <a:tc>
                  <a:txBody>
                    <a:bodyPr/>
                    <a:lstStyle/>
                    <a:p>
                      <a:pPr algn="ctr"/>
                      <a:r>
                        <a:rPr lang="en-CA" sz="1800" dirty="0"/>
                        <a:t>Not equal to</a:t>
                      </a:r>
                    </a:p>
                  </a:txBody>
                  <a:tcPr marT="45717" marB="45717"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CA" sz="1800" dirty="0"/>
                        <a:t>WHERE Quantity &lt;&gt; 5</a:t>
                      </a:r>
                    </a:p>
                  </a:txBody>
                  <a:tcPr marT="45717" marB="45717" anchor="ctr"/>
                </a:tc>
                <a:extLst>
                  <a:ext uri="{0D108BD9-81ED-4DB2-BD59-A6C34878D82A}">
                    <a16:rowId xmlns:a16="http://schemas.microsoft.com/office/drawing/2014/main" val="10002"/>
                  </a:ext>
                </a:extLst>
              </a:tr>
              <a:tr h="479221">
                <a:tc>
                  <a:txBody>
                    <a:bodyPr/>
                    <a:lstStyle/>
                    <a:p>
                      <a:pPr algn="ctr"/>
                      <a:r>
                        <a:rPr lang="en-CA" sz="1800" dirty="0"/>
                        <a:t>&gt;</a:t>
                      </a:r>
                    </a:p>
                  </a:txBody>
                  <a:tcPr marT="45717" marB="45717" anchor="ctr"/>
                </a:tc>
                <a:tc>
                  <a:txBody>
                    <a:bodyPr/>
                    <a:lstStyle/>
                    <a:p>
                      <a:pPr algn="ctr"/>
                      <a:r>
                        <a:rPr lang="en-CA" sz="1800" dirty="0"/>
                        <a:t>Greater than</a:t>
                      </a:r>
                    </a:p>
                  </a:txBody>
                  <a:tcPr marT="45717" marB="45717"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CA" sz="1800" dirty="0"/>
                        <a:t>WHERE Quantity &gt; 5</a:t>
                      </a:r>
                    </a:p>
                  </a:txBody>
                  <a:tcPr marT="45717" marB="45717" anchor="ctr"/>
                </a:tc>
                <a:extLst>
                  <a:ext uri="{0D108BD9-81ED-4DB2-BD59-A6C34878D82A}">
                    <a16:rowId xmlns:a16="http://schemas.microsoft.com/office/drawing/2014/main" val="10003"/>
                  </a:ext>
                </a:extLst>
              </a:tr>
              <a:tr h="479221">
                <a:tc>
                  <a:txBody>
                    <a:bodyPr/>
                    <a:lstStyle/>
                    <a:p>
                      <a:pPr algn="ctr"/>
                      <a:r>
                        <a:rPr lang="en-CA" sz="1800" dirty="0"/>
                        <a:t>&gt;=</a:t>
                      </a:r>
                    </a:p>
                  </a:txBody>
                  <a:tcPr marT="45717" marB="45717" anchor="ctr"/>
                </a:tc>
                <a:tc>
                  <a:txBody>
                    <a:bodyPr/>
                    <a:lstStyle/>
                    <a:p>
                      <a:pPr algn="ctr"/>
                      <a:r>
                        <a:rPr lang="en-CA" sz="1800" dirty="0"/>
                        <a:t>Greater than or equal to</a:t>
                      </a:r>
                    </a:p>
                  </a:txBody>
                  <a:tcPr marT="45717" marB="45717"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CA" sz="1800" dirty="0"/>
                        <a:t>WHERE Quantity &gt;= 5</a:t>
                      </a:r>
                    </a:p>
                  </a:txBody>
                  <a:tcPr marT="45717" marB="45717" anchor="ctr"/>
                </a:tc>
                <a:extLst>
                  <a:ext uri="{0D108BD9-81ED-4DB2-BD59-A6C34878D82A}">
                    <a16:rowId xmlns:a16="http://schemas.microsoft.com/office/drawing/2014/main" val="10004"/>
                  </a:ext>
                </a:extLst>
              </a:tr>
              <a:tr h="479221">
                <a:tc>
                  <a:txBody>
                    <a:bodyPr/>
                    <a:lstStyle/>
                    <a:p>
                      <a:pPr algn="ctr"/>
                      <a:r>
                        <a:rPr lang="en-CA" sz="1800" dirty="0"/>
                        <a:t>&lt;</a:t>
                      </a:r>
                    </a:p>
                  </a:txBody>
                  <a:tcPr marT="45717" marB="45717" anchor="ctr"/>
                </a:tc>
                <a:tc>
                  <a:txBody>
                    <a:bodyPr/>
                    <a:lstStyle/>
                    <a:p>
                      <a:pPr algn="ctr"/>
                      <a:r>
                        <a:rPr lang="en-CA" sz="1800" dirty="0"/>
                        <a:t>Less than</a:t>
                      </a:r>
                    </a:p>
                  </a:txBody>
                  <a:tcPr marT="45717" marB="45717"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CA" sz="1800" dirty="0"/>
                        <a:t>WHERE Quantity &lt; 5</a:t>
                      </a:r>
                    </a:p>
                  </a:txBody>
                  <a:tcPr marT="45717" marB="45717" anchor="ctr"/>
                </a:tc>
                <a:extLst>
                  <a:ext uri="{0D108BD9-81ED-4DB2-BD59-A6C34878D82A}">
                    <a16:rowId xmlns:a16="http://schemas.microsoft.com/office/drawing/2014/main" val="10005"/>
                  </a:ext>
                </a:extLst>
              </a:tr>
              <a:tr h="479221">
                <a:tc>
                  <a:txBody>
                    <a:bodyPr/>
                    <a:lstStyle/>
                    <a:p>
                      <a:pPr algn="ctr"/>
                      <a:r>
                        <a:rPr lang="en-CA" sz="1800" dirty="0"/>
                        <a:t>&lt;= </a:t>
                      </a:r>
                    </a:p>
                  </a:txBody>
                  <a:tcPr marT="45717" marB="45717" anchor="ctr"/>
                </a:tc>
                <a:tc>
                  <a:txBody>
                    <a:bodyPr/>
                    <a:lstStyle/>
                    <a:p>
                      <a:pPr algn="ctr"/>
                      <a:r>
                        <a:rPr lang="en-CA" sz="1800" dirty="0"/>
                        <a:t>Less than or equal to</a:t>
                      </a:r>
                    </a:p>
                  </a:txBody>
                  <a:tcPr marT="45717" marB="45717"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CA" sz="1800" dirty="0"/>
                        <a:t>WHERE Quantity &lt;= 5</a:t>
                      </a:r>
                    </a:p>
                  </a:txBody>
                  <a:tcPr marT="45717" marB="45717" anchor="ctr"/>
                </a:tc>
                <a:extLst>
                  <a:ext uri="{0D108BD9-81ED-4DB2-BD59-A6C34878D82A}">
                    <a16:rowId xmlns:a16="http://schemas.microsoft.com/office/drawing/2014/main" val="10006"/>
                  </a:ext>
                </a:extLst>
              </a:tr>
            </a:tbl>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Effect transition="in" filter="wipe(up)">
                                      <p:cBhvr>
                                        <p:cTn id="7" dur="500"/>
                                        <p:tgtEl>
                                          <p:spTgt spid="20">
                                            <p:txEl>
                                              <p:pRg st="0" end="0"/>
                                            </p:txEl>
                                          </p:spTgt>
                                        </p:tgtEl>
                                      </p:cBhvr>
                                    </p:animEffect>
                                  </p:childTnLst>
                                </p:cTn>
                              </p:par>
                            </p:childTnLst>
                          </p:cTn>
                        </p:par>
                        <p:par>
                          <p:cTn id="8" fill="hold" nodeType="afterGroup">
                            <p:stCondLst>
                              <p:cond delay="500"/>
                            </p:stCondLst>
                            <p:childTnLst>
                              <p:par>
                                <p:cTn id="9" presetID="16" presetClass="entr" presetSubtype="21"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barn(inVertical)">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473002-D9DD-3C51-2299-D610E807BC4A}"/>
              </a:ext>
            </a:extLst>
          </p:cNvPr>
          <p:cNvSpPr>
            <a:spLocks noGrp="1"/>
          </p:cNvSpPr>
          <p:nvPr>
            <p:ph type="title"/>
          </p:nvPr>
        </p:nvSpPr>
        <p:spPr>
          <a:xfrm>
            <a:off x="457200" y="0"/>
            <a:ext cx="7620000" cy="1143000"/>
          </a:xfrm>
        </p:spPr>
        <p:txBody>
          <a:bodyPr/>
          <a:lstStyle/>
          <a:p>
            <a:pPr algn="ctr">
              <a:defRPr/>
            </a:pPr>
            <a:r>
              <a:rPr lang="en-US" dirty="0"/>
              <a:t>Activity 2</a:t>
            </a:r>
            <a:endParaRPr lang="en-MY" dirty="0"/>
          </a:p>
        </p:txBody>
      </p:sp>
      <p:sp>
        <p:nvSpPr>
          <p:cNvPr id="23" name="Title 1">
            <a:extLst>
              <a:ext uri="{FF2B5EF4-FFF2-40B4-BE49-F238E27FC236}">
                <a16:creationId xmlns:a16="http://schemas.microsoft.com/office/drawing/2014/main" id="{8B197A1D-7959-58B4-8432-284453C119D5}"/>
              </a:ext>
            </a:extLst>
          </p:cNvPr>
          <p:cNvSpPr txBox="1">
            <a:spLocks/>
          </p:cNvSpPr>
          <p:nvPr/>
        </p:nvSpPr>
        <p:spPr bwMode="auto">
          <a:xfrm>
            <a:off x="0" y="1123950"/>
            <a:ext cx="8172450" cy="323850"/>
          </a:xfrm>
          <a:prstGeom prst="rect">
            <a:avLst/>
          </a:prstGeom>
          <a:noFill/>
          <a:ln w="9525">
            <a:noFill/>
            <a:miter lim="800000"/>
            <a:headEnd/>
            <a:tailEnd/>
          </a:ln>
        </p:spPr>
        <p:txBody>
          <a:bodyPr lIns="72000" tIns="0" rIns="72000" bIns="0"/>
          <a:lstStyle/>
          <a:p>
            <a:pPr defTabSz="720000" eaLnBrk="1" hangingPunct="1">
              <a:lnSpc>
                <a:spcPts val="1800"/>
              </a:lnSpc>
              <a:spcBef>
                <a:spcPts val="0"/>
              </a:spcBef>
              <a:spcAft>
                <a:spcPts val="0"/>
              </a:spcAft>
              <a:tabLst>
                <a:tab pos="0" algn="l"/>
              </a:tabLst>
              <a:defRPr/>
            </a:pPr>
            <a:r>
              <a:rPr lang="en-CA" b="1" kern="0" dirty="0">
                <a:cs typeface="Calibri" pitchFamily="34" charset="0"/>
              </a:rPr>
              <a:t>CLASS ACTIVITY</a:t>
            </a:r>
            <a:endParaRPr lang="en-MY" b="1" kern="0" dirty="0">
              <a:cs typeface="Calibri" pitchFamily="34" charset="0"/>
            </a:endParaRPr>
          </a:p>
          <a:p>
            <a:pPr defTabSz="720000" eaLnBrk="1" hangingPunct="1">
              <a:lnSpc>
                <a:spcPts val="1800"/>
              </a:lnSpc>
              <a:spcBef>
                <a:spcPts val="0"/>
              </a:spcBef>
              <a:spcAft>
                <a:spcPts val="0"/>
              </a:spcAft>
              <a:tabLst>
                <a:tab pos="0" algn="l"/>
              </a:tabLst>
              <a:defRPr/>
            </a:pPr>
            <a:endParaRPr lang="en-MY" b="1" kern="0" dirty="0">
              <a:latin typeface="+mn-lt"/>
              <a:ea typeface="+mj-ea"/>
              <a:cs typeface="Calibri" pitchFamily="34" charset="0"/>
            </a:endParaRPr>
          </a:p>
        </p:txBody>
      </p:sp>
      <p:sp>
        <p:nvSpPr>
          <p:cNvPr id="12" name="Content Placeholder 2">
            <a:extLst>
              <a:ext uri="{FF2B5EF4-FFF2-40B4-BE49-F238E27FC236}">
                <a16:creationId xmlns:a16="http://schemas.microsoft.com/office/drawing/2014/main" id="{055B1D70-DD75-E059-6208-5DFA669AE4B3}"/>
              </a:ext>
            </a:extLst>
          </p:cNvPr>
          <p:cNvSpPr txBox="1">
            <a:spLocks/>
          </p:cNvSpPr>
          <p:nvPr/>
        </p:nvSpPr>
        <p:spPr bwMode="auto">
          <a:xfrm>
            <a:off x="250825" y="1341438"/>
            <a:ext cx="8655050"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914400" indent="-5143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rgbClr val="FF6600"/>
              </a:buClr>
              <a:buFont typeface="Wingdings 3" panose="05040102010807070707" pitchFamily="18" charset="2"/>
              <a:buNone/>
            </a:pPr>
            <a:r>
              <a:rPr lang="en-CA" altLang="en-US" sz="2800">
                <a:latin typeface="Calibri" panose="020F0502020204030204" pitchFamily="34" charset="0"/>
              </a:rPr>
              <a:t>Write down the SQL statements</a:t>
            </a:r>
          </a:p>
          <a:p>
            <a:pPr lvl="1" eaLnBrk="1" hangingPunct="1">
              <a:spcBef>
                <a:spcPct val="20000"/>
              </a:spcBef>
              <a:buClr>
                <a:srgbClr val="FF6600"/>
              </a:buClr>
              <a:buFont typeface="Cambria" panose="02040503050406030204" pitchFamily="18" charset="0"/>
              <a:buAutoNum type="alphaLcParenR"/>
            </a:pPr>
            <a:r>
              <a:rPr lang="en-CA" altLang="en-US" sz="2800">
                <a:latin typeface="Calibri" panose="020F0502020204030204" pitchFamily="34" charset="0"/>
              </a:rPr>
              <a:t>Display the book named “The Hunger Game”</a:t>
            </a:r>
          </a:p>
          <a:p>
            <a:pPr lvl="1" eaLnBrk="1" hangingPunct="1">
              <a:spcBef>
                <a:spcPct val="20000"/>
              </a:spcBef>
              <a:buClr>
                <a:srgbClr val="FF6600"/>
              </a:buClr>
              <a:buFont typeface="Cambria" panose="02040503050406030204" pitchFamily="18" charset="0"/>
              <a:buAutoNum type="alphaLcParenR"/>
            </a:pPr>
            <a:endParaRPr lang="en-CA" altLang="en-US" sz="2800">
              <a:latin typeface="Calibri" panose="020F0502020204030204" pitchFamily="34" charset="0"/>
            </a:endParaRPr>
          </a:p>
          <a:p>
            <a:pPr lvl="1" eaLnBrk="1" hangingPunct="1">
              <a:spcBef>
                <a:spcPct val="20000"/>
              </a:spcBef>
              <a:buClr>
                <a:srgbClr val="FF6600"/>
              </a:buClr>
              <a:buFont typeface="Cambria" panose="02040503050406030204" pitchFamily="18" charset="0"/>
              <a:buAutoNum type="alphaLcParenR"/>
            </a:pPr>
            <a:endParaRPr lang="en-CA" altLang="en-US" sz="2800">
              <a:latin typeface="Calibri" panose="020F0502020204030204" pitchFamily="34" charset="0"/>
            </a:endParaRPr>
          </a:p>
          <a:p>
            <a:pPr lvl="1" eaLnBrk="1" hangingPunct="1">
              <a:spcBef>
                <a:spcPct val="20000"/>
              </a:spcBef>
              <a:buClr>
                <a:srgbClr val="FF6600"/>
              </a:buClr>
              <a:buFont typeface="Cambria" panose="02040503050406030204" pitchFamily="18" charset="0"/>
              <a:buAutoNum type="alphaLcParenR"/>
            </a:pPr>
            <a:endParaRPr lang="en-CA" altLang="en-US" sz="2800">
              <a:latin typeface="Calibri" panose="020F0502020204030204" pitchFamily="34" charset="0"/>
            </a:endParaRPr>
          </a:p>
          <a:p>
            <a:pPr lvl="1" eaLnBrk="1" hangingPunct="1">
              <a:spcBef>
                <a:spcPct val="20000"/>
              </a:spcBef>
              <a:buClr>
                <a:srgbClr val="FF6600"/>
              </a:buClr>
              <a:buFont typeface="Cambria" panose="02040503050406030204" pitchFamily="18" charset="0"/>
              <a:buAutoNum type="alphaLcParenR"/>
            </a:pPr>
            <a:endParaRPr lang="en-CA" altLang="en-US" sz="2000">
              <a:latin typeface="Calibri" panose="020F0502020204030204" pitchFamily="34" charset="0"/>
            </a:endParaRPr>
          </a:p>
          <a:p>
            <a:pPr lvl="1" eaLnBrk="1" hangingPunct="1">
              <a:spcBef>
                <a:spcPct val="20000"/>
              </a:spcBef>
              <a:buClr>
                <a:srgbClr val="FF6600"/>
              </a:buClr>
              <a:buFont typeface="Cambria" panose="02040503050406030204" pitchFamily="18" charset="0"/>
              <a:buAutoNum type="alphaLcParenR"/>
            </a:pPr>
            <a:r>
              <a:rPr lang="en-CA" altLang="en-US" sz="2800">
                <a:latin typeface="Calibri" panose="020F0502020204030204" pitchFamily="34" charset="0"/>
              </a:rPr>
              <a:t>Display ISBN and Title of book with ISBN of 12</a:t>
            </a:r>
            <a:endParaRPr lang="en-US" altLang="en-US" sz="2800">
              <a:latin typeface="Calibri" panose="020F0502020204030204" pitchFamily="34" charset="0"/>
            </a:endParaRPr>
          </a:p>
          <a:p>
            <a:pPr eaLnBrk="1" hangingPunct="1">
              <a:spcBef>
                <a:spcPct val="20000"/>
              </a:spcBef>
              <a:buClr>
                <a:srgbClr val="FF6600"/>
              </a:buClr>
              <a:buFont typeface="Wingdings 3" panose="05040102010807070707" pitchFamily="18" charset="2"/>
              <a:buNone/>
            </a:pPr>
            <a:endParaRPr lang="en-US" altLang="en-US" sz="3200">
              <a:solidFill>
                <a:srgbClr val="000000"/>
              </a:solidFill>
              <a:latin typeface="Calibri" panose="020F0502020204030204" pitchFamily="34" charset="0"/>
            </a:endParaRPr>
          </a:p>
          <a:p>
            <a:pPr eaLnBrk="1" hangingPunct="1">
              <a:spcBef>
                <a:spcPct val="20000"/>
              </a:spcBef>
              <a:buClr>
                <a:srgbClr val="FF6600"/>
              </a:buClr>
              <a:buFont typeface="Wingdings 3" panose="05040102010807070707" pitchFamily="18" charset="2"/>
              <a:buNone/>
            </a:pPr>
            <a:r>
              <a:rPr lang="en-US" altLang="en-US" sz="3200">
                <a:solidFill>
                  <a:srgbClr val="000000"/>
                </a:solidFill>
                <a:latin typeface="Calibri" panose="020F0502020204030204" pitchFamily="34" charset="0"/>
              </a:rPr>
              <a:t> </a:t>
            </a:r>
          </a:p>
          <a:p>
            <a:pPr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p:txBody>
      </p:sp>
      <p:sp>
        <p:nvSpPr>
          <p:cNvPr id="11" name="Rounded Rectangle 10">
            <a:extLst>
              <a:ext uri="{FF2B5EF4-FFF2-40B4-BE49-F238E27FC236}">
                <a16:creationId xmlns:a16="http://schemas.microsoft.com/office/drawing/2014/main" id="{1F5DBF80-F536-8E71-1DBE-B10994F7E64C}"/>
              </a:ext>
            </a:extLst>
          </p:cNvPr>
          <p:cNvSpPr/>
          <p:nvPr/>
        </p:nvSpPr>
        <p:spPr bwMode="auto">
          <a:xfrm>
            <a:off x="685800" y="3103563"/>
            <a:ext cx="7007225" cy="901700"/>
          </a:xfrm>
          <a:prstGeom prst="roundRect">
            <a:avLst/>
          </a:prstGeom>
          <a:solidFill>
            <a:schemeClr val="accent6">
              <a:alpha val="30000"/>
            </a:schemeClr>
          </a:solidFill>
          <a:ln w="9525" cap="flat" cmpd="sng" algn="ctr">
            <a:solidFill>
              <a:schemeClr val="accent6"/>
            </a:solidFill>
            <a:prstDash val="solid"/>
            <a:round/>
            <a:headEnd type="none" w="med" len="med"/>
            <a:tailEnd type="none" w="med" len="med"/>
          </a:ln>
          <a:effectLst/>
        </p:spPr>
        <p:txBody>
          <a:bodyPr anchor="ctr" anchorCtr="1"/>
          <a:lstStyle/>
          <a:p>
            <a:pPr>
              <a:defRPr/>
            </a:pPr>
            <a:r>
              <a:rPr lang="en-CA" sz="2800" dirty="0"/>
              <a:t>SELECT * FROM Book WHERE Title = 'The Hunger Game';</a:t>
            </a:r>
          </a:p>
        </p:txBody>
      </p:sp>
      <p:sp>
        <p:nvSpPr>
          <p:cNvPr id="17" name="Rounded Rectangle 16">
            <a:extLst>
              <a:ext uri="{FF2B5EF4-FFF2-40B4-BE49-F238E27FC236}">
                <a16:creationId xmlns:a16="http://schemas.microsoft.com/office/drawing/2014/main" id="{6A26FE86-D7C0-19DB-587F-124A6CBC5C50}"/>
              </a:ext>
            </a:extLst>
          </p:cNvPr>
          <p:cNvSpPr/>
          <p:nvPr/>
        </p:nvSpPr>
        <p:spPr bwMode="auto">
          <a:xfrm>
            <a:off x="684213" y="5480050"/>
            <a:ext cx="7005637" cy="901700"/>
          </a:xfrm>
          <a:prstGeom prst="roundRect">
            <a:avLst/>
          </a:prstGeom>
          <a:solidFill>
            <a:schemeClr val="accent6">
              <a:alpha val="30000"/>
            </a:schemeClr>
          </a:solidFill>
          <a:ln w="9525" cap="flat" cmpd="sng" algn="ctr">
            <a:solidFill>
              <a:schemeClr val="accent6"/>
            </a:solidFill>
            <a:prstDash val="solid"/>
            <a:round/>
            <a:headEnd type="none" w="med" len="med"/>
            <a:tailEnd type="none" w="med" len="med"/>
          </a:ln>
          <a:effectLst/>
        </p:spPr>
        <p:txBody>
          <a:bodyPr anchor="ctr" anchorCtr="1"/>
          <a:lstStyle/>
          <a:p>
            <a:pPr>
              <a:defRPr/>
            </a:pPr>
            <a:r>
              <a:rPr lang="en-CA" sz="2800" dirty="0"/>
              <a:t>SELECT ISBN, Title FROM Book WHERE ISBN = 12;</a:t>
            </a:r>
          </a:p>
        </p:txBody>
      </p:sp>
      <p:sp>
        <p:nvSpPr>
          <p:cNvPr id="15" name="Rounded Rectangle 14">
            <a:extLst>
              <a:ext uri="{FF2B5EF4-FFF2-40B4-BE49-F238E27FC236}">
                <a16:creationId xmlns:a16="http://schemas.microsoft.com/office/drawing/2014/main" id="{5D941FE2-E63A-A7A0-3D83-7DB8FA0C8E6A}"/>
              </a:ext>
            </a:extLst>
          </p:cNvPr>
          <p:cNvSpPr/>
          <p:nvPr/>
        </p:nvSpPr>
        <p:spPr bwMode="auto">
          <a:xfrm>
            <a:off x="3200400" y="2420938"/>
            <a:ext cx="2195513" cy="482600"/>
          </a:xfrm>
          <a:prstGeom prst="roundRect">
            <a:avLst/>
          </a:prstGeom>
          <a:ln>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nchorCtr="1"/>
          <a:lstStyle/>
          <a:p>
            <a:pPr algn="ctr">
              <a:defRPr/>
            </a:pPr>
            <a:r>
              <a:rPr lang="en-CA" sz="3200" dirty="0">
                <a:solidFill>
                  <a:schemeClr val="bg1"/>
                </a:solidFill>
                <a:latin typeface="Arial" charset="0"/>
              </a:rPr>
              <a:t>Answer</a:t>
            </a:r>
          </a:p>
        </p:txBody>
      </p:sp>
      <p:sp>
        <p:nvSpPr>
          <p:cNvPr id="25" name="Rounded Rectangle 24">
            <a:extLst>
              <a:ext uri="{FF2B5EF4-FFF2-40B4-BE49-F238E27FC236}">
                <a16:creationId xmlns:a16="http://schemas.microsoft.com/office/drawing/2014/main" id="{38BA2102-004A-F620-FA01-38D7E48DD053}"/>
              </a:ext>
            </a:extLst>
          </p:cNvPr>
          <p:cNvSpPr/>
          <p:nvPr/>
        </p:nvSpPr>
        <p:spPr bwMode="auto">
          <a:xfrm>
            <a:off x="3200400" y="4868863"/>
            <a:ext cx="2195513" cy="482600"/>
          </a:xfrm>
          <a:prstGeom prst="roundRect">
            <a:avLst/>
          </a:prstGeom>
          <a:ln>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nchorCtr="1"/>
          <a:lstStyle/>
          <a:p>
            <a:pPr algn="ctr">
              <a:defRPr/>
            </a:pPr>
            <a:r>
              <a:rPr lang="en-CA" sz="3200" dirty="0">
                <a:solidFill>
                  <a:schemeClr val="bg1"/>
                </a:solidFill>
                <a:latin typeface="Arial" charset="0"/>
              </a:rPr>
              <a:t>Answer</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wipe(left)">
                                      <p:cBhvr>
                                        <p:cTn id="7" dur="500"/>
                                        <p:tgtEl>
                                          <p:spTgt spid="12">
                                            <p:txEl>
                                              <p:pRg st="0" end="0"/>
                                            </p:txEl>
                                          </p:spTgt>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12">
                                            <p:txEl>
                                              <p:pRg st="1" end="1"/>
                                            </p:txEl>
                                          </p:spTgt>
                                        </p:tgtEl>
                                        <p:attrNameLst>
                                          <p:attrName>style.visibility</p:attrName>
                                        </p:attrNameLst>
                                      </p:cBhvr>
                                      <p:to>
                                        <p:strVal val="visible"/>
                                      </p:to>
                                    </p:set>
                                    <p:animEffect transition="in" filter="wipe(up)">
                                      <p:cBhvr>
                                        <p:cTn id="11" dur="500"/>
                                        <p:tgtEl>
                                          <p:spTgt spid="12">
                                            <p:txEl>
                                              <p:pRg st="1" end="1"/>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wipe(left)">
                                      <p:cBhvr>
                                        <p:cTn id="15" dur="500"/>
                                        <p:tgtEl>
                                          <p:spTgt spid="15"/>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1" fill="hold" nodeType="clickEffect">
                                  <p:stCondLst>
                                    <p:cond delay="0"/>
                                  </p:stCondLst>
                                  <p:childTnLst>
                                    <p:set>
                                      <p:cBhvr>
                                        <p:cTn id="19" dur="1" fill="hold">
                                          <p:stCondLst>
                                            <p:cond delay="0"/>
                                          </p:stCondLst>
                                        </p:cTn>
                                        <p:tgtEl>
                                          <p:spTgt spid="12">
                                            <p:txEl>
                                              <p:pRg st="6" end="6"/>
                                            </p:txEl>
                                          </p:spTgt>
                                        </p:tgtEl>
                                        <p:attrNameLst>
                                          <p:attrName>style.visibility</p:attrName>
                                        </p:attrNameLst>
                                      </p:cBhvr>
                                      <p:to>
                                        <p:strVal val="visible"/>
                                      </p:to>
                                    </p:set>
                                    <p:animEffect transition="in" filter="wipe(up)">
                                      <p:cBhvr>
                                        <p:cTn id="20" dur="500"/>
                                        <p:tgtEl>
                                          <p:spTgt spid="12">
                                            <p:txEl>
                                              <p:pRg st="6" end="6"/>
                                            </p:txEl>
                                          </p:spTgt>
                                        </p:tgtEl>
                                      </p:cBhvr>
                                    </p:animEffect>
                                  </p:childTnLst>
                                </p:cTn>
                              </p:par>
                            </p:childTnLst>
                          </p:cTn>
                        </p:par>
                        <p:par>
                          <p:cTn id="21" fill="hold" nodeType="afterGroup">
                            <p:stCondLst>
                              <p:cond delay="500"/>
                            </p:stCondLst>
                            <p:childTnLst>
                              <p:par>
                                <p:cTn id="22" presetID="22" presetClass="entr" presetSubtype="8" fill="hold" grpId="0" nodeType="afterEffect">
                                  <p:stCondLst>
                                    <p:cond delay="0"/>
                                  </p:stCondLst>
                                  <p:childTnLst>
                                    <p:set>
                                      <p:cBhvr>
                                        <p:cTn id="23" dur="1" fill="hold">
                                          <p:stCondLst>
                                            <p:cond delay="0"/>
                                          </p:stCondLst>
                                        </p:cTn>
                                        <p:tgtEl>
                                          <p:spTgt spid="25"/>
                                        </p:tgtEl>
                                        <p:attrNameLst>
                                          <p:attrName>style.visibility</p:attrName>
                                        </p:attrNameLst>
                                      </p:cBhvr>
                                      <p:to>
                                        <p:strVal val="visible"/>
                                      </p:to>
                                    </p:set>
                                    <p:animEffect transition="in" filter="wipe(left)">
                                      <p:cBhvr>
                                        <p:cTn id="24"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25" restart="whenNotActive" fill="hold" evtFilter="cancelBubble" nodeType="interactiveSeq">
                <p:stCondLst>
                  <p:cond evt="onClick" delay="0">
                    <p:tgtEl>
                      <p:spTgt spid="15"/>
                    </p:tgtEl>
                  </p:cond>
                </p:stCondLst>
                <p:endSync evt="end" delay="0">
                  <p:rtn val="all"/>
                </p:endSync>
                <p:childTnLst>
                  <p:par>
                    <p:cTn id="26" fill="hold" nodeType="clickPar">
                      <p:stCondLst>
                        <p:cond delay="0"/>
                      </p:stCondLst>
                      <p:childTnLst>
                        <p:par>
                          <p:cTn id="27" fill="hold" nodeType="withGroup">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11"/>
                                        </p:tgtEl>
                                        <p:attrNameLst>
                                          <p:attrName>style.visibility</p:attrName>
                                        </p:attrNameLst>
                                      </p:cBhvr>
                                      <p:to>
                                        <p:strVal val="visible"/>
                                      </p:to>
                                    </p:set>
                                  </p:childTnLst>
                                </p:cTn>
                              </p:par>
                            </p:childTnLst>
                          </p:cTn>
                        </p:par>
                      </p:childTnLst>
                    </p:cTn>
                  </p:par>
                </p:childTnLst>
              </p:cTn>
              <p:nextCondLst>
                <p:cond evt="onClick" delay="0">
                  <p:tgtEl>
                    <p:spTgt spid="15"/>
                  </p:tgtEl>
                </p:cond>
              </p:nextCondLst>
            </p:seq>
            <p:seq concurrent="1" nextAc="seek">
              <p:cTn id="30" restart="whenNotActive" fill="hold" evtFilter="cancelBubble" nodeType="interactiveSeq">
                <p:stCondLst>
                  <p:cond evt="onClick" delay="0">
                    <p:tgtEl>
                      <p:spTgt spid="25"/>
                    </p:tgtEl>
                  </p:cond>
                </p:stCondLst>
                <p:endSync evt="end" delay="0">
                  <p:rtn val="all"/>
                </p:endSync>
                <p:childTnLst>
                  <p:par>
                    <p:cTn id="31" fill="hold" nodeType="clickPar">
                      <p:stCondLst>
                        <p:cond delay="0"/>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childTnLst>
                          </p:cTn>
                        </p:par>
                      </p:childTnLst>
                    </p:cTn>
                  </p:par>
                </p:childTnLst>
              </p:cTn>
              <p:nextCondLst>
                <p:cond evt="onClick" delay="0">
                  <p:tgtEl>
                    <p:spTgt spid="25"/>
                  </p:tgtEl>
                </p:cond>
              </p:nextCondLst>
            </p:seq>
          </p:childTnLst>
        </p:cTn>
      </p:par>
    </p:tnLst>
    <p:bldLst>
      <p:bldP spid="11" grpId="0" animBg="1"/>
      <p:bldP spid="17" grpId="0" animBg="1"/>
      <p:bldP spid="15" grpId="0" animBg="1"/>
      <p:bldP spid="25"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567B9-59CE-3CB7-1B16-51F1E146035E}"/>
              </a:ext>
            </a:extLst>
          </p:cNvPr>
          <p:cNvSpPr>
            <a:spLocks noGrp="1"/>
          </p:cNvSpPr>
          <p:nvPr>
            <p:ph type="title"/>
          </p:nvPr>
        </p:nvSpPr>
        <p:spPr>
          <a:xfrm>
            <a:off x="457200" y="0"/>
            <a:ext cx="7620000" cy="1143000"/>
          </a:xfrm>
        </p:spPr>
        <p:txBody>
          <a:bodyPr/>
          <a:lstStyle/>
          <a:p>
            <a:pPr>
              <a:defRPr/>
            </a:pPr>
            <a:r>
              <a:rPr lang="en-US" dirty="0"/>
              <a:t>Manipulating Data Using SQL</a:t>
            </a:r>
            <a:endParaRPr lang="en-MY" dirty="0"/>
          </a:p>
        </p:txBody>
      </p:sp>
      <p:sp>
        <p:nvSpPr>
          <p:cNvPr id="14" name="Snip Single Corner Rectangle 13">
            <a:extLst>
              <a:ext uri="{FF2B5EF4-FFF2-40B4-BE49-F238E27FC236}">
                <a16:creationId xmlns:a16="http://schemas.microsoft.com/office/drawing/2014/main" id="{FEAC20B9-FD52-C9D1-7BB3-2F78CBE199FE}"/>
              </a:ext>
            </a:extLst>
          </p:cNvPr>
          <p:cNvSpPr/>
          <p:nvPr/>
        </p:nvSpPr>
        <p:spPr>
          <a:xfrm>
            <a:off x="-36513" y="1350963"/>
            <a:ext cx="1152526" cy="401637"/>
          </a:xfrm>
          <a:prstGeom prst="snip1Rect">
            <a:avLst/>
          </a:prstGeom>
          <a:solidFill>
            <a:srgbClr val="120B7C">
              <a:alpha val="70000"/>
            </a:srgbClr>
          </a:solidFill>
          <a:ln>
            <a:solidFill>
              <a:srgbClr val="120B7C"/>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indent="-342900" algn="just" eaLnBrk="1" hangingPunct="1">
              <a:spcBef>
                <a:spcPct val="20000"/>
              </a:spcBef>
              <a:buClr>
                <a:srgbClr val="FF6600"/>
              </a:buClr>
              <a:buSzPct val="100000"/>
              <a:defRPr/>
            </a:pPr>
            <a:r>
              <a:rPr lang="en-US" dirty="0">
                <a:latin typeface="Arial" pitchFamily="34" charset="0"/>
                <a:ea typeface="Times New Roman" pitchFamily="18" charset="0"/>
                <a:cs typeface="Arial" pitchFamily="34" charset="0"/>
              </a:rPr>
              <a:t>SELECT</a:t>
            </a:r>
            <a:endParaRPr lang="en-GB" kern="0" dirty="0">
              <a:solidFill>
                <a:schemeClr val="tx1"/>
              </a:solidFill>
            </a:endParaRPr>
          </a:p>
        </p:txBody>
      </p:sp>
      <p:sp>
        <p:nvSpPr>
          <p:cNvPr id="20" name="Content Placeholder 2">
            <a:extLst>
              <a:ext uri="{FF2B5EF4-FFF2-40B4-BE49-F238E27FC236}">
                <a16:creationId xmlns:a16="http://schemas.microsoft.com/office/drawing/2014/main" id="{B09EFC84-F6AB-16A1-27DD-A4335B5D7E18}"/>
              </a:ext>
            </a:extLst>
          </p:cNvPr>
          <p:cNvSpPr txBox="1">
            <a:spLocks/>
          </p:cNvSpPr>
          <p:nvPr/>
        </p:nvSpPr>
        <p:spPr bwMode="auto">
          <a:xfrm>
            <a:off x="250825" y="1773238"/>
            <a:ext cx="7902575"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rgbClr val="FF6600"/>
              </a:buClr>
              <a:buFont typeface="Wingdings 3" panose="05040102010807070707" pitchFamily="18" charset="2"/>
              <a:buNone/>
            </a:pPr>
            <a:r>
              <a:rPr lang="en-CA" altLang="en-US" sz="2800">
                <a:latin typeface="Calibri" panose="020F0502020204030204" pitchFamily="34" charset="0"/>
              </a:rPr>
              <a:t>With SELECT, one can specify multiple &lt;condition&gt; as well. If all the &lt;condition&gt; need to be satisfied, the SQL syntax is: </a:t>
            </a:r>
          </a:p>
          <a:p>
            <a:pPr algn="just" eaLnBrk="1" hangingPunct="1">
              <a:spcBef>
                <a:spcPct val="20000"/>
              </a:spcBef>
              <a:buClr>
                <a:srgbClr val="FF6600"/>
              </a:buClr>
              <a:buFont typeface="Wingdings 3" panose="05040102010807070707" pitchFamily="18" charset="2"/>
              <a:buNone/>
            </a:pPr>
            <a:endParaRPr lang="en-CA"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16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r>
              <a:rPr lang="en-CA" altLang="en-US" sz="2800">
                <a:latin typeface="Calibri" panose="020F0502020204030204" pitchFamily="34" charset="0"/>
              </a:rPr>
              <a:t>For example, display only those books with more than 5 copies but less than 10 copies</a:t>
            </a:r>
          </a:p>
        </p:txBody>
      </p:sp>
      <p:sp>
        <p:nvSpPr>
          <p:cNvPr id="16" name="Rounded Rectangle 15">
            <a:extLst>
              <a:ext uri="{FF2B5EF4-FFF2-40B4-BE49-F238E27FC236}">
                <a16:creationId xmlns:a16="http://schemas.microsoft.com/office/drawing/2014/main" id="{3AC5EB21-7EF0-43A2-F99A-91531D847622}"/>
              </a:ext>
            </a:extLst>
          </p:cNvPr>
          <p:cNvSpPr>
            <a:spLocks noChangeArrowheads="1"/>
          </p:cNvSpPr>
          <p:nvPr/>
        </p:nvSpPr>
        <p:spPr bwMode="auto">
          <a:xfrm>
            <a:off x="838200" y="3168650"/>
            <a:ext cx="6718300" cy="1008063"/>
          </a:xfrm>
          <a:prstGeom prst="roundRect">
            <a:avLst>
              <a:gd name="adj" fmla="val 16667"/>
            </a:avLst>
          </a:prstGeom>
          <a:solidFill>
            <a:srgbClr val="7F7B00">
              <a:alpha val="30196"/>
            </a:srgbClr>
          </a:solidFill>
          <a:ln w="9525" algn="ctr">
            <a:solidFill>
              <a:srgbClr val="7F7B00"/>
            </a:solidFill>
            <a:round/>
            <a:headEnd/>
            <a:tailEnd/>
          </a:ln>
        </p:spPr>
        <p:txBody>
          <a:bodyPr anchor="ctr" anchorCtr="1"/>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CA" altLang="en-US" sz="2800"/>
              <a:t>…WHERE  &lt;condition&gt; AND &lt;condition&gt; AND &lt;condition&gt;…;</a:t>
            </a:r>
          </a:p>
        </p:txBody>
      </p:sp>
      <p:sp>
        <p:nvSpPr>
          <p:cNvPr id="17" name="Rounded Rectangle 16">
            <a:extLst>
              <a:ext uri="{FF2B5EF4-FFF2-40B4-BE49-F238E27FC236}">
                <a16:creationId xmlns:a16="http://schemas.microsoft.com/office/drawing/2014/main" id="{13D9D454-E187-18F6-C314-D077E2A98520}"/>
              </a:ext>
            </a:extLst>
          </p:cNvPr>
          <p:cNvSpPr/>
          <p:nvPr/>
        </p:nvSpPr>
        <p:spPr bwMode="auto">
          <a:xfrm>
            <a:off x="838200" y="5480050"/>
            <a:ext cx="6718300" cy="901700"/>
          </a:xfrm>
          <a:prstGeom prst="roundRect">
            <a:avLst/>
          </a:prstGeom>
          <a:solidFill>
            <a:schemeClr val="accent6">
              <a:alpha val="30000"/>
            </a:schemeClr>
          </a:solidFill>
          <a:ln w="9525" cap="flat" cmpd="sng" algn="ctr">
            <a:solidFill>
              <a:schemeClr val="accent6"/>
            </a:solidFill>
            <a:prstDash val="solid"/>
            <a:round/>
            <a:headEnd type="none" w="med" len="med"/>
            <a:tailEnd type="none" w="med" len="med"/>
          </a:ln>
          <a:effectLst/>
        </p:spPr>
        <p:txBody>
          <a:bodyPr anchor="ctr" anchorCtr="1"/>
          <a:lstStyle/>
          <a:p>
            <a:pPr>
              <a:defRPr/>
            </a:pPr>
            <a:r>
              <a:rPr lang="en-CA" sz="2800" dirty="0"/>
              <a:t>SELECT * FROM Book WHERE Quantity &gt; </a:t>
            </a:r>
            <a:r>
              <a:rPr lang="en-CA" sz="2800"/>
              <a:t>5 AND </a:t>
            </a:r>
            <a:r>
              <a:rPr lang="en-CA" sz="2800" dirty="0"/>
              <a:t>Quantity &lt; 10;</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Effect transition="in" filter="wipe(up)">
                                      <p:cBhvr>
                                        <p:cTn id="7" dur="500"/>
                                        <p:tgtEl>
                                          <p:spTgt spid="20">
                                            <p:txEl>
                                              <p:pRg st="0" end="0"/>
                                            </p:txEl>
                                          </p:spTgt>
                                        </p:tgtEl>
                                      </p:cBhvr>
                                    </p:animEffect>
                                  </p:childTnLst>
                                </p:cTn>
                              </p:par>
                            </p:childTnLst>
                          </p:cTn>
                        </p:par>
                        <p:par>
                          <p:cTn id="8" fill="hold" nodeType="afterGroup">
                            <p:stCondLst>
                              <p:cond delay="500"/>
                            </p:stCondLst>
                            <p:childTnLst>
                              <p:par>
                                <p:cTn id="9" presetID="16" presetClass="entr" presetSubtype="21" fill="hold" grpId="0"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barn(inVertical)">
                                      <p:cBhvr>
                                        <p:cTn id="11" dur="500"/>
                                        <p:tgtEl>
                                          <p:spTgt spid="16"/>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20">
                                            <p:txEl>
                                              <p:pRg st="4" end="4"/>
                                            </p:txEl>
                                          </p:spTgt>
                                        </p:tgtEl>
                                        <p:attrNameLst>
                                          <p:attrName>style.visibility</p:attrName>
                                        </p:attrNameLst>
                                      </p:cBhvr>
                                      <p:to>
                                        <p:strVal val="visible"/>
                                      </p:to>
                                    </p:set>
                                    <p:animEffect transition="in" filter="wipe(up)">
                                      <p:cBhvr>
                                        <p:cTn id="16" dur="500"/>
                                        <p:tgtEl>
                                          <p:spTgt spid="20">
                                            <p:txEl>
                                              <p:pRg st="4" end="4"/>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6" presetClass="entr" presetSubtype="21" fill="hold" grpId="0" nodeType="click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barn(inVertical)">
                                      <p:cBhvr>
                                        <p:cTn id="21"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F7F3AD-4BC1-AC83-7216-F58B3BB11678}"/>
              </a:ext>
            </a:extLst>
          </p:cNvPr>
          <p:cNvSpPr>
            <a:spLocks noGrp="1"/>
          </p:cNvSpPr>
          <p:nvPr>
            <p:ph type="title"/>
          </p:nvPr>
        </p:nvSpPr>
        <p:spPr>
          <a:xfrm>
            <a:off x="457200" y="0"/>
            <a:ext cx="7620000" cy="1143000"/>
          </a:xfrm>
        </p:spPr>
        <p:txBody>
          <a:bodyPr/>
          <a:lstStyle/>
          <a:p>
            <a:pPr>
              <a:defRPr/>
            </a:pPr>
            <a:r>
              <a:rPr lang="en-US" dirty="0"/>
              <a:t>Manipulating Data Using SQL</a:t>
            </a:r>
            <a:endParaRPr lang="en-MY" dirty="0"/>
          </a:p>
        </p:txBody>
      </p:sp>
      <p:sp>
        <p:nvSpPr>
          <p:cNvPr id="14" name="Snip Single Corner Rectangle 13">
            <a:extLst>
              <a:ext uri="{FF2B5EF4-FFF2-40B4-BE49-F238E27FC236}">
                <a16:creationId xmlns:a16="http://schemas.microsoft.com/office/drawing/2014/main" id="{CE382060-A6C6-45B4-FA65-AB6966A4A7D5}"/>
              </a:ext>
            </a:extLst>
          </p:cNvPr>
          <p:cNvSpPr/>
          <p:nvPr/>
        </p:nvSpPr>
        <p:spPr>
          <a:xfrm>
            <a:off x="-36513" y="1350963"/>
            <a:ext cx="1152526" cy="401637"/>
          </a:xfrm>
          <a:prstGeom prst="snip1Rect">
            <a:avLst/>
          </a:prstGeom>
          <a:solidFill>
            <a:srgbClr val="120B7C">
              <a:alpha val="70000"/>
            </a:srgbClr>
          </a:solidFill>
          <a:ln>
            <a:solidFill>
              <a:srgbClr val="120B7C"/>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indent="-342900" algn="just" eaLnBrk="1" hangingPunct="1">
              <a:spcBef>
                <a:spcPct val="20000"/>
              </a:spcBef>
              <a:buClr>
                <a:srgbClr val="FF6600"/>
              </a:buClr>
              <a:buSzPct val="100000"/>
              <a:defRPr/>
            </a:pPr>
            <a:r>
              <a:rPr lang="en-US" dirty="0">
                <a:latin typeface="Arial" pitchFamily="34" charset="0"/>
                <a:ea typeface="Times New Roman" pitchFamily="18" charset="0"/>
                <a:cs typeface="Arial" pitchFamily="34" charset="0"/>
              </a:rPr>
              <a:t>SELECT</a:t>
            </a:r>
            <a:endParaRPr lang="en-GB" kern="0" dirty="0">
              <a:solidFill>
                <a:schemeClr val="tx1"/>
              </a:solidFill>
            </a:endParaRPr>
          </a:p>
        </p:txBody>
      </p:sp>
      <p:sp>
        <p:nvSpPr>
          <p:cNvPr id="20" name="Content Placeholder 2">
            <a:extLst>
              <a:ext uri="{FF2B5EF4-FFF2-40B4-BE49-F238E27FC236}">
                <a16:creationId xmlns:a16="http://schemas.microsoft.com/office/drawing/2014/main" id="{605B16A8-D8BE-9CD7-3231-E903BAF73C29}"/>
              </a:ext>
            </a:extLst>
          </p:cNvPr>
          <p:cNvSpPr txBox="1">
            <a:spLocks/>
          </p:cNvSpPr>
          <p:nvPr/>
        </p:nvSpPr>
        <p:spPr bwMode="auto">
          <a:xfrm>
            <a:off x="250825" y="1773238"/>
            <a:ext cx="7978775"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rgbClr val="FF6600"/>
              </a:buClr>
              <a:buFont typeface="Wingdings 3" panose="05040102010807070707" pitchFamily="18" charset="2"/>
              <a:buNone/>
            </a:pPr>
            <a:r>
              <a:rPr lang="en-CA" altLang="en-US" sz="2800">
                <a:latin typeface="Calibri" panose="020F0502020204030204" pitchFamily="34" charset="0"/>
              </a:rPr>
              <a:t>If given multiple &lt;condition&gt; but only </a:t>
            </a:r>
            <a:r>
              <a:rPr lang="en-CA" altLang="en-US" sz="2800" b="1">
                <a:latin typeface="Calibri" panose="020F0502020204030204" pitchFamily="34" charset="0"/>
              </a:rPr>
              <a:t>one</a:t>
            </a:r>
            <a:r>
              <a:rPr lang="en-CA" altLang="en-US" sz="2800">
                <a:latin typeface="Calibri" panose="020F0502020204030204" pitchFamily="34" charset="0"/>
              </a:rPr>
              <a:t> of the &lt;condition&gt; needs to be satisfied. The SQL syntax is:</a:t>
            </a:r>
          </a:p>
          <a:p>
            <a:pPr algn="just" eaLnBrk="1" hangingPunct="1">
              <a:spcBef>
                <a:spcPct val="20000"/>
              </a:spcBef>
              <a:buClr>
                <a:srgbClr val="FF6600"/>
              </a:buClr>
              <a:buFont typeface="Wingdings 3" panose="05040102010807070707" pitchFamily="18" charset="2"/>
              <a:buNone/>
            </a:pPr>
            <a:endParaRPr lang="en-CA"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24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r>
              <a:rPr lang="en-CA" altLang="en-US" sz="2800">
                <a:latin typeface="Calibri" panose="020F0502020204030204" pitchFamily="34" charset="0"/>
              </a:rPr>
              <a:t>For example, display only those books where we have either 4 or 5 copies</a:t>
            </a:r>
          </a:p>
        </p:txBody>
      </p:sp>
      <p:sp>
        <p:nvSpPr>
          <p:cNvPr id="16" name="Rounded Rectangle 15">
            <a:extLst>
              <a:ext uri="{FF2B5EF4-FFF2-40B4-BE49-F238E27FC236}">
                <a16:creationId xmlns:a16="http://schemas.microsoft.com/office/drawing/2014/main" id="{A0579F2E-C4D7-5EDD-A95F-73A6C2CC5387}"/>
              </a:ext>
            </a:extLst>
          </p:cNvPr>
          <p:cNvSpPr>
            <a:spLocks noChangeArrowheads="1"/>
          </p:cNvSpPr>
          <p:nvPr/>
        </p:nvSpPr>
        <p:spPr bwMode="auto">
          <a:xfrm>
            <a:off x="762000" y="2781300"/>
            <a:ext cx="7007225" cy="1008063"/>
          </a:xfrm>
          <a:prstGeom prst="roundRect">
            <a:avLst>
              <a:gd name="adj" fmla="val 16667"/>
            </a:avLst>
          </a:prstGeom>
          <a:solidFill>
            <a:srgbClr val="7F7B00">
              <a:alpha val="30196"/>
            </a:srgbClr>
          </a:solidFill>
          <a:ln w="9525" algn="ctr">
            <a:solidFill>
              <a:srgbClr val="7F7B00"/>
            </a:solidFill>
            <a:round/>
            <a:headEnd/>
            <a:tailEnd/>
          </a:ln>
        </p:spPr>
        <p:txBody>
          <a:bodyPr anchor="ctr" anchorCtr="1"/>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CA" altLang="en-US" sz="2800"/>
              <a:t>…WHERE  &lt;condition&gt; OR &lt;condition&gt; OR &lt;condition&gt;…;</a:t>
            </a:r>
          </a:p>
        </p:txBody>
      </p:sp>
      <p:sp>
        <p:nvSpPr>
          <p:cNvPr id="17" name="Rounded Rectangle 16">
            <a:extLst>
              <a:ext uri="{FF2B5EF4-FFF2-40B4-BE49-F238E27FC236}">
                <a16:creationId xmlns:a16="http://schemas.microsoft.com/office/drawing/2014/main" id="{0BEDCB22-9A41-0F9F-A787-5BF7563CC136}"/>
              </a:ext>
            </a:extLst>
          </p:cNvPr>
          <p:cNvSpPr/>
          <p:nvPr/>
        </p:nvSpPr>
        <p:spPr bwMode="auto">
          <a:xfrm>
            <a:off x="838200" y="5205413"/>
            <a:ext cx="6718300" cy="901700"/>
          </a:xfrm>
          <a:prstGeom prst="roundRect">
            <a:avLst/>
          </a:prstGeom>
          <a:solidFill>
            <a:schemeClr val="accent6">
              <a:alpha val="30000"/>
            </a:schemeClr>
          </a:solidFill>
          <a:ln w="9525" cap="flat" cmpd="sng" algn="ctr">
            <a:solidFill>
              <a:schemeClr val="accent6"/>
            </a:solidFill>
            <a:prstDash val="solid"/>
            <a:round/>
            <a:headEnd type="none" w="med" len="med"/>
            <a:tailEnd type="none" w="med" len="med"/>
          </a:ln>
          <a:effectLst/>
        </p:spPr>
        <p:txBody>
          <a:bodyPr anchor="ctr" anchorCtr="1"/>
          <a:lstStyle/>
          <a:p>
            <a:pPr>
              <a:defRPr/>
            </a:pPr>
            <a:r>
              <a:rPr lang="en-CA" sz="2800" dirty="0"/>
              <a:t>SELECT * FROM Book WHERE Quantity = 4 OR Quantity = 5;</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Effect transition="in" filter="wipe(up)">
                                      <p:cBhvr>
                                        <p:cTn id="7" dur="500"/>
                                        <p:tgtEl>
                                          <p:spTgt spid="20">
                                            <p:txEl>
                                              <p:pRg st="0" end="0"/>
                                            </p:txEl>
                                          </p:spTgt>
                                        </p:tgtEl>
                                      </p:cBhvr>
                                    </p:animEffect>
                                  </p:childTnLst>
                                </p:cTn>
                              </p:par>
                            </p:childTnLst>
                          </p:cTn>
                        </p:par>
                        <p:par>
                          <p:cTn id="8" fill="hold" nodeType="afterGroup">
                            <p:stCondLst>
                              <p:cond delay="500"/>
                            </p:stCondLst>
                            <p:childTnLst>
                              <p:par>
                                <p:cTn id="9" presetID="16" presetClass="entr" presetSubtype="21" fill="hold" grpId="0"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barn(inVertical)">
                                      <p:cBhvr>
                                        <p:cTn id="11" dur="500"/>
                                        <p:tgtEl>
                                          <p:spTgt spid="16"/>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20">
                                            <p:txEl>
                                              <p:pRg st="4" end="4"/>
                                            </p:txEl>
                                          </p:spTgt>
                                        </p:tgtEl>
                                        <p:attrNameLst>
                                          <p:attrName>style.visibility</p:attrName>
                                        </p:attrNameLst>
                                      </p:cBhvr>
                                      <p:to>
                                        <p:strVal val="visible"/>
                                      </p:to>
                                    </p:set>
                                    <p:animEffect transition="in" filter="wipe(up)">
                                      <p:cBhvr>
                                        <p:cTn id="16" dur="500"/>
                                        <p:tgtEl>
                                          <p:spTgt spid="20">
                                            <p:txEl>
                                              <p:pRg st="4" end="4"/>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6" presetClass="entr" presetSubtype="21" fill="hold" grpId="0" nodeType="click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barn(inVertical)">
                                      <p:cBhvr>
                                        <p:cTn id="21"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68248C-2918-7F83-996C-724E277B77D7}"/>
              </a:ext>
            </a:extLst>
          </p:cNvPr>
          <p:cNvSpPr>
            <a:spLocks noGrp="1"/>
          </p:cNvSpPr>
          <p:nvPr>
            <p:ph type="title"/>
          </p:nvPr>
        </p:nvSpPr>
        <p:spPr>
          <a:xfrm>
            <a:off x="457200" y="0"/>
            <a:ext cx="7620000" cy="1143000"/>
          </a:xfrm>
        </p:spPr>
        <p:txBody>
          <a:bodyPr/>
          <a:lstStyle/>
          <a:p>
            <a:pPr algn="ctr">
              <a:defRPr/>
            </a:pPr>
            <a:r>
              <a:rPr lang="en-US" dirty="0"/>
              <a:t>Activity 3</a:t>
            </a:r>
            <a:endParaRPr lang="en-MY" dirty="0"/>
          </a:p>
        </p:txBody>
      </p:sp>
      <p:sp>
        <p:nvSpPr>
          <p:cNvPr id="23" name="Title 1">
            <a:extLst>
              <a:ext uri="{FF2B5EF4-FFF2-40B4-BE49-F238E27FC236}">
                <a16:creationId xmlns:a16="http://schemas.microsoft.com/office/drawing/2014/main" id="{D70BBD3C-B890-4F04-93C3-C73DAA00C896}"/>
              </a:ext>
            </a:extLst>
          </p:cNvPr>
          <p:cNvSpPr txBox="1">
            <a:spLocks/>
          </p:cNvSpPr>
          <p:nvPr/>
        </p:nvSpPr>
        <p:spPr bwMode="auto">
          <a:xfrm>
            <a:off x="0" y="1123950"/>
            <a:ext cx="8172450" cy="323850"/>
          </a:xfrm>
          <a:prstGeom prst="rect">
            <a:avLst/>
          </a:prstGeom>
          <a:noFill/>
          <a:ln w="9525">
            <a:noFill/>
            <a:miter lim="800000"/>
            <a:headEnd/>
            <a:tailEnd/>
          </a:ln>
        </p:spPr>
        <p:txBody>
          <a:bodyPr lIns="72000" tIns="0" rIns="72000" bIns="0"/>
          <a:lstStyle/>
          <a:p>
            <a:pPr defTabSz="720000" eaLnBrk="1" hangingPunct="1">
              <a:lnSpc>
                <a:spcPts val="1800"/>
              </a:lnSpc>
              <a:spcBef>
                <a:spcPts val="0"/>
              </a:spcBef>
              <a:spcAft>
                <a:spcPts val="0"/>
              </a:spcAft>
              <a:tabLst>
                <a:tab pos="0" algn="l"/>
              </a:tabLst>
              <a:defRPr/>
            </a:pPr>
            <a:r>
              <a:rPr lang="en-CA" b="1" kern="0" dirty="0">
                <a:cs typeface="Calibri" pitchFamily="34" charset="0"/>
              </a:rPr>
              <a:t>CLASS ACTIVITY</a:t>
            </a:r>
            <a:endParaRPr lang="en-MY" b="1" kern="0" dirty="0">
              <a:cs typeface="Calibri" pitchFamily="34" charset="0"/>
            </a:endParaRPr>
          </a:p>
          <a:p>
            <a:pPr defTabSz="720000" eaLnBrk="1" hangingPunct="1">
              <a:lnSpc>
                <a:spcPts val="1800"/>
              </a:lnSpc>
              <a:spcBef>
                <a:spcPts val="0"/>
              </a:spcBef>
              <a:spcAft>
                <a:spcPts val="0"/>
              </a:spcAft>
              <a:tabLst>
                <a:tab pos="0" algn="l"/>
              </a:tabLst>
              <a:defRPr/>
            </a:pPr>
            <a:endParaRPr lang="en-MY" b="1" kern="0" dirty="0">
              <a:latin typeface="+mn-lt"/>
              <a:ea typeface="+mj-ea"/>
              <a:cs typeface="Calibri" pitchFamily="34" charset="0"/>
            </a:endParaRPr>
          </a:p>
        </p:txBody>
      </p:sp>
      <p:sp>
        <p:nvSpPr>
          <p:cNvPr id="12" name="Content Placeholder 2">
            <a:extLst>
              <a:ext uri="{FF2B5EF4-FFF2-40B4-BE49-F238E27FC236}">
                <a16:creationId xmlns:a16="http://schemas.microsoft.com/office/drawing/2014/main" id="{931D574A-71CA-3239-A86F-A857ACC4CA8C}"/>
              </a:ext>
            </a:extLst>
          </p:cNvPr>
          <p:cNvSpPr txBox="1">
            <a:spLocks/>
          </p:cNvSpPr>
          <p:nvPr/>
        </p:nvSpPr>
        <p:spPr bwMode="auto">
          <a:xfrm>
            <a:off x="250825" y="1341438"/>
            <a:ext cx="7978775"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914400" indent="-5143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rgbClr val="FF6600"/>
              </a:buClr>
              <a:buFont typeface="Wingdings 3" panose="05040102010807070707" pitchFamily="18" charset="2"/>
              <a:buNone/>
            </a:pPr>
            <a:r>
              <a:rPr lang="en-CA" altLang="en-US" sz="2800">
                <a:latin typeface="Calibri" panose="020F0502020204030204" pitchFamily="34" charset="0"/>
              </a:rPr>
              <a:t>Write down the SQL statement</a:t>
            </a:r>
          </a:p>
          <a:p>
            <a:pPr lvl="1" algn="just" eaLnBrk="1" hangingPunct="1">
              <a:spcBef>
                <a:spcPct val="20000"/>
              </a:spcBef>
              <a:buClr>
                <a:srgbClr val="FF6600"/>
              </a:buClr>
              <a:buFont typeface="Cambria" panose="02040503050406030204" pitchFamily="18" charset="0"/>
              <a:buAutoNum type="alphaLcParenR"/>
            </a:pPr>
            <a:r>
              <a:rPr lang="en-CA" altLang="en-US" sz="2800">
                <a:latin typeface="Calibri" panose="020F0502020204030204" pitchFamily="34" charset="0"/>
              </a:rPr>
              <a:t>Display the ISBN and Title of books that cost more than 500.50 PKR but that we have no more than 5 copies</a:t>
            </a:r>
          </a:p>
          <a:p>
            <a:pPr lvl="1" algn="just" eaLnBrk="1" hangingPunct="1">
              <a:spcBef>
                <a:spcPct val="20000"/>
              </a:spcBef>
              <a:buClr>
                <a:srgbClr val="FF6600"/>
              </a:buClr>
              <a:buFont typeface="Cambria" panose="02040503050406030204" pitchFamily="18" charset="0"/>
              <a:buAutoNum type="alphaLcParenR"/>
            </a:pPr>
            <a:endParaRPr lang="en-CA" altLang="en-US" sz="2800">
              <a:latin typeface="Calibri" panose="020F0502020204030204" pitchFamily="34" charset="0"/>
            </a:endParaRPr>
          </a:p>
          <a:p>
            <a:pPr lvl="1" algn="just" eaLnBrk="1" hangingPunct="1">
              <a:spcBef>
                <a:spcPct val="20000"/>
              </a:spcBef>
              <a:buClr>
                <a:srgbClr val="FF6600"/>
              </a:buClr>
              <a:buFont typeface="Cambria" panose="02040503050406030204" pitchFamily="18" charset="0"/>
              <a:buAutoNum type="alphaLcParenR"/>
            </a:pPr>
            <a:endParaRPr lang="en-CA" altLang="en-US" sz="2800">
              <a:latin typeface="Calibri" panose="020F0502020204030204" pitchFamily="34" charset="0"/>
            </a:endParaRPr>
          </a:p>
          <a:p>
            <a:pPr lvl="1" algn="just" eaLnBrk="1" hangingPunct="1">
              <a:spcBef>
                <a:spcPct val="20000"/>
              </a:spcBef>
              <a:buClr>
                <a:srgbClr val="FF6600"/>
              </a:buClr>
              <a:buFont typeface="Cambria" panose="02040503050406030204" pitchFamily="18" charset="0"/>
              <a:buAutoNum type="alphaLcParenR"/>
            </a:pPr>
            <a:endParaRPr lang="en-CA"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US" altLang="en-US" sz="3200">
              <a:solidFill>
                <a:srgbClr val="000000"/>
              </a:solidFill>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r>
              <a:rPr lang="en-US" altLang="en-US" sz="3200">
                <a:solidFill>
                  <a:srgbClr val="000000"/>
                </a:solidFill>
                <a:latin typeface="Calibri" panose="020F0502020204030204" pitchFamily="34" charset="0"/>
              </a:rPr>
              <a:t> </a:t>
            </a: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p:txBody>
      </p:sp>
      <p:sp>
        <p:nvSpPr>
          <p:cNvPr id="11" name="Rounded Rectangle 10">
            <a:extLst>
              <a:ext uri="{FF2B5EF4-FFF2-40B4-BE49-F238E27FC236}">
                <a16:creationId xmlns:a16="http://schemas.microsoft.com/office/drawing/2014/main" id="{83F9BF8C-A106-F903-5453-83C15F30A78B}"/>
              </a:ext>
            </a:extLst>
          </p:cNvPr>
          <p:cNvSpPr/>
          <p:nvPr/>
        </p:nvSpPr>
        <p:spPr bwMode="auto">
          <a:xfrm>
            <a:off x="762000" y="4327525"/>
            <a:ext cx="7007225" cy="1117600"/>
          </a:xfrm>
          <a:prstGeom prst="roundRect">
            <a:avLst/>
          </a:prstGeom>
          <a:solidFill>
            <a:schemeClr val="accent6">
              <a:alpha val="30000"/>
            </a:schemeClr>
          </a:solidFill>
          <a:ln w="9525" cap="flat" cmpd="sng" algn="ctr">
            <a:solidFill>
              <a:schemeClr val="accent6"/>
            </a:solidFill>
            <a:prstDash val="solid"/>
            <a:round/>
            <a:headEnd type="none" w="med" len="med"/>
            <a:tailEnd type="none" w="med" len="med"/>
          </a:ln>
          <a:effectLst/>
        </p:spPr>
        <p:txBody>
          <a:bodyPr anchor="ctr" anchorCtr="1"/>
          <a:lstStyle/>
          <a:p>
            <a:pPr>
              <a:defRPr/>
            </a:pPr>
            <a:r>
              <a:rPr lang="en-CA" sz="2800" dirty="0"/>
              <a:t>SELECT ISBN, Title FROM Book WHERE Price &gt; 500.50 AND Quantity &lt;= 5;</a:t>
            </a:r>
          </a:p>
        </p:txBody>
      </p:sp>
      <p:sp>
        <p:nvSpPr>
          <p:cNvPr id="13" name="Rounded Rectangle 12">
            <a:extLst>
              <a:ext uri="{FF2B5EF4-FFF2-40B4-BE49-F238E27FC236}">
                <a16:creationId xmlns:a16="http://schemas.microsoft.com/office/drawing/2014/main" id="{A96BB8B4-6154-5DA9-3280-45F6A26CF0A3}"/>
              </a:ext>
            </a:extLst>
          </p:cNvPr>
          <p:cNvSpPr/>
          <p:nvPr/>
        </p:nvSpPr>
        <p:spPr bwMode="auto">
          <a:xfrm>
            <a:off x="3200400" y="3429000"/>
            <a:ext cx="2195513" cy="482600"/>
          </a:xfrm>
          <a:prstGeom prst="roundRect">
            <a:avLst/>
          </a:prstGeom>
          <a:ln>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nchorCtr="1"/>
          <a:lstStyle/>
          <a:p>
            <a:pPr algn="ctr">
              <a:defRPr/>
            </a:pPr>
            <a:r>
              <a:rPr lang="en-CA" sz="3200" dirty="0">
                <a:solidFill>
                  <a:schemeClr val="bg1"/>
                </a:solidFill>
                <a:latin typeface="Arial" charset="0"/>
              </a:rPr>
              <a:t>Answer</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wipe(left)">
                                      <p:cBhvr>
                                        <p:cTn id="7" dur="500"/>
                                        <p:tgtEl>
                                          <p:spTgt spid="12">
                                            <p:txEl>
                                              <p:pRg st="0" end="0"/>
                                            </p:txEl>
                                          </p:spTgt>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12">
                                            <p:txEl>
                                              <p:pRg st="1" end="1"/>
                                            </p:txEl>
                                          </p:spTgt>
                                        </p:tgtEl>
                                        <p:attrNameLst>
                                          <p:attrName>style.visibility</p:attrName>
                                        </p:attrNameLst>
                                      </p:cBhvr>
                                      <p:to>
                                        <p:strVal val="visible"/>
                                      </p:to>
                                    </p:set>
                                    <p:animEffect transition="in" filter="wipe(up)">
                                      <p:cBhvr>
                                        <p:cTn id="11" dur="500"/>
                                        <p:tgtEl>
                                          <p:spTgt spid="12">
                                            <p:txEl>
                                              <p:pRg st="1" end="1"/>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left)">
                                      <p:cBhvr>
                                        <p:cTn id="1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16" restart="whenNotActive" fill="hold" evtFilter="cancelBubble" nodeType="interactiveSeq">
                <p:stCondLst>
                  <p:cond evt="onClick" delay="0">
                    <p:tgtEl>
                      <p:spTgt spid="13"/>
                    </p:tgtEl>
                  </p:cond>
                </p:stCondLst>
                <p:endSync evt="end" delay="0">
                  <p:rtn val="all"/>
                </p:endSync>
                <p:childTnLst>
                  <p:par>
                    <p:cTn id="17" fill="hold" nodeType="clickPar">
                      <p:stCondLst>
                        <p:cond delay="0"/>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childTnLst>
              </p:cTn>
              <p:nextCondLst>
                <p:cond evt="onClick" delay="0">
                  <p:tgtEl>
                    <p:spTgt spid="13"/>
                  </p:tgtEl>
                </p:cond>
              </p:nextCondLst>
            </p:seq>
          </p:childTnLst>
        </p:cTn>
      </p:par>
    </p:tnLst>
    <p:bldLst>
      <p:bldP spid="11" grpId="0" animBg="1"/>
      <p:bldP spid="13"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6E18BD-6170-774F-D3AC-A2190C191912}"/>
              </a:ext>
            </a:extLst>
          </p:cNvPr>
          <p:cNvSpPr>
            <a:spLocks noGrp="1"/>
          </p:cNvSpPr>
          <p:nvPr>
            <p:ph type="title"/>
          </p:nvPr>
        </p:nvSpPr>
        <p:spPr>
          <a:xfrm>
            <a:off x="457200" y="0"/>
            <a:ext cx="7620000" cy="1143000"/>
          </a:xfrm>
        </p:spPr>
        <p:txBody>
          <a:bodyPr/>
          <a:lstStyle/>
          <a:p>
            <a:pPr>
              <a:defRPr/>
            </a:pPr>
            <a:r>
              <a:rPr lang="en-US" dirty="0"/>
              <a:t>Manipulating Data Using SQL</a:t>
            </a:r>
            <a:endParaRPr lang="en-MY" dirty="0"/>
          </a:p>
        </p:txBody>
      </p:sp>
      <p:sp>
        <p:nvSpPr>
          <p:cNvPr id="14" name="Snip Single Corner Rectangle 13">
            <a:extLst>
              <a:ext uri="{FF2B5EF4-FFF2-40B4-BE49-F238E27FC236}">
                <a16:creationId xmlns:a16="http://schemas.microsoft.com/office/drawing/2014/main" id="{AEBC86FC-10BA-F6E3-89B2-1A56D0220B83}"/>
              </a:ext>
            </a:extLst>
          </p:cNvPr>
          <p:cNvSpPr/>
          <p:nvPr/>
        </p:nvSpPr>
        <p:spPr>
          <a:xfrm>
            <a:off x="-36513" y="1350963"/>
            <a:ext cx="1152526" cy="401637"/>
          </a:xfrm>
          <a:prstGeom prst="snip1Rect">
            <a:avLst/>
          </a:prstGeom>
          <a:solidFill>
            <a:srgbClr val="120B7C">
              <a:alpha val="70000"/>
            </a:srgbClr>
          </a:solidFill>
          <a:ln>
            <a:solidFill>
              <a:srgbClr val="120B7C"/>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indent="-342900" algn="just" eaLnBrk="1" hangingPunct="1">
              <a:spcBef>
                <a:spcPct val="20000"/>
              </a:spcBef>
              <a:buClr>
                <a:srgbClr val="FF6600"/>
              </a:buClr>
              <a:buSzPct val="100000"/>
              <a:defRPr/>
            </a:pPr>
            <a:r>
              <a:rPr lang="en-US" dirty="0">
                <a:latin typeface="Arial" pitchFamily="34" charset="0"/>
                <a:ea typeface="Times New Roman" pitchFamily="18" charset="0"/>
                <a:cs typeface="Arial" pitchFamily="34" charset="0"/>
              </a:rPr>
              <a:t>SELECT</a:t>
            </a:r>
            <a:endParaRPr lang="en-GB" kern="0" dirty="0">
              <a:solidFill>
                <a:schemeClr val="tx1"/>
              </a:solidFill>
            </a:endParaRPr>
          </a:p>
        </p:txBody>
      </p:sp>
      <p:sp>
        <p:nvSpPr>
          <p:cNvPr id="20" name="Content Placeholder 2">
            <a:extLst>
              <a:ext uri="{FF2B5EF4-FFF2-40B4-BE49-F238E27FC236}">
                <a16:creationId xmlns:a16="http://schemas.microsoft.com/office/drawing/2014/main" id="{44EA39E7-3C23-AF29-387B-37FB15C7F88F}"/>
              </a:ext>
            </a:extLst>
          </p:cNvPr>
          <p:cNvSpPr txBox="1">
            <a:spLocks/>
          </p:cNvSpPr>
          <p:nvPr/>
        </p:nvSpPr>
        <p:spPr bwMode="auto">
          <a:xfrm>
            <a:off x="250825" y="1773238"/>
            <a:ext cx="7902575"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rgbClr val="FF6600"/>
              </a:buClr>
              <a:buFont typeface="Wingdings 3" panose="05040102010807070707" pitchFamily="18" charset="2"/>
              <a:buNone/>
            </a:pPr>
            <a:r>
              <a:rPr lang="en-US" altLang="en-US" sz="2800">
                <a:latin typeface="Calibri" panose="020F0502020204030204" pitchFamily="34" charset="0"/>
              </a:rPr>
              <a:t>In SQL, there is special syntax for manipulating NULL. To check for NULL equality, the SQL syntax is: </a:t>
            </a:r>
          </a:p>
          <a:p>
            <a:pPr algn="just" eaLnBrk="1" hangingPunct="1">
              <a:spcBef>
                <a:spcPct val="20000"/>
              </a:spcBef>
              <a:buClr>
                <a:srgbClr val="FF6600"/>
              </a:buClr>
              <a:buFont typeface="Wingdings 3" panose="05040102010807070707" pitchFamily="18" charset="2"/>
              <a:buNone/>
            </a:pPr>
            <a:endParaRPr lang="en-US"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US"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US"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r>
              <a:rPr lang="en-CA" altLang="en-US" sz="2800">
                <a:latin typeface="Calibri" panose="020F0502020204030204" pitchFamily="34" charset="0"/>
              </a:rPr>
              <a:t>For example, to display only those books where the quantity is unknown</a:t>
            </a:r>
          </a:p>
          <a:p>
            <a:pPr algn="just" eaLnBrk="1" hangingPunct="1">
              <a:spcBef>
                <a:spcPct val="20000"/>
              </a:spcBef>
              <a:buClr>
                <a:srgbClr val="FF6600"/>
              </a:buClr>
              <a:buFont typeface="Wingdings 3" panose="05040102010807070707" pitchFamily="18" charset="2"/>
              <a:buNone/>
            </a:pPr>
            <a:endParaRPr lang="en-CA"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2800">
              <a:latin typeface="Calibri" panose="020F0502020204030204" pitchFamily="34" charset="0"/>
            </a:endParaRPr>
          </a:p>
        </p:txBody>
      </p:sp>
      <p:sp>
        <p:nvSpPr>
          <p:cNvPr id="19" name="Rounded Rectangle 18">
            <a:extLst>
              <a:ext uri="{FF2B5EF4-FFF2-40B4-BE49-F238E27FC236}">
                <a16:creationId xmlns:a16="http://schemas.microsoft.com/office/drawing/2014/main" id="{3891518F-434E-9758-52E2-970C5F9AEB0E}"/>
              </a:ext>
            </a:extLst>
          </p:cNvPr>
          <p:cNvSpPr>
            <a:spLocks noChangeArrowheads="1"/>
          </p:cNvSpPr>
          <p:nvPr/>
        </p:nvSpPr>
        <p:spPr bwMode="auto">
          <a:xfrm>
            <a:off x="733425" y="2781300"/>
            <a:ext cx="7005638" cy="1008063"/>
          </a:xfrm>
          <a:prstGeom prst="roundRect">
            <a:avLst>
              <a:gd name="adj" fmla="val 16667"/>
            </a:avLst>
          </a:prstGeom>
          <a:solidFill>
            <a:srgbClr val="7F7B00">
              <a:alpha val="30196"/>
            </a:srgbClr>
          </a:solidFill>
          <a:ln w="9525" algn="ctr">
            <a:solidFill>
              <a:srgbClr val="7F7B00"/>
            </a:solidFill>
            <a:round/>
            <a:headEnd/>
            <a:tailEnd/>
          </a:ln>
        </p:spPr>
        <p:txBody>
          <a:bodyPr anchor="ctr" anchorCtr="1"/>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CA" altLang="en-US" sz="2800"/>
              <a:t>… WHERE &lt;column_name&gt; IS NULL…;</a:t>
            </a:r>
          </a:p>
        </p:txBody>
      </p:sp>
      <p:sp>
        <p:nvSpPr>
          <p:cNvPr id="17" name="Rounded Rectangle 16">
            <a:extLst>
              <a:ext uri="{FF2B5EF4-FFF2-40B4-BE49-F238E27FC236}">
                <a16:creationId xmlns:a16="http://schemas.microsoft.com/office/drawing/2014/main" id="{CD4CCC56-7E0E-94E7-7CDB-AC0BA07F7FE8}"/>
              </a:ext>
            </a:extLst>
          </p:cNvPr>
          <p:cNvSpPr/>
          <p:nvPr/>
        </p:nvSpPr>
        <p:spPr bwMode="auto">
          <a:xfrm>
            <a:off x="825500" y="5192713"/>
            <a:ext cx="6718300" cy="900112"/>
          </a:xfrm>
          <a:prstGeom prst="roundRect">
            <a:avLst/>
          </a:prstGeom>
          <a:solidFill>
            <a:schemeClr val="accent6">
              <a:alpha val="30000"/>
            </a:schemeClr>
          </a:solidFill>
          <a:ln w="9525" cap="flat" cmpd="sng" algn="ctr">
            <a:solidFill>
              <a:schemeClr val="accent6"/>
            </a:solidFill>
            <a:prstDash val="solid"/>
            <a:round/>
            <a:headEnd type="none" w="med" len="med"/>
            <a:tailEnd type="none" w="med" len="med"/>
          </a:ln>
          <a:effectLst/>
        </p:spPr>
        <p:txBody>
          <a:bodyPr anchor="ctr" anchorCtr="1"/>
          <a:lstStyle/>
          <a:p>
            <a:pPr>
              <a:defRPr/>
            </a:pPr>
            <a:r>
              <a:rPr lang="en-CA" sz="2800" dirty="0"/>
              <a:t>SELECT * FROM Book WHERE Quantity IS NULL;</a:t>
            </a:r>
          </a:p>
        </p:txBody>
      </p:sp>
      <p:sp>
        <p:nvSpPr>
          <p:cNvPr id="29" name="Rectangle 28">
            <a:extLst>
              <a:ext uri="{FF2B5EF4-FFF2-40B4-BE49-F238E27FC236}">
                <a16:creationId xmlns:a16="http://schemas.microsoft.com/office/drawing/2014/main" id="{94230AC2-17ED-BCB6-6E23-491AF81C5B32}"/>
              </a:ext>
            </a:extLst>
          </p:cNvPr>
          <p:cNvSpPr/>
          <p:nvPr/>
        </p:nvSpPr>
        <p:spPr bwMode="auto">
          <a:xfrm>
            <a:off x="4513263" y="5824538"/>
            <a:ext cx="3024187" cy="611187"/>
          </a:xfrm>
          <a:prstGeom prst="rect">
            <a:avLst/>
          </a:prstGeom>
          <a:ln>
            <a:headEnd type="none" w="med" len="med"/>
            <a:tailEnd type="none" w="med" len="med"/>
          </a:ln>
        </p:spPr>
        <p:style>
          <a:lnRef idx="1">
            <a:schemeClr val="accent5"/>
          </a:lnRef>
          <a:fillRef idx="3">
            <a:schemeClr val="accent5"/>
          </a:fillRef>
          <a:effectRef idx="2">
            <a:schemeClr val="accent5"/>
          </a:effectRef>
          <a:fontRef idx="minor">
            <a:schemeClr val="lt1"/>
          </a:fontRef>
        </p:style>
        <p:txBody>
          <a:bodyPr anchor="ctr" anchorCtr="1"/>
          <a:lstStyle/>
          <a:p>
            <a:pPr algn="ctr">
              <a:defRPr/>
            </a:pPr>
            <a:r>
              <a:rPr lang="en-CA" dirty="0"/>
              <a:t>Writing “Quantity = NULL” will produce wrong answer</a:t>
            </a:r>
            <a:endParaRPr lang="en-CA" dirty="0">
              <a:solidFill>
                <a:schemeClr val="tx1"/>
              </a:solidFill>
              <a:latin typeface="Arial"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Effect transition="in" filter="wipe(up)">
                                      <p:cBhvr>
                                        <p:cTn id="7" dur="500"/>
                                        <p:tgtEl>
                                          <p:spTgt spid="20">
                                            <p:txEl>
                                              <p:pRg st="0" end="0"/>
                                            </p:txEl>
                                          </p:spTgt>
                                        </p:tgtEl>
                                      </p:cBhvr>
                                    </p:animEffect>
                                  </p:childTnLst>
                                </p:cTn>
                              </p:par>
                            </p:childTnLst>
                          </p:cTn>
                        </p:par>
                        <p:par>
                          <p:cTn id="8" fill="hold" nodeType="afterGroup">
                            <p:stCondLst>
                              <p:cond delay="500"/>
                            </p:stCondLst>
                            <p:childTnLst>
                              <p:par>
                                <p:cTn id="9" presetID="16" presetClass="entr" presetSubtype="21" fill="hold" grpId="0"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barn(inVertical)">
                                      <p:cBhvr>
                                        <p:cTn id="11" dur="500"/>
                                        <p:tgtEl>
                                          <p:spTgt spid="19"/>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20">
                                            <p:txEl>
                                              <p:pRg st="4" end="4"/>
                                            </p:txEl>
                                          </p:spTgt>
                                        </p:tgtEl>
                                        <p:attrNameLst>
                                          <p:attrName>style.visibility</p:attrName>
                                        </p:attrNameLst>
                                      </p:cBhvr>
                                      <p:to>
                                        <p:strVal val="visible"/>
                                      </p:to>
                                    </p:set>
                                    <p:animEffect transition="in" filter="wipe(up)">
                                      <p:cBhvr>
                                        <p:cTn id="16" dur="500"/>
                                        <p:tgtEl>
                                          <p:spTgt spid="20">
                                            <p:txEl>
                                              <p:pRg st="4" end="4"/>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6" presetClass="entr" presetSubtype="21" fill="hold" grpId="0" nodeType="click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barn(inVertical)">
                                      <p:cBhvr>
                                        <p:cTn id="21" dur="500"/>
                                        <p:tgtEl>
                                          <p:spTgt spid="17"/>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29"/>
                                        </p:tgtEl>
                                        <p:attrNameLst>
                                          <p:attrName>style.visibility</p:attrName>
                                        </p:attrNameLst>
                                      </p:cBhvr>
                                      <p:to>
                                        <p:strVal val="visible"/>
                                      </p:to>
                                    </p:set>
                                    <p:animEffect transition="in" filter="fade">
                                      <p:cBhvr>
                                        <p:cTn id="26" dur="1000"/>
                                        <p:tgtEl>
                                          <p:spTgt spid="29"/>
                                        </p:tgtEl>
                                      </p:cBhvr>
                                    </p:animEffect>
                                    <p:anim calcmode="lin" valueType="num">
                                      <p:cBhvr>
                                        <p:cTn id="27" dur="1000" fill="hold"/>
                                        <p:tgtEl>
                                          <p:spTgt spid="29"/>
                                        </p:tgtEl>
                                        <p:attrNameLst>
                                          <p:attrName>ppt_x</p:attrName>
                                        </p:attrNameLst>
                                      </p:cBhvr>
                                      <p:tavLst>
                                        <p:tav tm="0">
                                          <p:val>
                                            <p:strVal val="#ppt_x"/>
                                          </p:val>
                                        </p:tav>
                                        <p:tav tm="100000">
                                          <p:val>
                                            <p:strVal val="#ppt_x"/>
                                          </p:val>
                                        </p:tav>
                                      </p:tavLst>
                                    </p:anim>
                                    <p:anim calcmode="lin" valueType="num">
                                      <p:cBhvr>
                                        <p:cTn id="28"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17" grpId="0" animBg="1"/>
      <p:bldP spid="29"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BABD15-0027-741C-AD79-3BC71B492645}"/>
              </a:ext>
            </a:extLst>
          </p:cNvPr>
          <p:cNvSpPr>
            <a:spLocks noGrp="1"/>
          </p:cNvSpPr>
          <p:nvPr>
            <p:ph type="title"/>
          </p:nvPr>
        </p:nvSpPr>
        <p:spPr>
          <a:xfrm>
            <a:off x="457200" y="0"/>
            <a:ext cx="7620000" cy="1143000"/>
          </a:xfrm>
        </p:spPr>
        <p:txBody>
          <a:bodyPr/>
          <a:lstStyle/>
          <a:p>
            <a:pPr>
              <a:defRPr/>
            </a:pPr>
            <a:r>
              <a:rPr lang="en-US" dirty="0"/>
              <a:t>Manipulating Data Using SQL</a:t>
            </a:r>
            <a:endParaRPr lang="en-MY" dirty="0"/>
          </a:p>
        </p:txBody>
      </p:sp>
      <p:sp>
        <p:nvSpPr>
          <p:cNvPr id="14" name="Snip Single Corner Rectangle 13">
            <a:extLst>
              <a:ext uri="{FF2B5EF4-FFF2-40B4-BE49-F238E27FC236}">
                <a16:creationId xmlns:a16="http://schemas.microsoft.com/office/drawing/2014/main" id="{16A2D77D-D95E-325C-9E35-670F7DE9AEA3}"/>
              </a:ext>
            </a:extLst>
          </p:cNvPr>
          <p:cNvSpPr/>
          <p:nvPr/>
        </p:nvSpPr>
        <p:spPr>
          <a:xfrm>
            <a:off x="-76200" y="1427163"/>
            <a:ext cx="1152525" cy="401637"/>
          </a:xfrm>
          <a:prstGeom prst="snip1Rect">
            <a:avLst/>
          </a:prstGeom>
          <a:solidFill>
            <a:srgbClr val="120B7C">
              <a:alpha val="70000"/>
            </a:srgbClr>
          </a:solidFill>
          <a:ln>
            <a:solidFill>
              <a:srgbClr val="120B7C"/>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indent="-342900" algn="just" eaLnBrk="1" hangingPunct="1">
              <a:spcBef>
                <a:spcPct val="20000"/>
              </a:spcBef>
              <a:buClr>
                <a:srgbClr val="FF6600"/>
              </a:buClr>
              <a:buSzPct val="100000"/>
              <a:defRPr/>
            </a:pPr>
            <a:r>
              <a:rPr lang="en-US" dirty="0">
                <a:latin typeface="Arial" pitchFamily="34" charset="0"/>
                <a:ea typeface="Times New Roman" pitchFamily="18" charset="0"/>
                <a:cs typeface="Arial" pitchFamily="34" charset="0"/>
              </a:rPr>
              <a:t>SELECT</a:t>
            </a:r>
            <a:endParaRPr lang="en-GB" kern="0" dirty="0">
              <a:solidFill>
                <a:schemeClr val="tx1"/>
              </a:solidFill>
            </a:endParaRPr>
          </a:p>
        </p:txBody>
      </p:sp>
      <p:sp>
        <p:nvSpPr>
          <p:cNvPr id="19" name="Content Placeholder 2">
            <a:extLst>
              <a:ext uri="{FF2B5EF4-FFF2-40B4-BE49-F238E27FC236}">
                <a16:creationId xmlns:a16="http://schemas.microsoft.com/office/drawing/2014/main" id="{A861D966-7F95-87F4-5098-A2353CD81D3A}"/>
              </a:ext>
            </a:extLst>
          </p:cNvPr>
          <p:cNvSpPr txBox="1">
            <a:spLocks/>
          </p:cNvSpPr>
          <p:nvPr/>
        </p:nvSpPr>
        <p:spPr bwMode="auto">
          <a:xfrm>
            <a:off x="250825" y="1773238"/>
            <a:ext cx="7867650"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rgbClr val="FF6600"/>
              </a:buClr>
              <a:buFont typeface="Wingdings 3" panose="05040102010807070707" pitchFamily="18" charset="2"/>
              <a:buNone/>
            </a:pPr>
            <a:r>
              <a:rPr lang="en-US" altLang="en-US" sz="2800">
                <a:latin typeface="Calibri" panose="020F0502020204030204" pitchFamily="34" charset="0"/>
              </a:rPr>
              <a:t>For a value not equal to NULL, the SQL syntax is:</a:t>
            </a:r>
          </a:p>
          <a:p>
            <a:pPr algn="just" eaLnBrk="1" hangingPunct="1">
              <a:spcBef>
                <a:spcPct val="20000"/>
              </a:spcBef>
              <a:buClr>
                <a:srgbClr val="FF6600"/>
              </a:buClr>
              <a:buFont typeface="Wingdings 3" panose="05040102010807070707" pitchFamily="18" charset="2"/>
              <a:buNone/>
            </a:pPr>
            <a:endParaRPr lang="en-US"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US"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US"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r>
              <a:rPr lang="en-CA" altLang="en-US" sz="2800">
                <a:latin typeface="Calibri" panose="020F0502020204030204" pitchFamily="34" charset="0"/>
              </a:rPr>
              <a:t>For example, to display only those books where the quantity is known</a:t>
            </a:r>
          </a:p>
          <a:p>
            <a:pPr algn="just" eaLnBrk="1" hangingPunct="1">
              <a:spcBef>
                <a:spcPct val="20000"/>
              </a:spcBef>
              <a:buClr>
                <a:srgbClr val="FF6600"/>
              </a:buClr>
              <a:buFont typeface="Wingdings 3" panose="05040102010807070707" pitchFamily="18" charset="2"/>
              <a:buNone/>
            </a:pPr>
            <a:endParaRPr lang="en-CA"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2800">
              <a:latin typeface="Calibri" panose="020F0502020204030204" pitchFamily="34" charset="0"/>
            </a:endParaRPr>
          </a:p>
        </p:txBody>
      </p:sp>
      <p:sp>
        <p:nvSpPr>
          <p:cNvPr id="21" name="Rounded Rectangle 20">
            <a:extLst>
              <a:ext uri="{FF2B5EF4-FFF2-40B4-BE49-F238E27FC236}">
                <a16:creationId xmlns:a16="http://schemas.microsoft.com/office/drawing/2014/main" id="{2D74E691-A57C-E278-9A03-16589233BBA5}"/>
              </a:ext>
            </a:extLst>
          </p:cNvPr>
          <p:cNvSpPr>
            <a:spLocks noChangeArrowheads="1"/>
          </p:cNvSpPr>
          <p:nvPr/>
        </p:nvSpPr>
        <p:spPr bwMode="auto">
          <a:xfrm>
            <a:off x="765175" y="2349500"/>
            <a:ext cx="7007225" cy="1008063"/>
          </a:xfrm>
          <a:prstGeom prst="roundRect">
            <a:avLst>
              <a:gd name="adj" fmla="val 16667"/>
            </a:avLst>
          </a:prstGeom>
          <a:solidFill>
            <a:srgbClr val="7F7B00">
              <a:alpha val="30196"/>
            </a:srgbClr>
          </a:solidFill>
          <a:ln w="9525" algn="ctr">
            <a:solidFill>
              <a:srgbClr val="7F7B00"/>
            </a:solidFill>
            <a:round/>
            <a:headEnd/>
            <a:tailEnd/>
          </a:ln>
        </p:spPr>
        <p:txBody>
          <a:bodyPr anchor="ctr" anchorCtr="1"/>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CA" altLang="en-US" sz="2800"/>
              <a:t>… WHERE &lt;column_name&gt; IS NOT NULL…;</a:t>
            </a:r>
          </a:p>
        </p:txBody>
      </p:sp>
      <p:sp>
        <p:nvSpPr>
          <p:cNvPr id="26" name="Rounded Rectangle 25">
            <a:extLst>
              <a:ext uri="{FF2B5EF4-FFF2-40B4-BE49-F238E27FC236}">
                <a16:creationId xmlns:a16="http://schemas.microsoft.com/office/drawing/2014/main" id="{299A70A8-9746-6401-7934-58E074DF8336}"/>
              </a:ext>
            </a:extLst>
          </p:cNvPr>
          <p:cNvSpPr/>
          <p:nvPr/>
        </p:nvSpPr>
        <p:spPr bwMode="auto">
          <a:xfrm>
            <a:off x="685800" y="4868863"/>
            <a:ext cx="7053263" cy="901700"/>
          </a:xfrm>
          <a:prstGeom prst="roundRect">
            <a:avLst/>
          </a:prstGeom>
          <a:solidFill>
            <a:schemeClr val="accent6">
              <a:alpha val="30000"/>
            </a:schemeClr>
          </a:solidFill>
          <a:ln w="9525" cap="flat" cmpd="sng" algn="ctr">
            <a:solidFill>
              <a:schemeClr val="accent6"/>
            </a:solidFill>
            <a:prstDash val="solid"/>
            <a:round/>
            <a:headEnd type="none" w="med" len="med"/>
            <a:tailEnd type="none" w="med" len="med"/>
          </a:ln>
          <a:effectLst/>
        </p:spPr>
        <p:txBody>
          <a:bodyPr anchor="ctr" anchorCtr="1"/>
          <a:lstStyle/>
          <a:p>
            <a:pPr>
              <a:defRPr/>
            </a:pPr>
            <a:r>
              <a:rPr lang="en-CA" sz="2800" dirty="0"/>
              <a:t>SELECT * FROM Book WHERE Quantity IS NOT NULL;</a:t>
            </a:r>
          </a:p>
        </p:txBody>
      </p:sp>
      <p:sp>
        <p:nvSpPr>
          <p:cNvPr id="20" name="Rectangle 19">
            <a:extLst>
              <a:ext uri="{FF2B5EF4-FFF2-40B4-BE49-F238E27FC236}">
                <a16:creationId xmlns:a16="http://schemas.microsoft.com/office/drawing/2014/main" id="{C0E85662-2389-1EAC-915A-F130DECD8FA2}"/>
              </a:ext>
            </a:extLst>
          </p:cNvPr>
          <p:cNvSpPr/>
          <p:nvPr/>
        </p:nvSpPr>
        <p:spPr bwMode="auto">
          <a:xfrm>
            <a:off x="3408363" y="5486400"/>
            <a:ext cx="3852862" cy="598488"/>
          </a:xfrm>
          <a:prstGeom prst="rect">
            <a:avLst/>
          </a:prstGeom>
          <a:ln>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nchorCtr="1"/>
          <a:lstStyle/>
          <a:p>
            <a:pPr algn="ctr">
              <a:defRPr/>
            </a:pPr>
            <a:r>
              <a:rPr lang="en-CA" dirty="0"/>
              <a:t>Writing “Quantity &lt;&gt; NULL” will produce wrong answer</a:t>
            </a:r>
            <a:endParaRPr lang="en-CA" dirty="0">
              <a:solidFill>
                <a:schemeClr val="tx1"/>
              </a:solidFill>
              <a:latin typeface="Arial"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animEffect transition="in" filter="wipe(up)">
                                      <p:cBhvr>
                                        <p:cTn id="7" dur="500"/>
                                        <p:tgtEl>
                                          <p:spTgt spid="19">
                                            <p:txEl>
                                              <p:pRg st="0" end="0"/>
                                            </p:txEl>
                                          </p:spTgt>
                                        </p:tgtEl>
                                      </p:cBhvr>
                                    </p:animEffect>
                                  </p:childTnLst>
                                </p:cTn>
                              </p:par>
                            </p:childTnLst>
                          </p:cTn>
                        </p:par>
                        <p:par>
                          <p:cTn id="8" fill="hold" nodeType="afterGroup">
                            <p:stCondLst>
                              <p:cond delay="500"/>
                            </p:stCondLst>
                            <p:childTnLst>
                              <p:par>
                                <p:cTn id="9" presetID="16" presetClass="entr" presetSubtype="21" fill="hold" grpId="0" nodeType="afterEffect">
                                  <p:stCondLst>
                                    <p:cond delay="0"/>
                                  </p:stCondLst>
                                  <p:childTnLst>
                                    <p:set>
                                      <p:cBhvr>
                                        <p:cTn id="10" dur="1" fill="hold">
                                          <p:stCondLst>
                                            <p:cond delay="0"/>
                                          </p:stCondLst>
                                        </p:cTn>
                                        <p:tgtEl>
                                          <p:spTgt spid="21"/>
                                        </p:tgtEl>
                                        <p:attrNameLst>
                                          <p:attrName>style.visibility</p:attrName>
                                        </p:attrNameLst>
                                      </p:cBhvr>
                                      <p:to>
                                        <p:strVal val="visible"/>
                                      </p:to>
                                    </p:set>
                                    <p:animEffect transition="in" filter="barn(inVertical)">
                                      <p:cBhvr>
                                        <p:cTn id="11" dur="500"/>
                                        <p:tgtEl>
                                          <p:spTgt spid="21"/>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19">
                                            <p:txEl>
                                              <p:pRg st="4" end="4"/>
                                            </p:txEl>
                                          </p:spTgt>
                                        </p:tgtEl>
                                        <p:attrNameLst>
                                          <p:attrName>style.visibility</p:attrName>
                                        </p:attrNameLst>
                                      </p:cBhvr>
                                      <p:to>
                                        <p:strVal val="visible"/>
                                      </p:to>
                                    </p:set>
                                    <p:animEffect transition="in" filter="wipe(up)">
                                      <p:cBhvr>
                                        <p:cTn id="16" dur="500"/>
                                        <p:tgtEl>
                                          <p:spTgt spid="19">
                                            <p:txEl>
                                              <p:pRg st="4" end="4"/>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6" presetClass="entr" presetSubtype="21" fill="hold" grpId="0" nodeType="click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barn(inVertical)">
                                      <p:cBhvr>
                                        <p:cTn id="21" dur="500"/>
                                        <p:tgtEl>
                                          <p:spTgt spid="26"/>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20"/>
                                        </p:tgtEl>
                                        <p:attrNameLst>
                                          <p:attrName>style.visibility</p:attrName>
                                        </p:attrNameLst>
                                      </p:cBhvr>
                                      <p:to>
                                        <p:strVal val="visible"/>
                                      </p:to>
                                    </p:set>
                                    <p:animEffect transition="in" filter="fade">
                                      <p:cBhvr>
                                        <p:cTn id="26" dur="1000"/>
                                        <p:tgtEl>
                                          <p:spTgt spid="20"/>
                                        </p:tgtEl>
                                      </p:cBhvr>
                                    </p:animEffect>
                                    <p:anim calcmode="lin" valueType="num">
                                      <p:cBhvr>
                                        <p:cTn id="27" dur="1000" fill="hold"/>
                                        <p:tgtEl>
                                          <p:spTgt spid="20"/>
                                        </p:tgtEl>
                                        <p:attrNameLst>
                                          <p:attrName>ppt_x</p:attrName>
                                        </p:attrNameLst>
                                      </p:cBhvr>
                                      <p:tavLst>
                                        <p:tav tm="0">
                                          <p:val>
                                            <p:strVal val="#ppt_x"/>
                                          </p:val>
                                        </p:tav>
                                        <p:tav tm="100000">
                                          <p:val>
                                            <p:strVal val="#ppt_x"/>
                                          </p:val>
                                        </p:tav>
                                      </p:tavLst>
                                    </p:anim>
                                    <p:anim calcmode="lin" valueType="num">
                                      <p:cBhvr>
                                        <p:cTn id="28"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6" grpId="0" animBg="1"/>
      <p:bldP spid="20"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55DD5-3343-C786-F055-87F9C6C564D2}"/>
              </a:ext>
            </a:extLst>
          </p:cNvPr>
          <p:cNvSpPr>
            <a:spLocks noGrp="1"/>
          </p:cNvSpPr>
          <p:nvPr>
            <p:ph type="title"/>
          </p:nvPr>
        </p:nvSpPr>
        <p:spPr>
          <a:xfrm>
            <a:off x="457200" y="0"/>
            <a:ext cx="7620000" cy="1143000"/>
          </a:xfrm>
        </p:spPr>
        <p:txBody>
          <a:bodyPr/>
          <a:lstStyle/>
          <a:p>
            <a:pPr>
              <a:defRPr/>
            </a:pPr>
            <a:r>
              <a:rPr lang="en-US" dirty="0"/>
              <a:t>Manipulating Data Using SQL</a:t>
            </a:r>
            <a:endParaRPr lang="en-MY" dirty="0"/>
          </a:p>
        </p:txBody>
      </p:sp>
      <p:sp>
        <p:nvSpPr>
          <p:cNvPr id="14" name="Snip Single Corner Rectangle 13">
            <a:extLst>
              <a:ext uri="{FF2B5EF4-FFF2-40B4-BE49-F238E27FC236}">
                <a16:creationId xmlns:a16="http://schemas.microsoft.com/office/drawing/2014/main" id="{1C0B4E14-F654-B1CD-1345-FC7AD5905E47}"/>
              </a:ext>
            </a:extLst>
          </p:cNvPr>
          <p:cNvSpPr/>
          <p:nvPr/>
        </p:nvSpPr>
        <p:spPr>
          <a:xfrm>
            <a:off x="-36513" y="1427163"/>
            <a:ext cx="1152526" cy="401637"/>
          </a:xfrm>
          <a:prstGeom prst="snip1Rect">
            <a:avLst/>
          </a:prstGeom>
          <a:solidFill>
            <a:srgbClr val="120B7C">
              <a:alpha val="70000"/>
            </a:srgbClr>
          </a:solidFill>
          <a:ln>
            <a:solidFill>
              <a:srgbClr val="120B7C"/>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indent="-342900" algn="just" eaLnBrk="1" hangingPunct="1">
              <a:spcBef>
                <a:spcPct val="20000"/>
              </a:spcBef>
              <a:buClr>
                <a:srgbClr val="FF6600"/>
              </a:buClr>
              <a:buSzPct val="100000"/>
              <a:defRPr/>
            </a:pPr>
            <a:r>
              <a:rPr lang="en-US" dirty="0">
                <a:latin typeface="Arial" pitchFamily="34" charset="0"/>
                <a:ea typeface="Times New Roman" pitchFamily="18" charset="0"/>
                <a:cs typeface="Arial" pitchFamily="34" charset="0"/>
              </a:rPr>
              <a:t>SELECT</a:t>
            </a:r>
            <a:endParaRPr lang="en-GB" kern="0" dirty="0">
              <a:solidFill>
                <a:schemeClr val="tx1"/>
              </a:solidFill>
            </a:endParaRPr>
          </a:p>
        </p:txBody>
      </p:sp>
      <p:sp>
        <p:nvSpPr>
          <p:cNvPr id="20" name="Content Placeholder 2">
            <a:extLst>
              <a:ext uri="{FF2B5EF4-FFF2-40B4-BE49-F238E27FC236}">
                <a16:creationId xmlns:a16="http://schemas.microsoft.com/office/drawing/2014/main" id="{45B58830-9841-E30D-3992-59697B4D98AB}"/>
              </a:ext>
            </a:extLst>
          </p:cNvPr>
          <p:cNvSpPr txBox="1">
            <a:spLocks/>
          </p:cNvSpPr>
          <p:nvPr/>
        </p:nvSpPr>
        <p:spPr bwMode="auto">
          <a:xfrm>
            <a:off x="250825" y="1773238"/>
            <a:ext cx="7978775"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rgbClr val="FF6600"/>
              </a:buClr>
              <a:buFont typeface="Wingdings 3" panose="05040102010807070707" pitchFamily="18" charset="2"/>
              <a:buNone/>
            </a:pPr>
            <a:r>
              <a:rPr lang="en-CA" altLang="en-US" sz="2800">
                <a:latin typeface="Calibri" panose="020F0502020204030204" pitchFamily="34" charset="0"/>
              </a:rPr>
              <a:t>Data in a table can be sorted based on the selected column. To sort in ascending order (i.e. from small to big or from a to z), the SQL syntax is:</a:t>
            </a:r>
          </a:p>
          <a:p>
            <a:pPr algn="just" eaLnBrk="1" hangingPunct="1">
              <a:spcBef>
                <a:spcPct val="20000"/>
              </a:spcBef>
              <a:buClr>
                <a:srgbClr val="FF6600"/>
              </a:buClr>
              <a:buFont typeface="Wingdings 3" panose="05040102010807070707" pitchFamily="18" charset="2"/>
              <a:buNone/>
            </a:pPr>
            <a:endParaRPr lang="en-CA"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12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r>
              <a:rPr lang="en-CA" altLang="en-US" sz="2800">
                <a:latin typeface="Calibri" panose="020F0502020204030204" pitchFamily="34" charset="0"/>
              </a:rPr>
              <a:t>For example, to display the books in the “Book” table sorted by the book’s quantity in ascending order</a:t>
            </a:r>
          </a:p>
        </p:txBody>
      </p:sp>
      <p:sp>
        <p:nvSpPr>
          <p:cNvPr id="16" name="Rounded Rectangle 15">
            <a:extLst>
              <a:ext uri="{FF2B5EF4-FFF2-40B4-BE49-F238E27FC236}">
                <a16:creationId xmlns:a16="http://schemas.microsoft.com/office/drawing/2014/main" id="{DB34096E-5F12-A477-34C0-FBF71814FAC6}"/>
              </a:ext>
            </a:extLst>
          </p:cNvPr>
          <p:cNvSpPr>
            <a:spLocks noChangeArrowheads="1"/>
          </p:cNvSpPr>
          <p:nvPr/>
        </p:nvSpPr>
        <p:spPr bwMode="auto">
          <a:xfrm>
            <a:off x="762000" y="3178175"/>
            <a:ext cx="7007225" cy="936625"/>
          </a:xfrm>
          <a:prstGeom prst="roundRect">
            <a:avLst>
              <a:gd name="adj" fmla="val 16667"/>
            </a:avLst>
          </a:prstGeom>
          <a:solidFill>
            <a:srgbClr val="7F7B00">
              <a:alpha val="30196"/>
            </a:srgbClr>
          </a:solidFill>
          <a:ln w="9525" algn="ctr">
            <a:solidFill>
              <a:srgbClr val="7F7B00"/>
            </a:solidFill>
            <a:round/>
            <a:headEnd/>
            <a:tailEnd/>
          </a:ln>
        </p:spPr>
        <p:txBody>
          <a:bodyPr anchor="ctr" anchorCtr="1"/>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CA" altLang="en-US" sz="2800"/>
              <a:t>… ORDER BY &lt;column_name&gt;;</a:t>
            </a:r>
          </a:p>
        </p:txBody>
      </p:sp>
      <p:sp>
        <p:nvSpPr>
          <p:cNvPr id="17" name="Rounded Rectangle 16">
            <a:extLst>
              <a:ext uri="{FF2B5EF4-FFF2-40B4-BE49-F238E27FC236}">
                <a16:creationId xmlns:a16="http://schemas.microsoft.com/office/drawing/2014/main" id="{6F351F02-7B46-B0EF-A25B-1891AB7D1C01}"/>
              </a:ext>
            </a:extLst>
          </p:cNvPr>
          <p:cNvSpPr/>
          <p:nvPr/>
        </p:nvSpPr>
        <p:spPr bwMode="auto">
          <a:xfrm>
            <a:off x="914400" y="5349875"/>
            <a:ext cx="6718300" cy="1044575"/>
          </a:xfrm>
          <a:prstGeom prst="roundRect">
            <a:avLst/>
          </a:prstGeom>
          <a:solidFill>
            <a:schemeClr val="accent6">
              <a:alpha val="30000"/>
            </a:schemeClr>
          </a:solidFill>
          <a:ln w="9525" cap="flat" cmpd="sng" algn="ctr">
            <a:solidFill>
              <a:schemeClr val="accent6"/>
            </a:solidFill>
            <a:prstDash val="solid"/>
            <a:round/>
            <a:headEnd type="none" w="med" len="med"/>
            <a:tailEnd type="none" w="med" len="med"/>
          </a:ln>
          <a:effectLst/>
        </p:spPr>
        <p:txBody>
          <a:bodyPr anchor="ctr" anchorCtr="1"/>
          <a:lstStyle/>
          <a:p>
            <a:pPr>
              <a:defRPr/>
            </a:pPr>
            <a:r>
              <a:rPr lang="en-CA" sz="2800" dirty="0"/>
              <a:t>SELECT * FROM Book ORDER BY Quantity;</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Effect transition="in" filter="wipe(up)">
                                      <p:cBhvr>
                                        <p:cTn id="7" dur="500"/>
                                        <p:tgtEl>
                                          <p:spTgt spid="20">
                                            <p:txEl>
                                              <p:pRg st="0" end="0"/>
                                            </p:txEl>
                                          </p:spTgt>
                                        </p:tgtEl>
                                      </p:cBhvr>
                                    </p:animEffect>
                                  </p:childTnLst>
                                </p:cTn>
                              </p:par>
                            </p:childTnLst>
                          </p:cTn>
                        </p:par>
                        <p:par>
                          <p:cTn id="8" fill="hold" nodeType="afterGroup">
                            <p:stCondLst>
                              <p:cond delay="500"/>
                            </p:stCondLst>
                            <p:childTnLst>
                              <p:par>
                                <p:cTn id="9" presetID="16" presetClass="entr" presetSubtype="21" fill="hold" grpId="0"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barn(inVertical)">
                                      <p:cBhvr>
                                        <p:cTn id="11" dur="500"/>
                                        <p:tgtEl>
                                          <p:spTgt spid="16"/>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20">
                                            <p:txEl>
                                              <p:pRg st="4" end="4"/>
                                            </p:txEl>
                                          </p:spTgt>
                                        </p:tgtEl>
                                        <p:attrNameLst>
                                          <p:attrName>style.visibility</p:attrName>
                                        </p:attrNameLst>
                                      </p:cBhvr>
                                      <p:to>
                                        <p:strVal val="visible"/>
                                      </p:to>
                                    </p:set>
                                    <p:animEffect transition="in" filter="wipe(up)">
                                      <p:cBhvr>
                                        <p:cTn id="16" dur="500"/>
                                        <p:tgtEl>
                                          <p:spTgt spid="20">
                                            <p:txEl>
                                              <p:pRg st="4" end="4"/>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6" presetClass="entr" presetSubtype="21" fill="hold" grpId="0" nodeType="click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barn(inVertical)">
                                      <p:cBhvr>
                                        <p:cTn id="21"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F8AA7-8125-AA70-634D-D1BB98EF7294}"/>
              </a:ext>
            </a:extLst>
          </p:cNvPr>
          <p:cNvSpPr>
            <a:spLocks noGrp="1"/>
          </p:cNvSpPr>
          <p:nvPr>
            <p:ph type="title"/>
          </p:nvPr>
        </p:nvSpPr>
        <p:spPr>
          <a:xfrm>
            <a:off x="457200" y="0"/>
            <a:ext cx="7620000" cy="1143000"/>
          </a:xfrm>
        </p:spPr>
        <p:txBody>
          <a:bodyPr/>
          <a:lstStyle/>
          <a:p>
            <a:pPr>
              <a:defRPr/>
            </a:pPr>
            <a:r>
              <a:rPr lang="en-US" dirty="0"/>
              <a:t>Manipulating Data Using SQL</a:t>
            </a:r>
            <a:endParaRPr lang="en-MY" dirty="0"/>
          </a:p>
        </p:txBody>
      </p:sp>
      <p:sp>
        <p:nvSpPr>
          <p:cNvPr id="14" name="Snip Single Corner Rectangle 13">
            <a:extLst>
              <a:ext uri="{FF2B5EF4-FFF2-40B4-BE49-F238E27FC236}">
                <a16:creationId xmlns:a16="http://schemas.microsoft.com/office/drawing/2014/main" id="{9ADAFA11-1E48-72F9-CC9B-FABC92D81208}"/>
              </a:ext>
            </a:extLst>
          </p:cNvPr>
          <p:cNvSpPr/>
          <p:nvPr/>
        </p:nvSpPr>
        <p:spPr>
          <a:xfrm>
            <a:off x="-36513" y="1427163"/>
            <a:ext cx="1152526" cy="401637"/>
          </a:xfrm>
          <a:prstGeom prst="snip1Rect">
            <a:avLst/>
          </a:prstGeom>
          <a:solidFill>
            <a:srgbClr val="120B7C">
              <a:alpha val="70000"/>
            </a:srgbClr>
          </a:solidFill>
          <a:ln>
            <a:solidFill>
              <a:srgbClr val="120B7C"/>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indent="-342900" algn="just" eaLnBrk="1" hangingPunct="1">
              <a:spcBef>
                <a:spcPct val="20000"/>
              </a:spcBef>
              <a:buClr>
                <a:srgbClr val="FF6600"/>
              </a:buClr>
              <a:buSzPct val="100000"/>
              <a:defRPr/>
            </a:pPr>
            <a:r>
              <a:rPr lang="en-US" dirty="0">
                <a:latin typeface="Arial" pitchFamily="34" charset="0"/>
                <a:ea typeface="Times New Roman" pitchFamily="18" charset="0"/>
                <a:cs typeface="Arial" pitchFamily="34" charset="0"/>
              </a:rPr>
              <a:t>SELECT</a:t>
            </a:r>
            <a:endParaRPr lang="en-GB" kern="0" dirty="0">
              <a:solidFill>
                <a:schemeClr val="tx1"/>
              </a:solidFill>
            </a:endParaRPr>
          </a:p>
        </p:txBody>
      </p:sp>
      <p:sp>
        <p:nvSpPr>
          <p:cNvPr id="20" name="Content Placeholder 2">
            <a:extLst>
              <a:ext uri="{FF2B5EF4-FFF2-40B4-BE49-F238E27FC236}">
                <a16:creationId xmlns:a16="http://schemas.microsoft.com/office/drawing/2014/main" id="{5ED20060-2254-E7A0-60D7-65EF8E3987C7}"/>
              </a:ext>
            </a:extLst>
          </p:cNvPr>
          <p:cNvSpPr txBox="1">
            <a:spLocks/>
          </p:cNvSpPr>
          <p:nvPr/>
        </p:nvSpPr>
        <p:spPr bwMode="auto">
          <a:xfrm>
            <a:off x="250825" y="1773238"/>
            <a:ext cx="7902575"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rgbClr val="FF6600"/>
              </a:buClr>
              <a:buFont typeface="Wingdings 3" panose="05040102010807070707" pitchFamily="18" charset="2"/>
              <a:buNone/>
            </a:pPr>
            <a:r>
              <a:rPr lang="en-CA" altLang="en-US" sz="2800">
                <a:latin typeface="Calibri" panose="020F0502020204030204" pitchFamily="34" charset="0"/>
              </a:rPr>
              <a:t>To sort in descending order (i.e. from big to small or from z to a), the SQL syntax is:</a:t>
            </a:r>
          </a:p>
          <a:p>
            <a:pPr algn="just" eaLnBrk="1" hangingPunct="1">
              <a:spcBef>
                <a:spcPct val="20000"/>
              </a:spcBef>
              <a:buClr>
                <a:srgbClr val="FF6600"/>
              </a:buClr>
              <a:buFont typeface="Wingdings 3" panose="05040102010807070707" pitchFamily="18" charset="2"/>
              <a:buNone/>
            </a:pPr>
            <a:endParaRPr lang="en-CA"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16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16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r>
              <a:rPr lang="en-CA" altLang="en-US" sz="2800">
                <a:latin typeface="Calibri" panose="020F0502020204030204" pitchFamily="34" charset="0"/>
              </a:rPr>
              <a:t>For example, to display the books in the “Book” table sorted by book’s title in descending order</a:t>
            </a:r>
          </a:p>
        </p:txBody>
      </p:sp>
      <p:sp>
        <p:nvSpPr>
          <p:cNvPr id="16" name="Rounded Rectangle 15">
            <a:extLst>
              <a:ext uri="{FF2B5EF4-FFF2-40B4-BE49-F238E27FC236}">
                <a16:creationId xmlns:a16="http://schemas.microsoft.com/office/drawing/2014/main" id="{4E3D879C-A4EF-C359-4CDA-51C3B9A0C143}"/>
              </a:ext>
            </a:extLst>
          </p:cNvPr>
          <p:cNvSpPr>
            <a:spLocks noChangeArrowheads="1"/>
          </p:cNvSpPr>
          <p:nvPr/>
        </p:nvSpPr>
        <p:spPr bwMode="auto">
          <a:xfrm>
            <a:off x="685800" y="2852738"/>
            <a:ext cx="7007225" cy="936625"/>
          </a:xfrm>
          <a:prstGeom prst="roundRect">
            <a:avLst>
              <a:gd name="adj" fmla="val 16667"/>
            </a:avLst>
          </a:prstGeom>
          <a:solidFill>
            <a:srgbClr val="7F7B00">
              <a:alpha val="30196"/>
            </a:srgbClr>
          </a:solidFill>
          <a:ln w="9525" algn="ctr">
            <a:solidFill>
              <a:srgbClr val="7F7B00"/>
            </a:solidFill>
            <a:round/>
            <a:headEnd/>
            <a:tailEnd/>
          </a:ln>
        </p:spPr>
        <p:txBody>
          <a:bodyPr anchor="ctr" anchorCtr="1"/>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CA" altLang="en-US" sz="2800"/>
              <a:t>… ORDER BY &lt;column_name&gt; DESC;</a:t>
            </a:r>
          </a:p>
        </p:txBody>
      </p:sp>
      <p:sp>
        <p:nvSpPr>
          <p:cNvPr id="17" name="Rounded Rectangle 16">
            <a:extLst>
              <a:ext uri="{FF2B5EF4-FFF2-40B4-BE49-F238E27FC236}">
                <a16:creationId xmlns:a16="http://schemas.microsoft.com/office/drawing/2014/main" id="{83B47631-74AC-6DB4-BA3F-3139507DB5CC}"/>
              </a:ext>
            </a:extLst>
          </p:cNvPr>
          <p:cNvSpPr/>
          <p:nvPr/>
        </p:nvSpPr>
        <p:spPr bwMode="auto">
          <a:xfrm>
            <a:off x="914400" y="5335588"/>
            <a:ext cx="6718300" cy="1046162"/>
          </a:xfrm>
          <a:prstGeom prst="roundRect">
            <a:avLst/>
          </a:prstGeom>
          <a:solidFill>
            <a:schemeClr val="accent6">
              <a:alpha val="30000"/>
            </a:schemeClr>
          </a:solidFill>
          <a:ln w="9525" cap="flat" cmpd="sng" algn="ctr">
            <a:solidFill>
              <a:schemeClr val="accent6"/>
            </a:solidFill>
            <a:prstDash val="solid"/>
            <a:round/>
            <a:headEnd type="none" w="med" len="med"/>
            <a:tailEnd type="none" w="med" len="med"/>
          </a:ln>
          <a:effectLst/>
        </p:spPr>
        <p:txBody>
          <a:bodyPr anchor="ctr" anchorCtr="1"/>
          <a:lstStyle/>
          <a:p>
            <a:pPr>
              <a:defRPr/>
            </a:pPr>
            <a:r>
              <a:rPr lang="en-CA" sz="2800" dirty="0"/>
              <a:t>SELECT * FROM Book ORDER BY Title DESC;</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Effect transition="in" filter="wipe(up)">
                                      <p:cBhvr>
                                        <p:cTn id="7" dur="500"/>
                                        <p:tgtEl>
                                          <p:spTgt spid="20">
                                            <p:txEl>
                                              <p:pRg st="0" end="0"/>
                                            </p:txEl>
                                          </p:spTgt>
                                        </p:tgtEl>
                                      </p:cBhvr>
                                    </p:animEffect>
                                  </p:childTnLst>
                                </p:cTn>
                              </p:par>
                            </p:childTnLst>
                          </p:cTn>
                        </p:par>
                        <p:par>
                          <p:cTn id="8" fill="hold" nodeType="afterGroup">
                            <p:stCondLst>
                              <p:cond delay="500"/>
                            </p:stCondLst>
                            <p:childTnLst>
                              <p:par>
                                <p:cTn id="9" presetID="16" presetClass="entr" presetSubtype="21" fill="hold" grpId="0"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barn(inVertical)">
                                      <p:cBhvr>
                                        <p:cTn id="11" dur="500"/>
                                        <p:tgtEl>
                                          <p:spTgt spid="16"/>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20">
                                            <p:txEl>
                                              <p:pRg st="5" end="5"/>
                                            </p:txEl>
                                          </p:spTgt>
                                        </p:tgtEl>
                                        <p:attrNameLst>
                                          <p:attrName>style.visibility</p:attrName>
                                        </p:attrNameLst>
                                      </p:cBhvr>
                                      <p:to>
                                        <p:strVal val="visible"/>
                                      </p:to>
                                    </p:set>
                                    <p:animEffect transition="in" filter="wipe(up)">
                                      <p:cBhvr>
                                        <p:cTn id="16" dur="500"/>
                                        <p:tgtEl>
                                          <p:spTgt spid="20">
                                            <p:txEl>
                                              <p:pRg st="5" end="5"/>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6" presetClass="entr" presetSubtype="21" fill="hold" grpId="0" nodeType="click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barn(inVertical)">
                                      <p:cBhvr>
                                        <p:cTn id="21"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B372F0-3B52-563D-F54D-6632108D500D}"/>
              </a:ext>
            </a:extLst>
          </p:cNvPr>
          <p:cNvSpPr>
            <a:spLocks noGrp="1"/>
          </p:cNvSpPr>
          <p:nvPr>
            <p:ph type="title"/>
          </p:nvPr>
        </p:nvSpPr>
        <p:spPr>
          <a:xfrm>
            <a:off x="457200" y="0"/>
            <a:ext cx="7620000" cy="1143000"/>
          </a:xfrm>
        </p:spPr>
        <p:txBody>
          <a:bodyPr/>
          <a:lstStyle/>
          <a:p>
            <a:pPr>
              <a:defRPr/>
            </a:pPr>
            <a:r>
              <a:rPr lang="en-US" dirty="0"/>
              <a:t>Manipulating Data Using SQL</a:t>
            </a:r>
            <a:endParaRPr lang="en-MY" dirty="0"/>
          </a:p>
        </p:txBody>
      </p:sp>
      <p:sp>
        <p:nvSpPr>
          <p:cNvPr id="14" name="Snip Single Corner Rectangle 13">
            <a:extLst>
              <a:ext uri="{FF2B5EF4-FFF2-40B4-BE49-F238E27FC236}">
                <a16:creationId xmlns:a16="http://schemas.microsoft.com/office/drawing/2014/main" id="{DA1BF858-D5EB-01F5-C240-2E17FDF37D2E}"/>
              </a:ext>
            </a:extLst>
          </p:cNvPr>
          <p:cNvSpPr/>
          <p:nvPr/>
        </p:nvSpPr>
        <p:spPr>
          <a:xfrm>
            <a:off x="-36513" y="1427163"/>
            <a:ext cx="1152526" cy="401637"/>
          </a:xfrm>
          <a:prstGeom prst="snip1Rect">
            <a:avLst/>
          </a:prstGeom>
          <a:solidFill>
            <a:srgbClr val="B50C00">
              <a:alpha val="70000"/>
            </a:srgbClr>
          </a:solidFill>
          <a:ln>
            <a:solidFill>
              <a:srgbClr val="B50C00"/>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indent="-342900" algn="just" eaLnBrk="1" hangingPunct="1">
              <a:spcBef>
                <a:spcPct val="20000"/>
              </a:spcBef>
              <a:buClr>
                <a:srgbClr val="FF6600"/>
              </a:buClr>
              <a:buSzPct val="100000"/>
              <a:defRPr/>
            </a:pPr>
            <a:r>
              <a:rPr lang="en-US" dirty="0">
                <a:latin typeface="Arial" pitchFamily="34" charset="0"/>
                <a:ea typeface="Times New Roman" pitchFamily="18" charset="0"/>
                <a:cs typeface="Arial" pitchFamily="34" charset="0"/>
              </a:rPr>
              <a:t>UPDATE</a:t>
            </a:r>
            <a:endParaRPr lang="en-GB" kern="0" dirty="0">
              <a:solidFill>
                <a:schemeClr val="tx1"/>
              </a:solidFill>
            </a:endParaRPr>
          </a:p>
        </p:txBody>
      </p:sp>
      <p:sp>
        <p:nvSpPr>
          <p:cNvPr id="20" name="Content Placeholder 2">
            <a:extLst>
              <a:ext uri="{FF2B5EF4-FFF2-40B4-BE49-F238E27FC236}">
                <a16:creationId xmlns:a16="http://schemas.microsoft.com/office/drawing/2014/main" id="{2E19DFCE-7AE4-CB89-22CC-3C5D600AD458}"/>
              </a:ext>
            </a:extLst>
          </p:cNvPr>
          <p:cNvSpPr txBox="1">
            <a:spLocks/>
          </p:cNvSpPr>
          <p:nvPr/>
        </p:nvSpPr>
        <p:spPr bwMode="auto">
          <a:xfrm>
            <a:off x="250825" y="1773238"/>
            <a:ext cx="7902575"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rgbClr val="FF6600"/>
              </a:buClr>
              <a:buFont typeface="Wingdings 3" panose="05040102010807070707" pitchFamily="18" charset="2"/>
              <a:buNone/>
            </a:pPr>
            <a:r>
              <a:rPr lang="en-CA" altLang="en-US" sz="2800">
                <a:latin typeface="Calibri" panose="020F0502020204030204" pitchFamily="34" charset="0"/>
              </a:rPr>
              <a:t>To change the data in a table, the SQL syntax is:</a:t>
            </a:r>
          </a:p>
          <a:p>
            <a:pPr algn="just" eaLnBrk="1" hangingPunct="1">
              <a:spcBef>
                <a:spcPct val="20000"/>
              </a:spcBef>
              <a:buClr>
                <a:srgbClr val="FF6600"/>
              </a:buClr>
              <a:buFont typeface="Wingdings 3" panose="05040102010807070707" pitchFamily="18" charset="2"/>
              <a:buNone/>
            </a:pPr>
            <a:endParaRPr lang="en-CA"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20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r>
              <a:rPr lang="en-CA" altLang="en-US" sz="2800">
                <a:latin typeface="Calibri" panose="020F0502020204030204" pitchFamily="34" charset="0"/>
              </a:rPr>
              <a:t>For example, to change the Book with ISBN of 123 to have the title of “1Q84” and quantity of 10</a:t>
            </a:r>
          </a:p>
        </p:txBody>
      </p:sp>
      <p:sp>
        <p:nvSpPr>
          <p:cNvPr id="19" name="Rounded Rectangle 18">
            <a:extLst>
              <a:ext uri="{FF2B5EF4-FFF2-40B4-BE49-F238E27FC236}">
                <a16:creationId xmlns:a16="http://schemas.microsoft.com/office/drawing/2014/main" id="{F6E3905F-679F-34ED-0172-89CFF273BBE0}"/>
              </a:ext>
            </a:extLst>
          </p:cNvPr>
          <p:cNvSpPr>
            <a:spLocks noChangeArrowheads="1"/>
          </p:cNvSpPr>
          <p:nvPr/>
        </p:nvSpPr>
        <p:spPr bwMode="auto">
          <a:xfrm>
            <a:off x="304800" y="2352675"/>
            <a:ext cx="7883525" cy="1439863"/>
          </a:xfrm>
          <a:prstGeom prst="roundRect">
            <a:avLst>
              <a:gd name="adj" fmla="val 16667"/>
            </a:avLst>
          </a:prstGeom>
          <a:solidFill>
            <a:srgbClr val="7F7B00">
              <a:alpha val="30196"/>
            </a:srgbClr>
          </a:solidFill>
          <a:ln w="9525" algn="ctr">
            <a:solidFill>
              <a:srgbClr val="7F7B00"/>
            </a:solidFill>
            <a:round/>
            <a:headEnd/>
            <a:tailEnd/>
          </a:ln>
        </p:spPr>
        <p:txBody>
          <a:bodyPr anchor="ctr" anchorCtr="1"/>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CA" altLang="en-US" sz="2800"/>
              <a:t>UPDATE &lt;table_name&gt; SET &lt;column_name&gt; = &lt;value&gt;, &lt;column_name&gt; = &lt;value&gt;… WHERE &lt;condition&gt;…;</a:t>
            </a:r>
          </a:p>
        </p:txBody>
      </p:sp>
      <p:sp>
        <p:nvSpPr>
          <p:cNvPr id="21" name="Rounded Rectangle 20">
            <a:extLst>
              <a:ext uri="{FF2B5EF4-FFF2-40B4-BE49-F238E27FC236}">
                <a16:creationId xmlns:a16="http://schemas.microsoft.com/office/drawing/2014/main" id="{C52029F3-63CA-1B62-C8A4-B7CC359C48CD}"/>
              </a:ext>
            </a:extLst>
          </p:cNvPr>
          <p:cNvSpPr/>
          <p:nvPr/>
        </p:nvSpPr>
        <p:spPr bwMode="auto">
          <a:xfrm>
            <a:off x="269875" y="5157788"/>
            <a:ext cx="7883525" cy="1079500"/>
          </a:xfrm>
          <a:prstGeom prst="roundRect">
            <a:avLst/>
          </a:prstGeom>
          <a:solidFill>
            <a:schemeClr val="accent6">
              <a:alpha val="30000"/>
            </a:schemeClr>
          </a:solidFill>
          <a:ln w="9525" cap="flat" cmpd="sng" algn="ctr">
            <a:solidFill>
              <a:schemeClr val="accent6"/>
            </a:solidFill>
            <a:prstDash val="solid"/>
            <a:round/>
            <a:headEnd type="none" w="med" len="med"/>
            <a:tailEnd type="none" w="med" len="med"/>
          </a:ln>
          <a:effectLst/>
        </p:spPr>
        <p:txBody>
          <a:bodyPr anchor="ctr" anchorCtr="1"/>
          <a:lstStyle/>
          <a:p>
            <a:pPr>
              <a:defRPr/>
            </a:pPr>
            <a:r>
              <a:rPr lang="en-CA" sz="2800" dirty="0"/>
              <a:t>UPDATE Book SET Title = '1Q84', Quantity = 10 WHERE ISBN = 123;</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20">
                                            <p:txEl>
                                              <p:pRg st="0" end="0"/>
                                            </p:txEl>
                                          </p:spTgt>
                                        </p:tgtEl>
                                        <p:attrNameLst>
                                          <p:attrName>style.visibility</p:attrName>
                                        </p:attrNameLst>
                                      </p:cBhvr>
                                      <p:to>
                                        <p:strVal val="visible"/>
                                      </p:to>
                                    </p:set>
                                    <p:animEffect transition="in" filter="wipe(up)">
                                      <p:cBhvr>
                                        <p:cTn id="11" dur="500"/>
                                        <p:tgtEl>
                                          <p:spTgt spid="20">
                                            <p:txEl>
                                              <p:pRg st="0" end="0"/>
                                            </p:txEl>
                                          </p:spTgt>
                                        </p:tgtEl>
                                      </p:cBhvr>
                                    </p:animEffect>
                                  </p:childTnLst>
                                </p:cTn>
                              </p:par>
                            </p:childTnLst>
                          </p:cTn>
                        </p:par>
                        <p:par>
                          <p:cTn id="12" fill="hold" nodeType="afterGroup">
                            <p:stCondLst>
                              <p:cond delay="1000"/>
                            </p:stCondLst>
                            <p:childTnLst>
                              <p:par>
                                <p:cTn id="13" presetID="16" presetClass="entr" presetSubtype="21" fill="hold" grpId="0" nodeType="after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barn(inVertical)">
                                      <p:cBhvr>
                                        <p:cTn id="15" dur="500"/>
                                        <p:tgtEl>
                                          <p:spTgt spid="19"/>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1" fill="hold" nodeType="clickEffect">
                                  <p:stCondLst>
                                    <p:cond delay="0"/>
                                  </p:stCondLst>
                                  <p:childTnLst>
                                    <p:set>
                                      <p:cBhvr>
                                        <p:cTn id="19" dur="1" fill="hold">
                                          <p:stCondLst>
                                            <p:cond delay="0"/>
                                          </p:stCondLst>
                                        </p:cTn>
                                        <p:tgtEl>
                                          <p:spTgt spid="20">
                                            <p:txEl>
                                              <p:pRg st="5" end="5"/>
                                            </p:txEl>
                                          </p:spTgt>
                                        </p:tgtEl>
                                        <p:attrNameLst>
                                          <p:attrName>style.visibility</p:attrName>
                                        </p:attrNameLst>
                                      </p:cBhvr>
                                      <p:to>
                                        <p:strVal val="visible"/>
                                      </p:to>
                                    </p:set>
                                    <p:animEffect transition="in" filter="wipe(up)">
                                      <p:cBhvr>
                                        <p:cTn id="20" dur="500"/>
                                        <p:tgtEl>
                                          <p:spTgt spid="20">
                                            <p:txEl>
                                              <p:pRg st="5" end="5"/>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6" presetClass="entr" presetSubtype="21" fill="hold" grpId="0" nodeType="click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barn(inVertical)">
                                      <p:cBhvr>
                                        <p:cTn id="25"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9" grpId="0" animBg="1"/>
      <p:bldP spid="21"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3AB24-0C05-AE81-091B-2F01D2BC27AC}"/>
              </a:ext>
            </a:extLst>
          </p:cNvPr>
          <p:cNvSpPr>
            <a:spLocks noGrp="1"/>
          </p:cNvSpPr>
          <p:nvPr>
            <p:ph type="title"/>
          </p:nvPr>
        </p:nvSpPr>
        <p:spPr>
          <a:xfrm>
            <a:off x="457200" y="0"/>
            <a:ext cx="7620000" cy="1143000"/>
          </a:xfrm>
        </p:spPr>
        <p:txBody>
          <a:bodyPr/>
          <a:lstStyle/>
          <a:p>
            <a:pPr>
              <a:defRPr/>
            </a:pPr>
            <a:r>
              <a:rPr lang="en-US" dirty="0"/>
              <a:t>Manipulating Data Using SQL</a:t>
            </a:r>
            <a:endParaRPr lang="en-MY" dirty="0"/>
          </a:p>
        </p:txBody>
      </p:sp>
      <p:sp>
        <p:nvSpPr>
          <p:cNvPr id="14" name="Snip Single Corner Rectangle 13">
            <a:extLst>
              <a:ext uri="{FF2B5EF4-FFF2-40B4-BE49-F238E27FC236}">
                <a16:creationId xmlns:a16="http://schemas.microsoft.com/office/drawing/2014/main" id="{C0E8B33A-87D6-2601-E475-FA199E5B1972}"/>
              </a:ext>
            </a:extLst>
          </p:cNvPr>
          <p:cNvSpPr/>
          <p:nvPr/>
        </p:nvSpPr>
        <p:spPr>
          <a:xfrm>
            <a:off x="-36513" y="1350963"/>
            <a:ext cx="1152526" cy="401637"/>
          </a:xfrm>
          <a:prstGeom prst="snip1Rect">
            <a:avLst/>
          </a:prstGeom>
          <a:solidFill>
            <a:srgbClr val="525759">
              <a:alpha val="70000"/>
            </a:srgbClr>
          </a:solidFill>
          <a:ln>
            <a:solidFill>
              <a:srgbClr val="525759"/>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indent="-342900" algn="just" eaLnBrk="1" hangingPunct="1">
              <a:spcBef>
                <a:spcPct val="20000"/>
              </a:spcBef>
              <a:buClr>
                <a:srgbClr val="FF6600"/>
              </a:buClr>
              <a:buSzPct val="100000"/>
              <a:defRPr/>
            </a:pPr>
            <a:r>
              <a:rPr lang="en-US" dirty="0">
                <a:latin typeface="Arial" pitchFamily="34" charset="0"/>
                <a:ea typeface="Times New Roman" pitchFamily="18" charset="0"/>
                <a:cs typeface="Arial" pitchFamily="34" charset="0"/>
              </a:rPr>
              <a:t>DELETE</a:t>
            </a:r>
            <a:endParaRPr lang="en-GB" kern="0" dirty="0">
              <a:solidFill>
                <a:schemeClr val="tx1"/>
              </a:solidFill>
            </a:endParaRPr>
          </a:p>
        </p:txBody>
      </p:sp>
      <p:sp>
        <p:nvSpPr>
          <p:cNvPr id="20" name="Content Placeholder 2">
            <a:extLst>
              <a:ext uri="{FF2B5EF4-FFF2-40B4-BE49-F238E27FC236}">
                <a16:creationId xmlns:a16="http://schemas.microsoft.com/office/drawing/2014/main" id="{CFF0A98F-A208-70EA-6133-B3C1137B826D}"/>
              </a:ext>
            </a:extLst>
          </p:cNvPr>
          <p:cNvSpPr txBox="1">
            <a:spLocks/>
          </p:cNvSpPr>
          <p:nvPr/>
        </p:nvSpPr>
        <p:spPr bwMode="auto">
          <a:xfrm>
            <a:off x="250825" y="1773238"/>
            <a:ext cx="7978775"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rgbClr val="FF6600"/>
              </a:buClr>
              <a:buFont typeface="Wingdings 3" panose="05040102010807070707" pitchFamily="18" charset="2"/>
              <a:buNone/>
            </a:pPr>
            <a:r>
              <a:rPr lang="en-CA" altLang="en-US" sz="2800">
                <a:latin typeface="Calibri" panose="020F0502020204030204" pitchFamily="34" charset="0"/>
              </a:rPr>
              <a:t>To remove data from a table, the SQL syntax is:</a:t>
            </a:r>
          </a:p>
          <a:p>
            <a:pPr algn="just" eaLnBrk="1" hangingPunct="1">
              <a:spcBef>
                <a:spcPct val="20000"/>
              </a:spcBef>
              <a:buClr>
                <a:srgbClr val="FF6600"/>
              </a:buClr>
              <a:buFont typeface="Wingdings 3" panose="05040102010807070707" pitchFamily="18" charset="2"/>
              <a:buNone/>
            </a:pPr>
            <a:endParaRPr lang="en-CA"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32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r>
              <a:rPr lang="en-CA" altLang="en-US" sz="2800">
                <a:latin typeface="Calibri" panose="020F0502020204030204" pitchFamily="34" charset="0"/>
              </a:rPr>
              <a:t>For example, to remove the book with ISBN of 123 from the “Book” table</a:t>
            </a:r>
          </a:p>
        </p:txBody>
      </p:sp>
      <p:sp>
        <p:nvSpPr>
          <p:cNvPr id="19" name="Rounded Rectangle 18">
            <a:extLst>
              <a:ext uri="{FF2B5EF4-FFF2-40B4-BE49-F238E27FC236}">
                <a16:creationId xmlns:a16="http://schemas.microsoft.com/office/drawing/2014/main" id="{EEB236CA-E697-75D8-8AA0-72976D7D0A30}"/>
              </a:ext>
            </a:extLst>
          </p:cNvPr>
          <p:cNvSpPr>
            <a:spLocks noChangeArrowheads="1"/>
          </p:cNvSpPr>
          <p:nvPr/>
        </p:nvSpPr>
        <p:spPr bwMode="auto">
          <a:xfrm>
            <a:off x="762000" y="2420938"/>
            <a:ext cx="7007225" cy="936625"/>
          </a:xfrm>
          <a:prstGeom prst="roundRect">
            <a:avLst>
              <a:gd name="adj" fmla="val 16667"/>
            </a:avLst>
          </a:prstGeom>
          <a:solidFill>
            <a:srgbClr val="7F7B00">
              <a:alpha val="30196"/>
            </a:srgbClr>
          </a:solidFill>
          <a:ln w="9525" algn="ctr">
            <a:solidFill>
              <a:srgbClr val="7F7B00"/>
            </a:solidFill>
            <a:round/>
            <a:headEnd/>
            <a:tailEnd/>
          </a:ln>
        </p:spPr>
        <p:txBody>
          <a:bodyPr anchor="ctr" anchorCtr="1"/>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CA" altLang="en-US" sz="2800"/>
              <a:t>DELETE FROM &lt;table_name&gt; WHERE &lt;condition&gt;…;</a:t>
            </a:r>
          </a:p>
        </p:txBody>
      </p:sp>
      <p:sp>
        <p:nvSpPr>
          <p:cNvPr id="21" name="Rounded Rectangle 20">
            <a:extLst>
              <a:ext uri="{FF2B5EF4-FFF2-40B4-BE49-F238E27FC236}">
                <a16:creationId xmlns:a16="http://schemas.microsoft.com/office/drawing/2014/main" id="{7CB9DFDD-1A97-5251-3546-4301D9986886}"/>
              </a:ext>
            </a:extLst>
          </p:cNvPr>
          <p:cNvSpPr/>
          <p:nvPr/>
        </p:nvSpPr>
        <p:spPr bwMode="auto">
          <a:xfrm>
            <a:off x="762000" y="4868863"/>
            <a:ext cx="7007225" cy="936625"/>
          </a:xfrm>
          <a:prstGeom prst="roundRect">
            <a:avLst/>
          </a:prstGeom>
          <a:solidFill>
            <a:schemeClr val="accent6">
              <a:alpha val="30000"/>
            </a:schemeClr>
          </a:solidFill>
          <a:ln w="9525" cap="flat" cmpd="sng" algn="ctr">
            <a:solidFill>
              <a:schemeClr val="accent6"/>
            </a:solidFill>
            <a:prstDash val="solid"/>
            <a:round/>
            <a:headEnd type="none" w="med" len="med"/>
            <a:tailEnd type="none" w="med" len="med"/>
          </a:ln>
          <a:effectLst/>
        </p:spPr>
        <p:txBody>
          <a:bodyPr anchor="ctr" anchorCtr="1"/>
          <a:lstStyle/>
          <a:p>
            <a:pPr>
              <a:defRPr/>
            </a:pPr>
            <a:r>
              <a:rPr lang="en-CA" sz="2800" dirty="0"/>
              <a:t>DELETE FROM Book WHERE ISBN = 123;</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20">
                                            <p:txEl>
                                              <p:pRg st="0" end="0"/>
                                            </p:txEl>
                                          </p:spTgt>
                                        </p:tgtEl>
                                        <p:attrNameLst>
                                          <p:attrName>style.visibility</p:attrName>
                                        </p:attrNameLst>
                                      </p:cBhvr>
                                      <p:to>
                                        <p:strVal val="visible"/>
                                      </p:to>
                                    </p:set>
                                    <p:animEffect transition="in" filter="wipe(up)">
                                      <p:cBhvr>
                                        <p:cTn id="11" dur="500"/>
                                        <p:tgtEl>
                                          <p:spTgt spid="20">
                                            <p:txEl>
                                              <p:pRg st="0" end="0"/>
                                            </p:txEl>
                                          </p:spTgt>
                                        </p:tgtEl>
                                      </p:cBhvr>
                                    </p:animEffect>
                                  </p:childTnLst>
                                </p:cTn>
                              </p:par>
                            </p:childTnLst>
                          </p:cTn>
                        </p:par>
                        <p:par>
                          <p:cTn id="12" fill="hold" nodeType="afterGroup">
                            <p:stCondLst>
                              <p:cond delay="1000"/>
                            </p:stCondLst>
                            <p:childTnLst>
                              <p:par>
                                <p:cTn id="13" presetID="16" presetClass="entr" presetSubtype="21" fill="hold" grpId="0" nodeType="after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barn(inVertical)">
                                      <p:cBhvr>
                                        <p:cTn id="15" dur="500"/>
                                        <p:tgtEl>
                                          <p:spTgt spid="19"/>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1" fill="hold" nodeType="clickEffect">
                                  <p:stCondLst>
                                    <p:cond delay="0"/>
                                  </p:stCondLst>
                                  <p:childTnLst>
                                    <p:set>
                                      <p:cBhvr>
                                        <p:cTn id="19" dur="1" fill="hold">
                                          <p:stCondLst>
                                            <p:cond delay="0"/>
                                          </p:stCondLst>
                                        </p:cTn>
                                        <p:tgtEl>
                                          <p:spTgt spid="20">
                                            <p:txEl>
                                              <p:pRg st="4" end="4"/>
                                            </p:txEl>
                                          </p:spTgt>
                                        </p:tgtEl>
                                        <p:attrNameLst>
                                          <p:attrName>style.visibility</p:attrName>
                                        </p:attrNameLst>
                                      </p:cBhvr>
                                      <p:to>
                                        <p:strVal val="visible"/>
                                      </p:to>
                                    </p:set>
                                    <p:animEffect transition="in" filter="wipe(up)">
                                      <p:cBhvr>
                                        <p:cTn id="20" dur="500"/>
                                        <p:tgtEl>
                                          <p:spTgt spid="20">
                                            <p:txEl>
                                              <p:pRg st="4" end="4"/>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6" presetClass="entr" presetSubtype="21" fill="hold" grpId="0" nodeType="click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barn(inVertical)">
                                      <p:cBhvr>
                                        <p:cTn id="25"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9" grpId="0" animBg="1"/>
      <p:bldP spid="21"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83546-B78A-F59E-113F-58A99DC34F96}"/>
              </a:ext>
            </a:extLst>
          </p:cNvPr>
          <p:cNvSpPr>
            <a:spLocks noGrp="1"/>
          </p:cNvSpPr>
          <p:nvPr>
            <p:ph type="title"/>
          </p:nvPr>
        </p:nvSpPr>
        <p:spPr>
          <a:xfrm>
            <a:off x="457200" y="0"/>
            <a:ext cx="7620000" cy="1143000"/>
          </a:xfrm>
        </p:spPr>
        <p:txBody>
          <a:bodyPr/>
          <a:lstStyle/>
          <a:p>
            <a:pPr>
              <a:defRPr/>
            </a:pPr>
            <a:r>
              <a:rPr lang="en-US" dirty="0"/>
              <a:t>Manipulating Data Using SQL</a:t>
            </a:r>
            <a:endParaRPr lang="en-MY" dirty="0"/>
          </a:p>
        </p:txBody>
      </p:sp>
      <p:sp>
        <p:nvSpPr>
          <p:cNvPr id="14" name="Snip Single Corner Rectangle 13">
            <a:extLst>
              <a:ext uri="{FF2B5EF4-FFF2-40B4-BE49-F238E27FC236}">
                <a16:creationId xmlns:a16="http://schemas.microsoft.com/office/drawing/2014/main" id="{A23FF017-D682-F9B1-F50D-D5EEBD24930C}"/>
              </a:ext>
            </a:extLst>
          </p:cNvPr>
          <p:cNvSpPr/>
          <p:nvPr/>
        </p:nvSpPr>
        <p:spPr>
          <a:xfrm>
            <a:off x="-36513" y="1350963"/>
            <a:ext cx="1152526" cy="401637"/>
          </a:xfrm>
          <a:prstGeom prst="snip1Rect">
            <a:avLst/>
          </a:prstGeom>
          <a:solidFill>
            <a:srgbClr val="525759">
              <a:alpha val="70000"/>
            </a:srgbClr>
          </a:solidFill>
          <a:ln>
            <a:solidFill>
              <a:srgbClr val="525759"/>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indent="-342900" algn="just" eaLnBrk="1" hangingPunct="1">
              <a:spcBef>
                <a:spcPct val="20000"/>
              </a:spcBef>
              <a:buClr>
                <a:srgbClr val="FF6600"/>
              </a:buClr>
              <a:buSzPct val="100000"/>
              <a:defRPr/>
            </a:pPr>
            <a:r>
              <a:rPr lang="en-US" dirty="0">
                <a:latin typeface="Arial" pitchFamily="34" charset="0"/>
                <a:ea typeface="Times New Roman" pitchFamily="18" charset="0"/>
                <a:cs typeface="Arial" pitchFamily="34" charset="0"/>
              </a:rPr>
              <a:t>DELETE</a:t>
            </a:r>
            <a:endParaRPr lang="en-GB" kern="0" dirty="0">
              <a:solidFill>
                <a:schemeClr val="tx1"/>
              </a:solidFill>
            </a:endParaRPr>
          </a:p>
        </p:txBody>
      </p:sp>
      <p:sp>
        <p:nvSpPr>
          <p:cNvPr id="20" name="Content Placeholder 2">
            <a:extLst>
              <a:ext uri="{FF2B5EF4-FFF2-40B4-BE49-F238E27FC236}">
                <a16:creationId xmlns:a16="http://schemas.microsoft.com/office/drawing/2014/main" id="{4CEE959E-A304-C6D6-3C3A-CB2AC8940A73}"/>
              </a:ext>
            </a:extLst>
          </p:cNvPr>
          <p:cNvSpPr txBox="1">
            <a:spLocks/>
          </p:cNvSpPr>
          <p:nvPr/>
        </p:nvSpPr>
        <p:spPr bwMode="auto">
          <a:xfrm>
            <a:off x="250825" y="1773238"/>
            <a:ext cx="7902575"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rgbClr val="FF6600"/>
              </a:buClr>
              <a:buFont typeface="Wingdings 3" panose="05040102010807070707" pitchFamily="18" charset="2"/>
              <a:buNone/>
            </a:pPr>
            <a:r>
              <a:rPr lang="en-CA" altLang="en-US" sz="2800">
                <a:latin typeface="Calibri" panose="020F0502020204030204" pitchFamily="34" charset="0"/>
              </a:rPr>
              <a:t>To remove all the data in a table, the SQL syntax is:</a:t>
            </a:r>
          </a:p>
          <a:p>
            <a:pPr algn="just" eaLnBrk="1" hangingPunct="1">
              <a:spcBef>
                <a:spcPct val="20000"/>
              </a:spcBef>
              <a:buClr>
                <a:srgbClr val="FF6600"/>
              </a:buClr>
              <a:buFont typeface="Wingdings 3" panose="05040102010807070707" pitchFamily="18" charset="2"/>
              <a:buNone/>
            </a:pPr>
            <a:endParaRPr lang="en-CA"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28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24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r>
              <a:rPr lang="en-CA" altLang="en-US" sz="2800">
                <a:latin typeface="Calibri" panose="020F0502020204030204" pitchFamily="34" charset="0"/>
              </a:rPr>
              <a:t>For example, to remove all the books in “Book” table</a:t>
            </a:r>
          </a:p>
        </p:txBody>
      </p:sp>
      <p:sp>
        <p:nvSpPr>
          <p:cNvPr id="19" name="Rounded Rectangle 18">
            <a:extLst>
              <a:ext uri="{FF2B5EF4-FFF2-40B4-BE49-F238E27FC236}">
                <a16:creationId xmlns:a16="http://schemas.microsoft.com/office/drawing/2014/main" id="{C69B0A5B-1C04-8872-B3C7-7FED01D369C5}"/>
              </a:ext>
            </a:extLst>
          </p:cNvPr>
          <p:cNvSpPr>
            <a:spLocks noChangeArrowheads="1"/>
          </p:cNvSpPr>
          <p:nvPr/>
        </p:nvSpPr>
        <p:spPr bwMode="auto">
          <a:xfrm>
            <a:off x="704850" y="2420938"/>
            <a:ext cx="7007225" cy="720725"/>
          </a:xfrm>
          <a:prstGeom prst="roundRect">
            <a:avLst>
              <a:gd name="adj" fmla="val 16667"/>
            </a:avLst>
          </a:prstGeom>
          <a:solidFill>
            <a:srgbClr val="7F7B00">
              <a:alpha val="30196"/>
            </a:srgbClr>
          </a:solidFill>
          <a:ln w="9525" algn="ctr">
            <a:solidFill>
              <a:srgbClr val="7F7B00"/>
            </a:solidFill>
            <a:round/>
            <a:headEnd/>
            <a:tailEnd/>
          </a:ln>
        </p:spPr>
        <p:txBody>
          <a:bodyPr anchor="ctr" anchorCtr="1"/>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CA" altLang="en-US" sz="2800"/>
              <a:t>DELETE FROM &lt;table_name&gt;;</a:t>
            </a:r>
          </a:p>
        </p:txBody>
      </p:sp>
      <p:sp>
        <p:nvSpPr>
          <p:cNvPr id="21" name="Rounded Rectangle 20">
            <a:extLst>
              <a:ext uri="{FF2B5EF4-FFF2-40B4-BE49-F238E27FC236}">
                <a16:creationId xmlns:a16="http://schemas.microsoft.com/office/drawing/2014/main" id="{FC97DED9-37CC-1DD1-08DA-C2E40CDBACDE}"/>
              </a:ext>
            </a:extLst>
          </p:cNvPr>
          <p:cNvSpPr/>
          <p:nvPr/>
        </p:nvSpPr>
        <p:spPr bwMode="auto">
          <a:xfrm>
            <a:off x="685800" y="4365625"/>
            <a:ext cx="7007225" cy="719138"/>
          </a:xfrm>
          <a:prstGeom prst="roundRect">
            <a:avLst/>
          </a:prstGeom>
          <a:solidFill>
            <a:schemeClr val="accent6">
              <a:alpha val="30000"/>
            </a:schemeClr>
          </a:solidFill>
          <a:ln w="9525" cap="flat" cmpd="sng" algn="ctr">
            <a:solidFill>
              <a:schemeClr val="accent6"/>
            </a:solidFill>
            <a:prstDash val="solid"/>
            <a:round/>
            <a:headEnd type="none" w="med" len="med"/>
            <a:tailEnd type="none" w="med" len="med"/>
          </a:ln>
          <a:effectLst/>
        </p:spPr>
        <p:txBody>
          <a:bodyPr anchor="ctr" anchorCtr="1"/>
          <a:lstStyle/>
          <a:p>
            <a:pPr>
              <a:defRPr/>
            </a:pPr>
            <a:r>
              <a:rPr lang="en-CA" sz="2800" dirty="0"/>
              <a:t>DELETE FROM Book;</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Effect transition="in" filter="wipe(up)">
                                      <p:cBhvr>
                                        <p:cTn id="7" dur="500"/>
                                        <p:tgtEl>
                                          <p:spTgt spid="20">
                                            <p:txEl>
                                              <p:pRg st="0" end="0"/>
                                            </p:txEl>
                                          </p:spTgt>
                                        </p:tgtEl>
                                      </p:cBhvr>
                                    </p:animEffect>
                                  </p:childTnLst>
                                </p:cTn>
                              </p:par>
                            </p:childTnLst>
                          </p:cTn>
                        </p:par>
                        <p:par>
                          <p:cTn id="8" fill="hold" nodeType="afterGroup">
                            <p:stCondLst>
                              <p:cond delay="500"/>
                            </p:stCondLst>
                            <p:childTnLst>
                              <p:par>
                                <p:cTn id="9" presetID="16" presetClass="entr" presetSubtype="21" fill="hold" grpId="0"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barn(inVertical)">
                                      <p:cBhvr>
                                        <p:cTn id="11" dur="500"/>
                                        <p:tgtEl>
                                          <p:spTgt spid="19"/>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20">
                                            <p:txEl>
                                              <p:pRg st="4" end="4"/>
                                            </p:txEl>
                                          </p:spTgt>
                                        </p:tgtEl>
                                        <p:attrNameLst>
                                          <p:attrName>style.visibility</p:attrName>
                                        </p:attrNameLst>
                                      </p:cBhvr>
                                      <p:to>
                                        <p:strVal val="visible"/>
                                      </p:to>
                                    </p:set>
                                    <p:animEffect transition="in" filter="wipe(up)">
                                      <p:cBhvr>
                                        <p:cTn id="16" dur="500"/>
                                        <p:tgtEl>
                                          <p:spTgt spid="20">
                                            <p:txEl>
                                              <p:pRg st="4" end="4"/>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6" presetClass="entr" presetSubtype="21" fill="hold" grpId="0" nodeType="click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barn(inVertical)">
                                      <p:cBhvr>
                                        <p:cTn id="21"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1"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reeform 13">
            <a:hlinkClick r:id="rId2" action="ppaction://hlinksldjump"/>
            <a:extLst>
              <a:ext uri="{FF2B5EF4-FFF2-40B4-BE49-F238E27FC236}">
                <a16:creationId xmlns:a16="http://schemas.microsoft.com/office/drawing/2014/main" id="{D7333744-C69B-0B26-C85C-28BD78DA0AFE}"/>
              </a:ext>
            </a:extLst>
          </p:cNvPr>
          <p:cNvSpPr/>
          <p:nvPr/>
        </p:nvSpPr>
        <p:spPr>
          <a:xfrm>
            <a:off x="5611813" y="3505200"/>
            <a:ext cx="2236787" cy="1341438"/>
          </a:xfrm>
          <a:custGeom>
            <a:avLst/>
            <a:gdLst>
              <a:gd name="connsiteX0" fmla="*/ 0 w 2236185"/>
              <a:gd name="connsiteY0" fmla="*/ 0 h 1341711"/>
              <a:gd name="connsiteX1" fmla="*/ 2236185 w 2236185"/>
              <a:gd name="connsiteY1" fmla="*/ 0 h 1341711"/>
              <a:gd name="connsiteX2" fmla="*/ 2236185 w 2236185"/>
              <a:gd name="connsiteY2" fmla="*/ 1341711 h 1341711"/>
              <a:gd name="connsiteX3" fmla="*/ 0 w 2236185"/>
              <a:gd name="connsiteY3" fmla="*/ 1341711 h 1341711"/>
              <a:gd name="connsiteX4" fmla="*/ 0 w 2236185"/>
              <a:gd name="connsiteY4" fmla="*/ 0 h 1341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6185" h="1341711">
                <a:moveTo>
                  <a:pt x="0" y="0"/>
                </a:moveTo>
                <a:lnTo>
                  <a:pt x="2236185" y="0"/>
                </a:lnTo>
                <a:lnTo>
                  <a:pt x="2236185" y="1341711"/>
                </a:lnTo>
                <a:lnTo>
                  <a:pt x="0" y="1341711"/>
                </a:lnTo>
                <a:lnTo>
                  <a:pt x="0" y="0"/>
                </a:lnTo>
                <a:close/>
              </a:path>
            </a:pathLst>
          </a:custGeom>
          <a:solidFill>
            <a:srgbClr val="002060"/>
          </a:solidFill>
          <a:ln/>
        </p:spPr>
        <p:style>
          <a:lnRef idx="3">
            <a:schemeClr val="lt1"/>
          </a:lnRef>
          <a:fillRef idx="1">
            <a:schemeClr val="accent4"/>
          </a:fillRef>
          <a:effectRef idx="1">
            <a:schemeClr val="accent4"/>
          </a:effectRef>
          <a:fontRef idx="minor">
            <a:schemeClr val="lt1"/>
          </a:fontRef>
        </p:style>
        <p:txBody>
          <a:bodyPr lIns="83820" tIns="83820" rIns="83820" bIns="83820" spcCol="1270" anchor="ctr"/>
          <a:lstStyle/>
          <a:p>
            <a:pPr algn="ctr" defTabSz="977900">
              <a:lnSpc>
                <a:spcPct val="90000"/>
              </a:lnSpc>
              <a:spcAft>
                <a:spcPct val="35000"/>
              </a:spcAft>
              <a:defRPr/>
            </a:pPr>
            <a:r>
              <a:rPr lang="en-CA" sz="2200" dirty="0"/>
              <a:t>Entity Integrity Constraint</a:t>
            </a:r>
          </a:p>
        </p:txBody>
      </p:sp>
      <p:sp>
        <p:nvSpPr>
          <p:cNvPr id="2" name="Title 1">
            <a:extLst>
              <a:ext uri="{FF2B5EF4-FFF2-40B4-BE49-F238E27FC236}">
                <a16:creationId xmlns:a16="http://schemas.microsoft.com/office/drawing/2014/main" id="{6C9485F8-9449-45A4-AFB3-CD24A7592723}"/>
              </a:ext>
            </a:extLst>
          </p:cNvPr>
          <p:cNvSpPr>
            <a:spLocks noGrp="1"/>
          </p:cNvSpPr>
          <p:nvPr>
            <p:ph type="title"/>
          </p:nvPr>
        </p:nvSpPr>
        <p:spPr>
          <a:xfrm>
            <a:off x="457200" y="0"/>
            <a:ext cx="7620000" cy="1143000"/>
          </a:xfrm>
        </p:spPr>
        <p:txBody>
          <a:bodyPr/>
          <a:lstStyle/>
          <a:p>
            <a:pPr algn="ctr">
              <a:defRPr/>
            </a:pPr>
            <a:r>
              <a:rPr lang="en-US" dirty="0"/>
              <a:t>Relational Constraints</a:t>
            </a:r>
            <a:endParaRPr lang="en-CA" dirty="0"/>
          </a:p>
        </p:txBody>
      </p:sp>
      <p:sp>
        <p:nvSpPr>
          <p:cNvPr id="25" name="Content Placeholder 2">
            <a:extLst>
              <a:ext uri="{FF2B5EF4-FFF2-40B4-BE49-F238E27FC236}">
                <a16:creationId xmlns:a16="http://schemas.microsoft.com/office/drawing/2014/main" id="{D5C3E36A-0AFF-00E2-0929-D0BB256CA1E7}"/>
              </a:ext>
            </a:extLst>
          </p:cNvPr>
          <p:cNvSpPr txBox="1">
            <a:spLocks/>
          </p:cNvSpPr>
          <p:nvPr/>
        </p:nvSpPr>
        <p:spPr bwMode="auto">
          <a:xfrm>
            <a:off x="304800" y="1268413"/>
            <a:ext cx="7772400" cy="2028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rgbClr val="FF6600"/>
              </a:buClr>
              <a:buFont typeface="Wingdings 3" panose="05040102010807070707" pitchFamily="18" charset="2"/>
              <a:buNone/>
            </a:pPr>
            <a:r>
              <a:rPr lang="en-CA" altLang="en-US" sz="3200">
                <a:latin typeface="Calibri" panose="020F0502020204030204" pitchFamily="34" charset="0"/>
              </a:rPr>
              <a:t>Recall that we can enforce data integrity (i.e. data correctness) by limiting the data that can be stored in a database. A relational data model supports the following data constraints</a:t>
            </a:r>
            <a:endParaRPr lang="en-CA" altLang="en-US" sz="2800">
              <a:latin typeface="Calibri" panose="020F0502020204030204" pitchFamily="34" charset="0"/>
            </a:endParaRPr>
          </a:p>
        </p:txBody>
      </p:sp>
      <p:sp>
        <p:nvSpPr>
          <p:cNvPr id="9" name="Freeform 8">
            <a:hlinkClick r:id="rId3" action="ppaction://hlinksldjump"/>
            <a:extLst>
              <a:ext uri="{FF2B5EF4-FFF2-40B4-BE49-F238E27FC236}">
                <a16:creationId xmlns:a16="http://schemas.microsoft.com/office/drawing/2014/main" id="{85772383-23AF-15E4-A717-E7D22C8B1C4A}"/>
              </a:ext>
            </a:extLst>
          </p:cNvPr>
          <p:cNvSpPr/>
          <p:nvPr/>
        </p:nvSpPr>
        <p:spPr>
          <a:xfrm>
            <a:off x="668338" y="3505200"/>
            <a:ext cx="2235200" cy="1341438"/>
          </a:xfrm>
          <a:custGeom>
            <a:avLst/>
            <a:gdLst>
              <a:gd name="connsiteX0" fmla="*/ 0 w 2236185"/>
              <a:gd name="connsiteY0" fmla="*/ 0 h 1341711"/>
              <a:gd name="connsiteX1" fmla="*/ 2236185 w 2236185"/>
              <a:gd name="connsiteY1" fmla="*/ 0 h 1341711"/>
              <a:gd name="connsiteX2" fmla="*/ 2236185 w 2236185"/>
              <a:gd name="connsiteY2" fmla="*/ 1341711 h 1341711"/>
              <a:gd name="connsiteX3" fmla="*/ 0 w 2236185"/>
              <a:gd name="connsiteY3" fmla="*/ 1341711 h 1341711"/>
              <a:gd name="connsiteX4" fmla="*/ 0 w 2236185"/>
              <a:gd name="connsiteY4" fmla="*/ 0 h 1341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6185" h="1341711">
                <a:moveTo>
                  <a:pt x="0" y="0"/>
                </a:moveTo>
                <a:lnTo>
                  <a:pt x="2236185" y="0"/>
                </a:lnTo>
                <a:lnTo>
                  <a:pt x="2236185" y="1341711"/>
                </a:lnTo>
                <a:lnTo>
                  <a:pt x="0" y="1341711"/>
                </a:lnTo>
                <a:lnTo>
                  <a:pt x="0" y="0"/>
                </a:lnTo>
                <a:close/>
              </a:path>
            </a:pathLst>
          </a:custGeom>
          <a:ln/>
        </p:spPr>
        <p:style>
          <a:lnRef idx="3">
            <a:schemeClr val="lt1"/>
          </a:lnRef>
          <a:fillRef idx="1">
            <a:schemeClr val="dk1"/>
          </a:fillRef>
          <a:effectRef idx="1">
            <a:schemeClr val="dk1"/>
          </a:effectRef>
          <a:fontRef idx="minor">
            <a:schemeClr val="lt1"/>
          </a:fontRef>
        </p:style>
        <p:txBody>
          <a:bodyPr lIns="83820" tIns="83820" rIns="83820" bIns="83820" spcCol="1270" anchor="ctr"/>
          <a:lstStyle/>
          <a:p>
            <a:pPr algn="ctr" defTabSz="977900">
              <a:lnSpc>
                <a:spcPct val="90000"/>
              </a:lnSpc>
              <a:spcAft>
                <a:spcPct val="35000"/>
              </a:spcAft>
              <a:defRPr/>
            </a:pPr>
            <a:r>
              <a:rPr lang="en-CA" sz="2200" dirty="0"/>
              <a:t>Domain Constraint</a:t>
            </a:r>
          </a:p>
        </p:txBody>
      </p:sp>
      <p:sp>
        <p:nvSpPr>
          <p:cNvPr id="10" name="Freeform 9">
            <a:hlinkClick r:id="rId4" action="ppaction://hlinksldjump"/>
            <a:extLst>
              <a:ext uri="{FF2B5EF4-FFF2-40B4-BE49-F238E27FC236}">
                <a16:creationId xmlns:a16="http://schemas.microsoft.com/office/drawing/2014/main" id="{809AB08E-341B-2B0E-99B5-C530220265A4}"/>
              </a:ext>
            </a:extLst>
          </p:cNvPr>
          <p:cNvSpPr/>
          <p:nvPr/>
        </p:nvSpPr>
        <p:spPr>
          <a:xfrm>
            <a:off x="3127375" y="3505200"/>
            <a:ext cx="2236788" cy="1341438"/>
          </a:xfrm>
          <a:custGeom>
            <a:avLst/>
            <a:gdLst>
              <a:gd name="connsiteX0" fmla="*/ 0 w 2236185"/>
              <a:gd name="connsiteY0" fmla="*/ 0 h 1341711"/>
              <a:gd name="connsiteX1" fmla="*/ 2236185 w 2236185"/>
              <a:gd name="connsiteY1" fmla="*/ 0 h 1341711"/>
              <a:gd name="connsiteX2" fmla="*/ 2236185 w 2236185"/>
              <a:gd name="connsiteY2" fmla="*/ 1341711 h 1341711"/>
              <a:gd name="connsiteX3" fmla="*/ 0 w 2236185"/>
              <a:gd name="connsiteY3" fmla="*/ 1341711 h 1341711"/>
              <a:gd name="connsiteX4" fmla="*/ 0 w 2236185"/>
              <a:gd name="connsiteY4" fmla="*/ 0 h 1341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6185" h="1341711">
                <a:moveTo>
                  <a:pt x="0" y="0"/>
                </a:moveTo>
                <a:lnTo>
                  <a:pt x="2236185" y="0"/>
                </a:lnTo>
                <a:lnTo>
                  <a:pt x="2236185" y="1341711"/>
                </a:lnTo>
                <a:lnTo>
                  <a:pt x="0" y="1341711"/>
                </a:lnTo>
                <a:lnTo>
                  <a:pt x="0" y="0"/>
                </a:lnTo>
                <a:close/>
              </a:path>
            </a:pathLst>
          </a:custGeom>
          <a:ln/>
        </p:spPr>
        <p:style>
          <a:lnRef idx="3">
            <a:schemeClr val="lt1"/>
          </a:lnRef>
          <a:fillRef idx="1">
            <a:schemeClr val="accent5"/>
          </a:fillRef>
          <a:effectRef idx="1">
            <a:schemeClr val="accent5"/>
          </a:effectRef>
          <a:fontRef idx="minor">
            <a:schemeClr val="lt1"/>
          </a:fontRef>
        </p:style>
        <p:txBody>
          <a:bodyPr lIns="83820" tIns="83820" rIns="83820" bIns="83820" spcCol="1270" anchor="ctr"/>
          <a:lstStyle/>
          <a:p>
            <a:pPr algn="ctr" defTabSz="977900">
              <a:lnSpc>
                <a:spcPct val="90000"/>
              </a:lnSpc>
              <a:spcAft>
                <a:spcPct val="35000"/>
              </a:spcAft>
              <a:defRPr/>
            </a:pPr>
            <a:r>
              <a:rPr lang="en-CA" sz="2200" dirty="0"/>
              <a:t>Key Constraint</a:t>
            </a:r>
          </a:p>
        </p:txBody>
      </p:sp>
      <p:sp>
        <p:nvSpPr>
          <p:cNvPr id="11" name="Freeform 10">
            <a:hlinkClick r:id="rId5" action="ppaction://hlinksldjump"/>
            <a:extLst>
              <a:ext uri="{FF2B5EF4-FFF2-40B4-BE49-F238E27FC236}">
                <a16:creationId xmlns:a16="http://schemas.microsoft.com/office/drawing/2014/main" id="{093B3D06-7B8D-D1AD-0584-D252E85C25E2}"/>
              </a:ext>
            </a:extLst>
          </p:cNvPr>
          <p:cNvSpPr/>
          <p:nvPr/>
        </p:nvSpPr>
        <p:spPr>
          <a:xfrm>
            <a:off x="1892300" y="5054600"/>
            <a:ext cx="2236788" cy="1341438"/>
          </a:xfrm>
          <a:custGeom>
            <a:avLst/>
            <a:gdLst>
              <a:gd name="connsiteX0" fmla="*/ 0 w 2236185"/>
              <a:gd name="connsiteY0" fmla="*/ 0 h 1341711"/>
              <a:gd name="connsiteX1" fmla="*/ 2236185 w 2236185"/>
              <a:gd name="connsiteY1" fmla="*/ 0 h 1341711"/>
              <a:gd name="connsiteX2" fmla="*/ 2236185 w 2236185"/>
              <a:gd name="connsiteY2" fmla="*/ 1341711 h 1341711"/>
              <a:gd name="connsiteX3" fmla="*/ 0 w 2236185"/>
              <a:gd name="connsiteY3" fmla="*/ 1341711 h 1341711"/>
              <a:gd name="connsiteX4" fmla="*/ 0 w 2236185"/>
              <a:gd name="connsiteY4" fmla="*/ 0 h 1341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6185" h="1341711">
                <a:moveTo>
                  <a:pt x="0" y="0"/>
                </a:moveTo>
                <a:lnTo>
                  <a:pt x="2236185" y="0"/>
                </a:lnTo>
                <a:lnTo>
                  <a:pt x="2236185" y="1341711"/>
                </a:lnTo>
                <a:lnTo>
                  <a:pt x="0" y="1341711"/>
                </a:lnTo>
                <a:lnTo>
                  <a:pt x="0" y="0"/>
                </a:lnTo>
                <a:close/>
              </a:path>
            </a:pathLst>
          </a:custGeom>
          <a:solidFill>
            <a:srgbClr val="C00000"/>
          </a:solidFill>
          <a:ln/>
        </p:spPr>
        <p:style>
          <a:lnRef idx="3">
            <a:schemeClr val="lt1"/>
          </a:lnRef>
          <a:fillRef idx="1">
            <a:schemeClr val="accent3"/>
          </a:fillRef>
          <a:effectRef idx="1">
            <a:schemeClr val="accent3"/>
          </a:effectRef>
          <a:fontRef idx="minor">
            <a:schemeClr val="lt1"/>
          </a:fontRef>
        </p:style>
        <p:txBody>
          <a:bodyPr lIns="83820" tIns="83820" rIns="83820" bIns="83820" spcCol="1270" anchor="ctr"/>
          <a:lstStyle/>
          <a:p>
            <a:pPr algn="ctr" defTabSz="977900">
              <a:lnSpc>
                <a:spcPct val="90000"/>
              </a:lnSpc>
              <a:spcAft>
                <a:spcPct val="35000"/>
              </a:spcAft>
              <a:defRPr/>
            </a:pPr>
            <a:r>
              <a:rPr lang="en-CA" sz="2200" dirty="0"/>
              <a:t>NULL Constraint</a:t>
            </a:r>
          </a:p>
        </p:txBody>
      </p:sp>
      <p:sp>
        <p:nvSpPr>
          <p:cNvPr id="16" name="Freeform 15">
            <a:hlinkClick r:id="rId6" action="ppaction://hlinksldjump"/>
            <a:extLst>
              <a:ext uri="{FF2B5EF4-FFF2-40B4-BE49-F238E27FC236}">
                <a16:creationId xmlns:a16="http://schemas.microsoft.com/office/drawing/2014/main" id="{84B11D06-64DC-9558-7AC8-4926272263AE}"/>
              </a:ext>
            </a:extLst>
          </p:cNvPr>
          <p:cNvSpPr/>
          <p:nvPr/>
        </p:nvSpPr>
        <p:spPr>
          <a:xfrm>
            <a:off x="4340225" y="5049838"/>
            <a:ext cx="2236788" cy="1341437"/>
          </a:xfrm>
          <a:custGeom>
            <a:avLst/>
            <a:gdLst>
              <a:gd name="connsiteX0" fmla="*/ 0 w 2236185"/>
              <a:gd name="connsiteY0" fmla="*/ 0 h 1341711"/>
              <a:gd name="connsiteX1" fmla="*/ 2236185 w 2236185"/>
              <a:gd name="connsiteY1" fmla="*/ 0 h 1341711"/>
              <a:gd name="connsiteX2" fmla="*/ 2236185 w 2236185"/>
              <a:gd name="connsiteY2" fmla="*/ 1341711 h 1341711"/>
              <a:gd name="connsiteX3" fmla="*/ 0 w 2236185"/>
              <a:gd name="connsiteY3" fmla="*/ 1341711 h 1341711"/>
              <a:gd name="connsiteX4" fmla="*/ 0 w 2236185"/>
              <a:gd name="connsiteY4" fmla="*/ 0 h 1341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6185" h="1341711">
                <a:moveTo>
                  <a:pt x="0" y="0"/>
                </a:moveTo>
                <a:lnTo>
                  <a:pt x="2236185" y="0"/>
                </a:lnTo>
                <a:lnTo>
                  <a:pt x="2236185" y="1341711"/>
                </a:lnTo>
                <a:lnTo>
                  <a:pt x="0" y="1341711"/>
                </a:lnTo>
                <a:lnTo>
                  <a:pt x="0" y="0"/>
                </a:lnTo>
                <a:close/>
              </a:path>
            </a:pathLst>
          </a:custGeom>
          <a:solidFill>
            <a:srgbClr val="00B050"/>
          </a:solidFill>
          <a:ln/>
        </p:spPr>
        <p:style>
          <a:lnRef idx="3">
            <a:schemeClr val="lt1"/>
          </a:lnRef>
          <a:fillRef idx="1">
            <a:schemeClr val="accent6"/>
          </a:fillRef>
          <a:effectRef idx="1">
            <a:schemeClr val="accent6"/>
          </a:effectRef>
          <a:fontRef idx="minor">
            <a:schemeClr val="lt1"/>
          </a:fontRef>
        </p:style>
        <p:txBody>
          <a:bodyPr lIns="83820" tIns="83820" rIns="83820" bIns="83820" spcCol="1270" anchor="ctr"/>
          <a:lstStyle/>
          <a:p>
            <a:pPr algn="ctr" defTabSz="977900">
              <a:lnSpc>
                <a:spcPct val="90000"/>
              </a:lnSpc>
              <a:spcAft>
                <a:spcPct val="35000"/>
              </a:spcAft>
              <a:defRPr/>
            </a:pPr>
            <a:r>
              <a:rPr lang="en-CA" sz="2200" dirty="0"/>
              <a:t>Referential Integrity Constraint</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5">
                                            <p:txEl>
                                              <p:pRg st="0" end="0"/>
                                            </p:txEl>
                                          </p:spTgt>
                                        </p:tgtEl>
                                        <p:attrNameLst>
                                          <p:attrName>style.visibility</p:attrName>
                                        </p:attrNameLst>
                                      </p:cBhvr>
                                      <p:to>
                                        <p:strVal val="visible"/>
                                      </p:to>
                                    </p:set>
                                    <p:animEffect transition="in" filter="wipe(left)">
                                      <p:cBhvr>
                                        <p:cTn id="7" dur="500"/>
                                        <p:tgtEl>
                                          <p:spTgt spid="25">
                                            <p:txEl>
                                              <p:pRg st="0" end="0"/>
                                            </p:txEl>
                                          </p:spTgt>
                                        </p:tgtEl>
                                      </p:cBhvr>
                                    </p:animEffect>
                                  </p:childTnLst>
                                </p:cTn>
                              </p:par>
                            </p:childTnLst>
                          </p:cTn>
                        </p:par>
                        <p:par>
                          <p:cTn id="8" fill="hold" nodeType="afterGroup">
                            <p:stCondLst>
                              <p:cond delay="500"/>
                            </p:stCondLst>
                            <p:childTnLst>
                              <p:par>
                                <p:cTn id="9" presetID="42" presetClass="entr" presetSubtype="0"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1000"/>
                                        <p:tgtEl>
                                          <p:spTgt spid="9"/>
                                        </p:tgtEl>
                                      </p:cBhvr>
                                    </p:animEffect>
                                    <p:anim calcmode="lin" valueType="num">
                                      <p:cBhvr>
                                        <p:cTn id="12" dur="1000" fill="hold"/>
                                        <p:tgtEl>
                                          <p:spTgt spid="9"/>
                                        </p:tgtEl>
                                        <p:attrNameLst>
                                          <p:attrName>ppt_x</p:attrName>
                                        </p:attrNameLst>
                                      </p:cBhvr>
                                      <p:tavLst>
                                        <p:tav tm="0">
                                          <p:val>
                                            <p:strVal val="#ppt_x"/>
                                          </p:val>
                                        </p:tav>
                                        <p:tav tm="100000">
                                          <p:val>
                                            <p:strVal val="#ppt_x"/>
                                          </p:val>
                                        </p:tav>
                                      </p:tavLst>
                                    </p:anim>
                                    <p:anim calcmode="lin" valueType="num">
                                      <p:cBhvr>
                                        <p:cTn id="13" dur="1000" fill="hold"/>
                                        <p:tgtEl>
                                          <p:spTgt spid="9"/>
                                        </p:tgtEl>
                                        <p:attrNameLst>
                                          <p:attrName>ppt_y</p:attrName>
                                        </p:attrNameLst>
                                      </p:cBhvr>
                                      <p:tavLst>
                                        <p:tav tm="0">
                                          <p:val>
                                            <p:strVal val="#ppt_y+.1"/>
                                          </p:val>
                                        </p:tav>
                                        <p:tav tm="100000">
                                          <p:val>
                                            <p:strVal val="#ppt_y"/>
                                          </p:val>
                                        </p:tav>
                                      </p:tavLst>
                                    </p:anim>
                                  </p:childTnLst>
                                </p:cTn>
                              </p:par>
                            </p:childTnLst>
                          </p:cTn>
                        </p:par>
                        <p:par>
                          <p:cTn id="14" fill="hold" nodeType="afterGroup">
                            <p:stCondLst>
                              <p:cond delay="1500"/>
                            </p:stCondLst>
                            <p:childTnLst>
                              <p:par>
                                <p:cTn id="15" presetID="42" presetClass="entr" presetSubtype="0" fill="hold" grpId="0" nodeType="after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1000"/>
                                        <p:tgtEl>
                                          <p:spTgt spid="10"/>
                                        </p:tgtEl>
                                      </p:cBhvr>
                                    </p:animEffect>
                                    <p:anim calcmode="lin" valueType="num">
                                      <p:cBhvr>
                                        <p:cTn id="18" dur="1000" fill="hold"/>
                                        <p:tgtEl>
                                          <p:spTgt spid="10"/>
                                        </p:tgtEl>
                                        <p:attrNameLst>
                                          <p:attrName>ppt_x</p:attrName>
                                        </p:attrNameLst>
                                      </p:cBhvr>
                                      <p:tavLst>
                                        <p:tav tm="0">
                                          <p:val>
                                            <p:strVal val="#ppt_x"/>
                                          </p:val>
                                        </p:tav>
                                        <p:tav tm="100000">
                                          <p:val>
                                            <p:strVal val="#ppt_x"/>
                                          </p:val>
                                        </p:tav>
                                      </p:tavLst>
                                    </p:anim>
                                    <p:anim calcmode="lin" valueType="num">
                                      <p:cBhvr>
                                        <p:cTn id="19" dur="1000" fill="hold"/>
                                        <p:tgtEl>
                                          <p:spTgt spid="10"/>
                                        </p:tgtEl>
                                        <p:attrNameLst>
                                          <p:attrName>ppt_y</p:attrName>
                                        </p:attrNameLst>
                                      </p:cBhvr>
                                      <p:tavLst>
                                        <p:tav tm="0">
                                          <p:val>
                                            <p:strVal val="#ppt_y+.1"/>
                                          </p:val>
                                        </p:tav>
                                        <p:tav tm="100000">
                                          <p:val>
                                            <p:strVal val="#ppt_y"/>
                                          </p:val>
                                        </p:tav>
                                      </p:tavLst>
                                    </p:anim>
                                  </p:childTnLst>
                                </p:cTn>
                              </p:par>
                            </p:childTnLst>
                          </p:cTn>
                        </p:par>
                        <p:par>
                          <p:cTn id="20" fill="hold" nodeType="afterGroup">
                            <p:stCondLst>
                              <p:cond delay="2500"/>
                            </p:stCondLst>
                            <p:childTnLst>
                              <p:par>
                                <p:cTn id="21" presetID="42" presetClass="entr" presetSubtype="0" fill="hold" grpId="0" nodeType="after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1000"/>
                                        <p:tgtEl>
                                          <p:spTgt spid="14"/>
                                        </p:tgtEl>
                                      </p:cBhvr>
                                    </p:animEffect>
                                    <p:anim calcmode="lin" valueType="num">
                                      <p:cBhvr>
                                        <p:cTn id="24" dur="1000" fill="hold"/>
                                        <p:tgtEl>
                                          <p:spTgt spid="14"/>
                                        </p:tgtEl>
                                        <p:attrNameLst>
                                          <p:attrName>ppt_x</p:attrName>
                                        </p:attrNameLst>
                                      </p:cBhvr>
                                      <p:tavLst>
                                        <p:tav tm="0">
                                          <p:val>
                                            <p:strVal val="#ppt_x"/>
                                          </p:val>
                                        </p:tav>
                                        <p:tav tm="100000">
                                          <p:val>
                                            <p:strVal val="#ppt_x"/>
                                          </p:val>
                                        </p:tav>
                                      </p:tavLst>
                                    </p:anim>
                                    <p:anim calcmode="lin" valueType="num">
                                      <p:cBhvr>
                                        <p:cTn id="25" dur="1000" fill="hold"/>
                                        <p:tgtEl>
                                          <p:spTgt spid="14"/>
                                        </p:tgtEl>
                                        <p:attrNameLst>
                                          <p:attrName>ppt_y</p:attrName>
                                        </p:attrNameLst>
                                      </p:cBhvr>
                                      <p:tavLst>
                                        <p:tav tm="0">
                                          <p:val>
                                            <p:strVal val="#ppt_y+.1"/>
                                          </p:val>
                                        </p:tav>
                                        <p:tav tm="100000">
                                          <p:val>
                                            <p:strVal val="#ppt_y"/>
                                          </p:val>
                                        </p:tav>
                                      </p:tavLst>
                                    </p:anim>
                                  </p:childTnLst>
                                </p:cTn>
                              </p:par>
                            </p:childTnLst>
                          </p:cTn>
                        </p:par>
                        <p:par>
                          <p:cTn id="26" fill="hold" nodeType="afterGroup">
                            <p:stCondLst>
                              <p:cond delay="3500"/>
                            </p:stCondLst>
                            <p:childTnLst>
                              <p:par>
                                <p:cTn id="27" presetID="42" presetClass="entr" presetSubtype="0" fill="hold" grpId="0" nodeType="after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1000"/>
                                        <p:tgtEl>
                                          <p:spTgt spid="11"/>
                                        </p:tgtEl>
                                      </p:cBhvr>
                                    </p:animEffect>
                                    <p:anim calcmode="lin" valueType="num">
                                      <p:cBhvr>
                                        <p:cTn id="30" dur="1000" fill="hold"/>
                                        <p:tgtEl>
                                          <p:spTgt spid="11"/>
                                        </p:tgtEl>
                                        <p:attrNameLst>
                                          <p:attrName>ppt_x</p:attrName>
                                        </p:attrNameLst>
                                      </p:cBhvr>
                                      <p:tavLst>
                                        <p:tav tm="0">
                                          <p:val>
                                            <p:strVal val="#ppt_x"/>
                                          </p:val>
                                        </p:tav>
                                        <p:tav tm="100000">
                                          <p:val>
                                            <p:strVal val="#ppt_x"/>
                                          </p:val>
                                        </p:tav>
                                      </p:tavLst>
                                    </p:anim>
                                    <p:anim calcmode="lin" valueType="num">
                                      <p:cBhvr>
                                        <p:cTn id="31" dur="1000" fill="hold"/>
                                        <p:tgtEl>
                                          <p:spTgt spid="11"/>
                                        </p:tgtEl>
                                        <p:attrNameLst>
                                          <p:attrName>ppt_y</p:attrName>
                                        </p:attrNameLst>
                                      </p:cBhvr>
                                      <p:tavLst>
                                        <p:tav tm="0">
                                          <p:val>
                                            <p:strVal val="#ppt_y+.1"/>
                                          </p:val>
                                        </p:tav>
                                        <p:tav tm="100000">
                                          <p:val>
                                            <p:strVal val="#ppt_y"/>
                                          </p:val>
                                        </p:tav>
                                      </p:tavLst>
                                    </p:anim>
                                  </p:childTnLst>
                                </p:cTn>
                              </p:par>
                            </p:childTnLst>
                          </p:cTn>
                        </p:par>
                        <p:par>
                          <p:cTn id="32" fill="hold" nodeType="afterGroup">
                            <p:stCondLst>
                              <p:cond delay="4500"/>
                            </p:stCondLst>
                            <p:childTnLst>
                              <p:par>
                                <p:cTn id="33" presetID="42" presetClass="entr" presetSubtype="0" fill="hold" grpId="0" nodeType="after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1000"/>
                                        <p:tgtEl>
                                          <p:spTgt spid="16"/>
                                        </p:tgtEl>
                                      </p:cBhvr>
                                    </p:animEffect>
                                    <p:anim calcmode="lin" valueType="num">
                                      <p:cBhvr>
                                        <p:cTn id="36" dur="1000" fill="hold"/>
                                        <p:tgtEl>
                                          <p:spTgt spid="16"/>
                                        </p:tgtEl>
                                        <p:attrNameLst>
                                          <p:attrName>ppt_x</p:attrName>
                                        </p:attrNameLst>
                                      </p:cBhvr>
                                      <p:tavLst>
                                        <p:tav tm="0">
                                          <p:val>
                                            <p:strVal val="#ppt_x"/>
                                          </p:val>
                                        </p:tav>
                                        <p:tav tm="100000">
                                          <p:val>
                                            <p:strVal val="#ppt_x"/>
                                          </p:val>
                                        </p:tav>
                                      </p:tavLst>
                                    </p:anim>
                                    <p:anim calcmode="lin" valueType="num">
                                      <p:cBhvr>
                                        <p:cTn id="37"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25" grpId="0" build="p"/>
      <p:bldP spid="9" grpId="0" animBg="1"/>
      <p:bldP spid="10" grpId="0" animBg="1"/>
      <p:bldP spid="11" grpId="0" animBg="1"/>
      <p:bldP spid="16"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DFA2E6-D9F0-B951-4D21-A7BA6207A22A}"/>
              </a:ext>
            </a:extLst>
          </p:cNvPr>
          <p:cNvSpPr>
            <a:spLocks noGrp="1"/>
          </p:cNvSpPr>
          <p:nvPr>
            <p:ph type="title"/>
          </p:nvPr>
        </p:nvSpPr>
        <p:spPr>
          <a:xfrm>
            <a:off x="457200" y="0"/>
            <a:ext cx="7620000" cy="1143000"/>
          </a:xfrm>
        </p:spPr>
        <p:txBody>
          <a:bodyPr/>
          <a:lstStyle/>
          <a:p>
            <a:pPr algn="ctr">
              <a:defRPr/>
            </a:pPr>
            <a:r>
              <a:rPr lang="en-US" dirty="0"/>
              <a:t>Relational Constraints</a:t>
            </a:r>
            <a:endParaRPr lang="en-CA" dirty="0"/>
          </a:p>
        </p:txBody>
      </p:sp>
      <p:sp>
        <p:nvSpPr>
          <p:cNvPr id="24" name="Content Placeholder 2">
            <a:extLst>
              <a:ext uri="{FF2B5EF4-FFF2-40B4-BE49-F238E27FC236}">
                <a16:creationId xmlns:a16="http://schemas.microsoft.com/office/drawing/2014/main" id="{78245453-889D-5C03-16E2-E2CBDF1CBB74}"/>
              </a:ext>
            </a:extLst>
          </p:cNvPr>
          <p:cNvSpPr txBox="1">
            <a:spLocks/>
          </p:cNvSpPr>
          <p:nvPr/>
        </p:nvSpPr>
        <p:spPr bwMode="auto">
          <a:xfrm>
            <a:off x="228600" y="1916113"/>
            <a:ext cx="7924800"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rgbClr val="FF6600"/>
              </a:buClr>
              <a:buFont typeface="Wingdings 3" panose="05040102010807070707" pitchFamily="18" charset="2"/>
              <a:buNone/>
            </a:pPr>
            <a:r>
              <a:rPr lang="en-US" altLang="en-US" sz="3200">
                <a:latin typeface="Calibri" panose="020F0502020204030204" pitchFamily="34" charset="0"/>
              </a:rPr>
              <a:t>A relational DBMS can restrict </a:t>
            </a:r>
            <a:r>
              <a:rPr lang="en-CA" altLang="en-US" sz="3200">
                <a:latin typeface="Calibri" panose="020F0502020204030204" pitchFamily="34" charset="0"/>
              </a:rPr>
              <a:t>the set of values that can be assigned to a column</a:t>
            </a:r>
          </a:p>
          <a:p>
            <a:pPr algn="just" eaLnBrk="1" hangingPunct="1">
              <a:spcBef>
                <a:spcPct val="20000"/>
              </a:spcBef>
              <a:buClr>
                <a:srgbClr val="FF6600"/>
              </a:buClr>
              <a:buFont typeface="Wingdings 3" panose="05040102010807070707" pitchFamily="18" charset="2"/>
              <a:buNone/>
            </a:pPr>
            <a:endParaRPr lang="en-CA" altLang="en-US" sz="32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32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32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40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p:txBody>
      </p:sp>
      <p:graphicFrame>
        <p:nvGraphicFramePr>
          <p:cNvPr id="33" name="Table 32">
            <a:extLst>
              <a:ext uri="{FF2B5EF4-FFF2-40B4-BE49-F238E27FC236}">
                <a16:creationId xmlns:a16="http://schemas.microsoft.com/office/drawing/2014/main" id="{881518EF-F34A-ED0F-DEC9-7B122888DC83}"/>
              </a:ext>
            </a:extLst>
          </p:cNvPr>
          <p:cNvGraphicFramePr>
            <a:graphicFrameLocks noGrp="1"/>
          </p:cNvGraphicFramePr>
          <p:nvPr/>
        </p:nvGraphicFramePr>
        <p:xfrm>
          <a:off x="1087438" y="3171825"/>
          <a:ext cx="6280150" cy="2847974"/>
        </p:xfrm>
        <a:graphic>
          <a:graphicData uri="http://schemas.openxmlformats.org/drawingml/2006/table">
            <a:tbl>
              <a:tblPr firstRow="1" bandRow="1">
                <a:tableStyleId>{68D230F3-CF80-4859-8CE7-A43EE81993B5}</a:tableStyleId>
              </a:tblPr>
              <a:tblGrid>
                <a:gridCol w="2391286">
                  <a:extLst>
                    <a:ext uri="{9D8B030D-6E8A-4147-A177-3AD203B41FA5}">
                      <a16:colId xmlns:a16="http://schemas.microsoft.com/office/drawing/2014/main" val="20000"/>
                    </a:ext>
                  </a:extLst>
                </a:gridCol>
                <a:gridCol w="3888864">
                  <a:extLst>
                    <a:ext uri="{9D8B030D-6E8A-4147-A177-3AD203B41FA5}">
                      <a16:colId xmlns:a16="http://schemas.microsoft.com/office/drawing/2014/main" val="20001"/>
                    </a:ext>
                  </a:extLst>
                </a:gridCol>
              </a:tblGrid>
              <a:tr h="551977">
                <a:tc>
                  <a:txBody>
                    <a:bodyPr/>
                    <a:lstStyle/>
                    <a:p>
                      <a:pPr algn="ctr"/>
                      <a:r>
                        <a:rPr lang="en-CA" sz="1800" dirty="0"/>
                        <a:t>Column</a:t>
                      </a:r>
                    </a:p>
                  </a:txBody>
                  <a:tcPr marL="91450" marR="91450" marT="45713" marB="45713" anchor="ctr"/>
                </a:tc>
                <a:tc>
                  <a:txBody>
                    <a:bodyPr/>
                    <a:lstStyle/>
                    <a:p>
                      <a:pPr algn="ctr"/>
                      <a:r>
                        <a:rPr lang="en-CA" sz="1800" dirty="0"/>
                        <a:t>Domain Constraint</a:t>
                      </a:r>
                    </a:p>
                  </a:txBody>
                  <a:tcPr marL="91450" marR="91450" marT="45713" marB="45713" anchor="ctr"/>
                </a:tc>
                <a:extLst>
                  <a:ext uri="{0D108BD9-81ED-4DB2-BD59-A6C34878D82A}">
                    <a16:rowId xmlns:a16="http://schemas.microsoft.com/office/drawing/2014/main" val="10000"/>
                  </a:ext>
                </a:extLst>
              </a:tr>
              <a:tr h="640066">
                <a:tc>
                  <a:txBody>
                    <a:bodyPr/>
                    <a:lstStyle/>
                    <a:p>
                      <a:r>
                        <a:rPr lang="en-CA" sz="1800" dirty="0"/>
                        <a:t>Name</a:t>
                      </a:r>
                    </a:p>
                  </a:txBody>
                  <a:tcPr marL="91450" marR="91450" marT="45713" marB="45713" anchor="ctr"/>
                </a:tc>
                <a:tc>
                  <a:txBody>
                    <a:bodyPr/>
                    <a:lstStyle/>
                    <a:p>
                      <a:endParaRPr lang="en-CA" sz="1800" dirty="0"/>
                    </a:p>
                    <a:p>
                      <a:endParaRPr lang="en-CA" sz="1800" dirty="0"/>
                    </a:p>
                  </a:txBody>
                  <a:tcPr marL="91450" marR="91450" marT="45713" marB="45713" anchor="ctr"/>
                </a:tc>
                <a:extLst>
                  <a:ext uri="{0D108BD9-81ED-4DB2-BD59-A6C34878D82A}">
                    <a16:rowId xmlns:a16="http://schemas.microsoft.com/office/drawing/2014/main" val="10001"/>
                  </a:ext>
                </a:extLst>
              </a:tr>
              <a:tr h="551977">
                <a:tc>
                  <a:txBody>
                    <a:bodyPr/>
                    <a:lstStyle/>
                    <a:p>
                      <a:r>
                        <a:rPr lang="en-CA" sz="1800" dirty="0"/>
                        <a:t>Employee’s age</a:t>
                      </a:r>
                    </a:p>
                  </a:txBody>
                  <a:tcPr marL="91450" marR="91450" marT="45713" marB="45713" anchor="ctr"/>
                </a:tc>
                <a:tc>
                  <a:txBody>
                    <a:bodyPr/>
                    <a:lstStyle/>
                    <a:p>
                      <a:endParaRPr lang="en-CA" sz="1800" dirty="0"/>
                    </a:p>
                  </a:txBody>
                  <a:tcPr marL="91450" marR="91450" marT="45713" marB="45713" anchor="ctr"/>
                </a:tc>
                <a:extLst>
                  <a:ext uri="{0D108BD9-81ED-4DB2-BD59-A6C34878D82A}">
                    <a16:rowId xmlns:a16="http://schemas.microsoft.com/office/drawing/2014/main" val="10002"/>
                  </a:ext>
                </a:extLst>
              </a:tr>
              <a:tr h="551977">
                <a:tc>
                  <a:txBody>
                    <a:bodyPr/>
                    <a:lstStyle/>
                    <a:p>
                      <a:r>
                        <a:rPr lang="en-CA" sz="1800" dirty="0"/>
                        <a:t>Gender</a:t>
                      </a:r>
                    </a:p>
                  </a:txBody>
                  <a:tcPr marL="91450" marR="91450" marT="45713" marB="45713" anchor="ctr"/>
                </a:tc>
                <a:tc>
                  <a:txBody>
                    <a:bodyPr/>
                    <a:lstStyle/>
                    <a:p>
                      <a:endParaRPr lang="en-CA" sz="1800" dirty="0"/>
                    </a:p>
                  </a:txBody>
                  <a:tcPr marL="91450" marR="91450" marT="45713" marB="45713" anchor="ctr"/>
                </a:tc>
                <a:extLst>
                  <a:ext uri="{0D108BD9-81ED-4DB2-BD59-A6C34878D82A}">
                    <a16:rowId xmlns:a16="http://schemas.microsoft.com/office/drawing/2014/main" val="10003"/>
                  </a:ext>
                </a:extLst>
              </a:tr>
              <a:tr h="551977">
                <a:tc>
                  <a:txBody>
                    <a:bodyPr/>
                    <a:lstStyle/>
                    <a:p>
                      <a:r>
                        <a:rPr lang="en-CA" sz="1800" dirty="0"/>
                        <a:t>Department</a:t>
                      </a:r>
                    </a:p>
                  </a:txBody>
                  <a:tcPr marL="91450" marR="91450" marT="45713" marB="45713" anchor="ctr"/>
                </a:tc>
                <a:tc>
                  <a:txBody>
                    <a:bodyPr/>
                    <a:lstStyle/>
                    <a:p>
                      <a:endParaRPr lang="en-CA" sz="1800" dirty="0"/>
                    </a:p>
                  </a:txBody>
                  <a:tcPr marL="91450" marR="91450" marT="45713" marB="45713" anchor="ctr"/>
                </a:tc>
                <a:extLst>
                  <a:ext uri="{0D108BD9-81ED-4DB2-BD59-A6C34878D82A}">
                    <a16:rowId xmlns:a16="http://schemas.microsoft.com/office/drawing/2014/main" val="10004"/>
                  </a:ext>
                </a:extLst>
              </a:tr>
            </a:tbl>
          </a:graphicData>
        </a:graphic>
      </p:graphicFrame>
      <p:sp>
        <p:nvSpPr>
          <p:cNvPr id="34" name="TextBox 33">
            <a:extLst>
              <a:ext uri="{FF2B5EF4-FFF2-40B4-BE49-F238E27FC236}">
                <a16:creationId xmlns:a16="http://schemas.microsoft.com/office/drawing/2014/main" id="{CCCB2B85-D434-C0D9-5552-F31F10637640}"/>
              </a:ext>
            </a:extLst>
          </p:cNvPr>
          <p:cNvSpPr txBox="1">
            <a:spLocks noChangeArrowheads="1"/>
          </p:cNvSpPr>
          <p:nvPr/>
        </p:nvSpPr>
        <p:spPr bwMode="auto">
          <a:xfrm>
            <a:off x="3506788" y="3883025"/>
            <a:ext cx="45370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CA" altLang="en-US"/>
              <a:t>Text</a:t>
            </a:r>
          </a:p>
        </p:txBody>
      </p:sp>
      <p:sp>
        <p:nvSpPr>
          <p:cNvPr id="35" name="TextBox 34">
            <a:extLst>
              <a:ext uri="{FF2B5EF4-FFF2-40B4-BE49-F238E27FC236}">
                <a16:creationId xmlns:a16="http://schemas.microsoft.com/office/drawing/2014/main" id="{78558A67-724F-84EE-8E4F-CB7753915906}"/>
              </a:ext>
            </a:extLst>
          </p:cNvPr>
          <p:cNvSpPr txBox="1">
            <a:spLocks noChangeArrowheads="1"/>
          </p:cNvSpPr>
          <p:nvPr/>
        </p:nvSpPr>
        <p:spPr bwMode="auto">
          <a:xfrm>
            <a:off x="3495675" y="4457700"/>
            <a:ext cx="45370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CA" altLang="en-US"/>
              <a:t>18 to 60</a:t>
            </a:r>
          </a:p>
        </p:txBody>
      </p:sp>
      <p:sp>
        <p:nvSpPr>
          <p:cNvPr id="36" name="TextBox 35">
            <a:extLst>
              <a:ext uri="{FF2B5EF4-FFF2-40B4-BE49-F238E27FC236}">
                <a16:creationId xmlns:a16="http://schemas.microsoft.com/office/drawing/2014/main" id="{60993953-E79C-CF20-0FEB-2BAE10F20FD8}"/>
              </a:ext>
            </a:extLst>
          </p:cNvPr>
          <p:cNvSpPr txBox="1">
            <a:spLocks noChangeArrowheads="1"/>
          </p:cNvSpPr>
          <p:nvPr/>
        </p:nvSpPr>
        <p:spPr bwMode="auto">
          <a:xfrm>
            <a:off x="3495675" y="4999038"/>
            <a:ext cx="45370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CA" altLang="en-US"/>
              <a:t>Male or Female</a:t>
            </a:r>
          </a:p>
        </p:txBody>
      </p:sp>
      <p:sp>
        <p:nvSpPr>
          <p:cNvPr id="37" name="TextBox 36">
            <a:extLst>
              <a:ext uri="{FF2B5EF4-FFF2-40B4-BE49-F238E27FC236}">
                <a16:creationId xmlns:a16="http://schemas.microsoft.com/office/drawing/2014/main" id="{458FFC78-4F8E-124D-319B-D64163917108}"/>
              </a:ext>
            </a:extLst>
          </p:cNvPr>
          <p:cNvSpPr txBox="1">
            <a:spLocks noChangeArrowheads="1"/>
          </p:cNvSpPr>
          <p:nvPr/>
        </p:nvSpPr>
        <p:spPr bwMode="auto">
          <a:xfrm>
            <a:off x="3495675" y="5562600"/>
            <a:ext cx="45370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CA" altLang="en-US"/>
              <a:t>Computer Science, Business…</a:t>
            </a:r>
          </a:p>
        </p:txBody>
      </p:sp>
      <p:sp>
        <p:nvSpPr>
          <p:cNvPr id="13" name="Snip Single Corner Rectangle 12">
            <a:extLst>
              <a:ext uri="{FF2B5EF4-FFF2-40B4-BE49-F238E27FC236}">
                <a16:creationId xmlns:a16="http://schemas.microsoft.com/office/drawing/2014/main" id="{742EC08E-C1F1-7405-32C3-6EA781CF7A89}"/>
              </a:ext>
            </a:extLst>
          </p:cNvPr>
          <p:cNvSpPr/>
          <p:nvPr/>
        </p:nvSpPr>
        <p:spPr>
          <a:xfrm>
            <a:off x="222250" y="1514475"/>
            <a:ext cx="2159000" cy="401638"/>
          </a:xfrm>
          <a:prstGeom prst="snip1Rect">
            <a:avLst/>
          </a:prstGeom>
          <a:solidFill>
            <a:schemeClr val="tx1">
              <a:alpha val="70000"/>
            </a:schemeClr>
          </a:solidFill>
          <a:ln>
            <a:solidFill>
              <a:schemeClr val="tx1"/>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indent="-342900" algn="just" eaLnBrk="1" hangingPunct="1">
              <a:spcBef>
                <a:spcPct val="20000"/>
              </a:spcBef>
              <a:buClr>
                <a:srgbClr val="FF6600"/>
              </a:buClr>
              <a:buSzPct val="100000"/>
              <a:defRPr/>
            </a:pPr>
            <a:r>
              <a:rPr lang="en-US" dirty="0">
                <a:latin typeface="Arial" pitchFamily="34" charset="0"/>
                <a:ea typeface="Times New Roman" pitchFamily="18" charset="0"/>
                <a:cs typeface="Arial" pitchFamily="34" charset="0"/>
              </a:rPr>
              <a:t>Domain Constraint</a:t>
            </a:r>
            <a:endParaRPr lang="en-GB" kern="0" dirty="0">
              <a:solidFill>
                <a:schemeClr val="tx1"/>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4">
                                            <p:txEl>
                                              <p:pRg st="0" end="0"/>
                                            </p:txEl>
                                          </p:spTgt>
                                        </p:tgtEl>
                                        <p:attrNameLst>
                                          <p:attrName>style.visibility</p:attrName>
                                        </p:attrNameLst>
                                      </p:cBhvr>
                                      <p:to>
                                        <p:strVal val="visible"/>
                                      </p:to>
                                    </p:set>
                                    <p:animEffect transition="in" filter="wipe(left)">
                                      <p:cBhvr>
                                        <p:cTn id="11" dur="500"/>
                                        <p:tgtEl>
                                          <p:spTgt spid="24">
                                            <p:txEl>
                                              <p:pRg st="0" end="0"/>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33"/>
                                        </p:tgtEl>
                                        <p:attrNameLst>
                                          <p:attrName>style.visibility</p:attrName>
                                        </p:attrNameLst>
                                      </p:cBhvr>
                                      <p:to>
                                        <p:strVal val="visible"/>
                                      </p:to>
                                    </p:set>
                                    <p:animEffect transition="in" filter="wipe(up)">
                                      <p:cBhvr>
                                        <p:cTn id="16" dur="500"/>
                                        <p:tgtEl>
                                          <p:spTgt spid="33"/>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34"/>
                                        </p:tgtEl>
                                        <p:attrNameLst>
                                          <p:attrName>style.visibility</p:attrName>
                                        </p:attrNameLst>
                                      </p:cBhvr>
                                      <p:to>
                                        <p:strVal val="visible"/>
                                      </p:to>
                                    </p:set>
                                    <p:animEffect transition="in" filter="wipe(left)">
                                      <p:cBhvr>
                                        <p:cTn id="21" dur="500"/>
                                        <p:tgtEl>
                                          <p:spTgt spid="34"/>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35"/>
                                        </p:tgtEl>
                                        <p:attrNameLst>
                                          <p:attrName>style.visibility</p:attrName>
                                        </p:attrNameLst>
                                      </p:cBhvr>
                                      <p:to>
                                        <p:strVal val="visible"/>
                                      </p:to>
                                    </p:set>
                                    <p:animEffect transition="in" filter="wipe(left)">
                                      <p:cBhvr>
                                        <p:cTn id="26" dur="500"/>
                                        <p:tgtEl>
                                          <p:spTgt spid="35"/>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36"/>
                                        </p:tgtEl>
                                        <p:attrNameLst>
                                          <p:attrName>style.visibility</p:attrName>
                                        </p:attrNameLst>
                                      </p:cBhvr>
                                      <p:to>
                                        <p:strVal val="visible"/>
                                      </p:to>
                                    </p:set>
                                    <p:animEffect transition="in" filter="wipe(left)">
                                      <p:cBhvr>
                                        <p:cTn id="31" dur="500"/>
                                        <p:tgtEl>
                                          <p:spTgt spid="36"/>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37"/>
                                        </p:tgtEl>
                                        <p:attrNameLst>
                                          <p:attrName>style.visibility</p:attrName>
                                        </p:attrNameLst>
                                      </p:cBhvr>
                                      <p:to>
                                        <p:strVal val="visible"/>
                                      </p:to>
                                    </p:set>
                                    <p:animEffect transition="in" filter="wipe(left)">
                                      <p:cBhvr>
                                        <p:cTn id="36"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build="p"/>
      <p:bldP spid="34" grpId="0"/>
      <p:bldP spid="35" grpId="0"/>
      <p:bldP spid="36" grpId="0"/>
      <p:bldP spid="37" grpId="0"/>
      <p:bldP spid="13"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E6974D-81D9-DA91-5D4F-E00C2BF3C3EB}"/>
              </a:ext>
            </a:extLst>
          </p:cNvPr>
          <p:cNvSpPr>
            <a:spLocks noGrp="1"/>
          </p:cNvSpPr>
          <p:nvPr>
            <p:ph type="title"/>
          </p:nvPr>
        </p:nvSpPr>
        <p:spPr>
          <a:xfrm>
            <a:off x="457200" y="0"/>
            <a:ext cx="7620000" cy="1143000"/>
          </a:xfrm>
        </p:spPr>
        <p:txBody>
          <a:bodyPr/>
          <a:lstStyle/>
          <a:p>
            <a:pPr algn="ctr">
              <a:defRPr/>
            </a:pPr>
            <a:r>
              <a:rPr lang="en-US" dirty="0"/>
              <a:t>Relational Constraints</a:t>
            </a:r>
            <a:endParaRPr lang="en-CA" dirty="0"/>
          </a:p>
        </p:txBody>
      </p:sp>
      <p:sp>
        <p:nvSpPr>
          <p:cNvPr id="24" name="Content Placeholder 2">
            <a:extLst>
              <a:ext uri="{FF2B5EF4-FFF2-40B4-BE49-F238E27FC236}">
                <a16:creationId xmlns:a16="http://schemas.microsoft.com/office/drawing/2014/main" id="{EF18AA89-03BC-2F53-971C-527D28D2672F}"/>
              </a:ext>
            </a:extLst>
          </p:cNvPr>
          <p:cNvSpPr txBox="1">
            <a:spLocks/>
          </p:cNvSpPr>
          <p:nvPr/>
        </p:nvSpPr>
        <p:spPr bwMode="auto">
          <a:xfrm>
            <a:off x="219075" y="1866900"/>
            <a:ext cx="8010525" cy="150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rgbClr val="FF6600"/>
              </a:buClr>
              <a:buFont typeface="Wingdings 3" panose="05040102010807070707" pitchFamily="18" charset="2"/>
              <a:buNone/>
            </a:pPr>
            <a:r>
              <a:rPr lang="en-CA" altLang="en-US" sz="3200">
                <a:latin typeface="Calibri" panose="020F0502020204030204" pitchFamily="34" charset="0"/>
              </a:rPr>
              <a:t>A </a:t>
            </a:r>
            <a:r>
              <a:rPr lang="en-CA" altLang="en-US" sz="3200" b="1">
                <a:latin typeface="Calibri" panose="020F0502020204030204" pitchFamily="34" charset="0"/>
              </a:rPr>
              <a:t>candidate key</a:t>
            </a:r>
            <a:r>
              <a:rPr lang="en-CA" altLang="en-US" sz="3200">
                <a:latin typeface="Calibri" panose="020F0502020204030204" pitchFamily="34" charset="0"/>
              </a:rPr>
              <a:t> is a column or combination of columns that can uniquely identify each row in a relation </a:t>
            </a:r>
          </a:p>
        </p:txBody>
      </p:sp>
      <p:sp>
        <p:nvSpPr>
          <p:cNvPr id="34" name="Snip Single Corner Rectangle 33">
            <a:extLst>
              <a:ext uri="{FF2B5EF4-FFF2-40B4-BE49-F238E27FC236}">
                <a16:creationId xmlns:a16="http://schemas.microsoft.com/office/drawing/2014/main" id="{946E9784-FF62-1EB6-FD20-E2742A29E70A}"/>
              </a:ext>
            </a:extLst>
          </p:cNvPr>
          <p:cNvSpPr/>
          <p:nvPr/>
        </p:nvSpPr>
        <p:spPr>
          <a:xfrm>
            <a:off x="192088" y="1443038"/>
            <a:ext cx="1728787" cy="400050"/>
          </a:xfrm>
          <a:prstGeom prst="snip1Rect">
            <a:avLst/>
          </a:prstGeom>
          <a:solidFill>
            <a:schemeClr val="accent5">
              <a:alpha val="70000"/>
            </a:schemeClr>
          </a:solidFill>
          <a:ln>
            <a:solidFill>
              <a:schemeClr val="accent5"/>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indent="-342900" algn="just" eaLnBrk="1" hangingPunct="1">
              <a:spcBef>
                <a:spcPct val="20000"/>
              </a:spcBef>
              <a:buClr>
                <a:srgbClr val="FF6600"/>
              </a:buClr>
              <a:buSzPct val="100000"/>
              <a:defRPr/>
            </a:pPr>
            <a:r>
              <a:rPr lang="en-US" dirty="0">
                <a:latin typeface="Arial" pitchFamily="34" charset="0"/>
                <a:ea typeface="Times New Roman" pitchFamily="18" charset="0"/>
                <a:cs typeface="Arial" pitchFamily="34" charset="0"/>
              </a:rPr>
              <a:t>Key Constraint</a:t>
            </a:r>
            <a:endParaRPr lang="en-GB" kern="0" dirty="0">
              <a:solidFill>
                <a:schemeClr val="tx1"/>
              </a:solidFill>
            </a:endParaRPr>
          </a:p>
        </p:txBody>
      </p:sp>
      <p:graphicFrame>
        <p:nvGraphicFramePr>
          <p:cNvPr id="38" name="Table 37">
            <a:extLst>
              <a:ext uri="{FF2B5EF4-FFF2-40B4-BE49-F238E27FC236}">
                <a16:creationId xmlns:a16="http://schemas.microsoft.com/office/drawing/2014/main" id="{1DED9E32-3DC4-2A2E-727C-3C1106A8B7FF}"/>
              </a:ext>
            </a:extLst>
          </p:cNvPr>
          <p:cNvGraphicFramePr>
            <a:graphicFrameLocks noGrp="1"/>
          </p:cNvGraphicFramePr>
          <p:nvPr/>
        </p:nvGraphicFramePr>
        <p:xfrm>
          <a:off x="3538538" y="3595688"/>
          <a:ext cx="3408362" cy="2295524"/>
        </p:xfrm>
        <a:graphic>
          <a:graphicData uri="http://schemas.openxmlformats.org/drawingml/2006/table">
            <a:tbl>
              <a:tblPr firstRow="1" bandRow="1">
                <a:tableStyleId>{3B4B98B0-60AC-42C2-AFA5-B58CD77FA1E5}</a:tableStyleId>
              </a:tblPr>
              <a:tblGrid>
                <a:gridCol w="1692180">
                  <a:extLst>
                    <a:ext uri="{9D8B030D-6E8A-4147-A177-3AD203B41FA5}">
                      <a16:colId xmlns:a16="http://schemas.microsoft.com/office/drawing/2014/main" val="20000"/>
                    </a:ext>
                  </a:extLst>
                </a:gridCol>
                <a:gridCol w="1716182">
                  <a:extLst>
                    <a:ext uri="{9D8B030D-6E8A-4147-A177-3AD203B41FA5}">
                      <a16:colId xmlns:a16="http://schemas.microsoft.com/office/drawing/2014/main" val="20001"/>
                    </a:ext>
                  </a:extLst>
                </a:gridCol>
              </a:tblGrid>
              <a:tr h="573881">
                <a:tc>
                  <a:txBody>
                    <a:bodyPr/>
                    <a:lstStyle/>
                    <a:p>
                      <a:pPr algn="ctr"/>
                      <a:r>
                        <a:rPr lang="en-CA" sz="1800" dirty="0"/>
                        <a:t>STUDENTID</a:t>
                      </a:r>
                    </a:p>
                  </a:txBody>
                  <a:tcPr marT="45731" marB="45731"/>
                </a:tc>
                <a:tc>
                  <a:txBody>
                    <a:bodyPr/>
                    <a:lstStyle/>
                    <a:p>
                      <a:pPr algn="ctr"/>
                      <a:r>
                        <a:rPr lang="en-CA" sz="1800" dirty="0"/>
                        <a:t>NAME</a:t>
                      </a:r>
                    </a:p>
                  </a:txBody>
                  <a:tcPr marT="45731" marB="45731"/>
                </a:tc>
                <a:extLst>
                  <a:ext uri="{0D108BD9-81ED-4DB2-BD59-A6C34878D82A}">
                    <a16:rowId xmlns:a16="http://schemas.microsoft.com/office/drawing/2014/main" val="10000"/>
                  </a:ext>
                </a:extLst>
              </a:tr>
              <a:tr h="573881">
                <a:tc>
                  <a:txBody>
                    <a:bodyPr/>
                    <a:lstStyle/>
                    <a:p>
                      <a:pPr algn="ctr"/>
                      <a:r>
                        <a:rPr lang="en-CA" sz="1800" dirty="0"/>
                        <a:t>1</a:t>
                      </a:r>
                    </a:p>
                  </a:txBody>
                  <a:tcPr marT="45731" marB="45731"/>
                </a:tc>
                <a:tc>
                  <a:txBody>
                    <a:bodyPr/>
                    <a:lstStyle/>
                    <a:p>
                      <a:r>
                        <a:rPr lang="en-CA" sz="1800" dirty="0"/>
                        <a:t>Talha Amjad</a:t>
                      </a:r>
                    </a:p>
                  </a:txBody>
                  <a:tcPr marT="45731" marB="45731"/>
                </a:tc>
                <a:extLst>
                  <a:ext uri="{0D108BD9-81ED-4DB2-BD59-A6C34878D82A}">
                    <a16:rowId xmlns:a16="http://schemas.microsoft.com/office/drawing/2014/main" val="10001"/>
                  </a:ext>
                </a:extLst>
              </a:tr>
              <a:tr h="573881">
                <a:tc>
                  <a:txBody>
                    <a:bodyPr/>
                    <a:lstStyle/>
                    <a:p>
                      <a:pPr algn="ctr"/>
                      <a:r>
                        <a:rPr lang="en-CA" sz="1800" dirty="0"/>
                        <a:t>2</a:t>
                      </a:r>
                    </a:p>
                  </a:txBody>
                  <a:tcPr marT="45731" marB="45731"/>
                </a:tc>
                <a:tc>
                  <a:txBody>
                    <a:bodyPr/>
                    <a:lstStyle/>
                    <a:p>
                      <a:r>
                        <a:rPr lang="en-CA" sz="1800" dirty="0"/>
                        <a:t>Sara Saleem</a:t>
                      </a:r>
                    </a:p>
                  </a:txBody>
                  <a:tcPr marT="45731" marB="45731"/>
                </a:tc>
                <a:extLst>
                  <a:ext uri="{0D108BD9-81ED-4DB2-BD59-A6C34878D82A}">
                    <a16:rowId xmlns:a16="http://schemas.microsoft.com/office/drawing/2014/main" val="10002"/>
                  </a:ext>
                </a:extLst>
              </a:tr>
              <a:tr h="573881">
                <a:tc>
                  <a:txBody>
                    <a:bodyPr/>
                    <a:lstStyle/>
                    <a:p>
                      <a:pPr algn="ctr"/>
                      <a:r>
                        <a:rPr lang="en-CA" sz="1800" dirty="0"/>
                        <a:t>3</a:t>
                      </a:r>
                    </a:p>
                  </a:txBody>
                  <a:tcPr marT="45731" marB="45731"/>
                </a:tc>
                <a:tc>
                  <a:txBody>
                    <a:bodyPr/>
                    <a:lstStyle/>
                    <a:p>
                      <a:r>
                        <a:rPr lang="en-CA" sz="1800" dirty="0"/>
                        <a:t>Aqib Ali</a:t>
                      </a:r>
                    </a:p>
                  </a:txBody>
                  <a:tcPr marT="45731" marB="45731"/>
                </a:tc>
                <a:extLst>
                  <a:ext uri="{0D108BD9-81ED-4DB2-BD59-A6C34878D82A}">
                    <a16:rowId xmlns:a16="http://schemas.microsoft.com/office/drawing/2014/main" val="10003"/>
                  </a:ext>
                </a:extLst>
              </a:tr>
            </a:tbl>
          </a:graphicData>
        </a:graphic>
      </p:graphicFrame>
      <p:sp>
        <p:nvSpPr>
          <p:cNvPr id="39" name="TextBox 38">
            <a:extLst>
              <a:ext uri="{FF2B5EF4-FFF2-40B4-BE49-F238E27FC236}">
                <a16:creationId xmlns:a16="http://schemas.microsoft.com/office/drawing/2014/main" id="{4A1B9DD5-1A6D-6382-9F13-927964730B52}"/>
              </a:ext>
            </a:extLst>
          </p:cNvPr>
          <p:cNvSpPr txBox="1">
            <a:spLocks noChangeArrowheads="1"/>
          </p:cNvSpPr>
          <p:nvPr/>
        </p:nvSpPr>
        <p:spPr bwMode="auto">
          <a:xfrm>
            <a:off x="4121150" y="5889625"/>
            <a:ext cx="22415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CA" altLang="en-US"/>
              <a:t>Student relation</a:t>
            </a:r>
          </a:p>
        </p:txBody>
      </p:sp>
      <p:grpSp>
        <p:nvGrpSpPr>
          <p:cNvPr id="3" name="Group 5">
            <a:extLst>
              <a:ext uri="{FF2B5EF4-FFF2-40B4-BE49-F238E27FC236}">
                <a16:creationId xmlns:a16="http://schemas.microsoft.com/office/drawing/2014/main" id="{BF5FE3A5-B2B2-F209-8319-6D85E932CCC4}"/>
              </a:ext>
            </a:extLst>
          </p:cNvPr>
          <p:cNvGrpSpPr>
            <a:grpSpLocks/>
          </p:cNvGrpSpPr>
          <p:nvPr/>
        </p:nvGrpSpPr>
        <p:grpSpPr bwMode="auto">
          <a:xfrm>
            <a:off x="7135813" y="4171950"/>
            <a:ext cx="2082800" cy="576263"/>
            <a:chOff x="4570249" y="4077072"/>
            <a:chExt cx="2081902" cy="576064"/>
          </a:xfrm>
        </p:grpSpPr>
        <p:sp>
          <p:nvSpPr>
            <p:cNvPr id="8221" name="Right Brace 2">
              <a:extLst>
                <a:ext uri="{FF2B5EF4-FFF2-40B4-BE49-F238E27FC236}">
                  <a16:creationId xmlns:a16="http://schemas.microsoft.com/office/drawing/2014/main" id="{D74571BB-E1D2-16A1-8452-E44A8226B5DA}"/>
                </a:ext>
              </a:extLst>
            </p:cNvPr>
            <p:cNvSpPr>
              <a:spLocks/>
            </p:cNvSpPr>
            <p:nvPr/>
          </p:nvSpPr>
          <p:spPr bwMode="auto">
            <a:xfrm>
              <a:off x="4570249" y="4077072"/>
              <a:ext cx="288032" cy="576064"/>
            </a:xfrm>
            <a:prstGeom prst="rightBrace">
              <a:avLst>
                <a:gd name="adj1" fmla="val 8333"/>
                <a:gd name="adj2" fmla="val 50000"/>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endParaRPr lang="en-CA" altLang="en-US"/>
            </a:p>
          </p:txBody>
        </p:sp>
        <p:sp>
          <p:nvSpPr>
            <p:cNvPr id="8222" name="TextBox 4">
              <a:extLst>
                <a:ext uri="{FF2B5EF4-FFF2-40B4-BE49-F238E27FC236}">
                  <a16:creationId xmlns:a16="http://schemas.microsoft.com/office/drawing/2014/main" id="{125CA872-63B9-D00C-8B7F-E64ECE08B59E}"/>
                </a:ext>
              </a:extLst>
            </p:cNvPr>
            <p:cNvSpPr txBox="1">
              <a:spLocks noChangeArrowheads="1"/>
            </p:cNvSpPr>
            <p:nvPr/>
          </p:nvSpPr>
          <p:spPr bwMode="auto">
            <a:xfrm>
              <a:off x="4846406" y="4165049"/>
              <a:ext cx="180574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CA" altLang="en-US" sz="2000"/>
                <a:t>Student</a:t>
              </a:r>
            </a:p>
          </p:txBody>
        </p:sp>
      </p:grpSp>
      <p:grpSp>
        <p:nvGrpSpPr>
          <p:cNvPr id="4" name="Group 17">
            <a:extLst>
              <a:ext uri="{FF2B5EF4-FFF2-40B4-BE49-F238E27FC236}">
                <a16:creationId xmlns:a16="http://schemas.microsoft.com/office/drawing/2014/main" id="{27F61EA5-B85C-5124-DD7C-2F17813BCF40}"/>
              </a:ext>
            </a:extLst>
          </p:cNvPr>
          <p:cNvGrpSpPr>
            <a:grpSpLocks/>
          </p:cNvGrpSpPr>
          <p:nvPr/>
        </p:nvGrpSpPr>
        <p:grpSpPr bwMode="auto">
          <a:xfrm>
            <a:off x="7138988" y="4748213"/>
            <a:ext cx="2081212" cy="574675"/>
            <a:chOff x="4570249" y="4077072"/>
            <a:chExt cx="2081902" cy="576064"/>
          </a:xfrm>
        </p:grpSpPr>
        <p:sp>
          <p:nvSpPr>
            <p:cNvPr id="8219" name="Right Brace 18">
              <a:extLst>
                <a:ext uri="{FF2B5EF4-FFF2-40B4-BE49-F238E27FC236}">
                  <a16:creationId xmlns:a16="http://schemas.microsoft.com/office/drawing/2014/main" id="{17F96E9A-5E67-8F54-D2F8-7162BE250F6D}"/>
                </a:ext>
              </a:extLst>
            </p:cNvPr>
            <p:cNvSpPr>
              <a:spLocks/>
            </p:cNvSpPr>
            <p:nvPr/>
          </p:nvSpPr>
          <p:spPr bwMode="auto">
            <a:xfrm>
              <a:off x="4570249" y="4077072"/>
              <a:ext cx="288032" cy="576064"/>
            </a:xfrm>
            <a:prstGeom prst="rightBrace">
              <a:avLst>
                <a:gd name="adj1" fmla="val 8333"/>
                <a:gd name="adj2" fmla="val 50000"/>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endParaRPr lang="en-CA" altLang="en-US"/>
            </a:p>
          </p:txBody>
        </p:sp>
        <p:sp>
          <p:nvSpPr>
            <p:cNvPr id="8220" name="TextBox 19">
              <a:extLst>
                <a:ext uri="{FF2B5EF4-FFF2-40B4-BE49-F238E27FC236}">
                  <a16:creationId xmlns:a16="http://schemas.microsoft.com/office/drawing/2014/main" id="{762748D0-FBA7-5667-0A12-0033F7084DAC}"/>
                </a:ext>
              </a:extLst>
            </p:cNvPr>
            <p:cNvSpPr txBox="1">
              <a:spLocks noChangeArrowheads="1"/>
            </p:cNvSpPr>
            <p:nvPr/>
          </p:nvSpPr>
          <p:spPr bwMode="auto">
            <a:xfrm>
              <a:off x="4846406" y="4165049"/>
              <a:ext cx="180574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CA" altLang="en-US" sz="2000"/>
                <a:t>Student</a:t>
              </a:r>
            </a:p>
          </p:txBody>
        </p:sp>
      </p:grpSp>
      <p:grpSp>
        <p:nvGrpSpPr>
          <p:cNvPr id="5" name="Group 24">
            <a:extLst>
              <a:ext uri="{FF2B5EF4-FFF2-40B4-BE49-F238E27FC236}">
                <a16:creationId xmlns:a16="http://schemas.microsoft.com/office/drawing/2014/main" id="{00F64F20-01E0-2533-48B2-B2EB3212EF76}"/>
              </a:ext>
            </a:extLst>
          </p:cNvPr>
          <p:cNvGrpSpPr>
            <a:grpSpLocks/>
          </p:cNvGrpSpPr>
          <p:nvPr/>
        </p:nvGrpSpPr>
        <p:grpSpPr bwMode="auto">
          <a:xfrm>
            <a:off x="7138988" y="5322888"/>
            <a:ext cx="2081212" cy="576262"/>
            <a:chOff x="4570249" y="4077072"/>
            <a:chExt cx="2081902" cy="576064"/>
          </a:xfrm>
        </p:grpSpPr>
        <p:sp>
          <p:nvSpPr>
            <p:cNvPr id="8217" name="Right Brace 25">
              <a:extLst>
                <a:ext uri="{FF2B5EF4-FFF2-40B4-BE49-F238E27FC236}">
                  <a16:creationId xmlns:a16="http://schemas.microsoft.com/office/drawing/2014/main" id="{7D801C14-50D4-6844-F37E-7CCD2A25C1B3}"/>
                </a:ext>
              </a:extLst>
            </p:cNvPr>
            <p:cNvSpPr>
              <a:spLocks/>
            </p:cNvSpPr>
            <p:nvPr/>
          </p:nvSpPr>
          <p:spPr bwMode="auto">
            <a:xfrm>
              <a:off x="4570249" y="4077072"/>
              <a:ext cx="288032" cy="576064"/>
            </a:xfrm>
            <a:prstGeom prst="rightBrace">
              <a:avLst>
                <a:gd name="adj1" fmla="val 8333"/>
                <a:gd name="adj2" fmla="val 50000"/>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endParaRPr lang="en-CA" altLang="en-US"/>
            </a:p>
          </p:txBody>
        </p:sp>
        <p:sp>
          <p:nvSpPr>
            <p:cNvPr id="8218" name="TextBox 29">
              <a:extLst>
                <a:ext uri="{FF2B5EF4-FFF2-40B4-BE49-F238E27FC236}">
                  <a16:creationId xmlns:a16="http://schemas.microsoft.com/office/drawing/2014/main" id="{42FD9836-1F30-C3BB-EBA1-270B2972A9F5}"/>
                </a:ext>
              </a:extLst>
            </p:cNvPr>
            <p:cNvSpPr txBox="1">
              <a:spLocks noChangeArrowheads="1"/>
            </p:cNvSpPr>
            <p:nvPr/>
          </p:nvSpPr>
          <p:spPr bwMode="auto">
            <a:xfrm>
              <a:off x="4846406" y="4165049"/>
              <a:ext cx="180574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CA" altLang="en-US" sz="2000"/>
                <a:t>Student</a:t>
              </a:r>
            </a:p>
          </p:txBody>
        </p:sp>
      </p:grpSp>
      <p:grpSp>
        <p:nvGrpSpPr>
          <p:cNvPr id="6" name="Group 9">
            <a:extLst>
              <a:ext uri="{FF2B5EF4-FFF2-40B4-BE49-F238E27FC236}">
                <a16:creationId xmlns:a16="http://schemas.microsoft.com/office/drawing/2014/main" id="{85BE25A8-DF31-76CC-76B3-3830F5C6B701}"/>
              </a:ext>
            </a:extLst>
          </p:cNvPr>
          <p:cNvGrpSpPr>
            <a:grpSpLocks/>
          </p:cNvGrpSpPr>
          <p:nvPr/>
        </p:nvGrpSpPr>
        <p:grpSpPr bwMode="auto">
          <a:xfrm>
            <a:off x="244475" y="3459163"/>
            <a:ext cx="3430588" cy="1200150"/>
            <a:chOff x="276340" y="3364830"/>
            <a:chExt cx="3431564" cy="1200329"/>
          </a:xfrm>
        </p:grpSpPr>
        <p:sp>
          <p:nvSpPr>
            <p:cNvPr id="46" name="TextBox 45">
              <a:extLst>
                <a:ext uri="{FF2B5EF4-FFF2-40B4-BE49-F238E27FC236}">
                  <a16:creationId xmlns:a16="http://schemas.microsoft.com/office/drawing/2014/main" id="{C63C63F5-1205-64F5-5AEE-6BF2B0B57A18}"/>
                </a:ext>
              </a:extLst>
            </p:cNvPr>
            <p:cNvSpPr txBox="1"/>
            <p:nvPr/>
          </p:nvSpPr>
          <p:spPr>
            <a:xfrm>
              <a:off x="276340" y="3364830"/>
              <a:ext cx="3025048" cy="1200329"/>
            </a:xfrm>
            <a:prstGeom prst="rect">
              <a:avLst/>
            </a:prstGeom>
            <a:ln/>
          </p:spPr>
          <p:style>
            <a:lnRef idx="1">
              <a:schemeClr val="accent4"/>
            </a:lnRef>
            <a:fillRef idx="2">
              <a:schemeClr val="accent4"/>
            </a:fillRef>
            <a:effectRef idx="1">
              <a:schemeClr val="accent4"/>
            </a:effectRef>
            <a:fontRef idx="minor">
              <a:schemeClr val="dk1"/>
            </a:fontRef>
          </p:style>
          <p:txBody>
            <a:bodyPr>
              <a:spAutoFit/>
            </a:bodyPr>
            <a:lstStyle/>
            <a:p>
              <a:pPr algn="ctr">
                <a:defRPr/>
              </a:pPr>
              <a:r>
                <a:rPr lang="en-CA" dirty="0"/>
                <a:t>STUDENTID is a candidate key since it can unique identify each row (i.e. each student) in the relation</a:t>
              </a:r>
            </a:p>
          </p:txBody>
        </p:sp>
        <p:cxnSp>
          <p:nvCxnSpPr>
            <p:cNvPr id="8216" name="Straight Arrow Connector 7">
              <a:extLst>
                <a:ext uri="{FF2B5EF4-FFF2-40B4-BE49-F238E27FC236}">
                  <a16:creationId xmlns:a16="http://schemas.microsoft.com/office/drawing/2014/main" id="{3F85C85B-9CC9-2527-8C7F-D2DA098D7600}"/>
                </a:ext>
              </a:extLst>
            </p:cNvPr>
            <p:cNvCxnSpPr>
              <a:cxnSpLocks noChangeShapeType="1"/>
              <a:stCxn id="46" idx="3"/>
            </p:cNvCxnSpPr>
            <p:nvPr/>
          </p:nvCxnSpPr>
          <p:spPr bwMode="auto">
            <a:xfrm flipV="1">
              <a:off x="3300676" y="3717032"/>
              <a:ext cx="407228" cy="247963"/>
            </a:xfrm>
            <a:prstGeom prst="straightConnector1">
              <a:avLst/>
            </a:prstGeom>
            <a:noFill/>
            <a:ln w="12700" algn="ctr">
              <a:solidFill>
                <a:srgbClr val="7030A0"/>
              </a:solidFill>
              <a:round/>
              <a:headEnd/>
              <a:tailEnd type="triangle" w="med" len="med"/>
            </a:ln>
            <a:extLst>
              <a:ext uri="{909E8E84-426E-40DD-AFC4-6F175D3DCCD1}">
                <a14:hiddenFill xmlns:a14="http://schemas.microsoft.com/office/drawing/2010/main">
                  <a:noFill/>
                </a14:hiddenFill>
              </a:ext>
            </a:extLst>
          </p:spPr>
        </p:cxnSp>
      </p:grpSp>
      <p:sp>
        <p:nvSpPr>
          <p:cNvPr id="9" name="TextBox 8">
            <a:extLst>
              <a:ext uri="{FF2B5EF4-FFF2-40B4-BE49-F238E27FC236}">
                <a16:creationId xmlns:a16="http://schemas.microsoft.com/office/drawing/2014/main" id="{2FE485DE-44B4-7D96-DB8D-11CA02C5B222}"/>
              </a:ext>
            </a:extLst>
          </p:cNvPr>
          <p:cNvSpPr txBox="1"/>
          <p:nvPr/>
        </p:nvSpPr>
        <p:spPr>
          <a:xfrm>
            <a:off x="244475" y="4987925"/>
            <a:ext cx="3024188" cy="922338"/>
          </a:xfrm>
          <a:prstGeom prst="rect">
            <a:avLst/>
          </a:prstGeom>
          <a:solidFill>
            <a:schemeClr val="bg2">
              <a:lumMod val="90000"/>
            </a:schemeClr>
          </a:solidFill>
        </p:spPr>
        <p:txBody>
          <a:bodyPr>
            <a:spAutoFit/>
          </a:bodyPr>
          <a:lstStyle/>
          <a:p>
            <a:pPr>
              <a:defRPr/>
            </a:pPr>
            <a:r>
              <a:rPr lang="en-CA" dirty="0"/>
              <a:t>You can think of candidate keys as attributes that you </a:t>
            </a:r>
            <a:r>
              <a:rPr lang="en-CA" b="1" u="sng" dirty="0"/>
              <a:t>underline</a:t>
            </a:r>
            <a:r>
              <a:rPr lang="en-CA" dirty="0"/>
              <a:t> in EER diagram</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wipe(left)">
                                      <p:cBhvr>
                                        <p:cTn id="7" dur="500"/>
                                        <p:tgtEl>
                                          <p:spTgt spid="34"/>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4">
                                            <p:txEl>
                                              <p:pRg st="0" end="0"/>
                                            </p:txEl>
                                          </p:spTgt>
                                        </p:tgtEl>
                                        <p:attrNameLst>
                                          <p:attrName>style.visibility</p:attrName>
                                        </p:attrNameLst>
                                      </p:cBhvr>
                                      <p:to>
                                        <p:strVal val="visible"/>
                                      </p:to>
                                    </p:set>
                                    <p:animEffect transition="in" filter="wipe(left)">
                                      <p:cBhvr>
                                        <p:cTn id="11" dur="500"/>
                                        <p:tgtEl>
                                          <p:spTgt spid="24">
                                            <p:txEl>
                                              <p:pRg st="0" end="0"/>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38"/>
                                        </p:tgtEl>
                                        <p:attrNameLst>
                                          <p:attrName>style.visibility</p:attrName>
                                        </p:attrNameLst>
                                      </p:cBhvr>
                                      <p:to>
                                        <p:strVal val="visible"/>
                                      </p:to>
                                    </p:set>
                                    <p:animEffect transition="in" filter="wipe(up)">
                                      <p:cBhvr>
                                        <p:cTn id="16" dur="500"/>
                                        <p:tgtEl>
                                          <p:spTgt spid="38"/>
                                        </p:tgtEl>
                                      </p:cBhvr>
                                    </p:animEffect>
                                  </p:childTnLst>
                                </p:cTn>
                              </p:par>
                            </p:childTnLst>
                          </p:cTn>
                        </p:par>
                        <p:par>
                          <p:cTn id="17" fill="hold" nodeType="afterGroup">
                            <p:stCondLst>
                              <p:cond delay="500"/>
                            </p:stCondLst>
                            <p:childTnLst>
                              <p:par>
                                <p:cTn id="18" presetID="22" presetClass="entr" presetSubtype="1" fill="hold" grpId="0" nodeType="afterEffect">
                                  <p:stCondLst>
                                    <p:cond delay="0"/>
                                  </p:stCondLst>
                                  <p:childTnLst>
                                    <p:set>
                                      <p:cBhvr>
                                        <p:cTn id="19" dur="1" fill="hold">
                                          <p:stCondLst>
                                            <p:cond delay="0"/>
                                          </p:stCondLst>
                                        </p:cTn>
                                        <p:tgtEl>
                                          <p:spTgt spid="39"/>
                                        </p:tgtEl>
                                        <p:attrNameLst>
                                          <p:attrName>style.visibility</p:attrName>
                                        </p:attrNameLst>
                                      </p:cBhvr>
                                      <p:to>
                                        <p:strVal val="visible"/>
                                      </p:to>
                                    </p:set>
                                    <p:animEffect transition="in" filter="wipe(up)">
                                      <p:cBhvr>
                                        <p:cTn id="20" dur="500"/>
                                        <p:tgtEl>
                                          <p:spTgt spid="39"/>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42" presetClass="entr" presetSubtype="0" fill="hold" nodeType="click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fade">
                                      <p:cBhvr>
                                        <p:cTn id="25" dur="1000"/>
                                        <p:tgtEl>
                                          <p:spTgt spid="3"/>
                                        </p:tgtEl>
                                      </p:cBhvr>
                                    </p:animEffect>
                                    <p:anim calcmode="lin" valueType="num">
                                      <p:cBhvr>
                                        <p:cTn id="26" dur="1000" fill="hold"/>
                                        <p:tgtEl>
                                          <p:spTgt spid="3"/>
                                        </p:tgtEl>
                                        <p:attrNameLst>
                                          <p:attrName>ppt_x</p:attrName>
                                        </p:attrNameLst>
                                      </p:cBhvr>
                                      <p:tavLst>
                                        <p:tav tm="0">
                                          <p:val>
                                            <p:strVal val="#ppt_x"/>
                                          </p:val>
                                        </p:tav>
                                        <p:tav tm="100000">
                                          <p:val>
                                            <p:strVal val="#ppt_x"/>
                                          </p:val>
                                        </p:tav>
                                      </p:tavLst>
                                    </p:anim>
                                    <p:anim calcmode="lin" valueType="num">
                                      <p:cBhvr>
                                        <p:cTn id="27" dur="1000" fill="hold"/>
                                        <p:tgtEl>
                                          <p:spTgt spid="3"/>
                                        </p:tgtEl>
                                        <p:attrNameLst>
                                          <p:attrName>ppt_y</p:attrName>
                                        </p:attrNameLst>
                                      </p:cBhvr>
                                      <p:tavLst>
                                        <p:tav tm="0">
                                          <p:val>
                                            <p:strVal val="#ppt_y+.1"/>
                                          </p:val>
                                        </p:tav>
                                        <p:tav tm="100000">
                                          <p:val>
                                            <p:strVal val="#ppt_y"/>
                                          </p:val>
                                        </p:tav>
                                      </p:tavLst>
                                    </p:anim>
                                  </p:childTnLst>
                                </p:cTn>
                              </p:par>
                            </p:childTnLst>
                          </p:cTn>
                        </p:par>
                        <p:par>
                          <p:cTn id="28" fill="hold" nodeType="afterGroup">
                            <p:stCondLst>
                              <p:cond delay="1000"/>
                            </p:stCondLst>
                            <p:childTnLst>
                              <p:par>
                                <p:cTn id="29" presetID="42" presetClass="entr" presetSubtype="0" fill="hold" nodeType="afterEffect">
                                  <p:stCondLst>
                                    <p:cond delay="0"/>
                                  </p:stCondLst>
                                  <p:childTnLst>
                                    <p:set>
                                      <p:cBhvr>
                                        <p:cTn id="30" dur="1" fill="hold">
                                          <p:stCondLst>
                                            <p:cond delay="0"/>
                                          </p:stCondLst>
                                        </p:cTn>
                                        <p:tgtEl>
                                          <p:spTgt spid="4"/>
                                        </p:tgtEl>
                                        <p:attrNameLst>
                                          <p:attrName>style.visibility</p:attrName>
                                        </p:attrNameLst>
                                      </p:cBhvr>
                                      <p:to>
                                        <p:strVal val="visible"/>
                                      </p:to>
                                    </p:set>
                                    <p:animEffect transition="in" filter="fade">
                                      <p:cBhvr>
                                        <p:cTn id="31" dur="1000"/>
                                        <p:tgtEl>
                                          <p:spTgt spid="4"/>
                                        </p:tgtEl>
                                      </p:cBhvr>
                                    </p:animEffect>
                                    <p:anim calcmode="lin" valueType="num">
                                      <p:cBhvr>
                                        <p:cTn id="32" dur="1000" fill="hold"/>
                                        <p:tgtEl>
                                          <p:spTgt spid="4"/>
                                        </p:tgtEl>
                                        <p:attrNameLst>
                                          <p:attrName>ppt_x</p:attrName>
                                        </p:attrNameLst>
                                      </p:cBhvr>
                                      <p:tavLst>
                                        <p:tav tm="0">
                                          <p:val>
                                            <p:strVal val="#ppt_x"/>
                                          </p:val>
                                        </p:tav>
                                        <p:tav tm="100000">
                                          <p:val>
                                            <p:strVal val="#ppt_x"/>
                                          </p:val>
                                        </p:tav>
                                      </p:tavLst>
                                    </p:anim>
                                    <p:anim calcmode="lin" valueType="num">
                                      <p:cBhvr>
                                        <p:cTn id="33" dur="1000" fill="hold"/>
                                        <p:tgtEl>
                                          <p:spTgt spid="4"/>
                                        </p:tgtEl>
                                        <p:attrNameLst>
                                          <p:attrName>ppt_y</p:attrName>
                                        </p:attrNameLst>
                                      </p:cBhvr>
                                      <p:tavLst>
                                        <p:tav tm="0">
                                          <p:val>
                                            <p:strVal val="#ppt_y+.1"/>
                                          </p:val>
                                        </p:tav>
                                        <p:tav tm="100000">
                                          <p:val>
                                            <p:strVal val="#ppt_y"/>
                                          </p:val>
                                        </p:tav>
                                      </p:tavLst>
                                    </p:anim>
                                  </p:childTnLst>
                                </p:cTn>
                              </p:par>
                            </p:childTnLst>
                          </p:cTn>
                        </p:par>
                        <p:par>
                          <p:cTn id="34" fill="hold" nodeType="afterGroup">
                            <p:stCondLst>
                              <p:cond delay="2000"/>
                            </p:stCondLst>
                            <p:childTnLst>
                              <p:par>
                                <p:cTn id="35" presetID="42" presetClass="entr" presetSubtype="0" fill="hold" nodeType="after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fade">
                                      <p:cBhvr>
                                        <p:cTn id="37" dur="1000"/>
                                        <p:tgtEl>
                                          <p:spTgt spid="5"/>
                                        </p:tgtEl>
                                      </p:cBhvr>
                                    </p:animEffect>
                                    <p:anim calcmode="lin" valueType="num">
                                      <p:cBhvr>
                                        <p:cTn id="38" dur="1000" fill="hold"/>
                                        <p:tgtEl>
                                          <p:spTgt spid="5"/>
                                        </p:tgtEl>
                                        <p:attrNameLst>
                                          <p:attrName>ppt_x</p:attrName>
                                        </p:attrNameLst>
                                      </p:cBhvr>
                                      <p:tavLst>
                                        <p:tav tm="0">
                                          <p:val>
                                            <p:strVal val="#ppt_x"/>
                                          </p:val>
                                        </p:tav>
                                        <p:tav tm="100000">
                                          <p:val>
                                            <p:strVal val="#ppt_x"/>
                                          </p:val>
                                        </p:tav>
                                      </p:tavLst>
                                    </p:anim>
                                    <p:anim calcmode="lin" valueType="num">
                                      <p:cBhvr>
                                        <p:cTn id="3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40" fill="hold" nodeType="clickPar">
                      <p:stCondLst>
                        <p:cond delay="indefinite"/>
                      </p:stCondLst>
                      <p:childTnLst>
                        <p:par>
                          <p:cTn id="41" fill="hold" nodeType="withGroup">
                            <p:stCondLst>
                              <p:cond delay="0"/>
                            </p:stCondLst>
                            <p:childTnLst>
                              <p:par>
                                <p:cTn id="42" presetID="2" presetClass="entr" presetSubtype="4" fill="hold" nodeType="clickEffect">
                                  <p:stCondLst>
                                    <p:cond delay="0"/>
                                  </p:stCondLst>
                                  <p:childTnLst>
                                    <p:set>
                                      <p:cBhvr>
                                        <p:cTn id="43" dur="1" fill="hold">
                                          <p:stCondLst>
                                            <p:cond delay="0"/>
                                          </p:stCondLst>
                                        </p:cTn>
                                        <p:tgtEl>
                                          <p:spTgt spid="6"/>
                                        </p:tgtEl>
                                        <p:attrNameLst>
                                          <p:attrName>style.visibility</p:attrName>
                                        </p:attrNameLst>
                                      </p:cBhvr>
                                      <p:to>
                                        <p:strVal val="visible"/>
                                      </p:to>
                                    </p:set>
                                    <p:anim calcmode="lin" valueType="num">
                                      <p:cBhvr additive="base">
                                        <p:cTn id="44" dur="500" fill="hold"/>
                                        <p:tgtEl>
                                          <p:spTgt spid="6"/>
                                        </p:tgtEl>
                                        <p:attrNameLst>
                                          <p:attrName>ppt_x</p:attrName>
                                        </p:attrNameLst>
                                      </p:cBhvr>
                                      <p:tavLst>
                                        <p:tav tm="0">
                                          <p:val>
                                            <p:strVal val="#ppt_x"/>
                                          </p:val>
                                        </p:tav>
                                        <p:tav tm="100000">
                                          <p:val>
                                            <p:strVal val="#ppt_x"/>
                                          </p:val>
                                        </p:tav>
                                      </p:tavLst>
                                    </p:anim>
                                    <p:anim calcmode="lin" valueType="num">
                                      <p:cBhvr additive="base">
                                        <p:cTn id="45"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46" fill="hold" nodeType="clickPar">
                      <p:stCondLst>
                        <p:cond delay="indefinite"/>
                      </p:stCondLst>
                      <p:childTnLst>
                        <p:par>
                          <p:cTn id="47" fill="hold" nodeType="withGroup">
                            <p:stCondLst>
                              <p:cond delay="0"/>
                            </p:stCondLst>
                            <p:childTnLst>
                              <p:par>
                                <p:cTn id="48" presetID="42" presetClass="entr" presetSubtype="0" fill="hold" grpId="0" nodeType="clickEffect">
                                  <p:stCondLst>
                                    <p:cond delay="0"/>
                                  </p:stCondLst>
                                  <p:childTnLst>
                                    <p:set>
                                      <p:cBhvr>
                                        <p:cTn id="49" dur="1" fill="hold">
                                          <p:stCondLst>
                                            <p:cond delay="0"/>
                                          </p:stCondLst>
                                        </p:cTn>
                                        <p:tgtEl>
                                          <p:spTgt spid="9"/>
                                        </p:tgtEl>
                                        <p:attrNameLst>
                                          <p:attrName>style.visibility</p:attrName>
                                        </p:attrNameLst>
                                      </p:cBhvr>
                                      <p:to>
                                        <p:strVal val="visible"/>
                                      </p:to>
                                    </p:set>
                                    <p:animEffect transition="in" filter="fade">
                                      <p:cBhvr>
                                        <p:cTn id="50" dur="1000"/>
                                        <p:tgtEl>
                                          <p:spTgt spid="9"/>
                                        </p:tgtEl>
                                      </p:cBhvr>
                                    </p:animEffect>
                                    <p:anim calcmode="lin" valueType="num">
                                      <p:cBhvr>
                                        <p:cTn id="51" dur="1000" fill="hold"/>
                                        <p:tgtEl>
                                          <p:spTgt spid="9"/>
                                        </p:tgtEl>
                                        <p:attrNameLst>
                                          <p:attrName>ppt_x</p:attrName>
                                        </p:attrNameLst>
                                      </p:cBhvr>
                                      <p:tavLst>
                                        <p:tav tm="0">
                                          <p:val>
                                            <p:strVal val="#ppt_x"/>
                                          </p:val>
                                        </p:tav>
                                        <p:tav tm="100000">
                                          <p:val>
                                            <p:strVal val="#ppt_x"/>
                                          </p:val>
                                        </p:tav>
                                      </p:tavLst>
                                    </p:anim>
                                    <p:anim calcmode="lin" valueType="num">
                                      <p:cBhvr>
                                        <p:cTn id="52"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build="p"/>
      <p:bldP spid="34" grpId="0" animBg="1"/>
      <p:bldP spid="39" grpId="0"/>
      <p:bldP spid="9"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CD032E-1F88-DE26-1084-793A15B24543}"/>
              </a:ext>
            </a:extLst>
          </p:cNvPr>
          <p:cNvSpPr>
            <a:spLocks noGrp="1"/>
          </p:cNvSpPr>
          <p:nvPr>
            <p:ph type="title"/>
          </p:nvPr>
        </p:nvSpPr>
        <p:spPr>
          <a:xfrm>
            <a:off x="457200" y="0"/>
            <a:ext cx="7620000" cy="1143000"/>
          </a:xfrm>
        </p:spPr>
        <p:txBody>
          <a:bodyPr/>
          <a:lstStyle/>
          <a:p>
            <a:pPr algn="ctr">
              <a:defRPr/>
            </a:pPr>
            <a:r>
              <a:rPr lang="en-US" dirty="0"/>
              <a:t>Relational Constraints</a:t>
            </a:r>
            <a:endParaRPr lang="en-CA" dirty="0"/>
          </a:p>
        </p:txBody>
      </p:sp>
      <p:sp>
        <p:nvSpPr>
          <p:cNvPr id="24" name="Content Placeholder 2">
            <a:extLst>
              <a:ext uri="{FF2B5EF4-FFF2-40B4-BE49-F238E27FC236}">
                <a16:creationId xmlns:a16="http://schemas.microsoft.com/office/drawing/2014/main" id="{393A2252-7210-7FE2-4AD1-C2A4C3419128}"/>
              </a:ext>
            </a:extLst>
          </p:cNvPr>
          <p:cNvSpPr txBox="1">
            <a:spLocks/>
          </p:cNvSpPr>
          <p:nvPr/>
        </p:nvSpPr>
        <p:spPr bwMode="auto">
          <a:xfrm>
            <a:off x="131763" y="1855788"/>
            <a:ext cx="8097837" cy="158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rgbClr val="FF6600"/>
              </a:buClr>
              <a:buFont typeface="Wingdings 3" panose="05040102010807070707" pitchFamily="18" charset="2"/>
              <a:buNone/>
            </a:pPr>
            <a:r>
              <a:rPr lang="en-CA" altLang="en-US" sz="3200">
                <a:latin typeface="Calibri" panose="020F0502020204030204" pitchFamily="34" charset="0"/>
              </a:rPr>
              <a:t>In a relation, one candidate key </a:t>
            </a:r>
            <a:r>
              <a:rPr lang="en-CA" altLang="en-US" sz="3200" b="1">
                <a:latin typeface="Calibri" panose="020F0502020204030204" pitchFamily="34" charset="0"/>
              </a:rPr>
              <a:t>must</a:t>
            </a:r>
            <a:r>
              <a:rPr lang="en-CA" altLang="en-US" sz="3200">
                <a:latin typeface="Calibri" panose="020F0502020204030204" pitchFamily="34" charset="0"/>
              </a:rPr>
              <a:t> be chosen to be the </a:t>
            </a:r>
            <a:r>
              <a:rPr lang="en-CA" altLang="en-US" sz="3200" b="1">
                <a:latin typeface="Calibri" panose="020F0502020204030204" pitchFamily="34" charset="0"/>
              </a:rPr>
              <a:t>primary key</a:t>
            </a:r>
            <a:r>
              <a:rPr lang="en-CA" altLang="en-US" sz="3200">
                <a:latin typeface="Calibri" panose="020F0502020204030204" pitchFamily="34" charset="0"/>
              </a:rPr>
              <a:t> of the relation. Always </a:t>
            </a:r>
            <a:r>
              <a:rPr lang="en-CA" altLang="en-US" sz="3200" b="1">
                <a:latin typeface="Calibri" panose="020F0502020204030204" pitchFamily="34" charset="0"/>
              </a:rPr>
              <a:t>underline</a:t>
            </a:r>
            <a:r>
              <a:rPr lang="en-CA" altLang="en-US" sz="3200">
                <a:latin typeface="Calibri" panose="020F0502020204030204" pitchFamily="34" charset="0"/>
              </a:rPr>
              <a:t> the primary key in a relation</a:t>
            </a:r>
            <a:endParaRPr lang="en-CA" altLang="en-US" sz="3200" b="1">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32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32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40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p:txBody>
      </p:sp>
      <p:sp>
        <p:nvSpPr>
          <p:cNvPr id="27" name="Snip Single Corner Rectangle 26">
            <a:extLst>
              <a:ext uri="{FF2B5EF4-FFF2-40B4-BE49-F238E27FC236}">
                <a16:creationId xmlns:a16="http://schemas.microsoft.com/office/drawing/2014/main" id="{9E3F4162-109F-C162-F89B-C496F84AA975}"/>
              </a:ext>
            </a:extLst>
          </p:cNvPr>
          <p:cNvSpPr/>
          <p:nvPr/>
        </p:nvSpPr>
        <p:spPr>
          <a:xfrm>
            <a:off x="131763" y="1427163"/>
            <a:ext cx="1727200" cy="401637"/>
          </a:xfrm>
          <a:prstGeom prst="snip1Rect">
            <a:avLst/>
          </a:prstGeom>
          <a:solidFill>
            <a:schemeClr val="accent5">
              <a:alpha val="70000"/>
            </a:schemeClr>
          </a:solidFill>
          <a:ln>
            <a:solidFill>
              <a:schemeClr val="accent5"/>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indent="-342900" algn="just" eaLnBrk="1" hangingPunct="1">
              <a:spcBef>
                <a:spcPct val="20000"/>
              </a:spcBef>
              <a:buClr>
                <a:srgbClr val="FF6600"/>
              </a:buClr>
              <a:buSzPct val="100000"/>
              <a:defRPr/>
            </a:pPr>
            <a:r>
              <a:rPr lang="en-US" dirty="0">
                <a:latin typeface="Arial" pitchFamily="34" charset="0"/>
                <a:ea typeface="Times New Roman" pitchFamily="18" charset="0"/>
                <a:cs typeface="Arial" pitchFamily="34" charset="0"/>
              </a:rPr>
              <a:t>Key Constraint</a:t>
            </a:r>
            <a:endParaRPr lang="en-GB" kern="0" dirty="0">
              <a:solidFill>
                <a:schemeClr val="tx1"/>
              </a:solidFill>
            </a:endParaRPr>
          </a:p>
        </p:txBody>
      </p:sp>
      <p:graphicFrame>
        <p:nvGraphicFramePr>
          <p:cNvPr id="28" name="Table 27">
            <a:extLst>
              <a:ext uri="{FF2B5EF4-FFF2-40B4-BE49-F238E27FC236}">
                <a16:creationId xmlns:a16="http://schemas.microsoft.com/office/drawing/2014/main" id="{E9A9A61C-FA04-6DE6-7FBB-1C0F9B99520D}"/>
              </a:ext>
            </a:extLst>
          </p:cNvPr>
          <p:cNvGraphicFramePr>
            <a:graphicFrameLocks noGrp="1"/>
          </p:cNvGraphicFramePr>
          <p:nvPr/>
        </p:nvGraphicFramePr>
        <p:xfrm>
          <a:off x="131763" y="3584575"/>
          <a:ext cx="4968875" cy="2295524"/>
        </p:xfrm>
        <a:graphic>
          <a:graphicData uri="http://schemas.openxmlformats.org/drawingml/2006/table">
            <a:tbl>
              <a:tblPr firstRow="1" bandRow="1">
                <a:tableStyleId>{3B4B98B0-60AC-42C2-AFA5-B58CD77FA1E5}</a:tableStyleId>
              </a:tblPr>
              <a:tblGrid>
                <a:gridCol w="1648498">
                  <a:extLst>
                    <a:ext uri="{9D8B030D-6E8A-4147-A177-3AD203B41FA5}">
                      <a16:colId xmlns:a16="http://schemas.microsoft.com/office/drawing/2014/main" val="20000"/>
                    </a:ext>
                  </a:extLst>
                </a:gridCol>
                <a:gridCol w="1648498">
                  <a:extLst>
                    <a:ext uri="{9D8B030D-6E8A-4147-A177-3AD203B41FA5}">
                      <a16:colId xmlns:a16="http://schemas.microsoft.com/office/drawing/2014/main" val="20001"/>
                    </a:ext>
                  </a:extLst>
                </a:gridCol>
                <a:gridCol w="1671879">
                  <a:extLst>
                    <a:ext uri="{9D8B030D-6E8A-4147-A177-3AD203B41FA5}">
                      <a16:colId xmlns:a16="http://schemas.microsoft.com/office/drawing/2014/main" val="20002"/>
                    </a:ext>
                  </a:extLst>
                </a:gridCol>
              </a:tblGrid>
              <a:tr h="573881">
                <a:tc>
                  <a:txBody>
                    <a:bodyPr/>
                    <a:lstStyle/>
                    <a:p>
                      <a:pPr algn="ctr"/>
                      <a:r>
                        <a:rPr lang="en-CA" sz="1800" dirty="0"/>
                        <a:t>STUDENTID</a:t>
                      </a:r>
                    </a:p>
                  </a:txBody>
                  <a:tcPr marL="91446" marR="91446" marT="45731" marB="45731"/>
                </a:tc>
                <a:tc>
                  <a:txBody>
                    <a:bodyPr/>
                    <a:lstStyle/>
                    <a:p>
                      <a:pPr algn="ctr"/>
                      <a:r>
                        <a:rPr lang="en-CA" sz="1800" dirty="0"/>
                        <a:t>ICNUMBER</a:t>
                      </a:r>
                    </a:p>
                  </a:txBody>
                  <a:tcPr marL="91446" marR="91446" marT="45731" marB="45731"/>
                </a:tc>
                <a:tc>
                  <a:txBody>
                    <a:bodyPr/>
                    <a:lstStyle/>
                    <a:p>
                      <a:pPr algn="ctr"/>
                      <a:r>
                        <a:rPr lang="en-CA" sz="1800" dirty="0"/>
                        <a:t>NAME</a:t>
                      </a:r>
                    </a:p>
                  </a:txBody>
                  <a:tcPr marL="91446" marR="91446" marT="45731" marB="45731"/>
                </a:tc>
                <a:extLst>
                  <a:ext uri="{0D108BD9-81ED-4DB2-BD59-A6C34878D82A}">
                    <a16:rowId xmlns:a16="http://schemas.microsoft.com/office/drawing/2014/main" val="10000"/>
                  </a:ext>
                </a:extLst>
              </a:tr>
              <a:tr h="573881">
                <a:tc>
                  <a:txBody>
                    <a:bodyPr/>
                    <a:lstStyle/>
                    <a:p>
                      <a:pPr algn="ctr"/>
                      <a:r>
                        <a:rPr lang="en-CA" sz="1800" dirty="0"/>
                        <a:t>1</a:t>
                      </a:r>
                    </a:p>
                  </a:txBody>
                  <a:tcPr marL="91446" marR="91446" marT="45731" marB="45731"/>
                </a:tc>
                <a:tc>
                  <a:txBody>
                    <a:bodyPr/>
                    <a:lstStyle/>
                    <a:p>
                      <a:pPr algn="ctr"/>
                      <a:r>
                        <a:rPr lang="en-CA" sz="1800" dirty="0"/>
                        <a:t>123-321</a:t>
                      </a:r>
                    </a:p>
                  </a:txBody>
                  <a:tcPr marL="91446" marR="91446" marT="45731" marB="45731"/>
                </a:tc>
                <a:tc>
                  <a:txBody>
                    <a:bodyPr/>
                    <a:lstStyle/>
                    <a:p>
                      <a:r>
                        <a:rPr lang="en-CA" sz="1800" dirty="0"/>
                        <a:t>Talha Amjad</a:t>
                      </a:r>
                    </a:p>
                  </a:txBody>
                  <a:tcPr marL="91446" marR="91446" marT="45731" marB="45731"/>
                </a:tc>
                <a:extLst>
                  <a:ext uri="{0D108BD9-81ED-4DB2-BD59-A6C34878D82A}">
                    <a16:rowId xmlns:a16="http://schemas.microsoft.com/office/drawing/2014/main" val="10001"/>
                  </a:ext>
                </a:extLst>
              </a:tr>
              <a:tr h="573881">
                <a:tc>
                  <a:txBody>
                    <a:bodyPr/>
                    <a:lstStyle/>
                    <a:p>
                      <a:pPr algn="ctr"/>
                      <a:r>
                        <a:rPr lang="en-CA" sz="1800" dirty="0"/>
                        <a:t>2</a:t>
                      </a:r>
                    </a:p>
                  </a:txBody>
                  <a:tcPr marL="91446" marR="91446" marT="45731" marB="45731"/>
                </a:tc>
                <a:tc>
                  <a:txBody>
                    <a:bodyPr/>
                    <a:lstStyle/>
                    <a:p>
                      <a:pPr algn="ctr"/>
                      <a:r>
                        <a:rPr lang="en-CA" sz="1800" dirty="0"/>
                        <a:t>321-123</a:t>
                      </a:r>
                    </a:p>
                  </a:txBody>
                  <a:tcPr marL="91446" marR="91446" marT="45731" marB="45731"/>
                </a:tc>
                <a:tc>
                  <a:txBody>
                    <a:bodyPr/>
                    <a:lstStyle/>
                    <a:p>
                      <a:r>
                        <a:rPr lang="en-CA" sz="1800" dirty="0"/>
                        <a:t>Sara Saleem</a:t>
                      </a:r>
                    </a:p>
                  </a:txBody>
                  <a:tcPr marL="91446" marR="91446" marT="45731" marB="45731"/>
                </a:tc>
                <a:extLst>
                  <a:ext uri="{0D108BD9-81ED-4DB2-BD59-A6C34878D82A}">
                    <a16:rowId xmlns:a16="http://schemas.microsoft.com/office/drawing/2014/main" val="10002"/>
                  </a:ext>
                </a:extLst>
              </a:tr>
              <a:tr h="573881">
                <a:tc>
                  <a:txBody>
                    <a:bodyPr/>
                    <a:lstStyle/>
                    <a:p>
                      <a:pPr algn="ctr"/>
                      <a:r>
                        <a:rPr lang="en-CA" sz="1800" dirty="0"/>
                        <a:t>3</a:t>
                      </a:r>
                    </a:p>
                  </a:txBody>
                  <a:tcPr marL="91446" marR="91446" marT="45731" marB="45731"/>
                </a:tc>
                <a:tc>
                  <a:txBody>
                    <a:bodyPr/>
                    <a:lstStyle/>
                    <a:p>
                      <a:pPr algn="ctr"/>
                      <a:r>
                        <a:rPr lang="en-CA" sz="1800" dirty="0"/>
                        <a:t>132-231</a:t>
                      </a:r>
                    </a:p>
                  </a:txBody>
                  <a:tcPr marL="91446" marR="91446" marT="45731" marB="45731"/>
                </a:tc>
                <a:tc>
                  <a:txBody>
                    <a:bodyPr/>
                    <a:lstStyle/>
                    <a:p>
                      <a:r>
                        <a:rPr lang="en-CA" sz="1800" dirty="0"/>
                        <a:t>Aqib Ali</a:t>
                      </a:r>
                    </a:p>
                  </a:txBody>
                  <a:tcPr marL="91446" marR="91446" marT="45731" marB="45731"/>
                </a:tc>
                <a:extLst>
                  <a:ext uri="{0D108BD9-81ED-4DB2-BD59-A6C34878D82A}">
                    <a16:rowId xmlns:a16="http://schemas.microsoft.com/office/drawing/2014/main" val="10003"/>
                  </a:ext>
                </a:extLst>
              </a:tr>
            </a:tbl>
          </a:graphicData>
        </a:graphic>
      </p:graphicFrame>
      <p:sp>
        <p:nvSpPr>
          <p:cNvPr id="29" name="TextBox 28">
            <a:extLst>
              <a:ext uri="{FF2B5EF4-FFF2-40B4-BE49-F238E27FC236}">
                <a16:creationId xmlns:a16="http://schemas.microsoft.com/office/drawing/2014/main" id="{95D0D9C8-DE3D-534B-C08F-60592986A85B}"/>
              </a:ext>
            </a:extLst>
          </p:cNvPr>
          <p:cNvSpPr txBox="1">
            <a:spLocks noChangeArrowheads="1"/>
          </p:cNvSpPr>
          <p:nvPr/>
        </p:nvSpPr>
        <p:spPr bwMode="auto">
          <a:xfrm>
            <a:off x="1495425" y="5878513"/>
            <a:ext cx="22415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CA" altLang="en-US"/>
              <a:t>Student relation</a:t>
            </a:r>
          </a:p>
        </p:txBody>
      </p:sp>
      <p:sp>
        <p:nvSpPr>
          <p:cNvPr id="30" name="TextBox 29">
            <a:extLst>
              <a:ext uri="{FF2B5EF4-FFF2-40B4-BE49-F238E27FC236}">
                <a16:creationId xmlns:a16="http://schemas.microsoft.com/office/drawing/2014/main" id="{9CD31918-CD15-4AB9-0785-DAE84FC44E06}"/>
              </a:ext>
            </a:extLst>
          </p:cNvPr>
          <p:cNvSpPr txBox="1"/>
          <p:nvPr/>
        </p:nvSpPr>
        <p:spPr>
          <a:xfrm>
            <a:off x="5334000" y="3716338"/>
            <a:ext cx="2895600" cy="2032000"/>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p>
            <a:pPr>
              <a:defRPr/>
            </a:pPr>
            <a:r>
              <a:rPr lang="en-CA" dirty="0"/>
              <a:t>Candidate keys</a:t>
            </a:r>
          </a:p>
          <a:p>
            <a:pPr marL="742950" lvl="1" indent="-285750">
              <a:buFont typeface="Arial" pitchFamily="34" charset="0"/>
              <a:buChar char="•"/>
              <a:defRPr/>
            </a:pPr>
            <a:r>
              <a:rPr lang="en-CA" dirty="0"/>
              <a:t>STUDENTID</a:t>
            </a:r>
          </a:p>
          <a:p>
            <a:pPr marL="742950" lvl="1" indent="-285750">
              <a:buFont typeface="Arial" pitchFamily="34" charset="0"/>
              <a:buChar char="•"/>
              <a:defRPr/>
            </a:pPr>
            <a:r>
              <a:rPr lang="en-CA" dirty="0" err="1"/>
              <a:t>ICNumber</a:t>
            </a:r>
            <a:endParaRPr lang="en-CA" dirty="0"/>
          </a:p>
          <a:p>
            <a:pPr marL="742950" lvl="1" indent="-285750">
              <a:buFont typeface="Arial" pitchFamily="34" charset="0"/>
              <a:buChar char="•"/>
              <a:defRPr/>
            </a:pPr>
            <a:endParaRPr lang="en-CA" dirty="0"/>
          </a:p>
          <a:p>
            <a:pPr>
              <a:defRPr/>
            </a:pPr>
            <a:r>
              <a:rPr lang="en-CA" dirty="0"/>
              <a:t>Primary key</a:t>
            </a:r>
          </a:p>
          <a:p>
            <a:pPr marL="742950" lvl="1" indent="-285750">
              <a:buFont typeface="Arial" pitchFamily="34" charset="0"/>
              <a:buChar char="•"/>
              <a:defRPr/>
            </a:pPr>
            <a:r>
              <a:rPr lang="en-CA" dirty="0"/>
              <a:t>Either STUDENTID or </a:t>
            </a:r>
            <a:r>
              <a:rPr lang="en-CA" dirty="0" err="1"/>
              <a:t>ICNumber</a:t>
            </a:r>
            <a:endParaRPr lang="en-CA" dirty="0"/>
          </a:p>
        </p:txBody>
      </p:sp>
      <p:cxnSp>
        <p:nvCxnSpPr>
          <p:cNvPr id="4" name="Straight Connector 3">
            <a:extLst>
              <a:ext uri="{FF2B5EF4-FFF2-40B4-BE49-F238E27FC236}">
                <a16:creationId xmlns:a16="http://schemas.microsoft.com/office/drawing/2014/main" id="{7E0D5107-F34B-AAB9-6E8B-B16E45D1CCE5}"/>
              </a:ext>
            </a:extLst>
          </p:cNvPr>
          <p:cNvCxnSpPr/>
          <p:nvPr/>
        </p:nvCxnSpPr>
        <p:spPr bwMode="auto">
          <a:xfrm>
            <a:off x="287338" y="3908425"/>
            <a:ext cx="1295400" cy="0"/>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4">
                                            <p:txEl>
                                              <p:pRg st="0" end="0"/>
                                            </p:txEl>
                                          </p:spTgt>
                                        </p:tgtEl>
                                        <p:attrNameLst>
                                          <p:attrName>style.visibility</p:attrName>
                                        </p:attrNameLst>
                                      </p:cBhvr>
                                      <p:to>
                                        <p:strVal val="visible"/>
                                      </p:to>
                                    </p:set>
                                    <p:animEffect transition="in" filter="wipe(left)">
                                      <p:cBhvr>
                                        <p:cTn id="7" dur="500"/>
                                        <p:tgtEl>
                                          <p:spTgt spid="2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wipe(up)">
                                      <p:cBhvr>
                                        <p:cTn id="12" dur="500"/>
                                        <p:tgtEl>
                                          <p:spTgt spid="28"/>
                                        </p:tgtEl>
                                      </p:cBhvr>
                                    </p:animEffect>
                                  </p:childTnLst>
                                </p:cTn>
                              </p:par>
                            </p:childTnLst>
                          </p:cTn>
                        </p:par>
                        <p:par>
                          <p:cTn id="13" fill="hold" nodeType="afterGroup">
                            <p:stCondLst>
                              <p:cond delay="500"/>
                            </p:stCondLst>
                            <p:childTnLst>
                              <p:par>
                                <p:cTn id="14" presetID="22" presetClass="entr" presetSubtype="1" fill="hold" grpId="0" nodeType="afterEffect">
                                  <p:stCondLst>
                                    <p:cond delay="0"/>
                                  </p:stCondLst>
                                  <p:childTnLst>
                                    <p:set>
                                      <p:cBhvr>
                                        <p:cTn id="15" dur="1" fill="hold">
                                          <p:stCondLst>
                                            <p:cond delay="0"/>
                                          </p:stCondLst>
                                        </p:cTn>
                                        <p:tgtEl>
                                          <p:spTgt spid="29"/>
                                        </p:tgtEl>
                                        <p:attrNameLst>
                                          <p:attrName>style.visibility</p:attrName>
                                        </p:attrNameLst>
                                      </p:cBhvr>
                                      <p:to>
                                        <p:strVal val="visible"/>
                                      </p:to>
                                    </p:set>
                                    <p:animEffect transition="in" filter="wipe(up)">
                                      <p:cBhvr>
                                        <p:cTn id="16" dur="500"/>
                                        <p:tgtEl>
                                          <p:spTgt spid="29"/>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0"/>
                                        </p:tgtEl>
                                        <p:attrNameLst>
                                          <p:attrName>style.visibility</p:attrName>
                                        </p:attrNameLst>
                                      </p:cBhvr>
                                      <p:to>
                                        <p:strVal val="visible"/>
                                      </p:to>
                                    </p:set>
                                    <p:animEffect transition="in" filter="fade">
                                      <p:cBhvr>
                                        <p:cTn id="21" dur="1000"/>
                                        <p:tgtEl>
                                          <p:spTgt spid="30"/>
                                        </p:tgtEl>
                                      </p:cBhvr>
                                    </p:animEffect>
                                    <p:anim calcmode="lin" valueType="num">
                                      <p:cBhvr>
                                        <p:cTn id="22" dur="1000" fill="hold"/>
                                        <p:tgtEl>
                                          <p:spTgt spid="30"/>
                                        </p:tgtEl>
                                        <p:attrNameLst>
                                          <p:attrName>ppt_x</p:attrName>
                                        </p:attrNameLst>
                                      </p:cBhvr>
                                      <p:tavLst>
                                        <p:tav tm="0">
                                          <p:val>
                                            <p:strVal val="#ppt_x"/>
                                          </p:val>
                                        </p:tav>
                                        <p:tav tm="100000">
                                          <p:val>
                                            <p:strVal val="#ppt_x"/>
                                          </p:val>
                                        </p:tav>
                                      </p:tavLst>
                                    </p:anim>
                                    <p:anim calcmode="lin" valueType="num">
                                      <p:cBhvr>
                                        <p:cTn id="23"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nodeType="click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wipe(left)">
                                      <p:cBhvr>
                                        <p:cTn id="28"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build="p"/>
      <p:bldP spid="29" grpId="0"/>
      <p:bldP spid="30" grpId="0"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7761A-C7D2-4824-B671-5209B3630AB5}"/>
              </a:ext>
            </a:extLst>
          </p:cNvPr>
          <p:cNvSpPr>
            <a:spLocks noGrp="1"/>
          </p:cNvSpPr>
          <p:nvPr>
            <p:ph type="title"/>
          </p:nvPr>
        </p:nvSpPr>
        <p:spPr>
          <a:xfrm>
            <a:off x="457200" y="0"/>
            <a:ext cx="7620000" cy="1143000"/>
          </a:xfrm>
        </p:spPr>
        <p:txBody>
          <a:bodyPr/>
          <a:lstStyle/>
          <a:p>
            <a:pPr algn="ctr">
              <a:defRPr/>
            </a:pPr>
            <a:r>
              <a:rPr lang="en-US" dirty="0"/>
              <a:t>Relational Constraints</a:t>
            </a:r>
            <a:endParaRPr lang="en-CA" dirty="0"/>
          </a:p>
        </p:txBody>
      </p:sp>
      <p:sp>
        <p:nvSpPr>
          <p:cNvPr id="10243" name="Content Placeholder 2">
            <a:extLst>
              <a:ext uri="{FF2B5EF4-FFF2-40B4-BE49-F238E27FC236}">
                <a16:creationId xmlns:a16="http://schemas.microsoft.com/office/drawing/2014/main" id="{F7C268FE-8D15-157E-7836-21BF4C53A866}"/>
              </a:ext>
            </a:extLst>
          </p:cNvPr>
          <p:cNvSpPr txBox="1">
            <a:spLocks/>
          </p:cNvSpPr>
          <p:nvPr/>
        </p:nvSpPr>
        <p:spPr bwMode="auto">
          <a:xfrm>
            <a:off x="134938" y="1855788"/>
            <a:ext cx="8170862" cy="158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rgbClr val="FF6600"/>
              </a:buClr>
              <a:buFont typeface="Wingdings 3" panose="05040102010807070707" pitchFamily="18" charset="2"/>
              <a:buNone/>
            </a:pPr>
            <a:r>
              <a:rPr lang="en-CA" altLang="en-US" sz="3200">
                <a:latin typeface="Calibri" panose="020F0502020204030204" pitchFamily="34" charset="0"/>
              </a:rPr>
              <a:t>In a relation, one candidate key </a:t>
            </a:r>
            <a:r>
              <a:rPr lang="en-CA" altLang="en-US" sz="3200" b="1">
                <a:latin typeface="Calibri" panose="020F0502020204030204" pitchFamily="34" charset="0"/>
              </a:rPr>
              <a:t>must</a:t>
            </a:r>
            <a:r>
              <a:rPr lang="en-CA" altLang="en-US" sz="3200">
                <a:latin typeface="Calibri" panose="020F0502020204030204" pitchFamily="34" charset="0"/>
              </a:rPr>
              <a:t> be chosen to be the </a:t>
            </a:r>
            <a:r>
              <a:rPr lang="en-CA" altLang="en-US" sz="3200" b="1">
                <a:latin typeface="Calibri" panose="020F0502020204030204" pitchFamily="34" charset="0"/>
              </a:rPr>
              <a:t>primary key</a:t>
            </a:r>
            <a:r>
              <a:rPr lang="en-CA" altLang="en-US" sz="3200">
                <a:latin typeface="Calibri" panose="020F0502020204030204" pitchFamily="34" charset="0"/>
              </a:rPr>
              <a:t> of the relation. Always </a:t>
            </a:r>
            <a:r>
              <a:rPr lang="en-CA" altLang="en-US" sz="3200" b="1">
                <a:latin typeface="Calibri" panose="020F0502020204030204" pitchFamily="34" charset="0"/>
              </a:rPr>
              <a:t>underline</a:t>
            </a:r>
            <a:r>
              <a:rPr lang="en-CA" altLang="en-US" sz="3200">
                <a:latin typeface="Calibri" panose="020F0502020204030204" pitchFamily="34" charset="0"/>
              </a:rPr>
              <a:t> the primary key in a relation</a:t>
            </a:r>
            <a:endParaRPr lang="en-CA" altLang="en-US" sz="3200" b="1">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32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32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40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p:txBody>
      </p:sp>
      <p:sp>
        <p:nvSpPr>
          <p:cNvPr id="27" name="Snip Single Corner Rectangle 26">
            <a:extLst>
              <a:ext uri="{FF2B5EF4-FFF2-40B4-BE49-F238E27FC236}">
                <a16:creationId xmlns:a16="http://schemas.microsoft.com/office/drawing/2014/main" id="{99A42452-45F4-B5FE-EB12-7D420ED8E302}"/>
              </a:ext>
            </a:extLst>
          </p:cNvPr>
          <p:cNvSpPr/>
          <p:nvPr/>
        </p:nvSpPr>
        <p:spPr>
          <a:xfrm>
            <a:off x="134938" y="1376363"/>
            <a:ext cx="1728787" cy="401637"/>
          </a:xfrm>
          <a:prstGeom prst="snip1Rect">
            <a:avLst/>
          </a:prstGeom>
          <a:solidFill>
            <a:schemeClr val="accent5">
              <a:alpha val="70000"/>
            </a:schemeClr>
          </a:solidFill>
          <a:ln>
            <a:solidFill>
              <a:schemeClr val="accent5"/>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indent="-342900" algn="just" eaLnBrk="1" hangingPunct="1">
              <a:spcBef>
                <a:spcPct val="20000"/>
              </a:spcBef>
              <a:buClr>
                <a:srgbClr val="FF6600"/>
              </a:buClr>
              <a:buSzPct val="100000"/>
              <a:defRPr/>
            </a:pPr>
            <a:r>
              <a:rPr lang="en-US" dirty="0">
                <a:latin typeface="Arial" pitchFamily="34" charset="0"/>
                <a:ea typeface="Times New Roman" pitchFamily="18" charset="0"/>
                <a:cs typeface="Arial" pitchFamily="34" charset="0"/>
              </a:rPr>
              <a:t>Key Constraint</a:t>
            </a:r>
            <a:endParaRPr lang="en-GB" kern="0" dirty="0">
              <a:solidFill>
                <a:schemeClr val="tx1"/>
              </a:solidFill>
            </a:endParaRPr>
          </a:p>
        </p:txBody>
      </p:sp>
      <p:graphicFrame>
        <p:nvGraphicFramePr>
          <p:cNvPr id="28" name="Table 27">
            <a:extLst>
              <a:ext uri="{FF2B5EF4-FFF2-40B4-BE49-F238E27FC236}">
                <a16:creationId xmlns:a16="http://schemas.microsoft.com/office/drawing/2014/main" id="{30D6BB57-A97A-8294-DC3B-347C6F665327}"/>
              </a:ext>
            </a:extLst>
          </p:cNvPr>
          <p:cNvGraphicFramePr>
            <a:graphicFrameLocks noGrp="1"/>
          </p:cNvGraphicFramePr>
          <p:nvPr/>
        </p:nvGraphicFramePr>
        <p:xfrm>
          <a:off x="207963" y="3584575"/>
          <a:ext cx="4968875" cy="2295525"/>
        </p:xfrm>
        <a:graphic>
          <a:graphicData uri="http://schemas.openxmlformats.org/drawingml/2006/table">
            <a:tbl>
              <a:tblPr firstRow="1" bandRow="1">
                <a:tableStyleId>{3B4B98B0-60AC-42C2-AFA5-B58CD77FA1E5}</a:tableStyleId>
              </a:tblPr>
              <a:tblGrid>
                <a:gridCol w="1648498">
                  <a:extLst>
                    <a:ext uri="{9D8B030D-6E8A-4147-A177-3AD203B41FA5}">
                      <a16:colId xmlns:a16="http://schemas.microsoft.com/office/drawing/2014/main" val="20000"/>
                    </a:ext>
                  </a:extLst>
                </a:gridCol>
                <a:gridCol w="1648498">
                  <a:extLst>
                    <a:ext uri="{9D8B030D-6E8A-4147-A177-3AD203B41FA5}">
                      <a16:colId xmlns:a16="http://schemas.microsoft.com/office/drawing/2014/main" val="20001"/>
                    </a:ext>
                  </a:extLst>
                </a:gridCol>
                <a:gridCol w="1671879">
                  <a:extLst>
                    <a:ext uri="{9D8B030D-6E8A-4147-A177-3AD203B41FA5}">
                      <a16:colId xmlns:a16="http://schemas.microsoft.com/office/drawing/2014/main" val="20002"/>
                    </a:ext>
                  </a:extLst>
                </a:gridCol>
              </a:tblGrid>
              <a:tr h="573881">
                <a:tc>
                  <a:txBody>
                    <a:bodyPr/>
                    <a:lstStyle/>
                    <a:p>
                      <a:pPr algn="ctr"/>
                      <a:r>
                        <a:rPr lang="en-CA" sz="1800" dirty="0"/>
                        <a:t>STUDENTID</a:t>
                      </a:r>
                    </a:p>
                  </a:txBody>
                  <a:tcPr marL="91446" marR="91446" marT="45731" marB="45731"/>
                </a:tc>
                <a:tc>
                  <a:txBody>
                    <a:bodyPr/>
                    <a:lstStyle/>
                    <a:p>
                      <a:pPr algn="ctr"/>
                      <a:r>
                        <a:rPr lang="en-CA" sz="1800" dirty="0"/>
                        <a:t>ICNUMBER</a:t>
                      </a:r>
                    </a:p>
                  </a:txBody>
                  <a:tcPr marL="91446" marR="91446" marT="45731" marB="45731"/>
                </a:tc>
                <a:tc>
                  <a:txBody>
                    <a:bodyPr/>
                    <a:lstStyle/>
                    <a:p>
                      <a:pPr algn="ctr"/>
                      <a:r>
                        <a:rPr lang="en-CA" sz="1800" dirty="0"/>
                        <a:t>NAME</a:t>
                      </a:r>
                    </a:p>
                  </a:txBody>
                  <a:tcPr marL="91446" marR="91446" marT="45731" marB="45731"/>
                </a:tc>
                <a:extLst>
                  <a:ext uri="{0D108BD9-81ED-4DB2-BD59-A6C34878D82A}">
                    <a16:rowId xmlns:a16="http://schemas.microsoft.com/office/drawing/2014/main" val="10000"/>
                  </a:ext>
                </a:extLst>
              </a:tr>
              <a:tr h="573881">
                <a:tc>
                  <a:txBody>
                    <a:bodyPr/>
                    <a:lstStyle/>
                    <a:p>
                      <a:pPr algn="ctr"/>
                      <a:r>
                        <a:rPr lang="en-CA" sz="1800" dirty="0"/>
                        <a:t>1</a:t>
                      </a:r>
                    </a:p>
                  </a:txBody>
                  <a:tcPr marL="91446" marR="91446" marT="45731" marB="45731"/>
                </a:tc>
                <a:tc>
                  <a:txBody>
                    <a:bodyPr/>
                    <a:lstStyle/>
                    <a:p>
                      <a:pPr algn="ctr"/>
                      <a:r>
                        <a:rPr lang="en-CA" sz="1800" dirty="0"/>
                        <a:t>123-321</a:t>
                      </a:r>
                    </a:p>
                  </a:txBody>
                  <a:tcPr marL="91446" marR="91446" marT="45731" marB="45731"/>
                </a:tc>
                <a:tc>
                  <a:txBody>
                    <a:bodyPr/>
                    <a:lstStyle/>
                    <a:p>
                      <a:r>
                        <a:rPr lang="en-CA" sz="1800" dirty="0"/>
                        <a:t>Talha Amjad</a:t>
                      </a:r>
                    </a:p>
                  </a:txBody>
                  <a:tcPr marL="91446" marR="91446" marT="45731" marB="45731"/>
                </a:tc>
                <a:extLst>
                  <a:ext uri="{0D108BD9-81ED-4DB2-BD59-A6C34878D82A}">
                    <a16:rowId xmlns:a16="http://schemas.microsoft.com/office/drawing/2014/main" val="10001"/>
                  </a:ext>
                </a:extLst>
              </a:tr>
              <a:tr h="573881">
                <a:tc>
                  <a:txBody>
                    <a:bodyPr/>
                    <a:lstStyle/>
                    <a:p>
                      <a:pPr algn="ctr"/>
                      <a:r>
                        <a:rPr lang="en-CA" sz="1800" dirty="0"/>
                        <a:t>2</a:t>
                      </a:r>
                    </a:p>
                  </a:txBody>
                  <a:tcPr marL="91446" marR="91446" marT="45731" marB="45731"/>
                </a:tc>
                <a:tc>
                  <a:txBody>
                    <a:bodyPr/>
                    <a:lstStyle/>
                    <a:p>
                      <a:pPr algn="ctr"/>
                      <a:r>
                        <a:rPr lang="en-CA" sz="1800" dirty="0"/>
                        <a:t>321-123</a:t>
                      </a:r>
                    </a:p>
                  </a:txBody>
                  <a:tcPr marL="91446" marR="91446" marT="45731" marB="45731"/>
                </a:tc>
                <a:tc>
                  <a:txBody>
                    <a:bodyPr/>
                    <a:lstStyle/>
                    <a:p>
                      <a:r>
                        <a:rPr lang="en-CA" sz="1800" dirty="0"/>
                        <a:t>Sara Saleem</a:t>
                      </a:r>
                    </a:p>
                  </a:txBody>
                  <a:tcPr marL="91446" marR="91446" marT="45731" marB="45731"/>
                </a:tc>
                <a:extLst>
                  <a:ext uri="{0D108BD9-81ED-4DB2-BD59-A6C34878D82A}">
                    <a16:rowId xmlns:a16="http://schemas.microsoft.com/office/drawing/2014/main" val="10002"/>
                  </a:ext>
                </a:extLst>
              </a:tr>
              <a:tr h="573881">
                <a:tc>
                  <a:txBody>
                    <a:bodyPr/>
                    <a:lstStyle/>
                    <a:p>
                      <a:pPr algn="ctr"/>
                      <a:r>
                        <a:rPr lang="en-CA" sz="1800" dirty="0"/>
                        <a:t>3</a:t>
                      </a:r>
                    </a:p>
                  </a:txBody>
                  <a:tcPr marL="91446" marR="91446" marT="45731" marB="45731"/>
                </a:tc>
                <a:tc>
                  <a:txBody>
                    <a:bodyPr/>
                    <a:lstStyle/>
                    <a:p>
                      <a:pPr algn="ctr"/>
                      <a:r>
                        <a:rPr lang="en-CA" sz="1800" dirty="0"/>
                        <a:t>132-231</a:t>
                      </a:r>
                    </a:p>
                  </a:txBody>
                  <a:tcPr marL="91446" marR="91446" marT="45731" marB="45731"/>
                </a:tc>
                <a:tc>
                  <a:txBody>
                    <a:bodyPr/>
                    <a:lstStyle/>
                    <a:p>
                      <a:r>
                        <a:rPr lang="en-CA" sz="1800" dirty="0"/>
                        <a:t>Aqib Ali</a:t>
                      </a:r>
                    </a:p>
                  </a:txBody>
                  <a:tcPr marL="91446" marR="91446" marT="45731" marB="45731"/>
                </a:tc>
                <a:extLst>
                  <a:ext uri="{0D108BD9-81ED-4DB2-BD59-A6C34878D82A}">
                    <a16:rowId xmlns:a16="http://schemas.microsoft.com/office/drawing/2014/main" val="10003"/>
                  </a:ext>
                </a:extLst>
              </a:tr>
            </a:tbl>
          </a:graphicData>
        </a:graphic>
      </p:graphicFrame>
      <p:sp>
        <p:nvSpPr>
          <p:cNvPr id="10261" name="TextBox 28">
            <a:extLst>
              <a:ext uri="{FF2B5EF4-FFF2-40B4-BE49-F238E27FC236}">
                <a16:creationId xmlns:a16="http://schemas.microsoft.com/office/drawing/2014/main" id="{BE8A9A18-B3D6-3E77-FB2E-56E335130E8E}"/>
              </a:ext>
            </a:extLst>
          </p:cNvPr>
          <p:cNvSpPr txBox="1">
            <a:spLocks noChangeArrowheads="1"/>
          </p:cNvSpPr>
          <p:nvPr/>
        </p:nvSpPr>
        <p:spPr bwMode="auto">
          <a:xfrm>
            <a:off x="1571625" y="5878513"/>
            <a:ext cx="22415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CA" altLang="en-US"/>
              <a:t>Student relation</a:t>
            </a:r>
          </a:p>
        </p:txBody>
      </p:sp>
      <p:sp>
        <p:nvSpPr>
          <p:cNvPr id="30" name="TextBox 29">
            <a:extLst>
              <a:ext uri="{FF2B5EF4-FFF2-40B4-BE49-F238E27FC236}">
                <a16:creationId xmlns:a16="http://schemas.microsoft.com/office/drawing/2014/main" id="{4721D979-2D03-822E-8647-BA802E73DBAE}"/>
              </a:ext>
            </a:extLst>
          </p:cNvPr>
          <p:cNvSpPr txBox="1"/>
          <p:nvPr/>
        </p:nvSpPr>
        <p:spPr>
          <a:xfrm>
            <a:off x="5486400" y="3716338"/>
            <a:ext cx="2819400" cy="2032000"/>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p>
            <a:pPr>
              <a:defRPr/>
            </a:pPr>
            <a:r>
              <a:rPr lang="en-CA" dirty="0"/>
              <a:t>Candidate keys</a:t>
            </a:r>
          </a:p>
          <a:p>
            <a:pPr marL="742950" lvl="1" indent="-285750">
              <a:buFont typeface="Arial" pitchFamily="34" charset="0"/>
              <a:buChar char="•"/>
              <a:defRPr/>
            </a:pPr>
            <a:r>
              <a:rPr lang="en-CA" dirty="0"/>
              <a:t>STUDENTID</a:t>
            </a:r>
          </a:p>
          <a:p>
            <a:pPr marL="742950" lvl="1" indent="-285750">
              <a:buFont typeface="Arial" pitchFamily="34" charset="0"/>
              <a:buChar char="•"/>
              <a:defRPr/>
            </a:pPr>
            <a:r>
              <a:rPr lang="en-CA" dirty="0" err="1"/>
              <a:t>ICNumber</a:t>
            </a:r>
            <a:endParaRPr lang="en-CA" dirty="0"/>
          </a:p>
          <a:p>
            <a:pPr marL="742950" lvl="1" indent="-285750">
              <a:buFont typeface="Arial" pitchFamily="34" charset="0"/>
              <a:buChar char="•"/>
              <a:defRPr/>
            </a:pPr>
            <a:endParaRPr lang="en-CA" dirty="0"/>
          </a:p>
          <a:p>
            <a:pPr>
              <a:defRPr/>
            </a:pPr>
            <a:r>
              <a:rPr lang="en-CA" dirty="0"/>
              <a:t>Primary key</a:t>
            </a:r>
          </a:p>
          <a:p>
            <a:pPr marL="742950" lvl="1" indent="-285750">
              <a:buFont typeface="Arial" pitchFamily="34" charset="0"/>
              <a:buChar char="•"/>
              <a:defRPr/>
            </a:pPr>
            <a:r>
              <a:rPr lang="en-CA" dirty="0"/>
              <a:t>Either STUDENTID or </a:t>
            </a:r>
            <a:r>
              <a:rPr lang="en-CA" dirty="0" err="1"/>
              <a:t>ICNumber</a:t>
            </a:r>
            <a:endParaRPr lang="en-CA" dirty="0"/>
          </a:p>
        </p:txBody>
      </p:sp>
      <p:cxnSp>
        <p:nvCxnSpPr>
          <p:cNvPr id="4" name="Straight Connector 3">
            <a:extLst>
              <a:ext uri="{FF2B5EF4-FFF2-40B4-BE49-F238E27FC236}">
                <a16:creationId xmlns:a16="http://schemas.microsoft.com/office/drawing/2014/main" id="{82255944-E108-BD4E-E5C1-221998A835E7}"/>
              </a:ext>
            </a:extLst>
          </p:cNvPr>
          <p:cNvCxnSpPr/>
          <p:nvPr/>
        </p:nvCxnSpPr>
        <p:spPr bwMode="auto">
          <a:xfrm>
            <a:off x="2079625" y="3922713"/>
            <a:ext cx="1187450" cy="0"/>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C73BC7-C3C4-5462-9711-58DBC53173AF}"/>
              </a:ext>
            </a:extLst>
          </p:cNvPr>
          <p:cNvSpPr>
            <a:spLocks noGrp="1"/>
          </p:cNvSpPr>
          <p:nvPr>
            <p:ph type="title"/>
          </p:nvPr>
        </p:nvSpPr>
        <p:spPr>
          <a:xfrm>
            <a:off x="457200" y="0"/>
            <a:ext cx="7620000" cy="1143000"/>
          </a:xfrm>
        </p:spPr>
        <p:txBody>
          <a:bodyPr/>
          <a:lstStyle/>
          <a:p>
            <a:pPr algn="ctr">
              <a:defRPr/>
            </a:pPr>
            <a:r>
              <a:rPr lang="en-US" dirty="0"/>
              <a:t>Relational Constraints</a:t>
            </a:r>
            <a:endParaRPr lang="en-CA" dirty="0"/>
          </a:p>
        </p:txBody>
      </p:sp>
      <p:sp>
        <p:nvSpPr>
          <p:cNvPr id="11267" name="Content Placeholder 2">
            <a:extLst>
              <a:ext uri="{FF2B5EF4-FFF2-40B4-BE49-F238E27FC236}">
                <a16:creationId xmlns:a16="http://schemas.microsoft.com/office/drawing/2014/main" id="{58E0E2D8-7B08-B563-4325-1D5ACAFB2A6B}"/>
              </a:ext>
            </a:extLst>
          </p:cNvPr>
          <p:cNvSpPr txBox="1">
            <a:spLocks/>
          </p:cNvSpPr>
          <p:nvPr/>
        </p:nvSpPr>
        <p:spPr bwMode="auto">
          <a:xfrm>
            <a:off x="109538" y="1790700"/>
            <a:ext cx="8196262" cy="148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rgbClr val="FF6600"/>
              </a:buClr>
              <a:buFont typeface="Wingdings 3" panose="05040102010807070707" pitchFamily="18" charset="2"/>
              <a:buNone/>
            </a:pPr>
            <a:r>
              <a:rPr lang="en-CA" altLang="en-US" sz="3200">
                <a:latin typeface="Calibri" panose="020F0502020204030204" pitchFamily="34" charset="0"/>
              </a:rPr>
              <a:t>In a relation, one candidate key </a:t>
            </a:r>
            <a:r>
              <a:rPr lang="en-CA" altLang="en-US" sz="3200" b="1">
                <a:latin typeface="Calibri" panose="020F0502020204030204" pitchFamily="34" charset="0"/>
              </a:rPr>
              <a:t>must</a:t>
            </a:r>
            <a:r>
              <a:rPr lang="en-CA" altLang="en-US" sz="3200">
                <a:latin typeface="Calibri" panose="020F0502020204030204" pitchFamily="34" charset="0"/>
              </a:rPr>
              <a:t> be chosen to be the </a:t>
            </a:r>
            <a:r>
              <a:rPr lang="en-CA" altLang="en-US" sz="3200" b="1">
                <a:latin typeface="Calibri" panose="020F0502020204030204" pitchFamily="34" charset="0"/>
              </a:rPr>
              <a:t>primary key</a:t>
            </a:r>
            <a:r>
              <a:rPr lang="en-CA" altLang="en-US" sz="3200">
                <a:latin typeface="Calibri" panose="020F0502020204030204" pitchFamily="34" charset="0"/>
              </a:rPr>
              <a:t> of the relation. Always </a:t>
            </a:r>
            <a:r>
              <a:rPr lang="en-CA" altLang="en-US" sz="3200" b="1">
                <a:latin typeface="Calibri" panose="020F0502020204030204" pitchFamily="34" charset="0"/>
              </a:rPr>
              <a:t>underline</a:t>
            </a:r>
            <a:r>
              <a:rPr lang="en-CA" altLang="en-US" sz="3200">
                <a:latin typeface="Calibri" panose="020F0502020204030204" pitchFamily="34" charset="0"/>
              </a:rPr>
              <a:t> the primary key in a relation</a:t>
            </a:r>
            <a:endParaRPr lang="en-CA" altLang="en-US" sz="3200" b="1">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32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32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40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p:txBody>
      </p:sp>
      <p:sp>
        <p:nvSpPr>
          <p:cNvPr id="27" name="Snip Single Corner Rectangle 26">
            <a:extLst>
              <a:ext uri="{FF2B5EF4-FFF2-40B4-BE49-F238E27FC236}">
                <a16:creationId xmlns:a16="http://schemas.microsoft.com/office/drawing/2014/main" id="{C14D098E-454C-BC5E-26B0-B52AE436D073}"/>
              </a:ext>
            </a:extLst>
          </p:cNvPr>
          <p:cNvSpPr/>
          <p:nvPr/>
        </p:nvSpPr>
        <p:spPr>
          <a:xfrm>
            <a:off x="180975" y="1374775"/>
            <a:ext cx="1728788" cy="401638"/>
          </a:xfrm>
          <a:prstGeom prst="snip1Rect">
            <a:avLst/>
          </a:prstGeom>
          <a:solidFill>
            <a:schemeClr val="accent5">
              <a:alpha val="70000"/>
            </a:schemeClr>
          </a:solidFill>
          <a:ln>
            <a:solidFill>
              <a:schemeClr val="accent5"/>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indent="-342900" algn="just" eaLnBrk="1" hangingPunct="1">
              <a:spcBef>
                <a:spcPct val="20000"/>
              </a:spcBef>
              <a:buClr>
                <a:srgbClr val="FF6600"/>
              </a:buClr>
              <a:buSzPct val="100000"/>
              <a:defRPr/>
            </a:pPr>
            <a:r>
              <a:rPr lang="en-US" dirty="0">
                <a:latin typeface="Arial" pitchFamily="34" charset="0"/>
                <a:ea typeface="Times New Roman" pitchFamily="18" charset="0"/>
                <a:cs typeface="Arial" pitchFamily="34" charset="0"/>
              </a:rPr>
              <a:t>Key Constraint</a:t>
            </a:r>
            <a:endParaRPr lang="en-GB" kern="0" dirty="0">
              <a:solidFill>
                <a:schemeClr val="tx1"/>
              </a:solidFill>
            </a:endParaRPr>
          </a:p>
        </p:txBody>
      </p:sp>
      <p:graphicFrame>
        <p:nvGraphicFramePr>
          <p:cNvPr id="28" name="Table 27">
            <a:extLst>
              <a:ext uri="{FF2B5EF4-FFF2-40B4-BE49-F238E27FC236}">
                <a16:creationId xmlns:a16="http://schemas.microsoft.com/office/drawing/2014/main" id="{3D7EC30E-0648-963E-3ED1-CF0A583459C2}"/>
              </a:ext>
            </a:extLst>
          </p:cNvPr>
          <p:cNvGraphicFramePr>
            <a:graphicFrameLocks noGrp="1"/>
          </p:cNvGraphicFramePr>
          <p:nvPr/>
        </p:nvGraphicFramePr>
        <p:xfrm>
          <a:off x="180975" y="3519488"/>
          <a:ext cx="4968875" cy="2295524"/>
        </p:xfrm>
        <a:graphic>
          <a:graphicData uri="http://schemas.openxmlformats.org/drawingml/2006/table">
            <a:tbl>
              <a:tblPr firstRow="1" bandRow="1">
                <a:tableStyleId>{3B4B98B0-60AC-42C2-AFA5-B58CD77FA1E5}</a:tableStyleId>
              </a:tblPr>
              <a:tblGrid>
                <a:gridCol w="1648498">
                  <a:extLst>
                    <a:ext uri="{9D8B030D-6E8A-4147-A177-3AD203B41FA5}">
                      <a16:colId xmlns:a16="http://schemas.microsoft.com/office/drawing/2014/main" val="20000"/>
                    </a:ext>
                  </a:extLst>
                </a:gridCol>
                <a:gridCol w="1648498">
                  <a:extLst>
                    <a:ext uri="{9D8B030D-6E8A-4147-A177-3AD203B41FA5}">
                      <a16:colId xmlns:a16="http://schemas.microsoft.com/office/drawing/2014/main" val="20001"/>
                    </a:ext>
                  </a:extLst>
                </a:gridCol>
                <a:gridCol w="1671879">
                  <a:extLst>
                    <a:ext uri="{9D8B030D-6E8A-4147-A177-3AD203B41FA5}">
                      <a16:colId xmlns:a16="http://schemas.microsoft.com/office/drawing/2014/main" val="20002"/>
                    </a:ext>
                  </a:extLst>
                </a:gridCol>
              </a:tblGrid>
              <a:tr h="573881">
                <a:tc>
                  <a:txBody>
                    <a:bodyPr/>
                    <a:lstStyle/>
                    <a:p>
                      <a:pPr algn="ctr"/>
                      <a:r>
                        <a:rPr lang="en-CA" sz="1800" dirty="0"/>
                        <a:t>STUDENTID</a:t>
                      </a:r>
                    </a:p>
                  </a:txBody>
                  <a:tcPr marL="91446" marR="91446" marT="45731" marB="45731"/>
                </a:tc>
                <a:tc>
                  <a:txBody>
                    <a:bodyPr/>
                    <a:lstStyle/>
                    <a:p>
                      <a:pPr algn="ctr"/>
                      <a:r>
                        <a:rPr lang="en-CA" sz="1800" dirty="0"/>
                        <a:t>ICNUMBER</a:t>
                      </a:r>
                    </a:p>
                  </a:txBody>
                  <a:tcPr marL="91446" marR="91446" marT="45731" marB="45731"/>
                </a:tc>
                <a:tc>
                  <a:txBody>
                    <a:bodyPr/>
                    <a:lstStyle/>
                    <a:p>
                      <a:pPr algn="ctr"/>
                      <a:r>
                        <a:rPr lang="en-CA" sz="1800" dirty="0"/>
                        <a:t>NAME</a:t>
                      </a:r>
                    </a:p>
                  </a:txBody>
                  <a:tcPr marL="91446" marR="91446" marT="45731" marB="45731"/>
                </a:tc>
                <a:extLst>
                  <a:ext uri="{0D108BD9-81ED-4DB2-BD59-A6C34878D82A}">
                    <a16:rowId xmlns:a16="http://schemas.microsoft.com/office/drawing/2014/main" val="10000"/>
                  </a:ext>
                </a:extLst>
              </a:tr>
              <a:tr h="573881">
                <a:tc>
                  <a:txBody>
                    <a:bodyPr/>
                    <a:lstStyle/>
                    <a:p>
                      <a:pPr algn="ctr"/>
                      <a:r>
                        <a:rPr lang="en-CA" sz="1800" dirty="0"/>
                        <a:t>1</a:t>
                      </a:r>
                    </a:p>
                  </a:txBody>
                  <a:tcPr marL="91446" marR="91446" marT="45731" marB="45731"/>
                </a:tc>
                <a:tc>
                  <a:txBody>
                    <a:bodyPr/>
                    <a:lstStyle/>
                    <a:p>
                      <a:pPr algn="ctr"/>
                      <a:r>
                        <a:rPr lang="en-CA" sz="1800" dirty="0"/>
                        <a:t>123-321</a:t>
                      </a:r>
                    </a:p>
                  </a:txBody>
                  <a:tcPr marL="91446" marR="91446" marT="45731" marB="45731"/>
                </a:tc>
                <a:tc>
                  <a:txBody>
                    <a:bodyPr/>
                    <a:lstStyle/>
                    <a:p>
                      <a:r>
                        <a:rPr lang="en-CA" sz="1800" dirty="0"/>
                        <a:t>Talha Amjad</a:t>
                      </a:r>
                    </a:p>
                  </a:txBody>
                  <a:tcPr marL="91446" marR="91446" marT="45731" marB="45731"/>
                </a:tc>
                <a:extLst>
                  <a:ext uri="{0D108BD9-81ED-4DB2-BD59-A6C34878D82A}">
                    <a16:rowId xmlns:a16="http://schemas.microsoft.com/office/drawing/2014/main" val="10001"/>
                  </a:ext>
                </a:extLst>
              </a:tr>
              <a:tr h="573881">
                <a:tc>
                  <a:txBody>
                    <a:bodyPr/>
                    <a:lstStyle/>
                    <a:p>
                      <a:pPr algn="ctr"/>
                      <a:r>
                        <a:rPr lang="en-CA" sz="1800" dirty="0"/>
                        <a:t>2</a:t>
                      </a:r>
                    </a:p>
                  </a:txBody>
                  <a:tcPr marL="91446" marR="91446" marT="45731" marB="45731"/>
                </a:tc>
                <a:tc>
                  <a:txBody>
                    <a:bodyPr/>
                    <a:lstStyle/>
                    <a:p>
                      <a:pPr algn="ctr"/>
                      <a:r>
                        <a:rPr lang="en-CA" sz="1800" dirty="0"/>
                        <a:t>321-123</a:t>
                      </a:r>
                    </a:p>
                  </a:txBody>
                  <a:tcPr marL="91446" marR="91446" marT="45731" marB="45731"/>
                </a:tc>
                <a:tc>
                  <a:txBody>
                    <a:bodyPr/>
                    <a:lstStyle/>
                    <a:p>
                      <a:r>
                        <a:rPr lang="en-CA" sz="1800" dirty="0"/>
                        <a:t>Sara Saleem</a:t>
                      </a:r>
                    </a:p>
                  </a:txBody>
                  <a:tcPr marL="91446" marR="91446" marT="45731" marB="45731"/>
                </a:tc>
                <a:extLst>
                  <a:ext uri="{0D108BD9-81ED-4DB2-BD59-A6C34878D82A}">
                    <a16:rowId xmlns:a16="http://schemas.microsoft.com/office/drawing/2014/main" val="10002"/>
                  </a:ext>
                </a:extLst>
              </a:tr>
              <a:tr h="573881">
                <a:tc>
                  <a:txBody>
                    <a:bodyPr/>
                    <a:lstStyle/>
                    <a:p>
                      <a:pPr algn="ctr"/>
                      <a:r>
                        <a:rPr lang="en-CA" sz="1800" dirty="0"/>
                        <a:t>3</a:t>
                      </a:r>
                    </a:p>
                  </a:txBody>
                  <a:tcPr marL="91446" marR="91446" marT="45731" marB="45731"/>
                </a:tc>
                <a:tc>
                  <a:txBody>
                    <a:bodyPr/>
                    <a:lstStyle/>
                    <a:p>
                      <a:pPr algn="ctr"/>
                      <a:r>
                        <a:rPr lang="en-CA" sz="1800" dirty="0"/>
                        <a:t>132-231</a:t>
                      </a:r>
                    </a:p>
                  </a:txBody>
                  <a:tcPr marL="91446" marR="91446" marT="45731" marB="45731"/>
                </a:tc>
                <a:tc>
                  <a:txBody>
                    <a:bodyPr/>
                    <a:lstStyle/>
                    <a:p>
                      <a:r>
                        <a:rPr lang="en-CA" sz="1800" dirty="0"/>
                        <a:t>Aqib Ali</a:t>
                      </a:r>
                    </a:p>
                  </a:txBody>
                  <a:tcPr marL="91446" marR="91446" marT="45731" marB="45731"/>
                </a:tc>
                <a:extLst>
                  <a:ext uri="{0D108BD9-81ED-4DB2-BD59-A6C34878D82A}">
                    <a16:rowId xmlns:a16="http://schemas.microsoft.com/office/drawing/2014/main" val="10003"/>
                  </a:ext>
                </a:extLst>
              </a:tr>
            </a:tbl>
          </a:graphicData>
        </a:graphic>
      </p:graphicFrame>
      <p:sp>
        <p:nvSpPr>
          <p:cNvPr id="11285" name="TextBox 28">
            <a:extLst>
              <a:ext uri="{FF2B5EF4-FFF2-40B4-BE49-F238E27FC236}">
                <a16:creationId xmlns:a16="http://schemas.microsoft.com/office/drawing/2014/main" id="{617F0A93-8C2E-71A0-EE24-4B0F31F2F024}"/>
              </a:ext>
            </a:extLst>
          </p:cNvPr>
          <p:cNvSpPr txBox="1">
            <a:spLocks noChangeArrowheads="1"/>
          </p:cNvSpPr>
          <p:nvPr/>
        </p:nvSpPr>
        <p:spPr bwMode="auto">
          <a:xfrm>
            <a:off x="1544638" y="5813425"/>
            <a:ext cx="22415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CA" altLang="en-US"/>
              <a:t>Student relation</a:t>
            </a:r>
          </a:p>
        </p:txBody>
      </p:sp>
      <p:sp>
        <p:nvSpPr>
          <p:cNvPr id="30" name="TextBox 29">
            <a:extLst>
              <a:ext uri="{FF2B5EF4-FFF2-40B4-BE49-F238E27FC236}">
                <a16:creationId xmlns:a16="http://schemas.microsoft.com/office/drawing/2014/main" id="{3752CE41-D161-A0C9-6A8C-5D1CE6F80578}"/>
              </a:ext>
            </a:extLst>
          </p:cNvPr>
          <p:cNvSpPr txBox="1"/>
          <p:nvPr/>
        </p:nvSpPr>
        <p:spPr>
          <a:xfrm>
            <a:off x="5354638" y="3651250"/>
            <a:ext cx="2951162" cy="2030413"/>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p>
            <a:pPr>
              <a:defRPr/>
            </a:pPr>
            <a:r>
              <a:rPr lang="en-CA" dirty="0"/>
              <a:t>Candidate keys</a:t>
            </a:r>
          </a:p>
          <a:p>
            <a:pPr marL="742950" lvl="1" indent="-285750">
              <a:buFont typeface="Arial" pitchFamily="34" charset="0"/>
              <a:buChar char="•"/>
              <a:defRPr/>
            </a:pPr>
            <a:r>
              <a:rPr lang="en-CA" dirty="0"/>
              <a:t>STUDENTID</a:t>
            </a:r>
          </a:p>
          <a:p>
            <a:pPr marL="742950" lvl="1" indent="-285750">
              <a:buFont typeface="Arial" pitchFamily="34" charset="0"/>
              <a:buChar char="•"/>
              <a:defRPr/>
            </a:pPr>
            <a:r>
              <a:rPr lang="en-CA" dirty="0" err="1"/>
              <a:t>ICNumber</a:t>
            </a:r>
            <a:endParaRPr lang="en-CA" dirty="0"/>
          </a:p>
          <a:p>
            <a:pPr marL="742950" lvl="1" indent="-285750">
              <a:buFont typeface="Arial" pitchFamily="34" charset="0"/>
              <a:buChar char="•"/>
              <a:defRPr/>
            </a:pPr>
            <a:endParaRPr lang="en-CA" dirty="0"/>
          </a:p>
          <a:p>
            <a:pPr>
              <a:defRPr/>
            </a:pPr>
            <a:r>
              <a:rPr lang="en-CA" dirty="0"/>
              <a:t>Primary key</a:t>
            </a:r>
          </a:p>
          <a:p>
            <a:pPr marL="742950" lvl="1" indent="-285750">
              <a:buFont typeface="Arial" pitchFamily="34" charset="0"/>
              <a:buChar char="•"/>
              <a:defRPr/>
            </a:pPr>
            <a:r>
              <a:rPr lang="en-CA" dirty="0"/>
              <a:t>Either STUDENTID or </a:t>
            </a:r>
            <a:r>
              <a:rPr lang="en-CA" dirty="0" err="1"/>
              <a:t>ICNumber</a:t>
            </a:r>
            <a:endParaRPr lang="en-CA" dirty="0"/>
          </a:p>
        </p:txBody>
      </p:sp>
      <p:cxnSp>
        <p:nvCxnSpPr>
          <p:cNvPr id="4" name="Straight Connector 3">
            <a:extLst>
              <a:ext uri="{FF2B5EF4-FFF2-40B4-BE49-F238E27FC236}">
                <a16:creationId xmlns:a16="http://schemas.microsoft.com/office/drawing/2014/main" id="{57CC9F84-D5EF-7FC4-2D63-8603E45EC383}"/>
              </a:ext>
            </a:extLst>
          </p:cNvPr>
          <p:cNvCxnSpPr/>
          <p:nvPr/>
        </p:nvCxnSpPr>
        <p:spPr bwMode="auto">
          <a:xfrm>
            <a:off x="336550" y="3843338"/>
            <a:ext cx="1296988" cy="0"/>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18" name="Straight Connector 17">
            <a:extLst>
              <a:ext uri="{FF2B5EF4-FFF2-40B4-BE49-F238E27FC236}">
                <a16:creationId xmlns:a16="http://schemas.microsoft.com/office/drawing/2014/main" id="{5CA08B1A-62E0-2FAA-2E44-E2268D6666B9}"/>
              </a:ext>
            </a:extLst>
          </p:cNvPr>
          <p:cNvCxnSpPr/>
          <p:nvPr/>
        </p:nvCxnSpPr>
        <p:spPr bwMode="auto">
          <a:xfrm>
            <a:off x="2017713" y="3843338"/>
            <a:ext cx="1295400" cy="0"/>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19" name="Multiply 18">
            <a:extLst>
              <a:ext uri="{FF2B5EF4-FFF2-40B4-BE49-F238E27FC236}">
                <a16:creationId xmlns:a16="http://schemas.microsoft.com/office/drawing/2014/main" id="{9A2C1E9B-28F1-0244-46CA-5D62B0814CD8}"/>
              </a:ext>
            </a:extLst>
          </p:cNvPr>
          <p:cNvSpPr/>
          <p:nvPr/>
        </p:nvSpPr>
        <p:spPr bwMode="auto">
          <a:xfrm>
            <a:off x="1062038" y="3549650"/>
            <a:ext cx="3206750" cy="2235200"/>
          </a:xfrm>
          <a:prstGeom prst="mathMultiply">
            <a:avLst/>
          </a:prstGeom>
          <a:solidFill>
            <a:srgbClr val="B50C00"/>
          </a:solidFill>
          <a:ln w="9525" cap="flat" cmpd="sng" algn="ctr">
            <a:solidFill>
              <a:schemeClr val="tx1"/>
            </a:solidFill>
            <a:prstDash val="solid"/>
            <a:round/>
            <a:headEnd type="none" w="med" len="med"/>
            <a:tailEnd type="none" w="med" len="med"/>
          </a:ln>
          <a:effectLst/>
        </p:spPr>
        <p:txBody>
          <a:bodyPr/>
          <a:lstStyle/>
          <a:p>
            <a:pPr>
              <a:defRPr/>
            </a:pPr>
            <a:endParaRPr lang="en-CA">
              <a:latin typeface="Arial"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par>
                                <p:cTn id="8" presetID="22" presetClass="entr" presetSubtype="8" fill="hold"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wipe(left)">
                                      <p:cBhvr>
                                        <p:cTn id="10" dur="500"/>
                                        <p:tgtEl>
                                          <p:spTgt spid="18"/>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0"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E612F6-C9A2-FF0D-4E55-200972205411}"/>
              </a:ext>
            </a:extLst>
          </p:cNvPr>
          <p:cNvSpPr>
            <a:spLocks noGrp="1"/>
          </p:cNvSpPr>
          <p:nvPr>
            <p:ph type="title"/>
          </p:nvPr>
        </p:nvSpPr>
        <p:spPr>
          <a:xfrm>
            <a:off x="457200" y="0"/>
            <a:ext cx="7620000" cy="1143000"/>
          </a:xfrm>
        </p:spPr>
        <p:txBody>
          <a:bodyPr/>
          <a:lstStyle/>
          <a:p>
            <a:pPr algn="ctr">
              <a:defRPr/>
            </a:pPr>
            <a:r>
              <a:rPr lang="en-US" dirty="0"/>
              <a:t>Relational Constraints</a:t>
            </a:r>
            <a:endParaRPr lang="en-CA" dirty="0"/>
          </a:p>
        </p:txBody>
      </p:sp>
      <p:sp>
        <p:nvSpPr>
          <p:cNvPr id="24" name="Content Placeholder 2">
            <a:extLst>
              <a:ext uri="{FF2B5EF4-FFF2-40B4-BE49-F238E27FC236}">
                <a16:creationId xmlns:a16="http://schemas.microsoft.com/office/drawing/2014/main" id="{D13B67C7-6654-E17E-D55F-D8C5199263B6}"/>
              </a:ext>
            </a:extLst>
          </p:cNvPr>
          <p:cNvSpPr txBox="1">
            <a:spLocks/>
          </p:cNvSpPr>
          <p:nvPr/>
        </p:nvSpPr>
        <p:spPr bwMode="auto">
          <a:xfrm>
            <a:off x="190500" y="1790700"/>
            <a:ext cx="8191500" cy="108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rgbClr val="FF6600"/>
              </a:buClr>
              <a:buFont typeface="Wingdings 3" panose="05040102010807070707" pitchFamily="18" charset="2"/>
              <a:buNone/>
            </a:pPr>
            <a:r>
              <a:rPr lang="en-CA" altLang="en-US" sz="3200">
                <a:latin typeface="Calibri" panose="020F0502020204030204" pitchFamily="34" charset="0"/>
              </a:rPr>
              <a:t>In a relational data model, a primary key </a:t>
            </a:r>
            <a:r>
              <a:rPr lang="en-CA" altLang="en-US" sz="3200" b="1">
                <a:latin typeface="Calibri" panose="020F0502020204030204" pitchFamily="34" charset="0"/>
              </a:rPr>
              <a:t>must be specified </a:t>
            </a:r>
            <a:r>
              <a:rPr lang="en-CA" altLang="en-US" sz="3200">
                <a:latin typeface="Calibri" panose="020F0502020204030204" pitchFamily="34" charset="0"/>
              </a:rPr>
              <a:t>for every relation</a:t>
            </a: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p:txBody>
      </p:sp>
      <p:sp>
        <p:nvSpPr>
          <p:cNvPr id="26" name="Snip Single Corner Rectangle 25">
            <a:extLst>
              <a:ext uri="{FF2B5EF4-FFF2-40B4-BE49-F238E27FC236}">
                <a16:creationId xmlns:a16="http://schemas.microsoft.com/office/drawing/2014/main" id="{DE4F7908-BE0E-C9CB-07FC-D6D3921DDB8A}"/>
              </a:ext>
            </a:extLst>
          </p:cNvPr>
          <p:cNvSpPr/>
          <p:nvPr/>
        </p:nvSpPr>
        <p:spPr>
          <a:xfrm>
            <a:off x="190500" y="1409700"/>
            <a:ext cx="1728788" cy="401638"/>
          </a:xfrm>
          <a:prstGeom prst="snip1Rect">
            <a:avLst/>
          </a:prstGeom>
          <a:solidFill>
            <a:schemeClr val="accent5">
              <a:alpha val="70000"/>
            </a:schemeClr>
          </a:solidFill>
          <a:ln>
            <a:solidFill>
              <a:schemeClr val="accent5"/>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indent="-342900" algn="just" eaLnBrk="1" hangingPunct="1">
              <a:spcBef>
                <a:spcPct val="20000"/>
              </a:spcBef>
              <a:buClr>
                <a:srgbClr val="FF6600"/>
              </a:buClr>
              <a:buSzPct val="100000"/>
              <a:defRPr/>
            </a:pPr>
            <a:r>
              <a:rPr lang="en-US" dirty="0">
                <a:latin typeface="Arial" pitchFamily="34" charset="0"/>
                <a:ea typeface="Times New Roman" pitchFamily="18" charset="0"/>
                <a:cs typeface="Arial" pitchFamily="34" charset="0"/>
              </a:rPr>
              <a:t>Key Constraint</a:t>
            </a:r>
            <a:endParaRPr lang="en-GB" kern="0" dirty="0">
              <a:solidFill>
                <a:schemeClr val="tx1"/>
              </a:solidFill>
            </a:endParaRPr>
          </a:p>
        </p:txBody>
      </p:sp>
      <p:graphicFrame>
        <p:nvGraphicFramePr>
          <p:cNvPr id="41" name="Table 40">
            <a:extLst>
              <a:ext uri="{FF2B5EF4-FFF2-40B4-BE49-F238E27FC236}">
                <a16:creationId xmlns:a16="http://schemas.microsoft.com/office/drawing/2014/main" id="{233EB55D-3AC5-3E41-0E5C-CA813B2FDFCB}"/>
              </a:ext>
            </a:extLst>
          </p:cNvPr>
          <p:cNvGraphicFramePr>
            <a:graphicFrameLocks noGrp="1"/>
          </p:cNvGraphicFramePr>
          <p:nvPr/>
        </p:nvGraphicFramePr>
        <p:xfrm>
          <a:off x="190500" y="2943225"/>
          <a:ext cx="5732463" cy="1720850"/>
        </p:xfrm>
        <a:graphic>
          <a:graphicData uri="http://schemas.openxmlformats.org/drawingml/2006/table">
            <a:tbl>
              <a:tblPr firstRow="1" bandRow="1">
                <a:tableStyleId>{3B4B98B0-60AC-42C2-AFA5-B58CD77FA1E5}</a:tableStyleId>
              </a:tblPr>
              <a:tblGrid>
                <a:gridCol w="1892921">
                  <a:extLst>
                    <a:ext uri="{9D8B030D-6E8A-4147-A177-3AD203B41FA5}">
                      <a16:colId xmlns:a16="http://schemas.microsoft.com/office/drawing/2014/main" val="20000"/>
                    </a:ext>
                  </a:extLst>
                </a:gridCol>
                <a:gridCol w="1919771">
                  <a:extLst>
                    <a:ext uri="{9D8B030D-6E8A-4147-A177-3AD203B41FA5}">
                      <a16:colId xmlns:a16="http://schemas.microsoft.com/office/drawing/2014/main" val="20001"/>
                    </a:ext>
                  </a:extLst>
                </a:gridCol>
                <a:gridCol w="1919771">
                  <a:extLst>
                    <a:ext uri="{9D8B030D-6E8A-4147-A177-3AD203B41FA5}">
                      <a16:colId xmlns:a16="http://schemas.microsoft.com/office/drawing/2014/main" val="20002"/>
                    </a:ext>
                  </a:extLst>
                </a:gridCol>
              </a:tblGrid>
              <a:tr h="573617">
                <a:tc>
                  <a:txBody>
                    <a:bodyPr/>
                    <a:lstStyle/>
                    <a:p>
                      <a:pPr algn="ctr"/>
                      <a:r>
                        <a:rPr lang="en-CA" sz="1800" dirty="0"/>
                        <a:t>NAME</a:t>
                      </a:r>
                    </a:p>
                  </a:txBody>
                  <a:tcPr marT="45710" marB="45710"/>
                </a:tc>
                <a:tc>
                  <a:txBody>
                    <a:bodyPr/>
                    <a:lstStyle/>
                    <a:p>
                      <a:pPr algn="ctr"/>
                      <a:r>
                        <a:rPr lang="en-CA" sz="1800" dirty="0"/>
                        <a:t>GENDER</a:t>
                      </a:r>
                    </a:p>
                  </a:txBody>
                  <a:tcPr marT="45710" marB="45710"/>
                </a:tc>
                <a:tc>
                  <a:txBody>
                    <a:bodyPr/>
                    <a:lstStyle/>
                    <a:p>
                      <a:pPr algn="ctr"/>
                      <a:r>
                        <a:rPr lang="en-CA" sz="1800" dirty="0"/>
                        <a:t>PROGRAM</a:t>
                      </a:r>
                    </a:p>
                  </a:txBody>
                  <a:tcPr marT="45710" marB="45710"/>
                </a:tc>
                <a:extLst>
                  <a:ext uri="{0D108BD9-81ED-4DB2-BD59-A6C34878D82A}">
                    <a16:rowId xmlns:a16="http://schemas.microsoft.com/office/drawing/2014/main" val="10000"/>
                  </a:ext>
                </a:extLst>
              </a:tr>
              <a:tr h="573617">
                <a:tc>
                  <a:txBody>
                    <a:bodyPr/>
                    <a:lstStyle/>
                    <a:p>
                      <a:pPr algn="ctr"/>
                      <a:r>
                        <a:rPr lang="en-CA" sz="1800" dirty="0"/>
                        <a:t>Talha Amjad</a:t>
                      </a:r>
                    </a:p>
                  </a:txBody>
                  <a:tcPr marT="45710" marB="45710"/>
                </a:tc>
                <a:tc>
                  <a:txBody>
                    <a:bodyPr/>
                    <a:lstStyle/>
                    <a:p>
                      <a:pPr algn="ctr"/>
                      <a:r>
                        <a:rPr lang="en-CA" sz="1800" dirty="0"/>
                        <a:t>Male</a:t>
                      </a:r>
                    </a:p>
                  </a:txBody>
                  <a:tcPr marT="45710" marB="45710"/>
                </a:tc>
                <a:tc>
                  <a:txBody>
                    <a:bodyPr/>
                    <a:lstStyle/>
                    <a:p>
                      <a:pPr algn="ctr"/>
                      <a:r>
                        <a:rPr lang="en-CA" sz="1800" dirty="0"/>
                        <a:t>BSIT</a:t>
                      </a:r>
                    </a:p>
                  </a:txBody>
                  <a:tcPr marT="45710" marB="45710"/>
                </a:tc>
                <a:extLst>
                  <a:ext uri="{0D108BD9-81ED-4DB2-BD59-A6C34878D82A}">
                    <a16:rowId xmlns:a16="http://schemas.microsoft.com/office/drawing/2014/main" val="10001"/>
                  </a:ext>
                </a:extLst>
              </a:tr>
              <a:tr h="573617">
                <a:tc>
                  <a:txBody>
                    <a:bodyPr/>
                    <a:lstStyle/>
                    <a:p>
                      <a:pPr algn="ctr"/>
                      <a:r>
                        <a:rPr lang="en-CA" sz="1800" dirty="0"/>
                        <a:t>Talha Amjad</a:t>
                      </a:r>
                    </a:p>
                  </a:txBody>
                  <a:tcPr marT="45710" marB="45710"/>
                </a:tc>
                <a:tc>
                  <a:txBody>
                    <a:bodyPr/>
                    <a:lstStyle/>
                    <a:p>
                      <a:pPr algn="ctr"/>
                      <a:r>
                        <a:rPr lang="en-CA" sz="1800" dirty="0"/>
                        <a:t>Male</a:t>
                      </a:r>
                    </a:p>
                  </a:txBody>
                  <a:tcPr marT="45710" marB="45710"/>
                </a:tc>
                <a:tc>
                  <a:txBody>
                    <a:bodyPr/>
                    <a:lstStyle/>
                    <a:p>
                      <a:pPr algn="ctr"/>
                      <a:r>
                        <a:rPr lang="en-CA" sz="1800" dirty="0"/>
                        <a:t>BSIT</a:t>
                      </a:r>
                    </a:p>
                  </a:txBody>
                  <a:tcPr marT="45710" marB="45710"/>
                </a:tc>
                <a:extLst>
                  <a:ext uri="{0D108BD9-81ED-4DB2-BD59-A6C34878D82A}">
                    <a16:rowId xmlns:a16="http://schemas.microsoft.com/office/drawing/2014/main" val="10002"/>
                  </a:ext>
                </a:extLst>
              </a:tr>
            </a:tbl>
          </a:graphicData>
        </a:graphic>
      </p:graphicFrame>
      <p:sp>
        <p:nvSpPr>
          <p:cNvPr id="42" name="TextBox 41">
            <a:extLst>
              <a:ext uri="{FF2B5EF4-FFF2-40B4-BE49-F238E27FC236}">
                <a16:creationId xmlns:a16="http://schemas.microsoft.com/office/drawing/2014/main" id="{7ABA1557-4113-2D9E-9420-97F2DE4E9DDD}"/>
              </a:ext>
            </a:extLst>
          </p:cNvPr>
          <p:cNvSpPr txBox="1">
            <a:spLocks noChangeArrowheads="1"/>
          </p:cNvSpPr>
          <p:nvPr/>
        </p:nvSpPr>
        <p:spPr bwMode="auto">
          <a:xfrm>
            <a:off x="1936750" y="4672013"/>
            <a:ext cx="22415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CA" altLang="en-US"/>
              <a:t>Student relation</a:t>
            </a:r>
          </a:p>
        </p:txBody>
      </p:sp>
      <p:grpSp>
        <p:nvGrpSpPr>
          <p:cNvPr id="3" name="Group 4">
            <a:extLst>
              <a:ext uri="{FF2B5EF4-FFF2-40B4-BE49-F238E27FC236}">
                <a16:creationId xmlns:a16="http://schemas.microsoft.com/office/drawing/2014/main" id="{57D62A39-ABD4-40C6-C6F5-CFDF5016DCE6}"/>
              </a:ext>
            </a:extLst>
          </p:cNvPr>
          <p:cNvGrpSpPr>
            <a:grpSpLocks/>
          </p:cNvGrpSpPr>
          <p:nvPr/>
        </p:nvGrpSpPr>
        <p:grpSpPr bwMode="auto">
          <a:xfrm>
            <a:off x="5964238" y="3505200"/>
            <a:ext cx="2570162" cy="1143000"/>
            <a:chOff x="6156176" y="3510300"/>
            <a:chExt cx="2836234" cy="1142836"/>
          </a:xfrm>
        </p:grpSpPr>
        <p:sp>
          <p:nvSpPr>
            <p:cNvPr id="12309" name="Right Brace 2">
              <a:extLst>
                <a:ext uri="{FF2B5EF4-FFF2-40B4-BE49-F238E27FC236}">
                  <a16:creationId xmlns:a16="http://schemas.microsoft.com/office/drawing/2014/main" id="{854C78F8-B6A9-C797-0557-EFE57FE5C2EE}"/>
                </a:ext>
              </a:extLst>
            </p:cNvPr>
            <p:cNvSpPr>
              <a:spLocks/>
            </p:cNvSpPr>
            <p:nvPr/>
          </p:nvSpPr>
          <p:spPr bwMode="auto">
            <a:xfrm>
              <a:off x="6156176" y="3510300"/>
              <a:ext cx="319480" cy="1142836"/>
            </a:xfrm>
            <a:prstGeom prst="rightBrace">
              <a:avLst>
                <a:gd name="adj1" fmla="val 8330"/>
                <a:gd name="adj2" fmla="val 50000"/>
              </a:avLst>
            </a:prstGeom>
            <a:solidFill>
              <a:schemeClr val="bg1"/>
            </a:solidFill>
            <a:ln w="9525" algn="ctr">
              <a:solidFill>
                <a:schemeClr val="tx1"/>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endParaRPr lang="en-CA" altLang="en-US"/>
            </a:p>
          </p:txBody>
        </p:sp>
        <p:sp>
          <p:nvSpPr>
            <p:cNvPr id="12310" name="TextBox 3">
              <a:extLst>
                <a:ext uri="{FF2B5EF4-FFF2-40B4-BE49-F238E27FC236}">
                  <a16:creationId xmlns:a16="http://schemas.microsoft.com/office/drawing/2014/main" id="{308B065E-9EDA-537C-42A0-E779C890806D}"/>
                </a:ext>
              </a:extLst>
            </p:cNvPr>
            <p:cNvSpPr txBox="1">
              <a:spLocks noChangeArrowheads="1"/>
            </p:cNvSpPr>
            <p:nvPr/>
          </p:nvSpPr>
          <p:spPr bwMode="auto">
            <a:xfrm>
              <a:off x="6488293" y="3620053"/>
              <a:ext cx="2504117"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CA" altLang="en-US"/>
                <a:t>Is this a mistake or are there 2 </a:t>
              </a:r>
              <a:r>
                <a:rPr lang="en-CA" altLang="en-US" b="1"/>
                <a:t>Talha Amjad</a:t>
              </a:r>
            </a:p>
            <a:p>
              <a:r>
                <a:rPr lang="en-CA" altLang="en-US"/>
                <a:t>studying BSIT?</a:t>
              </a:r>
            </a:p>
          </p:txBody>
        </p:sp>
      </p:grpSp>
      <p:sp>
        <p:nvSpPr>
          <p:cNvPr id="30" name="Content Placeholder 2">
            <a:extLst>
              <a:ext uri="{FF2B5EF4-FFF2-40B4-BE49-F238E27FC236}">
                <a16:creationId xmlns:a16="http://schemas.microsoft.com/office/drawing/2014/main" id="{59C11E73-F222-E0D7-00BF-448B5159B0E9}"/>
              </a:ext>
            </a:extLst>
          </p:cNvPr>
          <p:cNvSpPr txBox="1">
            <a:spLocks/>
          </p:cNvSpPr>
          <p:nvPr/>
        </p:nvSpPr>
        <p:spPr bwMode="auto">
          <a:xfrm>
            <a:off x="190500" y="5030788"/>
            <a:ext cx="7962900" cy="1293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rgbClr val="FF6600"/>
              </a:buClr>
              <a:buFont typeface="Wingdings 3" panose="05040102010807070707" pitchFamily="18" charset="2"/>
              <a:buNone/>
            </a:pPr>
            <a:r>
              <a:rPr lang="en-CA" altLang="en-US" sz="2800">
                <a:latin typeface="Calibri" panose="020F0502020204030204" pitchFamily="34" charset="0"/>
              </a:rPr>
              <a:t>If the relation has a primary key such as student Id, we can check the student Id to determine whether there are 2 Talha Amjad or just one</a:t>
            </a:r>
          </a:p>
          <a:p>
            <a:pPr algn="just" eaLnBrk="1" hangingPunct="1">
              <a:spcBef>
                <a:spcPct val="20000"/>
              </a:spcBef>
              <a:buClr>
                <a:srgbClr val="FF6600"/>
              </a:buClr>
              <a:buFont typeface="Wingdings 3" panose="05040102010807070707" pitchFamily="18" charset="2"/>
              <a:buNone/>
            </a:pPr>
            <a:endParaRPr lang="en-CA" altLang="en-US" sz="32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3200">
              <a:latin typeface="Calibri" panose="020F0502020204030204" pitchFamily="3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4">
                                            <p:txEl>
                                              <p:pRg st="0" end="0"/>
                                            </p:txEl>
                                          </p:spTgt>
                                        </p:tgtEl>
                                        <p:attrNameLst>
                                          <p:attrName>style.visibility</p:attrName>
                                        </p:attrNameLst>
                                      </p:cBhvr>
                                      <p:to>
                                        <p:strVal val="visible"/>
                                      </p:to>
                                    </p:set>
                                    <p:animEffect transition="in" filter="wipe(left)">
                                      <p:cBhvr>
                                        <p:cTn id="7" dur="500"/>
                                        <p:tgtEl>
                                          <p:spTgt spid="2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41"/>
                                        </p:tgtEl>
                                        <p:attrNameLst>
                                          <p:attrName>style.visibility</p:attrName>
                                        </p:attrNameLst>
                                      </p:cBhvr>
                                      <p:to>
                                        <p:strVal val="visible"/>
                                      </p:to>
                                    </p:set>
                                    <p:animEffect transition="in" filter="wipe(up)">
                                      <p:cBhvr>
                                        <p:cTn id="12" dur="500"/>
                                        <p:tgtEl>
                                          <p:spTgt spid="41"/>
                                        </p:tgtEl>
                                      </p:cBhvr>
                                    </p:animEffect>
                                  </p:childTnLst>
                                </p:cTn>
                              </p:par>
                            </p:childTnLst>
                          </p:cTn>
                        </p:par>
                        <p:par>
                          <p:cTn id="13" fill="hold" nodeType="afterGroup">
                            <p:stCondLst>
                              <p:cond delay="500"/>
                            </p:stCondLst>
                            <p:childTnLst>
                              <p:par>
                                <p:cTn id="14" presetID="22" presetClass="entr" presetSubtype="1" fill="hold" grpId="0" nodeType="afterEffect">
                                  <p:stCondLst>
                                    <p:cond delay="0"/>
                                  </p:stCondLst>
                                  <p:childTnLst>
                                    <p:set>
                                      <p:cBhvr>
                                        <p:cTn id="15" dur="1" fill="hold">
                                          <p:stCondLst>
                                            <p:cond delay="0"/>
                                          </p:stCondLst>
                                        </p:cTn>
                                        <p:tgtEl>
                                          <p:spTgt spid="42"/>
                                        </p:tgtEl>
                                        <p:attrNameLst>
                                          <p:attrName>style.visibility</p:attrName>
                                        </p:attrNameLst>
                                      </p:cBhvr>
                                      <p:to>
                                        <p:strVal val="visible"/>
                                      </p:to>
                                    </p:set>
                                    <p:animEffect transition="in" filter="wipe(up)">
                                      <p:cBhvr>
                                        <p:cTn id="16" dur="500"/>
                                        <p:tgtEl>
                                          <p:spTgt spid="42"/>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fade">
                                      <p:cBhvr>
                                        <p:cTn id="21" dur="1000"/>
                                        <p:tgtEl>
                                          <p:spTgt spid="3"/>
                                        </p:tgtEl>
                                      </p:cBhvr>
                                    </p:animEffect>
                                    <p:anim calcmode="lin" valueType="num">
                                      <p:cBhvr>
                                        <p:cTn id="22" dur="1000" fill="hold"/>
                                        <p:tgtEl>
                                          <p:spTgt spid="3"/>
                                        </p:tgtEl>
                                        <p:attrNameLst>
                                          <p:attrName>ppt_x</p:attrName>
                                        </p:attrNameLst>
                                      </p:cBhvr>
                                      <p:tavLst>
                                        <p:tav tm="0">
                                          <p:val>
                                            <p:strVal val="#ppt_x"/>
                                          </p:val>
                                        </p:tav>
                                        <p:tav tm="100000">
                                          <p:val>
                                            <p:strVal val="#ppt_x"/>
                                          </p:val>
                                        </p:tav>
                                      </p:tavLst>
                                    </p:anim>
                                    <p:anim calcmode="lin" valueType="num">
                                      <p:cBhvr>
                                        <p:cTn id="23"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30">
                                            <p:txEl>
                                              <p:pRg st="0" end="0"/>
                                            </p:txEl>
                                          </p:spTgt>
                                        </p:tgtEl>
                                        <p:attrNameLst>
                                          <p:attrName>style.visibility</p:attrName>
                                        </p:attrNameLst>
                                      </p:cBhvr>
                                      <p:to>
                                        <p:strVal val="visible"/>
                                      </p:to>
                                    </p:set>
                                    <p:animEffect transition="in" filter="wipe(left)">
                                      <p:cBhvr>
                                        <p:cTn id="28" dur="500"/>
                                        <p:tgtEl>
                                          <p:spTgt spid="3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build="p"/>
      <p:bldP spid="42" grpId="0"/>
      <p:bldP spid="30" grpId="0" build="p"/>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AA7294-6ABA-D434-7C89-948D1D6E7C7E}"/>
              </a:ext>
            </a:extLst>
          </p:cNvPr>
          <p:cNvSpPr>
            <a:spLocks noGrp="1"/>
          </p:cNvSpPr>
          <p:nvPr>
            <p:ph type="title"/>
          </p:nvPr>
        </p:nvSpPr>
        <p:spPr>
          <a:xfrm>
            <a:off x="457200" y="0"/>
            <a:ext cx="7620000" cy="1143000"/>
          </a:xfrm>
        </p:spPr>
        <p:txBody>
          <a:bodyPr/>
          <a:lstStyle/>
          <a:p>
            <a:pPr algn="ctr">
              <a:defRPr/>
            </a:pPr>
            <a:r>
              <a:rPr lang="en-US" dirty="0"/>
              <a:t>Relational Constraints</a:t>
            </a:r>
            <a:endParaRPr lang="en-CA" dirty="0"/>
          </a:p>
        </p:txBody>
      </p:sp>
      <p:sp>
        <p:nvSpPr>
          <p:cNvPr id="24" name="Content Placeholder 2">
            <a:extLst>
              <a:ext uri="{FF2B5EF4-FFF2-40B4-BE49-F238E27FC236}">
                <a16:creationId xmlns:a16="http://schemas.microsoft.com/office/drawing/2014/main" id="{A2C15DA7-C589-9FE5-FD8A-D58E84542ADB}"/>
              </a:ext>
            </a:extLst>
          </p:cNvPr>
          <p:cNvSpPr txBox="1">
            <a:spLocks/>
          </p:cNvSpPr>
          <p:nvPr/>
        </p:nvSpPr>
        <p:spPr bwMode="auto">
          <a:xfrm>
            <a:off x="393700" y="1773238"/>
            <a:ext cx="7704138" cy="1493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rgbClr val="FF6600"/>
              </a:buClr>
              <a:buFont typeface="Wingdings 3" panose="05040102010807070707" pitchFamily="18" charset="2"/>
              <a:buNone/>
            </a:pPr>
            <a:r>
              <a:rPr lang="en-CA" altLang="en-US" sz="3200">
                <a:latin typeface="Calibri" panose="020F0502020204030204" pitchFamily="34" charset="0"/>
              </a:rPr>
              <a:t>A relational DBMS will check each primary key value to ensure that it is unique. This is known as enforcing key constraint</a:t>
            </a:r>
            <a:endParaRPr lang="en-CA" altLang="en-US" sz="3200" b="1">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32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32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32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40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p:txBody>
      </p:sp>
      <p:sp>
        <p:nvSpPr>
          <p:cNvPr id="26" name="Snip Single Corner Rectangle 25">
            <a:extLst>
              <a:ext uri="{FF2B5EF4-FFF2-40B4-BE49-F238E27FC236}">
                <a16:creationId xmlns:a16="http://schemas.microsoft.com/office/drawing/2014/main" id="{798D0FC4-CE6F-43F9-2DC4-F57BEC763B99}"/>
              </a:ext>
            </a:extLst>
          </p:cNvPr>
          <p:cNvSpPr/>
          <p:nvPr/>
        </p:nvSpPr>
        <p:spPr>
          <a:xfrm>
            <a:off x="228600" y="1365250"/>
            <a:ext cx="1728788" cy="401638"/>
          </a:xfrm>
          <a:prstGeom prst="snip1Rect">
            <a:avLst/>
          </a:prstGeom>
          <a:solidFill>
            <a:schemeClr val="accent5">
              <a:alpha val="70000"/>
            </a:schemeClr>
          </a:solidFill>
          <a:ln>
            <a:solidFill>
              <a:schemeClr val="accent5"/>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indent="-342900" algn="just" eaLnBrk="1" hangingPunct="1">
              <a:spcBef>
                <a:spcPct val="20000"/>
              </a:spcBef>
              <a:buClr>
                <a:srgbClr val="FF6600"/>
              </a:buClr>
              <a:buSzPct val="100000"/>
              <a:defRPr/>
            </a:pPr>
            <a:r>
              <a:rPr lang="en-US" dirty="0">
                <a:latin typeface="Arial" pitchFamily="34" charset="0"/>
                <a:ea typeface="Times New Roman" pitchFamily="18" charset="0"/>
                <a:cs typeface="Arial" pitchFamily="34" charset="0"/>
              </a:rPr>
              <a:t>Key Constraint</a:t>
            </a:r>
            <a:endParaRPr lang="en-GB" kern="0" dirty="0">
              <a:solidFill>
                <a:schemeClr val="tx1"/>
              </a:solidFill>
            </a:endParaRPr>
          </a:p>
        </p:txBody>
      </p:sp>
      <p:graphicFrame>
        <p:nvGraphicFramePr>
          <p:cNvPr id="41" name="Table 40">
            <a:extLst>
              <a:ext uri="{FF2B5EF4-FFF2-40B4-BE49-F238E27FC236}">
                <a16:creationId xmlns:a16="http://schemas.microsoft.com/office/drawing/2014/main" id="{A824149F-4140-AE9F-E91B-0F38437DCC3F}"/>
              </a:ext>
            </a:extLst>
          </p:cNvPr>
          <p:cNvGraphicFramePr>
            <a:graphicFrameLocks noGrp="1"/>
          </p:cNvGraphicFramePr>
          <p:nvPr/>
        </p:nvGraphicFramePr>
        <p:xfrm>
          <a:off x="393700" y="3500438"/>
          <a:ext cx="3408363" cy="2295524"/>
        </p:xfrm>
        <a:graphic>
          <a:graphicData uri="http://schemas.openxmlformats.org/drawingml/2006/table">
            <a:tbl>
              <a:tblPr firstRow="1" bandRow="1">
                <a:tableStyleId>{3B4B98B0-60AC-42C2-AFA5-B58CD77FA1E5}</a:tableStyleId>
              </a:tblPr>
              <a:tblGrid>
                <a:gridCol w="1692181">
                  <a:extLst>
                    <a:ext uri="{9D8B030D-6E8A-4147-A177-3AD203B41FA5}">
                      <a16:colId xmlns:a16="http://schemas.microsoft.com/office/drawing/2014/main" val="20000"/>
                    </a:ext>
                  </a:extLst>
                </a:gridCol>
                <a:gridCol w="1716182">
                  <a:extLst>
                    <a:ext uri="{9D8B030D-6E8A-4147-A177-3AD203B41FA5}">
                      <a16:colId xmlns:a16="http://schemas.microsoft.com/office/drawing/2014/main" val="20001"/>
                    </a:ext>
                  </a:extLst>
                </a:gridCol>
              </a:tblGrid>
              <a:tr h="573881">
                <a:tc>
                  <a:txBody>
                    <a:bodyPr/>
                    <a:lstStyle/>
                    <a:p>
                      <a:pPr algn="ctr"/>
                      <a:r>
                        <a:rPr lang="en-CA" sz="1800" dirty="0"/>
                        <a:t>STUDENTID</a:t>
                      </a:r>
                    </a:p>
                  </a:txBody>
                  <a:tcPr marT="45731" marB="45731"/>
                </a:tc>
                <a:tc>
                  <a:txBody>
                    <a:bodyPr/>
                    <a:lstStyle/>
                    <a:p>
                      <a:pPr algn="ctr"/>
                      <a:r>
                        <a:rPr lang="en-CA" sz="1800" dirty="0"/>
                        <a:t>NAME</a:t>
                      </a:r>
                    </a:p>
                  </a:txBody>
                  <a:tcPr marT="45731" marB="45731"/>
                </a:tc>
                <a:extLst>
                  <a:ext uri="{0D108BD9-81ED-4DB2-BD59-A6C34878D82A}">
                    <a16:rowId xmlns:a16="http://schemas.microsoft.com/office/drawing/2014/main" val="10000"/>
                  </a:ext>
                </a:extLst>
              </a:tr>
              <a:tr h="573881">
                <a:tc>
                  <a:txBody>
                    <a:bodyPr/>
                    <a:lstStyle/>
                    <a:p>
                      <a:pPr algn="ctr"/>
                      <a:r>
                        <a:rPr lang="en-CA" sz="1800" dirty="0"/>
                        <a:t>1</a:t>
                      </a:r>
                    </a:p>
                  </a:txBody>
                  <a:tcPr marT="45731" marB="45731"/>
                </a:tc>
                <a:tc>
                  <a:txBody>
                    <a:bodyPr/>
                    <a:lstStyle/>
                    <a:p>
                      <a:r>
                        <a:rPr lang="en-CA" sz="1800" dirty="0"/>
                        <a:t>Talha Amjad</a:t>
                      </a:r>
                    </a:p>
                  </a:txBody>
                  <a:tcPr marT="45731" marB="45731"/>
                </a:tc>
                <a:extLst>
                  <a:ext uri="{0D108BD9-81ED-4DB2-BD59-A6C34878D82A}">
                    <a16:rowId xmlns:a16="http://schemas.microsoft.com/office/drawing/2014/main" val="10001"/>
                  </a:ext>
                </a:extLst>
              </a:tr>
              <a:tr h="573881">
                <a:tc>
                  <a:txBody>
                    <a:bodyPr/>
                    <a:lstStyle/>
                    <a:p>
                      <a:pPr algn="ctr"/>
                      <a:r>
                        <a:rPr lang="en-CA" sz="1800" dirty="0"/>
                        <a:t>2</a:t>
                      </a:r>
                    </a:p>
                  </a:txBody>
                  <a:tcPr marT="45731" marB="45731"/>
                </a:tc>
                <a:tc>
                  <a:txBody>
                    <a:bodyPr/>
                    <a:lstStyle/>
                    <a:p>
                      <a:r>
                        <a:rPr lang="en-CA" sz="1800" dirty="0"/>
                        <a:t>Sara Saleem</a:t>
                      </a:r>
                    </a:p>
                  </a:txBody>
                  <a:tcPr marT="45731" marB="45731"/>
                </a:tc>
                <a:extLst>
                  <a:ext uri="{0D108BD9-81ED-4DB2-BD59-A6C34878D82A}">
                    <a16:rowId xmlns:a16="http://schemas.microsoft.com/office/drawing/2014/main" val="10002"/>
                  </a:ext>
                </a:extLst>
              </a:tr>
              <a:tr h="573881">
                <a:tc>
                  <a:txBody>
                    <a:bodyPr/>
                    <a:lstStyle/>
                    <a:p>
                      <a:pPr algn="ctr"/>
                      <a:endParaRPr lang="en-CA" sz="1800" dirty="0"/>
                    </a:p>
                  </a:txBody>
                  <a:tcPr marT="45731" marB="45731"/>
                </a:tc>
                <a:tc>
                  <a:txBody>
                    <a:bodyPr/>
                    <a:lstStyle/>
                    <a:p>
                      <a:endParaRPr lang="en-CA" sz="1800" dirty="0"/>
                    </a:p>
                  </a:txBody>
                  <a:tcPr marT="45731" marB="45731"/>
                </a:tc>
                <a:extLst>
                  <a:ext uri="{0D108BD9-81ED-4DB2-BD59-A6C34878D82A}">
                    <a16:rowId xmlns:a16="http://schemas.microsoft.com/office/drawing/2014/main" val="10003"/>
                  </a:ext>
                </a:extLst>
              </a:tr>
            </a:tbl>
          </a:graphicData>
        </a:graphic>
      </p:graphicFrame>
      <p:sp>
        <p:nvSpPr>
          <p:cNvPr id="42" name="TextBox 41">
            <a:extLst>
              <a:ext uri="{FF2B5EF4-FFF2-40B4-BE49-F238E27FC236}">
                <a16:creationId xmlns:a16="http://schemas.microsoft.com/office/drawing/2014/main" id="{4212BC07-D672-4781-56A9-CCFBB6958713}"/>
              </a:ext>
            </a:extLst>
          </p:cNvPr>
          <p:cNvSpPr txBox="1">
            <a:spLocks noChangeArrowheads="1"/>
          </p:cNvSpPr>
          <p:nvPr/>
        </p:nvSpPr>
        <p:spPr bwMode="auto">
          <a:xfrm>
            <a:off x="976313" y="5795963"/>
            <a:ext cx="22415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CA" altLang="en-US"/>
              <a:t>Student relation</a:t>
            </a:r>
          </a:p>
        </p:txBody>
      </p:sp>
      <p:grpSp>
        <p:nvGrpSpPr>
          <p:cNvPr id="3" name="Group 6">
            <a:extLst>
              <a:ext uri="{FF2B5EF4-FFF2-40B4-BE49-F238E27FC236}">
                <a16:creationId xmlns:a16="http://schemas.microsoft.com/office/drawing/2014/main" id="{08D93121-D4CC-5D38-E91D-F68F6FD5AA30}"/>
              </a:ext>
            </a:extLst>
          </p:cNvPr>
          <p:cNvGrpSpPr>
            <a:grpSpLocks/>
          </p:cNvGrpSpPr>
          <p:nvPr/>
        </p:nvGrpSpPr>
        <p:grpSpPr bwMode="auto">
          <a:xfrm>
            <a:off x="2913063" y="3754438"/>
            <a:ext cx="5184775" cy="1787525"/>
            <a:chOff x="3131842" y="4115717"/>
            <a:chExt cx="5184574" cy="1786818"/>
          </a:xfrm>
        </p:grpSpPr>
        <p:sp>
          <p:nvSpPr>
            <p:cNvPr id="43" name="Rectangle 42">
              <a:extLst>
                <a:ext uri="{FF2B5EF4-FFF2-40B4-BE49-F238E27FC236}">
                  <a16:creationId xmlns:a16="http://schemas.microsoft.com/office/drawing/2014/main" id="{B1289AF1-2FF1-11C3-8BA8-F052F844ABAA}"/>
                </a:ext>
              </a:extLst>
            </p:cNvPr>
            <p:cNvSpPr/>
            <p:nvPr/>
          </p:nvSpPr>
          <p:spPr bwMode="auto">
            <a:xfrm>
              <a:off x="4547837" y="4115717"/>
              <a:ext cx="3768579" cy="1786818"/>
            </a:xfrm>
            <a:prstGeom prst="rect">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anchor="ctr" anchorCtr="1"/>
            <a:lstStyle/>
            <a:p>
              <a:pPr algn="ctr">
                <a:defRPr/>
              </a:pPr>
              <a:r>
                <a:rPr lang="en-CA" dirty="0">
                  <a:solidFill>
                    <a:schemeClr val="tx1"/>
                  </a:solidFill>
                  <a:latin typeface="Arial" charset="0"/>
                </a:rPr>
                <a:t>If you try to enter STUDENTID = 2 and NAME = </a:t>
              </a:r>
              <a:r>
                <a:rPr lang="en-CA" dirty="0"/>
                <a:t>Aqib Ali</a:t>
              </a:r>
              <a:r>
                <a:rPr lang="en-CA" dirty="0">
                  <a:solidFill>
                    <a:schemeClr val="tx1"/>
                  </a:solidFill>
                  <a:latin typeface="Arial" charset="0"/>
                </a:rPr>
                <a:t>, the relational DBMS would enforce key constraint and denied your data entry since STUDENTID is a primary key</a:t>
              </a:r>
            </a:p>
          </p:txBody>
        </p:sp>
        <p:cxnSp>
          <p:nvCxnSpPr>
            <p:cNvPr id="45" name="Straight Arrow Connector 44">
              <a:extLst>
                <a:ext uri="{FF2B5EF4-FFF2-40B4-BE49-F238E27FC236}">
                  <a16:creationId xmlns:a16="http://schemas.microsoft.com/office/drawing/2014/main" id="{DC000F85-ABD0-AF94-6039-45B9C4ED8367}"/>
                </a:ext>
              </a:extLst>
            </p:cNvPr>
            <p:cNvCxnSpPr/>
            <p:nvPr/>
          </p:nvCxnSpPr>
          <p:spPr bwMode="auto">
            <a:xfrm flipH="1">
              <a:off x="3131842" y="5602616"/>
              <a:ext cx="1446156" cy="239618"/>
            </a:xfrm>
            <a:prstGeom prst="straightConnector1">
              <a:avLst/>
            </a:prstGeom>
            <a:ln>
              <a:headEnd type="none" w="med" len="med"/>
              <a:tailEnd type="arrow"/>
            </a:ln>
          </p:spPr>
          <p:style>
            <a:lnRef idx="1">
              <a:schemeClr val="accent6"/>
            </a:lnRef>
            <a:fillRef idx="2">
              <a:schemeClr val="accent6"/>
            </a:fillRef>
            <a:effectRef idx="1">
              <a:schemeClr val="accent6"/>
            </a:effectRef>
            <a:fontRef idx="minor">
              <a:schemeClr val="dk1"/>
            </a:fontRef>
          </p:style>
        </p:cxnSp>
      </p:grpSp>
      <p:cxnSp>
        <p:nvCxnSpPr>
          <p:cNvPr id="48" name="Straight Connector 47">
            <a:extLst>
              <a:ext uri="{FF2B5EF4-FFF2-40B4-BE49-F238E27FC236}">
                <a16:creationId xmlns:a16="http://schemas.microsoft.com/office/drawing/2014/main" id="{A1CA4A8F-2215-4204-774C-8FD8AC51D2CD}"/>
              </a:ext>
            </a:extLst>
          </p:cNvPr>
          <p:cNvCxnSpPr/>
          <p:nvPr/>
        </p:nvCxnSpPr>
        <p:spPr bwMode="auto">
          <a:xfrm>
            <a:off x="585788" y="3836988"/>
            <a:ext cx="1295400" cy="0"/>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4">
                                            <p:txEl>
                                              <p:pRg st="0" end="0"/>
                                            </p:txEl>
                                          </p:spTgt>
                                        </p:tgtEl>
                                        <p:attrNameLst>
                                          <p:attrName>style.visibility</p:attrName>
                                        </p:attrNameLst>
                                      </p:cBhvr>
                                      <p:to>
                                        <p:strVal val="visible"/>
                                      </p:to>
                                    </p:set>
                                    <p:animEffect transition="in" filter="wipe(left)">
                                      <p:cBhvr>
                                        <p:cTn id="7" dur="500"/>
                                        <p:tgtEl>
                                          <p:spTgt spid="2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41"/>
                                        </p:tgtEl>
                                        <p:attrNameLst>
                                          <p:attrName>style.visibility</p:attrName>
                                        </p:attrNameLst>
                                      </p:cBhvr>
                                      <p:to>
                                        <p:strVal val="visible"/>
                                      </p:to>
                                    </p:set>
                                    <p:animEffect transition="in" filter="wipe(up)">
                                      <p:cBhvr>
                                        <p:cTn id="12" dur="500"/>
                                        <p:tgtEl>
                                          <p:spTgt spid="41"/>
                                        </p:tgtEl>
                                      </p:cBhvr>
                                    </p:animEffect>
                                  </p:childTnLst>
                                </p:cTn>
                              </p:par>
                            </p:childTnLst>
                          </p:cTn>
                        </p:par>
                        <p:par>
                          <p:cTn id="13" fill="hold" nodeType="afterGroup">
                            <p:stCondLst>
                              <p:cond delay="500"/>
                            </p:stCondLst>
                            <p:childTnLst>
                              <p:par>
                                <p:cTn id="14" presetID="22" presetClass="entr" presetSubtype="1" fill="hold" grpId="0" nodeType="afterEffect">
                                  <p:stCondLst>
                                    <p:cond delay="0"/>
                                  </p:stCondLst>
                                  <p:childTnLst>
                                    <p:set>
                                      <p:cBhvr>
                                        <p:cTn id="15" dur="1" fill="hold">
                                          <p:stCondLst>
                                            <p:cond delay="0"/>
                                          </p:stCondLst>
                                        </p:cTn>
                                        <p:tgtEl>
                                          <p:spTgt spid="42"/>
                                        </p:tgtEl>
                                        <p:attrNameLst>
                                          <p:attrName>style.visibility</p:attrName>
                                        </p:attrNameLst>
                                      </p:cBhvr>
                                      <p:to>
                                        <p:strVal val="visible"/>
                                      </p:to>
                                    </p:set>
                                    <p:animEffect transition="in" filter="wipe(up)">
                                      <p:cBhvr>
                                        <p:cTn id="16" dur="500"/>
                                        <p:tgtEl>
                                          <p:spTgt spid="42"/>
                                        </p:tgtEl>
                                      </p:cBhvr>
                                    </p:animEffect>
                                  </p:childTnLst>
                                </p:cTn>
                              </p:par>
                            </p:childTnLst>
                          </p:cTn>
                        </p:par>
                        <p:par>
                          <p:cTn id="17" fill="hold" nodeType="afterGroup">
                            <p:stCondLst>
                              <p:cond delay="1000"/>
                            </p:stCondLst>
                            <p:childTnLst>
                              <p:par>
                                <p:cTn id="18" presetID="22" presetClass="entr" presetSubtype="8" fill="hold" nodeType="afterEffect">
                                  <p:stCondLst>
                                    <p:cond delay="0"/>
                                  </p:stCondLst>
                                  <p:childTnLst>
                                    <p:set>
                                      <p:cBhvr>
                                        <p:cTn id="19" dur="1" fill="hold">
                                          <p:stCondLst>
                                            <p:cond delay="0"/>
                                          </p:stCondLst>
                                        </p:cTn>
                                        <p:tgtEl>
                                          <p:spTgt spid="48"/>
                                        </p:tgtEl>
                                        <p:attrNameLst>
                                          <p:attrName>style.visibility</p:attrName>
                                        </p:attrNameLst>
                                      </p:cBhvr>
                                      <p:to>
                                        <p:strVal val="visible"/>
                                      </p:to>
                                    </p:set>
                                    <p:animEffect transition="in" filter="wipe(left)">
                                      <p:cBhvr>
                                        <p:cTn id="20" dur="500"/>
                                        <p:tgtEl>
                                          <p:spTgt spid="48"/>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3"/>
                                        </p:tgtEl>
                                        <p:attrNameLst>
                                          <p:attrName>style.visibility</p:attrName>
                                        </p:attrNameLst>
                                      </p:cBhvr>
                                      <p:to>
                                        <p:strVal val="visible"/>
                                      </p:to>
                                    </p:set>
                                    <p:anim calcmode="lin" valueType="num">
                                      <p:cBhvr additive="base">
                                        <p:cTn id="25" dur="500" fill="hold"/>
                                        <p:tgtEl>
                                          <p:spTgt spid="3"/>
                                        </p:tgtEl>
                                        <p:attrNameLst>
                                          <p:attrName>ppt_x</p:attrName>
                                        </p:attrNameLst>
                                      </p:cBhvr>
                                      <p:tavLst>
                                        <p:tav tm="0">
                                          <p:val>
                                            <p:strVal val="#ppt_x"/>
                                          </p:val>
                                        </p:tav>
                                        <p:tav tm="100000">
                                          <p:val>
                                            <p:strVal val="#ppt_x"/>
                                          </p:val>
                                        </p:tav>
                                      </p:tavLst>
                                    </p:anim>
                                    <p:anim calcmode="lin" valueType="num">
                                      <p:cBhvr additive="base">
                                        <p:cTn id="26"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build="p"/>
      <p:bldP spid="42"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1DBE1-76DF-DE55-881E-41BABA59DC3D}"/>
              </a:ext>
            </a:extLst>
          </p:cNvPr>
          <p:cNvSpPr>
            <a:spLocks noGrp="1"/>
          </p:cNvSpPr>
          <p:nvPr>
            <p:ph type="title"/>
          </p:nvPr>
        </p:nvSpPr>
        <p:spPr>
          <a:xfrm>
            <a:off x="457200" y="0"/>
            <a:ext cx="7620000" cy="1143000"/>
          </a:xfrm>
        </p:spPr>
        <p:txBody>
          <a:bodyPr/>
          <a:lstStyle/>
          <a:p>
            <a:pPr algn="ctr">
              <a:defRPr/>
            </a:pPr>
            <a:r>
              <a:rPr lang="en-US" dirty="0"/>
              <a:t>Relational Constraints</a:t>
            </a:r>
            <a:endParaRPr lang="en-CA" dirty="0"/>
          </a:p>
        </p:txBody>
      </p:sp>
      <p:sp>
        <p:nvSpPr>
          <p:cNvPr id="24" name="Content Placeholder 2">
            <a:extLst>
              <a:ext uri="{FF2B5EF4-FFF2-40B4-BE49-F238E27FC236}">
                <a16:creationId xmlns:a16="http://schemas.microsoft.com/office/drawing/2014/main" id="{9A7B285C-A3BC-D21B-27A4-E74291805C4A}"/>
              </a:ext>
            </a:extLst>
          </p:cNvPr>
          <p:cNvSpPr txBox="1">
            <a:spLocks/>
          </p:cNvSpPr>
          <p:nvPr/>
        </p:nvSpPr>
        <p:spPr bwMode="auto">
          <a:xfrm>
            <a:off x="228600" y="1773238"/>
            <a:ext cx="8001000" cy="201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rgbClr val="FF6600"/>
              </a:buClr>
              <a:buFont typeface="Wingdings 3" panose="05040102010807070707" pitchFamily="18" charset="2"/>
              <a:buNone/>
            </a:pPr>
            <a:r>
              <a:rPr lang="en-US" altLang="en-US" sz="3200">
                <a:latin typeface="Calibri" panose="020F0502020204030204" pitchFamily="34" charset="0"/>
              </a:rPr>
              <a:t>A relational DBMS </a:t>
            </a:r>
            <a:r>
              <a:rPr lang="en-CA" altLang="en-US" sz="3200">
                <a:latin typeface="Calibri" panose="020F0502020204030204" pitchFamily="34" charset="0"/>
              </a:rPr>
              <a:t>will check each primary key value to ensure that it is not NULL since NULL is not unique. This is known as enforcing entity integrity constraint</a:t>
            </a:r>
          </a:p>
          <a:p>
            <a:pPr eaLnBrk="1" hangingPunct="1">
              <a:spcBef>
                <a:spcPct val="20000"/>
              </a:spcBef>
              <a:buClr>
                <a:srgbClr val="FF6600"/>
              </a:buClr>
              <a:buFont typeface="Wingdings 3" panose="05040102010807070707" pitchFamily="18" charset="2"/>
              <a:buNone/>
            </a:pPr>
            <a:endParaRPr lang="en-CA" altLang="en-US" sz="3200">
              <a:latin typeface="Calibri" panose="020F0502020204030204" pitchFamily="34" charset="0"/>
            </a:endParaRPr>
          </a:p>
          <a:p>
            <a:pPr eaLnBrk="1" hangingPunct="1">
              <a:spcBef>
                <a:spcPct val="20000"/>
              </a:spcBef>
              <a:buClr>
                <a:srgbClr val="FF6600"/>
              </a:buClr>
              <a:buFont typeface="Wingdings 3" panose="05040102010807070707" pitchFamily="18" charset="2"/>
              <a:buNone/>
            </a:pPr>
            <a:endParaRPr lang="en-CA" altLang="en-US" sz="3200">
              <a:latin typeface="Calibri" panose="020F0502020204030204" pitchFamily="34" charset="0"/>
            </a:endParaRPr>
          </a:p>
          <a:p>
            <a:pPr eaLnBrk="1" hangingPunct="1">
              <a:spcBef>
                <a:spcPct val="20000"/>
              </a:spcBef>
              <a:buClr>
                <a:srgbClr val="FF6600"/>
              </a:buClr>
              <a:buFont typeface="Wingdings 3" panose="05040102010807070707" pitchFamily="18" charset="2"/>
              <a:buNone/>
            </a:pPr>
            <a:endParaRPr lang="en-CA" altLang="en-US" sz="4000">
              <a:latin typeface="Calibri" panose="020F0502020204030204" pitchFamily="34" charset="0"/>
            </a:endParaRPr>
          </a:p>
          <a:p>
            <a:pPr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p:txBody>
      </p:sp>
      <p:sp>
        <p:nvSpPr>
          <p:cNvPr id="13" name="Snip Single Corner Rectangle 12">
            <a:extLst>
              <a:ext uri="{FF2B5EF4-FFF2-40B4-BE49-F238E27FC236}">
                <a16:creationId xmlns:a16="http://schemas.microsoft.com/office/drawing/2014/main" id="{908C1AE4-6B38-FE02-A42B-255D2AE7614F}"/>
              </a:ext>
            </a:extLst>
          </p:cNvPr>
          <p:cNvSpPr/>
          <p:nvPr/>
        </p:nvSpPr>
        <p:spPr>
          <a:xfrm>
            <a:off x="131763" y="1371600"/>
            <a:ext cx="2808287" cy="401638"/>
          </a:xfrm>
          <a:prstGeom prst="snip1Rect">
            <a:avLst/>
          </a:prstGeom>
          <a:solidFill>
            <a:srgbClr val="002060">
              <a:alpha val="70000"/>
            </a:srgbClr>
          </a:solidFill>
          <a:ln>
            <a:solidFill>
              <a:srgbClr val="002060"/>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indent="-342900" algn="just" eaLnBrk="1" hangingPunct="1">
              <a:spcBef>
                <a:spcPct val="20000"/>
              </a:spcBef>
              <a:buClr>
                <a:srgbClr val="FF6600"/>
              </a:buClr>
              <a:buSzPct val="100000"/>
              <a:defRPr/>
            </a:pPr>
            <a:r>
              <a:rPr lang="en-US" dirty="0">
                <a:latin typeface="Arial" pitchFamily="34" charset="0"/>
                <a:ea typeface="Times New Roman" pitchFamily="18" charset="0"/>
                <a:cs typeface="Arial" pitchFamily="34" charset="0"/>
              </a:rPr>
              <a:t>Entity Integrity Constraint</a:t>
            </a:r>
            <a:endParaRPr lang="en-GB" kern="0" dirty="0">
              <a:solidFill>
                <a:schemeClr val="tx1"/>
              </a:solidFill>
            </a:endParaRPr>
          </a:p>
        </p:txBody>
      </p:sp>
      <p:graphicFrame>
        <p:nvGraphicFramePr>
          <p:cNvPr id="16" name="Table 15">
            <a:extLst>
              <a:ext uri="{FF2B5EF4-FFF2-40B4-BE49-F238E27FC236}">
                <a16:creationId xmlns:a16="http://schemas.microsoft.com/office/drawing/2014/main" id="{CECDB55C-F787-1CC2-D090-70DA5B81A649}"/>
              </a:ext>
            </a:extLst>
          </p:cNvPr>
          <p:cNvGraphicFramePr>
            <a:graphicFrameLocks noGrp="1"/>
          </p:cNvGraphicFramePr>
          <p:nvPr/>
        </p:nvGraphicFramePr>
        <p:xfrm>
          <a:off x="419100" y="3884613"/>
          <a:ext cx="3408363" cy="2295524"/>
        </p:xfrm>
        <a:graphic>
          <a:graphicData uri="http://schemas.openxmlformats.org/drawingml/2006/table">
            <a:tbl>
              <a:tblPr firstRow="1" bandRow="1">
                <a:tableStyleId>{3B4B98B0-60AC-42C2-AFA5-B58CD77FA1E5}</a:tableStyleId>
              </a:tblPr>
              <a:tblGrid>
                <a:gridCol w="1692181">
                  <a:extLst>
                    <a:ext uri="{9D8B030D-6E8A-4147-A177-3AD203B41FA5}">
                      <a16:colId xmlns:a16="http://schemas.microsoft.com/office/drawing/2014/main" val="20000"/>
                    </a:ext>
                  </a:extLst>
                </a:gridCol>
                <a:gridCol w="1716182">
                  <a:extLst>
                    <a:ext uri="{9D8B030D-6E8A-4147-A177-3AD203B41FA5}">
                      <a16:colId xmlns:a16="http://schemas.microsoft.com/office/drawing/2014/main" val="20001"/>
                    </a:ext>
                  </a:extLst>
                </a:gridCol>
              </a:tblGrid>
              <a:tr h="573881">
                <a:tc>
                  <a:txBody>
                    <a:bodyPr/>
                    <a:lstStyle/>
                    <a:p>
                      <a:pPr algn="ctr"/>
                      <a:r>
                        <a:rPr lang="en-CA" sz="1800" dirty="0"/>
                        <a:t>STUDENTID</a:t>
                      </a:r>
                    </a:p>
                  </a:txBody>
                  <a:tcPr marT="45731" marB="45731"/>
                </a:tc>
                <a:tc>
                  <a:txBody>
                    <a:bodyPr/>
                    <a:lstStyle/>
                    <a:p>
                      <a:pPr algn="ctr"/>
                      <a:r>
                        <a:rPr lang="en-CA" sz="1800" dirty="0"/>
                        <a:t>NAME</a:t>
                      </a:r>
                    </a:p>
                  </a:txBody>
                  <a:tcPr marT="45731" marB="45731"/>
                </a:tc>
                <a:extLst>
                  <a:ext uri="{0D108BD9-81ED-4DB2-BD59-A6C34878D82A}">
                    <a16:rowId xmlns:a16="http://schemas.microsoft.com/office/drawing/2014/main" val="10000"/>
                  </a:ext>
                </a:extLst>
              </a:tr>
              <a:tr h="573881">
                <a:tc>
                  <a:txBody>
                    <a:bodyPr/>
                    <a:lstStyle/>
                    <a:p>
                      <a:pPr algn="ctr"/>
                      <a:r>
                        <a:rPr lang="en-CA" sz="1800" dirty="0"/>
                        <a:t>1</a:t>
                      </a:r>
                    </a:p>
                  </a:txBody>
                  <a:tcPr marT="45731" marB="45731"/>
                </a:tc>
                <a:tc>
                  <a:txBody>
                    <a:bodyPr/>
                    <a:lstStyle/>
                    <a:p>
                      <a:r>
                        <a:rPr lang="en-CA" sz="1800" dirty="0"/>
                        <a:t>Talha Amjad</a:t>
                      </a:r>
                    </a:p>
                  </a:txBody>
                  <a:tcPr marT="45731" marB="45731"/>
                </a:tc>
                <a:extLst>
                  <a:ext uri="{0D108BD9-81ED-4DB2-BD59-A6C34878D82A}">
                    <a16:rowId xmlns:a16="http://schemas.microsoft.com/office/drawing/2014/main" val="10001"/>
                  </a:ext>
                </a:extLst>
              </a:tr>
              <a:tr h="573881">
                <a:tc>
                  <a:txBody>
                    <a:bodyPr/>
                    <a:lstStyle/>
                    <a:p>
                      <a:pPr algn="ctr"/>
                      <a:r>
                        <a:rPr lang="en-CA" sz="1800" dirty="0"/>
                        <a:t>2</a:t>
                      </a:r>
                    </a:p>
                  </a:txBody>
                  <a:tcPr marT="45731" marB="45731"/>
                </a:tc>
                <a:tc>
                  <a:txBody>
                    <a:bodyPr/>
                    <a:lstStyle/>
                    <a:p>
                      <a:r>
                        <a:rPr lang="en-CA" sz="1800" dirty="0"/>
                        <a:t>Sara Saleem</a:t>
                      </a:r>
                    </a:p>
                  </a:txBody>
                  <a:tcPr marT="45731" marB="45731"/>
                </a:tc>
                <a:extLst>
                  <a:ext uri="{0D108BD9-81ED-4DB2-BD59-A6C34878D82A}">
                    <a16:rowId xmlns:a16="http://schemas.microsoft.com/office/drawing/2014/main" val="10002"/>
                  </a:ext>
                </a:extLst>
              </a:tr>
              <a:tr h="573881">
                <a:tc>
                  <a:txBody>
                    <a:bodyPr/>
                    <a:lstStyle/>
                    <a:p>
                      <a:pPr algn="ctr"/>
                      <a:endParaRPr lang="en-CA" sz="1800" dirty="0"/>
                    </a:p>
                  </a:txBody>
                  <a:tcPr marT="45731" marB="45731"/>
                </a:tc>
                <a:tc>
                  <a:txBody>
                    <a:bodyPr/>
                    <a:lstStyle/>
                    <a:p>
                      <a:endParaRPr lang="en-CA" sz="1800" dirty="0"/>
                    </a:p>
                  </a:txBody>
                  <a:tcPr marT="45731" marB="45731"/>
                </a:tc>
                <a:extLst>
                  <a:ext uri="{0D108BD9-81ED-4DB2-BD59-A6C34878D82A}">
                    <a16:rowId xmlns:a16="http://schemas.microsoft.com/office/drawing/2014/main" val="10003"/>
                  </a:ext>
                </a:extLst>
              </a:tr>
            </a:tbl>
          </a:graphicData>
        </a:graphic>
      </p:graphicFrame>
      <p:sp>
        <p:nvSpPr>
          <p:cNvPr id="18" name="TextBox 17">
            <a:extLst>
              <a:ext uri="{FF2B5EF4-FFF2-40B4-BE49-F238E27FC236}">
                <a16:creationId xmlns:a16="http://schemas.microsoft.com/office/drawing/2014/main" id="{39D54ECA-68AE-1E05-E661-B2533C609C1E}"/>
              </a:ext>
            </a:extLst>
          </p:cNvPr>
          <p:cNvSpPr txBox="1">
            <a:spLocks noChangeArrowheads="1"/>
          </p:cNvSpPr>
          <p:nvPr/>
        </p:nvSpPr>
        <p:spPr bwMode="auto">
          <a:xfrm>
            <a:off x="1003300" y="6178550"/>
            <a:ext cx="22415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CA" altLang="en-US"/>
              <a:t>Student relation</a:t>
            </a:r>
          </a:p>
        </p:txBody>
      </p:sp>
      <p:grpSp>
        <p:nvGrpSpPr>
          <p:cNvPr id="3" name="Group 25">
            <a:extLst>
              <a:ext uri="{FF2B5EF4-FFF2-40B4-BE49-F238E27FC236}">
                <a16:creationId xmlns:a16="http://schemas.microsoft.com/office/drawing/2014/main" id="{28C5DC4B-31F9-E383-8632-5871968E8F35}"/>
              </a:ext>
            </a:extLst>
          </p:cNvPr>
          <p:cNvGrpSpPr>
            <a:grpSpLocks/>
          </p:cNvGrpSpPr>
          <p:nvPr/>
        </p:nvGrpSpPr>
        <p:grpSpPr bwMode="auto">
          <a:xfrm>
            <a:off x="2940050" y="4011613"/>
            <a:ext cx="5184775" cy="2041525"/>
            <a:chOff x="3131842" y="4115716"/>
            <a:chExt cx="5184574" cy="2040295"/>
          </a:xfrm>
        </p:grpSpPr>
        <p:sp>
          <p:nvSpPr>
            <p:cNvPr id="27" name="Rectangle 26">
              <a:extLst>
                <a:ext uri="{FF2B5EF4-FFF2-40B4-BE49-F238E27FC236}">
                  <a16:creationId xmlns:a16="http://schemas.microsoft.com/office/drawing/2014/main" id="{291C0426-6702-6DEA-1E92-B320B24AE398}"/>
                </a:ext>
              </a:extLst>
            </p:cNvPr>
            <p:cNvSpPr/>
            <p:nvPr/>
          </p:nvSpPr>
          <p:spPr bwMode="auto">
            <a:xfrm>
              <a:off x="4547837" y="4115716"/>
              <a:ext cx="3768579" cy="2040295"/>
            </a:xfrm>
            <a:prstGeom prst="rect">
              <a:avLst/>
            </a:prstGeom>
            <a:ln>
              <a:headEnd type="none" w="med" len="med"/>
              <a:tailEnd type="none" w="med" len="med"/>
            </a:ln>
          </p:spPr>
          <p:style>
            <a:lnRef idx="1">
              <a:schemeClr val="dk1"/>
            </a:lnRef>
            <a:fillRef idx="2">
              <a:schemeClr val="dk1"/>
            </a:fillRef>
            <a:effectRef idx="1">
              <a:schemeClr val="dk1"/>
            </a:effectRef>
            <a:fontRef idx="minor">
              <a:schemeClr val="dk1"/>
            </a:fontRef>
          </p:style>
          <p:txBody>
            <a:bodyPr anchor="ctr" anchorCtr="1"/>
            <a:lstStyle/>
            <a:p>
              <a:pPr algn="ctr">
                <a:defRPr/>
              </a:pPr>
              <a:r>
                <a:rPr lang="en-CA" dirty="0">
                  <a:solidFill>
                    <a:schemeClr val="tx1"/>
                  </a:solidFill>
                  <a:latin typeface="Arial" charset="0"/>
                </a:rPr>
                <a:t>If you try to enter STUDENTID = NULL and NAME = </a:t>
              </a:r>
              <a:r>
                <a:rPr lang="en-CA" dirty="0"/>
                <a:t>Aqib Ali</a:t>
              </a:r>
              <a:r>
                <a:rPr lang="en-CA" dirty="0">
                  <a:solidFill>
                    <a:schemeClr val="tx1"/>
                  </a:solidFill>
                  <a:latin typeface="Arial" charset="0"/>
                </a:rPr>
                <a:t>, the relational DBMS would enforce entity integrity constraint and denied your data entry since STUDENTID is a primary key and cannot be NULL</a:t>
              </a:r>
            </a:p>
          </p:txBody>
        </p:sp>
        <p:cxnSp>
          <p:nvCxnSpPr>
            <p:cNvPr id="28" name="Straight Arrow Connector 27">
              <a:extLst>
                <a:ext uri="{FF2B5EF4-FFF2-40B4-BE49-F238E27FC236}">
                  <a16:creationId xmlns:a16="http://schemas.microsoft.com/office/drawing/2014/main" id="{94AFAC66-2082-5824-31B4-BD84A9E2564A}"/>
                </a:ext>
              </a:extLst>
            </p:cNvPr>
            <p:cNvCxnSpPr/>
            <p:nvPr/>
          </p:nvCxnSpPr>
          <p:spPr bwMode="auto">
            <a:xfrm flipH="1">
              <a:off x="3131842" y="5602307"/>
              <a:ext cx="1446157" cy="330001"/>
            </a:xfrm>
            <a:prstGeom prst="straightConnector1">
              <a:avLst/>
            </a:prstGeom>
            <a:ln>
              <a:headEnd type="none" w="med" len="med"/>
              <a:tailEnd type="arrow"/>
            </a:ln>
          </p:spPr>
          <p:style>
            <a:lnRef idx="1">
              <a:schemeClr val="dk1"/>
            </a:lnRef>
            <a:fillRef idx="2">
              <a:schemeClr val="dk1"/>
            </a:fillRef>
            <a:effectRef idx="1">
              <a:schemeClr val="dk1"/>
            </a:effectRef>
            <a:fontRef idx="minor">
              <a:schemeClr val="dk1"/>
            </a:fontRef>
          </p:style>
        </p:cxnSp>
      </p:grpSp>
      <p:cxnSp>
        <p:nvCxnSpPr>
          <p:cNvPr id="29" name="Straight Connector 28">
            <a:extLst>
              <a:ext uri="{FF2B5EF4-FFF2-40B4-BE49-F238E27FC236}">
                <a16:creationId xmlns:a16="http://schemas.microsoft.com/office/drawing/2014/main" id="{3CD18BF4-2731-2227-E1BA-E3F2426DAADC}"/>
              </a:ext>
            </a:extLst>
          </p:cNvPr>
          <p:cNvCxnSpPr/>
          <p:nvPr/>
        </p:nvCxnSpPr>
        <p:spPr bwMode="auto">
          <a:xfrm>
            <a:off x="638175" y="4208463"/>
            <a:ext cx="1296988" cy="0"/>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4">
                                            <p:txEl>
                                              <p:pRg st="0" end="0"/>
                                            </p:txEl>
                                          </p:spTgt>
                                        </p:tgtEl>
                                        <p:attrNameLst>
                                          <p:attrName>style.visibility</p:attrName>
                                        </p:attrNameLst>
                                      </p:cBhvr>
                                      <p:to>
                                        <p:strVal val="visible"/>
                                      </p:to>
                                    </p:set>
                                    <p:animEffect transition="in" filter="wipe(left)">
                                      <p:cBhvr>
                                        <p:cTn id="11" dur="500"/>
                                        <p:tgtEl>
                                          <p:spTgt spid="24">
                                            <p:txEl>
                                              <p:pRg st="0" end="0"/>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wipe(up)">
                                      <p:cBhvr>
                                        <p:cTn id="16" dur="500"/>
                                        <p:tgtEl>
                                          <p:spTgt spid="16"/>
                                        </p:tgtEl>
                                      </p:cBhvr>
                                    </p:animEffect>
                                  </p:childTnLst>
                                </p:cTn>
                              </p:par>
                            </p:childTnLst>
                          </p:cTn>
                        </p:par>
                        <p:par>
                          <p:cTn id="17" fill="hold" nodeType="afterGroup">
                            <p:stCondLst>
                              <p:cond delay="500"/>
                            </p:stCondLst>
                            <p:childTnLst>
                              <p:par>
                                <p:cTn id="18" presetID="22" presetClass="entr" presetSubtype="1" fill="hold" grpId="0" nodeType="after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wipe(up)">
                                      <p:cBhvr>
                                        <p:cTn id="20" dur="500"/>
                                        <p:tgtEl>
                                          <p:spTgt spid="18"/>
                                        </p:tgtEl>
                                      </p:cBhvr>
                                    </p:animEffect>
                                  </p:childTnLst>
                                </p:cTn>
                              </p:par>
                            </p:childTnLst>
                          </p:cTn>
                        </p:par>
                        <p:par>
                          <p:cTn id="21" fill="hold" nodeType="afterGroup">
                            <p:stCondLst>
                              <p:cond delay="1000"/>
                            </p:stCondLst>
                            <p:childTnLst>
                              <p:par>
                                <p:cTn id="22" presetID="22" presetClass="entr" presetSubtype="8" fill="hold" nodeType="after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wipe(left)">
                                      <p:cBhvr>
                                        <p:cTn id="24" dur="500"/>
                                        <p:tgtEl>
                                          <p:spTgt spid="29"/>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4" fill="hold" nodeType="clickEffect">
                                  <p:stCondLst>
                                    <p:cond delay="0"/>
                                  </p:stCondLst>
                                  <p:childTnLst>
                                    <p:set>
                                      <p:cBhvr>
                                        <p:cTn id="28" dur="1" fill="hold">
                                          <p:stCondLst>
                                            <p:cond delay="0"/>
                                          </p:stCondLst>
                                        </p:cTn>
                                        <p:tgtEl>
                                          <p:spTgt spid="3"/>
                                        </p:tgtEl>
                                        <p:attrNameLst>
                                          <p:attrName>style.visibility</p:attrName>
                                        </p:attrNameLst>
                                      </p:cBhvr>
                                      <p:to>
                                        <p:strVal val="visible"/>
                                      </p:to>
                                    </p:set>
                                    <p:anim calcmode="lin" valueType="num">
                                      <p:cBhvr additive="base">
                                        <p:cTn id="29" dur="500" fill="hold"/>
                                        <p:tgtEl>
                                          <p:spTgt spid="3"/>
                                        </p:tgtEl>
                                        <p:attrNameLst>
                                          <p:attrName>ppt_x</p:attrName>
                                        </p:attrNameLst>
                                      </p:cBhvr>
                                      <p:tavLst>
                                        <p:tav tm="0">
                                          <p:val>
                                            <p:strVal val="#ppt_x"/>
                                          </p:val>
                                        </p:tav>
                                        <p:tav tm="100000">
                                          <p:val>
                                            <p:strVal val="#ppt_x"/>
                                          </p:val>
                                        </p:tav>
                                      </p:tavLst>
                                    </p:anim>
                                    <p:anim calcmode="lin" valueType="num">
                                      <p:cBhvr additive="base">
                                        <p:cTn id="3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build="p"/>
      <p:bldP spid="13" grpId="0" animBg="1"/>
      <p:bldP spid="18" grpId="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C76AB-8C0D-C5C2-5346-8A1D56086ACF}"/>
              </a:ext>
            </a:extLst>
          </p:cNvPr>
          <p:cNvSpPr>
            <a:spLocks noGrp="1"/>
          </p:cNvSpPr>
          <p:nvPr>
            <p:ph type="title"/>
          </p:nvPr>
        </p:nvSpPr>
        <p:spPr>
          <a:xfrm>
            <a:off x="457200" y="0"/>
            <a:ext cx="7620000" cy="1143000"/>
          </a:xfrm>
        </p:spPr>
        <p:txBody>
          <a:bodyPr/>
          <a:lstStyle/>
          <a:p>
            <a:pPr algn="ctr">
              <a:defRPr/>
            </a:pPr>
            <a:r>
              <a:rPr lang="en-US" dirty="0"/>
              <a:t>Relational Constraints</a:t>
            </a:r>
            <a:endParaRPr lang="en-CA" dirty="0"/>
          </a:p>
        </p:txBody>
      </p:sp>
      <p:sp>
        <p:nvSpPr>
          <p:cNvPr id="24" name="Content Placeholder 2">
            <a:extLst>
              <a:ext uri="{FF2B5EF4-FFF2-40B4-BE49-F238E27FC236}">
                <a16:creationId xmlns:a16="http://schemas.microsoft.com/office/drawing/2014/main" id="{58BD92F9-201A-B2BB-CA63-70044E405454}"/>
              </a:ext>
            </a:extLst>
          </p:cNvPr>
          <p:cNvSpPr txBox="1">
            <a:spLocks/>
          </p:cNvSpPr>
          <p:nvPr/>
        </p:nvSpPr>
        <p:spPr bwMode="auto">
          <a:xfrm>
            <a:off x="304800" y="1773238"/>
            <a:ext cx="7848600"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rgbClr val="FF6600"/>
              </a:buClr>
              <a:buFont typeface="Wingdings 3" panose="05040102010807070707" pitchFamily="18" charset="2"/>
              <a:buNone/>
            </a:pPr>
            <a:r>
              <a:rPr lang="en-US" altLang="en-US" sz="3200">
                <a:latin typeface="Calibri" panose="020F0502020204030204" pitchFamily="34" charset="0"/>
              </a:rPr>
              <a:t>A relational DBMS </a:t>
            </a:r>
            <a:r>
              <a:rPr lang="en-CA" altLang="en-US" sz="3200">
                <a:latin typeface="Calibri" panose="020F0502020204030204" pitchFamily="34" charset="0"/>
              </a:rPr>
              <a:t>will check each column value to ensure that it is not NULL</a:t>
            </a:r>
            <a:endParaRPr lang="en-CA" altLang="en-US" sz="20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24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r>
              <a:rPr lang="en-CA" altLang="en-US" sz="2800">
                <a:latin typeface="Calibri" panose="020F0502020204030204" pitchFamily="34" charset="0"/>
              </a:rPr>
              <a:t>E.g. If you declare NULL constraint on “Name”</a:t>
            </a:r>
          </a:p>
          <a:p>
            <a:pPr algn="just" eaLnBrk="1" hangingPunct="1">
              <a:spcBef>
                <a:spcPct val="20000"/>
              </a:spcBef>
              <a:buClr>
                <a:srgbClr val="FF6600"/>
              </a:buClr>
              <a:buFont typeface="Wingdings 3" panose="05040102010807070707" pitchFamily="18" charset="2"/>
              <a:buNone/>
            </a:pPr>
            <a:endParaRPr lang="en-CA" altLang="en-US" sz="32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32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32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40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p:txBody>
      </p:sp>
      <p:sp>
        <p:nvSpPr>
          <p:cNvPr id="15" name="Snip Single Corner Rectangle 14">
            <a:extLst>
              <a:ext uri="{FF2B5EF4-FFF2-40B4-BE49-F238E27FC236}">
                <a16:creationId xmlns:a16="http://schemas.microsoft.com/office/drawing/2014/main" id="{37100472-9937-5182-0BD2-138768301965}"/>
              </a:ext>
            </a:extLst>
          </p:cNvPr>
          <p:cNvSpPr/>
          <p:nvPr/>
        </p:nvSpPr>
        <p:spPr>
          <a:xfrm>
            <a:off x="219075" y="1371600"/>
            <a:ext cx="1944688" cy="401638"/>
          </a:xfrm>
          <a:prstGeom prst="snip1Rect">
            <a:avLst/>
          </a:prstGeom>
          <a:solidFill>
            <a:srgbClr val="C00000">
              <a:alpha val="70000"/>
            </a:srgbClr>
          </a:solidFill>
          <a:ln>
            <a:solidFill>
              <a:srgbClr val="C00000"/>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indent="-342900" algn="just" eaLnBrk="1" hangingPunct="1">
              <a:spcBef>
                <a:spcPct val="20000"/>
              </a:spcBef>
              <a:buClr>
                <a:srgbClr val="FF6600"/>
              </a:buClr>
              <a:buSzPct val="100000"/>
              <a:defRPr/>
            </a:pPr>
            <a:r>
              <a:rPr lang="en-US" dirty="0">
                <a:latin typeface="Arial" pitchFamily="34" charset="0"/>
                <a:ea typeface="Times New Roman" pitchFamily="18" charset="0"/>
                <a:cs typeface="Arial" pitchFamily="34" charset="0"/>
              </a:rPr>
              <a:t>NULL Constraint</a:t>
            </a:r>
            <a:endParaRPr lang="en-GB" kern="0" dirty="0">
              <a:solidFill>
                <a:schemeClr val="tx1"/>
              </a:solidFill>
            </a:endParaRPr>
          </a:p>
        </p:txBody>
      </p:sp>
      <p:graphicFrame>
        <p:nvGraphicFramePr>
          <p:cNvPr id="19" name="Table 18">
            <a:extLst>
              <a:ext uri="{FF2B5EF4-FFF2-40B4-BE49-F238E27FC236}">
                <a16:creationId xmlns:a16="http://schemas.microsoft.com/office/drawing/2014/main" id="{DECF4282-9411-8BAE-DF0F-53A6608C41FC}"/>
              </a:ext>
            </a:extLst>
          </p:cNvPr>
          <p:cNvGraphicFramePr>
            <a:graphicFrameLocks noGrp="1"/>
          </p:cNvGraphicFramePr>
          <p:nvPr/>
        </p:nvGraphicFramePr>
        <p:xfrm>
          <a:off x="608013" y="3813175"/>
          <a:ext cx="3408362" cy="2293940"/>
        </p:xfrm>
        <a:graphic>
          <a:graphicData uri="http://schemas.openxmlformats.org/drawingml/2006/table">
            <a:tbl>
              <a:tblPr firstRow="1" bandRow="1">
                <a:tableStyleId>{3B4B98B0-60AC-42C2-AFA5-B58CD77FA1E5}</a:tableStyleId>
              </a:tblPr>
              <a:tblGrid>
                <a:gridCol w="1692180">
                  <a:extLst>
                    <a:ext uri="{9D8B030D-6E8A-4147-A177-3AD203B41FA5}">
                      <a16:colId xmlns:a16="http://schemas.microsoft.com/office/drawing/2014/main" val="20000"/>
                    </a:ext>
                  </a:extLst>
                </a:gridCol>
                <a:gridCol w="1716182">
                  <a:extLst>
                    <a:ext uri="{9D8B030D-6E8A-4147-A177-3AD203B41FA5}">
                      <a16:colId xmlns:a16="http://schemas.microsoft.com/office/drawing/2014/main" val="20001"/>
                    </a:ext>
                  </a:extLst>
                </a:gridCol>
              </a:tblGrid>
              <a:tr h="573485">
                <a:tc>
                  <a:txBody>
                    <a:bodyPr/>
                    <a:lstStyle/>
                    <a:p>
                      <a:pPr algn="ctr"/>
                      <a:r>
                        <a:rPr lang="en-CA" sz="1800" dirty="0"/>
                        <a:t>STUDENTID</a:t>
                      </a:r>
                    </a:p>
                  </a:txBody>
                  <a:tcPr marT="45700" marB="45700"/>
                </a:tc>
                <a:tc>
                  <a:txBody>
                    <a:bodyPr/>
                    <a:lstStyle/>
                    <a:p>
                      <a:pPr algn="ctr"/>
                      <a:r>
                        <a:rPr lang="en-CA" sz="1800" dirty="0"/>
                        <a:t>NAME</a:t>
                      </a:r>
                    </a:p>
                  </a:txBody>
                  <a:tcPr marT="45700" marB="45700"/>
                </a:tc>
                <a:extLst>
                  <a:ext uri="{0D108BD9-81ED-4DB2-BD59-A6C34878D82A}">
                    <a16:rowId xmlns:a16="http://schemas.microsoft.com/office/drawing/2014/main" val="10000"/>
                  </a:ext>
                </a:extLst>
              </a:tr>
              <a:tr h="573485">
                <a:tc>
                  <a:txBody>
                    <a:bodyPr/>
                    <a:lstStyle/>
                    <a:p>
                      <a:pPr algn="ctr"/>
                      <a:r>
                        <a:rPr lang="en-CA" sz="1800" dirty="0"/>
                        <a:t>1</a:t>
                      </a:r>
                    </a:p>
                  </a:txBody>
                  <a:tcPr marT="45700" marB="45700"/>
                </a:tc>
                <a:tc>
                  <a:txBody>
                    <a:bodyPr/>
                    <a:lstStyle/>
                    <a:p>
                      <a:r>
                        <a:rPr lang="en-CA" sz="1800" dirty="0"/>
                        <a:t>Talha Amjad</a:t>
                      </a:r>
                    </a:p>
                  </a:txBody>
                  <a:tcPr marT="45700" marB="45700"/>
                </a:tc>
                <a:extLst>
                  <a:ext uri="{0D108BD9-81ED-4DB2-BD59-A6C34878D82A}">
                    <a16:rowId xmlns:a16="http://schemas.microsoft.com/office/drawing/2014/main" val="10001"/>
                  </a:ext>
                </a:extLst>
              </a:tr>
              <a:tr h="573485">
                <a:tc>
                  <a:txBody>
                    <a:bodyPr/>
                    <a:lstStyle/>
                    <a:p>
                      <a:pPr algn="ctr"/>
                      <a:r>
                        <a:rPr lang="en-CA" sz="1800" dirty="0"/>
                        <a:t>2</a:t>
                      </a:r>
                    </a:p>
                  </a:txBody>
                  <a:tcPr marT="45700" marB="45700"/>
                </a:tc>
                <a:tc>
                  <a:txBody>
                    <a:bodyPr/>
                    <a:lstStyle/>
                    <a:p>
                      <a:r>
                        <a:rPr lang="en-CA" sz="1800" dirty="0"/>
                        <a:t>Sara Saleem</a:t>
                      </a:r>
                    </a:p>
                  </a:txBody>
                  <a:tcPr marT="45700" marB="45700"/>
                </a:tc>
                <a:extLst>
                  <a:ext uri="{0D108BD9-81ED-4DB2-BD59-A6C34878D82A}">
                    <a16:rowId xmlns:a16="http://schemas.microsoft.com/office/drawing/2014/main" val="10002"/>
                  </a:ext>
                </a:extLst>
              </a:tr>
              <a:tr h="573485">
                <a:tc>
                  <a:txBody>
                    <a:bodyPr/>
                    <a:lstStyle/>
                    <a:p>
                      <a:pPr algn="ctr"/>
                      <a:endParaRPr lang="en-CA" sz="1800" dirty="0"/>
                    </a:p>
                  </a:txBody>
                  <a:tcPr marT="45700" marB="45700"/>
                </a:tc>
                <a:tc>
                  <a:txBody>
                    <a:bodyPr/>
                    <a:lstStyle/>
                    <a:p>
                      <a:endParaRPr lang="en-CA" sz="1800" dirty="0"/>
                    </a:p>
                  </a:txBody>
                  <a:tcPr marT="45700" marB="45700"/>
                </a:tc>
                <a:extLst>
                  <a:ext uri="{0D108BD9-81ED-4DB2-BD59-A6C34878D82A}">
                    <a16:rowId xmlns:a16="http://schemas.microsoft.com/office/drawing/2014/main" val="10003"/>
                  </a:ext>
                </a:extLst>
              </a:tr>
            </a:tbl>
          </a:graphicData>
        </a:graphic>
      </p:graphicFrame>
      <p:sp>
        <p:nvSpPr>
          <p:cNvPr id="25" name="TextBox 24">
            <a:extLst>
              <a:ext uri="{FF2B5EF4-FFF2-40B4-BE49-F238E27FC236}">
                <a16:creationId xmlns:a16="http://schemas.microsoft.com/office/drawing/2014/main" id="{594BE50C-CE45-E73A-04C4-CF564BAB844F}"/>
              </a:ext>
            </a:extLst>
          </p:cNvPr>
          <p:cNvSpPr txBox="1">
            <a:spLocks noChangeArrowheads="1"/>
          </p:cNvSpPr>
          <p:nvPr/>
        </p:nvSpPr>
        <p:spPr bwMode="auto">
          <a:xfrm>
            <a:off x="1190625" y="6107113"/>
            <a:ext cx="22415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CA" altLang="en-US"/>
              <a:t>Student relation</a:t>
            </a:r>
          </a:p>
        </p:txBody>
      </p:sp>
      <p:grpSp>
        <p:nvGrpSpPr>
          <p:cNvPr id="3" name="Group 27">
            <a:extLst>
              <a:ext uri="{FF2B5EF4-FFF2-40B4-BE49-F238E27FC236}">
                <a16:creationId xmlns:a16="http://schemas.microsoft.com/office/drawing/2014/main" id="{E68BE9DA-5991-559E-E0EB-7EF3DC8377B2}"/>
              </a:ext>
            </a:extLst>
          </p:cNvPr>
          <p:cNvGrpSpPr>
            <a:grpSpLocks/>
          </p:cNvGrpSpPr>
          <p:nvPr/>
        </p:nvGrpSpPr>
        <p:grpSpPr bwMode="auto">
          <a:xfrm>
            <a:off x="3081338" y="4067175"/>
            <a:ext cx="4870450" cy="1785938"/>
            <a:chOff x="3446132" y="4115717"/>
            <a:chExt cx="4870284" cy="1786818"/>
          </a:xfrm>
        </p:grpSpPr>
        <p:sp>
          <p:nvSpPr>
            <p:cNvPr id="29" name="Rectangle 28">
              <a:extLst>
                <a:ext uri="{FF2B5EF4-FFF2-40B4-BE49-F238E27FC236}">
                  <a16:creationId xmlns:a16="http://schemas.microsoft.com/office/drawing/2014/main" id="{BECFD43D-21B6-376A-8B8A-3EA48BD841D4}"/>
                </a:ext>
              </a:extLst>
            </p:cNvPr>
            <p:cNvSpPr/>
            <p:nvPr/>
          </p:nvSpPr>
          <p:spPr bwMode="auto">
            <a:xfrm>
              <a:off x="4860546" y="4115717"/>
              <a:ext cx="3455870" cy="1786818"/>
            </a:xfrm>
            <a:prstGeom prst="rect">
              <a:avLst/>
            </a:prstGeom>
            <a:ln>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anchor="ctr" anchorCtr="1"/>
            <a:lstStyle/>
            <a:p>
              <a:pPr algn="ctr">
                <a:defRPr/>
              </a:pPr>
              <a:r>
                <a:rPr lang="en-CA" dirty="0">
                  <a:solidFill>
                    <a:schemeClr val="tx1"/>
                  </a:solidFill>
                  <a:latin typeface="Arial" charset="0"/>
                </a:rPr>
                <a:t>If you try to enter STUDENTID = 3 and NAME = NULL, the relational DBMS would enforce NULL constraint and denied your data entry</a:t>
              </a:r>
            </a:p>
          </p:txBody>
        </p:sp>
        <p:cxnSp>
          <p:nvCxnSpPr>
            <p:cNvPr id="30" name="Straight Arrow Connector 29">
              <a:extLst>
                <a:ext uri="{FF2B5EF4-FFF2-40B4-BE49-F238E27FC236}">
                  <a16:creationId xmlns:a16="http://schemas.microsoft.com/office/drawing/2014/main" id="{4B9298CB-5FC8-1656-369A-075B992744D1}"/>
                </a:ext>
              </a:extLst>
            </p:cNvPr>
            <p:cNvCxnSpPr/>
            <p:nvPr/>
          </p:nvCxnSpPr>
          <p:spPr bwMode="auto">
            <a:xfrm flipH="1">
              <a:off x="3446132" y="5602349"/>
              <a:ext cx="1446163" cy="239831"/>
            </a:xfrm>
            <a:prstGeom prst="straightConnector1">
              <a:avLst/>
            </a:prstGeom>
            <a:ln>
              <a:headEnd type="none" w="med" len="med"/>
              <a:tailEnd type="arrow"/>
            </a:ln>
          </p:spPr>
          <p:style>
            <a:lnRef idx="1">
              <a:schemeClr val="accent4"/>
            </a:lnRef>
            <a:fillRef idx="2">
              <a:schemeClr val="accent4"/>
            </a:fillRef>
            <a:effectRef idx="1">
              <a:schemeClr val="accent4"/>
            </a:effectRef>
            <a:fontRef idx="minor">
              <a:schemeClr val="dk1"/>
            </a:fontRef>
          </p:style>
        </p:cxnSp>
      </p:grpSp>
      <p:cxnSp>
        <p:nvCxnSpPr>
          <p:cNvPr id="31" name="Straight Connector 30">
            <a:extLst>
              <a:ext uri="{FF2B5EF4-FFF2-40B4-BE49-F238E27FC236}">
                <a16:creationId xmlns:a16="http://schemas.microsoft.com/office/drawing/2014/main" id="{4D5CCC53-909E-4C1E-A424-D837B1879415}"/>
              </a:ext>
            </a:extLst>
          </p:cNvPr>
          <p:cNvCxnSpPr/>
          <p:nvPr/>
        </p:nvCxnSpPr>
        <p:spPr bwMode="auto">
          <a:xfrm>
            <a:off x="800100" y="4113213"/>
            <a:ext cx="1295400" cy="0"/>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24">
                                            <p:txEl>
                                              <p:pRg st="0" end="0"/>
                                            </p:txEl>
                                          </p:spTgt>
                                        </p:tgtEl>
                                        <p:attrNameLst>
                                          <p:attrName>style.visibility</p:attrName>
                                        </p:attrNameLst>
                                      </p:cBhvr>
                                      <p:to>
                                        <p:strVal val="visible"/>
                                      </p:to>
                                    </p:set>
                                    <p:animEffect transition="in" filter="wipe(left)">
                                      <p:cBhvr>
                                        <p:cTn id="11" dur="500"/>
                                        <p:tgtEl>
                                          <p:spTgt spid="24">
                                            <p:txEl>
                                              <p:pRg st="0" end="0"/>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24">
                                            <p:txEl>
                                              <p:pRg st="2" end="2"/>
                                            </p:txEl>
                                          </p:spTgt>
                                        </p:tgtEl>
                                        <p:attrNameLst>
                                          <p:attrName>style.visibility</p:attrName>
                                        </p:attrNameLst>
                                      </p:cBhvr>
                                      <p:to>
                                        <p:strVal val="visible"/>
                                      </p:to>
                                    </p:set>
                                    <p:animEffect transition="in" filter="wipe(left)">
                                      <p:cBhvr>
                                        <p:cTn id="16" dur="500"/>
                                        <p:tgtEl>
                                          <p:spTgt spid="24">
                                            <p:txEl>
                                              <p:pRg st="2" end="2"/>
                                            </p:txEl>
                                          </p:spTgt>
                                        </p:tgtEl>
                                      </p:cBhvr>
                                    </p:animEffect>
                                  </p:childTnLst>
                                </p:cTn>
                              </p:par>
                            </p:childTnLst>
                          </p:cTn>
                        </p:par>
                        <p:par>
                          <p:cTn id="17" fill="hold" nodeType="afterGroup">
                            <p:stCondLst>
                              <p:cond delay="500"/>
                            </p:stCondLst>
                            <p:childTnLst>
                              <p:par>
                                <p:cTn id="18" presetID="22" presetClass="entr" presetSubtype="1" fill="hold" nodeType="after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wipe(up)">
                                      <p:cBhvr>
                                        <p:cTn id="20" dur="500"/>
                                        <p:tgtEl>
                                          <p:spTgt spid="19"/>
                                        </p:tgtEl>
                                      </p:cBhvr>
                                    </p:animEffect>
                                  </p:childTnLst>
                                </p:cTn>
                              </p:par>
                            </p:childTnLst>
                          </p:cTn>
                        </p:par>
                        <p:par>
                          <p:cTn id="21" fill="hold" nodeType="afterGroup">
                            <p:stCondLst>
                              <p:cond delay="1000"/>
                            </p:stCondLst>
                            <p:childTnLst>
                              <p:par>
                                <p:cTn id="22" presetID="22" presetClass="entr" presetSubtype="1" fill="hold" grpId="0" nodeType="afterEffect">
                                  <p:stCondLst>
                                    <p:cond delay="0"/>
                                  </p:stCondLst>
                                  <p:childTnLst>
                                    <p:set>
                                      <p:cBhvr>
                                        <p:cTn id="23" dur="1" fill="hold">
                                          <p:stCondLst>
                                            <p:cond delay="0"/>
                                          </p:stCondLst>
                                        </p:cTn>
                                        <p:tgtEl>
                                          <p:spTgt spid="25"/>
                                        </p:tgtEl>
                                        <p:attrNameLst>
                                          <p:attrName>style.visibility</p:attrName>
                                        </p:attrNameLst>
                                      </p:cBhvr>
                                      <p:to>
                                        <p:strVal val="visible"/>
                                      </p:to>
                                    </p:set>
                                    <p:animEffect transition="in" filter="wipe(up)">
                                      <p:cBhvr>
                                        <p:cTn id="24" dur="500"/>
                                        <p:tgtEl>
                                          <p:spTgt spid="25"/>
                                        </p:tgtEl>
                                      </p:cBhvr>
                                    </p:animEffect>
                                  </p:childTnLst>
                                </p:cTn>
                              </p:par>
                            </p:childTnLst>
                          </p:cTn>
                        </p:par>
                        <p:par>
                          <p:cTn id="25" fill="hold" nodeType="afterGroup">
                            <p:stCondLst>
                              <p:cond delay="1500"/>
                            </p:stCondLst>
                            <p:childTnLst>
                              <p:par>
                                <p:cTn id="26" presetID="22" presetClass="entr" presetSubtype="8" fill="hold" nodeType="afterEffect">
                                  <p:stCondLst>
                                    <p:cond delay="0"/>
                                  </p:stCondLst>
                                  <p:childTnLst>
                                    <p:set>
                                      <p:cBhvr>
                                        <p:cTn id="27" dur="1" fill="hold">
                                          <p:stCondLst>
                                            <p:cond delay="0"/>
                                          </p:stCondLst>
                                        </p:cTn>
                                        <p:tgtEl>
                                          <p:spTgt spid="31"/>
                                        </p:tgtEl>
                                        <p:attrNameLst>
                                          <p:attrName>style.visibility</p:attrName>
                                        </p:attrNameLst>
                                      </p:cBhvr>
                                      <p:to>
                                        <p:strVal val="visible"/>
                                      </p:to>
                                    </p:set>
                                    <p:animEffect transition="in" filter="wipe(left)">
                                      <p:cBhvr>
                                        <p:cTn id="28" dur="500"/>
                                        <p:tgtEl>
                                          <p:spTgt spid="31"/>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4" fill="hold" nodeType="clickEffect">
                                  <p:stCondLst>
                                    <p:cond delay="0"/>
                                  </p:stCondLst>
                                  <p:childTnLst>
                                    <p:set>
                                      <p:cBhvr>
                                        <p:cTn id="32" dur="1" fill="hold">
                                          <p:stCondLst>
                                            <p:cond delay="0"/>
                                          </p:stCondLst>
                                        </p:cTn>
                                        <p:tgtEl>
                                          <p:spTgt spid="3"/>
                                        </p:tgtEl>
                                        <p:attrNameLst>
                                          <p:attrName>style.visibility</p:attrName>
                                        </p:attrNameLst>
                                      </p:cBhvr>
                                      <p:to>
                                        <p:strVal val="visible"/>
                                      </p:to>
                                    </p:set>
                                    <p:anim calcmode="lin" valueType="num">
                                      <p:cBhvr additive="base">
                                        <p:cTn id="33" dur="500" fill="hold"/>
                                        <p:tgtEl>
                                          <p:spTgt spid="3"/>
                                        </p:tgtEl>
                                        <p:attrNameLst>
                                          <p:attrName>ppt_x</p:attrName>
                                        </p:attrNameLst>
                                      </p:cBhvr>
                                      <p:tavLst>
                                        <p:tav tm="0">
                                          <p:val>
                                            <p:strVal val="#ppt_x"/>
                                          </p:val>
                                        </p:tav>
                                        <p:tav tm="100000">
                                          <p:val>
                                            <p:strVal val="#ppt_x"/>
                                          </p:val>
                                        </p:tav>
                                      </p:tavLst>
                                    </p:anim>
                                    <p:anim calcmode="lin" valueType="num">
                                      <p:cBhvr additive="base">
                                        <p:cTn id="3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25"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0649DD-9497-F68E-6AD1-D9EEB5A6457C}"/>
              </a:ext>
            </a:extLst>
          </p:cNvPr>
          <p:cNvSpPr>
            <a:spLocks noGrp="1"/>
          </p:cNvSpPr>
          <p:nvPr>
            <p:ph type="title"/>
          </p:nvPr>
        </p:nvSpPr>
        <p:spPr>
          <a:xfrm>
            <a:off x="457200" y="0"/>
            <a:ext cx="7620000" cy="1143000"/>
          </a:xfrm>
        </p:spPr>
        <p:txBody>
          <a:bodyPr/>
          <a:lstStyle/>
          <a:p>
            <a:pPr algn="ctr">
              <a:defRPr/>
            </a:pPr>
            <a:r>
              <a:rPr lang="en-US" dirty="0"/>
              <a:t>Relational Constraints</a:t>
            </a:r>
            <a:endParaRPr lang="en-CA" dirty="0"/>
          </a:p>
        </p:txBody>
      </p:sp>
      <p:sp>
        <p:nvSpPr>
          <p:cNvPr id="24" name="Content Placeholder 2">
            <a:extLst>
              <a:ext uri="{FF2B5EF4-FFF2-40B4-BE49-F238E27FC236}">
                <a16:creationId xmlns:a16="http://schemas.microsoft.com/office/drawing/2014/main" id="{C6266DAC-0E47-C4E6-A69A-04BE230CFF35}"/>
              </a:ext>
            </a:extLst>
          </p:cNvPr>
          <p:cNvSpPr txBox="1">
            <a:spLocks/>
          </p:cNvSpPr>
          <p:nvPr/>
        </p:nvSpPr>
        <p:spPr bwMode="auto">
          <a:xfrm>
            <a:off x="134938" y="1868488"/>
            <a:ext cx="8228012"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rgbClr val="FF6600"/>
              </a:buClr>
              <a:buFont typeface="Wingdings 3" panose="05040102010807070707" pitchFamily="18" charset="2"/>
              <a:buNone/>
            </a:pPr>
            <a:r>
              <a:rPr lang="en-CA" altLang="en-US" sz="3200">
                <a:latin typeface="Calibri" panose="020F0502020204030204" pitchFamily="34" charset="0"/>
              </a:rPr>
              <a:t>A </a:t>
            </a:r>
            <a:r>
              <a:rPr lang="en-CA" altLang="en-US" sz="3200" b="1">
                <a:latin typeface="Calibri" panose="020F0502020204030204" pitchFamily="34" charset="0"/>
              </a:rPr>
              <a:t>foreign key </a:t>
            </a:r>
            <a:r>
              <a:rPr lang="en-CA" altLang="en-US" sz="3200">
                <a:latin typeface="Calibri" panose="020F0502020204030204" pitchFamily="34" charset="0"/>
              </a:rPr>
              <a:t>is a column whose values match the primary key values in a related table</a:t>
            </a:r>
          </a:p>
          <a:p>
            <a:pPr algn="just" eaLnBrk="1" hangingPunct="1">
              <a:spcBef>
                <a:spcPct val="20000"/>
              </a:spcBef>
              <a:buClr>
                <a:srgbClr val="FF6600"/>
              </a:buClr>
              <a:buFont typeface="Wingdings 3" panose="05040102010807070707" pitchFamily="18" charset="2"/>
              <a:buNone/>
            </a:pPr>
            <a:endParaRPr lang="en-CA" altLang="en-US" sz="40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p:txBody>
      </p:sp>
      <p:sp>
        <p:nvSpPr>
          <p:cNvPr id="19" name="Snip Single Corner Rectangle 18">
            <a:extLst>
              <a:ext uri="{FF2B5EF4-FFF2-40B4-BE49-F238E27FC236}">
                <a16:creationId xmlns:a16="http://schemas.microsoft.com/office/drawing/2014/main" id="{BF479267-0084-03F5-F19B-52FFD1D0AEA1}"/>
              </a:ext>
            </a:extLst>
          </p:cNvPr>
          <p:cNvSpPr/>
          <p:nvPr/>
        </p:nvSpPr>
        <p:spPr>
          <a:xfrm>
            <a:off x="134938" y="1450975"/>
            <a:ext cx="3313112" cy="401638"/>
          </a:xfrm>
          <a:prstGeom prst="snip1Rect">
            <a:avLst/>
          </a:prstGeom>
          <a:solidFill>
            <a:srgbClr val="00B050">
              <a:alpha val="70000"/>
            </a:srgbClr>
          </a:solidFill>
          <a:ln>
            <a:solidFill>
              <a:srgbClr val="00B050"/>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indent="-342900" algn="just" eaLnBrk="1" hangingPunct="1">
              <a:spcBef>
                <a:spcPct val="20000"/>
              </a:spcBef>
              <a:buClr>
                <a:srgbClr val="FF6600"/>
              </a:buClr>
              <a:buSzPct val="100000"/>
              <a:defRPr/>
            </a:pPr>
            <a:r>
              <a:rPr lang="en-US" dirty="0">
                <a:latin typeface="Arial" pitchFamily="34" charset="0"/>
                <a:ea typeface="Times New Roman" pitchFamily="18" charset="0"/>
                <a:cs typeface="Arial" pitchFamily="34" charset="0"/>
              </a:rPr>
              <a:t>Referential Integrity Constraint</a:t>
            </a:r>
            <a:endParaRPr lang="en-GB" kern="0" dirty="0">
              <a:solidFill>
                <a:schemeClr val="tx1"/>
              </a:solidFill>
            </a:endParaRPr>
          </a:p>
        </p:txBody>
      </p:sp>
      <p:graphicFrame>
        <p:nvGraphicFramePr>
          <p:cNvPr id="26" name="Table 25">
            <a:extLst>
              <a:ext uri="{FF2B5EF4-FFF2-40B4-BE49-F238E27FC236}">
                <a16:creationId xmlns:a16="http://schemas.microsoft.com/office/drawing/2014/main" id="{595139E8-7B15-A71F-CFCA-3F2B6FC29FFA}"/>
              </a:ext>
            </a:extLst>
          </p:cNvPr>
          <p:cNvGraphicFramePr>
            <a:graphicFrameLocks noGrp="1"/>
          </p:cNvGraphicFramePr>
          <p:nvPr/>
        </p:nvGraphicFramePr>
        <p:xfrm>
          <a:off x="123825" y="3094038"/>
          <a:ext cx="4111626" cy="2360612"/>
        </p:xfrm>
        <a:graphic>
          <a:graphicData uri="http://schemas.openxmlformats.org/drawingml/2006/table">
            <a:tbl>
              <a:tblPr firstRow="1" bandRow="1">
                <a:tableStyleId>{3B4B98B0-60AC-42C2-AFA5-B58CD77FA1E5}</a:tableStyleId>
              </a:tblPr>
              <a:tblGrid>
                <a:gridCol w="1201439">
                  <a:extLst>
                    <a:ext uri="{9D8B030D-6E8A-4147-A177-3AD203B41FA5}">
                      <a16:colId xmlns:a16="http://schemas.microsoft.com/office/drawing/2014/main" val="20000"/>
                    </a:ext>
                  </a:extLst>
                </a:gridCol>
                <a:gridCol w="1521234">
                  <a:extLst>
                    <a:ext uri="{9D8B030D-6E8A-4147-A177-3AD203B41FA5}">
                      <a16:colId xmlns:a16="http://schemas.microsoft.com/office/drawing/2014/main" val="20001"/>
                    </a:ext>
                  </a:extLst>
                </a:gridCol>
                <a:gridCol w="1388953">
                  <a:extLst>
                    <a:ext uri="{9D8B030D-6E8A-4147-A177-3AD203B41FA5}">
                      <a16:colId xmlns:a16="http://schemas.microsoft.com/office/drawing/2014/main" val="20002"/>
                    </a:ext>
                  </a:extLst>
                </a:gridCol>
              </a:tblGrid>
              <a:tr h="640045">
                <a:tc>
                  <a:txBody>
                    <a:bodyPr/>
                    <a:lstStyle/>
                    <a:p>
                      <a:pPr algn="ctr"/>
                      <a:r>
                        <a:rPr lang="en-CA" sz="1800" dirty="0"/>
                        <a:t>STUDENT</a:t>
                      </a:r>
                    </a:p>
                    <a:p>
                      <a:pPr algn="ctr"/>
                      <a:r>
                        <a:rPr lang="en-CA" sz="1800" dirty="0"/>
                        <a:t>ID</a:t>
                      </a:r>
                    </a:p>
                  </a:txBody>
                  <a:tcPr marL="91435" marR="91435" marT="45703" marB="45703"/>
                </a:tc>
                <a:tc>
                  <a:txBody>
                    <a:bodyPr/>
                    <a:lstStyle/>
                    <a:p>
                      <a:pPr algn="ctr"/>
                      <a:r>
                        <a:rPr lang="en-CA" sz="1800" dirty="0"/>
                        <a:t>NAME</a:t>
                      </a:r>
                    </a:p>
                  </a:txBody>
                  <a:tcPr marL="91435" marR="91435" marT="45703" marB="45703"/>
                </a:tc>
                <a:tc>
                  <a:txBody>
                    <a:bodyPr/>
                    <a:lstStyle/>
                    <a:p>
                      <a:pPr algn="ctr"/>
                      <a:r>
                        <a:rPr lang="en-CA" sz="1800" dirty="0"/>
                        <a:t>SUBJECT</a:t>
                      </a:r>
                    </a:p>
                  </a:txBody>
                  <a:tcPr marL="91435" marR="91435" marT="45703" marB="45703"/>
                </a:tc>
                <a:extLst>
                  <a:ext uri="{0D108BD9-81ED-4DB2-BD59-A6C34878D82A}">
                    <a16:rowId xmlns:a16="http://schemas.microsoft.com/office/drawing/2014/main" val="10000"/>
                  </a:ext>
                </a:extLst>
              </a:tr>
              <a:tr h="573522">
                <a:tc>
                  <a:txBody>
                    <a:bodyPr/>
                    <a:lstStyle/>
                    <a:p>
                      <a:pPr algn="ctr"/>
                      <a:r>
                        <a:rPr lang="en-CA" sz="1800" dirty="0"/>
                        <a:t>1</a:t>
                      </a:r>
                    </a:p>
                  </a:txBody>
                  <a:tcPr marL="91435" marR="91435" marT="45703" marB="45703"/>
                </a:tc>
                <a:tc>
                  <a:txBody>
                    <a:bodyPr/>
                    <a:lstStyle/>
                    <a:p>
                      <a:r>
                        <a:rPr lang="en-CA" sz="1800" dirty="0"/>
                        <a:t>Talha Amjad</a:t>
                      </a:r>
                    </a:p>
                  </a:txBody>
                  <a:tcPr marL="91435" marR="91435" marT="45703" marB="45703"/>
                </a:tc>
                <a:tc>
                  <a:txBody>
                    <a:bodyPr/>
                    <a:lstStyle/>
                    <a:p>
                      <a:r>
                        <a:rPr lang="en-CA" sz="1800" dirty="0"/>
                        <a:t>BSIT 201</a:t>
                      </a:r>
                    </a:p>
                  </a:txBody>
                  <a:tcPr marL="91435" marR="91435" marT="45703" marB="45703"/>
                </a:tc>
                <a:extLst>
                  <a:ext uri="{0D108BD9-81ED-4DB2-BD59-A6C34878D82A}">
                    <a16:rowId xmlns:a16="http://schemas.microsoft.com/office/drawing/2014/main" val="10001"/>
                  </a:ext>
                </a:extLst>
              </a:tr>
              <a:tr h="573522">
                <a:tc>
                  <a:txBody>
                    <a:bodyPr/>
                    <a:lstStyle/>
                    <a:p>
                      <a:pPr algn="ctr"/>
                      <a:r>
                        <a:rPr lang="en-CA" sz="1800" dirty="0"/>
                        <a:t>2</a:t>
                      </a:r>
                    </a:p>
                  </a:txBody>
                  <a:tcPr marL="91435" marR="91435" marT="45703" marB="45703"/>
                </a:tc>
                <a:tc>
                  <a:txBody>
                    <a:bodyPr/>
                    <a:lstStyle/>
                    <a:p>
                      <a:r>
                        <a:rPr lang="en-CA" sz="1800" dirty="0"/>
                        <a:t>Sara Saleem</a:t>
                      </a:r>
                    </a:p>
                  </a:txBody>
                  <a:tcPr marL="91435" marR="91435" marT="45703" marB="45703"/>
                </a:tc>
                <a:tc>
                  <a:txBody>
                    <a:bodyPr/>
                    <a:lstStyle/>
                    <a:p>
                      <a:r>
                        <a:rPr lang="en-CA" sz="1800" dirty="0"/>
                        <a:t>BSIT 301</a:t>
                      </a:r>
                    </a:p>
                  </a:txBody>
                  <a:tcPr marL="91435" marR="91435" marT="45703" marB="45703"/>
                </a:tc>
                <a:extLst>
                  <a:ext uri="{0D108BD9-81ED-4DB2-BD59-A6C34878D82A}">
                    <a16:rowId xmlns:a16="http://schemas.microsoft.com/office/drawing/2014/main" val="10002"/>
                  </a:ext>
                </a:extLst>
              </a:tr>
              <a:tr h="573522">
                <a:tc>
                  <a:txBody>
                    <a:bodyPr/>
                    <a:lstStyle/>
                    <a:p>
                      <a:pPr algn="ctr"/>
                      <a:r>
                        <a:rPr lang="en-CA" sz="1800" dirty="0"/>
                        <a:t>3</a:t>
                      </a:r>
                    </a:p>
                  </a:txBody>
                  <a:tcPr marL="91435" marR="91435" marT="45703" marB="45703"/>
                </a:tc>
                <a:tc>
                  <a:txBody>
                    <a:bodyPr/>
                    <a:lstStyle/>
                    <a:p>
                      <a:r>
                        <a:rPr lang="en-CA" sz="1800" dirty="0"/>
                        <a:t>Aqib Ali</a:t>
                      </a:r>
                    </a:p>
                  </a:txBody>
                  <a:tcPr marL="91435" marR="91435" marT="45703" marB="45703"/>
                </a:tc>
                <a:tc>
                  <a:txBody>
                    <a:bodyPr/>
                    <a:lstStyle/>
                    <a:p>
                      <a:r>
                        <a:rPr lang="en-CA" sz="1800" dirty="0"/>
                        <a:t>BSIT 201</a:t>
                      </a:r>
                    </a:p>
                  </a:txBody>
                  <a:tcPr marL="91435" marR="91435" marT="45703" marB="45703"/>
                </a:tc>
                <a:extLst>
                  <a:ext uri="{0D108BD9-81ED-4DB2-BD59-A6C34878D82A}">
                    <a16:rowId xmlns:a16="http://schemas.microsoft.com/office/drawing/2014/main" val="10003"/>
                  </a:ext>
                </a:extLst>
              </a:tr>
            </a:tbl>
          </a:graphicData>
        </a:graphic>
      </p:graphicFrame>
      <p:sp>
        <p:nvSpPr>
          <p:cNvPr id="29" name="TextBox 28">
            <a:extLst>
              <a:ext uri="{FF2B5EF4-FFF2-40B4-BE49-F238E27FC236}">
                <a16:creationId xmlns:a16="http://schemas.microsoft.com/office/drawing/2014/main" id="{B7B60798-B0AB-D4D8-FC0B-9758E9DDCE86}"/>
              </a:ext>
            </a:extLst>
          </p:cNvPr>
          <p:cNvSpPr txBox="1">
            <a:spLocks noChangeArrowheads="1"/>
          </p:cNvSpPr>
          <p:nvPr/>
        </p:nvSpPr>
        <p:spPr bwMode="auto">
          <a:xfrm>
            <a:off x="1030288" y="5461000"/>
            <a:ext cx="22415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CA" altLang="en-US"/>
              <a:t>Student relation</a:t>
            </a:r>
          </a:p>
        </p:txBody>
      </p:sp>
      <p:graphicFrame>
        <p:nvGraphicFramePr>
          <p:cNvPr id="30" name="Table 29">
            <a:extLst>
              <a:ext uri="{FF2B5EF4-FFF2-40B4-BE49-F238E27FC236}">
                <a16:creationId xmlns:a16="http://schemas.microsoft.com/office/drawing/2014/main" id="{7AB774F8-5551-AEA2-11AE-F79198248E45}"/>
              </a:ext>
            </a:extLst>
          </p:cNvPr>
          <p:cNvGraphicFramePr>
            <a:graphicFrameLocks noGrp="1"/>
          </p:cNvGraphicFramePr>
          <p:nvPr/>
        </p:nvGraphicFramePr>
        <p:xfrm>
          <a:off x="4475163" y="3092450"/>
          <a:ext cx="3887787" cy="1787526"/>
        </p:xfrm>
        <a:graphic>
          <a:graphicData uri="http://schemas.openxmlformats.org/drawingml/2006/table">
            <a:tbl>
              <a:tblPr firstRow="1" bandRow="1">
                <a:tableStyleId>{0E3FDE45-AF77-4B5C-9715-49D594BDF05E}</a:tableStyleId>
              </a:tblPr>
              <a:tblGrid>
                <a:gridCol w="1288122">
                  <a:extLst>
                    <a:ext uri="{9D8B030D-6E8A-4147-A177-3AD203B41FA5}">
                      <a16:colId xmlns:a16="http://schemas.microsoft.com/office/drawing/2014/main" val="20000"/>
                    </a:ext>
                  </a:extLst>
                </a:gridCol>
                <a:gridCol w="2599665">
                  <a:extLst>
                    <a:ext uri="{9D8B030D-6E8A-4147-A177-3AD203B41FA5}">
                      <a16:colId xmlns:a16="http://schemas.microsoft.com/office/drawing/2014/main" val="20001"/>
                    </a:ext>
                  </a:extLst>
                </a:gridCol>
              </a:tblGrid>
              <a:tr h="640078">
                <a:tc>
                  <a:txBody>
                    <a:bodyPr/>
                    <a:lstStyle/>
                    <a:p>
                      <a:pPr algn="ctr"/>
                      <a:r>
                        <a:rPr lang="en-CA" sz="1800" dirty="0"/>
                        <a:t>SUBJECT</a:t>
                      </a:r>
                      <a:r>
                        <a:rPr lang="en-CA" sz="1800" baseline="0" dirty="0"/>
                        <a:t> </a:t>
                      </a:r>
                      <a:r>
                        <a:rPr lang="en-CA" sz="1800" dirty="0"/>
                        <a:t>CODE</a:t>
                      </a:r>
                    </a:p>
                  </a:txBody>
                  <a:tcPr marL="91425" marR="91425" marT="45719" marB="45719"/>
                </a:tc>
                <a:tc>
                  <a:txBody>
                    <a:bodyPr/>
                    <a:lstStyle/>
                    <a:p>
                      <a:pPr algn="ctr"/>
                      <a:r>
                        <a:rPr lang="en-CA" sz="1800" dirty="0"/>
                        <a:t>NAME</a:t>
                      </a:r>
                    </a:p>
                  </a:txBody>
                  <a:tcPr marL="91425" marR="91425" marT="45719" marB="45719"/>
                </a:tc>
                <a:extLst>
                  <a:ext uri="{0D108BD9-81ED-4DB2-BD59-A6C34878D82A}">
                    <a16:rowId xmlns:a16="http://schemas.microsoft.com/office/drawing/2014/main" val="10000"/>
                  </a:ext>
                </a:extLst>
              </a:tr>
              <a:tr h="573724">
                <a:tc>
                  <a:txBody>
                    <a:bodyPr/>
                    <a:lstStyle/>
                    <a:p>
                      <a:pPr algn="ctr"/>
                      <a:r>
                        <a:rPr lang="en-CA" sz="1800" dirty="0"/>
                        <a:t>BSIT 201</a:t>
                      </a:r>
                    </a:p>
                  </a:txBody>
                  <a:tcPr marL="91425" marR="91425" marT="45719" marB="45719"/>
                </a:tc>
                <a:tc>
                  <a:txBody>
                    <a:bodyPr/>
                    <a:lstStyle/>
                    <a:p>
                      <a:r>
                        <a:rPr lang="en-CA" sz="1800" dirty="0"/>
                        <a:t>Database</a:t>
                      </a:r>
                      <a:r>
                        <a:rPr lang="en-CA" sz="1800" baseline="0" dirty="0"/>
                        <a:t> Concept</a:t>
                      </a:r>
                      <a:endParaRPr lang="en-CA" sz="1800" dirty="0"/>
                    </a:p>
                  </a:txBody>
                  <a:tcPr marL="91425" marR="91425" marT="45719" marB="45719"/>
                </a:tc>
                <a:extLst>
                  <a:ext uri="{0D108BD9-81ED-4DB2-BD59-A6C34878D82A}">
                    <a16:rowId xmlns:a16="http://schemas.microsoft.com/office/drawing/2014/main" val="10001"/>
                  </a:ext>
                </a:extLst>
              </a:tr>
              <a:tr h="573724">
                <a:tc>
                  <a:txBody>
                    <a:bodyPr/>
                    <a:lstStyle/>
                    <a:p>
                      <a:pPr algn="ctr"/>
                      <a:r>
                        <a:rPr lang="en-CA" sz="1800" dirty="0"/>
                        <a:t>BSIT 301</a:t>
                      </a:r>
                    </a:p>
                  </a:txBody>
                  <a:tcPr marL="91425" marR="91425" marT="45719" marB="45719"/>
                </a:tc>
                <a:tc>
                  <a:txBody>
                    <a:bodyPr/>
                    <a:lstStyle/>
                    <a:p>
                      <a:r>
                        <a:rPr lang="en-CA" sz="1800" dirty="0"/>
                        <a:t>Business Mathematics</a:t>
                      </a:r>
                    </a:p>
                  </a:txBody>
                  <a:tcPr marL="91425" marR="91425" marT="45719" marB="45719"/>
                </a:tc>
                <a:extLst>
                  <a:ext uri="{0D108BD9-81ED-4DB2-BD59-A6C34878D82A}">
                    <a16:rowId xmlns:a16="http://schemas.microsoft.com/office/drawing/2014/main" val="10002"/>
                  </a:ext>
                </a:extLst>
              </a:tr>
            </a:tbl>
          </a:graphicData>
        </a:graphic>
      </p:graphicFrame>
      <p:sp>
        <p:nvSpPr>
          <p:cNvPr id="32" name="TextBox 31">
            <a:extLst>
              <a:ext uri="{FF2B5EF4-FFF2-40B4-BE49-F238E27FC236}">
                <a16:creationId xmlns:a16="http://schemas.microsoft.com/office/drawing/2014/main" id="{6C38653E-7235-70D7-776D-2A20F2D9146F}"/>
              </a:ext>
            </a:extLst>
          </p:cNvPr>
          <p:cNvSpPr txBox="1">
            <a:spLocks noChangeArrowheads="1"/>
          </p:cNvSpPr>
          <p:nvPr/>
        </p:nvSpPr>
        <p:spPr bwMode="auto">
          <a:xfrm>
            <a:off x="5664200" y="4845050"/>
            <a:ext cx="22415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CA" altLang="en-US"/>
              <a:t>Subject relation</a:t>
            </a:r>
          </a:p>
        </p:txBody>
      </p:sp>
      <p:cxnSp>
        <p:nvCxnSpPr>
          <p:cNvPr id="33" name="Straight Connector 32">
            <a:extLst>
              <a:ext uri="{FF2B5EF4-FFF2-40B4-BE49-F238E27FC236}">
                <a16:creationId xmlns:a16="http://schemas.microsoft.com/office/drawing/2014/main" id="{64FC8546-DC8D-B952-4061-FFA1BD76FFCE}"/>
              </a:ext>
            </a:extLst>
          </p:cNvPr>
          <p:cNvCxnSpPr/>
          <p:nvPr/>
        </p:nvCxnSpPr>
        <p:spPr bwMode="auto">
          <a:xfrm>
            <a:off x="207963" y="3668713"/>
            <a:ext cx="1152525" cy="0"/>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34" name="Straight Connector 33">
            <a:extLst>
              <a:ext uri="{FF2B5EF4-FFF2-40B4-BE49-F238E27FC236}">
                <a16:creationId xmlns:a16="http://schemas.microsoft.com/office/drawing/2014/main" id="{3287ECF1-D304-9391-8203-E1CF7AFB5B7A}"/>
              </a:ext>
            </a:extLst>
          </p:cNvPr>
          <p:cNvCxnSpPr/>
          <p:nvPr/>
        </p:nvCxnSpPr>
        <p:spPr bwMode="auto">
          <a:xfrm>
            <a:off x="4572000" y="3668713"/>
            <a:ext cx="1152525" cy="0"/>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39" name="Rectangle 38">
            <a:extLst>
              <a:ext uri="{FF2B5EF4-FFF2-40B4-BE49-F238E27FC236}">
                <a16:creationId xmlns:a16="http://schemas.microsoft.com/office/drawing/2014/main" id="{61533FF2-1EC7-5DC9-E89E-6EDBC1D459D0}"/>
              </a:ext>
            </a:extLst>
          </p:cNvPr>
          <p:cNvSpPr/>
          <p:nvPr/>
        </p:nvSpPr>
        <p:spPr bwMode="auto">
          <a:xfrm>
            <a:off x="838200" y="5888038"/>
            <a:ext cx="6878638" cy="588962"/>
          </a:xfrm>
          <a:prstGeom prst="rect">
            <a:avLst/>
          </a:prstGeom>
          <a:ln>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anchor="ctr" anchorCtr="1"/>
          <a:lstStyle/>
          <a:p>
            <a:pPr algn="ctr">
              <a:defRPr/>
            </a:pPr>
            <a:r>
              <a:rPr lang="en-CA" dirty="0"/>
              <a:t>By specifying a foreign key, this allows us to link together two different relations (e.g. Talha Amjad is taking Database Concept)</a:t>
            </a:r>
            <a:endParaRPr lang="en-CA" dirty="0">
              <a:solidFill>
                <a:schemeClr val="tx1"/>
              </a:solidFill>
              <a:latin typeface="Arial" charset="0"/>
            </a:endParaRPr>
          </a:p>
        </p:txBody>
      </p:sp>
      <p:grpSp>
        <p:nvGrpSpPr>
          <p:cNvPr id="3" name="Group 40">
            <a:extLst>
              <a:ext uri="{FF2B5EF4-FFF2-40B4-BE49-F238E27FC236}">
                <a16:creationId xmlns:a16="http://schemas.microsoft.com/office/drawing/2014/main" id="{4463A147-DEC6-9280-8D87-5F2BF82AFC70}"/>
              </a:ext>
            </a:extLst>
          </p:cNvPr>
          <p:cNvGrpSpPr>
            <a:grpSpLocks/>
          </p:cNvGrpSpPr>
          <p:nvPr/>
        </p:nvGrpSpPr>
        <p:grpSpPr bwMode="auto">
          <a:xfrm>
            <a:off x="3733800" y="3452813"/>
            <a:ext cx="4549775" cy="2241550"/>
            <a:chOff x="4904257" y="806227"/>
            <a:chExt cx="4549193" cy="2242408"/>
          </a:xfrm>
        </p:grpSpPr>
        <p:cxnSp>
          <p:nvCxnSpPr>
            <p:cNvPr id="43" name="Straight Arrow Connector 42">
              <a:extLst>
                <a:ext uri="{FF2B5EF4-FFF2-40B4-BE49-F238E27FC236}">
                  <a16:creationId xmlns:a16="http://schemas.microsoft.com/office/drawing/2014/main" id="{6152A1E1-7DAD-5C3A-3BD2-D38488180B6C}"/>
                </a:ext>
              </a:extLst>
            </p:cNvPr>
            <p:cNvCxnSpPr/>
            <p:nvPr/>
          </p:nvCxnSpPr>
          <p:spPr bwMode="auto">
            <a:xfrm flipH="1" flipV="1">
              <a:off x="4904257" y="806227"/>
              <a:ext cx="1007934" cy="1872378"/>
            </a:xfrm>
            <a:prstGeom prst="straightConnector1">
              <a:avLst/>
            </a:prstGeom>
            <a:solidFill>
              <a:schemeClr val="accent1"/>
            </a:solidFill>
            <a:ln w="25400" cap="flat" cmpd="sng" algn="ctr">
              <a:solidFill>
                <a:schemeClr val="accent6"/>
              </a:solidFill>
              <a:prstDash val="solid"/>
              <a:round/>
              <a:headEnd type="none" w="med" len="med"/>
              <a:tailEnd type="triangle"/>
            </a:ln>
            <a:effectLst/>
          </p:spPr>
        </p:cxnSp>
        <p:sp>
          <p:nvSpPr>
            <p:cNvPr id="44" name="TextBox 43">
              <a:extLst>
                <a:ext uri="{FF2B5EF4-FFF2-40B4-BE49-F238E27FC236}">
                  <a16:creationId xmlns:a16="http://schemas.microsoft.com/office/drawing/2014/main" id="{A9519314-B42E-DE29-DED5-7648D2619BDA}"/>
                </a:ext>
              </a:extLst>
            </p:cNvPr>
            <p:cNvSpPr txBox="1"/>
            <p:nvPr/>
          </p:nvSpPr>
          <p:spPr>
            <a:xfrm>
              <a:off x="5551874" y="2678605"/>
              <a:ext cx="3901576" cy="370030"/>
            </a:xfrm>
            <a:prstGeom prst="rect">
              <a:avLst/>
            </a:prstGeom>
            <a:solidFill>
              <a:schemeClr val="accent6">
                <a:alpha val="30000"/>
              </a:schemeClr>
            </a:solidFill>
            <a:ln>
              <a:solidFill>
                <a:schemeClr val="accent6"/>
              </a:solidFill>
            </a:ln>
          </p:spPr>
          <p:txBody>
            <a:bodyPr>
              <a:spAutoFit/>
            </a:bodyPr>
            <a:lstStyle/>
            <a:p>
              <a:pPr algn="ctr">
                <a:defRPr/>
              </a:pPr>
              <a:r>
                <a:rPr lang="en-CA" dirty="0"/>
                <a:t>SUBJECT column is a foreign key</a:t>
              </a:r>
            </a:p>
          </p:txBody>
        </p:sp>
      </p:gr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ipe(left)">
                                      <p:cBhvr>
                                        <p:cTn id="7" dur="500"/>
                                        <p:tgtEl>
                                          <p:spTgt spid="19"/>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wipe(left)">
                                      <p:cBhvr>
                                        <p:cTn id="11" dur="500"/>
                                        <p:tgtEl>
                                          <p:spTgt spid="24"/>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26"/>
                                        </p:tgtEl>
                                        <p:attrNameLst>
                                          <p:attrName>style.visibility</p:attrName>
                                        </p:attrNameLst>
                                      </p:cBhvr>
                                      <p:to>
                                        <p:strVal val="visible"/>
                                      </p:to>
                                    </p:set>
                                    <p:animEffect transition="in" filter="wipe(up)">
                                      <p:cBhvr>
                                        <p:cTn id="16" dur="500"/>
                                        <p:tgtEl>
                                          <p:spTgt spid="26"/>
                                        </p:tgtEl>
                                      </p:cBhvr>
                                    </p:animEffect>
                                  </p:childTnLst>
                                </p:cTn>
                              </p:par>
                            </p:childTnLst>
                          </p:cTn>
                        </p:par>
                        <p:par>
                          <p:cTn id="17" fill="hold" nodeType="afterGroup">
                            <p:stCondLst>
                              <p:cond delay="500"/>
                            </p:stCondLst>
                            <p:childTnLst>
                              <p:par>
                                <p:cTn id="18" presetID="22" presetClass="entr" presetSubtype="1" fill="hold" grpId="0" nodeType="afterEffect">
                                  <p:stCondLst>
                                    <p:cond delay="0"/>
                                  </p:stCondLst>
                                  <p:childTnLst>
                                    <p:set>
                                      <p:cBhvr>
                                        <p:cTn id="19" dur="1" fill="hold">
                                          <p:stCondLst>
                                            <p:cond delay="0"/>
                                          </p:stCondLst>
                                        </p:cTn>
                                        <p:tgtEl>
                                          <p:spTgt spid="29"/>
                                        </p:tgtEl>
                                        <p:attrNameLst>
                                          <p:attrName>style.visibility</p:attrName>
                                        </p:attrNameLst>
                                      </p:cBhvr>
                                      <p:to>
                                        <p:strVal val="visible"/>
                                      </p:to>
                                    </p:set>
                                    <p:animEffect transition="in" filter="wipe(up)">
                                      <p:cBhvr>
                                        <p:cTn id="20" dur="500"/>
                                        <p:tgtEl>
                                          <p:spTgt spid="29"/>
                                        </p:tgtEl>
                                      </p:cBhvr>
                                    </p:animEffect>
                                  </p:childTnLst>
                                </p:cTn>
                              </p:par>
                            </p:childTnLst>
                          </p:cTn>
                        </p:par>
                        <p:par>
                          <p:cTn id="21" fill="hold" nodeType="afterGroup">
                            <p:stCondLst>
                              <p:cond delay="1000"/>
                            </p:stCondLst>
                            <p:childTnLst>
                              <p:par>
                                <p:cTn id="22" presetID="22" presetClass="entr" presetSubtype="8" fill="hold" nodeType="afterEffect">
                                  <p:stCondLst>
                                    <p:cond delay="0"/>
                                  </p:stCondLst>
                                  <p:childTnLst>
                                    <p:set>
                                      <p:cBhvr>
                                        <p:cTn id="23" dur="1" fill="hold">
                                          <p:stCondLst>
                                            <p:cond delay="0"/>
                                          </p:stCondLst>
                                        </p:cTn>
                                        <p:tgtEl>
                                          <p:spTgt spid="33"/>
                                        </p:tgtEl>
                                        <p:attrNameLst>
                                          <p:attrName>style.visibility</p:attrName>
                                        </p:attrNameLst>
                                      </p:cBhvr>
                                      <p:to>
                                        <p:strVal val="visible"/>
                                      </p:to>
                                    </p:set>
                                    <p:animEffect transition="in" filter="wipe(left)">
                                      <p:cBhvr>
                                        <p:cTn id="24" dur="500"/>
                                        <p:tgtEl>
                                          <p:spTgt spid="33"/>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1" fill="hold" nodeType="clickEffect">
                                  <p:stCondLst>
                                    <p:cond delay="0"/>
                                  </p:stCondLst>
                                  <p:childTnLst>
                                    <p:set>
                                      <p:cBhvr>
                                        <p:cTn id="28" dur="1" fill="hold">
                                          <p:stCondLst>
                                            <p:cond delay="0"/>
                                          </p:stCondLst>
                                        </p:cTn>
                                        <p:tgtEl>
                                          <p:spTgt spid="30"/>
                                        </p:tgtEl>
                                        <p:attrNameLst>
                                          <p:attrName>style.visibility</p:attrName>
                                        </p:attrNameLst>
                                      </p:cBhvr>
                                      <p:to>
                                        <p:strVal val="visible"/>
                                      </p:to>
                                    </p:set>
                                    <p:animEffect transition="in" filter="wipe(up)">
                                      <p:cBhvr>
                                        <p:cTn id="29" dur="500"/>
                                        <p:tgtEl>
                                          <p:spTgt spid="30"/>
                                        </p:tgtEl>
                                      </p:cBhvr>
                                    </p:animEffect>
                                  </p:childTnLst>
                                </p:cTn>
                              </p:par>
                            </p:childTnLst>
                          </p:cTn>
                        </p:par>
                        <p:par>
                          <p:cTn id="30" fill="hold" nodeType="afterGroup">
                            <p:stCondLst>
                              <p:cond delay="500"/>
                            </p:stCondLst>
                            <p:childTnLst>
                              <p:par>
                                <p:cTn id="31" presetID="22" presetClass="entr" presetSubtype="1" fill="hold" grpId="0" nodeType="afterEffect">
                                  <p:stCondLst>
                                    <p:cond delay="0"/>
                                  </p:stCondLst>
                                  <p:childTnLst>
                                    <p:set>
                                      <p:cBhvr>
                                        <p:cTn id="32" dur="1" fill="hold">
                                          <p:stCondLst>
                                            <p:cond delay="0"/>
                                          </p:stCondLst>
                                        </p:cTn>
                                        <p:tgtEl>
                                          <p:spTgt spid="32"/>
                                        </p:tgtEl>
                                        <p:attrNameLst>
                                          <p:attrName>style.visibility</p:attrName>
                                        </p:attrNameLst>
                                      </p:cBhvr>
                                      <p:to>
                                        <p:strVal val="visible"/>
                                      </p:to>
                                    </p:set>
                                    <p:animEffect transition="in" filter="wipe(up)">
                                      <p:cBhvr>
                                        <p:cTn id="33" dur="500"/>
                                        <p:tgtEl>
                                          <p:spTgt spid="32"/>
                                        </p:tgtEl>
                                      </p:cBhvr>
                                    </p:animEffect>
                                  </p:childTnLst>
                                </p:cTn>
                              </p:par>
                            </p:childTnLst>
                          </p:cTn>
                        </p:par>
                        <p:par>
                          <p:cTn id="34" fill="hold" nodeType="afterGroup">
                            <p:stCondLst>
                              <p:cond delay="1000"/>
                            </p:stCondLst>
                            <p:childTnLst>
                              <p:par>
                                <p:cTn id="35" presetID="22" presetClass="entr" presetSubtype="8" fill="hold" nodeType="afterEffect">
                                  <p:stCondLst>
                                    <p:cond delay="0"/>
                                  </p:stCondLst>
                                  <p:childTnLst>
                                    <p:set>
                                      <p:cBhvr>
                                        <p:cTn id="36" dur="1" fill="hold">
                                          <p:stCondLst>
                                            <p:cond delay="0"/>
                                          </p:stCondLst>
                                        </p:cTn>
                                        <p:tgtEl>
                                          <p:spTgt spid="34"/>
                                        </p:tgtEl>
                                        <p:attrNameLst>
                                          <p:attrName>style.visibility</p:attrName>
                                        </p:attrNameLst>
                                      </p:cBhvr>
                                      <p:to>
                                        <p:strVal val="visible"/>
                                      </p:to>
                                    </p:set>
                                    <p:animEffect transition="in" filter="wipe(left)">
                                      <p:cBhvr>
                                        <p:cTn id="37" dur="500"/>
                                        <p:tgtEl>
                                          <p:spTgt spid="3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 presetClass="entr" presetSubtype="2" fill="hold" nodeType="clickEffect">
                                  <p:stCondLst>
                                    <p:cond delay="0"/>
                                  </p:stCondLst>
                                  <p:childTnLst>
                                    <p:set>
                                      <p:cBhvr>
                                        <p:cTn id="41" dur="1" fill="hold">
                                          <p:stCondLst>
                                            <p:cond delay="0"/>
                                          </p:stCondLst>
                                        </p:cTn>
                                        <p:tgtEl>
                                          <p:spTgt spid="3"/>
                                        </p:tgtEl>
                                        <p:attrNameLst>
                                          <p:attrName>style.visibility</p:attrName>
                                        </p:attrNameLst>
                                      </p:cBhvr>
                                      <p:to>
                                        <p:strVal val="visible"/>
                                      </p:to>
                                    </p:set>
                                    <p:anim calcmode="lin" valueType="num">
                                      <p:cBhvr additive="base">
                                        <p:cTn id="42" dur="500" fill="hold"/>
                                        <p:tgtEl>
                                          <p:spTgt spid="3"/>
                                        </p:tgtEl>
                                        <p:attrNameLst>
                                          <p:attrName>ppt_x</p:attrName>
                                        </p:attrNameLst>
                                      </p:cBhvr>
                                      <p:tavLst>
                                        <p:tav tm="0">
                                          <p:val>
                                            <p:strVal val="1+#ppt_w/2"/>
                                          </p:val>
                                        </p:tav>
                                        <p:tav tm="100000">
                                          <p:val>
                                            <p:strVal val="#ppt_x"/>
                                          </p:val>
                                        </p:tav>
                                      </p:tavLst>
                                    </p:anim>
                                    <p:anim calcmode="lin" valueType="num">
                                      <p:cBhvr additive="base">
                                        <p:cTn id="43"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44" fill="hold" nodeType="clickPar">
                      <p:stCondLst>
                        <p:cond delay="indefinite"/>
                      </p:stCondLst>
                      <p:childTnLst>
                        <p:par>
                          <p:cTn id="45" fill="hold" nodeType="withGroup">
                            <p:stCondLst>
                              <p:cond delay="0"/>
                            </p:stCondLst>
                            <p:childTnLst>
                              <p:par>
                                <p:cTn id="46" presetID="16" presetClass="entr" presetSubtype="21" fill="hold" grpId="0" nodeType="clickEffect">
                                  <p:stCondLst>
                                    <p:cond delay="0"/>
                                  </p:stCondLst>
                                  <p:childTnLst>
                                    <p:set>
                                      <p:cBhvr>
                                        <p:cTn id="47" dur="1" fill="hold">
                                          <p:stCondLst>
                                            <p:cond delay="0"/>
                                          </p:stCondLst>
                                        </p:cTn>
                                        <p:tgtEl>
                                          <p:spTgt spid="39"/>
                                        </p:tgtEl>
                                        <p:attrNameLst>
                                          <p:attrName>style.visibility</p:attrName>
                                        </p:attrNameLst>
                                      </p:cBhvr>
                                      <p:to>
                                        <p:strVal val="visible"/>
                                      </p:to>
                                    </p:set>
                                    <p:animEffect transition="in" filter="barn(inVertical)">
                                      <p:cBhvr>
                                        <p:cTn id="48"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19" grpId="0" animBg="1"/>
      <p:bldP spid="29" grpId="0"/>
      <p:bldP spid="32" grpId="0"/>
      <p:bldP spid="39" grpId="0" animBg="1"/>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D95D99-08AE-53C9-0CD7-0B93E9C343FD}"/>
              </a:ext>
            </a:extLst>
          </p:cNvPr>
          <p:cNvSpPr>
            <a:spLocks noGrp="1"/>
          </p:cNvSpPr>
          <p:nvPr>
            <p:ph type="title"/>
          </p:nvPr>
        </p:nvSpPr>
        <p:spPr>
          <a:xfrm>
            <a:off x="457200" y="0"/>
            <a:ext cx="7620000" cy="1143000"/>
          </a:xfrm>
        </p:spPr>
        <p:txBody>
          <a:bodyPr/>
          <a:lstStyle/>
          <a:p>
            <a:pPr algn="ctr">
              <a:defRPr/>
            </a:pPr>
            <a:r>
              <a:rPr lang="en-US" dirty="0"/>
              <a:t>Relational Constraints</a:t>
            </a:r>
            <a:endParaRPr lang="en-CA" dirty="0"/>
          </a:p>
        </p:txBody>
      </p:sp>
      <p:sp>
        <p:nvSpPr>
          <p:cNvPr id="24" name="Content Placeholder 2">
            <a:extLst>
              <a:ext uri="{FF2B5EF4-FFF2-40B4-BE49-F238E27FC236}">
                <a16:creationId xmlns:a16="http://schemas.microsoft.com/office/drawing/2014/main" id="{6EA963C7-936D-926B-26F7-FF94848B6F37}"/>
              </a:ext>
            </a:extLst>
          </p:cNvPr>
          <p:cNvSpPr txBox="1">
            <a:spLocks/>
          </p:cNvSpPr>
          <p:nvPr/>
        </p:nvSpPr>
        <p:spPr bwMode="auto">
          <a:xfrm>
            <a:off x="134938" y="1835150"/>
            <a:ext cx="8193087" cy="206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rgbClr val="FF6600"/>
              </a:buClr>
              <a:buFont typeface="Wingdings 3" panose="05040102010807070707" pitchFamily="18" charset="2"/>
              <a:buNone/>
            </a:pPr>
            <a:r>
              <a:rPr lang="en-US" altLang="en-US" sz="3200">
                <a:latin typeface="Calibri" panose="020F0502020204030204" pitchFamily="34" charset="0"/>
              </a:rPr>
              <a:t>A relational DBMS </a:t>
            </a:r>
            <a:r>
              <a:rPr lang="en-CA" altLang="en-US" sz="3200">
                <a:latin typeface="Calibri" panose="020F0502020204030204" pitchFamily="34" charset="0"/>
              </a:rPr>
              <a:t>will check each foreign key value to ensure that it is either NULL or refers to an existing primary key. This is known as enforcing referential integrity constraint</a:t>
            </a:r>
          </a:p>
          <a:p>
            <a:pPr algn="just" eaLnBrk="1" hangingPunct="1">
              <a:spcBef>
                <a:spcPct val="20000"/>
              </a:spcBef>
              <a:buClr>
                <a:srgbClr val="FF6600"/>
              </a:buClr>
              <a:buFont typeface="Wingdings 3" panose="05040102010807070707" pitchFamily="18" charset="2"/>
              <a:buNone/>
            </a:pPr>
            <a:endParaRPr lang="en-CA" altLang="en-US" sz="40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p:txBody>
      </p:sp>
      <p:sp>
        <p:nvSpPr>
          <p:cNvPr id="30" name="Snip Single Corner Rectangle 29">
            <a:extLst>
              <a:ext uri="{FF2B5EF4-FFF2-40B4-BE49-F238E27FC236}">
                <a16:creationId xmlns:a16="http://schemas.microsoft.com/office/drawing/2014/main" id="{94D9639B-2807-2FFD-181A-B884C3F6708D}"/>
              </a:ext>
            </a:extLst>
          </p:cNvPr>
          <p:cNvSpPr/>
          <p:nvPr/>
        </p:nvSpPr>
        <p:spPr>
          <a:xfrm>
            <a:off x="134938" y="1395413"/>
            <a:ext cx="3313112" cy="401637"/>
          </a:xfrm>
          <a:prstGeom prst="snip1Rect">
            <a:avLst/>
          </a:prstGeom>
          <a:solidFill>
            <a:srgbClr val="00B050">
              <a:alpha val="70000"/>
            </a:srgbClr>
          </a:solidFill>
          <a:ln>
            <a:solidFill>
              <a:srgbClr val="00B050"/>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indent="-342900" algn="just" eaLnBrk="1" hangingPunct="1">
              <a:spcBef>
                <a:spcPct val="20000"/>
              </a:spcBef>
              <a:buClr>
                <a:srgbClr val="FF6600"/>
              </a:buClr>
              <a:buSzPct val="100000"/>
              <a:defRPr/>
            </a:pPr>
            <a:r>
              <a:rPr lang="en-US" dirty="0">
                <a:latin typeface="Arial" pitchFamily="34" charset="0"/>
                <a:ea typeface="Times New Roman" pitchFamily="18" charset="0"/>
                <a:cs typeface="Arial" pitchFamily="34" charset="0"/>
              </a:rPr>
              <a:t>Referential Integrity Constraint</a:t>
            </a:r>
            <a:endParaRPr lang="en-GB" kern="0" dirty="0">
              <a:solidFill>
                <a:schemeClr val="tx1"/>
              </a:solidFill>
            </a:endParaRPr>
          </a:p>
        </p:txBody>
      </p:sp>
      <p:graphicFrame>
        <p:nvGraphicFramePr>
          <p:cNvPr id="35" name="Table 34">
            <a:extLst>
              <a:ext uri="{FF2B5EF4-FFF2-40B4-BE49-F238E27FC236}">
                <a16:creationId xmlns:a16="http://schemas.microsoft.com/office/drawing/2014/main" id="{48A21ADC-DC11-9F46-28C4-D5AB77EB20D3}"/>
              </a:ext>
            </a:extLst>
          </p:cNvPr>
          <p:cNvGraphicFramePr>
            <a:graphicFrameLocks noGrp="1"/>
          </p:cNvGraphicFramePr>
          <p:nvPr/>
        </p:nvGraphicFramePr>
        <p:xfrm>
          <a:off x="276225" y="4043363"/>
          <a:ext cx="3914775" cy="1214437"/>
        </p:xfrm>
        <a:graphic>
          <a:graphicData uri="http://schemas.openxmlformats.org/drawingml/2006/table">
            <a:tbl>
              <a:tblPr firstRow="1" bandRow="1">
                <a:tableStyleId>{3B4B98B0-60AC-42C2-AFA5-B58CD77FA1E5}</a:tableStyleId>
              </a:tblPr>
              <a:tblGrid>
                <a:gridCol w="1143918">
                  <a:extLst>
                    <a:ext uri="{9D8B030D-6E8A-4147-A177-3AD203B41FA5}">
                      <a16:colId xmlns:a16="http://schemas.microsoft.com/office/drawing/2014/main" val="20000"/>
                    </a:ext>
                  </a:extLst>
                </a:gridCol>
                <a:gridCol w="1448402">
                  <a:extLst>
                    <a:ext uri="{9D8B030D-6E8A-4147-A177-3AD203B41FA5}">
                      <a16:colId xmlns:a16="http://schemas.microsoft.com/office/drawing/2014/main" val="20001"/>
                    </a:ext>
                  </a:extLst>
                </a:gridCol>
                <a:gridCol w="1322455">
                  <a:extLst>
                    <a:ext uri="{9D8B030D-6E8A-4147-A177-3AD203B41FA5}">
                      <a16:colId xmlns:a16="http://schemas.microsoft.com/office/drawing/2014/main" val="20002"/>
                    </a:ext>
                  </a:extLst>
                </a:gridCol>
              </a:tblGrid>
              <a:tr h="640405">
                <a:tc>
                  <a:txBody>
                    <a:bodyPr/>
                    <a:lstStyle/>
                    <a:p>
                      <a:pPr algn="ctr"/>
                      <a:r>
                        <a:rPr lang="en-CA" sz="1800" dirty="0"/>
                        <a:t>STUDENT</a:t>
                      </a:r>
                    </a:p>
                    <a:p>
                      <a:pPr algn="ctr"/>
                      <a:r>
                        <a:rPr lang="en-CA" sz="1800" dirty="0"/>
                        <a:t>ID</a:t>
                      </a:r>
                    </a:p>
                  </a:txBody>
                  <a:tcPr marL="91438" marR="91438" marT="45743" marB="45743"/>
                </a:tc>
                <a:tc>
                  <a:txBody>
                    <a:bodyPr/>
                    <a:lstStyle/>
                    <a:p>
                      <a:pPr algn="ctr"/>
                      <a:r>
                        <a:rPr lang="en-CA" sz="1800" dirty="0"/>
                        <a:t>NAME</a:t>
                      </a:r>
                    </a:p>
                  </a:txBody>
                  <a:tcPr marL="91438" marR="91438" marT="45743" marB="45743"/>
                </a:tc>
                <a:tc>
                  <a:txBody>
                    <a:bodyPr/>
                    <a:lstStyle/>
                    <a:p>
                      <a:pPr algn="ctr"/>
                      <a:r>
                        <a:rPr lang="en-CA" sz="1800" dirty="0"/>
                        <a:t>SUBJECT</a:t>
                      </a:r>
                    </a:p>
                  </a:txBody>
                  <a:tcPr marL="91438" marR="91438" marT="45743" marB="45743"/>
                </a:tc>
                <a:extLst>
                  <a:ext uri="{0D108BD9-81ED-4DB2-BD59-A6C34878D82A}">
                    <a16:rowId xmlns:a16="http://schemas.microsoft.com/office/drawing/2014/main" val="10000"/>
                  </a:ext>
                </a:extLst>
              </a:tr>
              <a:tr h="574032">
                <a:tc>
                  <a:txBody>
                    <a:bodyPr/>
                    <a:lstStyle/>
                    <a:p>
                      <a:pPr algn="ctr"/>
                      <a:endParaRPr lang="en-CA" sz="1800" dirty="0"/>
                    </a:p>
                  </a:txBody>
                  <a:tcPr marL="91438" marR="91438" marT="45743" marB="45743"/>
                </a:tc>
                <a:tc>
                  <a:txBody>
                    <a:bodyPr/>
                    <a:lstStyle/>
                    <a:p>
                      <a:endParaRPr lang="en-CA" sz="1800" dirty="0"/>
                    </a:p>
                  </a:txBody>
                  <a:tcPr marL="91438" marR="91438" marT="45743" marB="45743"/>
                </a:tc>
                <a:tc>
                  <a:txBody>
                    <a:bodyPr/>
                    <a:lstStyle/>
                    <a:p>
                      <a:endParaRPr lang="en-CA" sz="1800" dirty="0"/>
                    </a:p>
                  </a:txBody>
                  <a:tcPr marL="91438" marR="91438" marT="45743" marB="45743"/>
                </a:tc>
                <a:extLst>
                  <a:ext uri="{0D108BD9-81ED-4DB2-BD59-A6C34878D82A}">
                    <a16:rowId xmlns:a16="http://schemas.microsoft.com/office/drawing/2014/main" val="10001"/>
                  </a:ext>
                </a:extLst>
              </a:tr>
            </a:tbl>
          </a:graphicData>
        </a:graphic>
      </p:graphicFrame>
      <p:sp>
        <p:nvSpPr>
          <p:cNvPr id="36" name="TextBox 35">
            <a:extLst>
              <a:ext uri="{FF2B5EF4-FFF2-40B4-BE49-F238E27FC236}">
                <a16:creationId xmlns:a16="http://schemas.microsoft.com/office/drawing/2014/main" id="{CED80A8E-123A-2AB9-0DD6-C573F1F7671F}"/>
              </a:ext>
            </a:extLst>
          </p:cNvPr>
          <p:cNvSpPr txBox="1">
            <a:spLocks noChangeArrowheads="1"/>
          </p:cNvSpPr>
          <p:nvPr/>
        </p:nvSpPr>
        <p:spPr bwMode="auto">
          <a:xfrm>
            <a:off x="1030288" y="5222875"/>
            <a:ext cx="22415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CA" altLang="en-US"/>
              <a:t>Student relation</a:t>
            </a:r>
          </a:p>
        </p:txBody>
      </p:sp>
      <p:graphicFrame>
        <p:nvGraphicFramePr>
          <p:cNvPr id="37" name="Table 36">
            <a:extLst>
              <a:ext uri="{FF2B5EF4-FFF2-40B4-BE49-F238E27FC236}">
                <a16:creationId xmlns:a16="http://schemas.microsoft.com/office/drawing/2014/main" id="{7F03D3E8-6B45-E00C-2921-5EFA2D158436}"/>
              </a:ext>
            </a:extLst>
          </p:cNvPr>
          <p:cNvGraphicFramePr>
            <a:graphicFrameLocks noGrp="1"/>
          </p:cNvGraphicFramePr>
          <p:nvPr/>
        </p:nvGraphicFramePr>
        <p:xfrm>
          <a:off x="4343400" y="4043363"/>
          <a:ext cx="3984625" cy="1214437"/>
        </p:xfrm>
        <a:graphic>
          <a:graphicData uri="http://schemas.openxmlformats.org/drawingml/2006/table">
            <a:tbl>
              <a:tblPr firstRow="1" bandRow="1">
                <a:tableStyleId>{0E3FDE45-AF77-4B5C-9715-49D594BDF05E}</a:tableStyleId>
              </a:tblPr>
              <a:tblGrid>
                <a:gridCol w="1320207">
                  <a:extLst>
                    <a:ext uri="{9D8B030D-6E8A-4147-A177-3AD203B41FA5}">
                      <a16:colId xmlns:a16="http://schemas.microsoft.com/office/drawing/2014/main" val="20000"/>
                    </a:ext>
                  </a:extLst>
                </a:gridCol>
                <a:gridCol w="2664418">
                  <a:extLst>
                    <a:ext uri="{9D8B030D-6E8A-4147-A177-3AD203B41FA5}">
                      <a16:colId xmlns:a16="http://schemas.microsoft.com/office/drawing/2014/main" val="20001"/>
                    </a:ext>
                  </a:extLst>
                </a:gridCol>
              </a:tblGrid>
              <a:tr h="640405">
                <a:tc>
                  <a:txBody>
                    <a:bodyPr/>
                    <a:lstStyle/>
                    <a:p>
                      <a:pPr algn="ctr"/>
                      <a:r>
                        <a:rPr lang="en-CA" sz="1800" dirty="0"/>
                        <a:t>SUBJECT</a:t>
                      </a:r>
                    </a:p>
                    <a:p>
                      <a:pPr algn="ctr"/>
                      <a:r>
                        <a:rPr lang="en-CA" sz="1800" dirty="0"/>
                        <a:t>CODE</a:t>
                      </a:r>
                    </a:p>
                  </a:txBody>
                  <a:tcPr marL="91444" marR="91444" marT="45743" marB="45743"/>
                </a:tc>
                <a:tc>
                  <a:txBody>
                    <a:bodyPr/>
                    <a:lstStyle/>
                    <a:p>
                      <a:pPr algn="ctr"/>
                      <a:r>
                        <a:rPr lang="en-CA" sz="1800" dirty="0"/>
                        <a:t>NAME</a:t>
                      </a:r>
                    </a:p>
                  </a:txBody>
                  <a:tcPr marL="91444" marR="91444" marT="45743" marB="45743"/>
                </a:tc>
                <a:extLst>
                  <a:ext uri="{0D108BD9-81ED-4DB2-BD59-A6C34878D82A}">
                    <a16:rowId xmlns:a16="http://schemas.microsoft.com/office/drawing/2014/main" val="10000"/>
                  </a:ext>
                </a:extLst>
              </a:tr>
              <a:tr h="574032">
                <a:tc>
                  <a:txBody>
                    <a:bodyPr/>
                    <a:lstStyle/>
                    <a:p>
                      <a:pPr algn="ctr"/>
                      <a:r>
                        <a:rPr lang="en-CA" sz="1800" dirty="0"/>
                        <a:t>BSIT 201</a:t>
                      </a:r>
                    </a:p>
                  </a:txBody>
                  <a:tcPr marL="91444" marR="91444" marT="45743" marB="45743"/>
                </a:tc>
                <a:tc>
                  <a:txBody>
                    <a:bodyPr/>
                    <a:lstStyle/>
                    <a:p>
                      <a:r>
                        <a:rPr lang="en-CA" sz="1800" dirty="0"/>
                        <a:t>Database</a:t>
                      </a:r>
                      <a:r>
                        <a:rPr lang="en-CA" sz="1800" baseline="0" dirty="0"/>
                        <a:t> Concept</a:t>
                      </a:r>
                      <a:endParaRPr lang="en-CA" sz="1800" dirty="0"/>
                    </a:p>
                  </a:txBody>
                  <a:tcPr marL="91444" marR="91444" marT="45743" marB="45743"/>
                </a:tc>
                <a:extLst>
                  <a:ext uri="{0D108BD9-81ED-4DB2-BD59-A6C34878D82A}">
                    <a16:rowId xmlns:a16="http://schemas.microsoft.com/office/drawing/2014/main" val="10001"/>
                  </a:ext>
                </a:extLst>
              </a:tr>
            </a:tbl>
          </a:graphicData>
        </a:graphic>
      </p:graphicFrame>
      <p:sp>
        <p:nvSpPr>
          <p:cNvPr id="38" name="TextBox 37">
            <a:extLst>
              <a:ext uri="{FF2B5EF4-FFF2-40B4-BE49-F238E27FC236}">
                <a16:creationId xmlns:a16="http://schemas.microsoft.com/office/drawing/2014/main" id="{7B1E478A-A32E-BE99-FD1D-B6D44F940886}"/>
              </a:ext>
            </a:extLst>
          </p:cNvPr>
          <p:cNvSpPr txBox="1">
            <a:spLocks noChangeArrowheads="1"/>
          </p:cNvSpPr>
          <p:nvPr/>
        </p:nvSpPr>
        <p:spPr bwMode="auto">
          <a:xfrm>
            <a:off x="5664200" y="5219700"/>
            <a:ext cx="22415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CA" altLang="en-US"/>
              <a:t>Subject relation</a:t>
            </a:r>
          </a:p>
        </p:txBody>
      </p:sp>
      <p:cxnSp>
        <p:nvCxnSpPr>
          <p:cNvPr id="39" name="Straight Connector 38">
            <a:extLst>
              <a:ext uri="{FF2B5EF4-FFF2-40B4-BE49-F238E27FC236}">
                <a16:creationId xmlns:a16="http://schemas.microsoft.com/office/drawing/2014/main" id="{3D2C2D2A-5E5B-4296-C2EA-574F870E4CA4}"/>
              </a:ext>
            </a:extLst>
          </p:cNvPr>
          <p:cNvCxnSpPr/>
          <p:nvPr/>
        </p:nvCxnSpPr>
        <p:spPr bwMode="auto">
          <a:xfrm>
            <a:off x="360363" y="4619625"/>
            <a:ext cx="1108075" cy="0"/>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40" name="Straight Connector 39">
            <a:extLst>
              <a:ext uri="{FF2B5EF4-FFF2-40B4-BE49-F238E27FC236}">
                <a16:creationId xmlns:a16="http://schemas.microsoft.com/office/drawing/2014/main" id="{DD378089-881A-FF25-BC24-75BC5F24DA55}"/>
              </a:ext>
            </a:extLst>
          </p:cNvPr>
          <p:cNvCxnSpPr/>
          <p:nvPr/>
        </p:nvCxnSpPr>
        <p:spPr bwMode="auto">
          <a:xfrm>
            <a:off x="4438650" y="4606925"/>
            <a:ext cx="1152525" cy="0"/>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43" name="Rectangle 42">
            <a:extLst>
              <a:ext uri="{FF2B5EF4-FFF2-40B4-BE49-F238E27FC236}">
                <a16:creationId xmlns:a16="http://schemas.microsoft.com/office/drawing/2014/main" id="{1F906E4E-D8F2-DE44-749F-F595422929A4}"/>
              </a:ext>
            </a:extLst>
          </p:cNvPr>
          <p:cNvSpPr/>
          <p:nvPr/>
        </p:nvSpPr>
        <p:spPr bwMode="auto">
          <a:xfrm>
            <a:off x="571500" y="5735638"/>
            <a:ext cx="7200900" cy="588962"/>
          </a:xfrm>
          <a:prstGeom prst="rect">
            <a:avLst/>
          </a:prstGeom>
          <a:ln>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anchor="ctr"/>
          <a:lstStyle/>
          <a:p>
            <a:pPr>
              <a:defRPr/>
            </a:pPr>
            <a:r>
              <a:rPr lang="en-CA" dirty="0"/>
              <a:t>We can enter a new student into the student relation with SUBJECT = NULL or SUBJECT = BSIT 201</a:t>
            </a:r>
            <a:endParaRPr lang="en-CA" dirty="0">
              <a:solidFill>
                <a:schemeClr val="tx1"/>
              </a:solidFill>
              <a:latin typeface="Arial"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left)">
                                      <p:cBhvr>
                                        <p:cTn id="7" dur="500"/>
                                        <p:tgtEl>
                                          <p:spTgt spid="2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wipe(up)">
                                      <p:cBhvr>
                                        <p:cTn id="12" dur="500"/>
                                        <p:tgtEl>
                                          <p:spTgt spid="35"/>
                                        </p:tgtEl>
                                      </p:cBhvr>
                                    </p:animEffect>
                                  </p:childTnLst>
                                </p:cTn>
                              </p:par>
                            </p:childTnLst>
                          </p:cTn>
                        </p:par>
                        <p:par>
                          <p:cTn id="13" fill="hold" nodeType="afterGroup">
                            <p:stCondLst>
                              <p:cond delay="500"/>
                            </p:stCondLst>
                            <p:childTnLst>
                              <p:par>
                                <p:cTn id="14" presetID="22" presetClass="entr" presetSubtype="1" fill="hold" grpId="0" nodeType="afterEffect">
                                  <p:stCondLst>
                                    <p:cond delay="0"/>
                                  </p:stCondLst>
                                  <p:childTnLst>
                                    <p:set>
                                      <p:cBhvr>
                                        <p:cTn id="15" dur="1" fill="hold">
                                          <p:stCondLst>
                                            <p:cond delay="0"/>
                                          </p:stCondLst>
                                        </p:cTn>
                                        <p:tgtEl>
                                          <p:spTgt spid="36"/>
                                        </p:tgtEl>
                                        <p:attrNameLst>
                                          <p:attrName>style.visibility</p:attrName>
                                        </p:attrNameLst>
                                      </p:cBhvr>
                                      <p:to>
                                        <p:strVal val="visible"/>
                                      </p:to>
                                    </p:set>
                                    <p:animEffect transition="in" filter="wipe(up)">
                                      <p:cBhvr>
                                        <p:cTn id="16" dur="500"/>
                                        <p:tgtEl>
                                          <p:spTgt spid="36"/>
                                        </p:tgtEl>
                                      </p:cBhvr>
                                    </p:animEffect>
                                  </p:childTnLst>
                                </p:cTn>
                              </p:par>
                            </p:childTnLst>
                          </p:cTn>
                        </p:par>
                        <p:par>
                          <p:cTn id="17" fill="hold" nodeType="afterGroup">
                            <p:stCondLst>
                              <p:cond delay="1000"/>
                            </p:stCondLst>
                            <p:childTnLst>
                              <p:par>
                                <p:cTn id="18" presetID="22" presetClass="entr" presetSubtype="8" fill="hold" nodeType="afterEffect">
                                  <p:stCondLst>
                                    <p:cond delay="0"/>
                                  </p:stCondLst>
                                  <p:childTnLst>
                                    <p:set>
                                      <p:cBhvr>
                                        <p:cTn id="19" dur="1" fill="hold">
                                          <p:stCondLst>
                                            <p:cond delay="0"/>
                                          </p:stCondLst>
                                        </p:cTn>
                                        <p:tgtEl>
                                          <p:spTgt spid="39"/>
                                        </p:tgtEl>
                                        <p:attrNameLst>
                                          <p:attrName>style.visibility</p:attrName>
                                        </p:attrNameLst>
                                      </p:cBhvr>
                                      <p:to>
                                        <p:strVal val="visible"/>
                                      </p:to>
                                    </p:set>
                                    <p:animEffect transition="in" filter="wipe(left)">
                                      <p:cBhvr>
                                        <p:cTn id="20" dur="500"/>
                                        <p:tgtEl>
                                          <p:spTgt spid="39"/>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1" fill="hold" nodeType="clickEffect">
                                  <p:stCondLst>
                                    <p:cond delay="0"/>
                                  </p:stCondLst>
                                  <p:childTnLst>
                                    <p:set>
                                      <p:cBhvr>
                                        <p:cTn id="24" dur="1" fill="hold">
                                          <p:stCondLst>
                                            <p:cond delay="0"/>
                                          </p:stCondLst>
                                        </p:cTn>
                                        <p:tgtEl>
                                          <p:spTgt spid="37"/>
                                        </p:tgtEl>
                                        <p:attrNameLst>
                                          <p:attrName>style.visibility</p:attrName>
                                        </p:attrNameLst>
                                      </p:cBhvr>
                                      <p:to>
                                        <p:strVal val="visible"/>
                                      </p:to>
                                    </p:set>
                                    <p:animEffect transition="in" filter="wipe(up)">
                                      <p:cBhvr>
                                        <p:cTn id="25" dur="500"/>
                                        <p:tgtEl>
                                          <p:spTgt spid="37"/>
                                        </p:tgtEl>
                                      </p:cBhvr>
                                    </p:animEffect>
                                  </p:childTnLst>
                                </p:cTn>
                              </p:par>
                            </p:childTnLst>
                          </p:cTn>
                        </p:par>
                        <p:par>
                          <p:cTn id="26" fill="hold" nodeType="afterGroup">
                            <p:stCondLst>
                              <p:cond delay="500"/>
                            </p:stCondLst>
                            <p:childTnLst>
                              <p:par>
                                <p:cTn id="27" presetID="22" presetClass="entr" presetSubtype="1" fill="hold" grpId="0" nodeType="afterEffect">
                                  <p:stCondLst>
                                    <p:cond delay="0"/>
                                  </p:stCondLst>
                                  <p:childTnLst>
                                    <p:set>
                                      <p:cBhvr>
                                        <p:cTn id="28" dur="1" fill="hold">
                                          <p:stCondLst>
                                            <p:cond delay="0"/>
                                          </p:stCondLst>
                                        </p:cTn>
                                        <p:tgtEl>
                                          <p:spTgt spid="38"/>
                                        </p:tgtEl>
                                        <p:attrNameLst>
                                          <p:attrName>style.visibility</p:attrName>
                                        </p:attrNameLst>
                                      </p:cBhvr>
                                      <p:to>
                                        <p:strVal val="visible"/>
                                      </p:to>
                                    </p:set>
                                    <p:animEffect transition="in" filter="wipe(up)">
                                      <p:cBhvr>
                                        <p:cTn id="29" dur="500"/>
                                        <p:tgtEl>
                                          <p:spTgt spid="38"/>
                                        </p:tgtEl>
                                      </p:cBhvr>
                                    </p:animEffect>
                                  </p:childTnLst>
                                </p:cTn>
                              </p:par>
                            </p:childTnLst>
                          </p:cTn>
                        </p:par>
                        <p:par>
                          <p:cTn id="30" fill="hold" nodeType="afterGroup">
                            <p:stCondLst>
                              <p:cond delay="1000"/>
                            </p:stCondLst>
                            <p:childTnLst>
                              <p:par>
                                <p:cTn id="31" presetID="22" presetClass="entr" presetSubtype="8" fill="hold" nodeType="afterEffect">
                                  <p:stCondLst>
                                    <p:cond delay="0"/>
                                  </p:stCondLst>
                                  <p:childTnLst>
                                    <p:set>
                                      <p:cBhvr>
                                        <p:cTn id="32" dur="1" fill="hold">
                                          <p:stCondLst>
                                            <p:cond delay="0"/>
                                          </p:stCondLst>
                                        </p:cTn>
                                        <p:tgtEl>
                                          <p:spTgt spid="40"/>
                                        </p:tgtEl>
                                        <p:attrNameLst>
                                          <p:attrName>style.visibility</p:attrName>
                                        </p:attrNameLst>
                                      </p:cBhvr>
                                      <p:to>
                                        <p:strVal val="visible"/>
                                      </p:to>
                                    </p:set>
                                    <p:animEffect transition="in" filter="wipe(left)">
                                      <p:cBhvr>
                                        <p:cTn id="33" dur="500"/>
                                        <p:tgtEl>
                                          <p:spTgt spid="40"/>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43"/>
                                        </p:tgtEl>
                                        <p:attrNameLst>
                                          <p:attrName>style.visibility</p:attrName>
                                        </p:attrNameLst>
                                      </p:cBhvr>
                                      <p:to>
                                        <p:strVal val="visible"/>
                                      </p:to>
                                    </p:set>
                                    <p:animEffect transition="in" filter="wipe(left)">
                                      <p:cBhvr>
                                        <p:cTn id="38"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36" grpId="0"/>
      <p:bldP spid="38" grpId="0"/>
      <p:bldP spid="43" grpId="0" animBg="1"/>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Content Placeholder 2">
            <a:extLst>
              <a:ext uri="{FF2B5EF4-FFF2-40B4-BE49-F238E27FC236}">
                <a16:creationId xmlns:a16="http://schemas.microsoft.com/office/drawing/2014/main" id="{75C2E336-0FFB-C3F2-C3E0-9B22BBAFBEE6}"/>
              </a:ext>
            </a:extLst>
          </p:cNvPr>
          <p:cNvSpPr txBox="1">
            <a:spLocks/>
          </p:cNvSpPr>
          <p:nvPr/>
        </p:nvSpPr>
        <p:spPr bwMode="auto">
          <a:xfrm>
            <a:off x="134938" y="1773238"/>
            <a:ext cx="8247062" cy="201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rgbClr val="FF6600"/>
              </a:buClr>
              <a:buFont typeface="Wingdings 3" panose="05040102010807070707" pitchFamily="18" charset="2"/>
              <a:buNone/>
            </a:pPr>
            <a:r>
              <a:rPr lang="en-US" altLang="en-US" sz="3200">
                <a:latin typeface="Calibri" panose="020F0502020204030204" pitchFamily="34" charset="0"/>
              </a:rPr>
              <a:t>A relational DBMS </a:t>
            </a:r>
            <a:r>
              <a:rPr lang="en-CA" altLang="en-US" sz="3200">
                <a:latin typeface="Calibri" panose="020F0502020204030204" pitchFamily="34" charset="0"/>
              </a:rPr>
              <a:t>will check each foreign key value to ensure that it is either NULL or refers to an existing primary key. This is known as enforcing referential integrity constraint</a:t>
            </a:r>
          </a:p>
          <a:p>
            <a:pPr algn="just" eaLnBrk="1" hangingPunct="1">
              <a:spcBef>
                <a:spcPct val="20000"/>
              </a:spcBef>
              <a:buClr>
                <a:srgbClr val="FF6600"/>
              </a:buClr>
              <a:buFont typeface="Wingdings 3" panose="05040102010807070707" pitchFamily="18" charset="2"/>
              <a:buNone/>
            </a:pPr>
            <a:endParaRPr lang="en-CA" altLang="en-US" sz="32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40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p:txBody>
      </p:sp>
      <p:sp>
        <p:nvSpPr>
          <p:cNvPr id="2" name="Title 1">
            <a:extLst>
              <a:ext uri="{FF2B5EF4-FFF2-40B4-BE49-F238E27FC236}">
                <a16:creationId xmlns:a16="http://schemas.microsoft.com/office/drawing/2014/main" id="{E3C4A689-B270-5A32-110F-4A3BA64F37FF}"/>
              </a:ext>
            </a:extLst>
          </p:cNvPr>
          <p:cNvSpPr>
            <a:spLocks noGrp="1"/>
          </p:cNvSpPr>
          <p:nvPr>
            <p:ph type="title"/>
          </p:nvPr>
        </p:nvSpPr>
        <p:spPr>
          <a:xfrm>
            <a:off x="457200" y="0"/>
            <a:ext cx="7620000" cy="1143000"/>
          </a:xfrm>
        </p:spPr>
        <p:txBody>
          <a:bodyPr/>
          <a:lstStyle/>
          <a:p>
            <a:pPr algn="ctr">
              <a:defRPr/>
            </a:pPr>
            <a:r>
              <a:rPr lang="en-US" dirty="0"/>
              <a:t>Relational Constraints</a:t>
            </a:r>
            <a:endParaRPr lang="en-CA" dirty="0"/>
          </a:p>
        </p:txBody>
      </p:sp>
      <p:sp>
        <p:nvSpPr>
          <p:cNvPr id="40" name="Snip Single Corner Rectangle 39">
            <a:extLst>
              <a:ext uri="{FF2B5EF4-FFF2-40B4-BE49-F238E27FC236}">
                <a16:creationId xmlns:a16="http://schemas.microsoft.com/office/drawing/2014/main" id="{A352BA15-D99C-A452-EF9D-258D45948AF5}"/>
              </a:ext>
            </a:extLst>
          </p:cNvPr>
          <p:cNvSpPr/>
          <p:nvPr/>
        </p:nvSpPr>
        <p:spPr>
          <a:xfrm>
            <a:off x="123825" y="1423988"/>
            <a:ext cx="3311525" cy="401637"/>
          </a:xfrm>
          <a:prstGeom prst="snip1Rect">
            <a:avLst/>
          </a:prstGeom>
          <a:solidFill>
            <a:srgbClr val="00B050">
              <a:alpha val="70000"/>
            </a:srgbClr>
          </a:solidFill>
          <a:ln>
            <a:solidFill>
              <a:srgbClr val="00B050"/>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indent="-342900" algn="just" eaLnBrk="1" hangingPunct="1">
              <a:spcBef>
                <a:spcPct val="20000"/>
              </a:spcBef>
              <a:buClr>
                <a:srgbClr val="FF6600"/>
              </a:buClr>
              <a:buSzPct val="100000"/>
              <a:defRPr/>
            </a:pPr>
            <a:r>
              <a:rPr lang="en-US" dirty="0">
                <a:latin typeface="Arial" pitchFamily="34" charset="0"/>
                <a:ea typeface="Times New Roman" pitchFamily="18" charset="0"/>
                <a:cs typeface="Arial" pitchFamily="34" charset="0"/>
              </a:rPr>
              <a:t>Referential Integrity Constraint</a:t>
            </a:r>
            <a:endParaRPr lang="en-GB" kern="0" dirty="0">
              <a:solidFill>
                <a:schemeClr val="tx1"/>
              </a:solidFill>
            </a:endParaRPr>
          </a:p>
        </p:txBody>
      </p:sp>
      <p:graphicFrame>
        <p:nvGraphicFramePr>
          <p:cNvPr id="41" name="Table 40">
            <a:extLst>
              <a:ext uri="{FF2B5EF4-FFF2-40B4-BE49-F238E27FC236}">
                <a16:creationId xmlns:a16="http://schemas.microsoft.com/office/drawing/2014/main" id="{DBDFA3F0-8F4E-3BEC-91C1-F57B640A7069}"/>
              </a:ext>
            </a:extLst>
          </p:cNvPr>
          <p:cNvGraphicFramePr>
            <a:graphicFrameLocks noGrp="1"/>
          </p:cNvGraphicFramePr>
          <p:nvPr/>
        </p:nvGraphicFramePr>
        <p:xfrm>
          <a:off x="123825" y="3933825"/>
          <a:ext cx="4219575" cy="1214438"/>
        </p:xfrm>
        <a:graphic>
          <a:graphicData uri="http://schemas.openxmlformats.org/drawingml/2006/table">
            <a:tbl>
              <a:tblPr firstRow="1" bandRow="1">
                <a:tableStyleId>{3B4B98B0-60AC-42C2-AFA5-B58CD77FA1E5}</a:tableStyleId>
              </a:tblPr>
              <a:tblGrid>
                <a:gridCol w="1232982">
                  <a:extLst>
                    <a:ext uri="{9D8B030D-6E8A-4147-A177-3AD203B41FA5}">
                      <a16:colId xmlns:a16="http://schemas.microsoft.com/office/drawing/2014/main" val="20000"/>
                    </a:ext>
                  </a:extLst>
                </a:gridCol>
                <a:gridCol w="1561174">
                  <a:extLst>
                    <a:ext uri="{9D8B030D-6E8A-4147-A177-3AD203B41FA5}">
                      <a16:colId xmlns:a16="http://schemas.microsoft.com/office/drawing/2014/main" val="20001"/>
                    </a:ext>
                  </a:extLst>
                </a:gridCol>
                <a:gridCol w="1425419">
                  <a:extLst>
                    <a:ext uri="{9D8B030D-6E8A-4147-A177-3AD203B41FA5}">
                      <a16:colId xmlns:a16="http://schemas.microsoft.com/office/drawing/2014/main" val="20002"/>
                    </a:ext>
                  </a:extLst>
                </a:gridCol>
              </a:tblGrid>
              <a:tr h="640405">
                <a:tc>
                  <a:txBody>
                    <a:bodyPr/>
                    <a:lstStyle/>
                    <a:p>
                      <a:pPr algn="ctr"/>
                      <a:r>
                        <a:rPr lang="en-CA" sz="1800" dirty="0"/>
                        <a:t>STUDENT</a:t>
                      </a:r>
                    </a:p>
                    <a:p>
                      <a:pPr algn="ctr"/>
                      <a:r>
                        <a:rPr lang="en-CA" sz="1800" dirty="0"/>
                        <a:t>ID</a:t>
                      </a:r>
                    </a:p>
                  </a:txBody>
                  <a:tcPr marL="91439" marR="91439" marT="45743" marB="45743"/>
                </a:tc>
                <a:tc>
                  <a:txBody>
                    <a:bodyPr/>
                    <a:lstStyle/>
                    <a:p>
                      <a:pPr algn="ctr"/>
                      <a:r>
                        <a:rPr lang="en-CA" sz="1800" dirty="0"/>
                        <a:t>NAME</a:t>
                      </a:r>
                    </a:p>
                  </a:txBody>
                  <a:tcPr marL="91439" marR="91439" marT="45743" marB="45743"/>
                </a:tc>
                <a:tc>
                  <a:txBody>
                    <a:bodyPr/>
                    <a:lstStyle/>
                    <a:p>
                      <a:pPr algn="ctr"/>
                      <a:r>
                        <a:rPr lang="en-CA" sz="1800" dirty="0"/>
                        <a:t>SUBJECT</a:t>
                      </a:r>
                    </a:p>
                  </a:txBody>
                  <a:tcPr marL="91439" marR="91439" marT="45743" marB="45743"/>
                </a:tc>
                <a:extLst>
                  <a:ext uri="{0D108BD9-81ED-4DB2-BD59-A6C34878D82A}">
                    <a16:rowId xmlns:a16="http://schemas.microsoft.com/office/drawing/2014/main" val="10000"/>
                  </a:ext>
                </a:extLst>
              </a:tr>
              <a:tr h="574033">
                <a:tc>
                  <a:txBody>
                    <a:bodyPr/>
                    <a:lstStyle/>
                    <a:p>
                      <a:pPr algn="ctr"/>
                      <a:endParaRPr lang="en-CA" sz="1800" dirty="0"/>
                    </a:p>
                  </a:txBody>
                  <a:tcPr marL="91439" marR="91439" marT="45743" marB="45743"/>
                </a:tc>
                <a:tc>
                  <a:txBody>
                    <a:bodyPr/>
                    <a:lstStyle/>
                    <a:p>
                      <a:endParaRPr lang="en-CA" sz="1800" dirty="0"/>
                    </a:p>
                  </a:txBody>
                  <a:tcPr marL="91439" marR="91439" marT="45743" marB="45743"/>
                </a:tc>
                <a:tc>
                  <a:txBody>
                    <a:bodyPr/>
                    <a:lstStyle/>
                    <a:p>
                      <a:endParaRPr lang="en-CA" sz="1800" dirty="0"/>
                    </a:p>
                  </a:txBody>
                  <a:tcPr marL="91439" marR="91439" marT="45743" marB="45743"/>
                </a:tc>
                <a:extLst>
                  <a:ext uri="{0D108BD9-81ED-4DB2-BD59-A6C34878D82A}">
                    <a16:rowId xmlns:a16="http://schemas.microsoft.com/office/drawing/2014/main" val="10001"/>
                  </a:ext>
                </a:extLst>
              </a:tr>
            </a:tbl>
          </a:graphicData>
        </a:graphic>
      </p:graphicFrame>
      <p:sp>
        <p:nvSpPr>
          <p:cNvPr id="18447" name="TextBox 41">
            <a:extLst>
              <a:ext uri="{FF2B5EF4-FFF2-40B4-BE49-F238E27FC236}">
                <a16:creationId xmlns:a16="http://schemas.microsoft.com/office/drawing/2014/main" id="{2EA23952-ACCC-A622-910F-0CDC2EA01AE7}"/>
              </a:ext>
            </a:extLst>
          </p:cNvPr>
          <p:cNvSpPr txBox="1">
            <a:spLocks noChangeArrowheads="1"/>
          </p:cNvSpPr>
          <p:nvPr/>
        </p:nvSpPr>
        <p:spPr bwMode="auto">
          <a:xfrm>
            <a:off x="1030288" y="5159375"/>
            <a:ext cx="22415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CA" altLang="en-US"/>
              <a:t>Student relation</a:t>
            </a:r>
          </a:p>
        </p:txBody>
      </p:sp>
      <p:graphicFrame>
        <p:nvGraphicFramePr>
          <p:cNvPr id="43" name="Table 42">
            <a:extLst>
              <a:ext uri="{FF2B5EF4-FFF2-40B4-BE49-F238E27FC236}">
                <a16:creationId xmlns:a16="http://schemas.microsoft.com/office/drawing/2014/main" id="{962106C1-E182-FF8A-F618-2A0066022F39}"/>
              </a:ext>
            </a:extLst>
          </p:cNvPr>
          <p:cNvGraphicFramePr>
            <a:graphicFrameLocks noGrp="1"/>
          </p:cNvGraphicFramePr>
          <p:nvPr/>
        </p:nvGraphicFramePr>
        <p:xfrm>
          <a:off x="4495800" y="3933825"/>
          <a:ext cx="3886200" cy="1212851"/>
        </p:xfrm>
        <a:graphic>
          <a:graphicData uri="http://schemas.openxmlformats.org/drawingml/2006/table">
            <a:tbl>
              <a:tblPr firstRow="1" bandRow="1">
                <a:tableStyleId>{0E3FDE45-AF77-4B5C-9715-49D594BDF05E}</a:tableStyleId>
              </a:tblPr>
              <a:tblGrid>
                <a:gridCol w="1287596">
                  <a:extLst>
                    <a:ext uri="{9D8B030D-6E8A-4147-A177-3AD203B41FA5}">
                      <a16:colId xmlns:a16="http://schemas.microsoft.com/office/drawing/2014/main" val="20000"/>
                    </a:ext>
                  </a:extLst>
                </a:gridCol>
                <a:gridCol w="2598604">
                  <a:extLst>
                    <a:ext uri="{9D8B030D-6E8A-4147-A177-3AD203B41FA5}">
                      <a16:colId xmlns:a16="http://schemas.microsoft.com/office/drawing/2014/main" val="20001"/>
                    </a:ext>
                  </a:extLst>
                </a:gridCol>
              </a:tblGrid>
              <a:tr h="639947">
                <a:tc>
                  <a:txBody>
                    <a:bodyPr/>
                    <a:lstStyle/>
                    <a:p>
                      <a:pPr algn="ctr"/>
                      <a:r>
                        <a:rPr lang="en-CA" sz="1800" dirty="0"/>
                        <a:t>SUBJECTCODE</a:t>
                      </a:r>
                    </a:p>
                  </a:txBody>
                  <a:tcPr marT="45654" marB="45654"/>
                </a:tc>
                <a:tc>
                  <a:txBody>
                    <a:bodyPr/>
                    <a:lstStyle/>
                    <a:p>
                      <a:pPr algn="ctr"/>
                      <a:r>
                        <a:rPr lang="en-CA" sz="1800" dirty="0"/>
                        <a:t>NAME</a:t>
                      </a:r>
                    </a:p>
                  </a:txBody>
                  <a:tcPr marT="45654" marB="45654"/>
                </a:tc>
                <a:extLst>
                  <a:ext uri="{0D108BD9-81ED-4DB2-BD59-A6C34878D82A}">
                    <a16:rowId xmlns:a16="http://schemas.microsoft.com/office/drawing/2014/main" val="10000"/>
                  </a:ext>
                </a:extLst>
              </a:tr>
              <a:tr h="572903">
                <a:tc>
                  <a:txBody>
                    <a:bodyPr/>
                    <a:lstStyle/>
                    <a:p>
                      <a:pPr algn="ctr"/>
                      <a:r>
                        <a:rPr lang="en-CA" sz="1800" dirty="0"/>
                        <a:t>BSIT 201</a:t>
                      </a:r>
                    </a:p>
                  </a:txBody>
                  <a:tcPr marT="45654" marB="45654"/>
                </a:tc>
                <a:tc>
                  <a:txBody>
                    <a:bodyPr/>
                    <a:lstStyle/>
                    <a:p>
                      <a:r>
                        <a:rPr lang="en-CA" sz="1800" dirty="0"/>
                        <a:t>Database</a:t>
                      </a:r>
                      <a:r>
                        <a:rPr lang="en-CA" sz="1800" baseline="0" dirty="0"/>
                        <a:t> Concept</a:t>
                      </a:r>
                      <a:endParaRPr lang="en-CA" sz="1800" dirty="0"/>
                    </a:p>
                  </a:txBody>
                  <a:tcPr marT="45654" marB="45654"/>
                </a:tc>
                <a:extLst>
                  <a:ext uri="{0D108BD9-81ED-4DB2-BD59-A6C34878D82A}">
                    <a16:rowId xmlns:a16="http://schemas.microsoft.com/office/drawing/2014/main" val="10001"/>
                  </a:ext>
                </a:extLst>
              </a:tr>
            </a:tbl>
          </a:graphicData>
        </a:graphic>
      </p:graphicFrame>
      <p:sp>
        <p:nvSpPr>
          <p:cNvPr id="18456" name="TextBox 43">
            <a:extLst>
              <a:ext uri="{FF2B5EF4-FFF2-40B4-BE49-F238E27FC236}">
                <a16:creationId xmlns:a16="http://schemas.microsoft.com/office/drawing/2014/main" id="{A8FAE54F-E975-5CA3-67CE-235EAB64964F}"/>
              </a:ext>
            </a:extLst>
          </p:cNvPr>
          <p:cNvSpPr txBox="1">
            <a:spLocks noChangeArrowheads="1"/>
          </p:cNvSpPr>
          <p:nvPr/>
        </p:nvSpPr>
        <p:spPr bwMode="auto">
          <a:xfrm>
            <a:off x="5664200" y="5157788"/>
            <a:ext cx="22415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CA" altLang="en-US"/>
              <a:t>Subject relation</a:t>
            </a:r>
          </a:p>
        </p:txBody>
      </p:sp>
      <p:cxnSp>
        <p:nvCxnSpPr>
          <p:cNvPr id="45" name="Straight Connector 44">
            <a:extLst>
              <a:ext uri="{FF2B5EF4-FFF2-40B4-BE49-F238E27FC236}">
                <a16:creationId xmlns:a16="http://schemas.microsoft.com/office/drawing/2014/main" id="{8A7BBA6A-71E2-0E35-1479-4D1EBBCB5FCD}"/>
              </a:ext>
            </a:extLst>
          </p:cNvPr>
          <p:cNvCxnSpPr/>
          <p:nvPr/>
        </p:nvCxnSpPr>
        <p:spPr bwMode="auto">
          <a:xfrm>
            <a:off x="207963" y="4508500"/>
            <a:ext cx="1152525" cy="0"/>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46" name="Straight Connector 45">
            <a:extLst>
              <a:ext uri="{FF2B5EF4-FFF2-40B4-BE49-F238E27FC236}">
                <a16:creationId xmlns:a16="http://schemas.microsoft.com/office/drawing/2014/main" id="{947B5484-777D-809A-94DC-4AA947EEDE96}"/>
              </a:ext>
            </a:extLst>
          </p:cNvPr>
          <p:cNvCxnSpPr/>
          <p:nvPr/>
        </p:nvCxnSpPr>
        <p:spPr bwMode="auto">
          <a:xfrm>
            <a:off x="4591050" y="4495800"/>
            <a:ext cx="1123950" cy="0"/>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47" name="Rectangle 46">
            <a:extLst>
              <a:ext uri="{FF2B5EF4-FFF2-40B4-BE49-F238E27FC236}">
                <a16:creationId xmlns:a16="http://schemas.microsoft.com/office/drawing/2014/main" id="{D0FE4BFD-F304-0164-FB42-85926B9D9EF1}"/>
              </a:ext>
            </a:extLst>
          </p:cNvPr>
          <p:cNvSpPr/>
          <p:nvPr/>
        </p:nvSpPr>
        <p:spPr bwMode="auto">
          <a:xfrm>
            <a:off x="609600" y="5673725"/>
            <a:ext cx="7200900" cy="587375"/>
          </a:xfrm>
          <a:prstGeom prst="rect">
            <a:avLst/>
          </a:prstGeom>
          <a:ln>
            <a:headEnd type="none" w="med" len="med"/>
            <a:tailEnd type="none" w="med" len="med"/>
          </a:ln>
        </p:spPr>
        <p:style>
          <a:lnRef idx="1">
            <a:schemeClr val="dk1"/>
          </a:lnRef>
          <a:fillRef idx="2">
            <a:schemeClr val="dk1"/>
          </a:fillRef>
          <a:effectRef idx="1">
            <a:schemeClr val="dk1"/>
          </a:effectRef>
          <a:fontRef idx="minor">
            <a:schemeClr val="dk1"/>
          </a:fontRef>
        </p:style>
        <p:txBody>
          <a:bodyPr anchor="ctr"/>
          <a:lstStyle/>
          <a:p>
            <a:pPr>
              <a:defRPr/>
            </a:pPr>
            <a:r>
              <a:rPr lang="en-CA" dirty="0"/>
              <a:t>If we try to enter a new student with SUBJECT = BSIT 202, this would violate the constraint and the data entry would be denied</a:t>
            </a:r>
            <a:endParaRPr lang="en-CA" dirty="0">
              <a:solidFill>
                <a:schemeClr val="tx1"/>
              </a:solidFill>
              <a:latin typeface="Arial"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wipe(left)">
                                      <p:cBhvr>
                                        <p:cTn id="7"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animBg="1"/>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Rectangle 4">
            <a:extLst>
              <a:ext uri="{FF2B5EF4-FFF2-40B4-BE49-F238E27FC236}">
                <a16:creationId xmlns:a16="http://schemas.microsoft.com/office/drawing/2014/main" id="{3ED69693-3E22-108B-F729-242CC49BBAC3}"/>
              </a:ext>
            </a:extLst>
          </p:cNvPr>
          <p:cNvSpPr>
            <a:spLocks noGrp="1" noChangeArrowheads="1"/>
          </p:cNvSpPr>
          <p:nvPr>
            <p:ph type="ctrTitle"/>
          </p:nvPr>
        </p:nvSpPr>
        <p:spPr>
          <a:xfrm>
            <a:off x="685800" y="2514600"/>
            <a:ext cx="7772400" cy="1470025"/>
          </a:xfrm>
        </p:spPr>
        <p:txBody>
          <a:bodyPr anchor="ctr"/>
          <a:lstStyle/>
          <a:p>
            <a:pPr algn="ctr">
              <a:defRPr/>
            </a:pPr>
            <a:r>
              <a:rPr lang="en-US" altLang="en-US" sz="7200"/>
              <a:t>Logical Database Design</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EBA41E08-6807-C7D0-A0EA-0788AEB4E201}"/>
              </a:ext>
            </a:extLst>
          </p:cNvPr>
          <p:cNvSpPr>
            <a:spLocks noGrp="1" noChangeArrowheads="1"/>
          </p:cNvSpPr>
          <p:nvPr>
            <p:ph type="title"/>
          </p:nvPr>
        </p:nvSpPr>
        <p:spPr>
          <a:xfrm>
            <a:off x="152400" y="14288"/>
            <a:ext cx="8229600" cy="1143000"/>
          </a:xfrm>
        </p:spPr>
        <p:txBody>
          <a:bodyPr/>
          <a:lstStyle/>
          <a:p>
            <a:pPr algn="ctr">
              <a:defRPr/>
            </a:pPr>
            <a:r>
              <a:rPr lang="en-US" altLang="en-US" dirty="0"/>
              <a:t>Two Major Strengths</a:t>
            </a:r>
            <a:endParaRPr lang="en-US" altLang="en-US" b="1" dirty="0"/>
          </a:p>
        </p:txBody>
      </p:sp>
      <p:sp>
        <p:nvSpPr>
          <p:cNvPr id="9219" name="Rectangle 3">
            <a:extLst>
              <a:ext uri="{FF2B5EF4-FFF2-40B4-BE49-F238E27FC236}">
                <a16:creationId xmlns:a16="http://schemas.microsoft.com/office/drawing/2014/main" id="{FACA2BF7-50CF-5623-2584-3DD3573538E8}"/>
              </a:ext>
            </a:extLst>
          </p:cNvPr>
          <p:cNvSpPr>
            <a:spLocks noGrp="1"/>
          </p:cNvSpPr>
          <p:nvPr>
            <p:ph type="body" idx="1"/>
          </p:nvPr>
        </p:nvSpPr>
        <p:spPr>
          <a:xfrm>
            <a:off x="0" y="1524000"/>
            <a:ext cx="7696200" cy="2362200"/>
          </a:xfrm>
        </p:spPr>
        <p:txBody>
          <a:bodyPr/>
          <a:lstStyle/>
          <a:p>
            <a:pPr lvl="1" algn="just">
              <a:lnSpc>
                <a:spcPct val="90000"/>
              </a:lnSpc>
              <a:buClrTx/>
            </a:pPr>
            <a:r>
              <a:rPr lang="en-US" altLang="en-US" sz="3500"/>
              <a:t>Simplicity</a:t>
            </a:r>
          </a:p>
          <a:p>
            <a:pPr lvl="1" algn="just">
              <a:lnSpc>
                <a:spcPct val="90000"/>
              </a:lnSpc>
              <a:buClrTx/>
            </a:pPr>
            <a:r>
              <a:rPr lang="en-US" altLang="en-US" sz="3500"/>
              <a:t>Strong Mathematical Foundation</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B471533E-9462-048E-9F6B-0EEADD362031}"/>
              </a:ext>
            </a:extLst>
          </p:cNvPr>
          <p:cNvSpPr>
            <a:spLocks noGrp="1" noChangeArrowheads="1"/>
          </p:cNvSpPr>
          <p:nvPr>
            <p:ph type="title"/>
          </p:nvPr>
        </p:nvSpPr>
        <p:spPr>
          <a:xfrm>
            <a:off x="457200" y="0"/>
            <a:ext cx="7620000" cy="1143000"/>
          </a:xfrm>
        </p:spPr>
        <p:txBody>
          <a:bodyPr/>
          <a:lstStyle/>
          <a:p>
            <a:pPr algn="ctr">
              <a:defRPr/>
            </a:pPr>
            <a:r>
              <a:rPr lang="en-US" altLang="en-US" dirty="0"/>
              <a:t>Relational Data Model</a:t>
            </a:r>
          </a:p>
        </p:txBody>
      </p:sp>
      <p:sp>
        <p:nvSpPr>
          <p:cNvPr id="10243" name="Rectangle 3">
            <a:extLst>
              <a:ext uri="{FF2B5EF4-FFF2-40B4-BE49-F238E27FC236}">
                <a16:creationId xmlns:a16="http://schemas.microsoft.com/office/drawing/2014/main" id="{243A5282-61BF-46D2-8339-9BB347F05AEE}"/>
              </a:ext>
            </a:extLst>
          </p:cNvPr>
          <p:cNvSpPr>
            <a:spLocks noGrp="1"/>
          </p:cNvSpPr>
          <p:nvPr>
            <p:ph type="body" idx="1"/>
          </p:nvPr>
        </p:nvSpPr>
        <p:spPr>
          <a:xfrm>
            <a:off x="152400" y="1600200"/>
            <a:ext cx="8229600" cy="3505200"/>
          </a:xfrm>
        </p:spPr>
        <p:txBody>
          <a:bodyPr/>
          <a:lstStyle/>
          <a:p>
            <a:pPr algn="just"/>
            <a:r>
              <a:rPr lang="en-US" altLang="en-US" sz="3400"/>
              <a:t>Presented by E. F. Codd in 1970, then of IBM</a:t>
            </a:r>
          </a:p>
          <a:p>
            <a:pPr algn="just"/>
            <a:r>
              <a:rPr lang="en-US" altLang="en-US" sz="3400"/>
              <a:t>Before Relational Data Model, two older data models were in use; Hierarchical, Network</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28CC13D5-21EF-ADD1-7B51-9D7844894086}"/>
              </a:ext>
            </a:extLst>
          </p:cNvPr>
          <p:cNvSpPr>
            <a:spLocks noGrp="1" noChangeArrowheads="1"/>
          </p:cNvSpPr>
          <p:nvPr>
            <p:ph type="title"/>
          </p:nvPr>
        </p:nvSpPr>
        <p:spPr>
          <a:xfrm>
            <a:off x="457200" y="0"/>
            <a:ext cx="7620000" cy="1143000"/>
          </a:xfrm>
        </p:spPr>
        <p:txBody>
          <a:bodyPr/>
          <a:lstStyle/>
          <a:p>
            <a:pPr algn="ctr">
              <a:defRPr/>
            </a:pPr>
            <a:r>
              <a:rPr lang="en-US" altLang="en-US" dirty="0"/>
              <a:t>Relational Data Model </a:t>
            </a:r>
          </a:p>
        </p:txBody>
      </p:sp>
      <p:sp>
        <p:nvSpPr>
          <p:cNvPr id="11267" name="Rectangle 3">
            <a:extLst>
              <a:ext uri="{FF2B5EF4-FFF2-40B4-BE49-F238E27FC236}">
                <a16:creationId xmlns:a16="http://schemas.microsoft.com/office/drawing/2014/main" id="{A774DAC2-E70E-8385-E4D3-F9863C27C96F}"/>
              </a:ext>
            </a:extLst>
          </p:cNvPr>
          <p:cNvSpPr>
            <a:spLocks noGrp="1"/>
          </p:cNvSpPr>
          <p:nvPr>
            <p:ph type="body" idx="1"/>
          </p:nvPr>
        </p:nvSpPr>
        <p:spPr>
          <a:xfrm>
            <a:off x="190500" y="1143000"/>
            <a:ext cx="8153400" cy="5638800"/>
          </a:xfrm>
        </p:spPr>
        <p:txBody>
          <a:bodyPr/>
          <a:lstStyle/>
          <a:p>
            <a:pPr algn="just"/>
            <a:r>
              <a:rPr lang="en-US" altLang="en-US" sz="3400"/>
              <a:t>First DBMS built on Relational Data Model (RDM) was system R</a:t>
            </a:r>
          </a:p>
          <a:p>
            <a:pPr algn="just"/>
            <a:r>
              <a:rPr lang="en-US" altLang="en-PK" sz="2800" b="1"/>
              <a:t>IBM</a:t>
            </a:r>
            <a:r>
              <a:rPr lang="en-US" altLang="en-PK" sz="2800"/>
              <a:t> System R was the first database management system (DBMS) built upon the Relational Data Model (RDM). Developed in the 1970s, System R was a research project at IBM's San Jose Research Laboratory. In 1974, IBM began developing System R, a research project to develop a prototype RDBMS. The first system sold as an RDBMS was Multics Relational Data Store (June 1976). Oracle was released in 1979 by Relational Software, now Oracle Corporation. Ingres and IBM BS12 followed.</a:t>
            </a:r>
            <a:endParaRPr lang="en-US" altLang="en-US" sz="400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64B3632E-E8C0-F877-E9A3-FD93E9DD0B1C}"/>
              </a:ext>
            </a:extLst>
          </p:cNvPr>
          <p:cNvSpPr>
            <a:spLocks noGrp="1" noChangeArrowheads="1"/>
          </p:cNvSpPr>
          <p:nvPr>
            <p:ph type="title"/>
          </p:nvPr>
        </p:nvSpPr>
        <p:spPr>
          <a:xfrm>
            <a:off x="457200" y="0"/>
            <a:ext cx="7620000" cy="1143000"/>
          </a:xfrm>
        </p:spPr>
        <p:txBody>
          <a:bodyPr/>
          <a:lstStyle/>
          <a:p>
            <a:pPr algn="ctr">
              <a:defRPr/>
            </a:pPr>
            <a:r>
              <a:rPr lang="en-US" altLang="en-US" dirty="0"/>
              <a:t>Relational Data Model </a:t>
            </a:r>
          </a:p>
        </p:txBody>
      </p:sp>
      <p:sp>
        <p:nvSpPr>
          <p:cNvPr id="12291" name="Rectangle 3">
            <a:extLst>
              <a:ext uri="{FF2B5EF4-FFF2-40B4-BE49-F238E27FC236}">
                <a16:creationId xmlns:a16="http://schemas.microsoft.com/office/drawing/2014/main" id="{7136B341-161B-0DB6-88E6-4AA808100795}"/>
              </a:ext>
            </a:extLst>
          </p:cNvPr>
          <p:cNvSpPr>
            <a:spLocks noGrp="1"/>
          </p:cNvSpPr>
          <p:nvPr>
            <p:ph type="body" idx="1"/>
          </p:nvPr>
        </p:nvSpPr>
        <p:spPr>
          <a:xfrm>
            <a:off x="190500" y="1143000"/>
            <a:ext cx="8153400" cy="5029200"/>
          </a:xfrm>
        </p:spPr>
        <p:txBody>
          <a:bodyPr/>
          <a:lstStyle/>
          <a:p>
            <a:pPr algn="just"/>
            <a:r>
              <a:rPr lang="en-US" altLang="en-US" sz="3400"/>
              <a:t>Another Relational DBMS built during those days was INGRES </a:t>
            </a:r>
            <a:r>
              <a:rPr lang="en-US" altLang="en-US" sz="3400" b="1"/>
              <a:t>(</a:t>
            </a:r>
            <a:r>
              <a:rPr lang="en-US" altLang="en-PK" sz="3600" b="1"/>
              <a:t>INteractive Graphics and REtrieval System)</a:t>
            </a:r>
            <a:endParaRPr lang="en-US" altLang="en-US" sz="3400"/>
          </a:p>
          <a:p>
            <a:pPr algn="just"/>
            <a:r>
              <a:rPr lang="en-US" altLang="en-PK" sz="2800"/>
              <a:t>Ingres was one of the first DBMSs noted for its advanced features such as </a:t>
            </a:r>
            <a:r>
              <a:rPr lang="en-US" altLang="en-PK" sz="2800" b="1" i="1"/>
              <a:t>triggers</a:t>
            </a:r>
            <a:r>
              <a:rPr lang="en-US" altLang="en-PK" sz="2800"/>
              <a:t> and </a:t>
            </a:r>
            <a:r>
              <a:rPr lang="en-US" altLang="en-PK" sz="2800" b="1" i="1"/>
              <a:t>stored procedures</a:t>
            </a:r>
            <a:r>
              <a:rPr lang="en-US" altLang="en-PK" sz="2800"/>
              <a:t>. </a:t>
            </a:r>
          </a:p>
          <a:p>
            <a:pPr algn="just"/>
            <a:r>
              <a:rPr lang="en-US" altLang="en-PK" sz="2800"/>
              <a:t>Ingres was developed at the University of California at Berkeley in the early 1970s.</a:t>
            </a:r>
          </a:p>
          <a:p>
            <a:pPr algn="just"/>
            <a:r>
              <a:rPr lang="en-US" altLang="en-PK" sz="2800"/>
              <a:t>Originally developed by Relational Technology, which was founded in 1980.</a:t>
            </a:r>
          </a:p>
          <a:p>
            <a:pPr algn="just"/>
            <a:endParaRPr lang="en-US" altLang="en-US" sz="400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40" name="Rectangle 4">
            <a:extLst>
              <a:ext uri="{FF2B5EF4-FFF2-40B4-BE49-F238E27FC236}">
                <a16:creationId xmlns:a16="http://schemas.microsoft.com/office/drawing/2014/main" id="{DBE4C94D-B4A3-2400-76B2-2EA792D2850E}"/>
              </a:ext>
            </a:extLst>
          </p:cNvPr>
          <p:cNvSpPr>
            <a:spLocks noChangeArrowheads="1"/>
          </p:cNvSpPr>
          <p:nvPr/>
        </p:nvSpPr>
        <p:spPr bwMode="auto">
          <a:xfrm>
            <a:off x="381000" y="0"/>
            <a:ext cx="8001000" cy="1143000"/>
          </a:xfrm>
          <a:prstGeom prst="rect">
            <a:avLst/>
          </a:prstGeom>
          <a:noFill/>
          <a:ln>
            <a:noFill/>
          </a:ln>
          <a:effectLst/>
        </p:spPr>
        <p:txBody>
          <a:bodyPr anchor="ctr"/>
          <a:lstStyle>
            <a:lvl1pPr algn="ctr">
              <a:defRPr sz="6600">
                <a:solidFill>
                  <a:srgbClr val="FFFF00"/>
                </a:solidFill>
                <a:latin typeface="Times New Roman" panose="02020603050405020304" pitchFamily="18" charset="0"/>
              </a:defRPr>
            </a:lvl1pPr>
            <a:lvl2pPr algn="ctr">
              <a:defRPr sz="6600">
                <a:solidFill>
                  <a:srgbClr val="FFFF00"/>
                </a:solidFill>
                <a:latin typeface="Times New Roman" panose="02020603050405020304" pitchFamily="18" charset="0"/>
              </a:defRPr>
            </a:lvl2pPr>
            <a:lvl3pPr algn="ctr">
              <a:defRPr sz="6600">
                <a:solidFill>
                  <a:srgbClr val="FFFF00"/>
                </a:solidFill>
                <a:latin typeface="Times New Roman" panose="02020603050405020304" pitchFamily="18" charset="0"/>
              </a:defRPr>
            </a:lvl3pPr>
            <a:lvl4pPr algn="ctr">
              <a:defRPr sz="6600">
                <a:solidFill>
                  <a:srgbClr val="FFFF00"/>
                </a:solidFill>
                <a:latin typeface="Times New Roman" panose="02020603050405020304" pitchFamily="18" charset="0"/>
              </a:defRPr>
            </a:lvl4pPr>
            <a:lvl5pPr algn="ctr">
              <a:defRPr sz="6600">
                <a:solidFill>
                  <a:srgbClr val="FFFF00"/>
                </a:solidFill>
                <a:latin typeface="Times New Roman" panose="02020603050405020304" pitchFamily="18" charset="0"/>
              </a:defRPr>
            </a:lvl5pPr>
            <a:lvl6pPr marL="457200" algn="ctr" fontAlgn="base">
              <a:spcBef>
                <a:spcPct val="0"/>
              </a:spcBef>
              <a:spcAft>
                <a:spcPct val="0"/>
              </a:spcAft>
              <a:defRPr sz="6600">
                <a:solidFill>
                  <a:srgbClr val="FFFF00"/>
                </a:solidFill>
                <a:latin typeface="Times New Roman" panose="02020603050405020304" pitchFamily="18" charset="0"/>
              </a:defRPr>
            </a:lvl6pPr>
            <a:lvl7pPr marL="914400" algn="ctr" fontAlgn="base">
              <a:spcBef>
                <a:spcPct val="0"/>
              </a:spcBef>
              <a:spcAft>
                <a:spcPct val="0"/>
              </a:spcAft>
              <a:defRPr sz="6600">
                <a:solidFill>
                  <a:srgbClr val="FFFF00"/>
                </a:solidFill>
                <a:latin typeface="Times New Roman" panose="02020603050405020304" pitchFamily="18" charset="0"/>
              </a:defRPr>
            </a:lvl7pPr>
            <a:lvl8pPr marL="1371600" algn="ctr" fontAlgn="base">
              <a:spcBef>
                <a:spcPct val="0"/>
              </a:spcBef>
              <a:spcAft>
                <a:spcPct val="0"/>
              </a:spcAft>
              <a:defRPr sz="6600">
                <a:solidFill>
                  <a:srgbClr val="FFFF00"/>
                </a:solidFill>
                <a:latin typeface="Times New Roman" panose="02020603050405020304" pitchFamily="18" charset="0"/>
              </a:defRPr>
            </a:lvl8pPr>
            <a:lvl9pPr marL="1828800" algn="ctr" fontAlgn="base">
              <a:spcBef>
                <a:spcPct val="0"/>
              </a:spcBef>
              <a:spcAft>
                <a:spcPct val="0"/>
              </a:spcAft>
              <a:defRPr sz="6600">
                <a:solidFill>
                  <a:srgbClr val="FFFF00"/>
                </a:solidFill>
                <a:latin typeface="Times New Roman" panose="02020603050405020304" pitchFamily="18" charset="0"/>
              </a:defRPr>
            </a:lvl9pPr>
          </a:lstStyle>
          <a:p>
            <a:pPr>
              <a:defRPr/>
            </a:pPr>
            <a:r>
              <a:rPr lang="en-US" altLang="en-US" sz="4600" spc="-100" dirty="0">
                <a:solidFill>
                  <a:schemeClr val="tx2"/>
                </a:solidFill>
                <a:latin typeface="+mj-lt"/>
                <a:ea typeface="+mj-ea"/>
                <a:cs typeface="+mj-cs"/>
              </a:rPr>
              <a:t>Basic of RDM</a:t>
            </a:r>
          </a:p>
        </p:txBody>
      </p:sp>
      <p:sp>
        <p:nvSpPr>
          <p:cNvPr id="91141" name="Rectangle 5">
            <a:extLst>
              <a:ext uri="{FF2B5EF4-FFF2-40B4-BE49-F238E27FC236}">
                <a16:creationId xmlns:a16="http://schemas.microsoft.com/office/drawing/2014/main" id="{A047C5D7-D5F3-9FA9-1387-1DF250D47F2E}"/>
              </a:ext>
            </a:extLst>
          </p:cNvPr>
          <p:cNvSpPr>
            <a:spLocks noChangeArrowheads="1"/>
          </p:cNvSpPr>
          <p:nvPr/>
        </p:nvSpPr>
        <p:spPr bwMode="auto">
          <a:xfrm>
            <a:off x="415925" y="1141413"/>
            <a:ext cx="7924800" cy="5564187"/>
          </a:xfrm>
          <a:prstGeom prst="rect">
            <a:avLst/>
          </a:prstGeom>
          <a:noFill/>
          <a:ln>
            <a:noFill/>
          </a:ln>
          <a:effectLst/>
        </p:spPr>
        <p:txBody>
          <a:bodyPr/>
          <a:lstStyle>
            <a:lvl1pPr marL="342900" indent="-342900">
              <a:lnSpc>
                <a:spcPct val="130000"/>
              </a:lnSpc>
              <a:spcBef>
                <a:spcPct val="20000"/>
              </a:spcBef>
              <a:buFont typeface="Wingdings" panose="05000000000000000000" pitchFamily="2" charset="2"/>
              <a:buChar char="Ø"/>
              <a:defRPr sz="4400">
                <a:solidFill>
                  <a:srgbClr val="FFFF00"/>
                </a:solidFill>
                <a:latin typeface="Times New Roman" panose="02020603050405020304" pitchFamily="18" charset="0"/>
              </a:defRPr>
            </a:lvl1pPr>
            <a:lvl2pPr marL="742950" indent="-285750">
              <a:spcBef>
                <a:spcPct val="20000"/>
              </a:spcBef>
              <a:buChar char="–"/>
              <a:defRPr sz="3200">
                <a:solidFill>
                  <a:srgbClr val="FFCC00"/>
                </a:solidFill>
                <a:latin typeface="Times New Roman" panose="02020603050405020304" pitchFamily="18"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fontAlgn="base">
              <a:spcBef>
                <a:spcPct val="20000"/>
              </a:spcBef>
              <a:spcAft>
                <a:spcPct val="0"/>
              </a:spcAft>
              <a:buChar char="»"/>
              <a:defRPr sz="2000">
                <a:solidFill>
                  <a:schemeClr val="tx1"/>
                </a:solidFill>
                <a:latin typeface="Arial" panose="020B0604020202020204" pitchFamily="34" charset="0"/>
              </a:defRPr>
            </a:lvl6pPr>
            <a:lvl7pPr marL="2971800" indent="-228600" fontAlgn="base">
              <a:spcBef>
                <a:spcPct val="20000"/>
              </a:spcBef>
              <a:spcAft>
                <a:spcPct val="0"/>
              </a:spcAft>
              <a:buChar char="»"/>
              <a:defRPr sz="2000">
                <a:solidFill>
                  <a:schemeClr val="tx1"/>
                </a:solidFill>
                <a:latin typeface="Arial" panose="020B0604020202020204" pitchFamily="34" charset="0"/>
              </a:defRPr>
            </a:lvl7pPr>
            <a:lvl8pPr marL="3429000" indent="-228600" fontAlgn="base">
              <a:spcBef>
                <a:spcPct val="20000"/>
              </a:spcBef>
              <a:spcAft>
                <a:spcPct val="0"/>
              </a:spcAft>
              <a:buChar char="»"/>
              <a:defRPr sz="2000">
                <a:solidFill>
                  <a:schemeClr val="tx1"/>
                </a:solidFill>
                <a:latin typeface="Arial" panose="020B0604020202020204" pitchFamily="34" charset="0"/>
              </a:defRPr>
            </a:lvl8pPr>
            <a:lvl9pPr marL="3886200" indent="-228600" fontAlgn="base">
              <a:spcBef>
                <a:spcPct val="20000"/>
              </a:spcBef>
              <a:spcAft>
                <a:spcPct val="0"/>
              </a:spcAft>
              <a:buChar char="»"/>
              <a:defRPr sz="2000">
                <a:solidFill>
                  <a:schemeClr val="tx1"/>
                </a:solidFill>
                <a:latin typeface="Arial" panose="020B0604020202020204" pitchFamily="34" charset="0"/>
              </a:defRPr>
            </a:lvl9pPr>
          </a:lstStyle>
          <a:p>
            <a:pPr indent="-228600" algn="just">
              <a:lnSpc>
                <a:spcPct val="120000"/>
              </a:lnSpc>
              <a:buClr>
                <a:schemeClr val="accent1"/>
              </a:buClr>
              <a:buFont typeface="Arial" panose="020B0604020202020204" pitchFamily="34" charset="0"/>
              <a:buChar char="•"/>
              <a:defRPr/>
            </a:pPr>
            <a:r>
              <a:rPr lang="en-US" altLang="en-US" sz="3400" dirty="0">
                <a:solidFill>
                  <a:schemeClr val="tx1"/>
                </a:solidFill>
                <a:latin typeface="+mn-lt"/>
                <a:cs typeface="+mn-cs"/>
              </a:rPr>
              <a:t>RDM used mainly for external, conceptual, and to some extent physical schema</a:t>
            </a:r>
          </a:p>
          <a:p>
            <a:pPr indent="-228600" algn="just">
              <a:lnSpc>
                <a:spcPct val="120000"/>
              </a:lnSpc>
              <a:buClr>
                <a:schemeClr val="accent1"/>
              </a:buClr>
              <a:buFont typeface="Arial" panose="020B0604020202020204" pitchFamily="34" charset="0"/>
              <a:buChar char="•"/>
              <a:defRPr/>
            </a:pPr>
            <a:r>
              <a:rPr lang="en-US" altLang="en-US" sz="3400" dirty="0">
                <a:solidFill>
                  <a:schemeClr val="tx1"/>
                </a:solidFill>
                <a:latin typeface="+mn-lt"/>
                <a:cs typeface="+mn-cs"/>
              </a:rPr>
              <a:t>Separation of conceptual and physical levels makes manipulation much easier, contrary to previous data models</a:t>
            </a:r>
          </a:p>
          <a:p>
            <a:pPr indent="-228600" algn="just">
              <a:lnSpc>
                <a:spcPct val="120000"/>
              </a:lnSpc>
              <a:buClr>
                <a:schemeClr val="accent1"/>
              </a:buClr>
              <a:buFont typeface="Arial" panose="020B0604020202020204" pitchFamily="34" charset="0"/>
              <a:buChar char="•"/>
              <a:defRPr/>
            </a:pPr>
            <a:r>
              <a:rPr lang="en-US" altLang="en-US" sz="3400" dirty="0">
                <a:solidFill>
                  <a:schemeClr val="tx1"/>
                </a:solidFill>
                <a:latin typeface="+mn-lt"/>
                <a:cs typeface="+mn-cs"/>
              </a:rPr>
              <a:t>Both entities and relationships are modeled using tables/relations</a:t>
            </a:r>
          </a:p>
          <a:p>
            <a:pPr indent="-228600" algn="just">
              <a:lnSpc>
                <a:spcPct val="120000"/>
              </a:lnSpc>
              <a:buClr>
                <a:schemeClr val="accent1"/>
              </a:buClr>
              <a:buFont typeface="Arial" panose="020B0604020202020204" pitchFamily="34" charset="0"/>
              <a:buChar char="•"/>
              <a:defRPr/>
            </a:pPr>
            <a:endParaRPr lang="en-US" altLang="en-US" sz="3400" dirty="0">
              <a:solidFill>
                <a:schemeClr val="tx1"/>
              </a:solidFill>
              <a:latin typeface="+mn-lt"/>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91140"/>
                                        </p:tgtEl>
                                        <p:attrNameLst>
                                          <p:attrName>style.visibility</p:attrName>
                                        </p:attrNameLst>
                                      </p:cBhvr>
                                      <p:to>
                                        <p:strVal val="visible"/>
                                      </p:to>
                                    </p:set>
                                    <p:anim calcmode="lin" valueType="num">
                                      <p:cBhvr>
                                        <p:cTn id="7" dur="500" fill="hold"/>
                                        <p:tgtEl>
                                          <p:spTgt spid="91140"/>
                                        </p:tgtEl>
                                        <p:attrNameLst>
                                          <p:attrName>ppt_w</p:attrName>
                                        </p:attrNameLst>
                                      </p:cBhvr>
                                      <p:tavLst>
                                        <p:tav tm="0">
                                          <p:val>
                                            <p:fltVal val="0"/>
                                          </p:val>
                                        </p:tav>
                                        <p:tav tm="100000">
                                          <p:val>
                                            <p:strVal val="#ppt_w"/>
                                          </p:val>
                                        </p:tav>
                                      </p:tavLst>
                                    </p:anim>
                                    <p:anim calcmode="lin" valueType="num">
                                      <p:cBhvr>
                                        <p:cTn id="8" dur="500" fill="hold"/>
                                        <p:tgtEl>
                                          <p:spTgt spid="91140"/>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91141">
                                            <p:txEl>
                                              <p:pRg st="0" end="0"/>
                                            </p:txEl>
                                          </p:spTgt>
                                        </p:tgtEl>
                                        <p:attrNameLst>
                                          <p:attrName>style.visibility</p:attrName>
                                        </p:attrNameLst>
                                      </p:cBhvr>
                                      <p:to>
                                        <p:strVal val="visible"/>
                                      </p:to>
                                    </p:set>
                                    <p:anim calcmode="lin" valueType="num">
                                      <p:cBhvr additive="base">
                                        <p:cTn id="13" dur="500" fill="hold"/>
                                        <p:tgtEl>
                                          <p:spTgt spid="91141">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9114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91141">
                                            <p:txEl>
                                              <p:pRg st="1" end="1"/>
                                            </p:txEl>
                                          </p:spTgt>
                                        </p:tgtEl>
                                        <p:attrNameLst>
                                          <p:attrName>style.visibility</p:attrName>
                                        </p:attrNameLst>
                                      </p:cBhvr>
                                      <p:to>
                                        <p:strVal val="visible"/>
                                      </p:to>
                                    </p:set>
                                    <p:anim calcmode="lin" valueType="num">
                                      <p:cBhvr additive="base">
                                        <p:cTn id="19" dur="500" fill="hold"/>
                                        <p:tgtEl>
                                          <p:spTgt spid="91141">
                                            <p:txEl>
                                              <p:pRg st="1" end="1"/>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9114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91141">
                                            <p:txEl>
                                              <p:pRg st="2" end="2"/>
                                            </p:txEl>
                                          </p:spTgt>
                                        </p:tgtEl>
                                        <p:attrNameLst>
                                          <p:attrName>style.visibility</p:attrName>
                                        </p:attrNameLst>
                                      </p:cBhvr>
                                      <p:to>
                                        <p:strVal val="visible"/>
                                      </p:to>
                                    </p:set>
                                    <p:anim calcmode="lin" valueType="num">
                                      <p:cBhvr additive="base">
                                        <p:cTn id="25" dur="500" fill="hold"/>
                                        <p:tgtEl>
                                          <p:spTgt spid="91141">
                                            <p:txEl>
                                              <p:pRg st="2" end="2"/>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91141">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40" grpId="0"/>
      <p:bldP spid="91141" grpId="0" build="p"/>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C43EA00D-C36D-B8E5-FF10-063EDB907C3B}"/>
              </a:ext>
            </a:extLst>
          </p:cNvPr>
          <p:cNvSpPr>
            <a:spLocks noGrp="1" noChangeArrowheads="1"/>
          </p:cNvSpPr>
          <p:nvPr>
            <p:ph type="title"/>
          </p:nvPr>
        </p:nvSpPr>
        <p:spPr>
          <a:xfrm>
            <a:off x="457200" y="0"/>
            <a:ext cx="7620000" cy="1143000"/>
          </a:xfrm>
        </p:spPr>
        <p:txBody>
          <a:bodyPr/>
          <a:lstStyle/>
          <a:p>
            <a:pPr algn="ctr">
              <a:defRPr/>
            </a:pPr>
            <a:r>
              <a:rPr lang="en-US" altLang="en-US" dirty="0"/>
              <a:t>Basics of RDM</a:t>
            </a:r>
          </a:p>
        </p:txBody>
      </p:sp>
      <p:sp>
        <p:nvSpPr>
          <p:cNvPr id="14339" name="Rectangle 3">
            <a:extLst>
              <a:ext uri="{FF2B5EF4-FFF2-40B4-BE49-F238E27FC236}">
                <a16:creationId xmlns:a16="http://schemas.microsoft.com/office/drawing/2014/main" id="{B7BF3A01-094C-D75B-FDD1-D3050F63FE1A}"/>
              </a:ext>
            </a:extLst>
          </p:cNvPr>
          <p:cNvSpPr>
            <a:spLocks noGrp="1"/>
          </p:cNvSpPr>
          <p:nvPr>
            <p:ph type="body" idx="1"/>
          </p:nvPr>
        </p:nvSpPr>
        <p:spPr>
          <a:xfrm>
            <a:off x="304800" y="1447800"/>
            <a:ext cx="7848600" cy="4876800"/>
          </a:xfrm>
        </p:spPr>
        <p:txBody>
          <a:bodyPr/>
          <a:lstStyle/>
          <a:p>
            <a:pPr algn="just">
              <a:lnSpc>
                <a:spcPct val="120000"/>
              </a:lnSpc>
            </a:pPr>
            <a:r>
              <a:rPr lang="en-US" altLang="en-US" sz="3400"/>
              <a:t>Relations physically represented as tables</a:t>
            </a:r>
          </a:p>
          <a:p>
            <a:pPr algn="just">
              <a:lnSpc>
                <a:spcPct val="120000"/>
              </a:lnSpc>
            </a:pPr>
            <a:r>
              <a:rPr lang="en-US" altLang="en-US" sz="3400"/>
              <a:t>Table is a two dimensional representation of a relation</a:t>
            </a:r>
          </a:p>
          <a:p>
            <a:pPr algn="just">
              <a:lnSpc>
                <a:spcPct val="120000"/>
              </a:lnSpc>
            </a:pPr>
            <a:r>
              <a:rPr lang="en-US" altLang="en-US" sz="3400"/>
              <a:t>Consists of rows and columns</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F66262BD-E60B-29F3-353A-06F7FE4B9F35}"/>
              </a:ext>
            </a:extLst>
          </p:cNvPr>
          <p:cNvSpPr>
            <a:spLocks noGrp="1" noChangeArrowheads="1"/>
          </p:cNvSpPr>
          <p:nvPr>
            <p:ph type="title"/>
          </p:nvPr>
        </p:nvSpPr>
        <p:spPr>
          <a:xfrm>
            <a:off x="457200" y="0"/>
            <a:ext cx="7620000" cy="1143000"/>
          </a:xfrm>
        </p:spPr>
        <p:txBody>
          <a:bodyPr/>
          <a:lstStyle/>
          <a:p>
            <a:pPr algn="ctr">
              <a:defRPr/>
            </a:pPr>
            <a:r>
              <a:rPr lang="en-US" altLang="en-US" dirty="0"/>
              <a:t>Basics of RDM</a:t>
            </a:r>
          </a:p>
        </p:txBody>
      </p:sp>
      <p:sp>
        <p:nvSpPr>
          <p:cNvPr id="15363" name="Rectangle 3">
            <a:extLst>
              <a:ext uri="{FF2B5EF4-FFF2-40B4-BE49-F238E27FC236}">
                <a16:creationId xmlns:a16="http://schemas.microsoft.com/office/drawing/2014/main" id="{A4E69E21-982C-6FB2-CF18-1E0358D2609C}"/>
              </a:ext>
            </a:extLst>
          </p:cNvPr>
          <p:cNvSpPr>
            <a:spLocks noGrp="1"/>
          </p:cNvSpPr>
          <p:nvPr>
            <p:ph type="body" idx="1"/>
          </p:nvPr>
        </p:nvSpPr>
        <p:spPr/>
        <p:txBody>
          <a:bodyPr/>
          <a:lstStyle/>
          <a:p>
            <a:pPr algn="just">
              <a:lnSpc>
                <a:spcPct val="120000"/>
              </a:lnSpc>
            </a:pPr>
            <a:r>
              <a:rPr lang="en-US" altLang="en-US" sz="3400"/>
              <a:t>Columns represent attributes and rows represent records</a:t>
            </a:r>
          </a:p>
          <a:p>
            <a:pPr algn="just">
              <a:lnSpc>
                <a:spcPct val="120000"/>
              </a:lnSpc>
            </a:pPr>
            <a:r>
              <a:rPr lang="en-US" altLang="en-US" sz="3400" b="1"/>
              <a:t>Rows</a:t>
            </a:r>
            <a:r>
              <a:rPr lang="en-US" altLang="en-US" sz="3400"/>
              <a:t>, </a:t>
            </a:r>
            <a:r>
              <a:rPr lang="en-US" altLang="en-US" sz="3400" i="1"/>
              <a:t>records</a:t>
            </a:r>
            <a:r>
              <a:rPr lang="en-US" altLang="en-US" sz="3400"/>
              <a:t> and </a:t>
            </a:r>
            <a:r>
              <a:rPr lang="en-US" altLang="en-US" sz="3400" i="1"/>
              <a:t>tuples</a:t>
            </a:r>
            <a:r>
              <a:rPr lang="en-US" altLang="en-US" sz="3400"/>
              <a:t> all these terms are used interchangeably</a:t>
            </a:r>
          </a:p>
          <a:p>
            <a:pPr algn="just">
              <a:lnSpc>
                <a:spcPct val="120000"/>
              </a:lnSpc>
            </a:pPr>
            <a:r>
              <a:rPr lang="en-US" altLang="en-US" sz="3400" b="1"/>
              <a:t>Column</a:t>
            </a:r>
            <a:r>
              <a:rPr lang="en-US" altLang="en-US" sz="3400"/>
              <a:t>, </a:t>
            </a:r>
            <a:r>
              <a:rPr lang="en-US" altLang="en-US" sz="3400" i="1"/>
              <a:t>attributes</a:t>
            </a:r>
            <a:r>
              <a:rPr lang="en-US" altLang="en-US" sz="3400"/>
              <a:t> and </a:t>
            </a:r>
            <a:r>
              <a:rPr lang="en-US" altLang="en-US" sz="3400" i="1"/>
              <a:t>fields</a:t>
            </a:r>
            <a:r>
              <a:rPr lang="en-US" altLang="en-US" sz="3400"/>
              <a:t> all these terms are used interchangeably </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a:extLst>
              <a:ext uri="{FF2B5EF4-FFF2-40B4-BE49-F238E27FC236}">
                <a16:creationId xmlns:a16="http://schemas.microsoft.com/office/drawing/2014/main" id="{BFB7DE98-5461-F879-80EB-8C21EB1D7D78}"/>
              </a:ext>
            </a:extLst>
          </p:cNvPr>
          <p:cNvSpPr>
            <a:spLocks noGrp="1" noChangeArrowheads="1"/>
          </p:cNvSpPr>
          <p:nvPr>
            <p:ph type="title"/>
          </p:nvPr>
        </p:nvSpPr>
        <p:spPr>
          <a:xfrm>
            <a:off x="209550" y="0"/>
            <a:ext cx="8096250" cy="1143000"/>
          </a:xfrm>
        </p:spPr>
        <p:txBody>
          <a:bodyPr/>
          <a:lstStyle/>
          <a:p>
            <a:pPr algn="ctr">
              <a:defRPr/>
            </a:pPr>
            <a:r>
              <a:rPr lang="en-US" altLang="en-US" sz="5400" dirty="0"/>
              <a:t>Basic Properties of a Table</a:t>
            </a:r>
          </a:p>
        </p:txBody>
      </p:sp>
      <p:sp>
        <p:nvSpPr>
          <p:cNvPr id="16387" name="Rectangle 3">
            <a:extLst>
              <a:ext uri="{FF2B5EF4-FFF2-40B4-BE49-F238E27FC236}">
                <a16:creationId xmlns:a16="http://schemas.microsoft.com/office/drawing/2014/main" id="{F2F23EF9-BD45-31BF-BBDD-86646FFDA706}"/>
              </a:ext>
            </a:extLst>
          </p:cNvPr>
          <p:cNvSpPr>
            <a:spLocks noGrp="1"/>
          </p:cNvSpPr>
          <p:nvPr>
            <p:ph type="body" idx="1"/>
          </p:nvPr>
        </p:nvSpPr>
        <p:spPr>
          <a:xfrm>
            <a:off x="76200" y="1447800"/>
            <a:ext cx="8229600" cy="4830763"/>
          </a:xfrm>
        </p:spPr>
        <p:txBody>
          <a:bodyPr/>
          <a:lstStyle/>
          <a:p>
            <a:pPr algn="just">
              <a:lnSpc>
                <a:spcPct val="120000"/>
              </a:lnSpc>
            </a:pPr>
            <a:r>
              <a:rPr lang="en-US" altLang="en-US" sz="3400"/>
              <a:t>Each cell of a table contains atomic/single value</a:t>
            </a:r>
          </a:p>
          <a:p>
            <a:pPr algn="just">
              <a:lnSpc>
                <a:spcPct val="120000"/>
              </a:lnSpc>
            </a:pPr>
            <a:r>
              <a:rPr lang="en-US" altLang="en-US" sz="3400"/>
              <a:t>Each column has a distinct name; the name of the attribute it represents</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2" name="Rectangle 4">
            <a:extLst>
              <a:ext uri="{FF2B5EF4-FFF2-40B4-BE49-F238E27FC236}">
                <a16:creationId xmlns:a16="http://schemas.microsoft.com/office/drawing/2014/main" id="{D649D847-D6DE-216C-ED27-3F6183894B86}"/>
              </a:ext>
            </a:extLst>
          </p:cNvPr>
          <p:cNvSpPr>
            <a:spLocks noChangeArrowheads="1"/>
          </p:cNvSpPr>
          <p:nvPr/>
        </p:nvSpPr>
        <p:spPr bwMode="auto">
          <a:xfrm>
            <a:off x="304800" y="0"/>
            <a:ext cx="8001000" cy="1143000"/>
          </a:xfrm>
          <a:prstGeom prst="rect">
            <a:avLst/>
          </a:prstGeom>
        </p:spPr>
        <p:txBody>
          <a:bodyPr anchor="ctr"/>
          <a:lstStyle/>
          <a:p>
            <a:pPr algn="ctr">
              <a:defRPr/>
            </a:pPr>
            <a:r>
              <a:rPr lang="en-US" altLang="en-US" sz="5400" spc="-100" dirty="0">
                <a:solidFill>
                  <a:schemeClr val="tx2"/>
                </a:solidFill>
                <a:latin typeface="+mj-lt"/>
                <a:ea typeface="+mj-ea"/>
                <a:cs typeface="+mj-cs"/>
              </a:rPr>
              <a:t>Basic Properties of a Table</a:t>
            </a:r>
          </a:p>
        </p:txBody>
      </p:sp>
      <p:sp>
        <p:nvSpPr>
          <p:cNvPr id="89093" name="Rectangle 5">
            <a:extLst>
              <a:ext uri="{FF2B5EF4-FFF2-40B4-BE49-F238E27FC236}">
                <a16:creationId xmlns:a16="http://schemas.microsoft.com/office/drawing/2014/main" id="{6BA288A8-1AA4-88DF-74BB-80B8567DF46E}"/>
              </a:ext>
            </a:extLst>
          </p:cNvPr>
          <p:cNvSpPr>
            <a:spLocks noChangeArrowheads="1"/>
          </p:cNvSpPr>
          <p:nvPr/>
        </p:nvSpPr>
        <p:spPr bwMode="auto">
          <a:xfrm>
            <a:off x="304800" y="1600200"/>
            <a:ext cx="7848600" cy="4038600"/>
          </a:xfrm>
          <a:prstGeom prst="rect">
            <a:avLst/>
          </a:prstGeom>
          <a:noFill/>
          <a:ln>
            <a:noFill/>
          </a:ln>
          <a:effectLst/>
        </p:spPr>
        <p:txBody>
          <a:bodyPr/>
          <a:lstStyle>
            <a:lvl1pPr marL="838200" indent="-838200">
              <a:lnSpc>
                <a:spcPct val="130000"/>
              </a:lnSpc>
              <a:spcBef>
                <a:spcPct val="20000"/>
              </a:spcBef>
              <a:buFont typeface="Wingdings" panose="05000000000000000000" pitchFamily="2" charset="2"/>
              <a:buChar char="Ø"/>
              <a:defRPr sz="4400">
                <a:solidFill>
                  <a:srgbClr val="FFFF00"/>
                </a:solidFill>
                <a:latin typeface="Times New Roman" panose="02020603050405020304" pitchFamily="18" charset="0"/>
              </a:defRPr>
            </a:lvl1pPr>
            <a:lvl2pPr marL="1066800" indent="-609600">
              <a:spcBef>
                <a:spcPct val="20000"/>
              </a:spcBef>
              <a:buChar char="–"/>
              <a:defRPr sz="3200">
                <a:solidFill>
                  <a:srgbClr val="FFCC00"/>
                </a:solidFill>
                <a:latin typeface="Times New Roman" panose="02020603050405020304" pitchFamily="18" charset="0"/>
              </a:defRPr>
            </a:lvl2pPr>
            <a:lvl3pPr marL="1371600" indent="-457200">
              <a:spcBef>
                <a:spcPct val="20000"/>
              </a:spcBef>
              <a:buChar char="•"/>
              <a:defRPr sz="2400">
                <a:solidFill>
                  <a:schemeClr val="tx1"/>
                </a:solidFill>
                <a:latin typeface="Arial" panose="020B0604020202020204" pitchFamily="34" charset="0"/>
              </a:defRPr>
            </a:lvl3pPr>
            <a:lvl4pPr marL="1752600" indent="-381000">
              <a:spcBef>
                <a:spcPct val="20000"/>
              </a:spcBef>
              <a:buChar char="–"/>
              <a:defRPr sz="2000">
                <a:solidFill>
                  <a:schemeClr val="tx1"/>
                </a:solidFill>
                <a:latin typeface="Arial" panose="020B0604020202020204" pitchFamily="34" charset="0"/>
              </a:defRPr>
            </a:lvl4pPr>
            <a:lvl5pPr marL="2209800" indent="-381000">
              <a:spcBef>
                <a:spcPct val="20000"/>
              </a:spcBef>
              <a:buChar char="»"/>
              <a:defRPr sz="2000">
                <a:solidFill>
                  <a:schemeClr val="tx1"/>
                </a:solidFill>
                <a:latin typeface="Arial" panose="020B0604020202020204" pitchFamily="34" charset="0"/>
              </a:defRPr>
            </a:lvl5pPr>
            <a:lvl6pPr marL="2667000" indent="-381000" fontAlgn="base">
              <a:spcBef>
                <a:spcPct val="20000"/>
              </a:spcBef>
              <a:spcAft>
                <a:spcPct val="0"/>
              </a:spcAft>
              <a:buChar char="»"/>
              <a:defRPr sz="2000">
                <a:solidFill>
                  <a:schemeClr val="tx1"/>
                </a:solidFill>
                <a:latin typeface="Arial" panose="020B0604020202020204" pitchFamily="34" charset="0"/>
              </a:defRPr>
            </a:lvl6pPr>
            <a:lvl7pPr marL="3124200" indent="-381000" fontAlgn="base">
              <a:spcBef>
                <a:spcPct val="20000"/>
              </a:spcBef>
              <a:spcAft>
                <a:spcPct val="0"/>
              </a:spcAft>
              <a:buChar char="»"/>
              <a:defRPr sz="2000">
                <a:solidFill>
                  <a:schemeClr val="tx1"/>
                </a:solidFill>
                <a:latin typeface="Arial" panose="020B0604020202020204" pitchFamily="34" charset="0"/>
              </a:defRPr>
            </a:lvl7pPr>
            <a:lvl8pPr marL="3581400" indent="-381000" fontAlgn="base">
              <a:spcBef>
                <a:spcPct val="20000"/>
              </a:spcBef>
              <a:spcAft>
                <a:spcPct val="0"/>
              </a:spcAft>
              <a:buChar char="»"/>
              <a:defRPr sz="2000">
                <a:solidFill>
                  <a:schemeClr val="tx1"/>
                </a:solidFill>
                <a:latin typeface="Arial" panose="020B0604020202020204" pitchFamily="34" charset="0"/>
              </a:defRPr>
            </a:lvl8pPr>
            <a:lvl9pPr marL="4038600" indent="-381000" fontAlgn="base">
              <a:spcBef>
                <a:spcPct val="20000"/>
              </a:spcBef>
              <a:spcAft>
                <a:spcPct val="0"/>
              </a:spcAft>
              <a:buChar char="»"/>
              <a:defRPr sz="2000">
                <a:solidFill>
                  <a:schemeClr val="tx1"/>
                </a:solidFill>
                <a:latin typeface="Arial" panose="020B0604020202020204" pitchFamily="34" charset="0"/>
              </a:defRPr>
            </a:lvl9pPr>
          </a:lstStyle>
          <a:p>
            <a:pPr marL="342900" indent="-228600" algn="just">
              <a:lnSpc>
                <a:spcPct val="120000"/>
              </a:lnSpc>
              <a:buClr>
                <a:schemeClr val="accent1"/>
              </a:buClr>
              <a:buFont typeface="Arial" panose="020B0604020202020204" pitchFamily="34" charset="0"/>
              <a:buChar char="•"/>
              <a:defRPr/>
            </a:pPr>
            <a:r>
              <a:rPr lang="en-US" altLang="en-US" sz="3400" dirty="0">
                <a:solidFill>
                  <a:schemeClr val="tx1"/>
                </a:solidFill>
                <a:latin typeface="+mn-lt"/>
                <a:cs typeface="+mn-cs"/>
              </a:rPr>
              <a:t>The values of the attributes come from the same domain</a:t>
            </a:r>
          </a:p>
          <a:p>
            <a:pPr marL="342900" indent="-228600" algn="just">
              <a:lnSpc>
                <a:spcPct val="120000"/>
              </a:lnSpc>
              <a:buClr>
                <a:schemeClr val="accent1"/>
              </a:buClr>
              <a:buFont typeface="Arial" panose="020B0604020202020204" pitchFamily="34" charset="0"/>
              <a:buChar char="•"/>
              <a:defRPr/>
            </a:pPr>
            <a:r>
              <a:rPr lang="en-US" altLang="en-US" sz="3400" dirty="0">
                <a:solidFill>
                  <a:schemeClr val="tx1"/>
                </a:solidFill>
                <a:latin typeface="+mn-lt"/>
                <a:cs typeface="+mn-cs"/>
              </a:rPr>
              <a:t>The order of the columns is immaterial</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89092"/>
                                        </p:tgtEl>
                                        <p:attrNameLst>
                                          <p:attrName>style.visibility</p:attrName>
                                        </p:attrNameLst>
                                      </p:cBhvr>
                                      <p:to>
                                        <p:strVal val="visible"/>
                                      </p:to>
                                    </p:set>
                                    <p:anim calcmode="lin" valueType="num">
                                      <p:cBhvr>
                                        <p:cTn id="7" dur="500" fill="hold"/>
                                        <p:tgtEl>
                                          <p:spTgt spid="89092"/>
                                        </p:tgtEl>
                                        <p:attrNameLst>
                                          <p:attrName>ppt_w</p:attrName>
                                        </p:attrNameLst>
                                      </p:cBhvr>
                                      <p:tavLst>
                                        <p:tav tm="0">
                                          <p:val>
                                            <p:fltVal val="0"/>
                                          </p:val>
                                        </p:tav>
                                        <p:tav tm="100000">
                                          <p:val>
                                            <p:strVal val="#ppt_w"/>
                                          </p:val>
                                        </p:tav>
                                      </p:tavLst>
                                    </p:anim>
                                    <p:anim calcmode="lin" valueType="num">
                                      <p:cBhvr>
                                        <p:cTn id="8" dur="500" fill="hold"/>
                                        <p:tgtEl>
                                          <p:spTgt spid="89092"/>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89093">
                                            <p:txEl>
                                              <p:pRg st="0" end="0"/>
                                            </p:txEl>
                                          </p:spTgt>
                                        </p:tgtEl>
                                        <p:attrNameLst>
                                          <p:attrName>style.visibility</p:attrName>
                                        </p:attrNameLst>
                                      </p:cBhvr>
                                      <p:to>
                                        <p:strVal val="visible"/>
                                      </p:to>
                                    </p:set>
                                    <p:anim calcmode="lin" valueType="num">
                                      <p:cBhvr additive="base">
                                        <p:cTn id="13" dur="500" fill="hold"/>
                                        <p:tgtEl>
                                          <p:spTgt spid="89093">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8909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89093">
                                            <p:txEl>
                                              <p:pRg st="1" end="1"/>
                                            </p:txEl>
                                          </p:spTgt>
                                        </p:tgtEl>
                                        <p:attrNameLst>
                                          <p:attrName>style.visibility</p:attrName>
                                        </p:attrNameLst>
                                      </p:cBhvr>
                                      <p:to>
                                        <p:strVal val="visible"/>
                                      </p:to>
                                    </p:set>
                                    <p:anim calcmode="lin" valueType="num">
                                      <p:cBhvr additive="base">
                                        <p:cTn id="19" dur="500" fill="hold"/>
                                        <p:tgtEl>
                                          <p:spTgt spid="89093">
                                            <p:txEl>
                                              <p:pRg st="1" end="1"/>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89093">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2" grpId="0"/>
      <p:bldP spid="89093" grpId="0" build="p"/>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a:extLst>
              <a:ext uri="{FF2B5EF4-FFF2-40B4-BE49-F238E27FC236}">
                <a16:creationId xmlns:a16="http://schemas.microsoft.com/office/drawing/2014/main" id="{BEDD85FA-6E78-D2AC-E6ED-10AE8AC6418B}"/>
              </a:ext>
            </a:extLst>
          </p:cNvPr>
          <p:cNvSpPr>
            <a:spLocks noGrp="1" noChangeArrowheads="1"/>
          </p:cNvSpPr>
          <p:nvPr>
            <p:ph type="title"/>
          </p:nvPr>
        </p:nvSpPr>
        <p:spPr>
          <a:xfrm>
            <a:off x="457200" y="0"/>
            <a:ext cx="7696200" cy="1143000"/>
          </a:xfrm>
        </p:spPr>
        <p:txBody>
          <a:bodyPr/>
          <a:lstStyle/>
          <a:p>
            <a:pPr algn="ctr">
              <a:defRPr/>
            </a:pPr>
            <a:r>
              <a:rPr lang="en-US" altLang="en-US" sz="5400" dirty="0"/>
              <a:t>Basic Properties of a Table</a:t>
            </a:r>
          </a:p>
        </p:txBody>
      </p:sp>
      <p:sp>
        <p:nvSpPr>
          <p:cNvPr id="18435" name="Rectangle 3">
            <a:extLst>
              <a:ext uri="{FF2B5EF4-FFF2-40B4-BE49-F238E27FC236}">
                <a16:creationId xmlns:a16="http://schemas.microsoft.com/office/drawing/2014/main" id="{B524E3BF-EB99-9B14-E064-0B2A8FDC7679}"/>
              </a:ext>
            </a:extLst>
          </p:cNvPr>
          <p:cNvSpPr>
            <a:spLocks noGrp="1"/>
          </p:cNvSpPr>
          <p:nvPr>
            <p:ph type="body" idx="1"/>
          </p:nvPr>
        </p:nvSpPr>
        <p:spPr>
          <a:xfrm>
            <a:off x="304800" y="1676400"/>
            <a:ext cx="7772400" cy="4876800"/>
          </a:xfrm>
        </p:spPr>
        <p:txBody>
          <a:bodyPr/>
          <a:lstStyle/>
          <a:p>
            <a:pPr algn="just">
              <a:lnSpc>
                <a:spcPct val="120000"/>
              </a:lnSpc>
            </a:pPr>
            <a:r>
              <a:rPr lang="en-US" altLang="en-US" sz="3400"/>
              <a:t>The order of the rows is immaterial</a:t>
            </a:r>
          </a:p>
          <a:p>
            <a:pPr algn="just">
              <a:lnSpc>
                <a:spcPct val="120000"/>
              </a:lnSpc>
            </a:pPr>
            <a:r>
              <a:rPr lang="en-US" altLang="en-US" sz="3400"/>
              <a:t>Each row/tuple/record is distinct, no two rows can be same</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a:extLst>
              <a:ext uri="{FF2B5EF4-FFF2-40B4-BE49-F238E27FC236}">
                <a16:creationId xmlns:a16="http://schemas.microsoft.com/office/drawing/2014/main" id="{A65C60A8-3978-34E9-0FEB-0753D99867A4}"/>
              </a:ext>
            </a:extLst>
          </p:cNvPr>
          <p:cNvSpPr>
            <a:spLocks noGrp="1" noChangeArrowheads="1"/>
          </p:cNvSpPr>
          <p:nvPr>
            <p:ph type="title"/>
          </p:nvPr>
        </p:nvSpPr>
        <p:spPr>
          <a:xfrm>
            <a:off x="381000" y="76200"/>
            <a:ext cx="7772400" cy="1143000"/>
          </a:xfrm>
        </p:spPr>
        <p:txBody>
          <a:bodyPr/>
          <a:lstStyle/>
          <a:p>
            <a:pPr algn="ctr">
              <a:defRPr/>
            </a:pPr>
            <a:r>
              <a:rPr lang="en-US" altLang="en-US" dirty="0"/>
              <a:t>A Table</a:t>
            </a:r>
          </a:p>
        </p:txBody>
      </p:sp>
      <p:graphicFrame>
        <p:nvGraphicFramePr>
          <p:cNvPr id="86081" name="Group 65">
            <a:extLst>
              <a:ext uri="{FF2B5EF4-FFF2-40B4-BE49-F238E27FC236}">
                <a16:creationId xmlns:a16="http://schemas.microsoft.com/office/drawing/2014/main" id="{59265A7C-79DC-D000-2926-6C3D15A9845B}"/>
              </a:ext>
            </a:extLst>
          </p:cNvPr>
          <p:cNvGraphicFramePr>
            <a:graphicFrameLocks noGrp="1"/>
          </p:cNvGraphicFramePr>
          <p:nvPr>
            <p:ph idx="1"/>
          </p:nvPr>
        </p:nvGraphicFramePr>
        <p:xfrm>
          <a:off x="190500" y="1447800"/>
          <a:ext cx="8153400" cy="4511674"/>
        </p:xfrm>
        <a:graphic>
          <a:graphicData uri="http://schemas.openxmlformats.org/drawingml/2006/table">
            <a:tbl>
              <a:tblPr/>
              <a:tblGrid>
                <a:gridCol w="1181100">
                  <a:extLst>
                    <a:ext uri="{9D8B030D-6E8A-4147-A177-3AD203B41FA5}">
                      <a16:colId xmlns:a16="http://schemas.microsoft.com/office/drawing/2014/main" val="20000"/>
                    </a:ext>
                  </a:extLst>
                </a:gridCol>
                <a:gridCol w="1905000">
                  <a:extLst>
                    <a:ext uri="{9D8B030D-6E8A-4147-A177-3AD203B41FA5}">
                      <a16:colId xmlns:a16="http://schemas.microsoft.com/office/drawing/2014/main" val="20001"/>
                    </a:ext>
                  </a:extLst>
                </a:gridCol>
                <a:gridCol w="1676400">
                  <a:extLst>
                    <a:ext uri="{9D8B030D-6E8A-4147-A177-3AD203B41FA5}">
                      <a16:colId xmlns:a16="http://schemas.microsoft.com/office/drawing/2014/main" val="20002"/>
                    </a:ext>
                  </a:extLst>
                </a:gridCol>
                <a:gridCol w="1981200">
                  <a:extLst>
                    <a:ext uri="{9D8B030D-6E8A-4147-A177-3AD203B41FA5}">
                      <a16:colId xmlns:a16="http://schemas.microsoft.com/office/drawing/2014/main" val="20003"/>
                    </a:ext>
                  </a:extLst>
                </a:gridCol>
                <a:gridCol w="1409700">
                  <a:extLst>
                    <a:ext uri="{9D8B030D-6E8A-4147-A177-3AD203B41FA5}">
                      <a16:colId xmlns:a16="http://schemas.microsoft.com/office/drawing/2014/main" val="20004"/>
                    </a:ext>
                  </a:extLst>
                </a:gridCol>
              </a:tblGrid>
              <a:tr h="884044">
                <a:tc>
                  <a:txBody>
                    <a:bodyPr/>
                    <a:lstStyle>
                      <a:lvl1pPr>
                        <a:lnSpc>
                          <a:spcPct val="130000"/>
                        </a:lnSpc>
                        <a:spcBef>
                          <a:spcPct val="20000"/>
                        </a:spcBef>
                        <a:buFont typeface="Wingdings" panose="05000000000000000000" pitchFamily="2" charset="2"/>
                        <a:defRPr sz="4000">
                          <a:solidFill>
                            <a:srgbClr val="FFFF00"/>
                          </a:solidFill>
                          <a:latin typeface="Times New Roman" panose="02020603050405020304" pitchFamily="18" charset="0"/>
                        </a:defRPr>
                      </a:lvl1pPr>
                      <a:lvl2pPr>
                        <a:spcBef>
                          <a:spcPct val="20000"/>
                        </a:spcBef>
                        <a:defRPr sz="2800">
                          <a:solidFill>
                            <a:srgbClr val="FFCC00"/>
                          </a:solidFill>
                          <a:latin typeface="Times New Roman" panose="02020603050405020304" pitchFamily="18"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30000"/>
                        </a:lnSpc>
                        <a:spcBef>
                          <a:spcPct val="20000"/>
                        </a:spcBef>
                        <a:spcAft>
                          <a:spcPct val="0"/>
                        </a:spcAft>
                        <a:buClrTx/>
                        <a:buSzTx/>
                        <a:buFont typeface="Wingdings" panose="05000000000000000000" pitchFamily="2" charset="2"/>
                        <a:buNone/>
                        <a:tabLst/>
                      </a:pPr>
                      <a:r>
                        <a:rPr kumimoji="0" lang="en-US" altLang="en-US" sz="3000" b="1" i="0" u="none" strike="noStrike" cap="none" normalizeH="0" baseline="0" dirty="0" err="1">
                          <a:ln>
                            <a:noFill/>
                          </a:ln>
                          <a:solidFill>
                            <a:schemeClr val="tx2"/>
                          </a:solidFill>
                          <a:effectLst/>
                          <a:latin typeface="Times New Roman" panose="02020603050405020304" pitchFamily="18" charset="0"/>
                        </a:rPr>
                        <a:t>stID</a:t>
                      </a:r>
                      <a:endParaRPr kumimoji="0" lang="en-US" altLang="en-US" sz="3000" b="1" i="0" u="none" strike="noStrike" cap="none" normalizeH="0" baseline="0" dirty="0">
                        <a:ln>
                          <a:noFill/>
                        </a:ln>
                        <a:solidFill>
                          <a:schemeClr val="tx2"/>
                        </a:solidFill>
                        <a:effectLst/>
                        <a:latin typeface="Times New Roman" panose="02020603050405020304" pitchFamily="18" charset="0"/>
                      </a:endParaRP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30000"/>
                        </a:lnSpc>
                        <a:spcBef>
                          <a:spcPct val="20000"/>
                        </a:spcBef>
                        <a:buFont typeface="Wingdings" panose="05000000000000000000" pitchFamily="2" charset="2"/>
                        <a:defRPr sz="4000">
                          <a:solidFill>
                            <a:srgbClr val="FFFF00"/>
                          </a:solidFill>
                          <a:latin typeface="Times New Roman" panose="02020603050405020304" pitchFamily="18" charset="0"/>
                        </a:defRPr>
                      </a:lvl1pPr>
                      <a:lvl2pPr>
                        <a:spcBef>
                          <a:spcPct val="20000"/>
                        </a:spcBef>
                        <a:defRPr sz="2800">
                          <a:solidFill>
                            <a:srgbClr val="FFCC00"/>
                          </a:solidFill>
                          <a:latin typeface="Times New Roman" panose="02020603050405020304" pitchFamily="18"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30000"/>
                        </a:lnSpc>
                        <a:spcBef>
                          <a:spcPct val="20000"/>
                        </a:spcBef>
                        <a:spcAft>
                          <a:spcPct val="0"/>
                        </a:spcAft>
                        <a:buClrTx/>
                        <a:buSzTx/>
                        <a:buFont typeface="Wingdings" panose="05000000000000000000" pitchFamily="2" charset="2"/>
                        <a:buNone/>
                        <a:tabLst/>
                      </a:pPr>
                      <a:r>
                        <a:rPr kumimoji="0" lang="en-US" altLang="en-US" sz="3000" b="1" i="0" u="none" strike="noStrike" cap="none" normalizeH="0" baseline="0" dirty="0" err="1">
                          <a:ln>
                            <a:noFill/>
                          </a:ln>
                          <a:solidFill>
                            <a:schemeClr val="tx2"/>
                          </a:solidFill>
                          <a:effectLst/>
                          <a:latin typeface="Times New Roman" panose="02020603050405020304" pitchFamily="18" charset="0"/>
                        </a:rPr>
                        <a:t>stName</a:t>
                      </a:r>
                      <a:endParaRPr kumimoji="0" lang="en-US" altLang="en-US" sz="3000" b="1" i="0" u="none" strike="noStrike" cap="none" normalizeH="0" baseline="0" dirty="0">
                        <a:ln>
                          <a:noFill/>
                        </a:ln>
                        <a:solidFill>
                          <a:schemeClr val="tx2"/>
                        </a:solidFill>
                        <a:effectLst/>
                        <a:latin typeface="Times New Roman" panose="02020603050405020304" pitchFamily="18" charset="0"/>
                      </a:endParaRP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30000"/>
                        </a:lnSpc>
                        <a:spcBef>
                          <a:spcPct val="20000"/>
                        </a:spcBef>
                        <a:buFont typeface="Wingdings" panose="05000000000000000000" pitchFamily="2" charset="2"/>
                        <a:defRPr sz="4000">
                          <a:solidFill>
                            <a:srgbClr val="FFFF00"/>
                          </a:solidFill>
                          <a:latin typeface="Times New Roman" panose="02020603050405020304" pitchFamily="18" charset="0"/>
                        </a:defRPr>
                      </a:lvl1pPr>
                      <a:lvl2pPr>
                        <a:spcBef>
                          <a:spcPct val="20000"/>
                        </a:spcBef>
                        <a:defRPr sz="2800">
                          <a:solidFill>
                            <a:srgbClr val="FFCC00"/>
                          </a:solidFill>
                          <a:latin typeface="Times New Roman" panose="02020603050405020304" pitchFamily="18"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30000"/>
                        </a:lnSpc>
                        <a:spcBef>
                          <a:spcPct val="20000"/>
                        </a:spcBef>
                        <a:spcAft>
                          <a:spcPct val="0"/>
                        </a:spcAft>
                        <a:buClrTx/>
                        <a:buSzTx/>
                        <a:buFont typeface="Wingdings" panose="05000000000000000000" pitchFamily="2" charset="2"/>
                        <a:buNone/>
                        <a:tabLst/>
                      </a:pPr>
                      <a:r>
                        <a:rPr kumimoji="0" lang="en-US" altLang="en-US" sz="3000" b="1" i="0" u="none" strike="noStrike" cap="none" normalizeH="0" baseline="0" dirty="0" err="1">
                          <a:ln>
                            <a:noFill/>
                          </a:ln>
                          <a:solidFill>
                            <a:schemeClr val="tx2"/>
                          </a:solidFill>
                          <a:effectLst/>
                          <a:latin typeface="Times New Roman" panose="02020603050405020304" pitchFamily="18" charset="0"/>
                        </a:rPr>
                        <a:t>clName</a:t>
                      </a:r>
                      <a:endParaRPr kumimoji="0" lang="en-US" altLang="en-US" sz="3000" b="1" i="0" u="none" strike="noStrike" cap="none" normalizeH="0" baseline="0" dirty="0">
                        <a:ln>
                          <a:noFill/>
                        </a:ln>
                        <a:solidFill>
                          <a:schemeClr val="tx2"/>
                        </a:solidFill>
                        <a:effectLst/>
                        <a:latin typeface="Times New Roman" panose="02020603050405020304" pitchFamily="18" charset="0"/>
                      </a:endParaRP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30000"/>
                        </a:lnSpc>
                        <a:spcBef>
                          <a:spcPct val="20000"/>
                        </a:spcBef>
                        <a:buFont typeface="Wingdings" panose="05000000000000000000" pitchFamily="2" charset="2"/>
                        <a:defRPr sz="4000">
                          <a:solidFill>
                            <a:srgbClr val="FFFF00"/>
                          </a:solidFill>
                          <a:latin typeface="Times New Roman" panose="02020603050405020304" pitchFamily="18" charset="0"/>
                        </a:defRPr>
                      </a:lvl1pPr>
                      <a:lvl2pPr>
                        <a:spcBef>
                          <a:spcPct val="20000"/>
                        </a:spcBef>
                        <a:defRPr sz="2800">
                          <a:solidFill>
                            <a:srgbClr val="FFCC00"/>
                          </a:solidFill>
                          <a:latin typeface="Times New Roman" panose="02020603050405020304" pitchFamily="18"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30000"/>
                        </a:lnSpc>
                        <a:spcBef>
                          <a:spcPct val="20000"/>
                        </a:spcBef>
                        <a:spcAft>
                          <a:spcPct val="0"/>
                        </a:spcAft>
                        <a:buClrTx/>
                        <a:buSzTx/>
                        <a:buFont typeface="Wingdings" panose="05000000000000000000" pitchFamily="2" charset="2"/>
                        <a:buNone/>
                        <a:tabLst/>
                      </a:pPr>
                      <a:r>
                        <a:rPr kumimoji="0" lang="en-US" altLang="en-US" sz="3000" b="1" i="0" u="none" strike="noStrike" cap="none" normalizeH="0" baseline="0" dirty="0" err="1">
                          <a:ln>
                            <a:noFill/>
                          </a:ln>
                          <a:solidFill>
                            <a:schemeClr val="tx2"/>
                          </a:solidFill>
                          <a:effectLst/>
                          <a:latin typeface="Times New Roman" panose="02020603050405020304" pitchFamily="18" charset="0"/>
                        </a:rPr>
                        <a:t>doB</a:t>
                      </a:r>
                      <a:endParaRPr kumimoji="0" lang="en-US" altLang="en-US" sz="3000" b="1" i="0" u="none" strike="noStrike" cap="none" normalizeH="0" baseline="0" dirty="0">
                        <a:ln>
                          <a:noFill/>
                        </a:ln>
                        <a:solidFill>
                          <a:schemeClr val="tx2"/>
                        </a:solidFill>
                        <a:effectLst/>
                        <a:latin typeface="Times New Roman" panose="02020603050405020304" pitchFamily="18" charset="0"/>
                      </a:endParaRP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30000"/>
                        </a:lnSpc>
                        <a:spcBef>
                          <a:spcPct val="20000"/>
                        </a:spcBef>
                        <a:buFont typeface="Wingdings" panose="05000000000000000000" pitchFamily="2" charset="2"/>
                        <a:defRPr sz="4000">
                          <a:solidFill>
                            <a:srgbClr val="FFFF00"/>
                          </a:solidFill>
                          <a:latin typeface="Times New Roman" panose="02020603050405020304" pitchFamily="18" charset="0"/>
                        </a:defRPr>
                      </a:lvl1pPr>
                      <a:lvl2pPr>
                        <a:spcBef>
                          <a:spcPct val="20000"/>
                        </a:spcBef>
                        <a:defRPr sz="2800">
                          <a:solidFill>
                            <a:srgbClr val="FFCC00"/>
                          </a:solidFill>
                          <a:latin typeface="Times New Roman" panose="02020603050405020304" pitchFamily="18"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30000"/>
                        </a:lnSpc>
                        <a:spcBef>
                          <a:spcPct val="20000"/>
                        </a:spcBef>
                        <a:spcAft>
                          <a:spcPct val="0"/>
                        </a:spcAft>
                        <a:buClrTx/>
                        <a:buSzTx/>
                        <a:buFont typeface="Wingdings" panose="05000000000000000000" pitchFamily="2" charset="2"/>
                        <a:buNone/>
                        <a:tabLst/>
                      </a:pPr>
                      <a:r>
                        <a:rPr kumimoji="0" lang="en-US" altLang="en-US" sz="3000" b="1" i="0" u="none" strike="noStrike" cap="none" normalizeH="0" baseline="0" dirty="0">
                          <a:ln>
                            <a:noFill/>
                          </a:ln>
                          <a:solidFill>
                            <a:schemeClr val="tx2"/>
                          </a:solidFill>
                          <a:effectLst/>
                          <a:latin typeface="Times New Roman" panose="02020603050405020304" pitchFamily="18" charset="0"/>
                        </a:rPr>
                        <a:t>Gender </a:t>
                      </a: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25526">
                <a:tc>
                  <a:txBody>
                    <a:bodyPr/>
                    <a:lstStyle>
                      <a:lvl1pPr>
                        <a:lnSpc>
                          <a:spcPct val="130000"/>
                        </a:lnSpc>
                        <a:spcBef>
                          <a:spcPct val="20000"/>
                        </a:spcBef>
                        <a:buFont typeface="Wingdings" panose="05000000000000000000" pitchFamily="2" charset="2"/>
                        <a:defRPr sz="4000">
                          <a:solidFill>
                            <a:srgbClr val="FFFF00"/>
                          </a:solidFill>
                          <a:latin typeface="Times New Roman" panose="02020603050405020304" pitchFamily="18" charset="0"/>
                        </a:defRPr>
                      </a:lvl1pPr>
                      <a:lvl2pPr>
                        <a:spcBef>
                          <a:spcPct val="20000"/>
                        </a:spcBef>
                        <a:defRPr sz="2800">
                          <a:solidFill>
                            <a:srgbClr val="FFCC00"/>
                          </a:solidFill>
                          <a:latin typeface="Times New Roman" panose="02020603050405020304" pitchFamily="18"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30000"/>
                        </a:lnSpc>
                        <a:spcBef>
                          <a:spcPct val="20000"/>
                        </a:spcBef>
                        <a:spcAft>
                          <a:spcPct val="0"/>
                        </a:spcAft>
                        <a:buClrTx/>
                        <a:buSzTx/>
                        <a:buFont typeface="Wingdings" panose="05000000000000000000" pitchFamily="2" charset="2"/>
                        <a:buNone/>
                        <a:tabLst/>
                      </a:pPr>
                      <a:r>
                        <a:rPr kumimoji="0" lang="en-US" altLang="en-US" sz="3000" b="0" i="0" u="none" strike="noStrike" cap="none" normalizeH="0" baseline="0" dirty="0">
                          <a:ln>
                            <a:noFill/>
                          </a:ln>
                          <a:solidFill>
                            <a:srgbClr val="C00000"/>
                          </a:solidFill>
                          <a:effectLst/>
                          <a:latin typeface="Times New Roman" panose="02020603050405020304" pitchFamily="18" charset="0"/>
                        </a:rPr>
                        <a:t>S001</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30000"/>
                        </a:lnSpc>
                        <a:spcBef>
                          <a:spcPct val="20000"/>
                        </a:spcBef>
                        <a:buFont typeface="Wingdings" panose="05000000000000000000" pitchFamily="2" charset="2"/>
                        <a:defRPr sz="4000">
                          <a:solidFill>
                            <a:srgbClr val="FFFF00"/>
                          </a:solidFill>
                          <a:latin typeface="Times New Roman" panose="02020603050405020304" pitchFamily="18" charset="0"/>
                        </a:defRPr>
                      </a:lvl1pPr>
                      <a:lvl2pPr>
                        <a:spcBef>
                          <a:spcPct val="20000"/>
                        </a:spcBef>
                        <a:defRPr sz="2800">
                          <a:solidFill>
                            <a:srgbClr val="FFCC00"/>
                          </a:solidFill>
                          <a:latin typeface="Times New Roman" panose="02020603050405020304" pitchFamily="18"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30000"/>
                        </a:lnSpc>
                        <a:spcBef>
                          <a:spcPct val="20000"/>
                        </a:spcBef>
                        <a:spcAft>
                          <a:spcPct val="0"/>
                        </a:spcAft>
                        <a:buClrTx/>
                        <a:buSzTx/>
                        <a:buFont typeface="Wingdings" panose="05000000000000000000" pitchFamily="2" charset="2"/>
                        <a:buNone/>
                        <a:tabLst/>
                      </a:pPr>
                      <a:r>
                        <a:rPr kumimoji="0" lang="en-US" altLang="en-US" sz="3000" b="0" i="0" u="none" strike="noStrike" cap="none" normalizeH="0" baseline="0" dirty="0">
                          <a:ln>
                            <a:noFill/>
                          </a:ln>
                          <a:solidFill>
                            <a:srgbClr val="C00000"/>
                          </a:solidFill>
                          <a:effectLst/>
                          <a:latin typeface="Times New Roman" panose="02020603050405020304" pitchFamily="18" charset="0"/>
                        </a:rPr>
                        <a:t>M. Suhail</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30000"/>
                        </a:lnSpc>
                        <a:spcBef>
                          <a:spcPct val="20000"/>
                        </a:spcBef>
                        <a:buFont typeface="Wingdings" panose="05000000000000000000" pitchFamily="2" charset="2"/>
                        <a:defRPr sz="4000">
                          <a:solidFill>
                            <a:srgbClr val="FFFF00"/>
                          </a:solidFill>
                          <a:latin typeface="Times New Roman" panose="02020603050405020304" pitchFamily="18" charset="0"/>
                        </a:defRPr>
                      </a:lvl1pPr>
                      <a:lvl2pPr>
                        <a:spcBef>
                          <a:spcPct val="20000"/>
                        </a:spcBef>
                        <a:defRPr sz="2800">
                          <a:solidFill>
                            <a:srgbClr val="FFCC00"/>
                          </a:solidFill>
                          <a:latin typeface="Times New Roman" panose="02020603050405020304" pitchFamily="18"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30000"/>
                        </a:lnSpc>
                        <a:spcBef>
                          <a:spcPct val="20000"/>
                        </a:spcBef>
                        <a:spcAft>
                          <a:spcPct val="0"/>
                        </a:spcAft>
                        <a:buClrTx/>
                        <a:buSzTx/>
                        <a:buFont typeface="Wingdings" panose="05000000000000000000" pitchFamily="2" charset="2"/>
                        <a:buNone/>
                        <a:tabLst/>
                      </a:pPr>
                      <a:r>
                        <a:rPr kumimoji="0" lang="en-US" altLang="en-US" sz="3000" b="0" i="0" u="none" strike="noStrike" cap="none" normalizeH="0" baseline="0">
                          <a:ln>
                            <a:noFill/>
                          </a:ln>
                          <a:solidFill>
                            <a:srgbClr val="C00000"/>
                          </a:solidFill>
                          <a:effectLst/>
                          <a:latin typeface="Times New Roman" panose="02020603050405020304" pitchFamily="18" charset="0"/>
                        </a:rPr>
                        <a:t>MCS</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30000"/>
                        </a:lnSpc>
                        <a:spcBef>
                          <a:spcPct val="20000"/>
                        </a:spcBef>
                        <a:buFont typeface="Wingdings" panose="05000000000000000000" pitchFamily="2" charset="2"/>
                        <a:defRPr sz="4000">
                          <a:solidFill>
                            <a:srgbClr val="FFFF00"/>
                          </a:solidFill>
                          <a:latin typeface="Times New Roman" panose="02020603050405020304" pitchFamily="18" charset="0"/>
                        </a:defRPr>
                      </a:lvl1pPr>
                      <a:lvl2pPr>
                        <a:spcBef>
                          <a:spcPct val="20000"/>
                        </a:spcBef>
                        <a:defRPr sz="2800">
                          <a:solidFill>
                            <a:srgbClr val="FFCC00"/>
                          </a:solidFill>
                          <a:latin typeface="Times New Roman" panose="02020603050405020304" pitchFamily="18"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30000"/>
                        </a:lnSpc>
                        <a:spcBef>
                          <a:spcPct val="20000"/>
                        </a:spcBef>
                        <a:spcAft>
                          <a:spcPct val="0"/>
                        </a:spcAft>
                        <a:buClrTx/>
                        <a:buSzTx/>
                        <a:buFont typeface="Wingdings" panose="05000000000000000000" pitchFamily="2" charset="2"/>
                        <a:buNone/>
                        <a:tabLst/>
                      </a:pPr>
                      <a:r>
                        <a:rPr kumimoji="0" lang="en-US" altLang="en-US" sz="3000" b="0" i="0" u="none" strike="noStrike" cap="none" normalizeH="0" baseline="0">
                          <a:ln>
                            <a:noFill/>
                          </a:ln>
                          <a:solidFill>
                            <a:srgbClr val="C00000"/>
                          </a:solidFill>
                          <a:effectLst/>
                          <a:latin typeface="Times New Roman" panose="02020603050405020304" pitchFamily="18" charset="0"/>
                        </a:rPr>
                        <a:t>12/6/84</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30000"/>
                        </a:lnSpc>
                        <a:spcBef>
                          <a:spcPct val="20000"/>
                        </a:spcBef>
                        <a:buFont typeface="Wingdings" panose="05000000000000000000" pitchFamily="2" charset="2"/>
                        <a:defRPr sz="4000">
                          <a:solidFill>
                            <a:srgbClr val="FFFF00"/>
                          </a:solidFill>
                          <a:latin typeface="Times New Roman" panose="02020603050405020304" pitchFamily="18" charset="0"/>
                        </a:defRPr>
                      </a:lvl1pPr>
                      <a:lvl2pPr>
                        <a:spcBef>
                          <a:spcPct val="20000"/>
                        </a:spcBef>
                        <a:defRPr sz="2800">
                          <a:solidFill>
                            <a:srgbClr val="FFCC00"/>
                          </a:solidFill>
                          <a:latin typeface="Times New Roman" panose="02020603050405020304" pitchFamily="18"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30000"/>
                        </a:lnSpc>
                        <a:spcBef>
                          <a:spcPct val="20000"/>
                        </a:spcBef>
                        <a:spcAft>
                          <a:spcPct val="0"/>
                        </a:spcAft>
                        <a:buClrTx/>
                        <a:buSzTx/>
                        <a:buFont typeface="Wingdings" panose="05000000000000000000" pitchFamily="2" charset="2"/>
                        <a:buNone/>
                        <a:tabLst/>
                      </a:pPr>
                      <a:r>
                        <a:rPr kumimoji="0" lang="en-US" altLang="en-US" sz="3000" b="0" i="0" u="none" strike="noStrike" cap="none" normalizeH="0" baseline="0">
                          <a:ln>
                            <a:noFill/>
                          </a:ln>
                          <a:solidFill>
                            <a:srgbClr val="C00000"/>
                          </a:solidFill>
                          <a:effectLst/>
                          <a:latin typeface="Times New Roman" panose="02020603050405020304" pitchFamily="18" charset="0"/>
                        </a:rPr>
                        <a:t>M</a:t>
                      </a: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25526">
                <a:tc>
                  <a:txBody>
                    <a:bodyPr/>
                    <a:lstStyle>
                      <a:lvl1pPr>
                        <a:lnSpc>
                          <a:spcPct val="130000"/>
                        </a:lnSpc>
                        <a:spcBef>
                          <a:spcPct val="20000"/>
                        </a:spcBef>
                        <a:buFont typeface="Wingdings" panose="05000000000000000000" pitchFamily="2" charset="2"/>
                        <a:defRPr sz="4000">
                          <a:solidFill>
                            <a:srgbClr val="FFFF00"/>
                          </a:solidFill>
                          <a:latin typeface="Times New Roman" panose="02020603050405020304" pitchFamily="18" charset="0"/>
                        </a:defRPr>
                      </a:lvl1pPr>
                      <a:lvl2pPr>
                        <a:spcBef>
                          <a:spcPct val="20000"/>
                        </a:spcBef>
                        <a:defRPr sz="2800">
                          <a:solidFill>
                            <a:srgbClr val="FFCC00"/>
                          </a:solidFill>
                          <a:latin typeface="Times New Roman" panose="02020603050405020304" pitchFamily="18"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30000"/>
                        </a:lnSpc>
                        <a:spcBef>
                          <a:spcPct val="20000"/>
                        </a:spcBef>
                        <a:spcAft>
                          <a:spcPct val="0"/>
                        </a:spcAft>
                        <a:buClrTx/>
                        <a:buSzTx/>
                        <a:buFont typeface="Wingdings" panose="05000000000000000000" pitchFamily="2" charset="2"/>
                        <a:buNone/>
                        <a:tabLst/>
                      </a:pPr>
                      <a:r>
                        <a:rPr kumimoji="0" lang="en-US" altLang="en-US" sz="3000" b="0" i="0" u="none" strike="noStrike" cap="none" normalizeH="0" baseline="0">
                          <a:ln>
                            <a:noFill/>
                          </a:ln>
                          <a:solidFill>
                            <a:srgbClr val="C00000"/>
                          </a:solidFill>
                          <a:effectLst/>
                          <a:latin typeface="Times New Roman" panose="02020603050405020304" pitchFamily="18" charset="0"/>
                        </a:rPr>
                        <a:t>S002</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30000"/>
                        </a:lnSpc>
                        <a:spcBef>
                          <a:spcPct val="20000"/>
                        </a:spcBef>
                        <a:buFont typeface="Wingdings" panose="05000000000000000000" pitchFamily="2" charset="2"/>
                        <a:defRPr sz="4000">
                          <a:solidFill>
                            <a:srgbClr val="FFFF00"/>
                          </a:solidFill>
                          <a:latin typeface="Times New Roman" panose="02020603050405020304" pitchFamily="18" charset="0"/>
                        </a:defRPr>
                      </a:lvl1pPr>
                      <a:lvl2pPr>
                        <a:spcBef>
                          <a:spcPct val="20000"/>
                        </a:spcBef>
                        <a:defRPr sz="2800">
                          <a:solidFill>
                            <a:srgbClr val="FFCC00"/>
                          </a:solidFill>
                          <a:latin typeface="Times New Roman" panose="02020603050405020304" pitchFamily="18"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30000"/>
                        </a:lnSpc>
                        <a:spcBef>
                          <a:spcPct val="20000"/>
                        </a:spcBef>
                        <a:spcAft>
                          <a:spcPct val="0"/>
                        </a:spcAft>
                        <a:buClrTx/>
                        <a:buSzTx/>
                        <a:buFont typeface="Wingdings" panose="05000000000000000000" pitchFamily="2" charset="2"/>
                        <a:buNone/>
                        <a:tabLst/>
                      </a:pPr>
                      <a:r>
                        <a:rPr kumimoji="0" lang="en-US" altLang="en-US" sz="3000" b="0" i="0" u="none" strike="noStrike" cap="none" normalizeH="0" baseline="0" dirty="0">
                          <a:ln>
                            <a:noFill/>
                          </a:ln>
                          <a:solidFill>
                            <a:srgbClr val="C00000"/>
                          </a:solidFill>
                          <a:effectLst/>
                          <a:latin typeface="Times New Roman" panose="02020603050405020304" pitchFamily="18" charset="0"/>
                        </a:rPr>
                        <a:t>M. </a:t>
                      </a:r>
                      <a:r>
                        <a:rPr kumimoji="0" lang="en-US" altLang="en-US" sz="3000" b="0" i="0" u="none" strike="noStrike" cap="none" normalizeH="0" baseline="0" dirty="0" err="1">
                          <a:ln>
                            <a:noFill/>
                          </a:ln>
                          <a:solidFill>
                            <a:srgbClr val="C00000"/>
                          </a:solidFill>
                          <a:effectLst/>
                          <a:latin typeface="Times New Roman" panose="02020603050405020304" pitchFamily="18" charset="0"/>
                        </a:rPr>
                        <a:t>Shahid</a:t>
                      </a:r>
                      <a:endParaRPr kumimoji="0" lang="en-US" altLang="en-US" sz="3000" b="0" i="0" u="none" strike="noStrike" cap="none" normalizeH="0" baseline="0" dirty="0">
                        <a:ln>
                          <a:noFill/>
                        </a:ln>
                        <a:solidFill>
                          <a:srgbClr val="C00000"/>
                        </a:solidFill>
                        <a:effectLst/>
                        <a:latin typeface="Times New Roman" panose="02020603050405020304" pitchFamily="18" charset="0"/>
                      </a:endParaRP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30000"/>
                        </a:lnSpc>
                        <a:spcBef>
                          <a:spcPct val="20000"/>
                        </a:spcBef>
                        <a:buFont typeface="Wingdings" panose="05000000000000000000" pitchFamily="2" charset="2"/>
                        <a:defRPr sz="4000">
                          <a:solidFill>
                            <a:srgbClr val="FFFF00"/>
                          </a:solidFill>
                          <a:latin typeface="Times New Roman" panose="02020603050405020304" pitchFamily="18" charset="0"/>
                        </a:defRPr>
                      </a:lvl1pPr>
                      <a:lvl2pPr>
                        <a:spcBef>
                          <a:spcPct val="20000"/>
                        </a:spcBef>
                        <a:defRPr sz="2800">
                          <a:solidFill>
                            <a:srgbClr val="FFCC00"/>
                          </a:solidFill>
                          <a:latin typeface="Times New Roman" panose="02020603050405020304" pitchFamily="18"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30000"/>
                        </a:lnSpc>
                        <a:spcBef>
                          <a:spcPct val="20000"/>
                        </a:spcBef>
                        <a:spcAft>
                          <a:spcPct val="0"/>
                        </a:spcAft>
                        <a:buClrTx/>
                        <a:buSzTx/>
                        <a:buFont typeface="Wingdings" panose="05000000000000000000" pitchFamily="2" charset="2"/>
                        <a:buNone/>
                        <a:tabLst/>
                      </a:pPr>
                      <a:r>
                        <a:rPr kumimoji="0" lang="en-US" altLang="en-US" sz="3000" b="0" i="0" u="none" strike="noStrike" cap="none" normalizeH="0" baseline="0" dirty="0">
                          <a:ln>
                            <a:noFill/>
                          </a:ln>
                          <a:solidFill>
                            <a:srgbClr val="C00000"/>
                          </a:solidFill>
                          <a:effectLst/>
                          <a:latin typeface="Times New Roman" panose="02020603050405020304" pitchFamily="18" charset="0"/>
                        </a:rPr>
                        <a:t>BCS</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30000"/>
                        </a:lnSpc>
                        <a:spcBef>
                          <a:spcPct val="20000"/>
                        </a:spcBef>
                        <a:buFont typeface="Wingdings" panose="05000000000000000000" pitchFamily="2" charset="2"/>
                        <a:defRPr sz="4000">
                          <a:solidFill>
                            <a:srgbClr val="FFFF00"/>
                          </a:solidFill>
                          <a:latin typeface="Times New Roman" panose="02020603050405020304" pitchFamily="18" charset="0"/>
                        </a:defRPr>
                      </a:lvl1pPr>
                      <a:lvl2pPr>
                        <a:spcBef>
                          <a:spcPct val="20000"/>
                        </a:spcBef>
                        <a:defRPr sz="2800">
                          <a:solidFill>
                            <a:srgbClr val="FFCC00"/>
                          </a:solidFill>
                          <a:latin typeface="Times New Roman" panose="02020603050405020304" pitchFamily="18"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30000"/>
                        </a:lnSpc>
                        <a:spcBef>
                          <a:spcPct val="20000"/>
                        </a:spcBef>
                        <a:spcAft>
                          <a:spcPct val="0"/>
                        </a:spcAft>
                        <a:buClrTx/>
                        <a:buSzTx/>
                        <a:buFont typeface="Wingdings" panose="05000000000000000000" pitchFamily="2" charset="2"/>
                        <a:buNone/>
                        <a:tabLst/>
                      </a:pPr>
                      <a:r>
                        <a:rPr kumimoji="0" lang="en-US" altLang="en-US" sz="3000" b="0" i="0" u="none" strike="noStrike" cap="none" normalizeH="0" baseline="0">
                          <a:ln>
                            <a:noFill/>
                          </a:ln>
                          <a:solidFill>
                            <a:srgbClr val="C00000"/>
                          </a:solidFill>
                          <a:effectLst/>
                          <a:latin typeface="Times New Roman" panose="02020603050405020304" pitchFamily="18" charset="0"/>
                        </a:rPr>
                        <a:t>3/9/86</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30000"/>
                        </a:lnSpc>
                        <a:spcBef>
                          <a:spcPct val="20000"/>
                        </a:spcBef>
                        <a:buFont typeface="Wingdings" panose="05000000000000000000" pitchFamily="2" charset="2"/>
                        <a:defRPr sz="4000">
                          <a:solidFill>
                            <a:srgbClr val="FFFF00"/>
                          </a:solidFill>
                          <a:latin typeface="Times New Roman" panose="02020603050405020304" pitchFamily="18" charset="0"/>
                        </a:defRPr>
                      </a:lvl1pPr>
                      <a:lvl2pPr>
                        <a:spcBef>
                          <a:spcPct val="20000"/>
                        </a:spcBef>
                        <a:defRPr sz="2800">
                          <a:solidFill>
                            <a:srgbClr val="FFCC00"/>
                          </a:solidFill>
                          <a:latin typeface="Times New Roman" panose="02020603050405020304" pitchFamily="18"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30000"/>
                        </a:lnSpc>
                        <a:spcBef>
                          <a:spcPct val="20000"/>
                        </a:spcBef>
                        <a:spcAft>
                          <a:spcPct val="0"/>
                        </a:spcAft>
                        <a:buClrTx/>
                        <a:buSzTx/>
                        <a:buFont typeface="Wingdings" panose="05000000000000000000" pitchFamily="2" charset="2"/>
                        <a:buNone/>
                        <a:tabLst/>
                      </a:pPr>
                      <a:r>
                        <a:rPr kumimoji="0" lang="en-US" altLang="en-US" sz="3000" b="0" i="0" u="none" strike="noStrike" cap="none" normalizeH="0" baseline="0">
                          <a:ln>
                            <a:noFill/>
                          </a:ln>
                          <a:solidFill>
                            <a:srgbClr val="C00000"/>
                          </a:solidFill>
                          <a:effectLst/>
                          <a:latin typeface="Times New Roman" panose="02020603050405020304" pitchFamily="18" charset="0"/>
                        </a:rPr>
                        <a:t>M</a:t>
                      </a: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25526">
                <a:tc>
                  <a:txBody>
                    <a:bodyPr/>
                    <a:lstStyle>
                      <a:lvl1pPr>
                        <a:lnSpc>
                          <a:spcPct val="130000"/>
                        </a:lnSpc>
                        <a:spcBef>
                          <a:spcPct val="20000"/>
                        </a:spcBef>
                        <a:buFont typeface="Wingdings" panose="05000000000000000000" pitchFamily="2" charset="2"/>
                        <a:defRPr sz="4000">
                          <a:solidFill>
                            <a:srgbClr val="FFFF00"/>
                          </a:solidFill>
                          <a:latin typeface="Times New Roman" panose="02020603050405020304" pitchFamily="18" charset="0"/>
                        </a:defRPr>
                      </a:lvl1pPr>
                      <a:lvl2pPr>
                        <a:spcBef>
                          <a:spcPct val="20000"/>
                        </a:spcBef>
                        <a:defRPr sz="2800">
                          <a:solidFill>
                            <a:srgbClr val="FFCC00"/>
                          </a:solidFill>
                          <a:latin typeface="Times New Roman" panose="02020603050405020304" pitchFamily="18"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30000"/>
                        </a:lnSpc>
                        <a:spcBef>
                          <a:spcPct val="20000"/>
                        </a:spcBef>
                        <a:spcAft>
                          <a:spcPct val="0"/>
                        </a:spcAft>
                        <a:buClrTx/>
                        <a:buSzTx/>
                        <a:buFont typeface="Wingdings" panose="05000000000000000000" pitchFamily="2" charset="2"/>
                        <a:buNone/>
                        <a:tabLst/>
                      </a:pPr>
                      <a:r>
                        <a:rPr kumimoji="0" lang="en-US" altLang="en-US" sz="3000" b="0" i="0" u="none" strike="noStrike" cap="none" normalizeH="0" baseline="0">
                          <a:ln>
                            <a:noFill/>
                          </a:ln>
                          <a:solidFill>
                            <a:srgbClr val="C00000"/>
                          </a:solidFill>
                          <a:effectLst/>
                          <a:latin typeface="Times New Roman" panose="02020603050405020304" pitchFamily="18" charset="0"/>
                        </a:rPr>
                        <a:t>S003</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30000"/>
                        </a:lnSpc>
                        <a:spcBef>
                          <a:spcPct val="20000"/>
                        </a:spcBef>
                        <a:buFont typeface="Wingdings" panose="05000000000000000000" pitchFamily="2" charset="2"/>
                        <a:defRPr sz="4000">
                          <a:solidFill>
                            <a:srgbClr val="FFFF00"/>
                          </a:solidFill>
                          <a:latin typeface="Times New Roman" panose="02020603050405020304" pitchFamily="18" charset="0"/>
                        </a:defRPr>
                      </a:lvl1pPr>
                      <a:lvl2pPr>
                        <a:spcBef>
                          <a:spcPct val="20000"/>
                        </a:spcBef>
                        <a:defRPr sz="2800">
                          <a:solidFill>
                            <a:srgbClr val="FFCC00"/>
                          </a:solidFill>
                          <a:latin typeface="Times New Roman" panose="02020603050405020304" pitchFamily="18"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30000"/>
                        </a:lnSpc>
                        <a:spcBef>
                          <a:spcPct val="20000"/>
                        </a:spcBef>
                        <a:spcAft>
                          <a:spcPct val="0"/>
                        </a:spcAft>
                        <a:buClrTx/>
                        <a:buSzTx/>
                        <a:buFont typeface="Wingdings" panose="05000000000000000000" pitchFamily="2" charset="2"/>
                        <a:buNone/>
                        <a:tabLst/>
                      </a:pPr>
                      <a:r>
                        <a:rPr kumimoji="0" lang="en-US" altLang="en-US" sz="3000" b="0" i="0" u="none" strike="noStrike" cap="none" normalizeH="0" baseline="0">
                          <a:ln>
                            <a:noFill/>
                          </a:ln>
                          <a:solidFill>
                            <a:srgbClr val="C00000"/>
                          </a:solidFill>
                          <a:effectLst/>
                          <a:latin typeface="Times New Roman" panose="02020603050405020304" pitchFamily="18" charset="0"/>
                        </a:rPr>
                        <a:t>Naila S.</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30000"/>
                        </a:lnSpc>
                        <a:spcBef>
                          <a:spcPct val="20000"/>
                        </a:spcBef>
                        <a:buFont typeface="Wingdings" panose="05000000000000000000" pitchFamily="2" charset="2"/>
                        <a:defRPr sz="4000">
                          <a:solidFill>
                            <a:srgbClr val="FFFF00"/>
                          </a:solidFill>
                          <a:latin typeface="Times New Roman" panose="02020603050405020304" pitchFamily="18" charset="0"/>
                        </a:defRPr>
                      </a:lvl1pPr>
                      <a:lvl2pPr>
                        <a:spcBef>
                          <a:spcPct val="20000"/>
                        </a:spcBef>
                        <a:defRPr sz="2800">
                          <a:solidFill>
                            <a:srgbClr val="FFCC00"/>
                          </a:solidFill>
                          <a:latin typeface="Times New Roman" panose="02020603050405020304" pitchFamily="18"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30000"/>
                        </a:lnSpc>
                        <a:spcBef>
                          <a:spcPct val="20000"/>
                        </a:spcBef>
                        <a:spcAft>
                          <a:spcPct val="0"/>
                        </a:spcAft>
                        <a:buClrTx/>
                        <a:buSzTx/>
                        <a:buFont typeface="Wingdings" panose="05000000000000000000" pitchFamily="2" charset="2"/>
                        <a:buNone/>
                        <a:tabLst/>
                      </a:pPr>
                      <a:r>
                        <a:rPr kumimoji="0" lang="en-US" altLang="en-US" sz="3000" b="0" i="0" u="none" strike="noStrike" cap="none" normalizeH="0" baseline="0" dirty="0">
                          <a:ln>
                            <a:noFill/>
                          </a:ln>
                          <a:solidFill>
                            <a:srgbClr val="C00000"/>
                          </a:solidFill>
                          <a:effectLst/>
                          <a:latin typeface="Times New Roman" panose="02020603050405020304" pitchFamily="18" charset="0"/>
                        </a:rPr>
                        <a:t>MCS</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30000"/>
                        </a:lnSpc>
                        <a:spcBef>
                          <a:spcPct val="20000"/>
                        </a:spcBef>
                        <a:buFont typeface="Wingdings" panose="05000000000000000000" pitchFamily="2" charset="2"/>
                        <a:defRPr sz="4000">
                          <a:solidFill>
                            <a:srgbClr val="FFFF00"/>
                          </a:solidFill>
                          <a:latin typeface="Times New Roman" panose="02020603050405020304" pitchFamily="18" charset="0"/>
                        </a:defRPr>
                      </a:lvl1pPr>
                      <a:lvl2pPr>
                        <a:spcBef>
                          <a:spcPct val="20000"/>
                        </a:spcBef>
                        <a:defRPr sz="2800">
                          <a:solidFill>
                            <a:srgbClr val="FFCC00"/>
                          </a:solidFill>
                          <a:latin typeface="Times New Roman" panose="02020603050405020304" pitchFamily="18"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30000"/>
                        </a:lnSpc>
                        <a:spcBef>
                          <a:spcPct val="20000"/>
                        </a:spcBef>
                        <a:spcAft>
                          <a:spcPct val="0"/>
                        </a:spcAft>
                        <a:buClrTx/>
                        <a:buSzTx/>
                        <a:buFont typeface="Wingdings" panose="05000000000000000000" pitchFamily="2" charset="2"/>
                        <a:buNone/>
                        <a:tabLst/>
                      </a:pPr>
                      <a:r>
                        <a:rPr kumimoji="0" lang="en-US" altLang="en-US" sz="3000" b="0" i="0" u="none" strike="noStrike" cap="none" normalizeH="0" baseline="0" dirty="0">
                          <a:ln>
                            <a:noFill/>
                          </a:ln>
                          <a:solidFill>
                            <a:srgbClr val="C00000"/>
                          </a:solidFill>
                          <a:effectLst/>
                          <a:latin typeface="Times New Roman" panose="02020603050405020304" pitchFamily="18" charset="0"/>
                        </a:rPr>
                        <a:t>7/8/85</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30000"/>
                        </a:lnSpc>
                        <a:spcBef>
                          <a:spcPct val="20000"/>
                        </a:spcBef>
                        <a:buFont typeface="Wingdings" panose="05000000000000000000" pitchFamily="2" charset="2"/>
                        <a:defRPr sz="4000">
                          <a:solidFill>
                            <a:srgbClr val="FFFF00"/>
                          </a:solidFill>
                          <a:latin typeface="Times New Roman" panose="02020603050405020304" pitchFamily="18" charset="0"/>
                        </a:defRPr>
                      </a:lvl1pPr>
                      <a:lvl2pPr>
                        <a:spcBef>
                          <a:spcPct val="20000"/>
                        </a:spcBef>
                        <a:defRPr sz="2800">
                          <a:solidFill>
                            <a:srgbClr val="FFCC00"/>
                          </a:solidFill>
                          <a:latin typeface="Times New Roman" panose="02020603050405020304" pitchFamily="18"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30000"/>
                        </a:lnSpc>
                        <a:spcBef>
                          <a:spcPct val="20000"/>
                        </a:spcBef>
                        <a:spcAft>
                          <a:spcPct val="0"/>
                        </a:spcAft>
                        <a:buClrTx/>
                        <a:buSzTx/>
                        <a:buFont typeface="Wingdings" panose="05000000000000000000" pitchFamily="2" charset="2"/>
                        <a:buNone/>
                        <a:tabLst/>
                      </a:pPr>
                      <a:r>
                        <a:rPr kumimoji="0" lang="en-US" altLang="en-US" sz="3000" b="0" i="0" u="none" strike="noStrike" cap="none" normalizeH="0" baseline="0">
                          <a:ln>
                            <a:noFill/>
                          </a:ln>
                          <a:solidFill>
                            <a:srgbClr val="C00000"/>
                          </a:solidFill>
                          <a:effectLst/>
                          <a:latin typeface="Times New Roman" panose="02020603050405020304" pitchFamily="18" charset="0"/>
                        </a:rPr>
                        <a:t>F</a:t>
                      </a: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725526">
                <a:tc>
                  <a:txBody>
                    <a:bodyPr/>
                    <a:lstStyle>
                      <a:lvl1pPr>
                        <a:lnSpc>
                          <a:spcPct val="130000"/>
                        </a:lnSpc>
                        <a:spcBef>
                          <a:spcPct val="20000"/>
                        </a:spcBef>
                        <a:buFont typeface="Wingdings" panose="05000000000000000000" pitchFamily="2" charset="2"/>
                        <a:defRPr sz="4000">
                          <a:solidFill>
                            <a:srgbClr val="FFFF00"/>
                          </a:solidFill>
                          <a:latin typeface="Times New Roman" panose="02020603050405020304" pitchFamily="18" charset="0"/>
                        </a:defRPr>
                      </a:lvl1pPr>
                      <a:lvl2pPr>
                        <a:spcBef>
                          <a:spcPct val="20000"/>
                        </a:spcBef>
                        <a:defRPr sz="2800">
                          <a:solidFill>
                            <a:srgbClr val="FFCC00"/>
                          </a:solidFill>
                          <a:latin typeface="Times New Roman" panose="02020603050405020304" pitchFamily="18"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30000"/>
                        </a:lnSpc>
                        <a:spcBef>
                          <a:spcPct val="20000"/>
                        </a:spcBef>
                        <a:spcAft>
                          <a:spcPct val="0"/>
                        </a:spcAft>
                        <a:buClrTx/>
                        <a:buSzTx/>
                        <a:buFont typeface="Wingdings" panose="05000000000000000000" pitchFamily="2" charset="2"/>
                        <a:buNone/>
                        <a:tabLst/>
                      </a:pPr>
                      <a:r>
                        <a:rPr kumimoji="0" lang="en-US" altLang="en-US" sz="3000" b="0" i="0" u="none" strike="noStrike" cap="none" normalizeH="0" baseline="0">
                          <a:ln>
                            <a:noFill/>
                          </a:ln>
                          <a:solidFill>
                            <a:srgbClr val="C00000"/>
                          </a:solidFill>
                          <a:effectLst/>
                          <a:latin typeface="Times New Roman" panose="02020603050405020304" pitchFamily="18" charset="0"/>
                        </a:rPr>
                        <a:t>S004</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30000"/>
                        </a:lnSpc>
                        <a:spcBef>
                          <a:spcPct val="20000"/>
                        </a:spcBef>
                        <a:buFont typeface="Wingdings" panose="05000000000000000000" pitchFamily="2" charset="2"/>
                        <a:defRPr sz="4000">
                          <a:solidFill>
                            <a:srgbClr val="FFFF00"/>
                          </a:solidFill>
                          <a:latin typeface="Times New Roman" panose="02020603050405020304" pitchFamily="18" charset="0"/>
                        </a:defRPr>
                      </a:lvl1pPr>
                      <a:lvl2pPr>
                        <a:spcBef>
                          <a:spcPct val="20000"/>
                        </a:spcBef>
                        <a:defRPr sz="2800">
                          <a:solidFill>
                            <a:srgbClr val="FFCC00"/>
                          </a:solidFill>
                          <a:latin typeface="Times New Roman" panose="02020603050405020304" pitchFamily="18"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30000"/>
                        </a:lnSpc>
                        <a:spcBef>
                          <a:spcPct val="20000"/>
                        </a:spcBef>
                        <a:spcAft>
                          <a:spcPct val="0"/>
                        </a:spcAft>
                        <a:buClrTx/>
                        <a:buSzTx/>
                        <a:buFont typeface="Wingdings" panose="05000000000000000000" pitchFamily="2" charset="2"/>
                        <a:buNone/>
                        <a:tabLst/>
                      </a:pPr>
                      <a:r>
                        <a:rPr kumimoji="0" lang="en-US" altLang="en-US" sz="3000" b="0" i="0" u="none" strike="noStrike" cap="none" normalizeH="0" baseline="0">
                          <a:ln>
                            <a:noFill/>
                          </a:ln>
                          <a:solidFill>
                            <a:srgbClr val="C00000"/>
                          </a:solidFill>
                          <a:effectLst/>
                          <a:latin typeface="Times New Roman" panose="02020603050405020304" pitchFamily="18" charset="0"/>
                        </a:rPr>
                        <a:t>Rubab A.</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30000"/>
                        </a:lnSpc>
                        <a:spcBef>
                          <a:spcPct val="20000"/>
                        </a:spcBef>
                        <a:buFont typeface="Wingdings" panose="05000000000000000000" pitchFamily="2" charset="2"/>
                        <a:defRPr sz="4000">
                          <a:solidFill>
                            <a:srgbClr val="FFFF00"/>
                          </a:solidFill>
                          <a:latin typeface="Times New Roman" panose="02020603050405020304" pitchFamily="18" charset="0"/>
                        </a:defRPr>
                      </a:lvl1pPr>
                      <a:lvl2pPr>
                        <a:spcBef>
                          <a:spcPct val="20000"/>
                        </a:spcBef>
                        <a:defRPr sz="2800">
                          <a:solidFill>
                            <a:srgbClr val="FFCC00"/>
                          </a:solidFill>
                          <a:latin typeface="Times New Roman" panose="02020603050405020304" pitchFamily="18"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30000"/>
                        </a:lnSpc>
                        <a:spcBef>
                          <a:spcPct val="20000"/>
                        </a:spcBef>
                        <a:spcAft>
                          <a:spcPct val="0"/>
                        </a:spcAft>
                        <a:buClrTx/>
                        <a:buSzTx/>
                        <a:buFont typeface="Wingdings" panose="05000000000000000000" pitchFamily="2" charset="2"/>
                        <a:buNone/>
                        <a:tabLst/>
                      </a:pPr>
                      <a:r>
                        <a:rPr kumimoji="0" lang="en-US" altLang="en-US" sz="3000" b="0" i="0" u="none" strike="noStrike" cap="none" normalizeH="0" baseline="0">
                          <a:ln>
                            <a:noFill/>
                          </a:ln>
                          <a:solidFill>
                            <a:srgbClr val="C00000"/>
                          </a:solidFill>
                          <a:effectLst/>
                          <a:latin typeface="Times New Roman" panose="02020603050405020304" pitchFamily="18" charset="0"/>
                        </a:rPr>
                        <a:t>MBA</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30000"/>
                        </a:lnSpc>
                        <a:spcBef>
                          <a:spcPct val="20000"/>
                        </a:spcBef>
                        <a:buFont typeface="Wingdings" panose="05000000000000000000" pitchFamily="2" charset="2"/>
                        <a:defRPr sz="4000">
                          <a:solidFill>
                            <a:srgbClr val="FFFF00"/>
                          </a:solidFill>
                          <a:latin typeface="Times New Roman" panose="02020603050405020304" pitchFamily="18" charset="0"/>
                        </a:defRPr>
                      </a:lvl1pPr>
                      <a:lvl2pPr>
                        <a:spcBef>
                          <a:spcPct val="20000"/>
                        </a:spcBef>
                        <a:defRPr sz="2800">
                          <a:solidFill>
                            <a:srgbClr val="FFCC00"/>
                          </a:solidFill>
                          <a:latin typeface="Times New Roman" panose="02020603050405020304" pitchFamily="18"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30000"/>
                        </a:lnSpc>
                        <a:spcBef>
                          <a:spcPct val="20000"/>
                        </a:spcBef>
                        <a:spcAft>
                          <a:spcPct val="0"/>
                        </a:spcAft>
                        <a:buClrTx/>
                        <a:buSzTx/>
                        <a:buFont typeface="Wingdings" panose="05000000000000000000" pitchFamily="2" charset="2"/>
                        <a:buNone/>
                        <a:tabLst/>
                      </a:pPr>
                      <a:r>
                        <a:rPr kumimoji="0" lang="en-US" altLang="en-US" sz="3000" b="0" i="0" u="none" strike="noStrike" cap="none" normalizeH="0" baseline="0" dirty="0">
                          <a:ln>
                            <a:noFill/>
                          </a:ln>
                          <a:solidFill>
                            <a:srgbClr val="C00000"/>
                          </a:solidFill>
                          <a:effectLst/>
                          <a:latin typeface="Times New Roman" panose="02020603050405020304" pitchFamily="18" charset="0"/>
                        </a:rPr>
                        <a:t>23/4/86</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30000"/>
                        </a:lnSpc>
                        <a:spcBef>
                          <a:spcPct val="20000"/>
                        </a:spcBef>
                        <a:buFont typeface="Wingdings" panose="05000000000000000000" pitchFamily="2" charset="2"/>
                        <a:defRPr sz="4000">
                          <a:solidFill>
                            <a:srgbClr val="FFFF00"/>
                          </a:solidFill>
                          <a:latin typeface="Times New Roman" panose="02020603050405020304" pitchFamily="18" charset="0"/>
                        </a:defRPr>
                      </a:lvl1pPr>
                      <a:lvl2pPr>
                        <a:spcBef>
                          <a:spcPct val="20000"/>
                        </a:spcBef>
                        <a:defRPr sz="2800">
                          <a:solidFill>
                            <a:srgbClr val="FFCC00"/>
                          </a:solidFill>
                          <a:latin typeface="Times New Roman" panose="02020603050405020304" pitchFamily="18"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30000"/>
                        </a:lnSpc>
                        <a:spcBef>
                          <a:spcPct val="20000"/>
                        </a:spcBef>
                        <a:spcAft>
                          <a:spcPct val="0"/>
                        </a:spcAft>
                        <a:buClrTx/>
                        <a:buSzTx/>
                        <a:buFont typeface="Wingdings" panose="05000000000000000000" pitchFamily="2" charset="2"/>
                        <a:buNone/>
                        <a:tabLst/>
                      </a:pPr>
                      <a:r>
                        <a:rPr kumimoji="0" lang="en-US" altLang="en-US" sz="3000" b="0" i="0" u="none" strike="noStrike" cap="none" normalizeH="0" baseline="0" dirty="0">
                          <a:ln>
                            <a:noFill/>
                          </a:ln>
                          <a:solidFill>
                            <a:srgbClr val="C00000"/>
                          </a:solidFill>
                          <a:effectLst/>
                          <a:latin typeface="Times New Roman" panose="02020603050405020304" pitchFamily="18" charset="0"/>
                        </a:rPr>
                        <a:t>F</a:t>
                      </a: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725526">
                <a:tc>
                  <a:txBody>
                    <a:bodyPr/>
                    <a:lstStyle>
                      <a:lvl1pPr>
                        <a:lnSpc>
                          <a:spcPct val="130000"/>
                        </a:lnSpc>
                        <a:spcBef>
                          <a:spcPct val="20000"/>
                        </a:spcBef>
                        <a:buFont typeface="Wingdings" panose="05000000000000000000" pitchFamily="2" charset="2"/>
                        <a:defRPr sz="4000">
                          <a:solidFill>
                            <a:srgbClr val="FFFF00"/>
                          </a:solidFill>
                          <a:latin typeface="Times New Roman" panose="02020603050405020304" pitchFamily="18" charset="0"/>
                        </a:defRPr>
                      </a:lvl1pPr>
                      <a:lvl2pPr>
                        <a:spcBef>
                          <a:spcPct val="20000"/>
                        </a:spcBef>
                        <a:defRPr sz="2800">
                          <a:solidFill>
                            <a:srgbClr val="FFCC00"/>
                          </a:solidFill>
                          <a:latin typeface="Times New Roman" panose="02020603050405020304" pitchFamily="18"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30000"/>
                        </a:lnSpc>
                        <a:spcBef>
                          <a:spcPct val="20000"/>
                        </a:spcBef>
                        <a:spcAft>
                          <a:spcPct val="0"/>
                        </a:spcAft>
                        <a:buClrTx/>
                        <a:buSzTx/>
                        <a:buFont typeface="Wingdings" panose="05000000000000000000" pitchFamily="2" charset="2"/>
                        <a:buNone/>
                        <a:tabLst/>
                      </a:pPr>
                      <a:r>
                        <a:rPr kumimoji="0" lang="en-US" altLang="en-US" sz="3000" b="0" i="0" u="none" strike="noStrike" cap="none" normalizeH="0" baseline="0">
                          <a:ln>
                            <a:noFill/>
                          </a:ln>
                          <a:solidFill>
                            <a:srgbClr val="C00000"/>
                          </a:solidFill>
                          <a:effectLst/>
                          <a:latin typeface="Times New Roman" panose="02020603050405020304" pitchFamily="18" charset="0"/>
                        </a:rPr>
                        <a:t>S005</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30000"/>
                        </a:lnSpc>
                        <a:spcBef>
                          <a:spcPct val="20000"/>
                        </a:spcBef>
                        <a:buFont typeface="Wingdings" panose="05000000000000000000" pitchFamily="2" charset="2"/>
                        <a:defRPr sz="4000">
                          <a:solidFill>
                            <a:srgbClr val="FFFF00"/>
                          </a:solidFill>
                          <a:latin typeface="Times New Roman" panose="02020603050405020304" pitchFamily="18" charset="0"/>
                        </a:defRPr>
                      </a:lvl1pPr>
                      <a:lvl2pPr>
                        <a:spcBef>
                          <a:spcPct val="20000"/>
                        </a:spcBef>
                        <a:defRPr sz="2800">
                          <a:solidFill>
                            <a:srgbClr val="FFCC00"/>
                          </a:solidFill>
                          <a:latin typeface="Times New Roman" panose="02020603050405020304" pitchFamily="18"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30000"/>
                        </a:lnSpc>
                        <a:spcBef>
                          <a:spcPct val="20000"/>
                        </a:spcBef>
                        <a:spcAft>
                          <a:spcPct val="0"/>
                        </a:spcAft>
                        <a:buClrTx/>
                        <a:buSzTx/>
                        <a:buFont typeface="Wingdings" panose="05000000000000000000" pitchFamily="2" charset="2"/>
                        <a:buNone/>
                        <a:tabLst/>
                      </a:pPr>
                      <a:r>
                        <a:rPr kumimoji="0" lang="en-US" altLang="en-US" sz="3000" b="0" i="0" u="none" strike="noStrike" cap="none" normalizeH="0" baseline="0">
                          <a:ln>
                            <a:noFill/>
                          </a:ln>
                          <a:solidFill>
                            <a:srgbClr val="C00000"/>
                          </a:solidFill>
                          <a:effectLst/>
                          <a:latin typeface="Times New Roman" panose="02020603050405020304" pitchFamily="18" charset="0"/>
                        </a:rPr>
                        <a:t>Ehsan M.</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30000"/>
                        </a:lnSpc>
                        <a:spcBef>
                          <a:spcPct val="20000"/>
                        </a:spcBef>
                        <a:buFont typeface="Wingdings" panose="05000000000000000000" pitchFamily="2" charset="2"/>
                        <a:defRPr sz="4000">
                          <a:solidFill>
                            <a:srgbClr val="FFFF00"/>
                          </a:solidFill>
                          <a:latin typeface="Times New Roman" panose="02020603050405020304" pitchFamily="18" charset="0"/>
                        </a:defRPr>
                      </a:lvl1pPr>
                      <a:lvl2pPr>
                        <a:spcBef>
                          <a:spcPct val="20000"/>
                        </a:spcBef>
                        <a:defRPr sz="2800">
                          <a:solidFill>
                            <a:srgbClr val="FFCC00"/>
                          </a:solidFill>
                          <a:latin typeface="Times New Roman" panose="02020603050405020304" pitchFamily="18"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30000"/>
                        </a:lnSpc>
                        <a:spcBef>
                          <a:spcPct val="20000"/>
                        </a:spcBef>
                        <a:spcAft>
                          <a:spcPct val="0"/>
                        </a:spcAft>
                        <a:buClrTx/>
                        <a:buSzTx/>
                        <a:buFont typeface="Wingdings" panose="05000000000000000000" pitchFamily="2" charset="2"/>
                        <a:buNone/>
                        <a:tabLst/>
                      </a:pPr>
                      <a:r>
                        <a:rPr kumimoji="0" lang="en-US" altLang="en-US" sz="3000" b="0" i="0" u="none" strike="noStrike" cap="none" normalizeH="0" baseline="0">
                          <a:ln>
                            <a:noFill/>
                          </a:ln>
                          <a:solidFill>
                            <a:srgbClr val="C00000"/>
                          </a:solidFill>
                          <a:effectLst/>
                          <a:latin typeface="Times New Roman" panose="02020603050405020304" pitchFamily="18" charset="0"/>
                        </a:rPr>
                        <a:t>BBA</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30000"/>
                        </a:lnSpc>
                        <a:spcBef>
                          <a:spcPct val="20000"/>
                        </a:spcBef>
                        <a:buFont typeface="Wingdings" panose="05000000000000000000" pitchFamily="2" charset="2"/>
                        <a:defRPr sz="4000">
                          <a:solidFill>
                            <a:srgbClr val="FFFF00"/>
                          </a:solidFill>
                          <a:latin typeface="Times New Roman" panose="02020603050405020304" pitchFamily="18" charset="0"/>
                        </a:defRPr>
                      </a:lvl1pPr>
                      <a:lvl2pPr>
                        <a:spcBef>
                          <a:spcPct val="20000"/>
                        </a:spcBef>
                        <a:defRPr sz="2800">
                          <a:solidFill>
                            <a:srgbClr val="FFCC00"/>
                          </a:solidFill>
                          <a:latin typeface="Times New Roman" panose="02020603050405020304" pitchFamily="18"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30000"/>
                        </a:lnSpc>
                        <a:spcBef>
                          <a:spcPct val="20000"/>
                        </a:spcBef>
                        <a:spcAft>
                          <a:spcPct val="0"/>
                        </a:spcAft>
                        <a:buClrTx/>
                        <a:buSzTx/>
                        <a:buFont typeface="Wingdings" panose="05000000000000000000" pitchFamily="2" charset="2"/>
                        <a:buNone/>
                        <a:tabLst/>
                      </a:pPr>
                      <a:r>
                        <a:rPr kumimoji="0" lang="en-US" altLang="en-US" sz="3000" b="0" i="0" u="none" strike="noStrike" cap="none" normalizeH="0" baseline="0" dirty="0">
                          <a:ln>
                            <a:noFill/>
                          </a:ln>
                          <a:solidFill>
                            <a:srgbClr val="C00000"/>
                          </a:solidFill>
                          <a:effectLst/>
                          <a:latin typeface="Times New Roman" panose="02020603050405020304" pitchFamily="18" charset="0"/>
                        </a:rPr>
                        <a:t>22/7/88</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30000"/>
                        </a:lnSpc>
                        <a:spcBef>
                          <a:spcPct val="20000"/>
                        </a:spcBef>
                        <a:buFont typeface="Wingdings" panose="05000000000000000000" pitchFamily="2" charset="2"/>
                        <a:defRPr sz="4000">
                          <a:solidFill>
                            <a:srgbClr val="FFFF00"/>
                          </a:solidFill>
                          <a:latin typeface="Times New Roman" panose="02020603050405020304" pitchFamily="18" charset="0"/>
                        </a:defRPr>
                      </a:lvl1pPr>
                      <a:lvl2pPr>
                        <a:spcBef>
                          <a:spcPct val="20000"/>
                        </a:spcBef>
                        <a:defRPr sz="2800">
                          <a:solidFill>
                            <a:srgbClr val="FFCC00"/>
                          </a:solidFill>
                          <a:latin typeface="Times New Roman" panose="02020603050405020304" pitchFamily="18"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30000"/>
                        </a:lnSpc>
                        <a:spcBef>
                          <a:spcPct val="20000"/>
                        </a:spcBef>
                        <a:spcAft>
                          <a:spcPct val="0"/>
                        </a:spcAft>
                        <a:buClrTx/>
                        <a:buSzTx/>
                        <a:buFont typeface="Wingdings" panose="05000000000000000000" pitchFamily="2" charset="2"/>
                        <a:buNone/>
                        <a:tabLst/>
                      </a:pPr>
                      <a:r>
                        <a:rPr kumimoji="0" lang="en-US" altLang="en-US" sz="3000" b="0" i="0" u="none" strike="noStrike" cap="none" normalizeH="0" baseline="0" dirty="0">
                          <a:ln>
                            <a:noFill/>
                          </a:ln>
                          <a:solidFill>
                            <a:srgbClr val="C00000"/>
                          </a:solidFill>
                          <a:effectLst/>
                          <a:latin typeface="Times New Roman" panose="02020603050405020304" pitchFamily="18" charset="0"/>
                        </a:rPr>
                        <a:t>M</a:t>
                      </a: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nodeType="clickEffect">
                                  <p:stCondLst>
                                    <p:cond delay="0"/>
                                  </p:stCondLst>
                                  <p:childTnLst>
                                    <p:set>
                                      <p:cBhvr>
                                        <p:cTn id="6" dur="1" fill="hold">
                                          <p:stCondLst>
                                            <p:cond delay="0"/>
                                          </p:stCondLst>
                                        </p:cTn>
                                        <p:tgtEl>
                                          <p:spTgt spid="86081"/>
                                        </p:tgtEl>
                                        <p:attrNameLst>
                                          <p:attrName>style.visibility</p:attrName>
                                        </p:attrNameLst>
                                      </p:cBhvr>
                                      <p:to>
                                        <p:strVal val="visible"/>
                                      </p:to>
                                    </p:set>
                                    <p:anim calcmode="lin" valueType="num">
                                      <p:cBhvr>
                                        <p:cTn id="7" dur="500" fill="hold"/>
                                        <p:tgtEl>
                                          <p:spTgt spid="86081"/>
                                        </p:tgtEl>
                                        <p:attrNameLst>
                                          <p:attrName>ppt_w</p:attrName>
                                        </p:attrNameLst>
                                      </p:cBhvr>
                                      <p:tavLst>
                                        <p:tav tm="0">
                                          <p:val>
                                            <p:fltVal val="0"/>
                                          </p:val>
                                        </p:tav>
                                        <p:tav tm="100000">
                                          <p:val>
                                            <p:strVal val="#ppt_w"/>
                                          </p:val>
                                        </p:tav>
                                      </p:tavLst>
                                    </p:anim>
                                    <p:anim calcmode="lin" valueType="num">
                                      <p:cBhvr>
                                        <p:cTn id="8" dur="500" fill="hold"/>
                                        <p:tgtEl>
                                          <p:spTgt spid="8608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a:extLst>
              <a:ext uri="{FF2B5EF4-FFF2-40B4-BE49-F238E27FC236}">
                <a16:creationId xmlns:a16="http://schemas.microsoft.com/office/drawing/2014/main" id="{FE015DBF-A07A-282B-94C7-F4BA13A8136A}"/>
              </a:ext>
            </a:extLst>
          </p:cNvPr>
          <p:cNvSpPr>
            <a:spLocks noGrp="1" noChangeArrowheads="1"/>
          </p:cNvSpPr>
          <p:nvPr>
            <p:ph type="title"/>
          </p:nvPr>
        </p:nvSpPr>
        <p:spPr>
          <a:xfrm>
            <a:off x="457200" y="0"/>
            <a:ext cx="7620000" cy="1143000"/>
          </a:xfrm>
        </p:spPr>
        <p:txBody>
          <a:bodyPr/>
          <a:lstStyle/>
          <a:p>
            <a:pPr algn="ctr">
              <a:defRPr/>
            </a:pPr>
            <a:r>
              <a:rPr lang="en-US" altLang="en-US" dirty="0"/>
              <a:t>Components of RDM</a:t>
            </a:r>
          </a:p>
        </p:txBody>
      </p:sp>
      <p:sp>
        <p:nvSpPr>
          <p:cNvPr id="20483" name="Rectangle 3">
            <a:extLst>
              <a:ext uri="{FF2B5EF4-FFF2-40B4-BE49-F238E27FC236}">
                <a16:creationId xmlns:a16="http://schemas.microsoft.com/office/drawing/2014/main" id="{73FE1C21-5B97-B8EA-31A3-1658DE7D3A9F}"/>
              </a:ext>
            </a:extLst>
          </p:cNvPr>
          <p:cNvSpPr>
            <a:spLocks noGrp="1"/>
          </p:cNvSpPr>
          <p:nvPr>
            <p:ph type="body" idx="1"/>
          </p:nvPr>
        </p:nvSpPr>
        <p:spPr>
          <a:xfrm>
            <a:off x="533400" y="1600200"/>
            <a:ext cx="7467600" cy="3886200"/>
          </a:xfrm>
        </p:spPr>
        <p:txBody>
          <a:bodyPr/>
          <a:lstStyle/>
          <a:p>
            <a:pPr marL="708025" lvl="2" algn="just">
              <a:lnSpc>
                <a:spcPct val="120000"/>
              </a:lnSpc>
              <a:buClr>
                <a:schemeClr val="accent1"/>
              </a:buClr>
            </a:pPr>
            <a:r>
              <a:rPr lang="en-US" altLang="en-US" sz="4000"/>
              <a:t>Structure (relation/table)</a:t>
            </a:r>
          </a:p>
          <a:p>
            <a:pPr marL="708025" lvl="2" algn="just">
              <a:lnSpc>
                <a:spcPct val="120000"/>
              </a:lnSpc>
              <a:buClr>
                <a:schemeClr val="accent1"/>
              </a:buClr>
            </a:pPr>
            <a:r>
              <a:rPr lang="en-US" altLang="en-US" sz="4000"/>
              <a:t>Manipulation language (SQL)</a:t>
            </a:r>
          </a:p>
          <a:p>
            <a:pPr marL="708025" lvl="2" algn="just">
              <a:lnSpc>
                <a:spcPct val="120000"/>
              </a:lnSpc>
              <a:buClr>
                <a:schemeClr val="accent1"/>
              </a:buClr>
            </a:pPr>
            <a:r>
              <a:rPr lang="en-US" altLang="en-US" sz="4000"/>
              <a:t>Integrity  constraints</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09F3AB87-7022-888E-F2AA-6930EEE4F498}"/>
              </a:ext>
            </a:extLst>
          </p:cNvPr>
          <p:cNvSpPr>
            <a:spLocks noGrp="1" noChangeArrowheads="1"/>
          </p:cNvSpPr>
          <p:nvPr>
            <p:ph type="title"/>
          </p:nvPr>
        </p:nvSpPr>
        <p:spPr>
          <a:xfrm>
            <a:off x="152400" y="0"/>
            <a:ext cx="8153400" cy="1143000"/>
          </a:xfrm>
        </p:spPr>
        <p:txBody>
          <a:bodyPr/>
          <a:lstStyle/>
          <a:p>
            <a:pPr algn="ctr">
              <a:defRPr/>
            </a:pPr>
            <a:r>
              <a:rPr lang="en-US" altLang="en-US" dirty="0"/>
              <a:t>Mathematical Relations</a:t>
            </a:r>
          </a:p>
        </p:txBody>
      </p:sp>
      <p:sp>
        <p:nvSpPr>
          <p:cNvPr id="27651" name="Rectangle 3">
            <a:extLst>
              <a:ext uri="{FF2B5EF4-FFF2-40B4-BE49-F238E27FC236}">
                <a16:creationId xmlns:a16="http://schemas.microsoft.com/office/drawing/2014/main" id="{015C208C-DB9F-8774-9870-9509F9C5EF86}"/>
              </a:ext>
            </a:extLst>
          </p:cNvPr>
          <p:cNvSpPr>
            <a:spLocks noGrp="1" noChangeArrowheads="1"/>
          </p:cNvSpPr>
          <p:nvPr>
            <p:ph type="body" idx="1"/>
          </p:nvPr>
        </p:nvSpPr>
        <p:spPr>
          <a:xfrm>
            <a:off x="152400" y="1371600"/>
            <a:ext cx="8229600" cy="4953000"/>
          </a:xfrm>
        </p:spPr>
        <p:txBody>
          <a:bodyPr/>
          <a:lstStyle/>
          <a:p>
            <a:pPr algn="just">
              <a:lnSpc>
                <a:spcPct val="120000"/>
              </a:lnSpc>
              <a:defRPr/>
            </a:pPr>
            <a:r>
              <a:rPr lang="en-US" altLang="en-US" sz="3400" dirty="0"/>
              <a:t>Consider two sets		</a:t>
            </a:r>
          </a:p>
          <a:p>
            <a:pPr marL="114300" indent="0" algn="just">
              <a:lnSpc>
                <a:spcPct val="120000"/>
              </a:lnSpc>
              <a:buFont typeface="Arial" panose="020B0604020202020204" pitchFamily="34" charset="0"/>
              <a:buNone/>
              <a:defRPr/>
            </a:pPr>
            <a:r>
              <a:rPr lang="en-US" altLang="en-US" sz="3400" dirty="0"/>
              <a:t>	A = {x, y}	B = {2, 4, 6}</a:t>
            </a:r>
          </a:p>
          <a:p>
            <a:pPr algn="just">
              <a:lnSpc>
                <a:spcPct val="120000"/>
              </a:lnSpc>
              <a:defRPr/>
            </a:pPr>
            <a:r>
              <a:rPr lang="en-US" altLang="en-US" sz="3400" dirty="0"/>
              <a:t> Cartesian product of these sets</a:t>
            </a:r>
          </a:p>
          <a:p>
            <a:pPr marL="114300" indent="0" algn="just">
              <a:lnSpc>
                <a:spcPct val="120000"/>
              </a:lnSpc>
              <a:buFont typeface="Arial" panose="020B0604020202020204" pitchFamily="34" charset="0"/>
              <a:buNone/>
              <a:defRPr/>
            </a:pPr>
            <a:r>
              <a:rPr lang="en-US" altLang="en-US" sz="3400" dirty="0"/>
              <a:t>	A X B= {(x,2), (x,4), (x,6), (y,2), (y,4), (y,6)}</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F259DD5F-6F9A-956C-3C2C-14C8D278E21A}"/>
              </a:ext>
            </a:extLst>
          </p:cNvPr>
          <p:cNvSpPr>
            <a:spLocks noGrp="1" noChangeArrowheads="1"/>
          </p:cNvSpPr>
          <p:nvPr>
            <p:ph type="title"/>
          </p:nvPr>
        </p:nvSpPr>
        <p:spPr>
          <a:xfrm>
            <a:off x="26988" y="0"/>
            <a:ext cx="8355012" cy="1143000"/>
          </a:xfrm>
        </p:spPr>
        <p:txBody>
          <a:bodyPr/>
          <a:lstStyle/>
          <a:p>
            <a:pPr algn="ctr">
              <a:defRPr/>
            </a:pPr>
            <a:r>
              <a:rPr lang="en-US" altLang="en-US" dirty="0"/>
              <a:t>Mathematical Relations</a:t>
            </a:r>
          </a:p>
        </p:txBody>
      </p:sp>
      <p:sp>
        <p:nvSpPr>
          <p:cNvPr id="22531" name="Rectangle 3">
            <a:extLst>
              <a:ext uri="{FF2B5EF4-FFF2-40B4-BE49-F238E27FC236}">
                <a16:creationId xmlns:a16="http://schemas.microsoft.com/office/drawing/2014/main" id="{B14BD275-3522-AF3F-C4A8-DEA05B3D1A09}"/>
              </a:ext>
            </a:extLst>
          </p:cNvPr>
          <p:cNvSpPr>
            <a:spLocks noGrp="1"/>
          </p:cNvSpPr>
          <p:nvPr>
            <p:ph type="body" idx="1"/>
          </p:nvPr>
        </p:nvSpPr>
        <p:spPr>
          <a:xfrm>
            <a:off x="152400" y="1676400"/>
            <a:ext cx="8229600" cy="4114800"/>
          </a:xfrm>
        </p:spPr>
        <p:txBody>
          <a:bodyPr/>
          <a:lstStyle/>
          <a:p>
            <a:pPr algn="just">
              <a:lnSpc>
                <a:spcPct val="120000"/>
              </a:lnSpc>
            </a:pPr>
            <a:r>
              <a:rPr lang="en-US" altLang="en-US" sz="3400"/>
              <a:t>A relation is some subset of this Cartesian product, For example,</a:t>
            </a:r>
          </a:p>
          <a:p>
            <a:pPr algn="just">
              <a:lnSpc>
                <a:spcPct val="120000"/>
              </a:lnSpc>
            </a:pPr>
            <a:r>
              <a:rPr lang="en-US" altLang="en-US" sz="3400"/>
              <a:t> R1= {(x,2), (y,2),(x,6),(x,4)}</a:t>
            </a:r>
          </a:p>
          <a:p>
            <a:pPr algn="just">
              <a:lnSpc>
                <a:spcPct val="120000"/>
              </a:lnSpc>
            </a:pPr>
            <a:r>
              <a:rPr lang="en-US" altLang="en-US" sz="3400"/>
              <a:t> R2 = {(x,4), (y,6), (y,4)}</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a:extLst>
              <a:ext uri="{FF2B5EF4-FFF2-40B4-BE49-F238E27FC236}">
                <a16:creationId xmlns:a16="http://schemas.microsoft.com/office/drawing/2014/main" id="{2E756B24-A07A-CDB8-6A92-330B14089349}"/>
              </a:ext>
            </a:extLst>
          </p:cNvPr>
          <p:cNvSpPr>
            <a:spLocks noGrp="1" noChangeArrowheads="1"/>
          </p:cNvSpPr>
          <p:nvPr>
            <p:ph type="title"/>
          </p:nvPr>
        </p:nvSpPr>
        <p:spPr>
          <a:xfrm>
            <a:off x="457200" y="34925"/>
            <a:ext cx="7620000" cy="1143000"/>
          </a:xfrm>
        </p:spPr>
        <p:txBody>
          <a:bodyPr/>
          <a:lstStyle/>
          <a:p>
            <a:pPr algn="ctr">
              <a:defRPr/>
            </a:pPr>
            <a:r>
              <a:rPr lang="en-US" altLang="en-US" dirty="0"/>
              <a:t>Mathematical Relations</a:t>
            </a:r>
          </a:p>
        </p:txBody>
      </p:sp>
      <p:sp>
        <p:nvSpPr>
          <p:cNvPr id="23555" name="Rectangle 3">
            <a:extLst>
              <a:ext uri="{FF2B5EF4-FFF2-40B4-BE49-F238E27FC236}">
                <a16:creationId xmlns:a16="http://schemas.microsoft.com/office/drawing/2014/main" id="{043AB138-F82E-7C85-82B9-A755F8A59089}"/>
              </a:ext>
            </a:extLst>
          </p:cNvPr>
          <p:cNvSpPr>
            <a:spLocks noGrp="1"/>
          </p:cNvSpPr>
          <p:nvPr>
            <p:ph type="body" idx="1"/>
          </p:nvPr>
        </p:nvSpPr>
        <p:spPr/>
        <p:txBody>
          <a:bodyPr/>
          <a:lstStyle/>
          <a:p>
            <a:pPr marL="114300" indent="0" algn="just">
              <a:lnSpc>
                <a:spcPct val="120000"/>
              </a:lnSpc>
              <a:buFont typeface="Arial" panose="020B0604020202020204" pitchFamily="34" charset="0"/>
              <a:buNone/>
            </a:pPr>
            <a:r>
              <a:rPr lang="en-US" altLang="en-US" sz="3400"/>
              <a:t>The same notion of Cartesian product and relations can be applied to more than two sets, e.g. in case of three sets, we will have a relation of ordered triplets</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9FFB31EE-07D5-ADED-2557-FC3F5EB63E1D}"/>
              </a:ext>
            </a:extLst>
          </p:cNvPr>
          <p:cNvSpPr>
            <a:spLocks noGrp="1" noChangeArrowheads="1"/>
          </p:cNvSpPr>
          <p:nvPr>
            <p:ph type="title"/>
          </p:nvPr>
        </p:nvSpPr>
        <p:spPr>
          <a:xfrm>
            <a:off x="457200" y="0"/>
            <a:ext cx="7620000" cy="1143000"/>
          </a:xfrm>
        </p:spPr>
        <p:txBody>
          <a:bodyPr/>
          <a:lstStyle/>
          <a:p>
            <a:pPr algn="ctr">
              <a:defRPr/>
            </a:pPr>
            <a:r>
              <a:rPr lang="en-US" altLang="en-US" dirty="0"/>
              <a:t>Database Relations</a:t>
            </a:r>
          </a:p>
        </p:txBody>
      </p:sp>
      <p:sp>
        <p:nvSpPr>
          <p:cNvPr id="24579" name="Rectangle 3">
            <a:extLst>
              <a:ext uri="{FF2B5EF4-FFF2-40B4-BE49-F238E27FC236}">
                <a16:creationId xmlns:a16="http://schemas.microsoft.com/office/drawing/2014/main" id="{5A8259D2-0092-87DD-EA9B-56D9F30B8313}"/>
              </a:ext>
            </a:extLst>
          </p:cNvPr>
          <p:cNvSpPr>
            <a:spLocks noGrp="1"/>
          </p:cNvSpPr>
          <p:nvPr>
            <p:ph type="body" idx="1"/>
          </p:nvPr>
        </p:nvSpPr>
        <p:spPr/>
        <p:txBody>
          <a:bodyPr/>
          <a:lstStyle/>
          <a:p>
            <a:pPr algn="just">
              <a:lnSpc>
                <a:spcPct val="120000"/>
              </a:lnSpc>
            </a:pPr>
            <a:r>
              <a:rPr lang="en-US" altLang="en-US" sz="3400"/>
              <a:t>Thinking in some real world scenario</a:t>
            </a:r>
          </a:p>
          <a:p>
            <a:pPr marL="708025" lvl="2" algn="just">
              <a:lnSpc>
                <a:spcPct val="120000"/>
              </a:lnSpc>
              <a:buClr>
                <a:schemeClr val="accent1"/>
              </a:buClr>
            </a:pPr>
            <a:r>
              <a:rPr lang="en-US" altLang="en-US" sz="3200"/>
              <a:t>Name = {Ali, Sana, Ahmed, Sara}</a:t>
            </a:r>
          </a:p>
          <a:p>
            <a:pPr marL="708025" lvl="2" algn="just">
              <a:lnSpc>
                <a:spcPct val="120000"/>
              </a:lnSpc>
              <a:buClr>
                <a:schemeClr val="accent1"/>
              </a:buClr>
            </a:pPr>
            <a:r>
              <a:rPr lang="en-US" altLang="en-US" sz="3200"/>
              <a:t>Age = {15,16,17,18,…….,25}</a:t>
            </a: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47DE41BA-CCEE-97E9-49F8-44A6E5885A1A}"/>
              </a:ext>
            </a:extLst>
          </p:cNvPr>
          <p:cNvSpPr>
            <a:spLocks noGrp="1" noChangeArrowheads="1"/>
          </p:cNvSpPr>
          <p:nvPr>
            <p:ph type="title"/>
          </p:nvPr>
        </p:nvSpPr>
        <p:spPr>
          <a:xfrm>
            <a:off x="457200" y="0"/>
            <a:ext cx="7620000" cy="1143000"/>
          </a:xfrm>
        </p:spPr>
        <p:txBody>
          <a:bodyPr/>
          <a:lstStyle/>
          <a:p>
            <a:pPr algn="ctr">
              <a:defRPr/>
            </a:pPr>
            <a:r>
              <a:rPr lang="en-US" altLang="en-US" dirty="0"/>
              <a:t>Database Relations</a:t>
            </a:r>
          </a:p>
        </p:txBody>
      </p:sp>
      <p:sp>
        <p:nvSpPr>
          <p:cNvPr id="25603" name="Rectangle 3">
            <a:extLst>
              <a:ext uri="{FF2B5EF4-FFF2-40B4-BE49-F238E27FC236}">
                <a16:creationId xmlns:a16="http://schemas.microsoft.com/office/drawing/2014/main" id="{CFDABCAC-E03E-1E08-DA09-B1851A77865F}"/>
              </a:ext>
            </a:extLst>
          </p:cNvPr>
          <p:cNvSpPr>
            <a:spLocks noGrp="1"/>
          </p:cNvSpPr>
          <p:nvPr>
            <p:ph type="body" idx="1"/>
          </p:nvPr>
        </p:nvSpPr>
        <p:spPr>
          <a:xfrm>
            <a:off x="228600" y="1447800"/>
            <a:ext cx="8077200" cy="4983163"/>
          </a:xfrm>
        </p:spPr>
        <p:txBody>
          <a:bodyPr/>
          <a:lstStyle/>
          <a:p>
            <a:pPr algn="just">
              <a:lnSpc>
                <a:spcPct val="120000"/>
              </a:lnSpc>
            </a:pPr>
            <a:r>
              <a:rPr lang="en-US" altLang="en-US" sz="3400"/>
              <a:t>Cartesian product of Name &amp; Age </a:t>
            </a:r>
          </a:p>
          <a:p>
            <a:pPr lvl="1" algn="just">
              <a:lnSpc>
                <a:spcPct val="120000"/>
              </a:lnSpc>
            </a:pPr>
            <a:r>
              <a:rPr lang="en-US" altLang="en-US" sz="3200"/>
              <a:t>Name X Age= {(Ali,15), (Sana,15), (Ahmed,15), (Sara,15), …., (Ahmed,25), (Sara,25)} </a:t>
            </a:r>
          </a:p>
          <a:p>
            <a:pPr lvl="1" algn="just">
              <a:lnSpc>
                <a:spcPct val="120000"/>
              </a:lnSpc>
            </a:pPr>
            <a:r>
              <a:rPr lang="en-US" altLang="en-US" sz="3200"/>
              <a:t>CLASS = {(Ali, 18), (Sana, 17), (Ali, 20), (Ahmed, 19)}</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3A4F6E13-2A24-7594-68CC-CA5432F7B27F}"/>
              </a:ext>
            </a:extLst>
          </p:cNvPr>
          <p:cNvSpPr>
            <a:spLocks noGrp="1" noChangeArrowheads="1"/>
          </p:cNvSpPr>
          <p:nvPr>
            <p:ph type="title"/>
          </p:nvPr>
        </p:nvSpPr>
        <p:spPr>
          <a:xfrm>
            <a:off x="533400" y="0"/>
            <a:ext cx="7772400" cy="1143000"/>
          </a:xfrm>
        </p:spPr>
        <p:txBody>
          <a:bodyPr/>
          <a:lstStyle/>
          <a:p>
            <a:pPr algn="ctr">
              <a:defRPr/>
            </a:pPr>
            <a:r>
              <a:rPr lang="en-US" altLang="en-US" dirty="0"/>
              <a:t>Database Relations</a:t>
            </a:r>
          </a:p>
        </p:txBody>
      </p:sp>
      <p:sp>
        <p:nvSpPr>
          <p:cNvPr id="26627" name="Rectangle 3">
            <a:extLst>
              <a:ext uri="{FF2B5EF4-FFF2-40B4-BE49-F238E27FC236}">
                <a16:creationId xmlns:a16="http://schemas.microsoft.com/office/drawing/2014/main" id="{32187AB0-4A36-59F6-6CCC-E6AAE13894BC}"/>
              </a:ext>
            </a:extLst>
          </p:cNvPr>
          <p:cNvSpPr>
            <a:spLocks noGrp="1"/>
          </p:cNvSpPr>
          <p:nvPr>
            <p:ph type="body" idx="1"/>
          </p:nvPr>
        </p:nvSpPr>
        <p:spPr>
          <a:xfrm>
            <a:off x="381000" y="1371600"/>
            <a:ext cx="7620000" cy="5029200"/>
          </a:xfrm>
        </p:spPr>
        <p:txBody>
          <a:bodyPr/>
          <a:lstStyle/>
          <a:p>
            <a:pPr algn="just">
              <a:lnSpc>
                <a:spcPct val="120000"/>
              </a:lnSpc>
            </a:pPr>
            <a:r>
              <a:rPr lang="en-US" altLang="en-US" sz="3400"/>
              <a:t>Let A1, A2, A3, …, An be some attributes and D1, D2, D3,…, Dn be their domains</a:t>
            </a:r>
          </a:p>
          <a:p>
            <a:pPr algn="just">
              <a:lnSpc>
                <a:spcPct val="120000"/>
              </a:lnSpc>
            </a:pPr>
            <a:r>
              <a:rPr lang="en-US" altLang="en-US" sz="3400"/>
              <a:t>A relation scheme relates certain attributes with their domain in context of a relation</a:t>
            </a: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a:extLst>
              <a:ext uri="{FF2B5EF4-FFF2-40B4-BE49-F238E27FC236}">
                <a16:creationId xmlns:a16="http://schemas.microsoft.com/office/drawing/2014/main" id="{CC64189D-F214-B5CC-E0B8-6B4F408935AC}"/>
              </a:ext>
            </a:extLst>
          </p:cNvPr>
          <p:cNvSpPr>
            <a:spLocks noGrp="1" noChangeArrowheads="1"/>
          </p:cNvSpPr>
          <p:nvPr>
            <p:ph type="title"/>
          </p:nvPr>
        </p:nvSpPr>
        <p:spPr>
          <a:xfrm>
            <a:off x="457200" y="0"/>
            <a:ext cx="7620000" cy="1143000"/>
          </a:xfrm>
        </p:spPr>
        <p:txBody>
          <a:bodyPr/>
          <a:lstStyle/>
          <a:p>
            <a:pPr algn="ctr">
              <a:defRPr/>
            </a:pPr>
            <a:r>
              <a:rPr lang="en-US" altLang="en-US"/>
              <a:t>Relation Scheme</a:t>
            </a:r>
          </a:p>
        </p:txBody>
      </p:sp>
      <p:sp>
        <p:nvSpPr>
          <p:cNvPr id="101379" name="Rectangle 3">
            <a:extLst>
              <a:ext uri="{FF2B5EF4-FFF2-40B4-BE49-F238E27FC236}">
                <a16:creationId xmlns:a16="http://schemas.microsoft.com/office/drawing/2014/main" id="{3FE6BF19-9B86-37C0-FA38-7174070F407D}"/>
              </a:ext>
            </a:extLst>
          </p:cNvPr>
          <p:cNvSpPr>
            <a:spLocks noGrp="1" noChangeArrowheads="1"/>
          </p:cNvSpPr>
          <p:nvPr>
            <p:ph type="body" idx="1"/>
          </p:nvPr>
        </p:nvSpPr>
        <p:spPr>
          <a:xfrm>
            <a:off x="228600" y="1600200"/>
            <a:ext cx="8001000" cy="4525963"/>
          </a:xfrm>
        </p:spPr>
        <p:txBody>
          <a:bodyPr/>
          <a:lstStyle/>
          <a:p>
            <a:pPr marL="114300" indent="0" algn="just">
              <a:lnSpc>
                <a:spcPct val="120000"/>
              </a:lnSpc>
              <a:buFont typeface="Arial" panose="020B0604020202020204" pitchFamily="34" charset="0"/>
              <a:buNone/>
              <a:defRPr/>
            </a:pPr>
            <a:r>
              <a:rPr lang="en-US" altLang="en-US" sz="3400" dirty="0"/>
              <a:t>Can be represented as</a:t>
            </a:r>
          </a:p>
          <a:p>
            <a:pPr lvl="1" algn="just">
              <a:lnSpc>
                <a:spcPct val="120000"/>
              </a:lnSpc>
              <a:defRPr/>
            </a:pPr>
            <a:r>
              <a:rPr lang="en-US" altLang="en-US" sz="3200" dirty="0"/>
              <a:t>  R = (A1:D1, A2:D2, ……, </a:t>
            </a:r>
            <a:r>
              <a:rPr lang="en-US" altLang="en-US" sz="3200" dirty="0" err="1"/>
              <a:t>An:Dn</a:t>
            </a:r>
            <a:r>
              <a:rPr lang="en-US" altLang="en-US" sz="3200" dirty="0"/>
              <a:t>) </a:t>
            </a:r>
          </a:p>
          <a:p>
            <a:pPr lvl="1" algn="just">
              <a:lnSpc>
                <a:spcPct val="120000"/>
              </a:lnSpc>
              <a:defRPr/>
            </a:pPr>
            <a:r>
              <a:rPr lang="en-US" altLang="en-US" sz="3200" dirty="0"/>
              <a:t>  STD = (</a:t>
            </a:r>
            <a:r>
              <a:rPr lang="en-US" altLang="en-US" sz="3200" dirty="0" err="1"/>
              <a:t>stId:Text</a:t>
            </a:r>
            <a:r>
              <a:rPr lang="en-US" altLang="en-US" sz="3200" dirty="0"/>
              <a:t>, </a:t>
            </a:r>
            <a:r>
              <a:rPr lang="en-US" altLang="en-US" sz="3200" dirty="0" err="1"/>
              <a:t>stName</a:t>
            </a:r>
            <a:r>
              <a:rPr lang="en-US" altLang="en-US" sz="3200" dirty="0"/>
              <a:t>: text, </a:t>
            </a:r>
            <a:r>
              <a:rPr lang="en-US" altLang="en-US" sz="3200" dirty="0" err="1"/>
              <a:t>stAdres:Text</a:t>
            </a:r>
            <a:r>
              <a:rPr lang="en-US" altLang="en-US" sz="3200" dirty="0"/>
              <a:t>, </a:t>
            </a:r>
            <a:r>
              <a:rPr lang="en-US" altLang="en-US" sz="3200" dirty="0" err="1"/>
              <a:t>doB:Date</a:t>
            </a:r>
            <a:r>
              <a:rPr lang="en-US" altLang="en-US" sz="3200" dirty="0"/>
              <a:t>) </a:t>
            </a:r>
          </a:p>
          <a:p>
            <a:pPr marL="411163" lvl="1" indent="0" algn="just">
              <a:lnSpc>
                <a:spcPct val="120000"/>
              </a:lnSpc>
              <a:buFont typeface="Arial" panose="020B0604020202020204" pitchFamily="34" charset="0"/>
              <a:buNone/>
              <a:defRPr/>
            </a:pPr>
            <a:r>
              <a:rPr lang="en-US" altLang="en-US" sz="3200" dirty="0"/>
              <a:t>OR</a:t>
            </a:r>
          </a:p>
          <a:p>
            <a:pPr lvl="1" algn="just">
              <a:lnSpc>
                <a:spcPct val="120000"/>
              </a:lnSpc>
              <a:defRPr/>
            </a:pPr>
            <a:r>
              <a:rPr lang="en-US" altLang="en-US" sz="3200" dirty="0"/>
              <a:t>  STD(</a:t>
            </a:r>
            <a:r>
              <a:rPr lang="en-US" altLang="en-US" sz="3200" dirty="0" err="1"/>
              <a:t>stId</a:t>
            </a:r>
            <a:r>
              <a:rPr lang="en-US" altLang="en-US" sz="3200" dirty="0"/>
              <a:t>, </a:t>
            </a:r>
            <a:r>
              <a:rPr lang="en-US" altLang="en-US" sz="3200" dirty="0" err="1"/>
              <a:t>stName</a:t>
            </a:r>
            <a:r>
              <a:rPr lang="en-US" altLang="en-US" sz="3200" dirty="0"/>
              <a:t>, </a:t>
            </a:r>
            <a:r>
              <a:rPr lang="en-US" altLang="en-US" sz="3200" dirty="0" err="1"/>
              <a:t>stAdres</a:t>
            </a:r>
            <a:r>
              <a:rPr lang="en-US" altLang="en-US" sz="3200" dirty="0"/>
              <a:t>, </a:t>
            </a:r>
            <a:r>
              <a:rPr lang="en-US" altLang="en-US" sz="3200" dirty="0" err="1"/>
              <a:t>doB</a:t>
            </a:r>
            <a:r>
              <a:rPr lang="en-US" altLang="en-US" sz="3200" dirty="0"/>
              <a:t>)</a:t>
            </a: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a:extLst>
              <a:ext uri="{FF2B5EF4-FFF2-40B4-BE49-F238E27FC236}">
                <a16:creationId xmlns:a16="http://schemas.microsoft.com/office/drawing/2014/main" id="{654842BF-908D-1883-E022-68135EE4C911}"/>
              </a:ext>
            </a:extLst>
          </p:cNvPr>
          <p:cNvSpPr>
            <a:spLocks noGrp="1" noChangeArrowheads="1"/>
          </p:cNvSpPr>
          <p:nvPr>
            <p:ph type="title"/>
          </p:nvPr>
        </p:nvSpPr>
        <p:spPr>
          <a:xfrm>
            <a:off x="457200" y="0"/>
            <a:ext cx="7620000" cy="1143000"/>
          </a:xfrm>
        </p:spPr>
        <p:txBody>
          <a:bodyPr/>
          <a:lstStyle/>
          <a:p>
            <a:pPr algn="ctr">
              <a:defRPr/>
            </a:pPr>
            <a:r>
              <a:rPr lang="en-US" altLang="en-US" dirty="0"/>
              <a:t>Database Relations</a:t>
            </a:r>
          </a:p>
        </p:txBody>
      </p:sp>
      <p:sp>
        <p:nvSpPr>
          <p:cNvPr id="96259" name="Rectangle 3">
            <a:extLst>
              <a:ext uri="{FF2B5EF4-FFF2-40B4-BE49-F238E27FC236}">
                <a16:creationId xmlns:a16="http://schemas.microsoft.com/office/drawing/2014/main" id="{00FB437D-852B-1BC2-B7A6-2DE96B8E9207}"/>
              </a:ext>
            </a:extLst>
          </p:cNvPr>
          <p:cNvSpPr>
            <a:spLocks noGrp="1" noChangeArrowheads="1"/>
          </p:cNvSpPr>
          <p:nvPr>
            <p:ph type="body" idx="1"/>
          </p:nvPr>
        </p:nvSpPr>
        <p:spPr>
          <a:xfrm>
            <a:off x="457200" y="1600200"/>
            <a:ext cx="7620000" cy="4953000"/>
          </a:xfrm>
        </p:spPr>
        <p:txBody>
          <a:bodyPr/>
          <a:lstStyle/>
          <a:p>
            <a:pPr algn="just">
              <a:lnSpc>
                <a:spcPct val="120000"/>
              </a:lnSpc>
              <a:defRPr/>
            </a:pPr>
            <a:r>
              <a:rPr lang="en-US" altLang="en-US" sz="3400" dirty="0"/>
              <a:t>According to this scheme we can have a relation (instance of this scheme):</a:t>
            </a:r>
          </a:p>
          <a:p>
            <a:pPr marL="114300" indent="0" algn="just">
              <a:lnSpc>
                <a:spcPct val="120000"/>
              </a:lnSpc>
              <a:buFont typeface="Arial" panose="020B0604020202020204" pitchFamily="34" charset="0"/>
              <a:buNone/>
              <a:defRPr/>
            </a:pPr>
            <a:r>
              <a:rPr lang="en-US" altLang="en-US" sz="3000" dirty="0"/>
              <a:t>  STD={(stId:S001, </a:t>
            </a:r>
            <a:r>
              <a:rPr lang="en-US" altLang="en-US" sz="3000" dirty="0" err="1"/>
              <a:t>stName:Ali</a:t>
            </a:r>
            <a:r>
              <a:rPr lang="en-US" altLang="en-US" sz="3000" dirty="0"/>
              <a:t>, </a:t>
            </a:r>
            <a:r>
              <a:rPr lang="en-US" altLang="en-US" sz="3000" dirty="0" err="1"/>
              <a:t>stAdres</a:t>
            </a:r>
            <a:r>
              <a:rPr lang="en-US" altLang="en-US" sz="3000" dirty="0"/>
              <a:t>: Lahore, doB:12/12/76), (stId:S003, </a:t>
            </a:r>
            <a:r>
              <a:rPr lang="en-US" altLang="en-US" sz="3000" dirty="0" err="1"/>
              <a:t>stName:A</a:t>
            </a:r>
            <a:r>
              <a:rPr lang="en-US" altLang="en-US" sz="3000" dirty="0"/>
              <a:t>. </a:t>
            </a:r>
            <a:r>
              <a:rPr lang="en-US" altLang="en-US" sz="3000" dirty="0" err="1"/>
              <a:t>Rehman</a:t>
            </a:r>
            <a:r>
              <a:rPr lang="en-US" altLang="en-US" sz="3000" dirty="0"/>
              <a:t>,  </a:t>
            </a:r>
            <a:r>
              <a:rPr lang="en-US" altLang="en-US" sz="3000" dirty="0" err="1"/>
              <a:t>stAdres</a:t>
            </a:r>
            <a:r>
              <a:rPr lang="en-US" altLang="en-US" sz="3000" dirty="0"/>
              <a:t>: RWP, doB:2/12/77)}</a:t>
            </a: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a:extLst>
              <a:ext uri="{FF2B5EF4-FFF2-40B4-BE49-F238E27FC236}">
                <a16:creationId xmlns:a16="http://schemas.microsoft.com/office/drawing/2014/main" id="{56777191-71B3-F8E8-7220-BF31A6CF0926}"/>
              </a:ext>
            </a:extLst>
          </p:cNvPr>
          <p:cNvSpPr>
            <a:spLocks noGrp="1" noChangeArrowheads="1"/>
          </p:cNvSpPr>
          <p:nvPr>
            <p:ph type="title"/>
          </p:nvPr>
        </p:nvSpPr>
        <p:spPr>
          <a:xfrm>
            <a:off x="457200" y="0"/>
            <a:ext cx="7543800" cy="1143000"/>
          </a:xfrm>
        </p:spPr>
        <p:txBody>
          <a:bodyPr/>
          <a:lstStyle/>
          <a:p>
            <a:pPr algn="ctr">
              <a:defRPr/>
            </a:pPr>
            <a:r>
              <a:rPr lang="en-US" altLang="en-US" dirty="0"/>
              <a:t>Database Relations</a:t>
            </a:r>
          </a:p>
        </p:txBody>
      </p:sp>
      <p:sp>
        <p:nvSpPr>
          <p:cNvPr id="29699" name="Rectangle 3">
            <a:extLst>
              <a:ext uri="{FF2B5EF4-FFF2-40B4-BE49-F238E27FC236}">
                <a16:creationId xmlns:a16="http://schemas.microsoft.com/office/drawing/2014/main" id="{FC252F70-6CC6-DA5E-FFC4-98A68325FCC4}"/>
              </a:ext>
            </a:extLst>
          </p:cNvPr>
          <p:cNvSpPr>
            <a:spLocks noGrp="1"/>
          </p:cNvSpPr>
          <p:nvPr>
            <p:ph type="body" sz="half" idx="1"/>
          </p:nvPr>
        </p:nvSpPr>
        <p:spPr>
          <a:xfrm>
            <a:off x="152400" y="1600200"/>
            <a:ext cx="8153400" cy="1752600"/>
          </a:xfrm>
        </p:spPr>
        <p:txBody>
          <a:bodyPr/>
          <a:lstStyle/>
          <a:p>
            <a:pPr algn="just">
              <a:buFont typeface="Wingdings" panose="05000000000000000000" pitchFamily="2" charset="2"/>
              <a:buNone/>
            </a:pPr>
            <a:r>
              <a:rPr lang="en-US" altLang="en-US" sz="3600"/>
              <a:t>STD={(S001, Ali,  Lahore, 12/12/76), (S003, A. Rehman,  RWP, 2/12/77)}</a:t>
            </a:r>
            <a:endParaRPr lang="en-US" altLang="en-US" sz="4000"/>
          </a:p>
        </p:txBody>
      </p:sp>
      <p:graphicFrame>
        <p:nvGraphicFramePr>
          <p:cNvPr id="102437" name="Group 37">
            <a:extLst>
              <a:ext uri="{FF2B5EF4-FFF2-40B4-BE49-F238E27FC236}">
                <a16:creationId xmlns:a16="http://schemas.microsoft.com/office/drawing/2014/main" id="{B28176C7-EDC3-2C4F-463D-30FCAC21972F}"/>
              </a:ext>
            </a:extLst>
          </p:cNvPr>
          <p:cNvGraphicFramePr>
            <a:graphicFrameLocks noGrp="1"/>
          </p:cNvGraphicFramePr>
          <p:nvPr>
            <p:ph sz="half" idx="2"/>
          </p:nvPr>
        </p:nvGraphicFramePr>
        <p:xfrm>
          <a:off x="190500" y="3581400"/>
          <a:ext cx="8077200" cy="2714625"/>
        </p:xfrm>
        <a:graphic>
          <a:graphicData uri="http://schemas.openxmlformats.org/drawingml/2006/table">
            <a:tbl>
              <a:tblPr/>
              <a:tblGrid>
                <a:gridCol w="1535113">
                  <a:extLst>
                    <a:ext uri="{9D8B030D-6E8A-4147-A177-3AD203B41FA5}">
                      <a16:colId xmlns:a16="http://schemas.microsoft.com/office/drawing/2014/main" val="20000"/>
                    </a:ext>
                  </a:extLst>
                </a:gridCol>
                <a:gridCol w="2503487">
                  <a:extLst>
                    <a:ext uri="{9D8B030D-6E8A-4147-A177-3AD203B41FA5}">
                      <a16:colId xmlns:a16="http://schemas.microsoft.com/office/drawing/2014/main" val="20001"/>
                    </a:ext>
                  </a:extLst>
                </a:gridCol>
                <a:gridCol w="2019300">
                  <a:extLst>
                    <a:ext uri="{9D8B030D-6E8A-4147-A177-3AD203B41FA5}">
                      <a16:colId xmlns:a16="http://schemas.microsoft.com/office/drawing/2014/main" val="20002"/>
                    </a:ext>
                  </a:extLst>
                </a:gridCol>
                <a:gridCol w="2019300">
                  <a:extLst>
                    <a:ext uri="{9D8B030D-6E8A-4147-A177-3AD203B41FA5}">
                      <a16:colId xmlns:a16="http://schemas.microsoft.com/office/drawing/2014/main" val="20003"/>
                    </a:ext>
                  </a:extLst>
                </a:gridCol>
              </a:tblGrid>
              <a:tr h="884127">
                <a:tc>
                  <a:txBody>
                    <a:bodyPr/>
                    <a:lstStyle>
                      <a:lvl1pPr>
                        <a:lnSpc>
                          <a:spcPct val="130000"/>
                        </a:lnSpc>
                        <a:spcBef>
                          <a:spcPct val="20000"/>
                        </a:spcBef>
                        <a:buFont typeface="Wingdings" panose="05000000000000000000" pitchFamily="2" charset="2"/>
                        <a:defRPr sz="4000">
                          <a:solidFill>
                            <a:srgbClr val="FFFF00"/>
                          </a:solidFill>
                          <a:latin typeface="Times New Roman" panose="02020603050405020304" pitchFamily="18" charset="0"/>
                        </a:defRPr>
                      </a:lvl1pPr>
                      <a:lvl2pPr>
                        <a:spcBef>
                          <a:spcPct val="20000"/>
                        </a:spcBef>
                        <a:defRPr sz="2800">
                          <a:solidFill>
                            <a:srgbClr val="FFCC00"/>
                          </a:solidFill>
                          <a:latin typeface="Times New Roman" panose="02020603050405020304" pitchFamily="18"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30000"/>
                        </a:lnSpc>
                        <a:spcBef>
                          <a:spcPct val="20000"/>
                        </a:spcBef>
                        <a:spcAft>
                          <a:spcPct val="0"/>
                        </a:spcAft>
                        <a:buClrTx/>
                        <a:buSzTx/>
                        <a:buFont typeface="Wingdings" panose="05000000000000000000" pitchFamily="2" charset="2"/>
                        <a:buNone/>
                        <a:tabLst/>
                      </a:pPr>
                      <a:r>
                        <a:rPr kumimoji="0" lang="en-US" altLang="en-US" sz="4000" b="0" i="0" u="none" strike="noStrike" cap="none" normalizeH="0" baseline="0" dirty="0" err="1">
                          <a:ln>
                            <a:noFill/>
                          </a:ln>
                          <a:solidFill>
                            <a:schemeClr val="tx1"/>
                          </a:solidFill>
                          <a:effectLst/>
                          <a:latin typeface="Times New Roman" panose="02020603050405020304" pitchFamily="18" charset="0"/>
                        </a:rPr>
                        <a:t>stId</a:t>
                      </a:r>
                      <a:endParaRPr kumimoji="0" lang="en-US" altLang="en-US" sz="4000" b="0" i="0" u="none" strike="noStrike" cap="none" normalizeH="0" baseline="0" dirty="0">
                        <a:ln>
                          <a:noFill/>
                        </a:ln>
                        <a:solidFill>
                          <a:schemeClr val="tx1"/>
                        </a:solidFill>
                        <a:effectLst/>
                        <a:latin typeface="Times New Roman" panose="02020603050405020304" pitchFamily="18" charset="0"/>
                      </a:endParaRP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30000"/>
                        </a:lnSpc>
                        <a:spcBef>
                          <a:spcPct val="20000"/>
                        </a:spcBef>
                        <a:buFont typeface="Wingdings" panose="05000000000000000000" pitchFamily="2" charset="2"/>
                        <a:defRPr sz="4000">
                          <a:solidFill>
                            <a:srgbClr val="FFFF00"/>
                          </a:solidFill>
                          <a:latin typeface="Times New Roman" panose="02020603050405020304" pitchFamily="18" charset="0"/>
                        </a:defRPr>
                      </a:lvl1pPr>
                      <a:lvl2pPr>
                        <a:spcBef>
                          <a:spcPct val="20000"/>
                        </a:spcBef>
                        <a:defRPr sz="2800">
                          <a:solidFill>
                            <a:srgbClr val="FFCC00"/>
                          </a:solidFill>
                          <a:latin typeface="Times New Roman" panose="02020603050405020304" pitchFamily="18"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30000"/>
                        </a:lnSpc>
                        <a:spcBef>
                          <a:spcPct val="20000"/>
                        </a:spcBef>
                        <a:spcAft>
                          <a:spcPct val="0"/>
                        </a:spcAft>
                        <a:buClrTx/>
                        <a:buSzTx/>
                        <a:buFont typeface="Wingdings" panose="05000000000000000000" pitchFamily="2" charset="2"/>
                        <a:buNone/>
                        <a:tabLst/>
                      </a:pPr>
                      <a:r>
                        <a:rPr kumimoji="0" lang="en-US" altLang="en-US" sz="4000" b="0" i="0" u="none" strike="noStrike" cap="none" normalizeH="0" baseline="0" dirty="0" err="1">
                          <a:ln>
                            <a:noFill/>
                          </a:ln>
                          <a:solidFill>
                            <a:schemeClr val="tx1"/>
                          </a:solidFill>
                          <a:effectLst/>
                          <a:latin typeface="Times New Roman" panose="02020603050405020304" pitchFamily="18" charset="0"/>
                        </a:rPr>
                        <a:t>stName</a:t>
                      </a:r>
                      <a:endParaRPr kumimoji="0" lang="en-US" altLang="en-US" sz="4000" b="0" i="0" u="none" strike="noStrike" cap="none" normalizeH="0" baseline="0" dirty="0">
                        <a:ln>
                          <a:noFill/>
                        </a:ln>
                        <a:solidFill>
                          <a:schemeClr val="tx1"/>
                        </a:solidFill>
                        <a:effectLst/>
                        <a:latin typeface="Times New Roman" panose="02020603050405020304" pitchFamily="18" charset="0"/>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30000"/>
                        </a:lnSpc>
                        <a:spcBef>
                          <a:spcPct val="20000"/>
                        </a:spcBef>
                        <a:buFont typeface="Wingdings" panose="05000000000000000000" pitchFamily="2" charset="2"/>
                        <a:defRPr sz="4000">
                          <a:solidFill>
                            <a:srgbClr val="FFFF00"/>
                          </a:solidFill>
                          <a:latin typeface="Times New Roman" panose="02020603050405020304" pitchFamily="18" charset="0"/>
                        </a:defRPr>
                      </a:lvl1pPr>
                      <a:lvl2pPr>
                        <a:spcBef>
                          <a:spcPct val="20000"/>
                        </a:spcBef>
                        <a:defRPr sz="2800">
                          <a:solidFill>
                            <a:srgbClr val="FFCC00"/>
                          </a:solidFill>
                          <a:latin typeface="Times New Roman" panose="02020603050405020304" pitchFamily="18"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30000"/>
                        </a:lnSpc>
                        <a:spcBef>
                          <a:spcPct val="20000"/>
                        </a:spcBef>
                        <a:spcAft>
                          <a:spcPct val="0"/>
                        </a:spcAft>
                        <a:buClrTx/>
                        <a:buSzTx/>
                        <a:buFont typeface="Wingdings" panose="05000000000000000000" pitchFamily="2" charset="2"/>
                        <a:buNone/>
                        <a:tabLst/>
                      </a:pPr>
                      <a:r>
                        <a:rPr kumimoji="0" lang="en-US" altLang="en-US" sz="4000" b="0" i="0" u="none" strike="noStrike" cap="none" normalizeH="0" baseline="0" dirty="0" err="1">
                          <a:ln>
                            <a:noFill/>
                          </a:ln>
                          <a:solidFill>
                            <a:schemeClr val="tx1"/>
                          </a:solidFill>
                          <a:effectLst/>
                          <a:latin typeface="Times New Roman" panose="02020603050405020304" pitchFamily="18" charset="0"/>
                        </a:rPr>
                        <a:t>stAdres</a:t>
                      </a:r>
                      <a:endParaRPr kumimoji="0" lang="en-US" altLang="en-US" sz="4000" b="0" i="0" u="none" strike="noStrike" cap="none" normalizeH="0" baseline="0" dirty="0">
                        <a:ln>
                          <a:noFill/>
                        </a:ln>
                        <a:solidFill>
                          <a:schemeClr val="tx1"/>
                        </a:solidFill>
                        <a:effectLst/>
                        <a:latin typeface="Times New Roman" panose="02020603050405020304" pitchFamily="18" charset="0"/>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30000"/>
                        </a:lnSpc>
                        <a:spcBef>
                          <a:spcPct val="20000"/>
                        </a:spcBef>
                        <a:buFont typeface="Wingdings" panose="05000000000000000000" pitchFamily="2" charset="2"/>
                        <a:defRPr sz="4000">
                          <a:solidFill>
                            <a:srgbClr val="FFFF00"/>
                          </a:solidFill>
                          <a:latin typeface="Times New Roman" panose="02020603050405020304" pitchFamily="18" charset="0"/>
                        </a:defRPr>
                      </a:lvl1pPr>
                      <a:lvl2pPr>
                        <a:spcBef>
                          <a:spcPct val="20000"/>
                        </a:spcBef>
                        <a:defRPr sz="2800">
                          <a:solidFill>
                            <a:srgbClr val="FFCC00"/>
                          </a:solidFill>
                          <a:latin typeface="Times New Roman" panose="02020603050405020304" pitchFamily="18"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30000"/>
                        </a:lnSpc>
                        <a:spcBef>
                          <a:spcPct val="20000"/>
                        </a:spcBef>
                        <a:spcAft>
                          <a:spcPct val="0"/>
                        </a:spcAft>
                        <a:buClrTx/>
                        <a:buSzTx/>
                        <a:buFont typeface="Wingdings" panose="05000000000000000000" pitchFamily="2" charset="2"/>
                        <a:buNone/>
                        <a:tabLst/>
                      </a:pPr>
                      <a:r>
                        <a:rPr kumimoji="0" lang="en-US" altLang="en-US" sz="4000" b="0" i="0" u="none" strike="noStrike" cap="none" normalizeH="0" baseline="0" dirty="0" err="1">
                          <a:ln>
                            <a:noFill/>
                          </a:ln>
                          <a:solidFill>
                            <a:schemeClr val="tx1"/>
                          </a:solidFill>
                          <a:effectLst/>
                          <a:latin typeface="Times New Roman" panose="02020603050405020304" pitchFamily="18" charset="0"/>
                        </a:rPr>
                        <a:t>doB</a:t>
                      </a:r>
                      <a:endParaRPr kumimoji="0" lang="en-US" altLang="en-US" sz="4000" b="0" i="0" u="none" strike="noStrike" cap="none" normalizeH="0" baseline="0" dirty="0">
                        <a:ln>
                          <a:noFill/>
                        </a:ln>
                        <a:solidFill>
                          <a:schemeClr val="tx1"/>
                        </a:solidFill>
                        <a:effectLst/>
                        <a:latin typeface="Times New Roman" panose="02020603050405020304" pitchFamily="18" charset="0"/>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946371">
                <a:tc>
                  <a:txBody>
                    <a:bodyPr/>
                    <a:lstStyle>
                      <a:lvl1pPr>
                        <a:lnSpc>
                          <a:spcPct val="130000"/>
                        </a:lnSpc>
                        <a:spcBef>
                          <a:spcPct val="20000"/>
                        </a:spcBef>
                        <a:buFont typeface="Wingdings" panose="05000000000000000000" pitchFamily="2" charset="2"/>
                        <a:defRPr sz="4000">
                          <a:solidFill>
                            <a:srgbClr val="FFFF00"/>
                          </a:solidFill>
                          <a:latin typeface="Times New Roman" panose="02020603050405020304" pitchFamily="18" charset="0"/>
                        </a:defRPr>
                      </a:lvl1pPr>
                      <a:lvl2pPr>
                        <a:spcBef>
                          <a:spcPct val="20000"/>
                        </a:spcBef>
                        <a:defRPr sz="2800">
                          <a:solidFill>
                            <a:srgbClr val="FFCC00"/>
                          </a:solidFill>
                          <a:latin typeface="Times New Roman" panose="02020603050405020304" pitchFamily="18"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30000"/>
                        </a:lnSpc>
                        <a:spcBef>
                          <a:spcPct val="20000"/>
                        </a:spcBef>
                        <a:spcAft>
                          <a:spcPct val="0"/>
                        </a:spcAft>
                        <a:buClrTx/>
                        <a:buSzTx/>
                        <a:buFont typeface="Wingdings" panose="05000000000000000000" pitchFamily="2" charset="2"/>
                        <a:buNone/>
                        <a:tabLst/>
                      </a:pPr>
                      <a:r>
                        <a:rPr kumimoji="0" lang="en-US" altLang="en-US" sz="4000" b="0" i="0" u="none" strike="noStrike" cap="none" normalizeH="0" baseline="0">
                          <a:ln>
                            <a:noFill/>
                          </a:ln>
                          <a:solidFill>
                            <a:srgbClr val="C00000"/>
                          </a:solidFill>
                          <a:effectLst/>
                          <a:latin typeface="Times New Roman" panose="02020603050405020304" pitchFamily="18" charset="0"/>
                        </a:rPr>
                        <a:t>S001</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30000"/>
                        </a:lnSpc>
                        <a:spcBef>
                          <a:spcPct val="20000"/>
                        </a:spcBef>
                        <a:buFont typeface="Wingdings" panose="05000000000000000000" pitchFamily="2" charset="2"/>
                        <a:defRPr sz="4000">
                          <a:solidFill>
                            <a:srgbClr val="FFFF00"/>
                          </a:solidFill>
                          <a:latin typeface="Times New Roman" panose="02020603050405020304" pitchFamily="18" charset="0"/>
                        </a:defRPr>
                      </a:lvl1pPr>
                      <a:lvl2pPr>
                        <a:spcBef>
                          <a:spcPct val="20000"/>
                        </a:spcBef>
                        <a:defRPr sz="2800">
                          <a:solidFill>
                            <a:srgbClr val="FFCC00"/>
                          </a:solidFill>
                          <a:latin typeface="Times New Roman" panose="02020603050405020304" pitchFamily="18"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30000"/>
                        </a:lnSpc>
                        <a:spcBef>
                          <a:spcPct val="20000"/>
                        </a:spcBef>
                        <a:spcAft>
                          <a:spcPct val="0"/>
                        </a:spcAft>
                        <a:buClrTx/>
                        <a:buSzTx/>
                        <a:buFont typeface="Wingdings" panose="05000000000000000000" pitchFamily="2" charset="2"/>
                        <a:buNone/>
                        <a:tabLst/>
                      </a:pPr>
                      <a:r>
                        <a:rPr kumimoji="0" lang="en-US" altLang="en-US" sz="4000" b="0" i="0" u="none" strike="noStrike" cap="none" normalizeH="0" baseline="0">
                          <a:ln>
                            <a:noFill/>
                          </a:ln>
                          <a:solidFill>
                            <a:srgbClr val="C00000"/>
                          </a:solidFill>
                          <a:effectLst/>
                          <a:latin typeface="Times New Roman" panose="02020603050405020304" pitchFamily="18" charset="0"/>
                        </a:rPr>
                        <a:t>Ali</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30000"/>
                        </a:lnSpc>
                        <a:spcBef>
                          <a:spcPct val="20000"/>
                        </a:spcBef>
                        <a:buFont typeface="Wingdings" panose="05000000000000000000" pitchFamily="2" charset="2"/>
                        <a:defRPr sz="4000">
                          <a:solidFill>
                            <a:srgbClr val="FFFF00"/>
                          </a:solidFill>
                          <a:latin typeface="Times New Roman" panose="02020603050405020304" pitchFamily="18" charset="0"/>
                        </a:defRPr>
                      </a:lvl1pPr>
                      <a:lvl2pPr>
                        <a:spcBef>
                          <a:spcPct val="20000"/>
                        </a:spcBef>
                        <a:defRPr sz="2800">
                          <a:solidFill>
                            <a:srgbClr val="FFCC00"/>
                          </a:solidFill>
                          <a:latin typeface="Times New Roman" panose="02020603050405020304" pitchFamily="18"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30000"/>
                        </a:lnSpc>
                        <a:spcBef>
                          <a:spcPct val="20000"/>
                        </a:spcBef>
                        <a:spcAft>
                          <a:spcPct val="0"/>
                        </a:spcAft>
                        <a:buClrTx/>
                        <a:buSzTx/>
                        <a:buFont typeface="Wingdings" panose="05000000000000000000" pitchFamily="2" charset="2"/>
                        <a:buNone/>
                        <a:tabLst/>
                      </a:pPr>
                      <a:r>
                        <a:rPr kumimoji="0" lang="en-US" altLang="en-US" sz="4000" b="0" i="0" u="none" strike="noStrike" cap="none" normalizeH="0" baseline="0" dirty="0">
                          <a:ln>
                            <a:noFill/>
                          </a:ln>
                          <a:solidFill>
                            <a:srgbClr val="C00000"/>
                          </a:solidFill>
                          <a:effectLst/>
                          <a:latin typeface="Times New Roman" panose="02020603050405020304" pitchFamily="18" charset="0"/>
                        </a:rPr>
                        <a:t>Lahore</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30000"/>
                        </a:lnSpc>
                        <a:spcBef>
                          <a:spcPct val="20000"/>
                        </a:spcBef>
                        <a:buFont typeface="Wingdings" panose="05000000000000000000" pitchFamily="2" charset="2"/>
                        <a:defRPr sz="4000">
                          <a:solidFill>
                            <a:srgbClr val="FFFF00"/>
                          </a:solidFill>
                          <a:latin typeface="Times New Roman" panose="02020603050405020304" pitchFamily="18" charset="0"/>
                        </a:defRPr>
                      </a:lvl1pPr>
                      <a:lvl2pPr>
                        <a:spcBef>
                          <a:spcPct val="20000"/>
                        </a:spcBef>
                        <a:defRPr sz="2800">
                          <a:solidFill>
                            <a:srgbClr val="FFCC00"/>
                          </a:solidFill>
                          <a:latin typeface="Times New Roman" panose="02020603050405020304" pitchFamily="18"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30000"/>
                        </a:lnSpc>
                        <a:spcBef>
                          <a:spcPct val="20000"/>
                        </a:spcBef>
                        <a:spcAft>
                          <a:spcPct val="0"/>
                        </a:spcAft>
                        <a:buClrTx/>
                        <a:buSzTx/>
                        <a:buFont typeface="Wingdings" panose="05000000000000000000" pitchFamily="2" charset="2"/>
                        <a:buNone/>
                        <a:tabLst/>
                      </a:pPr>
                      <a:r>
                        <a:rPr kumimoji="0" lang="en-US" altLang="en-US" sz="4000" b="0" i="0" u="none" strike="noStrike" cap="none" normalizeH="0" baseline="0" dirty="0">
                          <a:ln>
                            <a:noFill/>
                          </a:ln>
                          <a:solidFill>
                            <a:srgbClr val="C00000"/>
                          </a:solidFill>
                          <a:effectLst/>
                          <a:latin typeface="Times New Roman" panose="02020603050405020304" pitchFamily="18" charset="0"/>
                        </a:rPr>
                        <a:t>12/12/76</a:t>
                      </a: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84127">
                <a:tc>
                  <a:txBody>
                    <a:bodyPr/>
                    <a:lstStyle>
                      <a:lvl1pPr>
                        <a:lnSpc>
                          <a:spcPct val="130000"/>
                        </a:lnSpc>
                        <a:spcBef>
                          <a:spcPct val="20000"/>
                        </a:spcBef>
                        <a:buFont typeface="Wingdings" panose="05000000000000000000" pitchFamily="2" charset="2"/>
                        <a:defRPr sz="4000">
                          <a:solidFill>
                            <a:srgbClr val="FFFF00"/>
                          </a:solidFill>
                          <a:latin typeface="Times New Roman" panose="02020603050405020304" pitchFamily="18" charset="0"/>
                        </a:defRPr>
                      </a:lvl1pPr>
                      <a:lvl2pPr>
                        <a:spcBef>
                          <a:spcPct val="20000"/>
                        </a:spcBef>
                        <a:defRPr sz="2800">
                          <a:solidFill>
                            <a:srgbClr val="FFCC00"/>
                          </a:solidFill>
                          <a:latin typeface="Times New Roman" panose="02020603050405020304" pitchFamily="18"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30000"/>
                        </a:lnSpc>
                        <a:spcBef>
                          <a:spcPct val="20000"/>
                        </a:spcBef>
                        <a:spcAft>
                          <a:spcPct val="0"/>
                        </a:spcAft>
                        <a:buClrTx/>
                        <a:buSzTx/>
                        <a:buFont typeface="Wingdings" panose="05000000000000000000" pitchFamily="2" charset="2"/>
                        <a:buNone/>
                        <a:tabLst/>
                      </a:pPr>
                      <a:r>
                        <a:rPr kumimoji="0" lang="en-US" altLang="en-US" sz="4000" b="0" i="0" u="none" strike="noStrike" cap="none" normalizeH="0" baseline="0" dirty="0">
                          <a:ln>
                            <a:noFill/>
                          </a:ln>
                          <a:solidFill>
                            <a:srgbClr val="C00000"/>
                          </a:solidFill>
                          <a:effectLst/>
                          <a:latin typeface="Times New Roman" panose="02020603050405020304" pitchFamily="18" charset="0"/>
                        </a:rPr>
                        <a:t>S002</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30000"/>
                        </a:lnSpc>
                        <a:spcBef>
                          <a:spcPct val="20000"/>
                        </a:spcBef>
                        <a:buFont typeface="Wingdings" panose="05000000000000000000" pitchFamily="2" charset="2"/>
                        <a:defRPr sz="4000">
                          <a:solidFill>
                            <a:srgbClr val="FFFF00"/>
                          </a:solidFill>
                          <a:latin typeface="Times New Roman" panose="02020603050405020304" pitchFamily="18" charset="0"/>
                        </a:defRPr>
                      </a:lvl1pPr>
                      <a:lvl2pPr>
                        <a:spcBef>
                          <a:spcPct val="20000"/>
                        </a:spcBef>
                        <a:defRPr sz="2800">
                          <a:solidFill>
                            <a:srgbClr val="FFCC00"/>
                          </a:solidFill>
                          <a:latin typeface="Times New Roman" panose="02020603050405020304" pitchFamily="18"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30000"/>
                        </a:lnSpc>
                        <a:spcBef>
                          <a:spcPct val="20000"/>
                        </a:spcBef>
                        <a:spcAft>
                          <a:spcPct val="0"/>
                        </a:spcAft>
                        <a:buClrTx/>
                        <a:buSzTx/>
                        <a:buFont typeface="Wingdings" panose="05000000000000000000" pitchFamily="2" charset="2"/>
                        <a:buNone/>
                        <a:tabLst/>
                      </a:pPr>
                      <a:r>
                        <a:rPr kumimoji="0" lang="en-US" altLang="en-US" sz="4000" b="0" i="0" u="none" strike="noStrike" cap="none" normalizeH="0" baseline="0">
                          <a:ln>
                            <a:noFill/>
                          </a:ln>
                          <a:solidFill>
                            <a:srgbClr val="C00000"/>
                          </a:solidFill>
                          <a:effectLst/>
                          <a:latin typeface="Times New Roman" panose="02020603050405020304" pitchFamily="18" charset="0"/>
                        </a:rPr>
                        <a:t>A. Rehman</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30000"/>
                        </a:lnSpc>
                        <a:spcBef>
                          <a:spcPct val="20000"/>
                        </a:spcBef>
                        <a:buFont typeface="Wingdings" panose="05000000000000000000" pitchFamily="2" charset="2"/>
                        <a:defRPr sz="4000">
                          <a:solidFill>
                            <a:srgbClr val="FFFF00"/>
                          </a:solidFill>
                          <a:latin typeface="Times New Roman" panose="02020603050405020304" pitchFamily="18" charset="0"/>
                        </a:defRPr>
                      </a:lvl1pPr>
                      <a:lvl2pPr>
                        <a:spcBef>
                          <a:spcPct val="20000"/>
                        </a:spcBef>
                        <a:defRPr sz="2800">
                          <a:solidFill>
                            <a:srgbClr val="FFCC00"/>
                          </a:solidFill>
                          <a:latin typeface="Times New Roman" panose="02020603050405020304" pitchFamily="18"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30000"/>
                        </a:lnSpc>
                        <a:spcBef>
                          <a:spcPct val="20000"/>
                        </a:spcBef>
                        <a:spcAft>
                          <a:spcPct val="0"/>
                        </a:spcAft>
                        <a:buClrTx/>
                        <a:buSzTx/>
                        <a:buFont typeface="Wingdings" panose="05000000000000000000" pitchFamily="2" charset="2"/>
                        <a:buNone/>
                        <a:tabLst/>
                      </a:pPr>
                      <a:r>
                        <a:rPr kumimoji="0" lang="en-US" altLang="en-US" sz="4000" b="0" i="0" u="none" strike="noStrike" cap="none" normalizeH="0" baseline="0">
                          <a:ln>
                            <a:noFill/>
                          </a:ln>
                          <a:solidFill>
                            <a:srgbClr val="C00000"/>
                          </a:solidFill>
                          <a:effectLst/>
                          <a:latin typeface="Times New Roman" panose="02020603050405020304" pitchFamily="18" charset="0"/>
                        </a:rPr>
                        <a:t>RWP</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30000"/>
                        </a:lnSpc>
                        <a:spcBef>
                          <a:spcPct val="20000"/>
                        </a:spcBef>
                        <a:buFont typeface="Wingdings" panose="05000000000000000000" pitchFamily="2" charset="2"/>
                        <a:defRPr sz="4000">
                          <a:solidFill>
                            <a:srgbClr val="FFFF00"/>
                          </a:solidFill>
                          <a:latin typeface="Times New Roman" panose="02020603050405020304" pitchFamily="18" charset="0"/>
                        </a:defRPr>
                      </a:lvl1pPr>
                      <a:lvl2pPr>
                        <a:spcBef>
                          <a:spcPct val="20000"/>
                        </a:spcBef>
                        <a:defRPr sz="2800">
                          <a:solidFill>
                            <a:srgbClr val="FFCC00"/>
                          </a:solidFill>
                          <a:latin typeface="Times New Roman" panose="02020603050405020304" pitchFamily="18"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30000"/>
                        </a:lnSpc>
                        <a:spcBef>
                          <a:spcPct val="20000"/>
                        </a:spcBef>
                        <a:spcAft>
                          <a:spcPct val="0"/>
                        </a:spcAft>
                        <a:buClrTx/>
                        <a:buSzTx/>
                        <a:buFont typeface="Wingdings" panose="05000000000000000000" pitchFamily="2" charset="2"/>
                        <a:buNone/>
                        <a:tabLst/>
                      </a:pPr>
                      <a:r>
                        <a:rPr kumimoji="0" lang="en-US" altLang="en-US" sz="4000" b="0" i="0" u="none" strike="noStrike" cap="none" normalizeH="0" baseline="0" dirty="0">
                          <a:ln>
                            <a:noFill/>
                          </a:ln>
                          <a:solidFill>
                            <a:srgbClr val="C00000"/>
                          </a:solidFill>
                          <a:effectLst/>
                          <a:latin typeface="Times New Roman" panose="02020603050405020304" pitchFamily="18" charset="0"/>
                        </a:rPr>
                        <a:t>2/12/77</a:t>
                      </a: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nodeType="clickEffect">
                                  <p:stCondLst>
                                    <p:cond delay="0"/>
                                  </p:stCondLst>
                                  <p:childTnLst>
                                    <p:set>
                                      <p:cBhvr>
                                        <p:cTn id="6" dur="1" fill="hold">
                                          <p:stCondLst>
                                            <p:cond delay="0"/>
                                          </p:stCondLst>
                                        </p:cTn>
                                        <p:tgtEl>
                                          <p:spTgt spid="102437"/>
                                        </p:tgtEl>
                                        <p:attrNameLst>
                                          <p:attrName>style.visibility</p:attrName>
                                        </p:attrNameLst>
                                      </p:cBhvr>
                                      <p:to>
                                        <p:strVal val="visible"/>
                                      </p:to>
                                    </p:set>
                                    <p:anim calcmode="lin" valueType="num">
                                      <p:cBhvr>
                                        <p:cTn id="7" dur="500" fill="hold"/>
                                        <p:tgtEl>
                                          <p:spTgt spid="102437"/>
                                        </p:tgtEl>
                                        <p:attrNameLst>
                                          <p:attrName>ppt_w</p:attrName>
                                        </p:attrNameLst>
                                      </p:cBhvr>
                                      <p:tavLst>
                                        <p:tav tm="0">
                                          <p:val>
                                            <p:fltVal val="0"/>
                                          </p:val>
                                        </p:tav>
                                        <p:tav tm="100000">
                                          <p:val>
                                            <p:strVal val="#ppt_w"/>
                                          </p:val>
                                        </p:tav>
                                      </p:tavLst>
                                    </p:anim>
                                    <p:anim calcmode="lin" valueType="num">
                                      <p:cBhvr>
                                        <p:cTn id="8" dur="500" fill="hold"/>
                                        <p:tgtEl>
                                          <p:spTgt spid="10243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31678-70E9-14ED-D5E8-65FD49615D7F}"/>
              </a:ext>
            </a:extLst>
          </p:cNvPr>
          <p:cNvSpPr>
            <a:spLocks noGrp="1"/>
          </p:cNvSpPr>
          <p:nvPr>
            <p:ph type="title"/>
          </p:nvPr>
        </p:nvSpPr>
        <p:spPr>
          <a:xfrm>
            <a:off x="304800" y="104775"/>
            <a:ext cx="7740650" cy="504825"/>
          </a:xfrm>
        </p:spPr>
        <p:txBody>
          <a:bodyPr/>
          <a:lstStyle/>
          <a:p>
            <a:pPr algn="ctr">
              <a:defRPr/>
            </a:pPr>
            <a:r>
              <a:rPr lang="en-US" dirty="0"/>
              <a:t>INTRODUCTION</a:t>
            </a:r>
            <a:endParaRPr lang="en-CA" dirty="0"/>
          </a:p>
        </p:txBody>
      </p:sp>
      <p:sp>
        <p:nvSpPr>
          <p:cNvPr id="25" name="Content Placeholder 2">
            <a:extLst>
              <a:ext uri="{FF2B5EF4-FFF2-40B4-BE49-F238E27FC236}">
                <a16:creationId xmlns:a16="http://schemas.microsoft.com/office/drawing/2014/main" id="{0BB712DE-6741-745A-3F6B-C1DF76BDB5EC}"/>
              </a:ext>
            </a:extLst>
          </p:cNvPr>
          <p:cNvSpPr txBox="1">
            <a:spLocks/>
          </p:cNvSpPr>
          <p:nvPr/>
        </p:nvSpPr>
        <p:spPr bwMode="auto">
          <a:xfrm>
            <a:off x="250825" y="1268413"/>
            <a:ext cx="7970838"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rgbClr val="FF6600"/>
              </a:buClr>
              <a:buFont typeface="Wingdings 3" panose="05040102010807070707" pitchFamily="18" charset="2"/>
              <a:buNone/>
            </a:pPr>
            <a:r>
              <a:rPr lang="en-CA" altLang="en-US" sz="3200">
                <a:latin typeface="Calibri" panose="020F0502020204030204" pitchFamily="34" charset="0"/>
              </a:rPr>
              <a:t>According to Ted Codd, the data stored in the database should be represented as relations</a:t>
            </a:r>
            <a:endParaRPr lang="en-US" altLang="en-US" sz="3200">
              <a:solidFill>
                <a:srgbClr val="000000"/>
              </a:solidFill>
              <a:latin typeface="Calibri" panose="020F0502020204030204" pitchFamily="34" charset="0"/>
            </a:endParaRPr>
          </a:p>
          <a:p>
            <a:pPr eaLnBrk="1" hangingPunct="1">
              <a:spcBef>
                <a:spcPct val="20000"/>
              </a:spcBef>
              <a:buClr>
                <a:srgbClr val="FF6600"/>
              </a:buClr>
              <a:buFont typeface="Wingdings 3" panose="05040102010807070707" pitchFamily="18" charset="2"/>
              <a:buNone/>
            </a:pPr>
            <a:r>
              <a:rPr lang="en-US" altLang="en-US" sz="3200">
                <a:solidFill>
                  <a:srgbClr val="000000"/>
                </a:solidFill>
                <a:latin typeface="Calibri" panose="020F0502020204030204" pitchFamily="34" charset="0"/>
              </a:rPr>
              <a:t> </a:t>
            </a:r>
          </a:p>
          <a:p>
            <a:pPr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p:txBody>
      </p:sp>
      <p:graphicFrame>
        <p:nvGraphicFramePr>
          <p:cNvPr id="26" name="Table 25">
            <a:extLst>
              <a:ext uri="{FF2B5EF4-FFF2-40B4-BE49-F238E27FC236}">
                <a16:creationId xmlns:a16="http://schemas.microsoft.com/office/drawing/2014/main" id="{823DD8D2-F74C-D031-7A05-578B33E442A6}"/>
              </a:ext>
            </a:extLst>
          </p:cNvPr>
          <p:cNvGraphicFramePr>
            <a:graphicFrameLocks noGrp="1"/>
          </p:cNvGraphicFramePr>
          <p:nvPr/>
        </p:nvGraphicFramePr>
        <p:xfrm>
          <a:off x="228600" y="2492375"/>
          <a:ext cx="3408363" cy="2295524"/>
        </p:xfrm>
        <a:graphic>
          <a:graphicData uri="http://schemas.openxmlformats.org/drawingml/2006/table">
            <a:tbl>
              <a:tblPr firstRow="1" bandRow="1">
                <a:tableStyleId>{3B4B98B0-60AC-42C2-AFA5-B58CD77FA1E5}</a:tableStyleId>
              </a:tblPr>
              <a:tblGrid>
                <a:gridCol w="1692181">
                  <a:extLst>
                    <a:ext uri="{9D8B030D-6E8A-4147-A177-3AD203B41FA5}">
                      <a16:colId xmlns:a16="http://schemas.microsoft.com/office/drawing/2014/main" val="20000"/>
                    </a:ext>
                  </a:extLst>
                </a:gridCol>
                <a:gridCol w="1716182">
                  <a:extLst>
                    <a:ext uri="{9D8B030D-6E8A-4147-A177-3AD203B41FA5}">
                      <a16:colId xmlns:a16="http://schemas.microsoft.com/office/drawing/2014/main" val="20001"/>
                    </a:ext>
                  </a:extLst>
                </a:gridCol>
              </a:tblGrid>
              <a:tr h="573881">
                <a:tc>
                  <a:txBody>
                    <a:bodyPr/>
                    <a:lstStyle/>
                    <a:p>
                      <a:pPr algn="ctr"/>
                      <a:r>
                        <a:rPr lang="en-CA" sz="1800" dirty="0"/>
                        <a:t>STUDENTID</a:t>
                      </a:r>
                    </a:p>
                  </a:txBody>
                  <a:tcPr marT="45731" marB="45731"/>
                </a:tc>
                <a:tc>
                  <a:txBody>
                    <a:bodyPr/>
                    <a:lstStyle/>
                    <a:p>
                      <a:pPr algn="ctr"/>
                      <a:r>
                        <a:rPr lang="en-CA" sz="1800" dirty="0"/>
                        <a:t>NAME</a:t>
                      </a:r>
                    </a:p>
                  </a:txBody>
                  <a:tcPr marT="45731" marB="45731"/>
                </a:tc>
                <a:extLst>
                  <a:ext uri="{0D108BD9-81ED-4DB2-BD59-A6C34878D82A}">
                    <a16:rowId xmlns:a16="http://schemas.microsoft.com/office/drawing/2014/main" val="10000"/>
                  </a:ext>
                </a:extLst>
              </a:tr>
              <a:tr h="573881">
                <a:tc>
                  <a:txBody>
                    <a:bodyPr/>
                    <a:lstStyle/>
                    <a:p>
                      <a:pPr algn="ctr"/>
                      <a:r>
                        <a:rPr lang="en-CA" sz="1800" dirty="0"/>
                        <a:t>1</a:t>
                      </a:r>
                    </a:p>
                  </a:txBody>
                  <a:tcPr marT="45731" marB="45731"/>
                </a:tc>
                <a:tc>
                  <a:txBody>
                    <a:bodyPr/>
                    <a:lstStyle/>
                    <a:p>
                      <a:r>
                        <a:rPr lang="en-CA" sz="1800" dirty="0"/>
                        <a:t>Talha Amjad</a:t>
                      </a:r>
                    </a:p>
                  </a:txBody>
                  <a:tcPr marT="45731" marB="45731"/>
                </a:tc>
                <a:extLst>
                  <a:ext uri="{0D108BD9-81ED-4DB2-BD59-A6C34878D82A}">
                    <a16:rowId xmlns:a16="http://schemas.microsoft.com/office/drawing/2014/main" val="10001"/>
                  </a:ext>
                </a:extLst>
              </a:tr>
              <a:tr h="573881">
                <a:tc>
                  <a:txBody>
                    <a:bodyPr/>
                    <a:lstStyle/>
                    <a:p>
                      <a:pPr algn="ctr"/>
                      <a:r>
                        <a:rPr lang="en-CA" sz="1800" dirty="0"/>
                        <a:t>2</a:t>
                      </a:r>
                    </a:p>
                  </a:txBody>
                  <a:tcPr marT="45731" marB="45731"/>
                </a:tc>
                <a:tc>
                  <a:txBody>
                    <a:bodyPr/>
                    <a:lstStyle/>
                    <a:p>
                      <a:r>
                        <a:rPr lang="en-CA" sz="1800" dirty="0"/>
                        <a:t>Sara Saleem</a:t>
                      </a:r>
                    </a:p>
                  </a:txBody>
                  <a:tcPr marT="45731" marB="45731"/>
                </a:tc>
                <a:extLst>
                  <a:ext uri="{0D108BD9-81ED-4DB2-BD59-A6C34878D82A}">
                    <a16:rowId xmlns:a16="http://schemas.microsoft.com/office/drawing/2014/main" val="10002"/>
                  </a:ext>
                </a:extLst>
              </a:tr>
              <a:tr h="573881">
                <a:tc>
                  <a:txBody>
                    <a:bodyPr/>
                    <a:lstStyle/>
                    <a:p>
                      <a:pPr algn="ctr"/>
                      <a:r>
                        <a:rPr lang="en-CA" sz="1800" dirty="0"/>
                        <a:t>3</a:t>
                      </a:r>
                    </a:p>
                  </a:txBody>
                  <a:tcPr marT="45731" marB="45731"/>
                </a:tc>
                <a:tc>
                  <a:txBody>
                    <a:bodyPr/>
                    <a:lstStyle/>
                    <a:p>
                      <a:r>
                        <a:rPr lang="en-CA" sz="1800" dirty="0"/>
                        <a:t>Aqib Ali</a:t>
                      </a:r>
                    </a:p>
                  </a:txBody>
                  <a:tcPr marT="45731" marB="45731"/>
                </a:tc>
                <a:extLst>
                  <a:ext uri="{0D108BD9-81ED-4DB2-BD59-A6C34878D82A}">
                    <a16:rowId xmlns:a16="http://schemas.microsoft.com/office/drawing/2014/main" val="10003"/>
                  </a:ext>
                </a:extLst>
              </a:tr>
            </a:tbl>
          </a:graphicData>
        </a:graphic>
      </p:graphicFrame>
      <p:sp>
        <p:nvSpPr>
          <p:cNvPr id="4" name="TextBox 3">
            <a:extLst>
              <a:ext uri="{FF2B5EF4-FFF2-40B4-BE49-F238E27FC236}">
                <a16:creationId xmlns:a16="http://schemas.microsoft.com/office/drawing/2014/main" id="{9D6DC8D9-FC0C-544B-C9AE-E2829FDB75C8}"/>
              </a:ext>
            </a:extLst>
          </p:cNvPr>
          <p:cNvSpPr txBox="1">
            <a:spLocks noChangeArrowheads="1"/>
          </p:cNvSpPr>
          <p:nvPr/>
        </p:nvSpPr>
        <p:spPr bwMode="auto">
          <a:xfrm>
            <a:off x="812800" y="4799013"/>
            <a:ext cx="22399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CA" altLang="en-US"/>
              <a:t>Student relation</a:t>
            </a:r>
          </a:p>
        </p:txBody>
      </p:sp>
      <p:sp>
        <p:nvSpPr>
          <p:cNvPr id="28" name="Content Placeholder 2">
            <a:extLst>
              <a:ext uri="{FF2B5EF4-FFF2-40B4-BE49-F238E27FC236}">
                <a16:creationId xmlns:a16="http://schemas.microsoft.com/office/drawing/2014/main" id="{BC971543-531F-D9B0-0750-BA185A452745}"/>
              </a:ext>
            </a:extLst>
          </p:cNvPr>
          <p:cNvSpPr txBox="1">
            <a:spLocks/>
          </p:cNvSpPr>
          <p:nvPr/>
        </p:nvSpPr>
        <p:spPr bwMode="auto">
          <a:xfrm>
            <a:off x="228600" y="5300663"/>
            <a:ext cx="7993063"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rgbClr val="FF6600"/>
              </a:buClr>
              <a:buFont typeface="Wingdings 3" panose="05040102010807070707" pitchFamily="18" charset="2"/>
              <a:buNone/>
            </a:pPr>
            <a:r>
              <a:rPr lang="en-CA" altLang="en-US" sz="2800">
                <a:latin typeface="Calibri" panose="020F0502020204030204" pitchFamily="34" charset="0"/>
              </a:rPr>
              <a:t>Informally, one can think of a relation as a </a:t>
            </a:r>
            <a:r>
              <a:rPr lang="en-CA" altLang="en-US" sz="2800" b="1">
                <a:latin typeface="Calibri" panose="020F0502020204030204" pitchFamily="34" charset="0"/>
              </a:rPr>
              <a:t>table of values</a:t>
            </a:r>
            <a:endParaRPr lang="en-US" altLang="en-US" sz="2800" b="1">
              <a:solidFill>
                <a:srgbClr val="000000"/>
              </a:solidFill>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r>
              <a:rPr lang="en-US" altLang="en-US" sz="2800">
                <a:solidFill>
                  <a:srgbClr val="000000"/>
                </a:solidFill>
                <a:latin typeface="Calibri" panose="020F0502020204030204" pitchFamily="34" charset="0"/>
              </a:rPr>
              <a:t> </a:t>
            </a:r>
          </a:p>
          <a:p>
            <a:pPr algn="just" eaLnBrk="1" hangingPunct="1">
              <a:spcBef>
                <a:spcPct val="20000"/>
              </a:spcBef>
              <a:buClr>
                <a:srgbClr val="FF6600"/>
              </a:buClr>
              <a:buFont typeface="Wingdings 3" panose="05040102010807070707" pitchFamily="18" charset="2"/>
              <a:buNone/>
            </a:pPr>
            <a:endParaRPr lang="en-CA" altLang="en-US" sz="1600">
              <a:latin typeface="Calibri" panose="020F0502020204030204" pitchFamily="34" charset="0"/>
            </a:endParaRPr>
          </a:p>
        </p:txBody>
      </p:sp>
      <p:graphicFrame>
        <p:nvGraphicFramePr>
          <p:cNvPr id="9" name="Table 8">
            <a:extLst>
              <a:ext uri="{FF2B5EF4-FFF2-40B4-BE49-F238E27FC236}">
                <a16:creationId xmlns:a16="http://schemas.microsoft.com/office/drawing/2014/main" id="{BF3B637F-F2E3-AB72-4DEA-10AC79E3B8DE}"/>
              </a:ext>
            </a:extLst>
          </p:cNvPr>
          <p:cNvGraphicFramePr>
            <a:graphicFrameLocks noGrp="1"/>
          </p:cNvGraphicFramePr>
          <p:nvPr/>
        </p:nvGraphicFramePr>
        <p:xfrm>
          <a:off x="4237038" y="3000375"/>
          <a:ext cx="3984625" cy="1787526"/>
        </p:xfrm>
        <a:graphic>
          <a:graphicData uri="http://schemas.openxmlformats.org/drawingml/2006/table">
            <a:tbl>
              <a:tblPr firstRow="1" bandRow="1">
                <a:tableStyleId>{0E3FDE45-AF77-4B5C-9715-49D594BDF05E}</a:tableStyleId>
              </a:tblPr>
              <a:tblGrid>
                <a:gridCol w="1320207">
                  <a:extLst>
                    <a:ext uri="{9D8B030D-6E8A-4147-A177-3AD203B41FA5}">
                      <a16:colId xmlns:a16="http://schemas.microsoft.com/office/drawing/2014/main" val="20000"/>
                    </a:ext>
                  </a:extLst>
                </a:gridCol>
                <a:gridCol w="2664418">
                  <a:extLst>
                    <a:ext uri="{9D8B030D-6E8A-4147-A177-3AD203B41FA5}">
                      <a16:colId xmlns:a16="http://schemas.microsoft.com/office/drawing/2014/main" val="20001"/>
                    </a:ext>
                  </a:extLst>
                </a:gridCol>
              </a:tblGrid>
              <a:tr h="640078">
                <a:tc>
                  <a:txBody>
                    <a:bodyPr/>
                    <a:lstStyle/>
                    <a:p>
                      <a:pPr algn="ctr"/>
                      <a:r>
                        <a:rPr lang="en-CA" sz="1800" dirty="0"/>
                        <a:t>SUBJECT</a:t>
                      </a:r>
                    </a:p>
                    <a:p>
                      <a:pPr algn="ctr"/>
                      <a:r>
                        <a:rPr lang="en-CA" sz="1800" dirty="0"/>
                        <a:t>CODE</a:t>
                      </a:r>
                    </a:p>
                  </a:txBody>
                  <a:tcPr marL="91444" marR="91444" marT="45719" marB="45719"/>
                </a:tc>
                <a:tc>
                  <a:txBody>
                    <a:bodyPr/>
                    <a:lstStyle/>
                    <a:p>
                      <a:pPr algn="ctr"/>
                      <a:r>
                        <a:rPr lang="en-CA" sz="1800" dirty="0"/>
                        <a:t>NAME</a:t>
                      </a:r>
                    </a:p>
                  </a:txBody>
                  <a:tcPr marL="91444" marR="91444" marT="45719" marB="45719"/>
                </a:tc>
                <a:extLst>
                  <a:ext uri="{0D108BD9-81ED-4DB2-BD59-A6C34878D82A}">
                    <a16:rowId xmlns:a16="http://schemas.microsoft.com/office/drawing/2014/main" val="10000"/>
                  </a:ext>
                </a:extLst>
              </a:tr>
              <a:tr h="573724">
                <a:tc>
                  <a:txBody>
                    <a:bodyPr/>
                    <a:lstStyle/>
                    <a:p>
                      <a:pPr algn="ctr"/>
                      <a:r>
                        <a:rPr lang="en-CA" sz="1800" dirty="0"/>
                        <a:t>BSCS 201</a:t>
                      </a:r>
                    </a:p>
                  </a:txBody>
                  <a:tcPr marL="91444" marR="91444" marT="45719" marB="45719"/>
                </a:tc>
                <a:tc>
                  <a:txBody>
                    <a:bodyPr/>
                    <a:lstStyle/>
                    <a:p>
                      <a:r>
                        <a:rPr lang="en-CA" sz="1800" dirty="0"/>
                        <a:t>Database</a:t>
                      </a:r>
                      <a:r>
                        <a:rPr lang="en-CA" sz="1800" baseline="0" dirty="0"/>
                        <a:t> Concept</a:t>
                      </a:r>
                      <a:endParaRPr lang="en-CA" sz="1800" dirty="0"/>
                    </a:p>
                  </a:txBody>
                  <a:tcPr marL="91444" marR="91444" marT="45719" marB="45719"/>
                </a:tc>
                <a:extLst>
                  <a:ext uri="{0D108BD9-81ED-4DB2-BD59-A6C34878D82A}">
                    <a16:rowId xmlns:a16="http://schemas.microsoft.com/office/drawing/2014/main" val="10001"/>
                  </a:ext>
                </a:extLst>
              </a:tr>
              <a:tr h="573724">
                <a:tc>
                  <a:txBody>
                    <a:bodyPr/>
                    <a:lstStyle/>
                    <a:p>
                      <a:pPr algn="ctr"/>
                      <a:r>
                        <a:rPr lang="en-CA" sz="1800" dirty="0"/>
                        <a:t>BSCS 301</a:t>
                      </a:r>
                    </a:p>
                  </a:txBody>
                  <a:tcPr marL="91444" marR="91444" marT="45719" marB="45719"/>
                </a:tc>
                <a:tc>
                  <a:txBody>
                    <a:bodyPr/>
                    <a:lstStyle/>
                    <a:p>
                      <a:r>
                        <a:rPr lang="en-CA" sz="1800" dirty="0"/>
                        <a:t>Business Mathematics</a:t>
                      </a:r>
                    </a:p>
                  </a:txBody>
                  <a:tcPr marL="91444" marR="91444" marT="45719" marB="45719"/>
                </a:tc>
                <a:extLst>
                  <a:ext uri="{0D108BD9-81ED-4DB2-BD59-A6C34878D82A}">
                    <a16:rowId xmlns:a16="http://schemas.microsoft.com/office/drawing/2014/main" val="10002"/>
                  </a:ext>
                </a:extLst>
              </a:tr>
            </a:tbl>
          </a:graphicData>
        </a:graphic>
      </p:graphicFrame>
      <p:sp>
        <p:nvSpPr>
          <p:cNvPr id="10" name="TextBox 9">
            <a:extLst>
              <a:ext uri="{FF2B5EF4-FFF2-40B4-BE49-F238E27FC236}">
                <a16:creationId xmlns:a16="http://schemas.microsoft.com/office/drawing/2014/main" id="{E395CE78-CC05-D60D-1537-7F3D9D2BD52B}"/>
              </a:ext>
            </a:extLst>
          </p:cNvPr>
          <p:cNvSpPr txBox="1">
            <a:spLocks noChangeArrowheads="1"/>
          </p:cNvSpPr>
          <p:nvPr/>
        </p:nvSpPr>
        <p:spPr bwMode="auto">
          <a:xfrm>
            <a:off x="5108575" y="4799013"/>
            <a:ext cx="22415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CA" altLang="en-US"/>
              <a:t>Subject relation</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5">
                                            <p:txEl>
                                              <p:pRg st="0" end="0"/>
                                            </p:txEl>
                                          </p:spTgt>
                                        </p:tgtEl>
                                        <p:attrNameLst>
                                          <p:attrName>style.visibility</p:attrName>
                                        </p:attrNameLst>
                                      </p:cBhvr>
                                      <p:to>
                                        <p:strVal val="visible"/>
                                      </p:to>
                                    </p:set>
                                    <p:animEffect transition="in" filter="wipe(left)">
                                      <p:cBhvr>
                                        <p:cTn id="7" dur="500"/>
                                        <p:tgtEl>
                                          <p:spTgt spid="2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wipe(up)">
                                      <p:cBhvr>
                                        <p:cTn id="12" dur="500"/>
                                        <p:tgtEl>
                                          <p:spTgt spid="26"/>
                                        </p:tgtEl>
                                      </p:cBhvr>
                                    </p:animEffect>
                                  </p:childTnLst>
                                </p:cTn>
                              </p:par>
                            </p:childTnLst>
                          </p:cTn>
                        </p:par>
                        <p:par>
                          <p:cTn id="13" fill="hold" nodeType="afterGroup">
                            <p:stCondLst>
                              <p:cond delay="500"/>
                            </p:stCondLst>
                            <p:childTnLst>
                              <p:par>
                                <p:cTn id="14" presetID="22" presetClass="entr" presetSubtype="1"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wipe(up)">
                                      <p:cBhvr>
                                        <p:cTn id="16" dur="500"/>
                                        <p:tgtEl>
                                          <p:spTgt spid="4"/>
                                        </p:tgtEl>
                                      </p:cBhvr>
                                    </p:animEffect>
                                  </p:childTnLst>
                                </p:cTn>
                              </p:par>
                            </p:childTnLst>
                          </p:cTn>
                        </p:par>
                        <p:par>
                          <p:cTn id="17" fill="hold" nodeType="afterGroup">
                            <p:stCondLst>
                              <p:cond delay="1000"/>
                            </p:stCondLst>
                            <p:childTnLst>
                              <p:par>
                                <p:cTn id="18" presetID="22" presetClass="entr" presetSubtype="1" fill="hold" nodeType="after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wipe(up)">
                                      <p:cBhvr>
                                        <p:cTn id="20" dur="500"/>
                                        <p:tgtEl>
                                          <p:spTgt spid="9"/>
                                        </p:tgtEl>
                                      </p:cBhvr>
                                    </p:animEffect>
                                  </p:childTnLst>
                                </p:cTn>
                              </p:par>
                            </p:childTnLst>
                          </p:cTn>
                        </p:par>
                        <p:par>
                          <p:cTn id="21" fill="hold" nodeType="afterGroup">
                            <p:stCondLst>
                              <p:cond delay="1500"/>
                            </p:stCondLst>
                            <p:childTnLst>
                              <p:par>
                                <p:cTn id="22" presetID="22" presetClass="entr" presetSubtype="1"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wipe(up)">
                                      <p:cBhvr>
                                        <p:cTn id="24" dur="500"/>
                                        <p:tgtEl>
                                          <p:spTgt spid="10"/>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28">
                                            <p:txEl>
                                              <p:pRg st="0" end="0"/>
                                            </p:txEl>
                                          </p:spTgt>
                                        </p:tgtEl>
                                        <p:attrNameLst>
                                          <p:attrName>style.visibility</p:attrName>
                                        </p:attrNameLst>
                                      </p:cBhvr>
                                      <p:to>
                                        <p:strVal val="visible"/>
                                      </p:to>
                                    </p:set>
                                    <p:animEffect transition="in" filter="wipe(left)">
                                      <p:cBhvr>
                                        <p:cTn id="29" dur="500"/>
                                        <p:tgtEl>
                                          <p:spTgt spid="2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build="p"/>
      <p:bldP spid="4" grpId="0"/>
      <p:bldP spid="28" grpId="0" build="p"/>
      <p:bldP spid="10" grpId="0"/>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780F7B-CE57-E4B4-C43B-52E94EB62F6A}"/>
              </a:ext>
            </a:extLst>
          </p:cNvPr>
          <p:cNvSpPr>
            <a:spLocks noGrp="1"/>
          </p:cNvSpPr>
          <p:nvPr>
            <p:ph type="title"/>
          </p:nvPr>
        </p:nvSpPr>
        <p:spPr>
          <a:xfrm>
            <a:off x="457200" y="0"/>
            <a:ext cx="7620000" cy="1143000"/>
          </a:xfrm>
        </p:spPr>
        <p:txBody>
          <a:bodyPr/>
          <a:lstStyle/>
          <a:p>
            <a:pPr algn="ctr">
              <a:defRPr/>
            </a:pPr>
            <a:r>
              <a:rPr lang="en-US" dirty="0"/>
              <a:t>Characteristics of Relations</a:t>
            </a:r>
            <a:endParaRPr lang="en-CA" dirty="0"/>
          </a:p>
        </p:txBody>
      </p:sp>
      <p:sp>
        <p:nvSpPr>
          <p:cNvPr id="10" name="Content Placeholder 2">
            <a:extLst>
              <a:ext uri="{FF2B5EF4-FFF2-40B4-BE49-F238E27FC236}">
                <a16:creationId xmlns:a16="http://schemas.microsoft.com/office/drawing/2014/main" id="{A764BCE0-91E4-1B64-6AFD-70C23AA5555F}"/>
              </a:ext>
            </a:extLst>
          </p:cNvPr>
          <p:cNvSpPr txBox="1">
            <a:spLocks/>
          </p:cNvSpPr>
          <p:nvPr/>
        </p:nvSpPr>
        <p:spPr bwMode="auto">
          <a:xfrm>
            <a:off x="250825" y="1268413"/>
            <a:ext cx="7899400" cy="144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rgbClr val="FF6600"/>
              </a:buClr>
              <a:buFont typeface="Wingdings 3" panose="05040102010807070707" pitchFamily="18" charset="2"/>
              <a:buNone/>
            </a:pPr>
            <a:r>
              <a:rPr lang="en-CA" altLang="en-US" sz="3200">
                <a:latin typeface="Calibri" panose="020F0502020204030204" pitchFamily="34" charset="0"/>
              </a:rPr>
              <a:t>Although a relation may looks like a table, it does have some unique characteristics that makes it different from a regular table</a:t>
            </a:r>
            <a:endParaRPr lang="en-US" altLang="en-US" sz="3200">
              <a:solidFill>
                <a:srgbClr val="000000"/>
              </a:solidFill>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r>
              <a:rPr lang="en-US" altLang="en-US" sz="3200">
                <a:solidFill>
                  <a:srgbClr val="000000"/>
                </a:solidFill>
                <a:latin typeface="Calibri" panose="020F0502020204030204" pitchFamily="34" charset="0"/>
              </a:rPr>
              <a:t> </a:t>
            </a: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p:txBody>
      </p:sp>
      <p:sp>
        <p:nvSpPr>
          <p:cNvPr id="12" name="Freeform 11">
            <a:hlinkClick r:id="rId2" action="ppaction://hlinksldjump"/>
            <a:extLst>
              <a:ext uri="{FF2B5EF4-FFF2-40B4-BE49-F238E27FC236}">
                <a16:creationId xmlns:a16="http://schemas.microsoft.com/office/drawing/2014/main" id="{188F6F2C-E552-D5BF-006E-8260CE7E1E70}"/>
              </a:ext>
            </a:extLst>
          </p:cNvPr>
          <p:cNvSpPr/>
          <p:nvPr/>
        </p:nvSpPr>
        <p:spPr>
          <a:xfrm>
            <a:off x="692150" y="3068638"/>
            <a:ext cx="2236788" cy="1341437"/>
          </a:xfrm>
          <a:custGeom>
            <a:avLst/>
            <a:gdLst>
              <a:gd name="connsiteX0" fmla="*/ 0 w 2236185"/>
              <a:gd name="connsiteY0" fmla="*/ 0 h 1341711"/>
              <a:gd name="connsiteX1" fmla="*/ 2236185 w 2236185"/>
              <a:gd name="connsiteY1" fmla="*/ 0 h 1341711"/>
              <a:gd name="connsiteX2" fmla="*/ 2236185 w 2236185"/>
              <a:gd name="connsiteY2" fmla="*/ 1341711 h 1341711"/>
              <a:gd name="connsiteX3" fmla="*/ 0 w 2236185"/>
              <a:gd name="connsiteY3" fmla="*/ 1341711 h 1341711"/>
              <a:gd name="connsiteX4" fmla="*/ 0 w 2236185"/>
              <a:gd name="connsiteY4" fmla="*/ 0 h 1341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6185" h="1341711">
                <a:moveTo>
                  <a:pt x="0" y="0"/>
                </a:moveTo>
                <a:lnTo>
                  <a:pt x="2236185" y="0"/>
                </a:lnTo>
                <a:lnTo>
                  <a:pt x="2236185" y="1341711"/>
                </a:lnTo>
                <a:lnTo>
                  <a:pt x="0" y="1341711"/>
                </a:lnTo>
                <a:lnTo>
                  <a:pt x="0" y="0"/>
                </a:lnTo>
                <a:close/>
              </a:path>
            </a:pathLst>
          </a:custGeom>
          <a:ln/>
        </p:spPr>
        <p:style>
          <a:lnRef idx="3">
            <a:schemeClr val="lt1"/>
          </a:lnRef>
          <a:fillRef idx="1">
            <a:schemeClr val="accent1"/>
          </a:fillRef>
          <a:effectRef idx="1">
            <a:schemeClr val="accent1"/>
          </a:effectRef>
          <a:fontRef idx="minor">
            <a:schemeClr val="lt1"/>
          </a:fontRef>
        </p:style>
        <p:txBody>
          <a:bodyPr lIns="83820" tIns="83820" rIns="83820" bIns="83820" spcCol="1270" anchor="ctr"/>
          <a:lstStyle/>
          <a:p>
            <a:pPr algn="ctr" defTabSz="977900">
              <a:lnSpc>
                <a:spcPct val="90000"/>
              </a:lnSpc>
              <a:spcAft>
                <a:spcPct val="35000"/>
              </a:spcAft>
              <a:defRPr/>
            </a:pPr>
            <a:r>
              <a:rPr lang="en-CA" sz="2200" dirty="0"/>
              <a:t>Unordered Rows</a:t>
            </a:r>
          </a:p>
        </p:txBody>
      </p:sp>
      <p:sp>
        <p:nvSpPr>
          <p:cNvPr id="14" name="Freeform 13">
            <a:hlinkClick r:id="rId3" action="ppaction://hlinksldjump"/>
            <a:extLst>
              <a:ext uri="{FF2B5EF4-FFF2-40B4-BE49-F238E27FC236}">
                <a16:creationId xmlns:a16="http://schemas.microsoft.com/office/drawing/2014/main" id="{3CBAAB04-1E7B-0EB8-C6B1-385CDDF0B5E7}"/>
              </a:ext>
            </a:extLst>
          </p:cNvPr>
          <p:cNvSpPr/>
          <p:nvPr/>
        </p:nvSpPr>
        <p:spPr>
          <a:xfrm>
            <a:off x="3152775" y="3068638"/>
            <a:ext cx="2236788" cy="1341437"/>
          </a:xfrm>
          <a:custGeom>
            <a:avLst/>
            <a:gdLst>
              <a:gd name="connsiteX0" fmla="*/ 0 w 2236185"/>
              <a:gd name="connsiteY0" fmla="*/ 0 h 1341711"/>
              <a:gd name="connsiteX1" fmla="*/ 2236185 w 2236185"/>
              <a:gd name="connsiteY1" fmla="*/ 0 h 1341711"/>
              <a:gd name="connsiteX2" fmla="*/ 2236185 w 2236185"/>
              <a:gd name="connsiteY2" fmla="*/ 1341711 h 1341711"/>
              <a:gd name="connsiteX3" fmla="*/ 0 w 2236185"/>
              <a:gd name="connsiteY3" fmla="*/ 1341711 h 1341711"/>
              <a:gd name="connsiteX4" fmla="*/ 0 w 2236185"/>
              <a:gd name="connsiteY4" fmla="*/ 0 h 1341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6185" h="1341711">
                <a:moveTo>
                  <a:pt x="0" y="0"/>
                </a:moveTo>
                <a:lnTo>
                  <a:pt x="2236185" y="0"/>
                </a:lnTo>
                <a:lnTo>
                  <a:pt x="2236185" y="1341711"/>
                </a:lnTo>
                <a:lnTo>
                  <a:pt x="0" y="1341711"/>
                </a:lnTo>
                <a:lnTo>
                  <a:pt x="0" y="0"/>
                </a:lnTo>
                <a:close/>
              </a:path>
            </a:pathLst>
          </a:custGeom>
          <a:ln/>
        </p:spPr>
        <p:style>
          <a:lnRef idx="3">
            <a:schemeClr val="lt1"/>
          </a:lnRef>
          <a:fillRef idx="1">
            <a:schemeClr val="accent2"/>
          </a:fillRef>
          <a:effectRef idx="1">
            <a:schemeClr val="accent2"/>
          </a:effectRef>
          <a:fontRef idx="minor">
            <a:schemeClr val="lt1"/>
          </a:fontRef>
        </p:style>
        <p:txBody>
          <a:bodyPr lIns="83820" tIns="83820" rIns="83820" bIns="83820" spcCol="1270" anchor="ctr"/>
          <a:lstStyle/>
          <a:p>
            <a:pPr algn="ctr" defTabSz="977900">
              <a:lnSpc>
                <a:spcPct val="90000"/>
              </a:lnSpc>
              <a:spcAft>
                <a:spcPct val="35000"/>
              </a:spcAft>
              <a:defRPr/>
            </a:pPr>
            <a:r>
              <a:rPr lang="en-CA" sz="2200" dirty="0"/>
              <a:t>Unordered Columns</a:t>
            </a:r>
          </a:p>
        </p:txBody>
      </p:sp>
      <p:sp>
        <p:nvSpPr>
          <p:cNvPr id="19" name="Freeform 18">
            <a:hlinkClick r:id="rId4" action="ppaction://hlinksldjump"/>
            <a:extLst>
              <a:ext uri="{FF2B5EF4-FFF2-40B4-BE49-F238E27FC236}">
                <a16:creationId xmlns:a16="http://schemas.microsoft.com/office/drawing/2014/main" id="{20728979-BD6D-D018-4683-B867F45CBA26}"/>
              </a:ext>
            </a:extLst>
          </p:cNvPr>
          <p:cNvSpPr/>
          <p:nvPr/>
        </p:nvSpPr>
        <p:spPr>
          <a:xfrm>
            <a:off x="5611813" y="3068638"/>
            <a:ext cx="2236787" cy="1341437"/>
          </a:xfrm>
          <a:custGeom>
            <a:avLst/>
            <a:gdLst>
              <a:gd name="connsiteX0" fmla="*/ 0 w 2236185"/>
              <a:gd name="connsiteY0" fmla="*/ 0 h 1341711"/>
              <a:gd name="connsiteX1" fmla="*/ 2236185 w 2236185"/>
              <a:gd name="connsiteY1" fmla="*/ 0 h 1341711"/>
              <a:gd name="connsiteX2" fmla="*/ 2236185 w 2236185"/>
              <a:gd name="connsiteY2" fmla="*/ 1341711 h 1341711"/>
              <a:gd name="connsiteX3" fmla="*/ 0 w 2236185"/>
              <a:gd name="connsiteY3" fmla="*/ 1341711 h 1341711"/>
              <a:gd name="connsiteX4" fmla="*/ 0 w 2236185"/>
              <a:gd name="connsiteY4" fmla="*/ 0 h 1341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6185" h="1341711">
                <a:moveTo>
                  <a:pt x="0" y="0"/>
                </a:moveTo>
                <a:lnTo>
                  <a:pt x="2236185" y="0"/>
                </a:lnTo>
                <a:lnTo>
                  <a:pt x="2236185" y="1341711"/>
                </a:lnTo>
                <a:lnTo>
                  <a:pt x="0" y="1341711"/>
                </a:lnTo>
                <a:lnTo>
                  <a:pt x="0" y="0"/>
                </a:lnTo>
                <a:close/>
              </a:path>
            </a:pathLst>
          </a:custGeom>
          <a:ln/>
        </p:spPr>
        <p:style>
          <a:lnRef idx="3">
            <a:schemeClr val="lt1"/>
          </a:lnRef>
          <a:fillRef idx="1">
            <a:schemeClr val="accent3"/>
          </a:fillRef>
          <a:effectRef idx="1">
            <a:schemeClr val="accent3"/>
          </a:effectRef>
          <a:fontRef idx="minor">
            <a:schemeClr val="lt1"/>
          </a:fontRef>
        </p:style>
        <p:txBody>
          <a:bodyPr lIns="83820" tIns="83820" rIns="83820" bIns="83820" spcCol="1270" anchor="ctr"/>
          <a:lstStyle/>
          <a:p>
            <a:pPr algn="ctr" defTabSz="977900">
              <a:lnSpc>
                <a:spcPct val="90000"/>
              </a:lnSpc>
              <a:spcAft>
                <a:spcPct val="35000"/>
              </a:spcAft>
              <a:defRPr/>
            </a:pPr>
            <a:r>
              <a:rPr lang="en-CA" sz="2200" dirty="0"/>
              <a:t>No Duplicated Rows</a:t>
            </a:r>
          </a:p>
        </p:txBody>
      </p:sp>
      <p:sp>
        <p:nvSpPr>
          <p:cNvPr id="20" name="Freeform 19">
            <a:hlinkClick r:id="rId5" action="ppaction://hlinksldjump"/>
            <a:extLst>
              <a:ext uri="{FF2B5EF4-FFF2-40B4-BE49-F238E27FC236}">
                <a16:creationId xmlns:a16="http://schemas.microsoft.com/office/drawing/2014/main" id="{285A71D1-1105-A522-7A4F-3A1BED350994}"/>
              </a:ext>
            </a:extLst>
          </p:cNvPr>
          <p:cNvSpPr/>
          <p:nvPr/>
        </p:nvSpPr>
        <p:spPr>
          <a:xfrm>
            <a:off x="1922463" y="4602163"/>
            <a:ext cx="2236787" cy="1341437"/>
          </a:xfrm>
          <a:custGeom>
            <a:avLst/>
            <a:gdLst>
              <a:gd name="connsiteX0" fmla="*/ 0 w 2236185"/>
              <a:gd name="connsiteY0" fmla="*/ 0 h 1341711"/>
              <a:gd name="connsiteX1" fmla="*/ 2236185 w 2236185"/>
              <a:gd name="connsiteY1" fmla="*/ 0 h 1341711"/>
              <a:gd name="connsiteX2" fmla="*/ 2236185 w 2236185"/>
              <a:gd name="connsiteY2" fmla="*/ 1341711 h 1341711"/>
              <a:gd name="connsiteX3" fmla="*/ 0 w 2236185"/>
              <a:gd name="connsiteY3" fmla="*/ 1341711 h 1341711"/>
              <a:gd name="connsiteX4" fmla="*/ 0 w 2236185"/>
              <a:gd name="connsiteY4" fmla="*/ 0 h 1341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6185" h="1341711">
                <a:moveTo>
                  <a:pt x="0" y="0"/>
                </a:moveTo>
                <a:lnTo>
                  <a:pt x="2236185" y="0"/>
                </a:lnTo>
                <a:lnTo>
                  <a:pt x="2236185" y="1341711"/>
                </a:lnTo>
                <a:lnTo>
                  <a:pt x="0" y="1341711"/>
                </a:lnTo>
                <a:lnTo>
                  <a:pt x="0" y="0"/>
                </a:lnTo>
                <a:close/>
              </a:path>
            </a:pathLst>
          </a:custGeom>
          <a:ln/>
        </p:spPr>
        <p:style>
          <a:lnRef idx="3">
            <a:schemeClr val="lt1"/>
          </a:lnRef>
          <a:fillRef idx="1">
            <a:schemeClr val="accent4"/>
          </a:fillRef>
          <a:effectRef idx="1">
            <a:schemeClr val="accent4"/>
          </a:effectRef>
          <a:fontRef idx="minor">
            <a:schemeClr val="lt1"/>
          </a:fontRef>
        </p:style>
        <p:txBody>
          <a:bodyPr lIns="83820" tIns="83820" rIns="83820" bIns="83820" spcCol="1270" anchor="ctr"/>
          <a:lstStyle/>
          <a:p>
            <a:pPr algn="ctr" defTabSz="977900">
              <a:lnSpc>
                <a:spcPct val="90000"/>
              </a:lnSpc>
              <a:spcAft>
                <a:spcPct val="35000"/>
              </a:spcAft>
              <a:defRPr/>
            </a:pPr>
            <a:r>
              <a:rPr lang="en-CA" sz="2200" dirty="0"/>
              <a:t>Atomic Value</a:t>
            </a:r>
          </a:p>
        </p:txBody>
      </p:sp>
      <p:sp>
        <p:nvSpPr>
          <p:cNvPr id="21" name="Freeform 20">
            <a:hlinkClick r:id="rId6" action="ppaction://hlinksldjump"/>
            <a:extLst>
              <a:ext uri="{FF2B5EF4-FFF2-40B4-BE49-F238E27FC236}">
                <a16:creationId xmlns:a16="http://schemas.microsoft.com/office/drawing/2014/main" id="{744BA722-537B-F6D5-83C3-8006E00E7006}"/>
              </a:ext>
            </a:extLst>
          </p:cNvPr>
          <p:cNvSpPr/>
          <p:nvPr/>
        </p:nvSpPr>
        <p:spPr>
          <a:xfrm>
            <a:off x="4383088" y="4602163"/>
            <a:ext cx="2235200" cy="1341437"/>
          </a:xfrm>
          <a:custGeom>
            <a:avLst/>
            <a:gdLst>
              <a:gd name="connsiteX0" fmla="*/ 0 w 2236185"/>
              <a:gd name="connsiteY0" fmla="*/ 0 h 1341711"/>
              <a:gd name="connsiteX1" fmla="*/ 2236185 w 2236185"/>
              <a:gd name="connsiteY1" fmla="*/ 0 h 1341711"/>
              <a:gd name="connsiteX2" fmla="*/ 2236185 w 2236185"/>
              <a:gd name="connsiteY2" fmla="*/ 1341711 h 1341711"/>
              <a:gd name="connsiteX3" fmla="*/ 0 w 2236185"/>
              <a:gd name="connsiteY3" fmla="*/ 1341711 h 1341711"/>
              <a:gd name="connsiteX4" fmla="*/ 0 w 2236185"/>
              <a:gd name="connsiteY4" fmla="*/ 0 h 1341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6185" h="1341711">
                <a:moveTo>
                  <a:pt x="0" y="0"/>
                </a:moveTo>
                <a:lnTo>
                  <a:pt x="2236185" y="0"/>
                </a:lnTo>
                <a:lnTo>
                  <a:pt x="2236185" y="1341711"/>
                </a:lnTo>
                <a:lnTo>
                  <a:pt x="0" y="1341711"/>
                </a:lnTo>
                <a:lnTo>
                  <a:pt x="0" y="0"/>
                </a:lnTo>
                <a:close/>
              </a:path>
            </a:pathLst>
          </a:custGeom>
          <a:ln/>
        </p:spPr>
        <p:style>
          <a:lnRef idx="3">
            <a:schemeClr val="lt1"/>
          </a:lnRef>
          <a:fillRef idx="1">
            <a:schemeClr val="accent6"/>
          </a:fillRef>
          <a:effectRef idx="1">
            <a:schemeClr val="accent6"/>
          </a:effectRef>
          <a:fontRef idx="minor">
            <a:schemeClr val="lt1"/>
          </a:fontRef>
        </p:style>
        <p:txBody>
          <a:bodyPr lIns="83820" tIns="83820" rIns="83820" bIns="83820" spcCol="1270" anchor="ctr"/>
          <a:lstStyle/>
          <a:p>
            <a:pPr algn="ctr" defTabSz="977900">
              <a:lnSpc>
                <a:spcPct val="90000"/>
              </a:lnSpc>
              <a:spcAft>
                <a:spcPct val="35000"/>
              </a:spcAft>
              <a:defRPr/>
            </a:pPr>
            <a:r>
              <a:rPr lang="en-CA" sz="2200" dirty="0"/>
              <a:t>NULL Value</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wipe(left)">
                                      <p:cBhvr>
                                        <p:cTn id="7" dur="500"/>
                                        <p:tgtEl>
                                          <p:spTgt spid="10">
                                            <p:txEl>
                                              <p:pRg st="0" end="0"/>
                                            </p:txEl>
                                          </p:spTgt>
                                        </p:tgtEl>
                                      </p:cBhvr>
                                    </p:animEffect>
                                  </p:childTnLst>
                                </p:cTn>
                              </p:par>
                            </p:childTnLst>
                          </p:cTn>
                        </p:par>
                        <p:par>
                          <p:cTn id="8" fill="hold" nodeType="afterGroup">
                            <p:stCondLst>
                              <p:cond delay="500"/>
                            </p:stCondLst>
                            <p:childTnLst>
                              <p:par>
                                <p:cTn id="9" presetID="42" presetClass="entr" presetSubtype="0"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1000"/>
                                        <p:tgtEl>
                                          <p:spTgt spid="12"/>
                                        </p:tgtEl>
                                      </p:cBhvr>
                                    </p:animEffect>
                                    <p:anim calcmode="lin" valueType="num">
                                      <p:cBhvr>
                                        <p:cTn id="12" dur="1000" fill="hold"/>
                                        <p:tgtEl>
                                          <p:spTgt spid="12"/>
                                        </p:tgtEl>
                                        <p:attrNameLst>
                                          <p:attrName>ppt_x</p:attrName>
                                        </p:attrNameLst>
                                      </p:cBhvr>
                                      <p:tavLst>
                                        <p:tav tm="0">
                                          <p:val>
                                            <p:strVal val="#ppt_x"/>
                                          </p:val>
                                        </p:tav>
                                        <p:tav tm="100000">
                                          <p:val>
                                            <p:strVal val="#ppt_x"/>
                                          </p:val>
                                        </p:tav>
                                      </p:tavLst>
                                    </p:anim>
                                    <p:anim calcmode="lin" valueType="num">
                                      <p:cBhvr>
                                        <p:cTn id="13" dur="1000" fill="hold"/>
                                        <p:tgtEl>
                                          <p:spTgt spid="12"/>
                                        </p:tgtEl>
                                        <p:attrNameLst>
                                          <p:attrName>ppt_y</p:attrName>
                                        </p:attrNameLst>
                                      </p:cBhvr>
                                      <p:tavLst>
                                        <p:tav tm="0">
                                          <p:val>
                                            <p:strVal val="#ppt_y+.1"/>
                                          </p:val>
                                        </p:tav>
                                        <p:tav tm="100000">
                                          <p:val>
                                            <p:strVal val="#ppt_y"/>
                                          </p:val>
                                        </p:tav>
                                      </p:tavLst>
                                    </p:anim>
                                  </p:childTnLst>
                                </p:cTn>
                              </p:par>
                            </p:childTnLst>
                          </p:cTn>
                        </p:par>
                        <p:par>
                          <p:cTn id="14" fill="hold" nodeType="afterGroup">
                            <p:stCondLst>
                              <p:cond delay="1500"/>
                            </p:stCondLst>
                            <p:childTnLst>
                              <p:par>
                                <p:cTn id="15" presetID="42" presetClass="entr" presetSubtype="0" fill="hold" grpId="0" nodeType="after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1000"/>
                                        <p:tgtEl>
                                          <p:spTgt spid="14"/>
                                        </p:tgtEl>
                                      </p:cBhvr>
                                    </p:animEffect>
                                    <p:anim calcmode="lin" valueType="num">
                                      <p:cBhvr>
                                        <p:cTn id="18" dur="1000" fill="hold"/>
                                        <p:tgtEl>
                                          <p:spTgt spid="14"/>
                                        </p:tgtEl>
                                        <p:attrNameLst>
                                          <p:attrName>ppt_x</p:attrName>
                                        </p:attrNameLst>
                                      </p:cBhvr>
                                      <p:tavLst>
                                        <p:tav tm="0">
                                          <p:val>
                                            <p:strVal val="#ppt_x"/>
                                          </p:val>
                                        </p:tav>
                                        <p:tav tm="100000">
                                          <p:val>
                                            <p:strVal val="#ppt_x"/>
                                          </p:val>
                                        </p:tav>
                                      </p:tavLst>
                                    </p:anim>
                                    <p:anim calcmode="lin" valueType="num">
                                      <p:cBhvr>
                                        <p:cTn id="19" dur="1000" fill="hold"/>
                                        <p:tgtEl>
                                          <p:spTgt spid="14"/>
                                        </p:tgtEl>
                                        <p:attrNameLst>
                                          <p:attrName>ppt_y</p:attrName>
                                        </p:attrNameLst>
                                      </p:cBhvr>
                                      <p:tavLst>
                                        <p:tav tm="0">
                                          <p:val>
                                            <p:strVal val="#ppt_y+.1"/>
                                          </p:val>
                                        </p:tav>
                                        <p:tav tm="100000">
                                          <p:val>
                                            <p:strVal val="#ppt_y"/>
                                          </p:val>
                                        </p:tav>
                                      </p:tavLst>
                                    </p:anim>
                                  </p:childTnLst>
                                </p:cTn>
                              </p:par>
                            </p:childTnLst>
                          </p:cTn>
                        </p:par>
                        <p:par>
                          <p:cTn id="20" fill="hold" nodeType="afterGroup">
                            <p:stCondLst>
                              <p:cond delay="2500"/>
                            </p:stCondLst>
                            <p:childTnLst>
                              <p:par>
                                <p:cTn id="21" presetID="42" presetClass="entr" presetSubtype="0" fill="hold" grpId="0" nodeType="after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1000"/>
                                        <p:tgtEl>
                                          <p:spTgt spid="19"/>
                                        </p:tgtEl>
                                      </p:cBhvr>
                                    </p:animEffect>
                                    <p:anim calcmode="lin" valueType="num">
                                      <p:cBhvr>
                                        <p:cTn id="24" dur="1000" fill="hold"/>
                                        <p:tgtEl>
                                          <p:spTgt spid="19"/>
                                        </p:tgtEl>
                                        <p:attrNameLst>
                                          <p:attrName>ppt_x</p:attrName>
                                        </p:attrNameLst>
                                      </p:cBhvr>
                                      <p:tavLst>
                                        <p:tav tm="0">
                                          <p:val>
                                            <p:strVal val="#ppt_x"/>
                                          </p:val>
                                        </p:tav>
                                        <p:tav tm="100000">
                                          <p:val>
                                            <p:strVal val="#ppt_x"/>
                                          </p:val>
                                        </p:tav>
                                      </p:tavLst>
                                    </p:anim>
                                    <p:anim calcmode="lin" valueType="num">
                                      <p:cBhvr>
                                        <p:cTn id="25" dur="1000" fill="hold"/>
                                        <p:tgtEl>
                                          <p:spTgt spid="19"/>
                                        </p:tgtEl>
                                        <p:attrNameLst>
                                          <p:attrName>ppt_y</p:attrName>
                                        </p:attrNameLst>
                                      </p:cBhvr>
                                      <p:tavLst>
                                        <p:tav tm="0">
                                          <p:val>
                                            <p:strVal val="#ppt_y+.1"/>
                                          </p:val>
                                        </p:tav>
                                        <p:tav tm="100000">
                                          <p:val>
                                            <p:strVal val="#ppt_y"/>
                                          </p:val>
                                        </p:tav>
                                      </p:tavLst>
                                    </p:anim>
                                  </p:childTnLst>
                                </p:cTn>
                              </p:par>
                            </p:childTnLst>
                          </p:cTn>
                        </p:par>
                        <p:par>
                          <p:cTn id="26" fill="hold" nodeType="afterGroup">
                            <p:stCondLst>
                              <p:cond delay="3500"/>
                            </p:stCondLst>
                            <p:childTnLst>
                              <p:par>
                                <p:cTn id="27" presetID="42" presetClass="entr" presetSubtype="0" fill="hold" grpId="0" nodeType="afterEffect">
                                  <p:stCondLst>
                                    <p:cond delay="0"/>
                                  </p:stCondLst>
                                  <p:childTnLst>
                                    <p:set>
                                      <p:cBhvr>
                                        <p:cTn id="28" dur="1" fill="hold">
                                          <p:stCondLst>
                                            <p:cond delay="0"/>
                                          </p:stCondLst>
                                        </p:cTn>
                                        <p:tgtEl>
                                          <p:spTgt spid="20"/>
                                        </p:tgtEl>
                                        <p:attrNameLst>
                                          <p:attrName>style.visibility</p:attrName>
                                        </p:attrNameLst>
                                      </p:cBhvr>
                                      <p:to>
                                        <p:strVal val="visible"/>
                                      </p:to>
                                    </p:set>
                                    <p:animEffect transition="in" filter="fade">
                                      <p:cBhvr>
                                        <p:cTn id="29" dur="1000"/>
                                        <p:tgtEl>
                                          <p:spTgt spid="20"/>
                                        </p:tgtEl>
                                      </p:cBhvr>
                                    </p:animEffect>
                                    <p:anim calcmode="lin" valueType="num">
                                      <p:cBhvr>
                                        <p:cTn id="30" dur="1000" fill="hold"/>
                                        <p:tgtEl>
                                          <p:spTgt spid="20"/>
                                        </p:tgtEl>
                                        <p:attrNameLst>
                                          <p:attrName>ppt_x</p:attrName>
                                        </p:attrNameLst>
                                      </p:cBhvr>
                                      <p:tavLst>
                                        <p:tav tm="0">
                                          <p:val>
                                            <p:strVal val="#ppt_x"/>
                                          </p:val>
                                        </p:tav>
                                        <p:tav tm="100000">
                                          <p:val>
                                            <p:strVal val="#ppt_x"/>
                                          </p:val>
                                        </p:tav>
                                      </p:tavLst>
                                    </p:anim>
                                    <p:anim calcmode="lin" valueType="num">
                                      <p:cBhvr>
                                        <p:cTn id="31" dur="1000" fill="hold"/>
                                        <p:tgtEl>
                                          <p:spTgt spid="20"/>
                                        </p:tgtEl>
                                        <p:attrNameLst>
                                          <p:attrName>ppt_y</p:attrName>
                                        </p:attrNameLst>
                                      </p:cBhvr>
                                      <p:tavLst>
                                        <p:tav tm="0">
                                          <p:val>
                                            <p:strVal val="#ppt_y+.1"/>
                                          </p:val>
                                        </p:tav>
                                        <p:tav tm="100000">
                                          <p:val>
                                            <p:strVal val="#ppt_y"/>
                                          </p:val>
                                        </p:tav>
                                      </p:tavLst>
                                    </p:anim>
                                  </p:childTnLst>
                                </p:cTn>
                              </p:par>
                            </p:childTnLst>
                          </p:cTn>
                        </p:par>
                        <p:par>
                          <p:cTn id="32" fill="hold" nodeType="afterGroup">
                            <p:stCondLst>
                              <p:cond delay="4500"/>
                            </p:stCondLst>
                            <p:childTnLst>
                              <p:par>
                                <p:cTn id="33" presetID="42" presetClass="entr" presetSubtype="0" fill="hold" grpId="0" nodeType="afterEffect">
                                  <p:stCondLst>
                                    <p:cond delay="0"/>
                                  </p:stCondLst>
                                  <p:childTnLst>
                                    <p:set>
                                      <p:cBhvr>
                                        <p:cTn id="34" dur="1" fill="hold">
                                          <p:stCondLst>
                                            <p:cond delay="0"/>
                                          </p:stCondLst>
                                        </p:cTn>
                                        <p:tgtEl>
                                          <p:spTgt spid="21"/>
                                        </p:tgtEl>
                                        <p:attrNameLst>
                                          <p:attrName>style.visibility</p:attrName>
                                        </p:attrNameLst>
                                      </p:cBhvr>
                                      <p:to>
                                        <p:strVal val="visible"/>
                                      </p:to>
                                    </p:set>
                                    <p:animEffect transition="in" filter="fade">
                                      <p:cBhvr>
                                        <p:cTn id="35" dur="1000"/>
                                        <p:tgtEl>
                                          <p:spTgt spid="21"/>
                                        </p:tgtEl>
                                      </p:cBhvr>
                                    </p:animEffect>
                                    <p:anim calcmode="lin" valueType="num">
                                      <p:cBhvr>
                                        <p:cTn id="36" dur="1000" fill="hold"/>
                                        <p:tgtEl>
                                          <p:spTgt spid="21"/>
                                        </p:tgtEl>
                                        <p:attrNameLst>
                                          <p:attrName>ppt_x</p:attrName>
                                        </p:attrNameLst>
                                      </p:cBhvr>
                                      <p:tavLst>
                                        <p:tav tm="0">
                                          <p:val>
                                            <p:strVal val="#ppt_x"/>
                                          </p:val>
                                        </p:tav>
                                        <p:tav tm="100000">
                                          <p:val>
                                            <p:strVal val="#ppt_x"/>
                                          </p:val>
                                        </p:tav>
                                      </p:tavLst>
                                    </p:anim>
                                    <p:anim calcmode="lin" valueType="num">
                                      <p:cBhvr>
                                        <p:cTn id="37"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P spid="12" grpId="0" animBg="1"/>
      <p:bldP spid="14" grpId="0" animBg="1"/>
      <p:bldP spid="19" grpId="0" animBg="1"/>
      <p:bldP spid="20" grpId="0" animBg="1"/>
      <p:bldP spid="21" grpId="0" animBg="1"/>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DC63B-01A8-90A5-1D8D-D226700F0205}"/>
              </a:ext>
            </a:extLst>
          </p:cNvPr>
          <p:cNvSpPr>
            <a:spLocks noGrp="1"/>
          </p:cNvSpPr>
          <p:nvPr>
            <p:ph type="title"/>
          </p:nvPr>
        </p:nvSpPr>
        <p:spPr>
          <a:xfrm>
            <a:off x="457200" y="0"/>
            <a:ext cx="7620000" cy="1143000"/>
          </a:xfrm>
        </p:spPr>
        <p:txBody>
          <a:bodyPr/>
          <a:lstStyle/>
          <a:p>
            <a:pPr algn="ctr">
              <a:defRPr/>
            </a:pPr>
            <a:r>
              <a:rPr lang="en-US" dirty="0"/>
              <a:t>Characteristics of Relations</a:t>
            </a:r>
            <a:endParaRPr lang="en-CA" dirty="0"/>
          </a:p>
        </p:txBody>
      </p:sp>
      <p:sp>
        <p:nvSpPr>
          <p:cNvPr id="20" name="Content Placeholder 2">
            <a:extLst>
              <a:ext uri="{FF2B5EF4-FFF2-40B4-BE49-F238E27FC236}">
                <a16:creationId xmlns:a16="http://schemas.microsoft.com/office/drawing/2014/main" id="{1B66F0BB-3EE3-FAB5-5A65-E050616E3371}"/>
              </a:ext>
            </a:extLst>
          </p:cNvPr>
          <p:cNvSpPr txBox="1">
            <a:spLocks/>
          </p:cNvSpPr>
          <p:nvPr/>
        </p:nvSpPr>
        <p:spPr bwMode="auto">
          <a:xfrm>
            <a:off x="219075" y="1979613"/>
            <a:ext cx="8004175"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rgbClr val="FF6600"/>
              </a:buClr>
              <a:buFont typeface="Wingdings 3" panose="05040102010807070707" pitchFamily="18" charset="2"/>
              <a:buNone/>
            </a:pPr>
            <a:r>
              <a:rPr lang="en-US" altLang="en-US" sz="3200">
                <a:latin typeface="Calibri" panose="020F0502020204030204" pitchFamily="34" charset="0"/>
              </a:rPr>
              <a:t>The </a:t>
            </a:r>
            <a:r>
              <a:rPr lang="en-CA" altLang="en-US" sz="3200">
                <a:latin typeface="Calibri" panose="020F0502020204030204" pitchFamily="34" charset="0"/>
              </a:rPr>
              <a:t>order of the rows does not matter in a relation</a:t>
            </a:r>
          </a:p>
          <a:p>
            <a:pPr algn="just" eaLnBrk="1" hangingPunct="1">
              <a:spcBef>
                <a:spcPct val="20000"/>
              </a:spcBef>
              <a:buClr>
                <a:srgbClr val="FF6600"/>
              </a:buClr>
              <a:buFont typeface="Wingdings 3" panose="05040102010807070707" pitchFamily="18" charset="2"/>
              <a:buNone/>
            </a:pPr>
            <a:endParaRPr lang="en-CA" altLang="en-US" sz="32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32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32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32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32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r>
              <a:rPr lang="en-CA" altLang="en-US" sz="3200">
                <a:latin typeface="Calibri" panose="020F0502020204030204" pitchFamily="34" charset="0"/>
              </a:rPr>
              <a:t>The two student relations are the same</a:t>
            </a:r>
          </a:p>
          <a:p>
            <a:pPr algn="just" eaLnBrk="1" hangingPunct="1">
              <a:spcBef>
                <a:spcPct val="20000"/>
              </a:spcBef>
              <a:buClr>
                <a:srgbClr val="FF6600"/>
              </a:buClr>
              <a:buFont typeface="Wingdings 3" panose="05040102010807070707" pitchFamily="18" charset="2"/>
              <a:buNone/>
            </a:pPr>
            <a:endParaRPr lang="en-CA" altLang="en-US" sz="32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40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p:txBody>
      </p:sp>
      <p:sp>
        <p:nvSpPr>
          <p:cNvPr id="27" name="Freeform 26">
            <a:extLst>
              <a:ext uri="{FF2B5EF4-FFF2-40B4-BE49-F238E27FC236}">
                <a16:creationId xmlns:a16="http://schemas.microsoft.com/office/drawing/2014/main" id="{5CA399C7-27FF-6CBB-BEFB-F6D6B56F0AF2}"/>
              </a:ext>
            </a:extLst>
          </p:cNvPr>
          <p:cNvSpPr/>
          <p:nvPr/>
        </p:nvSpPr>
        <p:spPr>
          <a:xfrm>
            <a:off x="3722688" y="3798888"/>
            <a:ext cx="1009650" cy="1081087"/>
          </a:xfrm>
          <a:custGeom>
            <a:avLst/>
            <a:gdLst>
              <a:gd name="connsiteX0" fmla="*/ 145607 w 1098503"/>
              <a:gd name="connsiteY0" fmla="*/ 226292 h 1098503"/>
              <a:gd name="connsiteX1" fmla="*/ 952896 w 1098503"/>
              <a:gd name="connsiteY1" fmla="*/ 226292 h 1098503"/>
              <a:gd name="connsiteX2" fmla="*/ 952896 w 1098503"/>
              <a:gd name="connsiteY2" fmla="*/ 484660 h 1098503"/>
              <a:gd name="connsiteX3" fmla="*/ 145607 w 1098503"/>
              <a:gd name="connsiteY3" fmla="*/ 484660 h 1098503"/>
              <a:gd name="connsiteX4" fmla="*/ 145607 w 1098503"/>
              <a:gd name="connsiteY4" fmla="*/ 226292 h 1098503"/>
              <a:gd name="connsiteX5" fmla="*/ 145607 w 1098503"/>
              <a:gd name="connsiteY5" fmla="*/ 613843 h 1098503"/>
              <a:gd name="connsiteX6" fmla="*/ 952896 w 1098503"/>
              <a:gd name="connsiteY6" fmla="*/ 613843 h 1098503"/>
              <a:gd name="connsiteX7" fmla="*/ 952896 w 1098503"/>
              <a:gd name="connsiteY7" fmla="*/ 872211 h 1098503"/>
              <a:gd name="connsiteX8" fmla="*/ 145607 w 1098503"/>
              <a:gd name="connsiteY8" fmla="*/ 872211 h 1098503"/>
              <a:gd name="connsiteX9" fmla="*/ 145607 w 1098503"/>
              <a:gd name="connsiteY9" fmla="*/ 613843 h 1098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8503" h="1098503">
                <a:moveTo>
                  <a:pt x="145607" y="226292"/>
                </a:moveTo>
                <a:lnTo>
                  <a:pt x="952896" y="226292"/>
                </a:lnTo>
                <a:lnTo>
                  <a:pt x="952896" y="484660"/>
                </a:lnTo>
                <a:lnTo>
                  <a:pt x="145607" y="484660"/>
                </a:lnTo>
                <a:lnTo>
                  <a:pt x="145607" y="226292"/>
                </a:lnTo>
                <a:close/>
                <a:moveTo>
                  <a:pt x="145607" y="613843"/>
                </a:moveTo>
                <a:lnTo>
                  <a:pt x="952896" y="613843"/>
                </a:lnTo>
                <a:lnTo>
                  <a:pt x="952896" y="872211"/>
                </a:lnTo>
                <a:lnTo>
                  <a:pt x="145607" y="872211"/>
                </a:lnTo>
                <a:lnTo>
                  <a:pt x="145607" y="613843"/>
                </a:lnTo>
                <a:close/>
              </a:path>
            </a:pathLst>
          </a:custGeom>
          <a:solidFill>
            <a:schemeClr val="tx1"/>
          </a:solidFill>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lIns="145607" tIns="226292" rIns="145607" bIns="226292" spcCol="1270" anchor="ctr"/>
          <a:lstStyle/>
          <a:p>
            <a:pPr algn="ctr" defTabSz="622300">
              <a:lnSpc>
                <a:spcPct val="90000"/>
              </a:lnSpc>
              <a:spcAft>
                <a:spcPct val="35000"/>
              </a:spcAft>
              <a:defRPr/>
            </a:pPr>
            <a:endParaRPr lang="en-CA" sz="1400"/>
          </a:p>
        </p:txBody>
      </p:sp>
      <p:sp>
        <p:nvSpPr>
          <p:cNvPr id="23" name="Snip Single Corner Rectangle 22">
            <a:extLst>
              <a:ext uri="{FF2B5EF4-FFF2-40B4-BE49-F238E27FC236}">
                <a16:creationId xmlns:a16="http://schemas.microsoft.com/office/drawing/2014/main" id="{89F5FBD2-753A-086C-0005-773C8B86A606}"/>
              </a:ext>
            </a:extLst>
          </p:cNvPr>
          <p:cNvSpPr/>
          <p:nvPr/>
        </p:nvSpPr>
        <p:spPr>
          <a:xfrm>
            <a:off x="219075" y="1577975"/>
            <a:ext cx="1941513" cy="401638"/>
          </a:xfrm>
          <a:prstGeom prst="snip1Rect">
            <a:avLst/>
          </a:prstGeom>
          <a:solidFill>
            <a:schemeClr val="accent5">
              <a:alpha val="70000"/>
            </a:schemeClr>
          </a:solidFill>
          <a:ln>
            <a:solidFill>
              <a:schemeClr val="accent5"/>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indent="-342900" algn="just" eaLnBrk="1" hangingPunct="1">
              <a:spcBef>
                <a:spcPct val="20000"/>
              </a:spcBef>
              <a:buClr>
                <a:srgbClr val="FF6600"/>
              </a:buClr>
              <a:buSzPct val="100000"/>
              <a:defRPr/>
            </a:pPr>
            <a:r>
              <a:rPr lang="en-US" dirty="0">
                <a:latin typeface="Arial" pitchFamily="34" charset="0"/>
                <a:ea typeface="Times New Roman" pitchFamily="18" charset="0"/>
                <a:cs typeface="Arial" pitchFamily="34" charset="0"/>
              </a:rPr>
              <a:t>Unordered Rows</a:t>
            </a:r>
            <a:endParaRPr lang="en-GB" kern="0" dirty="0">
              <a:solidFill>
                <a:schemeClr val="tx1"/>
              </a:solidFill>
            </a:endParaRPr>
          </a:p>
        </p:txBody>
      </p:sp>
      <p:graphicFrame>
        <p:nvGraphicFramePr>
          <p:cNvPr id="26" name="Table 25">
            <a:extLst>
              <a:ext uri="{FF2B5EF4-FFF2-40B4-BE49-F238E27FC236}">
                <a16:creationId xmlns:a16="http://schemas.microsoft.com/office/drawing/2014/main" id="{701D50CB-3AC7-3323-15B1-0A05FEE60C5E}"/>
              </a:ext>
            </a:extLst>
          </p:cNvPr>
          <p:cNvGraphicFramePr>
            <a:graphicFrameLocks noGrp="1"/>
          </p:cNvGraphicFramePr>
          <p:nvPr/>
        </p:nvGraphicFramePr>
        <p:xfrm>
          <a:off x="219075" y="3192463"/>
          <a:ext cx="3408363" cy="2293936"/>
        </p:xfrm>
        <a:graphic>
          <a:graphicData uri="http://schemas.openxmlformats.org/drawingml/2006/table">
            <a:tbl>
              <a:tblPr firstRow="1" bandRow="1">
                <a:tableStyleId>{3B4B98B0-60AC-42C2-AFA5-B58CD77FA1E5}</a:tableStyleId>
              </a:tblPr>
              <a:tblGrid>
                <a:gridCol w="1692181">
                  <a:extLst>
                    <a:ext uri="{9D8B030D-6E8A-4147-A177-3AD203B41FA5}">
                      <a16:colId xmlns:a16="http://schemas.microsoft.com/office/drawing/2014/main" val="20000"/>
                    </a:ext>
                  </a:extLst>
                </a:gridCol>
                <a:gridCol w="1716182">
                  <a:extLst>
                    <a:ext uri="{9D8B030D-6E8A-4147-A177-3AD203B41FA5}">
                      <a16:colId xmlns:a16="http://schemas.microsoft.com/office/drawing/2014/main" val="20001"/>
                    </a:ext>
                  </a:extLst>
                </a:gridCol>
              </a:tblGrid>
              <a:tr h="573484">
                <a:tc>
                  <a:txBody>
                    <a:bodyPr/>
                    <a:lstStyle/>
                    <a:p>
                      <a:pPr algn="ctr"/>
                      <a:r>
                        <a:rPr lang="en-CA" sz="1800" dirty="0"/>
                        <a:t>STUDENTID</a:t>
                      </a:r>
                    </a:p>
                  </a:txBody>
                  <a:tcPr marT="45700" marB="45700"/>
                </a:tc>
                <a:tc>
                  <a:txBody>
                    <a:bodyPr/>
                    <a:lstStyle/>
                    <a:p>
                      <a:pPr algn="ctr"/>
                      <a:r>
                        <a:rPr lang="en-CA" sz="1800" dirty="0"/>
                        <a:t>NAME</a:t>
                      </a:r>
                    </a:p>
                  </a:txBody>
                  <a:tcPr marT="45700" marB="45700"/>
                </a:tc>
                <a:extLst>
                  <a:ext uri="{0D108BD9-81ED-4DB2-BD59-A6C34878D82A}">
                    <a16:rowId xmlns:a16="http://schemas.microsoft.com/office/drawing/2014/main" val="10000"/>
                  </a:ext>
                </a:extLst>
              </a:tr>
              <a:tr h="573484">
                <a:tc>
                  <a:txBody>
                    <a:bodyPr/>
                    <a:lstStyle/>
                    <a:p>
                      <a:pPr algn="ctr"/>
                      <a:r>
                        <a:rPr lang="en-CA" sz="1800" dirty="0"/>
                        <a:t>1</a:t>
                      </a:r>
                    </a:p>
                  </a:txBody>
                  <a:tcPr marT="45700" marB="45700"/>
                </a:tc>
                <a:tc>
                  <a:txBody>
                    <a:bodyPr/>
                    <a:lstStyle/>
                    <a:p>
                      <a:r>
                        <a:rPr lang="en-CA" sz="1800" dirty="0"/>
                        <a:t>Talha Amjad</a:t>
                      </a:r>
                    </a:p>
                  </a:txBody>
                  <a:tcPr marT="45700" marB="45700"/>
                </a:tc>
                <a:extLst>
                  <a:ext uri="{0D108BD9-81ED-4DB2-BD59-A6C34878D82A}">
                    <a16:rowId xmlns:a16="http://schemas.microsoft.com/office/drawing/2014/main" val="10001"/>
                  </a:ext>
                </a:extLst>
              </a:tr>
              <a:tr h="573484">
                <a:tc>
                  <a:txBody>
                    <a:bodyPr/>
                    <a:lstStyle/>
                    <a:p>
                      <a:pPr algn="ctr"/>
                      <a:r>
                        <a:rPr lang="en-CA" sz="1800" dirty="0"/>
                        <a:t>2</a:t>
                      </a:r>
                    </a:p>
                  </a:txBody>
                  <a:tcPr marT="45700" marB="45700"/>
                </a:tc>
                <a:tc>
                  <a:txBody>
                    <a:bodyPr/>
                    <a:lstStyle/>
                    <a:p>
                      <a:r>
                        <a:rPr lang="en-CA" sz="1800" dirty="0"/>
                        <a:t>Sara Saleem</a:t>
                      </a:r>
                    </a:p>
                  </a:txBody>
                  <a:tcPr marT="45700" marB="45700"/>
                </a:tc>
                <a:extLst>
                  <a:ext uri="{0D108BD9-81ED-4DB2-BD59-A6C34878D82A}">
                    <a16:rowId xmlns:a16="http://schemas.microsoft.com/office/drawing/2014/main" val="10002"/>
                  </a:ext>
                </a:extLst>
              </a:tr>
              <a:tr h="573484">
                <a:tc>
                  <a:txBody>
                    <a:bodyPr/>
                    <a:lstStyle/>
                    <a:p>
                      <a:pPr algn="ctr"/>
                      <a:r>
                        <a:rPr lang="en-CA" sz="1800" dirty="0"/>
                        <a:t>3</a:t>
                      </a:r>
                    </a:p>
                  </a:txBody>
                  <a:tcPr marT="45700" marB="45700"/>
                </a:tc>
                <a:tc>
                  <a:txBody>
                    <a:bodyPr/>
                    <a:lstStyle/>
                    <a:p>
                      <a:r>
                        <a:rPr lang="en-CA" sz="1800" dirty="0"/>
                        <a:t>Aqib Ali</a:t>
                      </a:r>
                    </a:p>
                  </a:txBody>
                  <a:tcPr marT="45700" marB="45700"/>
                </a:tc>
                <a:extLst>
                  <a:ext uri="{0D108BD9-81ED-4DB2-BD59-A6C34878D82A}">
                    <a16:rowId xmlns:a16="http://schemas.microsoft.com/office/drawing/2014/main" val="10003"/>
                  </a:ext>
                </a:extLst>
              </a:tr>
            </a:tbl>
          </a:graphicData>
        </a:graphic>
      </p:graphicFrame>
      <p:sp>
        <p:nvSpPr>
          <p:cNvPr id="28" name="TextBox 27">
            <a:extLst>
              <a:ext uri="{FF2B5EF4-FFF2-40B4-BE49-F238E27FC236}">
                <a16:creationId xmlns:a16="http://schemas.microsoft.com/office/drawing/2014/main" id="{1334BE06-5D85-DF6D-2FDC-9B2255D1C195}"/>
              </a:ext>
            </a:extLst>
          </p:cNvPr>
          <p:cNvSpPr txBox="1">
            <a:spLocks noChangeArrowheads="1"/>
          </p:cNvSpPr>
          <p:nvPr/>
        </p:nvSpPr>
        <p:spPr bwMode="auto">
          <a:xfrm>
            <a:off x="801688" y="5497513"/>
            <a:ext cx="22415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CA" altLang="en-US"/>
              <a:t>Student relation</a:t>
            </a:r>
          </a:p>
        </p:txBody>
      </p:sp>
      <p:graphicFrame>
        <p:nvGraphicFramePr>
          <p:cNvPr id="29" name="Table 28">
            <a:extLst>
              <a:ext uri="{FF2B5EF4-FFF2-40B4-BE49-F238E27FC236}">
                <a16:creationId xmlns:a16="http://schemas.microsoft.com/office/drawing/2014/main" id="{90927DDE-1316-EAD8-D681-BEFF66FB688A}"/>
              </a:ext>
            </a:extLst>
          </p:cNvPr>
          <p:cNvGraphicFramePr>
            <a:graphicFrameLocks noGrp="1"/>
          </p:cNvGraphicFramePr>
          <p:nvPr/>
        </p:nvGraphicFramePr>
        <p:xfrm>
          <a:off x="4814888" y="3192463"/>
          <a:ext cx="3408362" cy="2293936"/>
        </p:xfrm>
        <a:graphic>
          <a:graphicData uri="http://schemas.openxmlformats.org/drawingml/2006/table">
            <a:tbl>
              <a:tblPr firstRow="1" bandRow="1">
                <a:tableStyleId>{D27102A9-8310-4765-A935-A1911B00CA55}</a:tableStyleId>
              </a:tblPr>
              <a:tblGrid>
                <a:gridCol w="1692180">
                  <a:extLst>
                    <a:ext uri="{9D8B030D-6E8A-4147-A177-3AD203B41FA5}">
                      <a16:colId xmlns:a16="http://schemas.microsoft.com/office/drawing/2014/main" val="20000"/>
                    </a:ext>
                  </a:extLst>
                </a:gridCol>
                <a:gridCol w="1716182">
                  <a:extLst>
                    <a:ext uri="{9D8B030D-6E8A-4147-A177-3AD203B41FA5}">
                      <a16:colId xmlns:a16="http://schemas.microsoft.com/office/drawing/2014/main" val="20001"/>
                    </a:ext>
                  </a:extLst>
                </a:gridCol>
              </a:tblGrid>
              <a:tr h="573484">
                <a:tc>
                  <a:txBody>
                    <a:bodyPr/>
                    <a:lstStyle/>
                    <a:p>
                      <a:pPr algn="ctr"/>
                      <a:r>
                        <a:rPr lang="en-CA" sz="1800" dirty="0"/>
                        <a:t>STUDENTID</a:t>
                      </a:r>
                    </a:p>
                  </a:txBody>
                  <a:tcPr marT="45700" marB="45700"/>
                </a:tc>
                <a:tc>
                  <a:txBody>
                    <a:bodyPr/>
                    <a:lstStyle/>
                    <a:p>
                      <a:pPr algn="ctr"/>
                      <a:r>
                        <a:rPr lang="en-CA" sz="1800" dirty="0"/>
                        <a:t>NAME</a:t>
                      </a:r>
                    </a:p>
                  </a:txBody>
                  <a:tcPr marT="45700" marB="45700"/>
                </a:tc>
                <a:extLst>
                  <a:ext uri="{0D108BD9-81ED-4DB2-BD59-A6C34878D82A}">
                    <a16:rowId xmlns:a16="http://schemas.microsoft.com/office/drawing/2014/main" val="10000"/>
                  </a:ext>
                </a:extLst>
              </a:tr>
              <a:tr h="573484">
                <a:tc>
                  <a:txBody>
                    <a:bodyPr/>
                    <a:lstStyle/>
                    <a:p>
                      <a:pPr algn="ctr"/>
                      <a:r>
                        <a:rPr lang="en-CA" sz="1800" dirty="0"/>
                        <a:t>2</a:t>
                      </a:r>
                    </a:p>
                  </a:txBody>
                  <a:tcPr marT="45700" marB="45700"/>
                </a:tc>
                <a:tc>
                  <a:txBody>
                    <a:bodyPr/>
                    <a:lstStyle/>
                    <a:p>
                      <a:r>
                        <a:rPr lang="en-CA" sz="1800" dirty="0"/>
                        <a:t>Sara Saleem</a:t>
                      </a:r>
                    </a:p>
                  </a:txBody>
                  <a:tcPr marT="45700" marB="45700"/>
                </a:tc>
                <a:extLst>
                  <a:ext uri="{0D108BD9-81ED-4DB2-BD59-A6C34878D82A}">
                    <a16:rowId xmlns:a16="http://schemas.microsoft.com/office/drawing/2014/main" val="10001"/>
                  </a:ext>
                </a:extLst>
              </a:tr>
              <a:tr h="573484">
                <a:tc>
                  <a:txBody>
                    <a:bodyPr/>
                    <a:lstStyle/>
                    <a:p>
                      <a:pPr algn="ctr"/>
                      <a:r>
                        <a:rPr lang="en-CA" sz="1800" dirty="0"/>
                        <a:t>3</a:t>
                      </a:r>
                    </a:p>
                  </a:txBody>
                  <a:tcPr marT="45700" marB="45700"/>
                </a:tc>
                <a:tc>
                  <a:txBody>
                    <a:bodyPr/>
                    <a:lstStyle/>
                    <a:p>
                      <a:r>
                        <a:rPr lang="en-CA" sz="1800" dirty="0"/>
                        <a:t>Aqib Ali</a:t>
                      </a:r>
                    </a:p>
                  </a:txBody>
                  <a:tcPr marT="45700" marB="45700"/>
                </a:tc>
                <a:extLst>
                  <a:ext uri="{0D108BD9-81ED-4DB2-BD59-A6C34878D82A}">
                    <a16:rowId xmlns:a16="http://schemas.microsoft.com/office/drawing/2014/main" val="10002"/>
                  </a:ext>
                </a:extLst>
              </a:tr>
              <a:tr h="573484">
                <a:tc>
                  <a:txBody>
                    <a:bodyPr/>
                    <a:lstStyle/>
                    <a:p>
                      <a:pPr algn="ctr"/>
                      <a:r>
                        <a:rPr lang="en-CA" sz="1800" dirty="0"/>
                        <a:t>1</a:t>
                      </a:r>
                    </a:p>
                  </a:txBody>
                  <a:tcPr marT="45700" marB="45700"/>
                </a:tc>
                <a:tc>
                  <a:txBody>
                    <a:bodyPr/>
                    <a:lstStyle/>
                    <a:p>
                      <a:r>
                        <a:rPr lang="en-CA" sz="1800" dirty="0"/>
                        <a:t>Talha Amjad</a:t>
                      </a:r>
                    </a:p>
                  </a:txBody>
                  <a:tcPr marT="45700" marB="45700"/>
                </a:tc>
                <a:extLst>
                  <a:ext uri="{0D108BD9-81ED-4DB2-BD59-A6C34878D82A}">
                    <a16:rowId xmlns:a16="http://schemas.microsoft.com/office/drawing/2014/main" val="10003"/>
                  </a:ext>
                </a:extLst>
              </a:tr>
            </a:tbl>
          </a:graphicData>
        </a:graphic>
      </p:graphicFrame>
      <p:sp>
        <p:nvSpPr>
          <p:cNvPr id="32" name="TextBox 31">
            <a:extLst>
              <a:ext uri="{FF2B5EF4-FFF2-40B4-BE49-F238E27FC236}">
                <a16:creationId xmlns:a16="http://schemas.microsoft.com/office/drawing/2014/main" id="{4B2D98B3-99DC-7CFD-5EA2-E58A4C900483}"/>
              </a:ext>
            </a:extLst>
          </p:cNvPr>
          <p:cNvSpPr txBox="1">
            <a:spLocks noChangeArrowheads="1"/>
          </p:cNvSpPr>
          <p:nvPr/>
        </p:nvSpPr>
        <p:spPr bwMode="auto">
          <a:xfrm>
            <a:off x="5399088" y="5497513"/>
            <a:ext cx="22415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CA" altLang="en-US"/>
              <a:t>Student relation</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left)">
                                      <p:cBhvr>
                                        <p:cTn id="7" dur="500"/>
                                        <p:tgtEl>
                                          <p:spTgt spid="23"/>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0">
                                            <p:txEl>
                                              <p:pRg st="0" end="0"/>
                                            </p:txEl>
                                          </p:spTgt>
                                        </p:tgtEl>
                                        <p:attrNameLst>
                                          <p:attrName>style.visibility</p:attrName>
                                        </p:attrNameLst>
                                      </p:cBhvr>
                                      <p:to>
                                        <p:strVal val="visible"/>
                                      </p:to>
                                    </p:set>
                                    <p:animEffect transition="in" filter="wipe(left)">
                                      <p:cBhvr>
                                        <p:cTn id="11" dur="500"/>
                                        <p:tgtEl>
                                          <p:spTgt spid="20">
                                            <p:txEl>
                                              <p:pRg st="0" end="0"/>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26"/>
                                        </p:tgtEl>
                                        <p:attrNameLst>
                                          <p:attrName>style.visibility</p:attrName>
                                        </p:attrNameLst>
                                      </p:cBhvr>
                                      <p:to>
                                        <p:strVal val="visible"/>
                                      </p:to>
                                    </p:set>
                                    <p:animEffect transition="in" filter="wipe(up)">
                                      <p:cBhvr>
                                        <p:cTn id="16" dur="500"/>
                                        <p:tgtEl>
                                          <p:spTgt spid="26"/>
                                        </p:tgtEl>
                                      </p:cBhvr>
                                    </p:animEffect>
                                  </p:childTnLst>
                                </p:cTn>
                              </p:par>
                            </p:childTnLst>
                          </p:cTn>
                        </p:par>
                        <p:par>
                          <p:cTn id="17" fill="hold" nodeType="afterGroup">
                            <p:stCondLst>
                              <p:cond delay="500"/>
                            </p:stCondLst>
                            <p:childTnLst>
                              <p:par>
                                <p:cTn id="18" presetID="22" presetClass="entr" presetSubtype="1" fill="hold" grpId="0" nodeType="afterEffect">
                                  <p:stCondLst>
                                    <p:cond delay="0"/>
                                  </p:stCondLst>
                                  <p:childTnLst>
                                    <p:set>
                                      <p:cBhvr>
                                        <p:cTn id="19" dur="1" fill="hold">
                                          <p:stCondLst>
                                            <p:cond delay="0"/>
                                          </p:stCondLst>
                                        </p:cTn>
                                        <p:tgtEl>
                                          <p:spTgt spid="28"/>
                                        </p:tgtEl>
                                        <p:attrNameLst>
                                          <p:attrName>style.visibility</p:attrName>
                                        </p:attrNameLst>
                                      </p:cBhvr>
                                      <p:to>
                                        <p:strVal val="visible"/>
                                      </p:to>
                                    </p:set>
                                    <p:animEffect transition="in" filter="wipe(up)">
                                      <p:cBhvr>
                                        <p:cTn id="20" dur="500"/>
                                        <p:tgtEl>
                                          <p:spTgt spid="28"/>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1" fill="hold" nodeType="clickEffect">
                                  <p:stCondLst>
                                    <p:cond delay="0"/>
                                  </p:stCondLst>
                                  <p:childTnLst>
                                    <p:set>
                                      <p:cBhvr>
                                        <p:cTn id="24" dur="1" fill="hold">
                                          <p:stCondLst>
                                            <p:cond delay="0"/>
                                          </p:stCondLst>
                                        </p:cTn>
                                        <p:tgtEl>
                                          <p:spTgt spid="29"/>
                                        </p:tgtEl>
                                        <p:attrNameLst>
                                          <p:attrName>style.visibility</p:attrName>
                                        </p:attrNameLst>
                                      </p:cBhvr>
                                      <p:to>
                                        <p:strVal val="visible"/>
                                      </p:to>
                                    </p:set>
                                    <p:animEffect transition="in" filter="wipe(up)">
                                      <p:cBhvr>
                                        <p:cTn id="25" dur="500"/>
                                        <p:tgtEl>
                                          <p:spTgt spid="29"/>
                                        </p:tgtEl>
                                      </p:cBhvr>
                                    </p:animEffect>
                                  </p:childTnLst>
                                </p:cTn>
                              </p:par>
                            </p:childTnLst>
                          </p:cTn>
                        </p:par>
                        <p:par>
                          <p:cTn id="26" fill="hold" nodeType="afterGroup">
                            <p:stCondLst>
                              <p:cond delay="500"/>
                            </p:stCondLst>
                            <p:childTnLst>
                              <p:par>
                                <p:cTn id="27" presetID="22" presetClass="entr" presetSubtype="1" fill="hold" grpId="0" nodeType="after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wipe(up)">
                                      <p:cBhvr>
                                        <p:cTn id="29" dur="500"/>
                                        <p:tgtEl>
                                          <p:spTgt spid="32"/>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nodeType="click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wipe(left)">
                                      <p:cBhvr>
                                        <p:cTn id="34" dur="500"/>
                                        <p:tgtEl>
                                          <p:spTgt spid="27"/>
                                        </p:tgtEl>
                                      </p:cBhvr>
                                    </p:animEffect>
                                  </p:childTnLst>
                                </p:cTn>
                              </p:par>
                            </p:childTnLst>
                          </p:cTn>
                        </p:par>
                        <p:par>
                          <p:cTn id="35" fill="hold" nodeType="afterGroup">
                            <p:stCondLst>
                              <p:cond delay="500"/>
                            </p:stCondLst>
                            <p:childTnLst>
                              <p:par>
                                <p:cTn id="36" presetID="22" presetClass="entr" presetSubtype="8" fill="hold" grpId="0" nodeType="afterEffect">
                                  <p:stCondLst>
                                    <p:cond delay="0"/>
                                  </p:stCondLst>
                                  <p:childTnLst>
                                    <p:set>
                                      <p:cBhvr>
                                        <p:cTn id="37" dur="1" fill="hold">
                                          <p:stCondLst>
                                            <p:cond delay="0"/>
                                          </p:stCondLst>
                                        </p:cTn>
                                        <p:tgtEl>
                                          <p:spTgt spid="20">
                                            <p:txEl>
                                              <p:pRg st="6" end="6"/>
                                            </p:txEl>
                                          </p:spTgt>
                                        </p:tgtEl>
                                        <p:attrNameLst>
                                          <p:attrName>style.visibility</p:attrName>
                                        </p:attrNameLst>
                                      </p:cBhvr>
                                      <p:to>
                                        <p:strVal val="visible"/>
                                      </p:to>
                                    </p:set>
                                    <p:animEffect transition="in" filter="wipe(left)">
                                      <p:cBhvr>
                                        <p:cTn id="38" dur="500"/>
                                        <p:tgtEl>
                                          <p:spTgt spid="20">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uild="p"/>
      <p:bldP spid="23" grpId="0" animBg="1"/>
      <p:bldP spid="28" grpId="0"/>
      <p:bldP spid="32" grpId="0"/>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Content Placeholder 2">
            <a:extLst>
              <a:ext uri="{FF2B5EF4-FFF2-40B4-BE49-F238E27FC236}">
                <a16:creationId xmlns:a16="http://schemas.microsoft.com/office/drawing/2014/main" id="{D3AFF0D5-25C3-A187-0A49-852212583915}"/>
              </a:ext>
            </a:extLst>
          </p:cNvPr>
          <p:cNvSpPr txBox="1">
            <a:spLocks/>
          </p:cNvSpPr>
          <p:nvPr/>
        </p:nvSpPr>
        <p:spPr bwMode="auto">
          <a:xfrm>
            <a:off x="219075" y="1903413"/>
            <a:ext cx="8004175"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rgbClr val="FF6600"/>
              </a:buClr>
              <a:buFont typeface="Wingdings 3" panose="05040102010807070707" pitchFamily="18" charset="2"/>
              <a:buNone/>
            </a:pPr>
            <a:r>
              <a:rPr lang="en-US" altLang="en-US" sz="3200">
                <a:latin typeface="Calibri" panose="020F0502020204030204" pitchFamily="34" charset="0"/>
              </a:rPr>
              <a:t>The </a:t>
            </a:r>
            <a:r>
              <a:rPr lang="en-CA" altLang="en-US" sz="3200">
                <a:latin typeface="Calibri" panose="020F0502020204030204" pitchFamily="34" charset="0"/>
              </a:rPr>
              <a:t>order of the columns does not matter in a relation</a:t>
            </a:r>
          </a:p>
          <a:p>
            <a:pPr eaLnBrk="1" hangingPunct="1">
              <a:spcBef>
                <a:spcPct val="20000"/>
              </a:spcBef>
              <a:buClr>
                <a:srgbClr val="FF6600"/>
              </a:buClr>
              <a:buFont typeface="Wingdings 3" panose="05040102010807070707" pitchFamily="18" charset="2"/>
              <a:buNone/>
            </a:pPr>
            <a:endParaRPr lang="en-CA" altLang="en-US" sz="3200">
              <a:latin typeface="Calibri" panose="020F0502020204030204" pitchFamily="34" charset="0"/>
            </a:endParaRPr>
          </a:p>
          <a:p>
            <a:pPr eaLnBrk="1" hangingPunct="1">
              <a:spcBef>
                <a:spcPct val="20000"/>
              </a:spcBef>
              <a:buClr>
                <a:srgbClr val="FF6600"/>
              </a:buClr>
              <a:buFont typeface="Wingdings 3" panose="05040102010807070707" pitchFamily="18" charset="2"/>
              <a:buNone/>
            </a:pPr>
            <a:endParaRPr lang="en-CA" altLang="en-US" sz="3200">
              <a:latin typeface="Calibri" panose="020F0502020204030204" pitchFamily="34" charset="0"/>
            </a:endParaRPr>
          </a:p>
          <a:p>
            <a:pPr eaLnBrk="1" hangingPunct="1">
              <a:spcBef>
                <a:spcPct val="20000"/>
              </a:spcBef>
              <a:buClr>
                <a:srgbClr val="FF6600"/>
              </a:buClr>
              <a:buFont typeface="Wingdings 3" panose="05040102010807070707" pitchFamily="18" charset="2"/>
              <a:buNone/>
            </a:pPr>
            <a:endParaRPr lang="en-CA" altLang="en-US" sz="3200">
              <a:latin typeface="Calibri" panose="020F0502020204030204" pitchFamily="34" charset="0"/>
            </a:endParaRPr>
          </a:p>
          <a:p>
            <a:pPr eaLnBrk="1" hangingPunct="1">
              <a:spcBef>
                <a:spcPct val="20000"/>
              </a:spcBef>
              <a:buClr>
                <a:srgbClr val="FF6600"/>
              </a:buClr>
              <a:buFont typeface="Wingdings 3" panose="05040102010807070707" pitchFamily="18" charset="2"/>
              <a:buNone/>
            </a:pPr>
            <a:endParaRPr lang="en-CA" altLang="en-US" sz="3200">
              <a:latin typeface="Calibri" panose="020F0502020204030204" pitchFamily="34" charset="0"/>
            </a:endParaRPr>
          </a:p>
          <a:p>
            <a:pPr eaLnBrk="1" hangingPunct="1">
              <a:spcBef>
                <a:spcPct val="20000"/>
              </a:spcBef>
              <a:buClr>
                <a:srgbClr val="FF6600"/>
              </a:buClr>
              <a:buFont typeface="Wingdings 3" panose="05040102010807070707" pitchFamily="18" charset="2"/>
              <a:buNone/>
            </a:pPr>
            <a:endParaRPr lang="en-CA" altLang="en-US" sz="3200">
              <a:latin typeface="Calibri" panose="020F0502020204030204" pitchFamily="34" charset="0"/>
            </a:endParaRPr>
          </a:p>
          <a:p>
            <a:pPr eaLnBrk="1" hangingPunct="1">
              <a:spcBef>
                <a:spcPct val="20000"/>
              </a:spcBef>
              <a:buClr>
                <a:srgbClr val="FF6600"/>
              </a:buClr>
              <a:buFont typeface="Wingdings 3" panose="05040102010807070707" pitchFamily="18" charset="2"/>
              <a:buNone/>
            </a:pPr>
            <a:r>
              <a:rPr lang="en-CA" altLang="en-US" sz="3200">
                <a:latin typeface="Calibri" panose="020F0502020204030204" pitchFamily="34" charset="0"/>
              </a:rPr>
              <a:t>The two student relations are the same</a:t>
            </a:r>
          </a:p>
          <a:p>
            <a:pPr eaLnBrk="1" hangingPunct="1">
              <a:spcBef>
                <a:spcPct val="20000"/>
              </a:spcBef>
              <a:buClr>
                <a:srgbClr val="FF6600"/>
              </a:buClr>
              <a:buFont typeface="Wingdings 3" panose="05040102010807070707" pitchFamily="18" charset="2"/>
              <a:buNone/>
            </a:pPr>
            <a:endParaRPr lang="en-CA" altLang="en-US" sz="3200">
              <a:latin typeface="Calibri" panose="020F0502020204030204" pitchFamily="34" charset="0"/>
            </a:endParaRPr>
          </a:p>
          <a:p>
            <a:pPr eaLnBrk="1" hangingPunct="1">
              <a:spcBef>
                <a:spcPct val="20000"/>
              </a:spcBef>
              <a:buClr>
                <a:srgbClr val="FF6600"/>
              </a:buClr>
              <a:buFont typeface="Wingdings 3" panose="05040102010807070707" pitchFamily="18" charset="2"/>
              <a:buNone/>
            </a:pPr>
            <a:endParaRPr lang="en-CA" altLang="en-US" sz="4000">
              <a:latin typeface="Calibri" panose="020F0502020204030204" pitchFamily="34" charset="0"/>
            </a:endParaRPr>
          </a:p>
          <a:p>
            <a:pPr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p:txBody>
      </p:sp>
      <p:sp>
        <p:nvSpPr>
          <p:cNvPr id="2" name="Title 1">
            <a:extLst>
              <a:ext uri="{FF2B5EF4-FFF2-40B4-BE49-F238E27FC236}">
                <a16:creationId xmlns:a16="http://schemas.microsoft.com/office/drawing/2014/main" id="{4B93CE77-94AC-0C1C-EF62-30CA0A50DA77}"/>
              </a:ext>
            </a:extLst>
          </p:cNvPr>
          <p:cNvSpPr>
            <a:spLocks noGrp="1"/>
          </p:cNvSpPr>
          <p:nvPr>
            <p:ph type="title"/>
          </p:nvPr>
        </p:nvSpPr>
        <p:spPr>
          <a:xfrm>
            <a:off x="457200" y="0"/>
            <a:ext cx="7620000" cy="1143000"/>
          </a:xfrm>
        </p:spPr>
        <p:txBody>
          <a:bodyPr/>
          <a:lstStyle/>
          <a:p>
            <a:pPr algn="ctr">
              <a:defRPr/>
            </a:pPr>
            <a:r>
              <a:rPr lang="en-US" dirty="0"/>
              <a:t>Characteristics of Relations</a:t>
            </a:r>
            <a:endParaRPr lang="en-CA" dirty="0"/>
          </a:p>
        </p:txBody>
      </p:sp>
      <p:sp>
        <p:nvSpPr>
          <p:cNvPr id="30" name="Snip Single Corner Rectangle 29">
            <a:extLst>
              <a:ext uri="{FF2B5EF4-FFF2-40B4-BE49-F238E27FC236}">
                <a16:creationId xmlns:a16="http://schemas.microsoft.com/office/drawing/2014/main" id="{9E2FA0F8-0C65-A50F-C04C-EA442A0E20F5}"/>
              </a:ext>
            </a:extLst>
          </p:cNvPr>
          <p:cNvSpPr/>
          <p:nvPr/>
        </p:nvSpPr>
        <p:spPr>
          <a:xfrm>
            <a:off x="219075" y="1495425"/>
            <a:ext cx="2281238" cy="401638"/>
          </a:xfrm>
          <a:prstGeom prst="snip1Rect">
            <a:avLst/>
          </a:prstGeom>
          <a:solidFill>
            <a:schemeClr val="accent2">
              <a:alpha val="70000"/>
            </a:schemeClr>
          </a:solidFill>
          <a:ln>
            <a:solidFill>
              <a:schemeClr val="accent2"/>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indent="-342900" algn="just" eaLnBrk="1" hangingPunct="1">
              <a:spcBef>
                <a:spcPct val="20000"/>
              </a:spcBef>
              <a:buClr>
                <a:srgbClr val="FF6600"/>
              </a:buClr>
              <a:buSzPct val="100000"/>
              <a:defRPr/>
            </a:pPr>
            <a:r>
              <a:rPr lang="en-US" dirty="0">
                <a:latin typeface="Arial" pitchFamily="34" charset="0"/>
                <a:ea typeface="Times New Roman" pitchFamily="18" charset="0"/>
                <a:cs typeface="Arial" pitchFamily="34" charset="0"/>
              </a:rPr>
              <a:t>Unordered Columns</a:t>
            </a:r>
            <a:endParaRPr lang="en-GB" kern="0" dirty="0">
              <a:solidFill>
                <a:schemeClr val="tx1"/>
              </a:solidFill>
            </a:endParaRPr>
          </a:p>
        </p:txBody>
      </p:sp>
      <p:sp>
        <p:nvSpPr>
          <p:cNvPr id="32" name="Freeform 31">
            <a:extLst>
              <a:ext uri="{FF2B5EF4-FFF2-40B4-BE49-F238E27FC236}">
                <a16:creationId xmlns:a16="http://schemas.microsoft.com/office/drawing/2014/main" id="{77B71240-D1C9-D8AA-7E7C-CDBAAFCBD0CB}"/>
              </a:ext>
            </a:extLst>
          </p:cNvPr>
          <p:cNvSpPr/>
          <p:nvPr/>
        </p:nvSpPr>
        <p:spPr>
          <a:xfrm>
            <a:off x="3810000" y="3795713"/>
            <a:ext cx="969963" cy="1081087"/>
          </a:xfrm>
          <a:custGeom>
            <a:avLst/>
            <a:gdLst>
              <a:gd name="connsiteX0" fmla="*/ 145607 w 1098503"/>
              <a:gd name="connsiteY0" fmla="*/ 226292 h 1098503"/>
              <a:gd name="connsiteX1" fmla="*/ 952896 w 1098503"/>
              <a:gd name="connsiteY1" fmla="*/ 226292 h 1098503"/>
              <a:gd name="connsiteX2" fmla="*/ 952896 w 1098503"/>
              <a:gd name="connsiteY2" fmla="*/ 484660 h 1098503"/>
              <a:gd name="connsiteX3" fmla="*/ 145607 w 1098503"/>
              <a:gd name="connsiteY3" fmla="*/ 484660 h 1098503"/>
              <a:gd name="connsiteX4" fmla="*/ 145607 w 1098503"/>
              <a:gd name="connsiteY4" fmla="*/ 226292 h 1098503"/>
              <a:gd name="connsiteX5" fmla="*/ 145607 w 1098503"/>
              <a:gd name="connsiteY5" fmla="*/ 613843 h 1098503"/>
              <a:gd name="connsiteX6" fmla="*/ 952896 w 1098503"/>
              <a:gd name="connsiteY6" fmla="*/ 613843 h 1098503"/>
              <a:gd name="connsiteX7" fmla="*/ 952896 w 1098503"/>
              <a:gd name="connsiteY7" fmla="*/ 872211 h 1098503"/>
              <a:gd name="connsiteX8" fmla="*/ 145607 w 1098503"/>
              <a:gd name="connsiteY8" fmla="*/ 872211 h 1098503"/>
              <a:gd name="connsiteX9" fmla="*/ 145607 w 1098503"/>
              <a:gd name="connsiteY9" fmla="*/ 613843 h 1098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8503" h="1098503">
                <a:moveTo>
                  <a:pt x="145607" y="226292"/>
                </a:moveTo>
                <a:lnTo>
                  <a:pt x="952896" y="226292"/>
                </a:lnTo>
                <a:lnTo>
                  <a:pt x="952896" y="484660"/>
                </a:lnTo>
                <a:lnTo>
                  <a:pt x="145607" y="484660"/>
                </a:lnTo>
                <a:lnTo>
                  <a:pt x="145607" y="226292"/>
                </a:lnTo>
                <a:close/>
                <a:moveTo>
                  <a:pt x="145607" y="613843"/>
                </a:moveTo>
                <a:lnTo>
                  <a:pt x="952896" y="613843"/>
                </a:lnTo>
                <a:lnTo>
                  <a:pt x="952896" y="872211"/>
                </a:lnTo>
                <a:lnTo>
                  <a:pt x="145607" y="872211"/>
                </a:lnTo>
                <a:lnTo>
                  <a:pt x="145607" y="613843"/>
                </a:lnTo>
                <a:close/>
              </a:path>
            </a:pathLst>
          </a:custGeom>
          <a:solidFill>
            <a:schemeClr val="tx1"/>
          </a:solidFill>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lIns="145607" tIns="226292" rIns="145607" bIns="226292" spcCol="1270" anchor="ctr"/>
          <a:lstStyle/>
          <a:p>
            <a:pPr algn="ctr" defTabSz="622300">
              <a:lnSpc>
                <a:spcPct val="90000"/>
              </a:lnSpc>
              <a:spcAft>
                <a:spcPct val="35000"/>
              </a:spcAft>
              <a:defRPr/>
            </a:pPr>
            <a:endParaRPr lang="en-CA" sz="1400"/>
          </a:p>
        </p:txBody>
      </p:sp>
      <p:graphicFrame>
        <p:nvGraphicFramePr>
          <p:cNvPr id="33" name="Table 32">
            <a:extLst>
              <a:ext uri="{FF2B5EF4-FFF2-40B4-BE49-F238E27FC236}">
                <a16:creationId xmlns:a16="http://schemas.microsoft.com/office/drawing/2014/main" id="{4729CD5C-C32C-67D2-A243-8A89609B38B8}"/>
              </a:ext>
            </a:extLst>
          </p:cNvPr>
          <p:cNvGraphicFramePr>
            <a:graphicFrameLocks noGrp="1"/>
          </p:cNvGraphicFramePr>
          <p:nvPr/>
        </p:nvGraphicFramePr>
        <p:xfrm>
          <a:off x="219075" y="3116263"/>
          <a:ext cx="3408363" cy="2293936"/>
        </p:xfrm>
        <a:graphic>
          <a:graphicData uri="http://schemas.openxmlformats.org/drawingml/2006/table">
            <a:tbl>
              <a:tblPr firstRow="1" bandRow="1">
                <a:tableStyleId>{3B4B98B0-60AC-42C2-AFA5-B58CD77FA1E5}</a:tableStyleId>
              </a:tblPr>
              <a:tblGrid>
                <a:gridCol w="1692181">
                  <a:extLst>
                    <a:ext uri="{9D8B030D-6E8A-4147-A177-3AD203B41FA5}">
                      <a16:colId xmlns:a16="http://schemas.microsoft.com/office/drawing/2014/main" val="20000"/>
                    </a:ext>
                  </a:extLst>
                </a:gridCol>
                <a:gridCol w="1716182">
                  <a:extLst>
                    <a:ext uri="{9D8B030D-6E8A-4147-A177-3AD203B41FA5}">
                      <a16:colId xmlns:a16="http://schemas.microsoft.com/office/drawing/2014/main" val="20001"/>
                    </a:ext>
                  </a:extLst>
                </a:gridCol>
              </a:tblGrid>
              <a:tr h="573484">
                <a:tc>
                  <a:txBody>
                    <a:bodyPr/>
                    <a:lstStyle/>
                    <a:p>
                      <a:pPr algn="ctr"/>
                      <a:r>
                        <a:rPr lang="en-CA" sz="1800" dirty="0"/>
                        <a:t>STUDENTID</a:t>
                      </a:r>
                    </a:p>
                  </a:txBody>
                  <a:tcPr marT="45700" marB="45700"/>
                </a:tc>
                <a:tc>
                  <a:txBody>
                    <a:bodyPr/>
                    <a:lstStyle/>
                    <a:p>
                      <a:pPr algn="ctr"/>
                      <a:r>
                        <a:rPr lang="en-CA" sz="1800" dirty="0"/>
                        <a:t>NAME</a:t>
                      </a:r>
                    </a:p>
                  </a:txBody>
                  <a:tcPr marT="45700" marB="45700"/>
                </a:tc>
                <a:extLst>
                  <a:ext uri="{0D108BD9-81ED-4DB2-BD59-A6C34878D82A}">
                    <a16:rowId xmlns:a16="http://schemas.microsoft.com/office/drawing/2014/main" val="10000"/>
                  </a:ext>
                </a:extLst>
              </a:tr>
              <a:tr h="573484">
                <a:tc>
                  <a:txBody>
                    <a:bodyPr/>
                    <a:lstStyle/>
                    <a:p>
                      <a:pPr algn="ctr"/>
                      <a:r>
                        <a:rPr lang="en-CA" sz="1800" dirty="0"/>
                        <a:t>1</a:t>
                      </a:r>
                    </a:p>
                  </a:txBody>
                  <a:tcPr marT="45700" marB="45700"/>
                </a:tc>
                <a:tc>
                  <a:txBody>
                    <a:bodyPr/>
                    <a:lstStyle/>
                    <a:p>
                      <a:r>
                        <a:rPr lang="en-CA" sz="1800" dirty="0"/>
                        <a:t>Talha Amjad</a:t>
                      </a:r>
                    </a:p>
                  </a:txBody>
                  <a:tcPr marT="45700" marB="45700"/>
                </a:tc>
                <a:extLst>
                  <a:ext uri="{0D108BD9-81ED-4DB2-BD59-A6C34878D82A}">
                    <a16:rowId xmlns:a16="http://schemas.microsoft.com/office/drawing/2014/main" val="10001"/>
                  </a:ext>
                </a:extLst>
              </a:tr>
              <a:tr h="573484">
                <a:tc>
                  <a:txBody>
                    <a:bodyPr/>
                    <a:lstStyle/>
                    <a:p>
                      <a:pPr algn="ctr"/>
                      <a:r>
                        <a:rPr lang="en-CA" sz="1800" dirty="0"/>
                        <a:t>2</a:t>
                      </a:r>
                    </a:p>
                  </a:txBody>
                  <a:tcPr marT="45700" marB="45700"/>
                </a:tc>
                <a:tc>
                  <a:txBody>
                    <a:bodyPr/>
                    <a:lstStyle/>
                    <a:p>
                      <a:r>
                        <a:rPr lang="en-CA" sz="1800" dirty="0"/>
                        <a:t>Sara Saleem</a:t>
                      </a:r>
                    </a:p>
                  </a:txBody>
                  <a:tcPr marT="45700" marB="45700"/>
                </a:tc>
                <a:extLst>
                  <a:ext uri="{0D108BD9-81ED-4DB2-BD59-A6C34878D82A}">
                    <a16:rowId xmlns:a16="http://schemas.microsoft.com/office/drawing/2014/main" val="10002"/>
                  </a:ext>
                </a:extLst>
              </a:tr>
              <a:tr h="573484">
                <a:tc>
                  <a:txBody>
                    <a:bodyPr/>
                    <a:lstStyle/>
                    <a:p>
                      <a:pPr algn="ctr"/>
                      <a:r>
                        <a:rPr lang="en-CA" sz="1800" dirty="0"/>
                        <a:t>3</a:t>
                      </a:r>
                    </a:p>
                  </a:txBody>
                  <a:tcPr marT="45700" marB="45700"/>
                </a:tc>
                <a:tc>
                  <a:txBody>
                    <a:bodyPr/>
                    <a:lstStyle/>
                    <a:p>
                      <a:r>
                        <a:rPr lang="en-CA" sz="1800" dirty="0"/>
                        <a:t>Aqib Ali</a:t>
                      </a:r>
                    </a:p>
                  </a:txBody>
                  <a:tcPr marT="45700" marB="45700"/>
                </a:tc>
                <a:extLst>
                  <a:ext uri="{0D108BD9-81ED-4DB2-BD59-A6C34878D82A}">
                    <a16:rowId xmlns:a16="http://schemas.microsoft.com/office/drawing/2014/main" val="10003"/>
                  </a:ext>
                </a:extLst>
              </a:tr>
            </a:tbl>
          </a:graphicData>
        </a:graphic>
      </p:graphicFrame>
      <p:sp>
        <p:nvSpPr>
          <p:cNvPr id="34" name="TextBox 33">
            <a:extLst>
              <a:ext uri="{FF2B5EF4-FFF2-40B4-BE49-F238E27FC236}">
                <a16:creationId xmlns:a16="http://schemas.microsoft.com/office/drawing/2014/main" id="{17CDD2C5-1AB3-0D22-49DF-A272ABFF5F8C}"/>
              </a:ext>
            </a:extLst>
          </p:cNvPr>
          <p:cNvSpPr txBox="1">
            <a:spLocks noChangeArrowheads="1"/>
          </p:cNvSpPr>
          <p:nvPr/>
        </p:nvSpPr>
        <p:spPr bwMode="auto">
          <a:xfrm>
            <a:off x="801688" y="5421313"/>
            <a:ext cx="22415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CA" altLang="en-US"/>
              <a:t>Student relation</a:t>
            </a:r>
          </a:p>
        </p:txBody>
      </p:sp>
      <p:graphicFrame>
        <p:nvGraphicFramePr>
          <p:cNvPr id="35" name="Table 34">
            <a:extLst>
              <a:ext uri="{FF2B5EF4-FFF2-40B4-BE49-F238E27FC236}">
                <a16:creationId xmlns:a16="http://schemas.microsoft.com/office/drawing/2014/main" id="{E6996909-ED96-8A94-9417-08370E3C0915}"/>
              </a:ext>
            </a:extLst>
          </p:cNvPr>
          <p:cNvGraphicFramePr>
            <a:graphicFrameLocks noGrp="1"/>
          </p:cNvGraphicFramePr>
          <p:nvPr/>
        </p:nvGraphicFramePr>
        <p:xfrm>
          <a:off x="4814888" y="3116263"/>
          <a:ext cx="3408362" cy="2293936"/>
        </p:xfrm>
        <a:graphic>
          <a:graphicData uri="http://schemas.openxmlformats.org/drawingml/2006/table">
            <a:tbl>
              <a:tblPr firstRow="1" bandRow="1">
                <a:tableStyleId>{D27102A9-8310-4765-A935-A1911B00CA55}</a:tableStyleId>
              </a:tblPr>
              <a:tblGrid>
                <a:gridCol w="1692180">
                  <a:extLst>
                    <a:ext uri="{9D8B030D-6E8A-4147-A177-3AD203B41FA5}">
                      <a16:colId xmlns:a16="http://schemas.microsoft.com/office/drawing/2014/main" val="20000"/>
                    </a:ext>
                  </a:extLst>
                </a:gridCol>
                <a:gridCol w="1716182">
                  <a:extLst>
                    <a:ext uri="{9D8B030D-6E8A-4147-A177-3AD203B41FA5}">
                      <a16:colId xmlns:a16="http://schemas.microsoft.com/office/drawing/2014/main" val="20001"/>
                    </a:ext>
                  </a:extLst>
                </a:gridCol>
              </a:tblGrid>
              <a:tr h="573484">
                <a:tc>
                  <a:txBody>
                    <a:bodyPr/>
                    <a:lstStyle/>
                    <a:p>
                      <a:pPr algn="ctr"/>
                      <a:r>
                        <a:rPr lang="en-CA" altLang="zh-CN" sz="1800" u="none" dirty="0"/>
                        <a:t>NAME</a:t>
                      </a:r>
                      <a:endParaRPr lang="en-CA" sz="1800" u="none" dirty="0"/>
                    </a:p>
                  </a:txBody>
                  <a:tcPr marT="45700" marB="45700"/>
                </a:tc>
                <a:tc>
                  <a:txBody>
                    <a:bodyPr/>
                    <a:lstStyle/>
                    <a:p>
                      <a:pPr algn="ctr"/>
                      <a:r>
                        <a:rPr lang="en-CA" sz="1800" dirty="0"/>
                        <a:t>STUDENTID</a:t>
                      </a:r>
                    </a:p>
                  </a:txBody>
                  <a:tcPr marT="45700" marB="45700"/>
                </a:tc>
                <a:extLst>
                  <a:ext uri="{0D108BD9-81ED-4DB2-BD59-A6C34878D82A}">
                    <a16:rowId xmlns:a16="http://schemas.microsoft.com/office/drawing/2014/main" val="10000"/>
                  </a:ext>
                </a:extLst>
              </a:tr>
              <a:tr h="573484">
                <a:tc>
                  <a:txBody>
                    <a:bodyPr/>
                    <a:lstStyle/>
                    <a:p>
                      <a:r>
                        <a:rPr lang="en-CA" sz="1800" dirty="0"/>
                        <a:t>Talha Amjad</a:t>
                      </a:r>
                    </a:p>
                  </a:txBody>
                  <a:tcPr marT="45700" marB="45700"/>
                </a:tc>
                <a:tc>
                  <a:txBody>
                    <a:bodyPr/>
                    <a:lstStyle/>
                    <a:p>
                      <a:pPr algn="ctr"/>
                      <a:r>
                        <a:rPr lang="en-CA" sz="1800" dirty="0"/>
                        <a:t>1</a:t>
                      </a:r>
                    </a:p>
                  </a:txBody>
                  <a:tcPr marT="45700" marB="45700"/>
                </a:tc>
                <a:extLst>
                  <a:ext uri="{0D108BD9-81ED-4DB2-BD59-A6C34878D82A}">
                    <a16:rowId xmlns:a16="http://schemas.microsoft.com/office/drawing/2014/main" val="10001"/>
                  </a:ext>
                </a:extLst>
              </a:tr>
              <a:tr h="573484">
                <a:tc>
                  <a:txBody>
                    <a:bodyPr/>
                    <a:lstStyle/>
                    <a:p>
                      <a:r>
                        <a:rPr lang="en-CA" sz="1800" dirty="0"/>
                        <a:t>Sara Saleem</a:t>
                      </a:r>
                    </a:p>
                  </a:txBody>
                  <a:tcPr marT="45700" marB="45700"/>
                </a:tc>
                <a:tc>
                  <a:txBody>
                    <a:bodyPr/>
                    <a:lstStyle/>
                    <a:p>
                      <a:pPr algn="ctr"/>
                      <a:r>
                        <a:rPr lang="en-CA" sz="1800" dirty="0"/>
                        <a:t>2</a:t>
                      </a:r>
                    </a:p>
                  </a:txBody>
                  <a:tcPr marT="45700" marB="45700"/>
                </a:tc>
                <a:extLst>
                  <a:ext uri="{0D108BD9-81ED-4DB2-BD59-A6C34878D82A}">
                    <a16:rowId xmlns:a16="http://schemas.microsoft.com/office/drawing/2014/main" val="10002"/>
                  </a:ext>
                </a:extLst>
              </a:tr>
              <a:tr h="573484">
                <a:tc>
                  <a:txBody>
                    <a:bodyPr/>
                    <a:lstStyle/>
                    <a:p>
                      <a:r>
                        <a:rPr lang="en-CA" sz="1800" dirty="0"/>
                        <a:t>Aqib Ali</a:t>
                      </a:r>
                    </a:p>
                  </a:txBody>
                  <a:tcPr marT="45700" marB="45700"/>
                </a:tc>
                <a:tc>
                  <a:txBody>
                    <a:bodyPr/>
                    <a:lstStyle/>
                    <a:p>
                      <a:pPr algn="ctr"/>
                      <a:r>
                        <a:rPr lang="en-CA" sz="1800" dirty="0"/>
                        <a:t>3</a:t>
                      </a:r>
                    </a:p>
                  </a:txBody>
                  <a:tcPr marT="45700" marB="45700"/>
                </a:tc>
                <a:extLst>
                  <a:ext uri="{0D108BD9-81ED-4DB2-BD59-A6C34878D82A}">
                    <a16:rowId xmlns:a16="http://schemas.microsoft.com/office/drawing/2014/main" val="10003"/>
                  </a:ext>
                </a:extLst>
              </a:tr>
            </a:tbl>
          </a:graphicData>
        </a:graphic>
      </p:graphicFrame>
      <p:sp>
        <p:nvSpPr>
          <p:cNvPr id="36" name="TextBox 35">
            <a:extLst>
              <a:ext uri="{FF2B5EF4-FFF2-40B4-BE49-F238E27FC236}">
                <a16:creationId xmlns:a16="http://schemas.microsoft.com/office/drawing/2014/main" id="{057A76B8-D69D-666A-CC85-369843C22C1A}"/>
              </a:ext>
            </a:extLst>
          </p:cNvPr>
          <p:cNvSpPr txBox="1">
            <a:spLocks noChangeArrowheads="1"/>
          </p:cNvSpPr>
          <p:nvPr/>
        </p:nvSpPr>
        <p:spPr bwMode="auto">
          <a:xfrm>
            <a:off x="5399088" y="5421313"/>
            <a:ext cx="22415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CA" altLang="en-US"/>
              <a:t>Student relation</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wipe(left)">
                                      <p:cBhvr>
                                        <p:cTn id="7" dur="500"/>
                                        <p:tgtEl>
                                          <p:spTgt spid="30"/>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1">
                                            <p:txEl>
                                              <p:pRg st="0" end="0"/>
                                            </p:txEl>
                                          </p:spTgt>
                                        </p:tgtEl>
                                        <p:attrNameLst>
                                          <p:attrName>style.visibility</p:attrName>
                                        </p:attrNameLst>
                                      </p:cBhvr>
                                      <p:to>
                                        <p:strVal val="visible"/>
                                      </p:to>
                                    </p:set>
                                    <p:animEffect transition="in" filter="wipe(left)">
                                      <p:cBhvr>
                                        <p:cTn id="11" dur="500"/>
                                        <p:tgtEl>
                                          <p:spTgt spid="31">
                                            <p:txEl>
                                              <p:pRg st="0" end="0"/>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33"/>
                                        </p:tgtEl>
                                        <p:attrNameLst>
                                          <p:attrName>style.visibility</p:attrName>
                                        </p:attrNameLst>
                                      </p:cBhvr>
                                      <p:to>
                                        <p:strVal val="visible"/>
                                      </p:to>
                                    </p:set>
                                    <p:animEffect transition="in" filter="wipe(up)">
                                      <p:cBhvr>
                                        <p:cTn id="16" dur="500"/>
                                        <p:tgtEl>
                                          <p:spTgt spid="33"/>
                                        </p:tgtEl>
                                      </p:cBhvr>
                                    </p:animEffect>
                                  </p:childTnLst>
                                </p:cTn>
                              </p:par>
                            </p:childTnLst>
                          </p:cTn>
                        </p:par>
                        <p:par>
                          <p:cTn id="17" fill="hold" nodeType="afterGroup">
                            <p:stCondLst>
                              <p:cond delay="500"/>
                            </p:stCondLst>
                            <p:childTnLst>
                              <p:par>
                                <p:cTn id="18" presetID="22" presetClass="entr" presetSubtype="1" fill="hold" grpId="0" nodeType="afterEffect">
                                  <p:stCondLst>
                                    <p:cond delay="0"/>
                                  </p:stCondLst>
                                  <p:childTnLst>
                                    <p:set>
                                      <p:cBhvr>
                                        <p:cTn id="19" dur="1" fill="hold">
                                          <p:stCondLst>
                                            <p:cond delay="0"/>
                                          </p:stCondLst>
                                        </p:cTn>
                                        <p:tgtEl>
                                          <p:spTgt spid="34"/>
                                        </p:tgtEl>
                                        <p:attrNameLst>
                                          <p:attrName>style.visibility</p:attrName>
                                        </p:attrNameLst>
                                      </p:cBhvr>
                                      <p:to>
                                        <p:strVal val="visible"/>
                                      </p:to>
                                    </p:set>
                                    <p:animEffect transition="in" filter="wipe(up)">
                                      <p:cBhvr>
                                        <p:cTn id="20" dur="500"/>
                                        <p:tgtEl>
                                          <p:spTgt spid="34"/>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1" fill="hold" nodeType="clickEffect">
                                  <p:stCondLst>
                                    <p:cond delay="0"/>
                                  </p:stCondLst>
                                  <p:childTnLst>
                                    <p:set>
                                      <p:cBhvr>
                                        <p:cTn id="24" dur="1" fill="hold">
                                          <p:stCondLst>
                                            <p:cond delay="0"/>
                                          </p:stCondLst>
                                        </p:cTn>
                                        <p:tgtEl>
                                          <p:spTgt spid="35"/>
                                        </p:tgtEl>
                                        <p:attrNameLst>
                                          <p:attrName>style.visibility</p:attrName>
                                        </p:attrNameLst>
                                      </p:cBhvr>
                                      <p:to>
                                        <p:strVal val="visible"/>
                                      </p:to>
                                    </p:set>
                                    <p:animEffect transition="in" filter="wipe(up)">
                                      <p:cBhvr>
                                        <p:cTn id="25" dur="500"/>
                                        <p:tgtEl>
                                          <p:spTgt spid="35"/>
                                        </p:tgtEl>
                                      </p:cBhvr>
                                    </p:animEffect>
                                  </p:childTnLst>
                                </p:cTn>
                              </p:par>
                            </p:childTnLst>
                          </p:cTn>
                        </p:par>
                        <p:par>
                          <p:cTn id="26" fill="hold" nodeType="afterGroup">
                            <p:stCondLst>
                              <p:cond delay="500"/>
                            </p:stCondLst>
                            <p:childTnLst>
                              <p:par>
                                <p:cTn id="27" presetID="22" presetClass="entr" presetSubtype="1" fill="hold" grpId="0" nodeType="afterEffect">
                                  <p:stCondLst>
                                    <p:cond delay="0"/>
                                  </p:stCondLst>
                                  <p:childTnLst>
                                    <p:set>
                                      <p:cBhvr>
                                        <p:cTn id="28" dur="1" fill="hold">
                                          <p:stCondLst>
                                            <p:cond delay="0"/>
                                          </p:stCondLst>
                                        </p:cTn>
                                        <p:tgtEl>
                                          <p:spTgt spid="36"/>
                                        </p:tgtEl>
                                        <p:attrNameLst>
                                          <p:attrName>style.visibility</p:attrName>
                                        </p:attrNameLst>
                                      </p:cBhvr>
                                      <p:to>
                                        <p:strVal val="visible"/>
                                      </p:to>
                                    </p:set>
                                    <p:animEffect transition="in" filter="wipe(up)">
                                      <p:cBhvr>
                                        <p:cTn id="29" dur="500"/>
                                        <p:tgtEl>
                                          <p:spTgt spid="36"/>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nodeType="clickEffect">
                                  <p:stCondLst>
                                    <p:cond delay="0"/>
                                  </p:stCondLst>
                                  <p:childTnLst>
                                    <p:set>
                                      <p:cBhvr>
                                        <p:cTn id="33" dur="1" fill="hold">
                                          <p:stCondLst>
                                            <p:cond delay="0"/>
                                          </p:stCondLst>
                                        </p:cTn>
                                        <p:tgtEl>
                                          <p:spTgt spid="32"/>
                                        </p:tgtEl>
                                        <p:attrNameLst>
                                          <p:attrName>style.visibility</p:attrName>
                                        </p:attrNameLst>
                                      </p:cBhvr>
                                      <p:to>
                                        <p:strVal val="visible"/>
                                      </p:to>
                                    </p:set>
                                    <p:animEffect transition="in" filter="wipe(left)">
                                      <p:cBhvr>
                                        <p:cTn id="34" dur="500"/>
                                        <p:tgtEl>
                                          <p:spTgt spid="32"/>
                                        </p:tgtEl>
                                      </p:cBhvr>
                                    </p:animEffect>
                                  </p:childTnLst>
                                </p:cTn>
                              </p:par>
                            </p:childTnLst>
                          </p:cTn>
                        </p:par>
                        <p:par>
                          <p:cTn id="35" fill="hold" nodeType="afterGroup">
                            <p:stCondLst>
                              <p:cond delay="500"/>
                            </p:stCondLst>
                            <p:childTnLst>
                              <p:par>
                                <p:cTn id="36" presetID="22" presetClass="entr" presetSubtype="8" fill="hold" grpId="0" nodeType="afterEffect">
                                  <p:stCondLst>
                                    <p:cond delay="0"/>
                                  </p:stCondLst>
                                  <p:childTnLst>
                                    <p:set>
                                      <p:cBhvr>
                                        <p:cTn id="37" dur="1" fill="hold">
                                          <p:stCondLst>
                                            <p:cond delay="0"/>
                                          </p:stCondLst>
                                        </p:cTn>
                                        <p:tgtEl>
                                          <p:spTgt spid="31">
                                            <p:txEl>
                                              <p:pRg st="6" end="6"/>
                                            </p:txEl>
                                          </p:spTgt>
                                        </p:tgtEl>
                                        <p:attrNameLst>
                                          <p:attrName>style.visibility</p:attrName>
                                        </p:attrNameLst>
                                      </p:cBhvr>
                                      <p:to>
                                        <p:strVal val="visible"/>
                                      </p:to>
                                    </p:set>
                                    <p:animEffect transition="in" filter="wipe(left)">
                                      <p:cBhvr>
                                        <p:cTn id="38" dur="500"/>
                                        <p:tgtEl>
                                          <p:spTgt spid="3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build="p"/>
      <p:bldP spid="30" grpId="0" animBg="1"/>
      <p:bldP spid="34" grpId="0"/>
      <p:bldP spid="36" grpId="0"/>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Content Placeholder 2">
            <a:extLst>
              <a:ext uri="{FF2B5EF4-FFF2-40B4-BE49-F238E27FC236}">
                <a16:creationId xmlns:a16="http://schemas.microsoft.com/office/drawing/2014/main" id="{76A38BD9-0EB5-C801-DEA8-9A6AC1DDDDF1}"/>
              </a:ext>
            </a:extLst>
          </p:cNvPr>
          <p:cNvSpPr txBox="1">
            <a:spLocks/>
          </p:cNvSpPr>
          <p:nvPr/>
        </p:nvSpPr>
        <p:spPr bwMode="auto">
          <a:xfrm>
            <a:off x="381000" y="1971675"/>
            <a:ext cx="7620000"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rgbClr val="FF6600"/>
              </a:buClr>
              <a:buFont typeface="Wingdings 3" panose="05040102010807070707" pitchFamily="18" charset="2"/>
              <a:buNone/>
            </a:pPr>
            <a:r>
              <a:rPr lang="en-CA" altLang="en-US" sz="3200">
                <a:latin typeface="Calibri" panose="020F0502020204030204" pitchFamily="34" charset="0"/>
              </a:rPr>
              <a:t>A relation cannot have duplicated rows</a:t>
            </a:r>
          </a:p>
          <a:p>
            <a:pPr eaLnBrk="1" hangingPunct="1">
              <a:spcBef>
                <a:spcPct val="20000"/>
              </a:spcBef>
              <a:buClr>
                <a:srgbClr val="FF6600"/>
              </a:buClr>
              <a:buFont typeface="Wingdings 3" panose="05040102010807070707" pitchFamily="18" charset="2"/>
              <a:buNone/>
            </a:pPr>
            <a:endParaRPr lang="en-CA" altLang="en-US" sz="3200">
              <a:latin typeface="Calibri" panose="020F0502020204030204" pitchFamily="34" charset="0"/>
            </a:endParaRPr>
          </a:p>
          <a:p>
            <a:pPr eaLnBrk="1" hangingPunct="1">
              <a:spcBef>
                <a:spcPct val="20000"/>
              </a:spcBef>
              <a:buClr>
                <a:srgbClr val="FF6600"/>
              </a:buClr>
              <a:buFont typeface="Wingdings 3" panose="05040102010807070707" pitchFamily="18" charset="2"/>
              <a:buNone/>
            </a:pPr>
            <a:endParaRPr lang="en-CA" altLang="en-US" sz="3200">
              <a:latin typeface="Calibri" panose="020F0502020204030204" pitchFamily="34" charset="0"/>
            </a:endParaRPr>
          </a:p>
          <a:p>
            <a:pPr eaLnBrk="1" hangingPunct="1">
              <a:spcBef>
                <a:spcPct val="20000"/>
              </a:spcBef>
              <a:buClr>
                <a:srgbClr val="FF6600"/>
              </a:buClr>
              <a:buFont typeface="Wingdings 3" panose="05040102010807070707" pitchFamily="18" charset="2"/>
              <a:buNone/>
            </a:pPr>
            <a:endParaRPr lang="en-CA" altLang="en-US" sz="3200">
              <a:latin typeface="Calibri" panose="020F0502020204030204" pitchFamily="34" charset="0"/>
            </a:endParaRPr>
          </a:p>
          <a:p>
            <a:pPr eaLnBrk="1" hangingPunct="1">
              <a:spcBef>
                <a:spcPct val="20000"/>
              </a:spcBef>
              <a:buClr>
                <a:srgbClr val="FF6600"/>
              </a:buClr>
              <a:buFont typeface="Wingdings 3" panose="05040102010807070707" pitchFamily="18" charset="2"/>
              <a:buNone/>
            </a:pPr>
            <a:endParaRPr lang="en-CA" altLang="en-US" sz="2400">
              <a:latin typeface="Calibri" panose="020F0502020204030204" pitchFamily="34" charset="0"/>
            </a:endParaRPr>
          </a:p>
          <a:p>
            <a:pPr eaLnBrk="1" hangingPunct="1">
              <a:spcBef>
                <a:spcPct val="20000"/>
              </a:spcBef>
              <a:buClr>
                <a:srgbClr val="FF6600"/>
              </a:buClr>
              <a:buFont typeface="Wingdings 3" panose="05040102010807070707" pitchFamily="18" charset="2"/>
              <a:buNone/>
            </a:pPr>
            <a:endParaRPr lang="en-CA" altLang="en-US" sz="3200">
              <a:latin typeface="Calibri" panose="020F0502020204030204" pitchFamily="34" charset="0"/>
            </a:endParaRPr>
          </a:p>
          <a:p>
            <a:pPr eaLnBrk="1" hangingPunct="1">
              <a:spcBef>
                <a:spcPct val="20000"/>
              </a:spcBef>
              <a:buClr>
                <a:srgbClr val="FF6600"/>
              </a:buClr>
              <a:buFont typeface="Wingdings 3" panose="05040102010807070707" pitchFamily="18" charset="2"/>
              <a:buNone/>
            </a:pPr>
            <a:endParaRPr lang="en-CA" altLang="en-US" sz="3200">
              <a:latin typeface="Calibri" panose="020F0502020204030204" pitchFamily="34" charset="0"/>
            </a:endParaRPr>
          </a:p>
          <a:p>
            <a:pPr eaLnBrk="1" hangingPunct="1">
              <a:spcBef>
                <a:spcPct val="20000"/>
              </a:spcBef>
              <a:buClr>
                <a:srgbClr val="FF6600"/>
              </a:buClr>
              <a:buFont typeface="Wingdings 3" panose="05040102010807070707" pitchFamily="18" charset="2"/>
              <a:buNone/>
            </a:pPr>
            <a:endParaRPr lang="en-CA" altLang="en-US" sz="4000">
              <a:latin typeface="Calibri" panose="020F0502020204030204" pitchFamily="34" charset="0"/>
            </a:endParaRPr>
          </a:p>
          <a:p>
            <a:pPr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p:txBody>
      </p:sp>
      <p:graphicFrame>
        <p:nvGraphicFramePr>
          <p:cNvPr id="17" name="Table 16">
            <a:extLst>
              <a:ext uri="{FF2B5EF4-FFF2-40B4-BE49-F238E27FC236}">
                <a16:creationId xmlns:a16="http://schemas.microsoft.com/office/drawing/2014/main" id="{575A724C-CD32-8AB5-4AED-ABAACF753399}"/>
              </a:ext>
            </a:extLst>
          </p:cNvPr>
          <p:cNvGraphicFramePr>
            <a:graphicFrameLocks noGrp="1"/>
          </p:cNvGraphicFramePr>
          <p:nvPr/>
        </p:nvGraphicFramePr>
        <p:xfrm>
          <a:off x="1176338" y="2763838"/>
          <a:ext cx="5592763" cy="2293936"/>
        </p:xfrm>
        <a:graphic>
          <a:graphicData uri="http://schemas.openxmlformats.org/drawingml/2006/table">
            <a:tbl>
              <a:tblPr firstRow="1" bandRow="1">
                <a:tableStyleId>{3B4B98B0-60AC-42C2-AFA5-B58CD77FA1E5}</a:tableStyleId>
              </a:tblPr>
              <a:tblGrid>
                <a:gridCol w="1805756">
                  <a:extLst>
                    <a:ext uri="{9D8B030D-6E8A-4147-A177-3AD203B41FA5}">
                      <a16:colId xmlns:a16="http://schemas.microsoft.com/office/drawing/2014/main" val="20000"/>
                    </a:ext>
                  </a:extLst>
                </a:gridCol>
                <a:gridCol w="1914021">
                  <a:extLst>
                    <a:ext uri="{9D8B030D-6E8A-4147-A177-3AD203B41FA5}">
                      <a16:colId xmlns:a16="http://schemas.microsoft.com/office/drawing/2014/main" val="20001"/>
                    </a:ext>
                  </a:extLst>
                </a:gridCol>
                <a:gridCol w="1872986">
                  <a:extLst>
                    <a:ext uri="{9D8B030D-6E8A-4147-A177-3AD203B41FA5}">
                      <a16:colId xmlns:a16="http://schemas.microsoft.com/office/drawing/2014/main" val="20002"/>
                    </a:ext>
                  </a:extLst>
                </a:gridCol>
              </a:tblGrid>
              <a:tr h="573484">
                <a:tc>
                  <a:txBody>
                    <a:bodyPr/>
                    <a:lstStyle/>
                    <a:p>
                      <a:pPr algn="ctr"/>
                      <a:r>
                        <a:rPr lang="en-CA" sz="1800" dirty="0"/>
                        <a:t>STUDENTID</a:t>
                      </a:r>
                    </a:p>
                  </a:txBody>
                  <a:tcPr marL="91442" marR="91442" marT="45700" marB="45700"/>
                </a:tc>
                <a:tc>
                  <a:txBody>
                    <a:bodyPr/>
                    <a:lstStyle/>
                    <a:p>
                      <a:pPr algn="ctr"/>
                      <a:r>
                        <a:rPr lang="en-CA" sz="1800" dirty="0"/>
                        <a:t>NAME</a:t>
                      </a:r>
                    </a:p>
                  </a:txBody>
                  <a:tcPr marL="91442" marR="91442" marT="45700" marB="45700"/>
                </a:tc>
                <a:tc>
                  <a:txBody>
                    <a:bodyPr/>
                    <a:lstStyle/>
                    <a:p>
                      <a:pPr algn="ctr"/>
                      <a:r>
                        <a:rPr lang="en-CA" sz="1800" dirty="0"/>
                        <a:t>Gender</a:t>
                      </a:r>
                    </a:p>
                  </a:txBody>
                  <a:tcPr marL="91442" marR="91442" marT="45700" marB="45700"/>
                </a:tc>
                <a:extLst>
                  <a:ext uri="{0D108BD9-81ED-4DB2-BD59-A6C34878D82A}">
                    <a16:rowId xmlns:a16="http://schemas.microsoft.com/office/drawing/2014/main" val="10000"/>
                  </a:ext>
                </a:extLst>
              </a:tr>
              <a:tr h="573484">
                <a:tc>
                  <a:txBody>
                    <a:bodyPr/>
                    <a:lstStyle/>
                    <a:p>
                      <a:pPr algn="ctr"/>
                      <a:r>
                        <a:rPr lang="en-CA" sz="1800" dirty="0"/>
                        <a:t>1</a:t>
                      </a:r>
                    </a:p>
                  </a:txBody>
                  <a:tcPr marL="91442" marR="91442" marT="45700" marB="45700"/>
                </a:tc>
                <a:tc>
                  <a:txBody>
                    <a:bodyPr/>
                    <a:lstStyle/>
                    <a:p>
                      <a:r>
                        <a:rPr lang="en-CA" sz="1800" dirty="0"/>
                        <a:t>Sara Saleem</a:t>
                      </a:r>
                    </a:p>
                  </a:txBody>
                  <a:tcPr marL="91442" marR="91442" marT="45700" marB="45700"/>
                </a:tc>
                <a:tc>
                  <a:txBody>
                    <a:bodyPr/>
                    <a:lstStyle/>
                    <a:p>
                      <a:r>
                        <a:rPr lang="en-CA" sz="1800" dirty="0"/>
                        <a:t>Female</a:t>
                      </a:r>
                    </a:p>
                  </a:txBody>
                  <a:tcPr marL="91442" marR="91442" marT="45700" marB="45700"/>
                </a:tc>
                <a:extLst>
                  <a:ext uri="{0D108BD9-81ED-4DB2-BD59-A6C34878D82A}">
                    <a16:rowId xmlns:a16="http://schemas.microsoft.com/office/drawing/2014/main" val="10001"/>
                  </a:ext>
                </a:extLst>
              </a:tr>
              <a:tr h="573484">
                <a:tc>
                  <a:txBody>
                    <a:bodyPr/>
                    <a:lstStyle/>
                    <a:p>
                      <a:pPr algn="ctr"/>
                      <a:r>
                        <a:rPr lang="en-CA" sz="1800" dirty="0"/>
                        <a:t>2</a:t>
                      </a:r>
                    </a:p>
                  </a:txBody>
                  <a:tcPr marL="91442" marR="91442" marT="45700" marB="45700"/>
                </a:tc>
                <a:tc>
                  <a:txBody>
                    <a:bodyPr/>
                    <a:lstStyle/>
                    <a:p>
                      <a:r>
                        <a:rPr lang="en-CA" sz="1800" dirty="0"/>
                        <a:t>Aqib Ali</a:t>
                      </a:r>
                    </a:p>
                  </a:txBody>
                  <a:tcPr marL="91442" marR="91442" marT="45700" marB="45700"/>
                </a:tc>
                <a:tc>
                  <a:txBody>
                    <a:bodyPr/>
                    <a:lstStyle/>
                    <a:p>
                      <a:r>
                        <a:rPr lang="en-CA" sz="1800" dirty="0"/>
                        <a:t>Male</a:t>
                      </a:r>
                    </a:p>
                  </a:txBody>
                  <a:tcPr marL="91442" marR="91442" marT="45700" marB="45700"/>
                </a:tc>
                <a:extLst>
                  <a:ext uri="{0D108BD9-81ED-4DB2-BD59-A6C34878D82A}">
                    <a16:rowId xmlns:a16="http://schemas.microsoft.com/office/drawing/2014/main" val="10002"/>
                  </a:ext>
                </a:extLst>
              </a:tr>
              <a:tr h="573484">
                <a:tc>
                  <a:txBody>
                    <a:bodyPr/>
                    <a:lstStyle/>
                    <a:p>
                      <a:pPr algn="ctr"/>
                      <a:r>
                        <a:rPr lang="en-CA" sz="1800" dirty="0"/>
                        <a:t>1</a:t>
                      </a:r>
                    </a:p>
                  </a:txBody>
                  <a:tcPr marL="91442" marR="91442" marT="45700" marB="45700"/>
                </a:tc>
                <a:tc>
                  <a:txBody>
                    <a:bodyPr/>
                    <a:lstStyle/>
                    <a:p>
                      <a:r>
                        <a:rPr lang="en-CA" sz="1800" dirty="0"/>
                        <a:t>Sara Saleem</a:t>
                      </a:r>
                    </a:p>
                  </a:txBody>
                  <a:tcPr marL="91442" marR="91442" marT="45700" marB="45700"/>
                </a:tc>
                <a:tc>
                  <a:txBody>
                    <a:bodyPr/>
                    <a:lstStyle/>
                    <a:p>
                      <a:r>
                        <a:rPr lang="en-CA" sz="1800" dirty="0"/>
                        <a:t>Female</a:t>
                      </a:r>
                    </a:p>
                  </a:txBody>
                  <a:tcPr marL="91442" marR="91442" marT="45700" marB="45700"/>
                </a:tc>
                <a:extLst>
                  <a:ext uri="{0D108BD9-81ED-4DB2-BD59-A6C34878D82A}">
                    <a16:rowId xmlns:a16="http://schemas.microsoft.com/office/drawing/2014/main" val="10003"/>
                  </a:ext>
                </a:extLst>
              </a:tr>
            </a:tbl>
          </a:graphicData>
        </a:graphic>
      </p:graphicFrame>
      <p:sp>
        <p:nvSpPr>
          <p:cNvPr id="2" name="Title 1">
            <a:extLst>
              <a:ext uri="{FF2B5EF4-FFF2-40B4-BE49-F238E27FC236}">
                <a16:creationId xmlns:a16="http://schemas.microsoft.com/office/drawing/2014/main" id="{CD070221-26C6-F6D4-6D3A-3FB3E121BB9A}"/>
              </a:ext>
            </a:extLst>
          </p:cNvPr>
          <p:cNvSpPr>
            <a:spLocks noGrp="1"/>
          </p:cNvSpPr>
          <p:nvPr>
            <p:ph type="title"/>
          </p:nvPr>
        </p:nvSpPr>
        <p:spPr>
          <a:xfrm>
            <a:off x="457200" y="0"/>
            <a:ext cx="7620000" cy="1143000"/>
          </a:xfrm>
        </p:spPr>
        <p:txBody>
          <a:bodyPr/>
          <a:lstStyle/>
          <a:p>
            <a:pPr algn="ctr">
              <a:defRPr/>
            </a:pPr>
            <a:r>
              <a:rPr lang="en-US" dirty="0"/>
              <a:t>Characteristics of Relations</a:t>
            </a:r>
            <a:endParaRPr lang="en-CA" dirty="0"/>
          </a:p>
        </p:txBody>
      </p:sp>
      <p:sp>
        <p:nvSpPr>
          <p:cNvPr id="32" name="Multiply 31">
            <a:extLst>
              <a:ext uri="{FF2B5EF4-FFF2-40B4-BE49-F238E27FC236}">
                <a16:creationId xmlns:a16="http://schemas.microsoft.com/office/drawing/2014/main" id="{2E96E577-5649-086F-098B-86F8E7E5F4D3}"/>
              </a:ext>
            </a:extLst>
          </p:cNvPr>
          <p:cNvSpPr/>
          <p:nvPr/>
        </p:nvSpPr>
        <p:spPr bwMode="auto">
          <a:xfrm>
            <a:off x="2600325" y="2865438"/>
            <a:ext cx="2989263" cy="2376487"/>
          </a:xfrm>
          <a:prstGeom prst="mathMultiply">
            <a:avLst/>
          </a:prstGeom>
          <a:solidFill>
            <a:srgbClr val="B50C00"/>
          </a:solidFill>
          <a:ln w="9525" cap="flat" cmpd="sng" algn="ctr">
            <a:solidFill>
              <a:schemeClr val="tx1"/>
            </a:solidFill>
            <a:prstDash val="solid"/>
            <a:round/>
            <a:headEnd type="none" w="med" len="med"/>
            <a:tailEnd type="none" w="med" len="med"/>
          </a:ln>
          <a:effectLst/>
        </p:spPr>
        <p:txBody>
          <a:bodyPr/>
          <a:lstStyle/>
          <a:p>
            <a:pPr>
              <a:defRPr/>
            </a:pPr>
            <a:endParaRPr lang="en-CA">
              <a:latin typeface="Arial" charset="0"/>
            </a:endParaRPr>
          </a:p>
        </p:txBody>
      </p:sp>
      <p:sp>
        <p:nvSpPr>
          <p:cNvPr id="16" name="Rectangle 15">
            <a:extLst>
              <a:ext uri="{FF2B5EF4-FFF2-40B4-BE49-F238E27FC236}">
                <a16:creationId xmlns:a16="http://schemas.microsoft.com/office/drawing/2014/main" id="{AFC58B4A-583B-6E8C-0D8B-BC3C39D2804F}"/>
              </a:ext>
            </a:extLst>
          </p:cNvPr>
          <p:cNvSpPr/>
          <p:nvPr/>
        </p:nvSpPr>
        <p:spPr bwMode="auto">
          <a:xfrm>
            <a:off x="6196013" y="5715000"/>
            <a:ext cx="2076450" cy="673100"/>
          </a:xfrm>
          <a:prstGeom prst="rect">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anchor="ctr" anchorCtr="1"/>
          <a:lstStyle/>
          <a:p>
            <a:pPr algn="ctr">
              <a:defRPr/>
            </a:pPr>
            <a:r>
              <a:rPr lang="en-CA" dirty="0">
                <a:solidFill>
                  <a:schemeClr val="tx1"/>
                </a:solidFill>
                <a:latin typeface="Arial" charset="0"/>
              </a:rPr>
              <a:t>Duplicated rows</a:t>
            </a:r>
          </a:p>
        </p:txBody>
      </p:sp>
      <p:cxnSp>
        <p:nvCxnSpPr>
          <p:cNvPr id="4" name="Straight Connector 3">
            <a:extLst>
              <a:ext uri="{FF2B5EF4-FFF2-40B4-BE49-F238E27FC236}">
                <a16:creationId xmlns:a16="http://schemas.microsoft.com/office/drawing/2014/main" id="{3AF20B54-1E7C-5676-C3CF-2497E27798B9}"/>
              </a:ext>
            </a:extLst>
          </p:cNvPr>
          <p:cNvCxnSpPr/>
          <p:nvPr/>
        </p:nvCxnSpPr>
        <p:spPr bwMode="auto">
          <a:xfrm flipV="1">
            <a:off x="7572375" y="3627438"/>
            <a:ext cx="0" cy="2087562"/>
          </a:xfrm>
          <a:prstGeom prst="line">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cxnSp>
      <p:cxnSp>
        <p:nvCxnSpPr>
          <p:cNvPr id="6" name="Straight Arrow Connector 5">
            <a:extLst>
              <a:ext uri="{FF2B5EF4-FFF2-40B4-BE49-F238E27FC236}">
                <a16:creationId xmlns:a16="http://schemas.microsoft.com/office/drawing/2014/main" id="{93E8F2D5-8B70-4D9F-F4DF-497591BC46CE}"/>
              </a:ext>
            </a:extLst>
          </p:cNvPr>
          <p:cNvCxnSpPr/>
          <p:nvPr/>
        </p:nvCxnSpPr>
        <p:spPr bwMode="auto">
          <a:xfrm flipH="1">
            <a:off x="6780213" y="3627438"/>
            <a:ext cx="792162" cy="0"/>
          </a:xfrm>
          <a:prstGeom prst="straightConnector1">
            <a:avLst/>
          </a:prstGeom>
          <a:ln>
            <a:headEnd type="none" w="med" len="med"/>
            <a:tailEnd type="arrow"/>
          </a:ln>
        </p:spPr>
        <p:style>
          <a:lnRef idx="1">
            <a:schemeClr val="accent6"/>
          </a:lnRef>
          <a:fillRef idx="2">
            <a:schemeClr val="accent6"/>
          </a:fillRef>
          <a:effectRef idx="1">
            <a:schemeClr val="accent6"/>
          </a:effectRef>
          <a:fontRef idx="minor">
            <a:schemeClr val="dk1"/>
          </a:fontRef>
        </p:style>
      </p:cxnSp>
      <p:cxnSp>
        <p:nvCxnSpPr>
          <p:cNvPr id="22" name="Straight Arrow Connector 21">
            <a:extLst>
              <a:ext uri="{FF2B5EF4-FFF2-40B4-BE49-F238E27FC236}">
                <a16:creationId xmlns:a16="http://schemas.microsoft.com/office/drawing/2014/main" id="{CDCF4502-AF89-B7DA-1A4D-3193FD9A5FB6}"/>
              </a:ext>
            </a:extLst>
          </p:cNvPr>
          <p:cNvCxnSpPr/>
          <p:nvPr/>
        </p:nvCxnSpPr>
        <p:spPr bwMode="auto">
          <a:xfrm flipH="1">
            <a:off x="6780213" y="4779963"/>
            <a:ext cx="792162" cy="0"/>
          </a:xfrm>
          <a:prstGeom prst="straightConnector1">
            <a:avLst/>
          </a:prstGeom>
          <a:ln>
            <a:headEnd type="none" w="med" len="med"/>
            <a:tailEnd type="arrow"/>
          </a:ln>
        </p:spPr>
        <p:style>
          <a:lnRef idx="1">
            <a:schemeClr val="accent6"/>
          </a:lnRef>
          <a:fillRef idx="2">
            <a:schemeClr val="accent6"/>
          </a:fillRef>
          <a:effectRef idx="1">
            <a:schemeClr val="accent6"/>
          </a:effectRef>
          <a:fontRef idx="minor">
            <a:schemeClr val="dk1"/>
          </a:fontRef>
        </p:style>
      </p:cxnSp>
      <p:sp>
        <p:nvSpPr>
          <p:cNvPr id="15" name="Snip Single Corner Rectangle 14">
            <a:extLst>
              <a:ext uri="{FF2B5EF4-FFF2-40B4-BE49-F238E27FC236}">
                <a16:creationId xmlns:a16="http://schemas.microsoft.com/office/drawing/2014/main" id="{A451DEE9-25C8-0AEF-C49D-C255C1574F7C}"/>
              </a:ext>
            </a:extLst>
          </p:cNvPr>
          <p:cNvSpPr/>
          <p:nvPr/>
        </p:nvSpPr>
        <p:spPr>
          <a:xfrm>
            <a:off x="225425" y="1471613"/>
            <a:ext cx="2374900" cy="401637"/>
          </a:xfrm>
          <a:prstGeom prst="snip1Rect">
            <a:avLst/>
          </a:prstGeom>
          <a:solidFill>
            <a:schemeClr val="accent3">
              <a:alpha val="70000"/>
            </a:schemeClr>
          </a:solidFill>
          <a:ln>
            <a:solidFill>
              <a:schemeClr val="accent3"/>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indent="-342900" algn="just" eaLnBrk="1" hangingPunct="1">
              <a:spcBef>
                <a:spcPct val="20000"/>
              </a:spcBef>
              <a:buClr>
                <a:srgbClr val="FF6600"/>
              </a:buClr>
              <a:buSzPct val="100000"/>
              <a:defRPr/>
            </a:pPr>
            <a:r>
              <a:rPr lang="en-US" dirty="0">
                <a:latin typeface="Arial" pitchFamily="34" charset="0"/>
                <a:ea typeface="Times New Roman" pitchFamily="18" charset="0"/>
                <a:cs typeface="Arial" pitchFamily="34" charset="0"/>
              </a:rPr>
              <a:t>No Duplicated Rows</a:t>
            </a:r>
            <a:endParaRPr lang="en-GB" kern="0" dirty="0">
              <a:solidFill>
                <a:schemeClr val="tx1"/>
              </a:solidFill>
            </a:endParaRPr>
          </a:p>
        </p:txBody>
      </p:sp>
      <p:sp>
        <p:nvSpPr>
          <p:cNvPr id="18" name="TextBox 17">
            <a:extLst>
              <a:ext uri="{FF2B5EF4-FFF2-40B4-BE49-F238E27FC236}">
                <a16:creationId xmlns:a16="http://schemas.microsoft.com/office/drawing/2014/main" id="{A23B6AF6-FF28-DE07-4542-DC0DB1FDBAB2}"/>
              </a:ext>
            </a:extLst>
          </p:cNvPr>
          <p:cNvSpPr txBox="1">
            <a:spLocks noChangeArrowheads="1"/>
          </p:cNvSpPr>
          <p:nvPr/>
        </p:nvSpPr>
        <p:spPr bwMode="auto">
          <a:xfrm>
            <a:off x="2852738" y="5067300"/>
            <a:ext cx="22399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CA" altLang="en-US"/>
              <a:t>Student relation</a:t>
            </a:r>
          </a:p>
        </p:txBody>
      </p:sp>
      <p:grpSp>
        <p:nvGrpSpPr>
          <p:cNvPr id="3" name="Group 18">
            <a:extLst>
              <a:ext uri="{FF2B5EF4-FFF2-40B4-BE49-F238E27FC236}">
                <a16:creationId xmlns:a16="http://schemas.microsoft.com/office/drawing/2014/main" id="{F3D72899-B2D8-63B4-E77C-08CECC6E2B34}"/>
              </a:ext>
            </a:extLst>
          </p:cNvPr>
          <p:cNvGrpSpPr>
            <a:grpSpLocks/>
          </p:cNvGrpSpPr>
          <p:nvPr/>
        </p:nvGrpSpPr>
        <p:grpSpPr bwMode="auto">
          <a:xfrm>
            <a:off x="152400" y="5138738"/>
            <a:ext cx="3027363" cy="1262062"/>
            <a:chOff x="3683039" y="7607621"/>
            <a:chExt cx="3028130" cy="1261403"/>
          </a:xfrm>
        </p:grpSpPr>
        <p:sp>
          <p:nvSpPr>
            <p:cNvPr id="21" name="TextBox 20">
              <a:extLst>
                <a:ext uri="{FF2B5EF4-FFF2-40B4-BE49-F238E27FC236}">
                  <a16:creationId xmlns:a16="http://schemas.microsoft.com/office/drawing/2014/main" id="{A010EF73-0E12-179D-DFFF-799C51CD0A65}"/>
                </a:ext>
              </a:extLst>
            </p:cNvPr>
            <p:cNvSpPr txBox="1"/>
            <p:nvPr/>
          </p:nvSpPr>
          <p:spPr>
            <a:xfrm>
              <a:off x="3683039" y="8223249"/>
              <a:ext cx="3028130" cy="645775"/>
            </a:xfrm>
            <a:prstGeom prst="rect">
              <a:avLst/>
            </a:prstGeom>
            <a:ln/>
          </p:spPr>
          <p:style>
            <a:lnRef idx="1">
              <a:schemeClr val="dk1"/>
            </a:lnRef>
            <a:fillRef idx="2">
              <a:schemeClr val="dk1"/>
            </a:fillRef>
            <a:effectRef idx="1">
              <a:schemeClr val="dk1"/>
            </a:effectRef>
            <a:fontRef idx="minor">
              <a:schemeClr val="dk1"/>
            </a:fontRef>
          </p:style>
          <p:txBody>
            <a:bodyPr>
              <a:spAutoFit/>
            </a:bodyPr>
            <a:lstStyle/>
            <a:p>
              <a:pPr algn="ctr">
                <a:defRPr/>
              </a:pPr>
              <a:r>
                <a:rPr lang="en-CA" dirty="0"/>
                <a:t>This is a student table, not a student relation</a:t>
              </a:r>
            </a:p>
          </p:txBody>
        </p:sp>
        <p:cxnSp>
          <p:nvCxnSpPr>
            <p:cNvPr id="23" name="Straight Arrow Connector 22">
              <a:extLst>
                <a:ext uri="{FF2B5EF4-FFF2-40B4-BE49-F238E27FC236}">
                  <a16:creationId xmlns:a16="http://schemas.microsoft.com/office/drawing/2014/main" id="{60C94B3B-A6A4-C386-27D9-D002CB6D2CAA}"/>
                </a:ext>
              </a:extLst>
            </p:cNvPr>
            <p:cNvCxnSpPr>
              <a:stCxn id="21" idx="0"/>
            </p:cNvCxnSpPr>
            <p:nvPr/>
          </p:nvCxnSpPr>
          <p:spPr bwMode="auto">
            <a:xfrm flipV="1">
              <a:off x="5197898" y="7607621"/>
              <a:ext cx="865407" cy="615628"/>
            </a:xfrm>
            <a:prstGeom prst="straightConnector1">
              <a:avLst/>
            </a:prstGeom>
            <a:ln>
              <a:headEnd type="none" w="med" len="med"/>
              <a:tailEnd type="triangle"/>
            </a:ln>
          </p:spPr>
          <p:style>
            <a:lnRef idx="1">
              <a:schemeClr val="dk1"/>
            </a:lnRef>
            <a:fillRef idx="2">
              <a:schemeClr val="dk1"/>
            </a:fillRef>
            <a:effectRef idx="1">
              <a:schemeClr val="dk1"/>
            </a:effectRef>
            <a:fontRef idx="minor">
              <a:schemeClr val="dk1"/>
            </a:fontRef>
          </p:style>
        </p:cxnSp>
      </p:gr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0">
                                            <p:txEl>
                                              <p:pRg st="0" end="0"/>
                                            </p:txEl>
                                          </p:spTgt>
                                        </p:tgtEl>
                                        <p:attrNameLst>
                                          <p:attrName>style.visibility</p:attrName>
                                        </p:attrNameLst>
                                      </p:cBhvr>
                                      <p:to>
                                        <p:strVal val="visible"/>
                                      </p:to>
                                    </p:set>
                                    <p:animEffect transition="in" filter="wipe(left)">
                                      <p:cBhvr>
                                        <p:cTn id="11" dur="500"/>
                                        <p:tgtEl>
                                          <p:spTgt spid="20">
                                            <p:txEl>
                                              <p:pRg st="0" end="0"/>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wipe(up)">
                                      <p:cBhvr>
                                        <p:cTn id="16" dur="500"/>
                                        <p:tgtEl>
                                          <p:spTgt spid="17"/>
                                        </p:tgtEl>
                                      </p:cBhvr>
                                    </p:animEffect>
                                  </p:childTnLst>
                                </p:cTn>
                              </p:par>
                            </p:childTnLst>
                          </p:cTn>
                        </p:par>
                        <p:par>
                          <p:cTn id="17" fill="hold" nodeType="afterGroup">
                            <p:stCondLst>
                              <p:cond delay="500"/>
                            </p:stCondLst>
                            <p:childTnLst>
                              <p:par>
                                <p:cTn id="18" presetID="22" presetClass="entr" presetSubtype="1" fill="hold" grpId="0" nodeType="after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wipe(up)">
                                      <p:cBhvr>
                                        <p:cTn id="20" dur="500"/>
                                        <p:tgtEl>
                                          <p:spTgt spid="18"/>
                                        </p:tgtEl>
                                      </p:cBhvr>
                                    </p:animEffect>
                                  </p:childTnLst>
                                </p:cTn>
                              </p:par>
                            </p:childTnLst>
                          </p:cTn>
                        </p:par>
                        <p:par>
                          <p:cTn id="21" fill="hold" nodeType="afterGroup">
                            <p:stCondLst>
                              <p:cond delay="1000"/>
                            </p:stCondLst>
                            <p:childTnLst>
                              <p:par>
                                <p:cTn id="22" presetID="16" presetClass="entr" presetSubtype="21" fill="hold" grpId="0" nodeType="after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barn(inVertical)">
                                      <p:cBhvr>
                                        <p:cTn id="24" dur="500"/>
                                        <p:tgtEl>
                                          <p:spTgt spid="16"/>
                                        </p:tgtEl>
                                      </p:cBhvr>
                                    </p:animEffect>
                                  </p:childTnLst>
                                </p:cTn>
                              </p:par>
                            </p:childTnLst>
                          </p:cTn>
                        </p:par>
                        <p:par>
                          <p:cTn id="25" fill="hold" nodeType="afterGroup">
                            <p:stCondLst>
                              <p:cond delay="1500"/>
                            </p:stCondLst>
                            <p:childTnLst>
                              <p:par>
                                <p:cTn id="26" presetID="22" presetClass="entr" presetSubtype="4" fill="hold" nodeType="after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wipe(down)">
                                      <p:cBhvr>
                                        <p:cTn id="28" dur="500"/>
                                        <p:tgtEl>
                                          <p:spTgt spid="4"/>
                                        </p:tgtEl>
                                      </p:cBhvr>
                                    </p:animEffect>
                                  </p:childTnLst>
                                </p:cTn>
                              </p:par>
                            </p:childTnLst>
                          </p:cTn>
                        </p:par>
                        <p:par>
                          <p:cTn id="29" fill="hold" nodeType="afterGroup">
                            <p:stCondLst>
                              <p:cond delay="2000"/>
                            </p:stCondLst>
                            <p:childTnLst>
                              <p:par>
                                <p:cTn id="30" presetID="22" presetClass="entr" presetSubtype="2" fill="hold" nodeType="after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wipe(right)">
                                      <p:cBhvr>
                                        <p:cTn id="32" dur="500"/>
                                        <p:tgtEl>
                                          <p:spTgt spid="22"/>
                                        </p:tgtEl>
                                      </p:cBhvr>
                                    </p:animEffect>
                                  </p:childTnLst>
                                </p:cTn>
                              </p:par>
                              <p:par>
                                <p:cTn id="33" presetID="22" presetClass="entr" presetSubtype="2" fill="hold" nodeType="withEffect">
                                  <p:stCondLst>
                                    <p:cond delay="0"/>
                                  </p:stCondLst>
                                  <p:childTnLst>
                                    <p:set>
                                      <p:cBhvr>
                                        <p:cTn id="34" dur="1" fill="hold">
                                          <p:stCondLst>
                                            <p:cond delay="0"/>
                                          </p:stCondLst>
                                        </p:cTn>
                                        <p:tgtEl>
                                          <p:spTgt spid="6"/>
                                        </p:tgtEl>
                                        <p:attrNameLst>
                                          <p:attrName>style.visibility</p:attrName>
                                        </p:attrNameLst>
                                      </p:cBhvr>
                                      <p:to>
                                        <p:strVal val="visible"/>
                                      </p:to>
                                    </p:set>
                                    <p:animEffect transition="in" filter="wipe(right)">
                                      <p:cBhvr>
                                        <p:cTn id="35" dur="500"/>
                                        <p:tgtEl>
                                          <p:spTgt spid="6"/>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10" presetClass="entr" presetSubtype="0" fill="hold" nodeType="clickEffect">
                                  <p:stCondLst>
                                    <p:cond delay="0"/>
                                  </p:stCondLst>
                                  <p:childTnLst>
                                    <p:set>
                                      <p:cBhvr>
                                        <p:cTn id="39" dur="1" fill="hold">
                                          <p:stCondLst>
                                            <p:cond delay="0"/>
                                          </p:stCondLst>
                                        </p:cTn>
                                        <p:tgtEl>
                                          <p:spTgt spid="32"/>
                                        </p:tgtEl>
                                        <p:attrNameLst>
                                          <p:attrName>style.visibility</p:attrName>
                                        </p:attrNameLst>
                                      </p:cBhvr>
                                      <p:to>
                                        <p:strVal val="visible"/>
                                      </p:to>
                                    </p:set>
                                    <p:animEffect transition="in" filter="fade">
                                      <p:cBhvr>
                                        <p:cTn id="40" dur="500"/>
                                        <p:tgtEl>
                                          <p:spTgt spid="32"/>
                                        </p:tgtEl>
                                      </p:cBhvr>
                                    </p:animEffect>
                                  </p:childTnLst>
                                </p:cTn>
                              </p:par>
                            </p:childTnLst>
                          </p:cTn>
                        </p:par>
                        <p:par>
                          <p:cTn id="41" fill="hold" nodeType="afterGroup">
                            <p:stCondLst>
                              <p:cond delay="500"/>
                            </p:stCondLst>
                            <p:childTnLst>
                              <p:par>
                                <p:cTn id="42" presetID="2" presetClass="entr" presetSubtype="8" fill="hold" nodeType="afterEffect">
                                  <p:stCondLst>
                                    <p:cond delay="0"/>
                                  </p:stCondLst>
                                  <p:childTnLst>
                                    <p:set>
                                      <p:cBhvr>
                                        <p:cTn id="43" dur="1" fill="hold">
                                          <p:stCondLst>
                                            <p:cond delay="0"/>
                                          </p:stCondLst>
                                        </p:cTn>
                                        <p:tgtEl>
                                          <p:spTgt spid="3"/>
                                        </p:tgtEl>
                                        <p:attrNameLst>
                                          <p:attrName>style.visibility</p:attrName>
                                        </p:attrNameLst>
                                      </p:cBhvr>
                                      <p:to>
                                        <p:strVal val="visible"/>
                                      </p:to>
                                    </p:set>
                                    <p:anim calcmode="lin" valueType="num">
                                      <p:cBhvr additive="base">
                                        <p:cTn id="44" dur="500" fill="hold"/>
                                        <p:tgtEl>
                                          <p:spTgt spid="3"/>
                                        </p:tgtEl>
                                        <p:attrNameLst>
                                          <p:attrName>ppt_x</p:attrName>
                                        </p:attrNameLst>
                                      </p:cBhvr>
                                      <p:tavLst>
                                        <p:tav tm="0">
                                          <p:val>
                                            <p:strVal val="0-#ppt_w/2"/>
                                          </p:val>
                                        </p:tav>
                                        <p:tav tm="100000">
                                          <p:val>
                                            <p:strVal val="#ppt_x"/>
                                          </p:val>
                                        </p:tav>
                                      </p:tavLst>
                                    </p:anim>
                                    <p:anim calcmode="lin" valueType="num">
                                      <p:cBhvr additive="base">
                                        <p:cTn id="45"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uild="p"/>
      <p:bldP spid="16" grpId="0" animBg="1"/>
      <p:bldP spid="15" grpId="0" animBg="1"/>
      <p:bldP spid="18" grpId="0"/>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9F41B-EBB7-17B6-89E6-DF11E92BABFB}"/>
              </a:ext>
            </a:extLst>
          </p:cNvPr>
          <p:cNvSpPr>
            <a:spLocks noGrp="1"/>
          </p:cNvSpPr>
          <p:nvPr>
            <p:ph type="title"/>
          </p:nvPr>
        </p:nvSpPr>
        <p:spPr>
          <a:xfrm>
            <a:off x="457200" y="0"/>
            <a:ext cx="7620000" cy="1143000"/>
          </a:xfrm>
        </p:spPr>
        <p:txBody>
          <a:bodyPr/>
          <a:lstStyle/>
          <a:p>
            <a:pPr algn="ctr">
              <a:defRPr/>
            </a:pPr>
            <a:r>
              <a:rPr lang="en-US" dirty="0"/>
              <a:t>Characteristics of Relations</a:t>
            </a:r>
            <a:endParaRPr lang="en-CA" dirty="0"/>
          </a:p>
        </p:txBody>
      </p:sp>
      <p:sp>
        <p:nvSpPr>
          <p:cNvPr id="20" name="Content Placeholder 2">
            <a:extLst>
              <a:ext uri="{FF2B5EF4-FFF2-40B4-BE49-F238E27FC236}">
                <a16:creationId xmlns:a16="http://schemas.microsoft.com/office/drawing/2014/main" id="{05190B4F-7511-E39D-B01D-683B896CE9C1}"/>
              </a:ext>
            </a:extLst>
          </p:cNvPr>
          <p:cNvSpPr txBox="1">
            <a:spLocks/>
          </p:cNvSpPr>
          <p:nvPr/>
        </p:nvSpPr>
        <p:spPr bwMode="auto">
          <a:xfrm>
            <a:off x="142875" y="1797050"/>
            <a:ext cx="8151813"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rgbClr val="FF6600"/>
              </a:buClr>
              <a:buFont typeface="Wingdings 3" panose="05040102010807070707" pitchFamily="18" charset="2"/>
              <a:buNone/>
            </a:pPr>
            <a:r>
              <a:rPr lang="en-CA" altLang="en-US" sz="3200">
                <a:latin typeface="Calibri" panose="020F0502020204030204" pitchFamily="34" charset="0"/>
              </a:rPr>
              <a:t>In a relation, the intersection of each row and each column should contain only one value</a:t>
            </a:r>
          </a:p>
          <a:p>
            <a:pPr algn="just" eaLnBrk="1" hangingPunct="1">
              <a:spcBef>
                <a:spcPct val="20000"/>
              </a:spcBef>
              <a:buClr>
                <a:srgbClr val="FF6600"/>
              </a:buClr>
              <a:buFont typeface="Wingdings 3" panose="05040102010807070707" pitchFamily="18" charset="2"/>
              <a:buNone/>
            </a:pPr>
            <a:endParaRPr lang="en-CA" altLang="en-US" sz="32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32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32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32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32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32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32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32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32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32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32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32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32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32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40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p:txBody>
      </p:sp>
      <p:sp>
        <p:nvSpPr>
          <p:cNvPr id="8" name="Right Arrow 7">
            <a:extLst>
              <a:ext uri="{FF2B5EF4-FFF2-40B4-BE49-F238E27FC236}">
                <a16:creationId xmlns:a16="http://schemas.microsoft.com/office/drawing/2014/main" id="{29D05456-5CEE-56EB-DA32-C89EA6C766A7}"/>
              </a:ext>
            </a:extLst>
          </p:cNvPr>
          <p:cNvSpPr>
            <a:spLocks noChangeArrowheads="1"/>
          </p:cNvSpPr>
          <p:nvPr/>
        </p:nvSpPr>
        <p:spPr bwMode="auto">
          <a:xfrm>
            <a:off x="3814763" y="3784600"/>
            <a:ext cx="720725" cy="630238"/>
          </a:xfrm>
          <a:prstGeom prst="rightArrow">
            <a:avLst>
              <a:gd name="adj1" fmla="val 50000"/>
              <a:gd name="adj2" fmla="val 50031"/>
            </a:avLst>
          </a:prstGeom>
          <a:noFill/>
          <a:ln w="2540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endParaRPr lang="en-CA" altLang="en-US"/>
          </a:p>
        </p:txBody>
      </p:sp>
      <p:sp>
        <p:nvSpPr>
          <p:cNvPr id="24" name="Snip Single Corner Rectangle 23">
            <a:extLst>
              <a:ext uri="{FF2B5EF4-FFF2-40B4-BE49-F238E27FC236}">
                <a16:creationId xmlns:a16="http://schemas.microsoft.com/office/drawing/2014/main" id="{76421CEB-9296-C500-54CC-122F43286C99}"/>
              </a:ext>
            </a:extLst>
          </p:cNvPr>
          <p:cNvSpPr/>
          <p:nvPr/>
        </p:nvSpPr>
        <p:spPr>
          <a:xfrm>
            <a:off x="142875" y="1371600"/>
            <a:ext cx="1584325" cy="401638"/>
          </a:xfrm>
          <a:prstGeom prst="snip1Rect">
            <a:avLst/>
          </a:prstGeom>
          <a:solidFill>
            <a:schemeClr val="accent4">
              <a:alpha val="70000"/>
            </a:schemeClr>
          </a:solidFill>
          <a:ln>
            <a:solidFill>
              <a:schemeClr val="accent4"/>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indent="-342900" algn="just" eaLnBrk="1" hangingPunct="1">
              <a:spcBef>
                <a:spcPct val="20000"/>
              </a:spcBef>
              <a:buClr>
                <a:srgbClr val="FF6600"/>
              </a:buClr>
              <a:buSzPct val="100000"/>
              <a:defRPr/>
            </a:pPr>
            <a:r>
              <a:rPr lang="en-US" dirty="0">
                <a:latin typeface="Arial" pitchFamily="34" charset="0"/>
                <a:ea typeface="Times New Roman" pitchFamily="18" charset="0"/>
                <a:cs typeface="Arial" pitchFamily="34" charset="0"/>
              </a:rPr>
              <a:t>Atomic Value</a:t>
            </a:r>
            <a:endParaRPr lang="en-GB" kern="0" dirty="0">
              <a:solidFill>
                <a:schemeClr val="tx1"/>
              </a:solidFill>
            </a:endParaRPr>
          </a:p>
        </p:txBody>
      </p:sp>
      <p:graphicFrame>
        <p:nvGraphicFramePr>
          <p:cNvPr id="26" name="Table 25">
            <a:extLst>
              <a:ext uri="{FF2B5EF4-FFF2-40B4-BE49-F238E27FC236}">
                <a16:creationId xmlns:a16="http://schemas.microsoft.com/office/drawing/2014/main" id="{22CCA25D-F525-1E49-E23F-15E8BF79EDA0}"/>
              </a:ext>
            </a:extLst>
          </p:cNvPr>
          <p:cNvGraphicFramePr>
            <a:graphicFrameLocks noGrp="1"/>
          </p:cNvGraphicFramePr>
          <p:nvPr/>
        </p:nvGraphicFramePr>
        <p:xfrm>
          <a:off x="142875" y="2952750"/>
          <a:ext cx="3408363" cy="2295524"/>
        </p:xfrm>
        <a:graphic>
          <a:graphicData uri="http://schemas.openxmlformats.org/drawingml/2006/table">
            <a:tbl>
              <a:tblPr firstRow="1" bandRow="1">
                <a:tableStyleId>{BC89EF96-8CEA-46FF-86C4-4CE0E7609802}</a:tableStyleId>
              </a:tblPr>
              <a:tblGrid>
                <a:gridCol w="1560419">
                  <a:extLst>
                    <a:ext uri="{9D8B030D-6E8A-4147-A177-3AD203B41FA5}">
                      <a16:colId xmlns:a16="http://schemas.microsoft.com/office/drawing/2014/main" val="20000"/>
                    </a:ext>
                  </a:extLst>
                </a:gridCol>
                <a:gridCol w="864092">
                  <a:extLst>
                    <a:ext uri="{9D8B030D-6E8A-4147-A177-3AD203B41FA5}">
                      <a16:colId xmlns:a16="http://schemas.microsoft.com/office/drawing/2014/main" val="20001"/>
                    </a:ext>
                  </a:extLst>
                </a:gridCol>
                <a:gridCol w="983852">
                  <a:extLst>
                    <a:ext uri="{9D8B030D-6E8A-4147-A177-3AD203B41FA5}">
                      <a16:colId xmlns:a16="http://schemas.microsoft.com/office/drawing/2014/main" val="20002"/>
                    </a:ext>
                  </a:extLst>
                </a:gridCol>
              </a:tblGrid>
              <a:tr h="573881">
                <a:tc>
                  <a:txBody>
                    <a:bodyPr/>
                    <a:lstStyle/>
                    <a:p>
                      <a:pPr algn="ctr"/>
                      <a:r>
                        <a:rPr lang="en-CA" sz="1800" dirty="0"/>
                        <a:t>STUDENTID</a:t>
                      </a:r>
                    </a:p>
                  </a:txBody>
                  <a:tcPr marT="45731" marB="45731"/>
                </a:tc>
                <a:tc gridSpan="2">
                  <a:txBody>
                    <a:bodyPr/>
                    <a:lstStyle/>
                    <a:p>
                      <a:pPr algn="ctr"/>
                      <a:r>
                        <a:rPr lang="en-CA" sz="1800" dirty="0"/>
                        <a:t>NAME</a:t>
                      </a:r>
                    </a:p>
                  </a:txBody>
                  <a:tcPr marT="45731" marB="45731"/>
                </a:tc>
                <a:tc hMerge="1">
                  <a:txBody>
                    <a:bodyPr/>
                    <a:lstStyle/>
                    <a:p>
                      <a:endParaRPr lang="en-CA"/>
                    </a:p>
                  </a:txBody>
                  <a:tcPr/>
                </a:tc>
                <a:extLst>
                  <a:ext uri="{0D108BD9-81ED-4DB2-BD59-A6C34878D82A}">
                    <a16:rowId xmlns:a16="http://schemas.microsoft.com/office/drawing/2014/main" val="10000"/>
                  </a:ext>
                </a:extLst>
              </a:tr>
              <a:tr h="573881">
                <a:tc>
                  <a:txBody>
                    <a:bodyPr/>
                    <a:lstStyle/>
                    <a:p>
                      <a:pPr algn="ctr"/>
                      <a:r>
                        <a:rPr lang="en-CA" sz="1800" dirty="0"/>
                        <a:t>1</a:t>
                      </a:r>
                    </a:p>
                  </a:txBody>
                  <a:tcPr marT="45731" marB="45731"/>
                </a:tc>
                <a:tc>
                  <a:txBody>
                    <a:bodyPr/>
                    <a:lstStyle/>
                    <a:p>
                      <a:r>
                        <a:rPr lang="en-CA" sz="1800" dirty="0"/>
                        <a:t>Talha</a:t>
                      </a:r>
                    </a:p>
                  </a:txBody>
                  <a:tcPr marT="45731" marB="45731"/>
                </a:tc>
                <a:tc>
                  <a:txBody>
                    <a:bodyPr/>
                    <a:lstStyle/>
                    <a:p>
                      <a:r>
                        <a:rPr lang="en-CA" sz="1800" dirty="0"/>
                        <a:t>Amjad</a:t>
                      </a:r>
                    </a:p>
                  </a:txBody>
                  <a:tcPr marT="45731" marB="45731"/>
                </a:tc>
                <a:extLst>
                  <a:ext uri="{0D108BD9-81ED-4DB2-BD59-A6C34878D82A}">
                    <a16:rowId xmlns:a16="http://schemas.microsoft.com/office/drawing/2014/main" val="10001"/>
                  </a:ext>
                </a:extLst>
              </a:tr>
              <a:tr h="573881">
                <a:tc>
                  <a:txBody>
                    <a:bodyPr/>
                    <a:lstStyle/>
                    <a:p>
                      <a:pPr algn="ctr"/>
                      <a:r>
                        <a:rPr lang="en-CA" sz="1800" dirty="0"/>
                        <a:t>2</a:t>
                      </a:r>
                    </a:p>
                  </a:txBody>
                  <a:tcPr marT="45731" marB="45731"/>
                </a:tc>
                <a:tc>
                  <a:txBody>
                    <a:bodyPr/>
                    <a:lstStyle/>
                    <a:p>
                      <a:r>
                        <a:rPr lang="en-CA" sz="1800" dirty="0"/>
                        <a:t>Sara</a:t>
                      </a:r>
                    </a:p>
                  </a:txBody>
                  <a:tcPr marT="45731" marB="45731"/>
                </a:tc>
                <a:tc>
                  <a:txBody>
                    <a:bodyPr/>
                    <a:lstStyle/>
                    <a:p>
                      <a:r>
                        <a:rPr lang="en-CA" sz="1800" dirty="0"/>
                        <a:t>Saleem</a:t>
                      </a:r>
                    </a:p>
                  </a:txBody>
                  <a:tcPr marT="45731" marB="45731"/>
                </a:tc>
                <a:extLst>
                  <a:ext uri="{0D108BD9-81ED-4DB2-BD59-A6C34878D82A}">
                    <a16:rowId xmlns:a16="http://schemas.microsoft.com/office/drawing/2014/main" val="10002"/>
                  </a:ext>
                </a:extLst>
              </a:tr>
              <a:tr h="573881">
                <a:tc>
                  <a:txBody>
                    <a:bodyPr/>
                    <a:lstStyle/>
                    <a:p>
                      <a:pPr algn="ctr"/>
                      <a:r>
                        <a:rPr lang="en-CA" sz="1800" dirty="0"/>
                        <a:t>3</a:t>
                      </a:r>
                    </a:p>
                  </a:txBody>
                  <a:tcPr marT="45731" marB="45731"/>
                </a:tc>
                <a:tc>
                  <a:txBody>
                    <a:bodyPr/>
                    <a:lstStyle/>
                    <a:p>
                      <a:r>
                        <a:rPr lang="en-CA" sz="1800" dirty="0"/>
                        <a:t>Aqib</a:t>
                      </a:r>
                    </a:p>
                  </a:txBody>
                  <a:tcPr marT="45731" marB="45731"/>
                </a:tc>
                <a:tc>
                  <a:txBody>
                    <a:bodyPr/>
                    <a:lstStyle/>
                    <a:p>
                      <a:r>
                        <a:rPr lang="en-CA" sz="1800" dirty="0"/>
                        <a:t>Ali</a:t>
                      </a:r>
                    </a:p>
                  </a:txBody>
                  <a:tcPr marT="45731" marB="45731"/>
                </a:tc>
                <a:extLst>
                  <a:ext uri="{0D108BD9-81ED-4DB2-BD59-A6C34878D82A}">
                    <a16:rowId xmlns:a16="http://schemas.microsoft.com/office/drawing/2014/main" val="10003"/>
                  </a:ext>
                </a:extLst>
              </a:tr>
            </a:tbl>
          </a:graphicData>
        </a:graphic>
      </p:graphicFrame>
      <p:sp>
        <p:nvSpPr>
          <p:cNvPr id="29" name="Multiply 28">
            <a:extLst>
              <a:ext uri="{FF2B5EF4-FFF2-40B4-BE49-F238E27FC236}">
                <a16:creationId xmlns:a16="http://schemas.microsoft.com/office/drawing/2014/main" id="{D642C889-EF40-82CE-3052-85952ADC3C4D}"/>
              </a:ext>
            </a:extLst>
          </p:cNvPr>
          <p:cNvSpPr/>
          <p:nvPr/>
        </p:nvSpPr>
        <p:spPr bwMode="auto">
          <a:xfrm>
            <a:off x="841375" y="3308350"/>
            <a:ext cx="2160588" cy="1584325"/>
          </a:xfrm>
          <a:prstGeom prst="mathMultiply">
            <a:avLst/>
          </a:prstGeom>
          <a:solidFill>
            <a:srgbClr val="B50C00"/>
          </a:solidFill>
          <a:ln w="9525" cap="flat" cmpd="sng" algn="ctr">
            <a:solidFill>
              <a:schemeClr val="tx1"/>
            </a:solidFill>
            <a:prstDash val="solid"/>
            <a:round/>
            <a:headEnd type="none" w="med" len="med"/>
            <a:tailEnd type="none" w="med" len="med"/>
          </a:ln>
          <a:effectLst/>
        </p:spPr>
        <p:txBody>
          <a:bodyPr/>
          <a:lstStyle/>
          <a:p>
            <a:pPr>
              <a:defRPr/>
            </a:pPr>
            <a:endParaRPr lang="en-CA">
              <a:latin typeface="Arial" charset="0"/>
            </a:endParaRPr>
          </a:p>
        </p:txBody>
      </p:sp>
      <p:graphicFrame>
        <p:nvGraphicFramePr>
          <p:cNvPr id="27" name="Table 26">
            <a:extLst>
              <a:ext uri="{FF2B5EF4-FFF2-40B4-BE49-F238E27FC236}">
                <a16:creationId xmlns:a16="http://schemas.microsoft.com/office/drawing/2014/main" id="{25A6F4D0-9FD1-7738-FE27-1F9DF936E692}"/>
              </a:ext>
            </a:extLst>
          </p:cNvPr>
          <p:cNvGraphicFramePr>
            <a:graphicFrameLocks noGrp="1"/>
          </p:cNvGraphicFramePr>
          <p:nvPr/>
        </p:nvGraphicFramePr>
        <p:xfrm>
          <a:off x="4703763" y="2947988"/>
          <a:ext cx="3590925" cy="2300288"/>
        </p:xfrm>
        <a:graphic>
          <a:graphicData uri="http://schemas.openxmlformats.org/drawingml/2006/table">
            <a:tbl>
              <a:tblPr firstRow="1" bandRow="1">
                <a:tableStyleId>{ED083AE6-46FA-4A59-8FB0-9F97EB10719F}</a:tableStyleId>
              </a:tblPr>
              <a:tblGrid>
                <a:gridCol w="1616977">
                  <a:extLst>
                    <a:ext uri="{9D8B030D-6E8A-4147-A177-3AD203B41FA5}">
                      <a16:colId xmlns:a16="http://schemas.microsoft.com/office/drawing/2014/main" val="20000"/>
                    </a:ext>
                  </a:extLst>
                </a:gridCol>
                <a:gridCol w="982335">
                  <a:extLst>
                    <a:ext uri="{9D8B030D-6E8A-4147-A177-3AD203B41FA5}">
                      <a16:colId xmlns:a16="http://schemas.microsoft.com/office/drawing/2014/main" val="20001"/>
                    </a:ext>
                  </a:extLst>
                </a:gridCol>
                <a:gridCol w="991613">
                  <a:extLst>
                    <a:ext uri="{9D8B030D-6E8A-4147-A177-3AD203B41FA5}">
                      <a16:colId xmlns:a16="http://schemas.microsoft.com/office/drawing/2014/main" val="20002"/>
                    </a:ext>
                  </a:extLst>
                </a:gridCol>
              </a:tblGrid>
              <a:tr h="640374">
                <a:tc>
                  <a:txBody>
                    <a:bodyPr/>
                    <a:lstStyle/>
                    <a:p>
                      <a:pPr algn="ctr"/>
                      <a:r>
                        <a:rPr lang="en-CA" sz="1800" dirty="0"/>
                        <a:t>STUDENTID</a:t>
                      </a:r>
                    </a:p>
                  </a:txBody>
                  <a:tcPr marL="91428" marR="91428" marT="45741" marB="45741"/>
                </a:tc>
                <a:tc>
                  <a:txBody>
                    <a:bodyPr/>
                    <a:lstStyle/>
                    <a:p>
                      <a:pPr algn="ctr"/>
                      <a:r>
                        <a:rPr lang="en-CA" sz="1800" dirty="0"/>
                        <a:t>FIRST</a:t>
                      </a:r>
                    </a:p>
                    <a:p>
                      <a:pPr algn="ctr"/>
                      <a:r>
                        <a:rPr lang="en-CA" sz="1800" dirty="0"/>
                        <a:t>NAME</a:t>
                      </a:r>
                    </a:p>
                  </a:txBody>
                  <a:tcPr marL="91428" marR="91428" marT="45741" marB="45741"/>
                </a:tc>
                <a:tc>
                  <a:txBody>
                    <a:bodyPr/>
                    <a:lstStyle/>
                    <a:p>
                      <a:r>
                        <a:rPr lang="en-CA" sz="1800" dirty="0"/>
                        <a:t>LAST NAME</a:t>
                      </a:r>
                    </a:p>
                  </a:txBody>
                  <a:tcPr marL="91428" marR="91428" marT="45741" marB="45741"/>
                </a:tc>
                <a:extLst>
                  <a:ext uri="{0D108BD9-81ED-4DB2-BD59-A6C34878D82A}">
                    <a16:rowId xmlns:a16="http://schemas.microsoft.com/office/drawing/2014/main" val="10000"/>
                  </a:ext>
                </a:extLst>
              </a:tr>
              <a:tr h="574005">
                <a:tc>
                  <a:txBody>
                    <a:bodyPr/>
                    <a:lstStyle/>
                    <a:p>
                      <a:pPr algn="ctr"/>
                      <a:r>
                        <a:rPr lang="en-CA" sz="1800" dirty="0"/>
                        <a:t>1</a:t>
                      </a:r>
                    </a:p>
                  </a:txBody>
                  <a:tcPr marL="91428" marR="91428" marT="45741" marB="45741"/>
                </a:tc>
                <a:tc>
                  <a:txBody>
                    <a:bodyPr/>
                    <a:lstStyle/>
                    <a:p>
                      <a:r>
                        <a:rPr lang="en-CA" sz="1800" dirty="0"/>
                        <a:t>Talha</a:t>
                      </a:r>
                    </a:p>
                  </a:txBody>
                  <a:tcPr marL="91428" marR="91428" marT="45741" marB="45741"/>
                </a:tc>
                <a:tc>
                  <a:txBody>
                    <a:bodyPr/>
                    <a:lstStyle/>
                    <a:p>
                      <a:r>
                        <a:rPr lang="en-CA" sz="1800" dirty="0"/>
                        <a:t>Amjad</a:t>
                      </a:r>
                    </a:p>
                  </a:txBody>
                  <a:tcPr marL="91428" marR="91428" marT="45741" marB="45741"/>
                </a:tc>
                <a:extLst>
                  <a:ext uri="{0D108BD9-81ED-4DB2-BD59-A6C34878D82A}">
                    <a16:rowId xmlns:a16="http://schemas.microsoft.com/office/drawing/2014/main" val="10001"/>
                  </a:ext>
                </a:extLst>
              </a:tr>
              <a:tr h="574005">
                <a:tc>
                  <a:txBody>
                    <a:bodyPr/>
                    <a:lstStyle/>
                    <a:p>
                      <a:pPr algn="ctr"/>
                      <a:r>
                        <a:rPr lang="en-CA" sz="1800" dirty="0"/>
                        <a:t>2</a:t>
                      </a:r>
                    </a:p>
                  </a:txBody>
                  <a:tcPr marL="91428" marR="91428" marT="45741" marB="45741"/>
                </a:tc>
                <a:tc>
                  <a:txBody>
                    <a:bodyPr/>
                    <a:lstStyle/>
                    <a:p>
                      <a:r>
                        <a:rPr lang="en-CA" sz="1800" dirty="0"/>
                        <a:t>Sara</a:t>
                      </a:r>
                    </a:p>
                  </a:txBody>
                  <a:tcPr marL="91428" marR="91428" marT="45741" marB="45741"/>
                </a:tc>
                <a:tc>
                  <a:txBody>
                    <a:bodyPr/>
                    <a:lstStyle/>
                    <a:p>
                      <a:r>
                        <a:rPr lang="en-CA" sz="1800" dirty="0"/>
                        <a:t>Saleem</a:t>
                      </a:r>
                    </a:p>
                  </a:txBody>
                  <a:tcPr marL="91428" marR="91428" marT="45741" marB="45741"/>
                </a:tc>
                <a:extLst>
                  <a:ext uri="{0D108BD9-81ED-4DB2-BD59-A6C34878D82A}">
                    <a16:rowId xmlns:a16="http://schemas.microsoft.com/office/drawing/2014/main" val="10002"/>
                  </a:ext>
                </a:extLst>
              </a:tr>
              <a:tr h="511904">
                <a:tc>
                  <a:txBody>
                    <a:bodyPr/>
                    <a:lstStyle/>
                    <a:p>
                      <a:pPr algn="ctr"/>
                      <a:r>
                        <a:rPr lang="en-CA" sz="1800" dirty="0"/>
                        <a:t>3</a:t>
                      </a:r>
                    </a:p>
                  </a:txBody>
                  <a:tcPr marL="91428" marR="91428" marT="45741" marB="45741"/>
                </a:tc>
                <a:tc>
                  <a:txBody>
                    <a:bodyPr/>
                    <a:lstStyle/>
                    <a:p>
                      <a:r>
                        <a:rPr lang="en-CA" sz="1800" dirty="0"/>
                        <a:t>Aqib</a:t>
                      </a:r>
                    </a:p>
                  </a:txBody>
                  <a:tcPr marL="91428" marR="91428" marT="45741" marB="45741"/>
                </a:tc>
                <a:tc>
                  <a:txBody>
                    <a:bodyPr/>
                    <a:lstStyle/>
                    <a:p>
                      <a:r>
                        <a:rPr lang="en-CA" sz="1800" dirty="0"/>
                        <a:t>Ali</a:t>
                      </a:r>
                    </a:p>
                  </a:txBody>
                  <a:tcPr marL="91428" marR="91428" marT="45741" marB="45741"/>
                </a:tc>
                <a:extLst>
                  <a:ext uri="{0D108BD9-81ED-4DB2-BD59-A6C34878D82A}">
                    <a16:rowId xmlns:a16="http://schemas.microsoft.com/office/drawing/2014/main" val="10003"/>
                  </a:ext>
                </a:extLst>
              </a:tr>
            </a:tbl>
          </a:graphicData>
        </a:graphic>
      </p:graphicFrame>
      <p:sp>
        <p:nvSpPr>
          <p:cNvPr id="28" name="TextBox 27">
            <a:extLst>
              <a:ext uri="{FF2B5EF4-FFF2-40B4-BE49-F238E27FC236}">
                <a16:creationId xmlns:a16="http://schemas.microsoft.com/office/drawing/2014/main" id="{7540853C-7050-0288-524D-E15D6EC4700D}"/>
              </a:ext>
            </a:extLst>
          </p:cNvPr>
          <p:cNvSpPr txBox="1">
            <a:spLocks noChangeArrowheads="1"/>
          </p:cNvSpPr>
          <p:nvPr/>
        </p:nvSpPr>
        <p:spPr bwMode="auto">
          <a:xfrm>
            <a:off x="725488" y="5238750"/>
            <a:ext cx="22415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CA" altLang="en-US"/>
              <a:t>Student relation</a:t>
            </a:r>
          </a:p>
        </p:txBody>
      </p:sp>
      <p:sp>
        <p:nvSpPr>
          <p:cNvPr id="30" name="TextBox 29">
            <a:extLst>
              <a:ext uri="{FF2B5EF4-FFF2-40B4-BE49-F238E27FC236}">
                <a16:creationId xmlns:a16="http://schemas.microsoft.com/office/drawing/2014/main" id="{84A065B4-2A0B-A6F1-B694-5290D4B6B245}"/>
              </a:ext>
            </a:extLst>
          </p:cNvPr>
          <p:cNvSpPr txBox="1">
            <a:spLocks noChangeArrowheads="1"/>
          </p:cNvSpPr>
          <p:nvPr/>
        </p:nvSpPr>
        <p:spPr bwMode="auto">
          <a:xfrm>
            <a:off x="5322888" y="5238750"/>
            <a:ext cx="22415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CA" altLang="en-US"/>
              <a:t>Student relation</a:t>
            </a:r>
          </a:p>
        </p:txBody>
      </p:sp>
      <p:sp>
        <p:nvSpPr>
          <p:cNvPr id="33" name="Rectangle 32">
            <a:extLst>
              <a:ext uri="{FF2B5EF4-FFF2-40B4-BE49-F238E27FC236}">
                <a16:creationId xmlns:a16="http://schemas.microsoft.com/office/drawing/2014/main" id="{71D24410-2EE3-F7AD-9E62-3CB7E349B633}"/>
              </a:ext>
            </a:extLst>
          </p:cNvPr>
          <p:cNvSpPr/>
          <p:nvPr/>
        </p:nvSpPr>
        <p:spPr bwMode="auto">
          <a:xfrm>
            <a:off x="946150" y="5756275"/>
            <a:ext cx="6410325" cy="588963"/>
          </a:xfrm>
          <a:prstGeom prst="rect">
            <a:avLst/>
          </a:prstGeom>
          <a:ln>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anchor="ctr" anchorCtr="1"/>
          <a:lstStyle/>
          <a:p>
            <a:pPr algn="ctr">
              <a:defRPr/>
            </a:pPr>
            <a:r>
              <a:rPr lang="en-CA" dirty="0"/>
              <a:t>By adding a new column, the invalid relation has been transformed into a valid relation</a:t>
            </a:r>
            <a:endParaRPr lang="en-CA" dirty="0">
              <a:solidFill>
                <a:schemeClr val="tx1"/>
              </a:solidFill>
              <a:latin typeface="Arial"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left)">
                                      <p:cBhvr>
                                        <p:cTn id="7" dur="500"/>
                                        <p:tgtEl>
                                          <p:spTgt spid="24"/>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wipe(left)">
                                      <p:cBhvr>
                                        <p:cTn id="11" dur="500"/>
                                        <p:tgtEl>
                                          <p:spTgt spid="20"/>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26"/>
                                        </p:tgtEl>
                                        <p:attrNameLst>
                                          <p:attrName>style.visibility</p:attrName>
                                        </p:attrNameLst>
                                      </p:cBhvr>
                                      <p:to>
                                        <p:strVal val="visible"/>
                                      </p:to>
                                    </p:set>
                                    <p:animEffect transition="in" filter="wipe(up)">
                                      <p:cBhvr>
                                        <p:cTn id="16" dur="500"/>
                                        <p:tgtEl>
                                          <p:spTgt spid="26"/>
                                        </p:tgtEl>
                                      </p:cBhvr>
                                    </p:animEffect>
                                  </p:childTnLst>
                                </p:cTn>
                              </p:par>
                            </p:childTnLst>
                          </p:cTn>
                        </p:par>
                        <p:par>
                          <p:cTn id="17" fill="hold" nodeType="afterGroup">
                            <p:stCondLst>
                              <p:cond delay="500"/>
                            </p:stCondLst>
                            <p:childTnLst>
                              <p:par>
                                <p:cTn id="18" presetID="22" presetClass="entr" presetSubtype="1" fill="hold" grpId="0" nodeType="afterEffect">
                                  <p:stCondLst>
                                    <p:cond delay="0"/>
                                  </p:stCondLst>
                                  <p:childTnLst>
                                    <p:set>
                                      <p:cBhvr>
                                        <p:cTn id="19" dur="1" fill="hold">
                                          <p:stCondLst>
                                            <p:cond delay="0"/>
                                          </p:stCondLst>
                                        </p:cTn>
                                        <p:tgtEl>
                                          <p:spTgt spid="28"/>
                                        </p:tgtEl>
                                        <p:attrNameLst>
                                          <p:attrName>style.visibility</p:attrName>
                                        </p:attrNameLst>
                                      </p:cBhvr>
                                      <p:to>
                                        <p:strVal val="visible"/>
                                      </p:to>
                                    </p:set>
                                    <p:animEffect transition="in" filter="wipe(up)">
                                      <p:cBhvr>
                                        <p:cTn id="20" dur="500"/>
                                        <p:tgtEl>
                                          <p:spTgt spid="28"/>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0" presetClass="entr" presetSubtype="0" fill="hold" nodeType="clickEffect">
                                  <p:stCondLst>
                                    <p:cond delay="0"/>
                                  </p:stCondLst>
                                  <p:childTnLst>
                                    <p:set>
                                      <p:cBhvr>
                                        <p:cTn id="24" dur="1" fill="hold">
                                          <p:stCondLst>
                                            <p:cond delay="0"/>
                                          </p:stCondLst>
                                        </p:cTn>
                                        <p:tgtEl>
                                          <p:spTgt spid="29"/>
                                        </p:tgtEl>
                                        <p:attrNameLst>
                                          <p:attrName>style.visibility</p:attrName>
                                        </p:attrNameLst>
                                      </p:cBhvr>
                                      <p:to>
                                        <p:strVal val="visible"/>
                                      </p:to>
                                    </p:set>
                                    <p:animEffect transition="in" filter="fade">
                                      <p:cBhvr>
                                        <p:cTn id="25" dur="500"/>
                                        <p:tgtEl>
                                          <p:spTgt spid="29"/>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wipe(left)">
                                      <p:cBhvr>
                                        <p:cTn id="30" dur="500"/>
                                        <p:tgtEl>
                                          <p:spTgt spid="8"/>
                                        </p:tgtEl>
                                      </p:cBhvr>
                                    </p:animEffect>
                                  </p:childTnLst>
                                </p:cTn>
                              </p:par>
                            </p:childTnLst>
                          </p:cTn>
                        </p:par>
                        <p:par>
                          <p:cTn id="31" fill="hold" nodeType="afterGroup">
                            <p:stCondLst>
                              <p:cond delay="500"/>
                            </p:stCondLst>
                            <p:childTnLst>
                              <p:par>
                                <p:cTn id="32" presetID="22" presetClass="entr" presetSubtype="1" fill="hold" nodeType="after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wipe(up)">
                                      <p:cBhvr>
                                        <p:cTn id="34" dur="500"/>
                                        <p:tgtEl>
                                          <p:spTgt spid="27"/>
                                        </p:tgtEl>
                                      </p:cBhvr>
                                    </p:animEffect>
                                  </p:childTnLst>
                                </p:cTn>
                              </p:par>
                            </p:childTnLst>
                          </p:cTn>
                        </p:par>
                        <p:par>
                          <p:cTn id="35" fill="hold" nodeType="afterGroup">
                            <p:stCondLst>
                              <p:cond delay="1000"/>
                            </p:stCondLst>
                            <p:childTnLst>
                              <p:par>
                                <p:cTn id="36" presetID="22" presetClass="entr" presetSubtype="1" fill="hold" grpId="0" nodeType="afterEffect">
                                  <p:stCondLst>
                                    <p:cond delay="0"/>
                                  </p:stCondLst>
                                  <p:childTnLst>
                                    <p:set>
                                      <p:cBhvr>
                                        <p:cTn id="37" dur="1" fill="hold">
                                          <p:stCondLst>
                                            <p:cond delay="0"/>
                                          </p:stCondLst>
                                        </p:cTn>
                                        <p:tgtEl>
                                          <p:spTgt spid="30"/>
                                        </p:tgtEl>
                                        <p:attrNameLst>
                                          <p:attrName>style.visibility</p:attrName>
                                        </p:attrNameLst>
                                      </p:cBhvr>
                                      <p:to>
                                        <p:strVal val="visible"/>
                                      </p:to>
                                    </p:set>
                                    <p:animEffect transition="in" filter="wipe(up)">
                                      <p:cBhvr>
                                        <p:cTn id="38" dur="500"/>
                                        <p:tgtEl>
                                          <p:spTgt spid="30"/>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16" presetClass="entr" presetSubtype="21" fill="hold" grpId="0" nodeType="clickEffect">
                                  <p:stCondLst>
                                    <p:cond delay="0"/>
                                  </p:stCondLst>
                                  <p:childTnLst>
                                    <p:set>
                                      <p:cBhvr>
                                        <p:cTn id="42" dur="1" fill="hold">
                                          <p:stCondLst>
                                            <p:cond delay="0"/>
                                          </p:stCondLst>
                                        </p:cTn>
                                        <p:tgtEl>
                                          <p:spTgt spid="33"/>
                                        </p:tgtEl>
                                        <p:attrNameLst>
                                          <p:attrName>style.visibility</p:attrName>
                                        </p:attrNameLst>
                                      </p:cBhvr>
                                      <p:to>
                                        <p:strVal val="visible"/>
                                      </p:to>
                                    </p:set>
                                    <p:animEffect transition="in" filter="barn(inVertical)">
                                      <p:cBhvr>
                                        <p:cTn id="43"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8" grpId="0" animBg="1"/>
      <p:bldP spid="24" grpId="0" animBg="1"/>
      <p:bldP spid="28" grpId="0"/>
      <p:bldP spid="30" grpId="0"/>
      <p:bldP spid="33" grpId="0" animBg="1"/>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Content Placeholder 2">
            <a:extLst>
              <a:ext uri="{FF2B5EF4-FFF2-40B4-BE49-F238E27FC236}">
                <a16:creationId xmlns:a16="http://schemas.microsoft.com/office/drawing/2014/main" id="{E0C11155-4B6A-36A9-5D69-93ECD960FCF6}"/>
              </a:ext>
            </a:extLst>
          </p:cNvPr>
          <p:cNvSpPr txBox="1">
            <a:spLocks/>
          </p:cNvSpPr>
          <p:nvPr/>
        </p:nvSpPr>
        <p:spPr bwMode="auto">
          <a:xfrm>
            <a:off x="219075" y="1852613"/>
            <a:ext cx="8005763"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rgbClr val="FF6600"/>
              </a:buClr>
              <a:buFont typeface="Wingdings 3" panose="05040102010807070707" pitchFamily="18" charset="2"/>
              <a:buNone/>
            </a:pPr>
            <a:r>
              <a:rPr lang="en-CA" altLang="en-US" sz="3200">
                <a:latin typeface="Calibri" panose="020F0502020204030204" pitchFamily="34" charset="0"/>
              </a:rPr>
              <a:t>In a relation, the intersection of each row and each column should contain only one value</a:t>
            </a:r>
          </a:p>
          <a:p>
            <a:pPr algn="just" eaLnBrk="1" hangingPunct="1">
              <a:spcBef>
                <a:spcPct val="20000"/>
              </a:spcBef>
              <a:buClr>
                <a:srgbClr val="FF6600"/>
              </a:buClr>
              <a:buFont typeface="Wingdings 3" panose="05040102010807070707" pitchFamily="18" charset="2"/>
              <a:buNone/>
            </a:pPr>
            <a:endParaRPr lang="en-CA" altLang="en-US" sz="32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32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32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32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32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32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32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32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40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p:txBody>
      </p:sp>
      <p:sp>
        <p:nvSpPr>
          <p:cNvPr id="2" name="Title 1">
            <a:extLst>
              <a:ext uri="{FF2B5EF4-FFF2-40B4-BE49-F238E27FC236}">
                <a16:creationId xmlns:a16="http://schemas.microsoft.com/office/drawing/2014/main" id="{78EE2C37-E17C-3587-6661-F8E00029BF20}"/>
              </a:ext>
            </a:extLst>
          </p:cNvPr>
          <p:cNvSpPr>
            <a:spLocks noGrp="1"/>
          </p:cNvSpPr>
          <p:nvPr>
            <p:ph type="title"/>
          </p:nvPr>
        </p:nvSpPr>
        <p:spPr>
          <a:xfrm>
            <a:off x="457200" y="0"/>
            <a:ext cx="7620000" cy="1143000"/>
          </a:xfrm>
        </p:spPr>
        <p:txBody>
          <a:bodyPr/>
          <a:lstStyle/>
          <a:p>
            <a:pPr algn="ctr">
              <a:defRPr/>
            </a:pPr>
            <a:r>
              <a:rPr lang="en-US" dirty="0"/>
              <a:t>Characteristics of Relations</a:t>
            </a:r>
            <a:endParaRPr lang="en-CA" dirty="0"/>
          </a:p>
        </p:txBody>
      </p:sp>
      <p:sp>
        <p:nvSpPr>
          <p:cNvPr id="22" name="Snip Single Corner Rectangle 21">
            <a:extLst>
              <a:ext uri="{FF2B5EF4-FFF2-40B4-BE49-F238E27FC236}">
                <a16:creationId xmlns:a16="http://schemas.microsoft.com/office/drawing/2014/main" id="{5A865203-6E3A-1855-FA8B-D3D2C74E4F2A}"/>
              </a:ext>
            </a:extLst>
          </p:cNvPr>
          <p:cNvSpPr/>
          <p:nvPr/>
        </p:nvSpPr>
        <p:spPr>
          <a:xfrm>
            <a:off x="219075" y="1422400"/>
            <a:ext cx="1584325" cy="400050"/>
          </a:xfrm>
          <a:prstGeom prst="snip1Rect">
            <a:avLst/>
          </a:prstGeom>
          <a:solidFill>
            <a:schemeClr val="accent4">
              <a:alpha val="70000"/>
            </a:schemeClr>
          </a:solidFill>
          <a:ln>
            <a:solidFill>
              <a:schemeClr val="accent4"/>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indent="-342900" algn="just" eaLnBrk="1" hangingPunct="1">
              <a:spcBef>
                <a:spcPct val="20000"/>
              </a:spcBef>
              <a:buClr>
                <a:srgbClr val="FF6600"/>
              </a:buClr>
              <a:buSzPct val="100000"/>
              <a:defRPr/>
            </a:pPr>
            <a:r>
              <a:rPr lang="en-US" dirty="0">
                <a:latin typeface="Arial" pitchFamily="34" charset="0"/>
                <a:ea typeface="Times New Roman" pitchFamily="18" charset="0"/>
                <a:cs typeface="Arial" pitchFamily="34" charset="0"/>
              </a:rPr>
              <a:t>Atomic Value</a:t>
            </a:r>
            <a:endParaRPr lang="en-GB" kern="0" dirty="0">
              <a:solidFill>
                <a:schemeClr val="tx1"/>
              </a:solidFill>
            </a:endParaRPr>
          </a:p>
        </p:txBody>
      </p:sp>
      <p:sp>
        <p:nvSpPr>
          <p:cNvPr id="23" name="Right Arrow 22">
            <a:extLst>
              <a:ext uri="{FF2B5EF4-FFF2-40B4-BE49-F238E27FC236}">
                <a16:creationId xmlns:a16="http://schemas.microsoft.com/office/drawing/2014/main" id="{B30F7D2E-C45E-68EF-16F2-DEA8B5C82B6D}"/>
              </a:ext>
            </a:extLst>
          </p:cNvPr>
          <p:cNvSpPr>
            <a:spLocks noChangeArrowheads="1"/>
          </p:cNvSpPr>
          <p:nvPr/>
        </p:nvSpPr>
        <p:spPr bwMode="auto">
          <a:xfrm>
            <a:off x="3890963" y="3827463"/>
            <a:ext cx="720725" cy="630237"/>
          </a:xfrm>
          <a:prstGeom prst="rightArrow">
            <a:avLst>
              <a:gd name="adj1" fmla="val 50000"/>
              <a:gd name="adj2" fmla="val 50032"/>
            </a:avLst>
          </a:prstGeom>
          <a:noFill/>
          <a:ln w="2540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endParaRPr lang="en-CA" altLang="en-US"/>
          </a:p>
        </p:txBody>
      </p:sp>
      <p:graphicFrame>
        <p:nvGraphicFramePr>
          <p:cNvPr id="25" name="Table 24">
            <a:extLst>
              <a:ext uri="{FF2B5EF4-FFF2-40B4-BE49-F238E27FC236}">
                <a16:creationId xmlns:a16="http://schemas.microsoft.com/office/drawing/2014/main" id="{D1C6956B-0E27-A610-EE07-F3F4593CAB1D}"/>
              </a:ext>
            </a:extLst>
          </p:cNvPr>
          <p:cNvGraphicFramePr>
            <a:graphicFrameLocks noGrp="1"/>
          </p:cNvGraphicFramePr>
          <p:nvPr/>
        </p:nvGraphicFramePr>
        <p:xfrm>
          <a:off x="219075" y="3111500"/>
          <a:ext cx="3408363" cy="2062162"/>
        </p:xfrm>
        <a:graphic>
          <a:graphicData uri="http://schemas.openxmlformats.org/drawingml/2006/table">
            <a:tbl>
              <a:tblPr firstRow="1" bandRow="1">
                <a:tableStyleId>{BC89EF96-8CEA-46FF-86C4-4CE0E7609802}</a:tableStyleId>
              </a:tblPr>
              <a:tblGrid>
                <a:gridCol w="1560419">
                  <a:extLst>
                    <a:ext uri="{9D8B030D-6E8A-4147-A177-3AD203B41FA5}">
                      <a16:colId xmlns:a16="http://schemas.microsoft.com/office/drawing/2014/main" val="20000"/>
                    </a:ext>
                  </a:extLst>
                </a:gridCol>
                <a:gridCol w="1847944">
                  <a:extLst>
                    <a:ext uri="{9D8B030D-6E8A-4147-A177-3AD203B41FA5}">
                      <a16:colId xmlns:a16="http://schemas.microsoft.com/office/drawing/2014/main" val="20001"/>
                    </a:ext>
                  </a:extLst>
                </a:gridCol>
              </a:tblGrid>
              <a:tr h="573819">
                <a:tc>
                  <a:txBody>
                    <a:bodyPr/>
                    <a:lstStyle/>
                    <a:p>
                      <a:pPr algn="ctr"/>
                      <a:r>
                        <a:rPr lang="en-CA" sz="1800" dirty="0"/>
                        <a:t>STUDENTID</a:t>
                      </a:r>
                    </a:p>
                  </a:txBody>
                  <a:tcPr marT="45726" marB="45726"/>
                </a:tc>
                <a:tc>
                  <a:txBody>
                    <a:bodyPr/>
                    <a:lstStyle/>
                    <a:p>
                      <a:pPr algn="ctr"/>
                      <a:r>
                        <a:rPr lang="en-CA" sz="1800" dirty="0"/>
                        <a:t>CONTACT</a:t>
                      </a:r>
                    </a:p>
                  </a:txBody>
                  <a:tcPr marT="45726" marB="45726"/>
                </a:tc>
                <a:extLst>
                  <a:ext uri="{0D108BD9-81ED-4DB2-BD59-A6C34878D82A}">
                    <a16:rowId xmlns:a16="http://schemas.microsoft.com/office/drawing/2014/main" val="10000"/>
                  </a:ext>
                </a:extLst>
              </a:tr>
              <a:tr h="573819">
                <a:tc>
                  <a:txBody>
                    <a:bodyPr/>
                    <a:lstStyle/>
                    <a:p>
                      <a:pPr algn="ctr"/>
                      <a:r>
                        <a:rPr lang="en-CA" sz="1800" dirty="0"/>
                        <a:t>1</a:t>
                      </a:r>
                    </a:p>
                  </a:txBody>
                  <a:tcPr marT="45726" marB="45726"/>
                </a:tc>
                <a:tc>
                  <a:txBody>
                    <a:bodyPr/>
                    <a:lstStyle/>
                    <a:p>
                      <a:r>
                        <a:rPr lang="en-CA" sz="1800" dirty="0"/>
                        <a:t>012-1234567</a:t>
                      </a:r>
                    </a:p>
                  </a:txBody>
                  <a:tcPr marT="45726" marB="45726"/>
                </a:tc>
                <a:extLst>
                  <a:ext uri="{0D108BD9-81ED-4DB2-BD59-A6C34878D82A}">
                    <a16:rowId xmlns:a16="http://schemas.microsoft.com/office/drawing/2014/main" val="10001"/>
                  </a:ext>
                </a:extLst>
              </a:tr>
              <a:tr h="457262">
                <a:tc rowSpan="2">
                  <a:txBody>
                    <a:bodyPr/>
                    <a:lstStyle/>
                    <a:p>
                      <a:pPr algn="ctr"/>
                      <a:r>
                        <a:rPr lang="en-CA" sz="1800" dirty="0"/>
                        <a:t>2</a:t>
                      </a:r>
                    </a:p>
                  </a:txBody>
                  <a:tcPr marT="45726" marB="45726"/>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CA" sz="1800" dirty="0"/>
                        <a:t>013-1234567</a:t>
                      </a:r>
                    </a:p>
                  </a:txBody>
                  <a:tcPr marT="45726" marB="45726"/>
                </a:tc>
                <a:extLst>
                  <a:ext uri="{0D108BD9-81ED-4DB2-BD59-A6C34878D82A}">
                    <a16:rowId xmlns:a16="http://schemas.microsoft.com/office/drawing/2014/main" val="10002"/>
                  </a:ext>
                </a:extLst>
              </a:tr>
              <a:tr h="457262">
                <a:tc vMerge="1">
                  <a:txBody>
                    <a:bodyPr/>
                    <a:lstStyle/>
                    <a:p>
                      <a:endParaRPr lang="en-CA"/>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CA" sz="1800" baseline="0" dirty="0"/>
                        <a:t>014-1234567</a:t>
                      </a:r>
                      <a:endParaRPr lang="en-CA" sz="1800" dirty="0"/>
                    </a:p>
                  </a:txBody>
                  <a:tcPr marT="45726" marB="45726"/>
                </a:tc>
                <a:extLst>
                  <a:ext uri="{0D108BD9-81ED-4DB2-BD59-A6C34878D82A}">
                    <a16:rowId xmlns:a16="http://schemas.microsoft.com/office/drawing/2014/main" val="10003"/>
                  </a:ext>
                </a:extLst>
              </a:tr>
            </a:tbl>
          </a:graphicData>
        </a:graphic>
      </p:graphicFrame>
      <p:sp>
        <p:nvSpPr>
          <p:cNvPr id="36" name="TextBox 35">
            <a:extLst>
              <a:ext uri="{FF2B5EF4-FFF2-40B4-BE49-F238E27FC236}">
                <a16:creationId xmlns:a16="http://schemas.microsoft.com/office/drawing/2014/main" id="{90A16939-A99D-ABBA-3D7D-2512DA63C1C7}"/>
              </a:ext>
            </a:extLst>
          </p:cNvPr>
          <p:cNvSpPr txBox="1">
            <a:spLocks noChangeArrowheads="1"/>
          </p:cNvSpPr>
          <p:nvPr/>
        </p:nvSpPr>
        <p:spPr bwMode="auto">
          <a:xfrm>
            <a:off x="801688" y="5176838"/>
            <a:ext cx="22415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CA" altLang="en-US"/>
              <a:t>Student relation</a:t>
            </a:r>
          </a:p>
        </p:txBody>
      </p:sp>
      <p:sp>
        <p:nvSpPr>
          <p:cNvPr id="37" name="TextBox 36">
            <a:extLst>
              <a:ext uri="{FF2B5EF4-FFF2-40B4-BE49-F238E27FC236}">
                <a16:creationId xmlns:a16="http://schemas.microsoft.com/office/drawing/2014/main" id="{229A800D-55CB-3F8A-50DC-8191009B5B6F}"/>
              </a:ext>
            </a:extLst>
          </p:cNvPr>
          <p:cNvSpPr txBox="1">
            <a:spLocks noChangeArrowheads="1"/>
          </p:cNvSpPr>
          <p:nvPr/>
        </p:nvSpPr>
        <p:spPr bwMode="auto">
          <a:xfrm>
            <a:off x="5399088" y="5308600"/>
            <a:ext cx="22415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CA" altLang="en-US"/>
              <a:t>Student relation</a:t>
            </a:r>
          </a:p>
        </p:txBody>
      </p:sp>
      <p:graphicFrame>
        <p:nvGraphicFramePr>
          <p:cNvPr id="38" name="Table 37">
            <a:extLst>
              <a:ext uri="{FF2B5EF4-FFF2-40B4-BE49-F238E27FC236}">
                <a16:creationId xmlns:a16="http://schemas.microsoft.com/office/drawing/2014/main" id="{F279BA7F-3A99-5059-51A3-E574034A3B1A}"/>
              </a:ext>
            </a:extLst>
          </p:cNvPr>
          <p:cNvGraphicFramePr>
            <a:graphicFrameLocks noGrp="1"/>
          </p:cNvGraphicFramePr>
          <p:nvPr/>
        </p:nvGraphicFramePr>
        <p:xfrm>
          <a:off x="4816475" y="2995613"/>
          <a:ext cx="3408363" cy="2293936"/>
        </p:xfrm>
        <a:graphic>
          <a:graphicData uri="http://schemas.openxmlformats.org/drawingml/2006/table">
            <a:tbl>
              <a:tblPr firstRow="1" bandRow="1">
                <a:tableStyleId>{ED083AE6-46FA-4A59-8FB0-9F97EB10719F}</a:tableStyleId>
              </a:tblPr>
              <a:tblGrid>
                <a:gridCol w="1560419">
                  <a:extLst>
                    <a:ext uri="{9D8B030D-6E8A-4147-A177-3AD203B41FA5}">
                      <a16:colId xmlns:a16="http://schemas.microsoft.com/office/drawing/2014/main" val="20000"/>
                    </a:ext>
                  </a:extLst>
                </a:gridCol>
                <a:gridCol w="1847944">
                  <a:extLst>
                    <a:ext uri="{9D8B030D-6E8A-4147-A177-3AD203B41FA5}">
                      <a16:colId xmlns:a16="http://schemas.microsoft.com/office/drawing/2014/main" val="20001"/>
                    </a:ext>
                  </a:extLst>
                </a:gridCol>
              </a:tblGrid>
              <a:tr h="573484">
                <a:tc>
                  <a:txBody>
                    <a:bodyPr/>
                    <a:lstStyle/>
                    <a:p>
                      <a:pPr algn="ctr"/>
                      <a:r>
                        <a:rPr lang="en-CA" sz="1800" dirty="0"/>
                        <a:t>STUDENTID</a:t>
                      </a:r>
                    </a:p>
                  </a:txBody>
                  <a:tcPr marT="45700" marB="45700"/>
                </a:tc>
                <a:tc>
                  <a:txBody>
                    <a:bodyPr/>
                    <a:lstStyle/>
                    <a:p>
                      <a:pPr algn="ctr"/>
                      <a:r>
                        <a:rPr lang="en-CA" sz="1800" dirty="0"/>
                        <a:t>CONTACT</a:t>
                      </a:r>
                    </a:p>
                  </a:txBody>
                  <a:tcPr marT="45700" marB="45700"/>
                </a:tc>
                <a:extLst>
                  <a:ext uri="{0D108BD9-81ED-4DB2-BD59-A6C34878D82A}">
                    <a16:rowId xmlns:a16="http://schemas.microsoft.com/office/drawing/2014/main" val="10000"/>
                  </a:ext>
                </a:extLst>
              </a:tr>
              <a:tr h="573484">
                <a:tc>
                  <a:txBody>
                    <a:bodyPr/>
                    <a:lstStyle/>
                    <a:p>
                      <a:pPr algn="ctr"/>
                      <a:r>
                        <a:rPr lang="en-CA" sz="1800" dirty="0"/>
                        <a:t>1</a:t>
                      </a:r>
                    </a:p>
                  </a:txBody>
                  <a:tcPr marT="45700" marB="45700"/>
                </a:tc>
                <a:tc>
                  <a:txBody>
                    <a:bodyPr/>
                    <a:lstStyle/>
                    <a:p>
                      <a:r>
                        <a:rPr lang="en-CA" sz="1800" dirty="0"/>
                        <a:t>012-1234567</a:t>
                      </a:r>
                    </a:p>
                  </a:txBody>
                  <a:tcPr marT="45700" marB="45700"/>
                </a:tc>
                <a:extLst>
                  <a:ext uri="{0D108BD9-81ED-4DB2-BD59-A6C34878D82A}">
                    <a16:rowId xmlns:a16="http://schemas.microsoft.com/office/drawing/2014/main" val="10001"/>
                  </a:ext>
                </a:extLst>
              </a:tr>
              <a:tr h="573484">
                <a:tc>
                  <a:txBody>
                    <a:bodyPr/>
                    <a:lstStyle/>
                    <a:p>
                      <a:pPr algn="ctr"/>
                      <a:r>
                        <a:rPr lang="en-CA" sz="1800" dirty="0"/>
                        <a:t>2</a:t>
                      </a:r>
                    </a:p>
                  </a:txBody>
                  <a:tcPr marT="45700" marB="45700"/>
                </a:tc>
                <a:tc>
                  <a:txBody>
                    <a:bodyPr/>
                    <a:lstStyle/>
                    <a:p>
                      <a:r>
                        <a:rPr lang="en-CA" sz="1800" dirty="0"/>
                        <a:t>013-1234567</a:t>
                      </a:r>
                    </a:p>
                  </a:txBody>
                  <a:tcPr marT="45700" marB="45700"/>
                </a:tc>
                <a:extLst>
                  <a:ext uri="{0D108BD9-81ED-4DB2-BD59-A6C34878D82A}">
                    <a16:rowId xmlns:a16="http://schemas.microsoft.com/office/drawing/2014/main" val="10002"/>
                  </a:ext>
                </a:extLst>
              </a:tr>
              <a:tr h="573484">
                <a:tc>
                  <a:txBody>
                    <a:bodyPr/>
                    <a:lstStyle/>
                    <a:p>
                      <a:pPr algn="ctr"/>
                      <a:r>
                        <a:rPr lang="en-CA" sz="1800" dirty="0"/>
                        <a:t>2</a:t>
                      </a:r>
                    </a:p>
                  </a:txBody>
                  <a:tcPr marT="45700" marB="4570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CA" sz="1800" dirty="0"/>
                        <a:t>014-1234567</a:t>
                      </a:r>
                    </a:p>
                  </a:txBody>
                  <a:tcPr marT="45700" marB="45700"/>
                </a:tc>
                <a:extLst>
                  <a:ext uri="{0D108BD9-81ED-4DB2-BD59-A6C34878D82A}">
                    <a16:rowId xmlns:a16="http://schemas.microsoft.com/office/drawing/2014/main" val="10003"/>
                  </a:ext>
                </a:extLst>
              </a:tr>
            </a:tbl>
          </a:graphicData>
        </a:graphic>
      </p:graphicFrame>
      <p:sp>
        <p:nvSpPr>
          <p:cNvPr id="39" name="Multiply 38">
            <a:extLst>
              <a:ext uri="{FF2B5EF4-FFF2-40B4-BE49-F238E27FC236}">
                <a16:creationId xmlns:a16="http://schemas.microsoft.com/office/drawing/2014/main" id="{887BBEB9-C77B-807C-5295-ACA9F420B0BC}"/>
              </a:ext>
            </a:extLst>
          </p:cNvPr>
          <p:cNvSpPr/>
          <p:nvPr/>
        </p:nvSpPr>
        <p:spPr bwMode="auto">
          <a:xfrm>
            <a:off x="842963" y="3359150"/>
            <a:ext cx="2160587" cy="1584325"/>
          </a:xfrm>
          <a:prstGeom prst="mathMultiply">
            <a:avLst/>
          </a:prstGeom>
          <a:solidFill>
            <a:srgbClr val="B50C00"/>
          </a:solidFill>
          <a:ln w="9525" cap="flat" cmpd="sng" algn="ctr">
            <a:solidFill>
              <a:schemeClr val="tx1"/>
            </a:solidFill>
            <a:prstDash val="solid"/>
            <a:round/>
            <a:headEnd type="none" w="med" len="med"/>
            <a:tailEnd type="none" w="med" len="med"/>
          </a:ln>
          <a:effectLst/>
        </p:spPr>
        <p:txBody>
          <a:bodyPr/>
          <a:lstStyle/>
          <a:p>
            <a:pPr>
              <a:defRPr/>
            </a:pPr>
            <a:endParaRPr lang="en-CA">
              <a:latin typeface="Arial" charset="0"/>
            </a:endParaRPr>
          </a:p>
        </p:txBody>
      </p:sp>
      <p:sp>
        <p:nvSpPr>
          <p:cNvPr id="41" name="Rectangle 40">
            <a:extLst>
              <a:ext uri="{FF2B5EF4-FFF2-40B4-BE49-F238E27FC236}">
                <a16:creationId xmlns:a16="http://schemas.microsoft.com/office/drawing/2014/main" id="{FCAD97B0-02EF-1588-0D57-92C62CCB5996}"/>
              </a:ext>
            </a:extLst>
          </p:cNvPr>
          <p:cNvSpPr/>
          <p:nvPr/>
        </p:nvSpPr>
        <p:spPr bwMode="auto">
          <a:xfrm>
            <a:off x="1022350" y="5811838"/>
            <a:ext cx="6410325" cy="588962"/>
          </a:xfrm>
          <a:prstGeom prst="rect">
            <a:avLst/>
          </a:prstGeom>
          <a:ln>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anchor="ctr" anchorCtr="1"/>
          <a:lstStyle/>
          <a:p>
            <a:pPr algn="ctr">
              <a:defRPr/>
            </a:pPr>
            <a:r>
              <a:rPr lang="en-CA" dirty="0"/>
              <a:t>By adding a new row, the invalid relation has been transformed into a valid relation</a:t>
            </a:r>
            <a:endParaRPr lang="en-CA" dirty="0">
              <a:solidFill>
                <a:schemeClr val="tx1"/>
              </a:solidFill>
              <a:latin typeface="Arial"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childTnLst>
                          </p:cTn>
                        </p:par>
                        <p:par>
                          <p:cTn id="8" fill="hold" nodeType="afterGroup">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36"/>
                                        </p:tgtEl>
                                        <p:attrNameLst>
                                          <p:attrName>style.visibility</p:attrName>
                                        </p:attrNameLst>
                                      </p:cBhvr>
                                      <p:to>
                                        <p:strVal val="visible"/>
                                      </p:to>
                                    </p:set>
                                    <p:animEffect transition="in" filter="wipe(up)">
                                      <p:cBhvr>
                                        <p:cTn id="11" dur="500"/>
                                        <p:tgtEl>
                                          <p:spTgt spid="36"/>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0" presetClass="entr" presetSubtype="0" fill="hold" nodeType="clickEffect">
                                  <p:stCondLst>
                                    <p:cond delay="0"/>
                                  </p:stCondLst>
                                  <p:childTnLst>
                                    <p:set>
                                      <p:cBhvr>
                                        <p:cTn id="15" dur="1" fill="hold">
                                          <p:stCondLst>
                                            <p:cond delay="0"/>
                                          </p:stCondLst>
                                        </p:cTn>
                                        <p:tgtEl>
                                          <p:spTgt spid="39"/>
                                        </p:tgtEl>
                                        <p:attrNameLst>
                                          <p:attrName>style.visibility</p:attrName>
                                        </p:attrNameLst>
                                      </p:cBhvr>
                                      <p:to>
                                        <p:strVal val="visible"/>
                                      </p:to>
                                    </p:set>
                                    <p:animEffect transition="in" filter="fade">
                                      <p:cBhvr>
                                        <p:cTn id="16" dur="500"/>
                                        <p:tgtEl>
                                          <p:spTgt spid="39"/>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23"/>
                                        </p:tgtEl>
                                        <p:attrNameLst>
                                          <p:attrName>style.visibility</p:attrName>
                                        </p:attrNameLst>
                                      </p:cBhvr>
                                      <p:to>
                                        <p:strVal val="visible"/>
                                      </p:to>
                                    </p:set>
                                    <p:animEffect transition="in" filter="wipe(left)">
                                      <p:cBhvr>
                                        <p:cTn id="21" dur="500"/>
                                        <p:tgtEl>
                                          <p:spTgt spid="23"/>
                                        </p:tgtEl>
                                      </p:cBhvr>
                                    </p:animEffect>
                                  </p:childTnLst>
                                </p:cTn>
                              </p:par>
                            </p:childTnLst>
                          </p:cTn>
                        </p:par>
                        <p:par>
                          <p:cTn id="22" fill="hold" nodeType="afterGroup">
                            <p:stCondLst>
                              <p:cond delay="500"/>
                            </p:stCondLst>
                            <p:childTnLst>
                              <p:par>
                                <p:cTn id="23" presetID="22" presetClass="entr" presetSubtype="1" fill="hold" nodeType="afterEffect">
                                  <p:stCondLst>
                                    <p:cond delay="0"/>
                                  </p:stCondLst>
                                  <p:childTnLst>
                                    <p:set>
                                      <p:cBhvr>
                                        <p:cTn id="24" dur="1" fill="hold">
                                          <p:stCondLst>
                                            <p:cond delay="0"/>
                                          </p:stCondLst>
                                        </p:cTn>
                                        <p:tgtEl>
                                          <p:spTgt spid="38"/>
                                        </p:tgtEl>
                                        <p:attrNameLst>
                                          <p:attrName>style.visibility</p:attrName>
                                        </p:attrNameLst>
                                      </p:cBhvr>
                                      <p:to>
                                        <p:strVal val="visible"/>
                                      </p:to>
                                    </p:set>
                                    <p:animEffect transition="in" filter="wipe(up)">
                                      <p:cBhvr>
                                        <p:cTn id="25" dur="500"/>
                                        <p:tgtEl>
                                          <p:spTgt spid="38"/>
                                        </p:tgtEl>
                                      </p:cBhvr>
                                    </p:animEffect>
                                  </p:childTnLst>
                                </p:cTn>
                              </p:par>
                            </p:childTnLst>
                          </p:cTn>
                        </p:par>
                        <p:par>
                          <p:cTn id="26" fill="hold" nodeType="afterGroup">
                            <p:stCondLst>
                              <p:cond delay="1000"/>
                            </p:stCondLst>
                            <p:childTnLst>
                              <p:par>
                                <p:cTn id="27" presetID="22" presetClass="entr" presetSubtype="1" fill="hold" grpId="0" nodeType="afterEffect">
                                  <p:stCondLst>
                                    <p:cond delay="0"/>
                                  </p:stCondLst>
                                  <p:childTnLst>
                                    <p:set>
                                      <p:cBhvr>
                                        <p:cTn id="28" dur="1" fill="hold">
                                          <p:stCondLst>
                                            <p:cond delay="0"/>
                                          </p:stCondLst>
                                        </p:cTn>
                                        <p:tgtEl>
                                          <p:spTgt spid="37"/>
                                        </p:tgtEl>
                                        <p:attrNameLst>
                                          <p:attrName>style.visibility</p:attrName>
                                        </p:attrNameLst>
                                      </p:cBhvr>
                                      <p:to>
                                        <p:strVal val="visible"/>
                                      </p:to>
                                    </p:set>
                                    <p:animEffect transition="in" filter="wipe(up)">
                                      <p:cBhvr>
                                        <p:cTn id="29" dur="500"/>
                                        <p:tgtEl>
                                          <p:spTgt spid="37"/>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16" presetClass="entr" presetSubtype="21" fill="hold" grpId="0" nodeType="clickEffect">
                                  <p:stCondLst>
                                    <p:cond delay="0"/>
                                  </p:stCondLst>
                                  <p:childTnLst>
                                    <p:set>
                                      <p:cBhvr>
                                        <p:cTn id="33" dur="1" fill="hold">
                                          <p:stCondLst>
                                            <p:cond delay="0"/>
                                          </p:stCondLst>
                                        </p:cTn>
                                        <p:tgtEl>
                                          <p:spTgt spid="41"/>
                                        </p:tgtEl>
                                        <p:attrNameLst>
                                          <p:attrName>style.visibility</p:attrName>
                                        </p:attrNameLst>
                                      </p:cBhvr>
                                      <p:to>
                                        <p:strVal val="visible"/>
                                      </p:to>
                                    </p:set>
                                    <p:animEffect transition="in" filter="barn(inVertical)">
                                      <p:cBhvr>
                                        <p:cTn id="34"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36" grpId="0"/>
      <p:bldP spid="37" grpId="0"/>
      <p:bldP spid="41" grpId="0" animBg="1"/>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239201-6BD9-7231-6CDB-38C7AA7C4340}"/>
              </a:ext>
            </a:extLst>
          </p:cNvPr>
          <p:cNvSpPr>
            <a:spLocks noGrp="1"/>
          </p:cNvSpPr>
          <p:nvPr>
            <p:ph type="title"/>
          </p:nvPr>
        </p:nvSpPr>
        <p:spPr>
          <a:xfrm>
            <a:off x="457200" y="0"/>
            <a:ext cx="7620000" cy="1143000"/>
          </a:xfrm>
        </p:spPr>
        <p:txBody>
          <a:bodyPr/>
          <a:lstStyle/>
          <a:p>
            <a:pPr algn="ctr">
              <a:defRPr/>
            </a:pPr>
            <a:r>
              <a:rPr lang="en-US" dirty="0"/>
              <a:t>Characteristics of Relations</a:t>
            </a:r>
            <a:endParaRPr lang="en-CA" dirty="0"/>
          </a:p>
        </p:txBody>
      </p:sp>
      <p:sp>
        <p:nvSpPr>
          <p:cNvPr id="20" name="Content Placeholder 2">
            <a:extLst>
              <a:ext uri="{FF2B5EF4-FFF2-40B4-BE49-F238E27FC236}">
                <a16:creationId xmlns:a16="http://schemas.microsoft.com/office/drawing/2014/main" id="{909A53AE-9E64-4BEF-8D90-2F0206060BA3}"/>
              </a:ext>
            </a:extLst>
          </p:cNvPr>
          <p:cNvSpPr txBox="1">
            <a:spLocks/>
          </p:cNvSpPr>
          <p:nvPr/>
        </p:nvSpPr>
        <p:spPr bwMode="auto">
          <a:xfrm>
            <a:off x="209550" y="1868488"/>
            <a:ext cx="8016875"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rgbClr val="FF6600"/>
              </a:buClr>
              <a:buFont typeface="Wingdings 3" panose="05040102010807070707" pitchFamily="18" charset="2"/>
              <a:buNone/>
            </a:pPr>
            <a:r>
              <a:rPr lang="en-CA" altLang="en-US" sz="3200">
                <a:latin typeface="Calibri" panose="020F0502020204030204" pitchFamily="34" charset="0"/>
              </a:rPr>
              <a:t>In a relation, a special value called </a:t>
            </a:r>
            <a:r>
              <a:rPr lang="en-CA" altLang="en-US" sz="3200" b="1">
                <a:latin typeface="Calibri" panose="020F0502020204030204" pitchFamily="34" charset="0"/>
              </a:rPr>
              <a:t>NULL </a:t>
            </a:r>
            <a:r>
              <a:rPr lang="en-CA" altLang="en-US" sz="3200">
                <a:latin typeface="Calibri" panose="020F0502020204030204" pitchFamily="34" charset="0"/>
              </a:rPr>
              <a:t>is used when there is no value for an attribute</a:t>
            </a:r>
            <a:endParaRPr lang="en-CA" altLang="en-US" sz="3200" b="1">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32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32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32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32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32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32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40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p:txBody>
      </p:sp>
      <p:sp>
        <p:nvSpPr>
          <p:cNvPr id="26" name="TextBox 25">
            <a:extLst>
              <a:ext uri="{FF2B5EF4-FFF2-40B4-BE49-F238E27FC236}">
                <a16:creationId xmlns:a16="http://schemas.microsoft.com/office/drawing/2014/main" id="{42574D6A-672B-29D9-6A1A-1A200414F1D7}"/>
              </a:ext>
            </a:extLst>
          </p:cNvPr>
          <p:cNvSpPr txBox="1">
            <a:spLocks noChangeArrowheads="1"/>
          </p:cNvSpPr>
          <p:nvPr/>
        </p:nvSpPr>
        <p:spPr bwMode="auto">
          <a:xfrm>
            <a:off x="5507038" y="4821238"/>
            <a:ext cx="20304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CA" altLang="en-US"/>
              <a:t>Student relation</a:t>
            </a:r>
          </a:p>
        </p:txBody>
      </p:sp>
      <p:sp>
        <p:nvSpPr>
          <p:cNvPr id="14" name="TextBox 13">
            <a:extLst>
              <a:ext uri="{FF2B5EF4-FFF2-40B4-BE49-F238E27FC236}">
                <a16:creationId xmlns:a16="http://schemas.microsoft.com/office/drawing/2014/main" id="{C8888E4E-9266-0358-5B94-F0F336E11772}"/>
              </a:ext>
            </a:extLst>
          </p:cNvPr>
          <p:cNvSpPr txBox="1"/>
          <p:nvPr/>
        </p:nvSpPr>
        <p:spPr>
          <a:xfrm>
            <a:off x="209550" y="5324475"/>
            <a:ext cx="3408363" cy="923925"/>
          </a:xfrm>
          <a:prstGeom prst="rect">
            <a:avLst/>
          </a:prstGeom>
          <a:ln/>
        </p:spPr>
        <p:style>
          <a:lnRef idx="1">
            <a:schemeClr val="accent2"/>
          </a:lnRef>
          <a:fillRef idx="2">
            <a:schemeClr val="accent2"/>
          </a:fillRef>
          <a:effectRef idx="1">
            <a:schemeClr val="accent2"/>
          </a:effectRef>
          <a:fontRef idx="minor">
            <a:schemeClr val="dk1"/>
          </a:fontRef>
        </p:style>
        <p:txBody>
          <a:bodyPr>
            <a:spAutoFit/>
          </a:bodyPr>
          <a:lstStyle/>
          <a:p>
            <a:pPr algn="ctr">
              <a:defRPr/>
            </a:pPr>
            <a:r>
              <a:rPr lang="en-CA" dirty="0"/>
              <a:t>Here, NULL means </a:t>
            </a:r>
            <a:r>
              <a:rPr lang="en-CA" b="1" dirty="0"/>
              <a:t>unknown</a:t>
            </a:r>
            <a:r>
              <a:rPr lang="en-CA" dirty="0"/>
              <a:t>.</a:t>
            </a:r>
            <a:r>
              <a:rPr lang="en-CA" b="1" dirty="0"/>
              <a:t> </a:t>
            </a:r>
            <a:r>
              <a:rPr lang="en-CA" dirty="0"/>
              <a:t>If we do not know a student’s contact number, we can set it to NULL. </a:t>
            </a:r>
            <a:endParaRPr lang="en-CA" b="1" dirty="0"/>
          </a:p>
        </p:txBody>
      </p:sp>
      <p:sp>
        <p:nvSpPr>
          <p:cNvPr id="18" name="Snip Single Corner Rectangle 17">
            <a:extLst>
              <a:ext uri="{FF2B5EF4-FFF2-40B4-BE49-F238E27FC236}">
                <a16:creationId xmlns:a16="http://schemas.microsoft.com/office/drawing/2014/main" id="{B80D011E-0315-A76A-871F-A5D3BF7910D7}"/>
              </a:ext>
            </a:extLst>
          </p:cNvPr>
          <p:cNvSpPr/>
          <p:nvPr/>
        </p:nvSpPr>
        <p:spPr>
          <a:xfrm>
            <a:off x="209550" y="1439863"/>
            <a:ext cx="1511300" cy="401637"/>
          </a:xfrm>
          <a:prstGeom prst="snip1Rect">
            <a:avLst/>
          </a:prstGeom>
          <a:solidFill>
            <a:schemeClr val="accent6">
              <a:alpha val="70000"/>
            </a:schemeClr>
          </a:solidFill>
          <a:ln>
            <a:solidFill>
              <a:schemeClr val="accent6"/>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indent="-342900" algn="just" eaLnBrk="1" hangingPunct="1">
              <a:spcBef>
                <a:spcPct val="20000"/>
              </a:spcBef>
              <a:buClr>
                <a:srgbClr val="FF6600"/>
              </a:buClr>
              <a:buSzPct val="100000"/>
              <a:defRPr/>
            </a:pPr>
            <a:r>
              <a:rPr lang="en-US" dirty="0">
                <a:latin typeface="Arial" pitchFamily="34" charset="0"/>
                <a:ea typeface="Times New Roman" pitchFamily="18" charset="0"/>
                <a:cs typeface="Arial" pitchFamily="34" charset="0"/>
              </a:rPr>
              <a:t>NULL Value</a:t>
            </a:r>
            <a:endParaRPr lang="en-GB" kern="0" dirty="0">
              <a:solidFill>
                <a:schemeClr val="tx1"/>
              </a:solidFill>
            </a:endParaRPr>
          </a:p>
        </p:txBody>
      </p:sp>
      <p:graphicFrame>
        <p:nvGraphicFramePr>
          <p:cNvPr id="24" name="Table 23">
            <a:extLst>
              <a:ext uri="{FF2B5EF4-FFF2-40B4-BE49-F238E27FC236}">
                <a16:creationId xmlns:a16="http://schemas.microsoft.com/office/drawing/2014/main" id="{DBDEA45D-4571-D44E-FD2F-5AC9A668E0C3}"/>
              </a:ext>
            </a:extLst>
          </p:cNvPr>
          <p:cNvGraphicFramePr>
            <a:graphicFrameLocks noGrp="1"/>
          </p:cNvGraphicFramePr>
          <p:nvPr/>
        </p:nvGraphicFramePr>
        <p:xfrm>
          <a:off x="209550" y="3097213"/>
          <a:ext cx="3408363" cy="1746250"/>
        </p:xfrm>
        <a:graphic>
          <a:graphicData uri="http://schemas.openxmlformats.org/drawingml/2006/table">
            <a:tbl>
              <a:tblPr firstRow="1" bandRow="1">
                <a:tableStyleId>{BC89EF96-8CEA-46FF-86C4-4CE0E7609802}</a:tableStyleId>
              </a:tblPr>
              <a:tblGrid>
                <a:gridCol w="1560419">
                  <a:extLst>
                    <a:ext uri="{9D8B030D-6E8A-4147-A177-3AD203B41FA5}">
                      <a16:colId xmlns:a16="http://schemas.microsoft.com/office/drawing/2014/main" val="20000"/>
                    </a:ext>
                  </a:extLst>
                </a:gridCol>
                <a:gridCol w="1847944">
                  <a:extLst>
                    <a:ext uri="{9D8B030D-6E8A-4147-A177-3AD203B41FA5}">
                      <a16:colId xmlns:a16="http://schemas.microsoft.com/office/drawing/2014/main" val="20001"/>
                    </a:ext>
                  </a:extLst>
                </a:gridCol>
              </a:tblGrid>
              <a:tr h="553068">
                <a:tc>
                  <a:txBody>
                    <a:bodyPr/>
                    <a:lstStyle/>
                    <a:p>
                      <a:pPr algn="ctr"/>
                      <a:r>
                        <a:rPr lang="en-CA" sz="1800" dirty="0"/>
                        <a:t>STUDENTID</a:t>
                      </a:r>
                    </a:p>
                  </a:txBody>
                  <a:tcPr marT="45722" marB="45722"/>
                </a:tc>
                <a:tc>
                  <a:txBody>
                    <a:bodyPr/>
                    <a:lstStyle/>
                    <a:p>
                      <a:pPr algn="ctr"/>
                      <a:r>
                        <a:rPr lang="en-CA" sz="1800" dirty="0"/>
                        <a:t>CONTACT</a:t>
                      </a:r>
                    </a:p>
                  </a:txBody>
                  <a:tcPr marT="45722" marB="45722"/>
                </a:tc>
                <a:extLst>
                  <a:ext uri="{0D108BD9-81ED-4DB2-BD59-A6C34878D82A}">
                    <a16:rowId xmlns:a16="http://schemas.microsoft.com/office/drawing/2014/main" val="10000"/>
                  </a:ext>
                </a:extLst>
              </a:tr>
              <a:tr h="553068">
                <a:tc>
                  <a:txBody>
                    <a:bodyPr/>
                    <a:lstStyle/>
                    <a:p>
                      <a:pPr algn="ctr"/>
                      <a:r>
                        <a:rPr lang="en-CA" sz="1800" dirty="0"/>
                        <a:t>1</a:t>
                      </a:r>
                    </a:p>
                  </a:txBody>
                  <a:tcPr marT="45722" marB="45722"/>
                </a:tc>
                <a:tc>
                  <a:txBody>
                    <a:bodyPr/>
                    <a:lstStyle/>
                    <a:p>
                      <a:r>
                        <a:rPr lang="en-CA" sz="1800" dirty="0"/>
                        <a:t>012-1234567</a:t>
                      </a:r>
                    </a:p>
                  </a:txBody>
                  <a:tcPr marT="45722" marB="45722"/>
                </a:tc>
                <a:extLst>
                  <a:ext uri="{0D108BD9-81ED-4DB2-BD59-A6C34878D82A}">
                    <a16:rowId xmlns:a16="http://schemas.microsoft.com/office/drawing/2014/main" val="10001"/>
                  </a:ext>
                </a:extLst>
              </a:tr>
              <a:tr h="640114">
                <a:tc>
                  <a:txBody>
                    <a:bodyPr/>
                    <a:lstStyle/>
                    <a:p>
                      <a:pPr algn="ctr"/>
                      <a:r>
                        <a:rPr lang="en-CA" sz="1800" dirty="0"/>
                        <a:t>2</a:t>
                      </a:r>
                    </a:p>
                  </a:txBody>
                  <a:tcPr marT="45722" marB="45722"/>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CA" sz="1800" dirty="0"/>
                        <a:t>NULL</a:t>
                      </a:r>
                    </a:p>
                    <a:p>
                      <a:endParaRPr lang="en-CA" sz="1800" dirty="0"/>
                    </a:p>
                  </a:txBody>
                  <a:tcPr marT="45722" marB="45722"/>
                </a:tc>
                <a:extLst>
                  <a:ext uri="{0D108BD9-81ED-4DB2-BD59-A6C34878D82A}">
                    <a16:rowId xmlns:a16="http://schemas.microsoft.com/office/drawing/2014/main" val="10002"/>
                  </a:ext>
                </a:extLst>
              </a:tr>
            </a:tbl>
          </a:graphicData>
        </a:graphic>
      </p:graphicFrame>
      <p:sp>
        <p:nvSpPr>
          <p:cNvPr id="27" name="TextBox 26">
            <a:extLst>
              <a:ext uri="{FF2B5EF4-FFF2-40B4-BE49-F238E27FC236}">
                <a16:creationId xmlns:a16="http://schemas.microsoft.com/office/drawing/2014/main" id="{613514EF-2704-6EB9-42E9-43F118B76701}"/>
              </a:ext>
            </a:extLst>
          </p:cNvPr>
          <p:cNvSpPr txBox="1">
            <a:spLocks noChangeArrowheads="1"/>
          </p:cNvSpPr>
          <p:nvPr/>
        </p:nvSpPr>
        <p:spPr bwMode="auto">
          <a:xfrm>
            <a:off x="793750" y="4845050"/>
            <a:ext cx="223996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CA" altLang="en-US"/>
              <a:t>Student relation</a:t>
            </a:r>
          </a:p>
        </p:txBody>
      </p:sp>
      <p:graphicFrame>
        <p:nvGraphicFramePr>
          <p:cNvPr id="22" name="Table 21">
            <a:extLst>
              <a:ext uri="{FF2B5EF4-FFF2-40B4-BE49-F238E27FC236}">
                <a16:creationId xmlns:a16="http://schemas.microsoft.com/office/drawing/2014/main" id="{B9596E9C-8799-2AC0-5FBA-06CA82BF0B12}"/>
              </a:ext>
            </a:extLst>
          </p:cNvPr>
          <p:cNvGraphicFramePr>
            <a:graphicFrameLocks noGrp="1"/>
          </p:cNvGraphicFramePr>
          <p:nvPr/>
        </p:nvGraphicFramePr>
        <p:xfrm>
          <a:off x="4818063" y="3090863"/>
          <a:ext cx="3408362" cy="1720851"/>
        </p:xfrm>
        <a:graphic>
          <a:graphicData uri="http://schemas.openxmlformats.org/drawingml/2006/table">
            <a:tbl>
              <a:tblPr firstRow="1" bandRow="1">
                <a:tableStyleId>{ED083AE6-46FA-4A59-8FB0-9F97EB10719F}</a:tableStyleId>
              </a:tblPr>
              <a:tblGrid>
                <a:gridCol w="1560419">
                  <a:extLst>
                    <a:ext uri="{9D8B030D-6E8A-4147-A177-3AD203B41FA5}">
                      <a16:colId xmlns:a16="http://schemas.microsoft.com/office/drawing/2014/main" val="20000"/>
                    </a:ext>
                  </a:extLst>
                </a:gridCol>
                <a:gridCol w="1847943">
                  <a:extLst>
                    <a:ext uri="{9D8B030D-6E8A-4147-A177-3AD203B41FA5}">
                      <a16:colId xmlns:a16="http://schemas.microsoft.com/office/drawing/2014/main" val="20001"/>
                    </a:ext>
                  </a:extLst>
                </a:gridCol>
              </a:tblGrid>
              <a:tr h="573617">
                <a:tc>
                  <a:txBody>
                    <a:bodyPr/>
                    <a:lstStyle/>
                    <a:p>
                      <a:pPr algn="ctr"/>
                      <a:r>
                        <a:rPr lang="en-CA" sz="1800" dirty="0"/>
                        <a:t>STUDENTID</a:t>
                      </a:r>
                    </a:p>
                  </a:txBody>
                  <a:tcPr marT="45710" marB="45710"/>
                </a:tc>
                <a:tc>
                  <a:txBody>
                    <a:bodyPr/>
                    <a:lstStyle/>
                    <a:p>
                      <a:pPr algn="ctr"/>
                      <a:r>
                        <a:rPr lang="en-CA" sz="1800" dirty="0"/>
                        <a:t>DIPLOMA</a:t>
                      </a:r>
                    </a:p>
                  </a:txBody>
                  <a:tcPr marT="45710" marB="45710"/>
                </a:tc>
                <a:extLst>
                  <a:ext uri="{0D108BD9-81ED-4DB2-BD59-A6C34878D82A}">
                    <a16:rowId xmlns:a16="http://schemas.microsoft.com/office/drawing/2014/main" val="10000"/>
                  </a:ext>
                </a:extLst>
              </a:tr>
              <a:tr h="573617">
                <a:tc>
                  <a:txBody>
                    <a:bodyPr/>
                    <a:lstStyle/>
                    <a:p>
                      <a:pPr algn="ctr"/>
                      <a:r>
                        <a:rPr lang="en-CA" sz="1800" dirty="0"/>
                        <a:t>1</a:t>
                      </a:r>
                    </a:p>
                  </a:txBody>
                  <a:tcPr marT="45710" marB="45710"/>
                </a:tc>
                <a:tc>
                  <a:txBody>
                    <a:bodyPr/>
                    <a:lstStyle/>
                    <a:p>
                      <a:r>
                        <a:rPr lang="en-CA" sz="1800" dirty="0"/>
                        <a:t>IT</a:t>
                      </a:r>
                    </a:p>
                  </a:txBody>
                  <a:tcPr marT="45710" marB="45710"/>
                </a:tc>
                <a:extLst>
                  <a:ext uri="{0D108BD9-81ED-4DB2-BD59-A6C34878D82A}">
                    <a16:rowId xmlns:a16="http://schemas.microsoft.com/office/drawing/2014/main" val="10001"/>
                  </a:ext>
                </a:extLst>
              </a:tr>
              <a:tr h="573617">
                <a:tc>
                  <a:txBody>
                    <a:bodyPr/>
                    <a:lstStyle/>
                    <a:p>
                      <a:pPr algn="ctr"/>
                      <a:r>
                        <a:rPr lang="en-CA" sz="1800" dirty="0"/>
                        <a:t>2</a:t>
                      </a:r>
                    </a:p>
                  </a:txBody>
                  <a:tcPr marT="45710" marB="45710"/>
                </a:tc>
                <a:tc>
                  <a:txBody>
                    <a:bodyPr/>
                    <a:lstStyle/>
                    <a:p>
                      <a:r>
                        <a:rPr lang="en-CA" sz="1800" dirty="0"/>
                        <a:t>NULL</a:t>
                      </a:r>
                    </a:p>
                  </a:txBody>
                  <a:tcPr marT="45710" marB="45710"/>
                </a:tc>
                <a:extLst>
                  <a:ext uri="{0D108BD9-81ED-4DB2-BD59-A6C34878D82A}">
                    <a16:rowId xmlns:a16="http://schemas.microsoft.com/office/drawing/2014/main" val="10002"/>
                  </a:ext>
                </a:extLst>
              </a:tr>
            </a:tbl>
          </a:graphicData>
        </a:graphic>
      </p:graphicFrame>
      <p:sp>
        <p:nvSpPr>
          <p:cNvPr id="29" name="TextBox 28">
            <a:extLst>
              <a:ext uri="{FF2B5EF4-FFF2-40B4-BE49-F238E27FC236}">
                <a16:creationId xmlns:a16="http://schemas.microsoft.com/office/drawing/2014/main" id="{B51AAD21-DB8E-FAAC-3616-B02DEBCF78E7}"/>
              </a:ext>
            </a:extLst>
          </p:cNvPr>
          <p:cNvSpPr txBox="1"/>
          <p:nvPr/>
        </p:nvSpPr>
        <p:spPr>
          <a:xfrm>
            <a:off x="4818063" y="5324475"/>
            <a:ext cx="3408362" cy="923925"/>
          </a:xfrm>
          <a:prstGeom prst="rect">
            <a:avLst/>
          </a:prstGeom>
          <a:ln/>
        </p:spPr>
        <p:style>
          <a:lnRef idx="1">
            <a:schemeClr val="dk1"/>
          </a:lnRef>
          <a:fillRef idx="2">
            <a:schemeClr val="dk1"/>
          </a:fillRef>
          <a:effectRef idx="1">
            <a:schemeClr val="dk1"/>
          </a:effectRef>
          <a:fontRef idx="minor">
            <a:schemeClr val="dk1"/>
          </a:fontRef>
        </p:style>
        <p:txBody>
          <a:bodyPr>
            <a:spAutoFit/>
          </a:bodyPr>
          <a:lstStyle/>
          <a:p>
            <a:pPr algn="ctr">
              <a:defRPr/>
            </a:pPr>
            <a:r>
              <a:rPr lang="en-CA" dirty="0"/>
              <a:t>Here, NULL means </a:t>
            </a:r>
            <a:r>
              <a:rPr lang="en-CA" b="1" dirty="0"/>
              <a:t>not applicable</a:t>
            </a:r>
            <a:r>
              <a:rPr lang="en-CA" dirty="0"/>
              <a:t>. If a student does not have a diploma, we can set it to NULL. </a:t>
            </a:r>
            <a:endParaRPr lang="en-CA" b="1"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0">
                                            <p:txEl>
                                              <p:pRg st="0" end="0"/>
                                            </p:txEl>
                                          </p:spTgt>
                                        </p:tgtEl>
                                        <p:attrNameLst>
                                          <p:attrName>style.visibility</p:attrName>
                                        </p:attrNameLst>
                                      </p:cBhvr>
                                      <p:to>
                                        <p:strVal val="visible"/>
                                      </p:to>
                                    </p:set>
                                    <p:animEffect transition="in" filter="wipe(left)">
                                      <p:cBhvr>
                                        <p:cTn id="11" dur="500"/>
                                        <p:tgtEl>
                                          <p:spTgt spid="20">
                                            <p:txEl>
                                              <p:pRg st="0" end="0"/>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wipe(up)">
                                      <p:cBhvr>
                                        <p:cTn id="16" dur="500"/>
                                        <p:tgtEl>
                                          <p:spTgt spid="24"/>
                                        </p:tgtEl>
                                      </p:cBhvr>
                                    </p:animEffect>
                                  </p:childTnLst>
                                </p:cTn>
                              </p:par>
                            </p:childTnLst>
                          </p:cTn>
                        </p:par>
                        <p:par>
                          <p:cTn id="17" fill="hold" nodeType="afterGroup">
                            <p:stCondLst>
                              <p:cond delay="500"/>
                            </p:stCondLst>
                            <p:childTnLst>
                              <p:par>
                                <p:cTn id="18" presetID="22" presetClass="entr" presetSubtype="1" fill="hold" grpId="0" nodeType="afterEffect">
                                  <p:stCondLst>
                                    <p:cond delay="0"/>
                                  </p:stCondLst>
                                  <p:childTnLst>
                                    <p:set>
                                      <p:cBhvr>
                                        <p:cTn id="19" dur="1" fill="hold">
                                          <p:stCondLst>
                                            <p:cond delay="0"/>
                                          </p:stCondLst>
                                        </p:cTn>
                                        <p:tgtEl>
                                          <p:spTgt spid="27"/>
                                        </p:tgtEl>
                                        <p:attrNameLst>
                                          <p:attrName>style.visibility</p:attrName>
                                        </p:attrNameLst>
                                      </p:cBhvr>
                                      <p:to>
                                        <p:strVal val="visible"/>
                                      </p:to>
                                    </p:set>
                                    <p:animEffect transition="in" filter="wipe(up)">
                                      <p:cBhvr>
                                        <p:cTn id="20" dur="500"/>
                                        <p:tgtEl>
                                          <p:spTgt spid="27"/>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42"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1000"/>
                                        <p:tgtEl>
                                          <p:spTgt spid="14"/>
                                        </p:tgtEl>
                                      </p:cBhvr>
                                    </p:animEffect>
                                    <p:anim calcmode="lin" valueType="num">
                                      <p:cBhvr>
                                        <p:cTn id="26" dur="1000" fill="hold"/>
                                        <p:tgtEl>
                                          <p:spTgt spid="14"/>
                                        </p:tgtEl>
                                        <p:attrNameLst>
                                          <p:attrName>ppt_x</p:attrName>
                                        </p:attrNameLst>
                                      </p:cBhvr>
                                      <p:tavLst>
                                        <p:tav tm="0">
                                          <p:val>
                                            <p:strVal val="#ppt_x"/>
                                          </p:val>
                                        </p:tav>
                                        <p:tav tm="100000">
                                          <p:val>
                                            <p:strVal val="#ppt_x"/>
                                          </p:val>
                                        </p:tav>
                                      </p:tavLst>
                                    </p:anim>
                                    <p:anim calcmode="lin" valueType="num">
                                      <p:cBhvr>
                                        <p:cTn id="27"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nodeType="click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wipe(up)">
                                      <p:cBhvr>
                                        <p:cTn id="32" dur="500"/>
                                        <p:tgtEl>
                                          <p:spTgt spid="22"/>
                                        </p:tgtEl>
                                      </p:cBhvr>
                                    </p:animEffect>
                                  </p:childTnLst>
                                </p:cTn>
                              </p:par>
                            </p:childTnLst>
                          </p:cTn>
                        </p:par>
                        <p:par>
                          <p:cTn id="33" fill="hold" nodeType="afterGroup">
                            <p:stCondLst>
                              <p:cond delay="500"/>
                            </p:stCondLst>
                            <p:childTnLst>
                              <p:par>
                                <p:cTn id="34" presetID="22" presetClass="entr" presetSubtype="1" fill="hold" grpId="0" nodeType="afterEffect">
                                  <p:stCondLst>
                                    <p:cond delay="0"/>
                                  </p:stCondLst>
                                  <p:childTnLst>
                                    <p:set>
                                      <p:cBhvr>
                                        <p:cTn id="35" dur="1" fill="hold">
                                          <p:stCondLst>
                                            <p:cond delay="0"/>
                                          </p:stCondLst>
                                        </p:cTn>
                                        <p:tgtEl>
                                          <p:spTgt spid="26"/>
                                        </p:tgtEl>
                                        <p:attrNameLst>
                                          <p:attrName>style.visibility</p:attrName>
                                        </p:attrNameLst>
                                      </p:cBhvr>
                                      <p:to>
                                        <p:strVal val="visible"/>
                                      </p:to>
                                    </p:set>
                                    <p:animEffect transition="in" filter="wipe(up)">
                                      <p:cBhvr>
                                        <p:cTn id="36" dur="500"/>
                                        <p:tgtEl>
                                          <p:spTgt spid="26"/>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29"/>
                                        </p:tgtEl>
                                        <p:attrNameLst>
                                          <p:attrName>style.visibility</p:attrName>
                                        </p:attrNameLst>
                                      </p:cBhvr>
                                      <p:to>
                                        <p:strVal val="visible"/>
                                      </p:to>
                                    </p:set>
                                    <p:animEffect transition="in" filter="fade">
                                      <p:cBhvr>
                                        <p:cTn id="41" dur="1000"/>
                                        <p:tgtEl>
                                          <p:spTgt spid="29"/>
                                        </p:tgtEl>
                                      </p:cBhvr>
                                    </p:animEffect>
                                    <p:anim calcmode="lin" valueType="num">
                                      <p:cBhvr>
                                        <p:cTn id="42" dur="1000" fill="hold"/>
                                        <p:tgtEl>
                                          <p:spTgt spid="29"/>
                                        </p:tgtEl>
                                        <p:attrNameLst>
                                          <p:attrName>ppt_x</p:attrName>
                                        </p:attrNameLst>
                                      </p:cBhvr>
                                      <p:tavLst>
                                        <p:tav tm="0">
                                          <p:val>
                                            <p:strVal val="#ppt_x"/>
                                          </p:val>
                                        </p:tav>
                                        <p:tav tm="100000">
                                          <p:val>
                                            <p:strVal val="#ppt_x"/>
                                          </p:val>
                                        </p:tav>
                                      </p:tavLst>
                                    </p:anim>
                                    <p:anim calcmode="lin" valueType="num">
                                      <p:cBhvr>
                                        <p:cTn id="43"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uild="p"/>
      <p:bldP spid="26" grpId="0"/>
      <p:bldP spid="14" grpId="0" animBg="1"/>
      <p:bldP spid="18" grpId="0" animBg="1"/>
      <p:bldP spid="27" grpId="0"/>
      <p:bldP spid="29" grpId="0" animBg="1"/>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reeform 13">
            <a:hlinkClick r:id="rId2" action="ppaction://hlinksldjump"/>
            <a:extLst>
              <a:ext uri="{FF2B5EF4-FFF2-40B4-BE49-F238E27FC236}">
                <a16:creationId xmlns:a16="http://schemas.microsoft.com/office/drawing/2014/main" id="{F14D2FEB-EDAD-83C8-3BB6-4033BC92EB7F}"/>
              </a:ext>
            </a:extLst>
          </p:cNvPr>
          <p:cNvSpPr/>
          <p:nvPr/>
        </p:nvSpPr>
        <p:spPr>
          <a:xfrm>
            <a:off x="5611813" y="3505200"/>
            <a:ext cx="2236787" cy="1341438"/>
          </a:xfrm>
          <a:custGeom>
            <a:avLst/>
            <a:gdLst>
              <a:gd name="connsiteX0" fmla="*/ 0 w 2236185"/>
              <a:gd name="connsiteY0" fmla="*/ 0 h 1341711"/>
              <a:gd name="connsiteX1" fmla="*/ 2236185 w 2236185"/>
              <a:gd name="connsiteY1" fmla="*/ 0 h 1341711"/>
              <a:gd name="connsiteX2" fmla="*/ 2236185 w 2236185"/>
              <a:gd name="connsiteY2" fmla="*/ 1341711 h 1341711"/>
              <a:gd name="connsiteX3" fmla="*/ 0 w 2236185"/>
              <a:gd name="connsiteY3" fmla="*/ 1341711 h 1341711"/>
              <a:gd name="connsiteX4" fmla="*/ 0 w 2236185"/>
              <a:gd name="connsiteY4" fmla="*/ 0 h 1341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6185" h="1341711">
                <a:moveTo>
                  <a:pt x="0" y="0"/>
                </a:moveTo>
                <a:lnTo>
                  <a:pt x="2236185" y="0"/>
                </a:lnTo>
                <a:lnTo>
                  <a:pt x="2236185" y="1341711"/>
                </a:lnTo>
                <a:lnTo>
                  <a:pt x="0" y="1341711"/>
                </a:lnTo>
                <a:lnTo>
                  <a:pt x="0" y="0"/>
                </a:lnTo>
                <a:close/>
              </a:path>
            </a:pathLst>
          </a:custGeom>
          <a:solidFill>
            <a:srgbClr val="002060"/>
          </a:solidFill>
          <a:ln/>
        </p:spPr>
        <p:style>
          <a:lnRef idx="3">
            <a:schemeClr val="lt1"/>
          </a:lnRef>
          <a:fillRef idx="1">
            <a:schemeClr val="accent4"/>
          </a:fillRef>
          <a:effectRef idx="1">
            <a:schemeClr val="accent4"/>
          </a:effectRef>
          <a:fontRef idx="minor">
            <a:schemeClr val="lt1"/>
          </a:fontRef>
        </p:style>
        <p:txBody>
          <a:bodyPr lIns="83820" tIns="83820" rIns="83820" bIns="83820" spcCol="1270" anchor="ctr"/>
          <a:lstStyle/>
          <a:p>
            <a:pPr algn="ctr" defTabSz="977900">
              <a:lnSpc>
                <a:spcPct val="90000"/>
              </a:lnSpc>
              <a:spcAft>
                <a:spcPct val="35000"/>
              </a:spcAft>
              <a:defRPr/>
            </a:pPr>
            <a:r>
              <a:rPr lang="en-CA" sz="2200" dirty="0"/>
              <a:t>Entity Integrity Constraint</a:t>
            </a:r>
          </a:p>
        </p:txBody>
      </p:sp>
      <p:sp>
        <p:nvSpPr>
          <p:cNvPr id="2" name="Title 1">
            <a:extLst>
              <a:ext uri="{FF2B5EF4-FFF2-40B4-BE49-F238E27FC236}">
                <a16:creationId xmlns:a16="http://schemas.microsoft.com/office/drawing/2014/main" id="{12A66C8F-702C-6583-E9EE-167961CEA283}"/>
              </a:ext>
            </a:extLst>
          </p:cNvPr>
          <p:cNvSpPr>
            <a:spLocks noGrp="1"/>
          </p:cNvSpPr>
          <p:nvPr>
            <p:ph type="title"/>
          </p:nvPr>
        </p:nvSpPr>
        <p:spPr>
          <a:xfrm>
            <a:off x="457200" y="0"/>
            <a:ext cx="7620000" cy="1143000"/>
          </a:xfrm>
        </p:spPr>
        <p:txBody>
          <a:bodyPr/>
          <a:lstStyle/>
          <a:p>
            <a:pPr algn="ctr">
              <a:defRPr/>
            </a:pPr>
            <a:r>
              <a:rPr lang="en-US" dirty="0"/>
              <a:t>Relational Constraints</a:t>
            </a:r>
            <a:endParaRPr lang="en-CA" dirty="0"/>
          </a:p>
        </p:txBody>
      </p:sp>
      <p:sp>
        <p:nvSpPr>
          <p:cNvPr id="25" name="Content Placeholder 2">
            <a:extLst>
              <a:ext uri="{FF2B5EF4-FFF2-40B4-BE49-F238E27FC236}">
                <a16:creationId xmlns:a16="http://schemas.microsoft.com/office/drawing/2014/main" id="{03ED0886-FEF9-7E15-B401-C3D89D7C43E8}"/>
              </a:ext>
            </a:extLst>
          </p:cNvPr>
          <p:cNvSpPr txBox="1">
            <a:spLocks/>
          </p:cNvSpPr>
          <p:nvPr/>
        </p:nvSpPr>
        <p:spPr bwMode="auto">
          <a:xfrm>
            <a:off x="304800" y="1268413"/>
            <a:ext cx="7772400" cy="2028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rgbClr val="FF6600"/>
              </a:buClr>
              <a:buFont typeface="Wingdings 3" panose="05040102010807070707" pitchFamily="18" charset="2"/>
              <a:buNone/>
            </a:pPr>
            <a:r>
              <a:rPr lang="en-CA" altLang="en-US" sz="3200">
                <a:latin typeface="Calibri" panose="020F0502020204030204" pitchFamily="34" charset="0"/>
              </a:rPr>
              <a:t>Recall that we can enforce data integrity (i.e. data correctness) by limiting the data that can be stored in a database. A relational data model supports the following data constraints</a:t>
            </a:r>
            <a:endParaRPr lang="en-CA" altLang="en-US" sz="2800">
              <a:latin typeface="Calibri" panose="020F0502020204030204" pitchFamily="34" charset="0"/>
            </a:endParaRPr>
          </a:p>
        </p:txBody>
      </p:sp>
      <p:sp>
        <p:nvSpPr>
          <p:cNvPr id="9" name="Freeform 8">
            <a:hlinkClick r:id="rId3" action="ppaction://hlinksldjump"/>
            <a:extLst>
              <a:ext uri="{FF2B5EF4-FFF2-40B4-BE49-F238E27FC236}">
                <a16:creationId xmlns:a16="http://schemas.microsoft.com/office/drawing/2014/main" id="{DE563B9E-A879-38DD-C774-E4757C0543BE}"/>
              </a:ext>
            </a:extLst>
          </p:cNvPr>
          <p:cNvSpPr/>
          <p:nvPr/>
        </p:nvSpPr>
        <p:spPr>
          <a:xfrm>
            <a:off x="668338" y="3505200"/>
            <a:ext cx="2235200" cy="1341438"/>
          </a:xfrm>
          <a:custGeom>
            <a:avLst/>
            <a:gdLst>
              <a:gd name="connsiteX0" fmla="*/ 0 w 2236185"/>
              <a:gd name="connsiteY0" fmla="*/ 0 h 1341711"/>
              <a:gd name="connsiteX1" fmla="*/ 2236185 w 2236185"/>
              <a:gd name="connsiteY1" fmla="*/ 0 h 1341711"/>
              <a:gd name="connsiteX2" fmla="*/ 2236185 w 2236185"/>
              <a:gd name="connsiteY2" fmla="*/ 1341711 h 1341711"/>
              <a:gd name="connsiteX3" fmla="*/ 0 w 2236185"/>
              <a:gd name="connsiteY3" fmla="*/ 1341711 h 1341711"/>
              <a:gd name="connsiteX4" fmla="*/ 0 w 2236185"/>
              <a:gd name="connsiteY4" fmla="*/ 0 h 1341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6185" h="1341711">
                <a:moveTo>
                  <a:pt x="0" y="0"/>
                </a:moveTo>
                <a:lnTo>
                  <a:pt x="2236185" y="0"/>
                </a:lnTo>
                <a:lnTo>
                  <a:pt x="2236185" y="1341711"/>
                </a:lnTo>
                <a:lnTo>
                  <a:pt x="0" y="1341711"/>
                </a:lnTo>
                <a:lnTo>
                  <a:pt x="0" y="0"/>
                </a:lnTo>
                <a:close/>
              </a:path>
            </a:pathLst>
          </a:custGeom>
          <a:ln/>
        </p:spPr>
        <p:style>
          <a:lnRef idx="3">
            <a:schemeClr val="lt1"/>
          </a:lnRef>
          <a:fillRef idx="1">
            <a:schemeClr val="dk1"/>
          </a:fillRef>
          <a:effectRef idx="1">
            <a:schemeClr val="dk1"/>
          </a:effectRef>
          <a:fontRef idx="minor">
            <a:schemeClr val="lt1"/>
          </a:fontRef>
        </p:style>
        <p:txBody>
          <a:bodyPr lIns="83820" tIns="83820" rIns="83820" bIns="83820" spcCol="1270" anchor="ctr"/>
          <a:lstStyle/>
          <a:p>
            <a:pPr algn="ctr" defTabSz="977900">
              <a:lnSpc>
                <a:spcPct val="90000"/>
              </a:lnSpc>
              <a:spcAft>
                <a:spcPct val="35000"/>
              </a:spcAft>
              <a:defRPr/>
            </a:pPr>
            <a:r>
              <a:rPr lang="en-CA" sz="2200" dirty="0"/>
              <a:t>Domain Constraint</a:t>
            </a:r>
          </a:p>
        </p:txBody>
      </p:sp>
      <p:sp>
        <p:nvSpPr>
          <p:cNvPr id="10" name="Freeform 9">
            <a:hlinkClick r:id="rId4" action="ppaction://hlinksldjump"/>
            <a:extLst>
              <a:ext uri="{FF2B5EF4-FFF2-40B4-BE49-F238E27FC236}">
                <a16:creationId xmlns:a16="http://schemas.microsoft.com/office/drawing/2014/main" id="{8C30972D-7FB1-CA48-784A-1A71D2412BAB}"/>
              </a:ext>
            </a:extLst>
          </p:cNvPr>
          <p:cNvSpPr/>
          <p:nvPr/>
        </p:nvSpPr>
        <p:spPr>
          <a:xfrm>
            <a:off x="3127375" y="3505200"/>
            <a:ext cx="2236788" cy="1341438"/>
          </a:xfrm>
          <a:custGeom>
            <a:avLst/>
            <a:gdLst>
              <a:gd name="connsiteX0" fmla="*/ 0 w 2236185"/>
              <a:gd name="connsiteY0" fmla="*/ 0 h 1341711"/>
              <a:gd name="connsiteX1" fmla="*/ 2236185 w 2236185"/>
              <a:gd name="connsiteY1" fmla="*/ 0 h 1341711"/>
              <a:gd name="connsiteX2" fmla="*/ 2236185 w 2236185"/>
              <a:gd name="connsiteY2" fmla="*/ 1341711 h 1341711"/>
              <a:gd name="connsiteX3" fmla="*/ 0 w 2236185"/>
              <a:gd name="connsiteY3" fmla="*/ 1341711 h 1341711"/>
              <a:gd name="connsiteX4" fmla="*/ 0 w 2236185"/>
              <a:gd name="connsiteY4" fmla="*/ 0 h 1341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6185" h="1341711">
                <a:moveTo>
                  <a:pt x="0" y="0"/>
                </a:moveTo>
                <a:lnTo>
                  <a:pt x="2236185" y="0"/>
                </a:lnTo>
                <a:lnTo>
                  <a:pt x="2236185" y="1341711"/>
                </a:lnTo>
                <a:lnTo>
                  <a:pt x="0" y="1341711"/>
                </a:lnTo>
                <a:lnTo>
                  <a:pt x="0" y="0"/>
                </a:lnTo>
                <a:close/>
              </a:path>
            </a:pathLst>
          </a:custGeom>
          <a:ln/>
        </p:spPr>
        <p:style>
          <a:lnRef idx="3">
            <a:schemeClr val="lt1"/>
          </a:lnRef>
          <a:fillRef idx="1">
            <a:schemeClr val="accent5"/>
          </a:fillRef>
          <a:effectRef idx="1">
            <a:schemeClr val="accent5"/>
          </a:effectRef>
          <a:fontRef idx="minor">
            <a:schemeClr val="lt1"/>
          </a:fontRef>
        </p:style>
        <p:txBody>
          <a:bodyPr lIns="83820" tIns="83820" rIns="83820" bIns="83820" spcCol="1270" anchor="ctr"/>
          <a:lstStyle/>
          <a:p>
            <a:pPr algn="ctr" defTabSz="977900">
              <a:lnSpc>
                <a:spcPct val="90000"/>
              </a:lnSpc>
              <a:spcAft>
                <a:spcPct val="35000"/>
              </a:spcAft>
              <a:defRPr/>
            </a:pPr>
            <a:r>
              <a:rPr lang="en-CA" sz="2200" dirty="0"/>
              <a:t>Key Constraint</a:t>
            </a:r>
          </a:p>
        </p:txBody>
      </p:sp>
      <p:sp>
        <p:nvSpPr>
          <p:cNvPr id="11" name="Freeform 10">
            <a:hlinkClick r:id="rId5" action="ppaction://hlinksldjump"/>
            <a:extLst>
              <a:ext uri="{FF2B5EF4-FFF2-40B4-BE49-F238E27FC236}">
                <a16:creationId xmlns:a16="http://schemas.microsoft.com/office/drawing/2014/main" id="{7164200E-054B-1E1E-893D-131CE104E6B4}"/>
              </a:ext>
            </a:extLst>
          </p:cNvPr>
          <p:cNvSpPr/>
          <p:nvPr/>
        </p:nvSpPr>
        <p:spPr>
          <a:xfrm>
            <a:off x="1892300" y="5054600"/>
            <a:ext cx="2236788" cy="1341438"/>
          </a:xfrm>
          <a:custGeom>
            <a:avLst/>
            <a:gdLst>
              <a:gd name="connsiteX0" fmla="*/ 0 w 2236185"/>
              <a:gd name="connsiteY0" fmla="*/ 0 h 1341711"/>
              <a:gd name="connsiteX1" fmla="*/ 2236185 w 2236185"/>
              <a:gd name="connsiteY1" fmla="*/ 0 h 1341711"/>
              <a:gd name="connsiteX2" fmla="*/ 2236185 w 2236185"/>
              <a:gd name="connsiteY2" fmla="*/ 1341711 h 1341711"/>
              <a:gd name="connsiteX3" fmla="*/ 0 w 2236185"/>
              <a:gd name="connsiteY3" fmla="*/ 1341711 h 1341711"/>
              <a:gd name="connsiteX4" fmla="*/ 0 w 2236185"/>
              <a:gd name="connsiteY4" fmla="*/ 0 h 1341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6185" h="1341711">
                <a:moveTo>
                  <a:pt x="0" y="0"/>
                </a:moveTo>
                <a:lnTo>
                  <a:pt x="2236185" y="0"/>
                </a:lnTo>
                <a:lnTo>
                  <a:pt x="2236185" y="1341711"/>
                </a:lnTo>
                <a:lnTo>
                  <a:pt x="0" y="1341711"/>
                </a:lnTo>
                <a:lnTo>
                  <a:pt x="0" y="0"/>
                </a:lnTo>
                <a:close/>
              </a:path>
            </a:pathLst>
          </a:custGeom>
          <a:solidFill>
            <a:srgbClr val="C00000"/>
          </a:solidFill>
          <a:ln/>
        </p:spPr>
        <p:style>
          <a:lnRef idx="3">
            <a:schemeClr val="lt1"/>
          </a:lnRef>
          <a:fillRef idx="1">
            <a:schemeClr val="accent3"/>
          </a:fillRef>
          <a:effectRef idx="1">
            <a:schemeClr val="accent3"/>
          </a:effectRef>
          <a:fontRef idx="minor">
            <a:schemeClr val="lt1"/>
          </a:fontRef>
        </p:style>
        <p:txBody>
          <a:bodyPr lIns="83820" tIns="83820" rIns="83820" bIns="83820" spcCol="1270" anchor="ctr"/>
          <a:lstStyle/>
          <a:p>
            <a:pPr algn="ctr" defTabSz="977900">
              <a:lnSpc>
                <a:spcPct val="90000"/>
              </a:lnSpc>
              <a:spcAft>
                <a:spcPct val="35000"/>
              </a:spcAft>
              <a:defRPr/>
            </a:pPr>
            <a:r>
              <a:rPr lang="en-CA" sz="2200" dirty="0"/>
              <a:t>NULL Constraint</a:t>
            </a:r>
          </a:p>
        </p:txBody>
      </p:sp>
      <p:sp>
        <p:nvSpPr>
          <p:cNvPr id="16" name="Freeform 15">
            <a:hlinkClick r:id="rId6" action="ppaction://hlinksldjump"/>
            <a:extLst>
              <a:ext uri="{FF2B5EF4-FFF2-40B4-BE49-F238E27FC236}">
                <a16:creationId xmlns:a16="http://schemas.microsoft.com/office/drawing/2014/main" id="{D90C993D-8993-FEB0-FFA8-C308F020EC98}"/>
              </a:ext>
            </a:extLst>
          </p:cNvPr>
          <p:cNvSpPr/>
          <p:nvPr/>
        </p:nvSpPr>
        <p:spPr>
          <a:xfrm>
            <a:off x="4340225" y="5049838"/>
            <a:ext cx="2236788" cy="1341437"/>
          </a:xfrm>
          <a:custGeom>
            <a:avLst/>
            <a:gdLst>
              <a:gd name="connsiteX0" fmla="*/ 0 w 2236185"/>
              <a:gd name="connsiteY0" fmla="*/ 0 h 1341711"/>
              <a:gd name="connsiteX1" fmla="*/ 2236185 w 2236185"/>
              <a:gd name="connsiteY1" fmla="*/ 0 h 1341711"/>
              <a:gd name="connsiteX2" fmla="*/ 2236185 w 2236185"/>
              <a:gd name="connsiteY2" fmla="*/ 1341711 h 1341711"/>
              <a:gd name="connsiteX3" fmla="*/ 0 w 2236185"/>
              <a:gd name="connsiteY3" fmla="*/ 1341711 h 1341711"/>
              <a:gd name="connsiteX4" fmla="*/ 0 w 2236185"/>
              <a:gd name="connsiteY4" fmla="*/ 0 h 1341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6185" h="1341711">
                <a:moveTo>
                  <a:pt x="0" y="0"/>
                </a:moveTo>
                <a:lnTo>
                  <a:pt x="2236185" y="0"/>
                </a:lnTo>
                <a:lnTo>
                  <a:pt x="2236185" y="1341711"/>
                </a:lnTo>
                <a:lnTo>
                  <a:pt x="0" y="1341711"/>
                </a:lnTo>
                <a:lnTo>
                  <a:pt x="0" y="0"/>
                </a:lnTo>
                <a:close/>
              </a:path>
            </a:pathLst>
          </a:custGeom>
          <a:solidFill>
            <a:srgbClr val="00B050"/>
          </a:solidFill>
          <a:ln/>
        </p:spPr>
        <p:style>
          <a:lnRef idx="3">
            <a:schemeClr val="lt1"/>
          </a:lnRef>
          <a:fillRef idx="1">
            <a:schemeClr val="accent6"/>
          </a:fillRef>
          <a:effectRef idx="1">
            <a:schemeClr val="accent6"/>
          </a:effectRef>
          <a:fontRef idx="minor">
            <a:schemeClr val="lt1"/>
          </a:fontRef>
        </p:style>
        <p:txBody>
          <a:bodyPr lIns="83820" tIns="83820" rIns="83820" bIns="83820" spcCol="1270" anchor="ctr"/>
          <a:lstStyle/>
          <a:p>
            <a:pPr algn="ctr" defTabSz="977900">
              <a:lnSpc>
                <a:spcPct val="90000"/>
              </a:lnSpc>
              <a:spcAft>
                <a:spcPct val="35000"/>
              </a:spcAft>
              <a:defRPr/>
            </a:pPr>
            <a:r>
              <a:rPr lang="en-CA" sz="2200" dirty="0"/>
              <a:t>Referential Integrity Constraint</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5">
                                            <p:txEl>
                                              <p:pRg st="0" end="0"/>
                                            </p:txEl>
                                          </p:spTgt>
                                        </p:tgtEl>
                                        <p:attrNameLst>
                                          <p:attrName>style.visibility</p:attrName>
                                        </p:attrNameLst>
                                      </p:cBhvr>
                                      <p:to>
                                        <p:strVal val="visible"/>
                                      </p:to>
                                    </p:set>
                                    <p:animEffect transition="in" filter="wipe(left)">
                                      <p:cBhvr>
                                        <p:cTn id="7" dur="500"/>
                                        <p:tgtEl>
                                          <p:spTgt spid="25">
                                            <p:txEl>
                                              <p:pRg st="0" end="0"/>
                                            </p:txEl>
                                          </p:spTgt>
                                        </p:tgtEl>
                                      </p:cBhvr>
                                    </p:animEffect>
                                  </p:childTnLst>
                                </p:cTn>
                              </p:par>
                            </p:childTnLst>
                          </p:cTn>
                        </p:par>
                        <p:par>
                          <p:cTn id="8" fill="hold" nodeType="afterGroup">
                            <p:stCondLst>
                              <p:cond delay="500"/>
                            </p:stCondLst>
                            <p:childTnLst>
                              <p:par>
                                <p:cTn id="9" presetID="42" presetClass="entr" presetSubtype="0"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1000"/>
                                        <p:tgtEl>
                                          <p:spTgt spid="9"/>
                                        </p:tgtEl>
                                      </p:cBhvr>
                                    </p:animEffect>
                                    <p:anim calcmode="lin" valueType="num">
                                      <p:cBhvr>
                                        <p:cTn id="12" dur="1000" fill="hold"/>
                                        <p:tgtEl>
                                          <p:spTgt spid="9"/>
                                        </p:tgtEl>
                                        <p:attrNameLst>
                                          <p:attrName>ppt_x</p:attrName>
                                        </p:attrNameLst>
                                      </p:cBhvr>
                                      <p:tavLst>
                                        <p:tav tm="0">
                                          <p:val>
                                            <p:strVal val="#ppt_x"/>
                                          </p:val>
                                        </p:tav>
                                        <p:tav tm="100000">
                                          <p:val>
                                            <p:strVal val="#ppt_x"/>
                                          </p:val>
                                        </p:tav>
                                      </p:tavLst>
                                    </p:anim>
                                    <p:anim calcmode="lin" valueType="num">
                                      <p:cBhvr>
                                        <p:cTn id="13" dur="1000" fill="hold"/>
                                        <p:tgtEl>
                                          <p:spTgt spid="9"/>
                                        </p:tgtEl>
                                        <p:attrNameLst>
                                          <p:attrName>ppt_y</p:attrName>
                                        </p:attrNameLst>
                                      </p:cBhvr>
                                      <p:tavLst>
                                        <p:tav tm="0">
                                          <p:val>
                                            <p:strVal val="#ppt_y+.1"/>
                                          </p:val>
                                        </p:tav>
                                        <p:tav tm="100000">
                                          <p:val>
                                            <p:strVal val="#ppt_y"/>
                                          </p:val>
                                        </p:tav>
                                      </p:tavLst>
                                    </p:anim>
                                  </p:childTnLst>
                                </p:cTn>
                              </p:par>
                            </p:childTnLst>
                          </p:cTn>
                        </p:par>
                        <p:par>
                          <p:cTn id="14" fill="hold" nodeType="afterGroup">
                            <p:stCondLst>
                              <p:cond delay="1500"/>
                            </p:stCondLst>
                            <p:childTnLst>
                              <p:par>
                                <p:cTn id="15" presetID="42" presetClass="entr" presetSubtype="0" fill="hold" grpId="0" nodeType="after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1000"/>
                                        <p:tgtEl>
                                          <p:spTgt spid="10"/>
                                        </p:tgtEl>
                                      </p:cBhvr>
                                    </p:animEffect>
                                    <p:anim calcmode="lin" valueType="num">
                                      <p:cBhvr>
                                        <p:cTn id="18" dur="1000" fill="hold"/>
                                        <p:tgtEl>
                                          <p:spTgt spid="10"/>
                                        </p:tgtEl>
                                        <p:attrNameLst>
                                          <p:attrName>ppt_x</p:attrName>
                                        </p:attrNameLst>
                                      </p:cBhvr>
                                      <p:tavLst>
                                        <p:tav tm="0">
                                          <p:val>
                                            <p:strVal val="#ppt_x"/>
                                          </p:val>
                                        </p:tav>
                                        <p:tav tm="100000">
                                          <p:val>
                                            <p:strVal val="#ppt_x"/>
                                          </p:val>
                                        </p:tav>
                                      </p:tavLst>
                                    </p:anim>
                                    <p:anim calcmode="lin" valueType="num">
                                      <p:cBhvr>
                                        <p:cTn id="19" dur="1000" fill="hold"/>
                                        <p:tgtEl>
                                          <p:spTgt spid="10"/>
                                        </p:tgtEl>
                                        <p:attrNameLst>
                                          <p:attrName>ppt_y</p:attrName>
                                        </p:attrNameLst>
                                      </p:cBhvr>
                                      <p:tavLst>
                                        <p:tav tm="0">
                                          <p:val>
                                            <p:strVal val="#ppt_y+.1"/>
                                          </p:val>
                                        </p:tav>
                                        <p:tav tm="100000">
                                          <p:val>
                                            <p:strVal val="#ppt_y"/>
                                          </p:val>
                                        </p:tav>
                                      </p:tavLst>
                                    </p:anim>
                                  </p:childTnLst>
                                </p:cTn>
                              </p:par>
                            </p:childTnLst>
                          </p:cTn>
                        </p:par>
                        <p:par>
                          <p:cTn id="20" fill="hold" nodeType="afterGroup">
                            <p:stCondLst>
                              <p:cond delay="2500"/>
                            </p:stCondLst>
                            <p:childTnLst>
                              <p:par>
                                <p:cTn id="21" presetID="42" presetClass="entr" presetSubtype="0" fill="hold" grpId="0" nodeType="after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1000"/>
                                        <p:tgtEl>
                                          <p:spTgt spid="14"/>
                                        </p:tgtEl>
                                      </p:cBhvr>
                                    </p:animEffect>
                                    <p:anim calcmode="lin" valueType="num">
                                      <p:cBhvr>
                                        <p:cTn id="24" dur="1000" fill="hold"/>
                                        <p:tgtEl>
                                          <p:spTgt spid="14"/>
                                        </p:tgtEl>
                                        <p:attrNameLst>
                                          <p:attrName>ppt_x</p:attrName>
                                        </p:attrNameLst>
                                      </p:cBhvr>
                                      <p:tavLst>
                                        <p:tav tm="0">
                                          <p:val>
                                            <p:strVal val="#ppt_x"/>
                                          </p:val>
                                        </p:tav>
                                        <p:tav tm="100000">
                                          <p:val>
                                            <p:strVal val="#ppt_x"/>
                                          </p:val>
                                        </p:tav>
                                      </p:tavLst>
                                    </p:anim>
                                    <p:anim calcmode="lin" valueType="num">
                                      <p:cBhvr>
                                        <p:cTn id="25" dur="1000" fill="hold"/>
                                        <p:tgtEl>
                                          <p:spTgt spid="14"/>
                                        </p:tgtEl>
                                        <p:attrNameLst>
                                          <p:attrName>ppt_y</p:attrName>
                                        </p:attrNameLst>
                                      </p:cBhvr>
                                      <p:tavLst>
                                        <p:tav tm="0">
                                          <p:val>
                                            <p:strVal val="#ppt_y+.1"/>
                                          </p:val>
                                        </p:tav>
                                        <p:tav tm="100000">
                                          <p:val>
                                            <p:strVal val="#ppt_y"/>
                                          </p:val>
                                        </p:tav>
                                      </p:tavLst>
                                    </p:anim>
                                  </p:childTnLst>
                                </p:cTn>
                              </p:par>
                            </p:childTnLst>
                          </p:cTn>
                        </p:par>
                        <p:par>
                          <p:cTn id="26" fill="hold" nodeType="afterGroup">
                            <p:stCondLst>
                              <p:cond delay="3500"/>
                            </p:stCondLst>
                            <p:childTnLst>
                              <p:par>
                                <p:cTn id="27" presetID="42" presetClass="entr" presetSubtype="0" fill="hold" grpId="0" nodeType="after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1000"/>
                                        <p:tgtEl>
                                          <p:spTgt spid="11"/>
                                        </p:tgtEl>
                                      </p:cBhvr>
                                    </p:animEffect>
                                    <p:anim calcmode="lin" valueType="num">
                                      <p:cBhvr>
                                        <p:cTn id="30" dur="1000" fill="hold"/>
                                        <p:tgtEl>
                                          <p:spTgt spid="11"/>
                                        </p:tgtEl>
                                        <p:attrNameLst>
                                          <p:attrName>ppt_x</p:attrName>
                                        </p:attrNameLst>
                                      </p:cBhvr>
                                      <p:tavLst>
                                        <p:tav tm="0">
                                          <p:val>
                                            <p:strVal val="#ppt_x"/>
                                          </p:val>
                                        </p:tav>
                                        <p:tav tm="100000">
                                          <p:val>
                                            <p:strVal val="#ppt_x"/>
                                          </p:val>
                                        </p:tav>
                                      </p:tavLst>
                                    </p:anim>
                                    <p:anim calcmode="lin" valueType="num">
                                      <p:cBhvr>
                                        <p:cTn id="31" dur="1000" fill="hold"/>
                                        <p:tgtEl>
                                          <p:spTgt spid="11"/>
                                        </p:tgtEl>
                                        <p:attrNameLst>
                                          <p:attrName>ppt_y</p:attrName>
                                        </p:attrNameLst>
                                      </p:cBhvr>
                                      <p:tavLst>
                                        <p:tav tm="0">
                                          <p:val>
                                            <p:strVal val="#ppt_y+.1"/>
                                          </p:val>
                                        </p:tav>
                                        <p:tav tm="100000">
                                          <p:val>
                                            <p:strVal val="#ppt_y"/>
                                          </p:val>
                                        </p:tav>
                                      </p:tavLst>
                                    </p:anim>
                                  </p:childTnLst>
                                </p:cTn>
                              </p:par>
                            </p:childTnLst>
                          </p:cTn>
                        </p:par>
                        <p:par>
                          <p:cTn id="32" fill="hold" nodeType="afterGroup">
                            <p:stCondLst>
                              <p:cond delay="4500"/>
                            </p:stCondLst>
                            <p:childTnLst>
                              <p:par>
                                <p:cTn id="33" presetID="42" presetClass="entr" presetSubtype="0" fill="hold" grpId="0" nodeType="after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1000"/>
                                        <p:tgtEl>
                                          <p:spTgt spid="16"/>
                                        </p:tgtEl>
                                      </p:cBhvr>
                                    </p:animEffect>
                                    <p:anim calcmode="lin" valueType="num">
                                      <p:cBhvr>
                                        <p:cTn id="36" dur="1000" fill="hold"/>
                                        <p:tgtEl>
                                          <p:spTgt spid="16"/>
                                        </p:tgtEl>
                                        <p:attrNameLst>
                                          <p:attrName>ppt_x</p:attrName>
                                        </p:attrNameLst>
                                      </p:cBhvr>
                                      <p:tavLst>
                                        <p:tav tm="0">
                                          <p:val>
                                            <p:strVal val="#ppt_x"/>
                                          </p:val>
                                        </p:tav>
                                        <p:tav tm="100000">
                                          <p:val>
                                            <p:strVal val="#ppt_x"/>
                                          </p:val>
                                        </p:tav>
                                      </p:tavLst>
                                    </p:anim>
                                    <p:anim calcmode="lin" valueType="num">
                                      <p:cBhvr>
                                        <p:cTn id="37"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25" grpId="0" build="p"/>
      <p:bldP spid="9" grpId="0" animBg="1"/>
      <p:bldP spid="10" grpId="0" animBg="1"/>
      <p:bldP spid="11" grpId="0" animBg="1"/>
      <p:bldP spid="16" grpId="0" animBg="1"/>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0FF198-37A3-5ECB-A645-9089779D2413}"/>
              </a:ext>
            </a:extLst>
          </p:cNvPr>
          <p:cNvSpPr>
            <a:spLocks noGrp="1"/>
          </p:cNvSpPr>
          <p:nvPr>
            <p:ph type="title"/>
          </p:nvPr>
        </p:nvSpPr>
        <p:spPr>
          <a:xfrm>
            <a:off x="457200" y="0"/>
            <a:ext cx="7620000" cy="1143000"/>
          </a:xfrm>
        </p:spPr>
        <p:txBody>
          <a:bodyPr/>
          <a:lstStyle/>
          <a:p>
            <a:pPr algn="ctr">
              <a:defRPr/>
            </a:pPr>
            <a:r>
              <a:rPr lang="en-US" dirty="0"/>
              <a:t>Relational Constraints</a:t>
            </a:r>
            <a:endParaRPr lang="en-CA" dirty="0"/>
          </a:p>
        </p:txBody>
      </p:sp>
      <p:sp>
        <p:nvSpPr>
          <p:cNvPr id="24" name="Content Placeholder 2">
            <a:extLst>
              <a:ext uri="{FF2B5EF4-FFF2-40B4-BE49-F238E27FC236}">
                <a16:creationId xmlns:a16="http://schemas.microsoft.com/office/drawing/2014/main" id="{5E31A0DA-85FE-C416-3D16-BD17218D6CF7}"/>
              </a:ext>
            </a:extLst>
          </p:cNvPr>
          <p:cNvSpPr txBox="1">
            <a:spLocks/>
          </p:cNvSpPr>
          <p:nvPr/>
        </p:nvSpPr>
        <p:spPr bwMode="auto">
          <a:xfrm>
            <a:off x="228600" y="1916113"/>
            <a:ext cx="7924800"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rgbClr val="FF6600"/>
              </a:buClr>
              <a:buFont typeface="Wingdings 3" panose="05040102010807070707" pitchFamily="18" charset="2"/>
              <a:buNone/>
            </a:pPr>
            <a:r>
              <a:rPr lang="en-US" altLang="en-US" sz="3200">
                <a:latin typeface="Calibri" panose="020F0502020204030204" pitchFamily="34" charset="0"/>
              </a:rPr>
              <a:t>A relational DBMS can restrict </a:t>
            </a:r>
            <a:r>
              <a:rPr lang="en-CA" altLang="en-US" sz="3200">
                <a:latin typeface="Calibri" panose="020F0502020204030204" pitchFamily="34" charset="0"/>
              </a:rPr>
              <a:t>the set of values that can be assigned to a column</a:t>
            </a:r>
          </a:p>
          <a:p>
            <a:pPr algn="just" eaLnBrk="1" hangingPunct="1">
              <a:spcBef>
                <a:spcPct val="20000"/>
              </a:spcBef>
              <a:buClr>
                <a:srgbClr val="FF6600"/>
              </a:buClr>
              <a:buFont typeface="Wingdings 3" panose="05040102010807070707" pitchFamily="18" charset="2"/>
              <a:buNone/>
            </a:pPr>
            <a:endParaRPr lang="en-CA" altLang="en-US" sz="32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32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32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40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p:txBody>
      </p:sp>
      <p:graphicFrame>
        <p:nvGraphicFramePr>
          <p:cNvPr id="33" name="Table 32">
            <a:extLst>
              <a:ext uri="{FF2B5EF4-FFF2-40B4-BE49-F238E27FC236}">
                <a16:creationId xmlns:a16="http://schemas.microsoft.com/office/drawing/2014/main" id="{DC71BEDC-5870-D0ED-5491-F1D7F47B5E44}"/>
              </a:ext>
            </a:extLst>
          </p:cNvPr>
          <p:cNvGraphicFramePr>
            <a:graphicFrameLocks noGrp="1"/>
          </p:cNvGraphicFramePr>
          <p:nvPr/>
        </p:nvGraphicFramePr>
        <p:xfrm>
          <a:off x="1087438" y="3171825"/>
          <a:ext cx="6280150" cy="2847975"/>
        </p:xfrm>
        <a:graphic>
          <a:graphicData uri="http://schemas.openxmlformats.org/drawingml/2006/table">
            <a:tbl>
              <a:tblPr firstRow="1" bandRow="1">
                <a:tableStyleId>{68D230F3-CF80-4859-8CE7-A43EE81993B5}</a:tableStyleId>
              </a:tblPr>
              <a:tblGrid>
                <a:gridCol w="2391286">
                  <a:extLst>
                    <a:ext uri="{9D8B030D-6E8A-4147-A177-3AD203B41FA5}">
                      <a16:colId xmlns:a16="http://schemas.microsoft.com/office/drawing/2014/main" val="20000"/>
                    </a:ext>
                  </a:extLst>
                </a:gridCol>
                <a:gridCol w="3888864">
                  <a:extLst>
                    <a:ext uri="{9D8B030D-6E8A-4147-A177-3AD203B41FA5}">
                      <a16:colId xmlns:a16="http://schemas.microsoft.com/office/drawing/2014/main" val="20001"/>
                    </a:ext>
                  </a:extLst>
                </a:gridCol>
              </a:tblGrid>
              <a:tr h="551977">
                <a:tc>
                  <a:txBody>
                    <a:bodyPr/>
                    <a:lstStyle/>
                    <a:p>
                      <a:pPr algn="ctr"/>
                      <a:r>
                        <a:rPr lang="en-CA" sz="1800" dirty="0"/>
                        <a:t>Column</a:t>
                      </a:r>
                    </a:p>
                  </a:txBody>
                  <a:tcPr marL="91450" marR="91450" marT="45713" marB="45713" anchor="ctr"/>
                </a:tc>
                <a:tc>
                  <a:txBody>
                    <a:bodyPr/>
                    <a:lstStyle/>
                    <a:p>
                      <a:pPr algn="ctr"/>
                      <a:r>
                        <a:rPr lang="en-CA" sz="1800" dirty="0"/>
                        <a:t>Domain Constraint</a:t>
                      </a:r>
                    </a:p>
                  </a:txBody>
                  <a:tcPr marL="91450" marR="91450" marT="45713" marB="45713" anchor="ctr"/>
                </a:tc>
                <a:extLst>
                  <a:ext uri="{0D108BD9-81ED-4DB2-BD59-A6C34878D82A}">
                    <a16:rowId xmlns:a16="http://schemas.microsoft.com/office/drawing/2014/main" val="10000"/>
                  </a:ext>
                </a:extLst>
              </a:tr>
              <a:tr h="640066">
                <a:tc>
                  <a:txBody>
                    <a:bodyPr/>
                    <a:lstStyle/>
                    <a:p>
                      <a:r>
                        <a:rPr lang="en-CA" sz="1800" dirty="0"/>
                        <a:t>Name</a:t>
                      </a:r>
                    </a:p>
                  </a:txBody>
                  <a:tcPr marL="91450" marR="91450" marT="45713" marB="45713" anchor="ctr"/>
                </a:tc>
                <a:tc>
                  <a:txBody>
                    <a:bodyPr/>
                    <a:lstStyle/>
                    <a:p>
                      <a:endParaRPr lang="en-CA" sz="1800" dirty="0"/>
                    </a:p>
                    <a:p>
                      <a:endParaRPr lang="en-CA" sz="1800" dirty="0"/>
                    </a:p>
                  </a:txBody>
                  <a:tcPr marL="91450" marR="91450" marT="45713" marB="45713" anchor="ctr"/>
                </a:tc>
                <a:extLst>
                  <a:ext uri="{0D108BD9-81ED-4DB2-BD59-A6C34878D82A}">
                    <a16:rowId xmlns:a16="http://schemas.microsoft.com/office/drawing/2014/main" val="10001"/>
                  </a:ext>
                </a:extLst>
              </a:tr>
              <a:tr h="551977">
                <a:tc>
                  <a:txBody>
                    <a:bodyPr/>
                    <a:lstStyle/>
                    <a:p>
                      <a:r>
                        <a:rPr lang="en-CA" sz="1800" dirty="0"/>
                        <a:t>Employee’s age</a:t>
                      </a:r>
                    </a:p>
                  </a:txBody>
                  <a:tcPr marL="91450" marR="91450" marT="45713" marB="45713" anchor="ctr"/>
                </a:tc>
                <a:tc>
                  <a:txBody>
                    <a:bodyPr/>
                    <a:lstStyle/>
                    <a:p>
                      <a:endParaRPr lang="en-CA" sz="1800" dirty="0"/>
                    </a:p>
                  </a:txBody>
                  <a:tcPr marL="91450" marR="91450" marT="45713" marB="45713" anchor="ctr"/>
                </a:tc>
                <a:extLst>
                  <a:ext uri="{0D108BD9-81ED-4DB2-BD59-A6C34878D82A}">
                    <a16:rowId xmlns:a16="http://schemas.microsoft.com/office/drawing/2014/main" val="10002"/>
                  </a:ext>
                </a:extLst>
              </a:tr>
              <a:tr h="551977">
                <a:tc>
                  <a:txBody>
                    <a:bodyPr/>
                    <a:lstStyle/>
                    <a:p>
                      <a:r>
                        <a:rPr lang="en-CA" sz="1800" dirty="0"/>
                        <a:t>Gender</a:t>
                      </a:r>
                    </a:p>
                  </a:txBody>
                  <a:tcPr marL="91450" marR="91450" marT="45713" marB="45713" anchor="ctr"/>
                </a:tc>
                <a:tc>
                  <a:txBody>
                    <a:bodyPr/>
                    <a:lstStyle/>
                    <a:p>
                      <a:endParaRPr lang="en-CA" sz="1800" dirty="0"/>
                    </a:p>
                  </a:txBody>
                  <a:tcPr marL="91450" marR="91450" marT="45713" marB="45713" anchor="ctr"/>
                </a:tc>
                <a:extLst>
                  <a:ext uri="{0D108BD9-81ED-4DB2-BD59-A6C34878D82A}">
                    <a16:rowId xmlns:a16="http://schemas.microsoft.com/office/drawing/2014/main" val="10003"/>
                  </a:ext>
                </a:extLst>
              </a:tr>
              <a:tr h="551977">
                <a:tc>
                  <a:txBody>
                    <a:bodyPr/>
                    <a:lstStyle/>
                    <a:p>
                      <a:r>
                        <a:rPr lang="en-CA" sz="1800" dirty="0"/>
                        <a:t>Department</a:t>
                      </a:r>
                    </a:p>
                  </a:txBody>
                  <a:tcPr marL="91450" marR="91450" marT="45713" marB="45713" anchor="ctr"/>
                </a:tc>
                <a:tc>
                  <a:txBody>
                    <a:bodyPr/>
                    <a:lstStyle/>
                    <a:p>
                      <a:endParaRPr lang="en-CA" sz="1800" dirty="0"/>
                    </a:p>
                  </a:txBody>
                  <a:tcPr marL="91450" marR="91450" marT="45713" marB="45713" anchor="ctr"/>
                </a:tc>
                <a:extLst>
                  <a:ext uri="{0D108BD9-81ED-4DB2-BD59-A6C34878D82A}">
                    <a16:rowId xmlns:a16="http://schemas.microsoft.com/office/drawing/2014/main" val="10004"/>
                  </a:ext>
                </a:extLst>
              </a:tr>
            </a:tbl>
          </a:graphicData>
        </a:graphic>
      </p:graphicFrame>
      <p:sp>
        <p:nvSpPr>
          <p:cNvPr id="34" name="TextBox 33">
            <a:extLst>
              <a:ext uri="{FF2B5EF4-FFF2-40B4-BE49-F238E27FC236}">
                <a16:creationId xmlns:a16="http://schemas.microsoft.com/office/drawing/2014/main" id="{5289468F-E133-18DD-B8E0-BC805AF96B09}"/>
              </a:ext>
            </a:extLst>
          </p:cNvPr>
          <p:cNvSpPr txBox="1">
            <a:spLocks noChangeArrowheads="1"/>
          </p:cNvSpPr>
          <p:nvPr/>
        </p:nvSpPr>
        <p:spPr bwMode="auto">
          <a:xfrm>
            <a:off x="3506788" y="3883025"/>
            <a:ext cx="45370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CA" altLang="en-US"/>
              <a:t>Text</a:t>
            </a:r>
          </a:p>
        </p:txBody>
      </p:sp>
      <p:sp>
        <p:nvSpPr>
          <p:cNvPr id="35" name="TextBox 34">
            <a:extLst>
              <a:ext uri="{FF2B5EF4-FFF2-40B4-BE49-F238E27FC236}">
                <a16:creationId xmlns:a16="http://schemas.microsoft.com/office/drawing/2014/main" id="{75CE9CF3-4695-A155-43E7-B34337C0E5F0}"/>
              </a:ext>
            </a:extLst>
          </p:cNvPr>
          <p:cNvSpPr txBox="1">
            <a:spLocks noChangeArrowheads="1"/>
          </p:cNvSpPr>
          <p:nvPr/>
        </p:nvSpPr>
        <p:spPr bwMode="auto">
          <a:xfrm>
            <a:off x="3495675" y="4457700"/>
            <a:ext cx="45370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CA" altLang="en-US"/>
              <a:t>18 to 60</a:t>
            </a:r>
          </a:p>
        </p:txBody>
      </p:sp>
      <p:sp>
        <p:nvSpPr>
          <p:cNvPr id="36" name="TextBox 35">
            <a:extLst>
              <a:ext uri="{FF2B5EF4-FFF2-40B4-BE49-F238E27FC236}">
                <a16:creationId xmlns:a16="http://schemas.microsoft.com/office/drawing/2014/main" id="{A7A131A2-7626-A5D1-B4A2-03908D45020D}"/>
              </a:ext>
            </a:extLst>
          </p:cNvPr>
          <p:cNvSpPr txBox="1">
            <a:spLocks noChangeArrowheads="1"/>
          </p:cNvSpPr>
          <p:nvPr/>
        </p:nvSpPr>
        <p:spPr bwMode="auto">
          <a:xfrm>
            <a:off x="3495675" y="4999038"/>
            <a:ext cx="45370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CA" altLang="en-US"/>
              <a:t>Male or Female</a:t>
            </a:r>
          </a:p>
        </p:txBody>
      </p:sp>
      <p:sp>
        <p:nvSpPr>
          <p:cNvPr id="37" name="TextBox 36">
            <a:extLst>
              <a:ext uri="{FF2B5EF4-FFF2-40B4-BE49-F238E27FC236}">
                <a16:creationId xmlns:a16="http://schemas.microsoft.com/office/drawing/2014/main" id="{654BF43D-C7F1-AAD2-C739-5F2E638E4897}"/>
              </a:ext>
            </a:extLst>
          </p:cNvPr>
          <p:cNvSpPr txBox="1">
            <a:spLocks noChangeArrowheads="1"/>
          </p:cNvSpPr>
          <p:nvPr/>
        </p:nvSpPr>
        <p:spPr bwMode="auto">
          <a:xfrm>
            <a:off x="3495675" y="5562600"/>
            <a:ext cx="45370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CA" altLang="en-US"/>
              <a:t>Computer Science, Business…</a:t>
            </a:r>
          </a:p>
        </p:txBody>
      </p:sp>
      <p:sp>
        <p:nvSpPr>
          <p:cNvPr id="13" name="Snip Single Corner Rectangle 12">
            <a:extLst>
              <a:ext uri="{FF2B5EF4-FFF2-40B4-BE49-F238E27FC236}">
                <a16:creationId xmlns:a16="http://schemas.microsoft.com/office/drawing/2014/main" id="{E3493074-E926-E039-A893-5F2794F49528}"/>
              </a:ext>
            </a:extLst>
          </p:cNvPr>
          <p:cNvSpPr/>
          <p:nvPr/>
        </p:nvSpPr>
        <p:spPr>
          <a:xfrm>
            <a:off x="222250" y="1514475"/>
            <a:ext cx="2159000" cy="401638"/>
          </a:xfrm>
          <a:prstGeom prst="snip1Rect">
            <a:avLst/>
          </a:prstGeom>
          <a:solidFill>
            <a:schemeClr val="tx1">
              <a:alpha val="70000"/>
            </a:schemeClr>
          </a:solidFill>
          <a:ln>
            <a:solidFill>
              <a:schemeClr val="tx1"/>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indent="-342900" algn="just" eaLnBrk="1" hangingPunct="1">
              <a:spcBef>
                <a:spcPct val="20000"/>
              </a:spcBef>
              <a:buClr>
                <a:srgbClr val="FF6600"/>
              </a:buClr>
              <a:buSzPct val="100000"/>
              <a:defRPr/>
            </a:pPr>
            <a:r>
              <a:rPr lang="en-US" dirty="0">
                <a:latin typeface="Arial" pitchFamily="34" charset="0"/>
                <a:ea typeface="Times New Roman" pitchFamily="18" charset="0"/>
                <a:cs typeface="Arial" pitchFamily="34" charset="0"/>
              </a:rPr>
              <a:t>Domain Constraint</a:t>
            </a:r>
            <a:endParaRPr lang="en-GB" kern="0" dirty="0">
              <a:solidFill>
                <a:schemeClr val="tx1"/>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4">
                                            <p:txEl>
                                              <p:pRg st="0" end="0"/>
                                            </p:txEl>
                                          </p:spTgt>
                                        </p:tgtEl>
                                        <p:attrNameLst>
                                          <p:attrName>style.visibility</p:attrName>
                                        </p:attrNameLst>
                                      </p:cBhvr>
                                      <p:to>
                                        <p:strVal val="visible"/>
                                      </p:to>
                                    </p:set>
                                    <p:animEffect transition="in" filter="wipe(left)">
                                      <p:cBhvr>
                                        <p:cTn id="11" dur="500"/>
                                        <p:tgtEl>
                                          <p:spTgt spid="24">
                                            <p:txEl>
                                              <p:pRg st="0" end="0"/>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33"/>
                                        </p:tgtEl>
                                        <p:attrNameLst>
                                          <p:attrName>style.visibility</p:attrName>
                                        </p:attrNameLst>
                                      </p:cBhvr>
                                      <p:to>
                                        <p:strVal val="visible"/>
                                      </p:to>
                                    </p:set>
                                    <p:animEffect transition="in" filter="wipe(up)">
                                      <p:cBhvr>
                                        <p:cTn id="16" dur="500"/>
                                        <p:tgtEl>
                                          <p:spTgt spid="33"/>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34"/>
                                        </p:tgtEl>
                                        <p:attrNameLst>
                                          <p:attrName>style.visibility</p:attrName>
                                        </p:attrNameLst>
                                      </p:cBhvr>
                                      <p:to>
                                        <p:strVal val="visible"/>
                                      </p:to>
                                    </p:set>
                                    <p:animEffect transition="in" filter="wipe(left)">
                                      <p:cBhvr>
                                        <p:cTn id="21" dur="500"/>
                                        <p:tgtEl>
                                          <p:spTgt spid="34"/>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35"/>
                                        </p:tgtEl>
                                        <p:attrNameLst>
                                          <p:attrName>style.visibility</p:attrName>
                                        </p:attrNameLst>
                                      </p:cBhvr>
                                      <p:to>
                                        <p:strVal val="visible"/>
                                      </p:to>
                                    </p:set>
                                    <p:animEffect transition="in" filter="wipe(left)">
                                      <p:cBhvr>
                                        <p:cTn id="26" dur="500"/>
                                        <p:tgtEl>
                                          <p:spTgt spid="35"/>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36"/>
                                        </p:tgtEl>
                                        <p:attrNameLst>
                                          <p:attrName>style.visibility</p:attrName>
                                        </p:attrNameLst>
                                      </p:cBhvr>
                                      <p:to>
                                        <p:strVal val="visible"/>
                                      </p:to>
                                    </p:set>
                                    <p:animEffect transition="in" filter="wipe(left)">
                                      <p:cBhvr>
                                        <p:cTn id="31" dur="500"/>
                                        <p:tgtEl>
                                          <p:spTgt spid="36"/>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37"/>
                                        </p:tgtEl>
                                        <p:attrNameLst>
                                          <p:attrName>style.visibility</p:attrName>
                                        </p:attrNameLst>
                                      </p:cBhvr>
                                      <p:to>
                                        <p:strVal val="visible"/>
                                      </p:to>
                                    </p:set>
                                    <p:animEffect transition="in" filter="wipe(left)">
                                      <p:cBhvr>
                                        <p:cTn id="36"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build="p"/>
      <p:bldP spid="34" grpId="0"/>
      <p:bldP spid="35" grpId="0"/>
      <p:bldP spid="36" grpId="0"/>
      <p:bldP spid="37" grpId="0"/>
      <p:bldP spid="13" grpId="0" animBg="1"/>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5FEB55-F463-F4D1-A079-6C9D441E6AF0}"/>
              </a:ext>
            </a:extLst>
          </p:cNvPr>
          <p:cNvSpPr>
            <a:spLocks noGrp="1"/>
          </p:cNvSpPr>
          <p:nvPr>
            <p:ph type="title"/>
          </p:nvPr>
        </p:nvSpPr>
        <p:spPr>
          <a:xfrm>
            <a:off x="457200" y="0"/>
            <a:ext cx="7620000" cy="1143000"/>
          </a:xfrm>
        </p:spPr>
        <p:txBody>
          <a:bodyPr/>
          <a:lstStyle/>
          <a:p>
            <a:pPr algn="ctr">
              <a:defRPr/>
            </a:pPr>
            <a:r>
              <a:rPr lang="en-US" dirty="0"/>
              <a:t>Relational Constraints</a:t>
            </a:r>
            <a:endParaRPr lang="en-CA" dirty="0"/>
          </a:p>
        </p:txBody>
      </p:sp>
      <p:sp>
        <p:nvSpPr>
          <p:cNvPr id="24" name="Content Placeholder 2">
            <a:extLst>
              <a:ext uri="{FF2B5EF4-FFF2-40B4-BE49-F238E27FC236}">
                <a16:creationId xmlns:a16="http://schemas.microsoft.com/office/drawing/2014/main" id="{B95E7529-FE58-BB17-123D-A0D4BBA80BCF}"/>
              </a:ext>
            </a:extLst>
          </p:cNvPr>
          <p:cNvSpPr txBox="1">
            <a:spLocks/>
          </p:cNvSpPr>
          <p:nvPr/>
        </p:nvSpPr>
        <p:spPr bwMode="auto">
          <a:xfrm>
            <a:off x="219075" y="1866900"/>
            <a:ext cx="8010525" cy="150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rgbClr val="FF6600"/>
              </a:buClr>
              <a:buFont typeface="Wingdings 3" panose="05040102010807070707" pitchFamily="18" charset="2"/>
              <a:buNone/>
            </a:pPr>
            <a:r>
              <a:rPr lang="en-CA" altLang="en-US" sz="3200">
                <a:latin typeface="Calibri" panose="020F0502020204030204" pitchFamily="34" charset="0"/>
              </a:rPr>
              <a:t>A </a:t>
            </a:r>
            <a:r>
              <a:rPr lang="en-CA" altLang="en-US" sz="3200" b="1">
                <a:latin typeface="Calibri" panose="020F0502020204030204" pitchFamily="34" charset="0"/>
              </a:rPr>
              <a:t>candidate key</a:t>
            </a:r>
            <a:r>
              <a:rPr lang="en-CA" altLang="en-US" sz="3200">
                <a:latin typeface="Calibri" panose="020F0502020204030204" pitchFamily="34" charset="0"/>
              </a:rPr>
              <a:t> is a column or combination of columns that can uniquely identify each row in a relation </a:t>
            </a:r>
          </a:p>
        </p:txBody>
      </p:sp>
      <p:sp>
        <p:nvSpPr>
          <p:cNvPr id="34" name="Snip Single Corner Rectangle 33">
            <a:extLst>
              <a:ext uri="{FF2B5EF4-FFF2-40B4-BE49-F238E27FC236}">
                <a16:creationId xmlns:a16="http://schemas.microsoft.com/office/drawing/2014/main" id="{E280AAE7-5337-429B-41E3-EAAC525BC684}"/>
              </a:ext>
            </a:extLst>
          </p:cNvPr>
          <p:cNvSpPr/>
          <p:nvPr/>
        </p:nvSpPr>
        <p:spPr>
          <a:xfrm>
            <a:off x="192088" y="1443038"/>
            <a:ext cx="1728787" cy="400050"/>
          </a:xfrm>
          <a:prstGeom prst="snip1Rect">
            <a:avLst/>
          </a:prstGeom>
          <a:solidFill>
            <a:schemeClr val="accent5">
              <a:alpha val="70000"/>
            </a:schemeClr>
          </a:solidFill>
          <a:ln>
            <a:solidFill>
              <a:schemeClr val="accent5"/>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indent="-342900" algn="just" eaLnBrk="1" hangingPunct="1">
              <a:spcBef>
                <a:spcPct val="20000"/>
              </a:spcBef>
              <a:buClr>
                <a:srgbClr val="FF6600"/>
              </a:buClr>
              <a:buSzPct val="100000"/>
              <a:defRPr/>
            </a:pPr>
            <a:r>
              <a:rPr lang="en-US" dirty="0">
                <a:latin typeface="Arial" pitchFamily="34" charset="0"/>
                <a:ea typeface="Times New Roman" pitchFamily="18" charset="0"/>
                <a:cs typeface="Arial" pitchFamily="34" charset="0"/>
              </a:rPr>
              <a:t>Key Constraint</a:t>
            </a:r>
            <a:endParaRPr lang="en-GB" kern="0" dirty="0">
              <a:solidFill>
                <a:schemeClr val="tx1"/>
              </a:solidFill>
            </a:endParaRPr>
          </a:p>
        </p:txBody>
      </p:sp>
      <p:graphicFrame>
        <p:nvGraphicFramePr>
          <p:cNvPr id="38" name="Table 37">
            <a:extLst>
              <a:ext uri="{FF2B5EF4-FFF2-40B4-BE49-F238E27FC236}">
                <a16:creationId xmlns:a16="http://schemas.microsoft.com/office/drawing/2014/main" id="{59F18771-0031-658D-59BA-872CCF126702}"/>
              </a:ext>
            </a:extLst>
          </p:cNvPr>
          <p:cNvGraphicFramePr>
            <a:graphicFrameLocks noGrp="1"/>
          </p:cNvGraphicFramePr>
          <p:nvPr/>
        </p:nvGraphicFramePr>
        <p:xfrm>
          <a:off x="3538538" y="3595688"/>
          <a:ext cx="3408362" cy="2295524"/>
        </p:xfrm>
        <a:graphic>
          <a:graphicData uri="http://schemas.openxmlformats.org/drawingml/2006/table">
            <a:tbl>
              <a:tblPr firstRow="1" bandRow="1">
                <a:tableStyleId>{3B4B98B0-60AC-42C2-AFA5-B58CD77FA1E5}</a:tableStyleId>
              </a:tblPr>
              <a:tblGrid>
                <a:gridCol w="1692180">
                  <a:extLst>
                    <a:ext uri="{9D8B030D-6E8A-4147-A177-3AD203B41FA5}">
                      <a16:colId xmlns:a16="http://schemas.microsoft.com/office/drawing/2014/main" val="20000"/>
                    </a:ext>
                  </a:extLst>
                </a:gridCol>
                <a:gridCol w="1716182">
                  <a:extLst>
                    <a:ext uri="{9D8B030D-6E8A-4147-A177-3AD203B41FA5}">
                      <a16:colId xmlns:a16="http://schemas.microsoft.com/office/drawing/2014/main" val="20001"/>
                    </a:ext>
                  </a:extLst>
                </a:gridCol>
              </a:tblGrid>
              <a:tr h="573881">
                <a:tc>
                  <a:txBody>
                    <a:bodyPr/>
                    <a:lstStyle/>
                    <a:p>
                      <a:pPr algn="ctr"/>
                      <a:r>
                        <a:rPr lang="en-CA" sz="1800" dirty="0"/>
                        <a:t>STUDENTID</a:t>
                      </a:r>
                    </a:p>
                  </a:txBody>
                  <a:tcPr marT="45731" marB="45731"/>
                </a:tc>
                <a:tc>
                  <a:txBody>
                    <a:bodyPr/>
                    <a:lstStyle/>
                    <a:p>
                      <a:pPr algn="ctr"/>
                      <a:r>
                        <a:rPr lang="en-CA" sz="1800" dirty="0"/>
                        <a:t>NAME</a:t>
                      </a:r>
                    </a:p>
                  </a:txBody>
                  <a:tcPr marT="45731" marB="45731"/>
                </a:tc>
                <a:extLst>
                  <a:ext uri="{0D108BD9-81ED-4DB2-BD59-A6C34878D82A}">
                    <a16:rowId xmlns:a16="http://schemas.microsoft.com/office/drawing/2014/main" val="10000"/>
                  </a:ext>
                </a:extLst>
              </a:tr>
              <a:tr h="573881">
                <a:tc>
                  <a:txBody>
                    <a:bodyPr/>
                    <a:lstStyle/>
                    <a:p>
                      <a:pPr algn="ctr"/>
                      <a:r>
                        <a:rPr lang="en-CA" sz="1800" dirty="0"/>
                        <a:t>1</a:t>
                      </a:r>
                    </a:p>
                  </a:txBody>
                  <a:tcPr marT="45731" marB="45731"/>
                </a:tc>
                <a:tc>
                  <a:txBody>
                    <a:bodyPr/>
                    <a:lstStyle/>
                    <a:p>
                      <a:r>
                        <a:rPr lang="en-CA" sz="1800" dirty="0"/>
                        <a:t>Talha Amjad</a:t>
                      </a:r>
                    </a:p>
                  </a:txBody>
                  <a:tcPr marT="45731" marB="45731"/>
                </a:tc>
                <a:extLst>
                  <a:ext uri="{0D108BD9-81ED-4DB2-BD59-A6C34878D82A}">
                    <a16:rowId xmlns:a16="http://schemas.microsoft.com/office/drawing/2014/main" val="10001"/>
                  </a:ext>
                </a:extLst>
              </a:tr>
              <a:tr h="573881">
                <a:tc>
                  <a:txBody>
                    <a:bodyPr/>
                    <a:lstStyle/>
                    <a:p>
                      <a:pPr algn="ctr"/>
                      <a:r>
                        <a:rPr lang="en-CA" sz="1800" dirty="0"/>
                        <a:t>2</a:t>
                      </a:r>
                    </a:p>
                  </a:txBody>
                  <a:tcPr marT="45731" marB="45731"/>
                </a:tc>
                <a:tc>
                  <a:txBody>
                    <a:bodyPr/>
                    <a:lstStyle/>
                    <a:p>
                      <a:r>
                        <a:rPr lang="en-CA" sz="1800" dirty="0"/>
                        <a:t>Sara Saleem</a:t>
                      </a:r>
                    </a:p>
                  </a:txBody>
                  <a:tcPr marT="45731" marB="45731"/>
                </a:tc>
                <a:extLst>
                  <a:ext uri="{0D108BD9-81ED-4DB2-BD59-A6C34878D82A}">
                    <a16:rowId xmlns:a16="http://schemas.microsoft.com/office/drawing/2014/main" val="10002"/>
                  </a:ext>
                </a:extLst>
              </a:tr>
              <a:tr h="573881">
                <a:tc>
                  <a:txBody>
                    <a:bodyPr/>
                    <a:lstStyle/>
                    <a:p>
                      <a:pPr algn="ctr"/>
                      <a:r>
                        <a:rPr lang="en-CA" sz="1800" dirty="0"/>
                        <a:t>3</a:t>
                      </a:r>
                    </a:p>
                  </a:txBody>
                  <a:tcPr marT="45731" marB="45731"/>
                </a:tc>
                <a:tc>
                  <a:txBody>
                    <a:bodyPr/>
                    <a:lstStyle/>
                    <a:p>
                      <a:r>
                        <a:rPr lang="en-CA" sz="1800" dirty="0"/>
                        <a:t>Aqib Ali</a:t>
                      </a:r>
                    </a:p>
                  </a:txBody>
                  <a:tcPr marT="45731" marB="45731"/>
                </a:tc>
                <a:extLst>
                  <a:ext uri="{0D108BD9-81ED-4DB2-BD59-A6C34878D82A}">
                    <a16:rowId xmlns:a16="http://schemas.microsoft.com/office/drawing/2014/main" val="10003"/>
                  </a:ext>
                </a:extLst>
              </a:tr>
            </a:tbl>
          </a:graphicData>
        </a:graphic>
      </p:graphicFrame>
      <p:sp>
        <p:nvSpPr>
          <p:cNvPr id="39" name="TextBox 38">
            <a:extLst>
              <a:ext uri="{FF2B5EF4-FFF2-40B4-BE49-F238E27FC236}">
                <a16:creationId xmlns:a16="http://schemas.microsoft.com/office/drawing/2014/main" id="{CB79627C-3DC7-6101-B06D-EB72FC4A3047}"/>
              </a:ext>
            </a:extLst>
          </p:cNvPr>
          <p:cNvSpPr txBox="1">
            <a:spLocks noChangeArrowheads="1"/>
          </p:cNvSpPr>
          <p:nvPr/>
        </p:nvSpPr>
        <p:spPr bwMode="auto">
          <a:xfrm>
            <a:off x="4121150" y="5889625"/>
            <a:ext cx="22415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CA" altLang="en-US"/>
              <a:t>Student relation</a:t>
            </a:r>
          </a:p>
        </p:txBody>
      </p:sp>
      <p:grpSp>
        <p:nvGrpSpPr>
          <p:cNvPr id="3" name="Group 5">
            <a:extLst>
              <a:ext uri="{FF2B5EF4-FFF2-40B4-BE49-F238E27FC236}">
                <a16:creationId xmlns:a16="http://schemas.microsoft.com/office/drawing/2014/main" id="{1C55982F-E5A5-9A83-6420-A008BCB62186}"/>
              </a:ext>
            </a:extLst>
          </p:cNvPr>
          <p:cNvGrpSpPr>
            <a:grpSpLocks/>
          </p:cNvGrpSpPr>
          <p:nvPr/>
        </p:nvGrpSpPr>
        <p:grpSpPr bwMode="auto">
          <a:xfrm>
            <a:off x="7135813" y="4171950"/>
            <a:ext cx="2082800" cy="576263"/>
            <a:chOff x="4570249" y="4077072"/>
            <a:chExt cx="2081902" cy="576064"/>
          </a:xfrm>
        </p:grpSpPr>
        <p:sp>
          <p:nvSpPr>
            <p:cNvPr id="17437" name="Right Brace 2">
              <a:extLst>
                <a:ext uri="{FF2B5EF4-FFF2-40B4-BE49-F238E27FC236}">
                  <a16:creationId xmlns:a16="http://schemas.microsoft.com/office/drawing/2014/main" id="{5DE42108-EB7D-D183-C1AF-3914C23737B7}"/>
                </a:ext>
              </a:extLst>
            </p:cNvPr>
            <p:cNvSpPr>
              <a:spLocks/>
            </p:cNvSpPr>
            <p:nvPr/>
          </p:nvSpPr>
          <p:spPr bwMode="auto">
            <a:xfrm>
              <a:off x="4570249" y="4077072"/>
              <a:ext cx="288032" cy="576064"/>
            </a:xfrm>
            <a:prstGeom prst="rightBrace">
              <a:avLst>
                <a:gd name="adj1" fmla="val 8333"/>
                <a:gd name="adj2" fmla="val 50000"/>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endParaRPr lang="en-CA" altLang="en-US"/>
            </a:p>
          </p:txBody>
        </p:sp>
        <p:sp>
          <p:nvSpPr>
            <p:cNvPr id="17438" name="TextBox 4">
              <a:extLst>
                <a:ext uri="{FF2B5EF4-FFF2-40B4-BE49-F238E27FC236}">
                  <a16:creationId xmlns:a16="http://schemas.microsoft.com/office/drawing/2014/main" id="{B3ADB909-5116-F0B4-C26F-484B7C1A8271}"/>
                </a:ext>
              </a:extLst>
            </p:cNvPr>
            <p:cNvSpPr txBox="1">
              <a:spLocks noChangeArrowheads="1"/>
            </p:cNvSpPr>
            <p:nvPr/>
          </p:nvSpPr>
          <p:spPr bwMode="auto">
            <a:xfrm>
              <a:off x="4846406" y="4165049"/>
              <a:ext cx="180574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CA" altLang="en-US" sz="2000"/>
                <a:t>Student</a:t>
              </a:r>
            </a:p>
          </p:txBody>
        </p:sp>
      </p:grpSp>
      <p:grpSp>
        <p:nvGrpSpPr>
          <p:cNvPr id="4" name="Group 17">
            <a:extLst>
              <a:ext uri="{FF2B5EF4-FFF2-40B4-BE49-F238E27FC236}">
                <a16:creationId xmlns:a16="http://schemas.microsoft.com/office/drawing/2014/main" id="{5C0F4228-B790-44B1-696B-E8380663D5D9}"/>
              </a:ext>
            </a:extLst>
          </p:cNvPr>
          <p:cNvGrpSpPr>
            <a:grpSpLocks/>
          </p:cNvGrpSpPr>
          <p:nvPr/>
        </p:nvGrpSpPr>
        <p:grpSpPr bwMode="auto">
          <a:xfrm>
            <a:off x="7138988" y="4748213"/>
            <a:ext cx="2081212" cy="574675"/>
            <a:chOff x="4570249" y="4077072"/>
            <a:chExt cx="2081902" cy="576064"/>
          </a:xfrm>
        </p:grpSpPr>
        <p:sp>
          <p:nvSpPr>
            <p:cNvPr id="17435" name="Right Brace 18">
              <a:extLst>
                <a:ext uri="{FF2B5EF4-FFF2-40B4-BE49-F238E27FC236}">
                  <a16:creationId xmlns:a16="http://schemas.microsoft.com/office/drawing/2014/main" id="{D57190E8-A95B-7FD1-8310-8F5842834106}"/>
                </a:ext>
              </a:extLst>
            </p:cNvPr>
            <p:cNvSpPr>
              <a:spLocks/>
            </p:cNvSpPr>
            <p:nvPr/>
          </p:nvSpPr>
          <p:spPr bwMode="auto">
            <a:xfrm>
              <a:off x="4570249" y="4077072"/>
              <a:ext cx="288032" cy="576064"/>
            </a:xfrm>
            <a:prstGeom prst="rightBrace">
              <a:avLst>
                <a:gd name="adj1" fmla="val 8333"/>
                <a:gd name="adj2" fmla="val 50000"/>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endParaRPr lang="en-CA" altLang="en-US"/>
            </a:p>
          </p:txBody>
        </p:sp>
        <p:sp>
          <p:nvSpPr>
            <p:cNvPr id="17436" name="TextBox 19">
              <a:extLst>
                <a:ext uri="{FF2B5EF4-FFF2-40B4-BE49-F238E27FC236}">
                  <a16:creationId xmlns:a16="http://schemas.microsoft.com/office/drawing/2014/main" id="{FC0051FD-695B-44CE-7148-570DD16D1B64}"/>
                </a:ext>
              </a:extLst>
            </p:cNvPr>
            <p:cNvSpPr txBox="1">
              <a:spLocks noChangeArrowheads="1"/>
            </p:cNvSpPr>
            <p:nvPr/>
          </p:nvSpPr>
          <p:spPr bwMode="auto">
            <a:xfrm>
              <a:off x="4846406" y="4165049"/>
              <a:ext cx="180574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CA" altLang="en-US" sz="2000"/>
                <a:t>Student</a:t>
              </a:r>
            </a:p>
          </p:txBody>
        </p:sp>
      </p:grpSp>
      <p:grpSp>
        <p:nvGrpSpPr>
          <p:cNvPr id="5" name="Group 24">
            <a:extLst>
              <a:ext uri="{FF2B5EF4-FFF2-40B4-BE49-F238E27FC236}">
                <a16:creationId xmlns:a16="http://schemas.microsoft.com/office/drawing/2014/main" id="{705079D0-922A-CB1A-31B9-75433DE9FF7F}"/>
              </a:ext>
            </a:extLst>
          </p:cNvPr>
          <p:cNvGrpSpPr>
            <a:grpSpLocks/>
          </p:cNvGrpSpPr>
          <p:nvPr/>
        </p:nvGrpSpPr>
        <p:grpSpPr bwMode="auto">
          <a:xfrm>
            <a:off x="7138988" y="5322888"/>
            <a:ext cx="2081212" cy="576262"/>
            <a:chOff x="4570249" y="4077072"/>
            <a:chExt cx="2081902" cy="576064"/>
          </a:xfrm>
        </p:grpSpPr>
        <p:sp>
          <p:nvSpPr>
            <p:cNvPr id="17433" name="Right Brace 25">
              <a:extLst>
                <a:ext uri="{FF2B5EF4-FFF2-40B4-BE49-F238E27FC236}">
                  <a16:creationId xmlns:a16="http://schemas.microsoft.com/office/drawing/2014/main" id="{E76C4D43-D171-3000-8087-696FE5BE59C7}"/>
                </a:ext>
              </a:extLst>
            </p:cNvPr>
            <p:cNvSpPr>
              <a:spLocks/>
            </p:cNvSpPr>
            <p:nvPr/>
          </p:nvSpPr>
          <p:spPr bwMode="auto">
            <a:xfrm>
              <a:off x="4570249" y="4077072"/>
              <a:ext cx="288032" cy="576064"/>
            </a:xfrm>
            <a:prstGeom prst="rightBrace">
              <a:avLst>
                <a:gd name="adj1" fmla="val 8333"/>
                <a:gd name="adj2" fmla="val 50000"/>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endParaRPr lang="en-CA" altLang="en-US"/>
            </a:p>
          </p:txBody>
        </p:sp>
        <p:sp>
          <p:nvSpPr>
            <p:cNvPr id="17434" name="TextBox 29">
              <a:extLst>
                <a:ext uri="{FF2B5EF4-FFF2-40B4-BE49-F238E27FC236}">
                  <a16:creationId xmlns:a16="http://schemas.microsoft.com/office/drawing/2014/main" id="{CD1A0924-94D7-B0FD-9D41-453D58C67146}"/>
                </a:ext>
              </a:extLst>
            </p:cNvPr>
            <p:cNvSpPr txBox="1">
              <a:spLocks noChangeArrowheads="1"/>
            </p:cNvSpPr>
            <p:nvPr/>
          </p:nvSpPr>
          <p:spPr bwMode="auto">
            <a:xfrm>
              <a:off x="4846406" y="4165049"/>
              <a:ext cx="180574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CA" altLang="en-US" sz="2000"/>
                <a:t>Student</a:t>
              </a:r>
            </a:p>
          </p:txBody>
        </p:sp>
      </p:grpSp>
      <p:grpSp>
        <p:nvGrpSpPr>
          <p:cNvPr id="6" name="Group 9">
            <a:extLst>
              <a:ext uri="{FF2B5EF4-FFF2-40B4-BE49-F238E27FC236}">
                <a16:creationId xmlns:a16="http://schemas.microsoft.com/office/drawing/2014/main" id="{EDFAEB69-57A6-A1D5-17A7-5F3117B5DF0E}"/>
              </a:ext>
            </a:extLst>
          </p:cNvPr>
          <p:cNvGrpSpPr>
            <a:grpSpLocks/>
          </p:cNvGrpSpPr>
          <p:nvPr/>
        </p:nvGrpSpPr>
        <p:grpSpPr bwMode="auto">
          <a:xfrm>
            <a:off x="244475" y="3459163"/>
            <a:ext cx="3430588" cy="1200150"/>
            <a:chOff x="276340" y="3364830"/>
            <a:chExt cx="3431564" cy="1200329"/>
          </a:xfrm>
        </p:grpSpPr>
        <p:sp>
          <p:nvSpPr>
            <p:cNvPr id="46" name="TextBox 45">
              <a:extLst>
                <a:ext uri="{FF2B5EF4-FFF2-40B4-BE49-F238E27FC236}">
                  <a16:creationId xmlns:a16="http://schemas.microsoft.com/office/drawing/2014/main" id="{3FC1F417-0081-CEC2-244E-618F7EF84B51}"/>
                </a:ext>
              </a:extLst>
            </p:cNvPr>
            <p:cNvSpPr txBox="1"/>
            <p:nvPr/>
          </p:nvSpPr>
          <p:spPr>
            <a:xfrm>
              <a:off x="276340" y="3364830"/>
              <a:ext cx="3025048" cy="1200329"/>
            </a:xfrm>
            <a:prstGeom prst="rect">
              <a:avLst/>
            </a:prstGeom>
            <a:ln/>
          </p:spPr>
          <p:style>
            <a:lnRef idx="1">
              <a:schemeClr val="accent4"/>
            </a:lnRef>
            <a:fillRef idx="2">
              <a:schemeClr val="accent4"/>
            </a:fillRef>
            <a:effectRef idx="1">
              <a:schemeClr val="accent4"/>
            </a:effectRef>
            <a:fontRef idx="minor">
              <a:schemeClr val="dk1"/>
            </a:fontRef>
          </p:style>
          <p:txBody>
            <a:bodyPr>
              <a:spAutoFit/>
            </a:bodyPr>
            <a:lstStyle/>
            <a:p>
              <a:pPr algn="ctr">
                <a:defRPr/>
              </a:pPr>
              <a:r>
                <a:rPr lang="en-CA" dirty="0"/>
                <a:t>STUDENTID is a candidate key since it can unique identify each row (i.e. each student) in the relation</a:t>
              </a:r>
            </a:p>
          </p:txBody>
        </p:sp>
        <p:cxnSp>
          <p:nvCxnSpPr>
            <p:cNvPr id="17432" name="Straight Arrow Connector 7">
              <a:extLst>
                <a:ext uri="{FF2B5EF4-FFF2-40B4-BE49-F238E27FC236}">
                  <a16:creationId xmlns:a16="http://schemas.microsoft.com/office/drawing/2014/main" id="{7CB61284-5079-114F-7FCD-A582308C0EF4}"/>
                </a:ext>
              </a:extLst>
            </p:cNvPr>
            <p:cNvCxnSpPr>
              <a:cxnSpLocks noChangeShapeType="1"/>
              <a:stCxn id="46" idx="3"/>
            </p:cNvCxnSpPr>
            <p:nvPr/>
          </p:nvCxnSpPr>
          <p:spPr bwMode="auto">
            <a:xfrm flipV="1">
              <a:off x="3300676" y="3717032"/>
              <a:ext cx="407228" cy="247963"/>
            </a:xfrm>
            <a:prstGeom prst="straightConnector1">
              <a:avLst/>
            </a:prstGeom>
            <a:noFill/>
            <a:ln w="12700" algn="ctr">
              <a:solidFill>
                <a:srgbClr val="7030A0"/>
              </a:solidFill>
              <a:round/>
              <a:headEnd/>
              <a:tailEnd type="triangle" w="med" len="med"/>
            </a:ln>
            <a:extLst>
              <a:ext uri="{909E8E84-426E-40DD-AFC4-6F175D3DCCD1}">
                <a14:hiddenFill xmlns:a14="http://schemas.microsoft.com/office/drawing/2010/main">
                  <a:noFill/>
                </a14:hiddenFill>
              </a:ext>
            </a:extLst>
          </p:spPr>
        </p:cxnSp>
      </p:grpSp>
      <p:sp>
        <p:nvSpPr>
          <p:cNvPr id="9" name="TextBox 8">
            <a:extLst>
              <a:ext uri="{FF2B5EF4-FFF2-40B4-BE49-F238E27FC236}">
                <a16:creationId xmlns:a16="http://schemas.microsoft.com/office/drawing/2014/main" id="{4B54CEAF-286C-3943-AB07-D3725BC9EB42}"/>
              </a:ext>
            </a:extLst>
          </p:cNvPr>
          <p:cNvSpPr txBox="1"/>
          <p:nvPr/>
        </p:nvSpPr>
        <p:spPr>
          <a:xfrm>
            <a:off x="244475" y="4987925"/>
            <a:ext cx="3024188" cy="922338"/>
          </a:xfrm>
          <a:prstGeom prst="rect">
            <a:avLst/>
          </a:prstGeom>
          <a:solidFill>
            <a:schemeClr val="bg2">
              <a:lumMod val="90000"/>
            </a:schemeClr>
          </a:solidFill>
        </p:spPr>
        <p:txBody>
          <a:bodyPr>
            <a:spAutoFit/>
          </a:bodyPr>
          <a:lstStyle/>
          <a:p>
            <a:pPr>
              <a:defRPr/>
            </a:pPr>
            <a:r>
              <a:rPr lang="en-CA" dirty="0"/>
              <a:t>You can think of candidate keys as attributes that you </a:t>
            </a:r>
            <a:r>
              <a:rPr lang="en-CA" b="1" u="sng" dirty="0"/>
              <a:t>underline</a:t>
            </a:r>
            <a:r>
              <a:rPr lang="en-CA" dirty="0"/>
              <a:t> in EER diagram</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wipe(left)">
                                      <p:cBhvr>
                                        <p:cTn id="7" dur="500"/>
                                        <p:tgtEl>
                                          <p:spTgt spid="34"/>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4">
                                            <p:txEl>
                                              <p:pRg st="0" end="0"/>
                                            </p:txEl>
                                          </p:spTgt>
                                        </p:tgtEl>
                                        <p:attrNameLst>
                                          <p:attrName>style.visibility</p:attrName>
                                        </p:attrNameLst>
                                      </p:cBhvr>
                                      <p:to>
                                        <p:strVal val="visible"/>
                                      </p:to>
                                    </p:set>
                                    <p:animEffect transition="in" filter="wipe(left)">
                                      <p:cBhvr>
                                        <p:cTn id="11" dur="500"/>
                                        <p:tgtEl>
                                          <p:spTgt spid="24">
                                            <p:txEl>
                                              <p:pRg st="0" end="0"/>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38"/>
                                        </p:tgtEl>
                                        <p:attrNameLst>
                                          <p:attrName>style.visibility</p:attrName>
                                        </p:attrNameLst>
                                      </p:cBhvr>
                                      <p:to>
                                        <p:strVal val="visible"/>
                                      </p:to>
                                    </p:set>
                                    <p:animEffect transition="in" filter="wipe(up)">
                                      <p:cBhvr>
                                        <p:cTn id="16" dur="500"/>
                                        <p:tgtEl>
                                          <p:spTgt spid="38"/>
                                        </p:tgtEl>
                                      </p:cBhvr>
                                    </p:animEffect>
                                  </p:childTnLst>
                                </p:cTn>
                              </p:par>
                            </p:childTnLst>
                          </p:cTn>
                        </p:par>
                        <p:par>
                          <p:cTn id="17" fill="hold" nodeType="afterGroup">
                            <p:stCondLst>
                              <p:cond delay="500"/>
                            </p:stCondLst>
                            <p:childTnLst>
                              <p:par>
                                <p:cTn id="18" presetID="22" presetClass="entr" presetSubtype="1" fill="hold" grpId="0" nodeType="afterEffect">
                                  <p:stCondLst>
                                    <p:cond delay="0"/>
                                  </p:stCondLst>
                                  <p:childTnLst>
                                    <p:set>
                                      <p:cBhvr>
                                        <p:cTn id="19" dur="1" fill="hold">
                                          <p:stCondLst>
                                            <p:cond delay="0"/>
                                          </p:stCondLst>
                                        </p:cTn>
                                        <p:tgtEl>
                                          <p:spTgt spid="39"/>
                                        </p:tgtEl>
                                        <p:attrNameLst>
                                          <p:attrName>style.visibility</p:attrName>
                                        </p:attrNameLst>
                                      </p:cBhvr>
                                      <p:to>
                                        <p:strVal val="visible"/>
                                      </p:to>
                                    </p:set>
                                    <p:animEffect transition="in" filter="wipe(up)">
                                      <p:cBhvr>
                                        <p:cTn id="20" dur="500"/>
                                        <p:tgtEl>
                                          <p:spTgt spid="39"/>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42" presetClass="entr" presetSubtype="0" fill="hold" nodeType="click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fade">
                                      <p:cBhvr>
                                        <p:cTn id="25" dur="1000"/>
                                        <p:tgtEl>
                                          <p:spTgt spid="3"/>
                                        </p:tgtEl>
                                      </p:cBhvr>
                                    </p:animEffect>
                                    <p:anim calcmode="lin" valueType="num">
                                      <p:cBhvr>
                                        <p:cTn id="26" dur="1000" fill="hold"/>
                                        <p:tgtEl>
                                          <p:spTgt spid="3"/>
                                        </p:tgtEl>
                                        <p:attrNameLst>
                                          <p:attrName>ppt_x</p:attrName>
                                        </p:attrNameLst>
                                      </p:cBhvr>
                                      <p:tavLst>
                                        <p:tav tm="0">
                                          <p:val>
                                            <p:strVal val="#ppt_x"/>
                                          </p:val>
                                        </p:tav>
                                        <p:tav tm="100000">
                                          <p:val>
                                            <p:strVal val="#ppt_x"/>
                                          </p:val>
                                        </p:tav>
                                      </p:tavLst>
                                    </p:anim>
                                    <p:anim calcmode="lin" valueType="num">
                                      <p:cBhvr>
                                        <p:cTn id="27" dur="1000" fill="hold"/>
                                        <p:tgtEl>
                                          <p:spTgt spid="3"/>
                                        </p:tgtEl>
                                        <p:attrNameLst>
                                          <p:attrName>ppt_y</p:attrName>
                                        </p:attrNameLst>
                                      </p:cBhvr>
                                      <p:tavLst>
                                        <p:tav tm="0">
                                          <p:val>
                                            <p:strVal val="#ppt_y+.1"/>
                                          </p:val>
                                        </p:tav>
                                        <p:tav tm="100000">
                                          <p:val>
                                            <p:strVal val="#ppt_y"/>
                                          </p:val>
                                        </p:tav>
                                      </p:tavLst>
                                    </p:anim>
                                  </p:childTnLst>
                                </p:cTn>
                              </p:par>
                            </p:childTnLst>
                          </p:cTn>
                        </p:par>
                        <p:par>
                          <p:cTn id="28" fill="hold" nodeType="afterGroup">
                            <p:stCondLst>
                              <p:cond delay="1000"/>
                            </p:stCondLst>
                            <p:childTnLst>
                              <p:par>
                                <p:cTn id="29" presetID="42" presetClass="entr" presetSubtype="0" fill="hold" nodeType="afterEffect">
                                  <p:stCondLst>
                                    <p:cond delay="0"/>
                                  </p:stCondLst>
                                  <p:childTnLst>
                                    <p:set>
                                      <p:cBhvr>
                                        <p:cTn id="30" dur="1" fill="hold">
                                          <p:stCondLst>
                                            <p:cond delay="0"/>
                                          </p:stCondLst>
                                        </p:cTn>
                                        <p:tgtEl>
                                          <p:spTgt spid="4"/>
                                        </p:tgtEl>
                                        <p:attrNameLst>
                                          <p:attrName>style.visibility</p:attrName>
                                        </p:attrNameLst>
                                      </p:cBhvr>
                                      <p:to>
                                        <p:strVal val="visible"/>
                                      </p:to>
                                    </p:set>
                                    <p:animEffect transition="in" filter="fade">
                                      <p:cBhvr>
                                        <p:cTn id="31" dur="1000"/>
                                        <p:tgtEl>
                                          <p:spTgt spid="4"/>
                                        </p:tgtEl>
                                      </p:cBhvr>
                                    </p:animEffect>
                                    <p:anim calcmode="lin" valueType="num">
                                      <p:cBhvr>
                                        <p:cTn id="32" dur="1000" fill="hold"/>
                                        <p:tgtEl>
                                          <p:spTgt spid="4"/>
                                        </p:tgtEl>
                                        <p:attrNameLst>
                                          <p:attrName>ppt_x</p:attrName>
                                        </p:attrNameLst>
                                      </p:cBhvr>
                                      <p:tavLst>
                                        <p:tav tm="0">
                                          <p:val>
                                            <p:strVal val="#ppt_x"/>
                                          </p:val>
                                        </p:tav>
                                        <p:tav tm="100000">
                                          <p:val>
                                            <p:strVal val="#ppt_x"/>
                                          </p:val>
                                        </p:tav>
                                      </p:tavLst>
                                    </p:anim>
                                    <p:anim calcmode="lin" valueType="num">
                                      <p:cBhvr>
                                        <p:cTn id="33" dur="1000" fill="hold"/>
                                        <p:tgtEl>
                                          <p:spTgt spid="4"/>
                                        </p:tgtEl>
                                        <p:attrNameLst>
                                          <p:attrName>ppt_y</p:attrName>
                                        </p:attrNameLst>
                                      </p:cBhvr>
                                      <p:tavLst>
                                        <p:tav tm="0">
                                          <p:val>
                                            <p:strVal val="#ppt_y+.1"/>
                                          </p:val>
                                        </p:tav>
                                        <p:tav tm="100000">
                                          <p:val>
                                            <p:strVal val="#ppt_y"/>
                                          </p:val>
                                        </p:tav>
                                      </p:tavLst>
                                    </p:anim>
                                  </p:childTnLst>
                                </p:cTn>
                              </p:par>
                            </p:childTnLst>
                          </p:cTn>
                        </p:par>
                        <p:par>
                          <p:cTn id="34" fill="hold" nodeType="afterGroup">
                            <p:stCondLst>
                              <p:cond delay="2000"/>
                            </p:stCondLst>
                            <p:childTnLst>
                              <p:par>
                                <p:cTn id="35" presetID="42" presetClass="entr" presetSubtype="0" fill="hold" nodeType="after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fade">
                                      <p:cBhvr>
                                        <p:cTn id="37" dur="1000"/>
                                        <p:tgtEl>
                                          <p:spTgt spid="5"/>
                                        </p:tgtEl>
                                      </p:cBhvr>
                                    </p:animEffect>
                                    <p:anim calcmode="lin" valueType="num">
                                      <p:cBhvr>
                                        <p:cTn id="38" dur="1000" fill="hold"/>
                                        <p:tgtEl>
                                          <p:spTgt spid="5"/>
                                        </p:tgtEl>
                                        <p:attrNameLst>
                                          <p:attrName>ppt_x</p:attrName>
                                        </p:attrNameLst>
                                      </p:cBhvr>
                                      <p:tavLst>
                                        <p:tav tm="0">
                                          <p:val>
                                            <p:strVal val="#ppt_x"/>
                                          </p:val>
                                        </p:tav>
                                        <p:tav tm="100000">
                                          <p:val>
                                            <p:strVal val="#ppt_x"/>
                                          </p:val>
                                        </p:tav>
                                      </p:tavLst>
                                    </p:anim>
                                    <p:anim calcmode="lin" valueType="num">
                                      <p:cBhvr>
                                        <p:cTn id="3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40" fill="hold" nodeType="clickPar">
                      <p:stCondLst>
                        <p:cond delay="indefinite"/>
                      </p:stCondLst>
                      <p:childTnLst>
                        <p:par>
                          <p:cTn id="41" fill="hold" nodeType="withGroup">
                            <p:stCondLst>
                              <p:cond delay="0"/>
                            </p:stCondLst>
                            <p:childTnLst>
                              <p:par>
                                <p:cTn id="42" presetID="2" presetClass="entr" presetSubtype="4" fill="hold" nodeType="clickEffect">
                                  <p:stCondLst>
                                    <p:cond delay="0"/>
                                  </p:stCondLst>
                                  <p:childTnLst>
                                    <p:set>
                                      <p:cBhvr>
                                        <p:cTn id="43" dur="1" fill="hold">
                                          <p:stCondLst>
                                            <p:cond delay="0"/>
                                          </p:stCondLst>
                                        </p:cTn>
                                        <p:tgtEl>
                                          <p:spTgt spid="6"/>
                                        </p:tgtEl>
                                        <p:attrNameLst>
                                          <p:attrName>style.visibility</p:attrName>
                                        </p:attrNameLst>
                                      </p:cBhvr>
                                      <p:to>
                                        <p:strVal val="visible"/>
                                      </p:to>
                                    </p:set>
                                    <p:anim calcmode="lin" valueType="num">
                                      <p:cBhvr additive="base">
                                        <p:cTn id="44" dur="500" fill="hold"/>
                                        <p:tgtEl>
                                          <p:spTgt spid="6"/>
                                        </p:tgtEl>
                                        <p:attrNameLst>
                                          <p:attrName>ppt_x</p:attrName>
                                        </p:attrNameLst>
                                      </p:cBhvr>
                                      <p:tavLst>
                                        <p:tav tm="0">
                                          <p:val>
                                            <p:strVal val="#ppt_x"/>
                                          </p:val>
                                        </p:tav>
                                        <p:tav tm="100000">
                                          <p:val>
                                            <p:strVal val="#ppt_x"/>
                                          </p:val>
                                        </p:tav>
                                      </p:tavLst>
                                    </p:anim>
                                    <p:anim calcmode="lin" valueType="num">
                                      <p:cBhvr additive="base">
                                        <p:cTn id="45"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46" fill="hold" nodeType="clickPar">
                      <p:stCondLst>
                        <p:cond delay="indefinite"/>
                      </p:stCondLst>
                      <p:childTnLst>
                        <p:par>
                          <p:cTn id="47" fill="hold" nodeType="withGroup">
                            <p:stCondLst>
                              <p:cond delay="0"/>
                            </p:stCondLst>
                            <p:childTnLst>
                              <p:par>
                                <p:cTn id="48" presetID="42" presetClass="entr" presetSubtype="0" fill="hold" grpId="0" nodeType="clickEffect">
                                  <p:stCondLst>
                                    <p:cond delay="0"/>
                                  </p:stCondLst>
                                  <p:childTnLst>
                                    <p:set>
                                      <p:cBhvr>
                                        <p:cTn id="49" dur="1" fill="hold">
                                          <p:stCondLst>
                                            <p:cond delay="0"/>
                                          </p:stCondLst>
                                        </p:cTn>
                                        <p:tgtEl>
                                          <p:spTgt spid="9"/>
                                        </p:tgtEl>
                                        <p:attrNameLst>
                                          <p:attrName>style.visibility</p:attrName>
                                        </p:attrNameLst>
                                      </p:cBhvr>
                                      <p:to>
                                        <p:strVal val="visible"/>
                                      </p:to>
                                    </p:set>
                                    <p:animEffect transition="in" filter="fade">
                                      <p:cBhvr>
                                        <p:cTn id="50" dur="1000"/>
                                        <p:tgtEl>
                                          <p:spTgt spid="9"/>
                                        </p:tgtEl>
                                      </p:cBhvr>
                                    </p:animEffect>
                                    <p:anim calcmode="lin" valueType="num">
                                      <p:cBhvr>
                                        <p:cTn id="51" dur="1000" fill="hold"/>
                                        <p:tgtEl>
                                          <p:spTgt spid="9"/>
                                        </p:tgtEl>
                                        <p:attrNameLst>
                                          <p:attrName>ppt_x</p:attrName>
                                        </p:attrNameLst>
                                      </p:cBhvr>
                                      <p:tavLst>
                                        <p:tav tm="0">
                                          <p:val>
                                            <p:strVal val="#ppt_x"/>
                                          </p:val>
                                        </p:tav>
                                        <p:tav tm="100000">
                                          <p:val>
                                            <p:strVal val="#ppt_x"/>
                                          </p:val>
                                        </p:tav>
                                      </p:tavLst>
                                    </p:anim>
                                    <p:anim calcmode="lin" valueType="num">
                                      <p:cBhvr>
                                        <p:cTn id="52"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build="p"/>
      <p:bldP spid="34" grpId="0" animBg="1"/>
      <p:bldP spid="39" grpId="0"/>
      <p:bldP spid="9" grpId="0" animBg="1"/>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6CFB9E-9197-91EE-1381-FE41E03D0F16}"/>
              </a:ext>
            </a:extLst>
          </p:cNvPr>
          <p:cNvSpPr>
            <a:spLocks noGrp="1"/>
          </p:cNvSpPr>
          <p:nvPr>
            <p:ph type="title"/>
          </p:nvPr>
        </p:nvSpPr>
        <p:spPr>
          <a:xfrm>
            <a:off x="457200" y="0"/>
            <a:ext cx="7620000" cy="1143000"/>
          </a:xfrm>
        </p:spPr>
        <p:txBody>
          <a:bodyPr/>
          <a:lstStyle/>
          <a:p>
            <a:pPr algn="ctr">
              <a:defRPr/>
            </a:pPr>
            <a:r>
              <a:rPr lang="en-US" dirty="0"/>
              <a:t>Relational Constraints</a:t>
            </a:r>
            <a:endParaRPr lang="en-CA" dirty="0"/>
          </a:p>
        </p:txBody>
      </p:sp>
      <p:sp>
        <p:nvSpPr>
          <p:cNvPr id="24" name="Content Placeholder 2">
            <a:extLst>
              <a:ext uri="{FF2B5EF4-FFF2-40B4-BE49-F238E27FC236}">
                <a16:creationId xmlns:a16="http://schemas.microsoft.com/office/drawing/2014/main" id="{F206F94D-12DF-8219-5D46-5114D987DBF5}"/>
              </a:ext>
            </a:extLst>
          </p:cNvPr>
          <p:cNvSpPr txBox="1">
            <a:spLocks/>
          </p:cNvSpPr>
          <p:nvPr/>
        </p:nvSpPr>
        <p:spPr bwMode="auto">
          <a:xfrm>
            <a:off x="131763" y="1855788"/>
            <a:ext cx="8097837" cy="158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rgbClr val="FF6600"/>
              </a:buClr>
              <a:buFont typeface="Wingdings 3" panose="05040102010807070707" pitchFamily="18" charset="2"/>
              <a:buNone/>
            </a:pPr>
            <a:r>
              <a:rPr lang="en-CA" altLang="en-US" sz="3200">
                <a:latin typeface="Calibri" panose="020F0502020204030204" pitchFamily="34" charset="0"/>
              </a:rPr>
              <a:t>In a relation, one candidate key </a:t>
            </a:r>
            <a:r>
              <a:rPr lang="en-CA" altLang="en-US" sz="3200" b="1">
                <a:latin typeface="Calibri" panose="020F0502020204030204" pitchFamily="34" charset="0"/>
              </a:rPr>
              <a:t>must</a:t>
            </a:r>
            <a:r>
              <a:rPr lang="en-CA" altLang="en-US" sz="3200">
                <a:latin typeface="Calibri" panose="020F0502020204030204" pitchFamily="34" charset="0"/>
              </a:rPr>
              <a:t> be chosen to be the </a:t>
            </a:r>
            <a:r>
              <a:rPr lang="en-CA" altLang="en-US" sz="3200" b="1">
                <a:latin typeface="Calibri" panose="020F0502020204030204" pitchFamily="34" charset="0"/>
              </a:rPr>
              <a:t>primary key</a:t>
            </a:r>
            <a:r>
              <a:rPr lang="en-CA" altLang="en-US" sz="3200">
                <a:latin typeface="Calibri" panose="020F0502020204030204" pitchFamily="34" charset="0"/>
              </a:rPr>
              <a:t> of the relation. Always </a:t>
            </a:r>
            <a:r>
              <a:rPr lang="en-CA" altLang="en-US" sz="3200" b="1">
                <a:latin typeface="Calibri" panose="020F0502020204030204" pitchFamily="34" charset="0"/>
              </a:rPr>
              <a:t>underline</a:t>
            </a:r>
            <a:r>
              <a:rPr lang="en-CA" altLang="en-US" sz="3200">
                <a:latin typeface="Calibri" panose="020F0502020204030204" pitchFamily="34" charset="0"/>
              </a:rPr>
              <a:t> the primary key in a relation</a:t>
            </a:r>
            <a:endParaRPr lang="en-CA" altLang="en-US" sz="3200" b="1">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32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32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40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p:txBody>
      </p:sp>
      <p:sp>
        <p:nvSpPr>
          <p:cNvPr id="27" name="Snip Single Corner Rectangle 26">
            <a:extLst>
              <a:ext uri="{FF2B5EF4-FFF2-40B4-BE49-F238E27FC236}">
                <a16:creationId xmlns:a16="http://schemas.microsoft.com/office/drawing/2014/main" id="{32D220BA-3496-4F06-3567-6D0B09DA92B7}"/>
              </a:ext>
            </a:extLst>
          </p:cNvPr>
          <p:cNvSpPr/>
          <p:nvPr/>
        </p:nvSpPr>
        <p:spPr>
          <a:xfrm>
            <a:off x="131763" y="1427163"/>
            <a:ext cx="1727200" cy="401637"/>
          </a:xfrm>
          <a:prstGeom prst="snip1Rect">
            <a:avLst/>
          </a:prstGeom>
          <a:solidFill>
            <a:schemeClr val="accent5">
              <a:alpha val="70000"/>
            </a:schemeClr>
          </a:solidFill>
          <a:ln>
            <a:solidFill>
              <a:schemeClr val="accent5"/>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indent="-342900" algn="just" eaLnBrk="1" hangingPunct="1">
              <a:spcBef>
                <a:spcPct val="20000"/>
              </a:spcBef>
              <a:buClr>
                <a:srgbClr val="FF6600"/>
              </a:buClr>
              <a:buSzPct val="100000"/>
              <a:defRPr/>
            </a:pPr>
            <a:r>
              <a:rPr lang="en-US" dirty="0">
                <a:latin typeface="Arial" pitchFamily="34" charset="0"/>
                <a:ea typeface="Times New Roman" pitchFamily="18" charset="0"/>
                <a:cs typeface="Arial" pitchFamily="34" charset="0"/>
              </a:rPr>
              <a:t>Key Constraint</a:t>
            </a:r>
            <a:endParaRPr lang="en-GB" kern="0" dirty="0">
              <a:solidFill>
                <a:schemeClr val="tx1"/>
              </a:solidFill>
            </a:endParaRPr>
          </a:p>
        </p:txBody>
      </p:sp>
      <p:graphicFrame>
        <p:nvGraphicFramePr>
          <p:cNvPr id="28" name="Table 27">
            <a:extLst>
              <a:ext uri="{FF2B5EF4-FFF2-40B4-BE49-F238E27FC236}">
                <a16:creationId xmlns:a16="http://schemas.microsoft.com/office/drawing/2014/main" id="{BC79367A-8C21-E3C2-996B-3841F5383C1C}"/>
              </a:ext>
            </a:extLst>
          </p:cNvPr>
          <p:cNvGraphicFramePr>
            <a:graphicFrameLocks noGrp="1"/>
          </p:cNvGraphicFramePr>
          <p:nvPr/>
        </p:nvGraphicFramePr>
        <p:xfrm>
          <a:off x="131763" y="3584575"/>
          <a:ext cx="4968875" cy="2295524"/>
        </p:xfrm>
        <a:graphic>
          <a:graphicData uri="http://schemas.openxmlformats.org/drawingml/2006/table">
            <a:tbl>
              <a:tblPr firstRow="1" bandRow="1">
                <a:tableStyleId>{3B4B98B0-60AC-42C2-AFA5-B58CD77FA1E5}</a:tableStyleId>
              </a:tblPr>
              <a:tblGrid>
                <a:gridCol w="1648498">
                  <a:extLst>
                    <a:ext uri="{9D8B030D-6E8A-4147-A177-3AD203B41FA5}">
                      <a16:colId xmlns:a16="http://schemas.microsoft.com/office/drawing/2014/main" val="20000"/>
                    </a:ext>
                  </a:extLst>
                </a:gridCol>
                <a:gridCol w="1648498">
                  <a:extLst>
                    <a:ext uri="{9D8B030D-6E8A-4147-A177-3AD203B41FA5}">
                      <a16:colId xmlns:a16="http://schemas.microsoft.com/office/drawing/2014/main" val="20001"/>
                    </a:ext>
                  </a:extLst>
                </a:gridCol>
                <a:gridCol w="1671879">
                  <a:extLst>
                    <a:ext uri="{9D8B030D-6E8A-4147-A177-3AD203B41FA5}">
                      <a16:colId xmlns:a16="http://schemas.microsoft.com/office/drawing/2014/main" val="20002"/>
                    </a:ext>
                  </a:extLst>
                </a:gridCol>
              </a:tblGrid>
              <a:tr h="573881">
                <a:tc>
                  <a:txBody>
                    <a:bodyPr/>
                    <a:lstStyle/>
                    <a:p>
                      <a:pPr algn="ctr"/>
                      <a:r>
                        <a:rPr lang="en-CA" sz="1800" dirty="0"/>
                        <a:t>STUDENTID</a:t>
                      </a:r>
                    </a:p>
                  </a:txBody>
                  <a:tcPr marL="91446" marR="91446" marT="45731" marB="45731"/>
                </a:tc>
                <a:tc>
                  <a:txBody>
                    <a:bodyPr/>
                    <a:lstStyle/>
                    <a:p>
                      <a:pPr algn="ctr"/>
                      <a:r>
                        <a:rPr lang="en-CA" sz="1800" dirty="0"/>
                        <a:t>ICNUMBER</a:t>
                      </a:r>
                    </a:p>
                  </a:txBody>
                  <a:tcPr marL="91446" marR="91446" marT="45731" marB="45731"/>
                </a:tc>
                <a:tc>
                  <a:txBody>
                    <a:bodyPr/>
                    <a:lstStyle/>
                    <a:p>
                      <a:pPr algn="ctr"/>
                      <a:r>
                        <a:rPr lang="en-CA" sz="1800" dirty="0"/>
                        <a:t>NAME</a:t>
                      </a:r>
                    </a:p>
                  </a:txBody>
                  <a:tcPr marL="91446" marR="91446" marT="45731" marB="45731"/>
                </a:tc>
                <a:extLst>
                  <a:ext uri="{0D108BD9-81ED-4DB2-BD59-A6C34878D82A}">
                    <a16:rowId xmlns:a16="http://schemas.microsoft.com/office/drawing/2014/main" val="10000"/>
                  </a:ext>
                </a:extLst>
              </a:tr>
              <a:tr h="573881">
                <a:tc>
                  <a:txBody>
                    <a:bodyPr/>
                    <a:lstStyle/>
                    <a:p>
                      <a:pPr algn="ctr"/>
                      <a:r>
                        <a:rPr lang="en-CA" sz="1800" dirty="0"/>
                        <a:t>1</a:t>
                      </a:r>
                    </a:p>
                  </a:txBody>
                  <a:tcPr marL="91446" marR="91446" marT="45731" marB="45731"/>
                </a:tc>
                <a:tc>
                  <a:txBody>
                    <a:bodyPr/>
                    <a:lstStyle/>
                    <a:p>
                      <a:pPr algn="ctr"/>
                      <a:r>
                        <a:rPr lang="en-CA" sz="1800" dirty="0"/>
                        <a:t>123-321</a:t>
                      </a:r>
                    </a:p>
                  </a:txBody>
                  <a:tcPr marL="91446" marR="91446" marT="45731" marB="45731"/>
                </a:tc>
                <a:tc>
                  <a:txBody>
                    <a:bodyPr/>
                    <a:lstStyle/>
                    <a:p>
                      <a:r>
                        <a:rPr lang="en-CA" sz="1800" dirty="0"/>
                        <a:t>Talha Amjad</a:t>
                      </a:r>
                    </a:p>
                  </a:txBody>
                  <a:tcPr marL="91446" marR="91446" marT="45731" marB="45731"/>
                </a:tc>
                <a:extLst>
                  <a:ext uri="{0D108BD9-81ED-4DB2-BD59-A6C34878D82A}">
                    <a16:rowId xmlns:a16="http://schemas.microsoft.com/office/drawing/2014/main" val="10001"/>
                  </a:ext>
                </a:extLst>
              </a:tr>
              <a:tr h="573881">
                <a:tc>
                  <a:txBody>
                    <a:bodyPr/>
                    <a:lstStyle/>
                    <a:p>
                      <a:pPr algn="ctr"/>
                      <a:r>
                        <a:rPr lang="en-CA" sz="1800" dirty="0"/>
                        <a:t>2</a:t>
                      </a:r>
                    </a:p>
                  </a:txBody>
                  <a:tcPr marL="91446" marR="91446" marT="45731" marB="45731"/>
                </a:tc>
                <a:tc>
                  <a:txBody>
                    <a:bodyPr/>
                    <a:lstStyle/>
                    <a:p>
                      <a:pPr algn="ctr"/>
                      <a:r>
                        <a:rPr lang="en-CA" sz="1800" dirty="0"/>
                        <a:t>321-123</a:t>
                      </a:r>
                    </a:p>
                  </a:txBody>
                  <a:tcPr marL="91446" marR="91446" marT="45731" marB="45731"/>
                </a:tc>
                <a:tc>
                  <a:txBody>
                    <a:bodyPr/>
                    <a:lstStyle/>
                    <a:p>
                      <a:r>
                        <a:rPr lang="en-CA" sz="1800" dirty="0"/>
                        <a:t>Sara Saleem</a:t>
                      </a:r>
                    </a:p>
                  </a:txBody>
                  <a:tcPr marL="91446" marR="91446" marT="45731" marB="45731"/>
                </a:tc>
                <a:extLst>
                  <a:ext uri="{0D108BD9-81ED-4DB2-BD59-A6C34878D82A}">
                    <a16:rowId xmlns:a16="http://schemas.microsoft.com/office/drawing/2014/main" val="10002"/>
                  </a:ext>
                </a:extLst>
              </a:tr>
              <a:tr h="573881">
                <a:tc>
                  <a:txBody>
                    <a:bodyPr/>
                    <a:lstStyle/>
                    <a:p>
                      <a:pPr algn="ctr"/>
                      <a:r>
                        <a:rPr lang="en-CA" sz="1800" dirty="0"/>
                        <a:t>3</a:t>
                      </a:r>
                    </a:p>
                  </a:txBody>
                  <a:tcPr marL="91446" marR="91446" marT="45731" marB="45731"/>
                </a:tc>
                <a:tc>
                  <a:txBody>
                    <a:bodyPr/>
                    <a:lstStyle/>
                    <a:p>
                      <a:pPr algn="ctr"/>
                      <a:r>
                        <a:rPr lang="en-CA" sz="1800" dirty="0"/>
                        <a:t>132-231</a:t>
                      </a:r>
                    </a:p>
                  </a:txBody>
                  <a:tcPr marL="91446" marR="91446" marT="45731" marB="45731"/>
                </a:tc>
                <a:tc>
                  <a:txBody>
                    <a:bodyPr/>
                    <a:lstStyle/>
                    <a:p>
                      <a:r>
                        <a:rPr lang="en-CA" sz="1800" dirty="0"/>
                        <a:t>Aqib Ali</a:t>
                      </a:r>
                    </a:p>
                  </a:txBody>
                  <a:tcPr marL="91446" marR="91446" marT="45731" marB="45731"/>
                </a:tc>
                <a:extLst>
                  <a:ext uri="{0D108BD9-81ED-4DB2-BD59-A6C34878D82A}">
                    <a16:rowId xmlns:a16="http://schemas.microsoft.com/office/drawing/2014/main" val="10003"/>
                  </a:ext>
                </a:extLst>
              </a:tr>
            </a:tbl>
          </a:graphicData>
        </a:graphic>
      </p:graphicFrame>
      <p:sp>
        <p:nvSpPr>
          <p:cNvPr id="29" name="TextBox 28">
            <a:extLst>
              <a:ext uri="{FF2B5EF4-FFF2-40B4-BE49-F238E27FC236}">
                <a16:creationId xmlns:a16="http://schemas.microsoft.com/office/drawing/2014/main" id="{AEF42BD7-ED77-BD0B-5ABA-FF54879FB039}"/>
              </a:ext>
            </a:extLst>
          </p:cNvPr>
          <p:cNvSpPr txBox="1">
            <a:spLocks noChangeArrowheads="1"/>
          </p:cNvSpPr>
          <p:nvPr/>
        </p:nvSpPr>
        <p:spPr bwMode="auto">
          <a:xfrm>
            <a:off x="1495425" y="5878513"/>
            <a:ext cx="22415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CA" altLang="en-US"/>
              <a:t>Student relation</a:t>
            </a:r>
          </a:p>
        </p:txBody>
      </p:sp>
      <p:sp>
        <p:nvSpPr>
          <p:cNvPr id="30" name="TextBox 29">
            <a:extLst>
              <a:ext uri="{FF2B5EF4-FFF2-40B4-BE49-F238E27FC236}">
                <a16:creationId xmlns:a16="http://schemas.microsoft.com/office/drawing/2014/main" id="{87893008-0D42-B16E-76F6-F74F31C15ADF}"/>
              </a:ext>
            </a:extLst>
          </p:cNvPr>
          <p:cNvSpPr txBox="1"/>
          <p:nvPr/>
        </p:nvSpPr>
        <p:spPr>
          <a:xfrm>
            <a:off x="5334000" y="3716338"/>
            <a:ext cx="2895600" cy="2032000"/>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p>
            <a:pPr>
              <a:defRPr/>
            </a:pPr>
            <a:r>
              <a:rPr lang="en-CA" dirty="0"/>
              <a:t>Candidate keys</a:t>
            </a:r>
          </a:p>
          <a:p>
            <a:pPr marL="742950" lvl="1" indent="-285750">
              <a:buFont typeface="Arial" pitchFamily="34" charset="0"/>
              <a:buChar char="•"/>
              <a:defRPr/>
            </a:pPr>
            <a:r>
              <a:rPr lang="en-CA" dirty="0"/>
              <a:t>STUDENTID</a:t>
            </a:r>
          </a:p>
          <a:p>
            <a:pPr marL="742950" lvl="1" indent="-285750">
              <a:buFont typeface="Arial" pitchFamily="34" charset="0"/>
              <a:buChar char="•"/>
              <a:defRPr/>
            </a:pPr>
            <a:r>
              <a:rPr lang="en-CA" dirty="0" err="1"/>
              <a:t>ICNumber</a:t>
            </a:r>
            <a:endParaRPr lang="en-CA" dirty="0"/>
          </a:p>
          <a:p>
            <a:pPr marL="742950" lvl="1" indent="-285750">
              <a:buFont typeface="Arial" pitchFamily="34" charset="0"/>
              <a:buChar char="•"/>
              <a:defRPr/>
            </a:pPr>
            <a:endParaRPr lang="en-CA" dirty="0"/>
          </a:p>
          <a:p>
            <a:pPr>
              <a:defRPr/>
            </a:pPr>
            <a:r>
              <a:rPr lang="en-CA" dirty="0"/>
              <a:t>Primary key</a:t>
            </a:r>
          </a:p>
          <a:p>
            <a:pPr marL="742950" lvl="1" indent="-285750">
              <a:buFont typeface="Arial" pitchFamily="34" charset="0"/>
              <a:buChar char="•"/>
              <a:defRPr/>
            </a:pPr>
            <a:r>
              <a:rPr lang="en-CA" dirty="0"/>
              <a:t>Either STUDENTID or </a:t>
            </a:r>
            <a:r>
              <a:rPr lang="en-CA" dirty="0" err="1"/>
              <a:t>ICNumber</a:t>
            </a:r>
            <a:endParaRPr lang="en-CA" dirty="0"/>
          </a:p>
        </p:txBody>
      </p:sp>
      <p:cxnSp>
        <p:nvCxnSpPr>
          <p:cNvPr id="4" name="Straight Connector 3">
            <a:extLst>
              <a:ext uri="{FF2B5EF4-FFF2-40B4-BE49-F238E27FC236}">
                <a16:creationId xmlns:a16="http://schemas.microsoft.com/office/drawing/2014/main" id="{AB4C7970-3450-DCDD-C357-6C155B85712C}"/>
              </a:ext>
            </a:extLst>
          </p:cNvPr>
          <p:cNvCxnSpPr/>
          <p:nvPr/>
        </p:nvCxnSpPr>
        <p:spPr bwMode="auto">
          <a:xfrm>
            <a:off x="287338" y="3908425"/>
            <a:ext cx="1295400" cy="0"/>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4">
                                            <p:txEl>
                                              <p:pRg st="0" end="0"/>
                                            </p:txEl>
                                          </p:spTgt>
                                        </p:tgtEl>
                                        <p:attrNameLst>
                                          <p:attrName>style.visibility</p:attrName>
                                        </p:attrNameLst>
                                      </p:cBhvr>
                                      <p:to>
                                        <p:strVal val="visible"/>
                                      </p:to>
                                    </p:set>
                                    <p:animEffect transition="in" filter="wipe(left)">
                                      <p:cBhvr>
                                        <p:cTn id="7" dur="500"/>
                                        <p:tgtEl>
                                          <p:spTgt spid="2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wipe(up)">
                                      <p:cBhvr>
                                        <p:cTn id="12" dur="500"/>
                                        <p:tgtEl>
                                          <p:spTgt spid="28"/>
                                        </p:tgtEl>
                                      </p:cBhvr>
                                    </p:animEffect>
                                  </p:childTnLst>
                                </p:cTn>
                              </p:par>
                            </p:childTnLst>
                          </p:cTn>
                        </p:par>
                        <p:par>
                          <p:cTn id="13" fill="hold" nodeType="afterGroup">
                            <p:stCondLst>
                              <p:cond delay="500"/>
                            </p:stCondLst>
                            <p:childTnLst>
                              <p:par>
                                <p:cTn id="14" presetID="22" presetClass="entr" presetSubtype="1" fill="hold" grpId="0" nodeType="afterEffect">
                                  <p:stCondLst>
                                    <p:cond delay="0"/>
                                  </p:stCondLst>
                                  <p:childTnLst>
                                    <p:set>
                                      <p:cBhvr>
                                        <p:cTn id="15" dur="1" fill="hold">
                                          <p:stCondLst>
                                            <p:cond delay="0"/>
                                          </p:stCondLst>
                                        </p:cTn>
                                        <p:tgtEl>
                                          <p:spTgt spid="29"/>
                                        </p:tgtEl>
                                        <p:attrNameLst>
                                          <p:attrName>style.visibility</p:attrName>
                                        </p:attrNameLst>
                                      </p:cBhvr>
                                      <p:to>
                                        <p:strVal val="visible"/>
                                      </p:to>
                                    </p:set>
                                    <p:animEffect transition="in" filter="wipe(up)">
                                      <p:cBhvr>
                                        <p:cTn id="16" dur="500"/>
                                        <p:tgtEl>
                                          <p:spTgt spid="29"/>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0"/>
                                        </p:tgtEl>
                                        <p:attrNameLst>
                                          <p:attrName>style.visibility</p:attrName>
                                        </p:attrNameLst>
                                      </p:cBhvr>
                                      <p:to>
                                        <p:strVal val="visible"/>
                                      </p:to>
                                    </p:set>
                                    <p:animEffect transition="in" filter="fade">
                                      <p:cBhvr>
                                        <p:cTn id="21" dur="1000"/>
                                        <p:tgtEl>
                                          <p:spTgt spid="30"/>
                                        </p:tgtEl>
                                      </p:cBhvr>
                                    </p:animEffect>
                                    <p:anim calcmode="lin" valueType="num">
                                      <p:cBhvr>
                                        <p:cTn id="22" dur="1000" fill="hold"/>
                                        <p:tgtEl>
                                          <p:spTgt spid="30"/>
                                        </p:tgtEl>
                                        <p:attrNameLst>
                                          <p:attrName>ppt_x</p:attrName>
                                        </p:attrNameLst>
                                      </p:cBhvr>
                                      <p:tavLst>
                                        <p:tav tm="0">
                                          <p:val>
                                            <p:strVal val="#ppt_x"/>
                                          </p:val>
                                        </p:tav>
                                        <p:tav tm="100000">
                                          <p:val>
                                            <p:strVal val="#ppt_x"/>
                                          </p:val>
                                        </p:tav>
                                      </p:tavLst>
                                    </p:anim>
                                    <p:anim calcmode="lin" valueType="num">
                                      <p:cBhvr>
                                        <p:cTn id="23"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nodeType="click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wipe(left)">
                                      <p:cBhvr>
                                        <p:cTn id="28"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build="p"/>
      <p:bldP spid="29" grpId="0"/>
      <p:bldP spid="30" grpId="0" animBg="1"/>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FA510A-8875-B73F-6F5D-72A7AE6999F3}"/>
              </a:ext>
            </a:extLst>
          </p:cNvPr>
          <p:cNvSpPr>
            <a:spLocks noGrp="1"/>
          </p:cNvSpPr>
          <p:nvPr>
            <p:ph type="title"/>
          </p:nvPr>
        </p:nvSpPr>
        <p:spPr>
          <a:xfrm>
            <a:off x="457200" y="0"/>
            <a:ext cx="7620000" cy="1143000"/>
          </a:xfrm>
        </p:spPr>
        <p:txBody>
          <a:bodyPr/>
          <a:lstStyle/>
          <a:p>
            <a:pPr algn="ctr">
              <a:defRPr/>
            </a:pPr>
            <a:r>
              <a:rPr lang="en-US" dirty="0"/>
              <a:t>Relational Constraints</a:t>
            </a:r>
            <a:endParaRPr lang="en-CA" dirty="0"/>
          </a:p>
        </p:txBody>
      </p:sp>
      <p:sp>
        <p:nvSpPr>
          <p:cNvPr id="19459" name="Content Placeholder 2">
            <a:extLst>
              <a:ext uri="{FF2B5EF4-FFF2-40B4-BE49-F238E27FC236}">
                <a16:creationId xmlns:a16="http://schemas.microsoft.com/office/drawing/2014/main" id="{FCF71ECC-10F1-54F4-D55C-0F244BBD047C}"/>
              </a:ext>
            </a:extLst>
          </p:cNvPr>
          <p:cNvSpPr txBox="1">
            <a:spLocks/>
          </p:cNvSpPr>
          <p:nvPr/>
        </p:nvSpPr>
        <p:spPr bwMode="auto">
          <a:xfrm>
            <a:off x="134938" y="1855788"/>
            <a:ext cx="8170862" cy="158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rgbClr val="FF6600"/>
              </a:buClr>
              <a:buFont typeface="Wingdings 3" panose="05040102010807070707" pitchFamily="18" charset="2"/>
              <a:buNone/>
            </a:pPr>
            <a:r>
              <a:rPr lang="en-CA" altLang="en-US" sz="3200">
                <a:latin typeface="Calibri" panose="020F0502020204030204" pitchFamily="34" charset="0"/>
              </a:rPr>
              <a:t>In a relation, one candidate key </a:t>
            </a:r>
            <a:r>
              <a:rPr lang="en-CA" altLang="en-US" sz="3200" b="1">
                <a:latin typeface="Calibri" panose="020F0502020204030204" pitchFamily="34" charset="0"/>
              </a:rPr>
              <a:t>must</a:t>
            </a:r>
            <a:r>
              <a:rPr lang="en-CA" altLang="en-US" sz="3200">
                <a:latin typeface="Calibri" panose="020F0502020204030204" pitchFamily="34" charset="0"/>
              </a:rPr>
              <a:t> be chosen to be the </a:t>
            </a:r>
            <a:r>
              <a:rPr lang="en-CA" altLang="en-US" sz="3200" b="1">
                <a:latin typeface="Calibri" panose="020F0502020204030204" pitchFamily="34" charset="0"/>
              </a:rPr>
              <a:t>primary key</a:t>
            </a:r>
            <a:r>
              <a:rPr lang="en-CA" altLang="en-US" sz="3200">
                <a:latin typeface="Calibri" panose="020F0502020204030204" pitchFamily="34" charset="0"/>
              </a:rPr>
              <a:t> of the relation. Always </a:t>
            </a:r>
            <a:r>
              <a:rPr lang="en-CA" altLang="en-US" sz="3200" b="1">
                <a:latin typeface="Calibri" panose="020F0502020204030204" pitchFamily="34" charset="0"/>
              </a:rPr>
              <a:t>underline</a:t>
            </a:r>
            <a:r>
              <a:rPr lang="en-CA" altLang="en-US" sz="3200">
                <a:latin typeface="Calibri" panose="020F0502020204030204" pitchFamily="34" charset="0"/>
              </a:rPr>
              <a:t> the primary key in a relation</a:t>
            </a:r>
            <a:endParaRPr lang="en-CA" altLang="en-US" sz="3200" b="1">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32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32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40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p:txBody>
      </p:sp>
      <p:sp>
        <p:nvSpPr>
          <p:cNvPr id="27" name="Snip Single Corner Rectangle 26">
            <a:extLst>
              <a:ext uri="{FF2B5EF4-FFF2-40B4-BE49-F238E27FC236}">
                <a16:creationId xmlns:a16="http://schemas.microsoft.com/office/drawing/2014/main" id="{D7CFB4B9-9679-4C99-F631-B6F8E06808A4}"/>
              </a:ext>
            </a:extLst>
          </p:cNvPr>
          <p:cNvSpPr/>
          <p:nvPr/>
        </p:nvSpPr>
        <p:spPr>
          <a:xfrm>
            <a:off x="134938" y="1376363"/>
            <a:ext cx="1728787" cy="401637"/>
          </a:xfrm>
          <a:prstGeom prst="snip1Rect">
            <a:avLst/>
          </a:prstGeom>
          <a:solidFill>
            <a:schemeClr val="accent5">
              <a:alpha val="70000"/>
            </a:schemeClr>
          </a:solidFill>
          <a:ln>
            <a:solidFill>
              <a:schemeClr val="accent5"/>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indent="-342900" algn="just" eaLnBrk="1" hangingPunct="1">
              <a:spcBef>
                <a:spcPct val="20000"/>
              </a:spcBef>
              <a:buClr>
                <a:srgbClr val="FF6600"/>
              </a:buClr>
              <a:buSzPct val="100000"/>
              <a:defRPr/>
            </a:pPr>
            <a:r>
              <a:rPr lang="en-US" dirty="0">
                <a:latin typeface="Arial" pitchFamily="34" charset="0"/>
                <a:ea typeface="Times New Roman" pitchFamily="18" charset="0"/>
                <a:cs typeface="Arial" pitchFamily="34" charset="0"/>
              </a:rPr>
              <a:t>Key Constraint</a:t>
            </a:r>
            <a:endParaRPr lang="en-GB" kern="0" dirty="0">
              <a:solidFill>
                <a:schemeClr val="tx1"/>
              </a:solidFill>
            </a:endParaRPr>
          </a:p>
        </p:txBody>
      </p:sp>
      <p:graphicFrame>
        <p:nvGraphicFramePr>
          <p:cNvPr id="28" name="Table 27">
            <a:extLst>
              <a:ext uri="{FF2B5EF4-FFF2-40B4-BE49-F238E27FC236}">
                <a16:creationId xmlns:a16="http://schemas.microsoft.com/office/drawing/2014/main" id="{E0EB6445-83B9-D152-4B58-332DC8667A24}"/>
              </a:ext>
            </a:extLst>
          </p:cNvPr>
          <p:cNvGraphicFramePr>
            <a:graphicFrameLocks noGrp="1"/>
          </p:cNvGraphicFramePr>
          <p:nvPr/>
        </p:nvGraphicFramePr>
        <p:xfrm>
          <a:off x="207963" y="3584575"/>
          <a:ext cx="4968875" cy="2295525"/>
        </p:xfrm>
        <a:graphic>
          <a:graphicData uri="http://schemas.openxmlformats.org/drawingml/2006/table">
            <a:tbl>
              <a:tblPr firstRow="1" bandRow="1">
                <a:tableStyleId>{3B4B98B0-60AC-42C2-AFA5-B58CD77FA1E5}</a:tableStyleId>
              </a:tblPr>
              <a:tblGrid>
                <a:gridCol w="1648498">
                  <a:extLst>
                    <a:ext uri="{9D8B030D-6E8A-4147-A177-3AD203B41FA5}">
                      <a16:colId xmlns:a16="http://schemas.microsoft.com/office/drawing/2014/main" val="20000"/>
                    </a:ext>
                  </a:extLst>
                </a:gridCol>
                <a:gridCol w="1648498">
                  <a:extLst>
                    <a:ext uri="{9D8B030D-6E8A-4147-A177-3AD203B41FA5}">
                      <a16:colId xmlns:a16="http://schemas.microsoft.com/office/drawing/2014/main" val="20001"/>
                    </a:ext>
                  </a:extLst>
                </a:gridCol>
                <a:gridCol w="1671879">
                  <a:extLst>
                    <a:ext uri="{9D8B030D-6E8A-4147-A177-3AD203B41FA5}">
                      <a16:colId xmlns:a16="http://schemas.microsoft.com/office/drawing/2014/main" val="20002"/>
                    </a:ext>
                  </a:extLst>
                </a:gridCol>
              </a:tblGrid>
              <a:tr h="573881">
                <a:tc>
                  <a:txBody>
                    <a:bodyPr/>
                    <a:lstStyle/>
                    <a:p>
                      <a:pPr algn="ctr"/>
                      <a:r>
                        <a:rPr lang="en-CA" sz="1800" dirty="0"/>
                        <a:t>STUDENTID</a:t>
                      </a:r>
                    </a:p>
                  </a:txBody>
                  <a:tcPr marL="91446" marR="91446" marT="45731" marB="45731"/>
                </a:tc>
                <a:tc>
                  <a:txBody>
                    <a:bodyPr/>
                    <a:lstStyle/>
                    <a:p>
                      <a:pPr algn="ctr"/>
                      <a:r>
                        <a:rPr lang="en-CA" sz="1800" dirty="0"/>
                        <a:t>ICNUMBER</a:t>
                      </a:r>
                    </a:p>
                  </a:txBody>
                  <a:tcPr marL="91446" marR="91446" marT="45731" marB="45731"/>
                </a:tc>
                <a:tc>
                  <a:txBody>
                    <a:bodyPr/>
                    <a:lstStyle/>
                    <a:p>
                      <a:pPr algn="ctr"/>
                      <a:r>
                        <a:rPr lang="en-CA" sz="1800" dirty="0"/>
                        <a:t>NAME</a:t>
                      </a:r>
                    </a:p>
                  </a:txBody>
                  <a:tcPr marL="91446" marR="91446" marT="45731" marB="45731"/>
                </a:tc>
                <a:extLst>
                  <a:ext uri="{0D108BD9-81ED-4DB2-BD59-A6C34878D82A}">
                    <a16:rowId xmlns:a16="http://schemas.microsoft.com/office/drawing/2014/main" val="10000"/>
                  </a:ext>
                </a:extLst>
              </a:tr>
              <a:tr h="573881">
                <a:tc>
                  <a:txBody>
                    <a:bodyPr/>
                    <a:lstStyle/>
                    <a:p>
                      <a:pPr algn="ctr"/>
                      <a:r>
                        <a:rPr lang="en-CA" sz="1800" dirty="0"/>
                        <a:t>1</a:t>
                      </a:r>
                    </a:p>
                  </a:txBody>
                  <a:tcPr marL="91446" marR="91446" marT="45731" marB="45731"/>
                </a:tc>
                <a:tc>
                  <a:txBody>
                    <a:bodyPr/>
                    <a:lstStyle/>
                    <a:p>
                      <a:pPr algn="ctr"/>
                      <a:r>
                        <a:rPr lang="en-CA" sz="1800" dirty="0"/>
                        <a:t>123-321</a:t>
                      </a:r>
                    </a:p>
                  </a:txBody>
                  <a:tcPr marL="91446" marR="91446" marT="45731" marB="45731"/>
                </a:tc>
                <a:tc>
                  <a:txBody>
                    <a:bodyPr/>
                    <a:lstStyle/>
                    <a:p>
                      <a:r>
                        <a:rPr lang="en-CA" sz="1800" dirty="0"/>
                        <a:t>Talha Amjad</a:t>
                      </a:r>
                    </a:p>
                  </a:txBody>
                  <a:tcPr marL="91446" marR="91446" marT="45731" marB="45731"/>
                </a:tc>
                <a:extLst>
                  <a:ext uri="{0D108BD9-81ED-4DB2-BD59-A6C34878D82A}">
                    <a16:rowId xmlns:a16="http://schemas.microsoft.com/office/drawing/2014/main" val="10001"/>
                  </a:ext>
                </a:extLst>
              </a:tr>
              <a:tr h="573881">
                <a:tc>
                  <a:txBody>
                    <a:bodyPr/>
                    <a:lstStyle/>
                    <a:p>
                      <a:pPr algn="ctr"/>
                      <a:r>
                        <a:rPr lang="en-CA" sz="1800" dirty="0"/>
                        <a:t>2</a:t>
                      </a:r>
                    </a:p>
                  </a:txBody>
                  <a:tcPr marL="91446" marR="91446" marT="45731" marB="45731"/>
                </a:tc>
                <a:tc>
                  <a:txBody>
                    <a:bodyPr/>
                    <a:lstStyle/>
                    <a:p>
                      <a:pPr algn="ctr"/>
                      <a:r>
                        <a:rPr lang="en-CA" sz="1800" dirty="0"/>
                        <a:t>321-123</a:t>
                      </a:r>
                    </a:p>
                  </a:txBody>
                  <a:tcPr marL="91446" marR="91446" marT="45731" marB="45731"/>
                </a:tc>
                <a:tc>
                  <a:txBody>
                    <a:bodyPr/>
                    <a:lstStyle/>
                    <a:p>
                      <a:r>
                        <a:rPr lang="en-CA" sz="1800" dirty="0"/>
                        <a:t>Sara Saleem</a:t>
                      </a:r>
                    </a:p>
                  </a:txBody>
                  <a:tcPr marL="91446" marR="91446" marT="45731" marB="45731"/>
                </a:tc>
                <a:extLst>
                  <a:ext uri="{0D108BD9-81ED-4DB2-BD59-A6C34878D82A}">
                    <a16:rowId xmlns:a16="http://schemas.microsoft.com/office/drawing/2014/main" val="10002"/>
                  </a:ext>
                </a:extLst>
              </a:tr>
              <a:tr h="573881">
                <a:tc>
                  <a:txBody>
                    <a:bodyPr/>
                    <a:lstStyle/>
                    <a:p>
                      <a:pPr algn="ctr"/>
                      <a:r>
                        <a:rPr lang="en-CA" sz="1800" dirty="0"/>
                        <a:t>3</a:t>
                      </a:r>
                    </a:p>
                  </a:txBody>
                  <a:tcPr marL="91446" marR="91446" marT="45731" marB="45731"/>
                </a:tc>
                <a:tc>
                  <a:txBody>
                    <a:bodyPr/>
                    <a:lstStyle/>
                    <a:p>
                      <a:pPr algn="ctr"/>
                      <a:r>
                        <a:rPr lang="en-CA" sz="1800" dirty="0"/>
                        <a:t>132-231</a:t>
                      </a:r>
                    </a:p>
                  </a:txBody>
                  <a:tcPr marL="91446" marR="91446" marT="45731" marB="45731"/>
                </a:tc>
                <a:tc>
                  <a:txBody>
                    <a:bodyPr/>
                    <a:lstStyle/>
                    <a:p>
                      <a:r>
                        <a:rPr lang="en-CA" sz="1800" dirty="0"/>
                        <a:t>Aqib Ali</a:t>
                      </a:r>
                    </a:p>
                  </a:txBody>
                  <a:tcPr marL="91446" marR="91446" marT="45731" marB="45731"/>
                </a:tc>
                <a:extLst>
                  <a:ext uri="{0D108BD9-81ED-4DB2-BD59-A6C34878D82A}">
                    <a16:rowId xmlns:a16="http://schemas.microsoft.com/office/drawing/2014/main" val="10003"/>
                  </a:ext>
                </a:extLst>
              </a:tr>
            </a:tbl>
          </a:graphicData>
        </a:graphic>
      </p:graphicFrame>
      <p:sp>
        <p:nvSpPr>
          <p:cNvPr id="19477" name="TextBox 28">
            <a:extLst>
              <a:ext uri="{FF2B5EF4-FFF2-40B4-BE49-F238E27FC236}">
                <a16:creationId xmlns:a16="http://schemas.microsoft.com/office/drawing/2014/main" id="{5094F390-4336-4C99-AF56-BEE72DED3A17}"/>
              </a:ext>
            </a:extLst>
          </p:cNvPr>
          <p:cNvSpPr txBox="1">
            <a:spLocks noChangeArrowheads="1"/>
          </p:cNvSpPr>
          <p:nvPr/>
        </p:nvSpPr>
        <p:spPr bwMode="auto">
          <a:xfrm>
            <a:off x="1571625" y="5878513"/>
            <a:ext cx="22415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CA" altLang="en-US"/>
              <a:t>Student relation</a:t>
            </a:r>
          </a:p>
        </p:txBody>
      </p:sp>
      <p:sp>
        <p:nvSpPr>
          <p:cNvPr id="30" name="TextBox 29">
            <a:extLst>
              <a:ext uri="{FF2B5EF4-FFF2-40B4-BE49-F238E27FC236}">
                <a16:creationId xmlns:a16="http://schemas.microsoft.com/office/drawing/2014/main" id="{85CD0F3B-6551-AA08-8A63-DB62B58B7E13}"/>
              </a:ext>
            </a:extLst>
          </p:cNvPr>
          <p:cNvSpPr txBox="1"/>
          <p:nvPr/>
        </p:nvSpPr>
        <p:spPr>
          <a:xfrm>
            <a:off x="5486400" y="3716338"/>
            <a:ext cx="2819400" cy="2032000"/>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p>
            <a:pPr>
              <a:defRPr/>
            </a:pPr>
            <a:r>
              <a:rPr lang="en-CA" dirty="0"/>
              <a:t>Candidate keys</a:t>
            </a:r>
          </a:p>
          <a:p>
            <a:pPr marL="742950" lvl="1" indent="-285750">
              <a:buFont typeface="Arial" pitchFamily="34" charset="0"/>
              <a:buChar char="•"/>
              <a:defRPr/>
            </a:pPr>
            <a:r>
              <a:rPr lang="en-CA" dirty="0"/>
              <a:t>STUDENTID</a:t>
            </a:r>
          </a:p>
          <a:p>
            <a:pPr marL="742950" lvl="1" indent="-285750">
              <a:buFont typeface="Arial" pitchFamily="34" charset="0"/>
              <a:buChar char="•"/>
              <a:defRPr/>
            </a:pPr>
            <a:r>
              <a:rPr lang="en-CA" dirty="0" err="1"/>
              <a:t>ICNumber</a:t>
            </a:r>
            <a:endParaRPr lang="en-CA" dirty="0"/>
          </a:p>
          <a:p>
            <a:pPr marL="742950" lvl="1" indent="-285750">
              <a:buFont typeface="Arial" pitchFamily="34" charset="0"/>
              <a:buChar char="•"/>
              <a:defRPr/>
            </a:pPr>
            <a:endParaRPr lang="en-CA" dirty="0"/>
          </a:p>
          <a:p>
            <a:pPr>
              <a:defRPr/>
            </a:pPr>
            <a:r>
              <a:rPr lang="en-CA" dirty="0"/>
              <a:t>Primary key</a:t>
            </a:r>
          </a:p>
          <a:p>
            <a:pPr marL="742950" lvl="1" indent="-285750">
              <a:buFont typeface="Arial" pitchFamily="34" charset="0"/>
              <a:buChar char="•"/>
              <a:defRPr/>
            </a:pPr>
            <a:r>
              <a:rPr lang="en-CA" dirty="0"/>
              <a:t>Either STUDENTID or </a:t>
            </a:r>
            <a:r>
              <a:rPr lang="en-CA" dirty="0" err="1"/>
              <a:t>ICNumber</a:t>
            </a:r>
            <a:endParaRPr lang="en-CA" dirty="0"/>
          </a:p>
        </p:txBody>
      </p:sp>
      <p:cxnSp>
        <p:nvCxnSpPr>
          <p:cNvPr id="4" name="Straight Connector 3">
            <a:extLst>
              <a:ext uri="{FF2B5EF4-FFF2-40B4-BE49-F238E27FC236}">
                <a16:creationId xmlns:a16="http://schemas.microsoft.com/office/drawing/2014/main" id="{96914615-CE1A-980D-3A73-F4A6B54718CB}"/>
              </a:ext>
            </a:extLst>
          </p:cNvPr>
          <p:cNvCxnSpPr/>
          <p:nvPr/>
        </p:nvCxnSpPr>
        <p:spPr bwMode="auto">
          <a:xfrm>
            <a:off x="2079625" y="3922713"/>
            <a:ext cx="1187450" cy="0"/>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10777-2B11-7048-80A8-661E0ED98259}"/>
              </a:ext>
            </a:extLst>
          </p:cNvPr>
          <p:cNvSpPr>
            <a:spLocks noGrp="1"/>
          </p:cNvSpPr>
          <p:nvPr>
            <p:ph type="title"/>
          </p:nvPr>
        </p:nvSpPr>
        <p:spPr>
          <a:xfrm>
            <a:off x="457200" y="0"/>
            <a:ext cx="7620000" cy="1143000"/>
          </a:xfrm>
        </p:spPr>
        <p:txBody>
          <a:bodyPr/>
          <a:lstStyle/>
          <a:p>
            <a:pPr algn="ctr">
              <a:defRPr/>
            </a:pPr>
            <a:r>
              <a:rPr lang="en-US" dirty="0"/>
              <a:t>Relational Constraints</a:t>
            </a:r>
            <a:endParaRPr lang="en-CA" dirty="0"/>
          </a:p>
        </p:txBody>
      </p:sp>
      <p:sp>
        <p:nvSpPr>
          <p:cNvPr id="20483" name="Content Placeholder 2">
            <a:extLst>
              <a:ext uri="{FF2B5EF4-FFF2-40B4-BE49-F238E27FC236}">
                <a16:creationId xmlns:a16="http://schemas.microsoft.com/office/drawing/2014/main" id="{A1382A79-7972-8616-F384-573433F003CF}"/>
              </a:ext>
            </a:extLst>
          </p:cNvPr>
          <p:cNvSpPr txBox="1">
            <a:spLocks/>
          </p:cNvSpPr>
          <p:nvPr/>
        </p:nvSpPr>
        <p:spPr bwMode="auto">
          <a:xfrm>
            <a:off x="109538" y="1790700"/>
            <a:ext cx="8196262" cy="148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rgbClr val="FF6600"/>
              </a:buClr>
              <a:buFont typeface="Wingdings 3" panose="05040102010807070707" pitchFamily="18" charset="2"/>
              <a:buNone/>
            </a:pPr>
            <a:r>
              <a:rPr lang="en-CA" altLang="en-US" sz="3200">
                <a:latin typeface="Calibri" panose="020F0502020204030204" pitchFamily="34" charset="0"/>
              </a:rPr>
              <a:t>In a relation, one candidate key </a:t>
            </a:r>
            <a:r>
              <a:rPr lang="en-CA" altLang="en-US" sz="3200" b="1">
                <a:latin typeface="Calibri" panose="020F0502020204030204" pitchFamily="34" charset="0"/>
              </a:rPr>
              <a:t>must</a:t>
            </a:r>
            <a:r>
              <a:rPr lang="en-CA" altLang="en-US" sz="3200">
                <a:latin typeface="Calibri" panose="020F0502020204030204" pitchFamily="34" charset="0"/>
              </a:rPr>
              <a:t> be chosen to be the </a:t>
            </a:r>
            <a:r>
              <a:rPr lang="en-CA" altLang="en-US" sz="3200" b="1">
                <a:latin typeface="Calibri" panose="020F0502020204030204" pitchFamily="34" charset="0"/>
              </a:rPr>
              <a:t>primary key</a:t>
            </a:r>
            <a:r>
              <a:rPr lang="en-CA" altLang="en-US" sz="3200">
                <a:latin typeface="Calibri" panose="020F0502020204030204" pitchFamily="34" charset="0"/>
              </a:rPr>
              <a:t> of the relation. Always </a:t>
            </a:r>
            <a:r>
              <a:rPr lang="en-CA" altLang="en-US" sz="3200" b="1">
                <a:latin typeface="Calibri" panose="020F0502020204030204" pitchFamily="34" charset="0"/>
              </a:rPr>
              <a:t>underline</a:t>
            </a:r>
            <a:r>
              <a:rPr lang="en-CA" altLang="en-US" sz="3200">
                <a:latin typeface="Calibri" panose="020F0502020204030204" pitchFamily="34" charset="0"/>
              </a:rPr>
              <a:t> the primary key in a relation</a:t>
            </a:r>
            <a:endParaRPr lang="en-CA" altLang="en-US" sz="3200" b="1">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32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32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40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p:txBody>
      </p:sp>
      <p:sp>
        <p:nvSpPr>
          <p:cNvPr id="27" name="Snip Single Corner Rectangle 26">
            <a:extLst>
              <a:ext uri="{FF2B5EF4-FFF2-40B4-BE49-F238E27FC236}">
                <a16:creationId xmlns:a16="http://schemas.microsoft.com/office/drawing/2014/main" id="{DF11EDED-021A-6AC4-B826-E177E9C402EA}"/>
              </a:ext>
            </a:extLst>
          </p:cNvPr>
          <p:cNvSpPr/>
          <p:nvPr/>
        </p:nvSpPr>
        <p:spPr>
          <a:xfrm>
            <a:off x="180975" y="1374775"/>
            <a:ext cx="1728788" cy="401638"/>
          </a:xfrm>
          <a:prstGeom prst="snip1Rect">
            <a:avLst/>
          </a:prstGeom>
          <a:solidFill>
            <a:schemeClr val="accent5">
              <a:alpha val="70000"/>
            </a:schemeClr>
          </a:solidFill>
          <a:ln>
            <a:solidFill>
              <a:schemeClr val="accent5"/>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indent="-342900" algn="just" eaLnBrk="1" hangingPunct="1">
              <a:spcBef>
                <a:spcPct val="20000"/>
              </a:spcBef>
              <a:buClr>
                <a:srgbClr val="FF6600"/>
              </a:buClr>
              <a:buSzPct val="100000"/>
              <a:defRPr/>
            </a:pPr>
            <a:r>
              <a:rPr lang="en-US" dirty="0">
                <a:latin typeface="Arial" pitchFamily="34" charset="0"/>
                <a:ea typeface="Times New Roman" pitchFamily="18" charset="0"/>
                <a:cs typeface="Arial" pitchFamily="34" charset="0"/>
              </a:rPr>
              <a:t>Key Constraint</a:t>
            </a:r>
            <a:endParaRPr lang="en-GB" kern="0" dirty="0">
              <a:solidFill>
                <a:schemeClr val="tx1"/>
              </a:solidFill>
            </a:endParaRPr>
          </a:p>
        </p:txBody>
      </p:sp>
      <p:graphicFrame>
        <p:nvGraphicFramePr>
          <p:cNvPr id="28" name="Table 27">
            <a:extLst>
              <a:ext uri="{FF2B5EF4-FFF2-40B4-BE49-F238E27FC236}">
                <a16:creationId xmlns:a16="http://schemas.microsoft.com/office/drawing/2014/main" id="{5831325B-FC50-A2BA-8CE6-7D51B20C1AC5}"/>
              </a:ext>
            </a:extLst>
          </p:cNvPr>
          <p:cNvGraphicFramePr>
            <a:graphicFrameLocks noGrp="1"/>
          </p:cNvGraphicFramePr>
          <p:nvPr/>
        </p:nvGraphicFramePr>
        <p:xfrm>
          <a:off x="180975" y="3519488"/>
          <a:ext cx="4968875" cy="2295524"/>
        </p:xfrm>
        <a:graphic>
          <a:graphicData uri="http://schemas.openxmlformats.org/drawingml/2006/table">
            <a:tbl>
              <a:tblPr firstRow="1" bandRow="1">
                <a:tableStyleId>{3B4B98B0-60AC-42C2-AFA5-B58CD77FA1E5}</a:tableStyleId>
              </a:tblPr>
              <a:tblGrid>
                <a:gridCol w="1648498">
                  <a:extLst>
                    <a:ext uri="{9D8B030D-6E8A-4147-A177-3AD203B41FA5}">
                      <a16:colId xmlns:a16="http://schemas.microsoft.com/office/drawing/2014/main" val="20000"/>
                    </a:ext>
                  </a:extLst>
                </a:gridCol>
                <a:gridCol w="1648498">
                  <a:extLst>
                    <a:ext uri="{9D8B030D-6E8A-4147-A177-3AD203B41FA5}">
                      <a16:colId xmlns:a16="http://schemas.microsoft.com/office/drawing/2014/main" val="20001"/>
                    </a:ext>
                  </a:extLst>
                </a:gridCol>
                <a:gridCol w="1671879">
                  <a:extLst>
                    <a:ext uri="{9D8B030D-6E8A-4147-A177-3AD203B41FA5}">
                      <a16:colId xmlns:a16="http://schemas.microsoft.com/office/drawing/2014/main" val="20002"/>
                    </a:ext>
                  </a:extLst>
                </a:gridCol>
              </a:tblGrid>
              <a:tr h="573881">
                <a:tc>
                  <a:txBody>
                    <a:bodyPr/>
                    <a:lstStyle/>
                    <a:p>
                      <a:pPr algn="ctr"/>
                      <a:r>
                        <a:rPr lang="en-CA" sz="1800" dirty="0"/>
                        <a:t>STUDENTID</a:t>
                      </a:r>
                    </a:p>
                  </a:txBody>
                  <a:tcPr marL="91446" marR="91446" marT="45731" marB="45731"/>
                </a:tc>
                <a:tc>
                  <a:txBody>
                    <a:bodyPr/>
                    <a:lstStyle/>
                    <a:p>
                      <a:pPr algn="ctr"/>
                      <a:r>
                        <a:rPr lang="en-CA" sz="1800" dirty="0"/>
                        <a:t>ICNUMBER</a:t>
                      </a:r>
                    </a:p>
                  </a:txBody>
                  <a:tcPr marL="91446" marR="91446" marT="45731" marB="45731"/>
                </a:tc>
                <a:tc>
                  <a:txBody>
                    <a:bodyPr/>
                    <a:lstStyle/>
                    <a:p>
                      <a:pPr algn="ctr"/>
                      <a:r>
                        <a:rPr lang="en-CA" sz="1800" dirty="0"/>
                        <a:t>NAME</a:t>
                      </a:r>
                    </a:p>
                  </a:txBody>
                  <a:tcPr marL="91446" marR="91446" marT="45731" marB="45731"/>
                </a:tc>
                <a:extLst>
                  <a:ext uri="{0D108BD9-81ED-4DB2-BD59-A6C34878D82A}">
                    <a16:rowId xmlns:a16="http://schemas.microsoft.com/office/drawing/2014/main" val="10000"/>
                  </a:ext>
                </a:extLst>
              </a:tr>
              <a:tr h="573881">
                <a:tc>
                  <a:txBody>
                    <a:bodyPr/>
                    <a:lstStyle/>
                    <a:p>
                      <a:pPr algn="ctr"/>
                      <a:r>
                        <a:rPr lang="en-CA" sz="1800" dirty="0"/>
                        <a:t>1</a:t>
                      </a:r>
                    </a:p>
                  </a:txBody>
                  <a:tcPr marL="91446" marR="91446" marT="45731" marB="45731"/>
                </a:tc>
                <a:tc>
                  <a:txBody>
                    <a:bodyPr/>
                    <a:lstStyle/>
                    <a:p>
                      <a:pPr algn="ctr"/>
                      <a:r>
                        <a:rPr lang="en-CA" sz="1800" dirty="0"/>
                        <a:t>123-321</a:t>
                      </a:r>
                    </a:p>
                  </a:txBody>
                  <a:tcPr marL="91446" marR="91446" marT="45731" marB="45731"/>
                </a:tc>
                <a:tc>
                  <a:txBody>
                    <a:bodyPr/>
                    <a:lstStyle/>
                    <a:p>
                      <a:r>
                        <a:rPr lang="en-CA" sz="1800" dirty="0"/>
                        <a:t>Talha Amjad</a:t>
                      </a:r>
                    </a:p>
                  </a:txBody>
                  <a:tcPr marL="91446" marR="91446" marT="45731" marB="45731"/>
                </a:tc>
                <a:extLst>
                  <a:ext uri="{0D108BD9-81ED-4DB2-BD59-A6C34878D82A}">
                    <a16:rowId xmlns:a16="http://schemas.microsoft.com/office/drawing/2014/main" val="10001"/>
                  </a:ext>
                </a:extLst>
              </a:tr>
              <a:tr h="573881">
                <a:tc>
                  <a:txBody>
                    <a:bodyPr/>
                    <a:lstStyle/>
                    <a:p>
                      <a:pPr algn="ctr"/>
                      <a:r>
                        <a:rPr lang="en-CA" sz="1800" dirty="0"/>
                        <a:t>2</a:t>
                      </a:r>
                    </a:p>
                  </a:txBody>
                  <a:tcPr marL="91446" marR="91446" marT="45731" marB="45731"/>
                </a:tc>
                <a:tc>
                  <a:txBody>
                    <a:bodyPr/>
                    <a:lstStyle/>
                    <a:p>
                      <a:pPr algn="ctr"/>
                      <a:r>
                        <a:rPr lang="en-CA" sz="1800" dirty="0"/>
                        <a:t>321-123</a:t>
                      </a:r>
                    </a:p>
                  </a:txBody>
                  <a:tcPr marL="91446" marR="91446" marT="45731" marB="45731"/>
                </a:tc>
                <a:tc>
                  <a:txBody>
                    <a:bodyPr/>
                    <a:lstStyle/>
                    <a:p>
                      <a:r>
                        <a:rPr lang="en-CA" sz="1800" dirty="0"/>
                        <a:t>Sara Saleem</a:t>
                      </a:r>
                    </a:p>
                  </a:txBody>
                  <a:tcPr marL="91446" marR="91446" marT="45731" marB="45731"/>
                </a:tc>
                <a:extLst>
                  <a:ext uri="{0D108BD9-81ED-4DB2-BD59-A6C34878D82A}">
                    <a16:rowId xmlns:a16="http://schemas.microsoft.com/office/drawing/2014/main" val="10002"/>
                  </a:ext>
                </a:extLst>
              </a:tr>
              <a:tr h="573881">
                <a:tc>
                  <a:txBody>
                    <a:bodyPr/>
                    <a:lstStyle/>
                    <a:p>
                      <a:pPr algn="ctr"/>
                      <a:r>
                        <a:rPr lang="en-CA" sz="1800" dirty="0"/>
                        <a:t>3</a:t>
                      </a:r>
                    </a:p>
                  </a:txBody>
                  <a:tcPr marL="91446" marR="91446" marT="45731" marB="45731"/>
                </a:tc>
                <a:tc>
                  <a:txBody>
                    <a:bodyPr/>
                    <a:lstStyle/>
                    <a:p>
                      <a:pPr algn="ctr"/>
                      <a:r>
                        <a:rPr lang="en-CA" sz="1800" dirty="0"/>
                        <a:t>132-231</a:t>
                      </a:r>
                    </a:p>
                  </a:txBody>
                  <a:tcPr marL="91446" marR="91446" marT="45731" marB="45731"/>
                </a:tc>
                <a:tc>
                  <a:txBody>
                    <a:bodyPr/>
                    <a:lstStyle/>
                    <a:p>
                      <a:r>
                        <a:rPr lang="en-CA" sz="1800" dirty="0"/>
                        <a:t>Aqib Ali</a:t>
                      </a:r>
                    </a:p>
                  </a:txBody>
                  <a:tcPr marL="91446" marR="91446" marT="45731" marB="45731"/>
                </a:tc>
                <a:extLst>
                  <a:ext uri="{0D108BD9-81ED-4DB2-BD59-A6C34878D82A}">
                    <a16:rowId xmlns:a16="http://schemas.microsoft.com/office/drawing/2014/main" val="10003"/>
                  </a:ext>
                </a:extLst>
              </a:tr>
            </a:tbl>
          </a:graphicData>
        </a:graphic>
      </p:graphicFrame>
      <p:sp>
        <p:nvSpPr>
          <p:cNvPr id="20501" name="TextBox 28">
            <a:extLst>
              <a:ext uri="{FF2B5EF4-FFF2-40B4-BE49-F238E27FC236}">
                <a16:creationId xmlns:a16="http://schemas.microsoft.com/office/drawing/2014/main" id="{C341FAC2-8598-889E-8B16-CB6C09E1D05A}"/>
              </a:ext>
            </a:extLst>
          </p:cNvPr>
          <p:cNvSpPr txBox="1">
            <a:spLocks noChangeArrowheads="1"/>
          </p:cNvSpPr>
          <p:nvPr/>
        </p:nvSpPr>
        <p:spPr bwMode="auto">
          <a:xfrm>
            <a:off x="1544638" y="5813425"/>
            <a:ext cx="22415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CA" altLang="en-US"/>
              <a:t>Student relation</a:t>
            </a:r>
          </a:p>
        </p:txBody>
      </p:sp>
      <p:sp>
        <p:nvSpPr>
          <p:cNvPr id="30" name="TextBox 29">
            <a:extLst>
              <a:ext uri="{FF2B5EF4-FFF2-40B4-BE49-F238E27FC236}">
                <a16:creationId xmlns:a16="http://schemas.microsoft.com/office/drawing/2014/main" id="{DD030D2D-99AE-BBE6-5B9B-E0C794C80130}"/>
              </a:ext>
            </a:extLst>
          </p:cNvPr>
          <p:cNvSpPr txBox="1"/>
          <p:nvPr/>
        </p:nvSpPr>
        <p:spPr>
          <a:xfrm>
            <a:off x="5354638" y="3651250"/>
            <a:ext cx="2951162" cy="2030413"/>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p>
            <a:pPr>
              <a:defRPr/>
            </a:pPr>
            <a:r>
              <a:rPr lang="en-CA" dirty="0"/>
              <a:t>Candidate keys</a:t>
            </a:r>
          </a:p>
          <a:p>
            <a:pPr marL="742950" lvl="1" indent="-285750">
              <a:buFont typeface="Arial" pitchFamily="34" charset="0"/>
              <a:buChar char="•"/>
              <a:defRPr/>
            </a:pPr>
            <a:r>
              <a:rPr lang="en-CA" dirty="0"/>
              <a:t>STUDENTID</a:t>
            </a:r>
          </a:p>
          <a:p>
            <a:pPr marL="742950" lvl="1" indent="-285750">
              <a:buFont typeface="Arial" pitchFamily="34" charset="0"/>
              <a:buChar char="•"/>
              <a:defRPr/>
            </a:pPr>
            <a:r>
              <a:rPr lang="en-CA" dirty="0" err="1"/>
              <a:t>ICNumber</a:t>
            </a:r>
            <a:endParaRPr lang="en-CA" dirty="0"/>
          </a:p>
          <a:p>
            <a:pPr marL="742950" lvl="1" indent="-285750">
              <a:buFont typeface="Arial" pitchFamily="34" charset="0"/>
              <a:buChar char="•"/>
              <a:defRPr/>
            </a:pPr>
            <a:endParaRPr lang="en-CA" dirty="0"/>
          </a:p>
          <a:p>
            <a:pPr>
              <a:defRPr/>
            </a:pPr>
            <a:r>
              <a:rPr lang="en-CA" dirty="0"/>
              <a:t>Primary key</a:t>
            </a:r>
          </a:p>
          <a:p>
            <a:pPr marL="742950" lvl="1" indent="-285750">
              <a:buFont typeface="Arial" pitchFamily="34" charset="0"/>
              <a:buChar char="•"/>
              <a:defRPr/>
            </a:pPr>
            <a:r>
              <a:rPr lang="en-CA" dirty="0"/>
              <a:t>Either STUDENTID or </a:t>
            </a:r>
            <a:r>
              <a:rPr lang="en-CA" dirty="0" err="1"/>
              <a:t>ICNumber</a:t>
            </a:r>
            <a:endParaRPr lang="en-CA" dirty="0"/>
          </a:p>
        </p:txBody>
      </p:sp>
      <p:cxnSp>
        <p:nvCxnSpPr>
          <p:cNvPr id="4" name="Straight Connector 3">
            <a:extLst>
              <a:ext uri="{FF2B5EF4-FFF2-40B4-BE49-F238E27FC236}">
                <a16:creationId xmlns:a16="http://schemas.microsoft.com/office/drawing/2014/main" id="{81B921EC-0F37-5435-73B3-D82FBAC33FC1}"/>
              </a:ext>
            </a:extLst>
          </p:cNvPr>
          <p:cNvCxnSpPr/>
          <p:nvPr/>
        </p:nvCxnSpPr>
        <p:spPr bwMode="auto">
          <a:xfrm>
            <a:off x="336550" y="3843338"/>
            <a:ext cx="1296988" cy="0"/>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18" name="Straight Connector 17">
            <a:extLst>
              <a:ext uri="{FF2B5EF4-FFF2-40B4-BE49-F238E27FC236}">
                <a16:creationId xmlns:a16="http://schemas.microsoft.com/office/drawing/2014/main" id="{89DD704D-1562-D9C3-A3DA-D092A1AE8D02}"/>
              </a:ext>
            </a:extLst>
          </p:cNvPr>
          <p:cNvCxnSpPr/>
          <p:nvPr/>
        </p:nvCxnSpPr>
        <p:spPr bwMode="auto">
          <a:xfrm>
            <a:off x="2017713" y="3843338"/>
            <a:ext cx="1295400" cy="0"/>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19" name="Multiply 18">
            <a:extLst>
              <a:ext uri="{FF2B5EF4-FFF2-40B4-BE49-F238E27FC236}">
                <a16:creationId xmlns:a16="http://schemas.microsoft.com/office/drawing/2014/main" id="{B968A748-4A65-3480-B5E1-2480E9A3562E}"/>
              </a:ext>
            </a:extLst>
          </p:cNvPr>
          <p:cNvSpPr/>
          <p:nvPr/>
        </p:nvSpPr>
        <p:spPr bwMode="auto">
          <a:xfrm>
            <a:off x="1062038" y="3549650"/>
            <a:ext cx="3206750" cy="2235200"/>
          </a:xfrm>
          <a:prstGeom prst="mathMultiply">
            <a:avLst/>
          </a:prstGeom>
          <a:solidFill>
            <a:srgbClr val="B50C00"/>
          </a:solidFill>
          <a:ln w="9525" cap="flat" cmpd="sng" algn="ctr">
            <a:solidFill>
              <a:schemeClr val="tx1"/>
            </a:solidFill>
            <a:prstDash val="solid"/>
            <a:round/>
            <a:headEnd type="none" w="med" len="med"/>
            <a:tailEnd type="none" w="med" len="med"/>
          </a:ln>
          <a:effectLst/>
        </p:spPr>
        <p:txBody>
          <a:bodyPr/>
          <a:lstStyle/>
          <a:p>
            <a:pPr>
              <a:defRPr/>
            </a:pPr>
            <a:endParaRPr lang="en-CA">
              <a:latin typeface="Arial"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par>
                                <p:cTn id="8" presetID="22" presetClass="entr" presetSubtype="8" fill="hold"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wipe(left)">
                                      <p:cBhvr>
                                        <p:cTn id="10" dur="500"/>
                                        <p:tgtEl>
                                          <p:spTgt spid="18"/>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0"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C2FE5-E037-C988-00A0-A1E9A5C02564}"/>
              </a:ext>
            </a:extLst>
          </p:cNvPr>
          <p:cNvSpPr>
            <a:spLocks noGrp="1"/>
          </p:cNvSpPr>
          <p:nvPr>
            <p:ph type="title"/>
          </p:nvPr>
        </p:nvSpPr>
        <p:spPr>
          <a:xfrm>
            <a:off x="457200" y="0"/>
            <a:ext cx="7620000" cy="1143000"/>
          </a:xfrm>
        </p:spPr>
        <p:txBody>
          <a:bodyPr/>
          <a:lstStyle/>
          <a:p>
            <a:pPr algn="ctr">
              <a:defRPr/>
            </a:pPr>
            <a:r>
              <a:rPr lang="en-US" dirty="0"/>
              <a:t>Relational Constraints</a:t>
            </a:r>
            <a:endParaRPr lang="en-CA" dirty="0"/>
          </a:p>
        </p:txBody>
      </p:sp>
      <p:sp>
        <p:nvSpPr>
          <p:cNvPr id="24" name="Content Placeholder 2">
            <a:extLst>
              <a:ext uri="{FF2B5EF4-FFF2-40B4-BE49-F238E27FC236}">
                <a16:creationId xmlns:a16="http://schemas.microsoft.com/office/drawing/2014/main" id="{6054AEB1-28B4-649C-D181-0F0E88AA8B0F}"/>
              </a:ext>
            </a:extLst>
          </p:cNvPr>
          <p:cNvSpPr txBox="1">
            <a:spLocks/>
          </p:cNvSpPr>
          <p:nvPr/>
        </p:nvSpPr>
        <p:spPr bwMode="auto">
          <a:xfrm>
            <a:off x="190500" y="1790700"/>
            <a:ext cx="8191500" cy="108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rgbClr val="FF6600"/>
              </a:buClr>
              <a:buFont typeface="Wingdings 3" panose="05040102010807070707" pitchFamily="18" charset="2"/>
              <a:buNone/>
            </a:pPr>
            <a:r>
              <a:rPr lang="en-CA" altLang="en-US" sz="3200">
                <a:latin typeface="Calibri" panose="020F0502020204030204" pitchFamily="34" charset="0"/>
              </a:rPr>
              <a:t>In a relational data model, a primary key </a:t>
            </a:r>
            <a:r>
              <a:rPr lang="en-CA" altLang="en-US" sz="3200" b="1">
                <a:latin typeface="Calibri" panose="020F0502020204030204" pitchFamily="34" charset="0"/>
              </a:rPr>
              <a:t>must be specified </a:t>
            </a:r>
            <a:r>
              <a:rPr lang="en-CA" altLang="en-US" sz="3200">
                <a:latin typeface="Calibri" panose="020F0502020204030204" pitchFamily="34" charset="0"/>
              </a:rPr>
              <a:t>for every relation</a:t>
            </a: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p:txBody>
      </p:sp>
      <p:sp>
        <p:nvSpPr>
          <p:cNvPr id="26" name="Snip Single Corner Rectangle 25">
            <a:extLst>
              <a:ext uri="{FF2B5EF4-FFF2-40B4-BE49-F238E27FC236}">
                <a16:creationId xmlns:a16="http://schemas.microsoft.com/office/drawing/2014/main" id="{34B0F705-1BC5-DC6A-34A4-6FE81A57B6BA}"/>
              </a:ext>
            </a:extLst>
          </p:cNvPr>
          <p:cNvSpPr/>
          <p:nvPr/>
        </p:nvSpPr>
        <p:spPr>
          <a:xfrm>
            <a:off x="190500" y="1409700"/>
            <a:ext cx="1728788" cy="401638"/>
          </a:xfrm>
          <a:prstGeom prst="snip1Rect">
            <a:avLst/>
          </a:prstGeom>
          <a:solidFill>
            <a:schemeClr val="accent5">
              <a:alpha val="70000"/>
            </a:schemeClr>
          </a:solidFill>
          <a:ln>
            <a:solidFill>
              <a:schemeClr val="accent5"/>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indent="-342900" algn="just" eaLnBrk="1" hangingPunct="1">
              <a:spcBef>
                <a:spcPct val="20000"/>
              </a:spcBef>
              <a:buClr>
                <a:srgbClr val="FF6600"/>
              </a:buClr>
              <a:buSzPct val="100000"/>
              <a:defRPr/>
            </a:pPr>
            <a:r>
              <a:rPr lang="en-US" dirty="0">
                <a:latin typeface="Arial" pitchFamily="34" charset="0"/>
                <a:ea typeface="Times New Roman" pitchFamily="18" charset="0"/>
                <a:cs typeface="Arial" pitchFamily="34" charset="0"/>
              </a:rPr>
              <a:t>Key Constraint</a:t>
            </a:r>
            <a:endParaRPr lang="en-GB" kern="0" dirty="0">
              <a:solidFill>
                <a:schemeClr val="tx1"/>
              </a:solidFill>
            </a:endParaRPr>
          </a:p>
        </p:txBody>
      </p:sp>
      <p:graphicFrame>
        <p:nvGraphicFramePr>
          <p:cNvPr id="41" name="Table 40">
            <a:extLst>
              <a:ext uri="{FF2B5EF4-FFF2-40B4-BE49-F238E27FC236}">
                <a16:creationId xmlns:a16="http://schemas.microsoft.com/office/drawing/2014/main" id="{CD19BBDB-FD93-089F-B218-2982463B309B}"/>
              </a:ext>
            </a:extLst>
          </p:cNvPr>
          <p:cNvGraphicFramePr>
            <a:graphicFrameLocks noGrp="1"/>
          </p:cNvGraphicFramePr>
          <p:nvPr/>
        </p:nvGraphicFramePr>
        <p:xfrm>
          <a:off x="190500" y="2943225"/>
          <a:ext cx="5732463" cy="1720851"/>
        </p:xfrm>
        <a:graphic>
          <a:graphicData uri="http://schemas.openxmlformats.org/drawingml/2006/table">
            <a:tbl>
              <a:tblPr firstRow="1" bandRow="1">
                <a:tableStyleId>{3B4B98B0-60AC-42C2-AFA5-B58CD77FA1E5}</a:tableStyleId>
              </a:tblPr>
              <a:tblGrid>
                <a:gridCol w="1892921">
                  <a:extLst>
                    <a:ext uri="{9D8B030D-6E8A-4147-A177-3AD203B41FA5}">
                      <a16:colId xmlns:a16="http://schemas.microsoft.com/office/drawing/2014/main" val="20000"/>
                    </a:ext>
                  </a:extLst>
                </a:gridCol>
                <a:gridCol w="1919771">
                  <a:extLst>
                    <a:ext uri="{9D8B030D-6E8A-4147-A177-3AD203B41FA5}">
                      <a16:colId xmlns:a16="http://schemas.microsoft.com/office/drawing/2014/main" val="20001"/>
                    </a:ext>
                  </a:extLst>
                </a:gridCol>
                <a:gridCol w="1919771">
                  <a:extLst>
                    <a:ext uri="{9D8B030D-6E8A-4147-A177-3AD203B41FA5}">
                      <a16:colId xmlns:a16="http://schemas.microsoft.com/office/drawing/2014/main" val="20002"/>
                    </a:ext>
                  </a:extLst>
                </a:gridCol>
              </a:tblGrid>
              <a:tr h="573617">
                <a:tc>
                  <a:txBody>
                    <a:bodyPr/>
                    <a:lstStyle/>
                    <a:p>
                      <a:pPr algn="ctr"/>
                      <a:r>
                        <a:rPr lang="en-CA" sz="1800" dirty="0"/>
                        <a:t>NAME</a:t>
                      </a:r>
                    </a:p>
                  </a:txBody>
                  <a:tcPr marT="45710" marB="45710"/>
                </a:tc>
                <a:tc>
                  <a:txBody>
                    <a:bodyPr/>
                    <a:lstStyle/>
                    <a:p>
                      <a:pPr algn="ctr"/>
                      <a:r>
                        <a:rPr lang="en-CA" sz="1800" dirty="0"/>
                        <a:t>GENDER</a:t>
                      </a:r>
                    </a:p>
                  </a:txBody>
                  <a:tcPr marT="45710" marB="45710"/>
                </a:tc>
                <a:tc>
                  <a:txBody>
                    <a:bodyPr/>
                    <a:lstStyle/>
                    <a:p>
                      <a:pPr algn="ctr"/>
                      <a:r>
                        <a:rPr lang="en-CA" sz="1800" dirty="0"/>
                        <a:t>PROGRAM</a:t>
                      </a:r>
                    </a:p>
                  </a:txBody>
                  <a:tcPr marT="45710" marB="45710"/>
                </a:tc>
                <a:extLst>
                  <a:ext uri="{0D108BD9-81ED-4DB2-BD59-A6C34878D82A}">
                    <a16:rowId xmlns:a16="http://schemas.microsoft.com/office/drawing/2014/main" val="10000"/>
                  </a:ext>
                </a:extLst>
              </a:tr>
              <a:tr h="573617">
                <a:tc>
                  <a:txBody>
                    <a:bodyPr/>
                    <a:lstStyle/>
                    <a:p>
                      <a:pPr algn="ctr"/>
                      <a:r>
                        <a:rPr lang="en-CA" sz="1800" dirty="0"/>
                        <a:t>Talha Amjad</a:t>
                      </a:r>
                    </a:p>
                  </a:txBody>
                  <a:tcPr marT="45710" marB="45710"/>
                </a:tc>
                <a:tc>
                  <a:txBody>
                    <a:bodyPr/>
                    <a:lstStyle/>
                    <a:p>
                      <a:pPr algn="ctr"/>
                      <a:r>
                        <a:rPr lang="en-CA" sz="1800" dirty="0"/>
                        <a:t>Male</a:t>
                      </a:r>
                    </a:p>
                  </a:txBody>
                  <a:tcPr marT="45710" marB="45710"/>
                </a:tc>
                <a:tc>
                  <a:txBody>
                    <a:bodyPr/>
                    <a:lstStyle/>
                    <a:p>
                      <a:pPr algn="ctr"/>
                      <a:r>
                        <a:rPr lang="en-CA" sz="1800" dirty="0"/>
                        <a:t>BSIT</a:t>
                      </a:r>
                    </a:p>
                  </a:txBody>
                  <a:tcPr marT="45710" marB="45710"/>
                </a:tc>
                <a:extLst>
                  <a:ext uri="{0D108BD9-81ED-4DB2-BD59-A6C34878D82A}">
                    <a16:rowId xmlns:a16="http://schemas.microsoft.com/office/drawing/2014/main" val="10001"/>
                  </a:ext>
                </a:extLst>
              </a:tr>
              <a:tr h="573617">
                <a:tc>
                  <a:txBody>
                    <a:bodyPr/>
                    <a:lstStyle/>
                    <a:p>
                      <a:pPr algn="ctr"/>
                      <a:r>
                        <a:rPr lang="en-CA" sz="1800" dirty="0"/>
                        <a:t>Talha Amjad</a:t>
                      </a:r>
                    </a:p>
                  </a:txBody>
                  <a:tcPr marT="45710" marB="45710"/>
                </a:tc>
                <a:tc>
                  <a:txBody>
                    <a:bodyPr/>
                    <a:lstStyle/>
                    <a:p>
                      <a:pPr algn="ctr"/>
                      <a:r>
                        <a:rPr lang="en-CA" sz="1800" dirty="0"/>
                        <a:t>Male</a:t>
                      </a:r>
                    </a:p>
                  </a:txBody>
                  <a:tcPr marT="45710" marB="45710"/>
                </a:tc>
                <a:tc>
                  <a:txBody>
                    <a:bodyPr/>
                    <a:lstStyle/>
                    <a:p>
                      <a:pPr algn="ctr"/>
                      <a:r>
                        <a:rPr lang="en-CA" sz="1800" dirty="0"/>
                        <a:t>BSIT</a:t>
                      </a:r>
                    </a:p>
                  </a:txBody>
                  <a:tcPr marT="45710" marB="45710"/>
                </a:tc>
                <a:extLst>
                  <a:ext uri="{0D108BD9-81ED-4DB2-BD59-A6C34878D82A}">
                    <a16:rowId xmlns:a16="http://schemas.microsoft.com/office/drawing/2014/main" val="10002"/>
                  </a:ext>
                </a:extLst>
              </a:tr>
            </a:tbl>
          </a:graphicData>
        </a:graphic>
      </p:graphicFrame>
      <p:sp>
        <p:nvSpPr>
          <p:cNvPr id="42" name="TextBox 41">
            <a:extLst>
              <a:ext uri="{FF2B5EF4-FFF2-40B4-BE49-F238E27FC236}">
                <a16:creationId xmlns:a16="http://schemas.microsoft.com/office/drawing/2014/main" id="{0CD3BA5F-DEB0-2AC6-BD1E-F8D586B1D06C}"/>
              </a:ext>
            </a:extLst>
          </p:cNvPr>
          <p:cNvSpPr txBox="1">
            <a:spLocks noChangeArrowheads="1"/>
          </p:cNvSpPr>
          <p:nvPr/>
        </p:nvSpPr>
        <p:spPr bwMode="auto">
          <a:xfrm>
            <a:off x="1936750" y="4672013"/>
            <a:ext cx="22415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CA" altLang="en-US"/>
              <a:t>Student relation</a:t>
            </a:r>
          </a:p>
        </p:txBody>
      </p:sp>
      <p:grpSp>
        <p:nvGrpSpPr>
          <p:cNvPr id="3" name="Group 4">
            <a:extLst>
              <a:ext uri="{FF2B5EF4-FFF2-40B4-BE49-F238E27FC236}">
                <a16:creationId xmlns:a16="http://schemas.microsoft.com/office/drawing/2014/main" id="{1ECF1F81-72D9-734C-8187-4EFF45B2EF65}"/>
              </a:ext>
            </a:extLst>
          </p:cNvPr>
          <p:cNvGrpSpPr>
            <a:grpSpLocks/>
          </p:cNvGrpSpPr>
          <p:nvPr/>
        </p:nvGrpSpPr>
        <p:grpSpPr bwMode="auto">
          <a:xfrm>
            <a:off x="5964238" y="3505200"/>
            <a:ext cx="2570162" cy="1143000"/>
            <a:chOff x="6156176" y="3510300"/>
            <a:chExt cx="2836234" cy="1142836"/>
          </a:xfrm>
        </p:grpSpPr>
        <p:sp>
          <p:nvSpPr>
            <p:cNvPr id="21525" name="Right Brace 2">
              <a:extLst>
                <a:ext uri="{FF2B5EF4-FFF2-40B4-BE49-F238E27FC236}">
                  <a16:creationId xmlns:a16="http://schemas.microsoft.com/office/drawing/2014/main" id="{D77C1D82-6771-E6D7-5931-B07840191455}"/>
                </a:ext>
              </a:extLst>
            </p:cNvPr>
            <p:cNvSpPr>
              <a:spLocks/>
            </p:cNvSpPr>
            <p:nvPr/>
          </p:nvSpPr>
          <p:spPr bwMode="auto">
            <a:xfrm>
              <a:off x="6156176" y="3510300"/>
              <a:ext cx="319480" cy="1142836"/>
            </a:xfrm>
            <a:prstGeom prst="rightBrace">
              <a:avLst>
                <a:gd name="adj1" fmla="val 8330"/>
                <a:gd name="adj2" fmla="val 50000"/>
              </a:avLst>
            </a:prstGeom>
            <a:solidFill>
              <a:schemeClr val="bg1"/>
            </a:solidFill>
            <a:ln w="9525" algn="ctr">
              <a:solidFill>
                <a:schemeClr val="tx1"/>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endParaRPr lang="en-CA" altLang="en-US"/>
            </a:p>
          </p:txBody>
        </p:sp>
        <p:sp>
          <p:nvSpPr>
            <p:cNvPr id="21526" name="TextBox 3">
              <a:extLst>
                <a:ext uri="{FF2B5EF4-FFF2-40B4-BE49-F238E27FC236}">
                  <a16:creationId xmlns:a16="http://schemas.microsoft.com/office/drawing/2014/main" id="{C08DD2C3-85D7-AD5F-1F6B-75C9DAE73E2D}"/>
                </a:ext>
              </a:extLst>
            </p:cNvPr>
            <p:cNvSpPr txBox="1">
              <a:spLocks noChangeArrowheads="1"/>
            </p:cNvSpPr>
            <p:nvPr/>
          </p:nvSpPr>
          <p:spPr bwMode="auto">
            <a:xfrm>
              <a:off x="6488293" y="3620053"/>
              <a:ext cx="2504117"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CA" altLang="en-US"/>
                <a:t>Is this a mistake or are there 2 </a:t>
              </a:r>
              <a:r>
                <a:rPr lang="en-CA" altLang="en-US" b="1"/>
                <a:t>Talha Amjad</a:t>
              </a:r>
            </a:p>
            <a:p>
              <a:r>
                <a:rPr lang="en-CA" altLang="en-US"/>
                <a:t>studying BSIT?</a:t>
              </a:r>
            </a:p>
          </p:txBody>
        </p:sp>
      </p:grpSp>
      <p:sp>
        <p:nvSpPr>
          <p:cNvPr id="30" name="Content Placeholder 2">
            <a:extLst>
              <a:ext uri="{FF2B5EF4-FFF2-40B4-BE49-F238E27FC236}">
                <a16:creationId xmlns:a16="http://schemas.microsoft.com/office/drawing/2014/main" id="{7D005751-2B45-A0C0-3BFD-EA81CC416643}"/>
              </a:ext>
            </a:extLst>
          </p:cNvPr>
          <p:cNvSpPr txBox="1">
            <a:spLocks/>
          </p:cNvSpPr>
          <p:nvPr/>
        </p:nvSpPr>
        <p:spPr bwMode="auto">
          <a:xfrm>
            <a:off x="190500" y="5030788"/>
            <a:ext cx="7962900" cy="1293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rgbClr val="FF6600"/>
              </a:buClr>
              <a:buFont typeface="Wingdings 3" panose="05040102010807070707" pitchFamily="18" charset="2"/>
              <a:buNone/>
            </a:pPr>
            <a:r>
              <a:rPr lang="en-CA" altLang="en-US" sz="2800">
                <a:latin typeface="Calibri" panose="020F0502020204030204" pitchFamily="34" charset="0"/>
              </a:rPr>
              <a:t>If the relation has a primary key such as student Id, we can check the student Id to determine whether there are 2 Talha Amjad or just one</a:t>
            </a:r>
          </a:p>
          <a:p>
            <a:pPr algn="just" eaLnBrk="1" hangingPunct="1">
              <a:spcBef>
                <a:spcPct val="20000"/>
              </a:spcBef>
              <a:buClr>
                <a:srgbClr val="FF6600"/>
              </a:buClr>
              <a:buFont typeface="Wingdings 3" panose="05040102010807070707" pitchFamily="18" charset="2"/>
              <a:buNone/>
            </a:pPr>
            <a:endParaRPr lang="en-CA" altLang="en-US" sz="32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3200">
              <a:latin typeface="Calibri" panose="020F0502020204030204" pitchFamily="3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4">
                                            <p:txEl>
                                              <p:pRg st="0" end="0"/>
                                            </p:txEl>
                                          </p:spTgt>
                                        </p:tgtEl>
                                        <p:attrNameLst>
                                          <p:attrName>style.visibility</p:attrName>
                                        </p:attrNameLst>
                                      </p:cBhvr>
                                      <p:to>
                                        <p:strVal val="visible"/>
                                      </p:to>
                                    </p:set>
                                    <p:animEffect transition="in" filter="wipe(left)">
                                      <p:cBhvr>
                                        <p:cTn id="7" dur="500"/>
                                        <p:tgtEl>
                                          <p:spTgt spid="2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41"/>
                                        </p:tgtEl>
                                        <p:attrNameLst>
                                          <p:attrName>style.visibility</p:attrName>
                                        </p:attrNameLst>
                                      </p:cBhvr>
                                      <p:to>
                                        <p:strVal val="visible"/>
                                      </p:to>
                                    </p:set>
                                    <p:animEffect transition="in" filter="wipe(up)">
                                      <p:cBhvr>
                                        <p:cTn id="12" dur="500"/>
                                        <p:tgtEl>
                                          <p:spTgt spid="41"/>
                                        </p:tgtEl>
                                      </p:cBhvr>
                                    </p:animEffect>
                                  </p:childTnLst>
                                </p:cTn>
                              </p:par>
                            </p:childTnLst>
                          </p:cTn>
                        </p:par>
                        <p:par>
                          <p:cTn id="13" fill="hold" nodeType="afterGroup">
                            <p:stCondLst>
                              <p:cond delay="500"/>
                            </p:stCondLst>
                            <p:childTnLst>
                              <p:par>
                                <p:cTn id="14" presetID="22" presetClass="entr" presetSubtype="1" fill="hold" grpId="0" nodeType="afterEffect">
                                  <p:stCondLst>
                                    <p:cond delay="0"/>
                                  </p:stCondLst>
                                  <p:childTnLst>
                                    <p:set>
                                      <p:cBhvr>
                                        <p:cTn id="15" dur="1" fill="hold">
                                          <p:stCondLst>
                                            <p:cond delay="0"/>
                                          </p:stCondLst>
                                        </p:cTn>
                                        <p:tgtEl>
                                          <p:spTgt spid="42"/>
                                        </p:tgtEl>
                                        <p:attrNameLst>
                                          <p:attrName>style.visibility</p:attrName>
                                        </p:attrNameLst>
                                      </p:cBhvr>
                                      <p:to>
                                        <p:strVal val="visible"/>
                                      </p:to>
                                    </p:set>
                                    <p:animEffect transition="in" filter="wipe(up)">
                                      <p:cBhvr>
                                        <p:cTn id="16" dur="500"/>
                                        <p:tgtEl>
                                          <p:spTgt spid="42"/>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fade">
                                      <p:cBhvr>
                                        <p:cTn id="21" dur="1000"/>
                                        <p:tgtEl>
                                          <p:spTgt spid="3"/>
                                        </p:tgtEl>
                                      </p:cBhvr>
                                    </p:animEffect>
                                    <p:anim calcmode="lin" valueType="num">
                                      <p:cBhvr>
                                        <p:cTn id="22" dur="1000" fill="hold"/>
                                        <p:tgtEl>
                                          <p:spTgt spid="3"/>
                                        </p:tgtEl>
                                        <p:attrNameLst>
                                          <p:attrName>ppt_x</p:attrName>
                                        </p:attrNameLst>
                                      </p:cBhvr>
                                      <p:tavLst>
                                        <p:tav tm="0">
                                          <p:val>
                                            <p:strVal val="#ppt_x"/>
                                          </p:val>
                                        </p:tav>
                                        <p:tav tm="100000">
                                          <p:val>
                                            <p:strVal val="#ppt_x"/>
                                          </p:val>
                                        </p:tav>
                                      </p:tavLst>
                                    </p:anim>
                                    <p:anim calcmode="lin" valueType="num">
                                      <p:cBhvr>
                                        <p:cTn id="23"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30">
                                            <p:txEl>
                                              <p:pRg st="0" end="0"/>
                                            </p:txEl>
                                          </p:spTgt>
                                        </p:tgtEl>
                                        <p:attrNameLst>
                                          <p:attrName>style.visibility</p:attrName>
                                        </p:attrNameLst>
                                      </p:cBhvr>
                                      <p:to>
                                        <p:strVal val="visible"/>
                                      </p:to>
                                    </p:set>
                                    <p:animEffect transition="in" filter="wipe(left)">
                                      <p:cBhvr>
                                        <p:cTn id="28" dur="500"/>
                                        <p:tgtEl>
                                          <p:spTgt spid="3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build="p"/>
      <p:bldP spid="42" grpId="0"/>
      <p:bldP spid="30" grpId="0" build="p"/>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CF9E3-9C3C-F874-6376-8CFF961C1B11}"/>
              </a:ext>
            </a:extLst>
          </p:cNvPr>
          <p:cNvSpPr>
            <a:spLocks noGrp="1"/>
          </p:cNvSpPr>
          <p:nvPr>
            <p:ph type="title"/>
          </p:nvPr>
        </p:nvSpPr>
        <p:spPr>
          <a:xfrm>
            <a:off x="457200" y="0"/>
            <a:ext cx="7620000" cy="1143000"/>
          </a:xfrm>
        </p:spPr>
        <p:txBody>
          <a:bodyPr/>
          <a:lstStyle/>
          <a:p>
            <a:pPr algn="ctr">
              <a:defRPr/>
            </a:pPr>
            <a:r>
              <a:rPr lang="en-US" dirty="0"/>
              <a:t>Relational Constraints</a:t>
            </a:r>
            <a:endParaRPr lang="en-CA" dirty="0"/>
          </a:p>
        </p:txBody>
      </p:sp>
      <p:sp>
        <p:nvSpPr>
          <p:cNvPr id="24" name="Content Placeholder 2">
            <a:extLst>
              <a:ext uri="{FF2B5EF4-FFF2-40B4-BE49-F238E27FC236}">
                <a16:creationId xmlns:a16="http://schemas.microsoft.com/office/drawing/2014/main" id="{7F5E1FD3-39EF-9149-A57A-F3989CD74B87}"/>
              </a:ext>
            </a:extLst>
          </p:cNvPr>
          <p:cNvSpPr txBox="1">
            <a:spLocks/>
          </p:cNvSpPr>
          <p:nvPr/>
        </p:nvSpPr>
        <p:spPr bwMode="auto">
          <a:xfrm>
            <a:off x="393700" y="1773238"/>
            <a:ext cx="7704138" cy="1493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rgbClr val="FF6600"/>
              </a:buClr>
              <a:buFont typeface="Wingdings 3" panose="05040102010807070707" pitchFamily="18" charset="2"/>
              <a:buNone/>
            </a:pPr>
            <a:r>
              <a:rPr lang="en-CA" altLang="en-US" sz="3200">
                <a:latin typeface="Calibri" panose="020F0502020204030204" pitchFamily="34" charset="0"/>
              </a:rPr>
              <a:t>A relational DBMS will check each primary key value to ensure that it is unique. This is known as enforcing key constraint</a:t>
            </a:r>
            <a:endParaRPr lang="en-CA" altLang="en-US" sz="3200" b="1">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32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32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32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40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p:txBody>
      </p:sp>
      <p:sp>
        <p:nvSpPr>
          <p:cNvPr id="26" name="Snip Single Corner Rectangle 25">
            <a:extLst>
              <a:ext uri="{FF2B5EF4-FFF2-40B4-BE49-F238E27FC236}">
                <a16:creationId xmlns:a16="http://schemas.microsoft.com/office/drawing/2014/main" id="{A69BD2D6-FD98-9C1E-C252-70CF56F223E3}"/>
              </a:ext>
            </a:extLst>
          </p:cNvPr>
          <p:cNvSpPr/>
          <p:nvPr/>
        </p:nvSpPr>
        <p:spPr>
          <a:xfrm>
            <a:off x="228600" y="1365250"/>
            <a:ext cx="1728788" cy="401638"/>
          </a:xfrm>
          <a:prstGeom prst="snip1Rect">
            <a:avLst/>
          </a:prstGeom>
          <a:solidFill>
            <a:schemeClr val="accent5">
              <a:alpha val="70000"/>
            </a:schemeClr>
          </a:solidFill>
          <a:ln>
            <a:solidFill>
              <a:schemeClr val="accent5"/>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indent="-342900" algn="just" eaLnBrk="1" hangingPunct="1">
              <a:spcBef>
                <a:spcPct val="20000"/>
              </a:spcBef>
              <a:buClr>
                <a:srgbClr val="FF6600"/>
              </a:buClr>
              <a:buSzPct val="100000"/>
              <a:defRPr/>
            </a:pPr>
            <a:r>
              <a:rPr lang="en-US" dirty="0">
                <a:latin typeface="Arial" pitchFamily="34" charset="0"/>
                <a:ea typeface="Times New Roman" pitchFamily="18" charset="0"/>
                <a:cs typeface="Arial" pitchFamily="34" charset="0"/>
              </a:rPr>
              <a:t>Key Constraint</a:t>
            </a:r>
            <a:endParaRPr lang="en-GB" kern="0" dirty="0">
              <a:solidFill>
                <a:schemeClr val="tx1"/>
              </a:solidFill>
            </a:endParaRPr>
          </a:p>
        </p:txBody>
      </p:sp>
      <p:graphicFrame>
        <p:nvGraphicFramePr>
          <p:cNvPr id="41" name="Table 40">
            <a:extLst>
              <a:ext uri="{FF2B5EF4-FFF2-40B4-BE49-F238E27FC236}">
                <a16:creationId xmlns:a16="http://schemas.microsoft.com/office/drawing/2014/main" id="{FB1F3F3E-04E5-5413-0B34-D29B2AD85B44}"/>
              </a:ext>
            </a:extLst>
          </p:cNvPr>
          <p:cNvGraphicFramePr>
            <a:graphicFrameLocks noGrp="1"/>
          </p:cNvGraphicFramePr>
          <p:nvPr/>
        </p:nvGraphicFramePr>
        <p:xfrm>
          <a:off x="393700" y="3500438"/>
          <a:ext cx="3408363" cy="2295524"/>
        </p:xfrm>
        <a:graphic>
          <a:graphicData uri="http://schemas.openxmlformats.org/drawingml/2006/table">
            <a:tbl>
              <a:tblPr firstRow="1" bandRow="1">
                <a:tableStyleId>{3B4B98B0-60AC-42C2-AFA5-B58CD77FA1E5}</a:tableStyleId>
              </a:tblPr>
              <a:tblGrid>
                <a:gridCol w="1692181">
                  <a:extLst>
                    <a:ext uri="{9D8B030D-6E8A-4147-A177-3AD203B41FA5}">
                      <a16:colId xmlns:a16="http://schemas.microsoft.com/office/drawing/2014/main" val="20000"/>
                    </a:ext>
                  </a:extLst>
                </a:gridCol>
                <a:gridCol w="1716182">
                  <a:extLst>
                    <a:ext uri="{9D8B030D-6E8A-4147-A177-3AD203B41FA5}">
                      <a16:colId xmlns:a16="http://schemas.microsoft.com/office/drawing/2014/main" val="20001"/>
                    </a:ext>
                  </a:extLst>
                </a:gridCol>
              </a:tblGrid>
              <a:tr h="573881">
                <a:tc>
                  <a:txBody>
                    <a:bodyPr/>
                    <a:lstStyle/>
                    <a:p>
                      <a:pPr algn="ctr"/>
                      <a:r>
                        <a:rPr lang="en-CA" sz="1800" dirty="0"/>
                        <a:t>STUDENTID</a:t>
                      </a:r>
                    </a:p>
                  </a:txBody>
                  <a:tcPr marT="45731" marB="45731"/>
                </a:tc>
                <a:tc>
                  <a:txBody>
                    <a:bodyPr/>
                    <a:lstStyle/>
                    <a:p>
                      <a:pPr algn="ctr"/>
                      <a:r>
                        <a:rPr lang="en-CA" sz="1800" dirty="0"/>
                        <a:t>NAME</a:t>
                      </a:r>
                    </a:p>
                  </a:txBody>
                  <a:tcPr marT="45731" marB="45731"/>
                </a:tc>
                <a:extLst>
                  <a:ext uri="{0D108BD9-81ED-4DB2-BD59-A6C34878D82A}">
                    <a16:rowId xmlns:a16="http://schemas.microsoft.com/office/drawing/2014/main" val="10000"/>
                  </a:ext>
                </a:extLst>
              </a:tr>
              <a:tr h="573881">
                <a:tc>
                  <a:txBody>
                    <a:bodyPr/>
                    <a:lstStyle/>
                    <a:p>
                      <a:pPr algn="ctr"/>
                      <a:r>
                        <a:rPr lang="en-CA" sz="1800" dirty="0"/>
                        <a:t>1</a:t>
                      </a:r>
                    </a:p>
                  </a:txBody>
                  <a:tcPr marT="45731" marB="45731"/>
                </a:tc>
                <a:tc>
                  <a:txBody>
                    <a:bodyPr/>
                    <a:lstStyle/>
                    <a:p>
                      <a:r>
                        <a:rPr lang="en-CA" sz="1800" dirty="0"/>
                        <a:t>Talha Amjad</a:t>
                      </a:r>
                    </a:p>
                  </a:txBody>
                  <a:tcPr marT="45731" marB="45731"/>
                </a:tc>
                <a:extLst>
                  <a:ext uri="{0D108BD9-81ED-4DB2-BD59-A6C34878D82A}">
                    <a16:rowId xmlns:a16="http://schemas.microsoft.com/office/drawing/2014/main" val="10001"/>
                  </a:ext>
                </a:extLst>
              </a:tr>
              <a:tr h="573881">
                <a:tc>
                  <a:txBody>
                    <a:bodyPr/>
                    <a:lstStyle/>
                    <a:p>
                      <a:pPr algn="ctr"/>
                      <a:r>
                        <a:rPr lang="en-CA" sz="1800" dirty="0"/>
                        <a:t>2</a:t>
                      </a:r>
                    </a:p>
                  </a:txBody>
                  <a:tcPr marT="45731" marB="45731"/>
                </a:tc>
                <a:tc>
                  <a:txBody>
                    <a:bodyPr/>
                    <a:lstStyle/>
                    <a:p>
                      <a:r>
                        <a:rPr lang="en-CA" sz="1800" dirty="0"/>
                        <a:t>Sara Saleem</a:t>
                      </a:r>
                    </a:p>
                  </a:txBody>
                  <a:tcPr marT="45731" marB="45731"/>
                </a:tc>
                <a:extLst>
                  <a:ext uri="{0D108BD9-81ED-4DB2-BD59-A6C34878D82A}">
                    <a16:rowId xmlns:a16="http://schemas.microsoft.com/office/drawing/2014/main" val="10002"/>
                  </a:ext>
                </a:extLst>
              </a:tr>
              <a:tr h="573881">
                <a:tc>
                  <a:txBody>
                    <a:bodyPr/>
                    <a:lstStyle/>
                    <a:p>
                      <a:pPr algn="ctr"/>
                      <a:endParaRPr lang="en-CA" sz="1800" dirty="0"/>
                    </a:p>
                  </a:txBody>
                  <a:tcPr marT="45731" marB="45731"/>
                </a:tc>
                <a:tc>
                  <a:txBody>
                    <a:bodyPr/>
                    <a:lstStyle/>
                    <a:p>
                      <a:endParaRPr lang="en-CA" sz="1800" dirty="0"/>
                    </a:p>
                  </a:txBody>
                  <a:tcPr marT="45731" marB="45731"/>
                </a:tc>
                <a:extLst>
                  <a:ext uri="{0D108BD9-81ED-4DB2-BD59-A6C34878D82A}">
                    <a16:rowId xmlns:a16="http://schemas.microsoft.com/office/drawing/2014/main" val="10003"/>
                  </a:ext>
                </a:extLst>
              </a:tr>
            </a:tbl>
          </a:graphicData>
        </a:graphic>
      </p:graphicFrame>
      <p:sp>
        <p:nvSpPr>
          <p:cNvPr id="42" name="TextBox 41">
            <a:extLst>
              <a:ext uri="{FF2B5EF4-FFF2-40B4-BE49-F238E27FC236}">
                <a16:creationId xmlns:a16="http://schemas.microsoft.com/office/drawing/2014/main" id="{B7940C71-BF34-D952-93D2-814ED6C030D8}"/>
              </a:ext>
            </a:extLst>
          </p:cNvPr>
          <p:cNvSpPr txBox="1">
            <a:spLocks noChangeArrowheads="1"/>
          </p:cNvSpPr>
          <p:nvPr/>
        </p:nvSpPr>
        <p:spPr bwMode="auto">
          <a:xfrm>
            <a:off x="976313" y="5795963"/>
            <a:ext cx="22415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CA" altLang="en-US"/>
              <a:t>Student relation</a:t>
            </a:r>
          </a:p>
        </p:txBody>
      </p:sp>
      <p:grpSp>
        <p:nvGrpSpPr>
          <p:cNvPr id="3" name="Group 6">
            <a:extLst>
              <a:ext uri="{FF2B5EF4-FFF2-40B4-BE49-F238E27FC236}">
                <a16:creationId xmlns:a16="http://schemas.microsoft.com/office/drawing/2014/main" id="{BC1D1F4F-B05A-5FE8-F604-954FE67B3339}"/>
              </a:ext>
            </a:extLst>
          </p:cNvPr>
          <p:cNvGrpSpPr>
            <a:grpSpLocks/>
          </p:cNvGrpSpPr>
          <p:nvPr/>
        </p:nvGrpSpPr>
        <p:grpSpPr bwMode="auto">
          <a:xfrm>
            <a:off x="2913063" y="3754438"/>
            <a:ext cx="5184775" cy="1787525"/>
            <a:chOff x="3131842" y="4115717"/>
            <a:chExt cx="5184574" cy="1786818"/>
          </a:xfrm>
        </p:grpSpPr>
        <p:sp>
          <p:nvSpPr>
            <p:cNvPr id="43" name="Rectangle 42">
              <a:extLst>
                <a:ext uri="{FF2B5EF4-FFF2-40B4-BE49-F238E27FC236}">
                  <a16:creationId xmlns:a16="http://schemas.microsoft.com/office/drawing/2014/main" id="{BD7649CD-4D6F-C8A1-F302-43B7D9DCE8BF}"/>
                </a:ext>
              </a:extLst>
            </p:cNvPr>
            <p:cNvSpPr/>
            <p:nvPr/>
          </p:nvSpPr>
          <p:spPr bwMode="auto">
            <a:xfrm>
              <a:off x="4547837" y="4115717"/>
              <a:ext cx="3768579" cy="1786818"/>
            </a:xfrm>
            <a:prstGeom prst="rect">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anchor="ctr" anchorCtr="1"/>
            <a:lstStyle/>
            <a:p>
              <a:pPr algn="ctr">
                <a:defRPr/>
              </a:pPr>
              <a:r>
                <a:rPr lang="en-CA" dirty="0">
                  <a:solidFill>
                    <a:schemeClr val="tx1"/>
                  </a:solidFill>
                  <a:latin typeface="Arial" charset="0"/>
                </a:rPr>
                <a:t>If you try to enter STUDENTID = 2 and NAME = </a:t>
              </a:r>
              <a:r>
                <a:rPr lang="en-CA" dirty="0"/>
                <a:t>Aqib Ali</a:t>
              </a:r>
              <a:r>
                <a:rPr lang="en-CA" dirty="0">
                  <a:solidFill>
                    <a:schemeClr val="tx1"/>
                  </a:solidFill>
                  <a:latin typeface="Arial" charset="0"/>
                </a:rPr>
                <a:t>, the relational DBMS would enforce key constraint and denied your data entry since STUDENTID is a primary key</a:t>
              </a:r>
            </a:p>
          </p:txBody>
        </p:sp>
        <p:cxnSp>
          <p:nvCxnSpPr>
            <p:cNvPr id="45" name="Straight Arrow Connector 44">
              <a:extLst>
                <a:ext uri="{FF2B5EF4-FFF2-40B4-BE49-F238E27FC236}">
                  <a16:creationId xmlns:a16="http://schemas.microsoft.com/office/drawing/2014/main" id="{8DC71F61-A687-6000-9199-B082FD9EE1D9}"/>
                </a:ext>
              </a:extLst>
            </p:cNvPr>
            <p:cNvCxnSpPr/>
            <p:nvPr/>
          </p:nvCxnSpPr>
          <p:spPr bwMode="auto">
            <a:xfrm flipH="1">
              <a:off x="3131842" y="5602616"/>
              <a:ext cx="1446156" cy="239618"/>
            </a:xfrm>
            <a:prstGeom prst="straightConnector1">
              <a:avLst/>
            </a:prstGeom>
            <a:ln>
              <a:headEnd type="none" w="med" len="med"/>
              <a:tailEnd type="arrow"/>
            </a:ln>
          </p:spPr>
          <p:style>
            <a:lnRef idx="1">
              <a:schemeClr val="accent6"/>
            </a:lnRef>
            <a:fillRef idx="2">
              <a:schemeClr val="accent6"/>
            </a:fillRef>
            <a:effectRef idx="1">
              <a:schemeClr val="accent6"/>
            </a:effectRef>
            <a:fontRef idx="minor">
              <a:schemeClr val="dk1"/>
            </a:fontRef>
          </p:style>
        </p:cxnSp>
      </p:grpSp>
      <p:cxnSp>
        <p:nvCxnSpPr>
          <p:cNvPr id="48" name="Straight Connector 47">
            <a:extLst>
              <a:ext uri="{FF2B5EF4-FFF2-40B4-BE49-F238E27FC236}">
                <a16:creationId xmlns:a16="http://schemas.microsoft.com/office/drawing/2014/main" id="{3C8B199B-02AD-C262-CD7F-507CE74F7CDE}"/>
              </a:ext>
            </a:extLst>
          </p:cNvPr>
          <p:cNvCxnSpPr/>
          <p:nvPr/>
        </p:nvCxnSpPr>
        <p:spPr bwMode="auto">
          <a:xfrm>
            <a:off x="585788" y="3836988"/>
            <a:ext cx="1295400" cy="0"/>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4">
                                            <p:txEl>
                                              <p:pRg st="0" end="0"/>
                                            </p:txEl>
                                          </p:spTgt>
                                        </p:tgtEl>
                                        <p:attrNameLst>
                                          <p:attrName>style.visibility</p:attrName>
                                        </p:attrNameLst>
                                      </p:cBhvr>
                                      <p:to>
                                        <p:strVal val="visible"/>
                                      </p:to>
                                    </p:set>
                                    <p:animEffect transition="in" filter="wipe(left)">
                                      <p:cBhvr>
                                        <p:cTn id="7" dur="500"/>
                                        <p:tgtEl>
                                          <p:spTgt spid="2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41"/>
                                        </p:tgtEl>
                                        <p:attrNameLst>
                                          <p:attrName>style.visibility</p:attrName>
                                        </p:attrNameLst>
                                      </p:cBhvr>
                                      <p:to>
                                        <p:strVal val="visible"/>
                                      </p:to>
                                    </p:set>
                                    <p:animEffect transition="in" filter="wipe(up)">
                                      <p:cBhvr>
                                        <p:cTn id="12" dur="500"/>
                                        <p:tgtEl>
                                          <p:spTgt spid="41"/>
                                        </p:tgtEl>
                                      </p:cBhvr>
                                    </p:animEffect>
                                  </p:childTnLst>
                                </p:cTn>
                              </p:par>
                            </p:childTnLst>
                          </p:cTn>
                        </p:par>
                        <p:par>
                          <p:cTn id="13" fill="hold" nodeType="afterGroup">
                            <p:stCondLst>
                              <p:cond delay="500"/>
                            </p:stCondLst>
                            <p:childTnLst>
                              <p:par>
                                <p:cTn id="14" presetID="22" presetClass="entr" presetSubtype="1" fill="hold" grpId="0" nodeType="afterEffect">
                                  <p:stCondLst>
                                    <p:cond delay="0"/>
                                  </p:stCondLst>
                                  <p:childTnLst>
                                    <p:set>
                                      <p:cBhvr>
                                        <p:cTn id="15" dur="1" fill="hold">
                                          <p:stCondLst>
                                            <p:cond delay="0"/>
                                          </p:stCondLst>
                                        </p:cTn>
                                        <p:tgtEl>
                                          <p:spTgt spid="42"/>
                                        </p:tgtEl>
                                        <p:attrNameLst>
                                          <p:attrName>style.visibility</p:attrName>
                                        </p:attrNameLst>
                                      </p:cBhvr>
                                      <p:to>
                                        <p:strVal val="visible"/>
                                      </p:to>
                                    </p:set>
                                    <p:animEffect transition="in" filter="wipe(up)">
                                      <p:cBhvr>
                                        <p:cTn id="16" dur="500"/>
                                        <p:tgtEl>
                                          <p:spTgt spid="42"/>
                                        </p:tgtEl>
                                      </p:cBhvr>
                                    </p:animEffect>
                                  </p:childTnLst>
                                </p:cTn>
                              </p:par>
                            </p:childTnLst>
                          </p:cTn>
                        </p:par>
                        <p:par>
                          <p:cTn id="17" fill="hold" nodeType="afterGroup">
                            <p:stCondLst>
                              <p:cond delay="1000"/>
                            </p:stCondLst>
                            <p:childTnLst>
                              <p:par>
                                <p:cTn id="18" presetID="22" presetClass="entr" presetSubtype="8" fill="hold" nodeType="afterEffect">
                                  <p:stCondLst>
                                    <p:cond delay="0"/>
                                  </p:stCondLst>
                                  <p:childTnLst>
                                    <p:set>
                                      <p:cBhvr>
                                        <p:cTn id="19" dur="1" fill="hold">
                                          <p:stCondLst>
                                            <p:cond delay="0"/>
                                          </p:stCondLst>
                                        </p:cTn>
                                        <p:tgtEl>
                                          <p:spTgt spid="48"/>
                                        </p:tgtEl>
                                        <p:attrNameLst>
                                          <p:attrName>style.visibility</p:attrName>
                                        </p:attrNameLst>
                                      </p:cBhvr>
                                      <p:to>
                                        <p:strVal val="visible"/>
                                      </p:to>
                                    </p:set>
                                    <p:animEffect transition="in" filter="wipe(left)">
                                      <p:cBhvr>
                                        <p:cTn id="20" dur="500"/>
                                        <p:tgtEl>
                                          <p:spTgt spid="48"/>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3"/>
                                        </p:tgtEl>
                                        <p:attrNameLst>
                                          <p:attrName>style.visibility</p:attrName>
                                        </p:attrNameLst>
                                      </p:cBhvr>
                                      <p:to>
                                        <p:strVal val="visible"/>
                                      </p:to>
                                    </p:set>
                                    <p:anim calcmode="lin" valueType="num">
                                      <p:cBhvr additive="base">
                                        <p:cTn id="25" dur="500" fill="hold"/>
                                        <p:tgtEl>
                                          <p:spTgt spid="3"/>
                                        </p:tgtEl>
                                        <p:attrNameLst>
                                          <p:attrName>ppt_x</p:attrName>
                                        </p:attrNameLst>
                                      </p:cBhvr>
                                      <p:tavLst>
                                        <p:tav tm="0">
                                          <p:val>
                                            <p:strVal val="#ppt_x"/>
                                          </p:val>
                                        </p:tav>
                                        <p:tav tm="100000">
                                          <p:val>
                                            <p:strVal val="#ppt_x"/>
                                          </p:val>
                                        </p:tav>
                                      </p:tavLst>
                                    </p:anim>
                                    <p:anim calcmode="lin" valueType="num">
                                      <p:cBhvr additive="base">
                                        <p:cTn id="26"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build="p"/>
      <p:bldP spid="42" grpId="0"/>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3C3C3-A37D-1E86-FDE7-9CB09C7BF4FF}"/>
              </a:ext>
            </a:extLst>
          </p:cNvPr>
          <p:cNvSpPr>
            <a:spLocks noGrp="1"/>
          </p:cNvSpPr>
          <p:nvPr>
            <p:ph type="title"/>
          </p:nvPr>
        </p:nvSpPr>
        <p:spPr>
          <a:xfrm>
            <a:off x="457200" y="0"/>
            <a:ext cx="7620000" cy="1143000"/>
          </a:xfrm>
        </p:spPr>
        <p:txBody>
          <a:bodyPr/>
          <a:lstStyle/>
          <a:p>
            <a:pPr algn="ctr">
              <a:defRPr/>
            </a:pPr>
            <a:r>
              <a:rPr lang="en-US" dirty="0"/>
              <a:t>Relational Constraints</a:t>
            </a:r>
            <a:endParaRPr lang="en-CA" dirty="0"/>
          </a:p>
        </p:txBody>
      </p:sp>
      <p:sp>
        <p:nvSpPr>
          <p:cNvPr id="24" name="Content Placeholder 2">
            <a:extLst>
              <a:ext uri="{FF2B5EF4-FFF2-40B4-BE49-F238E27FC236}">
                <a16:creationId xmlns:a16="http://schemas.microsoft.com/office/drawing/2014/main" id="{1E576A4D-80C8-CFF5-3E57-90FBC0E3BBB3}"/>
              </a:ext>
            </a:extLst>
          </p:cNvPr>
          <p:cNvSpPr txBox="1">
            <a:spLocks/>
          </p:cNvSpPr>
          <p:nvPr/>
        </p:nvSpPr>
        <p:spPr bwMode="auto">
          <a:xfrm>
            <a:off x="228600" y="1773238"/>
            <a:ext cx="8001000" cy="201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rgbClr val="FF6600"/>
              </a:buClr>
              <a:buFont typeface="Wingdings 3" panose="05040102010807070707" pitchFamily="18" charset="2"/>
              <a:buNone/>
            </a:pPr>
            <a:r>
              <a:rPr lang="en-US" altLang="en-US" sz="3200">
                <a:latin typeface="Calibri" panose="020F0502020204030204" pitchFamily="34" charset="0"/>
              </a:rPr>
              <a:t>A relational DBMS </a:t>
            </a:r>
            <a:r>
              <a:rPr lang="en-CA" altLang="en-US" sz="3200">
                <a:latin typeface="Calibri" panose="020F0502020204030204" pitchFamily="34" charset="0"/>
              </a:rPr>
              <a:t>will check each primary key value to ensure that it is not NULL since NULL is not unique. This is known as enforcing entity integrity constraint</a:t>
            </a:r>
          </a:p>
          <a:p>
            <a:pPr eaLnBrk="1" hangingPunct="1">
              <a:spcBef>
                <a:spcPct val="20000"/>
              </a:spcBef>
              <a:buClr>
                <a:srgbClr val="FF6600"/>
              </a:buClr>
              <a:buFont typeface="Wingdings 3" panose="05040102010807070707" pitchFamily="18" charset="2"/>
              <a:buNone/>
            </a:pPr>
            <a:endParaRPr lang="en-CA" altLang="en-US" sz="3200">
              <a:latin typeface="Calibri" panose="020F0502020204030204" pitchFamily="34" charset="0"/>
            </a:endParaRPr>
          </a:p>
          <a:p>
            <a:pPr eaLnBrk="1" hangingPunct="1">
              <a:spcBef>
                <a:spcPct val="20000"/>
              </a:spcBef>
              <a:buClr>
                <a:srgbClr val="FF6600"/>
              </a:buClr>
              <a:buFont typeface="Wingdings 3" panose="05040102010807070707" pitchFamily="18" charset="2"/>
              <a:buNone/>
            </a:pPr>
            <a:endParaRPr lang="en-CA" altLang="en-US" sz="3200">
              <a:latin typeface="Calibri" panose="020F0502020204030204" pitchFamily="34" charset="0"/>
            </a:endParaRPr>
          </a:p>
          <a:p>
            <a:pPr eaLnBrk="1" hangingPunct="1">
              <a:spcBef>
                <a:spcPct val="20000"/>
              </a:spcBef>
              <a:buClr>
                <a:srgbClr val="FF6600"/>
              </a:buClr>
              <a:buFont typeface="Wingdings 3" panose="05040102010807070707" pitchFamily="18" charset="2"/>
              <a:buNone/>
            </a:pPr>
            <a:endParaRPr lang="en-CA" altLang="en-US" sz="4000">
              <a:latin typeface="Calibri" panose="020F0502020204030204" pitchFamily="34" charset="0"/>
            </a:endParaRPr>
          </a:p>
          <a:p>
            <a:pPr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p:txBody>
      </p:sp>
      <p:sp>
        <p:nvSpPr>
          <p:cNvPr id="13" name="Snip Single Corner Rectangle 12">
            <a:extLst>
              <a:ext uri="{FF2B5EF4-FFF2-40B4-BE49-F238E27FC236}">
                <a16:creationId xmlns:a16="http://schemas.microsoft.com/office/drawing/2014/main" id="{7AF56B58-AB05-986E-D43B-EA4D730A5F3F}"/>
              </a:ext>
            </a:extLst>
          </p:cNvPr>
          <p:cNvSpPr/>
          <p:nvPr/>
        </p:nvSpPr>
        <p:spPr>
          <a:xfrm>
            <a:off x="131763" y="1371600"/>
            <a:ext cx="2808287" cy="401638"/>
          </a:xfrm>
          <a:prstGeom prst="snip1Rect">
            <a:avLst/>
          </a:prstGeom>
          <a:solidFill>
            <a:srgbClr val="002060">
              <a:alpha val="70000"/>
            </a:srgbClr>
          </a:solidFill>
          <a:ln>
            <a:solidFill>
              <a:srgbClr val="002060"/>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indent="-342900" algn="just" eaLnBrk="1" hangingPunct="1">
              <a:spcBef>
                <a:spcPct val="20000"/>
              </a:spcBef>
              <a:buClr>
                <a:srgbClr val="FF6600"/>
              </a:buClr>
              <a:buSzPct val="100000"/>
              <a:defRPr/>
            </a:pPr>
            <a:r>
              <a:rPr lang="en-US" dirty="0">
                <a:latin typeface="Arial" pitchFamily="34" charset="0"/>
                <a:ea typeface="Times New Roman" pitchFamily="18" charset="0"/>
                <a:cs typeface="Arial" pitchFamily="34" charset="0"/>
              </a:rPr>
              <a:t>Entity Integrity Constraint</a:t>
            </a:r>
            <a:endParaRPr lang="en-GB" kern="0" dirty="0">
              <a:solidFill>
                <a:schemeClr val="tx1"/>
              </a:solidFill>
            </a:endParaRPr>
          </a:p>
        </p:txBody>
      </p:sp>
      <p:graphicFrame>
        <p:nvGraphicFramePr>
          <p:cNvPr id="16" name="Table 15">
            <a:extLst>
              <a:ext uri="{FF2B5EF4-FFF2-40B4-BE49-F238E27FC236}">
                <a16:creationId xmlns:a16="http://schemas.microsoft.com/office/drawing/2014/main" id="{D7D4F306-E59A-14E6-4FC2-24B677B24A8A}"/>
              </a:ext>
            </a:extLst>
          </p:cNvPr>
          <p:cNvGraphicFramePr>
            <a:graphicFrameLocks noGrp="1"/>
          </p:cNvGraphicFramePr>
          <p:nvPr/>
        </p:nvGraphicFramePr>
        <p:xfrm>
          <a:off x="419100" y="3884613"/>
          <a:ext cx="3408363" cy="2295525"/>
        </p:xfrm>
        <a:graphic>
          <a:graphicData uri="http://schemas.openxmlformats.org/drawingml/2006/table">
            <a:tbl>
              <a:tblPr firstRow="1" bandRow="1">
                <a:tableStyleId>{3B4B98B0-60AC-42C2-AFA5-B58CD77FA1E5}</a:tableStyleId>
              </a:tblPr>
              <a:tblGrid>
                <a:gridCol w="1692181">
                  <a:extLst>
                    <a:ext uri="{9D8B030D-6E8A-4147-A177-3AD203B41FA5}">
                      <a16:colId xmlns:a16="http://schemas.microsoft.com/office/drawing/2014/main" val="20000"/>
                    </a:ext>
                  </a:extLst>
                </a:gridCol>
                <a:gridCol w="1716182">
                  <a:extLst>
                    <a:ext uri="{9D8B030D-6E8A-4147-A177-3AD203B41FA5}">
                      <a16:colId xmlns:a16="http://schemas.microsoft.com/office/drawing/2014/main" val="20001"/>
                    </a:ext>
                  </a:extLst>
                </a:gridCol>
              </a:tblGrid>
              <a:tr h="573881">
                <a:tc>
                  <a:txBody>
                    <a:bodyPr/>
                    <a:lstStyle/>
                    <a:p>
                      <a:pPr algn="ctr"/>
                      <a:r>
                        <a:rPr lang="en-CA" sz="1800" dirty="0"/>
                        <a:t>STUDENTID</a:t>
                      </a:r>
                    </a:p>
                  </a:txBody>
                  <a:tcPr marT="45731" marB="45731"/>
                </a:tc>
                <a:tc>
                  <a:txBody>
                    <a:bodyPr/>
                    <a:lstStyle/>
                    <a:p>
                      <a:pPr algn="ctr"/>
                      <a:r>
                        <a:rPr lang="en-CA" sz="1800" dirty="0"/>
                        <a:t>NAME</a:t>
                      </a:r>
                    </a:p>
                  </a:txBody>
                  <a:tcPr marT="45731" marB="45731"/>
                </a:tc>
                <a:extLst>
                  <a:ext uri="{0D108BD9-81ED-4DB2-BD59-A6C34878D82A}">
                    <a16:rowId xmlns:a16="http://schemas.microsoft.com/office/drawing/2014/main" val="10000"/>
                  </a:ext>
                </a:extLst>
              </a:tr>
              <a:tr h="573881">
                <a:tc>
                  <a:txBody>
                    <a:bodyPr/>
                    <a:lstStyle/>
                    <a:p>
                      <a:pPr algn="ctr"/>
                      <a:r>
                        <a:rPr lang="en-CA" sz="1800" dirty="0"/>
                        <a:t>1</a:t>
                      </a:r>
                    </a:p>
                  </a:txBody>
                  <a:tcPr marT="45731" marB="45731"/>
                </a:tc>
                <a:tc>
                  <a:txBody>
                    <a:bodyPr/>
                    <a:lstStyle/>
                    <a:p>
                      <a:r>
                        <a:rPr lang="en-CA" sz="1800" dirty="0"/>
                        <a:t>Talha Amjad</a:t>
                      </a:r>
                    </a:p>
                  </a:txBody>
                  <a:tcPr marT="45731" marB="45731"/>
                </a:tc>
                <a:extLst>
                  <a:ext uri="{0D108BD9-81ED-4DB2-BD59-A6C34878D82A}">
                    <a16:rowId xmlns:a16="http://schemas.microsoft.com/office/drawing/2014/main" val="10001"/>
                  </a:ext>
                </a:extLst>
              </a:tr>
              <a:tr h="573881">
                <a:tc>
                  <a:txBody>
                    <a:bodyPr/>
                    <a:lstStyle/>
                    <a:p>
                      <a:pPr algn="ctr"/>
                      <a:r>
                        <a:rPr lang="en-CA" sz="1800" dirty="0"/>
                        <a:t>2</a:t>
                      </a:r>
                    </a:p>
                  </a:txBody>
                  <a:tcPr marT="45731" marB="45731"/>
                </a:tc>
                <a:tc>
                  <a:txBody>
                    <a:bodyPr/>
                    <a:lstStyle/>
                    <a:p>
                      <a:r>
                        <a:rPr lang="en-CA" sz="1800" dirty="0"/>
                        <a:t>Sara Saleem</a:t>
                      </a:r>
                    </a:p>
                  </a:txBody>
                  <a:tcPr marT="45731" marB="45731"/>
                </a:tc>
                <a:extLst>
                  <a:ext uri="{0D108BD9-81ED-4DB2-BD59-A6C34878D82A}">
                    <a16:rowId xmlns:a16="http://schemas.microsoft.com/office/drawing/2014/main" val="10002"/>
                  </a:ext>
                </a:extLst>
              </a:tr>
              <a:tr h="573881">
                <a:tc>
                  <a:txBody>
                    <a:bodyPr/>
                    <a:lstStyle/>
                    <a:p>
                      <a:pPr algn="ctr"/>
                      <a:endParaRPr lang="en-CA" sz="1800" dirty="0"/>
                    </a:p>
                  </a:txBody>
                  <a:tcPr marT="45731" marB="45731"/>
                </a:tc>
                <a:tc>
                  <a:txBody>
                    <a:bodyPr/>
                    <a:lstStyle/>
                    <a:p>
                      <a:endParaRPr lang="en-CA" sz="1800" dirty="0"/>
                    </a:p>
                  </a:txBody>
                  <a:tcPr marT="45731" marB="45731"/>
                </a:tc>
                <a:extLst>
                  <a:ext uri="{0D108BD9-81ED-4DB2-BD59-A6C34878D82A}">
                    <a16:rowId xmlns:a16="http://schemas.microsoft.com/office/drawing/2014/main" val="10003"/>
                  </a:ext>
                </a:extLst>
              </a:tr>
            </a:tbl>
          </a:graphicData>
        </a:graphic>
      </p:graphicFrame>
      <p:sp>
        <p:nvSpPr>
          <p:cNvPr id="18" name="TextBox 17">
            <a:extLst>
              <a:ext uri="{FF2B5EF4-FFF2-40B4-BE49-F238E27FC236}">
                <a16:creationId xmlns:a16="http://schemas.microsoft.com/office/drawing/2014/main" id="{37B6596B-E8A7-F87B-6E3B-20A509FF0F66}"/>
              </a:ext>
            </a:extLst>
          </p:cNvPr>
          <p:cNvSpPr txBox="1">
            <a:spLocks noChangeArrowheads="1"/>
          </p:cNvSpPr>
          <p:nvPr/>
        </p:nvSpPr>
        <p:spPr bwMode="auto">
          <a:xfrm>
            <a:off x="1003300" y="6178550"/>
            <a:ext cx="22415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CA" altLang="en-US"/>
              <a:t>Student relation</a:t>
            </a:r>
          </a:p>
        </p:txBody>
      </p:sp>
      <p:grpSp>
        <p:nvGrpSpPr>
          <p:cNvPr id="3" name="Group 25">
            <a:extLst>
              <a:ext uri="{FF2B5EF4-FFF2-40B4-BE49-F238E27FC236}">
                <a16:creationId xmlns:a16="http://schemas.microsoft.com/office/drawing/2014/main" id="{3E754BFF-8183-D8E7-5D55-2F2208D3C832}"/>
              </a:ext>
            </a:extLst>
          </p:cNvPr>
          <p:cNvGrpSpPr>
            <a:grpSpLocks/>
          </p:cNvGrpSpPr>
          <p:nvPr/>
        </p:nvGrpSpPr>
        <p:grpSpPr bwMode="auto">
          <a:xfrm>
            <a:off x="2940050" y="4011613"/>
            <a:ext cx="5184775" cy="2041525"/>
            <a:chOff x="3131842" y="4115716"/>
            <a:chExt cx="5184574" cy="2040295"/>
          </a:xfrm>
        </p:grpSpPr>
        <p:sp>
          <p:nvSpPr>
            <p:cNvPr id="27" name="Rectangle 26">
              <a:extLst>
                <a:ext uri="{FF2B5EF4-FFF2-40B4-BE49-F238E27FC236}">
                  <a16:creationId xmlns:a16="http://schemas.microsoft.com/office/drawing/2014/main" id="{4CF624E4-3043-E92C-8483-EDBF53DD00B2}"/>
                </a:ext>
              </a:extLst>
            </p:cNvPr>
            <p:cNvSpPr/>
            <p:nvPr/>
          </p:nvSpPr>
          <p:spPr bwMode="auto">
            <a:xfrm>
              <a:off x="4547837" y="4115716"/>
              <a:ext cx="3768579" cy="2040295"/>
            </a:xfrm>
            <a:prstGeom prst="rect">
              <a:avLst/>
            </a:prstGeom>
            <a:ln>
              <a:headEnd type="none" w="med" len="med"/>
              <a:tailEnd type="none" w="med" len="med"/>
            </a:ln>
          </p:spPr>
          <p:style>
            <a:lnRef idx="1">
              <a:schemeClr val="dk1"/>
            </a:lnRef>
            <a:fillRef idx="2">
              <a:schemeClr val="dk1"/>
            </a:fillRef>
            <a:effectRef idx="1">
              <a:schemeClr val="dk1"/>
            </a:effectRef>
            <a:fontRef idx="minor">
              <a:schemeClr val="dk1"/>
            </a:fontRef>
          </p:style>
          <p:txBody>
            <a:bodyPr anchor="ctr" anchorCtr="1"/>
            <a:lstStyle/>
            <a:p>
              <a:pPr algn="ctr">
                <a:defRPr/>
              </a:pPr>
              <a:r>
                <a:rPr lang="en-CA" dirty="0">
                  <a:solidFill>
                    <a:schemeClr val="tx1"/>
                  </a:solidFill>
                  <a:latin typeface="Arial" charset="0"/>
                </a:rPr>
                <a:t>If you try to enter STUDENTID = NULL and NAME = </a:t>
              </a:r>
              <a:r>
                <a:rPr lang="en-CA" dirty="0"/>
                <a:t>Aqib Ali</a:t>
              </a:r>
              <a:r>
                <a:rPr lang="en-CA" dirty="0">
                  <a:solidFill>
                    <a:schemeClr val="tx1"/>
                  </a:solidFill>
                  <a:latin typeface="Arial" charset="0"/>
                </a:rPr>
                <a:t>, the relational DBMS would enforce entity integrity constraint and denied your data entry since STUDENTID is a primary key and cannot be NULL</a:t>
              </a:r>
            </a:p>
          </p:txBody>
        </p:sp>
        <p:cxnSp>
          <p:nvCxnSpPr>
            <p:cNvPr id="28" name="Straight Arrow Connector 27">
              <a:extLst>
                <a:ext uri="{FF2B5EF4-FFF2-40B4-BE49-F238E27FC236}">
                  <a16:creationId xmlns:a16="http://schemas.microsoft.com/office/drawing/2014/main" id="{4C6FC861-566E-DFA8-7EDC-E9746C77B65E}"/>
                </a:ext>
              </a:extLst>
            </p:cNvPr>
            <p:cNvCxnSpPr/>
            <p:nvPr/>
          </p:nvCxnSpPr>
          <p:spPr bwMode="auto">
            <a:xfrm flipH="1">
              <a:off x="3131842" y="5602307"/>
              <a:ext cx="1446157" cy="330001"/>
            </a:xfrm>
            <a:prstGeom prst="straightConnector1">
              <a:avLst/>
            </a:prstGeom>
            <a:ln>
              <a:headEnd type="none" w="med" len="med"/>
              <a:tailEnd type="arrow"/>
            </a:ln>
          </p:spPr>
          <p:style>
            <a:lnRef idx="1">
              <a:schemeClr val="dk1"/>
            </a:lnRef>
            <a:fillRef idx="2">
              <a:schemeClr val="dk1"/>
            </a:fillRef>
            <a:effectRef idx="1">
              <a:schemeClr val="dk1"/>
            </a:effectRef>
            <a:fontRef idx="minor">
              <a:schemeClr val="dk1"/>
            </a:fontRef>
          </p:style>
        </p:cxnSp>
      </p:grpSp>
      <p:cxnSp>
        <p:nvCxnSpPr>
          <p:cNvPr id="29" name="Straight Connector 28">
            <a:extLst>
              <a:ext uri="{FF2B5EF4-FFF2-40B4-BE49-F238E27FC236}">
                <a16:creationId xmlns:a16="http://schemas.microsoft.com/office/drawing/2014/main" id="{3DA8697F-8AC0-6744-05D9-72874B2B970C}"/>
              </a:ext>
            </a:extLst>
          </p:cNvPr>
          <p:cNvCxnSpPr/>
          <p:nvPr/>
        </p:nvCxnSpPr>
        <p:spPr bwMode="auto">
          <a:xfrm>
            <a:off x="638175" y="4208463"/>
            <a:ext cx="1296988" cy="0"/>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4">
                                            <p:txEl>
                                              <p:pRg st="0" end="0"/>
                                            </p:txEl>
                                          </p:spTgt>
                                        </p:tgtEl>
                                        <p:attrNameLst>
                                          <p:attrName>style.visibility</p:attrName>
                                        </p:attrNameLst>
                                      </p:cBhvr>
                                      <p:to>
                                        <p:strVal val="visible"/>
                                      </p:to>
                                    </p:set>
                                    <p:animEffect transition="in" filter="wipe(left)">
                                      <p:cBhvr>
                                        <p:cTn id="11" dur="500"/>
                                        <p:tgtEl>
                                          <p:spTgt spid="24">
                                            <p:txEl>
                                              <p:pRg st="0" end="0"/>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wipe(up)">
                                      <p:cBhvr>
                                        <p:cTn id="16" dur="500"/>
                                        <p:tgtEl>
                                          <p:spTgt spid="16"/>
                                        </p:tgtEl>
                                      </p:cBhvr>
                                    </p:animEffect>
                                  </p:childTnLst>
                                </p:cTn>
                              </p:par>
                            </p:childTnLst>
                          </p:cTn>
                        </p:par>
                        <p:par>
                          <p:cTn id="17" fill="hold" nodeType="afterGroup">
                            <p:stCondLst>
                              <p:cond delay="500"/>
                            </p:stCondLst>
                            <p:childTnLst>
                              <p:par>
                                <p:cTn id="18" presetID="22" presetClass="entr" presetSubtype="1" fill="hold" grpId="0" nodeType="after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wipe(up)">
                                      <p:cBhvr>
                                        <p:cTn id="20" dur="500"/>
                                        <p:tgtEl>
                                          <p:spTgt spid="18"/>
                                        </p:tgtEl>
                                      </p:cBhvr>
                                    </p:animEffect>
                                  </p:childTnLst>
                                </p:cTn>
                              </p:par>
                            </p:childTnLst>
                          </p:cTn>
                        </p:par>
                        <p:par>
                          <p:cTn id="21" fill="hold" nodeType="afterGroup">
                            <p:stCondLst>
                              <p:cond delay="1000"/>
                            </p:stCondLst>
                            <p:childTnLst>
                              <p:par>
                                <p:cTn id="22" presetID="22" presetClass="entr" presetSubtype="8" fill="hold" nodeType="after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wipe(left)">
                                      <p:cBhvr>
                                        <p:cTn id="24" dur="500"/>
                                        <p:tgtEl>
                                          <p:spTgt spid="29"/>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4" fill="hold" nodeType="clickEffect">
                                  <p:stCondLst>
                                    <p:cond delay="0"/>
                                  </p:stCondLst>
                                  <p:childTnLst>
                                    <p:set>
                                      <p:cBhvr>
                                        <p:cTn id="28" dur="1" fill="hold">
                                          <p:stCondLst>
                                            <p:cond delay="0"/>
                                          </p:stCondLst>
                                        </p:cTn>
                                        <p:tgtEl>
                                          <p:spTgt spid="3"/>
                                        </p:tgtEl>
                                        <p:attrNameLst>
                                          <p:attrName>style.visibility</p:attrName>
                                        </p:attrNameLst>
                                      </p:cBhvr>
                                      <p:to>
                                        <p:strVal val="visible"/>
                                      </p:to>
                                    </p:set>
                                    <p:anim calcmode="lin" valueType="num">
                                      <p:cBhvr additive="base">
                                        <p:cTn id="29" dur="500" fill="hold"/>
                                        <p:tgtEl>
                                          <p:spTgt spid="3"/>
                                        </p:tgtEl>
                                        <p:attrNameLst>
                                          <p:attrName>ppt_x</p:attrName>
                                        </p:attrNameLst>
                                      </p:cBhvr>
                                      <p:tavLst>
                                        <p:tav tm="0">
                                          <p:val>
                                            <p:strVal val="#ppt_x"/>
                                          </p:val>
                                        </p:tav>
                                        <p:tav tm="100000">
                                          <p:val>
                                            <p:strVal val="#ppt_x"/>
                                          </p:val>
                                        </p:tav>
                                      </p:tavLst>
                                    </p:anim>
                                    <p:anim calcmode="lin" valueType="num">
                                      <p:cBhvr additive="base">
                                        <p:cTn id="3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build="p"/>
      <p:bldP spid="13" grpId="0" animBg="1"/>
      <p:bldP spid="18" grpId="0"/>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AB48A6-708C-951A-85B3-1E96AC395ED7}"/>
              </a:ext>
            </a:extLst>
          </p:cNvPr>
          <p:cNvSpPr>
            <a:spLocks noGrp="1"/>
          </p:cNvSpPr>
          <p:nvPr>
            <p:ph type="title"/>
          </p:nvPr>
        </p:nvSpPr>
        <p:spPr>
          <a:xfrm>
            <a:off x="457200" y="0"/>
            <a:ext cx="7620000" cy="1143000"/>
          </a:xfrm>
        </p:spPr>
        <p:txBody>
          <a:bodyPr/>
          <a:lstStyle/>
          <a:p>
            <a:pPr algn="ctr">
              <a:defRPr/>
            </a:pPr>
            <a:r>
              <a:rPr lang="en-US" dirty="0"/>
              <a:t>Relational Constraints</a:t>
            </a:r>
            <a:endParaRPr lang="en-CA" dirty="0"/>
          </a:p>
        </p:txBody>
      </p:sp>
      <p:sp>
        <p:nvSpPr>
          <p:cNvPr id="24" name="Content Placeholder 2">
            <a:extLst>
              <a:ext uri="{FF2B5EF4-FFF2-40B4-BE49-F238E27FC236}">
                <a16:creationId xmlns:a16="http://schemas.microsoft.com/office/drawing/2014/main" id="{246A80C1-7CBF-51A1-30FF-92FAA7AB208C}"/>
              </a:ext>
            </a:extLst>
          </p:cNvPr>
          <p:cNvSpPr txBox="1">
            <a:spLocks/>
          </p:cNvSpPr>
          <p:nvPr/>
        </p:nvSpPr>
        <p:spPr bwMode="auto">
          <a:xfrm>
            <a:off x="304800" y="1773238"/>
            <a:ext cx="7848600"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rgbClr val="FF6600"/>
              </a:buClr>
              <a:buFont typeface="Wingdings 3" panose="05040102010807070707" pitchFamily="18" charset="2"/>
              <a:buNone/>
            </a:pPr>
            <a:r>
              <a:rPr lang="en-US" altLang="en-US" sz="3200">
                <a:latin typeface="Calibri" panose="020F0502020204030204" pitchFamily="34" charset="0"/>
              </a:rPr>
              <a:t>A relational DBMS </a:t>
            </a:r>
            <a:r>
              <a:rPr lang="en-CA" altLang="en-US" sz="3200">
                <a:latin typeface="Calibri" panose="020F0502020204030204" pitchFamily="34" charset="0"/>
              </a:rPr>
              <a:t>will check each column value to ensure that it is not NULL</a:t>
            </a:r>
            <a:endParaRPr lang="en-CA" altLang="en-US" sz="20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24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r>
              <a:rPr lang="en-CA" altLang="en-US" sz="2800">
                <a:latin typeface="Calibri" panose="020F0502020204030204" pitchFamily="34" charset="0"/>
              </a:rPr>
              <a:t>E.g. If you declare NULL constraint on “Name”</a:t>
            </a:r>
          </a:p>
          <a:p>
            <a:pPr algn="just" eaLnBrk="1" hangingPunct="1">
              <a:spcBef>
                <a:spcPct val="20000"/>
              </a:spcBef>
              <a:buClr>
                <a:srgbClr val="FF6600"/>
              </a:buClr>
              <a:buFont typeface="Wingdings 3" panose="05040102010807070707" pitchFamily="18" charset="2"/>
              <a:buNone/>
            </a:pPr>
            <a:endParaRPr lang="en-CA" altLang="en-US" sz="32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32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32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40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p:txBody>
      </p:sp>
      <p:sp>
        <p:nvSpPr>
          <p:cNvPr id="15" name="Snip Single Corner Rectangle 14">
            <a:extLst>
              <a:ext uri="{FF2B5EF4-FFF2-40B4-BE49-F238E27FC236}">
                <a16:creationId xmlns:a16="http://schemas.microsoft.com/office/drawing/2014/main" id="{5F62B1AE-D7CE-851C-C38B-6B4754B74EA4}"/>
              </a:ext>
            </a:extLst>
          </p:cNvPr>
          <p:cNvSpPr/>
          <p:nvPr/>
        </p:nvSpPr>
        <p:spPr>
          <a:xfrm>
            <a:off x="219075" y="1371600"/>
            <a:ext cx="1944688" cy="401638"/>
          </a:xfrm>
          <a:prstGeom prst="snip1Rect">
            <a:avLst/>
          </a:prstGeom>
          <a:solidFill>
            <a:srgbClr val="C00000">
              <a:alpha val="70000"/>
            </a:srgbClr>
          </a:solidFill>
          <a:ln>
            <a:solidFill>
              <a:srgbClr val="C00000"/>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indent="-342900" algn="just" eaLnBrk="1" hangingPunct="1">
              <a:spcBef>
                <a:spcPct val="20000"/>
              </a:spcBef>
              <a:buClr>
                <a:srgbClr val="FF6600"/>
              </a:buClr>
              <a:buSzPct val="100000"/>
              <a:defRPr/>
            </a:pPr>
            <a:r>
              <a:rPr lang="en-US" dirty="0">
                <a:latin typeface="Arial" pitchFamily="34" charset="0"/>
                <a:ea typeface="Times New Roman" pitchFamily="18" charset="0"/>
                <a:cs typeface="Arial" pitchFamily="34" charset="0"/>
              </a:rPr>
              <a:t>NULL Constraint</a:t>
            </a:r>
            <a:endParaRPr lang="en-GB" kern="0" dirty="0">
              <a:solidFill>
                <a:schemeClr val="tx1"/>
              </a:solidFill>
            </a:endParaRPr>
          </a:p>
        </p:txBody>
      </p:sp>
      <p:graphicFrame>
        <p:nvGraphicFramePr>
          <p:cNvPr id="19" name="Table 18">
            <a:extLst>
              <a:ext uri="{FF2B5EF4-FFF2-40B4-BE49-F238E27FC236}">
                <a16:creationId xmlns:a16="http://schemas.microsoft.com/office/drawing/2014/main" id="{D442C293-D038-704E-4FF3-9995E18FFB22}"/>
              </a:ext>
            </a:extLst>
          </p:cNvPr>
          <p:cNvGraphicFramePr>
            <a:graphicFrameLocks noGrp="1"/>
          </p:cNvGraphicFramePr>
          <p:nvPr/>
        </p:nvGraphicFramePr>
        <p:xfrm>
          <a:off x="608013" y="3813175"/>
          <a:ext cx="3408362" cy="2293940"/>
        </p:xfrm>
        <a:graphic>
          <a:graphicData uri="http://schemas.openxmlformats.org/drawingml/2006/table">
            <a:tbl>
              <a:tblPr firstRow="1" bandRow="1">
                <a:tableStyleId>{3B4B98B0-60AC-42C2-AFA5-B58CD77FA1E5}</a:tableStyleId>
              </a:tblPr>
              <a:tblGrid>
                <a:gridCol w="1692180">
                  <a:extLst>
                    <a:ext uri="{9D8B030D-6E8A-4147-A177-3AD203B41FA5}">
                      <a16:colId xmlns:a16="http://schemas.microsoft.com/office/drawing/2014/main" val="20000"/>
                    </a:ext>
                  </a:extLst>
                </a:gridCol>
                <a:gridCol w="1716182">
                  <a:extLst>
                    <a:ext uri="{9D8B030D-6E8A-4147-A177-3AD203B41FA5}">
                      <a16:colId xmlns:a16="http://schemas.microsoft.com/office/drawing/2014/main" val="20001"/>
                    </a:ext>
                  </a:extLst>
                </a:gridCol>
              </a:tblGrid>
              <a:tr h="573485">
                <a:tc>
                  <a:txBody>
                    <a:bodyPr/>
                    <a:lstStyle/>
                    <a:p>
                      <a:pPr algn="ctr"/>
                      <a:r>
                        <a:rPr lang="en-CA" sz="1800" dirty="0"/>
                        <a:t>STUDENTID</a:t>
                      </a:r>
                    </a:p>
                  </a:txBody>
                  <a:tcPr marT="45700" marB="45700"/>
                </a:tc>
                <a:tc>
                  <a:txBody>
                    <a:bodyPr/>
                    <a:lstStyle/>
                    <a:p>
                      <a:pPr algn="ctr"/>
                      <a:r>
                        <a:rPr lang="en-CA" sz="1800" dirty="0"/>
                        <a:t>NAME</a:t>
                      </a:r>
                    </a:p>
                  </a:txBody>
                  <a:tcPr marT="45700" marB="45700"/>
                </a:tc>
                <a:extLst>
                  <a:ext uri="{0D108BD9-81ED-4DB2-BD59-A6C34878D82A}">
                    <a16:rowId xmlns:a16="http://schemas.microsoft.com/office/drawing/2014/main" val="10000"/>
                  </a:ext>
                </a:extLst>
              </a:tr>
              <a:tr h="573485">
                <a:tc>
                  <a:txBody>
                    <a:bodyPr/>
                    <a:lstStyle/>
                    <a:p>
                      <a:pPr algn="ctr"/>
                      <a:r>
                        <a:rPr lang="en-CA" sz="1800" dirty="0"/>
                        <a:t>1</a:t>
                      </a:r>
                    </a:p>
                  </a:txBody>
                  <a:tcPr marT="45700" marB="45700"/>
                </a:tc>
                <a:tc>
                  <a:txBody>
                    <a:bodyPr/>
                    <a:lstStyle/>
                    <a:p>
                      <a:r>
                        <a:rPr lang="en-CA" sz="1800" dirty="0"/>
                        <a:t>Talha Amjad</a:t>
                      </a:r>
                    </a:p>
                  </a:txBody>
                  <a:tcPr marT="45700" marB="45700"/>
                </a:tc>
                <a:extLst>
                  <a:ext uri="{0D108BD9-81ED-4DB2-BD59-A6C34878D82A}">
                    <a16:rowId xmlns:a16="http://schemas.microsoft.com/office/drawing/2014/main" val="10001"/>
                  </a:ext>
                </a:extLst>
              </a:tr>
              <a:tr h="573485">
                <a:tc>
                  <a:txBody>
                    <a:bodyPr/>
                    <a:lstStyle/>
                    <a:p>
                      <a:pPr algn="ctr"/>
                      <a:r>
                        <a:rPr lang="en-CA" sz="1800" dirty="0"/>
                        <a:t>2</a:t>
                      </a:r>
                    </a:p>
                  </a:txBody>
                  <a:tcPr marT="45700" marB="45700"/>
                </a:tc>
                <a:tc>
                  <a:txBody>
                    <a:bodyPr/>
                    <a:lstStyle/>
                    <a:p>
                      <a:r>
                        <a:rPr lang="en-CA" sz="1800" dirty="0"/>
                        <a:t>Sara Saleem</a:t>
                      </a:r>
                    </a:p>
                  </a:txBody>
                  <a:tcPr marT="45700" marB="45700"/>
                </a:tc>
                <a:extLst>
                  <a:ext uri="{0D108BD9-81ED-4DB2-BD59-A6C34878D82A}">
                    <a16:rowId xmlns:a16="http://schemas.microsoft.com/office/drawing/2014/main" val="10002"/>
                  </a:ext>
                </a:extLst>
              </a:tr>
              <a:tr h="573485">
                <a:tc>
                  <a:txBody>
                    <a:bodyPr/>
                    <a:lstStyle/>
                    <a:p>
                      <a:pPr algn="ctr"/>
                      <a:endParaRPr lang="en-CA" sz="1800" dirty="0"/>
                    </a:p>
                  </a:txBody>
                  <a:tcPr marT="45700" marB="45700"/>
                </a:tc>
                <a:tc>
                  <a:txBody>
                    <a:bodyPr/>
                    <a:lstStyle/>
                    <a:p>
                      <a:endParaRPr lang="en-CA" sz="1800" dirty="0"/>
                    </a:p>
                  </a:txBody>
                  <a:tcPr marT="45700" marB="45700"/>
                </a:tc>
                <a:extLst>
                  <a:ext uri="{0D108BD9-81ED-4DB2-BD59-A6C34878D82A}">
                    <a16:rowId xmlns:a16="http://schemas.microsoft.com/office/drawing/2014/main" val="10003"/>
                  </a:ext>
                </a:extLst>
              </a:tr>
            </a:tbl>
          </a:graphicData>
        </a:graphic>
      </p:graphicFrame>
      <p:sp>
        <p:nvSpPr>
          <p:cNvPr id="25" name="TextBox 24">
            <a:extLst>
              <a:ext uri="{FF2B5EF4-FFF2-40B4-BE49-F238E27FC236}">
                <a16:creationId xmlns:a16="http://schemas.microsoft.com/office/drawing/2014/main" id="{667F3124-9EF6-99EA-A172-179AC284F754}"/>
              </a:ext>
            </a:extLst>
          </p:cNvPr>
          <p:cNvSpPr txBox="1">
            <a:spLocks noChangeArrowheads="1"/>
          </p:cNvSpPr>
          <p:nvPr/>
        </p:nvSpPr>
        <p:spPr bwMode="auto">
          <a:xfrm>
            <a:off x="1190625" y="6107113"/>
            <a:ext cx="22415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CA" altLang="en-US"/>
              <a:t>Student relation</a:t>
            </a:r>
          </a:p>
        </p:txBody>
      </p:sp>
      <p:grpSp>
        <p:nvGrpSpPr>
          <p:cNvPr id="3" name="Group 27">
            <a:extLst>
              <a:ext uri="{FF2B5EF4-FFF2-40B4-BE49-F238E27FC236}">
                <a16:creationId xmlns:a16="http://schemas.microsoft.com/office/drawing/2014/main" id="{30F7710A-825E-55F0-511E-B5033562AECB}"/>
              </a:ext>
            </a:extLst>
          </p:cNvPr>
          <p:cNvGrpSpPr>
            <a:grpSpLocks/>
          </p:cNvGrpSpPr>
          <p:nvPr/>
        </p:nvGrpSpPr>
        <p:grpSpPr bwMode="auto">
          <a:xfrm>
            <a:off x="3081338" y="4067175"/>
            <a:ext cx="4870450" cy="1785938"/>
            <a:chOff x="3446132" y="4115717"/>
            <a:chExt cx="4870284" cy="1786818"/>
          </a:xfrm>
        </p:grpSpPr>
        <p:sp>
          <p:nvSpPr>
            <p:cNvPr id="29" name="Rectangle 28">
              <a:extLst>
                <a:ext uri="{FF2B5EF4-FFF2-40B4-BE49-F238E27FC236}">
                  <a16:creationId xmlns:a16="http://schemas.microsoft.com/office/drawing/2014/main" id="{161AF900-7A60-E99E-FA20-1E228CAE40B0}"/>
                </a:ext>
              </a:extLst>
            </p:cNvPr>
            <p:cNvSpPr/>
            <p:nvPr/>
          </p:nvSpPr>
          <p:spPr bwMode="auto">
            <a:xfrm>
              <a:off x="4860546" y="4115717"/>
              <a:ext cx="3455870" cy="1786818"/>
            </a:xfrm>
            <a:prstGeom prst="rect">
              <a:avLst/>
            </a:prstGeom>
            <a:ln>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anchor="ctr" anchorCtr="1"/>
            <a:lstStyle/>
            <a:p>
              <a:pPr algn="ctr">
                <a:defRPr/>
              </a:pPr>
              <a:r>
                <a:rPr lang="en-CA" dirty="0">
                  <a:solidFill>
                    <a:schemeClr val="tx1"/>
                  </a:solidFill>
                  <a:latin typeface="Arial" charset="0"/>
                </a:rPr>
                <a:t>If you try to enter STUDENTID = 3 and NAME = NULL, the relational DBMS would enforce NULL constraint and denied your data entry</a:t>
              </a:r>
            </a:p>
          </p:txBody>
        </p:sp>
        <p:cxnSp>
          <p:nvCxnSpPr>
            <p:cNvPr id="30" name="Straight Arrow Connector 29">
              <a:extLst>
                <a:ext uri="{FF2B5EF4-FFF2-40B4-BE49-F238E27FC236}">
                  <a16:creationId xmlns:a16="http://schemas.microsoft.com/office/drawing/2014/main" id="{FF407E09-9BB1-DC17-CF23-3CBF21A6EFA3}"/>
                </a:ext>
              </a:extLst>
            </p:cNvPr>
            <p:cNvCxnSpPr/>
            <p:nvPr/>
          </p:nvCxnSpPr>
          <p:spPr bwMode="auto">
            <a:xfrm flipH="1">
              <a:off x="3446132" y="5602349"/>
              <a:ext cx="1446163" cy="239831"/>
            </a:xfrm>
            <a:prstGeom prst="straightConnector1">
              <a:avLst/>
            </a:prstGeom>
            <a:ln>
              <a:headEnd type="none" w="med" len="med"/>
              <a:tailEnd type="arrow"/>
            </a:ln>
          </p:spPr>
          <p:style>
            <a:lnRef idx="1">
              <a:schemeClr val="accent4"/>
            </a:lnRef>
            <a:fillRef idx="2">
              <a:schemeClr val="accent4"/>
            </a:fillRef>
            <a:effectRef idx="1">
              <a:schemeClr val="accent4"/>
            </a:effectRef>
            <a:fontRef idx="minor">
              <a:schemeClr val="dk1"/>
            </a:fontRef>
          </p:style>
        </p:cxnSp>
      </p:grpSp>
      <p:cxnSp>
        <p:nvCxnSpPr>
          <p:cNvPr id="31" name="Straight Connector 30">
            <a:extLst>
              <a:ext uri="{FF2B5EF4-FFF2-40B4-BE49-F238E27FC236}">
                <a16:creationId xmlns:a16="http://schemas.microsoft.com/office/drawing/2014/main" id="{6BD03A7B-2988-5F7D-9FD0-57AAF92F9C07}"/>
              </a:ext>
            </a:extLst>
          </p:cNvPr>
          <p:cNvCxnSpPr/>
          <p:nvPr/>
        </p:nvCxnSpPr>
        <p:spPr bwMode="auto">
          <a:xfrm>
            <a:off x="800100" y="4113213"/>
            <a:ext cx="1295400" cy="0"/>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24">
                                            <p:txEl>
                                              <p:pRg st="0" end="0"/>
                                            </p:txEl>
                                          </p:spTgt>
                                        </p:tgtEl>
                                        <p:attrNameLst>
                                          <p:attrName>style.visibility</p:attrName>
                                        </p:attrNameLst>
                                      </p:cBhvr>
                                      <p:to>
                                        <p:strVal val="visible"/>
                                      </p:to>
                                    </p:set>
                                    <p:animEffect transition="in" filter="wipe(left)">
                                      <p:cBhvr>
                                        <p:cTn id="11" dur="500"/>
                                        <p:tgtEl>
                                          <p:spTgt spid="24">
                                            <p:txEl>
                                              <p:pRg st="0" end="0"/>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24">
                                            <p:txEl>
                                              <p:pRg st="2" end="2"/>
                                            </p:txEl>
                                          </p:spTgt>
                                        </p:tgtEl>
                                        <p:attrNameLst>
                                          <p:attrName>style.visibility</p:attrName>
                                        </p:attrNameLst>
                                      </p:cBhvr>
                                      <p:to>
                                        <p:strVal val="visible"/>
                                      </p:to>
                                    </p:set>
                                    <p:animEffect transition="in" filter="wipe(left)">
                                      <p:cBhvr>
                                        <p:cTn id="16" dur="500"/>
                                        <p:tgtEl>
                                          <p:spTgt spid="24">
                                            <p:txEl>
                                              <p:pRg st="2" end="2"/>
                                            </p:txEl>
                                          </p:spTgt>
                                        </p:tgtEl>
                                      </p:cBhvr>
                                    </p:animEffect>
                                  </p:childTnLst>
                                </p:cTn>
                              </p:par>
                            </p:childTnLst>
                          </p:cTn>
                        </p:par>
                        <p:par>
                          <p:cTn id="17" fill="hold" nodeType="afterGroup">
                            <p:stCondLst>
                              <p:cond delay="500"/>
                            </p:stCondLst>
                            <p:childTnLst>
                              <p:par>
                                <p:cTn id="18" presetID="22" presetClass="entr" presetSubtype="1" fill="hold" nodeType="after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wipe(up)">
                                      <p:cBhvr>
                                        <p:cTn id="20" dur="500"/>
                                        <p:tgtEl>
                                          <p:spTgt spid="19"/>
                                        </p:tgtEl>
                                      </p:cBhvr>
                                    </p:animEffect>
                                  </p:childTnLst>
                                </p:cTn>
                              </p:par>
                            </p:childTnLst>
                          </p:cTn>
                        </p:par>
                        <p:par>
                          <p:cTn id="21" fill="hold" nodeType="afterGroup">
                            <p:stCondLst>
                              <p:cond delay="1000"/>
                            </p:stCondLst>
                            <p:childTnLst>
                              <p:par>
                                <p:cTn id="22" presetID="22" presetClass="entr" presetSubtype="1" fill="hold" grpId="0" nodeType="afterEffect">
                                  <p:stCondLst>
                                    <p:cond delay="0"/>
                                  </p:stCondLst>
                                  <p:childTnLst>
                                    <p:set>
                                      <p:cBhvr>
                                        <p:cTn id="23" dur="1" fill="hold">
                                          <p:stCondLst>
                                            <p:cond delay="0"/>
                                          </p:stCondLst>
                                        </p:cTn>
                                        <p:tgtEl>
                                          <p:spTgt spid="25"/>
                                        </p:tgtEl>
                                        <p:attrNameLst>
                                          <p:attrName>style.visibility</p:attrName>
                                        </p:attrNameLst>
                                      </p:cBhvr>
                                      <p:to>
                                        <p:strVal val="visible"/>
                                      </p:to>
                                    </p:set>
                                    <p:animEffect transition="in" filter="wipe(up)">
                                      <p:cBhvr>
                                        <p:cTn id="24" dur="500"/>
                                        <p:tgtEl>
                                          <p:spTgt spid="25"/>
                                        </p:tgtEl>
                                      </p:cBhvr>
                                    </p:animEffect>
                                  </p:childTnLst>
                                </p:cTn>
                              </p:par>
                            </p:childTnLst>
                          </p:cTn>
                        </p:par>
                        <p:par>
                          <p:cTn id="25" fill="hold" nodeType="afterGroup">
                            <p:stCondLst>
                              <p:cond delay="1500"/>
                            </p:stCondLst>
                            <p:childTnLst>
                              <p:par>
                                <p:cTn id="26" presetID="22" presetClass="entr" presetSubtype="8" fill="hold" nodeType="afterEffect">
                                  <p:stCondLst>
                                    <p:cond delay="0"/>
                                  </p:stCondLst>
                                  <p:childTnLst>
                                    <p:set>
                                      <p:cBhvr>
                                        <p:cTn id="27" dur="1" fill="hold">
                                          <p:stCondLst>
                                            <p:cond delay="0"/>
                                          </p:stCondLst>
                                        </p:cTn>
                                        <p:tgtEl>
                                          <p:spTgt spid="31"/>
                                        </p:tgtEl>
                                        <p:attrNameLst>
                                          <p:attrName>style.visibility</p:attrName>
                                        </p:attrNameLst>
                                      </p:cBhvr>
                                      <p:to>
                                        <p:strVal val="visible"/>
                                      </p:to>
                                    </p:set>
                                    <p:animEffect transition="in" filter="wipe(left)">
                                      <p:cBhvr>
                                        <p:cTn id="28" dur="500"/>
                                        <p:tgtEl>
                                          <p:spTgt spid="31"/>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4" fill="hold" nodeType="clickEffect">
                                  <p:stCondLst>
                                    <p:cond delay="0"/>
                                  </p:stCondLst>
                                  <p:childTnLst>
                                    <p:set>
                                      <p:cBhvr>
                                        <p:cTn id="32" dur="1" fill="hold">
                                          <p:stCondLst>
                                            <p:cond delay="0"/>
                                          </p:stCondLst>
                                        </p:cTn>
                                        <p:tgtEl>
                                          <p:spTgt spid="3"/>
                                        </p:tgtEl>
                                        <p:attrNameLst>
                                          <p:attrName>style.visibility</p:attrName>
                                        </p:attrNameLst>
                                      </p:cBhvr>
                                      <p:to>
                                        <p:strVal val="visible"/>
                                      </p:to>
                                    </p:set>
                                    <p:anim calcmode="lin" valueType="num">
                                      <p:cBhvr additive="base">
                                        <p:cTn id="33" dur="500" fill="hold"/>
                                        <p:tgtEl>
                                          <p:spTgt spid="3"/>
                                        </p:tgtEl>
                                        <p:attrNameLst>
                                          <p:attrName>ppt_x</p:attrName>
                                        </p:attrNameLst>
                                      </p:cBhvr>
                                      <p:tavLst>
                                        <p:tav tm="0">
                                          <p:val>
                                            <p:strVal val="#ppt_x"/>
                                          </p:val>
                                        </p:tav>
                                        <p:tav tm="100000">
                                          <p:val>
                                            <p:strVal val="#ppt_x"/>
                                          </p:val>
                                        </p:tav>
                                      </p:tavLst>
                                    </p:anim>
                                    <p:anim calcmode="lin" valueType="num">
                                      <p:cBhvr additive="base">
                                        <p:cTn id="3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25" grpId="0"/>
    </p:bld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A0BBE1-63AD-7539-6BDE-2779EC30B64E}"/>
              </a:ext>
            </a:extLst>
          </p:cNvPr>
          <p:cNvSpPr>
            <a:spLocks noGrp="1"/>
          </p:cNvSpPr>
          <p:nvPr>
            <p:ph type="title"/>
          </p:nvPr>
        </p:nvSpPr>
        <p:spPr>
          <a:xfrm>
            <a:off x="457200" y="0"/>
            <a:ext cx="7620000" cy="1143000"/>
          </a:xfrm>
        </p:spPr>
        <p:txBody>
          <a:bodyPr/>
          <a:lstStyle/>
          <a:p>
            <a:pPr algn="ctr">
              <a:defRPr/>
            </a:pPr>
            <a:r>
              <a:rPr lang="en-US" dirty="0"/>
              <a:t>Relational Constraints</a:t>
            </a:r>
            <a:endParaRPr lang="en-CA" dirty="0"/>
          </a:p>
        </p:txBody>
      </p:sp>
      <p:sp>
        <p:nvSpPr>
          <p:cNvPr id="24" name="Content Placeholder 2">
            <a:extLst>
              <a:ext uri="{FF2B5EF4-FFF2-40B4-BE49-F238E27FC236}">
                <a16:creationId xmlns:a16="http://schemas.microsoft.com/office/drawing/2014/main" id="{FF86FC9C-AB00-A227-41FD-54E365F472D8}"/>
              </a:ext>
            </a:extLst>
          </p:cNvPr>
          <p:cNvSpPr txBox="1">
            <a:spLocks/>
          </p:cNvSpPr>
          <p:nvPr/>
        </p:nvSpPr>
        <p:spPr bwMode="auto">
          <a:xfrm>
            <a:off x="134938" y="1868488"/>
            <a:ext cx="8228012"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rgbClr val="FF6600"/>
              </a:buClr>
              <a:buFont typeface="Wingdings 3" panose="05040102010807070707" pitchFamily="18" charset="2"/>
              <a:buNone/>
            </a:pPr>
            <a:r>
              <a:rPr lang="en-CA" altLang="en-US" sz="3200">
                <a:latin typeface="Calibri" panose="020F0502020204030204" pitchFamily="34" charset="0"/>
              </a:rPr>
              <a:t>A </a:t>
            </a:r>
            <a:r>
              <a:rPr lang="en-CA" altLang="en-US" sz="3200" b="1">
                <a:latin typeface="Calibri" panose="020F0502020204030204" pitchFamily="34" charset="0"/>
              </a:rPr>
              <a:t>foreign key </a:t>
            </a:r>
            <a:r>
              <a:rPr lang="en-CA" altLang="en-US" sz="3200">
                <a:latin typeface="Calibri" panose="020F0502020204030204" pitchFamily="34" charset="0"/>
              </a:rPr>
              <a:t>is a column whose values match the primary key values in a related table</a:t>
            </a:r>
          </a:p>
          <a:p>
            <a:pPr algn="just" eaLnBrk="1" hangingPunct="1">
              <a:spcBef>
                <a:spcPct val="20000"/>
              </a:spcBef>
              <a:buClr>
                <a:srgbClr val="FF6600"/>
              </a:buClr>
              <a:buFont typeface="Wingdings 3" panose="05040102010807070707" pitchFamily="18" charset="2"/>
              <a:buNone/>
            </a:pPr>
            <a:endParaRPr lang="en-CA" altLang="en-US" sz="40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p:txBody>
      </p:sp>
      <p:sp>
        <p:nvSpPr>
          <p:cNvPr id="19" name="Snip Single Corner Rectangle 18">
            <a:extLst>
              <a:ext uri="{FF2B5EF4-FFF2-40B4-BE49-F238E27FC236}">
                <a16:creationId xmlns:a16="http://schemas.microsoft.com/office/drawing/2014/main" id="{4A25A466-1B9F-6856-B0FB-B2654CC0DAF7}"/>
              </a:ext>
            </a:extLst>
          </p:cNvPr>
          <p:cNvSpPr/>
          <p:nvPr/>
        </p:nvSpPr>
        <p:spPr>
          <a:xfrm>
            <a:off x="134938" y="1450975"/>
            <a:ext cx="3313112" cy="401638"/>
          </a:xfrm>
          <a:prstGeom prst="snip1Rect">
            <a:avLst/>
          </a:prstGeom>
          <a:solidFill>
            <a:srgbClr val="00B050">
              <a:alpha val="70000"/>
            </a:srgbClr>
          </a:solidFill>
          <a:ln>
            <a:solidFill>
              <a:srgbClr val="00B050"/>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indent="-342900" algn="just" eaLnBrk="1" hangingPunct="1">
              <a:spcBef>
                <a:spcPct val="20000"/>
              </a:spcBef>
              <a:buClr>
                <a:srgbClr val="FF6600"/>
              </a:buClr>
              <a:buSzPct val="100000"/>
              <a:defRPr/>
            </a:pPr>
            <a:r>
              <a:rPr lang="en-US" dirty="0">
                <a:latin typeface="Arial" pitchFamily="34" charset="0"/>
                <a:ea typeface="Times New Roman" pitchFamily="18" charset="0"/>
                <a:cs typeface="Arial" pitchFamily="34" charset="0"/>
              </a:rPr>
              <a:t>Referential Integrity Constraint</a:t>
            </a:r>
            <a:endParaRPr lang="en-GB" kern="0" dirty="0">
              <a:solidFill>
                <a:schemeClr val="tx1"/>
              </a:solidFill>
            </a:endParaRPr>
          </a:p>
        </p:txBody>
      </p:sp>
      <p:graphicFrame>
        <p:nvGraphicFramePr>
          <p:cNvPr id="26" name="Table 25">
            <a:extLst>
              <a:ext uri="{FF2B5EF4-FFF2-40B4-BE49-F238E27FC236}">
                <a16:creationId xmlns:a16="http://schemas.microsoft.com/office/drawing/2014/main" id="{070A0C71-1CD6-55D0-597B-5FDC812B8D37}"/>
              </a:ext>
            </a:extLst>
          </p:cNvPr>
          <p:cNvGraphicFramePr>
            <a:graphicFrameLocks noGrp="1"/>
          </p:cNvGraphicFramePr>
          <p:nvPr/>
        </p:nvGraphicFramePr>
        <p:xfrm>
          <a:off x="123825" y="3094038"/>
          <a:ext cx="4111626" cy="2360612"/>
        </p:xfrm>
        <a:graphic>
          <a:graphicData uri="http://schemas.openxmlformats.org/drawingml/2006/table">
            <a:tbl>
              <a:tblPr firstRow="1" bandRow="1">
                <a:tableStyleId>{3B4B98B0-60AC-42C2-AFA5-B58CD77FA1E5}</a:tableStyleId>
              </a:tblPr>
              <a:tblGrid>
                <a:gridCol w="1201439">
                  <a:extLst>
                    <a:ext uri="{9D8B030D-6E8A-4147-A177-3AD203B41FA5}">
                      <a16:colId xmlns:a16="http://schemas.microsoft.com/office/drawing/2014/main" val="20000"/>
                    </a:ext>
                  </a:extLst>
                </a:gridCol>
                <a:gridCol w="1521234">
                  <a:extLst>
                    <a:ext uri="{9D8B030D-6E8A-4147-A177-3AD203B41FA5}">
                      <a16:colId xmlns:a16="http://schemas.microsoft.com/office/drawing/2014/main" val="20001"/>
                    </a:ext>
                  </a:extLst>
                </a:gridCol>
                <a:gridCol w="1388953">
                  <a:extLst>
                    <a:ext uri="{9D8B030D-6E8A-4147-A177-3AD203B41FA5}">
                      <a16:colId xmlns:a16="http://schemas.microsoft.com/office/drawing/2014/main" val="20002"/>
                    </a:ext>
                  </a:extLst>
                </a:gridCol>
              </a:tblGrid>
              <a:tr h="640045">
                <a:tc>
                  <a:txBody>
                    <a:bodyPr/>
                    <a:lstStyle/>
                    <a:p>
                      <a:pPr algn="ctr"/>
                      <a:r>
                        <a:rPr lang="en-CA" sz="1800" dirty="0"/>
                        <a:t>STUDENT</a:t>
                      </a:r>
                    </a:p>
                    <a:p>
                      <a:pPr algn="ctr"/>
                      <a:r>
                        <a:rPr lang="en-CA" sz="1800" dirty="0"/>
                        <a:t>ID</a:t>
                      </a:r>
                    </a:p>
                  </a:txBody>
                  <a:tcPr marL="91435" marR="91435" marT="45703" marB="45703"/>
                </a:tc>
                <a:tc>
                  <a:txBody>
                    <a:bodyPr/>
                    <a:lstStyle/>
                    <a:p>
                      <a:pPr algn="ctr"/>
                      <a:r>
                        <a:rPr lang="en-CA" sz="1800" dirty="0"/>
                        <a:t>NAME</a:t>
                      </a:r>
                    </a:p>
                  </a:txBody>
                  <a:tcPr marL="91435" marR="91435" marT="45703" marB="45703"/>
                </a:tc>
                <a:tc>
                  <a:txBody>
                    <a:bodyPr/>
                    <a:lstStyle/>
                    <a:p>
                      <a:pPr algn="ctr"/>
                      <a:r>
                        <a:rPr lang="en-CA" sz="1800" dirty="0"/>
                        <a:t>SUBJECT</a:t>
                      </a:r>
                    </a:p>
                  </a:txBody>
                  <a:tcPr marL="91435" marR="91435" marT="45703" marB="45703"/>
                </a:tc>
                <a:extLst>
                  <a:ext uri="{0D108BD9-81ED-4DB2-BD59-A6C34878D82A}">
                    <a16:rowId xmlns:a16="http://schemas.microsoft.com/office/drawing/2014/main" val="10000"/>
                  </a:ext>
                </a:extLst>
              </a:tr>
              <a:tr h="573522">
                <a:tc>
                  <a:txBody>
                    <a:bodyPr/>
                    <a:lstStyle/>
                    <a:p>
                      <a:pPr algn="ctr"/>
                      <a:r>
                        <a:rPr lang="en-CA" sz="1800" dirty="0"/>
                        <a:t>1</a:t>
                      </a:r>
                    </a:p>
                  </a:txBody>
                  <a:tcPr marL="91435" marR="91435" marT="45703" marB="45703"/>
                </a:tc>
                <a:tc>
                  <a:txBody>
                    <a:bodyPr/>
                    <a:lstStyle/>
                    <a:p>
                      <a:r>
                        <a:rPr lang="en-CA" sz="1800" dirty="0"/>
                        <a:t>Talha Amjad</a:t>
                      </a:r>
                    </a:p>
                  </a:txBody>
                  <a:tcPr marL="91435" marR="91435" marT="45703" marB="45703"/>
                </a:tc>
                <a:tc>
                  <a:txBody>
                    <a:bodyPr/>
                    <a:lstStyle/>
                    <a:p>
                      <a:r>
                        <a:rPr lang="en-CA" sz="1800" dirty="0"/>
                        <a:t>BSIT 201</a:t>
                      </a:r>
                    </a:p>
                  </a:txBody>
                  <a:tcPr marL="91435" marR="91435" marT="45703" marB="45703"/>
                </a:tc>
                <a:extLst>
                  <a:ext uri="{0D108BD9-81ED-4DB2-BD59-A6C34878D82A}">
                    <a16:rowId xmlns:a16="http://schemas.microsoft.com/office/drawing/2014/main" val="10001"/>
                  </a:ext>
                </a:extLst>
              </a:tr>
              <a:tr h="573522">
                <a:tc>
                  <a:txBody>
                    <a:bodyPr/>
                    <a:lstStyle/>
                    <a:p>
                      <a:pPr algn="ctr"/>
                      <a:r>
                        <a:rPr lang="en-CA" sz="1800" dirty="0"/>
                        <a:t>2</a:t>
                      </a:r>
                    </a:p>
                  </a:txBody>
                  <a:tcPr marL="91435" marR="91435" marT="45703" marB="45703"/>
                </a:tc>
                <a:tc>
                  <a:txBody>
                    <a:bodyPr/>
                    <a:lstStyle/>
                    <a:p>
                      <a:r>
                        <a:rPr lang="en-CA" sz="1800" dirty="0"/>
                        <a:t>Sara Saleem</a:t>
                      </a:r>
                    </a:p>
                  </a:txBody>
                  <a:tcPr marL="91435" marR="91435" marT="45703" marB="45703"/>
                </a:tc>
                <a:tc>
                  <a:txBody>
                    <a:bodyPr/>
                    <a:lstStyle/>
                    <a:p>
                      <a:r>
                        <a:rPr lang="en-CA" sz="1800" dirty="0"/>
                        <a:t>BSIT 301</a:t>
                      </a:r>
                    </a:p>
                  </a:txBody>
                  <a:tcPr marL="91435" marR="91435" marT="45703" marB="45703"/>
                </a:tc>
                <a:extLst>
                  <a:ext uri="{0D108BD9-81ED-4DB2-BD59-A6C34878D82A}">
                    <a16:rowId xmlns:a16="http://schemas.microsoft.com/office/drawing/2014/main" val="10002"/>
                  </a:ext>
                </a:extLst>
              </a:tr>
              <a:tr h="573522">
                <a:tc>
                  <a:txBody>
                    <a:bodyPr/>
                    <a:lstStyle/>
                    <a:p>
                      <a:pPr algn="ctr"/>
                      <a:r>
                        <a:rPr lang="en-CA" sz="1800" dirty="0"/>
                        <a:t>3</a:t>
                      </a:r>
                    </a:p>
                  </a:txBody>
                  <a:tcPr marL="91435" marR="91435" marT="45703" marB="45703"/>
                </a:tc>
                <a:tc>
                  <a:txBody>
                    <a:bodyPr/>
                    <a:lstStyle/>
                    <a:p>
                      <a:r>
                        <a:rPr lang="en-CA" sz="1800" dirty="0"/>
                        <a:t>Aqib Ali</a:t>
                      </a:r>
                    </a:p>
                  </a:txBody>
                  <a:tcPr marL="91435" marR="91435" marT="45703" marB="45703"/>
                </a:tc>
                <a:tc>
                  <a:txBody>
                    <a:bodyPr/>
                    <a:lstStyle/>
                    <a:p>
                      <a:r>
                        <a:rPr lang="en-CA" sz="1800" dirty="0"/>
                        <a:t>BSIT 201</a:t>
                      </a:r>
                    </a:p>
                  </a:txBody>
                  <a:tcPr marL="91435" marR="91435" marT="45703" marB="45703"/>
                </a:tc>
                <a:extLst>
                  <a:ext uri="{0D108BD9-81ED-4DB2-BD59-A6C34878D82A}">
                    <a16:rowId xmlns:a16="http://schemas.microsoft.com/office/drawing/2014/main" val="10003"/>
                  </a:ext>
                </a:extLst>
              </a:tr>
            </a:tbl>
          </a:graphicData>
        </a:graphic>
      </p:graphicFrame>
      <p:sp>
        <p:nvSpPr>
          <p:cNvPr id="29" name="TextBox 28">
            <a:extLst>
              <a:ext uri="{FF2B5EF4-FFF2-40B4-BE49-F238E27FC236}">
                <a16:creationId xmlns:a16="http://schemas.microsoft.com/office/drawing/2014/main" id="{58F1F3D1-2C25-C9F6-A963-8C00AC133EE7}"/>
              </a:ext>
            </a:extLst>
          </p:cNvPr>
          <p:cNvSpPr txBox="1">
            <a:spLocks noChangeArrowheads="1"/>
          </p:cNvSpPr>
          <p:nvPr/>
        </p:nvSpPr>
        <p:spPr bwMode="auto">
          <a:xfrm>
            <a:off x="1030288" y="5461000"/>
            <a:ext cx="22415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CA" altLang="en-US"/>
              <a:t>Student relation</a:t>
            </a:r>
          </a:p>
        </p:txBody>
      </p:sp>
      <p:graphicFrame>
        <p:nvGraphicFramePr>
          <p:cNvPr id="30" name="Table 29">
            <a:extLst>
              <a:ext uri="{FF2B5EF4-FFF2-40B4-BE49-F238E27FC236}">
                <a16:creationId xmlns:a16="http://schemas.microsoft.com/office/drawing/2014/main" id="{CA167F84-72AF-330A-3C7F-1B2C18E597D6}"/>
              </a:ext>
            </a:extLst>
          </p:cNvPr>
          <p:cNvGraphicFramePr>
            <a:graphicFrameLocks noGrp="1"/>
          </p:cNvGraphicFramePr>
          <p:nvPr/>
        </p:nvGraphicFramePr>
        <p:xfrm>
          <a:off x="4475163" y="3092450"/>
          <a:ext cx="3887787" cy="1787526"/>
        </p:xfrm>
        <a:graphic>
          <a:graphicData uri="http://schemas.openxmlformats.org/drawingml/2006/table">
            <a:tbl>
              <a:tblPr firstRow="1" bandRow="1">
                <a:tableStyleId>{0E3FDE45-AF77-4B5C-9715-49D594BDF05E}</a:tableStyleId>
              </a:tblPr>
              <a:tblGrid>
                <a:gridCol w="1288122">
                  <a:extLst>
                    <a:ext uri="{9D8B030D-6E8A-4147-A177-3AD203B41FA5}">
                      <a16:colId xmlns:a16="http://schemas.microsoft.com/office/drawing/2014/main" val="20000"/>
                    </a:ext>
                  </a:extLst>
                </a:gridCol>
                <a:gridCol w="2599665">
                  <a:extLst>
                    <a:ext uri="{9D8B030D-6E8A-4147-A177-3AD203B41FA5}">
                      <a16:colId xmlns:a16="http://schemas.microsoft.com/office/drawing/2014/main" val="20001"/>
                    </a:ext>
                  </a:extLst>
                </a:gridCol>
              </a:tblGrid>
              <a:tr h="640078">
                <a:tc>
                  <a:txBody>
                    <a:bodyPr/>
                    <a:lstStyle/>
                    <a:p>
                      <a:pPr algn="ctr"/>
                      <a:r>
                        <a:rPr lang="en-CA" sz="1800" dirty="0"/>
                        <a:t>SUBJECT</a:t>
                      </a:r>
                      <a:r>
                        <a:rPr lang="en-CA" sz="1800" baseline="0" dirty="0"/>
                        <a:t> </a:t>
                      </a:r>
                      <a:r>
                        <a:rPr lang="en-CA" sz="1800" dirty="0"/>
                        <a:t>CODE</a:t>
                      </a:r>
                    </a:p>
                  </a:txBody>
                  <a:tcPr marL="91425" marR="91425" marT="45719" marB="45719"/>
                </a:tc>
                <a:tc>
                  <a:txBody>
                    <a:bodyPr/>
                    <a:lstStyle/>
                    <a:p>
                      <a:pPr algn="ctr"/>
                      <a:r>
                        <a:rPr lang="en-CA" sz="1800" dirty="0"/>
                        <a:t>NAME</a:t>
                      </a:r>
                    </a:p>
                  </a:txBody>
                  <a:tcPr marL="91425" marR="91425" marT="45719" marB="45719"/>
                </a:tc>
                <a:extLst>
                  <a:ext uri="{0D108BD9-81ED-4DB2-BD59-A6C34878D82A}">
                    <a16:rowId xmlns:a16="http://schemas.microsoft.com/office/drawing/2014/main" val="10000"/>
                  </a:ext>
                </a:extLst>
              </a:tr>
              <a:tr h="573724">
                <a:tc>
                  <a:txBody>
                    <a:bodyPr/>
                    <a:lstStyle/>
                    <a:p>
                      <a:pPr algn="ctr"/>
                      <a:r>
                        <a:rPr lang="en-CA" sz="1800" dirty="0"/>
                        <a:t>BSIT 201</a:t>
                      </a:r>
                    </a:p>
                  </a:txBody>
                  <a:tcPr marL="91425" marR="91425" marT="45719" marB="45719"/>
                </a:tc>
                <a:tc>
                  <a:txBody>
                    <a:bodyPr/>
                    <a:lstStyle/>
                    <a:p>
                      <a:r>
                        <a:rPr lang="en-CA" sz="1800" dirty="0"/>
                        <a:t>Database</a:t>
                      </a:r>
                      <a:r>
                        <a:rPr lang="en-CA" sz="1800" baseline="0" dirty="0"/>
                        <a:t> Concept</a:t>
                      </a:r>
                      <a:endParaRPr lang="en-CA" sz="1800" dirty="0"/>
                    </a:p>
                  </a:txBody>
                  <a:tcPr marL="91425" marR="91425" marT="45719" marB="45719"/>
                </a:tc>
                <a:extLst>
                  <a:ext uri="{0D108BD9-81ED-4DB2-BD59-A6C34878D82A}">
                    <a16:rowId xmlns:a16="http://schemas.microsoft.com/office/drawing/2014/main" val="10001"/>
                  </a:ext>
                </a:extLst>
              </a:tr>
              <a:tr h="573724">
                <a:tc>
                  <a:txBody>
                    <a:bodyPr/>
                    <a:lstStyle/>
                    <a:p>
                      <a:pPr algn="ctr"/>
                      <a:r>
                        <a:rPr lang="en-CA" sz="1800" dirty="0"/>
                        <a:t>BSIT 301</a:t>
                      </a:r>
                    </a:p>
                  </a:txBody>
                  <a:tcPr marL="91425" marR="91425" marT="45719" marB="45719"/>
                </a:tc>
                <a:tc>
                  <a:txBody>
                    <a:bodyPr/>
                    <a:lstStyle/>
                    <a:p>
                      <a:r>
                        <a:rPr lang="en-CA" sz="1800" dirty="0"/>
                        <a:t>Business Mathematics</a:t>
                      </a:r>
                    </a:p>
                  </a:txBody>
                  <a:tcPr marL="91425" marR="91425" marT="45719" marB="45719"/>
                </a:tc>
                <a:extLst>
                  <a:ext uri="{0D108BD9-81ED-4DB2-BD59-A6C34878D82A}">
                    <a16:rowId xmlns:a16="http://schemas.microsoft.com/office/drawing/2014/main" val="10002"/>
                  </a:ext>
                </a:extLst>
              </a:tr>
            </a:tbl>
          </a:graphicData>
        </a:graphic>
      </p:graphicFrame>
      <p:sp>
        <p:nvSpPr>
          <p:cNvPr id="32" name="TextBox 31">
            <a:extLst>
              <a:ext uri="{FF2B5EF4-FFF2-40B4-BE49-F238E27FC236}">
                <a16:creationId xmlns:a16="http://schemas.microsoft.com/office/drawing/2014/main" id="{3EEF8A66-0663-1BFB-26AA-9FEE3A83118F}"/>
              </a:ext>
            </a:extLst>
          </p:cNvPr>
          <p:cNvSpPr txBox="1">
            <a:spLocks noChangeArrowheads="1"/>
          </p:cNvSpPr>
          <p:nvPr/>
        </p:nvSpPr>
        <p:spPr bwMode="auto">
          <a:xfrm>
            <a:off x="5664200" y="4845050"/>
            <a:ext cx="22415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CA" altLang="en-US"/>
              <a:t>Subject relation</a:t>
            </a:r>
          </a:p>
        </p:txBody>
      </p:sp>
      <p:cxnSp>
        <p:nvCxnSpPr>
          <p:cNvPr id="33" name="Straight Connector 32">
            <a:extLst>
              <a:ext uri="{FF2B5EF4-FFF2-40B4-BE49-F238E27FC236}">
                <a16:creationId xmlns:a16="http://schemas.microsoft.com/office/drawing/2014/main" id="{FD37BDBC-1CF4-7F3A-80FA-D63CC864AD4B}"/>
              </a:ext>
            </a:extLst>
          </p:cNvPr>
          <p:cNvCxnSpPr/>
          <p:nvPr/>
        </p:nvCxnSpPr>
        <p:spPr bwMode="auto">
          <a:xfrm>
            <a:off x="207963" y="3668713"/>
            <a:ext cx="1152525" cy="0"/>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34" name="Straight Connector 33">
            <a:extLst>
              <a:ext uri="{FF2B5EF4-FFF2-40B4-BE49-F238E27FC236}">
                <a16:creationId xmlns:a16="http://schemas.microsoft.com/office/drawing/2014/main" id="{62DA9C84-B868-C184-075C-FA658C0BD089}"/>
              </a:ext>
            </a:extLst>
          </p:cNvPr>
          <p:cNvCxnSpPr/>
          <p:nvPr/>
        </p:nvCxnSpPr>
        <p:spPr bwMode="auto">
          <a:xfrm>
            <a:off x="4572000" y="3668713"/>
            <a:ext cx="1152525" cy="0"/>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39" name="Rectangle 38">
            <a:extLst>
              <a:ext uri="{FF2B5EF4-FFF2-40B4-BE49-F238E27FC236}">
                <a16:creationId xmlns:a16="http://schemas.microsoft.com/office/drawing/2014/main" id="{7D5C4301-BC7A-4BFF-CF17-437118F79FB6}"/>
              </a:ext>
            </a:extLst>
          </p:cNvPr>
          <p:cNvSpPr/>
          <p:nvPr/>
        </p:nvSpPr>
        <p:spPr bwMode="auto">
          <a:xfrm>
            <a:off x="838200" y="5888038"/>
            <a:ext cx="6878638" cy="588962"/>
          </a:xfrm>
          <a:prstGeom prst="rect">
            <a:avLst/>
          </a:prstGeom>
          <a:ln>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anchor="ctr" anchorCtr="1"/>
          <a:lstStyle/>
          <a:p>
            <a:pPr algn="ctr">
              <a:defRPr/>
            </a:pPr>
            <a:r>
              <a:rPr lang="en-CA" dirty="0"/>
              <a:t>By specifying a foreign key, this allows us to link together two different relations (e.g. Talha Amjad is taking Database Concept)</a:t>
            </a:r>
            <a:endParaRPr lang="en-CA" dirty="0">
              <a:solidFill>
                <a:schemeClr val="tx1"/>
              </a:solidFill>
              <a:latin typeface="Arial" charset="0"/>
            </a:endParaRPr>
          </a:p>
        </p:txBody>
      </p:sp>
      <p:grpSp>
        <p:nvGrpSpPr>
          <p:cNvPr id="3" name="Group 40">
            <a:extLst>
              <a:ext uri="{FF2B5EF4-FFF2-40B4-BE49-F238E27FC236}">
                <a16:creationId xmlns:a16="http://schemas.microsoft.com/office/drawing/2014/main" id="{D206F6A4-94BE-5D52-BAB7-927BDF29D8FF}"/>
              </a:ext>
            </a:extLst>
          </p:cNvPr>
          <p:cNvGrpSpPr>
            <a:grpSpLocks/>
          </p:cNvGrpSpPr>
          <p:nvPr/>
        </p:nvGrpSpPr>
        <p:grpSpPr bwMode="auto">
          <a:xfrm>
            <a:off x="3733800" y="3452813"/>
            <a:ext cx="4549775" cy="2241550"/>
            <a:chOff x="4904257" y="806227"/>
            <a:chExt cx="4549193" cy="2242408"/>
          </a:xfrm>
        </p:grpSpPr>
        <p:cxnSp>
          <p:nvCxnSpPr>
            <p:cNvPr id="43" name="Straight Arrow Connector 42">
              <a:extLst>
                <a:ext uri="{FF2B5EF4-FFF2-40B4-BE49-F238E27FC236}">
                  <a16:creationId xmlns:a16="http://schemas.microsoft.com/office/drawing/2014/main" id="{89D78BB5-E6FE-4BE4-CCB5-A55A8E4F9953}"/>
                </a:ext>
              </a:extLst>
            </p:cNvPr>
            <p:cNvCxnSpPr/>
            <p:nvPr/>
          </p:nvCxnSpPr>
          <p:spPr bwMode="auto">
            <a:xfrm flipH="1" flipV="1">
              <a:off x="4904257" y="806227"/>
              <a:ext cx="1007934" cy="1872378"/>
            </a:xfrm>
            <a:prstGeom prst="straightConnector1">
              <a:avLst/>
            </a:prstGeom>
            <a:solidFill>
              <a:schemeClr val="accent1"/>
            </a:solidFill>
            <a:ln w="25400" cap="flat" cmpd="sng" algn="ctr">
              <a:solidFill>
                <a:schemeClr val="accent6"/>
              </a:solidFill>
              <a:prstDash val="solid"/>
              <a:round/>
              <a:headEnd type="none" w="med" len="med"/>
              <a:tailEnd type="triangle"/>
            </a:ln>
            <a:effectLst/>
          </p:spPr>
        </p:cxnSp>
        <p:sp>
          <p:nvSpPr>
            <p:cNvPr id="44" name="TextBox 43">
              <a:extLst>
                <a:ext uri="{FF2B5EF4-FFF2-40B4-BE49-F238E27FC236}">
                  <a16:creationId xmlns:a16="http://schemas.microsoft.com/office/drawing/2014/main" id="{2D114098-BAB1-7A4A-DE0D-7B3BD06C9988}"/>
                </a:ext>
              </a:extLst>
            </p:cNvPr>
            <p:cNvSpPr txBox="1"/>
            <p:nvPr/>
          </p:nvSpPr>
          <p:spPr>
            <a:xfrm>
              <a:off x="5551874" y="2678605"/>
              <a:ext cx="3901576" cy="370030"/>
            </a:xfrm>
            <a:prstGeom prst="rect">
              <a:avLst/>
            </a:prstGeom>
            <a:solidFill>
              <a:schemeClr val="accent6">
                <a:alpha val="30000"/>
              </a:schemeClr>
            </a:solidFill>
            <a:ln>
              <a:solidFill>
                <a:schemeClr val="accent6"/>
              </a:solidFill>
            </a:ln>
          </p:spPr>
          <p:txBody>
            <a:bodyPr>
              <a:spAutoFit/>
            </a:bodyPr>
            <a:lstStyle/>
            <a:p>
              <a:pPr algn="ctr">
                <a:defRPr/>
              </a:pPr>
              <a:r>
                <a:rPr lang="en-CA" dirty="0"/>
                <a:t>SUBJECT column is a foreign key</a:t>
              </a:r>
            </a:p>
          </p:txBody>
        </p:sp>
      </p:gr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ipe(left)">
                                      <p:cBhvr>
                                        <p:cTn id="7" dur="500"/>
                                        <p:tgtEl>
                                          <p:spTgt spid="19"/>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wipe(left)">
                                      <p:cBhvr>
                                        <p:cTn id="11" dur="500"/>
                                        <p:tgtEl>
                                          <p:spTgt spid="24"/>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26"/>
                                        </p:tgtEl>
                                        <p:attrNameLst>
                                          <p:attrName>style.visibility</p:attrName>
                                        </p:attrNameLst>
                                      </p:cBhvr>
                                      <p:to>
                                        <p:strVal val="visible"/>
                                      </p:to>
                                    </p:set>
                                    <p:animEffect transition="in" filter="wipe(up)">
                                      <p:cBhvr>
                                        <p:cTn id="16" dur="500"/>
                                        <p:tgtEl>
                                          <p:spTgt spid="26"/>
                                        </p:tgtEl>
                                      </p:cBhvr>
                                    </p:animEffect>
                                  </p:childTnLst>
                                </p:cTn>
                              </p:par>
                            </p:childTnLst>
                          </p:cTn>
                        </p:par>
                        <p:par>
                          <p:cTn id="17" fill="hold" nodeType="afterGroup">
                            <p:stCondLst>
                              <p:cond delay="500"/>
                            </p:stCondLst>
                            <p:childTnLst>
                              <p:par>
                                <p:cTn id="18" presetID="22" presetClass="entr" presetSubtype="1" fill="hold" grpId="0" nodeType="afterEffect">
                                  <p:stCondLst>
                                    <p:cond delay="0"/>
                                  </p:stCondLst>
                                  <p:childTnLst>
                                    <p:set>
                                      <p:cBhvr>
                                        <p:cTn id="19" dur="1" fill="hold">
                                          <p:stCondLst>
                                            <p:cond delay="0"/>
                                          </p:stCondLst>
                                        </p:cTn>
                                        <p:tgtEl>
                                          <p:spTgt spid="29"/>
                                        </p:tgtEl>
                                        <p:attrNameLst>
                                          <p:attrName>style.visibility</p:attrName>
                                        </p:attrNameLst>
                                      </p:cBhvr>
                                      <p:to>
                                        <p:strVal val="visible"/>
                                      </p:to>
                                    </p:set>
                                    <p:animEffect transition="in" filter="wipe(up)">
                                      <p:cBhvr>
                                        <p:cTn id="20" dur="500"/>
                                        <p:tgtEl>
                                          <p:spTgt spid="29"/>
                                        </p:tgtEl>
                                      </p:cBhvr>
                                    </p:animEffect>
                                  </p:childTnLst>
                                </p:cTn>
                              </p:par>
                            </p:childTnLst>
                          </p:cTn>
                        </p:par>
                        <p:par>
                          <p:cTn id="21" fill="hold" nodeType="afterGroup">
                            <p:stCondLst>
                              <p:cond delay="1000"/>
                            </p:stCondLst>
                            <p:childTnLst>
                              <p:par>
                                <p:cTn id="22" presetID="22" presetClass="entr" presetSubtype="8" fill="hold" nodeType="afterEffect">
                                  <p:stCondLst>
                                    <p:cond delay="0"/>
                                  </p:stCondLst>
                                  <p:childTnLst>
                                    <p:set>
                                      <p:cBhvr>
                                        <p:cTn id="23" dur="1" fill="hold">
                                          <p:stCondLst>
                                            <p:cond delay="0"/>
                                          </p:stCondLst>
                                        </p:cTn>
                                        <p:tgtEl>
                                          <p:spTgt spid="33"/>
                                        </p:tgtEl>
                                        <p:attrNameLst>
                                          <p:attrName>style.visibility</p:attrName>
                                        </p:attrNameLst>
                                      </p:cBhvr>
                                      <p:to>
                                        <p:strVal val="visible"/>
                                      </p:to>
                                    </p:set>
                                    <p:animEffect transition="in" filter="wipe(left)">
                                      <p:cBhvr>
                                        <p:cTn id="24" dur="500"/>
                                        <p:tgtEl>
                                          <p:spTgt spid="33"/>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1" fill="hold" nodeType="clickEffect">
                                  <p:stCondLst>
                                    <p:cond delay="0"/>
                                  </p:stCondLst>
                                  <p:childTnLst>
                                    <p:set>
                                      <p:cBhvr>
                                        <p:cTn id="28" dur="1" fill="hold">
                                          <p:stCondLst>
                                            <p:cond delay="0"/>
                                          </p:stCondLst>
                                        </p:cTn>
                                        <p:tgtEl>
                                          <p:spTgt spid="30"/>
                                        </p:tgtEl>
                                        <p:attrNameLst>
                                          <p:attrName>style.visibility</p:attrName>
                                        </p:attrNameLst>
                                      </p:cBhvr>
                                      <p:to>
                                        <p:strVal val="visible"/>
                                      </p:to>
                                    </p:set>
                                    <p:animEffect transition="in" filter="wipe(up)">
                                      <p:cBhvr>
                                        <p:cTn id="29" dur="500"/>
                                        <p:tgtEl>
                                          <p:spTgt spid="30"/>
                                        </p:tgtEl>
                                      </p:cBhvr>
                                    </p:animEffect>
                                  </p:childTnLst>
                                </p:cTn>
                              </p:par>
                            </p:childTnLst>
                          </p:cTn>
                        </p:par>
                        <p:par>
                          <p:cTn id="30" fill="hold" nodeType="afterGroup">
                            <p:stCondLst>
                              <p:cond delay="500"/>
                            </p:stCondLst>
                            <p:childTnLst>
                              <p:par>
                                <p:cTn id="31" presetID="22" presetClass="entr" presetSubtype="1" fill="hold" grpId="0" nodeType="afterEffect">
                                  <p:stCondLst>
                                    <p:cond delay="0"/>
                                  </p:stCondLst>
                                  <p:childTnLst>
                                    <p:set>
                                      <p:cBhvr>
                                        <p:cTn id="32" dur="1" fill="hold">
                                          <p:stCondLst>
                                            <p:cond delay="0"/>
                                          </p:stCondLst>
                                        </p:cTn>
                                        <p:tgtEl>
                                          <p:spTgt spid="32"/>
                                        </p:tgtEl>
                                        <p:attrNameLst>
                                          <p:attrName>style.visibility</p:attrName>
                                        </p:attrNameLst>
                                      </p:cBhvr>
                                      <p:to>
                                        <p:strVal val="visible"/>
                                      </p:to>
                                    </p:set>
                                    <p:animEffect transition="in" filter="wipe(up)">
                                      <p:cBhvr>
                                        <p:cTn id="33" dur="500"/>
                                        <p:tgtEl>
                                          <p:spTgt spid="32"/>
                                        </p:tgtEl>
                                      </p:cBhvr>
                                    </p:animEffect>
                                  </p:childTnLst>
                                </p:cTn>
                              </p:par>
                            </p:childTnLst>
                          </p:cTn>
                        </p:par>
                        <p:par>
                          <p:cTn id="34" fill="hold" nodeType="afterGroup">
                            <p:stCondLst>
                              <p:cond delay="1000"/>
                            </p:stCondLst>
                            <p:childTnLst>
                              <p:par>
                                <p:cTn id="35" presetID="22" presetClass="entr" presetSubtype="8" fill="hold" nodeType="afterEffect">
                                  <p:stCondLst>
                                    <p:cond delay="0"/>
                                  </p:stCondLst>
                                  <p:childTnLst>
                                    <p:set>
                                      <p:cBhvr>
                                        <p:cTn id="36" dur="1" fill="hold">
                                          <p:stCondLst>
                                            <p:cond delay="0"/>
                                          </p:stCondLst>
                                        </p:cTn>
                                        <p:tgtEl>
                                          <p:spTgt spid="34"/>
                                        </p:tgtEl>
                                        <p:attrNameLst>
                                          <p:attrName>style.visibility</p:attrName>
                                        </p:attrNameLst>
                                      </p:cBhvr>
                                      <p:to>
                                        <p:strVal val="visible"/>
                                      </p:to>
                                    </p:set>
                                    <p:animEffect transition="in" filter="wipe(left)">
                                      <p:cBhvr>
                                        <p:cTn id="37" dur="500"/>
                                        <p:tgtEl>
                                          <p:spTgt spid="3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 presetClass="entr" presetSubtype="2" fill="hold" nodeType="clickEffect">
                                  <p:stCondLst>
                                    <p:cond delay="0"/>
                                  </p:stCondLst>
                                  <p:childTnLst>
                                    <p:set>
                                      <p:cBhvr>
                                        <p:cTn id="41" dur="1" fill="hold">
                                          <p:stCondLst>
                                            <p:cond delay="0"/>
                                          </p:stCondLst>
                                        </p:cTn>
                                        <p:tgtEl>
                                          <p:spTgt spid="3"/>
                                        </p:tgtEl>
                                        <p:attrNameLst>
                                          <p:attrName>style.visibility</p:attrName>
                                        </p:attrNameLst>
                                      </p:cBhvr>
                                      <p:to>
                                        <p:strVal val="visible"/>
                                      </p:to>
                                    </p:set>
                                    <p:anim calcmode="lin" valueType="num">
                                      <p:cBhvr additive="base">
                                        <p:cTn id="42" dur="500" fill="hold"/>
                                        <p:tgtEl>
                                          <p:spTgt spid="3"/>
                                        </p:tgtEl>
                                        <p:attrNameLst>
                                          <p:attrName>ppt_x</p:attrName>
                                        </p:attrNameLst>
                                      </p:cBhvr>
                                      <p:tavLst>
                                        <p:tav tm="0">
                                          <p:val>
                                            <p:strVal val="1+#ppt_w/2"/>
                                          </p:val>
                                        </p:tav>
                                        <p:tav tm="100000">
                                          <p:val>
                                            <p:strVal val="#ppt_x"/>
                                          </p:val>
                                        </p:tav>
                                      </p:tavLst>
                                    </p:anim>
                                    <p:anim calcmode="lin" valueType="num">
                                      <p:cBhvr additive="base">
                                        <p:cTn id="43"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44" fill="hold" nodeType="clickPar">
                      <p:stCondLst>
                        <p:cond delay="indefinite"/>
                      </p:stCondLst>
                      <p:childTnLst>
                        <p:par>
                          <p:cTn id="45" fill="hold" nodeType="withGroup">
                            <p:stCondLst>
                              <p:cond delay="0"/>
                            </p:stCondLst>
                            <p:childTnLst>
                              <p:par>
                                <p:cTn id="46" presetID="16" presetClass="entr" presetSubtype="21" fill="hold" grpId="0" nodeType="clickEffect">
                                  <p:stCondLst>
                                    <p:cond delay="0"/>
                                  </p:stCondLst>
                                  <p:childTnLst>
                                    <p:set>
                                      <p:cBhvr>
                                        <p:cTn id="47" dur="1" fill="hold">
                                          <p:stCondLst>
                                            <p:cond delay="0"/>
                                          </p:stCondLst>
                                        </p:cTn>
                                        <p:tgtEl>
                                          <p:spTgt spid="39"/>
                                        </p:tgtEl>
                                        <p:attrNameLst>
                                          <p:attrName>style.visibility</p:attrName>
                                        </p:attrNameLst>
                                      </p:cBhvr>
                                      <p:to>
                                        <p:strVal val="visible"/>
                                      </p:to>
                                    </p:set>
                                    <p:animEffect transition="in" filter="barn(inVertical)">
                                      <p:cBhvr>
                                        <p:cTn id="48"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19" grpId="0" animBg="1"/>
      <p:bldP spid="29" grpId="0"/>
      <p:bldP spid="32" grpId="0"/>
      <p:bldP spid="39" grpId="0" animBg="1"/>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67879E-B31C-E461-0555-7A88640DAF09}"/>
              </a:ext>
            </a:extLst>
          </p:cNvPr>
          <p:cNvSpPr>
            <a:spLocks noGrp="1"/>
          </p:cNvSpPr>
          <p:nvPr>
            <p:ph type="title"/>
          </p:nvPr>
        </p:nvSpPr>
        <p:spPr>
          <a:xfrm>
            <a:off x="457200" y="0"/>
            <a:ext cx="7620000" cy="1143000"/>
          </a:xfrm>
        </p:spPr>
        <p:txBody>
          <a:bodyPr/>
          <a:lstStyle/>
          <a:p>
            <a:pPr algn="ctr">
              <a:defRPr/>
            </a:pPr>
            <a:r>
              <a:rPr lang="en-US" dirty="0"/>
              <a:t>Relational Constraints</a:t>
            </a:r>
            <a:endParaRPr lang="en-CA" dirty="0"/>
          </a:p>
        </p:txBody>
      </p:sp>
      <p:sp>
        <p:nvSpPr>
          <p:cNvPr id="24" name="Content Placeholder 2">
            <a:extLst>
              <a:ext uri="{FF2B5EF4-FFF2-40B4-BE49-F238E27FC236}">
                <a16:creationId xmlns:a16="http://schemas.microsoft.com/office/drawing/2014/main" id="{54877CA2-9A4A-7271-E80F-CC987706D475}"/>
              </a:ext>
            </a:extLst>
          </p:cNvPr>
          <p:cNvSpPr txBox="1">
            <a:spLocks/>
          </p:cNvSpPr>
          <p:nvPr/>
        </p:nvSpPr>
        <p:spPr bwMode="auto">
          <a:xfrm>
            <a:off x="134938" y="1835150"/>
            <a:ext cx="8193087" cy="206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rgbClr val="FF6600"/>
              </a:buClr>
              <a:buFont typeface="Wingdings 3" panose="05040102010807070707" pitchFamily="18" charset="2"/>
              <a:buNone/>
            </a:pPr>
            <a:r>
              <a:rPr lang="en-US" altLang="en-US" sz="3200">
                <a:latin typeface="Calibri" panose="020F0502020204030204" pitchFamily="34" charset="0"/>
              </a:rPr>
              <a:t>A relational DBMS </a:t>
            </a:r>
            <a:r>
              <a:rPr lang="en-CA" altLang="en-US" sz="3200">
                <a:latin typeface="Calibri" panose="020F0502020204030204" pitchFamily="34" charset="0"/>
              </a:rPr>
              <a:t>will check each foreign key value to ensure that it is either NULL or refers to an existing primary key. This is known as enforcing referential integrity constraint</a:t>
            </a:r>
          </a:p>
          <a:p>
            <a:pPr algn="just" eaLnBrk="1" hangingPunct="1">
              <a:spcBef>
                <a:spcPct val="20000"/>
              </a:spcBef>
              <a:buClr>
                <a:srgbClr val="FF6600"/>
              </a:buClr>
              <a:buFont typeface="Wingdings 3" panose="05040102010807070707" pitchFamily="18" charset="2"/>
              <a:buNone/>
            </a:pPr>
            <a:endParaRPr lang="en-CA" altLang="en-US" sz="40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p:txBody>
      </p:sp>
      <p:sp>
        <p:nvSpPr>
          <p:cNvPr id="30" name="Snip Single Corner Rectangle 29">
            <a:extLst>
              <a:ext uri="{FF2B5EF4-FFF2-40B4-BE49-F238E27FC236}">
                <a16:creationId xmlns:a16="http://schemas.microsoft.com/office/drawing/2014/main" id="{993F07BE-5140-85A7-686C-FC2AF58EF9DC}"/>
              </a:ext>
            </a:extLst>
          </p:cNvPr>
          <p:cNvSpPr/>
          <p:nvPr/>
        </p:nvSpPr>
        <p:spPr>
          <a:xfrm>
            <a:off x="134938" y="1395413"/>
            <a:ext cx="3313112" cy="401637"/>
          </a:xfrm>
          <a:prstGeom prst="snip1Rect">
            <a:avLst/>
          </a:prstGeom>
          <a:solidFill>
            <a:srgbClr val="00B050">
              <a:alpha val="70000"/>
            </a:srgbClr>
          </a:solidFill>
          <a:ln>
            <a:solidFill>
              <a:srgbClr val="00B050"/>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indent="-342900" algn="just" eaLnBrk="1" hangingPunct="1">
              <a:spcBef>
                <a:spcPct val="20000"/>
              </a:spcBef>
              <a:buClr>
                <a:srgbClr val="FF6600"/>
              </a:buClr>
              <a:buSzPct val="100000"/>
              <a:defRPr/>
            </a:pPr>
            <a:r>
              <a:rPr lang="en-US" dirty="0">
                <a:latin typeface="Arial" pitchFamily="34" charset="0"/>
                <a:ea typeface="Times New Roman" pitchFamily="18" charset="0"/>
                <a:cs typeface="Arial" pitchFamily="34" charset="0"/>
              </a:rPr>
              <a:t>Referential Integrity Constraint</a:t>
            </a:r>
            <a:endParaRPr lang="en-GB" kern="0" dirty="0">
              <a:solidFill>
                <a:schemeClr val="tx1"/>
              </a:solidFill>
            </a:endParaRPr>
          </a:p>
        </p:txBody>
      </p:sp>
      <p:graphicFrame>
        <p:nvGraphicFramePr>
          <p:cNvPr id="35" name="Table 34">
            <a:extLst>
              <a:ext uri="{FF2B5EF4-FFF2-40B4-BE49-F238E27FC236}">
                <a16:creationId xmlns:a16="http://schemas.microsoft.com/office/drawing/2014/main" id="{911C0472-FD58-A8F2-9796-78BABCA31251}"/>
              </a:ext>
            </a:extLst>
          </p:cNvPr>
          <p:cNvGraphicFramePr>
            <a:graphicFrameLocks noGrp="1"/>
          </p:cNvGraphicFramePr>
          <p:nvPr/>
        </p:nvGraphicFramePr>
        <p:xfrm>
          <a:off x="276225" y="4043363"/>
          <a:ext cx="3914775" cy="1214437"/>
        </p:xfrm>
        <a:graphic>
          <a:graphicData uri="http://schemas.openxmlformats.org/drawingml/2006/table">
            <a:tbl>
              <a:tblPr firstRow="1" bandRow="1">
                <a:tableStyleId>{3B4B98B0-60AC-42C2-AFA5-B58CD77FA1E5}</a:tableStyleId>
              </a:tblPr>
              <a:tblGrid>
                <a:gridCol w="1143918">
                  <a:extLst>
                    <a:ext uri="{9D8B030D-6E8A-4147-A177-3AD203B41FA5}">
                      <a16:colId xmlns:a16="http://schemas.microsoft.com/office/drawing/2014/main" val="20000"/>
                    </a:ext>
                  </a:extLst>
                </a:gridCol>
                <a:gridCol w="1448402">
                  <a:extLst>
                    <a:ext uri="{9D8B030D-6E8A-4147-A177-3AD203B41FA5}">
                      <a16:colId xmlns:a16="http://schemas.microsoft.com/office/drawing/2014/main" val="20001"/>
                    </a:ext>
                  </a:extLst>
                </a:gridCol>
                <a:gridCol w="1322455">
                  <a:extLst>
                    <a:ext uri="{9D8B030D-6E8A-4147-A177-3AD203B41FA5}">
                      <a16:colId xmlns:a16="http://schemas.microsoft.com/office/drawing/2014/main" val="20002"/>
                    </a:ext>
                  </a:extLst>
                </a:gridCol>
              </a:tblGrid>
              <a:tr h="640405">
                <a:tc>
                  <a:txBody>
                    <a:bodyPr/>
                    <a:lstStyle/>
                    <a:p>
                      <a:pPr algn="ctr"/>
                      <a:r>
                        <a:rPr lang="en-CA" sz="1800" dirty="0"/>
                        <a:t>STUDENT</a:t>
                      </a:r>
                    </a:p>
                    <a:p>
                      <a:pPr algn="ctr"/>
                      <a:r>
                        <a:rPr lang="en-CA" sz="1800" dirty="0"/>
                        <a:t>ID</a:t>
                      </a:r>
                    </a:p>
                  </a:txBody>
                  <a:tcPr marL="91438" marR="91438" marT="45743" marB="45743"/>
                </a:tc>
                <a:tc>
                  <a:txBody>
                    <a:bodyPr/>
                    <a:lstStyle/>
                    <a:p>
                      <a:pPr algn="ctr"/>
                      <a:r>
                        <a:rPr lang="en-CA" sz="1800" dirty="0"/>
                        <a:t>NAME</a:t>
                      </a:r>
                    </a:p>
                  </a:txBody>
                  <a:tcPr marL="91438" marR="91438" marT="45743" marB="45743"/>
                </a:tc>
                <a:tc>
                  <a:txBody>
                    <a:bodyPr/>
                    <a:lstStyle/>
                    <a:p>
                      <a:pPr algn="ctr"/>
                      <a:r>
                        <a:rPr lang="en-CA" sz="1800" dirty="0"/>
                        <a:t>SUBJECT</a:t>
                      </a:r>
                    </a:p>
                  </a:txBody>
                  <a:tcPr marL="91438" marR="91438" marT="45743" marB="45743"/>
                </a:tc>
                <a:extLst>
                  <a:ext uri="{0D108BD9-81ED-4DB2-BD59-A6C34878D82A}">
                    <a16:rowId xmlns:a16="http://schemas.microsoft.com/office/drawing/2014/main" val="10000"/>
                  </a:ext>
                </a:extLst>
              </a:tr>
              <a:tr h="574032">
                <a:tc>
                  <a:txBody>
                    <a:bodyPr/>
                    <a:lstStyle/>
                    <a:p>
                      <a:pPr algn="ctr"/>
                      <a:endParaRPr lang="en-CA" sz="1800" dirty="0"/>
                    </a:p>
                  </a:txBody>
                  <a:tcPr marL="91438" marR="91438" marT="45743" marB="45743"/>
                </a:tc>
                <a:tc>
                  <a:txBody>
                    <a:bodyPr/>
                    <a:lstStyle/>
                    <a:p>
                      <a:endParaRPr lang="en-CA" sz="1800" dirty="0"/>
                    </a:p>
                  </a:txBody>
                  <a:tcPr marL="91438" marR="91438" marT="45743" marB="45743"/>
                </a:tc>
                <a:tc>
                  <a:txBody>
                    <a:bodyPr/>
                    <a:lstStyle/>
                    <a:p>
                      <a:endParaRPr lang="en-CA" sz="1800" dirty="0"/>
                    </a:p>
                  </a:txBody>
                  <a:tcPr marL="91438" marR="91438" marT="45743" marB="45743"/>
                </a:tc>
                <a:extLst>
                  <a:ext uri="{0D108BD9-81ED-4DB2-BD59-A6C34878D82A}">
                    <a16:rowId xmlns:a16="http://schemas.microsoft.com/office/drawing/2014/main" val="10001"/>
                  </a:ext>
                </a:extLst>
              </a:tr>
            </a:tbl>
          </a:graphicData>
        </a:graphic>
      </p:graphicFrame>
      <p:sp>
        <p:nvSpPr>
          <p:cNvPr id="36" name="TextBox 35">
            <a:extLst>
              <a:ext uri="{FF2B5EF4-FFF2-40B4-BE49-F238E27FC236}">
                <a16:creationId xmlns:a16="http://schemas.microsoft.com/office/drawing/2014/main" id="{EE8D538C-C55A-0878-261C-87E7DD9427C6}"/>
              </a:ext>
            </a:extLst>
          </p:cNvPr>
          <p:cNvSpPr txBox="1">
            <a:spLocks noChangeArrowheads="1"/>
          </p:cNvSpPr>
          <p:nvPr/>
        </p:nvSpPr>
        <p:spPr bwMode="auto">
          <a:xfrm>
            <a:off x="1030288" y="5222875"/>
            <a:ext cx="22415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CA" altLang="en-US"/>
              <a:t>Student relation</a:t>
            </a:r>
          </a:p>
        </p:txBody>
      </p:sp>
      <p:graphicFrame>
        <p:nvGraphicFramePr>
          <p:cNvPr id="37" name="Table 36">
            <a:extLst>
              <a:ext uri="{FF2B5EF4-FFF2-40B4-BE49-F238E27FC236}">
                <a16:creationId xmlns:a16="http://schemas.microsoft.com/office/drawing/2014/main" id="{42A4E718-CF6A-7825-CC23-51037ABF41BB}"/>
              </a:ext>
            </a:extLst>
          </p:cNvPr>
          <p:cNvGraphicFramePr>
            <a:graphicFrameLocks noGrp="1"/>
          </p:cNvGraphicFramePr>
          <p:nvPr/>
        </p:nvGraphicFramePr>
        <p:xfrm>
          <a:off x="4343400" y="4043363"/>
          <a:ext cx="3984625" cy="1214437"/>
        </p:xfrm>
        <a:graphic>
          <a:graphicData uri="http://schemas.openxmlformats.org/drawingml/2006/table">
            <a:tbl>
              <a:tblPr firstRow="1" bandRow="1">
                <a:tableStyleId>{0E3FDE45-AF77-4B5C-9715-49D594BDF05E}</a:tableStyleId>
              </a:tblPr>
              <a:tblGrid>
                <a:gridCol w="1320207">
                  <a:extLst>
                    <a:ext uri="{9D8B030D-6E8A-4147-A177-3AD203B41FA5}">
                      <a16:colId xmlns:a16="http://schemas.microsoft.com/office/drawing/2014/main" val="20000"/>
                    </a:ext>
                  </a:extLst>
                </a:gridCol>
                <a:gridCol w="2664418">
                  <a:extLst>
                    <a:ext uri="{9D8B030D-6E8A-4147-A177-3AD203B41FA5}">
                      <a16:colId xmlns:a16="http://schemas.microsoft.com/office/drawing/2014/main" val="20001"/>
                    </a:ext>
                  </a:extLst>
                </a:gridCol>
              </a:tblGrid>
              <a:tr h="640405">
                <a:tc>
                  <a:txBody>
                    <a:bodyPr/>
                    <a:lstStyle/>
                    <a:p>
                      <a:pPr algn="ctr"/>
                      <a:r>
                        <a:rPr lang="en-CA" sz="1800" dirty="0"/>
                        <a:t>SUBJECT</a:t>
                      </a:r>
                    </a:p>
                    <a:p>
                      <a:pPr algn="ctr"/>
                      <a:r>
                        <a:rPr lang="en-CA" sz="1800" dirty="0"/>
                        <a:t>CODE</a:t>
                      </a:r>
                    </a:p>
                  </a:txBody>
                  <a:tcPr marL="91444" marR="91444" marT="45743" marB="45743"/>
                </a:tc>
                <a:tc>
                  <a:txBody>
                    <a:bodyPr/>
                    <a:lstStyle/>
                    <a:p>
                      <a:pPr algn="ctr"/>
                      <a:r>
                        <a:rPr lang="en-CA" sz="1800" dirty="0"/>
                        <a:t>NAME</a:t>
                      </a:r>
                    </a:p>
                  </a:txBody>
                  <a:tcPr marL="91444" marR="91444" marT="45743" marB="45743"/>
                </a:tc>
                <a:extLst>
                  <a:ext uri="{0D108BD9-81ED-4DB2-BD59-A6C34878D82A}">
                    <a16:rowId xmlns:a16="http://schemas.microsoft.com/office/drawing/2014/main" val="10000"/>
                  </a:ext>
                </a:extLst>
              </a:tr>
              <a:tr h="574032">
                <a:tc>
                  <a:txBody>
                    <a:bodyPr/>
                    <a:lstStyle/>
                    <a:p>
                      <a:pPr algn="ctr"/>
                      <a:r>
                        <a:rPr lang="en-CA" sz="1800" dirty="0"/>
                        <a:t>BSIT 201</a:t>
                      </a:r>
                    </a:p>
                  </a:txBody>
                  <a:tcPr marL="91444" marR="91444" marT="45743" marB="45743"/>
                </a:tc>
                <a:tc>
                  <a:txBody>
                    <a:bodyPr/>
                    <a:lstStyle/>
                    <a:p>
                      <a:r>
                        <a:rPr lang="en-CA" sz="1800" dirty="0"/>
                        <a:t>Database</a:t>
                      </a:r>
                      <a:r>
                        <a:rPr lang="en-CA" sz="1800" baseline="0" dirty="0"/>
                        <a:t> Concept</a:t>
                      </a:r>
                      <a:endParaRPr lang="en-CA" sz="1800" dirty="0"/>
                    </a:p>
                  </a:txBody>
                  <a:tcPr marL="91444" marR="91444" marT="45743" marB="45743"/>
                </a:tc>
                <a:extLst>
                  <a:ext uri="{0D108BD9-81ED-4DB2-BD59-A6C34878D82A}">
                    <a16:rowId xmlns:a16="http://schemas.microsoft.com/office/drawing/2014/main" val="10001"/>
                  </a:ext>
                </a:extLst>
              </a:tr>
            </a:tbl>
          </a:graphicData>
        </a:graphic>
      </p:graphicFrame>
      <p:sp>
        <p:nvSpPr>
          <p:cNvPr id="38" name="TextBox 37">
            <a:extLst>
              <a:ext uri="{FF2B5EF4-FFF2-40B4-BE49-F238E27FC236}">
                <a16:creationId xmlns:a16="http://schemas.microsoft.com/office/drawing/2014/main" id="{57AFA9AD-BF38-63B6-1ABB-99C1A1570805}"/>
              </a:ext>
            </a:extLst>
          </p:cNvPr>
          <p:cNvSpPr txBox="1">
            <a:spLocks noChangeArrowheads="1"/>
          </p:cNvSpPr>
          <p:nvPr/>
        </p:nvSpPr>
        <p:spPr bwMode="auto">
          <a:xfrm>
            <a:off x="5664200" y="5219700"/>
            <a:ext cx="22415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CA" altLang="en-US"/>
              <a:t>Subject relation</a:t>
            </a:r>
          </a:p>
        </p:txBody>
      </p:sp>
      <p:cxnSp>
        <p:nvCxnSpPr>
          <p:cNvPr id="39" name="Straight Connector 38">
            <a:extLst>
              <a:ext uri="{FF2B5EF4-FFF2-40B4-BE49-F238E27FC236}">
                <a16:creationId xmlns:a16="http://schemas.microsoft.com/office/drawing/2014/main" id="{ACB649AA-C28F-2D5F-9E51-3D5F84606761}"/>
              </a:ext>
            </a:extLst>
          </p:cNvPr>
          <p:cNvCxnSpPr/>
          <p:nvPr/>
        </p:nvCxnSpPr>
        <p:spPr bwMode="auto">
          <a:xfrm>
            <a:off x="360363" y="4619625"/>
            <a:ext cx="1108075" cy="0"/>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40" name="Straight Connector 39">
            <a:extLst>
              <a:ext uri="{FF2B5EF4-FFF2-40B4-BE49-F238E27FC236}">
                <a16:creationId xmlns:a16="http://schemas.microsoft.com/office/drawing/2014/main" id="{D98F454C-6B84-C302-8768-243D13A912F9}"/>
              </a:ext>
            </a:extLst>
          </p:cNvPr>
          <p:cNvCxnSpPr/>
          <p:nvPr/>
        </p:nvCxnSpPr>
        <p:spPr bwMode="auto">
          <a:xfrm>
            <a:off x="4438650" y="4606925"/>
            <a:ext cx="1152525" cy="0"/>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43" name="Rectangle 42">
            <a:extLst>
              <a:ext uri="{FF2B5EF4-FFF2-40B4-BE49-F238E27FC236}">
                <a16:creationId xmlns:a16="http://schemas.microsoft.com/office/drawing/2014/main" id="{34351FFA-A656-D7A0-141F-8057C80AD214}"/>
              </a:ext>
            </a:extLst>
          </p:cNvPr>
          <p:cNvSpPr/>
          <p:nvPr/>
        </p:nvSpPr>
        <p:spPr bwMode="auto">
          <a:xfrm>
            <a:off x="571500" y="5735638"/>
            <a:ext cx="7200900" cy="588962"/>
          </a:xfrm>
          <a:prstGeom prst="rect">
            <a:avLst/>
          </a:prstGeom>
          <a:ln>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anchor="ctr"/>
          <a:lstStyle/>
          <a:p>
            <a:pPr>
              <a:defRPr/>
            </a:pPr>
            <a:r>
              <a:rPr lang="en-CA" dirty="0"/>
              <a:t>We can enter a new student into the student relation with SUBJECT = NULL or SUBJECT = BSIT 201</a:t>
            </a:r>
            <a:endParaRPr lang="en-CA" dirty="0">
              <a:solidFill>
                <a:schemeClr val="tx1"/>
              </a:solidFill>
              <a:latin typeface="Arial"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left)">
                                      <p:cBhvr>
                                        <p:cTn id="7" dur="500"/>
                                        <p:tgtEl>
                                          <p:spTgt spid="2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wipe(up)">
                                      <p:cBhvr>
                                        <p:cTn id="12" dur="500"/>
                                        <p:tgtEl>
                                          <p:spTgt spid="35"/>
                                        </p:tgtEl>
                                      </p:cBhvr>
                                    </p:animEffect>
                                  </p:childTnLst>
                                </p:cTn>
                              </p:par>
                            </p:childTnLst>
                          </p:cTn>
                        </p:par>
                        <p:par>
                          <p:cTn id="13" fill="hold" nodeType="afterGroup">
                            <p:stCondLst>
                              <p:cond delay="500"/>
                            </p:stCondLst>
                            <p:childTnLst>
                              <p:par>
                                <p:cTn id="14" presetID="22" presetClass="entr" presetSubtype="1" fill="hold" grpId="0" nodeType="afterEffect">
                                  <p:stCondLst>
                                    <p:cond delay="0"/>
                                  </p:stCondLst>
                                  <p:childTnLst>
                                    <p:set>
                                      <p:cBhvr>
                                        <p:cTn id="15" dur="1" fill="hold">
                                          <p:stCondLst>
                                            <p:cond delay="0"/>
                                          </p:stCondLst>
                                        </p:cTn>
                                        <p:tgtEl>
                                          <p:spTgt spid="36"/>
                                        </p:tgtEl>
                                        <p:attrNameLst>
                                          <p:attrName>style.visibility</p:attrName>
                                        </p:attrNameLst>
                                      </p:cBhvr>
                                      <p:to>
                                        <p:strVal val="visible"/>
                                      </p:to>
                                    </p:set>
                                    <p:animEffect transition="in" filter="wipe(up)">
                                      <p:cBhvr>
                                        <p:cTn id="16" dur="500"/>
                                        <p:tgtEl>
                                          <p:spTgt spid="36"/>
                                        </p:tgtEl>
                                      </p:cBhvr>
                                    </p:animEffect>
                                  </p:childTnLst>
                                </p:cTn>
                              </p:par>
                            </p:childTnLst>
                          </p:cTn>
                        </p:par>
                        <p:par>
                          <p:cTn id="17" fill="hold" nodeType="afterGroup">
                            <p:stCondLst>
                              <p:cond delay="1000"/>
                            </p:stCondLst>
                            <p:childTnLst>
                              <p:par>
                                <p:cTn id="18" presetID="22" presetClass="entr" presetSubtype="8" fill="hold" nodeType="afterEffect">
                                  <p:stCondLst>
                                    <p:cond delay="0"/>
                                  </p:stCondLst>
                                  <p:childTnLst>
                                    <p:set>
                                      <p:cBhvr>
                                        <p:cTn id="19" dur="1" fill="hold">
                                          <p:stCondLst>
                                            <p:cond delay="0"/>
                                          </p:stCondLst>
                                        </p:cTn>
                                        <p:tgtEl>
                                          <p:spTgt spid="39"/>
                                        </p:tgtEl>
                                        <p:attrNameLst>
                                          <p:attrName>style.visibility</p:attrName>
                                        </p:attrNameLst>
                                      </p:cBhvr>
                                      <p:to>
                                        <p:strVal val="visible"/>
                                      </p:to>
                                    </p:set>
                                    <p:animEffect transition="in" filter="wipe(left)">
                                      <p:cBhvr>
                                        <p:cTn id="20" dur="500"/>
                                        <p:tgtEl>
                                          <p:spTgt spid="39"/>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1" fill="hold" nodeType="clickEffect">
                                  <p:stCondLst>
                                    <p:cond delay="0"/>
                                  </p:stCondLst>
                                  <p:childTnLst>
                                    <p:set>
                                      <p:cBhvr>
                                        <p:cTn id="24" dur="1" fill="hold">
                                          <p:stCondLst>
                                            <p:cond delay="0"/>
                                          </p:stCondLst>
                                        </p:cTn>
                                        <p:tgtEl>
                                          <p:spTgt spid="37"/>
                                        </p:tgtEl>
                                        <p:attrNameLst>
                                          <p:attrName>style.visibility</p:attrName>
                                        </p:attrNameLst>
                                      </p:cBhvr>
                                      <p:to>
                                        <p:strVal val="visible"/>
                                      </p:to>
                                    </p:set>
                                    <p:animEffect transition="in" filter="wipe(up)">
                                      <p:cBhvr>
                                        <p:cTn id="25" dur="500"/>
                                        <p:tgtEl>
                                          <p:spTgt spid="37"/>
                                        </p:tgtEl>
                                      </p:cBhvr>
                                    </p:animEffect>
                                  </p:childTnLst>
                                </p:cTn>
                              </p:par>
                            </p:childTnLst>
                          </p:cTn>
                        </p:par>
                        <p:par>
                          <p:cTn id="26" fill="hold" nodeType="afterGroup">
                            <p:stCondLst>
                              <p:cond delay="500"/>
                            </p:stCondLst>
                            <p:childTnLst>
                              <p:par>
                                <p:cTn id="27" presetID="22" presetClass="entr" presetSubtype="1" fill="hold" grpId="0" nodeType="afterEffect">
                                  <p:stCondLst>
                                    <p:cond delay="0"/>
                                  </p:stCondLst>
                                  <p:childTnLst>
                                    <p:set>
                                      <p:cBhvr>
                                        <p:cTn id="28" dur="1" fill="hold">
                                          <p:stCondLst>
                                            <p:cond delay="0"/>
                                          </p:stCondLst>
                                        </p:cTn>
                                        <p:tgtEl>
                                          <p:spTgt spid="38"/>
                                        </p:tgtEl>
                                        <p:attrNameLst>
                                          <p:attrName>style.visibility</p:attrName>
                                        </p:attrNameLst>
                                      </p:cBhvr>
                                      <p:to>
                                        <p:strVal val="visible"/>
                                      </p:to>
                                    </p:set>
                                    <p:animEffect transition="in" filter="wipe(up)">
                                      <p:cBhvr>
                                        <p:cTn id="29" dur="500"/>
                                        <p:tgtEl>
                                          <p:spTgt spid="38"/>
                                        </p:tgtEl>
                                      </p:cBhvr>
                                    </p:animEffect>
                                  </p:childTnLst>
                                </p:cTn>
                              </p:par>
                            </p:childTnLst>
                          </p:cTn>
                        </p:par>
                        <p:par>
                          <p:cTn id="30" fill="hold" nodeType="afterGroup">
                            <p:stCondLst>
                              <p:cond delay="1000"/>
                            </p:stCondLst>
                            <p:childTnLst>
                              <p:par>
                                <p:cTn id="31" presetID="22" presetClass="entr" presetSubtype="8" fill="hold" nodeType="afterEffect">
                                  <p:stCondLst>
                                    <p:cond delay="0"/>
                                  </p:stCondLst>
                                  <p:childTnLst>
                                    <p:set>
                                      <p:cBhvr>
                                        <p:cTn id="32" dur="1" fill="hold">
                                          <p:stCondLst>
                                            <p:cond delay="0"/>
                                          </p:stCondLst>
                                        </p:cTn>
                                        <p:tgtEl>
                                          <p:spTgt spid="40"/>
                                        </p:tgtEl>
                                        <p:attrNameLst>
                                          <p:attrName>style.visibility</p:attrName>
                                        </p:attrNameLst>
                                      </p:cBhvr>
                                      <p:to>
                                        <p:strVal val="visible"/>
                                      </p:to>
                                    </p:set>
                                    <p:animEffect transition="in" filter="wipe(left)">
                                      <p:cBhvr>
                                        <p:cTn id="33" dur="500"/>
                                        <p:tgtEl>
                                          <p:spTgt spid="40"/>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43"/>
                                        </p:tgtEl>
                                        <p:attrNameLst>
                                          <p:attrName>style.visibility</p:attrName>
                                        </p:attrNameLst>
                                      </p:cBhvr>
                                      <p:to>
                                        <p:strVal val="visible"/>
                                      </p:to>
                                    </p:set>
                                    <p:animEffect transition="in" filter="wipe(left)">
                                      <p:cBhvr>
                                        <p:cTn id="38"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36" grpId="0"/>
      <p:bldP spid="38" grpId="0"/>
      <p:bldP spid="43" grpId="0" animBg="1"/>
    </p:bld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Content Placeholder 2">
            <a:extLst>
              <a:ext uri="{FF2B5EF4-FFF2-40B4-BE49-F238E27FC236}">
                <a16:creationId xmlns:a16="http://schemas.microsoft.com/office/drawing/2014/main" id="{DE20BF37-F25B-218F-BBA9-89FA37424AE6}"/>
              </a:ext>
            </a:extLst>
          </p:cNvPr>
          <p:cNvSpPr txBox="1">
            <a:spLocks/>
          </p:cNvSpPr>
          <p:nvPr/>
        </p:nvSpPr>
        <p:spPr bwMode="auto">
          <a:xfrm>
            <a:off x="134938" y="1773238"/>
            <a:ext cx="8247062" cy="201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rgbClr val="FF6600"/>
              </a:buClr>
              <a:buFont typeface="Wingdings 3" panose="05040102010807070707" pitchFamily="18" charset="2"/>
              <a:buNone/>
            </a:pPr>
            <a:r>
              <a:rPr lang="en-US" altLang="en-US" sz="3200">
                <a:latin typeface="Calibri" panose="020F0502020204030204" pitchFamily="34" charset="0"/>
              </a:rPr>
              <a:t>A relational DBMS </a:t>
            </a:r>
            <a:r>
              <a:rPr lang="en-CA" altLang="en-US" sz="3200">
                <a:latin typeface="Calibri" panose="020F0502020204030204" pitchFamily="34" charset="0"/>
              </a:rPr>
              <a:t>will check each foreign key value to ensure that it is either NULL or refers to an existing primary key. This is known as enforcing referential integrity constraint</a:t>
            </a:r>
          </a:p>
          <a:p>
            <a:pPr algn="just" eaLnBrk="1" hangingPunct="1">
              <a:spcBef>
                <a:spcPct val="20000"/>
              </a:spcBef>
              <a:buClr>
                <a:srgbClr val="FF6600"/>
              </a:buClr>
              <a:buFont typeface="Wingdings 3" panose="05040102010807070707" pitchFamily="18" charset="2"/>
              <a:buNone/>
            </a:pPr>
            <a:endParaRPr lang="en-CA" altLang="en-US" sz="32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sz="4000">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a:p>
            <a:pPr algn="just" eaLnBrk="1" hangingPunct="1">
              <a:spcBef>
                <a:spcPct val="20000"/>
              </a:spcBef>
              <a:buClr>
                <a:srgbClr val="FF6600"/>
              </a:buClr>
              <a:buFont typeface="Wingdings 3" panose="05040102010807070707" pitchFamily="18" charset="2"/>
              <a:buNone/>
            </a:pPr>
            <a:endParaRPr lang="en-CA" altLang="en-US">
              <a:latin typeface="Calibri" panose="020F0502020204030204" pitchFamily="34" charset="0"/>
            </a:endParaRPr>
          </a:p>
        </p:txBody>
      </p:sp>
      <p:sp>
        <p:nvSpPr>
          <p:cNvPr id="2" name="Title 1">
            <a:extLst>
              <a:ext uri="{FF2B5EF4-FFF2-40B4-BE49-F238E27FC236}">
                <a16:creationId xmlns:a16="http://schemas.microsoft.com/office/drawing/2014/main" id="{63ECEBD0-021E-1CC1-1661-B59D3EF67D44}"/>
              </a:ext>
            </a:extLst>
          </p:cNvPr>
          <p:cNvSpPr>
            <a:spLocks noGrp="1"/>
          </p:cNvSpPr>
          <p:nvPr>
            <p:ph type="title"/>
          </p:nvPr>
        </p:nvSpPr>
        <p:spPr>
          <a:xfrm>
            <a:off x="457200" y="0"/>
            <a:ext cx="7620000" cy="1143000"/>
          </a:xfrm>
        </p:spPr>
        <p:txBody>
          <a:bodyPr/>
          <a:lstStyle/>
          <a:p>
            <a:pPr algn="ctr">
              <a:defRPr/>
            </a:pPr>
            <a:r>
              <a:rPr lang="en-US" dirty="0"/>
              <a:t>Relational Constraints</a:t>
            </a:r>
            <a:endParaRPr lang="en-CA" dirty="0"/>
          </a:p>
        </p:txBody>
      </p:sp>
      <p:sp>
        <p:nvSpPr>
          <p:cNvPr id="40" name="Snip Single Corner Rectangle 39">
            <a:extLst>
              <a:ext uri="{FF2B5EF4-FFF2-40B4-BE49-F238E27FC236}">
                <a16:creationId xmlns:a16="http://schemas.microsoft.com/office/drawing/2014/main" id="{BE239CD3-A3CD-11BE-B49C-FDDF1814CDB6}"/>
              </a:ext>
            </a:extLst>
          </p:cNvPr>
          <p:cNvSpPr/>
          <p:nvPr/>
        </p:nvSpPr>
        <p:spPr>
          <a:xfrm>
            <a:off x="123825" y="1423988"/>
            <a:ext cx="3311525" cy="401637"/>
          </a:xfrm>
          <a:prstGeom prst="snip1Rect">
            <a:avLst/>
          </a:prstGeom>
          <a:solidFill>
            <a:srgbClr val="00B050">
              <a:alpha val="70000"/>
            </a:srgbClr>
          </a:solidFill>
          <a:ln>
            <a:solidFill>
              <a:srgbClr val="00B050"/>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indent="-342900" algn="just" eaLnBrk="1" hangingPunct="1">
              <a:spcBef>
                <a:spcPct val="20000"/>
              </a:spcBef>
              <a:buClr>
                <a:srgbClr val="FF6600"/>
              </a:buClr>
              <a:buSzPct val="100000"/>
              <a:defRPr/>
            </a:pPr>
            <a:r>
              <a:rPr lang="en-US" dirty="0">
                <a:latin typeface="Arial" pitchFamily="34" charset="0"/>
                <a:ea typeface="Times New Roman" pitchFamily="18" charset="0"/>
                <a:cs typeface="Arial" pitchFamily="34" charset="0"/>
              </a:rPr>
              <a:t>Referential Integrity Constraint</a:t>
            </a:r>
            <a:endParaRPr lang="en-GB" kern="0" dirty="0">
              <a:solidFill>
                <a:schemeClr val="tx1"/>
              </a:solidFill>
            </a:endParaRPr>
          </a:p>
        </p:txBody>
      </p:sp>
      <p:graphicFrame>
        <p:nvGraphicFramePr>
          <p:cNvPr id="41" name="Table 40">
            <a:extLst>
              <a:ext uri="{FF2B5EF4-FFF2-40B4-BE49-F238E27FC236}">
                <a16:creationId xmlns:a16="http://schemas.microsoft.com/office/drawing/2014/main" id="{9E1EFE16-B6A5-CB34-647B-1499832DF6B7}"/>
              </a:ext>
            </a:extLst>
          </p:cNvPr>
          <p:cNvGraphicFramePr>
            <a:graphicFrameLocks noGrp="1"/>
          </p:cNvGraphicFramePr>
          <p:nvPr/>
        </p:nvGraphicFramePr>
        <p:xfrm>
          <a:off x="123825" y="3933825"/>
          <a:ext cx="4219575" cy="1214438"/>
        </p:xfrm>
        <a:graphic>
          <a:graphicData uri="http://schemas.openxmlformats.org/drawingml/2006/table">
            <a:tbl>
              <a:tblPr firstRow="1" bandRow="1">
                <a:tableStyleId>{3B4B98B0-60AC-42C2-AFA5-B58CD77FA1E5}</a:tableStyleId>
              </a:tblPr>
              <a:tblGrid>
                <a:gridCol w="1232982">
                  <a:extLst>
                    <a:ext uri="{9D8B030D-6E8A-4147-A177-3AD203B41FA5}">
                      <a16:colId xmlns:a16="http://schemas.microsoft.com/office/drawing/2014/main" val="20000"/>
                    </a:ext>
                  </a:extLst>
                </a:gridCol>
                <a:gridCol w="1561174">
                  <a:extLst>
                    <a:ext uri="{9D8B030D-6E8A-4147-A177-3AD203B41FA5}">
                      <a16:colId xmlns:a16="http://schemas.microsoft.com/office/drawing/2014/main" val="20001"/>
                    </a:ext>
                  </a:extLst>
                </a:gridCol>
                <a:gridCol w="1425419">
                  <a:extLst>
                    <a:ext uri="{9D8B030D-6E8A-4147-A177-3AD203B41FA5}">
                      <a16:colId xmlns:a16="http://schemas.microsoft.com/office/drawing/2014/main" val="20002"/>
                    </a:ext>
                  </a:extLst>
                </a:gridCol>
              </a:tblGrid>
              <a:tr h="640405">
                <a:tc>
                  <a:txBody>
                    <a:bodyPr/>
                    <a:lstStyle/>
                    <a:p>
                      <a:pPr algn="ctr"/>
                      <a:r>
                        <a:rPr lang="en-CA" sz="1800" dirty="0"/>
                        <a:t>STUDENT</a:t>
                      </a:r>
                    </a:p>
                    <a:p>
                      <a:pPr algn="ctr"/>
                      <a:r>
                        <a:rPr lang="en-CA" sz="1800" dirty="0"/>
                        <a:t>ID</a:t>
                      </a:r>
                    </a:p>
                  </a:txBody>
                  <a:tcPr marL="91439" marR="91439" marT="45743" marB="45743"/>
                </a:tc>
                <a:tc>
                  <a:txBody>
                    <a:bodyPr/>
                    <a:lstStyle/>
                    <a:p>
                      <a:pPr algn="ctr"/>
                      <a:r>
                        <a:rPr lang="en-CA" sz="1800" dirty="0"/>
                        <a:t>NAME</a:t>
                      </a:r>
                    </a:p>
                  </a:txBody>
                  <a:tcPr marL="91439" marR="91439" marT="45743" marB="45743"/>
                </a:tc>
                <a:tc>
                  <a:txBody>
                    <a:bodyPr/>
                    <a:lstStyle/>
                    <a:p>
                      <a:pPr algn="ctr"/>
                      <a:r>
                        <a:rPr lang="en-CA" sz="1800" dirty="0"/>
                        <a:t>SUBJECT</a:t>
                      </a:r>
                    </a:p>
                  </a:txBody>
                  <a:tcPr marL="91439" marR="91439" marT="45743" marB="45743"/>
                </a:tc>
                <a:extLst>
                  <a:ext uri="{0D108BD9-81ED-4DB2-BD59-A6C34878D82A}">
                    <a16:rowId xmlns:a16="http://schemas.microsoft.com/office/drawing/2014/main" val="10000"/>
                  </a:ext>
                </a:extLst>
              </a:tr>
              <a:tr h="574033">
                <a:tc>
                  <a:txBody>
                    <a:bodyPr/>
                    <a:lstStyle/>
                    <a:p>
                      <a:pPr algn="ctr"/>
                      <a:endParaRPr lang="en-CA" sz="1800" dirty="0"/>
                    </a:p>
                  </a:txBody>
                  <a:tcPr marL="91439" marR="91439" marT="45743" marB="45743"/>
                </a:tc>
                <a:tc>
                  <a:txBody>
                    <a:bodyPr/>
                    <a:lstStyle/>
                    <a:p>
                      <a:endParaRPr lang="en-CA" sz="1800" dirty="0"/>
                    </a:p>
                  </a:txBody>
                  <a:tcPr marL="91439" marR="91439" marT="45743" marB="45743"/>
                </a:tc>
                <a:tc>
                  <a:txBody>
                    <a:bodyPr/>
                    <a:lstStyle/>
                    <a:p>
                      <a:endParaRPr lang="en-CA" sz="1800" dirty="0"/>
                    </a:p>
                  </a:txBody>
                  <a:tcPr marL="91439" marR="91439" marT="45743" marB="45743"/>
                </a:tc>
                <a:extLst>
                  <a:ext uri="{0D108BD9-81ED-4DB2-BD59-A6C34878D82A}">
                    <a16:rowId xmlns:a16="http://schemas.microsoft.com/office/drawing/2014/main" val="10001"/>
                  </a:ext>
                </a:extLst>
              </a:tr>
            </a:tbl>
          </a:graphicData>
        </a:graphic>
      </p:graphicFrame>
      <p:sp>
        <p:nvSpPr>
          <p:cNvPr id="27663" name="TextBox 41">
            <a:extLst>
              <a:ext uri="{FF2B5EF4-FFF2-40B4-BE49-F238E27FC236}">
                <a16:creationId xmlns:a16="http://schemas.microsoft.com/office/drawing/2014/main" id="{1D80DCFA-1468-3D8D-3F4E-5A8003E52BDA}"/>
              </a:ext>
            </a:extLst>
          </p:cNvPr>
          <p:cNvSpPr txBox="1">
            <a:spLocks noChangeArrowheads="1"/>
          </p:cNvSpPr>
          <p:nvPr/>
        </p:nvSpPr>
        <p:spPr bwMode="auto">
          <a:xfrm>
            <a:off x="1030288" y="5159375"/>
            <a:ext cx="22415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CA" altLang="en-US"/>
              <a:t>Student relation</a:t>
            </a:r>
          </a:p>
        </p:txBody>
      </p:sp>
      <p:graphicFrame>
        <p:nvGraphicFramePr>
          <p:cNvPr id="43" name="Table 42">
            <a:extLst>
              <a:ext uri="{FF2B5EF4-FFF2-40B4-BE49-F238E27FC236}">
                <a16:creationId xmlns:a16="http://schemas.microsoft.com/office/drawing/2014/main" id="{D294C3F5-AA6D-2F07-F6D4-836CA9A1EEEB}"/>
              </a:ext>
            </a:extLst>
          </p:cNvPr>
          <p:cNvGraphicFramePr>
            <a:graphicFrameLocks noGrp="1"/>
          </p:cNvGraphicFramePr>
          <p:nvPr/>
        </p:nvGraphicFramePr>
        <p:xfrm>
          <a:off x="4495800" y="3933825"/>
          <a:ext cx="3886200" cy="1212851"/>
        </p:xfrm>
        <a:graphic>
          <a:graphicData uri="http://schemas.openxmlformats.org/drawingml/2006/table">
            <a:tbl>
              <a:tblPr firstRow="1" bandRow="1">
                <a:tableStyleId>{0E3FDE45-AF77-4B5C-9715-49D594BDF05E}</a:tableStyleId>
              </a:tblPr>
              <a:tblGrid>
                <a:gridCol w="1287596">
                  <a:extLst>
                    <a:ext uri="{9D8B030D-6E8A-4147-A177-3AD203B41FA5}">
                      <a16:colId xmlns:a16="http://schemas.microsoft.com/office/drawing/2014/main" val="20000"/>
                    </a:ext>
                  </a:extLst>
                </a:gridCol>
                <a:gridCol w="2598604">
                  <a:extLst>
                    <a:ext uri="{9D8B030D-6E8A-4147-A177-3AD203B41FA5}">
                      <a16:colId xmlns:a16="http://schemas.microsoft.com/office/drawing/2014/main" val="20001"/>
                    </a:ext>
                  </a:extLst>
                </a:gridCol>
              </a:tblGrid>
              <a:tr h="639947">
                <a:tc>
                  <a:txBody>
                    <a:bodyPr/>
                    <a:lstStyle/>
                    <a:p>
                      <a:pPr algn="ctr"/>
                      <a:r>
                        <a:rPr lang="en-CA" sz="1800" dirty="0"/>
                        <a:t>SUBJECTCODE</a:t>
                      </a:r>
                    </a:p>
                  </a:txBody>
                  <a:tcPr marT="45654" marB="45654"/>
                </a:tc>
                <a:tc>
                  <a:txBody>
                    <a:bodyPr/>
                    <a:lstStyle/>
                    <a:p>
                      <a:pPr algn="ctr"/>
                      <a:r>
                        <a:rPr lang="en-CA" sz="1800" dirty="0"/>
                        <a:t>NAME</a:t>
                      </a:r>
                    </a:p>
                  </a:txBody>
                  <a:tcPr marT="45654" marB="45654"/>
                </a:tc>
                <a:extLst>
                  <a:ext uri="{0D108BD9-81ED-4DB2-BD59-A6C34878D82A}">
                    <a16:rowId xmlns:a16="http://schemas.microsoft.com/office/drawing/2014/main" val="10000"/>
                  </a:ext>
                </a:extLst>
              </a:tr>
              <a:tr h="572903">
                <a:tc>
                  <a:txBody>
                    <a:bodyPr/>
                    <a:lstStyle/>
                    <a:p>
                      <a:pPr algn="ctr"/>
                      <a:r>
                        <a:rPr lang="en-CA" sz="1800" dirty="0"/>
                        <a:t>BSIT 201</a:t>
                      </a:r>
                    </a:p>
                  </a:txBody>
                  <a:tcPr marT="45654" marB="45654"/>
                </a:tc>
                <a:tc>
                  <a:txBody>
                    <a:bodyPr/>
                    <a:lstStyle/>
                    <a:p>
                      <a:r>
                        <a:rPr lang="en-CA" sz="1800" dirty="0"/>
                        <a:t>Database</a:t>
                      </a:r>
                      <a:r>
                        <a:rPr lang="en-CA" sz="1800" baseline="0" dirty="0"/>
                        <a:t> Concept</a:t>
                      </a:r>
                      <a:endParaRPr lang="en-CA" sz="1800" dirty="0"/>
                    </a:p>
                  </a:txBody>
                  <a:tcPr marT="45654" marB="45654"/>
                </a:tc>
                <a:extLst>
                  <a:ext uri="{0D108BD9-81ED-4DB2-BD59-A6C34878D82A}">
                    <a16:rowId xmlns:a16="http://schemas.microsoft.com/office/drawing/2014/main" val="10001"/>
                  </a:ext>
                </a:extLst>
              </a:tr>
            </a:tbl>
          </a:graphicData>
        </a:graphic>
      </p:graphicFrame>
      <p:sp>
        <p:nvSpPr>
          <p:cNvPr id="27672" name="TextBox 43">
            <a:extLst>
              <a:ext uri="{FF2B5EF4-FFF2-40B4-BE49-F238E27FC236}">
                <a16:creationId xmlns:a16="http://schemas.microsoft.com/office/drawing/2014/main" id="{8B1E0820-82FD-F620-4570-8A8B7B3C2B4E}"/>
              </a:ext>
            </a:extLst>
          </p:cNvPr>
          <p:cNvSpPr txBox="1">
            <a:spLocks noChangeArrowheads="1"/>
          </p:cNvSpPr>
          <p:nvPr/>
        </p:nvSpPr>
        <p:spPr bwMode="auto">
          <a:xfrm>
            <a:off x="5664200" y="5157788"/>
            <a:ext cx="22415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CA" altLang="en-US"/>
              <a:t>Subject relation</a:t>
            </a:r>
          </a:p>
        </p:txBody>
      </p:sp>
      <p:cxnSp>
        <p:nvCxnSpPr>
          <p:cNvPr id="45" name="Straight Connector 44">
            <a:extLst>
              <a:ext uri="{FF2B5EF4-FFF2-40B4-BE49-F238E27FC236}">
                <a16:creationId xmlns:a16="http://schemas.microsoft.com/office/drawing/2014/main" id="{C2761AF3-EB6E-8F6B-BBF5-E0071D7D0EF2}"/>
              </a:ext>
            </a:extLst>
          </p:cNvPr>
          <p:cNvCxnSpPr/>
          <p:nvPr/>
        </p:nvCxnSpPr>
        <p:spPr bwMode="auto">
          <a:xfrm>
            <a:off x="207963" y="4508500"/>
            <a:ext cx="1152525" cy="0"/>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46" name="Straight Connector 45">
            <a:extLst>
              <a:ext uri="{FF2B5EF4-FFF2-40B4-BE49-F238E27FC236}">
                <a16:creationId xmlns:a16="http://schemas.microsoft.com/office/drawing/2014/main" id="{4429C792-4C49-07AA-88E4-0C64B1F01CAF}"/>
              </a:ext>
            </a:extLst>
          </p:cNvPr>
          <p:cNvCxnSpPr/>
          <p:nvPr/>
        </p:nvCxnSpPr>
        <p:spPr bwMode="auto">
          <a:xfrm>
            <a:off x="4591050" y="4495800"/>
            <a:ext cx="1123950" cy="0"/>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47" name="Rectangle 46">
            <a:extLst>
              <a:ext uri="{FF2B5EF4-FFF2-40B4-BE49-F238E27FC236}">
                <a16:creationId xmlns:a16="http://schemas.microsoft.com/office/drawing/2014/main" id="{42C9C410-C795-1737-5026-A824BCF1C09B}"/>
              </a:ext>
            </a:extLst>
          </p:cNvPr>
          <p:cNvSpPr/>
          <p:nvPr/>
        </p:nvSpPr>
        <p:spPr bwMode="auto">
          <a:xfrm>
            <a:off x="609600" y="5673725"/>
            <a:ext cx="7200900" cy="587375"/>
          </a:xfrm>
          <a:prstGeom prst="rect">
            <a:avLst/>
          </a:prstGeom>
          <a:ln>
            <a:headEnd type="none" w="med" len="med"/>
            <a:tailEnd type="none" w="med" len="med"/>
          </a:ln>
        </p:spPr>
        <p:style>
          <a:lnRef idx="1">
            <a:schemeClr val="dk1"/>
          </a:lnRef>
          <a:fillRef idx="2">
            <a:schemeClr val="dk1"/>
          </a:fillRef>
          <a:effectRef idx="1">
            <a:schemeClr val="dk1"/>
          </a:effectRef>
          <a:fontRef idx="minor">
            <a:schemeClr val="dk1"/>
          </a:fontRef>
        </p:style>
        <p:txBody>
          <a:bodyPr anchor="ctr"/>
          <a:lstStyle/>
          <a:p>
            <a:pPr>
              <a:defRPr/>
            </a:pPr>
            <a:r>
              <a:rPr lang="en-CA" dirty="0"/>
              <a:t>If we try to enter a new student with SUBJECT = BSIT 202, this would violate the constraint and the data entry would be denied</a:t>
            </a:r>
            <a:endParaRPr lang="en-CA" dirty="0">
              <a:solidFill>
                <a:schemeClr val="tx1"/>
              </a:solidFill>
              <a:latin typeface="Arial"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wipe(left)">
                                      <p:cBhvr>
                                        <p:cTn id="7"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animBg="1"/>
    </p:bld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ounded Rectangle 23">
            <a:extLst>
              <a:ext uri="{FF2B5EF4-FFF2-40B4-BE49-F238E27FC236}">
                <a16:creationId xmlns:a16="http://schemas.microsoft.com/office/drawing/2014/main" id="{39DBD4BB-4665-BEED-72D4-807A0C4AA4D6}"/>
              </a:ext>
            </a:extLst>
          </p:cNvPr>
          <p:cNvSpPr>
            <a:spLocks noChangeArrowheads="1"/>
          </p:cNvSpPr>
          <p:nvPr/>
        </p:nvSpPr>
        <p:spPr bwMode="auto">
          <a:xfrm>
            <a:off x="133350" y="4675188"/>
            <a:ext cx="8172450" cy="1657350"/>
          </a:xfrm>
          <a:prstGeom prst="roundRect">
            <a:avLst>
              <a:gd name="adj" fmla="val 16667"/>
            </a:avLst>
          </a:prstGeom>
          <a:solidFill>
            <a:srgbClr val="7F7B00">
              <a:alpha val="30196"/>
            </a:srgbClr>
          </a:solidFill>
          <a:ln w="9525" algn="ctr">
            <a:solidFill>
              <a:srgbClr val="7F7B00"/>
            </a:solidFill>
            <a:round/>
            <a:headEnd/>
            <a:tailEnd/>
          </a:ln>
        </p:spPr>
        <p:txBody>
          <a:bodyPr anchor="ctr" anchorCtr="1"/>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32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Normalization is a process of evaluating and correcting relations in order to achieve an efficiently structured relational database</a:t>
            </a:r>
          </a:p>
        </p:txBody>
      </p:sp>
      <p:sp>
        <p:nvSpPr>
          <p:cNvPr id="2" name="Title 1">
            <a:extLst>
              <a:ext uri="{FF2B5EF4-FFF2-40B4-BE49-F238E27FC236}">
                <a16:creationId xmlns:a16="http://schemas.microsoft.com/office/drawing/2014/main" id="{BCB86345-86E9-F83A-AB6C-4FF08E8B1394}"/>
              </a:ext>
            </a:extLst>
          </p:cNvPr>
          <p:cNvSpPr>
            <a:spLocks noGrp="1"/>
          </p:cNvSpPr>
          <p:nvPr>
            <p:ph type="title"/>
          </p:nvPr>
        </p:nvSpPr>
        <p:spPr>
          <a:xfrm>
            <a:off x="457200" y="76200"/>
            <a:ext cx="7620000" cy="1143000"/>
          </a:xfrm>
        </p:spPr>
        <p:txBody>
          <a:bodyPr/>
          <a:lstStyle/>
          <a:p>
            <a:pPr algn="ctr">
              <a:defRPr/>
            </a:pPr>
            <a:r>
              <a:rPr lang="en-US" dirty="0"/>
              <a:t>Relational Database Normalization</a:t>
            </a:r>
            <a:endParaRPr lang="en-CA" dirty="0"/>
          </a:p>
        </p:txBody>
      </p:sp>
      <p:sp>
        <p:nvSpPr>
          <p:cNvPr id="10" name="Content Placeholder 2">
            <a:extLst>
              <a:ext uri="{FF2B5EF4-FFF2-40B4-BE49-F238E27FC236}">
                <a16:creationId xmlns:a16="http://schemas.microsoft.com/office/drawing/2014/main" id="{A75921A8-D73D-621E-02C9-AF19B592E5B4}"/>
              </a:ext>
            </a:extLst>
          </p:cNvPr>
          <p:cNvSpPr txBox="1">
            <a:spLocks/>
          </p:cNvSpPr>
          <p:nvPr/>
        </p:nvSpPr>
        <p:spPr bwMode="auto">
          <a:xfrm>
            <a:off x="250825" y="1524000"/>
            <a:ext cx="7978775" cy="108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How do we know whether the relations that we have created so far are good or not?</a:t>
            </a: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rPr>
              <a:t>As it turns out, we can evaluate and improve any created relations through a process known as normalization</a:t>
            </a:r>
            <a:endParaRPr kumimoji="0" lang="en-US" altLang="en-US" sz="32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US" altLang="en-US" sz="32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rPr>
              <a:t> </a:t>
            </a: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wipe(up)">
                                      <p:cBhvr>
                                        <p:cTn id="7" dur="500"/>
                                        <p:tgtEl>
                                          <p:spTgt spid="1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10">
                                            <p:txEl>
                                              <p:pRg st="2" end="2"/>
                                            </p:txEl>
                                          </p:spTgt>
                                        </p:tgtEl>
                                        <p:attrNameLst>
                                          <p:attrName>style.visibility</p:attrName>
                                        </p:attrNameLst>
                                      </p:cBhvr>
                                      <p:to>
                                        <p:strVal val="visible"/>
                                      </p:to>
                                    </p:set>
                                    <p:animEffect transition="in" filter="wipe(up)">
                                      <p:cBhvr>
                                        <p:cTn id="12" dur="500"/>
                                        <p:tgtEl>
                                          <p:spTgt spid="10">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wipe(up)">
                                      <p:cBhvr>
                                        <p:cTn id="1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61F11-1EBB-21C1-F56B-3D10BECD0924}"/>
              </a:ext>
            </a:extLst>
          </p:cNvPr>
          <p:cNvSpPr>
            <a:spLocks noGrp="1"/>
          </p:cNvSpPr>
          <p:nvPr>
            <p:ph type="title"/>
          </p:nvPr>
        </p:nvSpPr>
        <p:spPr>
          <a:xfrm>
            <a:off x="457200" y="76200"/>
            <a:ext cx="7620000" cy="1143000"/>
          </a:xfrm>
        </p:spPr>
        <p:txBody>
          <a:bodyPr/>
          <a:lstStyle/>
          <a:p>
            <a:pPr algn="ctr">
              <a:defRPr/>
            </a:pPr>
            <a:r>
              <a:rPr lang="en-US" dirty="0"/>
              <a:t>Relational Database Normalization</a:t>
            </a:r>
            <a:endParaRPr lang="en-CA" dirty="0"/>
          </a:p>
        </p:txBody>
      </p:sp>
      <p:sp>
        <p:nvSpPr>
          <p:cNvPr id="18" name="Content Placeholder 2">
            <a:extLst>
              <a:ext uri="{FF2B5EF4-FFF2-40B4-BE49-F238E27FC236}">
                <a16:creationId xmlns:a16="http://schemas.microsoft.com/office/drawing/2014/main" id="{6D464481-46C2-7FBD-38F6-A329178E0E85}"/>
              </a:ext>
            </a:extLst>
          </p:cNvPr>
          <p:cNvSpPr txBox="1">
            <a:spLocks/>
          </p:cNvSpPr>
          <p:nvPr/>
        </p:nvSpPr>
        <p:spPr bwMode="auto">
          <a:xfrm>
            <a:off x="250825" y="1600200"/>
            <a:ext cx="7978775"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Normalization considers a “well” structured relation to have the following properties</a:t>
            </a:r>
            <a:endParaRPr kumimoji="0" lang="en-US" altLang="en-US" sz="32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US" altLang="en-US" sz="32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US" altLang="en-US" sz="32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rPr>
              <a:t> </a:t>
            </a: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sp>
        <p:nvSpPr>
          <p:cNvPr id="9" name="Freeform 8">
            <a:hlinkClick r:id="rId2" action="ppaction://hlinksldjump"/>
            <a:extLst>
              <a:ext uri="{FF2B5EF4-FFF2-40B4-BE49-F238E27FC236}">
                <a16:creationId xmlns:a16="http://schemas.microsoft.com/office/drawing/2014/main" id="{D9DCC518-BF4F-CAE5-3158-F65DEF4B9061}"/>
              </a:ext>
            </a:extLst>
          </p:cNvPr>
          <p:cNvSpPr/>
          <p:nvPr/>
        </p:nvSpPr>
        <p:spPr>
          <a:xfrm>
            <a:off x="1676400" y="2773363"/>
            <a:ext cx="2408238" cy="1490662"/>
          </a:xfrm>
          <a:custGeom>
            <a:avLst/>
            <a:gdLst>
              <a:gd name="connsiteX0" fmla="*/ 0 w 2236185"/>
              <a:gd name="connsiteY0" fmla="*/ 0 h 1341711"/>
              <a:gd name="connsiteX1" fmla="*/ 2236185 w 2236185"/>
              <a:gd name="connsiteY1" fmla="*/ 0 h 1341711"/>
              <a:gd name="connsiteX2" fmla="*/ 2236185 w 2236185"/>
              <a:gd name="connsiteY2" fmla="*/ 1341711 h 1341711"/>
              <a:gd name="connsiteX3" fmla="*/ 0 w 2236185"/>
              <a:gd name="connsiteY3" fmla="*/ 1341711 h 1341711"/>
              <a:gd name="connsiteX4" fmla="*/ 0 w 2236185"/>
              <a:gd name="connsiteY4" fmla="*/ 0 h 1341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6185" h="1341711">
                <a:moveTo>
                  <a:pt x="0" y="0"/>
                </a:moveTo>
                <a:lnTo>
                  <a:pt x="2236185" y="0"/>
                </a:lnTo>
                <a:lnTo>
                  <a:pt x="2236185" y="1341711"/>
                </a:lnTo>
                <a:lnTo>
                  <a:pt x="0" y="1341711"/>
                </a:lnTo>
                <a:lnTo>
                  <a:pt x="0" y="0"/>
                </a:lnTo>
                <a:close/>
              </a:path>
            </a:pathLst>
          </a:custGeom>
          <a:ln/>
        </p:spPr>
        <p:style>
          <a:lnRef idx="3">
            <a:schemeClr val="lt1"/>
          </a:lnRef>
          <a:fillRef idx="1">
            <a:schemeClr val="accent2"/>
          </a:fillRef>
          <a:effectRef idx="1">
            <a:schemeClr val="accent2"/>
          </a:effectRef>
          <a:fontRef idx="minor">
            <a:schemeClr val="lt1"/>
          </a:fontRef>
        </p:style>
        <p:txBody>
          <a:bodyPr lIns="83820" tIns="83820" rIns="83820" bIns="83820" spcCol="1270" anchor="ctr"/>
          <a:lstStyle/>
          <a:p>
            <a:pPr marL="0" marR="0" lvl="0" indent="0" algn="ctr" defTabSz="977900" rtl="0" eaLnBrk="0" fontAlgn="base" latinLnBrk="0" hangingPunct="0">
              <a:lnSpc>
                <a:spcPct val="90000"/>
              </a:lnSpc>
              <a:spcBef>
                <a:spcPct val="0"/>
              </a:spcBef>
              <a:spcAft>
                <a:spcPct val="35000"/>
              </a:spcAft>
              <a:buClrTx/>
              <a:buSzTx/>
              <a:buFontTx/>
              <a:buNone/>
              <a:tabLst/>
              <a:defRPr/>
            </a:pPr>
            <a:r>
              <a:rPr kumimoji="0" lang="en-CA" sz="2200" b="0" i="0" u="none" strike="noStrike" kern="1200" cap="none" spc="0" normalizeH="0" baseline="0" noProof="0" dirty="0">
                <a:ln>
                  <a:noFill/>
                </a:ln>
                <a:solidFill>
                  <a:srgbClr val="FFFFFF"/>
                </a:solidFill>
                <a:effectLst/>
                <a:uLnTx/>
                <a:uFillTx/>
                <a:latin typeface="Calibri"/>
                <a:ea typeface="+mn-ea"/>
                <a:cs typeface="+mn-cs"/>
              </a:rPr>
              <a:t>Single Subject</a:t>
            </a:r>
          </a:p>
        </p:txBody>
      </p:sp>
      <p:sp>
        <p:nvSpPr>
          <p:cNvPr id="10" name="Freeform 9">
            <a:hlinkClick r:id="rId3" action="ppaction://hlinksldjump"/>
            <a:extLst>
              <a:ext uri="{FF2B5EF4-FFF2-40B4-BE49-F238E27FC236}">
                <a16:creationId xmlns:a16="http://schemas.microsoft.com/office/drawing/2014/main" id="{67100F9C-6E46-331C-B930-16E21DB61EF9}"/>
              </a:ext>
            </a:extLst>
          </p:cNvPr>
          <p:cNvSpPr/>
          <p:nvPr/>
        </p:nvSpPr>
        <p:spPr>
          <a:xfrm>
            <a:off x="4373563" y="2773363"/>
            <a:ext cx="2408237" cy="1490662"/>
          </a:xfrm>
          <a:custGeom>
            <a:avLst/>
            <a:gdLst>
              <a:gd name="connsiteX0" fmla="*/ 0 w 2236185"/>
              <a:gd name="connsiteY0" fmla="*/ 0 h 1341711"/>
              <a:gd name="connsiteX1" fmla="*/ 2236185 w 2236185"/>
              <a:gd name="connsiteY1" fmla="*/ 0 h 1341711"/>
              <a:gd name="connsiteX2" fmla="*/ 2236185 w 2236185"/>
              <a:gd name="connsiteY2" fmla="*/ 1341711 h 1341711"/>
              <a:gd name="connsiteX3" fmla="*/ 0 w 2236185"/>
              <a:gd name="connsiteY3" fmla="*/ 1341711 h 1341711"/>
              <a:gd name="connsiteX4" fmla="*/ 0 w 2236185"/>
              <a:gd name="connsiteY4" fmla="*/ 0 h 1341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6185" h="1341711">
                <a:moveTo>
                  <a:pt x="0" y="0"/>
                </a:moveTo>
                <a:lnTo>
                  <a:pt x="2236185" y="0"/>
                </a:lnTo>
                <a:lnTo>
                  <a:pt x="2236185" y="1341711"/>
                </a:lnTo>
                <a:lnTo>
                  <a:pt x="0" y="1341711"/>
                </a:lnTo>
                <a:lnTo>
                  <a:pt x="0" y="0"/>
                </a:lnTo>
                <a:close/>
              </a:path>
            </a:pathLst>
          </a:custGeom>
          <a:ln/>
        </p:spPr>
        <p:style>
          <a:lnRef idx="3">
            <a:schemeClr val="lt1"/>
          </a:lnRef>
          <a:fillRef idx="1">
            <a:schemeClr val="accent3"/>
          </a:fillRef>
          <a:effectRef idx="1">
            <a:schemeClr val="accent3"/>
          </a:effectRef>
          <a:fontRef idx="minor">
            <a:schemeClr val="lt1"/>
          </a:fontRef>
        </p:style>
        <p:txBody>
          <a:bodyPr lIns="83820" tIns="83820" rIns="83820" bIns="83820" spcCol="1270" anchor="ctr"/>
          <a:lstStyle/>
          <a:p>
            <a:pPr marL="0" marR="0" lvl="0" indent="0" algn="ctr" defTabSz="977900" rtl="0" eaLnBrk="0" fontAlgn="base" latinLnBrk="0" hangingPunct="0">
              <a:lnSpc>
                <a:spcPct val="90000"/>
              </a:lnSpc>
              <a:spcBef>
                <a:spcPct val="0"/>
              </a:spcBef>
              <a:spcAft>
                <a:spcPct val="35000"/>
              </a:spcAft>
              <a:buClrTx/>
              <a:buSzTx/>
              <a:buFontTx/>
              <a:buNone/>
              <a:tabLst/>
              <a:defRPr/>
            </a:pPr>
            <a:r>
              <a:rPr kumimoji="0" lang="en-CA" sz="2200" b="0" i="0" u="none" strike="noStrike" kern="1200" cap="none" spc="0" normalizeH="0" baseline="0" noProof="0" dirty="0">
                <a:ln>
                  <a:noFill/>
                </a:ln>
                <a:solidFill>
                  <a:srgbClr val="FFFFFF"/>
                </a:solidFill>
                <a:effectLst/>
                <a:uLnTx/>
                <a:uFillTx/>
                <a:latin typeface="Calibri"/>
                <a:ea typeface="+mn-ea"/>
                <a:cs typeface="+mn-cs"/>
              </a:rPr>
              <a:t>No Data Redundancy</a:t>
            </a:r>
          </a:p>
        </p:txBody>
      </p:sp>
      <p:sp>
        <p:nvSpPr>
          <p:cNvPr id="12" name="Freeform 11">
            <a:hlinkClick r:id="rId4" action="ppaction://hlinksldjump"/>
            <a:extLst>
              <a:ext uri="{FF2B5EF4-FFF2-40B4-BE49-F238E27FC236}">
                <a16:creationId xmlns:a16="http://schemas.microsoft.com/office/drawing/2014/main" id="{35B6ACB1-F00F-BFEE-708E-F949DAB8FB26}"/>
              </a:ext>
            </a:extLst>
          </p:cNvPr>
          <p:cNvSpPr/>
          <p:nvPr/>
        </p:nvSpPr>
        <p:spPr>
          <a:xfrm>
            <a:off x="3116263" y="4502150"/>
            <a:ext cx="2408237" cy="1489075"/>
          </a:xfrm>
          <a:custGeom>
            <a:avLst/>
            <a:gdLst>
              <a:gd name="connsiteX0" fmla="*/ 0 w 2236185"/>
              <a:gd name="connsiteY0" fmla="*/ 0 h 1341711"/>
              <a:gd name="connsiteX1" fmla="*/ 2236185 w 2236185"/>
              <a:gd name="connsiteY1" fmla="*/ 0 h 1341711"/>
              <a:gd name="connsiteX2" fmla="*/ 2236185 w 2236185"/>
              <a:gd name="connsiteY2" fmla="*/ 1341711 h 1341711"/>
              <a:gd name="connsiteX3" fmla="*/ 0 w 2236185"/>
              <a:gd name="connsiteY3" fmla="*/ 1341711 h 1341711"/>
              <a:gd name="connsiteX4" fmla="*/ 0 w 2236185"/>
              <a:gd name="connsiteY4" fmla="*/ 0 h 1341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6185" h="1341711">
                <a:moveTo>
                  <a:pt x="0" y="0"/>
                </a:moveTo>
                <a:lnTo>
                  <a:pt x="2236185" y="0"/>
                </a:lnTo>
                <a:lnTo>
                  <a:pt x="2236185" y="1341711"/>
                </a:lnTo>
                <a:lnTo>
                  <a:pt x="0" y="1341711"/>
                </a:lnTo>
                <a:lnTo>
                  <a:pt x="0" y="0"/>
                </a:lnTo>
                <a:close/>
              </a:path>
            </a:pathLst>
          </a:custGeom>
          <a:ln/>
        </p:spPr>
        <p:style>
          <a:lnRef idx="3">
            <a:schemeClr val="lt1"/>
          </a:lnRef>
          <a:fillRef idx="1">
            <a:schemeClr val="accent5"/>
          </a:fillRef>
          <a:effectRef idx="1">
            <a:schemeClr val="accent5"/>
          </a:effectRef>
          <a:fontRef idx="minor">
            <a:schemeClr val="lt1"/>
          </a:fontRef>
        </p:style>
        <p:txBody>
          <a:bodyPr lIns="83820" tIns="83820" rIns="83820" bIns="83820" spcCol="1270" anchor="ctr"/>
          <a:lstStyle/>
          <a:p>
            <a:pPr marL="0" marR="0" lvl="0" indent="0" algn="ctr" defTabSz="977900" rtl="0" eaLnBrk="0" fontAlgn="base" latinLnBrk="0" hangingPunct="0">
              <a:lnSpc>
                <a:spcPct val="90000"/>
              </a:lnSpc>
              <a:spcBef>
                <a:spcPct val="0"/>
              </a:spcBef>
              <a:spcAft>
                <a:spcPct val="35000"/>
              </a:spcAft>
              <a:buClrTx/>
              <a:buSzTx/>
              <a:buFontTx/>
              <a:buNone/>
              <a:tabLst/>
              <a:defRPr/>
            </a:pPr>
            <a:r>
              <a:rPr kumimoji="0" lang="en-CA" sz="2200" b="0" i="0" u="none" strike="noStrike" kern="1200" cap="none" spc="0" normalizeH="0" baseline="0" noProof="0" dirty="0">
                <a:ln>
                  <a:noFill/>
                </a:ln>
                <a:solidFill>
                  <a:srgbClr val="FFFFFF"/>
                </a:solidFill>
                <a:effectLst/>
                <a:uLnTx/>
                <a:uFillTx/>
                <a:latin typeface="Calibri"/>
                <a:ea typeface="+mn-ea"/>
                <a:cs typeface="+mn-cs"/>
              </a:rPr>
              <a:t>No Data Anomalies</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childTnLst>
                          </p:cTn>
                        </p:par>
                        <p:par>
                          <p:cTn id="8" fill="hold" nodeType="afterGroup">
                            <p:stCondLst>
                              <p:cond delay="500"/>
                            </p:stCondLst>
                            <p:childTnLst>
                              <p:par>
                                <p:cTn id="9" presetID="42" presetClass="entr" presetSubtype="0"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1000"/>
                                        <p:tgtEl>
                                          <p:spTgt spid="9"/>
                                        </p:tgtEl>
                                      </p:cBhvr>
                                    </p:animEffect>
                                    <p:anim calcmode="lin" valueType="num">
                                      <p:cBhvr>
                                        <p:cTn id="12" dur="1000" fill="hold"/>
                                        <p:tgtEl>
                                          <p:spTgt spid="9"/>
                                        </p:tgtEl>
                                        <p:attrNameLst>
                                          <p:attrName>ppt_x</p:attrName>
                                        </p:attrNameLst>
                                      </p:cBhvr>
                                      <p:tavLst>
                                        <p:tav tm="0">
                                          <p:val>
                                            <p:strVal val="#ppt_x"/>
                                          </p:val>
                                        </p:tav>
                                        <p:tav tm="100000">
                                          <p:val>
                                            <p:strVal val="#ppt_x"/>
                                          </p:val>
                                        </p:tav>
                                      </p:tavLst>
                                    </p:anim>
                                    <p:anim calcmode="lin" valueType="num">
                                      <p:cBhvr>
                                        <p:cTn id="13" dur="1000" fill="hold"/>
                                        <p:tgtEl>
                                          <p:spTgt spid="9"/>
                                        </p:tgtEl>
                                        <p:attrNameLst>
                                          <p:attrName>ppt_y</p:attrName>
                                        </p:attrNameLst>
                                      </p:cBhvr>
                                      <p:tavLst>
                                        <p:tav tm="0">
                                          <p:val>
                                            <p:strVal val="#ppt_y+.1"/>
                                          </p:val>
                                        </p:tav>
                                        <p:tav tm="100000">
                                          <p:val>
                                            <p:strVal val="#ppt_y"/>
                                          </p:val>
                                        </p:tav>
                                      </p:tavLst>
                                    </p:anim>
                                  </p:childTnLst>
                                </p:cTn>
                              </p:par>
                            </p:childTnLst>
                          </p:cTn>
                        </p:par>
                        <p:par>
                          <p:cTn id="14" fill="hold" nodeType="afterGroup">
                            <p:stCondLst>
                              <p:cond delay="1500"/>
                            </p:stCondLst>
                            <p:childTnLst>
                              <p:par>
                                <p:cTn id="15" presetID="42" presetClass="entr" presetSubtype="0" fill="hold" grpId="0" nodeType="after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1000"/>
                                        <p:tgtEl>
                                          <p:spTgt spid="10"/>
                                        </p:tgtEl>
                                      </p:cBhvr>
                                    </p:animEffect>
                                    <p:anim calcmode="lin" valueType="num">
                                      <p:cBhvr>
                                        <p:cTn id="18" dur="1000" fill="hold"/>
                                        <p:tgtEl>
                                          <p:spTgt spid="10"/>
                                        </p:tgtEl>
                                        <p:attrNameLst>
                                          <p:attrName>ppt_x</p:attrName>
                                        </p:attrNameLst>
                                      </p:cBhvr>
                                      <p:tavLst>
                                        <p:tav tm="0">
                                          <p:val>
                                            <p:strVal val="#ppt_x"/>
                                          </p:val>
                                        </p:tav>
                                        <p:tav tm="100000">
                                          <p:val>
                                            <p:strVal val="#ppt_x"/>
                                          </p:val>
                                        </p:tav>
                                      </p:tavLst>
                                    </p:anim>
                                    <p:anim calcmode="lin" valueType="num">
                                      <p:cBhvr>
                                        <p:cTn id="19" dur="1000" fill="hold"/>
                                        <p:tgtEl>
                                          <p:spTgt spid="10"/>
                                        </p:tgtEl>
                                        <p:attrNameLst>
                                          <p:attrName>ppt_y</p:attrName>
                                        </p:attrNameLst>
                                      </p:cBhvr>
                                      <p:tavLst>
                                        <p:tav tm="0">
                                          <p:val>
                                            <p:strVal val="#ppt_y+.1"/>
                                          </p:val>
                                        </p:tav>
                                        <p:tav tm="100000">
                                          <p:val>
                                            <p:strVal val="#ppt_y"/>
                                          </p:val>
                                        </p:tav>
                                      </p:tavLst>
                                    </p:anim>
                                  </p:childTnLst>
                                </p:cTn>
                              </p:par>
                            </p:childTnLst>
                          </p:cTn>
                        </p:par>
                        <p:par>
                          <p:cTn id="20" fill="hold" nodeType="afterGroup">
                            <p:stCondLst>
                              <p:cond delay="2500"/>
                            </p:stCondLst>
                            <p:childTnLst>
                              <p:par>
                                <p:cTn id="21" presetID="42" presetClass="entr" presetSubtype="0" fill="hold" grpId="0" nodeType="after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1000"/>
                                        <p:tgtEl>
                                          <p:spTgt spid="12"/>
                                        </p:tgtEl>
                                      </p:cBhvr>
                                    </p:animEffect>
                                    <p:anim calcmode="lin" valueType="num">
                                      <p:cBhvr>
                                        <p:cTn id="24" dur="1000" fill="hold"/>
                                        <p:tgtEl>
                                          <p:spTgt spid="12"/>
                                        </p:tgtEl>
                                        <p:attrNameLst>
                                          <p:attrName>ppt_x</p:attrName>
                                        </p:attrNameLst>
                                      </p:cBhvr>
                                      <p:tavLst>
                                        <p:tav tm="0">
                                          <p:val>
                                            <p:strVal val="#ppt_x"/>
                                          </p:val>
                                        </p:tav>
                                        <p:tav tm="100000">
                                          <p:val>
                                            <p:strVal val="#ppt_x"/>
                                          </p:val>
                                        </p:tav>
                                      </p:tavLst>
                                    </p:anim>
                                    <p:anim calcmode="lin" valueType="num">
                                      <p:cBhvr>
                                        <p:cTn id="25"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9" grpId="0" animBg="1"/>
      <p:bldP spid="10" grpId="0" animBg="1"/>
      <p:bldP spid="12" grpId="0" animBg="1"/>
    </p:bld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Snip Single Corner Rectangle 17">
            <a:extLst>
              <a:ext uri="{FF2B5EF4-FFF2-40B4-BE49-F238E27FC236}">
                <a16:creationId xmlns:a16="http://schemas.microsoft.com/office/drawing/2014/main" id="{48678EC2-1D7E-561A-3E1F-5339C167A80D}"/>
              </a:ext>
            </a:extLst>
          </p:cNvPr>
          <p:cNvSpPr/>
          <p:nvPr/>
        </p:nvSpPr>
        <p:spPr>
          <a:xfrm>
            <a:off x="-36513" y="1392238"/>
            <a:ext cx="1728788" cy="400050"/>
          </a:xfrm>
          <a:prstGeom prst="snip1Rect">
            <a:avLst/>
          </a:prstGeom>
          <a:solidFill>
            <a:schemeClr val="accent2"/>
          </a:solidFill>
          <a:ln>
            <a:solidFill>
              <a:schemeClr val="accent2"/>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marR="0" lvl="0" indent="-342900" algn="just" defTabSz="914400" rtl="0" eaLnBrk="1" fontAlgn="base" latinLnBrk="0" hangingPunct="1">
              <a:lnSpc>
                <a:spcPct val="100000"/>
              </a:lnSpc>
              <a:spcBef>
                <a:spcPct val="20000"/>
              </a:spcBef>
              <a:spcAft>
                <a:spcPct val="0"/>
              </a:spcAft>
              <a:buClr>
                <a:srgbClr val="FF6600"/>
              </a:buClr>
              <a:buSzPct val="100000"/>
              <a:buFontTx/>
              <a:buNone/>
              <a:tabLst/>
              <a:defRPr/>
            </a:pPr>
            <a:r>
              <a:rPr kumimoji="0" lang="en-US" sz="1800" b="0" i="0" u="none" strike="noStrike" kern="1200" cap="none" spc="0" normalizeH="0" baseline="0" noProof="0" dirty="0">
                <a:ln>
                  <a:noFill/>
                </a:ln>
                <a:solidFill>
                  <a:srgbClr val="FFFFFF"/>
                </a:solidFill>
                <a:effectLst/>
                <a:uLnTx/>
                <a:uFillTx/>
                <a:latin typeface="Arial" pitchFamily="34" charset="0"/>
                <a:ea typeface="Times New Roman" pitchFamily="18" charset="0"/>
                <a:cs typeface="Arial" pitchFamily="34" charset="0"/>
              </a:rPr>
              <a:t>Single Subject</a:t>
            </a:r>
            <a:endParaRPr kumimoji="0" lang="en-GB" sz="1800" b="0" i="0" u="none" strike="noStrike" kern="0" cap="none" spc="0" normalizeH="0" baseline="0" noProof="0" dirty="0">
              <a:ln>
                <a:noFill/>
              </a:ln>
              <a:solidFill>
                <a:srgbClr val="2F2B20"/>
              </a:solidFill>
              <a:effectLst/>
              <a:uLnTx/>
              <a:uFillTx/>
              <a:latin typeface="Calibri"/>
              <a:ea typeface="+mn-ea"/>
              <a:cs typeface="+mn-cs"/>
            </a:endParaRPr>
          </a:p>
        </p:txBody>
      </p:sp>
      <p:sp>
        <p:nvSpPr>
          <p:cNvPr id="23" name="Content Placeholder 2">
            <a:extLst>
              <a:ext uri="{FF2B5EF4-FFF2-40B4-BE49-F238E27FC236}">
                <a16:creationId xmlns:a16="http://schemas.microsoft.com/office/drawing/2014/main" id="{F090FB97-C827-5C72-632B-929D78275D6C}"/>
              </a:ext>
            </a:extLst>
          </p:cNvPr>
          <p:cNvSpPr txBox="1">
            <a:spLocks/>
          </p:cNvSpPr>
          <p:nvPr/>
        </p:nvSpPr>
        <p:spPr bwMode="auto">
          <a:xfrm>
            <a:off x="250825" y="1966913"/>
            <a:ext cx="7978775"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A relation should only store data on a single subject and not store data on multiple subjects</a:t>
            </a: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20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For example</a:t>
            </a: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24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graphicFrame>
        <p:nvGraphicFramePr>
          <p:cNvPr id="30" name="Table 29">
            <a:extLst>
              <a:ext uri="{FF2B5EF4-FFF2-40B4-BE49-F238E27FC236}">
                <a16:creationId xmlns:a16="http://schemas.microsoft.com/office/drawing/2014/main" id="{C578351E-BE6B-FA2D-909A-CF72B9212F8B}"/>
              </a:ext>
            </a:extLst>
          </p:cNvPr>
          <p:cNvGraphicFramePr>
            <a:graphicFrameLocks noGrp="1"/>
          </p:cNvGraphicFramePr>
          <p:nvPr/>
        </p:nvGraphicFramePr>
        <p:xfrm>
          <a:off x="44450" y="4000500"/>
          <a:ext cx="8366125" cy="977900"/>
        </p:xfrm>
        <a:graphic>
          <a:graphicData uri="http://schemas.openxmlformats.org/drawingml/2006/table">
            <a:tbl>
              <a:tblPr firstRow="1" bandRow="1">
                <a:tableStyleId>{D27102A9-8310-4765-A935-A1911B00CA55}</a:tableStyleId>
              </a:tblPr>
              <a:tblGrid>
                <a:gridCol w="1728297">
                  <a:extLst>
                    <a:ext uri="{9D8B030D-6E8A-4147-A177-3AD203B41FA5}">
                      <a16:colId xmlns:a16="http://schemas.microsoft.com/office/drawing/2014/main" val="20000"/>
                    </a:ext>
                  </a:extLst>
                </a:gridCol>
                <a:gridCol w="2304396">
                  <a:extLst>
                    <a:ext uri="{9D8B030D-6E8A-4147-A177-3AD203B41FA5}">
                      <a16:colId xmlns:a16="http://schemas.microsoft.com/office/drawing/2014/main" val="20001"/>
                    </a:ext>
                  </a:extLst>
                </a:gridCol>
                <a:gridCol w="2016346">
                  <a:extLst>
                    <a:ext uri="{9D8B030D-6E8A-4147-A177-3AD203B41FA5}">
                      <a16:colId xmlns:a16="http://schemas.microsoft.com/office/drawing/2014/main" val="20002"/>
                    </a:ext>
                  </a:extLst>
                </a:gridCol>
                <a:gridCol w="2317086">
                  <a:extLst>
                    <a:ext uri="{9D8B030D-6E8A-4147-A177-3AD203B41FA5}">
                      <a16:colId xmlns:a16="http://schemas.microsoft.com/office/drawing/2014/main" val="20003"/>
                    </a:ext>
                  </a:extLst>
                </a:gridCol>
              </a:tblGrid>
              <a:tr h="488950">
                <a:tc>
                  <a:txBody>
                    <a:bodyPr/>
                    <a:lstStyle/>
                    <a:p>
                      <a:pPr algn="ctr"/>
                      <a:r>
                        <a:rPr lang="en-CA" sz="1800" b="1" u="none" dirty="0"/>
                        <a:t>STUDENTID</a:t>
                      </a:r>
                    </a:p>
                  </a:txBody>
                  <a:tcPr marL="91446" marR="91446" marT="45701" marB="45701"/>
                </a:tc>
                <a:tc>
                  <a:txBody>
                    <a:bodyPr/>
                    <a:lstStyle/>
                    <a:p>
                      <a:pPr algn="ctr"/>
                      <a:r>
                        <a:rPr lang="en-CA" sz="1800" dirty="0"/>
                        <a:t>STUDENTNAME</a:t>
                      </a:r>
                    </a:p>
                  </a:txBody>
                  <a:tcPr marL="91446" marR="91446" marT="45701" marB="45701"/>
                </a:tc>
                <a:tc>
                  <a:txBody>
                    <a:bodyPr/>
                    <a:lstStyle/>
                    <a:p>
                      <a:pPr algn="ctr"/>
                      <a:r>
                        <a:rPr lang="en-CA" sz="1800" u="none" dirty="0"/>
                        <a:t>SUBJECTCODE</a:t>
                      </a:r>
                    </a:p>
                  </a:txBody>
                  <a:tcPr marL="91446" marR="91446" marT="45701" marB="45701"/>
                </a:tc>
                <a:tc>
                  <a:txBody>
                    <a:bodyPr/>
                    <a:lstStyle/>
                    <a:p>
                      <a:pPr algn="ctr"/>
                      <a:r>
                        <a:rPr lang="en-CA" sz="1800" dirty="0"/>
                        <a:t>SUBJECTNAME</a:t>
                      </a:r>
                    </a:p>
                  </a:txBody>
                  <a:tcPr marL="91446" marR="91446" marT="45701" marB="45701"/>
                </a:tc>
                <a:extLst>
                  <a:ext uri="{0D108BD9-81ED-4DB2-BD59-A6C34878D82A}">
                    <a16:rowId xmlns:a16="http://schemas.microsoft.com/office/drawing/2014/main" val="10000"/>
                  </a:ext>
                </a:extLst>
              </a:tr>
              <a:tr h="488950">
                <a:tc>
                  <a:txBody>
                    <a:bodyPr/>
                    <a:lstStyle/>
                    <a:p>
                      <a:pPr algn="ctr"/>
                      <a:r>
                        <a:rPr lang="en-CA" sz="1800" dirty="0"/>
                        <a:t>1234567</a:t>
                      </a:r>
                    </a:p>
                  </a:txBody>
                  <a:tcPr marL="91446" marR="91446" marT="45701" marB="45701"/>
                </a:tc>
                <a:tc>
                  <a:txBody>
                    <a:bodyPr/>
                    <a:lstStyle/>
                    <a:p>
                      <a:pPr algn="ctr"/>
                      <a:r>
                        <a:rPr lang="en-CA" sz="1800" dirty="0"/>
                        <a:t>Talha Amjad</a:t>
                      </a:r>
                    </a:p>
                  </a:txBody>
                  <a:tcPr marL="91446" marR="91446" marT="45701" marB="45701"/>
                </a:tc>
                <a:tc>
                  <a:txBody>
                    <a:bodyPr/>
                    <a:lstStyle/>
                    <a:p>
                      <a:pPr algn="ctr"/>
                      <a:r>
                        <a:rPr lang="en-CA" sz="1800" dirty="0"/>
                        <a:t>BSIT 201</a:t>
                      </a:r>
                    </a:p>
                  </a:txBody>
                  <a:tcPr marL="91446" marR="91446" marT="45701" marB="45701"/>
                </a:tc>
                <a:tc>
                  <a:txBody>
                    <a:bodyPr/>
                    <a:lstStyle/>
                    <a:p>
                      <a:pPr algn="ctr"/>
                      <a:r>
                        <a:rPr lang="en-CA" sz="1800" dirty="0"/>
                        <a:t>Database Concept</a:t>
                      </a:r>
                    </a:p>
                  </a:txBody>
                  <a:tcPr marL="91446" marR="91446" marT="45701" marB="45701"/>
                </a:tc>
                <a:extLst>
                  <a:ext uri="{0D108BD9-81ED-4DB2-BD59-A6C34878D82A}">
                    <a16:rowId xmlns:a16="http://schemas.microsoft.com/office/drawing/2014/main" val="10001"/>
                  </a:ext>
                </a:extLst>
              </a:tr>
            </a:tbl>
          </a:graphicData>
        </a:graphic>
      </p:graphicFrame>
      <p:grpSp>
        <p:nvGrpSpPr>
          <p:cNvPr id="2" name="Group 7">
            <a:extLst>
              <a:ext uri="{FF2B5EF4-FFF2-40B4-BE49-F238E27FC236}">
                <a16:creationId xmlns:a16="http://schemas.microsoft.com/office/drawing/2014/main" id="{9281B1F5-4570-27B5-F03E-02E97D6746C9}"/>
              </a:ext>
            </a:extLst>
          </p:cNvPr>
          <p:cNvGrpSpPr>
            <a:grpSpLocks/>
          </p:cNvGrpSpPr>
          <p:nvPr/>
        </p:nvGrpSpPr>
        <p:grpSpPr bwMode="auto">
          <a:xfrm>
            <a:off x="50800" y="5016500"/>
            <a:ext cx="4176713" cy="728663"/>
            <a:chOff x="395536" y="4883491"/>
            <a:chExt cx="4176464" cy="729372"/>
          </a:xfrm>
        </p:grpSpPr>
        <p:sp>
          <p:nvSpPr>
            <p:cNvPr id="9240" name="Right Brace 5">
              <a:extLst>
                <a:ext uri="{FF2B5EF4-FFF2-40B4-BE49-F238E27FC236}">
                  <a16:creationId xmlns:a16="http://schemas.microsoft.com/office/drawing/2014/main" id="{11D9C3F8-CF46-65FC-A3EC-6E36BE5B0B6A}"/>
                </a:ext>
              </a:extLst>
            </p:cNvPr>
            <p:cNvSpPr>
              <a:spLocks/>
            </p:cNvSpPr>
            <p:nvPr/>
          </p:nvSpPr>
          <p:spPr bwMode="auto">
            <a:xfrm rot="5400000">
              <a:off x="2231740" y="3263311"/>
              <a:ext cx="360040" cy="3600400"/>
            </a:xfrm>
            <a:prstGeom prst="rightBrace">
              <a:avLst>
                <a:gd name="adj1" fmla="val 8333"/>
                <a:gd name="adj2" fmla="val 50000"/>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endParaRPr>
            </a:p>
          </p:txBody>
        </p:sp>
        <p:sp>
          <p:nvSpPr>
            <p:cNvPr id="9241" name="TextBox 6">
              <a:extLst>
                <a:ext uri="{FF2B5EF4-FFF2-40B4-BE49-F238E27FC236}">
                  <a16:creationId xmlns:a16="http://schemas.microsoft.com/office/drawing/2014/main" id="{27BAEFAE-9D00-22F0-A38D-D6F60F40D9BC}"/>
                </a:ext>
              </a:extLst>
            </p:cNvPr>
            <p:cNvSpPr txBox="1">
              <a:spLocks noChangeArrowheads="1"/>
            </p:cNvSpPr>
            <p:nvPr/>
          </p:nvSpPr>
          <p:spPr bwMode="auto">
            <a:xfrm>
              <a:off x="395536" y="5243531"/>
              <a:ext cx="417646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This two columns are about STUDENT</a:t>
              </a:r>
            </a:p>
          </p:txBody>
        </p:sp>
      </p:grpSp>
      <p:grpSp>
        <p:nvGrpSpPr>
          <p:cNvPr id="3" name="Group 8">
            <a:extLst>
              <a:ext uri="{FF2B5EF4-FFF2-40B4-BE49-F238E27FC236}">
                <a16:creationId xmlns:a16="http://schemas.microsoft.com/office/drawing/2014/main" id="{A6E5C382-24CC-577F-B4FB-B303B3B70A2B}"/>
              </a:ext>
            </a:extLst>
          </p:cNvPr>
          <p:cNvGrpSpPr>
            <a:grpSpLocks/>
          </p:cNvGrpSpPr>
          <p:nvPr/>
        </p:nvGrpSpPr>
        <p:grpSpPr bwMode="auto">
          <a:xfrm>
            <a:off x="4156075" y="5016500"/>
            <a:ext cx="4175125" cy="738188"/>
            <a:chOff x="4499992" y="4883491"/>
            <a:chExt cx="4176464" cy="738791"/>
          </a:xfrm>
        </p:grpSpPr>
        <p:sp>
          <p:nvSpPr>
            <p:cNvPr id="9238" name="Right Brace 24">
              <a:extLst>
                <a:ext uri="{FF2B5EF4-FFF2-40B4-BE49-F238E27FC236}">
                  <a16:creationId xmlns:a16="http://schemas.microsoft.com/office/drawing/2014/main" id="{3349A1E1-6E70-4FF3-8007-B0A7C108F279}"/>
                </a:ext>
              </a:extLst>
            </p:cNvPr>
            <p:cNvSpPr>
              <a:spLocks/>
            </p:cNvSpPr>
            <p:nvPr/>
          </p:nvSpPr>
          <p:spPr bwMode="auto">
            <a:xfrm rot="5400000">
              <a:off x="6411376" y="3050459"/>
              <a:ext cx="360040" cy="4026104"/>
            </a:xfrm>
            <a:prstGeom prst="rightBrace">
              <a:avLst>
                <a:gd name="adj1" fmla="val 8335"/>
                <a:gd name="adj2" fmla="val 50000"/>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endParaRPr>
            </a:p>
          </p:txBody>
        </p:sp>
        <p:sp>
          <p:nvSpPr>
            <p:cNvPr id="9239" name="TextBox 26">
              <a:extLst>
                <a:ext uri="{FF2B5EF4-FFF2-40B4-BE49-F238E27FC236}">
                  <a16:creationId xmlns:a16="http://schemas.microsoft.com/office/drawing/2014/main" id="{8F18C357-AB5E-1AA5-1D37-C40E60F0BA25}"/>
                </a:ext>
              </a:extLst>
            </p:cNvPr>
            <p:cNvSpPr txBox="1">
              <a:spLocks noChangeArrowheads="1"/>
            </p:cNvSpPr>
            <p:nvPr/>
          </p:nvSpPr>
          <p:spPr bwMode="auto">
            <a:xfrm>
              <a:off x="4499992" y="5252950"/>
              <a:ext cx="417646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This two columns are about SUBJECT</a:t>
              </a:r>
            </a:p>
          </p:txBody>
        </p:sp>
      </p:grpSp>
      <p:sp>
        <p:nvSpPr>
          <p:cNvPr id="28" name="Rectangle 27">
            <a:extLst>
              <a:ext uri="{FF2B5EF4-FFF2-40B4-BE49-F238E27FC236}">
                <a16:creationId xmlns:a16="http://schemas.microsoft.com/office/drawing/2014/main" id="{8225E163-E2C8-0595-60F3-81326A7D92A4}"/>
              </a:ext>
            </a:extLst>
          </p:cNvPr>
          <p:cNvSpPr>
            <a:spLocks noChangeArrowheads="1"/>
          </p:cNvSpPr>
          <p:nvPr/>
        </p:nvSpPr>
        <p:spPr bwMode="auto">
          <a:xfrm>
            <a:off x="896938" y="5818188"/>
            <a:ext cx="6661150" cy="658812"/>
          </a:xfrm>
          <a:prstGeom prst="rect">
            <a:avLst/>
          </a:prstGeom>
          <a:solidFill>
            <a:srgbClr val="FFFF00">
              <a:alpha val="30196"/>
            </a:srgbClr>
          </a:solidFill>
          <a:ln w="9525" algn="ctr">
            <a:solidFill>
              <a:srgbClr val="FFC000"/>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The above relation is not “well” structured since it is storing data on multiple subjects (STUDENT and SUBJECT)</a:t>
            </a:r>
          </a:p>
        </p:txBody>
      </p:sp>
      <p:cxnSp>
        <p:nvCxnSpPr>
          <p:cNvPr id="16" name="Straight Connector 15">
            <a:extLst>
              <a:ext uri="{FF2B5EF4-FFF2-40B4-BE49-F238E27FC236}">
                <a16:creationId xmlns:a16="http://schemas.microsoft.com/office/drawing/2014/main" id="{088B6205-9F39-1276-8DFA-843A4B48711F}"/>
              </a:ext>
            </a:extLst>
          </p:cNvPr>
          <p:cNvCxnSpPr/>
          <p:nvPr/>
        </p:nvCxnSpPr>
        <p:spPr bwMode="auto">
          <a:xfrm flipV="1">
            <a:off x="230188" y="4306888"/>
            <a:ext cx="1382712" cy="0"/>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19" name="Straight Connector 18">
            <a:extLst>
              <a:ext uri="{FF2B5EF4-FFF2-40B4-BE49-F238E27FC236}">
                <a16:creationId xmlns:a16="http://schemas.microsoft.com/office/drawing/2014/main" id="{17B27B0E-7C54-D268-F5E5-8465EB05C41E}"/>
              </a:ext>
            </a:extLst>
          </p:cNvPr>
          <p:cNvCxnSpPr/>
          <p:nvPr/>
        </p:nvCxnSpPr>
        <p:spPr bwMode="auto">
          <a:xfrm flipV="1">
            <a:off x="4227513" y="4306888"/>
            <a:ext cx="1728787" cy="1587"/>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20" name="Title 1">
            <a:extLst>
              <a:ext uri="{FF2B5EF4-FFF2-40B4-BE49-F238E27FC236}">
                <a16:creationId xmlns:a16="http://schemas.microsoft.com/office/drawing/2014/main" id="{29C6A807-40A7-368F-1F2F-924C42403523}"/>
              </a:ext>
            </a:extLst>
          </p:cNvPr>
          <p:cNvSpPr txBox="1">
            <a:spLocks/>
          </p:cNvSpPr>
          <p:nvPr/>
        </p:nvSpPr>
        <p:spPr>
          <a:xfrm>
            <a:off x="457200" y="76200"/>
            <a:ext cx="7620000" cy="1143000"/>
          </a:xfrm>
          <a:prstGeom prst="rect">
            <a:avLst/>
          </a:prstGeom>
        </p:spPr>
        <p:txBody>
          <a:bodyPr anchor="ctr"/>
          <a:lstStyle>
            <a:lvl1pPr algn="l" rtl="0" eaLnBrk="0" fontAlgn="base" hangingPunct="0">
              <a:spcBef>
                <a:spcPct val="0"/>
              </a:spcBef>
              <a:spcAft>
                <a:spcPct val="0"/>
              </a:spcAft>
              <a:defRPr sz="4600" kern="1200" spc="-100">
                <a:solidFill>
                  <a:schemeClr val="tx2"/>
                </a:solidFill>
                <a:latin typeface="+mj-lt"/>
                <a:ea typeface="+mj-ea"/>
                <a:cs typeface="+mj-cs"/>
              </a:defRPr>
            </a:lvl1pPr>
            <a:lvl2pPr algn="l" rtl="0" eaLnBrk="0" fontAlgn="base" hangingPunct="0">
              <a:spcBef>
                <a:spcPct val="0"/>
              </a:spcBef>
              <a:spcAft>
                <a:spcPct val="0"/>
              </a:spcAft>
              <a:defRPr sz="4600">
                <a:solidFill>
                  <a:schemeClr val="tx2"/>
                </a:solidFill>
                <a:latin typeface="Cambria" pitchFamily="18" charset="0"/>
              </a:defRPr>
            </a:lvl2pPr>
            <a:lvl3pPr algn="l" rtl="0" eaLnBrk="0" fontAlgn="base" hangingPunct="0">
              <a:spcBef>
                <a:spcPct val="0"/>
              </a:spcBef>
              <a:spcAft>
                <a:spcPct val="0"/>
              </a:spcAft>
              <a:defRPr sz="4600">
                <a:solidFill>
                  <a:schemeClr val="tx2"/>
                </a:solidFill>
                <a:latin typeface="Cambria" pitchFamily="18" charset="0"/>
              </a:defRPr>
            </a:lvl3pPr>
            <a:lvl4pPr algn="l" rtl="0" eaLnBrk="0" fontAlgn="base" hangingPunct="0">
              <a:spcBef>
                <a:spcPct val="0"/>
              </a:spcBef>
              <a:spcAft>
                <a:spcPct val="0"/>
              </a:spcAft>
              <a:defRPr sz="4600">
                <a:solidFill>
                  <a:schemeClr val="tx2"/>
                </a:solidFill>
                <a:latin typeface="Cambria" pitchFamily="18" charset="0"/>
              </a:defRPr>
            </a:lvl4pPr>
            <a:lvl5pPr algn="l" rtl="0" eaLnBrk="0" fontAlgn="base" hangingPunct="0">
              <a:spcBef>
                <a:spcPct val="0"/>
              </a:spcBef>
              <a:spcAft>
                <a:spcPct val="0"/>
              </a:spcAft>
              <a:defRPr sz="4600">
                <a:solidFill>
                  <a:schemeClr val="tx2"/>
                </a:solidFill>
                <a:latin typeface="Cambria" pitchFamily="18" charset="0"/>
              </a:defRPr>
            </a:lvl5pPr>
            <a:lvl6pPr marL="457200" algn="l" rtl="0" fontAlgn="base">
              <a:spcBef>
                <a:spcPct val="0"/>
              </a:spcBef>
              <a:spcAft>
                <a:spcPct val="0"/>
              </a:spcAft>
              <a:defRPr sz="4600">
                <a:solidFill>
                  <a:schemeClr val="tx2"/>
                </a:solidFill>
                <a:latin typeface="Cambria" pitchFamily="18" charset="0"/>
              </a:defRPr>
            </a:lvl6pPr>
            <a:lvl7pPr marL="914400" algn="l" rtl="0" fontAlgn="base">
              <a:spcBef>
                <a:spcPct val="0"/>
              </a:spcBef>
              <a:spcAft>
                <a:spcPct val="0"/>
              </a:spcAft>
              <a:defRPr sz="4600">
                <a:solidFill>
                  <a:schemeClr val="tx2"/>
                </a:solidFill>
                <a:latin typeface="Cambria" pitchFamily="18" charset="0"/>
              </a:defRPr>
            </a:lvl7pPr>
            <a:lvl8pPr marL="1371600" algn="l" rtl="0" fontAlgn="base">
              <a:spcBef>
                <a:spcPct val="0"/>
              </a:spcBef>
              <a:spcAft>
                <a:spcPct val="0"/>
              </a:spcAft>
              <a:defRPr sz="4600">
                <a:solidFill>
                  <a:schemeClr val="tx2"/>
                </a:solidFill>
                <a:latin typeface="Cambria" pitchFamily="18" charset="0"/>
              </a:defRPr>
            </a:lvl8pPr>
            <a:lvl9pPr marL="1828800" algn="l" rtl="0" fontAlgn="base">
              <a:spcBef>
                <a:spcPct val="0"/>
              </a:spcBef>
              <a:spcAft>
                <a:spcPct val="0"/>
              </a:spcAft>
              <a:defRPr sz="4600">
                <a:solidFill>
                  <a:schemeClr val="tx2"/>
                </a:solidFill>
                <a:latin typeface="Cambria"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4600" b="0" i="0" u="none" strike="noStrike" kern="1200" cap="none" spc="-100" normalizeH="0" baseline="0" noProof="0">
                <a:ln>
                  <a:noFill/>
                </a:ln>
                <a:solidFill>
                  <a:srgbClr val="675E47"/>
                </a:solidFill>
                <a:effectLst/>
                <a:uLnTx/>
                <a:uFillTx/>
                <a:latin typeface="Cambria"/>
                <a:ea typeface="+mj-ea"/>
                <a:cs typeface="+mj-cs"/>
              </a:rPr>
              <a:t>Relational Database Normalization</a:t>
            </a:r>
            <a:endParaRPr kumimoji="0" lang="en-CA" sz="4600" b="0" i="0" u="none" strike="noStrike" kern="1200" cap="none" spc="-100" normalizeH="0" baseline="0" noProof="0" dirty="0">
              <a:ln>
                <a:noFill/>
              </a:ln>
              <a:solidFill>
                <a:srgbClr val="675E47"/>
              </a:solidFill>
              <a:effectLst/>
              <a:uLnTx/>
              <a:uFillTx/>
              <a:latin typeface="Cambria"/>
              <a:ea typeface="+mj-ea"/>
              <a:cs typeface="+mj-cs"/>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23">
                                            <p:txEl>
                                              <p:pRg st="0" end="0"/>
                                            </p:txEl>
                                          </p:spTgt>
                                        </p:tgtEl>
                                        <p:attrNameLst>
                                          <p:attrName>style.visibility</p:attrName>
                                        </p:attrNameLst>
                                      </p:cBhvr>
                                      <p:to>
                                        <p:strVal val="visible"/>
                                      </p:to>
                                    </p:set>
                                    <p:animEffect transition="in" filter="wipe(up)">
                                      <p:cBhvr>
                                        <p:cTn id="11" dur="500"/>
                                        <p:tgtEl>
                                          <p:spTgt spid="23">
                                            <p:txEl>
                                              <p:pRg st="0" end="0"/>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23">
                                            <p:txEl>
                                              <p:pRg st="2" end="2"/>
                                            </p:txEl>
                                          </p:spTgt>
                                        </p:tgtEl>
                                        <p:attrNameLst>
                                          <p:attrName>style.visibility</p:attrName>
                                        </p:attrNameLst>
                                      </p:cBhvr>
                                      <p:to>
                                        <p:strVal val="visible"/>
                                      </p:to>
                                    </p:set>
                                    <p:animEffect transition="in" filter="wipe(left)">
                                      <p:cBhvr>
                                        <p:cTn id="16" dur="500"/>
                                        <p:tgtEl>
                                          <p:spTgt spid="23">
                                            <p:txEl>
                                              <p:pRg st="2" end="2"/>
                                            </p:txEl>
                                          </p:spTgt>
                                        </p:tgtEl>
                                      </p:cBhvr>
                                    </p:animEffect>
                                  </p:childTnLst>
                                </p:cTn>
                              </p:par>
                            </p:childTnLst>
                          </p:cTn>
                        </p:par>
                        <p:par>
                          <p:cTn id="17" fill="hold" nodeType="afterGroup">
                            <p:stCondLst>
                              <p:cond delay="500"/>
                            </p:stCondLst>
                            <p:childTnLst>
                              <p:par>
                                <p:cTn id="18" presetID="22" presetClass="entr" presetSubtype="1" fill="hold" nodeType="afterEffect">
                                  <p:stCondLst>
                                    <p:cond delay="0"/>
                                  </p:stCondLst>
                                  <p:childTnLst>
                                    <p:set>
                                      <p:cBhvr>
                                        <p:cTn id="19" dur="1" fill="hold">
                                          <p:stCondLst>
                                            <p:cond delay="0"/>
                                          </p:stCondLst>
                                        </p:cTn>
                                        <p:tgtEl>
                                          <p:spTgt spid="30"/>
                                        </p:tgtEl>
                                        <p:attrNameLst>
                                          <p:attrName>style.visibility</p:attrName>
                                        </p:attrNameLst>
                                      </p:cBhvr>
                                      <p:to>
                                        <p:strVal val="visible"/>
                                      </p:to>
                                    </p:set>
                                    <p:animEffect transition="in" filter="wipe(up)">
                                      <p:cBhvr>
                                        <p:cTn id="20" dur="500"/>
                                        <p:tgtEl>
                                          <p:spTgt spid="30"/>
                                        </p:tgtEl>
                                      </p:cBhvr>
                                    </p:animEffect>
                                  </p:childTnLst>
                                </p:cTn>
                              </p:par>
                            </p:childTnLst>
                          </p:cTn>
                        </p:par>
                        <p:par>
                          <p:cTn id="21" fill="hold" nodeType="afterGroup">
                            <p:stCondLst>
                              <p:cond delay="1000"/>
                            </p:stCondLst>
                            <p:childTnLst>
                              <p:par>
                                <p:cTn id="22" presetID="22" presetClass="entr" presetSubtype="8" fill="hold" nodeType="after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wipe(left)">
                                      <p:cBhvr>
                                        <p:cTn id="24" dur="500"/>
                                        <p:tgtEl>
                                          <p:spTgt spid="16"/>
                                        </p:tgtEl>
                                      </p:cBhvr>
                                    </p:animEffect>
                                  </p:childTnLst>
                                </p:cTn>
                              </p:par>
                              <p:par>
                                <p:cTn id="25" presetID="22" presetClass="entr" presetSubtype="8" fill="hold" nodeType="with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wipe(left)">
                                      <p:cBhvr>
                                        <p:cTn id="27" dur="500"/>
                                        <p:tgtEl>
                                          <p:spTgt spid="1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 presetClass="entr" presetSubtype="2" fill="hold" nodeType="clickEffect">
                                  <p:stCondLst>
                                    <p:cond delay="0"/>
                                  </p:stCondLst>
                                  <p:childTnLst>
                                    <p:set>
                                      <p:cBhvr>
                                        <p:cTn id="31" dur="1" fill="hold">
                                          <p:stCondLst>
                                            <p:cond delay="0"/>
                                          </p:stCondLst>
                                        </p:cTn>
                                        <p:tgtEl>
                                          <p:spTgt spid="2"/>
                                        </p:tgtEl>
                                        <p:attrNameLst>
                                          <p:attrName>style.visibility</p:attrName>
                                        </p:attrNameLst>
                                      </p:cBhvr>
                                      <p:to>
                                        <p:strVal val="visible"/>
                                      </p:to>
                                    </p:set>
                                    <p:anim calcmode="lin" valueType="num">
                                      <p:cBhvr additive="base">
                                        <p:cTn id="32" dur="500" fill="hold"/>
                                        <p:tgtEl>
                                          <p:spTgt spid="2"/>
                                        </p:tgtEl>
                                        <p:attrNameLst>
                                          <p:attrName>ppt_x</p:attrName>
                                        </p:attrNameLst>
                                      </p:cBhvr>
                                      <p:tavLst>
                                        <p:tav tm="0">
                                          <p:val>
                                            <p:strVal val="1+#ppt_w/2"/>
                                          </p:val>
                                        </p:tav>
                                        <p:tav tm="100000">
                                          <p:val>
                                            <p:strVal val="#ppt_x"/>
                                          </p:val>
                                        </p:tav>
                                      </p:tavLst>
                                    </p:anim>
                                    <p:anim calcmode="lin" valueType="num">
                                      <p:cBhvr additive="base">
                                        <p:cTn id="33"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2" presetClass="entr" presetSubtype="2" fill="hold" nodeType="clickEffect">
                                  <p:stCondLst>
                                    <p:cond delay="0"/>
                                  </p:stCondLst>
                                  <p:childTnLst>
                                    <p:set>
                                      <p:cBhvr>
                                        <p:cTn id="37" dur="1" fill="hold">
                                          <p:stCondLst>
                                            <p:cond delay="0"/>
                                          </p:stCondLst>
                                        </p:cTn>
                                        <p:tgtEl>
                                          <p:spTgt spid="3"/>
                                        </p:tgtEl>
                                        <p:attrNameLst>
                                          <p:attrName>style.visibility</p:attrName>
                                        </p:attrNameLst>
                                      </p:cBhvr>
                                      <p:to>
                                        <p:strVal val="visible"/>
                                      </p:to>
                                    </p:set>
                                    <p:anim calcmode="lin" valueType="num">
                                      <p:cBhvr additive="base">
                                        <p:cTn id="38" dur="500" fill="hold"/>
                                        <p:tgtEl>
                                          <p:spTgt spid="3"/>
                                        </p:tgtEl>
                                        <p:attrNameLst>
                                          <p:attrName>ppt_x</p:attrName>
                                        </p:attrNameLst>
                                      </p:cBhvr>
                                      <p:tavLst>
                                        <p:tav tm="0">
                                          <p:val>
                                            <p:strVal val="1+#ppt_w/2"/>
                                          </p:val>
                                        </p:tav>
                                        <p:tav tm="100000">
                                          <p:val>
                                            <p:strVal val="#ppt_x"/>
                                          </p:val>
                                        </p:tav>
                                      </p:tavLst>
                                    </p:anim>
                                    <p:anim calcmode="lin" valueType="num">
                                      <p:cBhvr additive="base">
                                        <p:cTn id="39"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1" fill="hold" grpId="0" nodeType="clickEffect">
                                  <p:stCondLst>
                                    <p:cond delay="0"/>
                                  </p:stCondLst>
                                  <p:childTnLst>
                                    <p:set>
                                      <p:cBhvr>
                                        <p:cTn id="43" dur="1" fill="hold">
                                          <p:stCondLst>
                                            <p:cond delay="0"/>
                                          </p:stCondLst>
                                        </p:cTn>
                                        <p:tgtEl>
                                          <p:spTgt spid="28"/>
                                        </p:tgtEl>
                                        <p:attrNameLst>
                                          <p:attrName>style.visibility</p:attrName>
                                        </p:attrNameLst>
                                      </p:cBhvr>
                                      <p:to>
                                        <p:strVal val="visible"/>
                                      </p:to>
                                    </p:set>
                                    <p:animEffect transition="in" filter="wipe(up)">
                                      <p:cBhvr>
                                        <p:cTn id="44"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8" grpId="0" animBg="1"/>
    </p:bld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Snip Single Corner Rectangle 17">
            <a:extLst>
              <a:ext uri="{FF2B5EF4-FFF2-40B4-BE49-F238E27FC236}">
                <a16:creationId xmlns:a16="http://schemas.microsoft.com/office/drawing/2014/main" id="{7F6F45D6-B24B-34CE-36EA-4A4806EB4BA5}"/>
              </a:ext>
            </a:extLst>
          </p:cNvPr>
          <p:cNvSpPr/>
          <p:nvPr/>
        </p:nvSpPr>
        <p:spPr>
          <a:xfrm>
            <a:off x="-9525" y="1524000"/>
            <a:ext cx="2447925" cy="401638"/>
          </a:xfrm>
          <a:prstGeom prst="snip1Rect">
            <a:avLst/>
          </a:prstGeom>
          <a:solidFill>
            <a:schemeClr val="accent3">
              <a:alpha val="70000"/>
            </a:schemeClr>
          </a:solidFill>
          <a:ln>
            <a:solidFill>
              <a:schemeClr val="accent3"/>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1800" b="0" i="0" u="none" strike="noStrike" kern="1200" cap="none" spc="0" normalizeH="0" baseline="0" noProof="0" dirty="0">
                <a:ln>
                  <a:noFill/>
                </a:ln>
                <a:solidFill>
                  <a:srgbClr val="FFFFFF"/>
                </a:solidFill>
                <a:effectLst/>
                <a:uLnTx/>
                <a:uFillTx/>
                <a:latin typeface="Calibri"/>
                <a:ea typeface="+mn-ea"/>
                <a:cs typeface="+mn-cs"/>
              </a:rPr>
              <a:t>No Data Redundancy</a:t>
            </a:r>
          </a:p>
        </p:txBody>
      </p:sp>
      <p:sp>
        <p:nvSpPr>
          <p:cNvPr id="23" name="Content Placeholder 2">
            <a:extLst>
              <a:ext uri="{FF2B5EF4-FFF2-40B4-BE49-F238E27FC236}">
                <a16:creationId xmlns:a16="http://schemas.microsoft.com/office/drawing/2014/main" id="{72216574-5950-A0FB-0784-7C8914C2DF82}"/>
              </a:ext>
            </a:extLst>
          </p:cNvPr>
          <p:cNvSpPr txBox="1">
            <a:spLocks/>
          </p:cNvSpPr>
          <p:nvPr/>
        </p:nvSpPr>
        <p:spPr bwMode="auto">
          <a:xfrm>
            <a:off x="134938" y="1947863"/>
            <a:ext cx="8170862"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If possible, the same data should not be stored in more than one relation</a:t>
            </a: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40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For example</a:t>
            </a: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24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graphicFrame>
        <p:nvGraphicFramePr>
          <p:cNvPr id="19" name="Table 18">
            <a:extLst>
              <a:ext uri="{FF2B5EF4-FFF2-40B4-BE49-F238E27FC236}">
                <a16:creationId xmlns:a16="http://schemas.microsoft.com/office/drawing/2014/main" id="{0BAE583D-08DD-5C6C-ACD4-D307D14B92CE}"/>
              </a:ext>
            </a:extLst>
          </p:cNvPr>
          <p:cNvGraphicFramePr>
            <a:graphicFrameLocks noGrp="1"/>
          </p:cNvGraphicFramePr>
          <p:nvPr/>
        </p:nvGraphicFramePr>
        <p:xfrm>
          <a:off x="134938" y="4371975"/>
          <a:ext cx="5545137" cy="979488"/>
        </p:xfrm>
        <a:graphic>
          <a:graphicData uri="http://schemas.openxmlformats.org/drawingml/2006/table">
            <a:tbl>
              <a:tblPr firstRow="1" bandRow="1">
                <a:tableStyleId>{0E3FDE45-AF77-4B5C-9715-49D594BDF05E}</a:tableStyleId>
              </a:tblPr>
              <a:tblGrid>
                <a:gridCol w="1804743">
                  <a:extLst>
                    <a:ext uri="{9D8B030D-6E8A-4147-A177-3AD203B41FA5}">
                      <a16:colId xmlns:a16="http://schemas.microsoft.com/office/drawing/2014/main" val="20000"/>
                    </a:ext>
                  </a:extLst>
                </a:gridCol>
                <a:gridCol w="1870197">
                  <a:extLst>
                    <a:ext uri="{9D8B030D-6E8A-4147-A177-3AD203B41FA5}">
                      <a16:colId xmlns:a16="http://schemas.microsoft.com/office/drawing/2014/main" val="20001"/>
                    </a:ext>
                  </a:extLst>
                </a:gridCol>
                <a:gridCol w="1870197">
                  <a:extLst>
                    <a:ext uri="{9D8B030D-6E8A-4147-A177-3AD203B41FA5}">
                      <a16:colId xmlns:a16="http://schemas.microsoft.com/office/drawing/2014/main" val="20002"/>
                    </a:ext>
                  </a:extLst>
                </a:gridCol>
              </a:tblGrid>
              <a:tr h="489744">
                <a:tc>
                  <a:txBody>
                    <a:bodyPr/>
                    <a:lstStyle/>
                    <a:p>
                      <a:pPr algn="ctr"/>
                      <a:r>
                        <a:rPr lang="en-CA" sz="1800" u="none" dirty="0"/>
                        <a:t>STUDENTID</a:t>
                      </a:r>
                    </a:p>
                  </a:txBody>
                  <a:tcPr marL="91449" marR="91449" marT="45775" marB="45775"/>
                </a:tc>
                <a:tc>
                  <a:txBody>
                    <a:bodyPr/>
                    <a:lstStyle/>
                    <a:p>
                      <a:pPr algn="ctr"/>
                      <a:r>
                        <a:rPr lang="en-CA" sz="1800" dirty="0"/>
                        <a:t>NAME</a:t>
                      </a:r>
                    </a:p>
                  </a:txBody>
                  <a:tcPr marL="91449" marR="91449" marT="45775" marB="45775"/>
                </a:tc>
                <a:tc>
                  <a:txBody>
                    <a:bodyPr/>
                    <a:lstStyle/>
                    <a:p>
                      <a:pPr algn="ctr"/>
                      <a:r>
                        <a:rPr lang="en-CA" sz="1800" dirty="0"/>
                        <a:t>GENDER</a:t>
                      </a:r>
                    </a:p>
                  </a:txBody>
                  <a:tcPr marL="91449" marR="91449" marT="45775" marB="45775"/>
                </a:tc>
                <a:extLst>
                  <a:ext uri="{0D108BD9-81ED-4DB2-BD59-A6C34878D82A}">
                    <a16:rowId xmlns:a16="http://schemas.microsoft.com/office/drawing/2014/main" val="10000"/>
                  </a:ext>
                </a:extLst>
              </a:tr>
              <a:tr h="489744">
                <a:tc>
                  <a:txBody>
                    <a:bodyPr/>
                    <a:lstStyle/>
                    <a:p>
                      <a:pPr algn="ctr"/>
                      <a:r>
                        <a:rPr lang="en-CA" sz="1800" dirty="0"/>
                        <a:t>1234567</a:t>
                      </a:r>
                    </a:p>
                  </a:txBody>
                  <a:tcPr marL="91449" marR="91449" marT="45775" marB="45775"/>
                </a:tc>
                <a:tc>
                  <a:txBody>
                    <a:bodyPr/>
                    <a:lstStyle/>
                    <a:p>
                      <a:pPr algn="ctr"/>
                      <a:r>
                        <a:rPr lang="en-CA" sz="1800" dirty="0"/>
                        <a:t>Talha Amjad</a:t>
                      </a:r>
                    </a:p>
                  </a:txBody>
                  <a:tcPr marL="91449" marR="91449" marT="45775" marB="45775"/>
                </a:tc>
                <a:tc>
                  <a:txBody>
                    <a:bodyPr/>
                    <a:lstStyle/>
                    <a:p>
                      <a:pPr algn="ctr"/>
                      <a:r>
                        <a:rPr lang="en-CA" sz="1800" dirty="0"/>
                        <a:t>Female</a:t>
                      </a:r>
                    </a:p>
                  </a:txBody>
                  <a:tcPr marL="91449" marR="91449" marT="45775" marB="45775"/>
                </a:tc>
                <a:extLst>
                  <a:ext uri="{0D108BD9-81ED-4DB2-BD59-A6C34878D82A}">
                    <a16:rowId xmlns:a16="http://schemas.microsoft.com/office/drawing/2014/main" val="10001"/>
                  </a:ext>
                </a:extLst>
              </a:tr>
            </a:tbl>
          </a:graphicData>
        </a:graphic>
      </p:graphicFrame>
      <p:graphicFrame>
        <p:nvGraphicFramePr>
          <p:cNvPr id="21" name="Table 20">
            <a:extLst>
              <a:ext uri="{FF2B5EF4-FFF2-40B4-BE49-F238E27FC236}">
                <a16:creationId xmlns:a16="http://schemas.microsoft.com/office/drawing/2014/main" id="{FE71AA8D-1DD5-1DF4-71DC-34D2FC026C1B}"/>
              </a:ext>
            </a:extLst>
          </p:cNvPr>
          <p:cNvGraphicFramePr>
            <a:graphicFrameLocks noGrp="1"/>
          </p:cNvGraphicFramePr>
          <p:nvPr/>
        </p:nvGraphicFramePr>
        <p:xfrm>
          <a:off x="134938" y="5578475"/>
          <a:ext cx="5545137" cy="977900"/>
        </p:xfrm>
        <a:graphic>
          <a:graphicData uri="http://schemas.openxmlformats.org/drawingml/2006/table">
            <a:tbl>
              <a:tblPr firstRow="1" bandRow="1">
                <a:tableStyleId>{5FD0F851-EC5A-4D38-B0AD-8093EC10F338}</a:tableStyleId>
              </a:tblPr>
              <a:tblGrid>
                <a:gridCol w="1944398">
                  <a:extLst>
                    <a:ext uri="{9D8B030D-6E8A-4147-A177-3AD203B41FA5}">
                      <a16:colId xmlns:a16="http://schemas.microsoft.com/office/drawing/2014/main" val="20000"/>
                    </a:ext>
                  </a:extLst>
                </a:gridCol>
                <a:gridCol w="1224251">
                  <a:extLst>
                    <a:ext uri="{9D8B030D-6E8A-4147-A177-3AD203B41FA5}">
                      <a16:colId xmlns:a16="http://schemas.microsoft.com/office/drawing/2014/main" val="20001"/>
                    </a:ext>
                  </a:extLst>
                </a:gridCol>
                <a:gridCol w="2376488">
                  <a:extLst>
                    <a:ext uri="{9D8B030D-6E8A-4147-A177-3AD203B41FA5}">
                      <a16:colId xmlns:a16="http://schemas.microsoft.com/office/drawing/2014/main" val="20002"/>
                    </a:ext>
                  </a:extLst>
                </a:gridCol>
              </a:tblGrid>
              <a:tr h="488950">
                <a:tc>
                  <a:txBody>
                    <a:bodyPr/>
                    <a:lstStyle/>
                    <a:p>
                      <a:pPr algn="ctr"/>
                      <a:r>
                        <a:rPr lang="en-CA" sz="1800" dirty="0"/>
                        <a:t>NAME</a:t>
                      </a:r>
                    </a:p>
                  </a:txBody>
                  <a:tcPr marL="91449" marR="91449" marT="45701" marB="45701"/>
                </a:tc>
                <a:tc>
                  <a:txBody>
                    <a:bodyPr/>
                    <a:lstStyle/>
                    <a:p>
                      <a:pPr algn="ctr"/>
                      <a:r>
                        <a:rPr lang="en-CA" sz="1800" dirty="0"/>
                        <a:t>GENDER</a:t>
                      </a:r>
                    </a:p>
                  </a:txBody>
                  <a:tcPr marL="91449" marR="91449" marT="45701" marB="45701"/>
                </a:tc>
                <a:tc>
                  <a:txBody>
                    <a:bodyPr/>
                    <a:lstStyle/>
                    <a:p>
                      <a:pPr algn="ctr"/>
                      <a:r>
                        <a:rPr lang="en-CA" sz="1800" dirty="0"/>
                        <a:t>CONTACTNUMBER</a:t>
                      </a:r>
                    </a:p>
                  </a:txBody>
                  <a:tcPr marL="91449" marR="91449" marT="45701" marB="45701"/>
                </a:tc>
                <a:extLst>
                  <a:ext uri="{0D108BD9-81ED-4DB2-BD59-A6C34878D82A}">
                    <a16:rowId xmlns:a16="http://schemas.microsoft.com/office/drawing/2014/main" val="10000"/>
                  </a:ext>
                </a:extLst>
              </a:tr>
              <a:tr h="488950">
                <a:tc>
                  <a:txBody>
                    <a:bodyPr/>
                    <a:lstStyle/>
                    <a:p>
                      <a:pPr algn="ctr"/>
                      <a:r>
                        <a:rPr lang="en-CA" sz="1800" dirty="0"/>
                        <a:t>Talha Amjad</a:t>
                      </a:r>
                    </a:p>
                  </a:txBody>
                  <a:tcPr marL="91449" marR="91449" marT="45701" marB="45701"/>
                </a:tc>
                <a:tc>
                  <a:txBody>
                    <a:bodyPr/>
                    <a:lstStyle/>
                    <a:p>
                      <a:pPr algn="ctr"/>
                      <a:r>
                        <a:rPr lang="en-CA" sz="1800" dirty="0"/>
                        <a:t>Female</a:t>
                      </a:r>
                    </a:p>
                  </a:txBody>
                  <a:tcPr marL="91449" marR="91449" marT="45701" marB="45701"/>
                </a:tc>
                <a:tc>
                  <a:txBody>
                    <a:bodyPr/>
                    <a:lstStyle/>
                    <a:p>
                      <a:pPr algn="ctr"/>
                      <a:r>
                        <a:rPr lang="en-CA" sz="1800" dirty="0"/>
                        <a:t>017-1234567</a:t>
                      </a:r>
                    </a:p>
                  </a:txBody>
                  <a:tcPr marL="91449" marR="91449" marT="45701" marB="45701"/>
                </a:tc>
                <a:extLst>
                  <a:ext uri="{0D108BD9-81ED-4DB2-BD59-A6C34878D82A}">
                    <a16:rowId xmlns:a16="http://schemas.microsoft.com/office/drawing/2014/main" val="10001"/>
                  </a:ext>
                </a:extLst>
              </a:tr>
            </a:tbl>
          </a:graphicData>
        </a:graphic>
      </p:graphicFrame>
      <p:sp>
        <p:nvSpPr>
          <p:cNvPr id="24" name="Rectangle 23">
            <a:extLst>
              <a:ext uri="{FF2B5EF4-FFF2-40B4-BE49-F238E27FC236}">
                <a16:creationId xmlns:a16="http://schemas.microsoft.com/office/drawing/2014/main" id="{7F931118-7F9E-97F5-9CB2-6EAB26F8EAF8}"/>
              </a:ext>
            </a:extLst>
          </p:cNvPr>
          <p:cNvSpPr>
            <a:spLocks noChangeArrowheads="1"/>
          </p:cNvSpPr>
          <p:nvPr/>
        </p:nvSpPr>
        <p:spPr bwMode="auto">
          <a:xfrm>
            <a:off x="5791200" y="4468813"/>
            <a:ext cx="2624138" cy="1547812"/>
          </a:xfrm>
          <a:prstGeom prst="rect">
            <a:avLst/>
          </a:prstGeom>
          <a:solidFill>
            <a:srgbClr val="FFFF00">
              <a:alpha val="30196"/>
            </a:srgbClr>
          </a:solidFill>
          <a:ln w="9525" algn="ctr">
            <a:solidFill>
              <a:srgbClr val="FFC000"/>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Oops! Gender should be “Male” and not “Female”. To correct the mistake, one needs to </a:t>
            </a:r>
            <a:r>
              <a:rPr kumimoji="0" lang="en-CA" altLang="en-US" sz="1800" b="1"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update both relations</a:t>
            </a: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 </a:t>
            </a:r>
          </a:p>
        </p:txBody>
      </p:sp>
      <p:cxnSp>
        <p:nvCxnSpPr>
          <p:cNvPr id="14" name="Straight Connector 13">
            <a:extLst>
              <a:ext uri="{FF2B5EF4-FFF2-40B4-BE49-F238E27FC236}">
                <a16:creationId xmlns:a16="http://schemas.microsoft.com/office/drawing/2014/main" id="{028213F5-FF75-B7DE-14C5-9B7B18951197}"/>
              </a:ext>
            </a:extLst>
          </p:cNvPr>
          <p:cNvCxnSpPr/>
          <p:nvPr/>
        </p:nvCxnSpPr>
        <p:spPr bwMode="auto">
          <a:xfrm>
            <a:off x="350838" y="4697413"/>
            <a:ext cx="1381125" cy="0"/>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17" name="Oval 16">
            <a:extLst>
              <a:ext uri="{FF2B5EF4-FFF2-40B4-BE49-F238E27FC236}">
                <a16:creationId xmlns:a16="http://schemas.microsoft.com/office/drawing/2014/main" id="{7398044D-1368-93B5-DC5C-6911DE65DD18}"/>
              </a:ext>
            </a:extLst>
          </p:cNvPr>
          <p:cNvSpPr>
            <a:spLocks noChangeArrowheads="1"/>
          </p:cNvSpPr>
          <p:nvPr/>
        </p:nvSpPr>
        <p:spPr bwMode="auto">
          <a:xfrm>
            <a:off x="2008188" y="5992813"/>
            <a:ext cx="1368425" cy="539750"/>
          </a:xfrm>
          <a:prstGeom prst="ellipse">
            <a:avLst/>
          </a:prstGeom>
          <a:noFill/>
          <a:ln w="254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endParaRPr>
          </a:p>
        </p:txBody>
      </p:sp>
      <p:sp>
        <p:nvSpPr>
          <p:cNvPr id="22" name="Oval 21">
            <a:extLst>
              <a:ext uri="{FF2B5EF4-FFF2-40B4-BE49-F238E27FC236}">
                <a16:creationId xmlns:a16="http://schemas.microsoft.com/office/drawing/2014/main" id="{F0EFA69C-5626-8156-1AC1-03271F0F6C70}"/>
              </a:ext>
            </a:extLst>
          </p:cNvPr>
          <p:cNvSpPr>
            <a:spLocks noChangeArrowheads="1"/>
          </p:cNvSpPr>
          <p:nvPr/>
        </p:nvSpPr>
        <p:spPr bwMode="auto">
          <a:xfrm>
            <a:off x="4024313" y="4808538"/>
            <a:ext cx="1368425" cy="539750"/>
          </a:xfrm>
          <a:prstGeom prst="ellipse">
            <a:avLst/>
          </a:prstGeom>
          <a:noFill/>
          <a:ln w="254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endParaRPr>
          </a:p>
        </p:txBody>
      </p:sp>
      <p:grpSp>
        <p:nvGrpSpPr>
          <p:cNvPr id="2" name="Group 47">
            <a:extLst>
              <a:ext uri="{FF2B5EF4-FFF2-40B4-BE49-F238E27FC236}">
                <a16:creationId xmlns:a16="http://schemas.microsoft.com/office/drawing/2014/main" id="{9F154770-DF3F-C1CD-1E9F-FB983B870251}"/>
              </a:ext>
            </a:extLst>
          </p:cNvPr>
          <p:cNvGrpSpPr>
            <a:grpSpLocks/>
          </p:cNvGrpSpPr>
          <p:nvPr/>
        </p:nvGrpSpPr>
        <p:grpSpPr bwMode="auto">
          <a:xfrm>
            <a:off x="2286000" y="2936875"/>
            <a:ext cx="6129338" cy="3062288"/>
            <a:chOff x="2906555" y="2688916"/>
            <a:chExt cx="6129942" cy="3062915"/>
          </a:xfrm>
        </p:grpSpPr>
        <p:grpSp>
          <p:nvGrpSpPr>
            <p:cNvPr id="10271" name="Group 24">
              <a:extLst>
                <a:ext uri="{FF2B5EF4-FFF2-40B4-BE49-F238E27FC236}">
                  <a16:creationId xmlns:a16="http://schemas.microsoft.com/office/drawing/2014/main" id="{52662FC0-6D9F-E4BF-F2A8-14A57C99946C}"/>
                </a:ext>
              </a:extLst>
            </p:cNvPr>
            <p:cNvGrpSpPr>
              <a:grpSpLocks/>
            </p:cNvGrpSpPr>
            <p:nvPr/>
          </p:nvGrpSpPr>
          <p:grpSpPr bwMode="auto">
            <a:xfrm>
              <a:off x="2906555" y="2688916"/>
              <a:ext cx="6129942" cy="3062915"/>
              <a:chOff x="1490120" y="8450820"/>
              <a:chExt cx="6129942" cy="3062915"/>
            </a:xfrm>
          </p:grpSpPr>
          <p:sp>
            <p:nvSpPr>
              <p:cNvPr id="26" name="TextBox 25">
                <a:extLst>
                  <a:ext uri="{FF2B5EF4-FFF2-40B4-BE49-F238E27FC236}">
                    <a16:creationId xmlns:a16="http://schemas.microsoft.com/office/drawing/2014/main" id="{76E54933-3F2F-7775-833F-A48033C877D0}"/>
                  </a:ext>
                </a:extLst>
              </p:cNvPr>
              <p:cNvSpPr txBox="1"/>
              <p:nvPr/>
            </p:nvSpPr>
            <p:spPr>
              <a:xfrm>
                <a:off x="1490120" y="8450820"/>
                <a:ext cx="6129942" cy="1020972"/>
              </a:xfrm>
              <a:prstGeom prst="roundRect">
                <a:avLst/>
              </a:prstGeom>
              <a:ln/>
            </p:spPr>
            <p:style>
              <a:lnRef idx="1">
                <a:schemeClr val="accent4"/>
              </a:lnRef>
              <a:fillRef idx="2">
                <a:schemeClr val="accent4"/>
              </a:fillRef>
              <a:effectRef idx="1">
                <a:schemeClr val="accent4"/>
              </a:effectRef>
              <a:fontRef idx="minor">
                <a:schemeClr val="dk1"/>
              </a:fontRef>
            </p:style>
            <p:txBody>
              <a:bodyP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1800" b="1" i="0" u="sng" strike="noStrike" kern="1200" cap="none" spc="0" normalizeH="0" baseline="0" noProof="0" dirty="0">
                    <a:ln>
                      <a:noFill/>
                    </a:ln>
                    <a:solidFill>
                      <a:srgbClr val="2F2B20"/>
                    </a:solidFill>
                    <a:effectLst/>
                    <a:uLnTx/>
                    <a:uFillTx/>
                    <a:latin typeface="Calibri"/>
                    <a:ea typeface="+mn-ea"/>
                    <a:cs typeface="+mn-cs"/>
                  </a:rPr>
                  <a:t>What if I updated only one relation but not the other? </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CA" sz="1800" b="0" i="0" u="none" strike="noStrike" kern="1200" cap="none" spc="0" normalizeH="0" baseline="0" noProof="0" dirty="0">
                  <a:ln>
                    <a:noFill/>
                  </a:ln>
                  <a:solidFill>
                    <a:srgbClr val="2F2B20"/>
                  </a:solidFill>
                  <a:effectLst/>
                  <a:uLnTx/>
                  <a:uFillTx/>
                  <a:latin typeface="Calibri"/>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1800" b="0" i="0" u="none" strike="noStrike" kern="1200" cap="none" spc="0" normalizeH="0" baseline="0" noProof="0" dirty="0" err="1">
                    <a:ln>
                      <a:noFill/>
                    </a:ln>
                    <a:solidFill>
                      <a:srgbClr val="2F2B20"/>
                    </a:solidFill>
                    <a:effectLst/>
                    <a:uLnTx/>
                    <a:uFillTx/>
                    <a:latin typeface="Calibri"/>
                    <a:ea typeface="+mn-ea"/>
                    <a:cs typeface="+mn-cs"/>
                  </a:rPr>
                  <a:t>Ans</a:t>
                </a:r>
                <a:r>
                  <a:rPr kumimoji="0" lang="en-CA" sz="1800" b="0" i="0" u="none" strike="noStrike" kern="1200" cap="none" spc="0" normalizeH="0" baseline="0" noProof="0" dirty="0">
                    <a:ln>
                      <a:noFill/>
                    </a:ln>
                    <a:solidFill>
                      <a:srgbClr val="2F2B20"/>
                    </a:solidFill>
                    <a:effectLst/>
                    <a:uLnTx/>
                    <a:uFillTx/>
                    <a:latin typeface="Calibri"/>
                    <a:ea typeface="+mn-ea"/>
                    <a:cs typeface="+mn-cs"/>
                  </a:rPr>
                  <a:t>: Complete disaster!</a:t>
                </a:r>
              </a:p>
            </p:txBody>
          </p:sp>
          <p:cxnSp>
            <p:nvCxnSpPr>
              <p:cNvPr id="27" name="Straight Arrow Connector 26">
                <a:extLst>
                  <a:ext uri="{FF2B5EF4-FFF2-40B4-BE49-F238E27FC236}">
                    <a16:creationId xmlns:a16="http://schemas.microsoft.com/office/drawing/2014/main" id="{1F953218-6198-E4BF-CA7A-2997062D95E6}"/>
                  </a:ext>
                </a:extLst>
              </p:cNvPr>
              <p:cNvCxnSpPr>
                <a:stCxn id="26" idx="2"/>
                <a:endCxn id="17" idx="7"/>
              </p:cNvCxnSpPr>
              <p:nvPr/>
            </p:nvCxnSpPr>
            <p:spPr bwMode="auto">
              <a:xfrm flipH="1">
                <a:off x="1875921" y="9471792"/>
                <a:ext cx="2679964" cy="2041943"/>
              </a:xfrm>
              <a:prstGeom prst="straightConnector1">
                <a:avLst/>
              </a:prstGeom>
              <a:ln>
                <a:headEnd type="none" w="med" len="med"/>
                <a:tailEnd type="triangle"/>
              </a:ln>
            </p:spPr>
            <p:style>
              <a:lnRef idx="1">
                <a:schemeClr val="accent4"/>
              </a:lnRef>
              <a:fillRef idx="2">
                <a:schemeClr val="accent4"/>
              </a:fillRef>
              <a:effectRef idx="1">
                <a:schemeClr val="accent4"/>
              </a:effectRef>
              <a:fontRef idx="minor">
                <a:schemeClr val="dk1"/>
              </a:fontRef>
            </p:style>
          </p:cxnSp>
        </p:grpSp>
        <p:cxnSp>
          <p:nvCxnSpPr>
            <p:cNvPr id="28" name="Straight Arrow Connector 27">
              <a:extLst>
                <a:ext uri="{FF2B5EF4-FFF2-40B4-BE49-F238E27FC236}">
                  <a16:creationId xmlns:a16="http://schemas.microsoft.com/office/drawing/2014/main" id="{FDCC1E6A-7012-F9FB-0326-C4C05B5F7407}"/>
                </a:ext>
              </a:extLst>
            </p:cNvPr>
            <p:cNvCxnSpPr>
              <a:stCxn id="26" idx="2"/>
            </p:cNvCxnSpPr>
            <p:nvPr/>
          </p:nvCxnSpPr>
          <p:spPr bwMode="auto">
            <a:xfrm flipH="1">
              <a:off x="5292803" y="3709888"/>
              <a:ext cx="679517" cy="938404"/>
            </a:xfrm>
            <a:prstGeom prst="straightConnector1">
              <a:avLst/>
            </a:prstGeom>
            <a:ln>
              <a:headEnd type="none" w="med" len="med"/>
              <a:tailEnd type="triangle"/>
            </a:ln>
          </p:spPr>
          <p:style>
            <a:lnRef idx="1">
              <a:schemeClr val="accent4"/>
            </a:lnRef>
            <a:fillRef idx="2">
              <a:schemeClr val="accent4"/>
            </a:fillRef>
            <a:effectRef idx="1">
              <a:schemeClr val="accent4"/>
            </a:effectRef>
            <a:fontRef idx="minor">
              <a:schemeClr val="dk1"/>
            </a:fontRef>
          </p:style>
        </p:cxnSp>
      </p:grpSp>
      <p:sp>
        <p:nvSpPr>
          <p:cNvPr id="29" name="Title 1">
            <a:extLst>
              <a:ext uri="{FF2B5EF4-FFF2-40B4-BE49-F238E27FC236}">
                <a16:creationId xmlns:a16="http://schemas.microsoft.com/office/drawing/2014/main" id="{DCCEF1FD-B6C1-4219-E814-19086F18B1BD}"/>
              </a:ext>
            </a:extLst>
          </p:cNvPr>
          <p:cNvSpPr>
            <a:spLocks noGrp="1"/>
          </p:cNvSpPr>
          <p:nvPr>
            <p:ph type="title"/>
          </p:nvPr>
        </p:nvSpPr>
        <p:spPr>
          <a:xfrm>
            <a:off x="457200" y="76200"/>
            <a:ext cx="7620000" cy="1143000"/>
          </a:xfrm>
        </p:spPr>
        <p:txBody>
          <a:bodyPr/>
          <a:lstStyle/>
          <a:p>
            <a:pPr algn="ctr">
              <a:defRPr/>
            </a:pPr>
            <a:r>
              <a:rPr lang="en-US" dirty="0"/>
              <a:t>Relational Database Normalization</a:t>
            </a:r>
            <a:endParaRPr lang="en-CA" dirty="0"/>
          </a:p>
        </p:txBody>
      </p:sp>
      <p:cxnSp>
        <p:nvCxnSpPr>
          <p:cNvPr id="16" name="Straight Connector 15">
            <a:extLst>
              <a:ext uri="{FF2B5EF4-FFF2-40B4-BE49-F238E27FC236}">
                <a16:creationId xmlns:a16="http://schemas.microsoft.com/office/drawing/2014/main" id="{1489EFE2-2313-729E-289B-B2B872A5F5FD}"/>
              </a:ext>
            </a:extLst>
          </p:cNvPr>
          <p:cNvCxnSpPr>
            <a:cxnSpLocks/>
          </p:cNvCxnSpPr>
          <p:nvPr/>
        </p:nvCxnSpPr>
        <p:spPr bwMode="auto">
          <a:xfrm>
            <a:off x="3613150" y="5867400"/>
            <a:ext cx="1738313" cy="0"/>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23">
                                            <p:txEl>
                                              <p:pRg st="0" end="0"/>
                                            </p:txEl>
                                          </p:spTgt>
                                        </p:tgtEl>
                                        <p:attrNameLst>
                                          <p:attrName>style.visibility</p:attrName>
                                        </p:attrNameLst>
                                      </p:cBhvr>
                                      <p:to>
                                        <p:strVal val="visible"/>
                                      </p:to>
                                    </p:set>
                                    <p:animEffect transition="in" filter="wipe(up)">
                                      <p:cBhvr>
                                        <p:cTn id="11" dur="500"/>
                                        <p:tgtEl>
                                          <p:spTgt spid="23">
                                            <p:txEl>
                                              <p:pRg st="0" end="0"/>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23">
                                            <p:txEl>
                                              <p:pRg st="2" end="2"/>
                                            </p:txEl>
                                          </p:spTgt>
                                        </p:tgtEl>
                                        <p:attrNameLst>
                                          <p:attrName>style.visibility</p:attrName>
                                        </p:attrNameLst>
                                      </p:cBhvr>
                                      <p:to>
                                        <p:strVal val="visible"/>
                                      </p:to>
                                    </p:set>
                                    <p:animEffect transition="in" filter="wipe(left)">
                                      <p:cBhvr>
                                        <p:cTn id="16" dur="500"/>
                                        <p:tgtEl>
                                          <p:spTgt spid="23">
                                            <p:txEl>
                                              <p:pRg st="2" end="2"/>
                                            </p:txEl>
                                          </p:spTgt>
                                        </p:tgtEl>
                                      </p:cBhvr>
                                    </p:animEffect>
                                  </p:childTnLst>
                                </p:cTn>
                              </p:par>
                            </p:childTnLst>
                          </p:cTn>
                        </p:par>
                        <p:par>
                          <p:cTn id="17" fill="hold" nodeType="afterGroup">
                            <p:stCondLst>
                              <p:cond delay="500"/>
                            </p:stCondLst>
                            <p:childTnLst>
                              <p:par>
                                <p:cTn id="18" presetID="22" presetClass="entr" presetSubtype="1" fill="hold" nodeType="after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wipe(up)">
                                      <p:cBhvr>
                                        <p:cTn id="20" dur="500"/>
                                        <p:tgtEl>
                                          <p:spTgt spid="19"/>
                                        </p:tgtEl>
                                      </p:cBhvr>
                                    </p:animEffect>
                                  </p:childTnLst>
                                </p:cTn>
                              </p:par>
                            </p:childTnLst>
                          </p:cTn>
                        </p:par>
                        <p:par>
                          <p:cTn id="21" fill="hold" nodeType="afterGroup">
                            <p:stCondLst>
                              <p:cond delay="1000"/>
                            </p:stCondLst>
                            <p:childTnLst>
                              <p:par>
                                <p:cTn id="22" presetID="22" presetClass="entr" presetSubtype="8" fill="hold" nodeType="after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wipe(left)">
                                      <p:cBhvr>
                                        <p:cTn id="24" dur="500"/>
                                        <p:tgtEl>
                                          <p:spTgt spid="14"/>
                                        </p:tgtEl>
                                      </p:cBhvr>
                                    </p:animEffect>
                                  </p:childTnLst>
                                </p:cTn>
                              </p:par>
                            </p:childTnLst>
                          </p:cTn>
                        </p:par>
                        <p:par>
                          <p:cTn id="25" fill="hold" nodeType="afterGroup">
                            <p:stCondLst>
                              <p:cond delay="1500"/>
                            </p:stCondLst>
                            <p:childTnLst>
                              <p:par>
                                <p:cTn id="26" presetID="22" presetClass="entr" presetSubtype="1" fill="hold" nodeType="afterEffect">
                                  <p:stCondLst>
                                    <p:cond delay="0"/>
                                  </p:stCondLst>
                                  <p:childTnLst>
                                    <p:set>
                                      <p:cBhvr>
                                        <p:cTn id="27" dur="1" fill="hold">
                                          <p:stCondLst>
                                            <p:cond delay="0"/>
                                          </p:stCondLst>
                                        </p:cTn>
                                        <p:tgtEl>
                                          <p:spTgt spid="21"/>
                                        </p:tgtEl>
                                        <p:attrNameLst>
                                          <p:attrName>style.visibility</p:attrName>
                                        </p:attrNameLst>
                                      </p:cBhvr>
                                      <p:to>
                                        <p:strVal val="visible"/>
                                      </p:to>
                                    </p:set>
                                    <p:animEffect transition="in" filter="wipe(up)">
                                      <p:cBhvr>
                                        <p:cTn id="28" dur="500"/>
                                        <p:tgtEl>
                                          <p:spTgt spid="21"/>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1" presetClass="entr" presetSubtype="1" fill="hold" grpId="0" nodeType="click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wheel(1)">
                                      <p:cBhvr>
                                        <p:cTn id="33" dur="1000"/>
                                        <p:tgtEl>
                                          <p:spTgt spid="17"/>
                                        </p:tgtEl>
                                      </p:cBhvr>
                                    </p:animEffect>
                                  </p:childTnLst>
                                </p:cTn>
                              </p:par>
                              <p:par>
                                <p:cTn id="34" presetID="21" presetClass="entr" presetSubtype="1" fill="hold" grpId="0" nodeType="withEffect">
                                  <p:stCondLst>
                                    <p:cond delay="0"/>
                                  </p:stCondLst>
                                  <p:childTnLst>
                                    <p:set>
                                      <p:cBhvr>
                                        <p:cTn id="35" dur="1" fill="hold">
                                          <p:stCondLst>
                                            <p:cond delay="0"/>
                                          </p:stCondLst>
                                        </p:cTn>
                                        <p:tgtEl>
                                          <p:spTgt spid="22"/>
                                        </p:tgtEl>
                                        <p:attrNameLst>
                                          <p:attrName>style.visibility</p:attrName>
                                        </p:attrNameLst>
                                      </p:cBhvr>
                                      <p:to>
                                        <p:strVal val="visible"/>
                                      </p:to>
                                    </p:set>
                                    <p:animEffect transition="in" filter="wheel(1)">
                                      <p:cBhvr>
                                        <p:cTn id="36" dur="1000"/>
                                        <p:tgtEl>
                                          <p:spTgt spid="22"/>
                                        </p:tgtEl>
                                      </p:cBhvr>
                                    </p:animEffect>
                                  </p:childTnLst>
                                </p:cTn>
                              </p:par>
                            </p:childTnLst>
                          </p:cTn>
                        </p:par>
                        <p:par>
                          <p:cTn id="37" fill="hold" nodeType="afterGroup">
                            <p:stCondLst>
                              <p:cond delay="1000"/>
                            </p:stCondLst>
                            <p:childTnLst>
                              <p:par>
                                <p:cTn id="38" presetID="22" presetClass="entr" presetSubtype="1" fill="hold" grpId="0" nodeType="afterEffect">
                                  <p:stCondLst>
                                    <p:cond delay="0"/>
                                  </p:stCondLst>
                                  <p:childTnLst>
                                    <p:set>
                                      <p:cBhvr>
                                        <p:cTn id="39" dur="1" fill="hold">
                                          <p:stCondLst>
                                            <p:cond delay="0"/>
                                          </p:stCondLst>
                                        </p:cTn>
                                        <p:tgtEl>
                                          <p:spTgt spid="24"/>
                                        </p:tgtEl>
                                        <p:attrNameLst>
                                          <p:attrName>style.visibility</p:attrName>
                                        </p:attrNameLst>
                                      </p:cBhvr>
                                      <p:to>
                                        <p:strVal val="visible"/>
                                      </p:to>
                                    </p:set>
                                    <p:animEffect transition="in" filter="wipe(up)">
                                      <p:cBhvr>
                                        <p:cTn id="40" dur="500"/>
                                        <p:tgtEl>
                                          <p:spTgt spid="24"/>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1" fill="hold" nodeType="clickEffect">
                                  <p:stCondLst>
                                    <p:cond delay="0"/>
                                  </p:stCondLst>
                                  <p:childTnLst>
                                    <p:set>
                                      <p:cBhvr>
                                        <p:cTn id="44" dur="1" fill="hold">
                                          <p:stCondLst>
                                            <p:cond delay="0"/>
                                          </p:stCondLst>
                                        </p:cTn>
                                        <p:tgtEl>
                                          <p:spTgt spid="2"/>
                                        </p:tgtEl>
                                        <p:attrNameLst>
                                          <p:attrName>style.visibility</p:attrName>
                                        </p:attrNameLst>
                                      </p:cBhvr>
                                      <p:to>
                                        <p:strVal val="visible"/>
                                      </p:to>
                                    </p:set>
                                    <p:animEffect transition="in" filter="wipe(up)">
                                      <p:cBhvr>
                                        <p:cTn id="45" dur="500"/>
                                        <p:tgtEl>
                                          <p:spTgt spid="2"/>
                                        </p:tgtEl>
                                      </p:cBhvr>
                                    </p:animEffect>
                                  </p:childTnLst>
                                </p:cTn>
                              </p:par>
                            </p:childTnLst>
                          </p:cTn>
                        </p:par>
                        <p:par>
                          <p:cTn id="46" fill="hold" nodeType="afterGroup">
                            <p:stCondLst>
                              <p:cond delay="500"/>
                            </p:stCondLst>
                            <p:childTnLst>
                              <p:par>
                                <p:cTn id="47" presetID="22" presetClass="entr" presetSubtype="8" fill="hold" nodeType="after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wipe(left)">
                                      <p:cBhvr>
                                        <p:cTn id="49"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4" grpId="0" animBg="1"/>
      <p:bldP spid="17" grpId="0" animBg="1"/>
      <p:bldP spid="22" grpId="0" animBg="1"/>
    </p:bld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Snip Single Corner Rectangle 17">
            <a:extLst>
              <a:ext uri="{FF2B5EF4-FFF2-40B4-BE49-F238E27FC236}">
                <a16:creationId xmlns:a16="http://schemas.microsoft.com/office/drawing/2014/main" id="{35DD9DF6-3729-8FCB-79F4-2AE33CED6E5F}"/>
              </a:ext>
            </a:extLst>
          </p:cNvPr>
          <p:cNvSpPr/>
          <p:nvPr/>
        </p:nvSpPr>
        <p:spPr>
          <a:xfrm>
            <a:off x="-22225" y="1731963"/>
            <a:ext cx="2232025" cy="401637"/>
          </a:xfrm>
          <a:prstGeom prst="snip1Rect">
            <a:avLst/>
          </a:prstGeom>
          <a:solidFill>
            <a:schemeClr val="accent5">
              <a:alpha val="70000"/>
            </a:schemeClr>
          </a:solidFill>
          <a:ln>
            <a:solidFill>
              <a:schemeClr val="accent5"/>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1800" b="0" i="0" u="none" strike="noStrike" kern="1200" cap="none" spc="0" normalizeH="0" baseline="0" noProof="0" dirty="0">
                <a:ln>
                  <a:noFill/>
                </a:ln>
                <a:solidFill>
                  <a:srgbClr val="FFFFFF"/>
                </a:solidFill>
                <a:effectLst/>
                <a:uLnTx/>
                <a:uFillTx/>
                <a:latin typeface="Calibri"/>
                <a:ea typeface="+mn-ea"/>
                <a:cs typeface="+mn-cs"/>
              </a:rPr>
              <a:t>No Data Anomalies</a:t>
            </a:r>
          </a:p>
        </p:txBody>
      </p:sp>
      <p:sp>
        <p:nvSpPr>
          <p:cNvPr id="23" name="Content Placeholder 2">
            <a:extLst>
              <a:ext uri="{FF2B5EF4-FFF2-40B4-BE49-F238E27FC236}">
                <a16:creationId xmlns:a16="http://schemas.microsoft.com/office/drawing/2014/main" id="{20FC0992-2485-79DF-17D5-0FE9BD9289C6}"/>
              </a:ext>
            </a:extLst>
          </p:cNvPr>
          <p:cNvSpPr txBox="1">
            <a:spLocks/>
          </p:cNvSpPr>
          <p:nvPr/>
        </p:nvSpPr>
        <p:spPr bwMode="auto">
          <a:xfrm>
            <a:off x="152400" y="2179638"/>
            <a:ext cx="815340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A data anomaly is an error like situation that does not exist in a “well” structured relation</a:t>
            </a:r>
          </a:p>
        </p:txBody>
      </p:sp>
      <p:sp>
        <p:nvSpPr>
          <p:cNvPr id="37" name="Snip Diagonal Corner Rectangle 36">
            <a:extLst>
              <a:ext uri="{FF2B5EF4-FFF2-40B4-BE49-F238E27FC236}">
                <a16:creationId xmlns:a16="http://schemas.microsoft.com/office/drawing/2014/main" id="{6A1E8396-7E62-4501-67C9-1E86CF335BB3}"/>
              </a:ext>
            </a:extLst>
          </p:cNvPr>
          <p:cNvSpPr/>
          <p:nvPr/>
        </p:nvSpPr>
        <p:spPr>
          <a:xfrm>
            <a:off x="501650" y="4340225"/>
            <a:ext cx="2671763" cy="1081088"/>
          </a:xfrm>
          <a:prstGeom prst="snip2DiagRect">
            <a:avLst/>
          </a:prstGeom>
          <a:effectLst>
            <a:outerShdw blurRad="50800" dist="38100" dir="2700000" algn="tl" rotWithShape="0">
              <a:prstClr val="black">
                <a:alpha val="40000"/>
              </a:prstClr>
            </a:outerShdw>
          </a:effectLst>
        </p:spPr>
        <p:style>
          <a:lnRef idx="2">
            <a:schemeClr val="accent5"/>
          </a:lnRef>
          <a:fillRef idx="1">
            <a:schemeClr val="lt1"/>
          </a:fillRef>
          <a:effectRef idx="0">
            <a:schemeClr val="accent5"/>
          </a:effectRef>
          <a:fontRef idx="minor">
            <a:schemeClr val="dk1"/>
          </a:fontRef>
        </p:style>
        <p:txBody>
          <a:bodyPr lIns="161425" tIns="161425" rIns="161425" bIns="161425" spcCol="1270" anchor="ctr"/>
          <a:lstStyle/>
          <a:p>
            <a:pPr marL="0" marR="0" lvl="0" indent="0" algn="ctr" defTabSz="1422400" rtl="0" eaLnBrk="0" fontAlgn="base" latinLnBrk="0" hangingPunct="0">
              <a:lnSpc>
                <a:spcPct val="90000"/>
              </a:lnSpc>
              <a:spcBef>
                <a:spcPct val="0"/>
              </a:spcBef>
              <a:spcAft>
                <a:spcPct val="35000"/>
              </a:spcAft>
              <a:buClrTx/>
              <a:buSzTx/>
              <a:buFontTx/>
              <a:buNone/>
              <a:tabLst/>
              <a:defRPr/>
            </a:pPr>
            <a:r>
              <a:rPr kumimoji="0" lang="en-CA" sz="2800" b="0" i="0" u="none" strike="noStrike" kern="1200" cap="none" spc="0" normalizeH="0" baseline="0" noProof="0" dirty="0">
                <a:ln>
                  <a:noFill/>
                </a:ln>
                <a:solidFill>
                  <a:srgbClr val="2F2B20"/>
                </a:solidFill>
                <a:effectLst/>
                <a:uLnTx/>
                <a:uFillTx/>
                <a:latin typeface="Calibri"/>
                <a:ea typeface="+mn-ea"/>
                <a:cs typeface="+mn-cs"/>
              </a:rPr>
              <a:t>Data Anomalies</a:t>
            </a:r>
          </a:p>
        </p:txBody>
      </p:sp>
      <p:grpSp>
        <p:nvGrpSpPr>
          <p:cNvPr id="2" name="Group 6">
            <a:extLst>
              <a:ext uri="{FF2B5EF4-FFF2-40B4-BE49-F238E27FC236}">
                <a16:creationId xmlns:a16="http://schemas.microsoft.com/office/drawing/2014/main" id="{8BAA4F7A-E5EB-B29B-15BA-69D521CEAECB}"/>
              </a:ext>
            </a:extLst>
          </p:cNvPr>
          <p:cNvGrpSpPr>
            <a:grpSpLocks/>
          </p:cNvGrpSpPr>
          <p:nvPr/>
        </p:nvGrpSpPr>
        <p:grpSpPr bwMode="auto">
          <a:xfrm>
            <a:off x="2911475" y="3429000"/>
            <a:ext cx="5167313" cy="1474788"/>
            <a:chOff x="3172767" y="3404964"/>
            <a:chExt cx="5167654" cy="1475945"/>
          </a:xfrm>
        </p:grpSpPr>
        <p:sp>
          <p:nvSpPr>
            <p:cNvPr id="31" name="Freeform 30">
              <a:hlinkClick r:id="rId2" action="ppaction://hlinksldjump"/>
              <a:extLst>
                <a:ext uri="{FF2B5EF4-FFF2-40B4-BE49-F238E27FC236}">
                  <a16:creationId xmlns:a16="http://schemas.microsoft.com/office/drawing/2014/main" id="{4BCF1C56-4AC8-3BD9-6FA2-5FC8443D3799}"/>
                </a:ext>
              </a:extLst>
            </p:cNvPr>
            <p:cNvSpPr/>
            <p:nvPr/>
          </p:nvSpPr>
          <p:spPr>
            <a:xfrm>
              <a:off x="4698456" y="3404964"/>
              <a:ext cx="3641965" cy="861100"/>
            </a:xfrm>
            <a:custGeom>
              <a:avLst/>
              <a:gdLst>
                <a:gd name="connsiteX0" fmla="*/ 0 w 2592290"/>
                <a:gd name="connsiteY0" fmla="*/ 183336 h 1099994"/>
                <a:gd name="connsiteX1" fmla="*/ 183336 w 2592290"/>
                <a:gd name="connsiteY1" fmla="*/ 0 h 1099994"/>
                <a:gd name="connsiteX2" fmla="*/ 2408954 w 2592290"/>
                <a:gd name="connsiteY2" fmla="*/ 0 h 1099994"/>
                <a:gd name="connsiteX3" fmla="*/ 2592290 w 2592290"/>
                <a:gd name="connsiteY3" fmla="*/ 183336 h 1099994"/>
                <a:gd name="connsiteX4" fmla="*/ 2592290 w 2592290"/>
                <a:gd name="connsiteY4" fmla="*/ 916658 h 1099994"/>
                <a:gd name="connsiteX5" fmla="*/ 2408954 w 2592290"/>
                <a:gd name="connsiteY5" fmla="*/ 1099994 h 1099994"/>
                <a:gd name="connsiteX6" fmla="*/ 183336 w 2592290"/>
                <a:gd name="connsiteY6" fmla="*/ 1099994 h 1099994"/>
                <a:gd name="connsiteX7" fmla="*/ 0 w 2592290"/>
                <a:gd name="connsiteY7" fmla="*/ 916658 h 1099994"/>
                <a:gd name="connsiteX8" fmla="*/ 0 w 2592290"/>
                <a:gd name="connsiteY8" fmla="*/ 183336 h 1099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2290" h="1099994">
                  <a:moveTo>
                    <a:pt x="0" y="183336"/>
                  </a:moveTo>
                  <a:cubicBezTo>
                    <a:pt x="0" y="82082"/>
                    <a:pt x="82082" y="0"/>
                    <a:pt x="183336" y="0"/>
                  </a:cubicBezTo>
                  <a:lnTo>
                    <a:pt x="2408954" y="0"/>
                  </a:lnTo>
                  <a:cubicBezTo>
                    <a:pt x="2510208" y="0"/>
                    <a:pt x="2592290" y="82082"/>
                    <a:pt x="2592290" y="183336"/>
                  </a:cubicBezTo>
                  <a:lnTo>
                    <a:pt x="2592290" y="916658"/>
                  </a:lnTo>
                  <a:cubicBezTo>
                    <a:pt x="2592290" y="1017912"/>
                    <a:pt x="2510208" y="1099994"/>
                    <a:pt x="2408954" y="1099994"/>
                  </a:cubicBezTo>
                  <a:lnTo>
                    <a:pt x="183336" y="1099994"/>
                  </a:lnTo>
                  <a:cubicBezTo>
                    <a:pt x="82082" y="1099994"/>
                    <a:pt x="0" y="1017912"/>
                    <a:pt x="0" y="916658"/>
                  </a:cubicBezTo>
                  <a:lnTo>
                    <a:pt x="0" y="183336"/>
                  </a:lnTo>
                  <a:close/>
                </a:path>
              </a:pathLst>
            </a:custGeom>
            <a:ln/>
          </p:spPr>
          <p:style>
            <a:lnRef idx="3">
              <a:schemeClr val="lt1"/>
            </a:lnRef>
            <a:fillRef idx="1">
              <a:schemeClr val="accent6"/>
            </a:fillRef>
            <a:effectRef idx="1">
              <a:schemeClr val="accent6"/>
            </a:effectRef>
            <a:fontRef idx="minor">
              <a:schemeClr val="lt1"/>
            </a:fontRef>
          </p:style>
          <p:txBody>
            <a:bodyPr lIns="124817" tIns="124817" rIns="124817" bIns="124817" spcCol="1270" anchor="ctr"/>
            <a:lstStyle/>
            <a:p>
              <a:pPr marL="0" marR="0" lvl="0" indent="0" algn="ctr" defTabSz="1244600" rtl="0" eaLnBrk="0" fontAlgn="base" latinLnBrk="0" hangingPunct="0">
                <a:lnSpc>
                  <a:spcPct val="90000"/>
                </a:lnSpc>
                <a:spcBef>
                  <a:spcPct val="0"/>
                </a:spcBef>
                <a:spcAft>
                  <a:spcPct val="35000"/>
                </a:spcAft>
                <a:buClrTx/>
                <a:buSzTx/>
                <a:buFontTx/>
                <a:buNone/>
                <a:tabLst/>
                <a:defRPr/>
              </a:pPr>
              <a:r>
                <a:rPr kumimoji="0" lang="en-CA" sz="2800" b="0" i="0" u="none" strike="noStrike" kern="1200" cap="none" spc="0" normalizeH="0" baseline="0" noProof="0" dirty="0">
                  <a:ln>
                    <a:noFill/>
                  </a:ln>
                  <a:solidFill>
                    <a:srgbClr val="FFFFFF"/>
                  </a:solidFill>
                  <a:effectLst/>
                  <a:uLnTx/>
                  <a:uFillTx/>
                  <a:latin typeface="Calibri"/>
                  <a:ea typeface="+mn-ea"/>
                  <a:cs typeface="+mn-cs"/>
                </a:rPr>
                <a:t>Insertion Anomalies</a:t>
              </a:r>
            </a:p>
          </p:txBody>
        </p:sp>
        <p:cxnSp>
          <p:nvCxnSpPr>
            <p:cNvPr id="11278" name="Straight Connector 3">
              <a:extLst>
                <a:ext uri="{FF2B5EF4-FFF2-40B4-BE49-F238E27FC236}">
                  <a16:creationId xmlns:a16="http://schemas.microsoft.com/office/drawing/2014/main" id="{BD598636-6249-189C-54DC-DDA958045897}"/>
                </a:ext>
              </a:extLst>
            </p:cNvPr>
            <p:cNvCxnSpPr>
              <a:cxnSpLocks noChangeShapeType="1"/>
              <a:stCxn id="37" idx="0"/>
            </p:cNvCxnSpPr>
            <p:nvPr/>
          </p:nvCxnSpPr>
          <p:spPr bwMode="auto">
            <a:xfrm flipV="1">
              <a:off x="3172767" y="3781626"/>
              <a:ext cx="1264288" cy="1099283"/>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grpSp>
      <p:grpSp>
        <p:nvGrpSpPr>
          <p:cNvPr id="3" name="Group 7">
            <a:extLst>
              <a:ext uri="{FF2B5EF4-FFF2-40B4-BE49-F238E27FC236}">
                <a16:creationId xmlns:a16="http://schemas.microsoft.com/office/drawing/2014/main" id="{8FFFC76A-4A49-8F6F-534B-02CAFC757FFA}"/>
              </a:ext>
            </a:extLst>
          </p:cNvPr>
          <p:cNvGrpSpPr>
            <a:grpSpLocks/>
          </p:cNvGrpSpPr>
          <p:nvPr/>
        </p:nvGrpSpPr>
        <p:grpSpPr bwMode="auto">
          <a:xfrm>
            <a:off x="3167063" y="4449763"/>
            <a:ext cx="4932362" cy="862012"/>
            <a:chOff x="3429497" y="3970426"/>
            <a:chExt cx="4931364" cy="861364"/>
          </a:xfrm>
        </p:grpSpPr>
        <p:sp>
          <p:nvSpPr>
            <p:cNvPr id="36" name="Freeform 35">
              <a:hlinkClick r:id="rId3" action="ppaction://hlinksldjump"/>
              <a:extLst>
                <a:ext uri="{FF2B5EF4-FFF2-40B4-BE49-F238E27FC236}">
                  <a16:creationId xmlns:a16="http://schemas.microsoft.com/office/drawing/2014/main" id="{E3B4A7E3-BBC3-9572-4030-EEF391FEFE95}"/>
                </a:ext>
              </a:extLst>
            </p:cNvPr>
            <p:cNvSpPr/>
            <p:nvPr/>
          </p:nvSpPr>
          <p:spPr>
            <a:xfrm>
              <a:off x="4719873" y="3970426"/>
              <a:ext cx="3640988" cy="861364"/>
            </a:xfrm>
            <a:custGeom>
              <a:avLst/>
              <a:gdLst>
                <a:gd name="connsiteX0" fmla="*/ 0 w 2592290"/>
                <a:gd name="connsiteY0" fmla="*/ 183336 h 1099994"/>
                <a:gd name="connsiteX1" fmla="*/ 183336 w 2592290"/>
                <a:gd name="connsiteY1" fmla="*/ 0 h 1099994"/>
                <a:gd name="connsiteX2" fmla="*/ 2408954 w 2592290"/>
                <a:gd name="connsiteY2" fmla="*/ 0 h 1099994"/>
                <a:gd name="connsiteX3" fmla="*/ 2592290 w 2592290"/>
                <a:gd name="connsiteY3" fmla="*/ 183336 h 1099994"/>
                <a:gd name="connsiteX4" fmla="*/ 2592290 w 2592290"/>
                <a:gd name="connsiteY4" fmla="*/ 916658 h 1099994"/>
                <a:gd name="connsiteX5" fmla="*/ 2408954 w 2592290"/>
                <a:gd name="connsiteY5" fmla="*/ 1099994 h 1099994"/>
                <a:gd name="connsiteX6" fmla="*/ 183336 w 2592290"/>
                <a:gd name="connsiteY6" fmla="*/ 1099994 h 1099994"/>
                <a:gd name="connsiteX7" fmla="*/ 0 w 2592290"/>
                <a:gd name="connsiteY7" fmla="*/ 916658 h 1099994"/>
                <a:gd name="connsiteX8" fmla="*/ 0 w 2592290"/>
                <a:gd name="connsiteY8" fmla="*/ 183336 h 1099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2290" h="1099994">
                  <a:moveTo>
                    <a:pt x="0" y="183336"/>
                  </a:moveTo>
                  <a:cubicBezTo>
                    <a:pt x="0" y="82082"/>
                    <a:pt x="82082" y="0"/>
                    <a:pt x="183336" y="0"/>
                  </a:cubicBezTo>
                  <a:lnTo>
                    <a:pt x="2408954" y="0"/>
                  </a:lnTo>
                  <a:cubicBezTo>
                    <a:pt x="2510208" y="0"/>
                    <a:pt x="2592290" y="82082"/>
                    <a:pt x="2592290" y="183336"/>
                  </a:cubicBezTo>
                  <a:lnTo>
                    <a:pt x="2592290" y="916658"/>
                  </a:lnTo>
                  <a:cubicBezTo>
                    <a:pt x="2592290" y="1017912"/>
                    <a:pt x="2510208" y="1099994"/>
                    <a:pt x="2408954" y="1099994"/>
                  </a:cubicBezTo>
                  <a:lnTo>
                    <a:pt x="183336" y="1099994"/>
                  </a:lnTo>
                  <a:cubicBezTo>
                    <a:pt x="82082" y="1099994"/>
                    <a:pt x="0" y="1017912"/>
                    <a:pt x="0" y="916658"/>
                  </a:cubicBezTo>
                  <a:lnTo>
                    <a:pt x="0" y="183336"/>
                  </a:lnTo>
                  <a:close/>
                </a:path>
              </a:pathLst>
            </a:custGeom>
            <a:ln/>
          </p:spPr>
          <p:style>
            <a:lnRef idx="3">
              <a:schemeClr val="lt1"/>
            </a:lnRef>
            <a:fillRef idx="1">
              <a:schemeClr val="dk1"/>
            </a:fillRef>
            <a:effectRef idx="1">
              <a:schemeClr val="dk1"/>
            </a:effectRef>
            <a:fontRef idx="minor">
              <a:schemeClr val="lt1"/>
            </a:fontRef>
          </p:style>
          <p:txBody>
            <a:bodyPr lIns="124817" tIns="124817" rIns="124817" bIns="124817" spcCol="1270" anchor="ctr"/>
            <a:lstStyle/>
            <a:p>
              <a:pPr marL="0" marR="0" lvl="0" indent="0" algn="ctr" defTabSz="1244600" rtl="0" eaLnBrk="0" fontAlgn="base" latinLnBrk="0" hangingPunct="0">
                <a:lnSpc>
                  <a:spcPct val="90000"/>
                </a:lnSpc>
                <a:spcBef>
                  <a:spcPct val="0"/>
                </a:spcBef>
                <a:spcAft>
                  <a:spcPct val="35000"/>
                </a:spcAft>
                <a:buClrTx/>
                <a:buSzTx/>
                <a:buFontTx/>
                <a:buNone/>
                <a:tabLst/>
                <a:defRPr/>
              </a:pPr>
              <a:r>
                <a:rPr kumimoji="0" lang="en-CA" sz="2800" b="0" i="0" u="none" strike="noStrike" kern="1200" cap="none" spc="0" normalizeH="0" baseline="0" noProof="0" dirty="0">
                  <a:ln>
                    <a:noFill/>
                  </a:ln>
                  <a:solidFill>
                    <a:srgbClr val="FFFFFF"/>
                  </a:solidFill>
                  <a:effectLst/>
                  <a:uLnTx/>
                  <a:uFillTx/>
                  <a:latin typeface="Calibri"/>
                  <a:ea typeface="+mn-ea"/>
                  <a:cs typeface="+mn-cs"/>
                </a:rPr>
                <a:t>Deletion Anomalies</a:t>
              </a:r>
            </a:p>
          </p:txBody>
        </p:sp>
        <p:cxnSp>
          <p:nvCxnSpPr>
            <p:cNvPr id="11276" name="Straight Connector 37">
              <a:extLst>
                <a:ext uri="{FF2B5EF4-FFF2-40B4-BE49-F238E27FC236}">
                  <a16:creationId xmlns:a16="http://schemas.microsoft.com/office/drawing/2014/main" id="{E91E36DC-A58B-D526-6DAA-3D6FDE668F3D}"/>
                </a:ext>
              </a:extLst>
            </p:cNvPr>
            <p:cNvCxnSpPr>
              <a:cxnSpLocks noChangeShapeType="1"/>
            </p:cNvCxnSpPr>
            <p:nvPr/>
          </p:nvCxnSpPr>
          <p:spPr bwMode="auto">
            <a:xfrm>
              <a:off x="3429497" y="4414820"/>
              <a:ext cx="1286330" cy="18002"/>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grpSp>
      <p:grpSp>
        <p:nvGrpSpPr>
          <p:cNvPr id="4" name="Group 13">
            <a:extLst>
              <a:ext uri="{FF2B5EF4-FFF2-40B4-BE49-F238E27FC236}">
                <a16:creationId xmlns:a16="http://schemas.microsoft.com/office/drawing/2014/main" id="{B0B30A42-BC63-0292-C22C-676EA555A3A5}"/>
              </a:ext>
            </a:extLst>
          </p:cNvPr>
          <p:cNvGrpSpPr>
            <a:grpSpLocks/>
          </p:cNvGrpSpPr>
          <p:nvPr/>
        </p:nvGrpSpPr>
        <p:grpSpPr bwMode="auto">
          <a:xfrm>
            <a:off x="2911475" y="4903788"/>
            <a:ext cx="5191125" cy="1420812"/>
            <a:chOff x="3172755" y="4880576"/>
            <a:chExt cx="5191730" cy="1420369"/>
          </a:xfrm>
        </p:grpSpPr>
        <p:cxnSp>
          <p:nvCxnSpPr>
            <p:cNvPr id="11273" name="Straight Connector 38">
              <a:extLst>
                <a:ext uri="{FF2B5EF4-FFF2-40B4-BE49-F238E27FC236}">
                  <a16:creationId xmlns:a16="http://schemas.microsoft.com/office/drawing/2014/main" id="{C8FEEDC8-9B56-1AC0-9799-0D4232F11B05}"/>
                </a:ext>
              </a:extLst>
            </p:cNvPr>
            <p:cNvCxnSpPr>
              <a:cxnSpLocks noChangeShapeType="1"/>
              <a:stCxn id="37" idx="0"/>
            </p:cNvCxnSpPr>
            <p:nvPr/>
          </p:nvCxnSpPr>
          <p:spPr bwMode="auto">
            <a:xfrm>
              <a:off x="3172755" y="4880576"/>
              <a:ext cx="1289955" cy="1063294"/>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sp>
          <p:nvSpPr>
            <p:cNvPr id="35" name="Freeform 34">
              <a:hlinkClick r:id="rId4" action="ppaction://hlinksldjump"/>
              <a:extLst>
                <a:ext uri="{FF2B5EF4-FFF2-40B4-BE49-F238E27FC236}">
                  <a16:creationId xmlns:a16="http://schemas.microsoft.com/office/drawing/2014/main" id="{0B179E1A-304E-8210-D3B5-334C455532AD}"/>
                </a:ext>
              </a:extLst>
            </p:cNvPr>
            <p:cNvSpPr/>
            <p:nvPr/>
          </p:nvSpPr>
          <p:spPr>
            <a:xfrm>
              <a:off x="4715985" y="5439202"/>
              <a:ext cx="3648500" cy="861743"/>
            </a:xfrm>
            <a:custGeom>
              <a:avLst/>
              <a:gdLst>
                <a:gd name="connsiteX0" fmla="*/ 0 w 2592290"/>
                <a:gd name="connsiteY0" fmla="*/ 183336 h 1099994"/>
                <a:gd name="connsiteX1" fmla="*/ 183336 w 2592290"/>
                <a:gd name="connsiteY1" fmla="*/ 0 h 1099994"/>
                <a:gd name="connsiteX2" fmla="*/ 2408954 w 2592290"/>
                <a:gd name="connsiteY2" fmla="*/ 0 h 1099994"/>
                <a:gd name="connsiteX3" fmla="*/ 2592290 w 2592290"/>
                <a:gd name="connsiteY3" fmla="*/ 183336 h 1099994"/>
                <a:gd name="connsiteX4" fmla="*/ 2592290 w 2592290"/>
                <a:gd name="connsiteY4" fmla="*/ 916658 h 1099994"/>
                <a:gd name="connsiteX5" fmla="*/ 2408954 w 2592290"/>
                <a:gd name="connsiteY5" fmla="*/ 1099994 h 1099994"/>
                <a:gd name="connsiteX6" fmla="*/ 183336 w 2592290"/>
                <a:gd name="connsiteY6" fmla="*/ 1099994 h 1099994"/>
                <a:gd name="connsiteX7" fmla="*/ 0 w 2592290"/>
                <a:gd name="connsiteY7" fmla="*/ 916658 h 1099994"/>
                <a:gd name="connsiteX8" fmla="*/ 0 w 2592290"/>
                <a:gd name="connsiteY8" fmla="*/ 183336 h 1099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2290" h="1099994">
                  <a:moveTo>
                    <a:pt x="0" y="183336"/>
                  </a:moveTo>
                  <a:cubicBezTo>
                    <a:pt x="0" y="82082"/>
                    <a:pt x="82082" y="0"/>
                    <a:pt x="183336" y="0"/>
                  </a:cubicBezTo>
                  <a:lnTo>
                    <a:pt x="2408954" y="0"/>
                  </a:lnTo>
                  <a:cubicBezTo>
                    <a:pt x="2510208" y="0"/>
                    <a:pt x="2592290" y="82082"/>
                    <a:pt x="2592290" y="183336"/>
                  </a:cubicBezTo>
                  <a:lnTo>
                    <a:pt x="2592290" y="916658"/>
                  </a:lnTo>
                  <a:cubicBezTo>
                    <a:pt x="2592290" y="1017912"/>
                    <a:pt x="2510208" y="1099994"/>
                    <a:pt x="2408954" y="1099994"/>
                  </a:cubicBezTo>
                  <a:lnTo>
                    <a:pt x="183336" y="1099994"/>
                  </a:lnTo>
                  <a:cubicBezTo>
                    <a:pt x="82082" y="1099994"/>
                    <a:pt x="0" y="1017912"/>
                    <a:pt x="0" y="916658"/>
                  </a:cubicBezTo>
                  <a:lnTo>
                    <a:pt x="0" y="183336"/>
                  </a:lnTo>
                  <a:close/>
                </a:path>
              </a:pathLst>
            </a:custGeom>
            <a:solidFill>
              <a:schemeClr val="tx2"/>
            </a:solidFill>
            <a:ln/>
          </p:spPr>
          <p:style>
            <a:lnRef idx="3">
              <a:schemeClr val="lt1"/>
            </a:lnRef>
            <a:fillRef idx="1">
              <a:schemeClr val="accent1"/>
            </a:fillRef>
            <a:effectRef idx="1">
              <a:schemeClr val="accent1"/>
            </a:effectRef>
            <a:fontRef idx="minor">
              <a:schemeClr val="lt1"/>
            </a:fontRef>
          </p:style>
          <p:txBody>
            <a:bodyPr lIns="124817" tIns="124817" rIns="124817" bIns="124817" spcCol="1270" anchor="ctr"/>
            <a:lstStyle/>
            <a:p>
              <a:pPr marL="0" marR="0" lvl="0" indent="0" algn="ctr" defTabSz="1244600" rtl="0" eaLnBrk="0" fontAlgn="base" latinLnBrk="0" hangingPunct="0">
                <a:lnSpc>
                  <a:spcPct val="90000"/>
                </a:lnSpc>
                <a:spcBef>
                  <a:spcPct val="0"/>
                </a:spcBef>
                <a:spcAft>
                  <a:spcPct val="35000"/>
                </a:spcAft>
                <a:buClrTx/>
                <a:buSzTx/>
                <a:buFontTx/>
                <a:buNone/>
                <a:tabLst/>
                <a:defRPr/>
              </a:pPr>
              <a:r>
                <a:rPr kumimoji="0" lang="en-CA" sz="2800" b="0" i="0" u="none" strike="noStrike" kern="1200" cap="none" spc="0" normalizeH="0" baseline="0" noProof="0" dirty="0">
                  <a:ln>
                    <a:noFill/>
                  </a:ln>
                  <a:solidFill>
                    <a:srgbClr val="FFFFFF"/>
                  </a:solidFill>
                  <a:effectLst/>
                  <a:uLnTx/>
                  <a:uFillTx/>
                  <a:latin typeface="Calibri"/>
                  <a:ea typeface="+mn-ea"/>
                  <a:cs typeface="+mn-cs"/>
                </a:rPr>
                <a:t>Update Anomalies</a:t>
              </a:r>
            </a:p>
          </p:txBody>
        </p:sp>
      </p:grpSp>
      <p:sp>
        <p:nvSpPr>
          <p:cNvPr id="22" name="Title 1">
            <a:extLst>
              <a:ext uri="{FF2B5EF4-FFF2-40B4-BE49-F238E27FC236}">
                <a16:creationId xmlns:a16="http://schemas.microsoft.com/office/drawing/2014/main" id="{5D1F3103-1E20-21F7-50E6-5FB91D67A2E1}"/>
              </a:ext>
            </a:extLst>
          </p:cNvPr>
          <p:cNvSpPr>
            <a:spLocks noGrp="1"/>
          </p:cNvSpPr>
          <p:nvPr>
            <p:ph type="title"/>
          </p:nvPr>
        </p:nvSpPr>
        <p:spPr>
          <a:xfrm>
            <a:off x="457200" y="76200"/>
            <a:ext cx="7620000" cy="1143000"/>
          </a:xfrm>
        </p:spPr>
        <p:txBody>
          <a:bodyPr/>
          <a:lstStyle/>
          <a:p>
            <a:pPr algn="ctr">
              <a:defRPr/>
            </a:pPr>
            <a:r>
              <a:rPr lang="en-US" dirty="0"/>
              <a:t>Relational Database Normalization</a:t>
            </a:r>
            <a:endParaRPr lang="en-CA"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23">
                                            <p:txEl>
                                              <p:pRg st="0" end="0"/>
                                            </p:txEl>
                                          </p:spTgt>
                                        </p:tgtEl>
                                        <p:attrNameLst>
                                          <p:attrName>style.visibility</p:attrName>
                                        </p:attrNameLst>
                                      </p:cBhvr>
                                      <p:to>
                                        <p:strVal val="visible"/>
                                      </p:to>
                                    </p:set>
                                    <p:animEffect transition="in" filter="wipe(up)">
                                      <p:cBhvr>
                                        <p:cTn id="11" dur="500"/>
                                        <p:tgtEl>
                                          <p:spTgt spid="23">
                                            <p:txEl>
                                              <p:pRg st="0" end="0"/>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37"/>
                                        </p:tgtEl>
                                        <p:attrNameLst>
                                          <p:attrName>style.visibility</p:attrName>
                                        </p:attrNameLst>
                                      </p:cBhvr>
                                      <p:to>
                                        <p:strVal val="visible"/>
                                      </p:to>
                                    </p:set>
                                    <p:animEffect transition="in" filter="wipe(up)">
                                      <p:cBhvr>
                                        <p:cTn id="16" dur="500"/>
                                        <p:tgtEl>
                                          <p:spTgt spid="37"/>
                                        </p:tgtEl>
                                      </p:cBhvr>
                                    </p:animEffect>
                                  </p:childTnLst>
                                </p:cTn>
                              </p:par>
                            </p:childTnLst>
                          </p:cTn>
                        </p:par>
                        <p:par>
                          <p:cTn id="17" fill="hold" nodeType="afterGroup">
                            <p:stCondLst>
                              <p:cond delay="500"/>
                            </p:stCondLst>
                            <p:childTnLst>
                              <p:par>
                                <p:cTn id="18" presetID="22" presetClass="entr" presetSubtype="8" fill="hold" nodeType="after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wipe(left)">
                                      <p:cBhvr>
                                        <p:cTn id="20" dur="500"/>
                                        <p:tgtEl>
                                          <p:spTgt spid="2"/>
                                        </p:tgtEl>
                                      </p:cBhvr>
                                    </p:animEffect>
                                  </p:childTnLst>
                                </p:cTn>
                              </p:par>
                            </p:childTnLst>
                          </p:cTn>
                        </p:par>
                        <p:par>
                          <p:cTn id="21" fill="hold" nodeType="afterGroup">
                            <p:stCondLst>
                              <p:cond delay="1000"/>
                            </p:stCondLst>
                            <p:childTnLst>
                              <p:par>
                                <p:cTn id="22" presetID="22" presetClass="entr" presetSubtype="8" fill="hold" nodeType="after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wipe(left)">
                                      <p:cBhvr>
                                        <p:cTn id="24" dur="500"/>
                                        <p:tgtEl>
                                          <p:spTgt spid="3"/>
                                        </p:tgtEl>
                                      </p:cBhvr>
                                    </p:animEffect>
                                  </p:childTnLst>
                                </p:cTn>
                              </p:par>
                            </p:childTnLst>
                          </p:cTn>
                        </p:par>
                        <p:par>
                          <p:cTn id="25" fill="hold" nodeType="afterGroup">
                            <p:stCondLst>
                              <p:cond delay="1500"/>
                            </p:stCondLst>
                            <p:childTnLst>
                              <p:par>
                                <p:cTn id="26" presetID="22" presetClass="entr" presetSubtype="8" fill="hold" nodeType="after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wipe(left)">
                                      <p:cBhvr>
                                        <p:cTn id="28"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37" grpId="0" animBg="1"/>
    </p:bld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Snip Single Corner Rectangle 17">
            <a:extLst>
              <a:ext uri="{FF2B5EF4-FFF2-40B4-BE49-F238E27FC236}">
                <a16:creationId xmlns:a16="http://schemas.microsoft.com/office/drawing/2014/main" id="{3DCEA2D0-2C90-AEE9-8845-271F569B59FB}"/>
              </a:ext>
            </a:extLst>
          </p:cNvPr>
          <p:cNvSpPr/>
          <p:nvPr/>
        </p:nvSpPr>
        <p:spPr>
          <a:xfrm>
            <a:off x="-26988" y="1536700"/>
            <a:ext cx="2232026" cy="401638"/>
          </a:xfrm>
          <a:prstGeom prst="snip1Rect">
            <a:avLst/>
          </a:prstGeom>
          <a:solidFill>
            <a:schemeClr val="accent6">
              <a:alpha val="70000"/>
            </a:schemeClr>
          </a:solidFill>
          <a:ln>
            <a:solidFill>
              <a:schemeClr val="accent6"/>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1800" b="0" i="0" u="none" strike="noStrike" kern="1200" cap="none" spc="0" normalizeH="0" baseline="0" noProof="0" dirty="0">
                <a:ln>
                  <a:noFill/>
                </a:ln>
                <a:solidFill>
                  <a:srgbClr val="FFFFFF"/>
                </a:solidFill>
                <a:effectLst/>
                <a:uLnTx/>
                <a:uFillTx/>
                <a:latin typeface="Calibri"/>
                <a:ea typeface="+mn-ea"/>
                <a:cs typeface="+mn-cs"/>
              </a:rPr>
              <a:t>Insertion Anomalies</a:t>
            </a:r>
          </a:p>
        </p:txBody>
      </p:sp>
      <p:sp>
        <p:nvSpPr>
          <p:cNvPr id="23" name="Content Placeholder 2">
            <a:extLst>
              <a:ext uri="{FF2B5EF4-FFF2-40B4-BE49-F238E27FC236}">
                <a16:creationId xmlns:a16="http://schemas.microsoft.com/office/drawing/2014/main" id="{BAFFA22E-EFD5-520F-7CC9-063EDE7A81D5}"/>
              </a:ext>
            </a:extLst>
          </p:cNvPr>
          <p:cNvSpPr txBox="1">
            <a:spLocks/>
          </p:cNvSpPr>
          <p:nvPr/>
        </p:nvSpPr>
        <p:spPr bwMode="auto">
          <a:xfrm>
            <a:off x="152400" y="1852613"/>
            <a:ext cx="815340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An insertion anomaly occurs when certain data cannot be added into the database without the presence of other data</a:t>
            </a: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For example</a:t>
            </a:r>
          </a:p>
        </p:txBody>
      </p:sp>
      <p:graphicFrame>
        <p:nvGraphicFramePr>
          <p:cNvPr id="16" name="Table 15">
            <a:extLst>
              <a:ext uri="{FF2B5EF4-FFF2-40B4-BE49-F238E27FC236}">
                <a16:creationId xmlns:a16="http://schemas.microsoft.com/office/drawing/2014/main" id="{63805BE4-7159-F8D1-A076-87082C6900A9}"/>
              </a:ext>
            </a:extLst>
          </p:cNvPr>
          <p:cNvGraphicFramePr>
            <a:graphicFrameLocks noGrp="1"/>
          </p:cNvGraphicFramePr>
          <p:nvPr/>
        </p:nvGraphicFramePr>
        <p:xfrm>
          <a:off x="44450" y="4187825"/>
          <a:ext cx="8366125" cy="977900"/>
        </p:xfrm>
        <a:graphic>
          <a:graphicData uri="http://schemas.openxmlformats.org/drawingml/2006/table">
            <a:tbl>
              <a:tblPr firstRow="1" bandRow="1">
                <a:tableStyleId>{68D230F3-CF80-4859-8CE7-A43EE81993B5}</a:tableStyleId>
              </a:tblPr>
              <a:tblGrid>
                <a:gridCol w="1728297">
                  <a:extLst>
                    <a:ext uri="{9D8B030D-6E8A-4147-A177-3AD203B41FA5}">
                      <a16:colId xmlns:a16="http://schemas.microsoft.com/office/drawing/2014/main" val="20000"/>
                    </a:ext>
                  </a:extLst>
                </a:gridCol>
                <a:gridCol w="2304396">
                  <a:extLst>
                    <a:ext uri="{9D8B030D-6E8A-4147-A177-3AD203B41FA5}">
                      <a16:colId xmlns:a16="http://schemas.microsoft.com/office/drawing/2014/main" val="20001"/>
                    </a:ext>
                  </a:extLst>
                </a:gridCol>
                <a:gridCol w="2016346">
                  <a:extLst>
                    <a:ext uri="{9D8B030D-6E8A-4147-A177-3AD203B41FA5}">
                      <a16:colId xmlns:a16="http://schemas.microsoft.com/office/drawing/2014/main" val="20002"/>
                    </a:ext>
                  </a:extLst>
                </a:gridCol>
                <a:gridCol w="2317086">
                  <a:extLst>
                    <a:ext uri="{9D8B030D-6E8A-4147-A177-3AD203B41FA5}">
                      <a16:colId xmlns:a16="http://schemas.microsoft.com/office/drawing/2014/main" val="20003"/>
                    </a:ext>
                  </a:extLst>
                </a:gridCol>
              </a:tblGrid>
              <a:tr h="488950">
                <a:tc>
                  <a:txBody>
                    <a:bodyPr/>
                    <a:lstStyle/>
                    <a:p>
                      <a:pPr algn="ctr"/>
                      <a:r>
                        <a:rPr lang="en-CA" sz="1800" u="none" dirty="0"/>
                        <a:t>STUDENTID</a:t>
                      </a:r>
                    </a:p>
                  </a:txBody>
                  <a:tcPr marL="91446" marR="91446" marT="45701" marB="45701"/>
                </a:tc>
                <a:tc>
                  <a:txBody>
                    <a:bodyPr/>
                    <a:lstStyle/>
                    <a:p>
                      <a:pPr algn="ctr"/>
                      <a:r>
                        <a:rPr lang="en-CA" sz="1800" dirty="0"/>
                        <a:t>STUDENTNAME</a:t>
                      </a:r>
                    </a:p>
                  </a:txBody>
                  <a:tcPr marL="91446" marR="91446" marT="45701" marB="45701"/>
                </a:tc>
                <a:tc>
                  <a:txBody>
                    <a:bodyPr/>
                    <a:lstStyle/>
                    <a:p>
                      <a:pPr algn="ctr"/>
                      <a:r>
                        <a:rPr lang="en-CA" sz="1800" dirty="0"/>
                        <a:t>SUBJECTCODE</a:t>
                      </a:r>
                    </a:p>
                  </a:txBody>
                  <a:tcPr marL="91446" marR="91446" marT="45701" marB="45701"/>
                </a:tc>
                <a:tc>
                  <a:txBody>
                    <a:bodyPr/>
                    <a:lstStyle/>
                    <a:p>
                      <a:pPr algn="ctr"/>
                      <a:r>
                        <a:rPr lang="en-CA" sz="1800" dirty="0"/>
                        <a:t>SUBJECTNAME</a:t>
                      </a:r>
                    </a:p>
                  </a:txBody>
                  <a:tcPr marL="91446" marR="91446" marT="45701" marB="45701"/>
                </a:tc>
                <a:extLst>
                  <a:ext uri="{0D108BD9-81ED-4DB2-BD59-A6C34878D82A}">
                    <a16:rowId xmlns:a16="http://schemas.microsoft.com/office/drawing/2014/main" val="10000"/>
                  </a:ext>
                </a:extLst>
              </a:tr>
              <a:tr h="488950">
                <a:tc>
                  <a:txBody>
                    <a:bodyPr/>
                    <a:lstStyle/>
                    <a:p>
                      <a:pPr algn="ctr"/>
                      <a:r>
                        <a:rPr lang="en-CA" sz="1800" dirty="0"/>
                        <a:t>1234567</a:t>
                      </a:r>
                    </a:p>
                  </a:txBody>
                  <a:tcPr marL="91446" marR="91446" marT="45701" marB="45701"/>
                </a:tc>
                <a:tc>
                  <a:txBody>
                    <a:bodyPr/>
                    <a:lstStyle/>
                    <a:p>
                      <a:pPr algn="ctr"/>
                      <a:r>
                        <a:rPr lang="en-CA" sz="1800" dirty="0"/>
                        <a:t>Talha Amjad</a:t>
                      </a:r>
                    </a:p>
                  </a:txBody>
                  <a:tcPr marL="91446" marR="91446" marT="45701" marB="45701"/>
                </a:tc>
                <a:tc>
                  <a:txBody>
                    <a:bodyPr/>
                    <a:lstStyle/>
                    <a:p>
                      <a:pPr algn="ctr"/>
                      <a:r>
                        <a:rPr lang="en-CA" sz="1800" dirty="0"/>
                        <a:t>BSIT 201</a:t>
                      </a:r>
                    </a:p>
                  </a:txBody>
                  <a:tcPr marL="91446" marR="91446" marT="45701" marB="45701"/>
                </a:tc>
                <a:tc>
                  <a:txBody>
                    <a:bodyPr/>
                    <a:lstStyle/>
                    <a:p>
                      <a:pPr algn="ctr"/>
                      <a:r>
                        <a:rPr lang="en-CA" sz="1800" dirty="0"/>
                        <a:t>Database Concept</a:t>
                      </a:r>
                    </a:p>
                  </a:txBody>
                  <a:tcPr marL="91446" marR="91446" marT="45701" marB="45701"/>
                </a:tc>
                <a:extLst>
                  <a:ext uri="{0D108BD9-81ED-4DB2-BD59-A6C34878D82A}">
                    <a16:rowId xmlns:a16="http://schemas.microsoft.com/office/drawing/2014/main" val="10001"/>
                  </a:ext>
                </a:extLst>
              </a:tr>
            </a:tbl>
          </a:graphicData>
        </a:graphic>
      </p:graphicFrame>
      <p:sp>
        <p:nvSpPr>
          <p:cNvPr id="24" name="Rectangle 23">
            <a:extLst>
              <a:ext uri="{FF2B5EF4-FFF2-40B4-BE49-F238E27FC236}">
                <a16:creationId xmlns:a16="http://schemas.microsoft.com/office/drawing/2014/main" id="{01DFD462-588F-D68D-644B-A832D10CCFC6}"/>
              </a:ext>
            </a:extLst>
          </p:cNvPr>
          <p:cNvSpPr>
            <a:spLocks noChangeArrowheads="1"/>
          </p:cNvSpPr>
          <p:nvPr/>
        </p:nvSpPr>
        <p:spPr bwMode="auto">
          <a:xfrm>
            <a:off x="17463" y="5260975"/>
            <a:ext cx="8420100" cy="1368425"/>
          </a:xfrm>
          <a:prstGeom prst="rect">
            <a:avLst/>
          </a:prstGeom>
          <a:solidFill>
            <a:srgbClr val="FFFF00">
              <a:alpha val="30196"/>
            </a:srgbClr>
          </a:solidFill>
          <a:ln w="9525" algn="ctr">
            <a:solidFill>
              <a:srgbClr val="FFC000"/>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Suppose we would like to add a new subject to the relational database</a:t>
            </a:r>
          </a:p>
          <a:p>
            <a:pPr marL="742950" marR="0" lvl="1"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We would have to add a student together with the subject or set all the student columns to NULL</a:t>
            </a:r>
          </a:p>
          <a:p>
            <a:pPr marL="742950" marR="0" lvl="1"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The fact that we have to always enter student and subject data together is why this is an insertion anomaly</a:t>
            </a:r>
          </a:p>
        </p:txBody>
      </p:sp>
      <p:cxnSp>
        <p:nvCxnSpPr>
          <p:cNvPr id="13" name="Straight Connector 12">
            <a:extLst>
              <a:ext uri="{FF2B5EF4-FFF2-40B4-BE49-F238E27FC236}">
                <a16:creationId xmlns:a16="http://schemas.microsoft.com/office/drawing/2014/main" id="{28B0E782-A802-593C-5542-E51839843849}"/>
              </a:ext>
            </a:extLst>
          </p:cNvPr>
          <p:cNvCxnSpPr/>
          <p:nvPr/>
        </p:nvCxnSpPr>
        <p:spPr bwMode="auto">
          <a:xfrm flipV="1">
            <a:off x="230188" y="4505325"/>
            <a:ext cx="1382712" cy="0"/>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14" name="Straight Connector 13">
            <a:extLst>
              <a:ext uri="{FF2B5EF4-FFF2-40B4-BE49-F238E27FC236}">
                <a16:creationId xmlns:a16="http://schemas.microsoft.com/office/drawing/2014/main" id="{E03F3269-98CE-5D3A-A776-BA76D3B7981D}"/>
              </a:ext>
            </a:extLst>
          </p:cNvPr>
          <p:cNvCxnSpPr/>
          <p:nvPr/>
        </p:nvCxnSpPr>
        <p:spPr bwMode="auto">
          <a:xfrm flipV="1">
            <a:off x="4227513" y="4505325"/>
            <a:ext cx="1728787" cy="3175"/>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15" name="Title 1">
            <a:extLst>
              <a:ext uri="{FF2B5EF4-FFF2-40B4-BE49-F238E27FC236}">
                <a16:creationId xmlns:a16="http://schemas.microsoft.com/office/drawing/2014/main" id="{787C211F-FDA0-28F4-A20B-78F953284D5A}"/>
              </a:ext>
            </a:extLst>
          </p:cNvPr>
          <p:cNvSpPr>
            <a:spLocks noGrp="1"/>
          </p:cNvSpPr>
          <p:nvPr>
            <p:ph type="title"/>
          </p:nvPr>
        </p:nvSpPr>
        <p:spPr>
          <a:xfrm>
            <a:off x="457200" y="76200"/>
            <a:ext cx="7620000" cy="1143000"/>
          </a:xfrm>
        </p:spPr>
        <p:txBody>
          <a:bodyPr/>
          <a:lstStyle/>
          <a:p>
            <a:pPr algn="ctr">
              <a:defRPr/>
            </a:pPr>
            <a:r>
              <a:rPr lang="en-US" dirty="0"/>
              <a:t>Relational Database Normalization</a:t>
            </a:r>
            <a:endParaRPr lang="en-CA"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23">
                                            <p:txEl>
                                              <p:pRg st="0" end="0"/>
                                            </p:txEl>
                                          </p:spTgt>
                                        </p:tgtEl>
                                        <p:attrNameLst>
                                          <p:attrName>style.visibility</p:attrName>
                                        </p:attrNameLst>
                                      </p:cBhvr>
                                      <p:to>
                                        <p:strVal val="visible"/>
                                      </p:to>
                                    </p:set>
                                    <p:animEffect transition="in" filter="wipe(up)">
                                      <p:cBhvr>
                                        <p:cTn id="11" dur="500"/>
                                        <p:tgtEl>
                                          <p:spTgt spid="23">
                                            <p:txEl>
                                              <p:pRg st="0" end="0"/>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23">
                                            <p:txEl>
                                              <p:pRg st="2" end="2"/>
                                            </p:txEl>
                                          </p:spTgt>
                                        </p:tgtEl>
                                        <p:attrNameLst>
                                          <p:attrName>style.visibility</p:attrName>
                                        </p:attrNameLst>
                                      </p:cBhvr>
                                      <p:to>
                                        <p:strVal val="visible"/>
                                      </p:to>
                                    </p:set>
                                    <p:animEffect transition="in" filter="wipe(left)">
                                      <p:cBhvr>
                                        <p:cTn id="16" dur="500"/>
                                        <p:tgtEl>
                                          <p:spTgt spid="23">
                                            <p:txEl>
                                              <p:pRg st="2" end="2"/>
                                            </p:txEl>
                                          </p:spTgt>
                                        </p:tgtEl>
                                      </p:cBhvr>
                                    </p:animEffect>
                                  </p:childTnLst>
                                </p:cTn>
                              </p:par>
                            </p:childTnLst>
                          </p:cTn>
                        </p:par>
                        <p:par>
                          <p:cTn id="17" fill="hold" nodeType="afterGroup">
                            <p:stCondLst>
                              <p:cond delay="500"/>
                            </p:stCondLst>
                            <p:childTnLst>
                              <p:par>
                                <p:cTn id="18" presetID="22" presetClass="entr" presetSubtype="1" fill="hold" nodeType="after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wipe(up)">
                                      <p:cBhvr>
                                        <p:cTn id="20" dur="500"/>
                                        <p:tgtEl>
                                          <p:spTgt spid="16"/>
                                        </p:tgtEl>
                                      </p:cBhvr>
                                    </p:animEffect>
                                  </p:childTnLst>
                                </p:cTn>
                              </p:par>
                            </p:childTnLst>
                          </p:cTn>
                        </p:par>
                        <p:par>
                          <p:cTn id="21" fill="hold" nodeType="afterGroup">
                            <p:stCondLst>
                              <p:cond delay="1000"/>
                            </p:stCondLst>
                            <p:childTnLst>
                              <p:par>
                                <p:cTn id="22" presetID="22" presetClass="entr" presetSubtype="8"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wipe(left)">
                                      <p:cBhvr>
                                        <p:cTn id="24" dur="500"/>
                                        <p:tgtEl>
                                          <p:spTgt spid="13"/>
                                        </p:tgtEl>
                                      </p:cBhvr>
                                    </p:animEffect>
                                  </p:childTnLst>
                                </p:cTn>
                              </p:par>
                              <p:par>
                                <p:cTn id="25" presetID="22" presetClass="entr" presetSubtype="8"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wipe(left)">
                                      <p:cBhvr>
                                        <p:cTn id="27" dur="500"/>
                                        <p:tgtEl>
                                          <p:spTgt spid="1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24"/>
                                        </p:tgtEl>
                                        <p:attrNameLst>
                                          <p:attrName>style.visibility</p:attrName>
                                        </p:attrNameLst>
                                      </p:cBhvr>
                                      <p:to>
                                        <p:strVal val="visible"/>
                                      </p:to>
                                    </p:set>
                                    <p:animEffect transition="in" filter="wipe(up)">
                                      <p:cBhvr>
                                        <p:cTn id="32"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4" grpId="0" animBg="1"/>
    </p:bld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Content Placeholder 2">
            <a:extLst>
              <a:ext uri="{FF2B5EF4-FFF2-40B4-BE49-F238E27FC236}">
                <a16:creationId xmlns:a16="http://schemas.microsoft.com/office/drawing/2014/main" id="{E49F4666-4F50-4951-A38E-7A9EB20CD9BF}"/>
              </a:ext>
            </a:extLst>
          </p:cNvPr>
          <p:cNvSpPr txBox="1">
            <a:spLocks/>
          </p:cNvSpPr>
          <p:nvPr/>
        </p:nvSpPr>
        <p:spPr bwMode="auto">
          <a:xfrm>
            <a:off x="152400" y="1871663"/>
            <a:ext cx="815340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A deletion anomaly occurs when certain data are lost because of the deletion of other data</a:t>
            </a: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24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For example</a:t>
            </a: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sp>
        <p:nvSpPr>
          <p:cNvPr id="26" name="Snip Single Corner Rectangle 25">
            <a:extLst>
              <a:ext uri="{FF2B5EF4-FFF2-40B4-BE49-F238E27FC236}">
                <a16:creationId xmlns:a16="http://schemas.microsoft.com/office/drawing/2014/main" id="{EBE0C19C-2E94-E670-A866-801CFA1C36F1}"/>
              </a:ext>
            </a:extLst>
          </p:cNvPr>
          <p:cNvSpPr/>
          <p:nvPr/>
        </p:nvSpPr>
        <p:spPr>
          <a:xfrm>
            <a:off x="-22225" y="1503363"/>
            <a:ext cx="2232025" cy="401637"/>
          </a:xfrm>
          <a:prstGeom prst="snip1Rect">
            <a:avLst/>
          </a:prstGeom>
          <a:solidFill>
            <a:schemeClr val="tx1">
              <a:alpha val="70000"/>
            </a:schemeClr>
          </a:solidFill>
          <a:ln>
            <a:solidFill>
              <a:schemeClr val="tx1"/>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1800" b="0" i="0" u="none" strike="noStrike" kern="1200" cap="none" spc="0" normalizeH="0" baseline="0" noProof="0" dirty="0">
                <a:ln>
                  <a:noFill/>
                </a:ln>
                <a:solidFill>
                  <a:srgbClr val="FFFFFF"/>
                </a:solidFill>
                <a:effectLst/>
                <a:uLnTx/>
                <a:uFillTx/>
                <a:latin typeface="Calibri"/>
                <a:ea typeface="+mn-ea"/>
                <a:cs typeface="+mn-cs"/>
              </a:rPr>
              <a:t>Deletion Anomalies</a:t>
            </a:r>
          </a:p>
        </p:txBody>
      </p:sp>
      <p:sp>
        <p:nvSpPr>
          <p:cNvPr id="17" name="Rectangle 16">
            <a:extLst>
              <a:ext uri="{FF2B5EF4-FFF2-40B4-BE49-F238E27FC236}">
                <a16:creationId xmlns:a16="http://schemas.microsoft.com/office/drawing/2014/main" id="{1AE7E674-5FC3-E92D-7D93-E245312EDD65}"/>
              </a:ext>
            </a:extLst>
          </p:cNvPr>
          <p:cNvSpPr>
            <a:spLocks noChangeArrowheads="1"/>
          </p:cNvSpPr>
          <p:nvPr/>
        </p:nvSpPr>
        <p:spPr bwMode="auto">
          <a:xfrm>
            <a:off x="519113" y="5245100"/>
            <a:ext cx="7416800" cy="1379538"/>
          </a:xfrm>
          <a:prstGeom prst="rect">
            <a:avLst/>
          </a:prstGeom>
          <a:solidFill>
            <a:srgbClr val="FFFF00">
              <a:alpha val="30196"/>
            </a:srgbClr>
          </a:solidFill>
          <a:ln w="9525" algn="ctr">
            <a:solidFill>
              <a:srgbClr val="FFC000"/>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Suppose we would like to delete the student “Talha Amjad” If “Talha Amjad” is the only BSIT 201 student, then deleting the student would also delete the BSIT 201 subject as well</a:t>
            </a:r>
          </a:p>
          <a:p>
            <a:pPr marL="742950" marR="0" lvl="1"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The fact that the deletion of the last student cause subject data to be lost is why this is a deletion anomaly</a:t>
            </a:r>
          </a:p>
        </p:txBody>
      </p:sp>
      <p:graphicFrame>
        <p:nvGraphicFramePr>
          <p:cNvPr id="18" name="Table 17">
            <a:extLst>
              <a:ext uri="{FF2B5EF4-FFF2-40B4-BE49-F238E27FC236}">
                <a16:creationId xmlns:a16="http://schemas.microsoft.com/office/drawing/2014/main" id="{7384FCEC-7ABC-DFEA-7ED2-E60043627899}"/>
              </a:ext>
            </a:extLst>
          </p:cNvPr>
          <p:cNvGraphicFramePr>
            <a:graphicFrameLocks noGrp="1"/>
          </p:cNvGraphicFramePr>
          <p:nvPr/>
        </p:nvGraphicFramePr>
        <p:xfrm>
          <a:off x="44450" y="4032250"/>
          <a:ext cx="8366125" cy="977900"/>
        </p:xfrm>
        <a:graphic>
          <a:graphicData uri="http://schemas.openxmlformats.org/drawingml/2006/table">
            <a:tbl>
              <a:tblPr firstRow="1" bandRow="1">
                <a:tableStyleId>{D27102A9-8310-4765-A935-A1911B00CA55}</a:tableStyleId>
              </a:tblPr>
              <a:tblGrid>
                <a:gridCol w="1728297">
                  <a:extLst>
                    <a:ext uri="{9D8B030D-6E8A-4147-A177-3AD203B41FA5}">
                      <a16:colId xmlns:a16="http://schemas.microsoft.com/office/drawing/2014/main" val="20000"/>
                    </a:ext>
                  </a:extLst>
                </a:gridCol>
                <a:gridCol w="2304396">
                  <a:extLst>
                    <a:ext uri="{9D8B030D-6E8A-4147-A177-3AD203B41FA5}">
                      <a16:colId xmlns:a16="http://schemas.microsoft.com/office/drawing/2014/main" val="20001"/>
                    </a:ext>
                  </a:extLst>
                </a:gridCol>
                <a:gridCol w="2016346">
                  <a:extLst>
                    <a:ext uri="{9D8B030D-6E8A-4147-A177-3AD203B41FA5}">
                      <a16:colId xmlns:a16="http://schemas.microsoft.com/office/drawing/2014/main" val="20002"/>
                    </a:ext>
                  </a:extLst>
                </a:gridCol>
                <a:gridCol w="2317086">
                  <a:extLst>
                    <a:ext uri="{9D8B030D-6E8A-4147-A177-3AD203B41FA5}">
                      <a16:colId xmlns:a16="http://schemas.microsoft.com/office/drawing/2014/main" val="20003"/>
                    </a:ext>
                  </a:extLst>
                </a:gridCol>
              </a:tblGrid>
              <a:tr h="488950">
                <a:tc>
                  <a:txBody>
                    <a:bodyPr/>
                    <a:lstStyle/>
                    <a:p>
                      <a:pPr algn="ctr"/>
                      <a:r>
                        <a:rPr lang="en-CA" sz="1800" u="none" dirty="0"/>
                        <a:t>STUDENTID</a:t>
                      </a:r>
                    </a:p>
                  </a:txBody>
                  <a:tcPr marL="91446" marR="91446" marT="45701" marB="45701"/>
                </a:tc>
                <a:tc>
                  <a:txBody>
                    <a:bodyPr/>
                    <a:lstStyle/>
                    <a:p>
                      <a:pPr algn="ctr"/>
                      <a:r>
                        <a:rPr lang="en-CA" sz="1800" dirty="0"/>
                        <a:t>STUDENTNAME</a:t>
                      </a:r>
                    </a:p>
                  </a:txBody>
                  <a:tcPr marL="91446" marR="91446" marT="45701" marB="45701"/>
                </a:tc>
                <a:tc>
                  <a:txBody>
                    <a:bodyPr/>
                    <a:lstStyle/>
                    <a:p>
                      <a:pPr algn="ctr"/>
                      <a:r>
                        <a:rPr lang="en-CA" sz="1800" dirty="0"/>
                        <a:t>SUBJECTCODE</a:t>
                      </a:r>
                    </a:p>
                  </a:txBody>
                  <a:tcPr marL="91446" marR="91446" marT="45701" marB="45701"/>
                </a:tc>
                <a:tc>
                  <a:txBody>
                    <a:bodyPr/>
                    <a:lstStyle/>
                    <a:p>
                      <a:pPr algn="ctr"/>
                      <a:r>
                        <a:rPr lang="en-CA" sz="1800" dirty="0"/>
                        <a:t>SUBJECTNAME</a:t>
                      </a:r>
                    </a:p>
                  </a:txBody>
                  <a:tcPr marL="91446" marR="91446" marT="45701" marB="45701"/>
                </a:tc>
                <a:extLst>
                  <a:ext uri="{0D108BD9-81ED-4DB2-BD59-A6C34878D82A}">
                    <a16:rowId xmlns:a16="http://schemas.microsoft.com/office/drawing/2014/main" val="10000"/>
                  </a:ext>
                </a:extLst>
              </a:tr>
              <a:tr h="488950">
                <a:tc>
                  <a:txBody>
                    <a:bodyPr/>
                    <a:lstStyle/>
                    <a:p>
                      <a:pPr algn="ctr"/>
                      <a:r>
                        <a:rPr lang="en-CA" sz="1800" dirty="0"/>
                        <a:t>1234567</a:t>
                      </a:r>
                    </a:p>
                  </a:txBody>
                  <a:tcPr marL="91446" marR="91446" marT="45701" marB="45701"/>
                </a:tc>
                <a:tc>
                  <a:txBody>
                    <a:bodyPr/>
                    <a:lstStyle/>
                    <a:p>
                      <a:pPr algn="ctr"/>
                      <a:r>
                        <a:rPr lang="en-CA" sz="1800" dirty="0"/>
                        <a:t>Talha Amjad</a:t>
                      </a:r>
                    </a:p>
                  </a:txBody>
                  <a:tcPr marL="91446" marR="91446" marT="45701" marB="45701"/>
                </a:tc>
                <a:tc>
                  <a:txBody>
                    <a:bodyPr/>
                    <a:lstStyle/>
                    <a:p>
                      <a:pPr algn="ctr"/>
                      <a:r>
                        <a:rPr lang="en-CA" sz="1800" dirty="0"/>
                        <a:t>BSIT 201</a:t>
                      </a:r>
                    </a:p>
                  </a:txBody>
                  <a:tcPr marL="91446" marR="91446" marT="45701" marB="45701"/>
                </a:tc>
                <a:tc>
                  <a:txBody>
                    <a:bodyPr/>
                    <a:lstStyle/>
                    <a:p>
                      <a:pPr algn="ctr"/>
                      <a:r>
                        <a:rPr lang="en-CA" sz="1800" dirty="0"/>
                        <a:t>Database Concept</a:t>
                      </a:r>
                    </a:p>
                  </a:txBody>
                  <a:tcPr marL="91446" marR="91446" marT="45701" marB="45701"/>
                </a:tc>
                <a:extLst>
                  <a:ext uri="{0D108BD9-81ED-4DB2-BD59-A6C34878D82A}">
                    <a16:rowId xmlns:a16="http://schemas.microsoft.com/office/drawing/2014/main" val="10001"/>
                  </a:ext>
                </a:extLst>
              </a:tr>
            </a:tbl>
          </a:graphicData>
        </a:graphic>
      </p:graphicFrame>
      <p:cxnSp>
        <p:nvCxnSpPr>
          <p:cNvPr id="10" name="Straight Connector 9">
            <a:extLst>
              <a:ext uri="{FF2B5EF4-FFF2-40B4-BE49-F238E27FC236}">
                <a16:creationId xmlns:a16="http://schemas.microsoft.com/office/drawing/2014/main" id="{83BBDF58-FD24-EC7E-7A51-2CAA2DBF2533}"/>
              </a:ext>
            </a:extLst>
          </p:cNvPr>
          <p:cNvCxnSpPr/>
          <p:nvPr/>
        </p:nvCxnSpPr>
        <p:spPr bwMode="auto">
          <a:xfrm flipV="1">
            <a:off x="230188" y="4357688"/>
            <a:ext cx="1382712" cy="0"/>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11" name="Straight Connector 10">
            <a:extLst>
              <a:ext uri="{FF2B5EF4-FFF2-40B4-BE49-F238E27FC236}">
                <a16:creationId xmlns:a16="http://schemas.microsoft.com/office/drawing/2014/main" id="{8968B542-AB08-FA62-086F-21A51CBCCD46}"/>
              </a:ext>
            </a:extLst>
          </p:cNvPr>
          <p:cNvCxnSpPr/>
          <p:nvPr/>
        </p:nvCxnSpPr>
        <p:spPr bwMode="auto">
          <a:xfrm flipV="1">
            <a:off x="4227513" y="4357688"/>
            <a:ext cx="1728787" cy="1587"/>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13" name="Title 1">
            <a:extLst>
              <a:ext uri="{FF2B5EF4-FFF2-40B4-BE49-F238E27FC236}">
                <a16:creationId xmlns:a16="http://schemas.microsoft.com/office/drawing/2014/main" id="{97F45CE0-02E3-59CC-06F8-79B636470FAD}"/>
              </a:ext>
            </a:extLst>
          </p:cNvPr>
          <p:cNvSpPr>
            <a:spLocks noGrp="1"/>
          </p:cNvSpPr>
          <p:nvPr>
            <p:ph type="title"/>
          </p:nvPr>
        </p:nvSpPr>
        <p:spPr>
          <a:xfrm>
            <a:off x="457200" y="76200"/>
            <a:ext cx="7620000" cy="1143000"/>
          </a:xfrm>
        </p:spPr>
        <p:txBody>
          <a:bodyPr/>
          <a:lstStyle/>
          <a:p>
            <a:pPr algn="ctr">
              <a:defRPr/>
            </a:pPr>
            <a:r>
              <a:rPr lang="en-US" dirty="0"/>
              <a:t>Relational Database Normalization</a:t>
            </a:r>
            <a:endParaRPr lang="en-CA"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ipe(left)">
                                      <p:cBhvr>
                                        <p:cTn id="7" dur="500"/>
                                        <p:tgtEl>
                                          <p:spTgt spid="26"/>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23">
                                            <p:txEl>
                                              <p:pRg st="0" end="0"/>
                                            </p:txEl>
                                          </p:spTgt>
                                        </p:tgtEl>
                                        <p:attrNameLst>
                                          <p:attrName>style.visibility</p:attrName>
                                        </p:attrNameLst>
                                      </p:cBhvr>
                                      <p:to>
                                        <p:strVal val="visible"/>
                                      </p:to>
                                    </p:set>
                                    <p:animEffect transition="in" filter="wipe(up)">
                                      <p:cBhvr>
                                        <p:cTn id="11" dur="500"/>
                                        <p:tgtEl>
                                          <p:spTgt spid="23">
                                            <p:txEl>
                                              <p:pRg st="0" end="0"/>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23">
                                            <p:txEl>
                                              <p:pRg st="2" end="2"/>
                                            </p:txEl>
                                          </p:spTgt>
                                        </p:tgtEl>
                                        <p:attrNameLst>
                                          <p:attrName>style.visibility</p:attrName>
                                        </p:attrNameLst>
                                      </p:cBhvr>
                                      <p:to>
                                        <p:strVal val="visible"/>
                                      </p:to>
                                    </p:set>
                                    <p:animEffect transition="in" filter="wipe(left)">
                                      <p:cBhvr>
                                        <p:cTn id="16" dur="500"/>
                                        <p:tgtEl>
                                          <p:spTgt spid="23">
                                            <p:txEl>
                                              <p:pRg st="2" end="2"/>
                                            </p:txEl>
                                          </p:spTgt>
                                        </p:tgtEl>
                                      </p:cBhvr>
                                    </p:animEffect>
                                  </p:childTnLst>
                                </p:cTn>
                              </p:par>
                            </p:childTnLst>
                          </p:cTn>
                        </p:par>
                        <p:par>
                          <p:cTn id="17" fill="hold" nodeType="afterGroup">
                            <p:stCondLst>
                              <p:cond delay="500"/>
                            </p:stCondLst>
                            <p:childTnLst>
                              <p:par>
                                <p:cTn id="18" presetID="22" presetClass="entr" presetSubtype="1" fill="hold" nodeType="after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wipe(up)">
                                      <p:cBhvr>
                                        <p:cTn id="20" dur="500"/>
                                        <p:tgtEl>
                                          <p:spTgt spid="18"/>
                                        </p:tgtEl>
                                      </p:cBhvr>
                                    </p:animEffect>
                                  </p:childTnLst>
                                </p:cTn>
                              </p:par>
                            </p:childTnLst>
                          </p:cTn>
                        </p:par>
                        <p:par>
                          <p:cTn id="21" fill="hold" nodeType="afterGroup">
                            <p:stCondLst>
                              <p:cond delay="1000"/>
                            </p:stCondLst>
                            <p:childTnLst>
                              <p:par>
                                <p:cTn id="22" presetID="22" presetClass="entr" presetSubtype="8" fill="hold"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wipe(left)">
                                      <p:cBhvr>
                                        <p:cTn id="24" dur="500"/>
                                        <p:tgtEl>
                                          <p:spTgt spid="10"/>
                                        </p:tgtEl>
                                      </p:cBhvr>
                                    </p:animEffect>
                                  </p:childTnLst>
                                </p:cTn>
                              </p:par>
                              <p:par>
                                <p:cTn id="25" presetID="22" presetClass="entr" presetSubtype="8" fill="hold"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ipe(left)">
                                      <p:cBhvr>
                                        <p:cTn id="27" dur="500"/>
                                        <p:tgtEl>
                                          <p:spTgt spid="1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wipe(up)">
                                      <p:cBhvr>
                                        <p:cTn id="3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17" grpId="0" animBg="1"/>
    </p:bld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Content Placeholder 2">
            <a:extLst>
              <a:ext uri="{FF2B5EF4-FFF2-40B4-BE49-F238E27FC236}">
                <a16:creationId xmlns:a16="http://schemas.microsoft.com/office/drawing/2014/main" id="{9A95A3FE-979E-6E01-9B35-7651CA8ABD57}"/>
              </a:ext>
            </a:extLst>
          </p:cNvPr>
          <p:cNvSpPr txBox="1">
            <a:spLocks/>
          </p:cNvSpPr>
          <p:nvPr/>
        </p:nvSpPr>
        <p:spPr bwMode="auto">
          <a:xfrm>
            <a:off x="152400" y="1871663"/>
            <a:ext cx="815340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An update anomaly occurs when not all duplicated data are updated</a:t>
            </a: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20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For example</a:t>
            </a: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sp>
        <p:nvSpPr>
          <p:cNvPr id="12" name="Snip Single Corner Rectangle 11">
            <a:extLst>
              <a:ext uri="{FF2B5EF4-FFF2-40B4-BE49-F238E27FC236}">
                <a16:creationId xmlns:a16="http://schemas.microsoft.com/office/drawing/2014/main" id="{1667F834-4215-86D0-F887-D68D81A66EF8}"/>
              </a:ext>
            </a:extLst>
          </p:cNvPr>
          <p:cNvSpPr/>
          <p:nvPr/>
        </p:nvSpPr>
        <p:spPr>
          <a:xfrm>
            <a:off x="-30163" y="1503363"/>
            <a:ext cx="2087563" cy="401637"/>
          </a:xfrm>
          <a:prstGeom prst="snip1Rect">
            <a:avLst/>
          </a:prstGeom>
          <a:solidFill>
            <a:schemeClr val="tx2">
              <a:alpha val="70000"/>
            </a:schemeClr>
          </a:solidFill>
          <a:ln>
            <a:solidFill>
              <a:schemeClr val="tx2"/>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1800" b="0" i="0" u="none" strike="noStrike" kern="1200" cap="none" spc="0" normalizeH="0" baseline="0" noProof="0" dirty="0">
                <a:ln>
                  <a:noFill/>
                </a:ln>
                <a:solidFill>
                  <a:srgbClr val="FFFFFF"/>
                </a:solidFill>
                <a:effectLst/>
                <a:uLnTx/>
                <a:uFillTx/>
                <a:latin typeface="Calibri"/>
                <a:ea typeface="+mn-ea"/>
                <a:cs typeface="+mn-cs"/>
              </a:rPr>
              <a:t>Update Anomalies</a:t>
            </a:r>
          </a:p>
        </p:txBody>
      </p:sp>
      <p:graphicFrame>
        <p:nvGraphicFramePr>
          <p:cNvPr id="16" name="Table 15">
            <a:extLst>
              <a:ext uri="{FF2B5EF4-FFF2-40B4-BE49-F238E27FC236}">
                <a16:creationId xmlns:a16="http://schemas.microsoft.com/office/drawing/2014/main" id="{77AC2E53-79B6-E9FB-B683-3628F0F6726E}"/>
              </a:ext>
            </a:extLst>
          </p:cNvPr>
          <p:cNvGraphicFramePr>
            <a:graphicFrameLocks noGrp="1"/>
          </p:cNvGraphicFramePr>
          <p:nvPr/>
        </p:nvGraphicFramePr>
        <p:xfrm>
          <a:off x="76200" y="3933825"/>
          <a:ext cx="8305800" cy="1466850"/>
        </p:xfrm>
        <a:graphic>
          <a:graphicData uri="http://schemas.openxmlformats.org/drawingml/2006/table">
            <a:tbl>
              <a:tblPr firstRow="1" bandRow="1">
                <a:tableStyleId>{C083E6E3-FA7D-4D7B-A595-EF9225AFEA82}</a:tableStyleId>
              </a:tblPr>
              <a:tblGrid>
                <a:gridCol w="1587831">
                  <a:extLst>
                    <a:ext uri="{9D8B030D-6E8A-4147-A177-3AD203B41FA5}">
                      <a16:colId xmlns:a16="http://schemas.microsoft.com/office/drawing/2014/main" val="20000"/>
                    </a:ext>
                  </a:extLst>
                </a:gridCol>
                <a:gridCol w="2006978">
                  <a:extLst>
                    <a:ext uri="{9D8B030D-6E8A-4147-A177-3AD203B41FA5}">
                      <a16:colId xmlns:a16="http://schemas.microsoft.com/office/drawing/2014/main" val="20001"/>
                    </a:ext>
                  </a:extLst>
                </a:gridCol>
                <a:gridCol w="2023078">
                  <a:extLst>
                    <a:ext uri="{9D8B030D-6E8A-4147-A177-3AD203B41FA5}">
                      <a16:colId xmlns:a16="http://schemas.microsoft.com/office/drawing/2014/main" val="20002"/>
                    </a:ext>
                  </a:extLst>
                </a:gridCol>
                <a:gridCol w="2687913">
                  <a:extLst>
                    <a:ext uri="{9D8B030D-6E8A-4147-A177-3AD203B41FA5}">
                      <a16:colId xmlns:a16="http://schemas.microsoft.com/office/drawing/2014/main" val="20003"/>
                    </a:ext>
                  </a:extLst>
                </a:gridCol>
              </a:tblGrid>
              <a:tr h="488950">
                <a:tc>
                  <a:txBody>
                    <a:bodyPr/>
                    <a:lstStyle/>
                    <a:p>
                      <a:pPr algn="ctr"/>
                      <a:r>
                        <a:rPr lang="en-CA" sz="1800" u="none" dirty="0"/>
                        <a:t>STUDENTID</a:t>
                      </a:r>
                    </a:p>
                  </a:txBody>
                  <a:tcPr marL="91432" marR="91432" marT="45701" marB="45701"/>
                </a:tc>
                <a:tc>
                  <a:txBody>
                    <a:bodyPr/>
                    <a:lstStyle/>
                    <a:p>
                      <a:pPr algn="ctr"/>
                      <a:r>
                        <a:rPr lang="en-CA" sz="1800" dirty="0"/>
                        <a:t>STUDENTNAME</a:t>
                      </a:r>
                    </a:p>
                  </a:txBody>
                  <a:tcPr marL="91432" marR="91432" marT="45701" marB="45701"/>
                </a:tc>
                <a:tc>
                  <a:txBody>
                    <a:bodyPr/>
                    <a:lstStyle/>
                    <a:p>
                      <a:pPr algn="ctr"/>
                      <a:r>
                        <a:rPr lang="en-CA" sz="1800" dirty="0"/>
                        <a:t>SUBJECTCODE</a:t>
                      </a:r>
                    </a:p>
                  </a:txBody>
                  <a:tcPr marL="91432" marR="91432" marT="45701" marB="45701"/>
                </a:tc>
                <a:tc>
                  <a:txBody>
                    <a:bodyPr/>
                    <a:lstStyle/>
                    <a:p>
                      <a:pPr algn="ctr"/>
                      <a:r>
                        <a:rPr lang="en-CA" sz="1800" dirty="0"/>
                        <a:t>SUBJECTNAME</a:t>
                      </a:r>
                    </a:p>
                  </a:txBody>
                  <a:tcPr marL="91432" marR="91432" marT="45701" marB="45701"/>
                </a:tc>
                <a:extLst>
                  <a:ext uri="{0D108BD9-81ED-4DB2-BD59-A6C34878D82A}">
                    <a16:rowId xmlns:a16="http://schemas.microsoft.com/office/drawing/2014/main" val="10000"/>
                  </a:ext>
                </a:extLst>
              </a:tr>
              <a:tr h="488950">
                <a:tc>
                  <a:txBody>
                    <a:bodyPr/>
                    <a:lstStyle/>
                    <a:p>
                      <a:pPr algn="ctr"/>
                      <a:r>
                        <a:rPr lang="en-CA" sz="1800" dirty="0"/>
                        <a:t>1234567</a:t>
                      </a:r>
                    </a:p>
                  </a:txBody>
                  <a:tcPr marL="91432" marR="91432" marT="45701" marB="45701"/>
                </a:tc>
                <a:tc>
                  <a:txBody>
                    <a:bodyPr/>
                    <a:lstStyle/>
                    <a:p>
                      <a:pPr algn="ctr"/>
                      <a:r>
                        <a:rPr lang="en-CA" sz="1800" dirty="0"/>
                        <a:t>Ehsan</a:t>
                      </a:r>
                      <a:r>
                        <a:rPr lang="en-CA" sz="1800" baseline="0" dirty="0"/>
                        <a:t> </a:t>
                      </a:r>
                      <a:r>
                        <a:rPr lang="en-CA" sz="1800" dirty="0"/>
                        <a:t>Adil</a:t>
                      </a:r>
                    </a:p>
                  </a:txBody>
                  <a:tcPr marL="91432" marR="91432" marT="45701" marB="45701"/>
                </a:tc>
                <a:tc>
                  <a:txBody>
                    <a:bodyPr/>
                    <a:lstStyle/>
                    <a:p>
                      <a:pPr algn="ctr"/>
                      <a:r>
                        <a:rPr lang="en-CA" sz="1800" dirty="0"/>
                        <a:t>BSIT 201</a:t>
                      </a:r>
                    </a:p>
                  </a:txBody>
                  <a:tcPr marL="91432" marR="91432" marT="45701" marB="45701"/>
                </a:tc>
                <a:tc>
                  <a:txBody>
                    <a:bodyPr/>
                    <a:lstStyle/>
                    <a:p>
                      <a:pPr algn="ctr"/>
                      <a:r>
                        <a:rPr lang="en-CA" sz="1800" dirty="0"/>
                        <a:t>Database Concept</a:t>
                      </a:r>
                    </a:p>
                  </a:txBody>
                  <a:tcPr marL="91432" marR="91432" marT="45701" marB="45701"/>
                </a:tc>
                <a:extLst>
                  <a:ext uri="{0D108BD9-81ED-4DB2-BD59-A6C34878D82A}">
                    <a16:rowId xmlns:a16="http://schemas.microsoft.com/office/drawing/2014/main" val="10001"/>
                  </a:ext>
                </a:extLst>
              </a:tr>
              <a:tr h="488950">
                <a:tc>
                  <a:txBody>
                    <a:bodyPr/>
                    <a:lstStyle/>
                    <a:p>
                      <a:pPr algn="ctr"/>
                      <a:r>
                        <a:rPr lang="en-CA" sz="1800" dirty="0"/>
                        <a:t>1234567</a:t>
                      </a:r>
                    </a:p>
                  </a:txBody>
                  <a:tcPr marL="91432" marR="91432" marT="45701" marB="45701"/>
                </a:tc>
                <a:tc>
                  <a:txBody>
                    <a:bodyPr/>
                    <a:lstStyle/>
                    <a:p>
                      <a:pPr algn="ctr"/>
                      <a:r>
                        <a:rPr lang="en-CA" sz="1800" dirty="0"/>
                        <a:t>Ehsan</a:t>
                      </a:r>
                      <a:r>
                        <a:rPr lang="en-CA" sz="1800" baseline="0" dirty="0"/>
                        <a:t> </a:t>
                      </a:r>
                      <a:r>
                        <a:rPr lang="en-CA" sz="1800" dirty="0"/>
                        <a:t>Adil</a:t>
                      </a:r>
                    </a:p>
                  </a:txBody>
                  <a:tcPr marL="91432" marR="91432" marT="45701" marB="45701"/>
                </a:tc>
                <a:tc>
                  <a:txBody>
                    <a:bodyPr/>
                    <a:lstStyle/>
                    <a:p>
                      <a:pPr algn="ctr"/>
                      <a:r>
                        <a:rPr lang="en-CA" sz="1800" dirty="0"/>
                        <a:t>BSIT 301</a:t>
                      </a:r>
                    </a:p>
                  </a:txBody>
                  <a:tcPr marL="91432" marR="91432" marT="45701" marB="45701"/>
                </a:tc>
                <a:tc>
                  <a:txBody>
                    <a:bodyPr/>
                    <a:lstStyle/>
                    <a:p>
                      <a:pPr algn="ctr"/>
                      <a:r>
                        <a:rPr lang="en-CA" sz="1800" dirty="0"/>
                        <a:t>Business Mathematics</a:t>
                      </a:r>
                    </a:p>
                  </a:txBody>
                  <a:tcPr marL="91432" marR="91432" marT="45701" marB="45701"/>
                </a:tc>
                <a:extLst>
                  <a:ext uri="{0D108BD9-81ED-4DB2-BD59-A6C34878D82A}">
                    <a16:rowId xmlns:a16="http://schemas.microsoft.com/office/drawing/2014/main" val="10002"/>
                  </a:ext>
                </a:extLst>
              </a:tr>
            </a:tbl>
          </a:graphicData>
        </a:graphic>
      </p:graphicFrame>
      <p:sp>
        <p:nvSpPr>
          <p:cNvPr id="19" name="Rectangle 18">
            <a:extLst>
              <a:ext uri="{FF2B5EF4-FFF2-40B4-BE49-F238E27FC236}">
                <a16:creationId xmlns:a16="http://schemas.microsoft.com/office/drawing/2014/main" id="{47FE0FA3-6394-B532-5D76-23FB3932ED7E}"/>
              </a:ext>
            </a:extLst>
          </p:cNvPr>
          <p:cNvSpPr>
            <a:spLocks noChangeArrowheads="1"/>
          </p:cNvSpPr>
          <p:nvPr/>
        </p:nvSpPr>
        <p:spPr bwMode="auto">
          <a:xfrm>
            <a:off x="595313" y="5616575"/>
            <a:ext cx="7416800" cy="936625"/>
          </a:xfrm>
          <a:prstGeom prst="rect">
            <a:avLst/>
          </a:prstGeom>
          <a:solidFill>
            <a:srgbClr val="FFFF00">
              <a:alpha val="30196"/>
            </a:srgbClr>
          </a:solidFill>
          <a:ln w="9525" algn="ctr">
            <a:solidFill>
              <a:srgbClr val="FFC000"/>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Suppose we would like to correct the misspelling</a:t>
            </a:r>
          </a:p>
          <a:p>
            <a:pPr marL="742950" marR="0" lvl="1"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If we forgot to update one of the rows, this would lead to data inconsistency (two different spellings of student’s name)</a:t>
            </a:r>
          </a:p>
        </p:txBody>
      </p:sp>
      <p:cxnSp>
        <p:nvCxnSpPr>
          <p:cNvPr id="10" name="Straight Connector 9">
            <a:extLst>
              <a:ext uri="{FF2B5EF4-FFF2-40B4-BE49-F238E27FC236}">
                <a16:creationId xmlns:a16="http://schemas.microsoft.com/office/drawing/2014/main" id="{C9C7FD43-6A64-3E62-C602-F728D41B3E03}"/>
              </a:ext>
            </a:extLst>
          </p:cNvPr>
          <p:cNvCxnSpPr/>
          <p:nvPr/>
        </p:nvCxnSpPr>
        <p:spPr bwMode="auto">
          <a:xfrm flipV="1">
            <a:off x="152400" y="4260850"/>
            <a:ext cx="1381125" cy="0"/>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11" name="Straight Connector 10">
            <a:extLst>
              <a:ext uri="{FF2B5EF4-FFF2-40B4-BE49-F238E27FC236}">
                <a16:creationId xmlns:a16="http://schemas.microsoft.com/office/drawing/2014/main" id="{6DDAD922-289B-6E20-973F-784FE25E3E01}"/>
              </a:ext>
            </a:extLst>
          </p:cNvPr>
          <p:cNvCxnSpPr/>
          <p:nvPr/>
        </p:nvCxnSpPr>
        <p:spPr bwMode="auto">
          <a:xfrm flipV="1">
            <a:off x="3887788" y="4260850"/>
            <a:ext cx="1728787" cy="1588"/>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14" name="Oval 13">
            <a:extLst>
              <a:ext uri="{FF2B5EF4-FFF2-40B4-BE49-F238E27FC236}">
                <a16:creationId xmlns:a16="http://schemas.microsoft.com/office/drawing/2014/main" id="{036714DC-38EE-A56F-8111-F187F327A0E2}"/>
              </a:ext>
            </a:extLst>
          </p:cNvPr>
          <p:cNvSpPr>
            <a:spLocks noChangeArrowheads="1"/>
          </p:cNvSpPr>
          <p:nvPr/>
        </p:nvSpPr>
        <p:spPr bwMode="auto">
          <a:xfrm>
            <a:off x="1855788" y="4368800"/>
            <a:ext cx="1655762" cy="504825"/>
          </a:xfrm>
          <a:prstGeom prst="ellipse">
            <a:avLst/>
          </a:prstGeom>
          <a:noFill/>
          <a:ln w="254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endParaRPr>
          </a:p>
        </p:txBody>
      </p:sp>
      <p:sp>
        <p:nvSpPr>
          <p:cNvPr id="17" name="Oval 16">
            <a:extLst>
              <a:ext uri="{FF2B5EF4-FFF2-40B4-BE49-F238E27FC236}">
                <a16:creationId xmlns:a16="http://schemas.microsoft.com/office/drawing/2014/main" id="{69F28A1E-64C7-5BD5-A82F-104AF909BDD2}"/>
              </a:ext>
            </a:extLst>
          </p:cNvPr>
          <p:cNvSpPr>
            <a:spLocks noChangeArrowheads="1"/>
          </p:cNvSpPr>
          <p:nvPr/>
        </p:nvSpPr>
        <p:spPr bwMode="auto">
          <a:xfrm>
            <a:off x="1855788" y="4873625"/>
            <a:ext cx="1655762" cy="503238"/>
          </a:xfrm>
          <a:prstGeom prst="ellipse">
            <a:avLst/>
          </a:prstGeom>
          <a:noFill/>
          <a:ln w="254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endParaRPr>
          </a:p>
        </p:txBody>
      </p:sp>
      <p:grpSp>
        <p:nvGrpSpPr>
          <p:cNvPr id="2" name="Group 17">
            <a:extLst>
              <a:ext uri="{FF2B5EF4-FFF2-40B4-BE49-F238E27FC236}">
                <a16:creationId xmlns:a16="http://schemas.microsoft.com/office/drawing/2014/main" id="{60A5A6CA-2507-69F6-8279-43641841FF9A}"/>
              </a:ext>
            </a:extLst>
          </p:cNvPr>
          <p:cNvGrpSpPr>
            <a:grpSpLocks/>
          </p:cNvGrpSpPr>
          <p:nvPr/>
        </p:nvGrpSpPr>
        <p:grpSpPr bwMode="auto">
          <a:xfrm>
            <a:off x="2690813" y="2960688"/>
            <a:ext cx="4689475" cy="1957387"/>
            <a:chOff x="2958846" y="2788451"/>
            <a:chExt cx="4689781" cy="1958814"/>
          </a:xfrm>
        </p:grpSpPr>
        <p:grpSp>
          <p:nvGrpSpPr>
            <p:cNvPr id="14363" name="Group 19">
              <a:extLst>
                <a:ext uri="{FF2B5EF4-FFF2-40B4-BE49-F238E27FC236}">
                  <a16:creationId xmlns:a16="http://schemas.microsoft.com/office/drawing/2014/main" id="{81007A11-74A8-CD65-A63B-9B6B032C28DB}"/>
                </a:ext>
              </a:extLst>
            </p:cNvPr>
            <p:cNvGrpSpPr>
              <a:grpSpLocks/>
            </p:cNvGrpSpPr>
            <p:nvPr/>
          </p:nvGrpSpPr>
          <p:grpSpPr bwMode="auto">
            <a:xfrm>
              <a:off x="2958846" y="2788451"/>
              <a:ext cx="4689781" cy="1408887"/>
              <a:chOff x="1542411" y="8550355"/>
              <a:chExt cx="4689781" cy="1408887"/>
            </a:xfrm>
          </p:grpSpPr>
          <p:sp>
            <p:nvSpPr>
              <p:cNvPr id="26" name="TextBox 25">
                <a:extLst>
                  <a:ext uri="{FF2B5EF4-FFF2-40B4-BE49-F238E27FC236}">
                    <a16:creationId xmlns:a16="http://schemas.microsoft.com/office/drawing/2014/main" id="{35EBA795-F9C8-E220-DBB9-3054A498378B}"/>
                  </a:ext>
                </a:extLst>
              </p:cNvPr>
              <p:cNvSpPr txBox="1"/>
              <p:nvPr/>
            </p:nvSpPr>
            <p:spPr>
              <a:xfrm>
                <a:off x="1542411" y="8550355"/>
                <a:ext cx="4689781" cy="714896"/>
              </a:xfrm>
              <a:prstGeom prst="roundRect">
                <a:avLst/>
              </a:prstGeom>
              <a:ln/>
            </p:spPr>
            <p:style>
              <a:lnRef idx="1">
                <a:schemeClr val="accent1"/>
              </a:lnRef>
              <a:fillRef idx="2">
                <a:schemeClr val="accent1"/>
              </a:fillRef>
              <a:effectRef idx="1">
                <a:schemeClr val="accent1"/>
              </a:effectRef>
              <a:fontRef idx="minor">
                <a:schemeClr val="dk1"/>
              </a:fontRef>
            </p:style>
            <p:txBody>
              <a:bodyP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1800" b="0" i="0" u="none" strike="noStrike" kern="1200" cap="none" spc="0" normalizeH="0" baseline="0" noProof="0" dirty="0">
                    <a:ln>
                      <a:noFill/>
                    </a:ln>
                    <a:solidFill>
                      <a:srgbClr val="2F2B20"/>
                    </a:solidFill>
                    <a:effectLst/>
                    <a:uLnTx/>
                    <a:uFillTx/>
                    <a:latin typeface="Calibri"/>
                    <a:ea typeface="+mn-ea"/>
                    <a:cs typeface="+mn-cs"/>
                  </a:rPr>
                  <a:t>Student name is “Ehsan Adeel” not “Ehsan Adil”</a:t>
                </a:r>
              </a:p>
            </p:txBody>
          </p:sp>
          <p:cxnSp>
            <p:nvCxnSpPr>
              <p:cNvPr id="27" name="Straight Arrow Connector 26">
                <a:extLst>
                  <a:ext uri="{FF2B5EF4-FFF2-40B4-BE49-F238E27FC236}">
                    <a16:creationId xmlns:a16="http://schemas.microsoft.com/office/drawing/2014/main" id="{684916CF-578A-B325-3352-058342C071F2}"/>
                  </a:ext>
                </a:extLst>
              </p:cNvPr>
              <p:cNvCxnSpPr/>
              <p:nvPr/>
            </p:nvCxnSpPr>
            <p:spPr bwMode="auto">
              <a:xfrm flipH="1">
                <a:off x="2218730" y="9265251"/>
                <a:ext cx="865243" cy="694243"/>
              </a:xfrm>
              <a:prstGeom prst="straightConnector1">
                <a:avLst/>
              </a:prstGeom>
              <a:ln>
                <a:headEnd type="none" w="med" len="med"/>
                <a:tailEnd type="triangle"/>
              </a:ln>
            </p:spPr>
            <p:style>
              <a:lnRef idx="1">
                <a:schemeClr val="accent1"/>
              </a:lnRef>
              <a:fillRef idx="2">
                <a:schemeClr val="accent1"/>
              </a:fillRef>
              <a:effectRef idx="1">
                <a:schemeClr val="accent1"/>
              </a:effectRef>
              <a:fontRef idx="minor">
                <a:schemeClr val="dk1"/>
              </a:fontRef>
            </p:style>
          </p:cxnSp>
        </p:grpSp>
        <p:cxnSp>
          <p:nvCxnSpPr>
            <p:cNvPr id="21" name="Straight Arrow Connector 20">
              <a:extLst>
                <a:ext uri="{FF2B5EF4-FFF2-40B4-BE49-F238E27FC236}">
                  <a16:creationId xmlns:a16="http://schemas.microsoft.com/office/drawing/2014/main" id="{BB7C768E-4232-4424-0ACF-D517C083E6B0}"/>
                </a:ext>
              </a:extLst>
            </p:cNvPr>
            <p:cNvCxnSpPr/>
            <p:nvPr/>
          </p:nvCxnSpPr>
          <p:spPr bwMode="auto">
            <a:xfrm flipH="1">
              <a:off x="3779637" y="3503347"/>
              <a:ext cx="720772" cy="1243918"/>
            </a:xfrm>
            <a:prstGeom prst="straightConnector1">
              <a:avLst/>
            </a:prstGeom>
            <a:ln>
              <a:headEnd type="none" w="med" len="med"/>
              <a:tailEnd type="triangle"/>
            </a:ln>
          </p:spPr>
          <p:style>
            <a:lnRef idx="1">
              <a:schemeClr val="accent1"/>
            </a:lnRef>
            <a:fillRef idx="2">
              <a:schemeClr val="accent1"/>
            </a:fillRef>
            <a:effectRef idx="1">
              <a:schemeClr val="accent1"/>
            </a:effectRef>
            <a:fontRef idx="minor">
              <a:schemeClr val="dk1"/>
            </a:fontRef>
          </p:style>
        </p:cxnSp>
      </p:grpSp>
      <p:sp>
        <p:nvSpPr>
          <p:cNvPr id="28" name="Title 1">
            <a:extLst>
              <a:ext uri="{FF2B5EF4-FFF2-40B4-BE49-F238E27FC236}">
                <a16:creationId xmlns:a16="http://schemas.microsoft.com/office/drawing/2014/main" id="{EA5FABDE-99D2-967D-09D1-BC8C5038A888}"/>
              </a:ext>
            </a:extLst>
          </p:cNvPr>
          <p:cNvSpPr>
            <a:spLocks noGrp="1"/>
          </p:cNvSpPr>
          <p:nvPr>
            <p:ph type="title"/>
          </p:nvPr>
        </p:nvSpPr>
        <p:spPr>
          <a:xfrm>
            <a:off x="457200" y="76200"/>
            <a:ext cx="7620000" cy="1143000"/>
          </a:xfrm>
        </p:spPr>
        <p:txBody>
          <a:bodyPr/>
          <a:lstStyle/>
          <a:p>
            <a:pPr algn="ctr">
              <a:defRPr/>
            </a:pPr>
            <a:r>
              <a:rPr lang="en-US" dirty="0"/>
              <a:t>Relational Database Normalization</a:t>
            </a:r>
            <a:endParaRPr lang="en-CA"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23">
                                            <p:txEl>
                                              <p:pRg st="0" end="0"/>
                                            </p:txEl>
                                          </p:spTgt>
                                        </p:tgtEl>
                                        <p:attrNameLst>
                                          <p:attrName>style.visibility</p:attrName>
                                        </p:attrNameLst>
                                      </p:cBhvr>
                                      <p:to>
                                        <p:strVal val="visible"/>
                                      </p:to>
                                    </p:set>
                                    <p:animEffect transition="in" filter="wipe(up)">
                                      <p:cBhvr>
                                        <p:cTn id="11" dur="500"/>
                                        <p:tgtEl>
                                          <p:spTgt spid="23">
                                            <p:txEl>
                                              <p:pRg st="0" end="0"/>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23">
                                            <p:txEl>
                                              <p:pRg st="2" end="2"/>
                                            </p:txEl>
                                          </p:spTgt>
                                        </p:tgtEl>
                                        <p:attrNameLst>
                                          <p:attrName>style.visibility</p:attrName>
                                        </p:attrNameLst>
                                      </p:cBhvr>
                                      <p:to>
                                        <p:strVal val="visible"/>
                                      </p:to>
                                    </p:set>
                                    <p:animEffect transition="in" filter="wipe(left)">
                                      <p:cBhvr>
                                        <p:cTn id="16" dur="500"/>
                                        <p:tgtEl>
                                          <p:spTgt spid="23">
                                            <p:txEl>
                                              <p:pRg st="2" end="2"/>
                                            </p:txEl>
                                          </p:spTgt>
                                        </p:tgtEl>
                                      </p:cBhvr>
                                    </p:animEffect>
                                  </p:childTnLst>
                                </p:cTn>
                              </p:par>
                            </p:childTnLst>
                          </p:cTn>
                        </p:par>
                        <p:par>
                          <p:cTn id="17" fill="hold" nodeType="afterGroup">
                            <p:stCondLst>
                              <p:cond delay="500"/>
                            </p:stCondLst>
                            <p:childTnLst>
                              <p:par>
                                <p:cTn id="18" presetID="22" presetClass="entr" presetSubtype="1" fill="hold" nodeType="after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wipe(up)">
                                      <p:cBhvr>
                                        <p:cTn id="20" dur="500"/>
                                        <p:tgtEl>
                                          <p:spTgt spid="16"/>
                                        </p:tgtEl>
                                      </p:cBhvr>
                                    </p:animEffect>
                                  </p:childTnLst>
                                </p:cTn>
                              </p:par>
                            </p:childTnLst>
                          </p:cTn>
                        </p:par>
                        <p:par>
                          <p:cTn id="21" fill="hold" nodeType="afterGroup">
                            <p:stCondLst>
                              <p:cond delay="1000"/>
                            </p:stCondLst>
                            <p:childTnLst>
                              <p:par>
                                <p:cTn id="22" presetID="22" presetClass="entr" presetSubtype="8" fill="hold"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wipe(left)">
                                      <p:cBhvr>
                                        <p:cTn id="24" dur="500"/>
                                        <p:tgtEl>
                                          <p:spTgt spid="10"/>
                                        </p:tgtEl>
                                      </p:cBhvr>
                                    </p:animEffect>
                                  </p:childTnLst>
                                </p:cTn>
                              </p:par>
                              <p:par>
                                <p:cTn id="25" presetID="22" presetClass="entr" presetSubtype="8" fill="hold"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ipe(left)">
                                      <p:cBhvr>
                                        <p:cTn id="27" dur="500"/>
                                        <p:tgtEl>
                                          <p:spTgt spid="1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1" presetClass="entr" presetSubtype="1" fill="hold" grpId="0"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wheel(1)">
                                      <p:cBhvr>
                                        <p:cTn id="32" dur="1000"/>
                                        <p:tgtEl>
                                          <p:spTgt spid="14"/>
                                        </p:tgtEl>
                                      </p:cBhvr>
                                    </p:animEffect>
                                  </p:childTnLst>
                                </p:cTn>
                              </p:par>
                              <p:par>
                                <p:cTn id="33" presetID="21" presetClass="entr" presetSubtype="1"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wheel(1)">
                                      <p:cBhvr>
                                        <p:cTn id="35" dur="1000"/>
                                        <p:tgtEl>
                                          <p:spTgt spid="17"/>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1" fill="hold" nodeType="clickEffect">
                                  <p:stCondLst>
                                    <p:cond delay="0"/>
                                  </p:stCondLst>
                                  <p:childTnLst>
                                    <p:set>
                                      <p:cBhvr>
                                        <p:cTn id="39" dur="1" fill="hold">
                                          <p:stCondLst>
                                            <p:cond delay="0"/>
                                          </p:stCondLst>
                                        </p:cTn>
                                        <p:tgtEl>
                                          <p:spTgt spid="2"/>
                                        </p:tgtEl>
                                        <p:attrNameLst>
                                          <p:attrName>style.visibility</p:attrName>
                                        </p:attrNameLst>
                                      </p:cBhvr>
                                      <p:to>
                                        <p:strVal val="visible"/>
                                      </p:to>
                                    </p:set>
                                    <p:animEffect transition="in" filter="wipe(up)">
                                      <p:cBhvr>
                                        <p:cTn id="40" dur="500"/>
                                        <p:tgtEl>
                                          <p:spTgt spid="2"/>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1" fill="hold" grpId="0" nodeType="clickEffect">
                                  <p:stCondLst>
                                    <p:cond delay="0"/>
                                  </p:stCondLst>
                                  <p:childTnLst>
                                    <p:set>
                                      <p:cBhvr>
                                        <p:cTn id="44" dur="1" fill="hold">
                                          <p:stCondLst>
                                            <p:cond delay="0"/>
                                          </p:stCondLst>
                                        </p:cTn>
                                        <p:tgtEl>
                                          <p:spTgt spid="19"/>
                                        </p:tgtEl>
                                        <p:attrNameLst>
                                          <p:attrName>style.visibility</p:attrName>
                                        </p:attrNameLst>
                                      </p:cBhvr>
                                      <p:to>
                                        <p:strVal val="visible"/>
                                      </p:to>
                                    </p:set>
                                    <p:animEffect transition="in" filter="wipe(up)">
                                      <p:cBhvr>
                                        <p:cTn id="45"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9" grpId="0" animBg="1"/>
      <p:bldP spid="14" grpId="0" animBg="1"/>
      <p:bldP spid="17" grpId="0" animBg="1"/>
    </p:bld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Content Placeholder 2">
            <a:extLst>
              <a:ext uri="{FF2B5EF4-FFF2-40B4-BE49-F238E27FC236}">
                <a16:creationId xmlns:a16="http://schemas.microsoft.com/office/drawing/2014/main" id="{A34A91E4-CDFD-5876-2E9E-5CBAA019E3DE}"/>
              </a:ext>
            </a:extLst>
          </p:cNvPr>
          <p:cNvSpPr txBox="1">
            <a:spLocks/>
          </p:cNvSpPr>
          <p:nvPr/>
        </p:nvSpPr>
        <p:spPr bwMode="auto">
          <a:xfrm>
            <a:off x="180975" y="1739900"/>
            <a:ext cx="8172450"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One of the key concepts behind normalization is functional dependency</a:t>
            </a: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6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Functional dependency states that</a:t>
            </a: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sp>
        <p:nvSpPr>
          <p:cNvPr id="16" name="Title 1">
            <a:extLst>
              <a:ext uri="{FF2B5EF4-FFF2-40B4-BE49-F238E27FC236}">
                <a16:creationId xmlns:a16="http://schemas.microsoft.com/office/drawing/2014/main" id="{2D189FC8-D047-A657-5C59-3FB85FF2AF66}"/>
              </a:ext>
            </a:extLst>
          </p:cNvPr>
          <p:cNvSpPr txBox="1">
            <a:spLocks/>
          </p:cNvSpPr>
          <p:nvPr/>
        </p:nvSpPr>
        <p:spPr bwMode="auto">
          <a:xfrm>
            <a:off x="57150" y="1504950"/>
            <a:ext cx="2686050" cy="323850"/>
          </a:xfrm>
          <a:prstGeom prst="rect">
            <a:avLst/>
          </a:prstGeom>
          <a:noFill/>
          <a:ln w="9525">
            <a:noFill/>
            <a:miter lim="800000"/>
            <a:headEnd/>
            <a:tailEnd/>
          </a:ln>
        </p:spPr>
        <p:txBody>
          <a:bodyPr lIns="72000" tIns="0" rIns="72000" bIns="0"/>
          <a:lstStyle/>
          <a:p>
            <a:pPr marL="0" marR="0" lvl="0" indent="0" algn="l" defTabSz="720000" rtl="0" eaLnBrk="1" fontAlgn="base" latinLnBrk="0" hangingPunct="1">
              <a:lnSpc>
                <a:spcPts val="1800"/>
              </a:lnSpc>
              <a:spcBef>
                <a:spcPts val="0"/>
              </a:spcBef>
              <a:spcAft>
                <a:spcPts val="0"/>
              </a:spcAft>
              <a:buClrTx/>
              <a:buSzTx/>
              <a:buFontTx/>
              <a:buNone/>
              <a:tabLst>
                <a:tab pos="0" algn="l"/>
              </a:tabLst>
              <a:defRPr/>
            </a:pPr>
            <a:r>
              <a:rPr kumimoji="0" lang="en-US" sz="1800" b="1" i="0" u="none" strike="noStrike" kern="0" cap="none" spc="0" normalizeH="0" baseline="0" noProof="0" dirty="0">
                <a:ln>
                  <a:noFill/>
                </a:ln>
                <a:solidFill>
                  <a:srgbClr val="2F2B20"/>
                </a:solidFill>
                <a:effectLst/>
                <a:uLnTx/>
                <a:uFillTx/>
                <a:latin typeface="Calibri"/>
                <a:ea typeface="+mn-ea"/>
                <a:cs typeface="Calibri" pitchFamily="34" charset="0"/>
              </a:rPr>
              <a:t>Functional Dependencies</a:t>
            </a:r>
            <a:endParaRPr kumimoji="0" lang="en-MY" sz="1800" b="1" i="0" u="none" strike="noStrike" kern="0" cap="none" spc="0" normalizeH="0" baseline="0" noProof="0" dirty="0">
              <a:ln>
                <a:noFill/>
              </a:ln>
              <a:solidFill>
                <a:srgbClr val="2F2B20"/>
              </a:solidFill>
              <a:effectLst/>
              <a:uLnTx/>
              <a:uFillTx/>
              <a:latin typeface="Calibri"/>
              <a:ea typeface="+mn-ea"/>
              <a:cs typeface="Calibri" pitchFamily="34" charset="0"/>
            </a:endParaRPr>
          </a:p>
        </p:txBody>
      </p:sp>
      <p:sp>
        <p:nvSpPr>
          <p:cNvPr id="6" name="Snip Single Corner Rectangle 5">
            <a:extLst>
              <a:ext uri="{FF2B5EF4-FFF2-40B4-BE49-F238E27FC236}">
                <a16:creationId xmlns:a16="http://schemas.microsoft.com/office/drawing/2014/main" id="{5122A9BC-3A44-1E7F-6D16-9CAEE1830DCF}"/>
              </a:ext>
            </a:extLst>
          </p:cNvPr>
          <p:cNvSpPr/>
          <p:nvPr/>
        </p:nvSpPr>
        <p:spPr bwMode="auto">
          <a:xfrm>
            <a:off x="180975" y="4046538"/>
            <a:ext cx="8172450" cy="2425700"/>
          </a:xfrm>
          <a:prstGeom prst="snip1Rect">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a:lstStyle/>
          <a:p>
            <a:pPr marL="177800" marR="0" lvl="0" indent="0" algn="l" defTabSz="914400" rtl="0" eaLnBrk="0" fontAlgn="base" latinLnBrk="0" hangingPunct="0">
              <a:lnSpc>
                <a:spcPct val="100000"/>
              </a:lnSpc>
              <a:spcBef>
                <a:spcPct val="0"/>
              </a:spcBef>
              <a:spcAft>
                <a:spcPct val="0"/>
              </a:spcAft>
              <a:buClrTx/>
              <a:buSzTx/>
              <a:buFontTx/>
              <a:buNone/>
              <a:tabLst/>
              <a:defRPr/>
            </a:pPr>
            <a:r>
              <a:rPr kumimoji="0" lang="en-CA" sz="3200" b="0" i="0" u="none" strike="noStrike" kern="1200" cap="none" spc="0" normalizeH="0" baseline="0" noProof="0" dirty="0">
                <a:ln>
                  <a:noFill/>
                </a:ln>
                <a:solidFill>
                  <a:srgbClr val="2F2B20"/>
                </a:solidFill>
                <a:effectLst/>
                <a:uLnTx/>
                <a:uFillTx/>
                <a:latin typeface="Calibri"/>
                <a:ea typeface="+mn-ea"/>
                <a:cs typeface="+mn-cs"/>
              </a:rPr>
              <a:t>Given two columns A and B in a relation, B is functionally dependent on A (denoted by A → B) if given the value of A, one can look up </a:t>
            </a:r>
            <a:r>
              <a:rPr kumimoji="0" lang="en-CA" sz="3200" b="1" i="0" u="none" strike="noStrike" kern="1200" cap="none" spc="0" normalizeH="0" baseline="0" noProof="0" dirty="0">
                <a:ln>
                  <a:noFill/>
                </a:ln>
                <a:solidFill>
                  <a:srgbClr val="2F2B20"/>
                </a:solidFill>
                <a:effectLst/>
                <a:uLnTx/>
                <a:uFillTx/>
                <a:latin typeface="Calibri"/>
                <a:ea typeface="+mn-ea"/>
                <a:cs typeface="+mn-cs"/>
              </a:rPr>
              <a:t>one and only one</a:t>
            </a:r>
            <a:r>
              <a:rPr kumimoji="0" lang="en-CA" sz="3200" b="0" i="0" u="none" strike="noStrike" kern="1200" cap="none" spc="0" normalizeH="0" baseline="0" noProof="0" dirty="0">
                <a:ln>
                  <a:noFill/>
                </a:ln>
                <a:solidFill>
                  <a:srgbClr val="2F2B20"/>
                </a:solidFill>
                <a:effectLst/>
                <a:uLnTx/>
                <a:uFillTx/>
                <a:latin typeface="Calibri"/>
                <a:ea typeface="+mn-ea"/>
                <a:cs typeface="+mn-cs"/>
              </a:rPr>
              <a:t> value of B</a:t>
            </a:r>
          </a:p>
        </p:txBody>
      </p:sp>
      <p:sp>
        <p:nvSpPr>
          <p:cNvPr id="7" name="Title 1">
            <a:extLst>
              <a:ext uri="{FF2B5EF4-FFF2-40B4-BE49-F238E27FC236}">
                <a16:creationId xmlns:a16="http://schemas.microsoft.com/office/drawing/2014/main" id="{31529293-6491-8584-0AE0-4FFACC9F2196}"/>
              </a:ext>
            </a:extLst>
          </p:cNvPr>
          <p:cNvSpPr>
            <a:spLocks noGrp="1"/>
          </p:cNvSpPr>
          <p:nvPr>
            <p:ph type="title"/>
          </p:nvPr>
        </p:nvSpPr>
        <p:spPr>
          <a:xfrm>
            <a:off x="457200" y="76200"/>
            <a:ext cx="7620000" cy="1143000"/>
          </a:xfrm>
        </p:spPr>
        <p:txBody>
          <a:bodyPr/>
          <a:lstStyle/>
          <a:p>
            <a:pPr algn="ctr">
              <a:defRPr/>
            </a:pPr>
            <a:r>
              <a:rPr lang="en-US" dirty="0"/>
              <a:t>Relational Database Normalization</a:t>
            </a:r>
            <a:endParaRPr lang="en-CA"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wipe(up)">
                                      <p:cBhvr>
                                        <p:cTn id="7" dur="500"/>
                                        <p:tgtEl>
                                          <p:spTgt spid="1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8">
                                            <p:txEl>
                                              <p:pRg st="2" end="2"/>
                                            </p:txEl>
                                          </p:spTgt>
                                        </p:tgtEl>
                                        <p:attrNameLst>
                                          <p:attrName>style.visibility</p:attrName>
                                        </p:attrNameLst>
                                      </p:cBhvr>
                                      <p:to>
                                        <p:strVal val="visible"/>
                                      </p:to>
                                    </p:set>
                                    <p:animEffect transition="in" filter="wipe(left)">
                                      <p:cBhvr>
                                        <p:cTn id="12" dur="500"/>
                                        <p:tgtEl>
                                          <p:spTgt spid="18">
                                            <p:txEl>
                                              <p:pRg st="2" end="2"/>
                                            </p:txEl>
                                          </p:spTgt>
                                        </p:tgtEl>
                                      </p:cBhvr>
                                    </p:animEffect>
                                  </p:childTnLst>
                                </p:cTn>
                              </p:par>
                            </p:childTnLst>
                          </p:cTn>
                        </p:par>
                        <p:par>
                          <p:cTn id="13" fill="hold" nodeType="afterGroup">
                            <p:stCondLst>
                              <p:cond delay="500"/>
                            </p:stCondLst>
                            <p:childTnLst>
                              <p:par>
                                <p:cTn id="14" presetID="22" presetClass="entr" presetSubtype="1" fill="hold" grpId="0" nodeType="after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up)">
                                      <p:cBhvr>
                                        <p:cTn id="1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Content Placeholder 2">
            <a:extLst>
              <a:ext uri="{FF2B5EF4-FFF2-40B4-BE49-F238E27FC236}">
                <a16:creationId xmlns:a16="http://schemas.microsoft.com/office/drawing/2014/main" id="{DA1EACEA-838D-4E2A-D755-F28D18DD7EC9}"/>
              </a:ext>
            </a:extLst>
          </p:cNvPr>
          <p:cNvSpPr txBox="1">
            <a:spLocks/>
          </p:cNvSpPr>
          <p:nvPr/>
        </p:nvSpPr>
        <p:spPr bwMode="auto">
          <a:xfrm>
            <a:off x="152400" y="1724025"/>
            <a:ext cx="8153400"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US" altLang="en-US" sz="32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rPr>
              <a:t>Consider the following relational schema</a:t>
            </a: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US" altLang="en-US" sz="32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US" altLang="en-US" sz="20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US" altLang="en-US" sz="32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US" altLang="en-US" sz="32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rPr>
              <a:t>Based on the schema, we can state that</a:t>
            </a: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US" altLang="en-US" sz="32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US" altLang="en-US" sz="10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rPr>
              <a:t>If we </a:t>
            </a:r>
            <a:r>
              <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know the student’s STUDENTID, we will be able to look up the student’s one and only one LASTNAME</a:t>
            </a:r>
            <a:endParaRPr kumimoji="0" lang="en-US" altLang="en-US" sz="40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endParaRPr>
          </a:p>
        </p:txBody>
      </p:sp>
      <p:sp>
        <p:nvSpPr>
          <p:cNvPr id="16" name="Title 1">
            <a:extLst>
              <a:ext uri="{FF2B5EF4-FFF2-40B4-BE49-F238E27FC236}">
                <a16:creationId xmlns:a16="http://schemas.microsoft.com/office/drawing/2014/main" id="{72459037-3276-585F-E091-9A238B707475}"/>
              </a:ext>
            </a:extLst>
          </p:cNvPr>
          <p:cNvSpPr txBox="1">
            <a:spLocks/>
          </p:cNvSpPr>
          <p:nvPr/>
        </p:nvSpPr>
        <p:spPr bwMode="auto">
          <a:xfrm>
            <a:off x="57150" y="1504950"/>
            <a:ext cx="8172450" cy="323850"/>
          </a:xfrm>
          <a:prstGeom prst="rect">
            <a:avLst/>
          </a:prstGeom>
          <a:noFill/>
          <a:ln w="9525">
            <a:noFill/>
            <a:miter lim="800000"/>
            <a:headEnd/>
            <a:tailEnd/>
          </a:ln>
        </p:spPr>
        <p:txBody>
          <a:bodyPr lIns="72000" tIns="0" rIns="72000" bIns="0"/>
          <a:lstStyle/>
          <a:p>
            <a:pPr marL="0" marR="0" lvl="0" indent="0" algn="l" defTabSz="720000" rtl="0" eaLnBrk="1" fontAlgn="base" latinLnBrk="0" hangingPunct="1">
              <a:lnSpc>
                <a:spcPts val="1800"/>
              </a:lnSpc>
              <a:spcBef>
                <a:spcPts val="0"/>
              </a:spcBef>
              <a:spcAft>
                <a:spcPts val="0"/>
              </a:spcAft>
              <a:buClrTx/>
              <a:buSzTx/>
              <a:buFontTx/>
              <a:buNone/>
              <a:tabLst>
                <a:tab pos="0" algn="l"/>
              </a:tabLst>
              <a:defRPr/>
            </a:pPr>
            <a:r>
              <a:rPr kumimoji="0" lang="en-US" sz="1800" b="1" i="0" u="none" strike="noStrike" kern="0" cap="none" spc="0" normalizeH="0" baseline="0" noProof="0" dirty="0">
                <a:ln>
                  <a:noFill/>
                </a:ln>
                <a:solidFill>
                  <a:srgbClr val="2F2B20"/>
                </a:solidFill>
                <a:effectLst/>
                <a:uLnTx/>
                <a:uFillTx/>
                <a:latin typeface="Calibri"/>
                <a:ea typeface="+mn-ea"/>
                <a:cs typeface="Calibri" pitchFamily="34" charset="0"/>
              </a:rPr>
              <a:t>Functional Dependencies</a:t>
            </a:r>
            <a:endParaRPr kumimoji="0" lang="en-MY" sz="1800" b="1" i="0" u="none" strike="noStrike" kern="0" cap="none" spc="0" normalizeH="0" baseline="0" noProof="0" dirty="0">
              <a:ln>
                <a:noFill/>
              </a:ln>
              <a:solidFill>
                <a:srgbClr val="2F2B20"/>
              </a:solidFill>
              <a:effectLst/>
              <a:uLnTx/>
              <a:uFillTx/>
              <a:latin typeface="Calibri"/>
              <a:ea typeface="+mn-ea"/>
              <a:cs typeface="Calibri" pitchFamily="34" charset="0"/>
            </a:endParaRPr>
          </a:p>
        </p:txBody>
      </p:sp>
      <p:graphicFrame>
        <p:nvGraphicFramePr>
          <p:cNvPr id="17" name="Table 16">
            <a:extLst>
              <a:ext uri="{FF2B5EF4-FFF2-40B4-BE49-F238E27FC236}">
                <a16:creationId xmlns:a16="http://schemas.microsoft.com/office/drawing/2014/main" id="{8486A575-7975-576E-4F7F-D164E8504484}"/>
              </a:ext>
            </a:extLst>
          </p:cNvPr>
          <p:cNvGraphicFramePr>
            <a:graphicFrameLocks noGrp="1"/>
          </p:cNvGraphicFramePr>
          <p:nvPr/>
        </p:nvGraphicFramePr>
        <p:xfrm>
          <a:off x="628650" y="2730500"/>
          <a:ext cx="7405688" cy="457200"/>
        </p:xfrm>
        <a:graphic>
          <a:graphicData uri="http://schemas.openxmlformats.org/drawingml/2006/table">
            <a:tbl>
              <a:tblPr firstRow="1" bandRow="1">
                <a:tableStyleId>{5940675A-B579-460E-94D1-54222C63F5DA}</a:tableStyleId>
              </a:tblPr>
              <a:tblGrid>
                <a:gridCol w="2040889">
                  <a:extLst>
                    <a:ext uri="{9D8B030D-6E8A-4147-A177-3AD203B41FA5}">
                      <a16:colId xmlns:a16="http://schemas.microsoft.com/office/drawing/2014/main" val="20000"/>
                    </a:ext>
                  </a:extLst>
                </a:gridCol>
                <a:gridCol w="2037899">
                  <a:extLst>
                    <a:ext uri="{9D8B030D-6E8A-4147-A177-3AD203B41FA5}">
                      <a16:colId xmlns:a16="http://schemas.microsoft.com/office/drawing/2014/main" val="20001"/>
                    </a:ext>
                  </a:extLst>
                </a:gridCol>
                <a:gridCol w="2054850">
                  <a:extLst>
                    <a:ext uri="{9D8B030D-6E8A-4147-A177-3AD203B41FA5}">
                      <a16:colId xmlns:a16="http://schemas.microsoft.com/office/drawing/2014/main" val="20002"/>
                    </a:ext>
                  </a:extLst>
                </a:gridCol>
                <a:gridCol w="1272050">
                  <a:extLst>
                    <a:ext uri="{9D8B030D-6E8A-4147-A177-3AD203B41FA5}">
                      <a16:colId xmlns:a16="http://schemas.microsoft.com/office/drawing/2014/main" val="20003"/>
                    </a:ext>
                  </a:extLst>
                </a:gridCol>
              </a:tblGrid>
              <a:tr h="370840">
                <a:tc>
                  <a:txBody>
                    <a:bodyPr/>
                    <a:lstStyle/>
                    <a:p>
                      <a:pPr algn="ctr"/>
                      <a:r>
                        <a:rPr lang="en-CA" sz="2400" u="none" dirty="0"/>
                        <a:t>STUDENTID</a:t>
                      </a:r>
                    </a:p>
                  </a:txBody>
                  <a:tcPr marL="91443" marR="91443"/>
                </a:tc>
                <a:tc>
                  <a:txBody>
                    <a:bodyPr/>
                    <a:lstStyle/>
                    <a:p>
                      <a:pPr algn="ctr"/>
                      <a:r>
                        <a:rPr lang="en-CA" sz="2400" dirty="0"/>
                        <a:t>LASTNAME</a:t>
                      </a:r>
                    </a:p>
                  </a:txBody>
                  <a:tcPr marL="91443" marR="91443"/>
                </a:tc>
                <a:tc>
                  <a:txBody>
                    <a:bodyPr/>
                    <a:lstStyle/>
                    <a:p>
                      <a:pPr algn="ctr"/>
                      <a:r>
                        <a:rPr lang="en-CA" sz="2400" dirty="0"/>
                        <a:t>FIRSTNAME</a:t>
                      </a:r>
                    </a:p>
                  </a:txBody>
                  <a:tcPr marL="91443" marR="91443"/>
                </a:tc>
                <a:tc>
                  <a:txBody>
                    <a:bodyPr/>
                    <a:lstStyle/>
                    <a:p>
                      <a:pPr algn="ctr"/>
                      <a:r>
                        <a:rPr lang="en-CA" sz="2400" dirty="0"/>
                        <a:t>AGE</a:t>
                      </a:r>
                    </a:p>
                  </a:txBody>
                  <a:tcPr marL="91443" marR="91443"/>
                </a:tc>
                <a:extLst>
                  <a:ext uri="{0D108BD9-81ED-4DB2-BD59-A6C34878D82A}">
                    <a16:rowId xmlns:a16="http://schemas.microsoft.com/office/drawing/2014/main" val="10000"/>
                  </a:ext>
                </a:extLst>
              </a:tr>
            </a:tbl>
          </a:graphicData>
        </a:graphic>
      </p:graphicFrame>
      <p:sp>
        <p:nvSpPr>
          <p:cNvPr id="19" name="TextBox 18">
            <a:extLst>
              <a:ext uri="{FF2B5EF4-FFF2-40B4-BE49-F238E27FC236}">
                <a16:creationId xmlns:a16="http://schemas.microsoft.com/office/drawing/2014/main" id="{F3D3384E-A67C-FEC1-0057-417204017BC1}"/>
              </a:ext>
            </a:extLst>
          </p:cNvPr>
          <p:cNvSpPr txBox="1">
            <a:spLocks noChangeArrowheads="1"/>
          </p:cNvSpPr>
          <p:nvPr/>
        </p:nvSpPr>
        <p:spPr bwMode="auto">
          <a:xfrm>
            <a:off x="561975" y="2298700"/>
            <a:ext cx="20891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24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STUDENT</a:t>
            </a:r>
          </a:p>
        </p:txBody>
      </p:sp>
      <p:sp>
        <p:nvSpPr>
          <p:cNvPr id="3" name="TextBox 2">
            <a:extLst>
              <a:ext uri="{FF2B5EF4-FFF2-40B4-BE49-F238E27FC236}">
                <a16:creationId xmlns:a16="http://schemas.microsoft.com/office/drawing/2014/main" id="{6711197B-9AE8-4784-6E09-B346520E2925}"/>
              </a:ext>
            </a:extLst>
          </p:cNvPr>
          <p:cNvSpPr>
            <a:spLocks noChangeArrowheads="1"/>
          </p:cNvSpPr>
          <p:nvPr/>
        </p:nvSpPr>
        <p:spPr bwMode="auto">
          <a:xfrm>
            <a:off x="1825625" y="4495800"/>
            <a:ext cx="5006975" cy="577850"/>
          </a:xfrm>
          <a:prstGeom prst="roundRect">
            <a:avLst>
              <a:gd name="adj" fmla="val 16667"/>
            </a:avLst>
          </a:prstGeom>
          <a:solidFill>
            <a:srgbClr val="FFFF00">
              <a:alpha val="30196"/>
            </a:srgbClr>
          </a:solidFill>
          <a:ln w="9525">
            <a:solidFill>
              <a:srgbClr val="FFFF00"/>
            </a:solidFill>
            <a:round/>
            <a:headEnd/>
            <a:tailEnd/>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2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STUDENTID → LASTNAME</a:t>
            </a:r>
          </a:p>
        </p:txBody>
      </p:sp>
      <p:cxnSp>
        <p:nvCxnSpPr>
          <p:cNvPr id="12" name="Straight Connector 11">
            <a:extLst>
              <a:ext uri="{FF2B5EF4-FFF2-40B4-BE49-F238E27FC236}">
                <a16:creationId xmlns:a16="http://schemas.microsoft.com/office/drawing/2014/main" id="{60CA906C-2123-9B6E-1732-82AFE8C54478}"/>
              </a:ext>
            </a:extLst>
          </p:cNvPr>
          <p:cNvCxnSpPr/>
          <p:nvPr/>
        </p:nvCxnSpPr>
        <p:spPr bwMode="auto">
          <a:xfrm flipV="1">
            <a:off x="730250" y="3114675"/>
            <a:ext cx="1812925" cy="0"/>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10" name="Title 1">
            <a:extLst>
              <a:ext uri="{FF2B5EF4-FFF2-40B4-BE49-F238E27FC236}">
                <a16:creationId xmlns:a16="http://schemas.microsoft.com/office/drawing/2014/main" id="{85990822-78FC-8C7D-2DDB-80A2E478BBFE}"/>
              </a:ext>
            </a:extLst>
          </p:cNvPr>
          <p:cNvSpPr>
            <a:spLocks noGrp="1"/>
          </p:cNvSpPr>
          <p:nvPr>
            <p:ph type="title"/>
          </p:nvPr>
        </p:nvSpPr>
        <p:spPr>
          <a:xfrm>
            <a:off x="457200" y="76200"/>
            <a:ext cx="7620000" cy="1143000"/>
          </a:xfrm>
        </p:spPr>
        <p:txBody>
          <a:bodyPr/>
          <a:lstStyle/>
          <a:p>
            <a:pPr algn="ctr">
              <a:defRPr/>
            </a:pPr>
            <a:r>
              <a:rPr lang="en-US" dirty="0"/>
              <a:t>Relational Database Normalization</a:t>
            </a:r>
            <a:endParaRPr lang="en-CA"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wipe(left)">
                                      <p:cBhvr>
                                        <p:cTn id="7" dur="500"/>
                                        <p:tgtEl>
                                          <p:spTgt spid="18">
                                            <p:txEl>
                                              <p:pRg st="0" end="0"/>
                                            </p:txEl>
                                          </p:spTgt>
                                        </p:tgtEl>
                                      </p:cBhvr>
                                    </p:animEffect>
                                  </p:childTnLst>
                                </p:cTn>
                              </p:par>
                            </p:childTnLst>
                          </p:cTn>
                        </p:par>
                        <p:par>
                          <p:cTn id="8" fill="hold" nodeType="afterGroup">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wipe(up)">
                                      <p:cBhvr>
                                        <p:cTn id="11" dur="500"/>
                                        <p:tgtEl>
                                          <p:spTgt spid="19"/>
                                        </p:tgtEl>
                                      </p:cBhvr>
                                    </p:animEffect>
                                  </p:childTnLst>
                                </p:cTn>
                              </p:par>
                            </p:childTnLst>
                          </p:cTn>
                        </p:par>
                        <p:par>
                          <p:cTn id="12" fill="hold" nodeType="afterGroup">
                            <p:stCondLst>
                              <p:cond delay="1000"/>
                            </p:stCondLst>
                            <p:childTnLst>
                              <p:par>
                                <p:cTn id="13" presetID="22" presetClass="entr" presetSubtype="8" fill="hold" nodeType="after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wipe(left)">
                                      <p:cBhvr>
                                        <p:cTn id="15" dur="500"/>
                                        <p:tgtEl>
                                          <p:spTgt spid="17"/>
                                        </p:tgtEl>
                                      </p:cBhvr>
                                    </p:animEffect>
                                  </p:childTnLst>
                                </p:cTn>
                              </p:par>
                            </p:childTnLst>
                          </p:cTn>
                        </p:par>
                        <p:par>
                          <p:cTn id="16" fill="hold" nodeType="afterGroup">
                            <p:stCondLst>
                              <p:cond delay="1500"/>
                            </p:stCondLst>
                            <p:childTnLst>
                              <p:par>
                                <p:cTn id="17" presetID="22" presetClass="entr" presetSubtype="8" fill="hold" nodeType="after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wipe(left)">
                                      <p:cBhvr>
                                        <p:cTn id="19" dur="500"/>
                                        <p:tgtEl>
                                          <p:spTgt spid="12"/>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1" fill="hold" nodeType="clickEffect">
                                  <p:stCondLst>
                                    <p:cond delay="0"/>
                                  </p:stCondLst>
                                  <p:childTnLst>
                                    <p:set>
                                      <p:cBhvr>
                                        <p:cTn id="23" dur="1" fill="hold">
                                          <p:stCondLst>
                                            <p:cond delay="0"/>
                                          </p:stCondLst>
                                        </p:cTn>
                                        <p:tgtEl>
                                          <p:spTgt spid="18">
                                            <p:txEl>
                                              <p:pRg st="4" end="4"/>
                                            </p:txEl>
                                          </p:spTgt>
                                        </p:tgtEl>
                                        <p:attrNameLst>
                                          <p:attrName>style.visibility</p:attrName>
                                        </p:attrNameLst>
                                      </p:cBhvr>
                                      <p:to>
                                        <p:strVal val="visible"/>
                                      </p:to>
                                    </p:set>
                                    <p:animEffect transition="in" filter="wipe(up)">
                                      <p:cBhvr>
                                        <p:cTn id="24" dur="500"/>
                                        <p:tgtEl>
                                          <p:spTgt spid="18">
                                            <p:txEl>
                                              <p:pRg st="4" end="4"/>
                                            </p:txEl>
                                          </p:spTgt>
                                        </p:tgtEl>
                                      </p:cBhvr>
                                    </p:animEffect>
                                  </p:childTnLst>
                                </p:cTn>
                              </p:par>
                            </p:childTnLst>
                          </p:cTn>
                        </p:par>
                        <p:par>
                          <p:cTn id="25" fill="hold" nodeType="afterGroup">
                            <p:stCondLst>
                              <p:cond delay="500"/>
                            </p:stCondLst>
                            <p:childTnLst>
                              <p:par>
                                <p:cTn id="26" presetID="22" presetClass="entr" presetSubtype="8" fill="hold" grpId="0" nodeType="after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wipe(left)">
                                      <p:cBhvr>
                                        <p:cTn id="28" dur="500"/>
                                        <p:tgtEl>
                                          <p:spTgt spid="3"/>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1" fill="hold" nodeType="clickEffect">
                                  <p:stCondLst>
                                    <p:cond delay="0"/>
                                  </p:stCondLst>
                                  <p:childTnLst>
                                    <p:set>
                                      <p:cBhvr>
                                        <p:cTn id="32" dur="1" fill="hold">
                                          <p:stCondLst>
                                            <p:cond delay="0"/>
                                          </p:stCondLst>
                                        </p:cTn>
                                        <p:tgtEl>
                                          <p:spTgt spid="18">
                                            <p:txEl>
                                              <p:pRg st="7" end="7"/>
                                            </p:txEl>
                                          </p:spTgt>
                                        </p:tgtEl>
                                        <p:attrNameLst>
                                          <p:attrName>style.visibility</p:attrName>
                                        </p:attrNameLst>
                                      </p:cBhvr>
                                      <p:to>
                                        <p:strVal val="visible"/>
                                      </p:to>
                                    </p:set>
                                    <p:animEffect transition="in" filter="wipe(up)">
                                      <p:cBhvr>
                                        <p:cTn id="33" dur="500"/>
                                        <p:tgtEl>
                                          <p:spTgt spid="18">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3" grpId="0" animBg="1"/>
    </p:bld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Content Placeholder 2">
            <a:extLst>
              <a:ext uri="{FF2B5EF4-FFF2-40B4-BE49-F238E27FC236}">
                <a16:creationId xmlns:a16="http://schemas.microsoft.com/office/drawing/2014/main" id="{625D7451-C6D5-5634-0388-56C9F53C0762}"/>
              </a:ext>
            </a:extLst>
          </p:cNvPr>
          <p:cNvSpPr txBox="1">
            <a:spLocks/>
          </p:cNvSpPr>
          <p:nvPr/>
        </p:nvSpPr>
        <p:spPr bwMode="auto">
          <a:xfrm>
            <a:off x="228600" y="1757363"/>
            <a:ext cx="8001000"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US" altLang="en-US" sz="32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rPr>
              <a:t>Consider the following relational schema</a:t>
            </a: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US" altLang="en-US" sz="32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US" altLang="en-US" sz="32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US" altLang="en-US" sz="10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US" altLang="en-US" sz="32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rPr>
              <a:t>As it turns out, the above relational schema has a total of 3 functional dependences</a:t>
            </a: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US" altLang="en-US" sz="32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US" altLang="en-US" sz="10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US" altLang="en-US" sz="40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endParaRPr>
          </a:p>
        </p:txBody>
      </p:sp>
      <p:sp>
        <p:nvSpPr>
          <p:cNvPr id="16" name="Title 1">
            <a:extLst>
              <a:ext uri="{FF2B5EF4-FFF2-40B4-BE49-F238E27FC236}">
                <a16:creationId xmlns:a16="http://schemas.microsoft.com/office/drawing/2014/main" id="{C92E9868-F8F5-1404-4B63-D8544EF70840}"/>
              </a:ext>
            </a:extLst>
          </p:cNvPr>
          <p:cNvSpPr txBox="1">
            <a:spLocks/>
          </p:cNvSpPr>
          <p:nvPr/>
        </p:nvSpPr>
        <p:spPr bwMode="auto">
          <a:xfrm>
            <a:off x="57150" y="1557338"/>
            <a:ext cx="8172450" cy="323850"/>
          </a:xfrm>
          <a:prstGeom prst="rect">
            <a:avLst/>
          </a:prstGeom>
          <a:noFill/>
          <a:ln w="9525">
            <a:noFill/>
            <a:miter lim="800000"/>
            <a:headEnd/>
            <a:tailEnd/>
          </a:ln>
        </p:spPr>
        <p:txBody>
          <a:bodyPr lIns="72000" tIns="0" rIns="72000" bIns="0"/>
          <a:lstStyle/>
          <a:p>
            <a:pPr marL="0" marR="0" lvl="0" indent="0" algn="l" defTabSz="720000" rtl="0" eaLnBrk="1" fontAlgn="base" latinLnBrk="0" hangingPunct="1">
              <a:lnSpc>
                <a:spcPts val="1800"/>
              </a:lnSpc>
              <a:spcBef>
                <a:spcPts val="0"/>
              </a:spcBef>
              <a:spcAft>
                <a:spcPts val="0"/>
              </a:spcAft>
              <a:buClrTx/>
              <a:buSzTx/>
              <a:buFontTx/>
              <a:buNone/>
              <a:tabLst>
                <a:tab pos="0" algn="l"/>
              </a:tabLst>
              <a:defRPr/>
            </a:pPr>
            <a:r>
              <a:rPr kumimoji="0" lang="en-US" sz="1800" b="1" i="0" u="none" strike="noStrike" kern="0" cap="none" spc="0" normalizeH="0" baseline="0" noProof="0" dirty="0">
                <a:ln>
                  <a:noFill/>
                </a:ln>
                <a:solidFill>
                  <a:srgbClr val="2F2B20"/>
                </a:solidFill>
                <a:effectLst/>
                <a:uLnTx/>
                <a:uFillTx/>
                <a:latin typeface="Calibri"/>
                <a:ea typeface="+mn-ea"/>
                <a:cs typeface="Calibri" pitchFamily="34" charset="0"/>
              </a:rPr>
              <a:t>Functional Dependencies</a:t>
            </a:r>
            <a:endParaRPr kumimoji="0" lang="en-MY" sz="1800" b="1" i="0" u="none" strike="noStrike" kern="0" cap="none" spc="0" normalizeH="0" baseline="0" noProof="0" dirty="0">
              <a:ln>
                <a:noFill/>
              </a:ln>
              <a:solidFill>
                <a:srgbClr val="2F2B20"/>
              </a:solidFill>
              <a:effectLst/>
              <a:uLnTx/>
              <a:uFillTx/>
              <a:latin typeface="Calibri"/>
              <a:ea typeface="+mn-ea"/>
              <a:cs typeface="Calibri" pitchFamily="34" charset="0"/>
            </a:endParaRPr>
          </a:p>
        </p:txBody>
      </p:sp>
      <p:graphicFrame>
        <p:nvGraphicFramePr>
          <p:cNvPr id="17" name="Table 16">
            <a:extLst>
              <a:ext uri="{FF2B5EF4-FFF2-40B4-BE49-F238E27FC236}">
                <a16:creationId xmlns:a16="http://schemas.microsoft.com/office/drawing/2014/main" id="{CAC4F4DA-59F2-916D-2967-32A498A29D77}"/>
              </a:ext>
            </a:extLst>
          </p:cNvPr>
          <p:cNvGraphicFramePr>
            <a:graphicFrameLocks noGrp="1"/>
          </p:cNvGraphicFramePr>
          <p:nvPr/>
        </p:nvGraphicFramePr>
        <p:xfrm>
          <a:off x="628650" y="2763838"/>
          <a:ext cx="7405688" cy="457200"/>
        </p:xfrm>
        <a:graphic>
          <a:graphicData uri="http://schemas.openxmlformats.org/drawingml/2006/table">
            <a:tbl>
              <a:tblPr firstRow="1" bandRow="1">
                <a:tableStyleId>{5940675A-B579-460E-94D1-54222C63F5DA}</a:tableStyleId>
              </a:tblPr>
              <a:tblGrid>
                <a:gridCol w="2040889">
                  <a:extLst>
                    <a:ext uri="{9D8B030D-6E8A-4147-A177-3AD203B41FA5}">
                      <a16:colId xmlns:a16="http://schemas.microsoft.com/office/drawing/2014/main" val="20000"/>
                    </a:ext>
                  </a:extLst>
                </a:gridCol>
                <a:gridCol w="2037899">
                  <a:extLst>
                    <a:ext uri="{9D8B030D-6E8A-4147-A177-3AD203B41FA5}">
                      <a16:colId xmlns:a16="http://schemas.microsoft.com/office/drawing/2014/main" val="20001"/>
                    </a:ext>
                  </a:extLst>
                </a:gridCol>
                <a:gridCol w="2054850">
                  <a:extLst>
                    <a:ext uri="{9D8B030D-6E8A-4147-A177-3AD203B41FA5}">
                      <a16:colId xmlns:a16="http://schemas.microsoft.com/office/drawing/2014/main" val="20002"/>
                    </a:ext>
                  </a:extLst>
                </a:gridCol>
                <a:gridCol w="1272050">
                  <a:extLst>
                    <a:ext uri="{9D8B030D-6E8A-4147-A177-3AD203B41FA5}">
                      <a16:colId xmlns:a16="http://schemas.microsoft.com/office/drawing/2014/main" val="20003"/>
                    </a:ext>
                  </a:extLst>
                </a:gridCol>
              </a:tblGrid>
              <a:tr h="370840">
                <a:tc>
                  <a:txBody>
                    <a:bodyPr/>
                    <a:lstStyle/>
                    <a:p>
                      <a:pPr algn="ctr"/>
                      <a:r>
                        <a:rPr lang="en-CA" sz="2400" u="none" dirty="0"/>
                        <a:t>STUDENTID</a:t>
                      </a:r>
                    </a:p>
                  </a:txBody>
                  <a:tcPr marL="91443" marR="91443"/>
                </a:tc>
                <a:tc>
                  <a:txBody>
                    <a:bodyPr/>
                    <a:lstStyle/>
                    <a:p>
                      <a:pPr algn="ctr"/>
                      <a:r>
                        <a:rPr lang="en-CA" sz="2400" dirty="0"/>
                        <a:t>LASTNAME</a:t>
                      </a:r>
                    </a:p>
                  </a:txBody>
                  <a:tcPr marL="91443" marR="91443"/>
                </a:tc>
                <a:tc>
                  <a:txBody>
                    <a:bodyPr/>
                    <a:lstStyle/>
                    <a:p>
                      <a:pPr algn="ctr"/>
                      <a:r>
                        <a:rPr lang="en-CA" sz="2400" dirty="0"/>
                        <a:t>FIRSTNAME</a:t>
                      </a:r>
                    </a:p>
                  </a:txBody>
                  <a:tcPr marL="91443" marR="91443"/>
                </a:tc>
                <a:tc>
                  <a:txBody>
                    <a:bodyPr/>
                    <a:lstStyle/>
                    <a:p>
                      <a:pPr algn="ctr"/>
                      <a:r>
                        <a:rPr lang="en-CA" sz="2400" dirty="0"/>
                        <a:t>AGE</a:t>
                      </a:r>
                    </a:p>
                  </a:txBody>
                  <a:tcPr marL="91443" marR="91443"/>
                </a:tc>
                <a:extLst>
                  <a:ext uri="{0D108BD9-81ED-4DB2-BD59-A6C34878D82A}">
                    <a16:rowId xmlns:a16="http://schemas.microsoft.com/office/drawing/2014/main" val="10000"/>
                  </a:ext>
                </a:extLst>
              </a:tr>
            </a:tbl>
          </a:graphicData>
        </a:graphic>
      </p:graphicFrame>
      <p:sp>
        <p:nvSpPr>
          <p:cNvPr id="3" name="TextBox 2">
            <a:extLst>
              <a:ext uri="{FF2B5EF4-FFF2-40B4-BE49-F238E27FC236}">
                <a16:creationId xmlns:a16="http://schemas.microsoft.com/office/drawing/2014/main" id="{5071AAE8-EA46-421C-25BB-54445570330A}"/>
              </a:ext>
            </a:extLst>
          </p:cNvPr>
          <p:cNvSpPr>
            <a:spLocks noChangeArrowheads="1"/>
          </p:cNvSpPr>
          <p:nvPr/>
        </p:nvSpPr>
        <p:spPr bwMode="auto">
          <a:xfrm>
            <a:off x="1827213" y="5453063"/>
            <a:ext cx="5005387" cy="579437"/>
          </a:xfrm>
          <a:prstGeom prst="roundRect">
            <a:avLst>
              <a:gd name="adj" fmla="val 16667"/>
            </a:avLst>
          </a:prstGeom>
          <a:solidFill>
            <a:srgbClr val="FFFF00">
              <a:alpha val="30196"/>
            </a:srgbClr>
          </a:solidFill>
          <a:ln w="9525">
            <a:solidFill>
              <a:srgbClr val="FFFF00"/>
            </a:solidFill>
            <a:round/>
            <a:headEnd/>
            <a:tailEnd/>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2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STUDENTID → FIRSTNAME</a:t>
            </a:r>
          </a:p>
        </p:txBody>
      </p:sp>
      <p:sp>
        <p:nvSpPr>
          <p:cNvPr id="8" name="TextBox 7">
            <a:extLst>
              <a:ext uri="{FF2B5EF4-FFF2-40B4-BE49-F238E27FC236}">
                <a16:creationId xmlns:a16="http://schemas.microsoft.com/office/drawing/2014/main" id="{AAF1B45B-83B2-8DE6-E3BA-EE334218B0F2}"/>
              </a:ext>
            </a:extLst>
          </p:cNvPr>
          <p:cNvSpPr>
            <a:spLocks noChangeArrowheads="1"/>
          </p:cNvSpPr>
          <p:nvPr/>
        </p:nvSpPr>
        <p:spPr bwMode="auto">
          <a:xfrm>
            <a:off x="1827213" y="6126163"/>
            <a:ext cx="5005387" cy="579437"/>
          </a:xfrm>
          <a:prstGeom prst="roundRect">
            <a:avLst>
              <a:gd name="adj" fmla="val 16667"/>
            </a:avLst>
          </a:prstGeom>
          <a:solidFill>
            <a:srgbClr val="FFFF00">
              <a:alpha val="30196"/>
            </a:srgbClr>
          </a:solidFill>
          <a:ln w="9525">
            <a:solidFill>
              <a:srgbClr val="FFFF00"/>
            </a:solidFill>
            <a:round/>
            <a:headEnd/>
            <a:tailEnd/>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2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STUDENTID → AGE</a:t>
            </a:r>
          </a:p>
        </p:txBody>
      </p:sp>
      <p:sp>
        <p:nvSpPr>
          <p:cNvPr id="17426" name="TextBox 8">
            <a:extLst>
              <a:ext uri="{FF2B5EF4-FFF2-40B4-BE49-F238E27FC236}">
                <a16:creationId xmlns:a16="http://schemas.microsoft.com/office/drawing/2014/main" id="{3A836510-0DB6-C71B-F9F7-3370A3A832AF}"/>
              </a:ext>
            </a:extLst>
          </p:cNvPr>
          <p:cNvSpPr txBox="1">
            <a:spLocks noChangeArrowheads="1"/>
          </p:cNvSpPr>
          <p:nvPr/>
        </p:nvSpPr>
        <p:spPr bwMode="auto">
          <a:xfrm>
            <a:off x="561975" y="2332038"/>
            <a:ext cx="20891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24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STUDENT</a:t>
            </a:r>
          </a:p>
        </p:txBody>
      </p:sp>
      <p:cxnSp>
        <p:nvCxnSpPr>
          <p:cNvPr id="10" name="Straight Connector 9">
            <a:extLst>
              <a:ext uri="{FF2B5EF4-FFF2-40B4-BE49-F238E27FC236}">
                <a16:creationId xmlns:a16="http://schemas.microsoft.com/office/drawing/2014/main" id="{4D797888-8447-7FB2-C357-2DAF6D8FA027}"/>
              </a:ext>
            </a:extLst>
          </p:cNvPr>
          <p:cNvCxnSpPr/>
          <p:nvPr/>
        </p:nvCxnSpPr>
        <p:spPr bwMode="auto">
          <a:xfrm flipV="1">
            <a:off x="730250" y="3148013"/>
            <a:ext cx="1812925" cy="0"/>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11" name="TextBox 10">
            <a:extLst>
              <a:ext uri="{FF2B5EF4-FFF2-40B4-BE49-F238E27FC236}">
                <a16:creationId xmlns:a16="http://schemas.microsoft.com/office/drawing/2014/main" id="{C875CB17-A1FA-E4E8-10F0-9CA331DB4AA3}"/>
              </a:ext>
            </a:extLst>
          </p:cNvPr>
          <p:cNvSpPr>
            <a:spLocks noChangeArrowheads="1"/>
          </p:cNvSpPr>
          <p:nvPr/>
        </p:nvSpPr>
        <p:spPr bwMode="auto">
          <a:xfrm>
            <a:off x="1822450" y="4792663"/>
            <a:ext cx="5010150" cy="579437"/>
          </a:xfrm>
          <a:prstGeom prst="roundRect">
            <a:avLst>
              <a:gd name="adj" fmla="val 16667"/>
            </a:avLst>
          </a:prstGeom>
          <a:solidFill>
            <a:srgbClr val="FFFF00">
              <a:alpha val="30196"/>
            </a:srgbClr>
          </a:solidFill>
          <a:ln w="9525">
            <a:solidFill>
              <a:srgbClr val="FFFF00"/>
            </a:solidFill>
            <a:round/>
            <a:headEnd/>
            <a:tailEnd/>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2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STUDENTID → LASTNAME</a:t>
            </a:r>
          </a:p>
        </p:txBody>
      </p:sp>
      <p:sp>
        <p:nvSpPr>
          <p:cNvPr id="12" name="Title 1">
            <a:extLst>
              <a:ext uri="{FF2B5EF4-FFF2-40B4-BE49-F238E27FC236}">
                <a16:creationId xmlns:a16="http://schemas.microsoft.com/office/drawing/2014/main" id="{9ED7FA9D-C4C6-84F2-09D9-AC84001EB624}"/>
              </a:ext>
            </a:extLst>
          </p:cNvPr>
          <p:cNvSpPr>
            <a:spLocks noGrp="1"/>
          </p:cNvSpPr>
          <p:nvPr>
            <p:ph type="title"/>
          </p:nvPr>
        </p:nvSpPr>
        <p:spPr>
          <a:xfrm>
            <a:off x="457200" y="109538"/>
            <a:ext cx="7620000" cy="1143000"/>
          </a:xfrm>
        </p:spPr>
        <p:txBody>
          <a:bodyPr/>
          <a:lstStyle/>
          <a:p>
            <a:pPr algn="ctr">
              <a:defRPr/>
            </a:pPr>
            <a:r>
              <a:rPr lang="en-US" dirty="0"/>
              <a:t>Relational Database Normalization</a:t>
            </a:r>
            <a:endParaRPr lang="en-CA"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18">
                                            <p:txEl>
                                              <p:pRg st="4" end="4"/>
                                            </p:txEl>
                                          </p:spTgt>
                                        </p:tgtEl>
                                        <p:attrNameLst>
                                          <p:attrName>style.visibility</p:attrName>
                                        </p:attrNameLst>
                                      </p:cBhvr>
                                      <p:to>
                                        <p:strVal val="visible"/>
                                      </p:to>
                                    </p:set>
                                    <p:animEffect transition="in" filter="wipe(up)">
                                      <p:cBhvr>
                                        <p:cTn id="7" dur="500"/>
                                        <p:tgtEl>
                                          <p:spTgt spid="18">
                                            <p:txEl>
                                              <p:pRg st="4" end="4"/>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left)">
                                      <p:cBhvr>
                                        <p:cTn id="12" dur="500"/>
                                        <p:tgtEl>
                                          <p:spTgt spid="11"/>
                                        </p:tgtEl>
                                      </p:cBhvr>
                                    </p:animEffect>
                                  </p:childTnLst>
                                </p:cTn>
                              </p:par>
                            </p:childTnLst>
                          </p:cTn>
                        </p:par>
                        <p:par>
                          <p:cTn id="13" fill="hold" nodeType="afterGroup">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wipe(left)">
                                      <p:cBhvr>
                                        <p:cTn id="16" dur="500"/>
                                        <p:tgtEl>
                                          <p:spTgt spid="3"/>
                                        </p:tgtEl>
                                      </p:cBhvr>
                                    </p:animEffect>
                                  </p:childTnLst>
                                </p:cTn>
                              </p:par>
                            </p:childTnLst>
                          </p:cTn>
                        </p:par>
                        <p:par>
                          <p:cTn id="17" fill="hold" nodeType="afterGroup">
                            <p:stCondLst>
                              <p:cond delay="1000"/>
                            </p:stCondLst>
                            <p:childTnLst>
                              <p:par>
                                <p:cTn id="18" presetID="22" presetClass="entr" presetSubtype="8" fill="hold" grpId="0" nodeType="after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wipe(left)">
                                      <p:cBhvr>
                                        <p:cTn id="2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8" grpId="0" animBg="1"/>
      <p:bldP spid="11" grpId="0" animBg="1"/>
    </p:bld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Content Placeholder 2">
            <a:extLst>
              <a:ext uri="{FF2B5EF4-FFF2-40B4-BE49-F238E27FC236}">
                <a16:creationId xmlns:a16="http://schemas.microsoft.com/office/drawing/2014/main" id="{8D9660A6-7D9F-8790-D21F-6589ACDA3B5B}"/>
              </a:ext>
            </a:extLst>
          </p:cNvPr>
          <p:cNvSpPr txBox="1">
            <a:spLocks/>
          </p:cNvSpPr>
          <p:nvPr/>
        </p:nvSpPr>
        <p:spPr bwMode="auto">
          <a:xfrm>
            <a:off x="228600" y="1952625"/>
            <a:ext cx="8013700"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US" altLang="en-US" sz="32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rPr>
              <a:t>Consider the following relational schema</a:t>
            </a: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US" altLang="en-US" sz="32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US" altLang="en-US" sz="32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US" altLang="en-US" sz="20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US" altLang="en-US" sz="32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rPr>
              <a:t>The 3 functional dependencies can be rewritten in a single line as</a:t>
            </a: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US" altLang="en-US" sz="32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US" altLang="en-US" sz="10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US" altLang="en-US" sz="40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endParaRPr>
          </a:p>
        </p:txBody>
      </p:sp>
      <p:sp>
        <p:nvSpPr>
          <p:cNvPr id="16" name="Title 1">
            <a:extLst>
              <a:ext uri="{FF2B5EF4-FFF2-40B4-BE49-F238E27FC236}">
                <a16:creationId xmlns:a16="http://schemas.microsoft.com/office/drawing/2014/main" id="{C8BBA02B-5A12-19A7-DEF5-25D19CB56865}"/>
              </a:ext>
            </a:extLst>
          </p:cNvPr>
          <p:cNvSpPr txBox="1">
            <a:spLocks/>
          </p:cNvSpPr>
          <p:nvPr/>
        </p:nvSpPr>
        <p:spPr bwMode="auto">
          <a:xfrm>
            <a:off x="69850" y="1657350"/>
            <a:ext cx="8172450" cy="323850"/>
          </a:xfrm>
          <a:prstGeom prst="rect">
            <a:avLst/>
          </a:prstGeom>
          <a:noFill/>
          <a:ln w="9525">
            <a:noFill/>
            <a:miter lim="800000"/>
            <a:headEnd/>
            <a:tailEnd/>
          </a:ln>
        </p:spPr>
        <p:txBody>
          <a:bodyPr lIns="72000" tIns="0" rIns="72000" bIns="0"/>
          <a:lstStyle/>
          <a:p>
            <a:pPr marL="0" marR="0" lvl="0" indent="0" algn="l" defTabSz="720000" rtl="0" eaLnBrk="1" fontAlgn="base" latinLnBrk="0" hangingPunct="1">
              <a:lnSpc>
                <a:spcPts val="1800"/>
              </a:lnSpc>
              <a:spcBef>
                <a:spcPts val="0"/>
              </a:spcBef>
              <a:spcAft>
                <a:spcPts val="0"/>
              </a:spcAft>
              <a:buClrTx/>
              <a:buSzTx/>
              <a:buFontTx/>
              <a:buNone/>
              <a:tabLst>
                <a:tab pos="0" algn="l"/>
              </a:tabLst>
              <a:defRPr/>
            </a:pPr>
            <a:r>
              <a:rPr kumimoji="0" lang="en-US" sz="1800" b="1" i="0" u="none" strike="noStrike" kern="0" cap="none" spc="0" normalizeH="0" baseline="0" noProof="0" dirty="0">
                <a:ln>
                  <a:noFill/>
                </a:ln>
                <a:solidFill>
                  <a:srgbClr val="2F2B20"/>
                </a:solidFill>
                <a:effectLst/>
                <a:uLnTx/>
                <a:uFillTx/>
                <a:latin typeface="Calibri"/>
                <a:ea typeface="+mn-ea"/>
                <a:cs typeface="Calibri" pitchFamily="34" charset="0"/>
              </a:rPr>
              <a:t>Functional Dependencies</a:t>
            </a:r>
            <a:endParaRPr kumimoji="0" lang="en-MY" sz="1800" b="1" i="0" u="none" strike="noStrike" kern="0" cap="none" spc="0" normalizeH="0" baseline="0" noProof="0" dirty="0">
              <a:ln>
                <a:noFill/>
              </a:ln>
              <a:solidFill>
                <a:srgbClr val="2F2B20"/>
              </a:solidFill>
              <a:effectLst/>
              <a:uLnTx/>
              <a:uFillTx/>
              <a:latin typeface="Calibri"/>
              <a:ea typeface="+mn-ea"/>
              <a:cs typeface="Calibri" pitchFamily="34" charset="0"/>
            </a:endParaRPr>
          </a:p>
        </p:txBody>
      </p:sp>
      <p:graphicFrame>
        <p:nvGraphicFramePr>
          <p:cNvPr id="17" name="Table 16">
            <a:extLst>
              <a:ext uri="{FF2B5EF4-FFF2-40B4-BE49-F238E27FC236}">
                <a16:creationId xmlns:a16="http://schemas.microsoft.com/office/drawing/2014/main" id="{54DFAB0A-45C3-5987-9FD1-7C2747B4B740}"/>
              </a:ext>
            </a:extLst>
          </p:cNvPr>
          <p:cNvGraphicFramePr>
            <a:graphicFrameLocks noGrp="1"/>
          </p:cNvGraphicFramePr>
          <p:nvPr/>
        </p:nvGraphicFramePr>
        <p:xfrm>
          <a:off x="552450" y="2959100"/>
          <a:ext cx="7405688" cy="457200"/>
        </p:xfrm>
        <a:graphic>
          <a:graphicData uri="http://schemas.openxmlformats.org/drawingml/2006/table">
            <a:tbl>
              <a:tblPr firstRow="1" bandRow="1">
                <a:tableStyleId>{5940675A-B579-460E-94D1-54222C63F5DA}</a:tableStyleId>
              </a:tblPr>
              <a:tblGrid>
                <a:gridCol w="2040889">
                  <a:extLst>
                    <a:ext uri="{9D8B030D-6E8A-4147-A177-3AD203B41FA5}">
                      <a16:colId xmlns:a16="http://schemas.microsoft.com/office/drawing/2014/main" val="20000"/>
                    </a:ext>
                  </a:extLst>
                </a:gridCol>
                <a:gridCol w="2037899">
                  <a:extLst>
                    <a:ext uri="{9D8B030D-6E8A-4147-A177-3AD203B41FA5}">
                      <a16:colId xmlns:a16="http://schemas.microsoft.com/office/drawing/2014/main" val="20001"/>
                    </a:ext>
                  </a:extLst>
                </a:gridCol>
                <a:gridCol w="2054850">
                  <a:extLst>
                    <a:ext uri="{9D8B030D-6E8A-4147-A177-3AD203B41FA5}">
                      <a16:colId xmlns:a16="http://schemas.microsoft.com/office/drawing/2014/main" val="20002"/>
                    </a:ext>
                  </a:extLst>
                </a:gridCol>
                <a:gridCol w="1272050">
                  <a:extLst>
                    <a:ext uri="{9D8B030D-6E8A-4147-A177-3AD203B41FA5}">
                      <a16:colId xmlns:a16="http://schemas.microsoft.com/office/drawing/2014/main" val="20003"/>
                    </a:ext>
                  </a:extLst>
                </a:gridCol>
              </a:tblGrid>
              <a:tr h="370840">
                <a:tc>
                  <a:txBody>
                    <a:bodyPr/>
                    <a:lstStyle/>
                    <a:p>
                      <a:pPr algn="ctr"/>
                      <a:r>
                        <a:rPr lang="en-CA" sz="2400" u="none" dirty="0"/>
                        <a:t>STUDENTID</a:t>
                      </a:r>
                    </a:p>
                  </a:txBody>
                  <a:tcPr marL="91443" marR="91443"/>
                </a:tc>
                <a:tc>
                  <a:txBody>
                    <a:bodyPr/>
                    <a:lstStyle/>
                    <a:p>
                      <a:pPr algn="ctr"/>
                      <a:r>
                        <a:rPr lang="en-CA" sz="2400" dirty="0"/>
                        <a:t>LASTNAME</a:t>
                      </a:r>
                    </a:p>
                  </a:txBody>
                  <a:tcPr marL="91443" marR="91443"/>
                </a:tc>
                <a:tc>
                  <a:txBody>
                    <a:bodyPr/>
                    <a:lstStyle/>
                    <a:p>
                      <a:pPr algn="ctr"/>
                      <a:r>
                        <a:rPr lang="en-CA" sz="2400" dirty="0"/>
                        <a:t>FIRSTNAME</a:t>
                      </a:r>
                    </a:p>
                  </a:txBody>
                  <a:tcPr marL="91443" marR="91443"/>
                </a:tc>
                <a:tc>
                  <a:txBody>
                    <a:bodyPr/>
                    <a:lstStyle/>
                    <a:p>
                      <a:pPr algn="ctr"/>
                      <a:r>
                        <a:rPr lang="en-CA" sz="2400" dirty="0"/>
                        <a:t>AGE</a:t>
                      </a:r>
                    </a:p>
                  </a:txBody>
                  <a:tcPr marL="91443" marR="91443"/>
                </a:tc>
                <a:extLst>
                  <a:ext uri="{0D108BD9-81ED-4DB2-BD59-A6C34878D82A}">
                    <a16:rowId xmlns:a16="http://schemas.microsoft.com/office/drawing/2014/main" val="10000"/>
                  </a:ext>
                </a:extLst>
              </a:tr>
            </a:tbl>
          </a:graphicData>
        </a:graphic>
      </p:graphicFrame>
      <p:sp>
        <p:nvSpPr>
          <p:cNvPr id="8" name="TextBox 7">
            <a:extLst>
              <a:ext uri="{FF2B5EF4-FFF2-40B4-BE49-F238E27FC236}">
                <a16:creationId xmlns:a16="http://schemas.microsoft.com/office/drawing/2014/main" id="{D22C765D-ABAB-7FE8-64A1-96D633C9E4E5}"/>
              </a:ext>
            </a:extLst>
          </p:cNvPr>
          <p:cNvSpPr>
            <a:spLocks noChangeArrowheads="1"/>
          </p:cNvSpPr>
          <p:nvPr/>
        </p:nvSpPr>
        <p:spPr bwMode="auto">
          <a:xfrm>
            <a:off x="288925" y="5264150"/>
            <a:ext cx="7956550" cy="579438"/>
          </a:xfrm>
          <a:prstGeom prst="roundRect">
            <a:avLst>
              <a:gd name="adj" fmla="val 16667"/>
            </a:avLst>
          </a:prstGeom>
          <a:solidFill>
            <a:srgbClr val="FFFF00">
              <a:alpha val="30196"/>
            </a:srgbClr>
          </a:solidFill>
          <a:ln w="9525">
            <a:solidFill>
              <a:srgbClr val="FFFF00"/>
            </a:solidFill>
            <a:round/>
            <a:headEnd/>
            <a:tailEnd/>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2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STUDENTID → LASTNAME, FIRSTNAME, AGE</a:t>
            </a:r>
          </a:p>
        </p:txBody>
      </p:sp>
      <p:sp>
        <p:nvSpPr>
          <p:cNvPr id="18449" name="TextBox 8">
            <a:extLst>
              <a:ext uri="{FF2B5EF4-FFF2-40B4-BE49-F238E27FC236}">
                <a16:creationId xmlns:a16="http://schemas.microsoft.com/office/drawing/2014/main" id="{4066AA40-B303-3231-F5BD-94EFC2F0218D}"/>
              </a:ext>
            </a:extLst>
          </p:cNvPr>
          <p:cNvSpPr txBox="1">
            <a:spLocks noChangeArrowheads="1"/>
          </p:cNvSpPr>
          <p:nvPr/>
        </p:nvSpPr>
        <p:spPr bwMode="auto">
          <a:xfrm>
            <a:off x="485775" y="2527300"/>
            <a:ext cx="20891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24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STUDENT</a:t>
            </a:r>
          </a:p>
        </p:txBody>
      </p:sp>
      <p:cxnSp>
        <p:nvCxnSpPr>
          <p:cNvPr id="10" name="Straight Connector 9">
            <a:extLst>
              <a:ext uri="{FF2B5EF4-FFF2-40B4-BE49-F238E27FC236}">
                <a16:creationId xmlns:a16="http://schemas.microsoft.com/office/drawing/2014/main" id="{E415BD02-22F9-15BB-E090-0FA277D7F9FB}"/>
              </a:ext>
            </a:extLst>
          </p:cNvPr>
          <p:cNvCxnSpPr/>
          <p:nvPr/>
        </p:nvCxnSpPr>
        <p:spPr bwMode="auto">
          <a:xfrm flipV="1">
            <a:off x="654050" y="3343275"/>
            <a:ext cx="1812925" cy="0"/>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11" name="Title 1">
            <a:extLst>
              <a:ext uri="{FF2B5EF4-FFF2-40B4-BE49-F238E27FC236}">
                <a16:creationId xmlns:a16="http://schemas.microsoft.com/office/drawing/2014/main" id="{36282C2B-9F4E-E696-C471-26384C6C9953}"/>
              </a:ext>
            </a:extLst>
          </p:cNvPr>
          <p:cNvSpPr>
            <a:spLocks noGrp="1"/>
          </p:cNvSpPr>
          <p:nvPr>
            <p:ph type="title"/>
          </p:nvPr>
        </p:nvSpPr>
        <p:spPr>
          <a:xfrm>
            <a:off x="457200" y="76200"/>
            <a:ext cx="7620000" cy="1143000"/>
          </a:xfrm>
        </p:spPr>
        <p:txBody>
          <a:bodyPr/>
          <a:lstStyle/>
          <a:p>
            <a:pPr algn="ctr">
              <a:defRPr/>
            </a:pPr>
            <a:r>
              <a:rPr lang="en-US" dirty="0"/>
              <a:t>Relational Database Normalization</a:t>
            </a:r>
            <a:endParaRPr lang="en-CA"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18">
                                            <p:txEl>
                                              <p:pRg st="4" end="4"/>
                                            </p:txEl>
                                          </p:spTgt>
                                        </p:tgtEl>
                                        <p:attrNameLst>
                                          <p:attrName>style.visibility</p:attrName>
                                        </p:attrNameLst>
                                      </p:cBhvr>
                                      <p:to>
                                        <p:strVal val="visible"/>
                                      </p:to>
                                    </p:set>
                                    <p:animEffect transition="in" filter="wipe(up)">
                                      <p:cBhvr>
                                        <p:cTn id="7" dur="500"/>
                                        <p:tgtEl>
                                          <p:spTgt spid="18">
                                            <p:txEl>
                                              <p:pRg st="4" end="4"/>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left)">
                                      <p:cBhvr>
                                        <p:cTn id="1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Content Placeholder 2">
            <a:extLst>
              <a:ext uri="{FF2B5EF4-FFF2-40B4-BE49-F238E27FC236}">
                <a16:creationId xmlns:a16="http://schemas.microsoft.com/office/drawing/2014/main" id="{5DC62BC3-80DD-53A9-FCAC-466522202C2A}"/>
              </a:ext>
            </a:extLst>
          </p:cNvPr>
          <p:cNvSpPr txBox="1">
            <a:spLocks/>
          </p:cNvSpPr>
          <p:nvPr/>
        </p:nvSpPr>
        <p:spPr bwMode="auto">
          <a:xfrm>
            <a:off x="228600" y="1765300"/>
            <a:ext cx="7924800"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US" altLang="en-US" sz="32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rPr>
              <a:t>Consider the following relational schema</a:t>
            </a: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US" altLang="en-US" sz="32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US" altLang="en-US" sz="32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US" altLang="en-US" sz="20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US" altLang="en-US" sz="32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rPr>
              <a:t>The functional dependencies can also be represented as a dependency diagram</a:t>
            </a: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US" altLang="en-US" sz="32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US" altLang="en-US" sz="10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US" altLang="en-US" sz="40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endParaRPr>
          </a:p>
        </p:txBody>
      </p:sp>
      <p:sp>
        <p:nvSpPr>
          <p:cNvPr id="16" name="Title 1">
            <a:extLst>
              <a:ext uri="{FF2B5EF4-FFF2-40B4-BE49-F238E27FC236}">
                <a16:creationId xmlns:a16="http://schemas.microsoft.com/office/drawing/2014/main" id="{27DFE862-BE8B-06AD-3286-10A771741C7A}"/>
              </a:ext>
            </a:extLst>
          </p:cNvPr>
          <p:cNvSpPr txBox="1">
            <a:spLocks/>
          </p:cNvSpPr>
          <p:nvPr/>
        </p:nvSpPr>
        <p:spPr bwMode="auto">
          <a:xfrm>
            <a:off x="104775" y="1530350"/>
            <a:ext cx="8172450" cy="323850"/>
          </a:xfrm>
          <a:prstGeom prst="rect">
            <a:avLst/>
          </a:prstGeom>
          <a:noFill/>
          <a:ln w="9525">
            <a:noFill/>
            <a:miter lim="800000"/>
            <a:headEnd/>
            <a:tailEnd/>
          </a:ln>
        </p:spPr>
        <p:txBody>
          <a:bodyPr lIns="72000" tIns="0" rIns="72000" bIns="0"/>
          <a:lstStyle/>
          <a:p>
            <a:pPr marL="0" marR="0" lvl="0" indent="0" algn="l" defTabSz="720000" rtl="0" eaLnBrk="1" fontAlgn="base" latinLnBrk="0" hangingPunct="1">
              <a:lnSpc>
                <a:spcPts val="1800"/>
              </a:lnSpc>
              <a:spcBef>
                <a:spcPts val="0"/>
              </a:spcBef>
              <a:spcAft>
                <a:spcPts val="0"/>
              </a:spcAft>
              <a:buClrTx/>
              <a:buSzTx/>
              <a:buFontTx/>
              <a:buNone/>
              <a:tabLst>
                <a:tab pos="0" algn="l"/>
              </a:tabLst>
              <a:defRPr/>
            </a:pPr>
            <a:r>
              <a:rPr kumimoji="0" lang="en-US" sz="1800" b="1" i="0" u="none" strike="noStrike" kern="0" cap="none" spc="0" normalizeH="0" baseline="0" noProof="0" dirty="0">
                <a:ln>
                  <a:noFill/>
                </a:ln>
                <a:solidFill>
                  <a:srgbClr val="2F2B20"/>
                </a:solidFill>
                <a:effectLst/>
                <a:uLnTx/>
                <a:uFillTx/>
                <a:latin typeface="Calibri"/>
                <a:ea typeface="+mn-ea"/>
                <a:cs typeface="Calibri" pitchFamily="34" charset="0"/>
              </a:rPr>
              <a:t>Functional Dependencies</a:t>
            </a:r>
            <a:endParaRPr kumimoji="0" lang="en-MY" sz="1800" b="1" i="0" u="none" strike="noStrike" kern="0" cap="none" spc="0" normalizeH="0" baseline="0" noProof="0" dirty="0">
              <a:ln>
                <a:noFill/>
              </a:ln>
              <a:solidFill>
                <a:srgbClr val="2F2B20"/>
              </a:solidFill>
              <a:effectLst/>
              <a:uLnTx/>
              <a:uFillTx/>
              <a:latin typeface="Calibri"/>
              <a:ea typeface="+mn-ea"/>
              <a:cs typeface="Calibri" pitchFamily="34" charset="0"/>
            </a:endParaRPr>
          </a:p>
        </p:txBody>
      </p:sp>
      <p:graphicFrame>
        <p:nvGraphicFramePr>
          <p:cNvPr id="17" name="Table 16">
            <a:extLst>
              <a:ext uri="{FF2B5EF4-FFF2-40B4-BE49-F238E27FC236}">
                <a16:creationId xmlns:a16="http://schemas.microsoft.com/office/drawing/2014/main" id="{CF14B497-4568-61D7-9A02-99CC8C3F8456}"/>
              </a:ext>
            </a:extLst>
          </p:cNvPr>
          <p:cNvGraphicFramePr>
            <a:graphicFrameLocks noGrp="1"/>
          </p:cNvGraphicFramePr>
          <p:nvPr/>
        </p:nvGraphicFramePr>
        <p:xfrm>
          <a:off x="552450" y="2771775"/>
          <a:ext cx="7405688" cy="457200"/>
        </p:xfrm>
        <a:graphic>
          <a:graphicData uri="http://schemas.openxmlformats.org/drawingml/2006/table">
            <a:tbl>
              <a:tblPr firstRow="1" bandRow="1">
                <a:tableStyleId>{5940675A-B579-460E-94D1-54222C63F5DA}</a:tableStyleId>
              </a:tblPr>
              <a:tblGrid>
                <a:gridCol w="2040889">
                  <a:extLst>
                    <a:ext uri="{9D8B030D-6E8A-4147-A177-3AD203B41FA5}">
                      <a16:colId xmlns:a16="http://schemas.microsoft.com/office/drawing/2014/main" val="20000"/>
                    </a:ext>
                  </a:extLst>
                </a:gridCol>
                <a:gridCol w="2037899">
                  <a:extLst>
                    <a:ext uri="{9D8B030D-6E8A-4147-A177-3AD203B41FA5}">
                      <a16:colId xmlns:a16="http://schemas.microsoft.com/office/drawing/2014/main" val="20001"/>
                    </a:ext>
                  </a:extLst>
                </a:gridCol>
                <a:gridCol w="2054850">
                  <a:extLst>
                    <a:ext uri="{9D8B030D-6E8A-4147-A177-3AD203B41FA5}">
                      <a16:colId xmlns:a16="http://schemas.microsoft.com/office/drawing/2014/main" val="20002"/>
                    </a:ext>
                  </a:extLst>
                </a:gridCol>
                <a:gridCol w="1272050">
                  <a:extLst>
                    <a:ext uri="{9D8B030D-6E8A-4147-A177-3AD203B41FA5}">
                      <a16:colId xmlns:a16="http://schemas.microsoft.com/office/drawing/2014/main" val="20003"/>
                    </a:ext>
                  </a:extLst>
                </a:gridCol>
              </a:tblGrid>
              <a:tr h="370840">
                <a:tc>
                  <a:txBody>
                    <a:bodyPr/>
                    <a:lstStyle/>
                    <a:p>
                      <a:pPr algn="ctr"/>
                      <a:r>
                        <a:rPr lang="en-CA" sz="2400" u="none" dirty="0"/>
                        <a:t>STUDENTID</a:t>
                      </a:r>
                    </a:p>
                  </a:txBody>
                  <a:tcPr marL="91443" marR="91443"/>
                </a:tc>
                <a:tc>
                  <a:txBody>
                    <a:bodyPr/>
                    <a:lstStyle/>
                    <a:p>
                      <a:pPr algn="ctr"/>
                      <a:r>
                        <a:rPr lang="en-CA" sz="2400" dirty="0"/>
                        <a:t>LASTNAME</a:t>
                      </a:r>
                    </a:p>
                  </a:txBody>
                  <a:tcPr marL="91443" marR="91443"/>
                </a:tc>
                <a:tc>
                  <a:txBody>
                    <a:bodyPr/>
                    <a:lstStyle/>
                    <a:p>
                      <a:pPr algn="ctr"/>
                      <a:r>
                        <a:rPr lang="en-CA" sz="2400" dirty="0"/>
                        <a:t>FIRSTNAME</a:t>
                      </a:r>
                    </a:p>
                  </a:txBody>
                  <a:tcPr marL="91443" marR="91443"/>
                </a:tc>
                <a:tc>
                  <a:txBody>
                    <a:bodyPr/>
                    <a:lstStyle/>
                    <a:p>
                      <a:pPr algn="ctr"/>
                      <a:r>
                        <a:rPr lang="en-CA" sz="2400" dirty="0"/>
                        <a:t>AGE</a:t>
                      </a:r>
                    </a:p>
                  </a:txBody>
                  <a:tcPr marL="91443" marR="91443"/>
                </a:tc>
                <a:extLst>
                  <a:ext uri="{0D108BD9-81ED-4DB2-BD59-A6C34878D82A}">
                    <a16:rowId xmlns:a16="http://schemas.microsoft.com/office/drawing/2014/main" val="10000"/>
                  </a:ext>
                </a:extLst>
              </a:tr>
            </a:tbl>
          </a:graphicData>
        </a:graphic>
      </p:graphicFrame>
      <p:graphicFrame>
        <p:nvGraphicFramePr>
          <p:cNvPr id="9" name="Table 8">
            <a:extLst>
              <a:ext uri="{FF2B5EF4-FFF2-40B4-BE49-F238E27FC236}">
                <a16:creationId xmlns:a16="http://schemas.microsoft.com/office/drawing/2014/main" id="{A72B4EAB-7789-DB0D-1A13-4F2DC644A097}"/>
              </a:ext>
            </a:extLst>
          </p:cNvPr>
          <p:cNvGraphicFramePr>
            <a:graphicFrameLocks noGrp="1"/>
          </p:cNvGraphicFramePr>
          <p:nvPr/>
        </p:nvGraphicFramePr>
        <p:xfrm>
          <a:off x="546100" y="5435600"/>
          <a:ext cx="7405688" cy="457200"/>
        </p:xfrm>
        <a:graphic>
          <a:graphicData uri="http://schemas.openxmlformats.org/drawingml/2006/table">
            <a:tbl>
              <a:tblPr firstRow="1" bandRow="1">
                <a:tableStyleId>{5940675A-B579-460E-94D1-54222C63F5DA}</a:tableStyleId>
              </a:tblPr>
              <a:tblGrid>
                <a:gridCol w="2040889">
                  <a:extLst>
                    <a:ext uri="{9D8B030D-6E8A-4147-A177-3AD203B41FA5}">
                      <a16:colId xmlns:a16="http://schemas.microsoft.com/office/drawing/2014/main" val="20000"/>
                    </a:ext>
                  </a:extLst>
                </a:gridCol>
                <a:gridCol w="2037899">
                  <a:extLst>
                    <a:ext uri="{9D8B030D-6E8A-4147-A177-3AD203B41FA5}">
                      <a16:colId xmlns:a16="http://schemas.microsoft.com/office/drawing/2014/main" val="20001"/>
                    </a:ext>
                  </a:extLst>
                </a:gridCol>
                <a:gridCol w="2054850">
                  <a:extLst>
                    <a:ext uri="{9D8B030D-6E8A-4147-A177-3AD203B41FA5}">
                      <a16:colId xmlns:a16="http://schemas.microsoft.com/office/drawing/2014/main" val="20002"/>
                    </a:ext>
                  </a:extLst>
                </a:gridCol>
                <a:gridCol w="1272050">
                  <a:extLst>
                    <a:ext uri="{9D8B030D-6E8A-4147-A177-3AD203B41FA5}">
                      <a16:colId xmlns:a16="http://schemas.microsoft.com/office/drawing/2014/main" val="20003"/>
                    </a:ext>
                  </a:extLst>
                </a:gridCol>
              </a:tblGrid>
              <a:tr h="370840">
                <a:tc>
                  <a:txBody>
                    <a:bodyPr/>
                    <a:lstStyle/>
                    <a:p>
                      <a:pPr algn="ctr"/>
                      <a:r>
                        <a:rPr lang="en-CA" sz="2400" u="none" dirty="0"/>
                        <a:t>STUDENTID</a:t>
                      </a:r>
                    </a:p>
                  </a:txBody>
                  <a:tcPr marL="91443" marR="91443"/>
                </a:tc>
                <a:tc>
                  <a:txBody>
                    <a:bodyPr/>
                    <a:lstStyle/>
                    <a:p>
                      <a:pPr algn="ctr"/>
                      <a:r>
                        <a:rPr lang="en-CA" sz="2400" dirty="0"/>
                        <a:t>LASTNAME</a:t>
                      </a:r>
                    </a:p>
                  </a:txBody>
                  <a:tcPr marL="91443" marR="91443"/>
                </a:tc>
                <a:tc>
                  <a:txBody>
                    <a:bodyPr/>
                    <a:lstStyle/>
                    <a:p>
                      <a:pPr algn="ctr"/>
                      <a:r>
                        <a:rPr lang="en-CA" sz="2400" dirty="0"/>
                        <a:t>FIRSTNAME</a:t>
                      </a:r>
                    </a:p>
                  </a:txBody>
                  <a:tcPr marL="91443" marR="91443"/>
                </a:tc>
                <a:tc>
                  <a:txBody>
                    <a:bodyPr/>
                    <a:lstStyle/>
                    <a:p>
                      <a:pPr algn="ctr"/>
                      <a:r>
                        <a:rPr lang="en-CA" sz="2400" dirty="0"/>
                        <a:t>AGE</a:t>
                      </a:r>
                    </a:p>
                  </a:txBody>
                  <a:tcPr marL="91443" marR="91443"/>
                </a:tc>
                <a:extLst>
                  <a:ext uri="{0D108BD9-81ED-4DB2-BD59-A6C34878D82A}">
                    <a16:rowId xmlns:a16="http://schemas.microsoft.com/office/drawing/2014/main" val="10000"/>
                  </a:ext>
                </a:extLst>
              </a:tr>
            </a:tbl>
          </a:graphicData>
        </a:graphic>
      </p:graphicFrame>
      <p:sp>
        <p:nvSpPr>
          <p:cNvPr id="10" name="TextBox 9">
            <a:extLst>
              <a:ext uri="{FF2B5EF4-FFF2-40B4-BE49-F238E27FC236}">
                <a16:creationId xmlns:a16="http://schemas.microsoft.com/office/drawing/2014/main" id="{D29302C0-B639-02C4-4507-2AE8AD4DDE55}"/>
              </a:ext>
            </a:extLst>
          </p:cNvPr>
          <p:cNvSpPr txBox="1">
            <a:spLocks noChangeArrowheads="1"/>
          </p:cNvSpPr>
          <p:nvPr/>
        </p:nvSpPr>
        <p:spPr bwMode="auto">
          <a:xfrm>
            <a:off x="474663" y="5005388"/>
            <a:ext cx="208756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24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STUDENT</a:t>
            </a:r>
          </a:p>
        </p:txBody>
      </p:sp>
      <p:cxnSp>
        <p:nvCxnSpPr>
          <p:cNvPr id="4" name="Straight Connector 3">
            <a:extLst>
              <a:ext uri="{FF2B5EF4-FFF2-40B4-BE49-F238E27FC236}">
                <a16:creationId xmlns:a16="http://schemas.microsoft.com/office/drawing/2014/main" id="{4F9444A3-5EEB-102B-5A7E-816D03F8D9F6}"/>
              </a:ext>
            </a:extLst>
          </p:cNvPr>
          <p:cNvCxnSpPr>
            <a:cxnSpLocks noChangeShapeType="1"/>
          </p:cNvCxnSpPr>
          <p:nvPr/>
        </p:nvCxnSpPr>
        <p:spPr bwMode="auto">
          <a:xfrm>
            <a:off x="1657350" y="5892800"/>
            <a:ext cx="0" cy="431800"/>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cxnSp>
        <p:nvCxnSpPr>
          <p:cNvPr id="6" name="Straight Connector 5">
            <a:extLst>
              <a:ext uri="{FF2B5EF4-FFF2-40B4-BE49-F238E27FC236}">
                <a16:creationId xmlns:a16="http://schemas.microsoft.com/office/drawing/2014/main" id="{61A4D742-5ADD-86A1-9A55-C4CE71828CE3}"/>
              </a:ext>
            </a:extLst>
          </p:cNvPr>
          <p:cNvCxnSpPr>
            <a:cxnSpLocks noChangeShapeType="1"/>
          </p:cNvCxnSpPr>
          <p:nvPr/>
        </p:nvCxnSpPr>
        <p:spPr bwMode="auto">
          <a:xfrm>
            <a:off x="1662113" y="6324600"/>
            <a:ext cx="5629275" cy="0"/>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cxnSp>
        <p:nvCxnSpPr>
          <p:cNvPr id="14" name="Straight Connector 13">
            <a:extLst>
              <a:ext uri="{FF2B5EF4-FFF2-40B4-BE49-F238E27FC236}">
                <a16:creationId xmlns:a16="http://schemas.microsoft.com/office/drawing/2014/main" id="{10867CDC-0D06-4C13-8BF1-F1CC88FADECC}"/>
              </a:ext>
            </a:extLst>
          </p:cNvPr>
          <p:cNvCxnSpPr>
            <a:cxnSpLocks noChangeShapeType="1"/>
          </p:cNvCxnSpPr>
          <p:nvPr/>
        </p:nvCxnSpPr>
        <p:spPr bwMode="auto">
          <a:xfrm>
            <a:off x="3619500" y="5889625"/>
            <a:ext cx="0" cy="431800"/>
          </a:xfrm>
          <a:prstGeom prst="line">
            <a:avLst/>
          </a:prstGeom>
          <a:noFill/>
          <a:ln w="25400" algn="ctr">
            <a:solidFill>
              <a:schemeClr val="tx1"/>
            </a:solidFill>
            <a:round/>
            <a:headEnd type="triangle" w="med" len="med"/>
            <a:tailEnd/>
          </a:ln>
          <a:extLst>
            <a:ext uri="{909E8E84-426E-40DD-AFC4-6F175D3DCCD1}">
              <a14:hiddenFill xmlns:a14="http://schemas.microsoft.com/office/drawing/2010/main">
                <a:noFill/>
              </a14:hiddenFill>
            </a:ext>
          </a:extLst>
        </p:spPr>
      </p:cxnSp>
      <p:cxnSp>
        <p:nvCxnSpPr>
          <p:cNvPr id="15" name="Straight Connector 14">
            <a:extLst>
              <a:ext uri="{FF2B5EF4-FFF2-40B4-BE49-F238E27FC236}">
                <a16:creationId xmlns:a16="http://schemas.microsoft.com/office/drawing/2014/main" id="{2A16DABA-4206-98EF-88C6-BB9E75C3D59F}"/>
              </a:ext>
            </a:extLst>
          </p:cNvPr>
          <p:cNvCxnSpPr>
            <a:cxnSpLocks noChangeShapeType="1"/>
          </p:cNvCxnSpPr>
          <p:nvPr/>
        </p:nvCxnSpPr>
        <p:spPr bwMode="auto">
          <a:xfrm>
            <a:off x="5707063" y="5892800"/>
            <a:ext cx="0" cy="431800"/>
          </a:xfrm>
          <a:prstGeom prst="line">
            <a:avLst/>
          </a:prstGeom>
          <a:noFill/>
          <a:ln w="25400" algn="ctr">
            <a:solidFill>
              <a:schemeClr val="tx1"/>
            </a:solidFill>
            <a:round/>
            <a:headEnd type="triangle" w="med" len="med"/>
            <a:tailEnd/>
          </a:ln>
          <a:extLst>
            <a:ext uri="{909E8E84-426E-40DD-AFC4-6F175D3DCCD1}">
              <a14:hiddenFill xmlns:a14="http://schemas.microsoft.com/office/drawing/2010/main">
                <a:noFill/>
              </a14:hiddenFill>
            </a:ext>
          </a:extLst>
        </p:spPr>
      </p:cxnSp>
      <p:cxnSp>
        <p:nvCxnSpPr>
          <p:cNvPr id="20" name="Straight Connector 19">
            <a:extLst>
              <a:ext uri="{FF2B5EF4-FFF2-40B4-BE49-F238E27FC236}">
                <a16:creationId xmlns:a16="http://schemas.microsoft.com/office/drawing/2014/main" id="{526CF260-F83C-682F-82B9-06FAA4B2424A}"/>
              </a:ext>
            </a:extLst>
          </p:cNvPr>
          <p:cNvCxnSpPr>
            <a:cxnSpLocks noChangeShapeType="1"/>
          </p:cNvCxnSpPr>
          <p:nvPr/>
        </p:nvCxnSpPr>
        <p:spPr bwMode="auto">
          <a:xfrm>
            <a:off x="7291388" y="5892800"/>
            <a:ext cx="0" cy="431800"/>
          </a:xfrm>
          <a:prstGeom prst="line">
            <a:avLst/>
          </a:prstGeom>
          <a:noFill/>
          <a:ln w="25400" algn="ctr">
            <a:solidFill>
              <a:schemeClr val="tx1"/>
            </a:solidFill>
            <a:round/>
            <a:headEnd type="triangle" w="med" len="med"/>
            <a:tailEnd/>
          </a:ln>
          <a:extLst>
            <a:ext uri="{909E8E84-426E-40DD-AFC4-6F175D3DCCD1}">
              <a14:hiddenFill xmlns:a14="http://schemas.microsoft.com/office/drawing/2010/main">
                <a:noFill/>
              </a14:hiddenFill>
            </a:ext>
          </a:extLst>
        </p:spPr>
      </p:cxnSp>
      <p:sp>
        <p:nvSpPr>
          <p:cNvPr id="19490" name="TextBox 20">
            <a:extLst>
              <a:ext uri="{FF2B5EF4-FFF2-40B4-BE49-F238E27FC236}">
                <a16:creationId xmlns:a16="http://schemas.microsoft.com/office/drawing/2014/main" id="{198A42F8-F4D8-7813-E336-784DBFFE2DB0}"/>
              </a:ext>
            </a:extLst>
          </p:cNvPr>
          <p:cNvSpPr txBox="1">
            <a:spLocks noChangeArrowheads="1"/>
          </p:cNvSpPr>
          <p:nvPr/>
        </p:nvSpPr>
        <p:spPr bwMode="auto">
          <a:xfrm>
            <a:off x="485775" y="2339975"/>
            <a:ext cx="20891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24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STUDENT</a:t>
            </a:r>
          </a:p>
        </p:txBody>
      </p:sp>
      <p:cxnSp>
        <p:nvCxnSpPr>
          <p:cNvPr id="19" name="Straight Connector 18">
            <a:extLst>
              <a:ext uri="{FF2B5EF4-FFF2-40B4-BE49-F238E27FC236}">
                <a16:creationId xmlns:a16="http://schemas.microsoft.com/office/drawing/2014/main" id="{A9F6F367-8D0B-B5FA-5182-959CD7B6A12D}"/>
              </a:ext>
            </a:extLst>
          </p:cNvPr>
          <p:cNvCxnSpPr/>
          <p:nvPr/>
        </p:nvCxnSpPr>
        <p:spPr bwMode="auto">
          <a:xfrm flipV="1">
            <a:off x="654050" y="3155950"/>
            <a:ext cx="1812925" cy="0"/>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22" name="Straight Connector 21">
            <a:extLst>
              <a:ext uri="{FF2B5EF4-FFF2-40B4-BE49-F238E27FC236}">
                <a16:creationId xmlns:a16="http://schemas.microsoft.com/office/drawing/2014/main" id="{5260CF54-AA4E-EF47-264F-9C913F73E5A8}"/>
              </a:ext>
            </a:extLst>
          </p:cNvPr>
          <p:cNvCxnSpPr/>
          <p:nvPr/>
        </p:nvCxnSpPr>
        <p:spPr bwMode="auto">
          <a:xfrm flipV="1">
            <a:off x="644525" y="5808663"/>
            <a:ext cx="1812925" cy="0"/>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24" name="Title 1">
            <a:extLst>
              <a:ext uri="{FF2B5EF4-FFF2-40B4-BE49-F238E27FC236}">
                <a16:creationId xmlns:a16="http://schemas.microsoft.com/office/drawing/2014/main" id="{B5C7AEED-FF62-CD73-320E-D794D88B9D31}"/>
              </a:ext>
            </a:extLst>
          </p:cNvPr>
          <p:cNvSpPr>
            <a:spLocks noGrp="1"/>
          </p:cNvSpPr>
          <p:nvPr>
            <p:ph type="title"/>
          </p:nvPr>
        </p:nvSpPr>
        <p:spPr>
          <a:xfrm>
            <a:off x="457200" y="76200"/>
            <a:ext cx="7620000" cy="1143000"/>
          </a:xfrm>
        </p:spPr>
        <p:txBody>
          <a:bodyPr/>
          <a:lstStyle/>
          <a:p>
            <a:pPr algn="ctr">
              <a:defRPr/>
            </a:pPr>
            <a:r>
              <a:rPr lang="en-US" dirty="0"/>
              <a:t>Relational Database Normalization</a:t>
            </a:r>
            <a:endParaRPr lang="en-CA"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18">
                                            <p:txEl>
                                              <p:pRg st="4" end="4"/>
                                            </p:txEl>
                                          </p:spTgt>
                                        </p:tgtEl>
                                        <p:attrNameLst>
                                          <p:attrName>style.visibility</p:attrName>
                                        </p:attrNameLst>
                                      </p:cBhvr>
                                      <p:to>
                                        <p:strVal val="visible"/>
                                      </p:to>
                                    </p:set>
                                    <p:animEffect transition="in" filter="wipe(up)">
                                      <p:cBhvr>
                                        <p:cTn id="7" dur="500"/>
                                        <p:tgtEl>
                                          <p:spTgt spid="18">
                                            <p:txEl>
                                              <p:pRg st="4" end="4"/>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up)">
                                      <p:cBhvr>
                                        <p:cTn id="12" dur="500"/>
                                        <p:tgtEl>
                                          <p:spTgt spid="10"/>
                                        </p:tgtEl>
                                      </p:cBhvr>
                                    </p:animEffect>
                                  </p:childTnLst>
                                </p:cTn>
                              </p:par>
                            </p:childTnLst>
                          </p:cTn>
                        </p:par>
                        <p:par>
                          <p:cTn id="13" fill="hold" nodeType="afterGroup">
                            <p:stCondLst>
                              <p:cond delay="500"/>
                            </p:stCondLst>
                            <p:childTnLst>
                              <p:par>
                                <p:cTn id="14" presetID="22" presetClass="entr" presetSubtype="8" fill="hold" nodeType="after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ipe(left)">
                                      <p:cBhvr>
                                        <p:cTn id="16" dur="500"/>
                                        <p:tgtEl>
                                          <p:spTgt spid="9"/>
                                        </p:tgtEl>
                                      </p:cBhvr>
                                    </p:animEffect>
                                  </p:childTnLst>
                                </p:cTn>
                              </p:par>
                            </p:childTnLst>
                          </p:cTn>
                        </p:par>
                        <p:par>
                          <p:cTn id="17" fill="hold" nodeType="afterGroup">
                            <p:stCondLst>
                              <p:cond delay="1000"/>
                            </p:stCondLst>
                            <p:childTnLst>
                              <p:par>
                                <p:cTn id="18" presetID="22" presetClass="entr" presetSubtype="8" fill="hold" nodeType="afterEffect">
                                  <p:stCondLst>
                                    <p:cond delay="0"/>
                                  </p:stCondLst>
                                  <p:childTnLst>
                                    <p:set>
                                      <p:cBhvr>
                                        <p:cTn id="19" dur="1" fill="hold">
                                          <p:stCondLst>
                                            <p:cond delay="0"/>
                                          </p:stCondLst>
                                        </p:cTn>
                                        <p:tgtEl>
                                          <p:spTgt spid="22"/>
                                        </p:tgtEl>
                                        <p:attrNameLst>
                                          <p:attrName>style.visibility</p:attrName>
                                        </p:attrNameLst>
                                      </p:cBhvr>
                                      <p:to>
                                        <p:strVal val="visible"/>
                                      </p:to>
                                    </p:set>
                                    <p:animEffect transition="in" filter="wipe(left)">
                                      <p:cBhvr>
                                        <p:cTn id="20" dur="500"/>
                                        <p:tgtEl>
                                          <p:spTgt spid="22"/>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1"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wipe(up)">
                                      <p:cBhvr>
                                        <p:cTn id="25" dur="500"/>
                                        <p:tgtEl>
                                          <p:spTgt spid="4"/>
                                        </p:tgtEl>
                                      </p:cBhvr>
                                    </p:animEffect>
                                  </p:childTnLst>
                                </p:cTn>
                              </p:par>
                            </p:childTnLst>
                          </p:cTn>
                        </p:par>
                        <p:par>
                          <p:cTn id="26" fill="hold" nodeType="afterGroup">
                            <p:stCondLst>
                              <p:cond delay="500"/>
                            </p:stCondLst>
                            <p:childTnLst>
                              <p:par>
                                <p:cTn id="27" presetID="22" presetClass="entr" presetSubtype="8" fill="hold" nodeType="after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wipe(left)">
                                      <p:cBhvr>
                                        <p:cTn id="29" dur="500"/>
                                        <p:tgtEl>
                                          <p:spTgt spid="6"/>
                                        </p:tgtEl>
                                      </p:cBhvr>
                                    </p:animEffect>
                                  </p:childTnLst>
                                </p:cTn>
                              </p:par>
                            </p:childTnLst>
                          </p:cTn>
                        </p:par>
                        <p:par>
                          <p:cTn id="30" fill="hold" nodeType="afterGroup">
                            <p:stCondLst>
                              <p:cond delay="1000"/>
                            </p:stCondLst>
                            <p:childTnLst>
                              <p:par>
                                <p:cTn id="31" presetID="22" presetClass="entr" presetSubtype="4" fill="hold" nodeType="after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wipe(down)">
                                      <p:cBhvr>
                                        <p:cTn id="33" dur="500"/>
                                        <p:tgtEl>
                                          <p:spTgt spid="14"/>
                                        </p:tgtEl>
                                      </p:cBhvr>
                                    </p:animEffect>
                                  </p:childTnLst>
                                </p:cTn>
                              </p:par>
                              <p:par>
                                <p:cTn id="34" presetID="22" presetClass="entr" presetSubtype="4" fill="hold"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down)">
                                      <p:cBhvr>
                                        <p:cTn id="36" dur="500"/>
                                        <p:tgtEl>
                                          <p:spTgt spid="15"/>
                                        </p:tgtEl>
                                      </p:cBhvr>
                                    </p:animEffect>
                                  </p:childTnLst>
                                </p:cTn>
                              </p:par>
                              <p:par>
                                <p:cTn id="37" presetID="22" presetClass="entr" presetSubtype="4" fill="hold" nodeType="withEffect">
                                  <p:stCondLst>
                                    <p:cond delay="0"/>
                                  </p:stCondLst>
                                  <p:childTnLst>
                                    <p:set>
                                      <p:cBhvr>
                                        <p:cTn id="38" dur="1" fill="hold">
                                          <p:stCondLst>
                                            <p:cond delay="0"/>
                                          </p:stCondLst>
                                        </p:cTn>
                                        <p:tgtEl>
                                          <p:spTgt spid="20"/>
                                        </p:tgtEl>
                                        <p:attrNameLst>
                                          <p:attrName>style.visibility</p:attrName>
                                        </p:attrNameLst>
                                      </p:cBhvr>
                                      <p:to>
                                        <p:strVal val="visible"/>
                                      </p:to>
                                    </p:set>
                                    <p:animEffect transition="in" filter="wipe(down)">
                                      <p:cBhvr>
                                        <p:cTn id="39"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Content Placeholder 2">
            <a:extLst>
              <a:ext uri="{FF2B5EF4-FFF2-40B4-BE49-F238E27FC236}">
                <a16:creationId xmlns:a16="http://schemas.microsoft.com/office/drawing/2014/main" id="{7A6FB9DD-DC31-C913-C1CE-4AA5C76E62F8}"/>
              </a:ext>
            </a:extLst>
          </p:cNvPr>
          <p:cNvSpPr txBox="1">
            <a:spLocks/>
          </p:cNvSpPr>
          <p:nvPr/>
        </p:nvSpPr>
        <p:spPr bwMode="auto">
          <a:xfrm>
            <a:off x="304800" y="1341438"/>
            <a:ext cx="7848600"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rPr>
              <a:t>Given the following relational schema</a:t>
            </a: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US" altLang="en-US" sz="32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US" altLang="en-US" sz="18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rPr>
              <a:t>Can we state that </a:t>
            </a:r>
            <a:r>
              <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LASTNAME → STUDENTID?</a:t>
            </a:r>
            <a:endPar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US" altLang="en-US" sz="10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US" altLang="en-US" sz="40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endParaRPr>
          </a:p>
        </p:txBody>
      </p:sp>
      <p:sp>
        <p:nvSpPr>
          <p:cNvPr id="2" name="Title 1">
            <a:extLst>
              <a:ext uri="{FF2B5EF4-FFF2-40B4-BE49-F238E27FC236}">
                <a16:creationId xmlns:a16="http://schemas.microsoft.com/office/drawing/2014/main" id="{CB1F9CF5-4E2C-BD2F-7D8E-EB04142C8747}"/>
              </a:ext>
            </a:extLst>
          </p:cNvPr>
          <p:cNvSpPr>
            <a:spLocks noGrp="1"/>
          </p:cNvSpPr>
          <p:nvPr>
            <p:ph type="title"/>
          </p:nvPr>
        </p:nvSpPr>
        <p:spPr>
          <a:xfrm>
            <a:off x="457200" y="0"/>
            <a:ext cx="7620000" cy="1143000"/>
          </a:xfrm>
        </p:spPr>
        <p:txBody>
          <a:bodyPr/>
          <a:lstStyle/>
          <a:p>
            <a:pPr algn="ctr">
              <a:defRPr/>
            </a:pPr>
            <a:r>
              <a:rPr lang="en-US" dirty="0"/>
              <a:t>Activity 6</a:t>
            </a:r>
            <a:endParaRPr lang="en-CA" dirty="0"/>
          </a:p>
        </p:txBody>
      </p:sp>
      <p:sp>
        <p:nvSpPr>
          <p:cNvPr id="6" name="Title 1">
            <a:extLst>
              <a:ext uri="{FF2B5EF4-FFF2-40B4-BE49-F238E27FC236}">
                <a16:creationId xmlns:a16="http://schemas.microsoft.com/office/drawing/2014/main" id="{9B011C83-3353-0B99-4C5A-B8519BA2850F}"/>
              </a:ext>
            </a:extLst>
          </p:cNvPr>
          <p:cNvSpPr txBox="1">
            <a:spLocks/>
          </p:cNvSpPr>
          <p:nvPr/>
        </p:nvSpPr>
        <p:spPr bwMode="auto">
          <a:xfrm>
            <a:off x="31750" y="1125538"/>
            <a:ext cx="8172450" cy="323850"/>
          </a:xfrm>
          <a:prstGeom prst="rect">
            <a:avLst/>
          </a:prstGeom>
          <a:noFill/>
          <a:ln w="9525">
            <a:noFill/>
            <a:miter lim="800000"/>
            <a:headEnd/>
            <a:tailEnd/>
          </a:ln>
        </p:spPr>
        <p:txBody>
          <a:bodyPr lIns="72000" tIns="0" rIns="72000" bIns="0"/>
          <a:lstStyle/>
          <a:p>
            <a:pPr marL="0" marR="0" lvl="0" indent="0" algn="l" defTabSz="720000" rtl="0" eaLnBrk="1" fontAlgn="base" latinLnBrk="0" hangingPunct="1">
              <a:lnSpc>
                <a:spcPts val="1800"/>
              </a:lnSpc>
              <a:spcBef>
                <a:spcPts val="0"/>
              </a:spcBef>
              <a:spcAft>
                <a:spcPts val="0"/>
              </a:spcAft>
              <a:buClrTx/>
              <a:buSzTx/>
              <a:buFontTx/>
              <a:buNone/>
              <a:tabLst>
                <a:tab pos="0" algn="l"/>
              </a:tabLst>
              <a:defRPr/>
            </a:pPr>
            <a:r>
              <a:rPr kumimoji="0" lang="en-CA" sz="1800" b="1" i="0" u="none" strike="noStrike" kern="0" cap="none" spc="0" normalizeH="0" baseline="0" noProof="0" dirty="0">
                <a:ln>
                  <a:noFill/>
                </a:ln>
                <a:solidFill>
                  <a:srgbClr val="2F2B20"/>
                </a:solidFill>
                <a:effectLst/>
                <a:uLnTx/>
                <a:uFillTx/>
                <a:latin typeface="Calibri"/>
                <a:ea typeface="+mn-ea"/>
                <a:cs typeface="Calibri" pitchFamily="34" charset="0"/>
              </a:rPr>
              <a:t>CLASS ACTIVITY</a:t>
            </a:r>
            <a:endParaRPr kumimoji="0" lang="en-MY" sz="1800" b="1" i="0" u="none" strike="noStrike" kern="0" cap="none" spc="0" normalizeH="0" baseline="0" noProof="0" dirty="0">
              <a:ln>
                <a:noFill/>
              </a:ln>
              <a:solidFill>
                <a:srgbClr val="2F2B20"/>
              </a:solidFill>
              <a:effectLst/>
              <a:uLnTx/>
              <a:uFillTx/>
              <a:latin typeface="Arial" panose="020B0604020202020204" pitchFamily="34" charset="0"/>
              <a:ea typeface="+mn-ea"/>
              <a:cs typeface="Calibri" pitchFamily="34" charset="0"/>
            </a:endParaRPr>
          </a:p>
          <a:p>
            <a:pPr marL="0" marR="0" lvl="0" indent="0" algn="l" defTabSz="720000" rtl="0" eaLnBrk="1" fontAlgn="base" latinLnBrk="0" hangingPunct="1">
              <a:lnSpc>
                <a:spcPts val="1800"/>
              </a:lnSpc>
              <a:spcBef>
                <a:spcPts val="0"/>
              </a:spcBef>
              <a:spcAft>
                <a:spcPts val="0"/>
              </a:spcAft>
              <a:buClrTx/>
              <a:buSzTx/>
              <a:buFontTx/>
              <a:buNone/>
              <a:tabLst>
                <a:tab pos="0" algn="l"/>
              </a:tabLst>
              <a:defRPr/>
            </a:pPr>
            <a:endParaRPr kumimoji="0" lang="en-MY" sz="1800" b="1" i="0" u="none" strike="noStrike" kern="0" cap="none" spc="0" normalizeH="0" baseline="0" noProof="0" dirty="0">
              <a:ln>
                <a:noFill/>
              </a:ln>
              <a:solidFill>
                <a:srgbClr val="2F2B20"/>
              </a:solidFill>
              <a:effectLst/>
              <a:uLnTx/>
              <a:uFillTx/>
              <a:latin typeface="Calibri"/>
              <a:ea typeface="+mn-ea"/>
              <a:cs typeface="Calibri" pitchFamily="34" charset="0"/>
            </a:endParaRPr>
          </a:p>
        </p:txBody>
      </p:sp>
      <p:graphicFrame>
        <p:nvGraphicFramePr>
          <p:cNvPr id="9" name="Table 8">
            <a:extLst>
              <a:ext uri="{FF2B5EF4-FFF2-40B4-BE49-F238E27FC236}">
                <a16:creationId xmlns:a16="http://schemas.microsoft.com/office/drawing/2014/main" id="{7C994D35-4EF8-7EBE-93CA-36DC84D4D6C0}"/>
              </a:ext>
            </a:extLst>
          </p:cNvPr>
          <p:cNvGraphicFramePr>
            <a:graphicFrameLocks noGrp="1"/>
          </p:cNvGraphicFramePr>
          <p:nvPr/>
        </p:nvGraphicFramePr>
        <p:xfrm>
          <a:off x="628650" y="2251075"/>
          <a:ext cx="7405688" cy="457200"/>
        </p:xfrm>
        <a:graphic>
          <a:graphicData uri="http://schemas.openxmlformats.org/drawingml/2006/table">
            <a:tbl>
              <a:tblPr firstRow="1" bandRow="1">
                <a:tableStyleId>{5940675A-B579-460E-94D1-54222C63F5DA}</a:tableStyleId>
              </a:tblPr>
              <a:tblGrid>
                <a:gridCol w="2040889">
                  <a:extLst>
                    <a:ext uri="{9D8B030D-6E8A-4147-A177-3AD203B41FA5}">
                      <a16:colId xmlns:a16="http://schemas.microsoft.com/office/drawing/2014/main" val="20000"/>
                    </a:ext>
                  </a:extLst>
                </a:gridCol>
                <a:gridCol w="2037899">
                  <a:extLst>
                    <a:ext uri="{9D8B030D-6E8A-4147-A177-3AD203B41FA5}">
                      <a16:colId xmlns:a16="http://schemas.microsoft.com/office/drawing/2014/main" val="20001"/>
                    </a:ext>
                  </a:extLst>
                </a:gridCol>
                <a:gridCol w="2054850">
                  <a:extLst>
                    <a:ext uri="{9D8B030D-6E8A-4147-A177-3AD203B41FA5}">
                      <a16:colId xmlns:a16="http://schemas.microsoft.com/office/drawing/2014/main" val="20002"/>
                    </a:ext>
                  </a:extLst>
                </a:gridCol>
                <a:gridCol w="1272050">
                  <a:extLst>
                    <a:ext uri="{9D8B030D-6E8A-4147-A177-3AD203B41FA5}">
                      <a16:colId xmlns:a16="http://schemas.microsoft.com/office/drawing/2014/main" val="20003"/>
                    </a:ext>
                  </a:extLst>
                </a:gridCol>
              </a:tblGrid>
              <a:tr h="370840">
                <a:tc>
                  <a:txBody>
                    <a:bodyPr/>
                    <a:lstStyle/>
                    <a:p>
                      <a:pPr algn="ctr"/>
                      <a:r>
                        <a:rPr lang="en-CA" sz="2400" u="none" dirty="0"/>
                        <a:t>STUDENTID</a:t>
                      </a:r>
                    </a:p>
                  </a:txBody>
                  <a:tcPr marL="91443" marR="91443"/>
                </a:tc>
                <a:tc>
                  <a:txBody>
                    <a:bodyPr/>
                    <a:lstStyle/>
                    <a:p>
                      <a:pPr algn="ctr"/>
                      <a:r>
                        <a:rPr lang="en-CA" sz="2400" dirty="0"/>
                        <a:t>LASTNAME</a:t>
                      </a:r>
                    </a:p>
                  </a:txBody>
                  <a:tcPr marL="91443" marR="91443"/>
                </a:tc>
                <a:tc>
                  <a:txBody>
                    <a:bodyPr/>
                    <a:lstStyle/>
                    <a:p>
                      <a:pPr algn="ctr"/>
                      <a:r>
                        <a:rPr lang="en-CA" sz="2400" dirty="0"/>
                        <a:t>FIRSTNAME</a:t>
                      </a:r>
                    </a:p>
                  </a:txBody>
                  <a:tcPr marL="91443" marR="91443"/>
                </a:tc>
                <a:tc>
                  <a:txBody>
                    <a:bodyPr/>
                    <a:lstStyle/>
                    <a:p>
                      <a:pPr algn="ctr"/>
                      <a:r>
                        <a:rPr lang="en-CA" sz="2400" dirty="0"/>
                        <a:t>AGE</a:t>
                      </a:r>
                    </a:p>
                  </a:txBody>
                  <a:tcPr marL="91443" marR="91443"/>
                </a:tc>
                <a:extLst>
                  <a:ext uri="{0D108BD9-81ED-4DB2-BD59-A6C34878D82A}">
                    <a16:rowId xmlns:a16="http://schemas.microsoft.com/office/drawing/2014/main" val="10000"/>
                  </a:ext>
                </a:extLst>
              </a:tr>
            </a:tbl>
          </a:graphicData>
        </a:graphic>
      </p:graphicFrame>
      <p:sp>
        <p:nvSpPr>
          <p:cNvPr id="10" name="TextBox 9">
            <a:extLst>
              <a:ext uri="{FF2B5EF4-FFF2-40B4-BE49-F238E27FC236}">
                <a16:creationId xmlns:a16="http://schemas.microsoft.com/office/drawing/2014/main" id="{20E6CB30-EB0D-3670-21B2-DB30CD435229}"/>
              </a:ext>
            </a:extLst>
          </p:cNvPr>
          <p:cNvSpPr txBox="1">
            <a:spLocks noChangeArrowheads="1"/>
          </p:cNvSpPr>
          <p:nvPr/>
        </p:nvSpPr>
        <p:spPr bwMode="auto">
          <a:xfrm>
            <a:off x="561975" y="1820863"/>
            <a:ext cx="20891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24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STUDENT</a:t>
            </a:r>
          </a:p>
        </p:txBody>
      </p:sp>
      <p:cxnSp>
        <p:nvCxnSpPr>
          <p:cNvPr id="11" name="Straight Connector 10">
            <a:extLst>
              <a:ext uri="{FF2B5EF4-FFF2-40B4-BE49-F238E27FC236}">
                <a16:creationId xmlns:a16="http://schemas.microsoft.com/office/drawing/2014/main" id="{4D075C10-DF92-C1D5-C32D-17616E4283E8}"/>
              </a:ext>
            </a:extLst>
          </p:cNvPr>
          <p:cNvCxnSpPr/>
          <p:nvPr/>
        </p:nvCxnSpPr>
        <p:spPr bwMode="auto">
          <a:xfrm flipV="1">
            <a:off x="730250" y="2636838"/>
            <a:ext cx="1812925" cy="0"/>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12" name="Rounded Rectangle 11">
            <a:extLst>
              <a:ext uri="{FF2B5EF4-FFF2-40B4-BE49-F238E27FC236}">
                <a16:creationId xmlns:a16="http://schemas.microsoft.com/office/drawing/2014/main" id="{C7A65815-5BE4-E7E9-F0B4-CCE538FF9788}"/>
              </a:ext>
            </a:extLst>
          </p:cNvPr>
          <p:cNvSpPr/>
          <p:nvPr/>
        </p:nvSpPr>
        <p:spPr bwMode="auto">
          <a:xfrm>
            <a:off x="3244850" y="3405188"/>
            <a:ext cx="2197100" cy="482600"/>
          </a:xfrm>
          <a:prstGeom prst="roundRect">
            <a:avLst/>
          </a:prstGeom>
          <a:ln>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nchorCtr="1"/>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sz="3200" b="0" i="0" u="none" strike="noStrike" kern="1200" cap="none" spc="0" normalizeH="0" baseline="0" noProof="0" dirty="0">
                <a:ln>
                  <a:noFill/>
                </a:ln>
                <a:solidFill>
                  <a:srgbClr val="FFFFFF"/>
                </a:solidFill>
                <a:effectLst/>
                <a:uLnTx/>
                <a:uFillTx/>
                <a:latin typeface="Arial" charset="0"/>
                <a:ea typeface="+mn-ea"/>
                <a:cs typeface="+mn-cs"/>
              </a:rPr>
              <a:t>Answer</a:t>
            </a:r>
          </a:p>
        </p:txBody>
      </p:sp>
      <p:sp>
        <p:nvSpPr>
          <p:cNvPr id="13" name="Snip Single Corner Rectangle 12">
            <a:extLst>
              <a:ext uri="{FF2B5EF4-FFF2-40B4-BE49-F238E27FC236}">
                <a16:creationId xmlns:a16="http://schemas.microsoft.com/office/drawing/2014/main" id="{F6EFA7D2-148C-1671-F6BB-33C237E277E0}"/>
              </a:ext>
            </a:extLst>
          </p:cNvPr>
          <p:cNvSpPr/>
          <p:nvPr/>
        </p:nvSpPr>
        <p:spPr bwMode="auto">
          <a:xfrm>
            <a:off x="993775" y="4149725"/>
            <a:ext cx="6699250" cy="2232025"/>
          </a:xfrm>
          <a:prstGeom prst="snip1Rect">
            <a:avLst/>
          </a:prstGeom>
          <a:ln>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lIns="288000"/>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2F2B20"/>
                </a:solidFill>
                <a:effectLst/>
                <a:uLnTx/>
                <a:uFillTx/>
                <a:latin typeface="Calibri"/>
                <a:ea typeface="+mn-ea"/>
                <a:cs typeface="+mn-cs"/>
              </a:rPr>
              <a:t>NO. A student’s last name is not unique. Therefore, given a last name, there is no guarantee that we will end up with one and only one student Id. As a result, STUDENTID is not functionally dependent on LASTNAME</a:t>
            </a:r>
            <a:endParaRPr kumimoji="0" lang="en-CA" sz="1400" b="0" i="0" u="none" strike="noStrike" kern="1200" cap="none" spc="0" normalizeH="0" baseline="0" noProof="0" dirty="0">
              <a:ln>
                <a:noFill/>
              </a:ln>
              <a:solidFill>
                <a:srgbClr val="2F2B20"/>
              </a:solidFill>
              <a:effectLst/>
              <a:uLnTx/>
              <a:uFillTx/>
              <a:latin typeface="Arial" charset="0"/>
              <a:ea typeface="+mn-ea"/>
              <a:cs typeface="+mn-cs"/>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28">
                                            <p:txEl>
                                              <p:pRg st="0" end="0"/>
                                            </p:txEl>
                                          </p:spTgt>
                                        </p:tgtEl>
                                        <p:attrNameLst>
                                          <p:attrName>style.visibility</p:attrName>
                                        </p:attrNameLst>
                                      </p:cBhvr>
                                      <p:to>
                                        <p:strVal val="visible"/>
                                      </p:to>
                                    </p:set>
                                    <p:animEffect transition="in" filter="wipe(left)">
                                      <p:cBhvr>
                                        <p:cTn id="7" dur="500"/>
                                        <p:tgtEl>
                                          <p:spTgt spid="28">
                                            <p:txEl>
                                              <p:pRg st="0" end="0"/>
                                            </p:txEl>
                                          </p:spTgt>
                                        </p:tgtEl>
                                      </p:cBhvr>
                                    </p:animEffect>
                                  </p:childTnLst>
                                </p:cTn>
                              </p:par>
                            </p:childTnLst>
                          </p:cTn>
                        </p:par>
                        <p:par>
                          <p:cTn id="8" fill="hold" nodeType="afterGroup">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up)">
                                      <p:cBhvr>
                                        <p:cTn id="11" dur="500"/>
                                        <p:tgtEl>
                                          <p:spTgt spid="10"/>
                                        </p:tgtEl>
                                      </p:cBhvr>
                                    </p:animEffect>
                                  </p:childTnLst>
                                </p:cTn>
                              </p:par>
                            </p:childTnLst>
                          </p:cTn>
                        </p:par>
                        <p:par>
                          <p:cTn id="12" fill="hold" nodeType="afterGroup">
                            <p:stCondLst>
                              <p:cond delay="1000"/>
                            </p:stCondLst>
                            <p:childTnLst>
                              <p:par>
                                <p:cTn id="13" presetID="22" presetClass="entr" presetSubtype="8" fill="hold"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wipe(left)">
                                      <p:cBhvr>
                                        <p:cTn id="15" dur="500"/>
                                        <p:tgtEl>
                                          <p:spTgt spid="9"/>
                                        </p:tgtEl>
                                      </p:cBhvr>
                                    </p:animEffect>
                                  </p:childTnLst>
                                </p:cTn>
                              </p:par>
                            </p:childTnLst>
                          </p:cTn>
                        </p:par>
                        <p:par>
                          <p:cTn id="16" fill="hold" nodeType="afterGroup">
                            <p:stCondLst>
                              <p:cond delay="1500"/>
                            </p:stCondLst>
                            <p:childTnLst>
                              <p:par>
                                <p:cTn id="17" presetID="22" presetClass="entr" presetSubtype="8" fill="hold" nodeType="after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wipe(left)">
                                      <p:cBhvr>
                                        <p:cTn id="19" dur="500"/>
                                        <p:tgtEl>
                                          <p:spTgt spid="11"/>
                                        </p:tgtEl>
                                      </p:cBhvr>
                                    </p:animEffect>
                                  </p:childTnLst>
                                </p:cTn>
                              </p:par>
                            </p:childTnLst>
                          </p:cTn>
                        </p:par>
                        <p:par>
                          <p:cTn id="20" fill="hold" nodeType="afterGroup">
                            <p:stCondLst>
                              <p:cond delay="2000"/>
                            </p:stCondLst>
                            <p:childTnLst>
                              <p:par>
                                <p:cTn id="21" presetID="22" presetClass="entr" presetSubtype="8" fill="hold" nodeType="afterEffect">
                                  <p:stCondLst>
                                    <p:cond delay="0"/>
                                  </p:stCondLst>
                                  <p:childTnLst>
                                    <p:set>
                                      <p:cBhvr>
                                        <p:cTn id="22" dur="1" fill="hold">
                                          <p:stCondLst>
                                            <p:cond delay="0"/>
                                          </p:stCondLst>
                                        </p:cTn>
                                        <p:tgtEl>
                                          <p:spTgt spid="28">
                                            <p:txEl>
                                              <p:pRg st="3" end="3"/>
                                            </p:txEl>
                                          </p:spTgt>
                                        </p:tgtEl>
                                        <p:attrNameLst>
                                          <p:attrName>style.visibility</p:attrName>
                                        </p:attrNameLst>
                                      </p:cBhvr>
                                      <p:to>
                                        <p:strVal val="visible"/>
                                      </p:to>
                                    </p:set>
                                    <p:animEffect transition="in" filter="wipe(left)">
                                      <p:cBhvr>
                                        <p:cTn id="23" dur="500"/>
                                        <p:tgtEl>
                                          <p:spTgt spid="28">
                                            <p:txEl>
                                              <p:pRg st="3" end="3"/>
                                            </p:txEl>
                                          </p:spTgt>
                                        </p:tgtEl>
                                      </p:cBhvr>
                                    </p:animEffect>
                                  </p:childTnLst>
                                </p:cTn>
                              </p:par>
                            </p:childTnLst>
                          </p:cTn>
                        </p:par>
                        <p:par>
                          <p:cTn id="24" fill="hold" nodeType="afterGroup">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wipe(left)">
                                      <p:cBhvr>
                                        <p:cTn id="27" dur="500"/>
                                        <p:tgtEl>
                                          <p:spTgt spid="1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animBg="1"/>
      <p:bldP spid="13" grpId="0" animBg="1"/>
    </p:bld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Content Placeholder 2">
            <a:extLst>
              <a:ext uri="{FF2B5EF4-FFF2-40B4-BE49-F238E27FC236}">
                <a16:creationId xmlns:a16="http://schemas.microsoft.com/office/drawing/2014/main" id="{A43E7F76-3688-E0CB-489A-1C629EE55F16}"/>
              </a:ext>
            </a:extLst>
          </p:cNvPr>
          <p:cNvSpPr txBox="1">
            <a:spLocks/>
          </p:cNvSpPr>
          <p:nvPr/>
        </p:nvSpPr>
        <p:spPr bwMode="auto">
          <a:xfrm>
            <a:off x="101600" y="1866900"/>
            <a:ext cx="8234363"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Normalization consists of working through a series of stages known as normal forms</a:t>
            </a:r>
            <a:endParaRPr kumimoji="0" lang="en-US" altLang="en-US" sz="32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US" altLang="en-US" sz="32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rPr>
              <a:t> </a:t>
            </a: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grpSp>
        <p:nvGrpSpPr>
          <p:cNvPr id="2" name="Group 4">
            <a:extLst>
              <a:ext uri="{FF2B5EF4-FFF2-40B4-BE49-F238E27FC236}">
                <a16:creationId xmlns:a16="http://schemas.microsoft.com/office/drawing/2014/main" id="{17EC817B-2256-F308-00EF-4E759B0C8DE6}"/>
              </a:ext>
            </a:extLst>
          </p:cNvPr>
          <p:cNvGrpSpPr>
            <a:grpSpLocks/>
          </p:cNvGrpSpPr>
          <p:nvPr/>
        </p:nvGrpSpPr>
        <p:grpSpPr bwMode="auto">
          <a:xfrm>
            <a:off x="101600" y="2970213"/>
            <a:ext cx="8204200" cy="1625600"/>
            <a:chOff x="1529357" y="2948582"/>
            <a:chExt cx="6085284" cy="960834"/>
          </a:xfrm>
        </p:grpSpPr>
        <p:sp>
          <p:nvSpPr>
            <p:cNvPr id="6" name="Freeform 5">
              <a:hlinkClick r:id="rId2" action="ppaction://hlinksldjump"/>
              <a:extLst>
                <a:ext uri="{FF2B5EF4-FFF2-40B4-BE49-F238E27FC236}">
                  <a16:creationId xmlns:a16="http://schemas.microsoft.com/office/drawing/2014/main" id="{0C30C3B8-C5BB-32D5-CECF-660D22A3ABC5}"/>
                </a:ext>
              </a:extLst>
            </p:cNvPr>
            <p:cNvSpPr/>
            <p:nvPr/>
          </p:nvSpPr>
          <p:spPr>
            <a:xfrm>
              <a:off x="1529357" y="2948582"/>
              <a:ext cx="1601391" cy="960834"/>
            </a:xfrm>
            <a:custGeom>
              <a:avLst/>
              <a:gdLst>
                <a:gd name="connsiteX0" fmla="*/ 0 w 1601390"/>
                <a:gd name="connsiteY0" fmla="*/ 96083 h 960834"/>
                <a:gd name="connsiteX1" fmla="*/ 96083 w 1601390"/>
                <a:gd name="connsiteY1" fmla="*/ 0 h 960834"/>
                <a:gd name="connsiteX2" fmla="*/ 1505307 w 1601390"/>
                <a:gd name="connsiteY2" fmla="*/ 0 h 960834"/>
                <a:gd name="connsiteX3" fmla="*/ 1601390 w 1601390"/>
                <a:gd name="connsiteY3" fmla="*/ 96083 h 960834"/>
                <a:gd name="connsiteX4" fmla="*/ 1601390 w 1601390"/>
                <a:gd name="connsiteY4" fmla="*/ 864751 h 960834"/>
                <a:gd name="connsiteX5" fmla="*/ 1505307 w 1601390"/>
                <a:gd name="connsiteY5" fmla="*/ 960834 h 960834"/>
                <a:gd name="connsiteX6" fmla="*/ 96083 w 1601390"/>
                <a:gd name="connsiteY6" fmla="*/ 960834 h 960834"/>
                <a:gd name="connsiteX7" fmla="*/ 0 w 1601390"/>
                <a:gd name="connsiteY7" fmla="*/ 864751 h 960834"/>
                <a:gd name="connsiteX8" fmla="*/ 0 w 1601390"/>
                <a:gd name="connsiteY8" fmla="*/ 96083 h 960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01390" h="960834">
                  <a:moveTo>
                    <a:pt x="0" y="96083"/>
                  </a:moveTo>
                  <a:cubicBezTo>
                    <a:pt x="0" y="43018"/>
                    <a:pt x="43018" y="0"/>
                    <a:pt x="96083" y="0"/>
                  </a:cubicBezTo>
                  <a:lnTo>
                    <a:pt x="1505307" y="0"/>
                  </a:lnTo>
                  <a:cubicBezTo>
                    <a:pt x="1558372" y="0"/>
                    <a:pt x="1601390" y="43018"/>
                    <a:pt x="1601390" y="96083"/>
                  </a:cubicBezTo>
                  <a:lnTo>
                    <a:pt x="1601390" y="864751"/>
                  </a:lnTo>
                  <a:cubicBezTo>
                    <a:pt x="1601390" y="917816"/>
                    <a:pt x="1558372" y="960834"/>
                    <a:pt x="1505307" y="960834"/>
                  </a:cubicBezTo>
                  <a:lnTo>
                    <a:pt x="96083" y="960834"/>
                  </a:lnTo>
                  <a:cubicBezTo>
                    <a:pt x="43018" y="960834"/>
                    <a:pt x="0" y="917816"/>
                    <a:pt x="0" y="864751"/>
                  </a:cubicBezTo>
                  <a:lnTo>
                    <a:pt x="0" y="96083"/>
                  </a:lnTo>
                  <a:close/>
                </a:path>
              </a:pathLst>
            </a:custGeom>
            <a:no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180542" tIns="180542" rIns="180542" bIns="180542" spcCol="1270" anchor="ctr"/>
            <a:lstStyle/>
            <a:p>
              <a:pPr marL="0" marR="0" lvl="0" indent="0" algn="ctr" defTabSz="1778000" rtl="0" eaLnBrk="0" fontAlgn="base" latinLnBrk="0" hangingPunct="0">
                <a:lnSpc>
                  <a:spcPct val="90000"/>
                </a:lnSpc>
                <a:spcBef>
                  <a:spcPct val="0"/>
                </a:spcBef>
                <a:spcAft>
                  <a:spcPct val="35000"/>
                </a:spcAft>
                <a:buClrTx/>
                <a:buSzTx/>
                <a:buFontTx/>
                <a:buNone/>
                <a:tabLst/>
                <a:defRPr/>
              </a:pPr>
              <a:r>
                <a:rPr kumimoji="0" lang="en-CA" sz="2000" b="0" i="0" u="none" strike="noStrike" kern="1200" cap="none" spc="0" normalizeH="0" baseline="0" noProof="0" dirty="0" err="1">
                  <a:ln>
                    <a:noFill/>
                  </a:ln>
                  <a:solidFill>
                    <a:srgbClr val="2F2B20"/>
                  </a:solidFill>
                  <a:effectLst/>
                  <a:uLnTx/>
                  <a:uFillTx/>
                  <a:latin typeface="Calibri"/>
                  <a:ea typeface="+mn-ea"/>
                  <a:cs typeface="+mn-cs"/>
                </a:rPr>
                <a:t>Unnormalized</a:t>
              </a:r>
              <a:r>
                <a:rPr kumimoji="0" lang="en-CA" sz="2000" b="0" i="0" u="none" strike="noStrike" kern="1200" cap="none" spc="0" normalizeH="0" baseline="0" noProof="0" dirty="0">
                  <a:ln>
                    <a:noFill/>
                  </a:ln>
                  <a:solidFill>
                    <a:srgbClr val="2F2B20"/>
                  </a:solidFill>
                  <a:effectLst/>
                  <a:uLnTx/>
                  <a:uFillTx/>
                  <a:latin typeface="Calibri"/>
                  <a:ea typeface="+mn-ea"/>
                  <a:cs typeface="+mn-cs"/>
                </a:rPr>
                <a:t> Form (UNF)</a:t>
              </a:r>
            </a:p>
          </p:txBody>
        </p:sp>
        <p:sp>
          <p:nvSpPr>
            <p:cNvPr id="7" name="Freeform 6">
              <a:hlinkClick r:id="rId3" action="ppaction://hlinksldjump"/>
              <a:extLst>
                <a:ext uri="{FF2B5EF4-FFF2-40B4-BE49-F238E27FC236}">
                  <a16:creationId xmlns:a16="http://schemas.microsoft.com/office/drawing/2014/main" id="{27006FF7-E7CB-5F39-68A4-6387045AC19E}"/>
                </a:ext>
              </a:extLst>
            </p:cNvPr>
            <p:cNvSpPr/>
            <p:nvPr/>
          </p:nvSpPr>
          <p:spPr>
            <a:xfrm>
              <a:off x="3290887" y="3230076"/>
              <a:ext cx="340296" cy="397845"/>
            </a:xfrm>
            <a:custGeom>
              <a:avLst/>
              <a:gdLst>
                <a:gd name="connsiteX0" fmla="*/ 0 w 339494"/>
                <a:gd name="connsiteY0" fmla="*/ 79429 h 397144"/>
                <a:gd name="connsiteX1" fmla="*/ 169747 w 339494"/>
                <a:gd name="connsiteY1" fmla="*/ 79429 h 397144"/>
                <a:gd name="connsiteX2" fmla="*/ 169747 w 339494"/>
                <a:gd name="connsiteY2" fmla="*/ 0 h 397144"/>
                <a:gd name="connsiteX3" fmla="*/ 339494 w 339494"/>
                <a:gd name="connsiteY3" fmla="*/ 198572 h 397144"/>
                <a:gd name="connsiteX4" fmla="*/ 169747 w 339494"/>
                <a:gd name="connsiteY4" fmla="*/ 397144 h 397144"/>
                <a:gd name="connsiteX5" fmla="*/ 169747 w 339494"/>
                <a:gd name="connsiteY5" fmla="*/ 317715 h 397144"/>
                <a:gd name="connsiteX6" fmla="*/ 0 w 339494"/>
                <a:gd name="connsiteY6" fmla="*/ 317715 h 397144"/>
                <a:gd name="connsiteX7" fmla="*/ 0 w 339494"/>
                <a:gd name="connsiteY7" fmla="*/ 79429 h 397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9494" h="397144">
                  <a:moveTo>
                    <a:pt x="0" y="79429"/>
                  </a:moveTo>
                  <a:lnTo>
                    <a:pt x="169747" y="79429"/>
                  </a:lnTo>
                  <a:lnTo>
                    <a:pt x="169747" y="0"/>
                  </a:lnTo>
                  <a:lnTo>
                    <a:pt x="339494" y="198572"/>
                  </a:lnTo>
                  <a:lnTo>
                    <a:pt x="169747" y="397144"/>
                  </a:lnTo>
                  <a:lnTo>
                    <a:pt x="169747" y="317715"/>
                  </a:lnTo>
                  <a:lnTo>
                    <a:pt x="0" y="317715"/>
                  </a:lnTo>
                  <a:lnTo>
                    <a:pt x="0" y="79429"/>
                  </a:lnTo>
                  <a:close/>
                </a:path>
              </a:pathLst>
            </a:custGeom>
            <a:solidFill>
              <a:schemeClr val="bg1"/>
            </a:solidFill>
            <a:ln>
              <a:solidFill>
                <a:schemeClr val="tx1"/>
              </a:solidFill>
            </a:ln>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lIns="0" tIns="79429" rIns="101848" bIns="79429" spcCol="1270" anchor="ctr"/>
            <a:lstStyle/>
            <a:p>
              <a:pPr marL="0" marR="0" lvl="0" indent="0" algn="ctr" defTabSz="800100" rtl="0" eaLnBrk="0" fontAlgn="base" latinLnBrk="0" hangingPunct="0">
                <a:lnSpc>
                  <a:spcPct val="90000"/>
                </a:lnSpc>
                <a:spcBef>
                  <a:spcPct val="0"/>
                </a:spcBef>
                <a:spcAft>
                  <a:spcPct val="35000"/>
                </a:spcAft>
                <a:buClrTx/>
                <a:buSzTx/>
                <a:buFontTx/>
                <a:buNone/>
                <a:tabLst/>
                <a:defRPr/>
              </a:pPr>
              <a:endParaRPr kumimoji="0" lang="en-CA" sz="1800" b="0" i="0" u="none" strike="noStrike" kern="1200" cap="none" spc="0" normalizeH="0" baseline="0" noProof="0">
                <a:ln>
                  <a:noFill/>
                </a:ln>
                <a:solidFill>
                  <a:srgbClr val="FFFFFF"/>
                </a:solidFill>
                <a:effectLst/>
                <a:uLnTx/>
                <a:uFillTx/>
                <a:latin typeface="Calibri"/>
                <a:ea typeface="+mn-ea"/>
                <a:cs typeface="+mn-cs"/>
              </a:endParaRPr>
            </a:p>
          </p:txBody>
        </p:sp>
        <p:sp>
          <p:nvSpPr>
            <p:cNvPr id="8" name="Freeform 7">
              <a:hlinkClick r:id="rId4" action="ppaction://hlinksldjump"/>
              <a:extLst>
                <a:ext uri="{FF2B5EF4-FFF2-40B4-BE49-F238E27FC236}">
                  <a16:creationId xmlns:a16="http://schemas.microsoft.com/office/drawing/2014/main" id="{D50F2B05-73A1-41B1-BC24-A544C44DC458}"/>
                </a:ext>
              </a:extLst>
            </p:cNvPr>
            <p:cNvSpPr/>
            <p:nvPr/>
          </p:nvSpPr>
          <p:spPr>
            <a:xfrm>
              <a:off x="3771304" y="2948582"/>
              <a:ext cx="1601391" cy="960834"/>
            </a:xfrm>
            <a:custGeom>
              <a:avLst/>
              <a:gdLst>
                <a:gd name="connsiteX0" fmla="*/ 0 w 1601390"/>
                <a:gd name="connsiteY0" fmla="*/ 96083 h 960834"/>
                <a:gd name="connsiteX1" fmla="*/ 96083 w 1601390"/>
                <a:gd name="connsiteY1" fmla="*/ 0 h 960834"/>
                <a:gd name="connsiteX2" fmla="*/ 1505307 w 1601390"/>
                <a:gd name="connsiteY2" fmla="*/ 0 h 960834"/>
                <a:gd name="connsiteX3" fmla="*/ 1601390 w 1601390"/>
                <a:gd name="connsiteY3" fmla="*/ 96083 h 960834"/>
                <a:gd name="connsiteX4" fmla="*/ 1601390 w 1601390"/>
                <a:gd name="connsiteY4" fmla="*/ 864751 h 960834"/>
                <a:gd name="connsiteX5" fmla="*/ 1505307 w 1601390"/>
                <a:gd name="connsiteY5" fmla="*/ 960834 h 960834"/>
                <a:gd name="connsiteX6" fmla="*/ 96083 w 1601390"/>
                <a:gd name="connsiteY6" fmla="*/ 960834 h 960834"/>
                <a:gd name="connsiteX7" fmla="*/ 0 w 1601390"/>
                <a:gd name="connsiteY7" fmla="*/ 864751 h 960834"/>
                <a:gd name="connsiteX8" fmla="*/ 0 w 1601390"/>
                <a:gd name="connsiteY8" fmla="*/ 96083 h 960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01390" h="960834">
                  <a:moveTo>
                    <a:pt x="0" y="96083"/>
                  </a:moveTo>
                  <a:cubicBezTo>
                    <a:pt x="0" y="43018"/>
                    <a:pt x="43018" y="0"/>
                    <a:pt x="96083" y="0"/>
                  </a:cubicBezTo>
                  <a:lnTo>
                    <a:pt x="1505307" y="0"/>
                  </a:lnTo>
                  <a:cubicBezTo>
                    <a:pt x="1558372" y="0"/>
                    <a:pt x="1601390" y="43018"/>
                    <a:pt x="1601390" y="96083"/>
                  </a:cubicBezTo>
                  <a:lnTo>
                    <a:pt x="1601390" y="864751"/>
                  </a:lnTo>
                  <a:cubicBezTo>
                    <a:pt x="1601390" y="917816"/>
                    <a:pt x="1558372" y="960834"/>
                    <a:pt x="1505307" y="960834"/>
                  </a:cubicBezTo>
                  <a:lnTo>
                    <a:pt x="96083" y="960834"/>
                  </a:lnTo>
                  <a:cubicBezTo>
                    <a:pt x="43018" y="960834"/>
                    <a:pt x="0" y="917816"/>
                    <a:pt x="0" y="864751"/>
                  </a:cubicBezTo>
                  <a:lnTo>
                    <a:pt x="0" y="96083"/>
                  </a:lnTo>
                  <a:close/>
                </a:path>
              </a:pathLst>
            </a:custGeom>
            <a:solidFill>
              <a:schemeClr val="accent6">
                <a:alpha val="30000"/>
              </a:schemeClr>
            </a:solidFill>
            <a:ln>
              <a:solidFill>
                <a:schemeClr val="accent6"/>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180542" tIns="180542" rIns="180542" bIns="180542" spcCol="1270" anchor="ctr"/>
            <a:lstStyle/>
            <a:p>
              <a:pPr marL="0" marR="0" lvl="0" indent="0" algn="ctr" defTabSz="1778000" rtl="0" eaLnBrk="0" fontAlgn="base" latinLnBrk="0" hangingPunct="0">
                <a:lnSpc>
                  <a:spcPct val="90000"/>
                </a:lnSpc>
                <a:spcBef>
                  <a:spcPct val="0"/>
                </a:spcBef>
                <a:spcAft>
                  <a:spcPct val="35000"/>
                </a:spcAft>
                <a:buClrTx/>
                <a:buSzTx/>
                <a:buFontTx/>
                <a:buNone/>
                <a:tabLst/>
                <a:defRPr/>
              </a:pPr>
              <a:r>
                <a:rPr kumimoji="0" lang="en-CA" sz="2000" b="0" i="0" u="none" strike="noStrike" kern="1200" cap="none" spc="0" normalizeH="0" baseline="0" noProof="0" dirty="0">
                  <a:ln>
                    <a:noFill/>
                  </a:ln>
                  <a:solidFill>
                    <a:srgbClr val="2F2B20"/>
                  </a:solidFill>
                  <a:effectLst/>
                  <a:uLnTx/>
                  <a:uFillTx/>
                  <a:latin typeface="Calibri"/>
                  <a:ea typeface="+mn-ea"/>
                  <a:cs typeface="+mn-cs"/>
                </a:rPr>
                <a:t>First Normal Form (1NF)</a:t>
              </a:r>
            </a:p>
          </p:txBody>
        </p:sp>
        <p:sp>
          <p:nvSpPr>
            <p:cNvPr id="9" name="Freeform 8">
              <a:hlinkClick r:id="rId5" action="ppaction://hlinksldjump"/>
              <a:extLst>
                <a:ext uri="{FF2B5EF4-FFF2-40B4-BE49-F238E27FC236}">
                  <a16:creationId xmlns:a16="http://schemas.microsoft.com/office/drawing/2014/main" id="{EC643BC4-5597-FD95-29B8-29F588F1DA22}"/>
                </a:ext>
              </a:extLst>
            </p:cNvPr>
            <p:cNvSpPr/>
            <p:nvPr/>
          </p:nvSpPr>
          <p:spPr>
            <a:xfrm>
              <a:off x="5532833" y="3230076"/>
              <a:ext cx="339118" cy="397845"/>
            </a:xfrm>
            <a:custGeom>
              <a:avLst/>
              <a:gdLst>
                <a:gd name="connsiteX0" fmla="*/ 0 w 339494"/>
                <a:gd name="connsiteY0" fmla="*/ 79429 h 397144"/>
                <a:gd name="connsiteX1" fmla="*/ 169747 w 339494"/>
                <a:gd name="connsiteY1" fmla="*/ 79429 h 397144"/>
                <a:gd name="connsiteX2" fmla="*/ 169747 w 339494"/>
                <a:gd name="connsiteY2" fmla="*/ 0 h 397144"/>
                <a:gd name="connsiteX3" fmla="*/ 339494 w 339494"/>
                <a:gd name="connsiteY3" fmla="*/ 198572 h 397144"/>
                <a:gd name="connsiteX4" fmla="*/ 169747 w 339494"/>
                <a:gd name="connsiteY4" fmla="*/ 397144 h 397144"/>
                <a:gd name="connsiteX5" fmla="*/ 169747 w 339494"/>
                <a:gd name="connsiteY5" fmla="*/ 317715 h 397144"/>
                <a:gd name="connsiteX6" fmla="*/ 0 w 339494"/>
                <a:gd name="connsiteY6" fmla="*/ 317715 h 397144"/>
                <a:gd name="connsiteX7" fmla="*/ 0 w 339494"/>
                <a:gd name="connsiteY7" fmla="*/ 79429 h 397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9494" h="397144">
                  <a:moveTo>
                    <a:pt x="0" y="79429"/>
                  </a:moveTo>
                  <a:lnTo>
                    <a:pt x="169747" y="79429"/>
                  </a:lnTo>
                  <a:lnTo>
                    <a:pt x="169747" y="0"/>
                  </a:lnTo>
                  <a:lnTo>
                    <a:pt x="339494" y="198572"/>
                  </a:lnTo>
                  <a:lnTo>
                    <a:pt x="169747" y="397144"/>
                  </a:lnTo>
                  <a:lnTo>
                    <a:pt x="169747" y="317715"/>
                  </a:lnTo>
                  <a:lnTo>
                    <a:pt x="0" y="317715"/>
                  </a:lnTo>
                  <a:lnTo>
                    <a:pt x="0" y="79429"/>
                  </a:lnTo>
                  <a:close/>
                </a:path>
              </a:pathLst>
            </a:custGeom>
            <a:solidFill>
              <a:schemeClr val="accent6">
                <a:alpha val="30000"/>
              </a:schemeClr>
            </a:solidFill>
            <a:ln>
              <a:solidFill>
                <a:schemeClr val="accent6"/>
              </a:solidFill>
            </a:ln>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lIns="0" tIns="79429" rIns="101848" bIns="79429" spcCol="1270" anchor="ctr"/>
            <a:lstStyle/>
            <a:p>
              <a:pPr marL="0" marR="0" lvl="0" indent="0" algn="ctr" defTabSz="800100" rtl="0" eaLnBrk="0" fontAlgn="base" latinLnBrk="0" hangingPunct="0">
                <a:lnSpc>
                  <a:spcPct val="90000"/>
                </a:lnSpc>
                <a:spcBef>
                  <a:spcPct val="0"/>
                </a:spcBef>
                <a:spcAft>
                  <a:spcPct val="35000"/>
                </a:spcAft>
                <a:buClrTx/>
                <a:buSzTx/>
                <a:buFontTx/>
                <a:buNone/>
                <a:tabLst/>
                <a:defRPr/>
              </a:pPr>
              <a:endParaRPr kumimoji="0" lang="en-CA" sz="1800" b="0" i="0" u="none" strike="noStrike" kern="1200" cap="none" spc="0" normalizeH="0" baseline="0" noProof="0">
                <a:ln>
                  <a:noFill/>
                </a:ln>
                <a:solidFill>
                  <a:srgbClr val="FFFFFF"/>
                </a:solidFill>
                <a:effectLst/>
                <a:uLnTx/>
                <a:uFillTx/>
                <a:latin typeface="Calibri"/>
                <a:ea typeface="+mn-ea"/>
                <a:cs typeface="+mn-cs"/>
              </a:endParaRPr>
            </a:p>
          </p:txBody>
        </p:sp>
        <p:sp>
          <p:nvSpPr>
            <p:cNvPr id="11" name="Freeform 10">
              <a:hlinkClick r:id="rId6" action="ppaction://hlinksldjump"/>
              <a:extLst>
                <a:ext uri="{FF2B5EF4-FFF2-40B4-BE49-F238E27FC236}">
                  <a16:creationId xmlns:a16="http://schemas.microsoft.com/office/drawing/2014/main" id="{54F9CCDB-63FE-E112-B104-3125A741F369}"/>
                </a:ext>
              </a:extLst>
            </p:cNvPr>
            <p:cNvSpPr/>
            <p:nvPr/>
          </p:nvSpPr>
          <p:spPr>
            <a:xfrm>
              <a:off x="6013250" y="2948582"/>
              <a:ext cx="1601391" cy="960834"/>
            </a:xfrm>
            <a:custGeom>
              <a:avLst/>
              <a:gdLst>
                <a:gd name="connsiteX0" fmla="*/ 0 w 1601390"/>
                <a:gd name="connsiteY0" fmla="*/ 96083 h 960834"/>
                <a:gd name="connsiteX1" fmla="*/ 96083 w 1601390"/>
                <a:gd name="connsiteY1" fmla="*/ 0 h 960834"/>
                <a:gd name="connsiteX2" fmla="*/ 1505307 w 1601390"/>
                <a:gd name="connsiteY2" fmla="*/ 0 h 960834"/>
                <a:gd name="connsiteX3" fmla="*/ 1601390 w 1601390"/>
                <a:gd name="connsiteY3" fmla="*/ 96083 h 960834"/>
                <a:gd name="connsiteX4" fmla="*/ 1601390 w 1601390"/>
                <a:gd name="connsiteY4" fmla="*/ 864751 h 960834"/>
                <a:gd name="connsiteX5" fmla="*/ 1505307 w 1601390"/>
                <a:gd name="connsiteY5" fmla="*/ 960834 h 960834"/>
                <a:gd name="connsiteX6" fmla="*/ 96083 w 1601390"/>
                <a:gd name="connsiteY6" fmla="*/ 960834 h 960834"/>
                <a:gd name="connsiteX7" fmla="*/ 0 w 1601390"/>
                <a:gd name="connsiteY7" fmla="*/ 864751 h 960834"/>
                <a:gd name="connsiteX8" fmla="*/ 0 w 1601390"/>
                <a:gd name="connsiteY8" fmla="*/ 96083 h 960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01390" h="960834">
                  <a:moveTo>
                    <a:pt x="0" y="96083"/>
                  </a:moveTo>
                  <a:cubicBezTo>
                    <a:pt x="0" y="43018"/>
                    <a:pt x="43018" y="0"/>
                    <a:pt x="96083" y="0"/>
                  </a:cubicBezTo>
                  <a:lnTo>
                    <a:pt x="1505307" y="0"/>
                  </a:lnTo>
                  <a:cubicBezTo>
                    <a:pt x="1558372" y="0"/>
                    <a:pt x="1601390" y="43018"/>
                    <a:pt x="1601390" y="96083"/>
                  </a:cubicBezTo>
                  <a:lnTo>
                    <a:pt x="1601390" y="864751"/>
                  </a:lnTo>
                  <a:cubicBezTo>
                    <a:pt x="1601390" y="917816"/>
                    <a:pt x="1558372" y="960834"/>
                    <a:pt x="1505307" y="960834"/>
                  </a:cubicBezTo>
                  <a:lnTo>
                    <a:pt x="96083" y="960834"/>
                  </a:lnTo>
                  <a:cubicBezTo>
                    <a:pt x="43018" y="960834"/>
                    <a:pt x="0" y="917816"/>
                    <a:pt x="0" y="864751"/>
                  </a:cubicBezTo>
                  <a:lnTo>
                    <a:pt x="0" y="96083"/>
                  </a:lnTo>
                  <a:close/>
                </a:path>
              </a:pathLst>
            </a:custGeom>
            <a:solidFill>
              <a:schemeClr val="accent5">
                <a:alpha val="30000"/>
              </a:schemeClr>
            </a:solidFill>
            <a:ln>
              <a:solidFill>
                <a:schemeClr val="accent5"/>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180542" tIns="180542" rIns="180542" bIns="180542" spcCol="1270" anchor="ctr"/>
            <a:lstStyle/>
            <a:p>
              <a:pPr marL="0" marR="0" lvl="0" indent="0" algn="ctr" defTabSz="1778000" rtl="0" eaLnBrk="0" fontAlgn="base" latinLnBrk="0" hangingPunct="0">
                <a:lnSpc>
                  <a:spcPct val="90000"/>
                </a:lnSpc>
                <a:spcBef>
                  <a:spcPct val="0"/>
                </a:spcBef>
                <a:spcAft>
                  <a:spcPct val="35000"/>
                </a:spcAft>
                <a:buClrTx/>
                <a:buSzTx/>
                <a:buFontTx/>
                <a:buNone/>
                <a:tabLst/>
                <a:defRPr/>
              </a:pPr>
              <a:r>
                <a:rPr kumimoji="0" lang="en-CA" sz="2000" b="0" i="0" u="none" strike="noStrike" kern="1200" cap="none" spc="0" normalizeH="0" baseline="0" noProof="0" dirty="0">
                  <a:ln>
                    <a:noFill/>
                  </a:ln>
                  <a:solidFill>
                    <a:srgbClr val="2F2B20"/>
                  </a:solidFill>
                  <a:effectLst/>
                  <a:uLnTx/>
                  <a:uFillTx/>
                  <a:latin typeface="Calibri"/>
                  <a:ea typeface="+mn-ea"/>
                  <a:cs typeface="+mn-cs"/>
                </a:rPr>
                <a:t>Second Normal Form (2NF)</a:t>
              </a:r>
            </a:p>
          </p:txBody>
        </p:sp>
      </p:grpSp>
      <p:grpSp>
        <p:nvGrpSpPr>
          <p:cNvPr id="3" name="Group 9">
            <a:extLst>
              <a:ext uri="{FF2B5EF4-FFF2-40B4-BE49-F238E27FC236}">
                <a16:creationId xmlns:a16="http://schemas.microsoft.com/office/drawing/2014/main" id="{3A8417A6-B788-825C-AA89-1F346A00D711}"/>
              </a:ext>
            </a:extLst>
          </p:cNvPr>
          <p:cNvGrpSpPr>
            <a:grpSpLocks/>
          </p:cNvGrpSpPr>
          <p:nvPr/>
        </p:nvGrpSpPr>
        <p:grpSpPr bwMode="auto">
          <a:xfrm>
            <a:off x="2476500" y="4851400"/>
            <a:ext cx="2795588" cy="1625600"/>
            <a:chOff x="3290887" y="2948582"/>
            <a:chExt cx="2081807" cy="960834"/>
          </a:xfrm>
        </p:grpSpPr>
        <p:sp>
          <p:nvSpPr>
            <p:cNvPr id="13" name="Freeform 12">
              <a:hlinkClick r:id="rId7" action="ppaction://hlinksldjump"/>
              <a:extLst>
                <a:ext uri="{FF2B5EF4-FFF2-40B4-BE49-F238E27FC236}">
                  <a16:creationId xmlns:a16="http://schemas.microsoft.com/office/drawing/2014/main" id="{07D3A226-D06B-BE21-018E-8F3A59A5BA31}"/>
                </a:ext>
              </a:extLst>
            </p:cNvPr>
            <p:cNvSpPr/>
            <p:nvPr/>
          </p:nvSpPr>
          <p:spPr>
            <a:xfrm>
              <a:off x="3290887" y="3230076"/>
              <a:ext cx="339284" cy="397845"/>
            </a:xfrm>
            <a:custGeom>
              <a:avLst/>
              <a:gdLst>
                <a:gd name="connsiteX0" fmla="*/ 0 w 339494"/>
                <a:gd name="connsiteY0" fmla="*/ 79429 h 397144"/>
                <a:gd name="connsiteX1" fmla="*/ 169747 w 339494"/>
                <a:gd name="connsiteY1" fmla="*/ 79429 h 397144"/>
                <a:gd name="connsiteX2" fmla="*/ 169747 w 339494"/>
                <a:gd name="connsiteY2" fmla="*/ 0 h 397144"/>
                <a:gd name="connsiteX3" fmla="*/ 339494 w 339494"/>
                <a:gd name="connsiteY3" fmla="*/ 198572 h 397144"/>
                <a:gd name="connsiteX4" fmla="*/ 169747 w 339494"/>
                <a:gd name="connsiteY4" fmla="*/ 397144 h 397144"/>
                <a:gd name="connsiteX5" fmla="*/ 169747 w 339494"/>
                <a:gd name="connsiteY5" fmla="*/ 317715 h 397144"/>
                <a:gd name="connsiteX6" fmla="*/ 0 w 339494"/>
                <a:gd name="connsiteY6" fmla="*/ 317715 h 397144"/>
                <a:gd name="connsiteX7" fmla="*/ 0 w 339494"/>
                <a:gd name="connsiteY7" fmla="*/ 79429 h 397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9494" h="397144">
                  <a:moveTo>
                    <a:pt x="0" y="79429"/>
                  </a:moveTo>
                  <a:lnTo>
                    <a:pt x="169747" y="79429"/>
                  </a:lnTo>
                  <a:lnTo>
                    <a:pt x="169747" y="0"/>
                  </a:lnTo>
                  <a:lnTo>
                    <a:pt x="339494" y="198572"/>
                  </a:lnTo>
                  <a:lnTo>
                    <a:pt x="169747" y="397144"/>
                  </a:lnTo>
                  <a:lnTo>
                    <a:pt x="169747" y="317715"/>
                  </a:lnTo>
                  <a:lnTo>
                    <a:pt x="0" y="317715"/>
                  </a:lnTo>
                  <a:lnTo>
                    <a:pt x="0" y="79429"/>
                  </a:lnTo>
                  <a:close/>
                </a:path>
              </a:pathLst>
            </a:custGeom>
            <a:solidFill>
              <a:schemeClr val="accent5">
                <a:alpha val="30000"/>
              </a:schemeClr>
            </a:solidFill>
            <a:ln>
              <a:solidFill>
                <a:schemeClr val="accent5"/>
              </a:solidFill>
            </a:ln>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lIns="0" tIns="79429" rIns="101848" bIns="79429" spcCol="1270" anchor="ctr"/>
            <a:lstStyle/>
            <a:p>
              <a:pPr marL="0" marR="0" lvl="0" indent="0" algn="ctr" defTabSz="800100" rtl="0" eaLnBrk="0" fontAlgn="base" latinLnBrk="0" hangingPunct="0">
                <a:lnSpc>
                  <a:spcPct val="90000"/>
                </a:lnSpc>
                <a:spcBef>
                  <a:spcPct val="0"/>
                </a:spcBef>
                <a:spcAft>
                  <a:spcPct val="35000"/>
                </a:spcAft>
                <a:buClrTx/>
                <a:buSzTx/>
                <a:buFontTx/>
                <a:buNone/>
                <a:tabLst/>
                <a:defRPr/>
              </a:pPr>
              <a:endParaRPr kumimoji="0" lang="en-CA" sz="1800" b="0" i="0" u="none" strike="noStrike" kern="1200" cap="none" spc="0" normalizeH="0" baseline="0" noProof="0">
                <a:ln>
                  <a:noFill/>
                </a:ln>
                <a:solidFill>
                  <a:srgbClr val="FFFFFF"/>
                </a:solidFill>
                <a:effectLst/>
                <a:uLnTx/>
                <a:uFillTx/>
                <a:latin typeface="Calibri"/>
                <a:ea typeface="+mn-ea"/>
                <a:cs typeface="+mn-cs"/>
              </a:endParaRPr>
            </a:p>
          </p:txBody>
        </p:sp>
        <p:sp>
          <p:nvSpPr>
            <p:cNvPr id="14" name="Freeform 13">
              <a:hlinkClick r:id="rId8" action="ppaction://hlinksldjump"/>
              <a:extLst>
                <a:ext uri="{FF2B5EF4-FFF2-40B4-BE49-F238E27FC236}">
                  <a16:creationId xmlns:a16="http://schemas.microsoft.com/office/drawing/2014/main" id="{2BA553A9-D91B-4A99-2ECB-4E32C8350192}"/>
                </a:ext>
              </a:extLst>
            </p:cNvPr>
            <p:cNvSpPr/>
            <p:nvPr/>
          </p:nvSpPr>
          <p:spPr>
            <a:xfrm>
              <a:off x="3770849" y="2948582"/>
              <a:ext cx="1601845" cy="960834"/>
            </a:xfrm>
            <a:custGeom>
              <a:avLst/>
              <a:gdLst>
                <a:gd name="connsiteX0" fmla="*/ 0 w 1601390"/>
                <a:gd name="connsiteY0" fmla="*/ 96083 h 960834"/>
                <a:gd name="connsiteX1" fmla="*/ 96083 w 1601390"/>
                <a:gd name="connsiteY1" fmla="*/ 0 h 960834"/>
                <a:gd name="connsiteX2" fmla="*/ 1505307 w 1601390"/>
                <a:gd name="connsiteY2" fmla="*/ 0 h 960834"/>
                <a:gd name="connsiteX3" fmla="*/ 1601390 w 1601390"/>
                <a:gd name="connsiteY3" fmla="*/ 96083 h 960834"/>
                <a:gd name="connsiteX4" fmla="*/ 1601390 w 1601390"/>
                <a:gd name="connsiteY4" fmla="*/ 864751 h 960834"/>
                <a:gd name="connsiteX5" fmla="*/ 1505307 w 1601390"/>
                <a:gd name="connsiteY5" fmla="*/ 960834 h 960834"/>
                <a:gd name="connsiteX6" fmla="*/ 96083 w 1601390"/>
                <a:gd name="connsiteY6" fmla="*/ 960834 h 960834"/>
                <a:gd name="connsiteX7" fmla="*/ 0 w 1601390"/>
                <a:gd name="connsiteY7" fmla="*/ 864751 h 960834"/>
                <a:gd name="connsiteX8" fmla="*/ 0 w 1601390"/>
                <a:gd name="connsiteY8" fmla="*/ 96083 h 960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01390" h="960834">
                  <a:moveTo>
                    <a:pt x="0" y="96083"/>
                  </a:moveTo>
                  <a:cubicBezTo>
                    <a:pt x="0" y="43018"/>
                    <a:pt x="43018" y="0"/>
                    <a:pt x="96083" y="0"/>
                  </a:cubicBezTo>
                  <a:lnTo>
                    <a:pt x="1505307" y="0"/>
                  </a:lnTo>
                  <a:cubicBezTo>
                    <a:pt x="1558372" y="0"/>
                    <a:pt x="1601390" y="43018"/>
                    <a:pt x="1601390" y="96083"/>
                  </a:cubicBezTo>
                  <a:lnTo>
                    <a:pt x="1601390" y="864751"/>
                  </a:lnTo>
                  <a:cubicBezTo>
                    <a:pt x="1601390" y="917816"/>
                    <a:pt x="1558372" y="960834"/>
                    <a:pt x="1505307" y="960834"/>
                  </a:cubicBezTo>
                  <a:lnTo>
                    <a:pt x="96083" y="960834"/>
                  </a:lnTo>
                  <a:cubicBezTo>
                    <a:pt x="43018" y="960834"/>
                    <a:pt x="0" y="917816"/>
                    <a:pt x="0" y="864751"/>
                  </a:cubicBezTo>
                  <a:lnTo>
                    <a:pt x="0" y="96083"/>
                  </a:lnTo>
                  <a:close/>
                </a:path>
              </a:pathLst>
            </a:custGeom>
            <a:solidFill>
              <a:schemeClr val="accent3">
                <a:alpha val="30000"/>
              </a:schemeClr>
            </a:solidFill>
            <a:ln>
              <a:solidFill>
                <a:schemeClr val="accent3"/>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180542" tIns="180542" rIns="180542" bIns="180542" spcCol="1270" anchor="ctr"/>
            <a:lstStyle/>
            <a:p>
              <a:pPr marL="0" marR="0" lvl="0" indent="0" algn="ctr" defTabSz="1778000" rtl="0" eaLnBrk="0" fontAlgn="base" latinLnBrk="0" hangingPunct="0">
                <a:lnSpc>
                  <a:spcPct val="90000"/>
                </a:lnSpc>
                <a:spcBef>
                  <a:spcPct val="0"/>
                </a:spcBef>
                <a:spcAft>
                  <a:spcPct val="35000"/>
                </a:spcAft>
                <a:buClrTx/>
                <a:buSzTx/>
                <a:buFontTx/>
                <a:buNone/>
                <a:tabLst/>
                <a:defRPr/>
              </a:pPr>
              <a:r>
                <a:rPr kumimoji="0" lang="en-CA" sz="2000" b="0" i="0" u="none" strike="noStrike" kern="1200" cap="none" spc="0" normalizeH="0" baseline="0" noProof="0" dirty="0">
                  <a:ln>
                    <a:noFill/>
                  </a:ln>
                  <a:solidFill>
                    <a:srgbClr val="2F2B20"/>
                  </a:solidFill>
                  <a:effectLst/>
                  <a:uLnTx/>
                  <a:uFillTx/>
                  <a:latin typeface="Calibri"/>
                  <a:ea typeface="+mn-ea"/>
                  <a:cs typeface="+mn-cs"/>
                </a:rPr>
                <a:t>Third Normal Form (3NF)</a:t>
              </a:r>
            </a:p>
          </p:txBody>
        </p:sp>
      </p:grpSp>
      <p:sp>
        <p:nvSpPr>
          <p:cNvPr id="17" name="Title 1">
            <a:extLst>
              <a:ext uri="{FF2B5EF4-FFF2-40B4-BE49-F238E27FC236}">
                <a16:creationId xmlns:a16="http://schemas.microsoft.com/office/drawing/2014/main" id="{9B6280CC-D80D-D211-3F2E-E7914C0C24B5}"/>
              </a:ext>
            </a:extLst>
          </p:cNvPr>
          <p:cNvSpPr txBox="1">
            <a:spLocks/>
          </p:cNvSpPr>
          <p:nvPr/>
        </p:nvSpPr>
        <p:spPr bwMode="auto">
          <a:xfrm>
            <a:off x="31750" y="1600200"/>
            <a:ext cx="8172450" cy="323850"/>
          </a:xfrm>
          <a:prstGeom prst="rect">
            <a:avLst/>
          </a:prstGeom>
          <a:noFill/>
          <a:ln w="9525">
            <a:noFill/>
            <a:miter lim="800000"/>
            <a:headEnd/>
            <a:tailEnd/>
          </a:ln>
        </p:spPr>
        <p:txBody>
          <a:bodyPr lIns="72000" tIns="0" rIns="72000" bIns="0"/>
          <a:lstStyle/>
          <a:p>
            <a:pPr marL="0" marR="0" lvl="0" indent="0" algn="l" defTabSz="720000" rtl="0" eaLnBrk="1" fontAlgn="base" latinLnBrk="0" hangingPunct="1">
              <a:lnSpc>
                <a:spcPts val="1800"/>
              </a:lnSpc>
              <a:spcBef>
                <a:spcPts val="0"/>
              </a:spcBef>
              <a:spcAft>
                <a:spcPts val="0"/>
              </a:spcAft>
              <a:buClrTx/>
              <a:buSzTx/>
              <a:buFontTx/>
              <a:buNone/>
              <a:tabLst>
                <a:tab pos="0" algn="l"/>
              </a:tabLst>
              <a:defRPr/>
            </a:pPr>
            <a:r>
              <a:rPr kumimoji="0" lang="en-CA" sz="1800" b="1" i="0" u="none" strike="noStrike" kern="0" cap="none" spc="0" normalizeH="0" baseline="0" noProof="0" dirty="0">
                <a:ln>
                  <a:noFill/>
                </a:ln>
                <a:solidFill>
                  <a:srgbClr val="2F2B20"/>
                </a:solidFill>
                <a:effectLst/>
                <a:uLnTx/>
                <a:uFillTx/>
                <a:latin typeface="Arial" panose="020B0604020202020204" pitchFamily="34" charset="0"/>
                <a:ea typeface="+mn-ea"/>
                <a:cs typeface="Calibri" pitchFamily="34" charset="0"/>
              </a:rPr>
              <a:t>Normal Forms</a:t>
            </a:r>
            <a:endParaRPr kumimoji="0" lang="en-MY" sz="1800" b="1" i="0" u="none" strike="noStrike" kern="0" cap="none" spc="0" normalizeH="0" baseline="0" noProof="0" dirty="0">
              <a:ln>
                <a:noFill/>
              </a:ln>
              <a:solidFill>
                <a:srgbClr val="2F2B20"/>
              </a:solidFill>
              <a:effectLst/>
              <a:uLnTx/>
              <a:uFillTx/>
              <a:latin typeface="Calibri"/>
              <a:ea typeface="+mn-ea"/>
              <a:cs typeface="Calibri" pitchFamily="34" charset="0"/>
            </a:endParaRPr>
          </a:p>
        </p:txBody>
      </p:sp>
      <p:sp>
        <p:nvSpPr>
          <p:cNvPr id="20" name="Rectangle 19">
            <a:extLst>
              <a:ext uri="{FF2B5EF4-FFF2-40B4-BE49-F238E27FC236}">
                <a16:creationId xmlns:a16="http://schemas.microsoft.com/office/drawing/2014/main" id="{26917CBC-71E8-7223-B5B5-0BC796178719}"/>
              </a:ext>
            </a:extLst>
          </p:cNvPr>
          <p:cNvSpPr>
            <a:spLocks noChangeArrowheads="1"/>
          </p:cNvSpPr>
          <p:nvPr/>
        </p:nvSpPr>
        <p:spPr bwMode="auto">
          <a:xfrm>
            <a:off x="6096000" y="4813300"/>
            <a:ext cx="2239963" cy="1625600"/>
          </a:xfrm>
          <a:prstGeom prst="rect">
            <a:avLst/>
          </a:prstGeom>
          <a:solidFill>
            <a:srgbClr val="FFFF00">
              <a:alpha val="30196"/>
            </a:srgbClr>
          </a:solidFill>
          <a:ln w="9525" algn="ctr">
            <a:solidFill>
              <a:srgbClr val="FFC000"/>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The higher the normal form, the “better” are the relations (i.e. 3NF &gt; 2NF &gt; 1NF &gt; UNF)</a:t>
            </a:r>
          </a:p>
        </p:txBody>
      </p:sp>
      <p:sp>
        <p:nvSpPr>
          <p:cNvPr id="21" name="Title 1">
            <a:extLst>
              <a:ext uri="{FF2B5EF4-FFF2-40B4-BE49-F238E27FC236}">
                <a16:creationId xmlns:a16="http://schemas.microsoft.com/office/drawing/2014/main" id="{B19F9E40-3B31-E2C0-92BC-072D3AF6AEDB}"/>
              </a:ext>
            </a:extLst>
          </p:cNvPr>
          <p:cNvSpPr>
            <a:spLocks noGrp="1"/>
          </p:cNvSpPr>
          <p:nvPr>
            <p:ph type="title"/>
          </p:nvPr>
        </p:nvSpPr>
        <p:spPr>
          <a:xfrm>
            <a:off x="457200" y="76200"/>
            <a:ext cx="7620000" cy="1143000"/>
          </a:xfrm>
        </p:spPr>
        <p:txBody>
          <a:bodyPr/>
          <a:lstStyle/>
          <a:p>
            <a:pPr algn="ctr">
              <a:defRPr/>
            </a:pPr>
            <a:r>
              <a:rPr lang="en-US" dirty="0"/>
              <a:t>Relational Database Normalization</a:t>
            </a:r>
            <a:endParaRPr lang="en-CA"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up)">
                                      <p:cBhvr>
                                        <p:cTn id="7" dur="500"/>
                                        <p:tgtEl>
                                          <p:spTgt spid="1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par>
                          <p:cTn id="13" fill="hold" nodeType="afterGroup">
                            <p:stCondLst>
                              <p:cond delay="500"/>
                            </p:stCondLst>
                            <p:childTnLst>
                              <p:par>
                                <p:cTn id="14" presetID="22" presetClass="entr" presetSubtype="8" fill="hold" nodeType="after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wipe(left)">
                                      <p:cBhvr>
                                        <p:cTn id="16" dur="500"/>
                                        <p:tgtEl>
                                          <p:spTgt spid="3"/>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wipe(up)">
                                      <p:cBhvr>
                                        <p:cTn id="21"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0" grpId="0" animBg="1"/>
    </p:bld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530" name="Group 2">
            <a:extLst>
              <a:ext uri="{FF2B5EF4-FFF2-40B4-BE49-F238E27FC236}">
                <a16:creationId xmlns:a16="http://schemas.microsoft.com/office/drawing/2014/main" id="{AB8D9B30-0BCF-C08C-FE79-745841BC0C45}"/>
              </a:ext>
            </a:extLst>
          </p:cNvPr>
          <p:cNvGrpSpPr>
            <a:grpSpLocks/>
          </p:cNvGrpSpPr>
          <p:nvPr/>
        </p:nvGrpSpPr>
        <p:grpSpPr bwMode="auto">
          <a:xfrm>
            <a:off x="2573338" y="4692650"/>
            <a:ext cx="5732462" cy="1625600"/>
            <a:chOff x="2726199" y="4287295"/>
            <a:chExt cx="5731961" cy="1626361"/>
          </a:xfrm>
        </p:grpSpPr>
        <p:sp>
          <p:nvSpPr>
            <p:cNvPr id="22543" name="Rectangle 27">
              <a:extLst>
                <a:ext uri="{FF2B5EF4-FFF2-40B4-BE49-F238E27FC236}">
                  <a16:creationId xmlns:a16="http://schemas.microsoft.com/office/drawing/2014/main" id="{9C1DF005-79B2-FDC2-AD11-D87EE289B8E0}"/>
                </a:ext>
              </a:extLst>
            </p:cNvPr>
            <p:cNvSpPr>
              <a:spLocks noChangeArrowheads="1"/>
            </p:cNvSpPr>
            <p:nvPr/>
          </p:nvSpPr>
          <p:spPr bwMode="auto">
            <a:xfrm>
              <a:off x="6587256" y="4287295"/>
              <a:ext cx="1870904" cy="1626359"/>
            </a:xfrm>
            <a:prstGeom prst="rect">
              <a:avLst/>
            </a:prstGeom>
            <a:solidFill>
              <a:srgbClr val="FFFF00">
                <a:alpha val="30196"/>
              </a:srgbClr>
            </a:solidFill>
            <a:ln w="9525" algn="ctr">
              <a:solidFill>
                <a:srgbClr val="FFC000"/>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The higher the normal form, the “better” are the relations (i.e. 3NF &gt; 2NF &gt; 1NF &gt; UNF)</a:t>
              </a:r>
            </a:p>
          </p:txBody>
        </p:sp>
        <p:grpSp>
          <p:nvGrpSpPr>
            <p:cNvPr id="22544" name="Group 22">
              <a:extLst>
                <a:ext uri="{FF2B5EF4-FFF2-40B4-BE49-F238E27FC236}">
                  <a16:creationId xmlns:a16="http://schemas.microsoft.com/office/drawing/2014/main" id="{3F24E55D-851C-D22B-E626-09F54B0B1C99}"/>
                </a:ext>
              </a:extLst>
            </p:cNvPr>
            <p:cNvGrpSpPr>
              <a:grpSpLocks/>
            </p:cNvGrpSpPr>
            <p:nvPr/>
          </p:nvGrpSpPr>
          <p:grpSpPr bwMode="auto">
            <a:xfrm>
              <a:off x="2726199" y="4287295"/>
              <a:ext cx="2989000" cy="1626361"/>
              <a:chOff x="5009206" y="2948581"/>
              <a:chExt cx="2137645" cy="960835"/>
            </a:xfrm>
          </p:grpSpPr>
          <p:sp>
            <p:nvSpPr>
              <p:cNvPr id="24" name="Freeform 23">
                <a:hlinkClick r:id="rId2" action="ppaction://hlinksldjump"/>
                <a:extLst>
                  <a:ext uri="{FF2B5EF4-FFF2-40B4-BE49-F238E27FC236}">
                    <a16:creationId xmlns:a16="http://schemas.microsoft.com/office/drawing/2014/main" id="{686EFBC7-DDE5-5EA2-381B-F7FB6854BC4E}"/>
                  </a:ext>
                </a:extLst>
              </p:cNvPr>
              <p:cNvSpPr/>
              <p:nvPr/>
            </p:nvSpPr>
            <p:spPr>
              <a:xfrm>
                <a:off x="5009206" y="3230076"/>
                <a:ext cx="339435" cy="397846"/>
              </a:xfrm>
              <a:custGeom>
                <a:avLst/>
                <a:gdLst>
                  <a:gd name="connsiteX0" fmla="*/ 0 w 339494"/>
                  <a:gd name="connsiteY0" fmla="*/ 79429 h 397144"/>
                  <a:gd name="connsiteX1" fmla="*/ 169747 w 339494"/>
                  <a:gd name="connsiteY1" fmla="*/ 79429 h 397144"/>
                  <a:gd name="connsiteX2" fmla="*/ 169747 w 339494"/>
                  <a:gd name="connsiteY2" fmla="*/ 0 h 397144"/>
                  <a:gd name="connsiteX3" fmla="*/ 339494 w 339494"/>
                  <a:gd name="connsiteY3" fmla="*/ 198572 h 397144"/>
                  <a:gd name="connsiteX4" fmla="*/ 169747 w 339494"/>
                  <a:gd name="connsiteY4" fmla="*/ 397144 h 397144"/>
                  <a:gd name="connsiteX5" fmla="*/ 169747 w 339494"/>
                  <a:gd name="connsiteY5" fmla="*/ 317715 h 397144"/>
                  <a:gd name="connsiteX6" fmla="*/ 0 w 339494"/>
                  <a:gd name="connsiteY6" fmla="*/ 317715 h 397144"/>
                  <a:gd name="connsiteX7" fmla="*/ 0 w 339494"/>
                  <a:gd name="connsiteY7" fmla="*/ 79429 h 397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9494" h="397144">
                    <a:moveTo>
                      <a:pt x="0" y="79429"/>
                    </a:moveTo>
                    <a:lnTo>
                      <a:pt x="169747" y="79429"/>
                    </a:lnTo>
                    <a:lnTo>
                      <a:pt x="169747" y="0"/>
                    </a:lnTo>
                    <a:lnTo>
                      <a:pt x="339494" y="198572"/>
                    </a:lnTo>
                    <a:lnTo>
                      <a:pt x="169747" y="397144"/>
                    </a:lnTo>
                    <a:lnTo>
                      <a:pt x="169747" y="317715"/>
                    </a:lnTo>
                    <a:lnTo>
                      <a:pt x="0" y="317715"/>
                    </a:lnTo>
                    <a:lnTo>
                      <a:pt x="0" y="79429"/>
                    </a:lnTo>
                    <a:close/>
                  </a:path>
                </a:pathLst>
              </a:custGeom>
              <a:solidFill>
                <a:schemeClr val="accent5">
                  <a:alpha val="30000"/>
                </a:schemeClr>
              </a:solidFill>
              <a:ln>
                <a:solidFill>
                  <a:schemeClr val="accent5"/>
                </a:solidFill>
              </a:ln>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lIns="0" tIns="79429" rIns="101848" bIns="79429" spcCol="1270" anchor="ctr"/>
              <a:lstStyle/>
              <a:p>
                <a:pPr marL="0" marR="0" lvl="0" indent="0" algn="ctr" defTabSz="800100" rtl="0" eaLnBrk="0" fontAlgn="base" latinLnBrk="0" hangingPunct="0">
                  <a:lnSpc>
                    <a:spcPct val="90000"/>
                  </a:lnSpc>
                  <a:spcBef>
                    <a:spcPct val="0"/>
                  </a:spcBef>
                  <a:spcAft>
                    <a:spcPct val="35000"/>
                  </a:spcAft>
                  <a:buClrTx/>
                  <a:buSzTx/>
                  <a:buFontTx/>
                  <a:buNone/>
                  <a:tabLst/>
                  <a:defRPr/>
                </a:pPr>
                <a:endParaRPr kumimoji="0" lang="en-CA" sz="1800" b="0" i="0" u="none" strike="noStrike" kern="1200" cap="none" spc="0" normalizeH="0" baseline="0" noProof="0">
                  <a:ln>
                    <a:noFill/>
                  </a:ln>
                  <a:solidFill>
                    <a:srgbClr val="FFFFFF"/>
                  </a:solidFill>
                  <a:effectLst/>
                  <a:uLnTx/>
                  <a:uFillTx/>
                  <a:latin typeface="Calibri"/>
                  <a:ea typeface="+mn-ea"/>
                  <a:cs typeface="+mn-cs"/>
                </a:endParaRPr>
              </a:p>
            </p:txBody>
          </p:sp>
          <p:sp>
            <p:nvSpPr>
              <p:cNvPr id="25" name="Freeform 24">
                <a:hlinkClick r:id="rId3" action="ppaction://hlinksldjump"/>
                <a:extLst>
                  <a:ext uri="{FF2B5EF4-FFF2-40B4-BE49-F238E27FC236}">
                    <a16:creationId xmlns:a16="http://schemas.microsoft.com/office/drawing/2014/main" id="{D502E64A-5EBD-4D64-2F12-CC097217497E}"/>
                  </a:ext>
                </a:extLst>
              </p:cNvPr>
              <p:cNvSpPr/>
              <p:nvPr/>
            </p:nvSpPr>
            <p:spPr>
              <a:xfrm>
                <a:off x="5545037" y="2948581"/>
                <a:ext cx="1601815" cy="960835"/>
              </a:xfrm>
              <a:custGeom>
                <a:avLst/>
                <a:gdLst>
                  <a:gd name="connsiteX0" fmla="*/ 0 w 1601390"/>
                  <a:gd name="connsiteY0" fmla="*/ 96083 h 960834"/>
                  <a:gd name="connsiteX1" fmla="*/ 96083 w 1601390"/>
                  <a:gd name="connsiteY1" fmla="*/ 0 h 960834"/>
                  <a:gd name="connsiteX2" fmla="*/ 1505307 w 1601390"/>
                  <a:gd name="connsiteY2" fmla="*/ 0 h 960834"/>
                  <a:gd name="connsiteX3" fmla="*/ 1601390 w 1601390"/>
                  <a:gd name="connsiteY3" fmla="*/ 96083 h 960834"/>
                  <a:gd name="connsiteX4" fmla="*/ 1601390 w 1601390"/>
                  <a:gd name="connsiteY4" fmla="*/ 864751 h 960834"/>
                  <a:gd name="connsiteX5" fmla="*/ 1505307 w 1601390"/>
                  <a:gd name="connsiteY5" fmla="*/ 960834 h 960834"/>
                  <a:gd name="connsiteX6" fmla="*/ 96083 w 1601390"/>
                  <a:gd name="connsiteY6" fmla="*/ 960834 h 960834"/>
                  <a:gd name="connsiteX7" fmla="*/ 0 w 1601390"/>
                  <a:gd name="connsiteY7" fmla="*/ 864751 h 960834"/>
                  <a:gd name="connsiteX8" fmla="*/ 0 w 1601390"/>
                  <a:gd name="connsiteY8" fmla="*/ 96083 h 960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01390" h="960834">
                    <a:moveTo>
                      <a:pt x="0" y="96083"/>
                    </a:moveTo>
                    <a:cubicBezTo>
                      <a:pt x="0" y="43018"/>
                      <a:pt x="43018" y="0"/>
                      <a:pt x="96083" y="0"/>
                    </a:cubicBezTo>
                    <a:lnTo>
                      <a:pt x="1505307" y="0"/>
                    </a:lnTo>
                    <a:cubicBezTo>
                      <a:pt x="1558372" y="0"/>
                      <a:pt x="1601390" y="43018"/>
                      <a:pt x="1601390" y="96083"/>
                    </a:cubicBezTo>
                    <a:lnTo>
                      <a:pt x="1601390" y="864751"/>
                    </a:lnTo>
                    <a:cubicBezTo>
                      <a:pt x="1601390" y="917816"/>
                      <a:pt x="1558372" y="960834"/>
                      <a:pt x="1505307" y="960834"/>
                    </a:cubicBezTo>
                    <a:lnTo>
                      <a:pt x="96083" y="960834"/>
                    </a:lnTo>
                    <a:cubicBezTo>
                      <a:pt x="43018" y="960834"/>
                      <a:pt x="0" y="917816"/>
                      <a:pt x="0" y="864751"/>
                    </a:cubicBezTo>
                    <a:lnTo>
                      <a:pt x="0" y="96083"/>
                    </a:lnTo>
                    <a:close/>
                  </a:path>
                </a:pathLst>
              </a:custGeom>
              <a:solidFill>
                <a:schemeClr val="accent3">
                  <a:alpha val="30000"/>
                </a:schemeClr>
              </a:solidFill>
              <a:ln>
                <a:solidFill>
                  <a:schemeClr val="accent3"/>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180542" tIns="180542" rIns="180542" bIns="180542" spcCol="1270" anchor="ctr"/>
              <a:lstStyle/>
              <a:p>
                <a:pPr marL="0" marR="0" lvl="0" indent="0" algn="ctr" defTabSz="1778000" rtl="0" eaLnBrk="0" fontAlgn="base" latinLnBrk="0" hangingPunct="0">
                  <a:lnSpc>
                    <a:spcPct val="90000"/>
                  </a:lnSpc>
                  <a:spcBef>
                    <a:spcPct val="0"/>
                  </a:spcBef>
                  <a:spcAft>
                    <a:spcPct val="35000"/>
                  </a:spcAft>
                  <a:buClrTx/>
                  <a:buSzTx/>
                  <a:buFontTx/>
                  <a:buNone/>
                  <a:tabLst/>
                  <a:defRPr/>
                </a:pPr>
                <a:r>
                  <a:rPr kumimoji="0" lang="en-CA" sz="2000" b="0" i="0" u="none" strike="noStrike" kern="1200" cap="none" spc="0" normalizeH="0" baseline="0" noProof="0" dirty="0">
                    <a:ln>
                      <a:noFill/>
                    </a:ln>
                    <a:solidFill>
                      <a:srgbClr val="2F2B20"/>
                    </a:solidFill>
                    <a:effectLst/>
                    <a:uLnTx/>
                    <a:uFillTx/>
                    <a:latin typeface="Calibri"/>
                    <a:ea typeface="+mn-ea"/>
                    <a:cs typeface="+mn-cs"/>
                  </a:rPr>
                  <a:t>Third Normal Form (3NF)</a:t>
                </a:r>
              </a:p>
            </p:txBody>
          </p:sp>
        </p:grpSp>
      </p:grpSp>
      <p:sp>
        <p:nvSpPr>
          <p:cNvPr id="22531" name="Content Placeholder 2">
            <a:extLst>
              <a:ext uri="{FF2B5EF4-FFF2-40B4-BE49-F238E27FC236}">
                <a16:creationId xmlns:a16="http://schemas.microsoft.com/office/drawing/2014/main" id="{06B1DC94-3950-BEC9-C571-74E2EF23C640}"/>
              </a:ext>
            </a:extLst>
          </p:cNvPr>
          <p:cNvSpPr txBox="1">
            <a:spLocks/>
          </p:cNvSpPr>
          <p:nvPr/>
        </p:nvSpPr>
        <p:spPr bwMode="auto">
          <a:xfrm>
            <a:off x="98425" y="1746250"/>
            <a:ext cx="8569325"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Normalization consists of working through a series of stages known as normal forms</a:t>
            </a:r>
            <a:endParaRPr kumimoji="0" lang="en-US" altLang="en-US" sz="32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US" altLang="en-US" sz="32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rPr>
              <a:t> </a:t>
            </a: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grpSp>
        <p:nvGrpSpPr>
          <p:cNvPr id="22532" name="Group 4">
            <a:extLst>
              <a:ext uri="{FF2B5EF4-FFF2-40B4-BE49-F238E27FC236}">
                <a16:creationId xmlns:a16="http://schemas.microsoft.com/office/drawing/2014/main" id="{F7CFE659-CBB7-0E71-4BDD-D32398E3371D}"/>
              </a:ext>
            </a:extLst>
          </p:cNvPr>
          <p:cNvGrpSpPr>
            <a:grpSpLocks/>
          </p:cNvGrpSpPr>
          <p:nvPr/>
        </p:nvGrpSpPr>
        <p:grpSpPr bwMode="auto">
          <a:xfrm>
            <a:off x="165100" y="2849563"/>
            <a:ext cx="8140700" cy="1625600"/>
            <a:chOff x="1529357" y="2948582"/>
            <a:chExt cx="5821891" cy="960834"/>
          </a:xfrm>
        </p:grpSpPr>
        <p:sp>
          <p:nvSpPr>
            <p:cNvPr id="6" name="Freeform 5">
              <a:extLst>
                <a:ext uri="{FF2B5EF4-FFF2-40B4-BE49-F238E27FC236}">
                  <a16:creationId xmlns:a16="http://schemas.microsoft.com/office/drawing/2014/main" id="{1BE2C7DB-4892-7799-28D8-8E2033B9FE01}"/>
                </a:ext>
              </a:extLst>
            </p:cNvPr>
            <p:cNvSpPr/>
            <p:nvPr/>
          </p:nvSpPr>
          <p:spPr>
            <a:xfrm>
              <a:off x="1529357" y="2948582"/>
              <a:ext cx="1601929" cy="960834"/>
            </a:xfrm>
            <a:custGeom>
              <a:avLst/>
              <a:gdLst>
                <a:gd name="connsiteX0" fmla="*/ 0 w 1601390"/>
                <a:gd name="connsiteY0" fmla="*/ 96083 h 960834"/>
                <a:gd name="connsiteX1" fmla="*/ 96083 w 1601390"/>
                <a:gd name="connsiteY1" fmla="*/ 0 h 960834"/>
                <a:gd name="connsiteX2" fmla="*/ 1505307 w 1601390"/>
                <a:gd name="connsiteY2" fmla="*/ 0 h 960834"/>
                <a:gd name="connsiteX3" fmla="*/ 1601390 w 1601390"/>
                <a:gd name="connsiteY3" fmla="*/ 96083 h 960834"/>
                <a:gd name="connsiteX4" fmla="*/ 1601390 w 1601390"/>
                <a:gd name="connsiteY4" fmla="*/ 864751 h 960834"/>
                <a:gd name="connsiteX5" fmla="*/ 1505307 w 1601390"/>
                <a:gd name="connsiteY5" fmla="*/ 960834 h 960834"/>
                <a:gd name="connsiteX6" fmla="*/ 96083 w 1601390"/>
                <a:gd name="connsiteY6" fmla="*/ 960834 h 960834"/>
                <a:gd name="connsiteX7" fmla="*/ 0 w 1601390"/>
                <a:gd name="connsiteY7" fmla="*/ 864751 h 960834"/>
                <a:gd name="connsiteX8" fmla="*/ 0 w 1601390"/>
                <a:gd name="connsiteY8" fmla="*/ 96083 h 960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01390" h="960834">
                  <a:moveTo>
                    <a:pt x="0" y="96083"/>
                  </a:moveTo>
                  <a:cubicBezTo>
                    <a:pt x="0" y="43018"/>
                    <a:pt x="43018" y="0"/>
                    <a:pt x="96083" y="0"/>
                  </a:cubicBezTo>
                  <a:lnTo>
                    <a:pt x="1505307" y="0"/>
                  </a:lnTo>
                  <a:cubicBezTo>
                    <a:pt x="1558372" y="0"/>
                    <a:pt x="1601390" y="43018"/>
                    <a:pt x="1601390" y="96083"/>
                  </a:cubicBezTo>
                  <a:lnTo>
                    <a:pt x="1601390" y="864751"/>
                  </a:lnTo>
                  <a:cubicBezTo>
                    <a:pt x="1601390" y="917816"/>
                    <a:pt x="1558372" y="960834"/>
                    <a:pt x="1505307" y="960834"/>
                  </a:cubicBezTo>
                  <a:lnTo>
                    <a:pt x="96083" y="960834"/>
                  </a:lnTo>
                  <a:cubicBezTo>
                    <a:pt x="43018" y="960834"/>
                    <a:pt x="0" y="917816"/>
                    <a:pt x="0" y="864751"/>
                  </a:cubicBezTo>
                  <a:lnTo>
                    <a:pt x="0" y="96083"/>
                  </a:lnTo>
                  <a:close/>
                </a:path>
              </a:pathLst>
            </a:custGeom>
            <a:no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180542" tIns="180542" rIns="180542" bIns="180542" spcCol="1270" anchor="ctr"/>
            <a:lstStyle/>
            <a:p>
              <a:pPr marL="0" marR="0" lvl="0" indent="0" algn="ctr" defTabSz="1778000" rtl="0" eaLnBrk="0" fontAlgn="base" latinLnBrk="0" hangingPunct="0">
                <a:lnSpc>
                  <a:spcPct val="90000"/>
                </a:lnSpc>
                <a:spcBef>
                  <a:spcPct val="0"/>
                </a:spcBef>
                <a:spcAft>
                  <a:spcPct val="35000"/>
                </a:spcAft>
                <a:buClrTx/>
                <a:buSzTx/>
                <a:buFontTx/>
                <a:buNone/>
                <a:tabLst/>
                <a:defRPr/>
              </a:pPr>
              <a:r>
                <a:rPr kumimoji="0" lang="en-CA" sz="2000" b="0" i="0" u="none" strike="noStrike" kern="1200" cap="none" spc="0" normalizeH="0" baseline="0" noProof="0" dirty="0" err="1">
                  <a:ln>
                    <a:noFill/>
                  </a:ln>
                  <a:solidFill>
                    <a:srgbClr val="2F2B20"/>
                  </a:solidFill>
                  <a:effectLst/>
                  <a:uLnTx/>
                  <a:uFillTx/>
                  <a:latin typeface="Calibri"/>
                  <a:ea typeface="+mn-ea"/>
                  <a:cs typeface="+mn-cs"/>
                </a:rPr>
                <a:t>Unnormalized</a:t>
              </a:r>
              <a:r>
                <a:rPr kumimoji="0" lang="en-CA" sz="2000" b="0" i="0" u="none" strike="noStrike" kern="1200" cap="none" spc="0" normalizeH="0" baseline="0" noProof="0" dirty="0">
                  <a:ln>
                    <a:noFill/>
                  </a:ln>
                  <a:solidFill>
                    <a:srgbClr val="2F2B20"/>
                  </a:solidFill>
                  <a:effectLst/>
                  <a:uLnTx/>
                  <a:uFillTx/>
                  <a:latin typeface="Calibri"/>
                  <a:ea typeface="+mn-ea"/>
                  <a:cs typeface="+mn-cs"/>
                </a:rPr>
                <a:t> Form (UNF)</a:t>
              </a:r>
            </a:p>
          </p:txBody>
        </p:sp>
        <p:sp>
          <p:nvSpPr>
            <p:cNvPr id="7" name="Freeform 6">
              <a:extLst>
                <a:ext uri="{FF2B5EF4-FFF2-40B4-BE49-F238E27FC236}">
                  <a16:creationId xmlns:a16="http://schemas.microsoft.com/office/drawing/2014/main" id="{78D32EAC-1AF7-4F9B-A3B9-ACDA628AF144}"/>
                </a:ext>
              </a:extLst>
            </p:cNvPr>
            <p:cNvSpPr/>
            <p:nvPr/>
          </p:nvSpPr>
          <p:spPr>
            <a:xfrm>
              <a:off x="3291365" y="3230076"/>
              <a:ext cx="339459" cy="397845"/>
            </a:xfrm>
            <a:custGeom>
              <a:avLst/>
              <a:gdLst>
                <a:gd name="connsiteX0" fmla="*/ 0 w 339494"/>
                <a:gd name="connsiteY0" fmla="*/ 79429 h 397144"/>
                <a:gd name="connsiteX1" fmla="*/ 169747 w 339494"/>
                <a:gd name="connsiteY1" fmla="*/ 79429 h 397144"/>
                <a:gd name="connsiteX2" fmla="*/ 169747 w 339494"/>
                <a:gd name="connsiteY2" fmla="*/ 0 h 397144"/>
                <a:gd name="connsiteX3" fmla="*/ 339494 w 339494"/>
                <a:gd name="connsiteY3" fmla="*/ 198572 h 397144"/>
                <a:gd name="connsiteX4" fmla="*/ 169747 w 339494"/>
                <a:gd name="connsiteY4" fmla="*/ 397144 h 397144"/>
                <a:gd name="connsiteX5" fmla="*/ 169747 w 339494"/>
                <a:gd name="connsiteY5" fmla="*/ 317715 h 397144"/>
                <a:gd name="connsiteX6" fmla="*/ 0 w 339494"/>
                <a:gd name="connsiteY6" fmla="*/ 317715 h 397144"/>
                <a:gd name="connsiteX7" fmla="*/ 0 w 339494"/>
                <a:gd name="connsiteY7" fmla="*/ 79429 h 397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9494" h="397144">
                  <a:moveTo>
                    <a:pt x="0" y="79429"/>
                  </a:moveTo>
                  <a:lnTo>
                    <a:pt x="169747" y="79429"/>
                  </a:lnTo>
                  <a:lnTo>
                    <a:pt x="169747" y="0"/>
                  </a:lnTo>
                  <a:lnTo>
                    <a:pt x="339494" y="198572"/>
                  </a:lnTo>
                  <a:lnTo>
                    <a:pt x="169747" y="397144"/>
                  </a:lnTo>
                  <a:lnTo>
                    <a:pt x="169747" y="317715"/>
                  </a:lnTo>
                  <a:lnTo>
                    <a:pt x="0" y="317715"/>
                  </a:lnTo>
                  <a:lnTo>
                    <a:pt x="0" y="79429"/>
                  </a:lnTo>
                  <a:close/>
                </a:path>
              </a:pathLst>
            </a:custGeom>
            <a:solidFill>
              <a:schemeClr val="bg1"/>
            </a:solidFill>
            <a:ln>
              <a:solidFill>
                <a:schemeClr val="tx1"/>
              </a:solidFill>
            </a:ln>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lIns="0" tIns="79429" rIns="101848" bIns="79429" spcCol="1270" anchor="ctr"/>
            <a:lstStyle/>
            <a:p>
              <a:pPr marL="0" marR="0" lvl="0" indent="0" algn="ctr" defTabSz="800100" rtl="0" eaLnBrk="0" fontAlgn="base" latinLnBrk="0" hangingPunct="0">
                <a:lnSpc>
                  <a:spcPct val="90000"/>
                </a:lnSpc>
                <a:spcBef>
                  <a:spcPct val="0"/>
                </a:spcBef>
                <a:spcAft>
                  <a:spcPct val="35000"/>
                </a:spcAft>
                <a:buClrTx/>
                <a:buSzTx/>
                <a:buFontTx/>
                <a:buNone/>
                <a:tabLst/>
                <a:defRPr/>
              </a:pPr>
              <a:endParaRPr kumimoji="0" lang="en-CA" sz="1800" b="0" i="0" u="none" strike="noStrike" kern="1200" cap="none" spc="0" normalizeH="0" baseline="0" noProof="0">
                <a:ln>
                  <a:noFill/>
                </a:ln>
                <a:solidFill>
                  <a:srgbClr val="FFFFFF"/>
                </a:solidFill>
                <a:effectLst/>
                <a:uLnTx/>
                <a:uFillTx/>
                <a:latin typeface="Calibri"/>
                <a:ea typeface="+mn-ea"/>
                <a:cs typeface="+mn-cs"/>
              </a:endParaRPr>
            </a:p>
          </p:txBody>
        </p:sp>
        <p:sp>
          <p:nvSpPr>
            <p:cNvPr id="8" name="Freeform 7">
              <a:extLst>
                <a:ext uri="{FF2B5EF4-FFF2-40B4-BE49-F238E27FC236}">
                  <a16:creationId xmlns:a16="http://schemas.microsoft.com/office/drawing/2014/main" id="{F76C4B5C-E20F-0BCA-48B6-B612D99B400D}"/>
                </a:ext>
              </a:extLst>
            </p:cNvPr>
            <p:cNvSpPr/>
            <p:nvPr/>
          </p:nvSpPr>
          <p:spPr>
            <a:xfrm>
              <a:off x="3771603" y="2948582"/>
              <a:ext cx="1600793" cy="960834"/>
            </a:xfrm>
            <a:custGeom>
              <a:avLst/>
              <a:gdLst>
                <a:gd name="connsiteX0" fmla="*/ 0 w 1601390"/>
                <a:gd name="connsiteY0" fmla="*/ 96083 h 960834"/>
                <a:gd name="connsiteX1" fmla="*/ 96083 w 1601390"/>
                <a:gd name="connsiteY1" fmla="*/ 0 h 960834"/>
                <a:gd name="connsiteX2" fmla="*/ 1505307 w 1601390"/>
                <a:gd name="connsiteY2" fmla="*/ 0 h 960834"/>
                <a:gd name="connsiteX3" fmla="*/ 1601390 w 1601390"/>
                <a:gd name="connsiteY3" fmla="*/ 96083 h 960834"/>
                <a:gd name="connsiteX4" fmla="*/ 1601390 w 1601390"/>
                <a:gd name="connsiteY4" fmla="*/ 864751 h 960834"/>
                <a:gd name="connsiteX5" fmla="*/ 1505307 w 1601390"/>
                <a:gd name="connsiteY5" fmla="*/ 960834 h 960834"/>
                <a:gd name="connsiteX6" fmla="*/ 96083 w 1601390"/>
                <a:gd name="connsiteY6" fmla="*/ 960834 h 960834"/>
                <a:gd name="connsiteX7" fmla="*/ 0 w 1601390"/>
                <a:gd name="connsiteY7" fmla="*/ 864751 h 960834"/>
                <a:gd name="connsiteX8" fmla="*/ 0 w 1601390"/>
                <a:gd name="connsiteY8" fmla="*/ 96083 h 960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01390" h="960834">
                  <a:moveTo>
                    <a:pt x="0" y="96083"/>
                  </a:moveTo>
                  <a:cubicBezTo>
                    <a:pt x="0" y="43018"/>
                    <a:pt x="43018" y="0"/>
                    <a:pt x="96083" y="0"/>
                  </a:cubicBezTo>
                  <a:lnTo>
                    <a:pt x="1505307" y="0"/>
                  </a:lnTo>
                  <a:cubicBezTo>
                    <a:pt x="1558372" y="0"/>
                    <a:pt x="1601390" y="43018"/>
                    <a:pt x="1601390" y="96083"/>
                  </a:cubicBezTo>
                  <a:lnTo>
                    <a:pt x="1601390" y="864751"/>
                  </a:lnTo>
                  <a:cubicBezTo>
                    <a:pt x="1601390" y="917816"/>
                    <a:pt x="1558372" y="960834"/>
                    <a:pt x="1505307" y="960834"/>
                  </a:cubicBezTo>
                  <a:lnTo>
                    <a:pt x="96083" y="960834"/>
                  </a:lnTo>
                  <a:cubicBezTo>
                    <a:pt x="43018" y="960834"/>
                    <a:pt x="0" y="917816"/>
                    <a:pt x="0" y="864751"/>
                  </a:cubicBezTo>
                  <a:lnTo>
                    <a:pt x="0" y="96083"/>
                  </a:lnTo>
                  <a:close/>
                </a:path>
              </a:pathLst>
            </a:custGeom>
            <a:solidFill>
              <a:schemeClr val="accent6">
                <a:alpha val="30000"/>
              </a:schemeClr>
            </a:solidFill>
            <a:ln>
              <a:solidFill>
                <a:schemeClr val="accent6"/>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180542" tIns="180542" rIns="180542" bIns="180542" spcCol="1270" anchor="ctr"/>
            <a:lstStyle/>
            <a:p>
              <a:pPr marL="0" marR="0" lvl="0" indent="0" algn="ctr" defTabSz="1778000" rtl="0" eaLnBrk="0" fontAlgn="base" latinLnBrk="0" hangingPunct="0">
                <a:lnSpc>
                  <a:spcPct val="90000"/>
                </a:lnSpc>
                <a:spcBef>
                  <a:spcPct val="0"/>
                </a:spcBef>
                <a:spcAft>
                  <a:spcPct val="35000"/>
                </a:spcAft>
                <a:buClrTx/>
                <a:buSzTx/>
                <a:buFontTx/>
                <a:buNone/>
                <a:tabLst/>
                <a:defRPr/>
              </a:pPr>
              <a:r>
                <a:rPr kumimoji="0" lang="en-CA" sz="2000" b="0" i="0" u="none" strike="noStrike" kern="1200" cap="none" spc="0" normalizeH="0" baseline="0" noProof="0" dirty="0">
                  <a:ln>
                    <a:noFill/>
                  </a:ln>
                  <a:solidFill>
                    <a:srgbClr val="2F2B20"/>
                  </a:solidFill>
                  <a:effectLst/>
                  <a:uLnTx/>
                  <a:uFillTx/>
                  <a:latin typeface="Calibri"/>
                  <a:ea typeface="+mn-ea"/>
                  <a:cs typeface="+mn-cs"/>
                </a:rPr>
                <a:t>First Normal Form (1NF)</a:t>
              </a:r>
            </a:p>
          </p:txBody>
        </p:sp>
        <p:sp>
          <p:nvSpPr>
            <p:cNvPr id="9" name="Freeform 8">
              <a:extLst>
                <a:ext uri="{FF2B5EF4-FFF2-40B4-BE49-F238E27FC236}">
                  <a16:creationId xmlns:a16="http://schemas.microsoft.com/office/drawing/2014/main" id="{3E78E0B6-E7D0-623E-A4EF-503E0FBF5F46}"/>
                </a:ext>
              </a:extLst>
            </p:cNvPr>
            <p:cNvSpPr/>
            <p:nvPr/>
          </p:nvSpPr>
          <p:spPr>
            <a:xfrm>
              <a:off x="5532475" y="3230076"/>
              <a:ext cx="339459" cy="397845"/>
            </a:xfrm>
            <a:custGeom>
              <a:avLst/>
              <a:gdLst>
                <a:gd name="connsiteX0" fmla="*/ 0 w 339494"/>
                <a:gd name="connsiteY0" fmla="*/ 79429 h 397144"/>
                <a:gd name="connsiteX1" fmla="*/ 169747 w 339494"/>
                <a:gd name="connsiteY1" fmla="*/ 79429 h 397144"/>
                <a:gd name="connsiteX2" fmla="*/ 169747 w 339494"/>
                <a:gd name="connsiteY2" fmla="*/ 0 h 397144"/>
                <a:gd name="connsiteX3" fmla="*/ 339494 w 339494"/>
                <a:gd name="connsiteY3" fmla="*/ 198572 h 397144"/>
                <a:gd name="connsiteX4" fmla="*/ 169747 w 339494"/>
                <a:gd name="connsiteY4" fmla="*/ 397144 h 397144"/>
                <a:gd name="connsiteX5" fmla="*/ 169747 w 339494"/>
                <a:gd name="connsiteY5" fmla="*/ 317715 h 397144"/>
                <a:gd name="connsiteX6" fmla="*/ 0 w 339494"/>
                <a:gd name="connsiteY6" fmla="*/ 317715 h 397144"/>
                <a:gd name="connsiteX7" fmla="*/ 0 w 339494"/>
                <a:gd name="connsiteY7" fmla="*/ 79429 h 397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9494" h="397144">
                  <a:moveTo>
                    <a:pt x="0" y="79429"/>
                  </a:moveTo>
                  <a:lnTo>
                    <a:pt x="169747" y="79429"/>
                  </a:lnTo>
                  <a:lnTo>
                    <a:pt x="169747" y="0"/>
                  </a:lnTo>
                  <a:lnTo>
                    <a:pt x="339494" y="198572"/>
                  </a:lnTo>
                  <a:lnTo>
                    <a:pt x="169747" y="397144"/>
                  </a:lnTo>
                  <a:lnTo>
                    <a:pt x="169747" y="317715"/>
                  </a:lnTo>
                  <a:lnTo>
                    <a:pt x="0" y="317715"/>
                  </a:lnTo>
                  <a:lnTo>
                    <a:pt x="0" y="79429"/>
                  </a:lnTo>
                  <a:close/>
                </a:path>
              </a:pathLst>
            </a:custGeom>
            <a:solidFill>
              <a:schemeClr val="accent6">
                <a:alpha val="30000"/>
              </a:schemeClr>
            </a:solidFill>
            <a:ln>
              <a:solidFill>
                <a:schemeClr val="accent6"/>
              </a:solidFill>
            </a:ln>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lIns="0" tIns="79429" rIns="101848" bIns="79429" spcCol="1270" anchor="ctr"/>
            <a:lstStyle/>
            <a:p>
              <a:pPr marL="0" marR="0" lvl="0" indent="0" algn="ctr" defTabSz="800100" rtl="0" eaLnBrk="0" fontAlgn="base" latinLnBrk="0" hangingPunct="0">
                <a:lnSpc>
                  <a:spcPct val="90000"/>
                </a:lnSpc>
                <a:spcBef>
                  <a:spcPct val="0"/>
                </a:spcBef>
                <a:spcAft>
                  <a:spcPct val="35000"/>
                </a:spcAft>
                <a:buClrTx/>
                <a:buSzTx/>
                <a:buFontTx/>
                <a:buNone/>
                <a:tabLst/>
                <a:defRPr/>
              </a:pPr>
              <a:endParaRPr kumimoji="0" lang="en-CA" sz="1800" b="0" i="0" u="none" strike="noStrike" kern="1200" cap="none" spc="0" normalizeH="0" baseline="0" noProof="0">
                <a:ln>
                  <a:noFill/>
                </a:ln>
                <a:solidFill>
                  <a:srgbClr val="FFFFFF"/>
                </a:solidFill>
                <a:effectLst/>
                <a:uLnTx/>
                <a:uFillTx/>
                <a:latin typeface="Calibri"/>
                <a:ea typeface="+mn-ea"/>
                <a:cs typeface="+mn-cs"/>
              </a:endParaRPr>
            </a:p>
          </p:txBody>
        </p:sp>
        <p:sp>
          <p:nvSpPr>
            <p:cNvPr id="11" name="Freeform 10">
              <a:extLst>
                <a:ext uri="{FF2B5EF4-FFF2-40B4-BE49-F238E27FC236}">
                  <a16:creationId xmlns:a16="http://schemas.microsoft.com/office/drawing/2014/main" id="{2863A21E-E8CA-F06A-7373-3D3A956442BD}"/>
                </a:ext>
              </a:extLst>
            </p:cNvPr>
            <p:cNvSpPr/>
            <p:nvPr/>
          </p:nvSpPr>
          <p:spPr>
            <a:xfrm>
              <a:off x="6012713" y="2948582"/>
              <a:ext cx="1338535" cy="960834"/>
            </a:xfrm>
            <a:custGeom>
              <a:avLst/>
              <a:gdLst>
                <a:gd name="connsiteX0" fmla="*/ 0 w 1601390"/>
                <a:gd name="connsiteY0" fmla="*/ 96083 h 960834"/>
                <a:gd name="connsiteX1" fmla="*/ 96083 w 1601390"/>
                <a:gd name="connsiteY1" fmla="*/ 0 h 960834"/>
                <a:gd name="connsiteX2" fmla="*/ 1505307 w 1601390"/>
                <a:gd name="connsiteY2" fmla="*/ 0 h 960834"/>
                <a:gd name="connsiteX3" fmla="*/ 1601390 w 1601390"/>
                <a:gd name="connsiteY3" fmla="*/ 96083 h 960834"/>
                <a:gd name="connsiteX4" fmla="*/ 1601390 w 1601390"/>
                <a:gd name="connsiteY4" fmla="*/ 864751 h 960834"/>
                <a:gd name="connsiteX5" fmla="*/ 1505307 w 1601390"/>
                <a:gd name="connsiteY5" fmla="*/ 960834 h 960834"/>
                <a:gd name="connsiteX6" fmla="*/ 96083 w 1601390"/>
                <a:gd name="connsiteY6" fmla="*/ 960834 h 960834"/>
                <a:gd name="connsiteX7" fmla="*/ 0 w 1601390"/>
                <a:gd name="connsiteY7" fmla="*/ 864751 h 960834"/>
                <a:gd name="connsiteX8" fmla="*/ 0 w 1601390"/>
                <a:gd name="connsiteY8" fmla="*/ 96083 h 960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01390" h="960834">
                  <a:moveTo>
                    <a:pt x="0" y="96083"/>
                  </a:moveTo>
                  <a:cubicBezTo>
                    <a:pt x="0" y="43018"/>
                    <a:pt x="43018" y="0"/>
                    <a:pt x="96083" y="0"/>
                  </a:cubicBezTo>
                  <a:lnTo>
                    <a:pt x="1505307" y="0"/>
                  </a:lnTo>
                  <a:cubicBezTo>
                    <a:pt x="1558372" y="0"/>
                    <a:pt x="1601390" y="43018"/>
                    <a:pt x="1601390" y="96083"/>
                  </a:cubicBezTo>
                  <a:lnTo>
                    <a:pt x="1601390" y="864751"/>
                  </a:lnTo>
                  <a:cubicBezTo>
                    <a:pt x="1601390" y="917816"/>
                    <a:pt x="1558372" y="960834"/>
                    <a:pt x="1505307" y="960834"/>
                  </a:cubicBezTo>
                  <a:lnTo>
                    <a:pt x="96083" y="960834"/>
                  </a:lnTo>
                  <a:cubicBezTo>
                    <a:pt x="43018" y="960834"/>
                    <a:pt x="0" y="917816"/>
                    <a:pt x="0" y="864751"/>
                  </a:cubicBezTo>
                  <a:lnTo>
                    <a:pt x="0" y="96083"/>
                  </a:lnTo>
                  <a:close/>
                </a:path>
              </a:pathLst>
            </a:custGeom>
            <a:solidFill>
              <a:schemeClr val="accent5">
                <a:alpha val="30000"/>
              </a:schemeClr>
            </a:solidFill>
            <a:ln>
              <a:solidFill>
                <a:schemeClr val="accent5"/>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180542" tIns="180542" rIns="180542" bIns="180542" spcCol="1270" anchor="ctr"/>
            <a:lstStyle/>
            <a:p>
              <a:pPr marL="0" marR="0" lvl="0" indent="0" algn="ctr" defTabSz="1778000" rtl="0" eaLnBrk="0" fontAlgn="base" latinLnBrk="0" hangingPunct="0">
                <a:lnSpc>
                  <a:spcPct val="90000"/>
                </a:lnSpc>
                <a:spcBef>
                  <a:spcPct val="0"/>
                </a:spcBef>
                <a:spcAft>
                  <a:spcPct val="35000"/>
                </a:spcAft>
                <a:buClrTx/>
                <a:buSzTx/>
                <a:buFontTx/>
                <a:buNone/>
                <a:tabLst/>
                <a:defRPr/>
              </a:pPr>
              <a:r>
                <a:rPr kumimoji="0" lang="en-CA" sz="2000" b="0" i="0" u="none" strike="noStrike" kern="1200" cap="none" spc="0" normalizeH="0" baseline="0" noProof="0" dirty="0">
                  <a:ln>
                    <a:noFill/>
                  </a:ln>
                  <a:solidFill>
                    <a:srgbClr val="2F2B20"/>
                  </a:solidFill>
                  <a:effectLst/>
                  <a:uLnTx/>
                  <a:uFillTx/>
                  <a:latin typeface="Calibri"/>
                  <a:ea typeface="+mn-ea"/>
                  <a:cs typeface="+mn-cs"/>
                </a:rPr>
                <a:t>Second Normal Form (2NF)</a:t>
              </a:r>
            </a:p>
          </p:txBody>
        </p:sp>
      </p:grpSp>
      <p:sp>
        <p:nvSpPr>
          <p:cNvPr id="17" name="Title 1">
            <a:extLst>
              <a:ext uri="{FF2B5EF4-FFF2-40B4-BE49-F238E27FC236}">
                <a16:creationId xmlns:a16="http://schemas.microsoft.com/office/drawing/2014/main" id="{9BB3247D-2EC1-F597-F650-A20DCAD0A4D2}"/>
              </a:ext>
            </a:extLst>
          </p:cNvPr>
          <p:cNvSpPr txBox="1">
            <a:spLocks/>
          </p:cNvSpPr>
          <p:nvPr/>
        </p:nvSpPr>
        <p:spPr bwMode="auto">
          <a:xfrm>
            <a:off x="58738" y="1501775"/>
            <a:ext cx="8172450" cy="323850"/>
          </a:xfrm>
          <a:prstGeom prst="rect">
            <a:avLst/>
          </a:prstGeom>
          <a:noFill/>
          <a:ln w="9525">
            <a:noFill/>
            <a:miter lim="800000"/>
            <a:headEnd/>
            <a:tailEnd/>
          </a:ln>
        </p:spPr>
        <p:txBody>
          <a:bodyPr lIns="72000" tIns="0" rIns="72000" bIns="0"/>
          <a:lstStyle/>
          <a:p>
            <a:pPr marL="0" marR="0" lvl="0" indent="0" algn="l" defTabSz="720000" rtl="0" eaLnBrk="1" fontAlgn="base" latinLnBrk="0" hangingPunct="1">
              <a:lnSpc>
                <a:spcPts val="1800"/>
              </a:lnSpc>
              <a:spcBef>
                <a:spcPts val="0"/>
              </a:spcBef>
              <a:spcAft>
                <a:spcPts val="0"/>
              </a:spcAft>
              <a:buClrTx/>
              <a:buSzTx/>
              <a:buFontTx/>
              <a:buNone/>
              <a:tabLst>
                <a:tab pos="0" algn="l"/>
              </a:tabLst>
              <a:defRPr/>
            </a:pPr>
            <a:r>
              <a:rPr kumimoji="0" lang="en-CA" sz="1800" b="1" i="0" u="none" strike="noStrike" kern="0" cap="none" spc="0" normalizeH="0" baseline="0" noProof="0" dirty="0">
                <a:ln>
                  <a:noFill/>
                </a:ln>
                <a:solidFill>
                  <a:srgbClr val="2F2B20"/>
                </a:solidFill>
                <a:effectLst/>
                <a:uLnTx/>
                <a:uFillTx/>
                <a:latin typeface="Arial" panose="020B0604020202020204" pitchFamily="34" charset="0"/>
                <a:ea typeface="+mn-ea"/>
                <a:cs typeface="Calibri" pitchFamily="34" charset="0"/>
              </a:rPr>
              <a:t>Normal Forms</a:t>
            </a:r>
            <a:endParaRPr kumimoji="0" lang="en-MY" sz="1800" b="1" i="0" u="none" strike="noStrike" kern="0" cap="none" spc="0" normalizeH="0" baseline="0" noProof="0" dirty="0">
              <a:ln>
                <a:noFill/>
              </a:ln>
              <a:solidFill>
                <a:srgbClr val="2F2B20"/>
              </a:solidFill>
              <a:effectLst/>
              <a:uLnTx/>
              <a:uFillTx/>
              <a:latin typeface="Calibri"/>
              <a:ea typeface="+mn-ea"/>
              <a:cs typeface="Calibri" pitchFamily="34" charset="0"/>
            </a:endParaRPr>
          </a:p>
        </p:txBody>
      </p:sp>
      <p:sp>
        <p:nvSpPr>
          <p:cNvPr id="22534" name="Rounded Rectangular Callout 19">
            <a:extLst>
              <a:ext uri="{FF2B5EF4-FFF2-40B4-BE49-F238E27FC236}">
                <a16:creationId xmlns:a16="http://schemas.microsoft.com/office/drawing/2014/main" id="{60A006BD-4692-9BFC-2E2A-168288FCFD00}"/>
              </a:ext>
            </a:extLst>
          </p:cNvPr>
          <p:cNvSpPr>
            <a:spLocks noChangeArrowheads="1"/>
          </p:cNvSpPr>
          <p:nvPr/>
        </p:nvSpPr>
        <p:spPr bwMode="auto">
          <a:xfrm flipV="1">
            <a:off x="171450" y="4203700"/>
            <a:ext cx="3217863" cy="1528763"/>
          </a:xfrm>
          <a:prstGeom prst="wedgeRoundRectCallout">
            <a:avLst>
              <a:gd name="adj1" fmla="val -21148"/>
              <a:gd name="adj2" fmla="val 68880"/>
              <a:gd name="adj3" fmla="val 16667"/>
            </a:avLst>
          </a:prstGeom>
          <a:solidFill>
            <a:srgbClr val="B50C00"/>
          </a:solidFill>
          <a:ln w="9525" algn="ctr">
            <a:solidFill>
              <a:schemeClr val="tx1"/>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endPar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endParaRPr>
          </a:p>
        </p:txBody>
      </p:sp>
      <p:sp>
        <p:nvSpPr>
          <p:cNvPr id="22535" name="TextBox 20">
            <a:extLst>
              <a:ext uri="{FF2B5EF4-FFF2-40B4-BE49-F238E27FC236}">
                <a16:creationId xmlns:a16="http://schemas.microsoft.com/office/drawing/2014/main" id="{5A6F2227-6312-9E9E-64DE-9F9B7E715AAC}"/>
              </a:ext>
            </a:extLst>
          </p:cNvPr>
          <p:cNvSpPr txBox="1">
            <a:spLocks noChangeArrowheads="1"/>
          </p:cNvSpPr>
          <p:nvPr/>
        </p:nvSpPr>
        <p:spPr bwMode="auto">
          <a:xfrm>
            <a:off x="282575" y="4254500"/>
            <a:ext cx="2913063"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A relation is in UNF if the intersection of its row and column can contain more than one value</a:t>
            </a:r>
          </a:p>
        </p:txBody>
      </p:sp>
      <p:sp>
        <p:nvSpPr>
          <p:cNvPr id="22" name="Teardrop 21">
            <a:hlinkClick r:id="rId4" action="ppaction://hlinksldjump"/>
            <a:extLst>
              <a:ext uri="{FF2B5EF4-FFF2-40B4-BE49-F238E27FC236}">
                <a16:creationId xmlns:a16="http://schemas.microsoft.com/office/drawing/2014/main" id="{F0B67CE9-0E56-6192-2AB8-2CE5C230250D}"/>
              </a:ext>
            </a:extLst>
          </p:cNvPr>
          <p:cNvSpPr/>
          <p:nvPr/>
        </p:nvSpPr>
        <p:spPr bwMode="auto">
          <a:xfrm>
            <a:off x="2956629" y="4039359"/>
            <a:ext cx="570644" cy="431301"/>
          </a:xfrm>
          <a:prstGeom prst="teardrop">
            <a:avLst/>
          </a:prstGeom>
          <a:ln>
            <a:headEnd type="none" w="med" len="med"/>
            <a:tailEnd type="none" w="med" len="med"/>
          </a:ln>
        </p:spPr>
        <p:style>
          <a:lnRef idx="3">
            <a:schemeClr val="lt1"/>
          </a:lnRef>
          <a:fillRef idx="1">
            <a:schemeClr val="accent3"/>
          </a:fillRef>
          <a:effectRef idx="1">
            <a:schemeClr val="accent3"/>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2400" b="1" i="0" u="none" strike="noStrike" kern="1200" cap="none" spc="50" normalizeH="0" baseline="0" noProof="0" dirty="0">
                <a:ln w="13500">
                  <a:solidFill>
                    <a:srgbClr val="A9A57C">
                      <a:shade val="2500"/>
                      <a:alpha val="6500"/>
                    </a:srgbClr>
                  </a:solidFill>
                  <a:prstDash val="solid"/>
                </a:ln>
                <a:solidFill>
                  <a:srgbClr val="A9A57C">
                    <a:tint val="3000"/>
                    <a:alpha val="95000"/>
                  </a:srgbClr>
                </a:solidFill>
                <a:effectLst>
                  <a:innerShdw blurRad="50900" dist="38500" dir="13500000">
                    <a:srgbClr val="000000">
                      <a:alpha val="60000"/>
                    </a:srgbClr>
                  </a:innerShdw>
                </a:effectLst>
                <a:uLnTx/>
                <a:uFillTx/>
                <a:latin typeface="Arial" charset="0"/>
                <a:ea typeface="+mn-ea"/>
                <a:cs typeface="+mn-cs"/>
              </a:rPr>
              <a:t>X</a:t>
            </a:r>
          </a:p>
        </p:txBody>
      </p:sp>
      <p:sp>
        <p:nvSpPr>
          <p:cNvPr id="26" name="Title 1">
            <a:extLst>
              <a:ext uri="{FF2B5EF4-FFF2-40B4-BE49-F238E27FC236}">
                <a16:creationId xmlns:a16="http://schemas.microsoft.com/office/drawing/2014/main" id="{F1145267-A261-C4D5-2C98-154653013790}"/>
              </a:ext>
            </a:extLst>
          </p:cNvPr>
          <p:cNvSpPr>
            <a:spLocks noGrp="1"/>
          </p:cNvSpPr>
          <p:nvPr>
            <p:ph type="title"/>
          </p:nvPr>
        </p:nvSpPr>
        <p:spPr>
          <a:xfrm>
            <a:off x="457200" y="76200"/>
            <a:ext cx="7620000" cy="1143000"/>
          </a:xfrm>
        </p:spPr>
        <p:txBody>
          <a:bodyPr/>
          <a:lstStyle/>
          <a:p>
            <a:pPr algn="ctr">
              <a:defRPr/>
            </a:pPr>
            <a:r>
              <a:rPr lang="en-US" dirty="0"/>
              <a:t>Relational Database Normalization</a:t>
            </a:r>
            <a:endParaRPr lang="en-CA" dirty="0"/>
          </a:p>
        </p:txBody>
      </p:sp>
    </p:spTree>
  </p:cSld>
  <p:clrMapOvr>
    <a:masterClrMapping/>
  </p:clrMapOvr>
  <p:transition spd="slow"/>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554" name="Group 22">
            <a:extLst>
              <a:ext uri="{FF2B5EF4-FFF2-40B4-BE49-F238E27FC236}">
                <a16:creationId xmlns:a16="http://schemas.microsoft.com/office/drawing/2014/main" id="{8D68BD8C-1A8A-DC95-D9D1-81F60DA3EB43}"/>
              </a:ext>
            </a:extLst>
          </p:cNvPr>
          <p:cNvGrpSpPr>
            <a:grpSpLocks/>
          </p:cNvGrpSpPr>
          <p:nvPr/>
        </p:nvGrpSpPr>
        <p:grpSpPr bwMode="auto">
          <a:xfrm>
            <a:off x="2328863" y="4672013"/>
            <a:ext cx="5976937" cy="1646237"/>
            <a:chOff x="2556745" y="4267199"/>
            <a:chExt cx="5977552" cy="1646455"/>
          </a:xfrm>
        </p:grpSpPr>
        <p:sp>
          <p:nvSpPr>
            <p:cNvPr id="23567" name="Rectangle 23">
              <a:extLst>
                <a:ext uri="{FF2B5EF4-FFF2-40B4-BE49-F238E27FC236}">
                  <a16:creationId xmlns:a16="http://schemas.microsoft.com/office/drawing/2014/main" id="{8F22F478-5F27-FCBD-F2B5-05F7FC943773}"/>
                </a:ext>
              </a:extLst>
            </p:cNvPr>
            <p:cNvSpPr>
              <a:spLocks noChangeArrowheads="1"/>
            </p:cNvSpPr>
            <p:nvPr/>
          </p:nvSpPr>
          <p:spPr bwMode="auto">
            <a:xfrm>
              <a:off x="6587256" y="4287295"/>
              <a:ext cx="1947041" cy="1626359"/>
            </a:xfrm>
            <a:prstGeom prst="rect">
              <a:avLst/>
            </a:prstGeom>
            <a:solidFill>
              <a:srgbClr val="FFFF00">
                <a:alpha val="30196"/>
              </a:srgbClr>
            </a:solidFill>
            <a:ln w="9525" algn="ctr">
              <a:solidFill>
                <a:srgbClr val="FFC000"/>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The higher the normal form, the “better” are the relations (i.e. 3NF &gt; 2NF &gt; 1NF &gt; UNF)</a:t>
              </a:r>
            </a:p>
          </p:txBody>
        </p:sp>
        <p:grpSp>
          <p:nvGrpSpPr>
            <p:cNvPr id="23568" name="Group 24">
              <a:extLst>
                <a:ext uri="{FF2B5EF4-FFF2-40B4-BE49-F238E27FC236}">
                  <a16:creationId xmlns:a16="http://schemas.microsoft.com/office/drawing/2014/main" id="{6D280BEC-65E2-E89F-7F88-133F80B65AE7}"/>
                </a:ext>
              </a:extLst>
            </p:cNvPr>
            <p:cNvGrpSpPr>
              <a:grpSpLocks/>
            </p:cNvGrpSpPr>
            <p:nvPr/>
          </p:nvGrpSpPr>
          <p:grpSpPr bwMode="auto">
            <a:xfrm>
              <a:off x="2556745" y="4267199"/>
              <a:ext cx="2959028" cy="1626359"/>
              <a:chOff x="4888018" y="2936709"/>
              <a:chExt cx="2116210" cy="960834"/>
            </a:xfrm>
          </p:grpSpPr>
          <p:sp>
            <p:nvSpPr>
              <p:cNvPr id="26" name="Freeform 25">
                <a:hlinkClick r:id="rId2" action="ppaction://hlinksldjump"/>
                <a:extLst>
                  <a:ext uri="{FF2B5EF4-FFF2-40B4-BE49-F238E27FC236}">
                    <a16:creationId xmlns:a16="http://schemas.microsoft.com/office/drawing/2014/main" id="{3C1D6F10-10EE-EFFA-FCFC-8A2782BDA3ED}"/>
                  </a:ext>
                </a:extLst>
              </p:cNvPr>
              <p:cNvSpPr/>
              <p:nvPr/>
            </p:nvSpPr>
            <p:spPr>
              <a:xfrm>
                <a:off x="4888018" y="3201225"/>
                <a:ext cx="339499" cy="396774"/>
              </a:xfrm>
              <a:custGeom>
                <a:avLst/>
                <a:gdLst>
                  <a:gd name="connsiteX0" fmla="*/ 0 w 339494"/>
                  <a:gd name="connsiteY0" fmla="*/ 79429 h 397144"/>
                  <a:gd name="connsiteX1" fmla="*/ 169747 w 339494"/>
                  <a:gd name="connsiteY1" fmla="*/ 79429 h 397144"/>
                  <a:gd name="connsiteX2" fmla="*/ 169747 w 339494"/>
                  <a:gd name="connsiteY2" fmla="*/ 0 h 397144"/>
                  <a:gd name="connsiteX3" fmla="*/ 339494 w 339494"/>
                  <a:gd name="connsiteY3" fmla="*/ 198572 h 397144"/>
                  <a:gd name="connsiteX4" fmla="*/ 169747 w 339494"/>
                  <a:gd name="connsiteY4" fmla="*/ 397144 h 397144"/>
                  <a:gd name="connsiteX5" fmla="*/ 169747 w 339494"/>
                  <a:gd name="connsiteY5" fmla="*/ 317715 h 397144"/>
                  <a:gd name="connsiteX6" fmla="*/ 0 w 339494"/>
                  <a:gd name="connsiteY6" fmla="*/ 317715 h 397144"/>
                  <a:gd name="connsiteX7" fmla="*/ 0 w 339494"/>
                  <a:gd name="connsiteY7" fmla="*/ 79429 h 397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9494" h="397144">
                    <a:moveTo>
                      <a:pt x="0" y="79429"/>
                    </a:moveTo>
                    <a:lnTo>
                      <a:pt x="169747" y="79429"/>
                    </a:lnTo>
                    <a:lnTo>
                      <a:pt x="169747" y="0"/>
                    </a:lnTo>
                    <a:lnTo>
                      <a:pt x="339494" y="198572"/>
                    </a:lnTo>
                    <a:lnTo>
                      <a:pt x="169747" y="397144"/>
                    </a:lnTo>
                    <a:lnTo>
                      <a:pt x="169747" y="317715"/>
                    </a:lnTo>
                    <a:lnTo>
                      <a:pt x="0" y="317715"/>
                    </a:lnTo>
                    <a:lnTo>
                      <a:pt x="0" y="79429"/>
                    </a:lnTo>
                    <a:close/>
                  </a:path>
                </a:pathLst>
              </a:custGeom>
              <a:solidFill>
                <a:schemeClr val="accent5">
                  <a:alpha val="30000"/>
                </a:schemeClr>
              </a:solidFill>
              <a:ln>
                <a:solidFill>
                  <a:schemeClr val="accent5"/>
                </a:solidFill>
              </a:ln>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lIns="0" tIns="79429" rIns="101848" bIns="79429" spcCol="1270" anchor="ctr"/>
              <a:lstStyle/>
              <a:p>
                <a:pPr marL="0" marR="0" lvl="0" indent="0" algn="ctr" defTabSz="800100" rtl="0" eaLnBrk="0" fontAlgn="base" latinLnBrk="0" hangingPunct="0">
                  <a:lnSpc>
                    <a:spcPct val="90000"/>
                  </a:lnSpc>
                  <a:spcBef>
                    <a:spcPct val="0"/>
                  </a:spcBef>
                  <a:spcAft>
                    <a:spcPct val="35000"/>
                  </a:spcAft>
                  <a:buClrTx/>
                  <a:buSzTx/>
                  <a:buFontTx/>
                  <a:buNone/>
                  <a:tabLst/>
                  <a:defRPr/>
                </a:pPr>
                <a:endParaRPr kumimoji="0" lang="en-CA" sz="1800" b="0" i="0" u="none" strike="noStrike" kern="1200" cap="none" spc="0" normalizeH="0" baseline="0" noProof="0">
                  <a:ln>
                    <a:noFill/>
                  </a:ln>
                  <a:solidFill>
                    <a:srgbClr val="FFFFFF"/>
                  </a:solidFill>
                  <a:effectLst/>
                  <a:uLnTx/>
                  <a:uFillTx/>
                  <a:latin typeface="Calibri"/>
                  <a:ea typeface="+mn-ea"/>
                  <a:cs typeface="+mn-cs"/>
                </a:endParaRPr>
              </a:p>
            </p:txBody>
          </p:sp>
          <p:sp>
            <p:nvSpPr>
              <p:cNvPr id="27" name="Freeform 26">
                <a:hlinkClick r:id="rId3" action="ppaction://hlinksldjump"/>
                <a:extLst>
                  <a:ext uri="{FF2B5EF4-FFF2-40B4-BE49-F238E27FC236}">
                    <a16:creationId xmlns:a16="http://schemas.microsoft.com/office/drawing/2014/main" id="{B20FEAE8-A82E-FA70-31CF-2A94BFABD548}"/>
                  </a:ext>
                </a:extLst>
              </p:cNvPr>
              <p:cNvSpPr/>
              <p:nvPr/>
            </p:nvSpPr>
            <p:spPr>
              <a:xfrm>
                <a:off x="5402377" y="2936709"/>
                <a:ext cx="1602120" cy="960513"/>
              </a:xfrm>
              <a:custGeom>
                <a:avLst/>
                <a:gdLst>
                  <a:gd name="connsiteX0" fmla="*/ 0 w 1601390"/>
                  <a:gd name="connsiteY0" fmla="*/ 96083 h 960834"/>
                  <a:gd name="connsiteX1" fmla="*/ 96083 w 1601390"/>
                  <a:gd name="connsiteY1" fmla="*/ 0 h 960834"/>
                  <a:gd name="connsiteX2" fmla="*/ 1505307 w 1601390"/>
                  <a:gd name="connsiteY2" fmla="*/ 0 h 960834"/>
                  <a:gd name="connsiteX3" fmla="*/ 1601390 w 1601390"/>
                  <a:gd name="connsiteY3" fmla="*/ 96083 h 960834"/>
                  <a:gd name="connsiteX4" fmla="*/ 1601390 w 1601390"/>
                  <a:gd name="connsiteY4" fmla="*/ 864751 h 960834"/>
                  <a:gd name="connsiteX5" fmla="*/ 1505307 w 1601390"/>
                  <a:gd name="connsiteY5" fmla="*/ 960834 h 960834"/>
                  <a:gd name="connsiteX6" fmla="*/ 96083 w 1601390"/>
                  <a:gd name="connsiteY6" fmla="*/ 960834 h 960834"/>
                  <a:gd name="connsiteX7" fmla="*/ 0 w 1601390"/>
                  <a:gd name="connsiteY7" fmla="*/ 864751 h 960834"/>
                  <a:gd name="connsiteX8" fmla="*/ 0 w 1601390"/>
                  <a:gd name="connsiteY8" fmla="*/ 96083 h 960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01390" h="960834">
                    <a:moveTo>
                      <a:pt x="0" y="96083"/>
                    </a:moveTo>
                    <a:cubicBezTo>
                      <a:pt x="0" y="43018"/>
                      <a:pt x="43018" y="0"/>
                      <a:pt x="96083" y="0"/>
                    </a:cubicBezTo>
                    <a:lnTo>
                      <a:pt x="1505307" y="0"/>
                    </a:lnTo>
                    <a:cubicBezTo>
                      <a:pt x="1558372" y="0"/>
                      <a:pt x="1601390" y="43018"/>
                      <a:pt x="1601390" y="96083"/>
                    </a:cubicBezTo>
                    <a:lnTo>
                      <a:pt x="1601390" y="864751"/>
                    </a:lnTo>
                    <a:cubicBezTo>
                      <a:pt x="1601390" y="917816"/>
                      <a:pt x="1558372" y="960834"/>
                      <a:pt x="1505307" y="960834"/>
                    </a:cubicBezTo>
                    <a:lnTo>
                      <a:pt x="96083" y="960834"/>
                    </a:lnTo>
                    <a:cubicBezTo>
                      <a:pt x="43018" y="960834"/>
                      <a:pt x="0" y="917816"/>
                      <a:pt x="0" y="864751"/>
                    </a:cubicBezTo>
                    <a:lnTo>
                      <a:pt x="0" y="96083"/>
                    </a:lnTo>
                    <a:close/>
                  </a:path>
                </a:pathLst>
              </a:custGeom>
              <a:solidFill>
                <a:schemeClr val="accent3">
                  <a:alpha val="30000"/>
                </a:schemeClr>
              </a:solidFill>
              <a:ln>
                <a:solidFill>
                  <a:schemeClr val="accent3"/>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180542" tIns="180542" rIns="180542" bIns="180542" spcCol="1270" anchor="ctr"/>
              <a:lstStyle/>
              <a:p>
                <a:pPr marL="0" marR="0" lvl="0" indent="0" algn="ctr" defTabSz="1778000" rtl="0" eaLnBrk="0" fontAlgn="base" latinLnBrk="0" hangingPunct="0">
                  <a:lnSpc>
                    <a:spcPct val="90000"/>
                  </a:lnSpc>
                  <a:spcBef>
                    <a:spcPct val="0"/>
                  </a:spcBef>
                  <a:spcAft>
                    <a:spcPct val="35000"/>
                  </a:spcAft>
                  <a:buClrTx/>
                  <a:buSzTx/>
                  <a:buFontTx/>
                  <a:buNone/>
                  <a:tabLst/>
                  <a:defRPr/>
                </a:pPr>
                <a:r>
                  <a:rPr kumimoji="0" lang="en-CA" sz="2000" b="0" i="0" u="none" strike="noStrike" kern="1200" cap="none" spc="0" normalizeH="0" baseline="0" noProof="0" dirty="0">
                    <a:ln>
                      <a:noFill/>
                    </a:ln>
                    <a:solidFill>
                      <a:srgbClr val="2F2B20"/>
                    </a:solidFill>
                    <a:effectLst/>
                    <a:uLnTx/>
                    <a:uFillTx/>
                    <a:latin typeface="Calibri"/>
                    <a:ea typeface="+mn-ea"/>
                    <a:cs typeface="+mn-cs"/>
                  </a:rPr>
                  <a:t>Third Normal Form (3NF)</a:t>
                </a:r>
              </a:p>
            </p:txBody>
          </p:sp>
        </p:grpSp>
      </p:grpSp>
      <p:sp>
        <p:nvSpPr>
          <p:cNvPr id="23555" name="Content Placeholder 2">
            <a:extLst>
              <a:ext uri="{FF2B5EF4-FFF2-40B4-BE49-F238E27FC236}">
                <a16:creationId xmlns:a16="http://schemas.microsoft.com/office/drawing/2014/main" id="{B5FE346C-50E7-0036-C24E-C853A04603F6}"/>
              </a:ext>
            </a:extLst>
          </p:cNvPr>
          <p:cNvSpPr txBox="1">
            <a:spLocks/>
          </p:cNvSpPr>
          <p:nvPr/>
        </p:nvSpPr>
        <p:spPr bwMode="auto">
          <a:xfrm>
            <a:off x="228600" y="1746250"/>
            <a:ext cx="8035925"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Normalization consists of working through a series of stages known as normal forms</a:t>
            </a:r>
            <a:endParaRPr kumimoji="0" lang="en-US" altLang="en-US" sz="32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US" altLang="en-US" sz="32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rPr>
              <a:t> </a:t>
            </a: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grpSp>
        <p:nvGrpSpPr>
          <p:cNvPr id="23556" name="Group 4">
            <a:extLst>
              <a:ext uri="{FF2B5EF4-FFF2-40B4-BE49-F238E27FC236}">
                <a16:creationId xmlns:a16="http://schemas.microsoft.com/office/drawing/2014/main" id="{6F4D9E60-A182-983D-F519-04E1981EEA6F}"/>
              </a:ext>
            </a:extLst>
          </p:cNvPr>
          <p:cNvGrpSpPr>
            <a:grpSpLocks/>
          </p:cNvGrpSpPr>
          <p:nvPr/>
        </p:nvGrpSpPr>
        <p:grpSpPr bwMode="auto">
          <a:xfrm>
            <a:off x="88900" y="2849563"/>
            <a:ext cx="8216900" cy="1625600"/>
            <a:chOff x="1529357" y="2948582"/>
            <a:chExt cx="5876386" cy="960834"/>
          </a:xfrm>
        </p:grpSpPr>
        <p:sp>
          <p:nvSpPr>
            <p:cNvPr id="6" name="Freeform 5">
              <a:extLst>
                <a:ext uri="{FF2B5EF4-FFF2-40B4-BE49-F238E27FC236}">
                  <a16:creationId xmlns:a16="http://schemas.microsoft.com/office/drawing/2014/main" id="{B0FA6489-1BB0-473B-E169-293FFB1C364A}"/>
                </a:ext>
              </a:extLst>
            </p:cNvPr>
            <p:cNvSpPr/>
            <p:nvPr/>
          </p:nvSpPr>
          <p:spPr>
            <a:xfrm>
              <a:off x="1529357" y="2948582"/>
              <a:ext cx="1601929" cy="960834"/>
            </a:xfrm>
            <a:custGeom>
              <a:avLst/>
              <a:gdLst>
                <a:gd name="connsiteX0" fmla="*/ 0 w 1601390"/>
                <a:gd name="connsiteY0" fmla="*/ 96083 h 960834"/>
                <a:gd name="connsiteX1" fmla="*/ 96083 w 1601390"/>
                <a:gd name="connsiteY1" fmla="*/ 0 h 960834"/>
                <a:gd name="connsiteX2" fmla="*/ 1505307 w 1601390"/>
                <a:gd name="connsiteY2" fmla="*/ 0 h 960834"/>
                <a:gd name="connsiteX3" fmla="*/ 1601390 w 1601390"/>
                <a:gd name="connsiteY3" fmla="*/ 96083 h 960834"/>
                <a:gd name="connsiteX4" fmla="*/ 1601390 w 1601390"/>
                <a:gd name="connsiteY4" fmla="*/ 864751 h 960834"/>
                <a:gd name="connsiteX5" fmla="*/ 1505307 w 1601390"/>
                <a:gd name="connsiteY5" fmla="*/ 960834 h 960834"/>
                <a:gd name="connsiteX6" fmla="*/ 96083 w 1601390"/>
                <a:gd name="connsiteY6" fmla="*/ 960834 h 960834"/>
                <a:gd name="connsiteX7" fmla="*/ 0 w 1601390"/>
                <a:gd name="connsiteY7" fmla="*/ 864751 h 960834"/>
                <a:gd name="connsiteX8" fmla="*/ 0 w 1601390"/>
                <a:gd name="connsiteY8" fmla="*/ 96083 h 960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01390" h="960834">
                  <a:moveTo>
                    <a:pt x="0" y="96083"/>
                  </a:moveTo>
                  <a:cubicBezTo>
                    <a:pt x="0" y="43018"/>
                    <a:pt x="43018" y="0"/>
                    <a:pt x="96083" y="0"/>
                  </a:cubicBezTo>
                  <a:lnTo>
                    <a:pt x="1505307" y="0"/>
                  </a:lnTo>
                  <a:cubicBezTo>
                    <a:pt x="1558372" y="0"/>
                    <a:pt x="1601390" y="43018"/>
                    <a:pt x="1601390" y="96083"/>
                  </a:cubicBezTo>
                  <a:lnTo>
                    <a:pt x="1601390" y="864751"/>
                  </a:lnTo>
                  <a:cubicBezTo>
                    <a:pt x="1601390" y="917816"/>
                    <a:pt x="1558372" y="960834"/>
                    <a:pt x="1505307" y="960834"/>
                  </a:cubicBezTo>
                  <a:lnTo>
                    <a:pt x="96083" y="960834"/>
                  </a:lnTo>
                  <a:cubicBezTo>
                    <a:pt x="43018" y="960834"/>
                    <a:pt x="0" y="917816"/>
                    <a:pt x="0" y="864751"/>
                  </a:cubicBezTo>
                  <a:lnTo>
                    <a:pt x="0" y="96083"/>
                  </a:lnTo>
                  <a:close/>
                </a:path>
              </a:pathLst>
            </a:custGeom>
            <a:no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180542" tIns="180542" rIns="180542" bIns="180542" spcCol="1270" anchor="ctr"/>
            <a:lstStyle/>
            <a:p>
              <a:pPr marL="0" marR="0" lvl="0" indent="0" algn="ctr" defTabSz="1778000" rtl="0" eaLnBrk="0" fontAlgn="base" latinLnBrk="0" hangingPunct="0">
                <a:lnSpc>
                  <a:spcPct val="90000"/>
                </a:lnSpc>
                <a:spcBef>
                  <a:spcPct val="0"/>
                </a:spcBef>
                <a:spcAft>
                  <a:spcPct val="35000"/>
                </a:spcAft>
                <a:buClrTx/>
                <a:buSzTx/>
                <a:buFontTx/>
                <a:buNone/>
                <a:tabLst/>
                <a:defRPr/>
              </a:pPr>
              <a:r>
                <a:rPr kumimoji="0" lang="en-CA" sz="2000" b="0" i="0" u="none" strike="noStrike" kern="1200" cap="none" spc="0" normalizeH="0" baseline="0" noProof="0" dirty="0" err="1">
                  <a:ln>
                    <a:noFill/>
                  </a:ln>
                  <a:solidFill>
                    <a:srgbClr val="2F2B20"/>
                  </a:solidFill>
                  <a:effectLst/>
                  <a:uLnTx/>
                  <a:uFillTx/>
                  <a:latin typeface="Calibri"/>
                  <a:ea typeface="+mn-ea"/>
                  <a:cs typeface="+mn-cs"/>
                </a:rPr>
                <a:t>Unnormalized</a:t>
              </a:r>
              <a:r>
                <a:rPr kumimoji="0" lang="en-CA" sz="2000" b="0" i="0" u="none" strike="noStrike" kern="1200" cap="none" spc="0" normalizeH="0" baseline="0" noProof="0" dirty="0">
                  <a:ln>
                    <a:noFill/>
                  </a:ln>
                  <a:solidFill>
                    <a:srgbClr val="2F2B20"/>
                  </a:solidFill>
                  <a:effectLst/>
                  <a:uLnTx/>
                  <a:uFillTx/>
                  <a:latin typeface="Calibri"/>
                  <a:ea typeface="+mn-ea"/>
                  <a:cs typeface="+mn-cs"/>
                </a:rPr>
                <a:t> Form (UNF)</a:t>
              </a:r>
            </a:p>
          </p:txBody>
        </p:sp>
        <p:sp>
          <p:nvSpPr>
            <p:cNvPr id="7" name="Freeform 6">
              <a:extLst>
                <a:ext uri="{FF2B5EF4-FFF2-40B4-BE49-F238E27FC236}">
                  <a16:creationId xmlns:a16="http://schemas.microsoft.com/office/drawing/2014/main" id="{961BFAC2-AF59-E9EC-AF3E-B9A0DA6B0D9F}"/>
                </a:ext>
              </a:extLst>
            </p:cNvPr>
            <p:cNvSpPr/>
            <p:nvPr/>
          </p:nvSpPr>
          <p:spPr>
            <a:xfrm>
              <a:off x="3291365" y="3230076"/>
              <a:ext cx="339459" cy="397845"/>
            </a:xfrm>
            <a:custGeom>
              <a:avLst/>
              <a:gdLst>
                <a:gd name="connsiteX0" fmla="*/ 0 w 339494"/>
                <a:gd name="connsiteY0" fmla="*/ 79429 h 397144"/>
                <a:gd name="connsiteX1" fmla="*/ 169747 w 339494"/>
                <a:gd name="connsiteY1" fmla="*/ 79429 h 397144"/>
                <a:gd name="connsiteX2" fmla="*/ 169747 w 339494"/>
                <a:gd name="connsiteY2" fmla="*/ 0 h 397144"/>
                <a:gd name="connsiteX3" fmla="*/ 339494 w 339494"/>
                <a:gd name="connsiteY3" fmla="*/ 198572 h 397144"/>
                <a:gd name="connsiteX4" fmla="*/ 169747 w 339494"/>
                <a:gd name="connsiteY4" fmla="*/ 397144 h 397144"/>
                <a:gd name="connsiteX5" fmla="*/ 169747 w 339494"/>
                <a:gd name="connsiteY5" fmla="*/ 317715 h 397144"/>
                <a:gd name="connsiteX6" fmla="*/ 0 w 339494"/>
                <a:gd name="connsiteY6" fmla="*/ 317715 h 397144"/>
                <a:gd name="connsiteX7" fmla="*/ 0 w 339494"/>
                <a:gd name="connsiteY7" fmla="*/ 79429 h 397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9494" h="397144">
                  <a:moveTo>
                    <a:pt x="0" y="79429"/>
                  </a:moveTo>
                  <a:lnTo>
                    <a:pt x="169747" y="79429"/>
                  </a:lnTo>
                  <a:lnTo>
                    <a:pt x="169747" y="0"/>
                  </a:lnTo>
                  <a:lnTo>
                    <a:pt x="339494" y="198572"/>
                  </a:lnTo>
                  <a:lnTo>
                    <a:pt x="169747" y="397144"/>
                  </a:lnTo>
                  <a:lnTo>
                    <a:pt x="169747" y="317715"/>
                  </a:lnTo>
                  <a:lnTo>
                    <a:pt x="0" y="317715"/>
                  </a:lnTo>
                  <a:lnTo>
                    <a:pt x="0" y="79429"/>
                  </a:lnTo>
                  <a:close/>
                </a:path>
              </a:pathLst>
            </a:custGeom>
            <a:solidFill>
              <a:schemeClr val="bg1"/>
            </a:solidFill>
            <a:ln>
              <a:solidFill>
                <a:schemeClr val="tx1"/>
              </a:solidFill>
            </a:ln>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lIns="0" tIns="79429" rIns="101848" bIns="79429" spcCol="1270" anchor="ctr"/>
            <a:lstStyle/>
            <a:p>
              <a:pPr marL="0" marR="0" lvl="0" indent="0" algn="ctr" defTabSz="800100" rtl="0" eaLnBrk="0" fontAlgn="base" latinLnBrk="0" hangingPunct="0">
                <a:lnSpc>
                  <a:spcPct val="90000"/>
                </a:lnSpc>
                <a:spcBef>
                  <a:spcPct val="0"/>
                </a:spcBef>
                <a:spcAft>
                  <a:spcPct val="35000"/>
                </a:spcAft>
                <a:buClrTx/>
                <a:buSzTx/>
                <a:buFontTx/>
                <a:buNone/>
                <a:tabLst/>
                <a:defRPr/>
              </a:pPr>
              <a:endParaRPr kumimoji="0" lang="en-CA" sz="1800" b="0" i="0" u="none" strike="noStrike" kern="1200" cap="none" spc="0" normalizeH="0" baseline="0" noProof="0">
                <a:ln>
                  <a:noFill/>
                </a:ln>
                <a:solidFill>
                  <a:srgbClr val="FFFFFF"/>
                </a:solidFill>
                <a:effectLst/>
                <a:uLnTx/>
                <a:uFillTx/>
                <a:latin typeface="Calibri"/>
                <a:ea typeface="+mn-ea"/>
                <a:cs typeface="+mn-cs"/>
              </a:endParaRPr>
            </a:p>
          </p:txBody>
        </p:sp>
        <p:sp>
          <p:nvSpPr>
            <p:cNvPr id="8" name="Freeform 7">
              <a:extLst>
                <a:ext uri="{FF2B5EF4-FFF2-40B4-BE49-F238E27FC236}">
                  <a16:creationId xmlns:a16="http://schemas.microsoft.com/office/drawing/2014/main" id="{16E8742C-A74C-0B94-529C-48FF8D6C76F0}"/>
                </a:ext>
              </a:extLst>
            </p:cNvPr>
            <p:cNvSpPr/>
            <p:nvPr/>
          </p:nvSpPr>
          <p:spPr>
            <a:xfrm>
              <a:off x="3771603" y="2948582"/>
              <a:ext cx="1600793" cy="960834"/>
            </a:xfrm>
            <a:custGeom>
              <a:avLst/>
              <a:gdLst>
                <a:gd name="connsiteX0" fmla="*/ 0 w 1601390"/>
                <a:gd name="connsiteY0" fmla="*/ 96083 h 960834"/>
                <a:gd name="connsiteX1" fmla="*/ 96083 w 1601390"/>
                <a:gd name="connsiteY1" fmla="*/ 0 h 960834"/>
                <a:gd name="connsiteX2" fmla="*/ 1505307 w 1601390"/>
                <a:gd name="connsiteY2" fmla="*/ 0 h 960834"/>
                <a:gd name="connsiteX3" fmla="*/ 1601390 w 1601390"/>
                <a:gd name="connsiteY3" fmla="*/ 96083 h 960834"/>
                <a:gd name="connsiteX4" fmla="*/ 1601390 w 1601390"/>
                <a:gd name="connsiteY4" fmla="*/ 864751 h 960834"/>
                <a:gd name="connsiteX5" fmla="*/ 1505307 w 1601390"/>
                <a:gd name="connsiteY5" fmla="*/ 960834 h 960834"/>
                <a:gd name="connsiteX6" fmla="*/ 96083 w 1601390"/>
                <a:gd name="connsiteY6" fmla="*/ 960834 h 960834"/>
                <a:gd name="connsiteX7" fmla="*/ 0 w 1601390"/>
                <a:gd name="connsiteY7" fmla="*/ 864751 h 960834"/>
                <a:gd name="connsiteX8" fmla="*/ 0 w 1601390"/>
                <a:gd name="connsiteY8" fmla="*/ 96083 h 960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01390" h="960834">
                  <a:moveTo>
                    <a:pt x="0" y="96083"/>
                  </a:moveTo>
                  <a:cubicBezTo>
                    <a:pt x="0" y="43018"/>
                    <a:pt x="43018" y="0"/>
                    <a:pt x="96083" y="0"/>
                  </a:cubicBezTo>
                  <a:lnTo>
                    <a:pt x="1505307" y="0"/>
                  </a:lnTo>
                  <a:cubicBezTo>
                    <a:pt x="1558372" y="0"/>
                    <a:pt x="1601390" y="43018"/>
                    <a:pt x="1601390" y="96083"/>
                  </a:cubicBezTo>
                  <a:lnTo>
                    <a:pt x="1601390" y="864751"/>
                  </a:lnTo>
                  <a:cubicBezTo>
                    <a:pt x="1601390" y="917816"/>
                    <a:pt x="1558372" y="960834"/>
                    <a:pt x="1505307" y="960834"/>
                  </a:cubicBezTo>
                  <a:lnTo>
                    <a:pt x="96083" y="960834"/>
                  </a:lnTo>
                  <a:cubicBezTo>
                    <a:pt x="43018" y="960834"/>
                    <a:pt x="0" y="917816"/>
                    <a:pt x="0" y="864751"/>
                  </a:cubicBezTo>
                  <a:lnTo>
                    <a:pt x="0" y="96083"/>
                  </a:lnTo>
                  <a:close/>
                </a:path>
              </a:pathLst>
            </a:custGeom>
            <a:solidFill>
              <a:schemeClr val="accent6">
                <a:alpha val="30000"/>
              </a:schemeClr>
            </a:solidFill>
            <a:ln>
              <a:solidFill>
                <a:schemeClr val="accent6"/>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180542" tIns="180542" rIns="180542" bIns="180542" spcCol="1270" anchor="ctr"/>
            <a:lstStyle/>
            <a:p>
              <a:pPr marL="0" marR="0" lvl="0" indent="0" algn="ctr" defTabSz="1778000" rtl="0" eaLnBrk="0" fontAlgn="base" latinLnBrk="0" hangingPunct="0">
                <a:lnSpc>
                  <a:spcPct val="90000"/>
                </a:lnSpc>
                <a:spcBef>
                  <a:spcPct val="0"/>
                </a:spcBef>
                <a:spcAft>
                  <a:spcPct val="35000"/>
                </a:spcAft>
                <a:buClrTx/>
                <a:buSzTx/>
                <a:buFontTx/>
                <a:buNone/>
                <a:tabLst/>
                <a:defRPr/>
              </a:pPr>
              <a:r>
                <a:rPr kumimoji="0" lang="en-CA" sz="2000" b="0" i="0" u="none" strike="noStrike" kern="1200" cap="none" spc="0" normalizeH="0" baseline="0" noProof="0" dirty="0">
                  <a:ln>
                    <a:noFill/>
                  </a:ln>
                  <a:solidFill>
                    <a:srgbClr val="2F2B20"/>
                  </a:solidFill>
                  <a:effectLst/>
                  <a:uLnTx/>
                  <a:uFillTx/>
                  <a:latin typeface="Calibri"/>
                  <a:ea typeface="+mn-ea"/>
                  <a:cs typeface="+mn-cs"/>
                </a:rPr>
                <a:t>First Normal Form (1NF)</a:t>
              </a:r>
            </a:p>
          </p:txBody>
        </p:sp>
        <p:sp>
          <p:nvSpPr>
            <p:cNvPr id="9" name="Freeform 8">
              <a:extLst>
                <a:ext uri="{FF2B5EF4-FFF2-40B4-BE49-F238E27FC236}">
                  <a16:creationId xmlns:a16="http://schemas.microsoft.com/office/drawing/2014/main" id="{D5AC490A-1F32-2328-6756-8166EB25EF2C}"/>
                </a:ext>
              </a:extLst>
            </p:cNvPr>
            <p:cNvSpPr/>
            <p:nvPr/>
          </p:nvSpPr>
          <p:spPr>
            <a:xfrm>
              <a:off x="5532475" y="3230076"/>
              <a:ext cx="339459" cy="397845"/>
            </a:xfrm>
            <a:custGeom>
              <a:avLst/>
              <a:gdLst>
                <a:gd name="connsiteX0" fmla="*/ 0 w 339494"/>
                <a:gd name="connsiteY0" fmla="*/ 79429 h 397144"/>
                <a:gd name="connsiteX1" fmla="*/ 169747 w 339494"/>
                <a:gd name="connsiteY1" fmla="*/ 79429 h 397144"/>
                <a:gd name="connsiteX2" fmla="*/ 169747 w 339494"/>
                <a:gd name="connsiteY2" fmla="*/ 0 h 397144"/>
                <a:gd name="connsiteX3" fmla="*/ 339494 w 339494"/>
                <a:gd name="connsiteY3" fmla="*/ 198572 h 397144"/>
                <a:gd name="connsiteX4" fmla="*/ 169747 w 339494"/>
                <a:gd name="connsiteY4" fmla="*/ 397144 h 397144"/>
                <a:gd name="connsiteX5" fmla="*/ 169747 w 339494"/>
                <a:gd name="connsiteY5" fmla="*/ 317715 h 397144"/>
                <a:gd name="connsiteX6" fmla="*/ 0 w 339494"/>
                <a:gd name="connsiteY6" fmla="*/ 317715 h 397144"/>
                <a:gd name="connsiteX7" fmla="*/ 0 w 339494"/>
                <a:gd name="connsiteY7" fmla="*/ 79429 h 397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9494" h="397144">
                  <a:moveTo>
                    <a:pt x="0" y="79429"/>
                  </a:moveTo>
                  <a:lnTo>
                    <a:pt x="169747" y="79429"/>
                  </a:lnTo>
                  <a:lnTo>
                    <a:pt x="169747" y="0"/>
                  </a:lnTo>
                  <a:lnTo>
                    <a:pt x="339494" y="198572"/>
                  </a:lnTo>
                  <a:lnTo>
                    <a:pt x="169747" y="397144"/>
                  </a:lnTo>
                  <a:lnTo>
                    <a:pt x="169747" y="317715"/>
                  </a:lnTo>
                  <a:lnTo>
                    <a:pt x="0" y="317715"/>
                  </a:lnTo>
                  <a:lnTo>
                    <a:pt x="0" y="79429"/>
                  </a:lnTo>
                  <a:close/>
                </a:path>
              </a:pathLst>
            </a:custGeom>
            <a:solidFill>
              <a:schemeClr val="accent6">
                <a:alpha val="30000"/>
              </a:schemeClr>
            </a:solidFill>
            <a:ln>
              <a:solidFill>
                <a:schemeClr val="accent6"/>
              </a:solidFill>
            </a:ln>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lIns="0" tIns="79429" rIns="101848" bIns="79429" spcCol="1270" anchor="ctr"/>
            <a:lstStyle/>
            <a:p>
              <a:pPr marL="0" marR="0" lvl="0" indent="0" algn="ctr" defTabSz="800100" rtl="0" eaLnBrk="0" fontAlgn="base" latinLnBrk="0" hangingPunct="0">
                <a:lnSpc>
                  <a:spcPct val="90000"/>
                </a:lnSpc>
                <a:spcBef>
                  <a:spcPct val="0"/>
                </a:spcBef>
                <a:spcAft>
                  <a:spcPct val="35000"/>
                </a:spcAft>
                <a:buClrTx/>
                <a:buSzTx/>
                <a:buFontTx/>
                <a:buNone/>
                <a:tabLst/>
                <a:defRPr/>
              </a:pPr>
              <a:endParaRPr kumimoji="0" lang="en-CA" sz="1800" b="0" i="0" u="none" strike="noStrike" kern="1200" cap="none" spc="0" normalizeH="0" baseline="0" noProof="0">
                <a:ln>
                  <a:noFill/>
                </a:ln>
                <a:solidFill>
                  <a:srgbClr val="FFFFFF"/>
                </a:solidFill>
                <a:effectLst/>
                <a:uLnTx/>
                <a:uFillTx/>
                <a:latin typeface="Calibri"/>
                <a:ea typeface="+mn-ea"/>
                <a:cs typeface="+mn-cs"/>
              </a:endParaRPr>
            </a:p>
          </p:txBody>
        </p:sp>
        <p:sp>
          <p:nvSpPr>
            <p:cNvPr id="11" name="Freeform 10">
              <a:extLst>
                <a:ext uri="{FF2B5EF4-FFF2-40B4-BE49-F238E27FC236}">
                  <a16:creationId xmlns:a16="http://schemas.microsoft.com/office/drawing/2014/main" id="{7193B927-F827-DD5B-C708-444D24D60FBA}"/>
                </a:ext>
              </a:extLst>
            </p:cNvPr>
            <p:cNvSpPr/>
            <p:nvPr/>
          </p:nvSpPr>
          <p:spPr>
            <a:xfrm>
              <a:off x="6012713" y="2948582"/>
              <a:ext cx="1393030" cy="960834"/>
            </a:xfrm>
            <a:custGeom>
              <a:avLst/>
              <a:gdLst>
                <a:gd name="connsiteX0" fmla="*/ 0 w 1601390"/>
                <a:gd name="connsiteY0" fmla="*/ 96083 h 960834"/>
                <a:gd name="connsiteX1" fmla="*/ 96083 w 1601390"/>
                <a:gd name="connsiteY1" fmla="*/ 0 h 960834"/>
                <a:gd name="connsiteX2" fmla="*/ 1505307 w 1601390"/>
                <a:gd name="connsiteY2" fmla="*/ 0 h 960834"/>
                <a:gd name="connsiteX3" fmla="*/ 1601390 w 1601390"/>
                <a:gd name="connsiteY3" fmla="*/ 96083 h 960834"/>
                <a:gd name="connsiteX4" fmla="*/ 1601390 w 1601390"/>
                <a:gd name="connsiteY4" fmla="*/ 864751 h 960834"/>
                <a:gd name="connsiteX5" fmla="*/ 1505307 w 1601390"/>
                <a:gd name="connsiteY5" fmla="*/ 960834 h 960834"/>
                <a:gd name="connsiteX6" fmla="*/ 96083 w 1601390"/>
                <a:gd name="connsiteY6" fmla="*/ 960834 h 960834"/>
                <a:gd name="connsiteX7" fmla="*/ 0 w 1601390"/>
                <a:gd name="connsiteY7" fmla="*/ 864751 h 960834"/>
                <a:gd name="connsiteX8" fmla="*/ 0 w 1601390"/>
                <a:gd name="connsiteY8" fmla="*/ 96083 h 960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01390" h="960834">
                  <a:moveTo>
                    <a:pt x="0" y="96083"/>
                  </a:moveTo>
                  <a:cubicBezTo>
                    <a:pt x="0" y="43018"/>
                    <a:pt x="43018" y="0"/>
                    <a:pt x="96083" y="0"/>
                  </a:cubicBezTo>
                  <a:lnTo>
                    <a:pt x="1505307" y="0"/>
                  </a:lnTo>
                  <a:cubicBezTo>
                    <a:pt x="1558372" y="0"/>
                    <a:pt x="1601390" y="43018"/>
                    <a:pt x="1601390" y="96083"/>
                  </a:cubicBezTo>
                  <a:lnTo>
                    <a:pt x="1601390" y="864751"/>
                  </a:lnTo>
                  <a:cubicBezTo>
                    <a:pt x="1601390" y="917816"/>
                    <a:pt x="1558372" y="960834"/>
                    <a:pt x="1505307" y="960834"/>
                  </a:cubicBezTo>
                  <a:lnTo>
                    <a:pt x="96083" y="960834"/>
                  </a:lnTo>
                  <a:cubicBezTo>
                    <a:pt x="43018" y="960834"/>
                    <a:pt x="0" y="917816"/>
                    <a:pt x="0" y="864751"/>
                  </a:cubicBezTo>
                  <a:lnTo>
                    <a:pt x="0" y="96083"/>
                  </a:lnTo>
                  <a:close/>
                </a:path>
              </a:pathLst>
            </a:custGeom>
            <a:solidFill>
              <a:schemeClr val="accent5">
                <a:alpha val="30000"/>
              </a:schemeClr>
            </a:solidFill>
            <a:ln>
              <a:solidFill>
                <a:schemeClr val="accent5"/>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180542" tIns="180542" rIns="180542" bIns="180542" spcCol="1270" anchor="ctr"/>
            <a:lstStyle/>
            <a:p>
              <a:pPr marL="0" marR="0" lvl="0" indent="0" algn="ctr" defTabSz="1778000" rtl="0" eaLnBrk="0" fontAlgn="base" latinLnBrk="0" hangingPunct="0">
                <a:lnSpc>
                  <a:spcPct val="90000"/>
                </a:lnSpc>
                <a:spcBef>
                  <a:spcPct val="0"/>
                </a:spcBef>
                <a:spcAft>
                  <a:spcPct val="35000"/>
                </a:spcAft>
                <a:buClrTx/>
                <a:buSzTx/>
                <a:buFontTx/>
                <a:buNone/>
                <a:tabLst/>
                <a:defRPr/>
              </a:pPr>
              <a:r>
                <a:rPr kumimoji="0" lang="en-CA" sz="2000" b="0" i="0" u="none" strike="noStrike" kern="1200" cap="none" spc="0" normalizeH="0" baseline="0" noProof="0" dirty="0">
                  <a:ln>
                    <a:noFill/>
                  </a:ln>
                  <a:solidFill>
                    <a:srgbClr val="2F2B20"/>
                  </a:solidFill>
                  <a:effectLst/>
                  <a:uLnTx/>
                  <a:uFillTx/>
                  <a:latin typeface="Calibri"/>
                  <a:ea typeface="+mn-ea"/>
                  <a:cs typeface="+mn-cs"/>
                </a:rPr>
                <a:t>Second Normal Form (2NF)</a:t>
              </a:r>
            </a:p>
          </p:txBody>
        </p:sp>
      </p:grpSp>
      <p:sp>
        <p:nvSpPr>
          <p:cNvPr id="17" name="Title 1">
            <a:extLst>
              <a:ext uri="{FF2B5EF4-FFF2-40B4-BE49-F238E27FC236}">
                <a16:creationId xmlns:a16="http://schemas.microsoft.com/office/drawing/2014/main" id="{3874D050-EF2E-1D2D-6509-078A8001138B}"/>
              </a:ext>
            </a:extLst>
          </p:cNvPr>
          <p:cNvSpPr txBox="1">
            <a:spLocks/>
          </p:cNvSpPr>
          <p:nvPr/>
        </p:nvSpPr>
        <p:spPr bwMode="auto">
          <a:xfrm>
            <a:off x="92075" y="1538288"/>
            <a:ext cx="8172450" cy="323850"/>
          </a:xfrm>
          <a:prstGeom prst="rect">
            <a:avLst/>
          </a:prstGeom>
          <a:noFill/>
          <a:ln w="9525">
            <a:noFill/>
            <a:miter lim="800000"/>
            <a:headEnd/>
            <a:tailEnd/>
          </a:ln>
        </p:spPr>
        <p:txBody>
          <a:bodyPr lIns="72000" tIns="0" rIns="72000" bIns="0"/>
          <a:lstStyle/>
          <a:p>
            <a:pPr marL="0" marR="0" lvl="0" indent="0" algn="l" defTabSz="720000" rtl="0" eaLnBrk="1" fontAlgn="base" latinLnBrk="0" hangingPunct="1">
              <a:lnSpc>
                <a:spcPts val="1800"/>
              </a:lnSpc>
              <a:spcBef>
                <a:spcPts val="0"/>
              </a:spcBef>
              <a:spcAft>
                <a:spcPts val="0"/>
              </a:spcAft>
              <a:buClrTx/>
              <a:buSzTx/>
              <a:buFontTx/>
              <a:buNone/>
              <a:tabLst>
                <a:tab pos="0" algn="l"/>
              </a:tabLst>
              <a:defRPr/>
            </a:pPr>
            <a:r>
              <a:rPr kumimoji="0" lang="en-CA" sz="1800" b="1" i="0" u="none" strike="noStrike" kern="0" cap="none" spc="0" normalizeH="0" baseline="0" noProof="0" dirty="0">
                <a:ln>
                  <a:noFill/>
                </a:ln>
                <a:solidFill>
                  <a:srgbClr val="2F2B20"/>
                </a:solidFill>
                <a:effectLst/>
                <a:uLnTx/>
                <a:uFillTx/>
                <a:latin typeface="Arial" panose="020B0604020202020204" pitchFamily="34" charset="0"/>
                <a:ea typeface="+mn-ea"/>
                <a:cs typeface="Calibri" pitchFamily="34" charset="0"/>
              </a:rPr>
              <a:t>Normal Forms</a:t>
            </a:r>
            <a:endParaRPr kumimoji="0" lang="en-MY" sz="1800" b="1" i="0" u="none" strike="noStrike" kern="0" cap="none" spc="0" normalizeH="0" baseline="0" noProof="0" dirty="0">
              <a:ln>
                <a:noFill/>
              </a:ln>
              <a:solidFill>
                <a:srgbClr val="2F2B20"/>
              </a:solidFill>
              <a:effectLst/>
              <a:uLnTx/>
              <a:uFillTx/>
              <a:latin typeface="Calibri"/>
              <a:ea typeface="+mn-ea"/>
              <a:cs typeface="Calibri" pitchFamily="34" charset="0"/>
            </a:endParaRPr>
          </a:p>
        </p:txBody>
      </p:sp>
      <p:sp>
        <p:nvSpPr>
          <p:cNvPr id="23558" name="Rounded Rectangular Callout 19">
            <a:extLst>
              <a:ext uri="{FF2B5EF4-FFF2-40B4-BE49-F238E27FC236}">
                <a16:creationId xmlns:a16="http://schemas.microsoft.com/office/drawing/2014/main" id="{1BFD3A84-205B-D5FA-0E1A-68F25C13949B}"/>
              </a:ext>
            </a:extLst>
          </p:cNvPr>
          <p:cNvSpPr>
            <a:spLocks noChangeArrowheads="1"/>
          </p:cNvSpPr>
          <p:nvPr/>
        </p:nvSpPr>
        <p:spPr bwMode="auto">
          <a:xfrm flipV="1">
            <a:off x="3227388" y="4203700"/>
            <a:ext cx="3216275" cy="1285875"/>
          </a:xfrm>
          <a:prstGeom prst="wedgeRoundRectCallout">
            <a:avLst>
              <a:gd name="adj1" fmla="val -21148"/>
              <a:gd name="adj2" fmla="val 68880"/>
              <a:gd name="adj3" fmla="val 16667"/>
            </a:avLst>
          </a:prstGeom>
          <a:solidFill>
            <a:srgbClr val="B50C00"/>
          </a:solidFill>
          <a:ln w="9525" algn="ctr">
            <a:solidFill>
              <a:schemeClr val="tx1"/>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endPar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endParaRPr>
          </a:p>
        </p:txBody>
      </p:sp>
      <p:sp>
        <p:nvSpPr>
          <p:cNvPr id="23559" name="TextBox 20">
            <a:extLst>
              <a:ext uri="{FF2B5EF4-FFF2-40B4-BE49-F238E27FC236}">
                <a16:creationId xmlns:a16="http://schemas.microsoft.com/office/drawing/2014/main" id="{FA384D0B-AC1B-2051-91F1-3510CC265774}"/>
              </a:ext>
            </a:extLst>
          </p:cNvPr>
          <p:cNvSpPr txBox="1">
            <a:spLocks noChangeArrowheads="1"/>
          </p:cNvSpPr>
          <p:nvPr/>
        </p:nvSpPr>
        <p:spPr bwMode="auto">
          <a:xfrm>
            <a:off x="3338513" y="4254500"/>
            <a:ext cx="2913062"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A relation is in 1NF if the intersection of each row and each column contains only one value</a:t>
            </a:r>
          </a:p>
        </p:txBody>
      </p:sp>
      <p:sp>
        <p:nvSpPr>
          <p:cNvPr id="22" name="Teardrop 21">
            <a:hlinkClick r:id="rId4" action="ppaction://hlinksldjump"/>
            <a:extLst>
              <a:ext uri="{FF2B5EF4-FFF2-40B4-BE49-F238E27FC236}">
                <a16:creationId xmlns:a16="http://schemas.microsoft.com/office/drawing/2014/main" id="{93E18D16-7BF1-E7B2-CFC8-7A88D8C0DBBB}"/>
              </a:ext>
            </a:extLst>
          </p:cNvPr>
          <p:cNvSpPr/>
          <p:nvPr/>
        </p:nvSpPr>
        <p:spPr bwMode="auto">
          <a:xfrm>
            <a:off x="6012398" y="4039359"/>
            <a:ext cx="570644" cy="431301"/>
          </a:xfrm>
          <a:prstGeom prst="teardrop">
            <a:avLst/>
          </a:prstGeom>
          <a:ln>
            <a:headEnd type="none" w="med" len="med"/>
            <a:tailEnd type="none" w="med" len="med"/>
          </a:ln>
        </p:spPr>
        <p:style>
          <a:lnRef idx="3">
            <a:schemeClr val="lt1"/>
          </a:lnRef>
          <a:fillRef idx="1">
            <a:schemeClr val="accent3"/>
          </a:fillRef>
          <a:effectRef idx="1">
            <a:schemeClr val="accent3"/>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2400" b="1" i="0" u="none" strike="noStrike" kern="1200" cap="none" spc="50" normalizeH="0" baseline="0" noProof="0" dirty="0">
                <a:ln w="13500">
                  <a:solidFill>
                    <a:srgbClr val="A9A57C">
                      <a:shade val="2500"/>
                      <a:alpha val="6500"/>
                    </a:srgbClr>
                  </a:solidFill>
                  <a:prstDash val="solid"/>
                </a:ln>
                <a:solidFill>
                  <a:srgbClr val="A9A57C">
                    <a:tint val="3000"/>
                    <a:alpha val="95000"/>
                  </a:srgbClr>
                </a:solidFill>
                <a:effectLst>
                  <a:innerShdw blurRad="50900" dist="38500" dir="13500000">
                    <a:srgbClr val="000000">
                      <a:alpha val="60000"/>
                    </a:srgbClr>
                  </a:innerShdw>
                </a:effectLst>
                <a:uLnTx/>
                <a:uFillTx/>
                <a:latin typeface="Arial" charset="0"/>
                <a:ea typeface="+mn-ea"/>
                <a:cs typeface="+mn-cs"/>
              </a:rPr>
              <a:t>X</a:t>
            </a:r>
          </a:p>
        </p:txBody>
      </p:sp>
      <p:sp>
        <p:nvSpPr>
          <p:cNvPr id="28" name="Title 1">
            <a:extLst>
              <a:ext uri="{FF2B5EF4-FFF2-40B4-BE49-F238E27FC236}">
                <a16:creationId xmlns:a16="http://schemas.microsoft.com/office/drawing/2014/main" id="{1C7E053E-7A01-AA56-3E57-99877F6431D7}"/>
              </a:ext>
            </a:extLst>
          </p:cNvPr>
          <p:cNvSpPr>
            <a:spLocks noGrp="1"/>
          </p:cNvSpPr>
          <p:nvPr>
            <p:ph type="title"/>
          </p:nvPr>
        </p:nvSpPr>
        <p:spPr>
          <a:xfrm>
            <a:off x="457200" y="76200"/>
            <a:ext cx="7620000" cy="1143000"/>
          </a:xfrm>
        </p:spPr>
        <p:txBody>
          <a:bodyPr/>
          <a:lstStyle/>
          <a:p>
            <a:pPr algn="ctr">
              <a:defRPr/>
            </a:pPr>
            <a:r>
              <a:rPr lang="en-US" dirty="0"/>
              <a:t>Relational Database Normalization</a:t>
            </a:r>
            <a:endParaRPr lang="en-CA" dirty="0"/>
          </a:p>
        </p:txBody>
      </p:sp>
    </p:spTree>
  </p:cSld>
  <p:clrMapOvr>
    <a:masterClrMapping/>
  </p:clrMapOvr>
  <p:transition spd="slow"/>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D8009124-3FCC-D7A5-542E-C318997DD97A}"/>
              </a:ext>
            </a:extLst>
          </p:cNvPr>
          <p:cNvSpPr txBox="1">
            <a:spLocks/>
          </p:cNvSpPr>
          <p:nvPr/>
        </p:nvSpPr>
        <p:spPr bwMode="auto">
          <a:xfrm>
            <a:off x="22225" y="1568450"/>
            <a:ext cx="8172450" cy="323850"/>
          </a:xfrm>
          <a:prstGeom prst="rect">
            <a:avLst/>
          </a:prstGeom>
          <a:noFill/>
          <a:ln w="9525">
            <a:noFill/>
            <a:miter lim="800000"/>
            <a:headEnd/>
            <a:tailEnd/>
          </a:ln>
        </p:spPr>
        <p:txBody>
          <a:bodyPr lIns="72000" tIns="0" rIns="72000" bIns="0"/>
          <a:lstStyle/>
          <a:p>
            <a:pPr marL="0" marR="0" lvl="0" indent="0" algn="l" defTabSz="720000" rtl="0" eaLnBrk="1" fontAlgn="base" latinLnBrk="0" hangingPunct="1">
              <a:lnSpc>
                <a:spcPts val="1800"/>
              </a:lnSpc>
              <a:spcBef>
                <a:spcPts val="0"/>
              </a:spcBef>
              <a:spcAft>
                <a:spcPts val="0"/>
              </a:spcAft>
              <a:buClrTx/>
              <a:buSzTx/>
              <a:buFontTx/>
              <a:buNone/>
              <a:tabLst>
                <a:tab pos="0" algn="l"/>
              </a:tabLst>
              <a:defRPr/>
            </a:pPr>
            <a:r>
              <a:rPr kumimoji="0" lang="en-US" sz="1800" b="1" i="0" u="none" strike="noStrike" kern="0" cap="none" spc="0" normalizeH="0" baseline="0" noProof="0" dirty="0">
                <a:ln>
                  <a:noFill/>
                </a:ln>
                <a:solidFill>
                  <a:srgbClr val="2F2B20"/>
                </a:solidFill>
                <a:effectLst/>
                <a:uLnTx/>
                <a:uFillTx/>
                <a:latin typeface="Calibri"/>
                <a:ea typeface="+mn-ea"/>
                <a:cs typeface="Calibri" pitchFamily="34" charset="0"/>
              </a:rPr>
              <a:t>Normal Forms</a:t>
            </a:r>
            <a:endParaRPr kumimoji="0" lang="en-MY" sz="1800" b="1" i="0" u="none" strike="noStrike" kern="0" cap="none" spc="0" normalizeH="0" baseline="0" noProof="0" dirty="0">
              <a:ln>
                <a:noFill/>
              </a:ln>
              <a:solidFill>
                <a:srgbClr val="2F2B20"/>
              </a:solidFill>
              <a:effectLst/>
              <a:uLnTx/>
              <a:uFillTx/>
              <a:latin typeface="Calibri"/>
              <a:ea typeface="+mn-ea"/>
              <a:cs typeface="Calibri" pitchFamily="34" charset="0"/>
            </a:endParaRPr>
          </a:p>
        </p:txBody>
      </p:sp>
      <p:sp>
        <p:nvSpPr>
          <p:cNvPr id="15" name="Content Placeholder 2">
            <a:extLst>
              <a:ext uri="{FF2B5EF4-FFF2-40B4-BE49-F238E27FC236}">
                <a16:creationId xmlns:a16="http://schemas.microsoft.com/office/drawing/2014/main" id="{BF8CA361-3671-D489-21BF-F4901BE5AD07}"/>
              </a:ext>
            </a:extLst>
          </p:cNvPr>
          <p:cNvSpPr txBox="1">
            <a:spLocks/>
          </p:cNvSpPr>
          <p:nvPr/>
        </p:nvSpPr>
        <p:spPr bwMode="auto">
          <a:xfrm>
            <a:off x="152400" y="1770063"/>
            <a:ext cx="8153400"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To convert a relation from UNF to 1NF, consider the following relation</a:t>
            </a:r>
            <a:endParaRPr kumimoji="0" lang="en-US" altLang="en-US" sz="32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US" altLang="en-US" sz="32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rPr>
              <a:t> </a:t>
            </a: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sp>
        <p:nvSpPr>
          <p:cNvPr id="19" name="Rectangle 18">
            <a:extLst>
              <a:ext uri="{FF2B5EF4-FFF2-40B4-BE49-F238E27FC236}">
                <a16:creationId xmlns:a16="http://schemas.microsoft.com/office/drawing/2014/main" id="{E1ADB201-24F5-D9C7-E09E-1F79E19E449A}"/>
              </a:ext>
            </a:extLst>
          </p:cNvPr>
          <p:cNvSpPr>
            <a:spLocks noChangeArrowheads="1"/>
          </p:cNvSpPr>
          <p:nvPr/>
        </p:nvSpPr>
        <p:spPr bwMode="auto">
          <a:xfrm>
            <a:off x="914400" y="5945188"/>
            <a:ext cx="6804025" cy="684212"/>
          </a:xfrm>
          <a:prstGeom prst="rect">
            <a:avLst/>
          </a:prstGeom>
          <a:solidFill>
            <a:srgbClr val="FFFF00">
              <a:alpha val="30196"/>
            </a:srgbClr>
          </a:solidFill>
          <a:ln w="9525" algn="ctr">
            <a:solidFill>
              <a:srgbClr val="FFC000"/>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This relation is in UNF as the intersection of its rows and columns contain more than one value</a:t>
            </a:r>
          </a:p>
        </p:txBody>
      </p:sp>
      <p:graphicFrame>
        <p:nvGraphicFramePr>
          <p:cNvPr id="3" name="Table 2">
            <a:extLst>
              <a:ext uri="{FF2B5EF4-FFF2-40B4-BE49-F238E27FC236}">
                <a16:creationId xmlns:a16="http://schemas.microsoft.com/office/drawing/2014/main" id="{08A0F8B4-CE81-D65A-7A28-4B7AD7467CD3}"/>
              </a:ext>
            </a:extLst>
          </p:cNvPr>
          <p:cNvGraphicFramePr>
            <a:graphicFrameLocks noGrp="1"/>
          </p:cNvGraphicFramePr>
          <p:nvPr/>
        </p:nvGraphicFramePr>
        <p:xfrm>
          <a:off x="22225" y="2921000"/>
          <a:ext cx="8359776" cy="2840036"/>
        </p:xfrm>
        <a:graphic>
          <a:graphicData uri="http://schemas.openxmlformats.org/drawingml/2006/table">
            <a:tbl>
              <a:tblPr firstRow="1" bandRow="1">
                <a:tableStyleId>{3B4B98B0-60AC-42C2-AFA5-B58CD77FA1E5}</a:tableStyleId>
              </a:tblPr>
              <a:tblGrid>
                <a:gridCol w="1462961">
                  <a:extLst>
                    <a:ext uri="{9D8B030D-6E8A-4147-A177-3AD203B41FA5}">
                      <a16:colId xmlns:a16="http://schemas.microsoft.com/office/drawing/2014/main" val="20000"/>
                    </a:ext>
                  </a:extLst>
                </a:gridCol>
                <a:gridCol w="1602290">
                  <a:extLst>
                    <a:ext uri="{9D8B030D-6E8A-4147-A177-3AD203B41FA5}">
                      <a16:colId xmlns:a16="http://schemas.microsoft.com/office/drawing/2014/main" val="20001"/>
                    </a:ext>
                  </a:extLst>
                </a:gridCol>
                <a:gridCol w="1323631">
                  <a:extLst>
                    <a:ext uri="{9D8B030D-6E8A-4147-A177-3AD203B41FA5}">
                      <a16:colId xmlns:a16="http://schemas.microsoft.com/office/drawing/2014/main" val="20002"/>
                    </a:ext>
                  </a:extLst>
                </a:gridCol>
                <a:gridCol w="1532626">
                  <a:extLst>
                    <a:ext uri="{9D8B030D-6E8A-4147-A177-3AD203B41FA5}">
                      <a16:colId xmlns:a16="http://schemas.microsoft.com/office/drawing/2014/main" val="20003"/>
                    </a:ext>
                  </a:extLst>
                </a:gridCol>
                <a:gridCol w="1462961">
                  <a:extLst>
                    <a:ext uri="{9D8B030D-6E8A-4147-A177-3AD203B41FA5}">
                      <a16:colId xmlns:a16="http://schemas.microsoft.com/office/drawing/2014/main" val="20004"/>
                    </a:ext>
                  </a:extLst>
                </a:gridCol>
                <a:gridCol w="975307">
                  <a:extLst>
                    <a:ext uri="{9D8B030D-6E8A-4147-A177-3AD203B41FA5}">
                      <a16:colId xmlns:a16="http://schemas.microsoft.com/office/drawing/2014/main" val="20005"/>
                    </a:ext>
                  </a:extLst>
                </a:gridCol>
              </a:tblGrid>
              <a:tr h="365752">
                <a:tc>
                  <a:txBody>
                    <a:bodyPr/>
                    <a:lstStyle/>
                    <a:p>
                      <a:pPr algn="ctr"/>
                      <a:r>
                        <a:rPr lang="en-CA" sz="1800" dirty="0"/>
                        <a:t>PROJ_NUM</a:t>
                      </a:r>
                      <a:endParaRPr lang="en-CA" sz="1800" b="0" dirty="0"/>
                    </a:p>
                  </a:txBody>
                  <a:tcPr marL="91455" marR="91455" marT="45716" marB="45716"/>
                </a:tc>
                <a:tc>
                  <a:txBody>
                    <a:bodyPr/>
                    <a:lstStyle/>
                    <a:p>
                      <a:pPr algn="ctr"/>
                      <a:r>
                        <a:rPr lang="en-CA" sz="1800" dirty="0"/>
                        <a:t>PROJ_NAME</a:t>
                      </a:r>
                      <a:endParaRPr lang="en-CA" sz="1800" b="0" dirty="0"/>
                    </a:p>
                  </a:txBody>
                  <a:tcPr marL="91455" marR="91455" marT="45716" marB="45716"/>
                </a:tc>
                <a:tc>
                  <a:txBody>
                    <a:bodyPr/>
                    <a:lstStyle/>
                    <a:p>
                      <a:pPr algn="ctr"/>
                      <a:r>
                        <a:rPr lang="en-CA" sz="1800" dirty="0"/>
                        <a:t>EMP_NUM</a:t>
                      </a:r>
                      <a:endParaRPr lang="en-CA" sz="1800" b="0" dirty="0"/>
                    </a:p>
                  </a:txBody>
                  <a:tcPr marL="91455" marR="91455" marT="45716" marB="45716"/>
                </a:tc>
                <a:tc>
                  <a:txBody>
                    <a:bodyPr/>
                    <a:lstStyle/>
                    <a:p>
                      <a:pPr algn="ctr"/>
                      <a:r>
                        <a:rPr lang="en-CA" sz="1800" dirty="0"/>
                        <a:t>JOB_CLASS</a:t>
                      </a:r>
                      <a:endParaRPr lang="en-CA" sz="1800" b="0" dirty="0"/>
                    </a:p>
                  </a:txBody>
                  <a:tcPr marL="91455" marR="91455" marT="45716" marB="45716"/>
                </a:tc>
                <a:tc>
                  <a:txBody>
                    <a:bodyPr/>
                    <a:lstStyle/>
                    <a:p>
                      <a:pPr algn="ctr"/>
                      <a:r>
                        <a:rPr lang="en-CA" sz="1800" dirty="0"/>
                        <a:t>CHG_HOUR</a:t>
                      </a:r>
                      <a:endParaRPr lang="en-CA" sz="1800" b="0" dirty="0"/>
                    </a:p>
                  </a:txBody>
                  <a:tcPr marL="91455" marR="91455" marT="45716" marB="45716"/>
                </a:tc>
                <a:tc>
                  <a:txBody>
                    <a:bodyPr/>
                    <a:lstStyle/>
                    <a:p>
                      <a:pPr algn="ctr"/>
                      <a:r>
                        <a:rPr lang="en-CA" sz="1800" dirty="0"/>
                        <a:t>HOUR</a:t>
                      </a:r>
                      <a:endParaRPr lang="en-CA" sz="1800" b="0" dirty="0"/>
                    </a:p>
                  </a:txBody>
                  <a:tcPr marL="91455" marR="91455" marT="45716" marB="45716"/>
                </a:tc>
                <a:extLst>
                  <a:ext uri="{0D108BD9-81ED-4DB2-BD59-A6C34878D82A}">
                    <a16:rowId xmlns:a16="http://schemas.microsoft.com/office/drawing/2014/main" val="10000"/>
                  </a:ext>
                </a:extLst>
              </a:tr>
              <a:tr h="447452">
                <a:tc rowSpan="3">
                  <a:txBody>
                    <a:bodyPr/>
                    <a:lstStyle/>
                    <a:p>
                      <a:pPr algn="ctr"/>
                      <a:r>
                        <a:rPr lang="en-CA" sz="1800" dirty="0"/>
                        <a:t>15</a:t>
                      </a:r>
                      <a:endParaRPr lang="en-CA" sz="1800" b="0" dirty="0"/>
                    </a:p>
                  </a:txBody>
                  <a:tcPr marL="91455" marR="91455" marT="45716" marB="45716" anchor="ctr"/>
                </a:tc>
                <a:tc rowSpan="3">
                  <a:txBody>
                    <a:bodyPr/>
                    <a:lstStyle/>
                    <a:p>
                      <a:pPr algn="ctr"/>
                      <a:r>
                        <a:rPr lang="en-CA" sz="1800" dirty="0"/>
                        <a:t>Evergreen</a:t>
                      </a:r>
                      <a:endParaRPr lang="en-CA" sz="1800" b="0" dirty="0"/>
                    </a:p>
                  </a:txBody>
                  <a:tcPr marL="91455" marR="91455" marT="45716" marB="45716" anchor="ctr"/>
                </a:tc>
                <a:tc>
                  <a:txBody>
                    <a:bodyPr/>
                    <a:lstStyle/>
                    <a:p>
                      <a:pPr algn="ctr"/>
                      <a:r>
                        <a:rPr lang="en-CA" sz="1800" dirty="0"/>
                        <a:t>102</a:t>
                      </a:r>
                      <a:endParaRPr lang="en-CA" sz="1800" b="0" dirty="0"/>
                    </a:p>
                  </a:txBody>
                  <a:tcPr marL="91455" marR="91455" marT="45716" marB="45716" anchor="ctr"/>
                </a:tc>
                <a:tc>
                  <a:txBody>
                    <a:bodyPr/>
                    <a:lstStyle/>
                    <a:p>
                      <a:pPr algn="ctr"/>
                      <a:r>
                        <a:rPr lang="en-CA" sz="1800" dirty="0"/>
                        <a:t>Engineer</a:t>
                      </a:r>
                      <a:endParaRPr lang="en-CA" sz="1800" b="0" dirty="0"/>
                    </a:p>
                  </a:txBody>
                  <a:tcPr marL="91455" marR="91455" marT="45716" marB="45716" anchor="ctr"/>
                </a:tc>
                <a:tc>
                  <a:txBody>
                    <a:bodyPr/>
                    <a:lstStyle/>
                    <a:p>
                      <a:pPr algn="ctr"/>
                      <a:r>
                        <a:rPr lang="en-CA" sz="1800" dirty="0"/>
                        <a:t>84.50</a:t>
                      </a:r>
                      <a:endParaRPr lang="en-CA" sz="1800" b="0" dirty="0"/>
                    </a:p>
                  </a:txBody>
                  <a:tcPr marL="91455" marR="91455" marT="45716" marB="45716" anchor="ctr"/>
                </a:tc>
                <a:tc>
                  <a:txBody>
                    <a:bodyPr/>
                    <a:lstStyle/>
                    <a:p>
                      <a:pPr algn="ctr"/>
                      <a:r>
                        <a:rPr lang="en-CA" sz="1800" dirty="0"/>
                        <a:t>30</a:t>
                      </a:r>
                      <a:endParaRPr lang="en-CA" sz="1800" b="0" dirty="0"/>
                    </a:p>
                  </a:txBody>
                  <a:tcPr marL="91455" marR="91455" marT="45716" marB="45716" anchor="ctr"/>
                </a:tc>
                <a:extLst>
                  <a:ext uri="{0D108BD9-81ED-4DB2-BD59-A6C34878D82A}">
                    <a16:rowId xmlns:a16="http://schemas.microsoft.com/office/drawing/2014/main" val="10001"/>
                  </a:ext>
                </a:extLst>
              </a:tr>
              <a:tr h="432007">
                <a:tc vMerge="1">
                  <a:txBody>
                    <a:bodyPr/>
                    <a:lstStyle/>
                    <a:p>
                      <a:endParaRPr lang="en-CA"/>
                    </a:p>
                  </a:txBody>
                  <a:tcPr/>
                </a:tc>
                <a:tc vMerge="1">
                  <a:txBody>
                    <a:bodyPr/>
                    <a:lstStyle/>
                    <a:p>
                      <a:endParaRPr lang="en-CA"/>
                    </a:p>
                  </a:txBody>
                  <a:tcPr/>
                </a:tc>
                <a:tc>
                  <a:txBody>
                    <a:bodyPr/>
                    <a:lstStyle/>
                    <a:p>
                      <a:pPr algn="ctr"/>
                      <a:r>
                        <a:rPr lang="en-CA" sz="1800" dirty="0"/>
                        <a:t>103</a:t>
                      </a:r>
                      <a:endParaRPr lang="en-CA" sz="1800" b="0" dirty="0"/>
                    </a:p>
                  </a:txBody>
                  <a:tcPr marL="91455" marR="91455" marT="45716" marB="45716" anchor="ctr"/>
                </a:tc>
                <a:tc>
                  <a:txBody>
                    <a:bodyPr/>
                    <a:lstStyle/>
                    <a:p>
                      <a:pPr algn="ctr"/>
                      <a:r>
                        <a:rPr lang="en-CA" sz="1800" dirty="0"/>
                        <a:t>Engineer</a:t>
                      </a:r>
                      <a:endParaRPr lang="en-CA" sz="1800" b="0" dirty="0"/>
                    </a:p>
                  </a:txBody>
                  <a:tcPr marL="91455" marR="91455" marT="45716" marB="45716" anchor="ctr"/>
                </a:tc>
                <a:tc>
                  <a:txBody>
                    <a:bodyPr/>
                    <a:lstStyle/>
                    <a:p>
                      <a:pPr algn="ctr"/>
                      <a:r>
                        <a:rPr lang="en-CA" sz="1800" dirty="0"/>
                        <a:t>84.50</a:t>
                      </a:r>
                      <a:endParaRPr lang="en-CA" sz="1800" b="0" dirty="0"/>
                    </a:p>
                  </a:txBody>
                  <a:tcPr marL="91455" marR="91455" marT="45716" marB="45716" anchor="ctr"/>
                </a:tc>
                <a:tc>
                  <a:txBody>
                    <a:bodyPr/>
                    <a:lstStyle/>
                    <a:p>
                      <a:pPr algn="ctr"/>
                      <a:r>
                        <a:rPr lang="en-CA" sz="1800" dirty="0"/>
                        <a:t>23</a:t>
                      </a:r>
                      <a:endParaRPr lang="en-CA" sz="1800" b="0" dirty="0"/>
                    </a:p>
                  </a:txBody>
                  <a:tcPr marL="91455" marR="91455" marT="45716" marB="45716" anchor="ctr"/>
                </a:tc>
                <a:extLst>
                  <a:ext uri="{0D108BD9-81ED-4DB2-BD59-A6C34878D82A}">
                    <a16:rowId xmlns:a16="http://schemas.microsoft.com/office/drawing/2014/main" val="10002"/>
                  </a:ext>
                </a:extLst>
              </a:tr>
              <a:tr h="432007">
                <a:tc vMerge="1">
                  <a:txBody>
                    <a:bodyPr/>
                    <a:lstStyle/>
                    <a:p>
                      <a:endParaRPr lang="en-CA"/>
                    </a:p>
                  </a:txBody>
                  <a:tcPr/>
                </a:tc>
                <a:tc vMerge="1">
                  <a:txBody>
                    <a:bodyPr/>
                    <a:lstStyle/>
                    <a:p>
                      <a:endParaRPr lang="en-CA"/>
                    </a:p>
                  </a:txBody>
                  <a:tcPr/>
                </a:tc>
                <a:tc>
                  <a:txBody>
                    <a:bodyPr/>
                    <a:lstStyle/>
                    <a:p>
                      <a:pPr algn="ctr"/>
                      <a:r>
                        <a:rPr lang="en-CA" sz="1800" dirty="0"/>
                        <a:t>105</a:t>
                      </a:r>
                      <a:endParaRPr lang="en-CA" sz="1800" b="0" dirty="0"/>
                    </a:p>
                  </a:txBody>
                  <a:tcPr marL="91455" marR="91455" marT="45716" marB="45716" anchor="ctr"/>
                </a:tc>
                <a:tc>
                  <a:txBody>
                    <a:bodyPr/>
                    <a:lstStyle/>
                    <a:p>
                      <a:pPr algn="ctr"/>
                      <a:r>
                        <a:rPr lang="en-CA" sz="1800" dirty="0"/>
                        <a:t>Consultant</a:t>
                      </a:r>
                      <a:endParaRPr lang="en-CA" sz="1800" b="0" dirty="0"/>
                    </a:p>
                  </a:txBody>
                  <a:tcPr marL="91455" marR="91455" marT="45716" marB="45716" anchor="ctr"/>
                </a:tc>
                <a:tc>
                  <a:txBody>
                    <a:bodyPr/>
                    <a:lstStyle/>
                    <a:p>
                      <a:pPr algn="ctr"/>
                      <a:r>
                        <a:rPr lang="en-CA" sz="1800" dirty="0"/>
                        <a:t>105.00</a:t>
                      </a:r>
                      <a:endParaRPr lang="en-CA" sz="1800" b="0" dirty="0"/>
                    </a:p>
                  </a:txBody>
                  <a:tcPr marL="91455" marR="91455" marT="45716" marB="45716" anchor="ctr"/>
                </a:tc>
                <a:tc>
                  <a:txBody>
                    <a:bodyPr/>
                    <a:lstStyle/>
                    <a:p>
                      <a:pPr algn="ctr"/>
                      <a:r>
                        <a:rPr lang="en-CA" sz="1800" dirty="0"/>
                        <a:t>20</a:t>
                      </a:r>
                      <a:endParaRPr lang="en-CA" sz="1800" b="0" dirty="0"/>
                    </a:p>
                  </a:txBody>
                  <a:tcPr marL="91455" marR="91455" marT="45716" marB="45716" anchor="ctr"/>
                </a:tc>
                <a:extLst>
                  <a:ext uri="{0D108BD9-81ED-4DB2-BD59-A6C34878D82A}">
                    <a16:rowId xmlns:a16="http://schemas.microsoft.com/office/drawing/2014/main" val="10003"/>
                  </a:ext>
                </a:extLst>
              </a:tr>
              <a:tr h="370805">
                <a:tc rowSpan="3">
                  <a:txBody>
                    <a:bodyPr/>
                    <a:lstStyle/>
                    <a:p>
                      <a:pPr algn="ctr"/>
                      <a:r>
                        <a:rPr lang="en-CA" sz="1800" dirty="0"/>
                        <a:t>22</a:t>
                      </a:r>
                      <a:endParaRPr lang="en-CA" sz="1800" b="0" dirty="0"/>
                    </a:p>
                  </a:txBody>
                  <a:tcPr marL="91455" marR="91455" marT="45716" marB="45716" anchor="ctr"/>
                </a:tc>
                <a:tc rowSpan="3">
                  <a:txBody>
                    <a:bodyPr/>
                    <a:lstStyle/>
                    <a:p>
                      <a:pPr algn="ctr"/>
                      <a:r>
                        <a:rPr lang="en-CA" sz="1800" dirty="0"/>
                        <a:t>Wave</a:t>
                      </a:r>
                      <a:endParaRPr lang="en-CA" sz="1800" b="0" dirty="0"/>
                    </a:p>
                  </a:txBody>
                  <a:tcPr marL="91455" marR="91455" marT="45716" marB="45716" anchor="ctr"/>
                </a:tc>
                <a:tc>
                  <a:txBody>
                    <a:bodyPr/>
                    <a:lstStyle/>
                    <a:p>
                      <a:pPr algn="ctr"/>
                      <a:r>
                        <a:rPr lang="en-CA" sz="1800" dirty="0"/>
                        <a:t>103</a:t>
                      </a:r>
                      <a:endParaRPr lang="en-CA" sz="1800" b="0" dirty="0"/>
                    </a:p>
                  </a:txBody>
                  <a:tcPr marL="91455" marR="91455" marT="45716" marB="45716" anchor="ctr"/>
                </a:tc>
                <a:tc>
                  <a:txBody>
                    <a:bodyPr/>
                    <a:lstStyle/>
                    <a:p>
                      <a:pPr algn="ctr"/>
                      <a:r>
                        <a:rPr lang="en-CA" sz="1800" dirty="0"/>
                        <a:t>Engineer</a:t>
                      </a:r>
                      <a:endParaRPr lang="en-CA" sz="1800" b="0" dirty="0"/>
                    </a:p>
                  </a:txBody>
                  <a:tcPr marL="91455" marR="91455" marT="45716" marB="45716" anchor="ctr"/>
                </a:tc>
                <a:tc>
                  <a:txBody>
                    <a:bodyPr/>
                    <a:lstStyle/>
                    <a:p>
                      <a:pPr algn="ctr"/>
                      <a:r>
                        <a:rPr lang="en-CA" sz="1800" dirty="0"/>
                        <a:t>84.50</a:t>
                      </a:r>
                      <a:endParaRPr lang="en-CA" sz="1800" b="0" dirty="0"/>
                    </a:p>
                  </a:txBody>
                  <a:tcPr marL="91455" marR="91455" marT="45716" marB="45716" anchor="ctr"/>
                </a:tc>
                <a:tc>
                  <a:txBody>
                    <a:bodyPr/>
                    <a:lstStyle/>
                    <a:p>
                      <a:pPr algn="ctr"/>
                      <a:r>
                        <a:rPr lang="en-CA" sz="1800" dirty="0"/>
                        <a:t>10</a:t>
                      </a:r>
                      <a:endParaRPr lang="en-CA" sz="1800" b="0" dirty="0"/>
                    </a:p>
                  </a:txBody>
                  <a:tcPr marL="91455" marR="91455" marT="45716" marB="45716" anchor="ctr"/>
                </a:tc>
                <a:extLst>
                  <a:ext uri="{0D108BD9-81ED-4DB2-BD59-A6C34878D82A}">
                    <a16:rowId xmlns:a16="http://schemas.microsoft.com/office/drawing/2014/main" val="10004"/>
                  </a:ext>
                </a:extLst>
              </a:tr>
              <a:tr h="421208">
                <a:tc vMerge="1">
                  <a:txBody>
                    <a:bodyPr/>
                    <a:lstStyle/>
                    <a:p>
                      <a:endParaRPr lang="en-CA"/>
                    </a:p>
                  </a:txBody>
                  <a:tcPr/>
                </a:tc>
                <a:tc vMerge="1">
                  <a:txBody>
                    <a:bodyPr/>
                    <a:lstStyle/>
                    <a:p>
                      <a:endParaRPr lang="en-CA"/>
                    </a:p>
                  </a:txBody>
                  <a:tcPr/>
                </a:tc>
                <a:tc>
                  <a:txBody>
                    <a:bodyPr/>
                    <a:lstStyle/>
                    <a:p>
                      <a:pPr algn="ctr"/>
                      <a:r>
                        <a:rPr lang="en-CA" sz="1800" dirty="0"/>
                        <a:t>114</a:t>
                      </a:r>
                      <a:endParaRPr lang="en-CA" sz="1800" b="0" dirty="0"/>
                    </a:p>
                  </a:txBody>
                  <a:tcPr marL="91455" marR="91455" marT="45716" marB="45716" anchor="ctr"/>
                </a:tc>
                <a:tc>
                  <a:txBody>
                    <a:bodyPr/>
                    <a:lstStyle/>
                    <a:p>
                      <a:pPr algn="ctr"/>
                      <a:r>
                        <a:rPr lang="en-CA" sz="1800" dirty="0"/>
                        <a:t>Programmer</a:t>
                      </a:r>
                      <a:endParaRPr lang="en-CA" sz="1800" b="0" dirty="0"/>
                    </a:p>
                  </a:txBody>
                  <a:tcPr marL="91455" marR="91455" marT="45716" marB="45716" anchor="ctr"/>
                </a:tc>
                <a:tc>
                  <a:txBody>
                    <a:bodyPr/>
                    <a:lstStyle/>
                    <a:p>
                      <a:pPr algn="ctr"/>
                      <a:r>
                        <a:rPr lang="en-CA" sz="1800" dirty="0"/>
                        <a:t>60.00</a:t>
                      </a:r>
                      <a:endParaRPr lang="en-CA" sz="1800" b="0" dirty="0"/>
                    </a:p>
                  </a:txBody>
                  <a:tcPr marL="91455" marR="91455" marT="45716" marB="45716" anchor="ctr"/>
                </a:tc>
                <a:tc>
                  <a:txBody>
                    <a:bodyPr/>
                    <a:lstStyle/>
                    <a:p>
                      <a:pPr algn="ctr"/>
                      <a:r>
                        <a:rPr lang="en-CA" sz="1800" dirty="0"/>
                        <a:t>15</a:t>
                      </a:r>
                      <a:endParaRPr lang="en-CA" sz="1800" b="0" dirty="0"/>
                    </a:p>
                  </a:txBody>
                  <a:tcPr marL="91455" marR="91455" marT="45716" marB="45716" anchor="ctr"/>
                </a:tc>
                <a:extLst>
                  <a:ext uri="{0D108BD9-81ED-4DB2-BD59-A6C34878D82A}">
                    <a16:rowId xmlns:a16="http://schemas.microsoft.com/office/drawing/2014/main" val="10005"/>
                  </a:ext>
                </a:extLst>
              </a:tr>
              <a:tr h="370805">
                <a:tc vMerge="1">
                  <a:txBody>
                    <a:bodyPr/>
                    <a:lstStyle/>
                    <a:p>
                      <a:endParaRPr lang="en-CA"/>
                    </a:p>
                  </a:txBody>
                  <a:tcPr/>
                </a:tc>
                <a:tc vMerge="1">
                  <a:txBody>
                    <a:bodyPr/>
                    <a:lstStyle/>
                    <a:p>
                      <a:endParaRPr lang="en-CA"/>
                    </a:p>
                  </a:txBody>
                  <a:tcPr/>
                </a:tc>
                <a:tc>
                  <a:txBody>
                    <a:bodyPr/>
                    <a:lstStyle/>
                    <a:p>
                      <a:pPr algn="ctr"/>
                      <a:r>
                        <a:rPr lang="en-CA" sz="1800" dirty="0"/>
                        <a:t>115</a:t>
                      </a:r>
                      <a:endParaRPr lang="en-CA" sz="1800" b="0" dirty="0"/>
                    </a:p>
                  </a:txBody>
                  <a:tcPr marL="91455" marR="91455" marT="45716" marB="45716" anchor="ctr"/>
                </a:tc>
                <a:tc>
                  <a:txBody>
                    <a:bodyPr/>
                    <a:lstStyle/>
                    <a:p>
                      <a:pPr algn="ctr"/>
                      <a:r>
                        <a:rPr lang="en-CA" sz="1800" dirty="0"/>
                        <a:t>Programmer</a:t>
                      </a:r>
                      <a:endParaRPr lang="en-CA" sz="1800" b="0" dirty="0"/>
                    </a:p>
                  </a:txBody>
                  <a:tcPr marL="91455" marR="91455" marT="45716" marB="45716" anchor="ctr"/>
                </a:tc>
                <a:tc>
                  <a:txBody>
                    <a:bodyPr/>
                    <a:lstStyle/>
                    <a:p>
                      <a:pPr algn="ctr"/>
                      <a:r>
                        <a:rPr lang="en-CA" sz="1800" dirty="0"/>
                        <a:t>60.00</a:t>
                      </a:r>
                      <a:endParaRPr lang="en-CA" sz="1800" b="0" dirty="0"/>
                    </a:p>
                  </a:txBody>
                  <a:tcPr marL="91455" marR="91455" marT="45716" marB="45716" anchor="ctr"/>
                </a:tc>
                <a:tc>
                  <a:txBody>
                    <a:bodyPr/>
                    <a:lstStyle/>
                    <a:p>
                      <a:pPr algn="ctr"/>
                      <a:r>
                        <a:rPr lang="en-CA" sz="1800" dirty="0"/>
                        <a:t>18</a:t>
                      </a:r>
                      <a:endParaRPr lang="en-CA" sz="1800" b="0" dirty="0"/>
                    </a:p>
                  </a:txBody>
                  <a:tcPr marL="91455" marR="91455" marT="45716" marB="45716" anchor="ctr"/>
                </a:tc>
                <a:extLst>
                  <a:ext uri="{0D108BD9-81ED-4DB2-BD59-A6C34878D82A}">
                    <a16:rowId xmlns:a16="http://schemas.microsoft.com/office/drawing/2014/main" val="10006"/>
                  </a:ext>
                </a:extLst>
              </a:tr>
            </a:tbl>
          </a:graphicData>
        </a:graphic>
      </p:graphicFrame>
      <p:sp>
        <p:nvSpPr>
          <p:cNvPr id="17" name="Title 1">
            <a:extLst>
              <a:ext uri="{FF2B5EF4-FFF2-40B4-BE49-F238E27FC236}">
                <a16:creationId xmlns:a16="http://schemas.microsoft.com/office/drawing/2014/main" id="{267CA3C5-EFB9-4075-E3B4-B99D5F48D615}"/>
              </a:ext>
            </a:extLst>
          </p:cNvPr>
          <p:cNvSpPr>
            <a:spLocks noGrp="1"/>
          </p:cNvSpPr>
          <p:nvPr>
            <p:ph type="title"/>
          </p:nvPr>
        </p:nvSpPr>
        <p:spPr>
          <a:xfrm>
            <a:off x="457200" y="76200"/>
            <a:ext cx="7620000" cy="1143000"/>
          </a:xfrm>
        </p:spPr>
        <p:txBody>
          <a:bodyPr/>
          <a:lstStyle/>
          <a:p>
            <a:pPr algn="ctr">
              <a:defRPr/>
            </a:pPr>
            <a:r>
              <a:rPr lang="en-US" dirty="0"/>
              <a:t>Relational Database Normalization</a:t>
            </a:r>
            <a:endParaRPr lang="en-CA"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wipe(left)">
                                      <p:cBhvr>
                                        <p:cTn id="7" dur="500"/>
                                        <p:tgtEl>
                                          <p:spTgt spid="15">
                                            <p:txEl>
                                              <p:pRg st="0" end="0"/>
                                            </p:txEl>
                                          </p:spTgt>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up)">
                                      <p:cBhvr>
                                        <p:cTn id="11" dur="500"/>
                                        <p:tgtEl>
                                          <p:spTgt spid="3"/>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wipe(up)">
                                      <p:cBhvr>
                                        <p:cTn id="16"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4BA257F3-9EA2-A359-491C-17B125498F23}"/>
              </a:ext>
            </a:extLst>
          </p:cNvPr>
          <p:cNvSpPr txBox="1">
            <a:spLocks/>
          </p:cNvSpPr>
          <p:nvPr/>
        </p:nvSpPr>
        <p:spPr bwMode="auto">
          <a:xfrm>
            <a:off x="133350" y="1419225"/>
            <a:ext cx="8172450" cy="323850"/>
          </a:xfrm>
          <a:prstGeom prst="rect">
            <a:avLst/>
          </a:prstGeom>
          <a:noFill/>
          <a:ln w="9525">
            <a:noFill/>
            <a:miter lim="800000"/>
            <a:headEnd/>
            <a:tailEnd/>
          </a:ln>
        </p:spPr>
        <p:txBody>
          <a:bodyPr lIns="72000" tIns="0" rIns="72000" bIns="0"/>
          <a:lstStyle/>
          <a:p>
            <a:pPr marL="0" marR="0" lvl="0" indent="0" algn="l" defTabSz="720000" rtl="0" eaLnBrk="1" fontAlgn="base" latinLnBrk="0" hangingPunct="1">
              <a:lnSpc>
                <a:spcPts val="1800"/>
              </a:lnSpc>
              <a:spcBef>
                <a:spcPts val="0"/>
              </a:spcBef>
              <a:spcAft>
                <a:spcPts val="0"/>
              </a:spcAft>
              <a:buClrTx/>
              <a:buSzTx/>
              <a:buFontTx/>
              <a:buNone/>
              <a:tabLst>
                <a:tab pos="0" algn="l"/>
              </a:tabLst>
              <a:defRPr/>
            </a:pPr>
            <a:r>
              <a:rPr kumimoji="0" lang="en-US" sz="1800" b="1" i="0" u="none" strike="noStrike" kern="0" cap="none" spc="0" normalizeH="0" baseline="0" noProof="0" dirty="0">
                <a:ln>
                  <a:noFill/>
                </a:ln>
                <a:solidFill>
                  <a:srgbClr val="2F2B20"/>
                </a:solidFill>
                <a:effectLst/>
                <a:uLnTx/>
                <a:uFillTx/>
                <a:latin typeface="Calibri"/>
                <a:ea typeface="+mn-ea"/>
                <a:cs typeface="Calibri" pitchFamily="34" charset="0"/>
              </a:rPr>
              <a:t>Normal Forms</a:t>
            </a:r>
            <a:endParaRPr kumimoji="0" lang="en-MY" sz="1800" b="1" i="0" u="none" strike="noStrike" kern="0" cap="none" spc="0" normalizeH="0" baseline="0" noProof="0" dirty="0">
              <a:ln>
                <a:noFill/>
              </a:ln>
              <a:solidFill>
                <a:srgbClr val="2F2B20"/>
              </a:solidFill>
              <a:effectLst/>
              <a:uLnTx/>
              <a:uFillTx/>
              <a:latin typeface="Calibri"/>
              <a:ea typeface="+mn-ea"/>
              <a:cs typeface="Calibri" pitchFamily="34" charset="0"/>
            </a:endParaRPr>
          </a:p>
        </p:txBody>
      </p:sp>
      <p:sp>
        <p:nvSpPr>
          <p:cNvPr id="15" name="Content Placeholder 2">
            <a:extLst>
              <a:ext uri="{FF2B5EF4-FFF2-40B4-BE49-F238E27FC236}">
                <a16:creationId xmlns:a16="http://schemas.microsoft.com/office/drawing/2014/main" id="{C0C8D309-7D4F-58F2-599C-F56A5B0199D3}"/>
              </a:ext>
            </a:extLst>
          </p:cNvPr>
          <p:cNvSpPr txBox="1">
            <a:spLocks/>
          </p:cNvSpPr>
          <p:nvPr/>
        </p:nvSpPr>
        <p:spPr bwMode="auto">
          <a:xfrm>
            <a:off x="250825" y="1644650"/>
            <a:ext cx="7978775"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To ensure that the intersection of each row and each column contains only one value, one can add new rows to the relation</a:t>
            </a:r>
            <a:endParaRPr kumimoji="0" lang="en-US" altLang="en-US" sz="32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US" altLang="en-US" sz="32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rPr>
              <a:t> </a:t>
            </a: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graphicFrame>
        <p:nvGraphicFramePr>
          <p:cNvPr id="17" name="Table 16">
            <a:extLst>
              <a:ext uri="{FF2B5EF4-FFF2-40B4-BE49-F238E27FC236}">
                <a16:creationId xmlns:a16="http://schemas.microsoft.com/office/drawing/2014/main" id="{D05B0612-4EFD-4EB3-48FF-2E74F4D6EF33}"/>
              </a:ext>
            </a:extLst>
          </p:cNvPr>
          <p:cNvGraphicFramePr>
            <a:graphicFrameLocks noGrp="1"/>
          </p:cNvGraphicFramePr>
          <p:nvPr/>
        </p:nvGraphicFramePr>
        <p:xfrm>
          <a:off x="250825" y="3227388"/>
          <a:ext cx="8054976" cy="2792415"/>
        </p:xfrm>
        <a:graphic>
          <a:graphicData uri="http://schemas.openxmlformats.org/drawingml/2006/table">
            <a:tbl>
              <a:tblPr firstRow="1" bandRow="1">
                <a:tableStyleId>{3B4B98B0-60AC-42C2-AFA5-B58CD77FA1E5}</a:tableStyleId>
              </a:tblPr>
              <a:tblGrid>
                <a:gridCol w="1409621">
                  <a:extLst>
                    <a:ext uri="{9D8B030D-6E8A-4147-A177-3AD203B41FA5}">
                      <a16:colId xmlns:a16="http://schemas.microsoft.com/office/drawing/2014/main" val="20000"/>
                    </a:ext>
                  </a:extLst>
                </a:gridCol>
                <a:gridCol w="1543870">
                  <a:extLst>
                    <a:ext uri="{9D8B030D-6E8A-4147-A177-3AD203B41FA5}">
                      <a16:colId xmlns:a16="http://schemas.microsoft.com/office/drawing/2014/main" val="20001"/>
                    </a:ext>
                  </a:extLst>
                </a:gridCol>
                <a:gridCol w="1275371">
                  <a:extLst>
                    <a:ext uri="{9D8B030D-6E8A-4147-A177-3AD203B41FA5}">
                      <a16:colId xmlns:a16="http://schemas.microsoft.com/office/drawing/2014/main" val="20002"/>
                    </a:ext>
                  </a:extLst>
                </a:gridCol>
                <a:gridCol w="1476746">
                  <a:extLst>
                    <a:ext uri="{9D8B030D-6E8A-4147-A177-3AD203B41FA5}">
                      <a16:colId xmlns:a16="http://schemas.microsoft.com/office/drawing/2014/main" val="20003"/>
                    </a:ext>
                  </a:extLst>
                </a:gridCol>
                <a:gridCol w="1409621">
                  <a:extLst>
                    <a:ext uri="{9D8B030D-6E8A-4147-A177-3AD203B41FA5}">
                      <a16:colId xmlns:a16="http://schemas.microsoft.com/office/drawing/2014/main" val="20004"/>
                    </a:ext>
                  </a:extLst>
                </a:gridCol>
                <a:gridCol w="939747">
                  <a:extLst>
                    <a:ext uri="{9D8B030D-6E8A-4147-A177-3AD203B41FA5}">
                      <a16:colId xmlns:a16="http://schemas.microsoft.com/office/drawing/2014/main" val="20005"/>
                    </a:ext>
                  </a:extLst>
                </a:gridCol>
              </a:tblGrid>
              <a:tr h="365916">
                <a:tc>
                  <a:txBody>
                    <a:bodyPr/>
                    <a:lstStyle/>
                    <a:p>
                      <a:pPr algn="ctr"/>
                      <a:r>
                        <a:rPr lang="en-CA" sz="1800" dirty="0"/>
                        <a:t>PROJ_NUM</a:t>
                      </a:r>
                      <a:endParaRPr lang="en-CA" sz="1800" b="0" dirty="0"/>
                    </a:p>
                  </a:txBody>
                  <a:tcPr marL="91455" marR="91455" marT="45739" marB="45739"/>
                </a:tc>
                <a:tc>
                  <a:txBody>
                    <a:bodyPr/>
                    <a:lstStyle/>
                    <a:p>
                      <a:pPr algn="ctr"/>
                      <a:r>
                        <a:rPr lang="en-CA" sz="1800" dirty="0"/>
                        <a:t>PROJ_NAME</a:t>
                      </a:r>
                      <a:endParaRPr lang="en-CA" sz="1800" b="0" dirty="0"/>
                    </a:p>
                  </a:txBody>
                  <a:tcPr marL="91455" marR="91455" marT="45739" marB="45739"/>
                </a:tc>
                <a:tc>
                  <a:txBody>
                    <a:bodyPr/>
                    <a:lstStyle/>
                    <a:p>
                      <a:pPr algn="ctr"/>
                      <a:r>
                        <a:rPr lang="en-CA" sz="1800" dirty="0"/>
                        <a:t>EMP_NUM</a:t>
                      </a:r>
                      <a:endParaRPr lang="en-CA" sz="1800" b="0" dirty="0"/>
                    </a:p>
                  </a:txBody>
                  <a:tcPr marL="91455" marR="91455" marT="45739" marB="45739"/>
                </a:tc>
                <a:tc>
                  <a:txBody>
                    <a:bodyPr/>
                    <a:lstStyle/>
                    <a:p>
                      <a:pPr algn="ctr"/>
                      <a:r>
                        <a:rPr lang="en-CA" sz="1800" dirty="0"/>
                        <a:t>JOB_CLASS</a:t>
                      </a:r>
                      <a:endParaRPr lang="en-CA" sz="1800" b="0" dirty="0"/>
                    </a:p>
                  </a:txBody>
                  <a:tcPr marL="91455" marR="91455" marT="45739" marB="45739"/>
                </a:tc>
                <a:tc>
                  <a:txBody>
                    <a:bodyPr/>
                    <a:lstStyle/>
                    <a:p>
                      <a:pPr algn="ctr"/>
                      <a:r>
                        <a:rPr lang="en-CA" sz="1800" dirty="0"/>
                        <a:t>CHG_HOUR</a:t>
                      </a:r>
                      <a:endParaRPr lang="en-CA" sz="1800" b="0" dirty="0"/>
                    </a:p>
                  </a:txBody>
                  <a:tcPr marL="91455" marR="91455" marT="45739" marB="45739"/>
                </a:tc>
                <a:tc>
                  <a:txBody>
                    <a:bodyPr/>
                    <a:lstStyle/>
                    <a:p>
                      <a:pPr algn="ctr"/>
                      <a:r>
                        <a:rPr lang="en-CA" sz="1800" dirty="0"/>
                        <a:t>HOUR</a:t>
                      </a:r>
                      <a:endParaRPr lang="en-CA" sz="1800" b="0" dirty="0"/>
                    </a:p>
                  </a:txBody>
                  <a:tcPr marL="91455" marR="91455" marT="45739" marB="45739"/>
                </a:tc>
                <a:extLst>
                  <a:ext uri="{0D108BD9-81ED-4DB2-BD59-A6C34878D82A}">
                    <a16:rowId xmlns:a16="http://schemas.microsoft.com/office/drawing/2014/main" val="10000"/>
                  </a:ext>
                </a:extLst>
              </a:tr>
              <a:tr h="437383">
                <a:tc>
                  <a:txBody>
                    <a:bodyPr/>
                    <a:lstStyle/>
                    <a:p>
                      <a:pPr algn="ctr"/>
                      <a:r>
                        <a:rPr lang="en-CA" sz="1800" dirty="0"/>
                        <a:t>15</a:t>
                      </a:r>
                      <a:endParaRPr lang="en-CA" sz="1800" b="0" dirty="0"/>
                    </a:p>
                  </a:txBody>
                  <a:tcPr marL="91455" marR="91455" marT="45739" marB="45739" anchor="ctr"/>
                </a:tc>
                <a:tc>
                  <a:txBody>
                    <a:bodyPr/>
                    <a:lstStyle/>
                    <a:p>
                      <a:pPr algn="ctr"/>
                      <a:r>
                        <a:rPr lang="en-CA" sz="1800" dirty="0"/>
                        <a:t>Evergreen</a:t>
                      </a:r>
                      <a:endParaRPr lang="en-CA" sz="1800" b="0" dirty="0"/>
                    </a:p>
                  </a:txBody>
                  <a:tcPr marL="91455" marR="91455" marT="45739" marB="45739" anchor="ctr"/>
                </a:tc>
                <a:tc>
                  <a:txBody>
                    <a:bodyPr/>
                    <a:lstStyle/>
                    <a:p>
                      <a:pPr algn="ctr"/>
                      <a:r>
                        <a:rPr lang="en-CA" sz="1800" dirty="0"/>
                        <a:t>102</a:t>
                      </a:r>
                      <a:endParaRPr lang="en-CA" sz="1800" b="0" dirty="0"/>
                    </a:p>
                  </a:txBody>
                  <a:tcPr marL="91455" marR="91455" marT="45739" marB="45739" anchor="ctr"/>
                </a:tc>
                <a:tc>
                  <a:txBody>
                    <a:bodyPr/>
                    <a:lstStyle/>
                    <a:p>
                      <a:pPr algn="ctr"/>
                      <a:r>
                        <a:rPr lang="en-CA" sz="1800" dirty="0"/>
                        <a:t>Engineer</a:t>
                      </a:r>
                      <a:endParaRPr lang="en-CA" sz="1800" b="0" dirty="0"/>
                    </a:p>
                  </a:txBody>
                  <a:tcPr marL="91455" marR="91455" marT="45739" marB="45739" anchor="ctr"/>
                </a:tc>
                <a:tc>
                  <a:txBody>
                    <a:bodyPr/>
                    <a:lstStyle/>
                    <a:p>
                      <a:pPr algn="ctr"/>
                      <a:r>
                        <a:rPr lang="en-CA" sz="1800" dirty="0"/>
                        <a:t>84.50</a:t>
                      </a:r>
                      <a:endParaRPr lang="en-CA" sz="1800" b="0" dirty="0"/>
                    </a:p>
                  </a:txBody>
                  <a:tcPr marL="91455" marR="91455" marT="45739" marB="45739" anchor="ctr"/>
                </a:tc>
                <a:tc>
                  <a:txBody>
                    <a:bodyPr/>
                    <a:lstStyle/>
                    <a:p>
                      <a:pPr algn="ctr"/>
                      <a:r>
                        <a:rPr lang="en-CA" sz="1800" dirty="0"/>
                        <a:t>30</a:t>
                      </a:r>
                      <a:endParaRPr lang="en-CA" sz="1800" b="0" dirty="0"/>
                    </a:p>
                  </a:txBody>
                  <a:tcPr marL="91455" marR="91455" marT="45739" marB="45739" anchor="ctr"/>
                </a:tc>
                <a:extLst>
                  <a:ext uri="{0D108BD9-81ED-4DB2-BD59-A6C34878D82A}">
                    <a16:rowId xmlns:a16="http://schemas.microsoft.com/office/drawing/2014/main" val="10001"/>
                  </a:ext>
                </a:extLst>
              </a:tr>
              <a:tr h="427081">
                <a:tc>
                  <a:txBody>
                    <a:bodyPr/>
                    <a:lstStyle/>
                    <a:p>
                      <a:pPr algn="ctr"/>
                      <a:r>
                        <a:rPr lang="en-CA" sz="1800" b="0" dirty="0"/>
                        <a:t>15</a:t>
                      </a:r>
                    </a:p>
                  </a:txBody>
                  <a:tcPr marL="91455" marR="91455" marT="45739" marB="45739"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CA" sz="1800" dirty="0"/>
                        <a:t>Evergreen</a:t>
                      </a:r>
                      <a:endParaRPr lang="en-CA" sz="1800" b="0" dirty="0"/>
                    </a:p>
                  </a:txBody>
                  <a:tcPr marL="91455" marR="91455" marT="45739" marB="45739" anchor="ctr"/>
                </a:tc>
                <a:tc>
                  <a:txBody>
                    <a:bodyPr/>
                    <a:lstStyle/>
                    <a:p>
                      <a:pPr algn="ctr"/>
                      <a:r>
                        <a:rPr lang="en-CA" sz="1800" dirty="0"/>
                        <a:t>103</a:t>
                      </a:r>
                      <a:endParaRPr lang="en-CA" sz="1800" b="0" dirty="0"/>
                    </a:p>
                  </a:txBody>
                  <a:tcPr marL="91455" marR="91455" marT="45739" marB="45739" anchor="ctr"/>
                </a:tc>
                <a:tc>
                  <a:txBody>
                    <a:bodyPr/>
                    <a:lstStyle/>
                    <a:p>
                      <a:pPr algn="ctr"/>
                      <a:r>
                        <a:rPr lang="en-CA" sz="1800" dirty="0"/>
                        <a:t>Engineer</a:t>
                      </a:r>
                      <a:endParaRPr lang="en-CA" sz="1800" b="0" dirty="0"/>
                    </a:p>
                  </a:txBody>
                  <a:tcPr marL="91455" marR="91455" marT="45739" marB="45739" anchor="ctr"/>
                </a:tc>
                <a:tc>
                  <a:txBody>
                    <a:bodyPr/>
                    <a:lstStyle/>
                    <a:p>
                      <a:pPr algn="ctr"/>
                      <a:r>
                        <a:rPr lang="en-CA" sz="1800" dirty="0"/>
                        <a:t>84.50</a:t>
                      </a:r>
                      <a:endParaRPr lang="en-CA" sz="1800" b="0" dirty="0"/>
                    </a:p>
                  </a:txBody>
                  <a:tcPr marL="91455" marR="91455" marT="45739" marB="45739" anchor="ctr"/>
                </a:tc>
                <a:tc>
                  <a:txBody>
                    <a:bodyPr/>
                    <a:lstStyle/>
                    <a:p>
                      <a:pPr algn="ctr"/>
                      <a:r>
                        <a:rPr lang="en-CA" sz="1800" dirty="0"/>
                        <a:t>23</a:t>
                      </a:r>
                      <a:endParaRPr lang="en-CA" sz="1800" b="0" dirty="0"/>
                    </a:p>
                  </a:txBody>
                  <a:tcPr marL="91455" marR="91455" marT="45739" marB="45739" anchor="ctr"/>
                </a:tc>
                <a:extLst>
                  <a:ext uri="{0D108BD9-81ED-4DB2-BD59-A6C34878D82A}">
                    <a16:rowId xmlns:a16="http://schemas.microsoft.com/office/drawing/2014/main" val="10002"/>
                  </a:ext>
                </a:extLst>
              </a:tr>
              <a:tr h="432232">
                <a:tc>
                  <a:txBody>
                    <a:bodyPr/>
                    <a:lstStyle/>
                    <a:p>
                      <a:pPr algn="ctr"/>
                      <a:r>
                        <a:rPr lang="en-CA" sz="1800" b="0" dirty="0"/>
                        <a:t>15</a:t>
                      </a:r>
                    </a:p>
                  </a:txBody>
                  <a:tcPr marL="91455" marR="91455" marT="45739" marB="45739"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CA" sz="1800" dirty="0"/>
                        <a:t>Evergreen</a:t>
                      </a:r>
                      <a:endParaRPr lang="en-CA" sz="1800" b="0" dirty="0"/>
                    </a:p>
                  </a:txBody>
                  <a:tcPr marL="91455" marR="91455" marT="45739" marB="45739" anchor="ctr"/>
                </a:tc>
                <a:tc>
                  <a:txBody>
                    <a:bodyPr/>
                    <a:lstStyle/>
                    <a:p>
                      <a:pPr algn="ctr"/>
                      <a:r>
                        <a:rPr lang="en-CA" sz="1800" dirty="0"/>
                        <a:t>105</a:t>
                      </a:r>
                      <a:endParaRPr lang="en-CA" sz="1800" b="0" dirty="0"/>
                    </a:p>
                  </a:txBody>
                  <a:tcPr marL="91455" marR="91455" marT="45739" marB="45739" anchor="ctr"/>
                </a:tc>
                <a:tc>
                  <a:txBody>
                    <a:bodyPr/>
                    <a:lstStyle/>
                    <a:p>
                      <a:pPr algn="ctr"/>
                      <a:r>
                        <a:rPr lang="en-CA" sz="1800" dirty="0"/>
                        <a:t>Consultant</a:t>
                      </a:r>
                      <a:endParaRPr lang="en-CA" sz="1800" b="0" dirty="0"/>
                    </a:p>
                  </a:txBody>
                  <a:tcPr marL="91455" marR="91455" marT="45739" marB="45739" anchor="ctr"/>
                </a:tc>
                <a:tc>
                  <a:txBody>
                    <a:bodyPr/>
                    <a:lstStyle/>
                    <a:p>
                      <a:pPr algn="ctr"/>
                      <a:r>
                        <a:rPr lang="en-CA" sz="1800" dirty="0"/>
                        <a:t>105.00</a:t>
                      </a:r>
                      <a:endParaRPr lang="en-CA" sz="1800" b="0" dirty="0"/>
                    </a:p>
                  </a:txBody>
                  <a:tcPr marL="91455" marR="91455" marT="45739" marB="45739" anchor="ctr"/>
                </a:tc>
                <a:tc>
                  <a:txBody>
                    <a:bodyPr/>
                    <a:lstStyle/>
                    <a:p>
                      <a:pPr algn="ctr"/>
                      <a:r>
                        <a:rPr lang="en-CA" sz="1800" dirty="0"/>
                        <a:t>20</a:t>
                      </a:r>
                      <a:endParaRPr lang="en-CA" sz="1800" b="0" dirty="0"/>
                    </a:p>
                  </a:txBody>
                  <a:tcPr marL="91455" marR="91455" marT="45739" marB="45739" anchor="ctr"/>
                </a:tc>
                <a:extLst>
                  <a:ext uri="{0D108BD9-81ED-4DB2-BD59-A6C34878D82A}">
                    <a16:rowId xmlns:a16="http://schemas.microsoft.com/office/drawing/2014/main" val="10003"/>
                  </a:ext>
                </a:extLst>
              </a:tr>
              <a:tr h="370998">
                <a:tc>
                  <a:txBody>
                    <a:bodyPr/>
                    <a:lstStyle/>
                    <a:p>
                      <a:pPr algn="ctr"/>
                      <a:r>
                        <a:rPr lang="en-CA" sz="1800" dirty="0"/>
                        <a:t>22</a:t>
                      </a:r>
                      <a:endParaRPr lang="en-CA" sz="1800" b="0" dirty="0"/>
                    </a:p>
                  </a:txBody>
                  <a:tcPr marL="91455" marR="91455" marT="45739" marB="45739" anchor="ctr"/>
                </a:tc>
                <a:tc>
                  <a:txBody>
                    <a:bodyPr/>
                    <a:lstStyle/>
                    <a:p>
                      <a:pPr algn="ctr"/>
                      <a:r>
                        <a:rPr lang="en-CA" sz="1800" dirty="0"/>
                        <a:t>Wave</a:t>
                      </a:r>
                      <a:endParaRPr lang="en-CA" sz="1800" b="0" dirty="0"/>
                    </a:p>
                  </a:txBody>
                  <a:tcPr marL="91455" marR="91455" marT="45739" marB="45739" anchor="ctr"/>
                </a:tc>
                <a:tc>
                  <a:txBody>
                    <a:bodyPr/>
                    <a:lstStyle/>
                    <a:p>
                      <a:pPr algn="ctr"/>
                      <a:r>
                        <a:rPr lang="en-CA" sz="1800" dirty="0"/>
                        <a:t>103</a:t>
                      </a:r>
                      <a:endParaRPr lang="en-CA" sz="1800" b="0" dirty="0"/>
                    </a:p>
                  </a:txBody>
                  <a:tcPr marL="91455" marR="91455" marT="45739" marB="45739" anchor="ctr"/>
                </a:tc>
                <a:tc>
                  <a:txBody>
                    <a:bodyPr/>
                    <a:lstStyle/>
                    <a:p>
                      <a:pPr algn="ctr"/>
                      <a:r>
                        <a:rPr lang="en-CA" sz="1800" dirty="0"/>
                        <a:t>Engineer</a:t>
                      </a:r>
                      <a:endParaRPr lang="en-CA" sz="1800" b="0" dirty="0"/>
                    </a:p>
                  </a:txBody>
                  <a:tcPr marL="91455" marR="91455" marT="45739" marB="45739" anchor="ctr"/>
                </a:tc>
                <a:tc>
                  <a:txBody>
                    <a:bodyPr/>
                    <a:lstStyle/>
                    <a:p>
                      <a:pPr algn="ctr"/>
                      <a:r>
                        <a:rPr lang="en-CA" sz="1800" dirty="0"/>
                        <a:t>84.50</a:t>
                      </a:r>
                      <a:endParaRPr lang="en-CA" sz="1800" b="0" dirty="0"/>
                    </a:p>
                  </a:txBody>
                  <a:tcPr marL="91455" marR="91455" marT="45739" marB="45739" anchor="ctr"/>
                </a:tc>
                <a:tc>
                  <a:txBody>
                    <a:bodyPr/>
                    <a:lstStyle/>
                    <a:p>
                      <a:pPr algn="ctr"/>
                      <a:r>
                        <a:rPr lang="en-CA" sz="1800" dirty="0"/>
                        <a:t>10</a:t>
                      </a:r>
                      <a:endParaRPr lang="en-CA" sz="1800" b="0" dirty="0"/>
                    </a:p>
                  </a:txBody>
                  <a:tcPr marL="91455" marR="91455" marT="45739" marB="45739" anchor="ctr"/>
                </a:tc>
                <a:extLst>
                  <a:ext uri="{0D108BD9-81ED-4DB2-BD59-A6C34878D82A}">
                    <a16:rowId xmlns:a16="http://schemas.microsoft.com/office/drawing/2014/main" val="10004"/>
                  </a:ext>
                </a:extLst>
              </a:tr>
              <a:tr h="387807">
                <a:tc>
                  <a:txBody>
                    <a:bodyPr/>
                    <a:lstStyle/>
                    <a:p>
                      <a:pPr algn="ctr"/>
                      <a:r>
                        <a:rPr lang="en-CA" sz="1800" b="0" dirty="0"/>
                        <a:t>22</a:t>
                      </a:r>
                    </a:p>
                  </a:txBody>
                  <a:tcPr marL="91455" marR="91455" marT="45739" marB="45739" anchor="ctr"/>
                </a:tc>
                <a:tc>
                  <a:txBody>
                    <a:bodyPr/>
                    <a:lstStyle/>
                    <a:p>
                      <a:pPr algn="ctr"/>
                      <a:r>
                        <a:rPr lang="en-CA" sz="1800" b="0" dirty="0"/>
                        <a:t>Wave</a:t>
                      </a:r>
                    </a:p>
                  </a:txBody>
                  <a:tcPr marL="91455" marR="91455" marT="45739" marB="45739" anchor="ctr"/>
                </a:tc>
                <a:tc>
                  <a:txBody>
                    <a:bodyPr/>
                    <a:lstStyle/>
                    <a:p>
                      <a:pPr algn="ctr"/>
                      <a:r>
                        <a:rPr lang="en-CA" sz="1800" dirty="0"/>
                        <a:t>114</a:t>
                      </a:r>
                      <a:endParaRPr lang="en-CA" sz="1800" b="0" dirty="0"/>
                    </a:p>
                  </a:txBody>
                  <a:tcPr marL="91455" marR="91455" marT="45739" marB="45739" anchor="ctr"/>
                </a:tc>
                <a:tc>
                  <a:txBody>
                    <a:bodyPr/>
                    <a:lstStyle/>
                    <a:p>
                      <a:pPr algn="ctr"/>
                      <a:r>
                        <a:rPr lang="en-CA" sz="1800" dirty="0"/>
                        <a:t>Programmer</a:t>
                      </a:r>
                      <a:endParaRPr lang="en-CA" sz="1800" b="0" dirty="0"/>
                    </a:p>
                  </a:txBody>
                  <a:tcPr marL="91455" marR="91455" marT="45739" marB="45739" anchor="ctr"/>
                </a:tc>
                <a:tc>
                  <a:txBody>
                    <a:bodyPr/>
                    <a:lstStyle/>
                    <a:p>
                      <a:pPr algn="ctr"/>
                      <a:r>
                        <a:rPr lang="en-CA" sz="1800" dirty="0"/>
                        <a:t>60.00</a:t>
                      </a:r>
                      <a:endParaRPr lang="en-CA" sz="1800" b="0" dirty="0"/>
                    </a:p>
                  </a:txBody>
                  <a:tcPr marL="91455" marR="91455" marT="45739" marB="45739" anchor="ctr"/>
                </a:tc>
                <a:tc>
                  <a:txBody>
                    <a:bodyPr/>
                    <a:lstStyle/>
                    <a:p>
                      <a:pPr algn="ctr"/>
                      <a:r>
                        <a:rPr lang="en-CA" sz="1800" dirty="0"/>
                        <a:t>15</a:t>
                      </a:r>
                      <a:endParaRPr lang="en-CA" sz="1800" b="0" dirty="0"/>
                    </a:p>
                  </a:txBody>
                  <a:tcPr marL="91455" marR="91455" marT="45739" marB="45739" anchor="ctr"/>
                </a:tc>
                <a:extLst>
                  <a:ext uri="{0D108BD9-81ED-4DB2-BD59-A6C34878D82A}">
                    <a16:rowId xmlns:a16="http://schemas.microsoft.com/office/drawing/2014/main" val="10005"/>
                  </a:ext>
                </a:extLst>
              </a:tr>
              <a:tr h="370998">
                <a:tc>
                  <a:txBody>
                    <a:bodyPr/>
                    <a:lstStyle/>
                    <a:p>
                      <a:pPr algn="ctr"/>
                      <a:r>
                        <a:rPr lang="en-CA" sz="1800" b="0" dirty="0"/>
                        <a:t>22</a:t>
                      </a:r>
                    </a:p>
                  </a:txBody>
                  <a:tcPr marL="91455" marR="91455" marT="45739" marB="45739" anchor="ctr"/>
                </a:tc>
                <a:tc>
                  <a:txBody>
                    <a:bodyPr/>
                    <a:lstStyle/>
                    <a:p>
                      <a:pPr algn="ctr"/>
                      <a:r>
                        <a:rPr lang="en-CA" sz="1800" b="0" dirty="0"/>
                        <a:t>Wave</a:t>
                      </a:r>
                    </a:p>
                  </a:txBody>
                  <a:tcPr marL="91455" marR="91455" marT="45739" marB="45739" anchor="ctr"/>
                </a:tc>
                <a:tc>
                  <a:txBody>
                    <a:bodyPr/>
                    <a:lstStyle/>
                    <a:p>
                      <a:pPr algn="ctr"/>
                      <a:r>
                        <a:rPr lang="en-CA" sz="1800" dirty="0"/>
                        <a:t>115</a:t>
                      </a:r>
                      <a:endParaRPr lang="en-CA" sz="1800" b="0" dirty="0"/>
                    </a:p>
                  </a:txBody>
                  <a:tcPr marL="91455" marR="91455" marT="45739" marB="45739" anchor="ctr"/>
                </a:tc>
                <a:tc>
                  <a:txBody>
                    <a:bodyPr/>
                    <a:lstStyle/>
                    <a:p>
                      <a:pPr algn="ctr"/>
                      <a:r>
                        <a:rPr lang="en-CA" sz="1800" dirty="0"/>
                        <a:t>Programmer</a:t>
                      </a:r>
                      <a:endParaRPr lang="en-CA" sz="1800" b="0" dirty="0"/>
                    </a:p>
                  </a:txBody>
                  <a:tcPr marL="91455" marR="91455" marT="45739" marB="45739" anchor="ctr"/>
                </a:tc>
                <a:tc>
                  <a:txBody>
                    <a:bodyPr/>
                    <a:lstStyle/>
                    <a:p>
                      <a:pPr algn="ctr"/>
                      <a:r>
                        <a:rPr lang="en-CA" sz="1800" dirty="0"/>
                        <a:t>60.00</a:t>
                      </a:r>
                      <a:endParaRPr lang="en-CA" sz="1800" b="0" dirty="0"/>
                    </a:p>
                  </a:txBody>
                  <a:tcPr marL="91455" marR="91455" marT="45739" marB="45739" anchor="ctr"/>
                </a:tc>
                <a:tc>
                  <a:txBody>
                    <a:bodyPr/>
                    <a:lstStyle/>
                    <a:p>
                      <a:pPr algn="ctr"/>
                      <a:r>
                        <a:rPr lang="en-CA" sz="1800" dirty="0"/>
                        <a:t>18</a:t>
                      </a:r>
                      <a:endParaRPr lang="en-CA" sz="1800" b="0" dirty="0"/>
                    </a:p>
                  </a:txBody>
                  <a:tcPr marL="91455" marR="91455" marT="45739" marB="45739" anchor="ctr"/>
                </a:tc>
                <a:extLst>
                  <a:ext uri="{0D108BD9-81ED-4DB2-BD59-A6C34878D82A}">
                    <a16:rowId xmlns:a16="http://schemas.microsoft.com/office/drawing/2014/main" val="10006"/>
                  </a:ext>
                </a:extLst>
              </a:tr>
            </a:tbl>
          </a:graphicData>
        </a:graphic>
      </p:graphicFrame>
      <p:sp>
        <p:nvSpPr>
          <p:cNvPr id="24" name="Title 1">
            <a:extLst>
              <a:ext uri="{FF2B5EF4-FFF2-40B4-BE49-F238E27FC236}">
                <a16:creationId xmlns:a16="http://schemas.microsoft.com/office/drawing/2014/main" id="{E10F5565-B43B-4BA7-32D5-9C059142FA09}"/>
              </a:ext>
            </a:extLst>
          </p:cNvPr>
          <p:cNvSpPr>
            <a:spLocks noGrp="1"/>
          </p:cNvSpPr>
          <p:nvPr>
            <p:ph type="title"/>
          </p:nvPr>
        </p:nvSpPr>
        <p:spPr>
          <a:xfrm>
            <a:off x="457200" y="76200"/>
            <a:ext cx="7620000" cy="1143000"/>
          </a:xfrm>
        </p:spPr>
        <p:txBody>
          <a:bodyPr/>
          <a:lstStyle/>
          <a:p>
            <a:pPr algn="ctr">
              <a:defRPr/>
            </a:pPr>
            <a:r>
              <a:rPr lang="en-US" dirty="0"/>
              <a:t>Relational Database Normalization</a:t>
            </a:r>
            <a:endParaRPr lang="en-CA"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wipe(up)">
                                      <p:cBhvr>
                                        <p:cTn id="1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7421A3FF-4B43-B149-2867-3E281D27A169}"/>
              </a:ext>
            </a:extLst>
          </p:cNvPr>
          <p:cNvSpPr txBox="1">
            <a:spLocks/>
          </p:cNvSpPr>
          <p:nvPr/>
        </p:nvSpPr>
        <p:spPr bwMode="auto">
          <a:xfrm>
            <a:off x="147638" y="1368425"/>
            <a:ext cx="8172450" cy="323850"/>
          </a:xfrm>
          <a:prstGeom prst="rect">
            <a:avLst/>
          </a:prstGeom>
          <a:noFill/>
          <a:ln w="9525">
            <a:noFill/>
            <a:miter lim="800000"/>
            <a:headEnd/>
            <a:tailEnd/>
          </a:ln>
        </p:spPr>
        <p:txBody>
          <a:bodyPr lIns="72000" tIns="0" rIns="72000" bIns="0"/>
          <a:lstStyle/>
          <a:p>
            <a:pPr marL="0" marR="0" lvl="0" indent="0" algn="l" defTabSz="720000" rtl="0" eaLnBrk="1" fontAlgn="base" latinLnBrk="0" hangingPunct="1">
              <a:lnSpc>
                <a:spcPts val="1800"/>
              </a:lnSpc>
              <a:spcBef>
                <a:spcPts val="0"/>
              </a:spcBef>
              <a:spcAft>
                <a:spcPts val="0"/>
              </a:spcAft>
              <a:buClrTx/>
              <a:buSzTx/>
              <a:buFontTx/>
              <a:buNone/>
              <a:tabLst>
                <a:tab pos="0" algn="l"/>
              </a:tabLst>
              <a:defRPr/>
            </a:pPr>
            <a:r>
              <a:rPr kumimoji="0" lang="en-US" sz="1800" b="1" i="0" u="none" strike="noStrike" kern="0" cap="none" spc="0" normalizeH="0" baseline="0" noProof="0" dirty="0">
                <a:ln>
                  <a:noFill/>
                </a:ln>
                <a:solidFill>
                  <a:srgbClr val="2F2B20"/>
                </a:solidFill>
                <a:effectLst/>
                <a:uLnTx/>
                <a:uFillTx/>
                <a:latin typeface="Calibri"/>
                <a:ea typeface="+mn-ea"/>
                <a:cs typeface="Calibri" pitchFamily="34" charset="0"/>
              </a:rPr>
              <a:t>Normal Forms</a:t>
            </a:r>
            <a:endParaRPr kumimoji="0" lang="en-MY" sz="1800" b="1" i="0" u="none" strike="noStrike" kern="0" cap="none" spc="0" normalizeH="0" baseline="0" noProof="0" dirty="0">
              <a:ln>
                <a:noFill/>
              </a:ln>
              <a:solidFill>
                <a:srgbClr val="2F2B20"/>
              </a:solidFill>
              <a:effectLst/>
              <a:uLnTx/>
              <a:uFillTx/>
              <a:latin typeface="Calibri"/>
              <a:ea typeface="+mn-ea"/>
              <a:cs typeface="Calibri" pitchFamily="34" charset="0"/>
            </a:endParaRPr>
          </a:p>
        </p:txBody>
      </p:sp>
      <p:sp>
        <p:nvSpPr>
          <p:cNvPr id="24" name="Content Placeholder 2">
            <a:extLst>
              <a:ext uri="{FF2B5EF4-FFF2-40B4-BE49-F238E27FC236}">
                <a16:creationId xmlns:a16="http://schemas.microsoft.com/office/drawing/2014/main" id="{4A652187-7367-6871-33ED-D491317C9097}"/>
              </a:ext>
            </a:extLst>
          </p:cNvPr>
          <p:cNvSpPr txBox="1">
            <a:spLocks/>
          </p:cNvSpPr>
          <p:nvPr/>
        </p:nvSpPr>
        <p:spPr bwMode="auto">
          <a:xfrm>
            <a:off x="273050" y="1617663"/>
            <a:ext cx="7921625"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Next, one should identify and underline the primary key of the relation</a:t>
            </a:r>
            <a:endParaRPr kumimoji="0" lang="en-US" altLang="en-US" sz="32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US" altLang="en-US" sz="32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endParaRPr>
          </a:p>
        </p:txBody>
      </p:sp>
      <p:graphicFrame>
        <p:nvGraphicFramePr>
          <p:cNvPr id="25" name="Table 24">
            <a:extLst>
              <a:ext uri="{FF2B5EF4-FFF2-40B4-BE49-F238E27FC236}">
                <a16:creationId xmlns:a16="http://schemas.microsoft.com/office/drawing/2014/main" id="{F7E48C5C-4C64-E0E9-79A9-7F9ABAFBE1AD}"/>
              </a:ext>
            </a:extLst>
          </p:cNvPr>
          <p:cNvGraphicFramePr>
            <a:graphicFrameLocks noGrp="1"/>
          </p:cNvGraphicFramePr>
          <p:nvPr/>
        </p:nvGraphicFramePr>
        <p:xfrm>
          <a:off x="273050" y="2768600"/>
          <a:ext cx="7921624" cy="2792415"/>
        </p:xfrm>
        <a:graphic>
          <a:graphicData uri="http://schemas.openxmlformats.org/drawingml/2006/table">
            <a:tbl>
              <a:tblPr firstRow="1" bandRow="1">
                <a:tableStyleId>{3B4B98B0-60AC-42C2-AFA5-B58CD77FA1E5}</a:tableStyleId>
              </a:tblPr>
              <a:tblGrid>
                <a:gridCol w="1386284">
                  <a:extLst>
                    <a:ext uri="{9D8B030D-6E8A-4147-A177-3AD203B41FA5}">
                      <a16:colId xmlns:a16="http://schemas.microsoft.com/office/drawing/2014/main" val="20000"/>
                    </a:ext>
                  </a:extLst>
                </a:gridCol>
                <a:gridCol w="1518311">
                  <a:extLst>
                    <a:ext uri="{9D8B030D-6E8A-4147-A177-3AD203B41FA5}">
                      <a16:colId xmlns:a16="http://schemas.microsoft.com/office/drawing/2014/main" val="20001"/>
                    </a:ext>
                  </a:extLst>
                </a:gridCol>
                <a:gridCol w="1254257">
                  <a:extLst>
                    <a:ext uri="{9D8B030D-6E8A-4147-A177-3AD203B41FA5}">
                      <a16:colId xmlns:a16="http://schemas.microsoft.com/office/drawing/2014/main" val="20002"/>
                    </a:ext>
                  </a:extLst>
                </a:gridCol>
                <a:gridCol w="1452298">
                  <a:extLst>
                    <a:ext uri="{9D8B030D-6E8A-4147-A177-3AD203B41FA5}">
                      <a16:colId xmlns:a16="http://schemas.microsoft.com/office/drawing/2014/main" val="20003"/>
                    </a:ext>
                  </a:extLst>
                </a:gridCol>
                <a:gridCol w="1386284">
                  <a:extLst>
                    <a:ext uri="{9D8B030D-6E8A-4147-A177-3AD203B41FA5}">
                      <a16:colId xmlns:a16="http://schemas.microsoft.com/office/drawing/2014/main" val="20004"/>
                    </a:ext>
                  </a:extLst>
                </a:gridCol>
                <a:gridCol w="924190">
                  <a:extLst>
                    <a:ext uri="{9D8B030D-6E8A-4147-A177-3AD203B41FA5}">
                      <a16:colId xmlns:a16="http://schemas.microsoft.com/office/drawing/2014/main" val="20005"/>
                    </a:ext>
                  </a:extLst>
                </a:gridCol>
              </a:tblGrid>
              <a:tr h="365916">
                <a:tc>
                  <a:txBody>
                    <a:bodyPr/>
                    <a:lstStyle/>
                    <a:p>
                      <a:pPr algn="ctr"/>
                      <a:r>
                        <a:rPr lang="en-CA" sz="1800" dirty="0"/>
                        <a:t>PROJ_NUM</a:t>
                      </a:r>
                      <a:endParaRPr lang="en-CA" sz="1800" b="0" dirty="0"/>
                    </a:p>
                  </a:txBody>
                  <a:tcPr marL="91455" marR="91455" marT="45739" marB="45739"/>
                </a:tc>
                <a:tc>
                  <a:txBody>
                    <a:bodyPr/>
                    <a:lstStyle/>
                    <a:p>
                      <a:pPr algn="ctr"/>
                      <a:r>
                        <a:rPr lang="en-CA" sz="1800" dirty="0"/>
                        <a:t>PROJ_NAME</a:t>
                      </a:r>
                      <a:endParaRPr lang="en-CA" sz="1800" b="0" dirty="0"/>
                    </a:p>
                  </a:txBody>
                  <a:tcPr marL="91455" marR="91455" marT="45739" marB="45739"/>
                </a:tc>
                <a:tc>
                  <a:txBody>
                    <a:bodyPr/>
                    <a:lstStyle/>
                    <a:p>
                      <a:pPr algn="ctr"/>
                      <a:r>
                        <a:rPr lang="en-CA" sz="1800" dirty="0"/>
                        <a:t>EMP_NUM</a:t>
                      </a:r>
                      <a:endParaRPr lang="en-CA" sz="1800" b="0" dirty="0"/>
                    </a:p>
                  </a:txBody>
                  <a:tcPr marL="91455" marR="91455" marT="45739" marB="45739"/>
                </a:tc>
                <a:tc>
                  <a:txBody>
                    <a:bodyPr/>
                    <a:lstStyle/>
                    <a:p>
                      <a:pPr algn="ctr"/>
                      <a:r>
                        <a:rPr lang="en-CA" sz="1800" dirty="0"/>
                        <a:t>JOB_CLASS</a:t>
                      </a:r>
                      <a:endParaRPr lang="en-CA" sz="1800" b="0" dirty="0"/>
                    </a:p>
                  </a:txBody>
                  <a:tcPr marL="91455" marR="91455" marT="45739" marB="45739"/>
                </a:tc>
                <a:tc>
                  <a:txBody>
                    <a:bodyPr/>
                    <a:lstStyle/>
                    <a:p>
                      <a:pPr algn="ctr"/>
                      <a:r>
                        <a:rPr lang="en-CA" sz="1800" dirty="0"/>
                        <a:t>CHG_HOUR</a:t>
                      </a:r>
                      <a:endParaRPr lang="en-CA" sz="1800" b="0" dirty="0"/>
                    </a:p>
                  </a:txBody>
                  <a:tcPr marL="91455" marR="91455" marT="45739" marB="45739"/>
                </a:tc>
                <a:tc>
                  <a:txBody>
                    <a:bodyPr/>
                    <a:lstStyle/>
                    <a:p>
                      <a:pPr algn="ctr"/>
                      <a:r>
                        <a:rPr lang="en-CA" sz="1800" dirty="0"/>
                        <a:t>HOUR</a:t>
                      </a:r>
                      <a:endParaRPr lang="en-CA" sz="1800" b="0" dirty="0"/>
                    </a:p>
                  </a:txBody>
                  <a:tcPr marL="91455" marR="91455" marT="45739" marB="45739"/>
                </a:tc>
                <a:extLst>
                  <a:ext uri="{0D108BD9-81ED-4DB2-BD59-A6C34878D82A}">
                    <a16:rowId xmlns:a16="http://schemas.microsoft.com/office/drawing/2014/main" val="10000"/>
                  </a:ext>
                </a:extLst>
              </a:tr>
              <a:tr h="437383">
                <a:tc>
                  <a:txBody>
                    <a:bodyPr/>
                    <a:lstStyle/>
                    <a:p>
                      <a:pPr algn="ctr"/>
                      <a:r>
                        <a:rPr lang="en-CA" sz="1800" dirty="0"/>
                        <a:t>15</a:t>
                      </a:r>
                      <a:endParaRPr lang="en-CA" sz="1800" b="0" dirty="0"/>
                    </a:p>
                  </a:txBody>
                  <a:tcPr marL="91455" marR="91455" marT="45739" marB="45739" anchor="ctr"/>
                </a:tc>
                <a:tc>
                  <a:txBody>
                    <a:bodyPr/>
                    <a:lstStyle/>
                    <a:p>
                      <a:pPr algn="ctr"/>
                      <a:r>
                        <a:rPr lang="en-CA" sz="1800" dirty="0"/>
                        <a:t>Evergreen</a:t>
                      </a:r>
                      <a:endParaRPr lang="en-CA" sz="1800" b="0" dirty="0"/>
                    </a:p>
                  </a:txBody>
                  <a:tcPr marL="91455" marR="91455" marT="45739" marB="45739" anchor="ctr"/>
                </a:tc>
                <a:tc>
                  <a:txBody>
                    <a:bodyPr/>
                    <a:lstStyle/>
                    <a:p>
                      <a:pPr algn="ctr"/>
                      <a:r>
                        <a:rPr lang="en-CA" sz="1800" dirty="0"/>
                        <a:t>102</a:t>
                      </a:r>
                      <a:endParaRPr lang="en-CA" sz="1800" b="0" dirty="0"/>
                    </a:p>
                  </a:txBody>
                  <a:tcPr marL="91455" marR="91455" marT="45739" marB="45739" anchor="ctr"/>
                </a:tc>
                <a:tc>
                  <a:txBody>
                    <a:bodyPr/>
                    <a:lstStyle/>
                    <a:p>
                      <a:pPr algn="ctr"/>
                      <a:r>
                        <a:rPr lang="en-CA" sz="1800" dirty="0"/>
                        <a:t>Engineer</a:t>
                      </a:r>
                      <a:endParaRPr lang="en-CA" sz="1800" b="0" dirty="0"/>
                    </a:p>
                  </a:txBody>
                  <a:tcPr marL="91455" marR="91455" marT="45739" marB="45739" anchor="ctr"/>
                </a:tc>
                <a:tc>
                  <a:txBody>
                    <a:bodyPr/>
                    <a:lstStyle/>
                    <a:p>
                      <a:pPr algn="ctr"/>
                      <a:r>
                        <a:rPr lang="en-CA" sz="1800" dirty="0"/>
                        <a:t>84.50</a:t>
                      </a:r>
                      <a:endParaRPr lang="en-CA" sz="1800" b="0" dirty="0"/>
                    </a:p>
                  </a:txBody>
                  <a:tcPr marL="91455" marR="91455" marT="45739" marB="45739" anchor="ctr"/>
                </a:tc>
                <a:tc>
                  <a:txBody>
                    <a:bodyPr/>
                    <a:lstStyle/>
                    <a:p>
                      <a:pPr algn="ctr"/>
                      <a:r>
                        <a:rPr lang="en-CA" sz="1800" dirty="0"/>
                        <a:t>30</a:t>
                      </a:r>
                      <a:endParaRPr lang="en-CA" sz="1800" b="0" dirty="0"/>
                    </a:p>
                  </a:txBody>
                  <a:tcPr marL="91455" marR="91455" marT="45739" marB="45739" anchor="ctr"/>
                </a:tc>
                <a:extLst>
                  <a:ext uri="{0D108BD9-81ED-4DB2-BD59-A6C34878D82A}">
                    <a16:rowId xmlns:a16="http://schemas.microsoft.com/office/drawing/2014/main" val="10001"/>
                  </a:ext>
                </a:extLst>
              </a:tr>
              <a:tr h="427081">
                <a:tc>
                  <a:txBody>
                    <a:bodyPr/>
                    <a:lstStyle/>
                    <a:p>
                      <a:pPr algn="ctr"/>
                      <a:r>
                        <a:rPr lang="en-CA" sz="1800" b="0" dirty="0"/>
                        <a:t>15</a:t>
                      </a:r>
                    </a:p>
                  </a:txBody>
                  <a:tcPr marL="91455" marR="91455" marT="45739" marB="45739"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CA" sz="1800" dirty="0"/>
                        <a:t>Evergreen</a:t>
                      </a:r>
                      <a:endParaRPr lang="en-CA" sz="1800" b="0" dirty="0"/>
                    </a:p>
                  </a:txBody>
                  <a:tcPr marL="91455" marR="91455" marT="45739" marB="45739" anchor="ctr"/>
                </a:tc>
                <a:tc>
                  <a:txBody>
                    <a:bodyPr/>
                    <a:lstStyle/>
                    <a:p>
                      <a:pPr algn="ctr"/>
                      <a:r>
                        <a:rPr lang="en-CA" sz="1800" dirty="0"/>
                        <a:t>103</a:t>
                      </a:r>
                      <a:endParaRPr lang="en-CA" sz="1800" b="0" dirty="0"/>
                    </a:p>
                  </a:txBody>
                  <a:tcPr marL="91455" marR="91455" marT="45739" marB="45739" anchor="ctr"/>
                </a:tc>
                <a:tc>
                  <a:txBody>
                    <a:bodyPr/>
                    <a:lstStyle/>
                    <a:p>
                      <a:pPr algn="ctr"/>
                      <a:r>
                        <a:rPr lang="en-CA" sz="1800" dirty="0"/>
                        <a:t>Engineer</a:t>
                      </a:r>
                      <a:endParaRPr lang="en-CA" sz="1800" b="0" dirty="0"/>
                    </a:p>
                  </a:txBody>
                  <a:tcPr marL="91455" marR="91455" marT="45739" marB="45739" anchor="ctr"/>
                </a:tc>
                <a:tc>
                  <a:txBody>
                    <a:bodyPr/>
                    <a:lstStyle/>
                    <a:p>
                      <a:pPr algn="ctr"/>
                      <a:r>
                        <a:rPr lang="en-CA" sz="1800" dirty="0"/>
                        <a:t>84.50</a:t>
                      </a:r>
                      <a:endParaRPr lang="en-CA" sz="1800" b="0" dirty="0"/>
                    </a:p>
                  </a:txBody>
                  <a:tcPr marL="91455" marR="91455" marT="45739" marB="45739" anchor="ctr"/>
                </a:tc>
                <a:tc>
                  <a:txBody>
                    <a:bodyPr/>
                    <a:lstStyle/>
                    <a:p>
                      <a:pPr algn="ctr"/>
                      <a:r>
                        <a:rPr lang="en-CA" sz="1800" dirty="0"/>
                        <a:t>23</a:t>
                      </a:r>
                      <a:endParaRPr lang="en-CA" sz="1800" b="0" dirty="0"/>
                    </a:p>
                  </a:txBody>
                  <a:tcPr marL="91455" marR="91455" marT="45739" marB="45739" anchor="ctr"/>
                </a:tc>
                <a:extLst>
                  <a:ext uri="{0D108BD9-81ED-4DB2-BD59-A6C34878D82A}">
                    <a16:rowId xmlns:a16="http://schemas.microsoft.com/office/drawing/2014/main" val="10002"/>
                  </a:ext>
                </a:extLst>
              </a:tr>
              <a:tr h="432232">
                <a:tc>
                  <a:txBody>
                    <a:bodyPr/>
                    <a:lstStyle/>
                    <a:p>
                      <a:pPr algn="ctr"/>
                      <a:r>
                        <a:rPr lang="en-CA" sz="1800" b="0" dirty="0"/>
                        <a:t>15</a:t>
                      </a:r>
                    </a:p>
                  </a:txBody>
                  <a:tcPr marL="91455" marR="91455" marT="45739" marB="45739"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CA" sz="1800" dirty="0"/>
                        <a:t>Evergreen</a:t>
                      </a:r>
                      <a:endParaRPr lang="en-CA" sz="1800" b="0" dirty="0"/>
                    </a:p>
                  </a:txBody>
                  <a:tcPr marL="91455" marR="91455" marT="45739" marB="45739" anchor="ctr"/>
                </a:tc>
                <a:tc>
                  <a:txBody>
                    <a:bodyPr/>
                    <a:lstStyle/>
                    <a:p>
                      <a:pPr algn="ctr"/>
                      <a:r>
                        <a:rPr lang="en-CA" sz="1800" dirty="0"/>
                        <a:t>105</a:t>
                      </a:r>
                      <a:endParaRPr lang="en-CA" sz="1800" b="0" dirty="0"/>
                    </a:p>
                  </a:txBody>
                  <a:tcPr marL="91455" marR="91455" marT="45739" marB="45739" anchor="ctr"/>
                </a:tc>
                <a:tc>
                  <a:txBody>
                    <a:bodyPr/>
                    <a:lstStyle/>
                    <a:p>
                      <a:pPr algn="ctr"/>
                      <a:r>
                        <a:rPr lang="en-CA" sz="1800" dirty="0"/>
                        <a:t>Consultant</a:t>
                      </a:r>
                      <a:endParaRPr lang="en-CA" sz="1800" b="0" dirty="0"/>
                    </a:p>
                  </a:txBody>
                  <a:tcPr marL="91455" marR="91455" marT="45739" marB="45739" anchor="ctr"/>
                </a:tc>
                <a:tc>
                  <a:txBody>
                    <a:bodyPr/>
                    <a:lstStyle/>
                    <a:p>
                      <a:pPr algn="ctr"/>
                      <a:r>
                        <a:rPr lang="en-CA" sz="1800" dirty="0"/>
                        <a:t>105.00</a:t>
                      </a:r>
                      <a:endParaRPr lang="en-CA" sz="1800" b="0" dirty="0"/>
                    </a:p>
                  </a:txBody>
                  <a:tcPr marL="91455" marR="91455" marT="45739" marB="45739" anchor="ctr"/>
                </a:tc>
                <a:tc>
                  <a:txBody>
                    <a:bodyPr/>
                    <a:lstStyle/>
                    <a:p>
                      <a:pPr algn="ctr"/>
                      <a:r>
                        <a:rPr lang="en-CA" sz="1800" dirty="0"/>
                        <a:t>20</a:t>
                      </a:r>
                      <a:endParaRPr lang="en-CA" sz="1800" b="0" dirty="0"/>
                    </a:p>
                  </a:txBody>
                  <a:tcPr marL="91455" marR="91455" marT="45739" marB="45739" anchor="ctr"/>
                </a:tc>
                <a:extLst>
                  <a:ext uri="{0D108BD9-81ED-4DB2-BD59-A6C34878D82A}">
                    <a16:rowId xmlns:a16="http://schemas.microsoft.com/office/drawing/2014/main" val="10003"/>
                  </a:ext>
                </a:extLst>
              </a:tr>
              <a:tr h="370998">
                <a:tc>
                  <a:txBody>
                    <a:bodyPr/>
                    <a:lstStyle/>
                    <a:p>
                      <a:pPr algn="ctr"/>
                      <a:r>
                        <a:rPr lang="en-CA" sz="1800" dirty="0"/>
                        <a:t>22</a:t>
                      </a:r>
                      <a:endParaRPr lang="en-CA" sz="1800" b="0" dirty="0"/>
                    </a:p>
                  </a:txBody>
                  <a:tcPr marL="91455" marR="91455" marT="45739" marB="45739" anchor="ctr"/>
                </a:tc>
                <a:tc>
                  <a:txBody>
                    <a:bodyPr/>
                    <a:lstStyle/>
                    <a:p>
                      <a:pPr algn="ctr"/>
                      <a:r>
                        <a:rPr lang="en-CA" sz="1800" dirty="0"/>
                        <a:t>Wave</a:t>
                      </a:r>
                      <a:endParaRPr lang="en-CA" sz="1800" b="0" dirty="0"/>
                    </a:p>
                  </a:txBody>
                  <a:tcPr marL="91455" marR="91455" marT="45739" marB="45739" anchor="ctr"/>
                </a:tc>
                <a:tc>
                  <a:txBody>
                    <a:bodyPr/>
                    <a:lstStyle/>
                    <a:p>
                      <a:pPr algn="ctr"/>
                      <a:r>
                        <a:rPr lang="en-CA" sz="1800" dirty="0"/>
                        <a:t>103</a:t>
                      </a:r>
                      <a:endParaRPr lang="en-CA" sz="1800" b="0" dirty="0"/>
                    </a:p>
                  </a:txBody>
                  <a:tcPr marL="91455" marR="91455" marT="45739" marB="45739" anchor="ctr"/>
                </a:tc>
                <a:tc>
                  <a:txBody>
                    <a:bodyPr/>
                    <a:lstStyle/>
                    <a:p>
                      <a:pPr algn="ctr"/>
                      <a:r>
                        <a:rPr lang="en-CA" sz="1800" dirty="0"/>
                        <a:t>Engineer</a:t>
                      </a:r>
                      <a:endParaRPr lang="en-CA" sz="1800" b="0" dirty="0"/>
                    </a:p>
                  </a:txBody>
                  <a:tcPr marL="91455" marR="91455" marT="45739" marB="45739" anchor="ctr"/>
                </a:tc>
                <a:tc>
                  <a:txBody>
                    <a:bodyPr/>
                    <a:lstStyle/>
                    <a:p>
                      <a:pPr algn="ctr"/>
                      <a:r>
                        <a:rPr lang="en-CA" sz="1800" dirty="0"/>
                        <a:t>84.50</a:t>
                      </a:r>
                      <a:endParaRPr lang="en-CA" sz="1800" b="0" dirty="0"/>
                    </a:p>
                  </a:txBody>
                  <a:tcPr marL="91455" marR="91455" marT="45739" marB="45739" anchor="ctr"/>
                </a:tc>
                <a:tc>
                  <a:txBody>
                    <a:bodyPr/>
                    <a:lstStyle/>
                    <a:p>
                      <a:pPr algn="ctr"/>
                      <a:r>
                        <a:rPr lang="en-CA" sz="1800" dirty="0"/>
                        <a:t>10</a:t>
                      </a:r>
                      <a:endParaRPr lang="en-CA" sz="1800" b="0" dirty="0"/>
                    </a:p>
                  </a:txBody>
                  <a:tcPr marL="91455" marR="91455" marT="45739" marB="45739" anchor="ctr"/>
                </a:tc>
                <a:extLst>
                  <a:ext uri="{0D108BD9-81ED-4DB2-BD59-A6C34878D82A}">
                    <a16:rowId xmlns:a16="http://schemas.microsoft.com/office/drawing/2014/main" val="10004"/>
                  </a:ext>
                </a:extLst>
              </a:tr>
              <a:tr h="387807">
                <a:tc>
                  <a:txBody>
                    <a:bodyPr/>
                    <a:lstStyle/>
                    <a:p>
                      <a:pPr algn="ctr"/>
                      <a:r>
                        <a:rPr lang="en-CA" sz="1800" b="0" dirty="0"/>
                        <a:t>22</a:t>
                      </a:r>
                    </a:p>
                  </a:txBody>
                  <a:tcPr marL="91455" marR="91455" marT="45739" marB="45739" anchor="ctr"/>
                </a:tc>
                <a:tc>
                  <a:txBody>
                    <a:bodyPr/>
                    <a:lstStyle/>
                    <a:p>
                      <a:pPr algn="ctr"/>
                      <a:r>
                        <a:rPr lang="en-CA" sz="1800" b="0" dirty="0"/>
                        <a:t>Wave</a:t>
                      </a:r>
                    </a:p>
                  </a:txBody>
                  <a:tcPr marL="91455" marR="91455" marT="45739" marB="45739" anchor="ctr"/>
                </a:tc>
                <a:tc>
                  <a:txBody>
                    <a:bodyPr/>
                    <a:lstStyle/>
                    <a:p>
                      <a:pPr algn="ctr"/>
                      <a:r>
                        <a:rPr lang="en-CA" sz="1800" dirty="0"/>
                        <a:t>114</a:t>
                      </a:r>
                      <a:endParaRPr lang="en-CA" sz="1800" b="0" dirty="0"/>
                    </a:p>
                  </a:txBody>
                  <a:tcPr marL="91455" marR="91455" marT="45739" marB="45739" anchor="ctr"/>
                </a:tc>
                <a:tc>
                  <a:txBody>
                    <a:bodyPr/>
                    <a:lstStyle/>
                    <a:p>
                      <a:pPr algn="ctr"/>
                      <a:r>
                        <a:rPr lang="en-CA" sz="1800" dirty="0"/>
                        <a:t>Programmer</a:t>
                      </a:r>
                      <a:endParaRPr lang="en-CA" sz="1800" b="0" dirty="0"/>
                    </a:p>
                  </a:txBody>
                  <a:tcPr marL="91455" marR="91455" marT="45739" marB="45739" anchor="ctr"/>
                </a:tc>
                <a:tc>
                  <a:txBody>
                    <a:bodyPr/>
                    <a:lstStyle/>
                    <a:p>
                      <a:pPr algn="ctr"/>
                      <a:r>
                        <a:rPr lang="en-CA" sz="1800" dirty="0"/>
                        <a:t>60.00</a:t>
                      </a:r>
                      <a:endParaRPr lang="en-CA" sz="1800" b="0" dirty="0"/>
                    </a:p>
                  </a:txBody>
                  <a:tcPr marL="91455" marR="91455" marT="45739" marB="45739" anchor="ctr"/>
                </a:tc>
                <a:tc>
                  <a:txBody>
                    <a:bodyPr/>
                    <a:lstStyle/>
                    <a:p>
                      <a:pPr algn="ctr"/>
                      <a:r>
                        <a:rPr lang="en-CA" sz="1800" dirty="0"/>
                        <a:t>15</a:t>
                      </a:r>
                      <a:endParaRPr lang="en-CA" sz="1800" b="0" dirty="0"/>
                    </a:p>
                  </a:txBody>
                  <a:tcPr marL="91455" marR="91455" marT="45739" marB="45739" anchor="ctr"/>
                </a:tc>
                <a:extLst>
                  <a:ext uri="{0D108BD9-81ED-4DB2-BD59-A6C34878D82A}">
                    <a16:rowId xmlns:a16="http://schemas.microsoft.com/office/drawing/2014/main" val="10005"/>
                  </a:ext>
                </a:extLst>
              </a:tr>
              <a:tr h="370998">
                <a:tc>
                  <a:txBody>
                    <a:bodyPr/>
                    <a:lstStyle/>
                    <a:p>
                      <a:pPr algn="ctr"/>
                      <a:r>
                        <a:rPr lang="en-CA" sz="1800" b="0" dirty="0"/>
                        <a:t>22</a:t>
                      </a:r>
                    </a:p>
                  </a:txBody>
                  <a:tcPr marL="91455" marR="91455" marT="45739" marB="45739" anchor="ctr"/>
                </a:tc>
                <a:tc>
                  <a:txBody>
                    <a:bodyPr/>
                    <a:lstStyle/>
                    <a:p>
                      <a:pPr algn="ctr"/>
                      <a:r>
                        <a:rPr lang="en-CA" sz="1800" b="0" dirty="0"/>
                        <a:t>Wave</a:t>
                      </a:r>
                    </a:p>
                  </a:txBody>
                  <a:tcPr marL="91455" marR="91455" marT="45739" marB="45739" anchor="ctr"/>
                </a:tc>
                <a:tc>
                  <a:txBody>
                    <a:bodyPr/>
                    <a:lstStyle/>
                    <a:p>
                      <a:pPr algn="ctr"/>
                      <a:r>
                        <a:rPr lang="en-CA" sz="1800" dirty="0"/>
                        <a:t>115</a:t>
                      </a:r>
                      <a:endParaRPr lang="en-CA" sz="1800" b="0" dirty="0"/>
                    </a:p>
                  </a:txBody>
                  <a:tcPr marL="91455" marR="91455" marT="45739" marB="45739" anchor="ctr"/>
                </a:tc>
                <a:tc>
                  <a:txBody>
                    <a:bodyPr/>
                    <a:lstStyle/>
                    <a:p>
                      <a:pPr algn="ctr"/>
                      <a:r>
                        <a:rPr lang="en-CA" sz="1800" dirty="0"/>
                        <a:t>Programmer</a:t>
                      </a:r>
                      <a:endParaRPr lang="en-CA" sz="1800" b="0" dirty="0"/>
                    </a:p>
                  </a:txBody>
                  <a:tcPr marL="91455" marR="91455" marT="45739" marB="45739" anchor="ctr"/>
                </a:tc>
                <a:tc>
                  <a:txBody>
                    <a:bodyPr/>
                    <a:lstStyle/>
                    <a:p>
                      <a:pPr algn="ctr"/>
                      <a:r>
                        <a:rPr lang="en-CA" sz="1800" dirty="0"/>
                        <a:t>60.00</a:t>
                      </a:r>
                      <a:endParaRPr lang="en-CA" sz="1800" b="0" dirty="0"/>
                    </a:p>
                  </a:txBody>
                  <a:tcPr marL="91455" marR="91455" marT="45739" marB="45739" anchor="ctr"/>
                </a:tc>
                <a:tc>
                  <a:txBody>
                    <a:bodyPr/>
                    <a:lstStyle/>
                    <a:p>
                      <a:pPr algn="ctr"/>
                      <a:r>
                        <a:rPr lang="en-CA" sz="1800" dirty="0"/>
                        <a:t>18</a:t>
                      </a:r>
                      <a:endParaRPr lang="en-CA" sz="1800" b="0" dirty="0"/>
                    </a:p>
                  </a:txBody>
                  <a:tcPr marL="91455" marR="91455" marT="45739" marB="45739" anchor="ctr"/>
                </a:tc>
                <a:extLst>
                  <a:ext uri="{0D108BD9-81ED-4DB2-BD59-A6C34878D82A}">
                    <a16:rowId xmlns:a16="http://schemas.microsoft.com/office/drawing/2014/main" val="10006"/>
                  </a:ext>
                </a:extLst>
              </a:tr>
            </a:tbl>
          </a:graphicData>
        </a:graphic>
      </p:graphicFrame>
      <p:cxnSp>
        <p:nvCxnSpPr>
          <p:cNvPr id="26" name="Straight Connector 25">
            <a:extLst>
              <a:ext uri="{FF2B5EF4-FFF2-40B4-BE49-F238E27FC236}">
                <a16:creationId xmlns:a16="http://schemas.microsoft.com/office/drawing/2014/main" id="{B4F40C61-DA57-B14E-F616-F1119CED90CC}"/>
              </a:ext>
            </a:extLst>
          </p:cNvPr>
          <p:cNvCxnSpPr/>
          <p:nvPr/>
        </p:nvCxnSpPr>
        <p:spPr bwMode="auto">
          <a:xfrm flipV="1">
            <a:off x="417513" y="3079750"/>
            <a:ext cx="1223962" cy="0"/>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27" name="Straight Connector 26">
            <a:extLst>
              <a:ext uri="{FF2B5EF4-FFF2-40B4-BE49-F238E27FC236}">
                <a16:creationId xmlns:a16="http://schemas.microsoft.com/office/drawing/2014/main" id="{688DD9CE-B480-FA92-7E34-9DB49CA9685D}"/>
              </a:ext>
            </a:extLst>
          </p:cNvPr>
          <p:cNvCxnSpPr/>
          <p:nvPr/>
        </p:nvCxnSpPr>
        <p:spPr bwMode="auto">
          <a:xfrm flipV="1">
            <a:off x="3200400" y="3079750"/>
            <a:ext cx="1225550" cy="0"/>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34" name="Rectangle 33">
            <a:extLst>
              <a:ext uri="{FF2B5EF4-FFF2-40B4-BE49-F238E27FC236}">
                <a16:creationId xmlns:a16="http://schemas.microsoft.com/office/drawing/2014/main" id="{4CCCD59F-D91B-9C40-AA82-68C817B6BF32}"/>
              </a:ext>
            </a:extLst>
          </p:cNvPr>
          <p:cNvSpPr>
            <a:spLocks noChangeArrowheads="1"/>
          </p:cNvSpPr>
          <p:nvPr/>
        </p:nvSpPr>
        <p:spPr bwMode="auto">
          <a:xfrm>
            <a:off x="511175" y="5792788"/>
            <a:ext cx="7489825" cy="684212"/>
          </a:xfrm>
          <a:prstGeom prst="rect">
            <a:avLst/>
          </a:prstGeom>
          <a:solidFill>
            <a:srgbClr val="FFFF00">
              <a:alpha val="30196"/>
            </a:srgbClr>
          </a:solidFill>
          <a:ln w="9525" algn="ctr">
            <a:solidFill>
              <a:srgbClr val="FFC000"/>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Primary key = PROJ_NUM + EMP_NUM</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(The reason is that PROJ_NUM + EMP_NUM is unique for every row)</a:t>
            </a:r>
          </a:p>
        </p:txBody>
      </p:sp>
      <p:sp>
        <p:nvSpPr>
          <p:cNvPr id="19" name="Title 1">
            <a:extLst>
              <a:ext uri="{FF2B5EF4-FFF2-40B4-BE49-F238E27FC236}">
                <a16:creationId xmlns:a16="http://schemas.microsoft.com/office/drawing/2014/main" id="{C60B616E-D8F6-BA2C-DE00-4189CD5A22D5}"/>
              </a:ext>
            </a:extLst>
          </p:cNvPr>
          <p:cNvSpPr>
            <a:spLocks noGrp="1"/>
          </p:cNvSpPr>
          <p:nvPr>
            <p:ph type="title"/>
          </p:nvPr>
        </p:nvSpPr>
        <p:spPr>
          <a:xfrm>
            <a:off x="457200" y="76200"/>
            <a:ext cx="7620000" cy="1143000"/>
          </a:xfrm>
        </p:spPr>
        <p:txBody>
          <a:bodyPr/>
          <a:lstStyle/>
          <a:p>
            <a:pPr algn="ctr">
              <a:defRPr/>
            </a:pPr>
            <a:r>
              <a:rPr lang="en-US" dirty="0"/>
              <a:t>Relational Database Normalization</a:t>
            </a:r>
            <a:endParaRPr lang="en-CA"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left)">
                                      <p:cBhvr>
                                        <p:cTn id="7" dur="500"/>
                                        <p:tgtEl>
                                          <p:spTgt spid="24"/>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ipe(up)">
                                      <p:cBhvr>
                                        <p:cTn id="11" dur="500"/>
                                        <p:tgtEl>
                                          <p:spTgt spid="25"/>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26"/>
                                        </p:tgtEl>
                                        <p:attrNameLst>
                                          <p:attrName>style.visibility</p:attrName>
                                        </p:attrNameLst>
                                      </p:cBhvr>
                                      <p:to>
                                        <p:strVal val="visible"/>
                                      </p:to>
                                    </p:set>
                                    <p:animEffect transition="in" filter="wipe(left)">
                                      <p:cBhvr>
                                        <p:cTn id="16" dur="500"/>
                                        <p:tgtEl>
                                          <p:spTgt spid="26"/>
                                        </p:tgtEl>
                                      </p:cBhvr>
                                    </p:animEffect>
                                  </p:childTnLst>
                                </p:cTn>
                              </p:par>
                              <p:par>
                                <p:cTn id="17" presetID="22" presetClass="entr" presetSubtype="8" fill="hold" nodeType="withEffect">
                                  <p:stCondLst>
                                    <p:cond delay="0"/>
                                  </p:stCondLst>
                                  <p:childTnLst>
                                    <p:set>
                                      <p:cBhvr>
                                        <p:cTn id="18" dur="1" fill="hold">
                                          <p:stCondLst>
                                            <p:cond delay="0"/>
                                          </p:stCondLst>
                                        </p:cTn>
                                        <p:tgtEl>
                                          <p:spTgt spid="27"/>
                                        </p:tgtEl>
                                        <p:attrNameLst>
                                          <p:attrName>style.visibility</p:attrName>
                                        </p:attrNameLst>
                                      </p:cBhvr>
                                      <p:to>
                                        <p:strVal val="visible"/>
                                      </p:to>
                                    </p:set>
                                    <p:animEffect transition="in" filter="wipe(left)">
                                      <p:cBhvr>
                                        <p:cTn id="19" dur="500"/>
                                        <p:tgtEl>
                                          <p:spTgt spid="27"/>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34"/>
                                        </p:tgtEl>
                                        <p:attrNameLst>
                                          <p:attrName>style.visibility</p:attrName>
                                        </p:attrNameLst>
                                      </p:cBhvr>
                                      <p:to>
                                        <p:strVal val="visible"/>
                                      </p:to>
                                    </p:set>
                                    <p:animEffect transition="in" filter="wipe(up)">
                                      <p:cBhvr>
                                        <p:cTn id="24"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34" grpId="0" animBg="1"/>
    </p:bld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7FFA2001-AE58-E047-BB23-25F6868B9140}"/>
              </a:ext>
            </a:extLst>
          </p:cNvPr>
          <p:cNvSpPr txBox="1">
            <a:spLocks/>
          </p:cNvSpPr>
          <p:nvPr/>
        </p:nvSpPr>
        <p:spPr bwMode="auto">
          <a:xfrm>
            <a:off x="133350" y="1425575"/>
            <a:ext cx="8172450" cy="323850"/>
          </a:xfrm>
          <a:prstGeom prst="rect">
            <a:avLst/>
          </a:prstGeom>
          <a:noFill/>
          <a:ln w="9525">
            <a:noFill/>
            <a:miter lim="800000"/>
            <a:headEnd/>
            <a:tailEnd/>
          </a:ln>
        </p:spPr>
        <p:txBody>
          <a:bodyPr lIns="72000" tIns="0" rIns="72000" bIns="0"/>
          <a:lstStyle/>
          <a:p>
            <a:pPr marL="0" marR="0" lvl="0" indent="0" algn="l" defTabSz="720000" rtl="0" eaLnBrk="1" fontAlgn="base" latinLnBrk="0" hangingPunct="1">
              <a:lnSpc>
                <a:spcPts val="1800"/>
              </a:lnSpc>
              <a:spcBef>
                <a:spcPts val="0"/>
              </a:spcBef>
              <a:spcAft>
                <a:spcPts val="0"/>
              </a:spcAft>
              <a:buClrTx/>
              <a:buSzTx/>
              <a:buFontTx/>
              <a:buNone/>
              <a:tabLst>
                <a:tab pos="0" algn="l"/>
              </a:tabLst>
              <a:defRPr/>
            </a:pPr>
            <a:r>
              <a:rPr kumimoji="0" lang="en-US" sz="1800" b="1" i="0" u="none" strike="noStrike" kern="0" cap="none" spc="0" normalizeH="0" baseline="0" noProof="0" dirty="0">
                <a:ln>
                  <a:noFill/>
                </a:ln>
                <a:solidFill>
                  <a:srgbClr val="2F2B20"/>
                </a:solidFill>
                <a:effectLst/>
                <a:uLnTx/>
                <a:uFillTx/>
                <a:latin typeface="Calibri"/>
                <a:ea typeface="+mn-ea"/>
                <a:cs typeface="Calibri" pitchFamily="34" charset="0"/>
              </a:rPr>
              <a:t>Normal Forms</a:t>
            </a:r>
            <a:endParaRPr kumimoji="0" lang="en-MY" sz="1800" b="1" i="0" u="none" strike="noStrike" kern="0" cap="none" spc="0" normalizeH="0" baseline="0" noProof="0" dirty="0">
              <a:ln>
                <a:noFill/>
              </a:ln>
              <a:solidFill>
                <a:srgbClr val="2F2B20"/>
              </a:solidFill>
              <a:effectLst/>
              <a:uLnTx/>
              <a:uFillTx/>
              <a:latin typeface="Calibri"/>
              <a:ea typeface="+mn-ea"/>
              <a:cs typeface="Calibri" pitchFamily="34" charset="0"/>
            </a:endParaRPr>
          </a:p>
        </p:txBody>
      </p:sp>
      <p:sp>
        <p:nvSpPr>
          <p:cNvPr id="21" name="Content Placeholder 2">
            <a:extLst>
              <a:ext uri="{FF2B5EF4-FFF2-40B4-BE49-F238E27FC236}">
                <a16:creationId xmlns:a16="http://schemas.microsoft.com/office/drawing/2014/main" id="{EFBB4628-982A-C4DF-9756-0C3B76B61FA3}"/>
              </a:ext>
            </a:extLst>
          </p:cNvPr>
          <p:cNvSpPr txBox="1">
            <a:spLocks/>
          </p:cNvSpPr>
          <p:nvPr/>
        </p:nvSpPr>
        <p:spPr bwMode="auto">
          <a:xfrm>
            <a:off x="250825" y="1647825"/>
            <a:ext cx="7921625"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Finally, one should identify the functional dependencies of the relation. This is by examining the data in the relation</a:t>
            </a:r>
            <a:endParaRPr kumimoji="0" lang="en-US" altLang="en-US" sz="32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US" altLang="en-US" sz="32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endParaRPr>
          </a:p>
        </p:txBody>
      </p:sp>
      <p:graphicFrame>
        <p:nvGraphicFramePr>
          <p:cNvPr id="28" name="Table 27">
            <a:extLst>
              <a:ext uri="{FF2B5EF4-FFF2-40B4-BE49-F238E27FC236}">
                <a16:creationId xmlns:a16="http://schemas.microsoft.com/office/drawing/2014/main" id="{B0358515-0A56-6F5B-4E81-C8C43D469EF3}"/>
              </a:ext>
            </a:extLst>
          </p:cNvPr>
          <p:cNvGraphicFramePr>
            <a:graphicFrameLocks noGrp="1"/>
          </p:cNvGraphicFramePr>
          <p:nvPr/>
        </p:nvGraphicFramePr>
        <p:xfrm>
          <a:off x="250825" y="3236913"/>
          <a:ext cx="8054976" cy="2790823"/>
        </p:xfrm>
        <a:graphic>
          <a:graphicData uri="http://schemas.openxmlformats.org/drawingml/2006/table">
            <a:tbl>
              <a:tblPr firstRow="1" bandRow="1">
                <a:tableStyleId>{3B4B98B0-60AC-42C2-AFA5-B58CD77FA1E5}</a:tableStyleId>
              </a:tblPr>
              <a:tblGrid>
                <a:gridCol w="1409621">
                  <a:extLst>
                    <a:ext uri="{9D8B030D-6E8A-4147-A177-3AD203B41FA5}">
                      <a16:colId xmlns:a16="http://schemas.microsoft.com/office/drawing/2014/main" val="20000"/>
                    </a:ext>
                  </a:extLst>
                </a:gridCol>
                <a:gridCol w="1543870">
                  <a:extLst>
                    <a:ext uri="{9D8B030D-6E8A-4147-A177-3AD203B41FA5}">
                      <a16:colId xmlns:a16="http://schemas.microsoft.com/office/drawing/2014/main" val="20001"/>
                    </a:ext>
                  </a:extLst>
                </a:gridCol>
                <a:gridCol w="1275371">
                  <a:extLst>
                    <a:ext uri="{9D8B030D-6E8A-4147-A177-3AD203B41FA5}">
                      <a16:colId xmlns:a16="http://schemas.microsoft.com/office/drawing/2014/main" val="20002"/>
                    </a:ext>
                  </a:extLst>
                </a:gridCol>
                <a:gridCol w="1476746">
                  <a:extLst>
                    <a:ext uri="{9D8B030D-6E8A-4147-A177-3AD203B41FA5}">
                      <a16:colId xmlns:a16="http://schemas.microsoft.com/office/drawing/2014/main" val="20003"/>
                    </a:ext>
                  </a:extLst>
                </a:gridCol>
                <a:gridCol w="1409621">
                  <a:extLst>
                    <a:ext uri="{9D8B030D-6E8A-4147-A177-3AD203B41FA5}">
                      <a16:colId xmlns:a16="http://schemas.microsoft.com/office/drawing/2014/main" val="20004"/>
                    </a:ext>
                  </a:extLst>
                </a:gridCol>
                <a:gridCol w="939747">
                  <a:extLst>
                    <a:ext uri="{9D8B030D-6E8A-4147-A177-3AD203B41FA5}">
                      <a16:colId xmlns:a16="http://schemas.microsoft.com/office/drawing/2014/main" val="20005"/>
                    </a:ext>
                  </a:extLst>
                </a:gridCol>
              </a:tblGrid>
              <a:tr h="365744">
                <a:tc>
                  <a:txBody>
                    <a:bodyPr/>
                    <a:lstStyle/>
                    <a:p>
                      <a:pPr algn="ctr"/>
                      <a:r>
                        <a:rPr lang="en-CA" sz="1800" dirty="0"/>
                        <a:t>PROJ_NUM</a:t>
                      </a:r>
                      <a:endParaRPr lang="en-CA" sz="1800" b="0" dirty="0"/>
                    </a:p>
                  </a:txBody>
                  <a:tcPr marL="91455" marR="91455" marT="45712" marB="45712"/>
                </a:tc>
                <a:tc>
                  <a:txBody>
                    <a:bodyPr/>
                    <a:lstStyle/>
                    <a:p>
                      <a:pPr algn="ctr"/>
                      <a:r>
                        <a:rPr lang="en-CA" sz="1800" dirty="0"/>
                        <a:t>PROJ_NAME</a:t>
                      </a:r>
                      <a:endParaRPr lang="en-CA" sz="1800" b="0" dirty="0"/>
                    </a:p>
                  </a:txBody>
                  <a:tcPr marL="91455" marR="91455" marT="45712" marB="45712"/>
                </a:tc>
                <a:tc>
                  <a:txBody>
                    <a:bodyPr/>
                    <a:lstStyle/>
                    <a:p>
                      <a:pPr algn="ctr"/>
                      <a:r>
                        <a:rPr lang="en-CA" sz="1800" dirty="0"/>
                        <a:t>EMP_NUM</a:t>
                      </a:r>
                      <a:endParaRPr lang="en-CA" sz="1800" b="0" dirty="0"/>
                    </a:p>
                  </a:txBody>
                  <a:tcPr marL="91455" marR="91455" marT="45712" marB="45712"/>
                </a:tc>
                <a:tc>
                  <a:txBody>
                    <a:bodyPr/>
                    <a:lstStyle/>
                    <a:p>
                      <a:pPr algn="ctr"/>
                      <a:r>
                        <a:rPr lang="en-CA" sz="1800" dirty="0"/>
                        <a:t>JOB_CLASS</a:t>
                      </a:r>
                      <a:endParaRPr lang="en-CA" sz="1800" b="0" dirty="0"/>
                    </a:p>
                  </a:txBody>
                  <a:tcPr marL="91455" marR="91455" marT="45712" marB="45712"/>
                </a:tc>
                <a:tc>
                  <a:txBody>
                    <a:bodyPr/>
                    <a:lstStyle/>
                    <a:p>
                      <a:pPr algn="ctr"/>
                      <a:r>
                        <a:rPr lang="en-CA" sz="1800" dirty="0"/>
                        <a:t>CHG_HOUR</a:t>
                      </a:r>
                      <a:endParaRPr lang="en-CA" sz="1800" b="0" dirty="0"/>
                    </a:p>
                  </a:txBody>
                  <a:tcPr marL="91455" marR="91455" marT="45712" marB="45712"/>
                </a:tc>
                <a:tc>
                  <a:txBody>
                    <a:bodyPr/>
                    <a:lstStyle/>
                    <a:p>
                      <a:pPr algn="ctr"/>
                      <a:r>
                        <a:rPr lang="en-CA" sz="1800" dirty="0"/>
                        <a:t>HOUR</a:t>
                      </a:r>
                      <a:endParaRPr lang="en-CA" sz="1800" b="0" dirty="0"/>
                    </a:p>
                  </a:txBody>
                  <a:tcPr marL="91455" marR="91455" marT="45712" marB="45712"/>
                </a:tc>
                <a:extLst>
                  <a:ext uri="{0D108BD9-81ED-4DB2-BD59-A6C34878D82A}">
                    <a16:rowId xmlns:a16="http://schemas.microsoft.com/office/drawing/2014/main" val="10000"/>
                  </a:ext>
                </a:extLst>
              </a:tr>
              <a:tr h="437127">
                <a:tc>
                  <a:txBody>
                    <a:bodyPr/>
                    <a:lstStyle/>
                    <a:p>
                      <a:pPr algn="ctr"/>
                      <a:r>
                        <a:rPr lang="en-CA" sz="1800" dirty="0"/>
                        <a:t>15</a:t>
                      </a:r>
                      <a:endParaRPr lang="en-CA" sz="1800" b="0" dirty="0"/>
                    </a:p>
                  </a:txBody>
                  <a:tcPr marL="91455" marR="91455" marT="45712" marB="45712" anchor="ctr"/>
                </a:tc>
                <a:tc>
                  <a:txBody>
                    <a:bodyPr/>
                    <a:lstStyle/>
                    <a:p>
                      <a:pPr algn="ctr"/>
                      <a:r>
                        <a:rPr lang="en-CA" sz="1800" dirty="0"/>
                        <a:t>Evergreen</a:t>
                      </a:r>
                      <a:endParaRPr lang="en-CA" sz="1800" b="0" dirty="0"/>
                    </a:p>
                  </a:txBody>
                  <a:tcPr marL="91455" marR="91455" marT="45712" marB="45712" anchor="ctr"/>
                </a:tc>
                <a:tc>
                  <a:txBody>
                    <a:bodyPr/>
                    <a:lstStyle/>
                    <a:p>
                      <a:pPr algn="ctr"/>
                      <a:r>
                        <a:rPr lang="en-CA" sz="1800" dirty="0"/>
                        <a:t>102</a:t>
                      </a:r>
                      <a:endParaRPr lang="en-CA" sz="1800" b="0" dirty="0"/>
                    </a:p>
                  </a:txBody>
                  <a:tcPr marL="91455" marR="91455" marT="45712" marB="45712" anchor="ctr"/>
                </a:tc>
                <a:tc>
                  <a:txBody>
                    <a:bodyPr/>
                    <a:lstStyle/>
                    <a:p>
                      <a:pPr algn="ctr"/>
                      <a:r>
                        <a:rPr lang="en-CA" sz="1800" dirty="0"/>
                        <a:t>Engineer</a:t>
                      </a:r>
                      <a:endParaRPr lang="en-CA" sz="1800" b="0" dirty="0"/>
                    </a:p>
                  </a:txBody>
                  <a:tcPr marL="91455" marR="91455" marT="45712" marB="45712" anchor="ctr"/>
                </a:tc>
                <a:tc>
                  <a:txBody>
                    <a:bodyPr/>
                    <a:lstStyle/>
                    <a:p>
                      <a:pPr algn="ctr"/>
                      <a:r>
                        <a:rPr lang="en-CA" sz="1800" dirty="0"/>
                        <a:t>84.50</a:t>
                      </a:r>
                      <a:endParaRPr lang="en-CA" sz="1800" b="0" dirty="0"/>
                    </a:p>
                  </a:txBody>
                  <a:tcPr marL="91455" marR="91455" marT="45712" marB="45712" anchor="ctr"/>
                </a:tc>
                <a:tc>
                  <a:txBody>
                    <a:bodyPr/>
                    <a:lstStyle/>
                    <a:p>
                      <a:pPr algn="ctr"/>
                      <a:r>
                        <a:rPr lang="en-CA" sz="1800" dirty="0"/>
                        <a:t>30</a:t>
                      </a:r>
                      <a:endParaRPr lang="en-CA" sz="1800" b="0" dirty="0"/>
                    </a:p>
                  </a:txBody>
                  <a:tcPr marL="91455" marR="91455" marT="45712" marB="45712" anchor="ctr"/>
                </a:tc>
                <a:extLst>
                  <a:ext uri="{0D108BD9-81ED-4DB2-BD59-A6C34878D82A}">
                    <a16:rowId xmlns:a16="http://schemas.microsoft.com/office/drawing/2014/main" val="10001"/>
                  </a:ext>
                </a:extLst>
              </a:tr>
              <a:tr h="426831">
                <a:tc>
                  <a:txBody>
                    <a:bodyPr/>
                    <a:lstStyle/>
                    <a:p>
                      <a:pPr algn="ctr"/>
                      <a:r>
                        <a:rPr lang="en-CA" sz="1800" b="0" dirty="0"/>
                        <a:t>15</a:t>
                      </a:r>
                    </a:p>
                  </a:txBody>
                  <a:tcPr marL="91455" marR="91455" marT="45712" marB="45712"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CA" sz="1800" dirty="0"/>
                        <a:t>Evergreen</a:t>
                      </a:r>
                      <a:endParaRPr lang="en-CA" sz="1800" b="0" dirty="0"/>
                    </a:p>
                  </a:txBody>
                  <a:tcPr marL="91455" marR="91455" marT="45712" marB="45712" anchor="ctr"/>
                </a:tc>
                <a:tc>
                  <a:txBody>
                    <a:bodyPr/>
                    <a:lstStyle/>
                    <a:p>
                      <a:pPr algn="ctr"/>
                      <a:r>
                        <a:rPr lang="en-CA" sz="1800" dirty="0"/>
                        <a:t>103</a:t>
                      </a:r>
                      <a:endParaRPr lang="en-CA" sz="1800" b="0" dirty="0"/>
                    </a:p>
                  </a:txBody>
                  <a:tcPr marL="91455" marR="91455" marT="45712" marB="45712" anchor="ctr"/>
                </a:tc>
                <a:tc>
                  <a:txBody>
                    <a:bodyPr/>
                    <a:lstStyle/>
                    <a:p>
                      <a:pPr algn="ctr"/>
                      <a:r>
                        <a:rPr lang="en-CA" sz="1800" dirty="0"/>
                        <a:t>Engineer</a:t>
                      </a:r>
                      <a:endParaRPr lang="en-CA" sz="1800" b="0" dirty="0"/>
                    </a:p>
                  </a:txBody>
                  <a:tcPr marL="91455" marR="91455" marT="45712" marB="45712" anchor="ctr"/>
                </a:tc>
                <a:tc>
                  <a:txBody>
                    <a:bodyPr/>
                    <a:lstStyle/>
                    <a:p>
                      <a:pPr algn="ctr"/>
                      <a:r>
                        <a:rPr lang="en-CA" sz="1800" dirty="0"/>
                        <a:t>84.50</a:t>
                      </a:r>
                      <a:endParaRPr lang="en-CA" sz="1800" b="0" dirty="0"/>
                    </a:p>
                  </a:txBody>
                  <a:tcPr marL="91455" marR="91455" marT="45712" marB="45712" anchor="ctr"/>
                </a:tc>
                <a:tc>
                  <a:txBody>
                    <a:bodyPr/>
                    <a:lstStyle/>
                    <a:p>
                      <a:pPr algn="ctr"/>
                      <a:r>
                        <a:rPr lang="en-CA" sz="1800" dirty="0"/>
                        <a:t>23</a:t>
                      </a:r>
                      <a:endParaRPr lang="en-CA" sz="1800" b="0" dirty="0"/>
                    </a:p>
                  </a:txBody>
                  <a:tcPr marL="91455" marR="91455" marT="45712" marB="45712" anchor="ctr"/>
                </a:tc>
                <a:extLst>
                  <a:ext uri="{0D108BD9-81ED-4DB2-BD59-A6C34878D82A}">
                    <a16:rowId xmlns:a16="http://schemas.microsoft.com/office/drawing/2014/main" val="10002"/>
                  </a:ext>
                </a:extLst>
              </a:tr>
              <a:tr h="431979">
                <a:tc>
                  <a:txBody>
                    <a:bodyPr/>
                    <a:lstStyle/>
                    <a:p>
                      <a:pPr algn="ctr"/>
                      <a:r>
                        <a:rPr lang="en-CA" sz="1800" b="0" dirty="0"/>
                        <a:t>15</a:t>
                      </a:r>
                    </a:p>
                  </a:txBody>
                  <a:tcPr marL="91455" marR="91455" marT="45712" marB="45712"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CA" sz="1800" dirty="0"/>
                        <a:t>Evergreen</a:t>
                      </a:r>
                      <a:endParaRPr lang="en-CA" sz="1800" b="0" dirty="0"/>
                    </a:p>
                  </a:txBody>
                  <a:tcPr marL="91455" marR="91455" marT="45712" marB="45712" anchor="ctr"/>
                </a:tc>
                <a:tc>
                  <a:txBody>
                    <a:bodyPr/>
                    <a:lstStyle/>
                    <a:p>
                      <a:pPr algn="ctr"/>
                      <a:r>
                        <a:rPr lang="en-CA" sz="1800" dirty="0"/>
                        <a:t>105</a:t>
                      </a:r>
                      <a:endParaRPr lang="en-CA" sz="1800" b="0" dirty="0"/>
                    </a:p>
                  </a:txBody>
                  <a:tcPr marL="91455" marR="91455" marT="45712" marB="45712" anchor="ctr"/>
                </a:tc>
                <a:tc>
                  <a:txBody>
                    <a:bodyPr/>
                    <a:lstStyle/>
                    <a:p>
                      <a:pPr algn="ctr"/>
                      <a:r>
                        <a:rPr lang="en-CA" sz="1800" dirty="0"/>
                        <a:t>Consultant</a:t>
                      </a:r>
                      <a:endParaRPr lang="en-CA" sz="1800" b="0" dirty="0"/>
                    </a:p>
                  </a:txBody>
                  <a:tcPr marL="91455" marR="91455" marT="45712" marB="45712" anchor="ctr"/>
                </a:tc>
                <a:tc>
                  <a:txBody>
                    <a:bodyPr/>
                    <a:lstStyle/>
                    <a:p>
                      <a:pPr algn="ctr"/>
                      <a:r>
                        <a:rPr lang="en-CA" sz="1800" dirty="0"/>
                        <a:t>105.00</a:t>
                      </a:r>
                      <a:endParaRPr lang="en-CA" sz="1800" b="0" dirty="0"/>
                    </a:p>
                  </a:txBody>
                  <a:tcPr marL="91455" marR="91455" marT="45712" marB="45712" anchor="ctr"/>
                </a:tc>
                <a:tc>
                  <a:txBody>
                    <a:bodyPr/>
                    <a:lstStyle/>
                    <a:p>
                      <a:pPr algn="ctr"/>
                      <a:r>
                        <a:rPr lang="en-CA" sz="1800" dirty="0"/>
                        <a:t>20</a:t>
                      </a:r>
                      <a:endParaRPr lang="en-CA" sz="1800" b="0" dirty="0"/>
                    </a:p>
                  </a:txBody>
                  <a:tcPr marL="91455" marR="91455" marT="45712" marB="45712" anchor="ctr"/>
                </a:tc>
                <a:extLst>
                  <a:ext uri="{0D108BD9-81ED-4DB2-BD59-A6C34878D82A}">
                    <a16:rowId xmlns:a16="http://schemas.microsoft.com/office/drawing/2014/main" val="10003"/>
                  </a:ext>
                </a:extLst>
              </a:tr>
              <a:tr h="370781">
                <a:tc>
                  <a:txBody>
                    <a:bodyPr/>
                    <a:lstStyle/>
                    <a:p>
                      <a:pPr algn="ctr"/>
                      <a:r>
                        <a:rPr lang="en-CA" sz="1800" dirty="0"/>
                        <a:t>22</a:t>
                      </a:r>
                      <a:endParaRPr lang="en-CA" sz="1800" b="0" dirty="0"/>
                    </a:p>
                  </a:txBody>
                  <a:tcPr marL="91455" marR="91455" marT="45712" marB="45712" anchor="ctr"/>
                </a:tc>
                <a:tc>
                  <a:txBody>
                    <a:bodyPr/>
                    <a:lstStyle/>
                    <a:p>
                      <a:pPr algn="ctr"/>
                      <a:r>
                        <a:rPr lang="en-CA" sz="1800" dirty="0"/>
                        <a:t>Wave</a:t>
                      </a:r>
                      <a:endParaRPr lang="en-CA" sz="1800" b="0" dirty="0"/>
                    </a:p>
                  </a:txBody>
                  <a:tcPr marL="91455" marR="91455" marT="45712" marB="45712" anchor="ctr"/>
                </a:tc>
                <a:tc>
                  <a:txBody>
                    <a:bodyPr/>
                    <a:lstStyle/>
                    <a:p>
                      <a:pPr algn="ctr"/>
                      <a:r>
                        <a:rPr lang="en-CA" sz="1800" dirty="0"/>
                        <a:t>103</a:t>
                      </a:r>
                      <a:endParaRPr lang="en-CA" sz="1800" b="0" dirty="0"/>
                    </a:p>
                  </a:txBody>
                  <a:tcPr marL="91455" marR="91455" marT="45712" marB="45712" anchor="ctr"/>
                </a:tc>
                <a:tc>
                  <a:txBody>
                    <a:bodyPr/>
                    <a:lstStyle/>
                    <a:p>
                      <a:pPr algn="ctr"/>
                      <a:r>
                        <a:rPr lang="en-CA" sz="1800" dirty="0"/>
                        <a:t>Engineer</a:t>
                      </a:r>
                      <a:endParaRPr lang="en-CA" sz="1800" b="0" dirty="0"/>
                    </a:p>
                  </a:txBody>
                  <a:tcPr marL="91455" marR="91455" marT="45712" marB="45712" anchor="ctr"/>
                </a:tc>
                <a:tc>
                  <a:txBody>
                    <a:bodyPr/>
                    <a:lstStyle/>
                    <a:p>
                      <a:pPr algn="ctr"/>
                      <a:r>
                        <a:rPr lang="en-CA" sz="1800" dirty="0"/>
                        <a:t>84.50</a:t>
                      </a:r>
                      <a:endParaRPr lang="en-CA" sz="1800" b="0" dirty="0"/>
                    </a:p>
                  </a:txBody>
                  <a:tcPr marL="91455" marR="91455" marT="45712" marB="45712" anchor="ctr"/>
                </a:tc>
                <a:tc>
                  <a:txBody>
                    <a:bodyPr/>
                    <a:lstStyle/>
                    <a:p>
                      <a:pPr algn="ctr"/>
                      <a:r>
                        <a:rPr lang="en-CA" sz="1800" dirty="0"/>
                        <a:t>10</a:t>
                      </a:r>
                      <a:endParaRPr lang="en-CA" sz="1800" b="0" dirty="0"/>
                    </a:p>
                  </a:txBody>
                  <a:tcPr marL="91455" marR="91455" marT="45712" marB="45712" anchor="ctr"/>
                </a:tc>
                <a:extLst>
                  <a:ext uri="{0D108BD9-81ED-4DB2-BD59-A6C34878D82A}">
                    <a16:rowId xmlns:a16="http://schemas.microsoft.com/office/drawing/2014/main" val="10004"/>
                  </a:ext>
                </a:extLst>
              </a:tr>
              <a:tr h="387580">
                <a:tc>
                  <a:txBody>
                    <a:bodyPr/>
                    <a:lstStyle/>
                    <a:p>
                      <a:pPr algn="ctr"/>
                      <a:r>
                        <a:rPr lang="en-CA" sz="1800" b="0" dirty="0"/>
                        <a:t>22</a:t>
                      </a:r>
                    </a:p>
                  </a:txBody>
                  <a:tcPr marL="91455" marR="91455" marT="45712" marB="45712" anchor="ctr"/>
                </a:tc>
                <a:tc>
                  <a:txBody>
                    <a:bodyPr/>
                    <a:lstStyle/>
                    <a:p>
                      <a:pPr algn="ctr"/>
                      <a:r>
                        <a:rPr lang="en-CA" sz="1800" b="0" dirty="0"/>
                        <a:t>Wave</a:t>
                      </a:r>
                    </a:p>
                  </a:txBody>
                  <a:tcPr marL="91455" marR="91455" marT="45712" marB="45712" anchor="ctr"/>
                </a:tc>
                <a:tc>
                  <a:txBody>
                    <a:bodyPr/>
                    <a:lstStyle/>
                    <a:p>
                      <a:pPr algn="ctr"/>
                      <a:r>
                        <a:rPr lang="en-CA" sz="1800" dirty="0"/>
                        <a:t>114</a:t>
                      </a:r>
                      <a:endParaRPr lang="en-CA" sz="1800" b="0" dirty="0"/>
                    </a:p>
                  </a:txBody>
                  <a:tcPr marL="91455" marR="91455" marT="45712" marB="45712" anchor="ctr"/>
                </a:tc>
                <a:tc>
                  <a:txBody>
                    <a:bodyPr/>
                    <a:lstStyle/>
                    <a:p>
                      <a:pPr algn="ctr"/>
                      <a:r>
                        <a:rPr lang="en-CA" sz="1800" dirty="0"/>
                        <a:t>Programmer</a:t>
                      </a:r>
                      <a:endParaRPr lang="en-CA" sz="1800" b="0" dirty="0"/>
                    </a:p>
                  </a:txBody>
                  <a:tcPr marL="91455" marR="91455" marT="45712" marB="45712" anchor="ctr"/>
                </a:tc>
                <a:tc>
                  <a:txBody>
                    <a:bodyPr/>
                    <a:lstStyle/>
                    <a:p>
                      <a:pPr algn="ctr"/>
                      <a:r>
                        <a:rPr lang="en-CA" sz="1800" dirty="0"/>
                        <a:t>60.00</a:t>
                      </a:r>
                      <a:endParaRPr lang="en-CA" sz="1800" b="0" dirty="0"/>
                    </a:p>
                  </a:txBody>
                  <a:tcPr marL="91455" marR="91455" marT="45712" marB="45712" anchor="ctr"/>
                </a:tc>
                <a:tc>
                  <a:txBody>
                    <a:bodyPr/>
                    <a:lstStyle/>
                    <a:p>
                      <a:pPr algn="ctr"/>
                      <a:r>
                        <a:rPr lang="en-CA" sz="1800" dirty="0"/>
                        <a:t>15</a:t>
                      </a:r>
                      <a:endParaRPr lang="en-CA" sz="1800" b="0" dirty="0"/>
                    </a:p>
                  </a:txBody>
                  <a:tcPr marL="91455" marR="91455" marT="45712" marB="45712" anchor="ctr"/>
                </a:tc>
                <a:extLst>
                  <a:ext uri="{0D108BD9-81ED-4DB2-BD59-A6C34878D82A}">
                    <a16:rowId xmlns:a16="http://schemas.microsoft.com/office/drawing/2014/main" val="10005"/>
                  </a:ext>
                </a:extLst>
              </a:tr>
              <a:tr h="370781">
                <a:tc>
                  <a:txBody>
                    <a:bodyPr/>
                    <a:lstStyle/>
                    <a:p>
                      <a:pPr algn="ctr"/>
                      <a:r>
                        <a:rPr lang="en-CA" sz="1800" b="0" dirty="0"/>
                        <a:t>22</a:t>
                      </a:r>
                    </a:p>
                  </a:txBody>
                  <a:tcPr marL="91455" marR="91455" marT="45712" marB="45712" anchor="ctr"/>
                </a:tc>
                <a:tc>
                  <a:txBody>
                    <a:bodyPr/>
                    <a:lstStyle/>
                    <a:p>
                      <a:pPr algn="ctr"/>
                      <a:r>
                        <a:rPr lang="en-CA" sz="1800" b="0" dirty="0"/>
                        <a:t>Wave</a:t>
                      </a:r>
                    </a:p>
                  </a:txBody>
                  <a:tcPr marL="91455" marR="91455" marT="45712" marB="45712" anchor="ctr"/>
                </a:tc>
                <a:tc>
                  <a:txBody>
                    <a:bodyPr/>
                    <a:lstStyle/>
                    <a:p>
                      <a:pPr algn="ctr"/>
                      <a:r>
                        <a:rPr lang="en-CA" sz="1800" dirty="0"/>
                        <a:t>115</a:t>
                      </a:r>
                      <a:endParaRPr lang="en-CA" sz="1800" b="0" dirty="0"/>
                    </a:p>
                  </a:txBody>
                  <a:tcPr marL="91455" marR="91455" marT="45712" marB="45712" anchor="ctr"/>
                </a:tc>
                <a:tc>
                  <a:txBody>
                    <a:bodyPr/>
                    <a:lstStyle/>
                    <a:p>
                      <a:pPr algn="ctr"/>
                      <a:r>
                        <a:rPr lang="en-CA" sz="1800" dirty="0"/>
                        <a:t>Programmer</a:t>
                      </a:r>
                      <a:endParaRPr lang="en-CA" sz="1800" b="0" dirty="0"/>
                    </a:p>
                  </a:txBody>
                  <a:tcPr marL="91455" marR="91455" marT="45712" marB="45712" anchor="ctr"/>
                </a:tc>
                <a:tc>
                  <a:txBody>
                    <a:bodyPr/>
                    <a:lstStyle/>
                    <a:p>
                      <a:pPr algn="ctr"/>
                      <a:r>
                        <a:rPr lang="en-CA" sz="1800" dirty="0"/>
                        <a:t>60.00</a:t>
                      </a:r>
                      <a:endParaRPr lang="en-CA" sz="1800" b="0" dirty="0"/>
                    </a:p>
                  </a:txBody>
                  <a:tcPr marL="91455" marR="91455" marT="45712" marB="45712" anchor="ctr"/>
                </a:tc>
                <a:tc>
                  <a:txBody>
                    <a:bodyPr/>
                    <a:lstStyle/>
                    <a:p>
                      <a:pPr algn="ctr"/>
                      <a:r>
                        <a:rPr lang="en-CA" sz="1800" dirty="0"/>
                        <a:t>18</a:t>
                      </a:r>
                      <a:endParaRPr lang="en-CA" sz="1800" b="0" dirty="0"/>
                    </a:p>
                  </a:txBody>
                  <a:tcPr marL="91455" marR="91455" marT="45712" marB="45712" anchor="ctr"/>
                </a:tc>
                <a:extLst>
                  <a:ext uri="{0D108BD9-81ED-4DB2-BD59-A6C34878D82A}">
                    <a16:rowId xmlns:a16="http://schemas.microsoft.com/office/drawing/2014/main" val="10006"/>
                  </a:ext>
                </a:extLst>
              </a:tr>
            </a:tbl>
          </a:graphicData>
        </a:graphic>
      </p:graphicFrame>
      <p:cxnSp>
        <p:nvCxnSpPr>
          <p:cNvPr id="29" name="Straight Connector 28">
            <a:extLst>
              <a:ext uri="{FF2B5EF4-FFF2-40B4-BE49-F238E27FC236}">
                <a16:creationId xmlns:a16="http://schemas.microsoft.com/office/drawing/2014/main" id="{E308330B-C532-027E-267B-338CEC80C605}"/>
              </a:ext>
            </a:extLst>
          </p:cNvPr>
          <p:cNvCxnSpPr/>
          <p:nvPr/>
        </p:nvCxnSpPr>
        <p:spPr bwMode="auto">
          <a:xfrm flipV="1">
            <a:off x="395288" y="3548063"/>
            <a:ext cx="1223962" cy="0"/>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30" name="Straight Connector 29">
            <a:extLst>
              <a:ext uri="{FF2B5EF4-FFF2-40B4-BE49-F238E27FC236}">
                <a16:creationId xmlns:a16="http://schemas.microsoft.com/office/drawing/2014/main" id="{7CAD7EE1-6AFB-4D43-4883-7A717BCA2397}"/>
              </a:ext>
            </a:extLst>
          </p:cNvPr>
          <p:cNvCxnSpPr/>
          <p:nvPr/>
        </p:nvCxnSpPr>
        <p:spPr bwMode="auto">
          <a:xfrm flipV="1">
            <a:off x="3200400" y="3548063"/>
            <a:ext cx="1225550" cy="0"/>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32" name="Rectangle 31">
            <a:extLst>
              <a:ext uri="{FF2B5EF4-FFF2-40B4-BE49-F238E27FC236}">
                <a16:creationId xmlns:a16="http://schemas.microsoft.com/office/drawing/2014/main" id="{496AA3F9-B4E6-B931-7483-4DD46ED49B7F}"/>
              </a:ext>
            </a:extLst>
          </p:cNvPr>
          <p:cNvSpPr>
            <a:spLocks noChangeArrowheads="1"/>
          </p:cNvSpPr>
          <p:nvPr/>
        </p:nvSpPr>
        <p:spPr bwMode="auto">
          <a:xfrm>
            <a:off x="2209800" y="6232525"/>
            <a:ext cx="4321175" cy="455613"/>
          </a:xfrm>
          <a:prstGeom prst="rect">
            <a:avLst/>
          </a:prstGeom>
          <a:solidFill>
            <a:srgbClr val="FFFF00">
              <a:alpha val="30196"/>
            </a:srgbClr>
          </a:solidFill>
          <a:ln w="9525" algn="ctr">
            <a:solidFill>
              <a:srgbClr val="FFC000"/>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PROJ_NUM → PROJ_NAME</a:t>
            </a:r>
          </a:p>
        </p:txBody>
      </p:sp>
      <p:sp>
        <p:nvSpPr>
          <p:cNvPr id="31" name="Title 1">
            <a:extLst>
              <a:ext uri="{FF2B5EF4-FFF2-40B4-BE49-F238E27FC236}">
                <a16:creationId xmlns:a16="http://schemas.microsoft.com/office/drawing/2014/main" id="{0C3EFA02-C934-78A6-3A50-6A60C773BBA4}"/>
              </a:ext>
            </a:extLst>
          </p:cNvPr>
          <p:cNvSpPr>
            <a:spLocks noGrp="1"/>
          </p:cNvSpPr>
          <p:nvPr>
            <p:ph type="title"/>
          </p:nvPr>
        </p:nvSpPr>
        <p:spPr>
          <a:xfrm>
            <a:off x="457200" y="76200"/>
            <a:ext cx="7620000" cy="1143000"/>
          </a:xfrm>
        </p:spPr>
        <p:txBody>
          <a:bodyPr/>
          <a:lstStyle/>
          <a:p>
            <a:pPr algn="ctr">
              <a:defRPr/>
            </a:pPr>
            <a:r>
              <a:rPr lang="en-US" dirty="0"/>
              <a:t>Relational Database Normalization</a:t>
            </a:r>
            <a:endParaRPr lang="en-CA"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left)">
                                      <p:cBhvr>
                                        <p:cTn id="7" dur="500"/>
                                        <p:tgtEl>
                                          <p:spTgt spid="21"/>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wipe(up)">
                                      <p:cBhvr>
                                        <p:cTn id="11" dur="500"/>
                                        <p:tgtEl>
                                          <p:spTgt spid="28"/>
                                        </p:tgtEl>
                                      </p:cBhvr>
                                    </p:animEffect>
                                  </p:childTnLst>
                                </p:cTn>
                              </p:par>
                            </p:childTnLst>
                          </p:cTn>
                        </p:par>
                        <p:par>
                          <p:cTn id="12" fill="hold" nodeType="afterGroup">
                            <p:stCondLst>
                              <p:cond delay="1000"/>
                            </p:stCondLst>
                            <p:childTnLst>
                              <p:par>
                                <p:cTn id="13" presetID="22" presetClass="entr" presetSubtype="8" fill="hold" nodeType="afterEffect">
                                  <p:stCondLst>
                                    <p:cond delay="0"/>
                                  </p:stCondLst>
                                  <p:childTnLst>
                                    <p:set>
                                      <p:cBhvr>
                                        <p:cTn id="14" dur="1" fill="hold">
                                          <p:stCondLst>
                                            <p:cond delay="0"/>
                                          </p:stCondLst>
                                        </p:cTn>
                                        <p:tgtEl>
                                          <p:spTgt spid="29"/>
                                        </p:tgtEl>
                                        <p:attrNameLst>
                                          <p:attrName>style.visibility</p:attrName>
                                        </p:attrNameLst>
                                      </p:cBhvr>
                                      <p:to>
                                        <p:strVal val="visible"/>
                                      </p:to>
                                    </p:set>
                                    <p:animEffect transition="in" filter="wipe(left)">
                                      <p:cBhvr>
                                        <p:cTn id="15" dur="500"/>
                                        <p:tgtEl>
                                          <p:spTgt spid="29"/>
                                        </p:tgtEl>
                                      </p:cBhvr>
                                    </p:animEffect>
                                  </p:childTnLst>
                                </p:cTn>
                              </p:par>
                              <p:par>
                                <p:cTn id="16" presetID="22" presetClass="entr" presetSubtype="8" fill="hold" nodeType="withEffect">
                                  <p:stCondLst>
                                    <p:cond delay="0"/>
                                  </p:stCondLst>
                                  <p:childTnLst>
                                    <p:set>
                                      <p:cBhvr>
                                        <p:cTn id="17" dur="1" fill="hold">
                                          <p:stCondLst>
                                            <p:cond delay="0"/>
                                          </p:stCondLst>
                                        </p:cTn>
                                        <p:tgtEl>
                                          <p:spTgt spid="30"/>
                                        </p:tgtEl>
                                        <p:attrNameLst>
                                          <p:attrName>style.visibility</p:attrName>
                                        </p:attrNameLst>
                                      </p:cBhvr>
                                      <p:to>
                                        <p:strVal val="visible"/>
                                      </p:to>
                                    </p:set>
                                    <p:animEffect transition="in" filter="wipe(left)">
                                      <p:cBhvr>
                                        <p:cTn id="18" dur="500"/>
                                        <p:tgtEl>
                                          <p:spTgt spid="30"/>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1" fill="hold" grpId="0" nodeType="clickEffect">
                                  <p:stCondLst>
                                    <p:cond delay="0"/>
                                  </p:stCondLst>
                                  <p:childTnLst>
                                    <p:set>
                                      <p:cBhvr>
                                        <p:cTn id="22" dur="1" fill="hold">
                                          <p:stCondLst>
                                            <p:cond delay="0"/>
                                          </p:stCondLst>
                                        </p:cTn>
                                        <p:tgtEl>
                                          <p:spTgt spid="32"/>
                                        </p:tgtEl>
                                        <p:attrNameLst>
                                          <p:attrName>style.visibility</p:attrName>
                                        </p:attrNameLst>
                                      </p:cBhvr>
                                      <p:to>
                                        <p:strVal val="visible"/>
                                      </p:to>
                                    </p:set>
                                    <p:animEffect transition="in" filter="wipe(up)">
                                      <p:cBhvr>
                                        <p:cTn id="23"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32" grpId="0" animBg="1"/>
    </p:bld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332B5ACF-A494-5F3F-971B-23DCD09A58CA}"/>
              </a:ext>
            </a:extLst>
          </p:cNvPr>
          <p:cNvSpPr txBox="1">
            <a:spLocks/>
          </p:cNvSpPr>
          <p:nvPr/>
        </p:nvSpPr>
        <p:spPr bwMode="auto">
          <a:xfrm>
            <a:off x="125413" y="1423988"/>
            <a:ext cx="8172450" cy="323850"/>
          </a:xfrm>
          <a:prstGeom prst="rect">
            <a:avLst/>
          </a:prstGeom>
          <a:noFill/>
          <a:ln w="9525">
            <a:noFill/>
            <a:miter lim="800000"/>
            <a:headEnd/>
            <a:tailEnd/>
          </a:ln>
        </p:spPr>
        <p:txBody>
          <a:bodyPr lIns="72000" tIns="0" rIns="72000" bIns="0"/>
          <a:lstStyle/>
          <a:p>
            <a:pPr marL="0" marR="0" lvl="0" indent="0" algn="l" defTabSz="720000" rtl="0" eaLnBrk="1" fontAlgn="base" latinLnBrk="0" hangingPunct="1">
              <a:lnSpc>
                <a:spcPts val="1800"/>
              </a:lnSpc>
              <a:spcBef>
                <a:spcPts val="0"/>
              </a:spcBef>
              <a:spcAft>
                <a:spcPts val="0"/>
              </a:spcAft>
              <a:buClrTx/>
              <a:buSzTx/>
              <a:buFontTx/>
              <a:buNone/>
              <a:tabLst>
                <a:tab pos="0" algn="l"/>
              </a:tabLst>
              <a:defRPr/>
            </a:pPr>
            <a:r>
              <a:rPr kumimoji="0" lang="en-US" sz="1800" b="1" i="0" u="none" strike="noStrike" kern="0" cap="none" spc="0" normalizeH="0" baseline="0" noProof="0" dirty="0">
                <a:ln>
                  <a:noFill/>
                </a:ln>
                <a:solidFill>
                  <a:srgbClr val="2F2B20"/>
                </a:solidFill>
                <a:effectLst/>
                <a:uLnTx/>
                <a:uFillTx/>
                <a:latin typeface="Calibri"/>
                <a:ea typeface="+mn-ea"/>
                <a:cs typeface="Calibri" pitchFamily="34" charset="0"/>
              </a:rPr>
              <a:t>Normal Forms</a:t>
            </a:r>
            <a:endParaRPr kumimoji="0" lang="en-MY" sz="1800" b="1" i="0" u="none" strike="noStrike" kern="0" cap="none" spc="0" normalizeH="0" baseline="0" noProof="0" dirty="0">
              <a:ln>
                <a:noFill/>
              </a:ln>
              <a:solidFill>
                <a:srgbClr val="2F2B20"/>
              </a:solidFill>
              <a:effectLst/>
              <a:uLnTx/>
              <a:uFillTx/>
              <a:latin typeface="Calibri"/>
              <a:ea typeface="+mn-ea"/>
              <a:cs typeface="Calibri" pitchFamily="34" charset="0"/>
            </a:endParaRPr>
          </a:p>
        </p:txBody>
      </p:sp>
      <p:sp>
        <p:nvSpPr>
          <p:cNvPr id="28675" name="Content Placeholder 2">
            <a:extLst>
              <a:ext uri="{FF2B5EF4-FFF2-40B4-BE49-F238E27FC236}">
                <a16:creationId xmlns:a16="http://schemas.microsoft.com/office/drawing/2014/main" id="{9117BB80-CFE8-C584-E3AA-237BBCBCEE3E}"/>
              </a:ext>
            </a:extLst>
          </p:cNvPr>
          <p:cNvSpPr txBox="1">
            <a:spLocks/>
          </p:cNvSpPr>
          <p:nvPr/>
        </p:nvSpPr>
        <p:spPr bwMode="auto">
          <a:xfrm>
            <a:off x="250825" y="1665288"/>
            <a:ext cx="7921625"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Finally, one should identify the functional dependencies of the relation. This is by examining the data in the relation</a:t>
            </a:r>
            <a:endParaRPr kumimoji="0" lang="en-US" altLang="en-US" sz="32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US" altLang="en-US" sz="32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endParaRPr>
          </a:p>
        </p:txBody>
      </p:sp>
      <p:graphicFrame>
        <p:nvGraphicFramePr>
          <p:cNvPr id="28" name="Table 27">
            <a:extLst>
              <a:ext uri="{FF2B5EF4-FFF2-40B4-BE49-F238E27FC236}">
                <a16:creationId xmlns:a16="http://schemas.microsoft.com/office/drawing/2014/main" id="{79DBE3E1-5B22-8E30-8B5D-E63088CE12E8}"/>
              </a:ext>
            </a:extLst>
          </p:cNvPr>
          <p:cNvGraphicFramePr>
            <a:graphicFrameLocks noGrp="1"/>
          </p:cNvGraphicFramePr>
          <p:nvPr/>
        </p:nvGraphicFramePr>
        <p:xfrm>
          <a:off x="250825" y="3254375"/>
          <a:ext cx="7921625" cy="2790825"/>
        </p:xfrm>
        <a:graphic>
          <a:graphicData uri="http://schemas.openxmlformats.org/drawingml/2006/table">
            <a:tbl>
              <a:tblPr firstRow="1" bandRow="1">
                <a:tableStyleId>{3B4B98B0-60AC-42C2-AFA5-B58CD77FA1E5}</a:tableStyleId>
              </a:tblPr>
              <a:tblGrid>
                <a:gridCol w="1386284">
                  <a:extLst>
                    <a:ext uri="{9D8B030D-6E8A-4147-A177-3AD203B41FA5}">
                      <a16:colId xmlns:a16="http://schemas.microsoft.com/office/drawing/2014/main" val="20000"/>
                    </a:ext>
                  </a:extLst>
                </a:gridCol>
                <a:gridCol w="1518311">
                  <a:extLst>
                    <a:ext uri="{9D8B030D-6E8A-4147-A177-3AD203B41FA5}">
                      <a16:colId xmlns:a16="http://schemas.microsoft.com/office/drawing/2014/main" val="20001"/>
                    </a:ext>
                  </a:extLst>
                </a:gridCol>
                <a:gridCol w="1254257">
                  <a:extLst>
                    <a:ext uri="{9D8B030D-6E8A-4147-A177-3AD203B41FA5}">
                      <a16:colId xmlns:a16="http://schemas.microsoft.com/office/drawing/2014/main" val="20002"/>
                    </a:ext>
                  </a:extLst>
                </a:gridCol>
                <a:gridCol w="1452298">
                  <a:extLst>
                    <a:ext uri="{9D8B030D-6E8A-4147-A177-3AD203B41FA5}">
                      <a16:colId xmlns:a16="http://schemas.microsoft.com/office/drawing/2014/main" val="20003"/>
                    </a:ext>
                  </a:extLst>
                </a:gridCol>
                <a:gridCol w="1386284">
                  <a:extLst>
                    <a:ext uri="{9D8B030D-6E8A-4147-A177-3AD203B41FA5}">
                      <a16:colId xmlns:a16="http://schemas.microsoft.com/office/drawing/2014/main" val="20004"/>
                    </a:ext>
                  </a:extLst>
                </a:gridCol>
                <a:gridCol w="924190">
                  <a:extLst>
                    <a:ext uri="{9D8B030D-6E8A-4147-A177-3AD203B41FA5}">
                      <a16:colId xmlns:a16="http://schemas.microsoft.com/office/drawing/2014/main" val="20005"/>
                    </a:ext>
                  </a:extLst>
                </a:gridCol>
              </a:tblGrid>
              <a:tr h="365744">
                <a:tc>
                  <a:txBody>
                    <a:bodyPr/>
                    <a:lstStyle/>
                    <a:p>
                      <a:pPr algn="ctr"/>
                      <a:r>
                        <a:rPr lang="en-CA" sz="1800" dirty="0"/>
                        <a:t>PROJ_NUM</a:t>
                      </a:r>
                      <a:endParaRPr lang="en-CA" sz="1800" b="0" dirty="0"/>
                    </a:p>
                  </a:txBody>
                  <a:tcPr marL="91455" marR="91455" marT="45712" marB="45712"/>
                </a:tc>
                <a:tc>
                  <a:txBody>
                    <a:bodyPr/>
                    <a:lstStyle/>
                    <a:p>
                      <a:pPr algn="ctr"/>
                      <a:r>
                        <a:rPr lang="en-CA" sz="1800" dirty="0"/>
                        <a:t>PROJ_NAME</a:t>
                      </a:r>
                      <a:endParaRPr lang="en-CA" sz="1800" b="0" dirty="0"/>
                    </a:p>
                  </a:txBody>
                  <a:tcPr marL="91455" marR="91455" marT="45712" marB="45712"/>
                </a:tc>
                <a:tc>
                  <a:txBody>
                    <a:bodyPr/>
                    <a:lstStyle/>
                    <a:p>
                      <a:pPr algn="ctr"/>
                      <a:r>
                        <a:rPr lang="en-CA" sz="1800" dirty="0"/>
                        <a:t>EMP_NUM</a:t>
                      </a:r>
                      <a:endParaRPr lang="en-CA" sz="1800" b="0" dirty="0"/>
                    </a:p>
                  </a:txBody>
                  <a:tcPr marL="91455" marR="91455" marT="45712" marB="45712"/>
                </a:tc>
                <a:tc>
                  <a:txBody>
                    <a:bodyPr/>
                    <a:lstStyle/>
                    <a:p>
                      <a:pPr algn="ctr"/>
                      <a:r>
                        <a:rPr lang="en-CA" sz="1800" dirty="0"/>
                        <a:t>JOB_CLASS</a:t>
                      </a:r>
                      <a:endParaRPr lang="en-CA" sz="1800" b="0" dirty="0"/>
                    </a:p>
                  </a:txBody>
                  <a:tcPr marL="91455" marR="91455" marT="45712" marB="45712"/>
                </a:tc>
                <a:tc>
                  <a:txBody>
                    <a:bodyPr/>
                    <a:lstStyle/>
                    <a:p>
                      <a:pPr algn="ctr"/>
                      <a:r>
                        <a:rPr lang="en-CA" sz="1800" dirty="0"/>
                        <a:t>CHG_HOUR</a:t>
                      </a:r>
                      <a:endParaRPr lang="en-CA" sz="1800" b="0" dirty="0"/>
                    </a:p>
                  </a:txBody>
                  <a:tcPr marL="91455" marR="91455" marT="45712" marB="45712"/>
                </a:tc>
                <a:tc>
                  <a:txBody>
                    <a:bodyPr/>
                    <a:lstStyle/>
                    <a:p>
                      <a:pPr algn="ctr"/>
                      <a:r>
                        <a:rPr lang="en-CA" sz="1800" dirty="0"/>
                        <a:t>HOUR</a:t>
                      </a:r>
                      <a:endParaRPr lang="en-CA" sz="1800" b="0" dirty="0"/>
                    </a:p>
                  </a:txBody>
                  <a:tcPr marL="91455" marR="91455" marT="45712" marB="45712"/>
                </a:tc>
                <a:extLst>
                  <a:ext uri="{0D108BD9-81ED-4DB2-BD59-A6C34878D82A}">
                    <a16:rowId xmlns:a16="http://schemas.microsoft.com/office/drawing/2014/main" val="10000"/>
                  </a:ext>
                </a:extLst>
              </a:tr>
              <a:tr h="437127">
                <a:tc>
                  <a:txBody>
                    <a:bodyPr/>
                    <a:lstStyle/>
                    <a:p>
                      <a:pPr algn="ctr"/>
                      <a:r>
                        <a:rPr lang="en-CA" sz="1800" dirty="0"/>
                        <a:t>15</a:t>
                      </a:r>
                      <a:endParaRPr lang="en-CA" sz="1800" b="0" dirty="0"/>
                    </a:p>
                  </a:txBody>
                  <a:tcPr marL="91455" marR="91455" marT="45712" marB="45712" anchor="ctr"/>
                </a:tc>
                <a:tc>
                  <a:txBody>
                    <a:bodyPr/>
                    <a:lstStyle/>
                    <a:p>
                      <a:pPr algn="ctr"/>
                      <a:r>
                        <a:rPr lang="en-CA" sz="1800" dirty="0"/>
                        <a:t>Evergreen</a:t>
                      </a:r>
                      <a:endParaRPr lang="en-CA" sz="1800" b="0" dirty="0"/>
                    </a:p>
                  </a:txBody>
                  <a:tcPr marL="91455" marR="91455" marT="45712" marB="45712" anchor="ctr"/>
                </a:tc>
                <a:tc>
                  <a:txBody>
                    <a:bodyPr/>
                    <a:lstStyle/>
                    <a:p>
                      <a:pPr algn="ctr"/>
                      <a:r>
                        <a:rPr lang="en-CA" sz="1800" dirty="0"/>
                        <a:t>102</a:t>
                      </a:r>
                      <a:endParaRPr lang="en-CA" sz="1800" b="0" dirty="0"/>
                    </a:p>
                  </a:txBody>
                  <a:tcPr marL="91455" marR="91455" marT="45712" marB="45712" anchor="ctr"/>
                </a:tc>
                <a:tc>
                  <a:txBody>
                    <a:bodyPr/>
                    <a:lstStyle/>
                    <a:p>
                      <a:pPr algn="ctr"/>
                      <a:r>
                        <a:rPr lang="en-CA" sz="1800" dirty="0"/>
                        <a:t>Engineer</a:t>
                      </a:r>
                      <a:endParaRPr lang="en-CA" sz="1800" b="0" dirty="0"/>
                    </a:p>
                  </a:txBody>
                  <a:tcPr marL="91455" marR="91455" marT="45712" marB="45712" anchor="ctr"/>
                </a:tc>
                <a:tc>
                  <a:txBody>
                    <a:bodyPr/>
                    <a:lstStyle/>
                    <a:p>
                      <a:pPr algn="ctr"/>
                      <a:r>
                        <a:rPr lang="en-CA" sz="1800" dirty="0"/>
                        <a:t>84.50</a:t>
                      </a:r>
                      <a:endParaRPr lang="en-CA" sz="1800" b="0" dirty="0"/>
                    </a:p>
                  </a:txBody>
                  <a:tcPr marL="91455" marR="91455" marT="45712" marB="45712" anchor="ctr"/>
                </a:tc>
                <a:tc>
                  <a:txBody>
                    <a:bodyPr/>
                    <a:lstStyle/>
                    <a:p>
                      <a:pPr algn="ctr"/>
                      <a:r>
                        <a:rPr lang="en-CA" sz="1800" dirty="0"/>
                        <a:t>30</a:t>
                      </a:r>
                      <a:endParaRPr lang="en-CA" sz="1800" b="0" dirty="0"/>
                    </a:p>
                  </a:txBody>
                  <a:tcPr marL="91455" marR="91455" marT="45712" marB="45712" anchor="ctr"/>
                </a:tc>
                <a:extLst>
                  <a:ext uri="{0D108BD9-81ED-4DB2-BD59-A6C34878D82A}">
                    <a16:rowId xmlns:a16="http://schemas.microsoft.com/office/drawing/2014/main" val="10001"/>
                  </a:ext>
                </a:extLst>
              </a:tr>
              <a:tr h="426831">
                <a:tc>
                  <a:txBody>
                    <a:bodyPr/>
                    <a:lstStyle/>
                    <a:p>
                      <a:pPr algn="ctr"/>
                      <a:r>
                        <a:rPr lang="en-CA" sz="1800" b="0" dirty="0"/>
                        <a:t>15</a:t>
                      </a:r>
                    </a:p>
                  </a:txBody>
                  <a:tcPr marL="91455" marR="91455" marT="45712" marB="45712"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CA" sz="1800" dirty="0"/>
                        <a:t>Evergreen</a:t>
                      </a:r>
                      <a:endParaRPr lang="en-CA" sz="1800" b="0" dirty="0"/>
                    </a:p>
                  </a:txBody>
                  <a:tcPr marL="91455" marR="91455" marT="45712" marB="45712" anchor="ctr"/>
                </a:tc>
                <a:tc>
                  <a:txBody>
                    <a:bodyPr/>
                    <a:lstStyle/>
                    <a:p>
                      <a:pPr algn="ctr"/>
                      <a:r>
                        <a:rPr lang="en-CA" sz="1800" dirty="0"/>
                        <a:t>103</a:t>
                      </a:r>
                      <a:endParaRPr lang="en-CA" sz="1800" b="0" dirty="0"/>
                    </a:p>
                  </a:txBody>
                  <a:tcPr marL="91455" marR="91455" marT="45712" marB="45712" anchor="ctr"/>
                </a:tc>
                <a:tc>
                  <a:txBody>
                    <a:bodyPr/>
                    <a:lstStyle/>
                    <a:p>
                      <a:pPr algn="ctr"/>
                      <a:r>
                        <a:rPr lang="en-CA" sz="1800" dirty="0"/>
                        <a:t>Engineer</a:t>
                      </a:r>
                      <a:endParaRPr lang="en-CA" sz="1800" b="0" dirty="0"/>
                    </a:p>
                  </a:txBody>
                  <a:tcPr marL="91455" marR="91455" marT="45712" marB="45712" anchor="ctr"/>
                </a:tc>
                <a:tc>
                  <a:txBody>
                    <a:bodyPr/>
                    <a:lstStyle/>
                    <a:p>
                      <a:pPr algn="ctr"/>
                      <a:r>
                        <a:rPr lang="en-CA" sz="1800" dirty="0"/>
                        <a:t>84.50</a:t>
                      </a:r>
                      <a:endParaRPr lang="en-CA" sz="1800" b="0" dirty="0"/>
                    </a:p>
                  </a:txBody>
                  <a:tcPr marL="91455" marR="91455" marT="45712" marB="45712" anchor="ctr"/>
                </a:tc>
                <a:tc>
                  <a:txBody>
                    <a:bodyPr/>
                    <a:lstStyle/>
                    <a:p>
                      <a:pPr algn="ctr"/>
                      <a:r>
                        <a:rPr lang="en-CA" sz="1800" dirty="0"/>
                        <a:t>23</a:t>
                      </a:r>
                      <a:endParaRPr lang="en-CA" sz="1800" b="0" dirty="0"/>
                    </a:p>
                  </a:txBody>
                  <a:tcPr marL="91455" marR="91455" marT="45712" marB="45712" anchor="ctr"/>
                </a:tc>
                <a:extLst>
                  <a:ext uri="{0D108BD9-81ED-4DB2-BD59-A6C34878D82A}">
                    <a16:rowId xmlns:a16="http://schemas.microsoft.com/office/drawing/2014/main" val="10002"/>
                  </a:ext>
                </a:extLst>
              </a:tr>
              <a:tr h="431979">
                <a:tc>
                  <a:txBody>
                    <a:bodyPr/>
                    <a:lstStyle/>
                    <a:p>
                      <a:pPr algn="ctr"/>
                      <a:r>
                        <a:rPr lang="en-CA" sz="1800" b="0" dirty="0"/>
                        <a:t>15</a:t>
                      </a:r>
                    </a:p>
                  </a:txBody>
                  <a:tcPr marL="91455" marR="91455" marT="45712" marB="45712"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CA" sz="1800" dirty="0"/>
                        <a:t>Evergreen</a:t>
                      </a:r>
                      <a:endParaRPr lang="en-CA" sz="1800" b="0" dirty="0"/>
                    </a:p>
                  </a:txBody>
                  <a:tcPr marL="91455" marR="91455" marT="45712" marB="45712" anchor="ctr"/>
                </a:tc>
                <a:tc>
                  <a:txBody>
                    <a:bodyPr/>
                    <a:lstStyle/>
                    <a:p>
                      <a:pPr algn="ctr"/>
                      <a:r>
                        <a:rPr lang="en-CA" sz="1800" dirty="0"/>
                        <a:t>105</a:t>
                      </a:r>
                      <a:endParaRPr lang="en-CA" sz="1800" b="0" dirty="0"/>
                    </a:p>
                  </a:txBody>
                  <a:tcPr marL="91455" marR="91455" marT="45712" marB="45712" anchor="ctr"/>
                </a:tc>
                <a:tc>
                  <a:txBody>
                    <a:bodyPr/>
                    <a:lstStyle/>
                    <a:p>
                      <a:pPr algn="ctr"/>
                      <a:r>
                        <a:rPr lang="en-CA" sz="1800" dirty="0"/>
                        <a:t>Consultant</a:t>
                      </a:r>
                      <a:endParaRPr lang="en-CA" sz="1800" b="0" dirty="0"/>
                    </a:p>
                  </a:txBody>
                  <a:tcPr marL="91455" marR="91455" marT="45712" marB="45712" anchor="ctr"/>
                </a:tc>
                <a:tc>
                  <a:txBody>
                    <a:bodyPr/>
                    <a:lstStyle/>
                    <a:p>
                      <a:pPr algn="ctr"/>
                      <a:r>
                        <a:rPr lang="en-CA" sz="1800" dirty="0"/>
                        <a:t>105.00</a:t>
                      </a:r>
                      <a:endParaRPr lang="en-CA" sz="1800" b="0" dirty="0"/>
                    </a:p>
                  </a:txBody>
                  <a:tcPr marL="91455" marR="91455" marT="45712" marB="45712" anchor="ctr"/>
                </a:tc>
                <a:tc>
                  <a:txBody>
                    <a:bodyPr/>
                    <a:lstStyle/>
                    <a:p>
                      <a:pPr algn="ctr"/>
                      <a:r>
                        <a:rPr lang="en-CA" sz="1800" dirty="0"/>
                        <a:t>20</a:t>
                      </a:r>
                      <a:endParaRPr lang="en-CA" sz="1800" b="0" dirty="0"/>
                    </a:p>
                  </a:txBody>
                  <a:tcPr marL="91455" marR="91455" marT="45712" marB="45712" anchor="ctr"/>
                </a:tc>
                <a:extLst>
                  <a:ext uri="{0D108BD9-81ED-4DB2-BD59-A6C34878D82A}">
                    <a16:rowId xmlns:a16="http://schemas.microsoft.com/office/drawing/2014/main" val="10003"/>
                  </a:ext>
                </a:extLst>
              </a:tr>
              <a:tr h="370781">
                <a:tc>
                  <a:txBody>
                    <a:bodyPr/>
                    <a:lstStyle/>
                    <a:p>
                      <a:pPr algn="ctr"/>
                      <a:r>
                        <a:rPr lang="en-CA" sz="1800" dirty="0"/>
                        <a:t>22</a:t>
                      </a:r>
                      <a:endParaRPr lang="en-CA" sz="1800" b="0" dirty="0"/>
                    </a:p>
                  </a:txBody>
                  <a:tcPr marL="91455" marR="91455" marT="45712" marB="45712" anchor="ctr"/>
                </a:tc>
                <a:tc>
                  <a:txBody>
                    <a:bodyPr/>
                    <a:lstStyle/>
                    <a:p>
                      <a:pPr algn="ctr"/>
                      <a:r>
                        <a:rPr lang="en-CA" sz="1800" dirty="0"/>
                        <a:t>Wave</a:t>
                      </a:r>
                      <a:endParaRPr lang="en-CA" sz="1800" b="0" dirty="0"/>
                    </a:p>
                  </a:txBody>
                  <a:tcPr marL="91455" marR="91455" marT="45712" marB="45712" anchor="ctr"/>
                </a:tc>
                <a:tc>
                  <a:txBody>
                    <a:bodyPr/>
                    <a:lstStyle/>
                    <a:p>
                      <a:pPr algn="ctr"/>
                      <a:r>
                        <a:rPr lang="en-CA" sz="1800" dirty="0"/>
                        <a:t>103</a:t>
                      </a:r>
                      <a:endParaRPr lang="en-CA" sz="1800" b="0" dirty="0"/>
                    </a:p>
                  </a:txBody>
                  <a:tcPr marL="91455" marR="91455" marT="45712" marB="45712" anchor="ctr"/>
                </a:tc>
                <a:tc>
                  <a:txBody>
                    <a:bodyPr/>
                    <a:lstStyle/>
                    <a:p>
                      <a:pPr algn="ctr"/>
                      <a:r>
                        <a:rPr lang="en-CA" sz="1800" dirty="0"/>
                        <a:t>Engineer</a:t>
                      </a:r>
                      <a:endParaRPr lang="en-CA" sz="1800" b="0" dirty="0"/>
                    </a:p>
                  </a:txBody>
                  <a:tcPr marL="91455" marR="91455" marT="45712" marB="45712" anchor="ctr"/>
                </a:tc>
                <a:tc>
                  <a:txBody>
                    <a:bodyPr/>
                    <a:lstStyle/>
                    <a:p>
                      <a:pPr algn="ctr"/>
                      <a:r>
                        <a:rPr lang="en-CA" sz="1800" dirty="0"/>
                        <a:t>84.50</a:t>
                      </a:r>
                      <a:endParaRPr lang="en-CA" sz="1800" b="0" dirty="0"/>
                    </a:p>
                  </a:txBody>
                  <a:tcPr marL="91455" marR="91455" marT="45712" marB="45712" anchor="ctr"/>
                </a:tc>
                <a:tc>
                  <a:txBody>
                    <a:bodyPr/>
                    <a:lstStyle/>
                    <a:p>
                      <a:pPr algn="ctr"/>
                      <a:r>
                        <a:rPr lang="en-CA" sz="1800" dirty="0"/>
                        <a:t>10</a:t>
                      </a:r>
                      <a:endParaRPr lang="en-CA" sz="1800" b="0" dirty="0"/>
                    </a:p>
                  </a:txBody>
                  <a:tcPr marL="91455" marR="91455" marT="45712" marB="45712" anchor="ctr"/>
                </a:tc>
                <a:extLst>
                  <a:ext uri="{0D108BD9-81ED-4DB2-BD59-A6C34878D82A}">
                    <a16:rowId xmlns:a16="http://schemas.microsoft.com/office/drawing/2014/main" val="10004"/>
                  </a:ext>
                </a:extLst>
              </a:tr>
              <a:tr h="387580">
                <a:tc>
                  <a:txBody>
                    <a:bodyPr/>
                    <a:lstStyle/>
                    <a:p>
                      <a:pPr algn="ctr"/>
                      <a:r>
                        <a:rPr lang="en-CA" sz="1800" b="0" dirty="0"/>
                        <a:t>22</a:t>
                      </a:r>
                    </a:p>
                  </a:txBody>
                  <a:tcPr marL="91455" marR="91455" marT="45712" marB="45712" anchor="ctr"/>
                </a:tc>
                <a:tc>
                  <a:txBody>
                    <a:bodyPr/>
                    <a:lstStyle/>
                    <a:p>
                      <a:pPr algn="ctr"/>
                      <a:r>
                        <a:rPr lang="en-CA" sz="1800" b="0" dirty="0"/>
                        <a:t>Wave</a:t>
                      </a:r>
                    </a:p>
                  </a:txBody>
                  <a:tcPr marL="91455" marR="91455" marT="45712" marB="45712" anchor="ctr"/>
                </a:tc>
                <a:tc>
                  <a:txBody>
                    <a:bodyPr/>
                    <a:lstStyle/>
                    <a:p>
                      <a:pPr algn="ctr"/>
                      <a:r>
                        <a:rPr lang="en-CA" sz="1800" dirty="0"/>
                        <a:t>114</a:t>
                      </a:r>
                      <a:endParaRPr lang="en-CA" sz="1800" b="0" dirty="0"/>
                    </a:p>
                  </a:txBody>
                  <a:tcPr marL="91455" marR="91455" marT="45712" marB="45712" anchor="ctr"/>
                </a:tc>
                <a:tc>
                  <a:txBody>
                    <a:bodyPr/>
                    <a:lstStyle/>
                    <a:p>
                      <a:pPr algn="ctr"/>
                      <a:r>
                        <a:rPr lang="en-CA" sz="1800" dirty="0"/>
                        <a:t>Programmer</a:t>
                      </a:r>
                      <a:endParaRPr lang="en-CA" sz="1800" b="0" dirty="0"/>
                    </a:p>
                  </a:txBody>
                  <a:tcPr marL="91455" marR="91455" marT="45712" marB="45712" anchor="ctr"/>
                </a:tc>
                <a:tc>
                  <a:txBody>
                    <a:bodyPr/>
                    <a:lstStyle/>
                    <a:p>
                      <a:pPr algn="ctr"/>
                      <a:r>
                        <a:rPr lang="en-CA" sz="1800" dirty="0"/>
                        <a:t>60.00</a:t>
                      </a:r>
                      <a:endParaRPr lang="en-CA" sz="1800" b="0" dirty="0"/>
                    </a:p>
                  </a:txBody>
                  <a:tcPr marL="91455" marR="91455" marT="45712" marB="45712" anchor="ctr"/>
                </a:tc>
                <a:tc>
                  <a:txBody>
                    <a:bodyPr/>
                    <a:lstStyle/>
                    <a:p>
                      <a:pPr algn="ctr"/>
                      <a:r>
                        <a:rPr lang="en-CA" sz="1800" dirty="0"/>
                        <a:t>15</a:t>
                      </a:r>
                      <a:endParaRPr lang="en-CA" sz="1800" b="0" dirty="0"/>
                    </a:p>
                  </a:txBody>
                  <a:tcPr marL="91455" marR="91455" marT="45712" marB="45712" anchor="ctr"/>
                </a:tc>
                <a:extLst>
                  <a:ext uri="{0D108BD9-81ED-4DB2-BD59-A6C34878D82A}">
                    <a16:rowId xmlns:a16="http://schemas.microsoft.com/office/drawing/2014/main" val="10005"/>
                  </a:ext>
                </a:extLst>
              </a:tr>
              <a:tr h="370781">
                <a:tc>
                  <a:txBody>
                    <a:bodyPr/>
                    <a:lstStyle/>
                    <a:p>
                      <a:pPr algn="ctr"/>
                      <a:r>
                        <a:rPr lang="en-CA" sz="1800" b="0" dirty="0"/>
                        <a:t>22</a:t>
                      </a:r>
                    </a:p>
                  </a:txBody>
                  <a:tcPr marL="91455" marR="91455" marT="45712" marB="45712" anchor="ctr"/>
                </a:tc>
                <a:tc>
                  <a:txBody>
                    <a:bodyPr/>
                    <a:lstStyle/>
                    <a:p>
                      <a:pPr algn="ctr"/>
                      <a:r>
                        <a:rPr lang="en-CA" sz="1800" b="0" dirty="0"/>
                        <a:t>Wave</a:t>
                      </a:r>
                    </a:p>
                  </a:txBody>
                  <a:tcPr marL="91455" marR="91455" marT="45712" marB="45712" anchor="ctr"/>
                </a:tc>
                <a:tc>
                  <a:txBody>
                    <a:bodyPr/>
                    <a:lstStyle/>
                    <a:p>
                      <a:pPr algn="ctr"/>
                      <a:r>
                        <a:rPr lang="en-CA" sz="1800" dirty="0"/>
                        <a:t>115</a:t>
                      </a:r>
                      <a:endParaRPr lang="en-CA" sz="1800" b="0" dirty="0"/>
                    </a:p>
                  </a:txBody>
                  <a:tcPr marL="91455" marR="91455" marT="45712" marB="45712" anchor="ctr"/>
                </a:tc>
                <a:tc>
                  <a:txBody>
                    <a:bodyPr/>
                    <a:lstStyle/>
                    <a:p>
                      <a:pPr algn="ctr"/>
                      <a:r>
                        <a:rPr lang="en-CA" sz="1800" dirty="0"/>
                        <a:t>Programmer</a:t>
                      </a:r>
                      <a:endParaRPr lang="en-CA" sz="1800" b="0" dirty="0"/>
                    </a:p>
                  </a:txBody>
                  <a:tcPr marL="91455" marR="91455" marT="45712" marB="45712" anchor="ctr"/>
                </a:tc>
                <a:tc>
                  <a:txBody>
                    <a:bodyPr/>
                    <a:lstStyle/>
                    <a:p>
                      <a:pPr algn="ctr"/>
                      <a:r>
                        <a:rPr lang="en-CA" sz="1800" dirty="0"/>
                        <a:t>60.00</a:t>
                      </a:r>
                      <a:endParaRPr lang="en-CA" sz="1800" b="0" dirty="0"/>
                    </a:p>
                  </a:txBody>
                  <a:tcPr marL="91455" marR="91455" marT="45712" marB="45712" anchor="ctr"/>
                </a:tc>
                <a:tc>
                  <a:txBody>
                    <a:bodyPr/>
                    <a:lstStyle/>
                    <a:p>
                      <a:pPr algn="ctr"/>
                      <a:r>
                        <a:rPr lang="en-CA" sz="1800" dirty="0"/>
                        <a:t>18</a:t>
                      </a:r>
                      <a:endParaRPr lang="en-CA" sz="1800" b="0" dirty="0"/>
                    </a:p>
                  </a:txBody>
                  <a:tcPr marL="91455" marR="91455" marT="45712" marB="45712" anchor="ctr"/>
                </a:tc>
                <a:extLst>
                  <a:ext uri="{0D108BD9-81ED-4DB2-BD59-A6C34878D82A}">
                    <a16:rowId xmlns:a16="http://schemas.microsoft.com/office/drawing/2014/main" val="10006"/>
                  </a:ext>
                </a:extLst>
              </a:tr>
            </a:tbl>
          </a:graphicData>
        </a:graphic>
      </p:graphicFrame>
      <p:cxnSp>
        <p:nvCxnSpPr>
          <p:cNvPr id="29" name="Straight Connector 28">
            <a:extLst>
              <a:ext uri="{FF2B5EF4-FFF2-40B4-BE49-F238E27FC236}">
                <a16:creationId xmlns:a16="http://schemas.microsoft.com/office/drawing/2014/main" id="{19707122-D641-70E6-F968-B039968EB820}"/>
              </a:ext>
            </a:extLst>
          </p:cNvPr>
          <p:cNvCxnSpPr/>
          <p:nvPr/>
        </p:nvCxnSpPr>
        <p:spPr bwMode="auto">
          <a:xfrm flipV="1">
            <a:off x="395288" y="3565525"/>
            <a:ext cx="1223962" cy="0"/>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30" name="Straight Connector 29">
            <a:extLst>
              <a:ext uri="{FF2B5EF4-FFF2-40B4-BE49-F238E27FC236}">
                <a16:creationId xmlns:a16="http://schemas.microsoft.com/office/drawing/2014/main" id="{2A4775E1-97E2-F3F7-02B7-C8383D095335}"/>
              </a:ext>
            </a:extLst>
          </p:cNvPr>
          <p:cNvCxnSpPr/>
          <p:nvPr/>
        </p:nvCxnSpPr>
        <p:spPr bwMode="auto">
          <a:xfrm flipV="1">
            <a:off x="3200400" y="3565525"/>
            <a:ext cx="1225550" cy="0"/>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32" name="Rectangle 31">
            <a:extLst>
              <a:ext uri="{FF2B5EF4-FFF2-40B4-BE49-F238E27FC236}">
                <a16:creationId xmlns:a16="http://schemas.microsoft.com/office/drawing/2014/main" id="{E08A2B6A-886A-A6A9-71B8-C7E3463E9E56}"/>
              </a:ext>
            </a:extLst>
          </p:cNvPr>
          <p:cNvSpPr>
            <a:spLocks noChangeArrowheads="1"/>
          </p:cNvSpPr>
          <p:nvPr/>
        </p:nvSpPr>
        <p:spPr bwMode="auto">
          <a:xfrm>
            <a:off x="1828800" y="6249988"/>
            <a:ext cx="5041900" cy="455612"/>
          </a:xfrm>
          <a:prstGeom prst="rect">
            <a:avLst/>
          </a:prstGeom>
          <a:solidFill>
            <a:srgbClr val="FFFF00">
              <a:alpha val="30196"/>
            </a:srgbClr>
          </a:solidFill>
          <a:ln w="9525" algn="ctr">
            <a:solidFill>
              <a:srgbClr val="FFC000"/>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EMP_NUM → JOB_CLASS, CHG_HOUR</a:t>
            </a:r>
          </a:p>
        </p:txBody>
      </p:sp>
      <p:sp>
        <p:nvSpPr>
          <p:cNvPr id="31" name="Title 1">
            <a:extLst>
              <a:ext uri="{FF2B5EF4-FFF2-40B4-BE49-F238E27FC236}">
                <a16:creationId xmlns:a16="http://schemas.microsoft.com/office/drawing/2014/main" id="{4984CF46-DBE9-59DD-8A54-5D38B1B74023}"/>
              </a:ext>
            </a:extLst>
          </p:cNvPr>
          <p:cNvSpPr>
            <a:spLocks noGrp="1"/>
          </p:cNvSpPr>
          <p:nvPr>
            <p:ph type="title"/>
          </p:nvPr>
        </p:nvSpPr>
        <p:spPr>
          <a:xfrm>
            <a:off x="457200" y="76200"/>
            <a:ext cx="7620000" cy="1143000"/>
          </a:xfrm>
        </p:spPr>
        <p:txBody>
          <a:bodyPr/>
          <a:lstStyle/>
          <a:p>
            <a:pPr algn="ctr">
              <a:defRPr/>
            </a:pPr>
            <a:r>
              <a:rPr lang="en-US" dirty="0"/>
              <a:t>Relational Database Normalization</a:t>
            </a:r>
            <a:endParaRPr lang="en-CA"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wipe(up)">
                                      <p:cBhvr>
                                        <p:cTn id="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E674DEDF-84F2-0188-B1CF-169CB6506DBF}"/>
              </a:ext>
            </a:extLst>
          </p:cNvPr>
          <p:cNvSpPr txBox="1">
            <a:spLocks/>
          </p:cNvSpPr>
          <p:nvPr/>
        </p:nvSpPr>
        <p:spPr bwMode="auto">
          <a:xfrm>
            <a:off x="125413" y="1368425"/>
            <a:ext cx="8172450" cy="323850"/>
          </a:xfrm>
          <a:prstGeom prst="rect">
            <a:avLst/>
          </a:prstGeom>
          <a:noFill/>
          <a:ln w="9525">
            <a:noFill/>
            <a:miter lim="800000"/>
            <a:headEnd/>
            <a:tailEnd/>
          </a:ln>
        </p:spPr>
        <p:txBody>
          <a:bodyPr lIns="72000" tIns="0" rIns="72000" bIns="0"/>
          <a:lstStyle/>
          <a:p>
            <a:pPr marL="0" marR="0" lvl="0" indent="0" algn="l" defTabSz="720000" rtl="0" eaLnBrk="1" fontAlgn="base" latinLnBrk="0" hangingPunct="1">
              <a:lnSpc>
                <a:spcPts val="1800"/>
              </a:lnSpc>
              <a:spcBef>
                <a:spcPts val="0"/>
              </a:spcBef>
              <a:spcAft>
                <a:spcPts val="0"/>
              </a:spcAft>
              <a:buClrTx/>
              <a:buSzTx/>
              <a:buFontTx/>
              <a:buNone/>
              <a:tabLst>
                <a:tab pos="0" algn="l"/>
              </a:tabLst>
              <a:defRPr/>
            </a:pPr>
            <a:r>
              <a:rPr kumimoji="0" lang="en-US" sz="1800" b="1" i="0" u="none" strike="noStrike" kern="0" cap="none" spc="0" normalizeH="0" baseline="0" noProof="0" dirty="0">
                <a:ln>
                  <a:noFill/>
                </a:ln>
                <a:solidFill>
                  <a:srgbClr val="2F2B20"/>
                </a:solidFill>
                <a:effectLst/>
                <a:uLnTx/>
                <a:uFillTx/>
                <a:latin typeface="Calibri"/>
                <a:ea typeface="+mn-ea"/>
                <a:cs typeface="Calibri" pitchFamily="34" charset="0"/>
              </a:rPr>
              <a:t>Normal Forms</a:t>
            </a:r>
            <a:endParaRPr kumimoji="0" lang="en-MY" sz="1800" b="1" i="0" u="none" strike="noStrike" kern="0" cap="none" spc="0" normalizeH="0" baseline="0" noProof="0" dirty="0">
              <a:ln>
                <a:noFill/>
              </a:ln>
              <a:solidFill>
                <a:srgbClr val="2F2B20"/>
              </a:solidFill>
              <a:effectLst/>
              <a:uLnTx/>
              <a:uFillTx/>
              <a:latin typeface="Calibri"/>
              <a:ea typeface="+mn-ea"/>
              <a:cs typeface="Calibri" pitchFamily="34" charset="0"/>
            </a:endParaRPr>
          </a:p>
        </p:txBody>
      </p:sp>
      <p:sp>
        <p:nvSpPr>
          <p:cNvPr id="29699" name="Content Placeholder 2">
            <a:extLst>
              <a:ext uri="{FF2B5EF4-FFF2-40B4-BE49-F238E27FC236}">
                <a16:creationId xmlns:a16="http://schemas.microsoft.com/office/drawing/2014/main" id="{B79D4B70-8AB8-B965-41ED-A026E1FB6EDA}"/>
              </a:ext>
            </a:extLst>
          </p:cNvPr>
          <p:cNvSpPr txBox="1">
            <a:spLocks/>
          </p:cNvSpPr>
          <p:nvPr/>
        </p:nvSpPr>
        <p:spPr bwMode="auto">
          <a:xfrm>
            <a:off x="250825" y="1589088"/>
            <a:ext cx="7921625"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Finally, one should identify the functional dependencies of the relation. This is by examining the data in the relation</a:t>
            </a:r>
            <a:endParaRPr kumimoji="0" lang="en-US" altLang="en-US" sz="32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US" altLang="en-US" sz="32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endParaRPr>
          </a:p>
        </p:txBody>
      </p:sp>
      <p:graphicFrame>
        <p:nvGraphicFramePr>
          <p:cNvPr id="28" name="Table 27">
            <a:extLst>
              <a:ext uri="{FF2B5EF4-FFF2-40B4-BE49-F238E27FC236}">
                <a16:creationId xmlns:a16="http://schemas.microsoft.com/office/drawing/2014/main" id="{51CB3746-9319-5333-AE86-C4F4F071569D}"/>
              </a:ext>
            </a:extLst>
          </p:cNvPr>
          <p:cNvGraphicFramePr>
            <a:graphicFrameLocks noGrp="1"/>
          </p:cNvGraphicFramePr>
          <p:nvPr/>
        </p:nvGraphicFramePr>
        <p:xfrm>
          <a:off x="250825" y="3178175"/>
          <a:ext cx="8054976" cy="2790823"/>
        </p:xfrm>
        <a:graphic>
          <a:graphicData uri="http://schemas.openxmlformats.org/drawingml/2006/table">
            <a:tbl>
              <a:tblPr firstRow="1" bandRow="1">
                <a:tableStyleId>{3B4B98B0-60AC-42C2-AFA5-B58CD77FA1E5}</a:tableStyleId>
              </a:tblPr>
              <a:tblGrid>
                <a:gridCol w="1409621">
                  <a:extLst>
                    <a:ext uri="{9D8B030D-6E8A-4147-A177-3AD203B41FA5}">
                      <a16:colId xmlns:a16="http://schemas.microsoft.com/office/drawing/2014/main" val="20000"/>
                    </a:ext>
                  </a:extLst>
                </a:gridCol>
                <a:gridCol w="1543870">
                  <a:extLst>
                    <a:ext uri="{9D8B030D-6E8A-4147-A177-3AD203B41FA5}">
                      <a16:colId xmlns:a16="http://schemas.microsoft.com/office/drawing/2014/main" val="20001"/>
                    </a:ext>
                  </a:extLst>
                </a:gridCol>
                <a:gridCol w="1275371">
                  <a:extLst>
                    <a:ext uri="{9D8B030D-6E8A-4147-A177-3AD203B41FA5}">
                      <a16:colId xmlns:a16="http://schemas.microsoft.com/office/drawing/2014/main" val="20002"/>
                    </a:ext>
                  </a:extLst>
                </a:gridCol>
                <a:gridCol w="1476746">
                  <a:extLst>
                    <a:ext uri="{9D8B030D-6E8A-4147-A177-3AD203B41FA5}">
                      <a16:colId xmlns:a16="http://schemas.microsoft.com/office/drawing/2014/main" val="20003"/>
                    </a:ext>
                  </a:extLst>
                </a:gridCol>
                <a:gridCol w="1409621">
                  <a:extLst>
                    <a:ext uri="{9D8B030D-6E8A-4147-A177-3AD203B41FA5}">
                      <a16:colId xmlns:a16="http://schemas.microsoft.com/office/drawing/2014/main" val="20004"/>
                    </a:ext>
                  </a:extLst>
                </a:gridCol>
                <a:gridCol w="939747">
                  <a:extLst>
                    <a:ext uri="{9D8B030D-6E8A-4147-A177-3AD203B41FA5}">
                      <a16:colId xmlns:a16="http://schemas.microsoft.com/office/drawing/2014/main" val="20005"/>
                    </a:ext>
                  </a:extLst>
                </a:gridCol>
              </a:tblGrid>
              <a:tr h="365744">
                <a:tc>
                  <a:txBody>
                    <a:bodyPr/>
                    <a:lstStyle/>
                    <a:p>
                      <a:pPr algn="ctr"/>
                      <a:r>
                        <a:rPr lang="en-CA" sz="1800" dirty="0"/>
                        <a:t>PROJ_NUM</a:t>
                      </a:r>
                      <a:endParaRPr lang="en-CA" sz="1800" b="0" dirty="0"/>
                    </a:p>
                  </a:txBody>
                  <a:tcPr marL="91455" marR="91455" marT="45712" marB="45712"/>
                </a:tc>
                <a:tc>
                  <a:txBody>
                    <a:bodyPr/>
                    <a:lstStyle/>
                    <a:p>
                      <a:pPr algn="ctr"/>
                      <a:r>
                        <a:rPr lang="en-CA" sz="1800" dirty="0"/>
                        <a:t>PROJ_NAME</a:t>
                      </a:r>
                      <a:endParaRPr lang="en-CA" sz="1800" b="0" dirty="0"/>
                    </a:p>
                  </a:txBody>
                  <a:tcPr marL="91455" marR="91455" marT="45712" marB="45712"/>
                </a:tc>
                <a:tc>
                  <a:txBody>
                    <a:bodyPr/>
                    <a:lstStyle/>
                    <a:p>
                      <a:pPr algn="ctr"/>
                      <a:r>
                        <a:rPr lang="en-CA" sz="1800" dirty="0"/>
                        <a:t>EMP_NUM</a:t>
                      </a:r>
                      <a:endParaRPr lang="en-CA" sz="1800" b="0" dirty="0"/>
                    </a:p>
                  </a:txBody>
                  <a:tcPr marL="91455" marR="91455" marT="45712" marB="45712"/>
                </a:tc>
                <a:tc>
                  <a:txBody>
                    <a:bodyPr/>
                    <a:lstStyle/>
                    <a:p>
                      <a:pPr algn="ctr"/>
                      <a:r>
                        <a:rPr lang="en-CA" sz="1800" dirty="0"/>
                        <a:t>JOB_CLASS</a:t>
                      </a:r>
                      <a:endParaRPr lang="en-CA" sz="1800" b="0" dirty="0"/>
                    </a:p>
                  </a:txBody>
                  <a:tcPr marL="91455" marR="91455" marT="45712" marB="45712"/>
                </a:tc>
                <a:tc>
                  <a:txBody>
                    <a:bodyPr/>
                    <a:lstStyle/>
                    <a:p>
                      <a:pPr algn="ctr"/>
                      <a:r>
                        <a:rPr lang="en-CA" sz="1800" dirty="0"/>
                        <a:t>CHG_HOUR</a:t>
                      </a:r>
                      <a:endParaRPr lang="en-CA" sz="1800" b="0" dirty="0"/>
                    </a:p>
                  </a:txBody>
                  <a:tcPr marL="91455" marR="91455" marT="45712" marB="45712"/>
                </a:tc>
                <a:tc>
                  <a:txBody>
                    <a:bodyPr/>
                    <a:lstStyle/>
                    <a:p>
                      <a:pPr algn="ctr"/>
                      <a:r>
                        <a:rPr lang="en-CA" sz="1800" dirty="0"/>
                        <a:t>HOUR</a:t>
                      </a:r>
                      <a:endParaRPr lang="en-CA" sz="1800" b="0" dirty="0"/>
                    </a:p>
                  </a:txBody>
                  <a:tcPr marL="91455" marR="91455" marT="45712" marB="45712"/>
                </a:tc>
                <a:extLst>
                  <a:ext uri="{0D108BD9-81ED-4DB2-BD59-A6C34878D82A}">
                    <a16:rowId xmlns:a16="http://schemas.microsoft.com/office/drawing/2014/main" val="10000"/>
                  </a:ext>
                </a:extLst>
              </a:tr>
              <a:tr h="437127">
                <a:tc>
                  <a:txBody>
                    <a:bodyPr/>
                    <a:lstStyle/>
                    <a:p>
                      <a:pPr algn="ctr"/>
                      <a:r>
                        <a:rPr lang="en-CA" sz="1800" dirty="0"/>
                        <a:t>15</a:t>
                      </a:r>
                      <a:endParaRPr lang="en-CA" sz="1800" b="0" dirty="0"/>
                    </a:p>
                  </a:txBody>
                  <a:tcPr marL="91455" marR="91455" marT="45712" marB="45712" anchor="ctr"/>
                </a:tc>
                <a:tc>
                  <a:txBody>
                    <a:bodyPr/>
                    <a:lstStyle/>
                    <a:p>
                      <a:pPr algn="ctr"/>
                      <a:r>
                        <a:rPr lang="en-CA" sz="1800" dirty="0"/>
                        <a:t>Evergreen</a:t>
                      </a:r>
                      <a:endParaRPr lang="en-CA" sz="1800" b="0" dirty="0"/>
                    </a:p>
                  </a:txBody>
                  <a:tcPr marL="91455" marR="91455" marT="45712" marB="45712" anchor="ctr"/>
                </a:tc>
                <a:tc>
                  <a:txBody>
                    <a:bodyPr/>
                    <a:lstStyle/>
                    <a:p>
                      <a:pPr algn="ctr"/>
                      <a:r>
                        <a:rPr lang="en-CA" sz="1800" dirty="0"/>
                        <a:t>102</a:t>
                      </a:r>
                      <a:endParaRPr lang="en-CA" sz="1800" b="0" dirty="0"/>
                    </a:p>
                  </a:txBody>
                  <a:tcPr marL="91455" marR="91455" marT="45712" marB="45712" anchor="ctr"/>
                </a:tc>
                <a:tc>
                  <a:txBody>
                    <a:bodyPr/>
                    <a:lstStyle/>
                    <a:p>
                      <a:pPr algn="ctr"/>
                      <a:r>
                        <a:rPr lang="en-CA" sz="1800" dirty="0"/>
                        <a:t>Engineer</a:t>
                      </a:r>
                      <a:endParaRPr lang="en-CA" sz="1800" b="0" dirty="0"/>
                    </a:p>
                  </a:txBody>
                  <a:tcPr marL="91455" marR="91455" marT="45712" marB="45712" anchor="ctr"/>
                </a:tc>
                <a:tc>
                  <a:txBody>
                    <a:bodyPr/>
                    <a:lstStyle/>
                    <a:p>
                      <a:pPr algn="ctr"/>
                      <a:r>
                        <a:rPr lang="en-CA" sz="1800" dirty="0"/>
                        <a:t>84.50</a:t>
                      </a:r>
                      <a:endParaRPr lang="en-CA" sz="1800" b="0" dirty="0"/>
                    </a:p>
                  </a:txBody>
                  <a:tcPr marL="91455" marR="91455" marT="45712" marB="45712" anchor="ctr"/>
                </a:tc>
                <a:tc>
                  <a:txBody>
                    <a:bodyPr/>
                    <a:lstStyle/>
                    <a:p>
                      <a:pPr algn="ctr"/>
                      <a:r>
                        <a:rPr lang="en-CA" sz="1800" dirty="0"/>
                        <a:t>30</a:t>
                      </a:r>
                      <a:endParaRPr lang="en-CA" sz="1800" b="0" dirty="0"/>
                    </a:p>
                  </a:txBody>
                  <a:tcPr marL="91455" marR="91455" marT="45712" marB="45712" anchor="ctr"/>
                </a:tc>
                <a:extLst>
                  <a:ext uri="{0D108BD9-81ED-4DB2-BD59-A6C34878D82A}">
                    <a16:rowId xmlns:a16="http://schemas.microsoft.com/office/drawing/2014/main" val="10001"/>
                  </a:ext>
                </a:extLst>
              </a:tr>
              <a:tr h="426831">
                <a:tc>
                  <a:txBody>
                    <a:bodyPr/>
                    <a:lstStyle/>
                    <a:p>
                      <a:pPr algn="ctr"/>
                      <a:r>
                        <a:rPr lang="en-CA" sz="1800" b="0" dirty="0"/>
                        <a:t>15</a:t>
                      </a:r>
                    </a:p>
                  </a:txBody>
                  <a:tcPr marL="91455" marR="91455" marT="45712" marB="45712"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CA" sz="1800" dirty="0"/>
                        <a:t>Evergreen</a:t>
                      </a:r>
                      <a:endParaRPr lang="en-CA" sz="1800" b="0" dirty="0"/>
                    </a:p>
                  </a:txBody>
                  <a:tcPr marL="91455" marR="91455" marT="45712" marB="45712" anchor="ctr"/>
                </a:tc>
                <a:tc>
                  <a:txBody>
                    <a:bodyPr/>
                    <a:lstStyle/>
                    <a:p>
                      <a:pPr algn="ctr"/>
                      <a:r>
                        <a:rPr lang="en-CA" sz="1800" dirty="0"/>
                        <a:t>103</a:t>
                      </a:r>
                      <a:endParaRPr lang="en-CA" sz="1800" b="0" dirty="0"/>
                    </a:p>
                  </a:txBody>
                  <a:tcPr marL="91455" marR="91455" marT="45712" marB="45712" anchor="ctr"/>
                </a:tc>
                <a:tc>
                  <a:txBody>
                    <a:bodyPr/>
                    <a:lstStyle/>
                    <a:p>
                      <a:pPr algn="ctr"/>
                      <a:r>
                        <a:rPr lang="en-CA" sz="1800" dirty="0"/>
                        <a:t>Engineer</a:t>
                      </a:r>
                      <a:endParaRPr lang="en-CA" sz="1800" b="0" dirty="0"/>
                    </a:p>
                  </a:txBody>
                  <a:tcPr marL="91455" marR="91455" marT="45712" marB="45712" anchor="ctr"/>
                </a:tc>
                <a:tc>
                  <a:txBody>
                    <a:bodyPr/>
                    <a:lstStyle/>
                    <a:p>
                      <a:pPr algn="ctr"/>
                      <a:r>
                        <a:rPr lang="en-CA" sz="1800" dirty="0"/>
                        <a:t>84.50</a:t>
                      </a:r>
                      <a:endParaRPr lang="en-CA" sz="1800" b="0" dirty="0"/>
                    </a:p>
                  </a:txBody>
                  <a:tcPr marL="91455" marR="91455" marT="45712" marB="45712" anchor="ctr"/>
                </a:tc>
                <a:tc>
                  <a:txBody>
                    <a:bodyPr/>
                    <a:lstStyle/>
                    <a:p>
                      <a:pPr algn="ctr"/>
                      <a:r>
                        <a:rPr lang="en-CA" sz="1800" dirty="0"/>
                        <a:t>23</a:t>
                      </a:r>
                      <a:endParaRPr lang="en-CA" sz="1800" b="0" dirty="0"/>
                    </a:p>
                  </a:txBody>
                  <a:tcPr marL="91455" marR="91455" marT="45712" marB="45712" anchor="ctr"/>
                </a:tc>
                <a:extLst>
                  <a:ext uri="{0D108BD9-81ED-4DB2-BD59-A6C34878D82A}">
                    <a16:rowId xmlns:a16="http://schemas.microsoft.com/office/drawing/2014/main" val="10002"/>
                  </a:ext>
                </a:extLst>
              </a:tr>
              <a:tr h="431979">
                <a:tc>
                  <a:txBody>
                    <a:bodyPr/>
                    <a:lstStyle/>
                    <a:p>
                      <a:pPr algn="ctr"/>
                      <a:r>
                        <a:rPr lang="en-CA" sz="1800" b="0" dirty="0"/>
                        <a:t>15</a:t>
                      </a:r>
                    </a:p>
                  </a:txBody>
                  <a:tcPr marL="91455" marR="91455" marT="45712" marB="45712"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CA" sz="1800" dirty="0"/>
                        <a:t>Evergreen</a:t>
                      </a:r>
                      <a:endParaRPr lang="en-CA" sz="1800" b="0" dirty="0"/>
                    </a:p>
                  </a:txBody>
                  <a:tcPr marL="91455" marR="91455" marT="45712" marB="45712" anchor="ctr"/>
                </a:tc>
                <a:tc>
                  <a:txBody>
                    <a:bodyPr/>
                    <a:lstStyle/>
                    <a:p>
                      <a:pPr algn="ctr"/>
                      <a:r>
                        <a:rPr lang="en-CA" sz="1800" dirty="0"/>
                        <a:t>105</a:t>
                      </a:r>
                      <a:endParaRPr lang="en-CA" sz="1800" b="0" dirty="0"/>
                    </a:p>
                  </a:txBody>
                  <a:tcPr marL="91455" marR="91455" marT="45712" marB="45712" anchor="ctr"/>
                </a:tc>
                <a:tc>
                  <a:txBody>
                    <a:bodyPr/>
                    <a:lstStyle/>
                    <a:p>
                      <a:pPr algn="ctr"/>
                      <a:r>
                        <a:rPr lang="en-CA" sz="1800" dirty="0"/>
                        <a:t>Consultant</a:t>
                      </a:r>
                      <a:endParaRPr lang="en-CA" sz="1800" b="0" dirty="0"/>
                    </a:p>
                  </a:txBody>
                  <a:tcPr marL="91455" marR="91455" marT="45712" marB="45712" anchor="ctr"/>
                </a:tc>
                <a:tc>
                  <a:txBody>
                    <a:bodyPr/>
                    <a:lstStyle/>
                    <a:p>
                      <a:pPr algn="ctr"/>
                      <a:r>
                        <a:rPr lang="en-CA" sz="1800" dirty="0"/>
                        <a:t>105.00</a:t>
                      </a:r>
                      <a:endParaRPr lang="en-CA" sz="1800" b="0" dirty="0"/>
                    </a:p>
                  </a:txBody>
                  <a:tcPr marL="91455" marR="91455" marT="45712" marB="45712" anchor="ctr"/>
                </a:tc>
                <a:tc>
                  <a:txBody>
                    <a:bodyPr/>
                    <a:lstStyle/>
                    <a:p>
                      <a:pPr algn="ctr"/>
                      <a:r>
                        <a:rPr lang="en-CA" sz="1800" dirty="0"/>
                        <a:t>20</a:t>
                      </a:r>
                      <a:endParaRPr lang="en-CA" sz="1800" b="0" dirty="0"/>
                    </a:p>
                  </a:txBody>
                  <a:tcPr marL="91455" marR="91455" marT="45712" marB="45712" anchor="ctr"/>
                </a:tc>
                <a:extLst>
                  <a:ext uri="{0D108BD9-81ED-4DB2-BD59-A6C34878D82A}">
                    <a16:rowId xmlns:a16="http://schemas.microsoft.com/office/drawing/2014/main" val="10003"/>
                  </a:ext>
                </a:extLst>
              </a:tr>
              <a:tr h="370781">
                <a:tc>
                  <a:txBody>
                    <a:bodyPr/>
                    <a:lstStyle/>
                    <a:p>
                      <a:pPr algn="ctr"/>
                      <a:r>
                        <a:rPr lang="en-CA" sz="1800" dirty="0"/>
                        <a:t>22</a:t>
                      </a:r>
                      <a:endParaRPr lang="en-CA" sz="1800" b="0" dirty="0"/>
                    </a:p>
                  </a:txBody>
                  <a:tcPr marL="91455" marR="91455" marT="45712" marB="45712" anchor="ctr"/>
                </a:tc>
                <a:tc>
                  <a:txBody>
                    <a:bodyPr/>
                    <a:lstStyle/>
                    <a:p>
                      <a:pPr algn="ctr"/>
                      <a:r>
                        <a:rPr lang="en-CA" sz="1800" dirty="0"/>
                        <a:t>Wave</a:t>
                      </a:r>
                      <a:endParaRPr lang="en-CA" sz="1800" b="0" dirty="0"/>
                    </a:p>
                  </a:txBody>
                  <a:tcPr marL="91455" marR="91455" marT="45712" marB="45712" anchor="ctr"/>
                </a:tc>
                <a:tc>
                  <a:txBody>
                    <a:bodyPr/>
                    <a:lstStyle/>
                    <a:p>
                      <a:pPr algn="ctr"/>
                      <a:r>
                        <a:rPr lang="en-CA" sz="1800" dirty="0"/>
                        <a:t>103</a:t>
                      </a:r>
                      <a:endParaRPr lang="en-CA" sz="1800" b="0" dirty="0"/>
                    </a:p>
                  </a:txBody>
                  <a:tcPr marL="91455" marR="91455" marT="45712" marB="45712" anchor="ctr"/>
                </a:tc>
                <a:tc>
                  <a:txBody>
                    <a:bodyPr/>
                    <a:lstStyle/>
                    <a:p>
                      <a:pPr algn="ctr"/>
                      <a:r>
                        <a:rPr lang="en-CA" sz="1800" dirty="0"/>
                        <a:t>Engineer</a:t>
                      </a:r>
                      <a:endParaRPr lang="en-CA" sz="1800" b="0" dirty="0"/>
                    </a:p>
                  </a:txBody>
                  <a:tcPr marL="91455" marR="91455" marT="45712" marB="45712" anchor="ctr"/>
                </a:tc>
                <a:tc>
                  <a:txBody>
                    <a:bodyPr/>
                    <a:lstStyle/>
                    <a:p>
                      <a:pPr algn="ctr"/>
                      <a:r>
                        <a:rPr lang="en-CA" sz="1800" dirty="0"/>
                        <a:t>84.50</a:t>
                      </a:r>
                      <a:endParaRPr lang="en-CA" sz="1800" b="0" dirty="0"/>
                    </a:p>
                  </a:txBody>
                  <a:tcPr marL="91455" marR="91455" marT="45712" marB="45712" anchor="ctr"/>
                </a:tc>
                <a:tc>
                  <a:txBody>
                    <a:bodyPr/>
                    <a:lstStyle/>
                    <a:p>
                      <a:pPr algn="ctr"/>
                      <a:r>
                        <a:rPr lang="en-CA" sz="1800" dirty="0"/>
                        <a:t>10</a:t>
                      </a:r>
                      <a:endParaRPr lang="en-CA" sz="1800" b="0" dirty="0"/>
                    </a:p>
                  </a:txBody>
                  <a:tcPr marL="91455" marR="91455" marT="45712" marB="45712" anchor="ctr"/>
                </a:tc>
                <a:extLst>
                  <a:ext uri="{0D108BD9-81ED-4DB2-BD59-A6C34878D82A}">
                    <a16:rowId xmlns:a16="http://schemas.microsoft.com/office/drawing/2014/main" val="10004"/>
                  </a:ext>
                </a:extLst>
              </a:tr>
              <a:tr h="387580">
                <a:tc>
                  <a:txBody>
                    <a:bodyPr/>
                    <a:lstStyle/>
                    <a:p>
                      <a:pPr algn="ctr"/>
                      <a:r>
                        <a:rPr lang="en-CA" sz="1800" b="0" dirty="0"/>
                        <a:t>22</a:t>
                      </a:r>
                    </a:p>
                  </a:txBody>
                  <a:tcPr marL="91455" marR="91455" marT="45712" marB="45712" anchor="ctr"/>
                </a:tc>
                <a:tc>
                  <a:txBody>
                    <a:bodyPr/>
                    <a:lstStyle/>
                    <a:p>
                      <a:pPr algn="ctr"/>
                      <a:r>
                        <a:rPr lang="en-CA" sz="1800" b="0" dirty="0"/>
                        <a:t>Wave</a:t>
                      </a:r>
                    </a:p>
                  </a:txBody>
                  <a:tcPr marL="91455" marR="91455" marT="45712" marB="45712" anchor="ctr"/>
                </a:tc>
                <a:tc>
                  <a:txBody>
                    <a:bodyPr/>
                    <a:lstStyle/>
                    <a:p>
                      <a:pPr algn="ctr"/>
                      <a:r>
                        <a:rPr lang="en-CA" sz="1800" dirty="0"/>
                        <a:t>114</a:t>
                      </a:r>
                      <a:endParaRPr lang="en-CA" sz="1800" b="0" dirty="0"/>
                    </a:p>
                  </a:txBody>
                  <a:tcPr marL="91455" marR="91455" marT="45712" marB="45712" anchor="ctr"/>
                </a:tc>
                <a:tc>
                  <a:txBody>
                    <a:bodyPr/>
                    <a:lstStyle/>
                    <a:p>
                      <a:pPr algn="ctr"/>
                      <a:r>
                        <a:rPr lang="en-CA" sz="1800" dirty="0"/>
                        <a:t>Programmer</a:t>
                      </a:r>
                      <a:endParaRPr lang="en-CA" sz="1800" b="0" dirty="0"/>
                    </a:p>
                  </a:txBody>
                  <a:tcPr marL="91455" marR="91455" marT="45712" marB="45712" anchor="ctr"/>
                </a:tc>
                <a:tc>
                  <a:txBody>
                    <a:bodyPr/>
                    <a:lstStyle/>
                    <a:p>
                      <a:pPr algn="ctr"/>
                      <a:r>
                        <a:rPr lang="en-CA" sz="1800" dirty="0"/>
                        <a:t>60.00</a:t>
                      </a:r>
                      <a:endParaRPr lang="en-CA" sz="1800" b="0" dirty="0"/>
                    </a:p>
                  </a:txBody>
                  <a:tcPr marL="91455" marR="91455" marT="45712" marB="45712" anchor="ctr"/>
                </a:tc>
                <a:tc>
                  <a:txBody>
                    <a:bodyPr/>
                    <a:lstStyle/>
                    <a:p>
                      <a:pPr algn="ctr"/>
                      <a:r>
                        <a:rPr lang="en-CA" sz="1800" dirty="0"/>
                        <a:t>15</a:t>
                      </a:r>
                      <a:endParaRPr lang="en-CA" sz="1800" b="0" dirty="0"/>
                    </a:p>
                  </a:txBody>
                  <a:tcPr marL="91455" marR="91455" marT="45712" marB="45712" anchor="ctr"/>
                </a:tc>
                <a:extLst>
                  <a:ext uri="{0D108BD9-81ED-4DB2-BD59-A6C34878D82A}">
                    <a16:rowId xmlns:a16="http://schemas.microsoft.com/office/drawing/2014/main" val="10005"/>
                  </a:ext>
                </a:extLst>
              </a:tr>
              <a:tr h="370781">
                <a:tc>
                  <a:txBody>
                    <a:bodyPr/>
                    <a:lstStyle/>
                    <a:p>
                      <a:pPr algn="ctr"/>
                      <a:r>
                        <a:rPr lang="en-CA" sz="1800" b="0" dirty="0"/>
                        <a:t>22</a:t>
                      </a:r>
                    </a:p>
                  </a:txBody>
                  <a:tcPr marL="91455" marR="91455" marT="45712" marB="45712" anchor="ctr"/>
                </a:tc>
                <a:tc>
                  <a:txBody>
                    <a:bodyPr/>
                    <a:lstStyle/>
                    <a:p>
                      <a:pPr algn="ctr"/>
                      <a:r>
                        <a:rPr lang="en-CA" sz="1800" b="0" dirty="0"/>
                        <a:t>Wave</a:t>
                      </a:r>
                    </a:p>
                  </a:txBody>
                  <a:tcPr marL="91455" marR="91455" marT="45712" marB="45712" anchor="ctr"/>
                </a:tc>
                <a:tc>
                  <a:txBody>
                    <a:bodyPr/>
                    <a:lstStyle/>
                    <a:p>
                      <a:pPr algn="ctr"/>
                      <a:r>
                        <a:rPr lang="en-CA" sz="1800" dirty="0"/>
                        <a:t>115</a:t>
                      </a:r>
                      <a:endParaRPr lang="en-CA" sz="1800" b="0" dirty="0"/>
                    </a:p>
                  </a:txBody>
                  <a:tcPr marL="91455" marR="91455" marT="45712" marB="45712" anchor="ctr"/>
                </a:tc>
                <a:tc>
                  <a:txBody>
                    <a:bodyPr/>
                    <a:lstStyle/>
                    <a:p>
                      <a:pPr algn="ctr"/>
                      <a:r>
                        <a:rPr lang="en-CA" sz="1800" dirty="0"/>
                        <a:t>Programmer</a:t>
                      </a:r>
                      <a:endParaRPr lang="en-CA" sz="1800" b="0" dirty="0"/>
                    </a:p>
                  </a:txBody>
                  <a:tcPr marL="91455" marR="91455" marT="45712" marB="45712" anchor="ctr"/>
                </a:tc>
                <a:tc>
                  <a:txBody>
                    <a:bodyPr/>
                    <a:lstStyle/>
                    <a:p>
                      <a:pPr algn="ctr"/>
                      <a:r>
                        <a:rPr lang="en-CA" sz="1800" dirty="0"/>
                        <a:t>60.00</a:t>
                      </a:r>
                      <a:endParaRPr lang="en-CA" sz="1800" b="0" dirty="0"/>
                    </a:p>
                  </a:txBody>
                  <a:tcPr marL="91455" marR="91455" marT="45712" marB="45712" anchor="ctr"/>
                </a:tc>
                <a:tc>
                  <a:txBody>
                    <a:bodyPr/>
                    <a:lstStyle/>
                    <a:p>
                      <a:pPr algn="ctr"/>
                      <a:r>
                        <a:rPr lang="en-CA" sz="1800" dirty="0"/>
                        <a:t>18</a:t>
                      </a:r>
                      <a:endParaRPr lang="en-CA" sz="1800" b="0" dirty="0"/>
                    </a:p>
                  </a:txBody>
                  <a:tcPr marL="91455" marR="91455" marT="45712" marB="45712" anchor="ctr"/>
                </a:tc>
                <a:extLst>
                  <a:ext uri="{0D108BD9-81ED-4DB2-BD59-A6C34878D82A}">
                    <a16:rowId xmlns:a16="http://schemas.microsoft.com/office/drawing/2014/main" val="10006"/>
                  </a:ext>
                </a:extLst>
              </a:tr>
            </a:tbl>
          </a:graphicData>
        </a:graphic>
      </p:graphicFrame>
      <p:cxnSp>
        <p:nvCxnSpPr>
          <p:cNvPr id="29" name="Straight Connector 28">
            <a:extLst>
              <a:ext uri="{FF2B5EF4-FFF2-40B4-BE49-F238E27FC236}">
                <a16:creationId xmlns:a16="http://schemas.microsoft.com/office/drawing/2014/main" id="{00EE6534-1EF7-3BA8-A687-343801E4A136}"/>
              </a:ext>
            </a:extLst>
          </p:cNvPr>
          <p:cNvCxnSpPr/>
          <p:nvPr/>
        </p:nvCxnSpPr>
        <p:spPr bwMode="auto">
          <a:xfrm flipV="1">
            <a:off x="395288" y="3489325"/>
            <a:ext cx="1223962" cy="0"/>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30" name="Straight Connector 29">
            <a:extLst>
              <a:ext uri="{FF2B5EF4-FFF2-40B4-BE49-F238E27FC236}">
                <a16:creationId xmlns:a16="http://schemas.microsoft.com/office/drawing/2014/main" id="{3A4B4307-4CEF-1DB5-7605-F2C002113C20}"/>
              </a:ext>
            </a:extLst>
          </p:cNvPr>
          <p:cNvCxnSpPr/>
          <p:nvPr/>
        </p:nvCxnSpPr>
        <p:spPr bwMode="auto">
          <a:xfrm flipV="1">
            <a:off x="3200400" y="3489325"/>
            <a:ext cx="1225550" cy="0"/>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32" name="Rectangle 31">
            <a:extLst>
              <a:ext uri="{FF2B5EF4-FFF2-40B4-BE49-F238E27FC236}">
                <a16:creationId xmlns:a16="http://schemas.microsoft.com/office/drawing/2014/main" id="{04A48D57-272B-B15C-5A82-A40BF44694FA}"/>
              </a:ext>
            </a:extLst>
          </p:cNvPr>
          <p:cNvSpPr>
            <a:spLocks noChangeArrowheads="1"/>
          </p:cNvSpPr>
          <p:nvPr/>
        </p:nvSpPr>
        <p:spPr bwMode="auto">
          <a:xfrm>
            <a:off x="2286000" y="6173788"/>
            <a:ext cx="4248150" cy="455612"/>
          </a:xfrm>
          <a:prstGeom prst="rect">
            <a:avLst/>
          </a:prstGeom>
          <a:solidFill>
            <a:srgbClr val="FFFF00">
              <a:alpha val="30196"/>
            </a:srgbClr>
          </a:solidFill>
          <a:ln w="9525" algn="ctr">
            <a:solidFill>
              <a:srgbClr val="FFC000"/>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JOB_CLASS → CHG_HOUR</a:t>
            </a:r>
          </a:p>
        </p:txBody>
      </p:sp>
      <p:sp>
        <p:nvSpPr>
          <p:cNvPr id="31" name="Title 1">
            <a:extLst>
              <a:ext uri="{FF2B5EF4-FFF2-40B4-BE49-F238E27FC236}">
                <a16:creationId xmlns:a16="http://schemas.microsoft.com/office/drawing/2014/main" id="{B50333EF-B669-2927-03A9-6B597EAC1D01}"/>
              </a:ext>
            </a:extLst>
          </p:cNvPr>
          <p:cNvSpPr>
            <a:spLocks noGrp="1"/>
          </p:cNvSpPr>
          <p:nvPr>
            <p:ph type="title"/>
          </p:nvPr>
        </p:nvSpPr>
        <p:spPr>
          <a:xfrm>
            <a:off x="457200" y="76200"/>
            <a:ext cx="7620000" cy="1143000"/>
          </a:xfrm>
        </p:spPr>
        <p:txBody>
          <a:bodyPr/>
          <a:lstStyle/>
          <a:p>
            <a:pPr algn="ctr">
              <a:defRPr/>
            </a:pPr>
            <a:r>
              <a:rPr lang="en-US" dirty="0"/>
              <a:t>Relational Database Normalization</a:t>
            </a:r>
            <a:endParaRPr lang="en-CA"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wipe(up)">
                                      <p:cBhvr>
                                        <p:cTn id="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CCD139DF-7697-750D-A181-0E7909F80A61}"/>
              </a:ext>
            </a:extLst>
          </p:cNvPr>
          <p:cNvSpPr txBox="1">
            <a:spLocks/>
          </p:cNvSpPr>
          <p:nvPr/>
        </p:nvSpPr>
        <p:spPr bwMode="auto">
          <a:xfrm>
            <a:off x="125413" y="1404938"/>
            <a:ext cx="8172450" cy="323850"/>
          </a:xfrm>
          <a:prstGeom prst="rect">
            <a:avLst/>
          </a:prstGeom>
          <a:noFill/>
          <a:ln w="9525">
            <a:noFill/>
            <a:miter lim="800000"/>
            <a:headEnd/>
            <a:tailEnd/>
          </a:ln>
        </p:spPr>
        <p:txBody>
          <a:bodyPr lIns="72000" tIns="0" rIns="72000" bIns="0"/>
          <a:lstStyle/>
          <a:p>
            <a:pPr marL="0" marR="0" lvl="0" indent="0" algn="l" defTabSz="720000" rtl="0" eaLnBrk="1" fontAlgn="base" latinLnBrk="0" hangingPunct="1">
              <a:lnSpc>
                <a:spcPts val="1800"/>
              </a:lnSpc>
              <a:spcBef>
                <a:spcPts val="0"/>
              </a:spcBef>
              <a:spcAft>
                <a:spcPts val="0"/>
              </a:spcAft>
              <a:buClrTx/>
              <a:buSzTx/>
              <a:buFontTx/>
              <a:buNone/>
              <a:tabLst>
                <a:tab pos="0" algn="l"/>
              </a:tabLst>
              <a:defRPr/>
            </a:pPr>
            <a:r>
              <a:rPr kumimoji="0" lang="en-US" sz="1800" b="1" i="0" u="none" strike="noStrike" kern="0" cap="none" spc="0" normalizeH="0" baseline="0" noProof="0" dirty="0">
                <a:ln>
                  <a:noFill/>
                </a:ln>
                <a:solidFill>
                  <a:srgbClr val="2F2B20"/>
                </a:solidFill>
                <a:effectLst/>
                <a:uLnTx/>
                <a:uFillTx/>
                <a:latin typeface="Calibri"/>
                <a:ea typeface="+mn-ea"/>
                <a:cs typeface="Calibri" pitchFamily="34" charset="0"/>
              </a:rPr>
              <a:t>Normal Forms</a:t>
            </a:r>
            <a:endParaRPr kumimoji="0" lang="en-MY" sz="1800" b="1" i="0" u="none" strike="noStrike" kern="0" cap="none" spc="0" normalizeH="0" baseline="0" noProof="0" dirty="0">
              <a:ln>
                <a:noFill/>
              </a:ln>
              <a:solidFill>
                <a:srgbClr val="2F2B20"/>
              </a:solidFill>
              <a:effectLst/>
              <a:uLnTx/>
              <a:uFillTx/>
              <a:latin typeface="Calibri"/>
              <a:ea typeface="+mn-ea"/>
              <a:cs typeface="Calibri" pitchFamily="34" charset="0"/>
            </a:endParaRPr>
          </a:p>
        </p:txBody>
      </p:sp>
      <p:sp>
        <p:nvSpPr>
          <p:cNvPr id="30723" name="Content Placeholder 2">
            <a:extLst>
              <a:ext uri="{FF2B5EF4-FFF2-40B4-BE49-F238E27FC236}">
                <a16:creationId xmlns:a16="http://schemas.microsoft.com/office/drawing/2014/main" id="{EEFB4698-6810-FE9E-78DE-A10512A58954}"/>
              </a:ext>
            </a:extLst>
          </p:cNvPr>
          <p:cNvSpPr txBox="1">
            <a:spLocks/>
          </p:cNvSpPr>
          <p:nvPr/>
        </p:nvSpPr>
        <p:spPr bwMode="auto">
          <a:xfrm>
            <a:off x="250825" y="1593850"/>
            <a:ext cx="7921625"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Finally, one should identify the functional dependencies of the relation. This is by examining the data in the relation</a:t>
            </a:r>
            <a:endParaRPr kumimoji="0" lang="en-US" altLang="en-US" sz="32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US" altLang="en-US" sz="32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endParaRPr>
          </a:p>
        </p:txBody>
      </p:sp>
      <p:graphicFrame>
        <p:nvGraphicFramePr>
          <p:cNvPr id="28" name="Table 27">
            <a:extLst>
              <a:ext uri="{FF2B5EF4-FFF2-40B4-BE49-F238E27FC236}">
                <a16:creationId xmlns:a16="http://schemas.microsoft.com/office/drawing/2014/main" id="{63A9C049-3C4D-FC5A-C3EC-2391952F082D}"/>
              </a:ext>
            </a:extLst>
          </p:cNvPr>
          <p:cNvGraphicFramePr>
            <a:graphicFrameLocks noGrp="1"/>
          </p:cNvGraphicFramePr>
          <p:nvPr/>
        </p:nvGraphicFramePr>
        <p:xfrm>
          <a:off x="250825" y="3182938"/>
          <a:ext cx="7978776" cy="2790823"/>
        </p:xfrm>
        <a:graphic>
          <a:graphicData uri="http://schemas.openxmlformats.org/drawingml/2006/table">
            <a:tbl>
              <a:tblPr firstRow="1" bandRow="1">
                <a:tableStyleId>{3B4B98B0-60AC-42C2-AFA5-B58CD77FA1E5}</a:tableStyleId>
              </a:tblPr>
              <a:tblGrid>
                <a:gridCol w="1396286">
                  <a:extLst>
                    <a:ext uri="{9D8B030D-6E8A-4147-A177-3AD203B41FA5}">
                      <a16:colId xmlns:a16="http://schemas.microsoft.com/office/drawing/2014/main" val="20000"/>
                    </a:ext>
                  </a:extLst>
                </a:gridCol>
                <a:gridCol w="1529265">
                  <a:extLst>
                    <a:ext uri="{9D8B030D-6E8A-4147-A177-3AD203B41FA5}">
                      <a16:colId xmlns:a16="http://schemas.microsoft.com/office/drawing/2014/main" val="20001"/>
                    </a:ext>
                  </a:extLst>
                </a:gridCol>
                <a:gridCol w="1263306">
                  <a:extLst>
                    <a:ext uri="{9D8B030D-6E8A-4147-A177-3AD203B41FA5}">
                      <a16:colId xmlns:a16="http://schemas.microsoft.com/office/drawing/2014/main" val="20002"/>
                    </a:ext>
                  </a:extLst>
                </a:gridCol>
                <a:gridCol w="1462776">
                  <a:extLst>
                    <a:ext uri="{9D8B030D-6E8A-4147-A177-3AD203B41FA5}">
                      <a16:colId xmlns:a16="http://schemas.microsoft.com/office/drawing/2014/main" val="20003"/>
                    </a:ext>
                  </a:extLst>
                </a:gridCol>
                <a:gridCol w="1396286">
                  <a:extLst>
                    <a:ext uri="{9D8B030D-6E8A-4147-A177-3AD203B41FA5}">
                      <a16:colId xmlns:a16="http://schemas.microsoft.com/office/drawing/2014/main" val="20004"/>
                    </a:ext>
                  </a:extLst>
                </a:gridCol>
                <a:gridCol w="930857">
                  <a:extLst>
                    <a:ext uri="{9D8B030D-6E8A-4147-A177-3AD203B41FA5}">
                      <a16:colId xmlns:a16="http://schemas.microsoft.com/office/drawing/2014/main" val="20005"/>
                    </a:ext>
                  </a:extLst>
                </a:gridCol>
              </a:tblGrid>
              <a:tr h="365744">
                <a:tc>
                  <a:txBody>
                    <a:bodyPr/>
                    <a:lstStyle/>
                    <a:p>
                      <a:pPr algn="ctr"/>
                      <a:r>
                        <a:rPr lang="en-CA" sz="1800" dirty="0"/>
                        <a:t>PROJ_NUM</a:t>
                      </a:r>
                      <a:endParaRPr lang="en-CA" sz="1800" b="0" dirty="0"/>
                    </a:p>
                  </a:txBody>
                  <a:tcPr marL="91455" marR="91455" marT="45712" marB="45712"/>
                </a:tc>
                <a:tc>
                  <a:txBody>
                    <a:bodyPr/>
                    <a:lstStyle/>
                    <a:p>
                      <a:pPr algn="ctr"/>
                      <a:r>
                        <a:rPr lang="en-CA" sz="1800" dirty="0"/>
                        <a:t>PROJ_NAME</a:t>
                      </a:r>
                      <a:endParaRPr lang="en-CA" sz="1800" b="0" dirty="0"/>
                    </a:p>
                  </a:txBody>
                  <a:tcPr marL="91455" marR="91455" marT="45712" marB="45712"/>
                </a:tc>
                <a:tc>
                  <a:txBody>
                    <a:bodyPr/>
                    <a:lstStyle/>
                    <a:p>
                      <a:pPr algn="ctr"/>
                      <a:r>
                        <a:rPr lang="en-CA" sz="1800" dirty="0"/>
                        <a:t>EMP_NUM</a:t>
                      </a:r>
                      <a:endParaRPr lang="en-CA" sz="1800" b="0" dirty="0"/>
                    </a:p>
                  </a:txBody>
                  <a:tcPr marL="91455" marR="91455" marT="45712" marB="45712"/>
                </a:tc>
                <a:tc>
                  <a:txBody>
                    <a:bodyPr/>
                    <a:lstStyle/>
                    <a:p>
                      <a:pPr algn="ctr"/>
                      <a:r>
                        <a:rPr lang="en-CA" sz="1800" dirty="0"/>
                        <a:t>JOB_CLASS</a:t>
                      </a:r>
                      <a:endParaRPr lang="en-CA" sz="1800" b="0" dirty="0"/>
                    </a:p>
                  </a:txBody>
                  <a:tcPr marL="91455" marR="91455" marT="45712" marB="45712"/>
                </a:tc>
                <a:tc>
                  <a:txBody>
                    <a:bodyPr/>
                    <a:lstStyle/>
                    <a:p>
                      <a:pPr algn="ctr"/>
                      <a:r>
                        <a:rPr lang="en-CA" sz="1800" dirty="0"/>
                        <a:t>CHG_HOUR</a:t>
                      </a:r>
                      <a:endParaRPr lang="en-CA" sz="1800" b="0" dirty="0"/>
                    </a:p>
                  </a:txBody>
                  <a:tcPr marL="91455" marR="91455" marT="45712" marB="45712"/>
                </a:tc>
                <a:tc>
                  <a:txBody>
                    <a:bodyPr/>
                    <a:lstStyle/>
                    <a:p>
                      <a:pPr algn="ctr"/>
                      <a:r>
                        <a:rPr lang="en-CA" sz="1800" dirty="0"/>
                        <a:t>HOUR</a:t>
                      </a:r>
                      <a:endParaRPr lang="en-CA" sz="1800" b="0" dirty="0"/>
                    </a:p>
                  </a:txBody>
                  <a:tcPr marL="91455" marR="91455" marT="45712" marB="45712"/>
                </a:tc>
                <a:extLst>
                  <a:ext uri="{0D108BD9-81ED-4DB2-BD59-A6C34878D82A}">
                    <a16:rowId xmlns:a16="http://schemas.microsoft.com/office/drawing/2014/main" val="10000"/>
                  </a:ext>
                </a:extLst>
              </a:tr>
              <a:tr h="437127">
                <a:tc>
                  <a:txBody>
                    <a:bodyPr/>
                    <a:lstStyle/>
                    <a:p>
                      <a:pPr algn="ctr"/>
                      <a:r>
                        <a:rPr lang="en-CA" sz="1800" dirty="0"/>
                        <a:t>15</a:t>
                      </a:r>
                      <a:endParaRPr lang="en-CA" sz="1800" b="0" dirty="0"/>
                    </a:p>
                  </a:txBody>
                  <a:tcPr marL="91455" marR="91455" marT="45712" marB="45712" anchor="ctr"/>
                </a:tc>
                <a:tc>
                  <a:txBody>
                    <a:bodyPr/>
                    <a:lstStyle/>
                    <a:p>
                      <a:pPr algn="ctr"/>
                      <a:r>
                        <a:rPr lang="en-CA" sz="1800" dirty="0"/>
                        <a:t>Evergreen</a:t>
                      </a:r>
                      <a:endParaRPr lang="en-CA" sz="1800" b="0" dirty="0"/>
                    </a:p>
                  </a:txBody>
                  <a:tcPr marL="91455" marR="91455" marT="45712" marB="45712" anchor="ctr"/>
                </a:tc>
                <a:tc>
                  <a:txBody>
                    <a:bodyPr/>
                    <a:lstStyle/>
                    <a:p>
                      <a:pPr algn="ctr"/>
                      <a:r>
                        <a:rPr lang="en-CA" sz="1800" dirty="0"/>
                        <a:t>102</a:t>
                      </a:r>
                      <a:endParaRPr lang="en-CA" sz="1800" b="0" dirty="0"/>
                    </a:p>
                  </a:txBody>
                  <a:tcPr marL="91455" marR="91455" marT="45712" marB="45712" anchor="ctr"/>
                </a:tc>
                <a:tc>
                  <a:txBody>
                    <a:bodyPr/>
                    <a:lstStyle/>
                    <a:p>
                      <a:pPr algn="ctr"/>
                      <a:r>
                        <a:rPr lang="en-CA" sz="1800" dirty="0"/>
                        <a:t>Engineer</a:t>
                      </a:r>
                      <a:endParaRPr lang="en-CA" sz="1800" b="0" dirty="0"/>
                    </a:p>
                  </a:txBody>
                  <a:tcPr marL="91455" marR="91455" marT="45712" marB="45712" anchor="ctr"/>
                </a:tc>
                <a:tc>
                  <a:txBody>
                    <a:bodyPr/>
                    <a:lstStyle/>
                    <a:p>
                      <a:pPr algn="ctr"/>
                      <a:r>
                        <a:rPr lang="en-CA" sz="1800" dirty="0"/>
                        <a:t>84.50</a:t>
                      </a:r>
                      <a:endParaRPr lang="en-CA" sz="1800" b="0" dirty="0"/>
                    </a:p>
                  </a:txBody>
                  <a:tcPr marL="91455" marR="91455" marT="45712" marB="45712" anchor="ctr"/>
                </a:tc>
                <a:tc>
                  <a:txBody>
                    <a:bodyPr/>
                    <a:lstStyle/>
                    <a:p>
                      <a:pPr algn="ctr"/>
                      <a:r>
                        <a:rPr lang="en-CA" sz="1800" dirty="0"/>
                        <a:t>30</a:t>
                      </a:r>
                      <a:endParaRPr lang="en-CA" sz="1800" b="0" dirty="0"/>
                    </a:p>
                  </a:txBody>
                  <a:tcPr marL="91455" marR="91455" marT="45712" marB="45712" anchor="ctr"/>
                </a:tc>
                <a:extLst>
                  <a:ext uri="{0D108BD9-81ED-4DB2-BD59-A6C34878D82A}">
                    <a16:rowId xmlns:a16="http://schemas.microsoft.com/office/drawing/2014/main" val="10001"/>
                  </a:ext>
                </a:extLst>
              </a:tr>
              <a:tr h="426831">
                <a:tc>
                  <a:txBody>
                    <a:bodyPr/>
                    <a:lstStyle/>
                    <a:p>
                      <a:pPr algn="ctr"/>
                      <a:r>
                        <a:rPr lang="en-CA" sz="1800" b="0" dirty="0"/>
                        <a:t>15</a:t>
                      </a:r>
                    </a:p>
                  </a:txBody>
                  <a:tcPr marL="91455" marR="91455" marT="45712" marB="45712"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CA" sz="1800" dirty="0"/>
                        <a:t>Evergreen</a:t>
                      </a:r>
                      <a:endParaRPr lang="en-CA" sz="1800" b="0" dirty="0"/>
                    </a:p>
                  </a:txBody>
                  <a:tcPr marL="91455" marR="91455" marT="45712" marB="45712" anchor="ctr"/>
                </a:tc>
                <a:tc>
                  <a:txBody>
                    <a:bodyPr/>
                    <a:lstStyle/>
                    <a:p>
                      <a:pPr algn="ctr"/>
                      <a:r>
                        <a:rPr lang="en-CA" sz="1800" dirty="0"/>
                        <a:t>103</a:t>
                      </a:r>
                      <a:endParaRPr lang="en-CA" sz="1800" b="0" dirty="0"/>
                    </a:p>
                  </a:txBody>
                  <a:tcPr marL="91455" marR="91455" marT="45712" marB="45712" anchor="ctr"/>
                </a:tc>
                <a:tc>
                  <a:txBody>
                    <a:bodyPr/>
                    <a:lstStyle/>
                    <a:p>
                      <a:pPr algn="ctr"/>
                      <a:r>
                        <a:rPr lang="en-CA" sz="1800" dirty="0"/>
                        <a:t>Engineer</a:t>
                      </a:r>
                      <a:endParaRPr lang="en-CA" sz="1800" b="0" dirty="0"/>
                    </a:p>
                  </a:txBody>
                  <a:tcPr marL="91455" marR="91455" marT="45712" marB="45712" anchor="ctr"/>
                </a:tc>
                <a:tc>
                  <a:txBody>
                    <a:bodyPr/>
                    <a:lstStyle/>
                    <a:p>
                      <a:pPr algn="ctr"/>
                      <a:r>
                        <a:rPr lang="en-CA" sz="1800" dirty="0"/>
                        <a:t>84.50</a:t>
                      </a:r>
                      <a:endParaRPr lang="en-CA" sz="1800" b="0" dirty="0"/>
                    </a:p>
                  </a:txBody>
                  <a:tcPr marL="91455" marR="91455" marT="45712" marB="45712" anchor="ctr"/>
                </a:tc>
                <a:tc>
                  <a:txBody>
                    <a:bodyPr/>
                    <a:lstStyle/>
                    <a:p>
                      <a:pPr algn="ctr"/>
                      <a:r>
                        <a:rPr lang="en-CA" sz="1800" dirty="0"/>
                        <a:t>23</a:t>
                      </a:r>
                      <a:endParaRPr lang="en-CA" sz="1800" b="0" dirty="0"/>
                    </a:p>
                  </a:txBody>
                  <a:tcPr marL="91455" marR="91455" marT="45712" marB="45712" anchor="ctr"/>
                </a:tc>
                <a:extLst>
                  <a:ext uri="{0D108BD9-81ED-4DB2-BD59-A6C34878D82A}">
                    <a16:rowId xmlns:a16="http://schemas.microsoft.com/office/drawing/2014/main" val="10002"/>
                  </a:ext>
                </a:extLst>
              </a:tr>
              <a:tr h="431979">
                <a:tc>
                  <a:txBody>
                    <a:bodyPr/>
                    <a:lstStyle/>
                    <a:p>
                      <a:pPr algn="ctr"/>
                      <a:r>
                        <a:rPr lang="en-CA" sz="1800" b="0" dirty="0"/>
                        <a:t>15</a:t>
                      </a:r>
                    </a:p>
                  </a:txBody>
                  <a:tcPr marL="91455" marR="91455" marT="45712" marB="45712"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CA" sz="1800" dirty="0"/>
                        <a:t>Evergreen</a:t>
                      </a:r>
                      <a:endParaRPr lang="en-CA" sz="1800" b="0" dirty="0"/>
                    </a:p>
                  </a:txBody>
                  <a:tcPr marL="91455" marR="91455" marT="45712" marB="45712" anchor="ctr"/>
                </a:tc>
                <a:tc>
                  <a:txBody>
                    <a:bodyPr/>
                    <a:lstStyle/>
                    <a:p>
                      <a:pPr algn="ctr"/>
                      <a:r>
                        <a:rPr lang="en-CA" sz="1800" dirty="0"/>
                        <a:t>105</a:t>
                      </a:r>
                      <a:endParaRPr lang="en-CA" sz="1800" b="0" dirty="0"/>
                    </a:p>
                  </a:txBody>
                  <a:tcPr marL="91455" marR="91455" marT="45712" marB="45712" anchor="ctr"/>
                </a:tc>
                <a:tc>
                  <a:txBody>
                    <a:bodyPr/>
                    <a:lstStyle/>
                    <a:p>
                      <a:pPr algn="ctr"/>
                      <a:r>
                        <a:rPr lang="en-CA" sz="1800" dirty="0"/>
                        <a:t>Consultant</a:t>
                      </a:r>
                      <a:endParaRPr lang="en-CA" sz="1800" b="0" dirty="0"/>
                    </a:p>
                  </a:txBody>
                  <a:tcPr marL="91455" marR="91455" marT="45712" marB="45712" anchor="ctr"/>
                </a:tc>
                <a:tc>
                  <a:txBody>
                    <a:bodyPr/>
                    <a:lstStyle/>
                    <a:p>
                      <a:pPr algn="ctr"/>
                      <a:r>
                        <a:rPr lang="en-CA" sz="1800" dirty="0"/>
                        <a:t>105.00</a:t>
                      </a:r>
                      <a:endParaRPr lang="en-CA" sz="1800" b="0" dirty="0"/>
                    </a:p>
                  </a:txBody>
                  <a:tcPr marL="91455" marR="91455" marT="45712" marB="45712" anchor="ctr"/>
                </a:tc>
                <a:tc>
                  <a:txBody>
                    <a:bodyPr/>
                    <a:lstStyle/>
                    <a:p>
                      <a:pPr algn="ctr"/>
                      <a:r>
                        <a:rPr lang="en-CA" sz="1800" dirty="0"/>
                        <a:t>20</a:t>
                      </a:r>
                      <a:endParaRPr lang="en-CA" sz="1800" b="0" dirty="0"/>
                    </a:p>
                  </a:txBody>
                  <a:tcPr marL="91455" marR="91455" marT="45712" marB="45712" anchor="ctr"/>
                </a:tc>
                <a:extLst>
                  <a:ext uri="{0D108BD9-81ED-4DB2-BD59-A6C34878D82A}">
                    <a16:rowId xmlns:a16="http://schemas.microsoft.com/office/drawing/2014/main" val="10003"/>
                  </a:ext>
                </a:extLst>
              </a:tr>
              <a:tr h="370781">
                <a:tc>
                  <a:txBody>
                    <a:bodyPr/>
                    <a:lstStyle/>
                    <a:p>
                      <a:pPr algn="ctr"/>
                      <a:r>
                        <a:rPr lang="en-CA" sz="1800" dirty="0"/>
                        <a:t>22</a:t>
                      </a:r>
                      <a:endParaRPr lang="en-CA" sz="1800" b="0" dirty="0"/>
                    </a:p>
                  </a:txBody>
                  <a:tcPr marL="91455" marR="91455" marT="45712" marB="45712" anchor="ctr"/>
                </a:tc>
                <a:tc>
                  <a:txBody>
                    <a:bodyPr/>
                    <a:lstStyle/>
                    <a:p>
                      <a:pPr algn="ctr"/>
                      <a:r>
                        <a:rPr lang="en-CA" sz="1800" dirty="0"/>
                        <a:t>Wave</a:t>
                      </a:r>
                      <a:endParaRPr lang="en-CA" sz="1800" b="0" dirty="0"/>
                    </a:p>
                  </a:txBody>
                  <a:tcPr marL="91455" marR="91455" marT="45712" marB="45712" anchor="ctr"/>
                </a:tc>
                <a:tc>
                  <a:txBody>
                    <a:bodyPr/>
                    <a:lstStyle/>
                    <a:p>
                      <a:pPr algn="ctr"/>
                      <a:r>
                        <a:rPr lang="en-CA" sz="1800" dirty="0"/>
                        <a:t>103</a:t>
                      </a:r>
                      <a:endParaRPr lang="en-CA" sz="1800" b="0" dirty="0"/>
                    </a:p>
                  </a:txBody>
                  <a:tcPr marL="91455" marR="91455" marT="45712" marB="45712" anchor="ctr"/>
                </a:tc>
                <a:tc>
                  <a:txBody>
                    <a:bodyPr/>
                    <a:lstStyle/>
                    <a:p>
                      <a:pPr algn="ctr"/>
                      <a:r>
                        <a:rPr lang="en-CA" sz="1800" dirty="0"/>
                        <a:t>Engineer</a:t>
                      </a:r>
                      <a:endParaRPr lang="en-CA" sz="1800" b="0" dirty="0"/>
                    </a:p>
                  </a:txBody>
                  <a:tcPr marL="91455" marR="91455" marT="45712" marB="45712" anchor="ctr"/>
                </a:tc>
                <a:tc>
                  <a:txBody>
                    <a:bodyPr/>
                    <a:lstStyle/>
                    <a:p>
                      <a:pPr algn="ctr"/>
                      <a:r>
                        <a:rPr lang="en-CA" sz="1800" dirty="0"/>
                        <a:t>84.50</a:t>
                      </a:r>
                      <a:endParaRPr lang="en-CA" sz="1800" b="0" dirty="0"/>
                    </a:p>
                  </a:txBody>
                  <a:tcPr marL="91455" marR="91455" marT="45712" marB="45712" anchor="ctr"/>
                </a:tc>
                <a:tc>
                  <a:txBody>
                    <a:bodyPr/>
                    <a:lstStyle/>
                    <a:p>
                      <a:pPr algn="ctr"/>
                      <a:r>
                        <a:rPr lang="en-CA" sz="1800" dirty="0"/>
                        <a:t>10</a:t>
                      </a:r>
                      <a:endParaRPr lang="en-CA" sz="1800" b="0" dirty="0"/>
                    </a:p>
                  </a:txBody>
                  <a:tcPr marL="91455" marR="91455" marT="45712" marB="45712" anchor="ctr"/>
                </a:tc>
                <a:extLst>
                  <a:ext uri="{0D108BD9-81ED-4DB2-BD59-A6C34878D82A}">
                    <a16:rowId xmlns:a16="http://schemas.microsoft.com/office/drawing/2014/main" val="10004"/>
                  </a:ext>
                </a:extLst>
              </a:tr>
              <a:tr h="387580">
                <a:tc>
                  <a:txBody>
                    <a:bodyPr/>
                    <a:lstStyle/>
                    <a:p>
                      <a:pPr algn="ctr"/>
                      <a:r>
                        <a:rPr lang="en-CA" sz="1800" b="0" dirty="0"/>
                        <a:t>22</a:t>
                      </a:r>
                    </a:p>
                  </a:txBody>
                  <a:tcPr marL="91455" marR="91455" marT="45712" marB="45712" anchor="ctr"/>
                </a:tc>
                <a:tc>
                  <a:txBody>
                    <a:bodyPr/>
                    <a:lstStyle/>
                    <a:p>
                      <a:pPr algn="ctr"/>
                      <a:r>
                        <a:rPr lang="en-CA" sz="1800" b="0" dirty="0"/>
                        <a:t>Wave</a:t>
                      </a:r>
                    </a:p>
                  </a:txBody>
                  <a:tcPr marL="91455" marR="91455" marT="45712" marB="45712" anchor="ctr"/>
                </a:tc>
                <a:tc>
                  <a:txBody>
                    <a:bodyPr/>
                    <a:lstStyle/>
                    <a:p>
                      <a:pPr algn="ctr"/>
                      <a:r>
                        <a:rPr lang="en-CA" sz="1800" dirty="0"/>
                        <a:t>114</a:t>
                      </a:r>
                      <a:endParaRPr lang="en-CA" sz="1800" b="0" dirty="0"/>
                    </a:p>
                  </a:txBody>
                  <a:tcPr marL="91455" marR="91455" marT="45712" marB="45712" anchor="ctr"/>
                </a:tc>
                <a:tc>
                  <a:txBody>
                    <a:bodyPr/>
                    <a:lstStyle/>
                    <a:p>
                      <a:pPr algn="ctr"/>
                      <a:r>
                        <a:rPr lang="en-CA" sz="1800" dirty="0"/>
                        <a:t>Programmer</a:t>
                      </a:r>
                      <a:endParaRPr lang="en-CA" sz="1800" b="0" dirty="0"/>
                    </a:p>
                  </a:txBody>
                  <a:tcPr marL="91455" marR="91455" marT="45712" marB="45712" anchor="ctr"/>
                </a:tc>
                <a:tc>
                  <a:txBody>
                    <a:bodyPr/>
                    <a:lstStyle/>
                    <a:p>
                      <a:pPr algn="ctr"/>
                      <a:r>
                        <a:rPr lang="en-CA" sz="1800" dirty="0"/>
                        <a:t>60.00</a:t>
                      </a:r>
                      <a:endParaRPr lang="en-CA" sz="1800" b="0" dirty="0"/>
                    </a:p>
                  </a:txBody>
                  <a:tcPr marL="91455" marR="91455" marT="45712" marB="45712" anchor="ctr"/>
                </a:tc>
                <a:tc>
                  <a:txBody>
                    <a:bodyPr/>
                    <a:lstStyle/>
                    <a:p>
                      <a:pPr algn="ctr"/>
                      <a:r>
                        <a:rPr lang="en-CA" sz="1800" dirty="0"/>
                        <a:t>15</a:t>
                      </a:r>
                      <a:endParaRPr lang="en-CA" sz="1800" b="0" dirty="0"/>
                    </a:p>
                  </a:txBody>
                  <a:tcPr marL="91455" marR="91455" marT="45712" marB="45712" anchor="ctr"/>
                </a:tc>
                <a:extLst>
                  <a:ext uri="{0D108BD9-81ED-4DB2-BD59-A6C34878D82A}">
                    <a16:rowId xmlns:a16="http://schemas.microsoft.com/office/drawing/2014/main" val="10005"/>
                  </a:ext>
                </a:extLst>
              </a:tr>
              <a:tr h="370781">
                <a:tc>
                  <a:txBody>
                    <a:bodyPr/>
                    <a:lstStyle/>
                    <a:p>
                      <a:pPr algn="ctr"/>
                      <a:r>
                        <a:rPr lang="en-CA" sz="1800" b="0" dirty="0"/>
                        <a:t>22</a:t>
                      </a:r>
                    </a:p>
                  </a:txBody>
                  <a:tcPr marL="91455" marR="91455" marT="45712" marB="45712" anchor="ctr"/>
                </a:tc>
                <a:tc>
                  <a:txBody>
                    <a:bodyPr/>
                    <a:lstStyle/>
                    <a:p>
                      <a:pPr algn="ctr"/>
                      <a:r>
                        <a:rPr lang="en-CA" sz="1800" b="0" dirty="0"/>
                        <a:t>Wave</a:t>
                      </a:r>
                    </a:p>
                  </a:txBody>
                  <a:tcPr marL="91455" marR="91455" marT="45712" marB="45712" anchor="ctr"/>
                </a:tc>
                <a:tc>
                  <a:txBody>
                    <a:bodyPr/>
                    <a:lstStyle/>
                    <a:p>
                      <a:pPr algn="ctr"/>
                      <a:r>
                        <a:rPr lang="en-CA" sz="1800" dirty="0"/>
                        <a:t>115</a:t>
                      </a:r>
                      <a:endParaRPr lang="en-CA" sz="1800" b="0" dirty="0"/>
                    </a:p>
                  </a:txBody>
                  <a:tcPr marL="91455" marR="91455" marT="45712" marB="45712" anchor="ctr"/>
                </a:tc>
                <a:tc>
                  <a:txBody>
                    <a:bodyPr/>
                    <a:lstStyle/>
                    <a:p>
                      <a:pPr algn="ctr"/>
                      <a:r>
                        <a:rPr lang="en-CA" sz="1800" dirty="0"/>
                        <a:t>Programmer</a:t>
                      </a:r>
                      <a:endParaRPr lang="en-CA" sz="1800" b="0" dirty="0"/>
                    </a:p>
                  </a:txBody>
                  <a:tcPr marL="91455" marR="91455" marT="45712" marB="45712" anchor="ctr"/>
                </a:tc>
                <a:tc>
                  <a:txBody>
                    <a:bodyPr/>
                    <a:lstStyle/>
                    <a:p>
                      <a:pPr algn="ctr"/>
                      <a:r>
                        <a:rPr lang="en-CA" sz="1800" dirty="0"/>
                        <a:t>60.00</a:t>
                      </a:r>
                      <a:endParaRPr lang="en-CA" sz="1800" b="0" dirty="0"/>
                    </a:p>
                  </a:txBody>
                  <a:tcPr marL="91455" marR="91455" marT="45712" marB="45712" anchor="ctr"/>
                </a:tc>
                <a:tc>
                  <a:txBody>
                    <a:bodyPr/>
                    <a:lstStyle/>
                    <a:p>
                      <a:pPr algn="ctr"/>
                      <a:r>
                        <a:rPr lang="en-CA" sz="1800" dirty="0"/>
                        <a:t>18</a:t>
                      </a:r>
                      <a:endParaRPr lang="en-CA" sz="1800" b="0" dirty="0"/>
                    </a:p>
                  </a:txBody>
                  <a:tcPr marL="91455" marR="91455" marT="45712" marB="45712" anchor="ctr"/>
                </a:tc>
                <a:extLst>
                  <a:ext uri="{0D108BD9-81ED-4DB2-BD59-A6C34878D82A}">
                    <a16:rowId xmlns:a16="http://schemas.microsoft.com/office/drawing/2014/main" val="10006"/>
                  </a:ext>
                </a:extLst>
              </a:tr>
            </a:tbl>
          </a:graphicData>
        </a:graphic>
      </p:graphicFrame>
      <p:cxnSp>
        <p:nvCxnSpPr>
          <p:cNvPr id="29" name="Straight Connector 28">
            <a:extLst>
              <a:ext uri="{FF2B5EF4-FFF2-40B4-BE49-F238E27FC236}">
                <a16:creationId xmlns:a16="http://schemas.microsoft.com/office/drawing/2014/main" id="{0E2C9694-E625-AF8F-00DE-4D4664C17103}"/>
              </a:ext>
            </a:extLst>
          </p:cNvPr>
          <p:cNvCxnSpPr/>
          <p:nvPr/>
        </p:nvCxnSpPr>
        <p:spPr bwMode="auto">
          <a:xfrm flipV="1">
            <a:off x="395288" y="3494088"/>
            <a:ext cx="1223962" cy="0"/>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30" name="Straight Connector 29">
            <a:extLst>
              <a:ext uri="{FF2B5EF4-FFF2-40B4-BE49-F238E27FC236}">
                <a16:creationId xmlns:a16="http://schemas.microsoft.com/office/drawing/2014/main" id="{B07AD751-F0EF-0561-73C5-516F4A15CB96}"/>
              </a:ext>
            </a:extLst>
          </p:cNvPr>
          <p:cNvCxnSpPr/>
          <p:nvPr/>
        </p:nvCxnSpPr>
        <p:spPr bwMode="auto">
          <a:xfrm flipV="1">
            <a:off x="3200400" y="3494088"/>
            <a:ext cx="1225550" cy="0"/>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32" name="Rectangle 31">
            <a:extLst>
              <a:ext uri="{FF2B5EF4-FFF2-40B4-BE49-F238E27FC236}">
                <a16:creationId xmlns:a16="http://schemas.microsoft.com/office/drawing/2014/main" id="{082D9494-F2DB-38BD-6D51-84230447937D}"/>
              </a:ext>
            </a:extLst>
          </p:cNvPr>
          <p:cNvSpPr>
            <a:spLocks noChangeArrowheads="1"/>
          </p:cNvSpPr>
          <p:nvPr/>
        </p:nvSpPr>
        <p:spPr bwMode="auto">
          <a:xfrm>
            <a:off x="511175" y="6105525"/>
            <a:ext cx="7489825" cy="600075"/>
          </a:xfrm>
          <a:prstGeom prst="rect">
            <a:avLst/>
          </a:prstGeom>
          <a:solidFill>
            <a:srgbClr val="FFFF00">
              <a:alpha val="30196"/>
            </a:srgbClr>
          </a:solidFill>
          <a:ln w="9525" algn="ctr">
            <a:solidFill>
              <a:srgbClr val="FFC000"/>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PROJ_NUM, EMP_NUM → PROJ_NAME, JOB_CLASS, CHG_HOUR, HOUR</a:t>
            </a:r>
          </a:p>
        </p:txBody>
      </p:sp>
      <p:sp>
        <p:nvSpPr>
          <p:cNvPr id="31" name="Title 1">
            <a:extLst>
              <a:ext uri="{FF2B5EF4-FFF2-40B4-BE49-F238E27FC236}">
                <a16:creationId xmlns:a16="http://schemas.microsoft.com/office/drawing/2014/main" id="{BC4DE70E-920A-DB90-6BC2-94A68F7557DF}"/>
              </a:ext>
            </a:extLst>
          </p:cNvPr>
          <p:cNvSpPr>
            <a:spLocks noGrp="1"/>
          </p:cNvSpPr>
          <p:nvPr>
            <p:ph type="title"/>
          </p:nvPr>
        </p:nvSpPr>
        <p:spPr>
          <a:xfrm>
            <a:off x="457200" y="76200"/>
            <a:ext cx="7620000" cy="1143000"/>
          </a:xfrm>
        </p:spPr>
        <p:txBody>
          <a:bodyPr/>
          <a:lstStyle/>
          <a:p>
            <a:pPr algn="ctr">
              <a:defRPr/>
            </a:pPr>
            <a:r>
              <a:rPr lang="en-US" dirty="0"/>
              <a:t>Relational Database Normalization</a:t>
            </a:r>
            <a:endParaRPr lang="en-CA"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wipe(up)">
                                      <p:cBhvr>
                                        <p:cTn id="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3E006033-4B3A-1A86-030F-72D788B59A53}"/>
              </a:ext>
            </a:extLst>
          </p:cNvPr>
          <p:cNvSpPr txBox="1">
            <a:spLocks/>
          </p:cNvSpPr>
          <p:nvPr/>
        </p:nvSpPr>
        <p:spPr bwMode="auto">
          <a:xfrm>
            <a:off x="174625" y="1600200"/>
            <a:ext cx="8172450" cy="323850"/>
          </a:xfrm>
          <a:prstGeom prst="rect">
            <a:avLst/>
          </a:prstGeom>
          <a:noFill/>
          <a:ln w="9525">
            <a:noFill/>
            <a:miter lim="800000"/>
            <a:headEnd/>
            <a:tailEnd/>
          </a:ln>
        </p:spPr>
        <p:txBody>
          <a:bodyPr lIns="72000" tIns="0" rIns="72000" bIns="0"/>
          <a:lstStyle/>
          <a:p>
            <a:pPr marL="0" marR="0" lvl="0" indent="0" algn="l" defTabSz="720000" rtl="0" eaLnBrk="1" fontAlgn="base" latinLnBrk="0" hangingPunct="1">
              <a:lnSpc>
                <a:spcPts val="1800"/>
              </a:lnSpc>
              <a:spcBef>
                <a:spcPts val="0"/>
              </a:spcBef>
              <a:spcAft>
                <a:spcPts val="0"/>
              </a:spcAft>
              <a:buClrTx/>
              <a:buSzTx/>
              <a:buFontTx/>
              <a:buNone/>
              <a:tabLst>
                <a:tab pos="0" algn="l"/>
              </a:tabLst>
              <a:defRPr/>
            </a:pPr>
            <a:r>
              <a:rPr kumimoji="0" lang="en-US" sz="1800" b="1" i="0" u="none" strike="noStrike" kern="0" cap="none" spc="0" normalizeH="0" baseline="0" noProof="0" dirty="0">
                <a:ln>
                  <a:noFill/>
                </a:ln>
                <a:solidFill>
                  <a:srgbClr val="2F2B20"/>
                </a:solidFill>
                <a:effectLst/>
                <a:uLnTx/>
                <a:uFillTx/>
                <a:latin typeface="Calibri"/>
                <a:ea typeface="+mn-ea"/>
                <a:cs typeface="Calibri" pitchFamily="34" charset="0"/>
              </a:rPr>
              <a:t>Normal Forms</a:t>
            </a:r>
            <a:endParaRPr kumimoji="0" lang="en-MY" sz="1800" b="1" i="0" u="none" strike="noStrike" kern="0" cap="none" spc="0" normalizeH="0" baseline="0" noProof="0" dirty="0">
              <a:ln>
                <a:noFill/>
              </a:ln>
              <a:solidFill>
                <a:srgbClr val="2F2B20"/>
              </a:solidFill>
              <a:effectLst/>
              <a:uLnTx/>
              <a:uFillTx/>
              <a:latin typeface="Calibri"/>
              <a:ea typeface="+mn-ea"/>
              <a:cs typeface="Calibri" pitchFamily="34" charset="0"/>
            </a:endParaRPr>
          </a:p>
        </p:txBody>
      </p:sp>
      <p:graphicFrame>
        <p:nvGraphicFramePr>
          <p:cNvPr id="13" name="Table 12">
            <a:extLst>
              <a:ext uri="{FF2B5EF4-FFF2-40B4-BE49-F238E27FC236}">
                <a16:creationId xmlns:a16="http://schemas.microsoft.com/office/drawing/2014/main" id="{ABBBF7BF-0A96-74F5-BC41-9F4807EAB31A}"/>
              </a:ext>
            </a:extLst>
          </p:cNvPr>
          <p:cNvGraphicFramePr>
            <a:graphicFrameLocks noGrp="1"/>
          </p:cNvGraphicFramePr>
          <p:nvPr/>
        </p:nvGraphicFramePr>
        <p:xfrm>
          <a:off x="98425" y="3752850"/>
          <a:ext cx="8248650" cy="393700"/>
        </p:xfrm>
        <a:graphic>
          <a:graphicData uri="http://schemas.openxmlformats.org/drawingml/2006/table">
            <a:tbl>
              <a:tblPr firstRow="1" bandRow="1">
                <a:tableStyleId>{5940675A-B579-460E-94D1-54222C63F5DA}</a:tableStyleId>
              </a:tblPr>
              <a:tblGrid>
                <a:gridCol w="1443514">
                  <a:extLst>
                    <a:ext uri="{9D8B030D-6E8A-4147-A177-3AD203B41FA5}">
                      <a16:colId xmlns:a16="http://schemas.microsoft.com/office/drawing/2014/main" val="20000"/>
                    </a:ext>
                  </a:extLst>
                </a:gridCol>
                <a:gridCol w="1512253">
                  <a:extLst>
                    <a:ext uri="{9D8B030D-6E8A-4147-A177-3AD203B41FA5}">
                      <a16:colId xmlns:a16="http://schemas.microsoft.com/office/drawing/2014/main" val="20001"/>
                    </a:ext>
                  </a:extLst>
                </a:gridCol>
                <a:gridCol w="1306036">
                  <a:extLst>
                    <a:ext uri="{9D8B030D-6E8A-4147-A177-3AD203B41FA5}">
                      <a16:colId xmlns:a16="http://schemas.microsoft.com/office/drawing/2014/main" val="20002"/>
                    </a:ext>
                  </a:extLst>
                </a:gridCol>
                <a:gridCol w="1443514">
                  <a:extLst>
                    <a:ext uri="{9D8B030D-6E8A-4147-A177-3AD203B41FA5}">
                      <a16:colId xmlns:a16="http://schemas.microsoft.com/office/drawing/2014/main" val="20003"/>
                    </a:ext>
                  </a:extLst>
                </a:gridCol>
                <a:gridCol w="1443514">
                  <a:extLst>
                    <a:ext uri="{9D8B030D-6E8A-4147-A177-3AD203B41FA5}">
                      <a16:colId xmlns:a16="http://schemas.microsoft.com/office/drawing/2014/main" val="20004"/>
                    </a:ext>
                  </a:extLst>
                </a:gridCol>
                <a:gridCol w="1099819">
                  <a:extLst>
                    <a:ext uri="{9D8B030D-6E8A-4147-A177-3AD203B41FA5}">
                      <a16:colId xmlns:a16="http://schemas.microsoft.com/office/drawing/2014/main" val="20005"/>
                    </a:ext>
                  </a:extLst>
                </a:gridCol>
              </a:tblGrid>
              <a:tr h="393700">
                <a:tc>
                  <a:txBody>
                    <a:bodyPr/>
                    <a:lstStyle/>
                    <a:p>
                      <a:pPr algn="ctr"/>
                      <a:r>
                        <a:rPr lang="en-CA" sz="1800" dirty="0"/>
                        <a:t>PROJ_NUM</a:t>
                      </a:r>
                      <a:endParaRPr lang="en-CA" sz="1800" b="0" dirty="0"/>
                    </a:p>
                  </a:txBody>
                  <a:tcPr marL="91455" marR="91455" marT="45624" marB="45624"/>
                </a:tc>
                <a:tc>
                  <a:txBody>
                    <a:bodyPr/>
                    <a:lstStyle/>
                    <a:p>
                      <a:pPr algn="ctr"/>
                      <a:r>
                        <a:rPr lang="en-CA" sz="1800" dirty="0"/>
                        <a:t>PROJ_NAME</a:t>
                      </a:r>
                      <a:endParaRPr lang="en-CA" sz="1800" b="0" dirty="0"/>
                    </a:p>
                  </a:txBody>
                  <a:tcPr marL="91455" marR="91455" marT="45624" marB="45624"/>
                </a:tc>
                <a:tc>
                  <a:txBody>
                    <a:bodyPr/>
                    <a:lstStyle/>
                    <a:p>
                      <a:pPr algn="ctr"/>
                      <a:r>
                        <a:rPr lang="en-CA" sz="1800" dirty="0"/>
                        <a:t>EMP_NUM</a:t>
                      </a:r>
                      <a:endParaRPr lang="en-CA" sz="1800" b="0" dirty="0"/>
                    </a:p>
                  </a:txBody>
                  <a:tcPr marL="91455" marR="91455" marT="45624" marB="45624"/>
                </a:tc>
                <a:tc>
                  <a:txBody>
                    <a:bodyPr/>
                    <a:lstStyle/>
                    <a:p>
                      <a:pPr algn="ctr"/>
                      <a:r>
                        <a:rPr lang="en-CA" sz="1800" dirty="0"/>
                        <a:t>JOB_CLASS</a:t>
                      </a:r>
                      <a:endParaRPr lang="en-CA" sz="1800" b="0" dirty="0"/>
                    </a:p>
                  </a:txBody>
                  <a:tcPr marL="91455" marR="91455" marT="45624" marB="45624"/>
                </a:tc>
                <a:tc>
                  <a:txBody>
                    <a:bodyPr/>
                    <a:lstStyle/>
                    <a:p>
                      <a:pPr algn="ctr"/>
                      <a:r>
                        <a:rPr lang="en-CA" sz="1800" dirty="0"/>
                        <a:t>CHG_HOUR</a:t>
                      </a:r>
                      <a:endParaRPr lang="en-CA" sz="1800" b="0" dirty="0"/>
                    </a:p>
                  </a:txBody>
                  <a:tcPr marL="91455" marR="91455" marT="45624" marB="45624"/>
                </a:tc>
                <a:tc>
                  <a:txBody>
                    <a:bodyPr/>
                    <a:lstStyle/>
                    <a:p>
                      <a:pPr algn="ctr"/>
                      <a:r>
                        <a:rPr lang="en-CA" sz="1800" dirty="0"/>
                        <a:t>HOUR</a:t>
                      </a:r>
                      <a:endParaRPr lang="en-CA" sz="1800" b="0" dirty="0"/>
                    </a:p>
                  </a:txBody>
                  <a:tcPr marL="91455" marR="91455" marT="45624" marB="45624"/>
                </a:tc>
                <a:extLst>
                  <a:ext uri="{0D108BD9-81ED-4DB2-BD59-A6C34878D82A}">
                    <a16:rowId xmlns:a16="http://schemas.microsoft.com/office/drawing/2014/main" val="10000"/>
                  </a:ext>
                </a:extLst>
              </a:tr>
            </a:tbl>
          </a:graphicData>
        </a:graphic>
      </p:graphicFrame>
      <p:cxnSp>
        <p:nvCxnSpPr>
          <p:cNvPr id="14" name="Straight Connector 13">
            <a:extLst>
              <a:ext uri="{FF2B5EF4-FFF2-40B4-BE49-F238E27FC236}">
                <a16:creationId xmlns:a16="http://schemas.microsoft.com/office/drawing/2014/main" id="{D6EFD74E-9F4F-898A-29FC-E70890064BED}"/>
              </a:ext>
            </a:extLst>
          </p:cNvPr>
          <p:cNvCxnSpPr>
            <a:cxnSpLocks noChangeShapeType="1"/>
          </p:cNvCxnSpPr>
          <p:nvPr/>
        </p:nvCxnSpPr>
        <p:spPr bwMode="auto">
          <a:xfrm>
            <a:off x="242888" y="4059238"/>
            <a:ext cx="1223962" cy="0"/>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cxnSp>
        <p:nvCxnSpPr>
          <p:cNvPr id="15" name="Straight Connector 14">
            <a:extLst>
              <a:ext uri="{FF2B5EF4-FFF2-40B4-BE49-F238E27FC236}">
                <a16:creationId xmlns:a16="http://schemas.microsoft.com/office/drawing/2014/main" id="{52156704-7D7F-E465-856B-7362FE9CC9EE}"/>
              </a:ext>
            </a:extLst>
          </p:cNvPr>
          <p:cNvCxnSpPr>
            <a:cxnSpLocks noChangeShapeType="1"/>
          </p:cNvCxnSpPr>
          <p:nvPr/>
        </p:nvCxnSpPr>
        <p:spPr bwMode="auto">
          <a:xfrm>
            <a:off x="3124200" y="4059238"/>
            <a:ext cx="1223963" cy="0"/>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cxnSp>
        <p:nvCxnSpPr>
          <p:cNvPr id="6" name="Straight Connector 5">
            <a:extLst>
              <a:ext uri="{FF2B5EF4-FFF2-40B4-BE49-F238E27FC236}">
                <a16:creationId xmlns:a16="http://schemas.microsoft.com/office/drawing/2014/main" id="{184A11B2-CE0F-EC3A-E4F7-E75D36A3786B}"/>
              </a:ext>
            </a:extLst>
          </p:cNvPr>
          <p:cNvCxnSpPr>
            <a:cxnSpLocks noChangeShapeType="1"/>
          </p:cNvCxnSpPr>
          <p:nvPr/>
        </p:nvCxnSpPr>
        <p:spPr bwMode="auto">
          <a:xfrm flipV="1">
            <a:off x="819150" y="3398838"/>
            <a:ext cx="0" cy="358775"/>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cxnSp>
        <p:nvCxnSpPr>
          <p:cNvPr id="18" name="Straight Connector 17">
            <a:extLst>
              <a:ext uri="{FF2B5EF4-FFF2-40B4-BE49-F238E27FC236}">
                <a16:creationId xmlns:a16="http://schemas.microsoft.com/office/drawing/2014/main" id="{05BE20A1-71E0-9AD9-33C3-22CBA06E29A2}"/>
              </a:ext>
            </a:extLst>
          </p:cNvPr>
          <p:cNvCxnSpPr>
            <a:cxnSpLocks noChangeShapeType="1"/>
          </p:cNvCxnSpPr>
          <p:nvPr/>
        </p:nvCxnSpPr>
        <p:spPr bwMode="auto">
          <a:xfrm flipV="1">
            <a:off x="3917950" y="3394075"/>
            <a:ext cx="0" cy="360363"/>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cxnSp>
        <p:nvCxnSpPr>
          <p:cNvPr id="8" name="Straight Connector 7">
            <a:extLst>
              <a:ext uri="{FF2B5EF4-FFF2-40B4-BE49-F238E27FC236}">
                <a16:creationId xmlns:a16="http://schemas.microsoft.com/office/drawing/2014/main" id="{7CA4E397-835A-BC4C-A60B-DB974BB217F8}"/>
              </a:ext>
            </a:extLst>
          </p:cNvPr>
          <p:cNvCxnSpPr>
            <a:cxnSpLocks noChangeShapeType="1"/>
          </p:cNvCxnSpPr>
          <p:nvPr/>
        </p:nvCxnSpPr>
        <p:spPr bwMode="auto">
          <a:xfrm>
            <a:off x="819150" y="3398838"/>
            <a:ext cx="3114675" cy="0"/>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cxnSp>
        <p:nvCxnSpPr>
          <p:cNvPr id="20" name="Straight Arrow Connector 19">
            <a:extLst>
              <a:ext uri="{FF2B5EF4-FFF2-40B4-BE49-F238E27FC236}">
                <a16:creationId xmlns:a16="http://schemas.microsoft.com/office/drawing/2014/main" id="{FAB5909D-69D2-26D5-BE24-73604A87F662}"/>
              </a:ext>
            </a:extLst>
          </p:cNvPr>
          <p:cNvCxnSpPr>
            <a:cxnSpLocks noChangeShapeType="1"/>
          </p:cNvCxnSpPr>
          <p:nvPr/>
        </p:nvCxnSpPr>
        <p:spPr bwMode="auto">
          <a:xfrm flipH="1">
            <a:off x="1981200" y="3109913"/>
            <a:ext cx="3175" cy="638175"/>
          </a:xfrm>
          <a:prstGeom prst="straightConnector1">
            <a:avLst/>
          </a:prstGeom>
          <a:noFill/>
          <a:ln w="2540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4" name="Straight Connector 23">
            <a:extLst>
              <a:ext uri="{FF2B5EF4-FFF2-40B4-BE49-F238E27FC236}">
                <a16:creationId xmlns:a16="http://schemas.microsoft.com/office/drawing/2014/main" id="{3383C615-73B9-1FFD-179A-C82DAEAC6385}"/>
              </a:ext>
            </a:extLst>
          </p:cNvPr>
          <p:cNvCxnSpPr>
            <a:cxnSpLocks noChangeShapeType="1"/>
          </p:cNvCxnSpPr>
          <p:nvPr/>
        </p:nvCxnSpPr>
        <p:spPr bwMode="auto">
          <a:xfrm>
            <a:off x="1981200" y="3109913"/>
            <a:ext cx="6021388" cy="0"/>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cxnSp>
        <p:nvCxnSpPr>
          <p:cNvPr id="25" name="Straight Arrow Connector 24">
            <a:extLst>
              <a:ext uri="{FF2B5EF4-FFF2-40B4-BE49-F238E27FC236}">
                <a16:creationId xmlns:a16="http://schemas.microsoft.com/office/drawing/2014/main" id="{DEF53F1A-D26A-0986-3122-BB5439BFFD0D}"/>
              </a:ext>
            </a:extLst>
          </p:cNvPr>
          <p:cNvCxnSpPr>
            <a:cxnSpLocks noChangeShapeType="1"/>
          </p:cNvCxnSpPr>
          <p:nvPr/>
        </p:nvCxnSpPr>
        <p:spPr bwMode="auto">
          <a:xfrm flipH="1">
            <a:off x="4951413" y="3119438"/>
            <a:ext cx="9525" cy="641350"/>
          </a:xfrm>
          <a:prstGeom prst="straightConnector1">
            <a:avLst/>
          </a:prstGeom>
          <a:noFill/>
          <a:ln w="2540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6" name="Straight Arrow Connector 25">
            <a:extLst>
              <a:ext uri="{FF2B5EF4-FFF2-40B4-BE49-F238E27FC236}">
                <a16:creationId xmlns:a16="http://schemas.microsoft.com/office/drawing/2014/main" id="{6A162BA0-EF4B-9EBA-8D6A-3B7FFEAEFCDC}"/>
              </a:ext>
            </a:extLst>
          </p:cNvPr>
          <p:cNvCxnSpPr>
            <a:cxnSpLocks noChangeShapeType="1"/>
          </p:cNvCxnSpPr>
          <p:nvPr/>
        </p:nvCxnSpPr>
        <p:spPr bwMode="auto">
          <a:xfrm flipH="1">
            <a:off x="6448425" y="3109913"/>
            <a:ext cx="1588" cy="638175"/>
          </a:xfrm>
          <a:prstGeom prst="straightConnector1">
            <a:avLst/>
          </a:prstGeom>
          <a:noFill/>
          <a:ln w="2540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8" name="Straight Arrow Connector 27">
            <a:extLst>
              <a:ext uri="{FF2B5EF4-FFF2-40B4-BE49-F238E27FC236}">
                <a16:creationId xmlns:a16="http://schemas.microsoft.com/office/drawing/2014/main" id="{7CD0F32D-0673-FBB5-7CF6-49780AA17EA1}"/>
              </a:ext>
            </a:extLst>
          </p:cNvPr>
          <p:cNvCxnSpPr>
            <a:cxnSpLocks noChangeShapeType="1"/>
          </p:cNvCxnSpPr>
          <p:nvPr/>
        </p:nvCxnSpPr>
        <p:spPr bwMode="auto">
          <a:xfrm flipH="1">
            <a:off x="7999413" y="3119438"/>
            <a:ext cx="3175" cy="638175"/>
          </a:xfrm>
          <a:prstGeom prst="straightConnector1">
            <a:avLst/>
          </a:prstGeom>
          <a:noFill/>
          <a:ln w="2540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3" name="Straight Connector 32">
            <a:extLst>
              <a:ext uri="{FF2B5EF4-FFF2-40B4-BE49-F238E27FC236}">
                <a16:creationId xmlns:a16="http://schemas.microsoft.com/office/drawing/2014/main" id="{46637D77-6462-6311-FB26-3BA24BA14E2F}"/>
              </a:ext>
            </a:extLst>
          </p:cNvPr>
          <p:cNvCxnSpPr>
            <a:cxnSpLocks noChangeShapeType="1"/>
          </p:cNvCxnSpPr>
          <p:nvPr/>
        </p:nvCxnSpPr>
        <p:spPr bwMode="auto">
          <a:xfrm flipV="1">
            <a:off x="819150" y="4143375"/>
            <a:ext cx="0" cy="358775"/>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cxnSp>
        <p:nvCxnSpPr>
          <p:cNvPr id="34" name="Straight Connector 33">
            <a:extLst>
              <a:ext uri="{FF2B5EF4-FFF2-40B4-BE49-F238E27FC236}">
                <a16:creationId xmlns:a16="http://schemas.microsoft.com/office/drawing/2014/main" id="{9BF9CA16-65C2-F40B-CEE8-9E687E690A5A}"/>
              </a:ext>
            </a:extLst>
          </p:cNvPr>
          <p:cNvCxnSpPr>
            <a:cxnSpLocks noChangeShapeType="1"/>
          </p:cNvCxnSpPr>
          <p:nvPr/>
        </p:nvCxnSpPr>
        <p:spPr bwMode="auto">
          <a:xfrm>
            <a:off x="803275" y="4511675"/>
            <a:ext cx="1573213" cy="0"/>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cxnSp>
        <p:nvCxnSpPr>
          <p:cNvPr id="36" name="Straight Connector 35">
            <a:extLst>
              <a:ext uri="{FF2B5EF4-FFF2-40B4-BE49-F238E27FC236}">
                <a16:creationId xmlns:a16="http://schemas.microsoft.com/office/drawing/2014/main" id="{57CEB0F3-CE3F-BDA3-0B56-A1AA9CE40959}"/>
              </a:ext>
            </a:extLst>
          </p:cNvPr>
          <p:cNvCxnSpPr>
            <a:cxnSpLocks noChangeShapeType="1"/>
          </p:cNvCxnSpPr>
          <p:nvPr/>
        </p:nvCxnSpPr>
        <p:spPr bwMode="auto">
          <a:xfrm flipV="1">
            <a:off x="2371725" y="4151313"/>
            <a:ext cx="0" cy="360362"/>
          </a:xfrm>
          <a:prstGeom prst="line">
            <a:avLst/>
          </a:prstGeom>
          <a:noFill/>
          <a:ln w="2540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7" name="Straight Connector 36">
            <a:extLst>
              <a:ext uri="{FF2B5EF4-FFF2-40B4-BE49-F238E27FC236}">
                <a16:creationId xmlns:a16="http://schemas.microsoft.com/office/drawing/2014/main" id="{356385B0-7FEC-BEF1-3204-E8AD4A897294}"/>
              </a:ext>
            </a:extLst>
          </p:cNvPr>
          <p:cNvCxnSpPr>
            <a:cxnSpLocks noChangeShapeType="1"/>
          </p:cNvCxnSpPr>
          <p:nvPr/>
        </p:nvCxnSpPr>
        <p:spPr bwMode="auto">
          <a:xfrm flipV="1">
            <a:off x="3597275" y="4151313"/>
            <a:ext cx="0" cy="774700"/>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cxnSp>
        <p:nvCxnSpPr>
          <p:cNvPr id="38" name="Straight Connector 37">
            <a:extLst>
              <a:ext uri="{FF2B5EF4-FFF2-40B4-BE49-F238E27FC236}">
                <a16:creationId xmlns:a16="http://schemas.microsoft.com/office/drawing/2014/main" id="{A38CE9E3-7EEF-2E9A-DC98-CACC33F1B217}"/>
              </a:ext>
            </a:extLst>
          </p:cNvPr>
          <p:cNvCxnSpPr>
            <a:cxnSpLocks noChangeShapeType="1"/>
          </p:cNvCxnSpPr>
          <p:nvPr/>
        </p:nvCxnSpPr>
        <p:spPr bwMode="auto">
          <a:xfrm>
            <a:off x="3581400" y="4935538"/>
            <a:ext cx="3414713" cy="0"/>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cxnSp>
        <p:nvCxnSpPr>
          <p:cNvPr id="39" name="Straight Connector 38">
            <a:extLst>
              <a:ext uri="{FF2B5EF4-FFF2-40B4-BE49-F238E27FC236}">
                <a16:creationId xmlns:a16="http://schemas.microsoft.com/office/drawing/2014/main" id="{C3ABACE5-5926-1B5E-40F1-AC48E3E49908}"/>
              </a:ext>
            </a:extLst>
          </p:cNvPr>
          <p:cNvCxnSpPr>
            <a:cxnSpLocks noChangeShapeType="1"/>
          </p:cNvCxnSpPr>
          <p:nvPr/>
        </p:nvCxnSpPr>
        <p:spPr bwMode="auto">
          <a:xfrm flipH="1" flipV="1">
            <a:off x="5148263" y="4151313"/>
            <a:ext cx="0" cy="784225"/>
          </a:xfrm>
          <a:prstGeom prst="line">
            <a:avLst/>
          </a:prstGeom>
          <a:noFill/>
          <a:ln w="2540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8" name="Straight Connector 47">
            <a:extLst>
              <a:ext uri="{FF2B5EF4-FFF2-40B4-BE49-F238E27FC236}">
                <a16:creationId xmlns:a16="http://schemas.microsoft.com/office/drawing/2014/main" id="{8013D0B3-FCB9-B7A4-B9C9-18C1520C52A6}"/>
              </a:ext>
            </a:extLst>
          </p:cNvPr>
          <p:cNvCxnSpPr>
            <a:cxnSpLocks noChangeShapeType="1"/>
          </p:cNvCxnSpPr>
          <p:nvPr/>
        </p:nvCxnSpPr>
        <p:spPr bwMode="auto">
          <a:xfrm flipV="1">
            <a:off x="6996113" y="4135438"/>
            <a:ext cx="0" cy="800100"/>
          </a:xfrm>
          <a:prstGeom prst="line">
            <a:avLst/>
          </a:prstGeom>
          <a:noFill/>
          <a:ln w="2540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0" name="Straight Connector 49">
            <a:extLst>
              <a:ext uri="{FF2B5EF4-FFF2-40B4-BE49-F238E27FC236}">
                <a16:creationId xmlns:a16="http://schemas.microsoft.com/office/drawing/2014/main" id="{53D41877-99AE-9F71-1379-8B18937BA895}"/>
              </a:ext>
            </a:extLst>
          </p:cNvPr>
          <p:cNvCxnSpPr>
            <a:cxnSpLocks noChangeShapeType="1"/>
          </p:cNvCxnSpPr>
          <p:nvPr/>
        </p:nvCxnSpPr>
        <p:spPr bwMode="auto">
          <a:xfrm flipV="1">
            <a:off x="6643688" y="4138613"/>
            <a:ext cx="0" cy="381000"/>
          </a:xfrm>
          <a:prstGeom prst="line">
            <a:avLst/>
          </a:prstGeom>
          <a:noFill/>
          <a:ln w="2540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4" name="Straight Connector 53">
            <a:extLst>
              <a:ext uri="{FF2B5EF4-FFF2-40B4-BE49-F238E27FC236}">
                <a16:creationId xmlns:a16="http://schemas.microsoft.com/office/drawing/2014/main" id="{88DA4D4D-8355-F964-8F1E-2C11E4BCC10F}"/>
              </a:ext>
            </a:extLst>
          </p:cNvPr>
          <p:cNvCxnSpPr>
            <a:cxnSpLocks noChangeShapeType="1"/>
          </p:cNvCxnSpPr>
          <p:nvPr/>
        </p:nvCxnSpPr>
        <p:spPr bwMode="auto">
          <a:xfrm>
            <a:off x="5562600" y="4511675"/>
            <a:ext cx="1081088" cy="0"/>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cxnSp>
        <p:nvCxnSpPr>
          <p:cNvPr id="57" name="Straight Connector 56">
            <a:extLst>
              <a:ext uri="{FF2B5EF4-FFF2-40B4-BE49-F238E27FC236}">
                <a16:creationId xmlns:a16="http://schemas.microsoft.com/office/drawing/2014/main" id="{06B48AAF-D007-7884-4C8D-4B9C62A263FA}"/>
              </a:ext>
            </a:extLst>
          </p:cNvPr>
          <p:cNvCxnSpPr>
            <a:cxnSpLocks noChangeShapeType="1"/>
          </p:cNvCxnSpPr>
          <p:nvPr/>
        </p:nvCxnSpPr>
        <p:spPr bwMode="auto">
          <a:xfrm flipV="1">
            <a:off x="5562600" y="4151313"/>
            <a:ext cx="0" cy="381000"/>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sp>
        <p:nvSpPr>
          <p:cNvPr id="32" name="Content Placeholder 2">
            <a:extLst>
              <a:ext uri="{FF2B5EF4-FFF2-40B4-BE49-F238E27FC236}">
                <a16:creationId xmlns:a16="http://schemas.microsoft.com/office/drawing/2014/main" id="{ABBAE0BD-7D2A-06B1-37E4-D2B71C891AA7}"/>
              </a:ext>
            </a:extLst>
          </p:cNvPr>
          <p:cNvSpPr txBox="1">
            <a:spLocks/>
          </p:cNvSpPr>
          <p:nvPr/>
        </p:nvSpPr>
        <p:spPr bwMode="auto">
          <a:xfrm>
            <a:off x="231775" y="1892300"/>
            <a:ext cx="7921625"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For simplicity sake, we will redraw our relation in 1NF as a dependency diagram</a:t>
            </a:r>
            <a:endParaRPr kumimoji="0" lang="en-US" altLang="en-US" sz="32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endParaRPr>
          </a:p>
        </p:txBody>
      </p:sp>
      <p:sp>
        <p:nvSpPr>
          <p:cNvPr id="42" name="Rectangle 41">
            <a:extLst>
              <a:ext uri="{FF2B5EF4-FFF2-40B4-BE49-F238E27FC236}">
                <a16:creationId xmlns:a16="http://schemas.microsoft.com/office/drawing/2014/main" id="{9C248423-DA1A-F8BF-F176-4DB25B462957}"/>
              </a:ext>
            </a:extLst>
          </p:cNvPr>
          <p:cNvSpPr>
            <a:spLocks noChangeArrowheads="1"/>
          </p:cNvSpPr>
          <p:nvPr/>
        </p:nvSpPr>
        <p:spPr bwMode="auto">
          <a:xfrm>
            <a:off x="762000" y="5307013"/>
            <a:ext cx="7002463" cy="865187"/>
          </a:xfrm>
          <a:prstGeom prst="rect">
            <a:avLst/>
          </a:prstGeom>
          <a:solidFill>
            <a:srgbClr val="FFFF00">
              <a:alpha val="30196"/>
            </a:srgbClr>
          </a:solidFill>
          <a:ln w="9525" algn="ctr">
            <a:solidFill>
              <a:srgbClr val="FFC000"/>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24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This is the end result of our conversion of a relation in UNF to 1NF</a:t>
            </a:r>
          </a:p>
        </p:txBody>
      </p:sp>
      <p:sp>
        <p:nvSpPr>
          <p:cNvPr id="43" name="Title 1">
            <a:extLst>
              <a:ext uri="{FF2B5EF4-FFF2-40B4-BE49-F238E27FC236}">
                <a16:creationId xmlns:a16="http://schemas.microsoft.com/office/drawing/2014/main" id="{5D57D895-99B7-401E-6C9E-A093AEEE95C8}"/>
              </a:ext>
            </a:extLst>
          </p:cNvPr>
          <p:cNvSpPr>
            <a:spLocks noGrp="1"/>
          </p:cNvSpPr>
          <p:nvPr>
            <p:ph type="title"/>
          </p:nvPr>
        </p:nvSpPr>
        <p:spPr>
          <a:xfrm>
            <a:off x="457200" y="76200"/>
            <a:ext cx="7620000" cy="1143000"/>
          </a:xfrm>
        </p:spPr>
        <p:txBody>
          <a:bodyPr/>
          <a:lstStyle/>
          <a:p>
            <a:pPr algn="ctr">
              <a:defRPr/>
            </a:pPr>
            <a:r>
              <a:rPr lang="en-US" dirty="0"/>
              <a:t>Relational Database Normalization</a:t>
            </a:r>
            <a:endParaRPr lang="en-CA"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wipe(left)">
                                      <p:cBhvr>
                                        <p:cTn id="7" dur="500"/>
                                        <p:tgtEl>
                                          <p:spTgt spid="3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left)">
                                      <p:cBhvr>
                                        <p:cTn id="12" dur="500"/>
                                        <p:tgtEl>
                                          <p:spTgt spid="13"/>
                                        </p:tgtEl>
                                      </p:cBhvr>
                                    </p:animEffect>
                                  </p:childTnLst>
                                </p:cTn>
                              </p:par>
                            </p:childTnLst>
                          </p:cTn>
                        </p:par>
                        <p:par>
                          <p:cTn id="13" fill="hold" nodeType="afterGroup">
                            <p:stCondLst>
                              <p:cond delay="500"/>
                            </p:stCondLst>
                            <p:childTnLst>
                              <p:par>
                                <p:cTn id="14" presetID="22" presetClass="entr" presetSubtype="8" fill="hold" nodeType="after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wipe(left)">
                                      <p:cBhvr>
                                        <p:cTn id="16" dur="500"/>
                                        <p:tgtEl>
                                          <p:spTgt spid="14"/>
                                        </p:tgtEl>
                                      </p:cBhvr>
                                    </p:animEffect>
                                  </p:childTnLst>
                                </p:cTn>
                              </p:par>
                              <p:par>
                                <p:cTn id="17" presetID="22" presetClass="entr" presetSubtype="8"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wipe(left)">
                                      <p:cBhvr>
                                        <p:cTn id="19" dur="500"/>
                                        <p:tgtEl>
                                          <p:spTgt spid="15"/>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1" fill="hold" nodeType="clickEffect">
                                  <p:stCondLst>
                                    <p:cond delay="0"/>
                                  </p:stCondLst>
                                  <p:childTnLst>
                                    <p:set>
                                      <p:cBhvr>
                                        <p:cTn id="23" dur="1" fill="hold">
                                          <p:stCondLst>
                                            <p:cond delay="0"/>
                                          </p:stCondLst>
                                        </p:cTn>
                                        <p:tgtEl>
                                          <p:spTgt spid="33"/>
                                        </p:tgtEl>
                                        <p:attrNameLst>
                                          <p:attrName>style.visibility</p:attrName>
                                        </p:attrNameLst>
                                      </p:cBhvr>
                                      <p:to>
                                        <p:strVal val="visible"/>
                                      </p:to>
                                    </p:set>
                                    <p:animEffect transition="in" filter="wipe(up)">
                                      <p:cBhvr>
                                        <p:cTn id="24" dur="500"/>
                                        <p:tgtEl>
                                          <p:spTgt spid="33"/>
                                        </p:tgtEl>
                                      </p:cBhvr>
                                    </p:animEffect>
                                  </p:childTnLst>
                                </p:cTn>
                              </p:par>
                            </p:childTnLst>
                          </p:cTn>
                        </p:par>
                        <p:par>
                          <p:cTn id="25" fill="hold" nodeType="afterGroup">
                            <p:stCondLst>
                              <p:cond delay="500"/>
                            </p:stCondLst>
                            <p:childTnLst>
                              <p:par>
                                <p:cTn id="26" presetID="22" presetClass="entr" presetSubtype="8" fill="hold" nodeType="afterEffect">
                                  <p:stCondLst>
                                    <p:cond delay="0"/>
                                  </p:stCondLst>
                                  <p:childTnLst>
                                    <p:set>
                                      <p:cBhvr>
                                        <p:cTn id="27" dur="1" fill="hold">
                                          <p:stCondLst>
                                            <p:cond delay="0"/>
                                          </p:stCondLst>
                                        </p:cTn>
                                        <p:tgtEl>
                                          <p:spTgt spid="34"/>
                                        </p:tgtEl>
                                        <p:attrNameLst>
                                          <p:attrName>style.visibility</p:attrName>
                                        </p:attrNameLst>
                                      </p:cBhvr>
                                      <p:to>
                                        <p:strVal val="visible"/>
                                      </p:to>
                                    </p:set>
                                    <p:animEffect transition="in" filter="wipe(left)">
                                      <p:cBhvr>
                                        <p:cTn id="28" dur="500"/>
                                        <p:tgtEl>
                                          <p:spTgt spid="34"/>
                                        </p:tgtEl>
                                      </p:cBhvr>
                                    </p:animEffect>
                                  </p:childTnLst>
                                </p:cTn>
                              </p:par>
                            </p:childTnLst>
                          </p:cTn>
                        </p:par>
                        <p:par>
                          <p:cTn id="29" fill="hold" nodeType="afterGroup">
                            <p:stCondLst>
                              <p:cond delay="1000"/>
                            </p:stCondLst>
                            <p:childTnLst>
                              <p:par>
                                <p:cTn id="30" presetID="22" presetClass="entr" presetSubtype="4" fill="hold" nodeType="afterEffect">
                                  <p:stCondLst>
                                    <p:cond delay="0"/>
                                  </p:stCondLst>
                                  <p:childTnLst>
                                    <p:set>
                                      <p:cBhvr>
                                        <p:cTn id="31" dur="1" fill="hold">
                                          <p:stCondLst>
                                            <p:cond delay="0"/>
                                          </p:stCondLst>
                                        </p:cTn>
                                        <p:tgtEl>
                                          <p:spTgt spid="36"/>
                                        </p:tgtEl>
                                        <p:attrNameLst>
                                          <p:attrName>style.visibility</p:attrName>
                                        </p:attrNameLst>
                                      </p:cBhvr>
                                      <p:to>
                                        <p:strVal val="visible"/>
                                      </p:to>
                                    </p:set>
                                    <p:animEffect transition="in" filter="wipe(down)">
                                      <p:cBhvr>
                                        <p:cTn id="32" dur="500"/>
                                        <p:tgtEl>
                                          <p:spTgt spid="3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nodeType="clickEffect">
                                  <p:stCondLst>
                                    <p:cond delay="0"/>
                                  </p:stCondLst>
                                  <p:childTnLst>
                                    <p:set>
                                      <p:cBhvr>
                                        <p:cTn id="36" dur="1" fill="hold">
                                          <p:stCondLst>
                                            <p:cond delay="0"/>
                                          </p:stCondLst>
                                        </p:cTn>
                                        <p:tgtEl>
                                          <p:spTgt spid="37"/>
                                        </p:tgtEl>
                                        <p:attrNameLst>
                                          <p:attrName>style.visibility</p:attrName>
                                        </p:attrNameLst>
                                      </p:cBhvr>
                                      <p:to>
                                        <p:strVal val="visible"/>
                                      </p:to>
                                    </p:set>
                                    <p:animEffect transition="in" filter="wipe(up)">
                                      <p:cBhvr>
                                        <p:cTn id="37" dur="500"/>
                                        <p:tgtEl>
                                          <p:spTgt spid="37"/>
                                        </p:tgtEl>
                                      </p:cBhvr>
                                    </p:animEffect>
                                  </p:childTnLst>
                                </p:cTn>
                              </p:par>
                            </p:childTnLst>
                          </p:cTn>
                        </p:par>
                        <p:par>
                          <p:cTn id="38" fill="hold" nodeType="afterGroup">
                            <p:stCondLst>
                              <p:cond delay="500"/>
                            </p:stCondLst>
                            <p:childTnLst>
                              <p:par>
                                <p:cTn id="39" presetID="22" presetClass="entr" presetSubtype="8" fill="hold" nodeType="afterEffect">
                                  <p:stCondLst>
                                    <p:cond delay="0"/>
                                  </p:stCondLst>
                                  <p:childTnLst>
                                    <p:set>
                                      <p:cBhvr>
                                        <p:cTn id="40" dur="1" fill="hold">
                                          <p:stCondLst>
                                            <p:cond delay="0"/>
                                          </p:stCondLst>
                                        </p:cTn>
                                        <p:tgtEl>
                                          <p:spTgt spid="38"/>
                                        </p:tgtEl>
                                        <p:attrNameLst>
                                          <p:attrName>style.visibility</p:attrName>
                                        </p:attrNameLst>
                                      </p:cBhvr>
                                      <p:to>
                                        <p:strVal val="visible"/>
                                      </p:to>
                                    </p:set>
                                    <p:animEffect transition="in" filter="wipe(left)">
                                      <p:cBhvr>
                                        <p:cTn id="41" dur="500"/>
                                        <p:tgtEl>
                                          <p:spTgt spid="38"/>
                                        </p:tgtEl>
                                      </p:cBhvr>
                                    </p:animEffect>
                                  </p:childTnLst>
                                </p:cTn>
                              </p:par>
                            </p:childTnLst>
                          </p:cTn>
                        </p:par>
                        <p:par>
                          <p:cTn id="42" fill="hold" nodeType="afterGroup">
                            <p:stCondLst>
                              <p:cond delay="1000"/>
                            </p:stCondLst>
                            <p:childTnLst>
                              <p:par>
                                <p:cTn id="43" presetID="22" presetClass="entr" presetSubtype="4" fill="hold" nodeType="afterEffect">
                                  <p:stCondLst>
                                    <p:cond delay="0"/>
                                  </p:stCondLst>
                                  <p:childTnLst>
                                    <p:set>
                                      <p:cBhvr>
                                        <p:cTn id="44" dur="1" fill="hold">
                                          <p:stCondLst>
                                            <p:cond delay="0"/>
                                          </p:stCondLst>
                                        </p:cTn>
                                        <p:tgtEl>
                                          <p:spTgt spid="39"/>
                                        </p:tgtEl>
                                        <p:attrNameLst>
                                          <p:attrName>style.visibility</p:attrName>
                                        </p:attrNameLst>
                                      </p:cBhvr>
                                      <p:to>
                                        <p:strVal val="visible"/>
                                      </p:to>
                                    </p:set>
                                    <p:animEffect transition="in" filter="wipe(down)">
                                      <p:cBhvr>
                                        <p:cTn id="45" dur="500"/>
                                        <p:tgtEl>
                                          <p:spTgt spid="39"/>
                                        </p:tgtEl>
                                      </p:cBhvr>
                                    </p:animEffect>
                                  </p:childTnLst>
                                </p:cTn>
                              </p:par>
                              <p:par>
                                <p:cTn id="46" presetID="22" presetClass="entr" presetSubtype="4" fill="hold" nodeType="withEffect">
                                  <p:stCondLst>
                                    <p:cond delay="0"/>
                                  </p:stCondLst>
                                  <p:childTnLst>
                                    <p:set>
                                      <p:cBhvr>
                                        <p:cTn id="47" dur="1" fill="hold">
                                          <p:stCondLst>
                                            <p:cond delay="0"/>
                                          </p:stCondLst>
                                        </p:cTn>
                                        <p:tgtEl>
                                          <p:spTgt spid="48"/>
                                        </p:tgtEl>
                                        <p:attrNameLst>
                                          <p:attrName>style.visibility</p:attrName>
                                        </p:attrNameLst>
                                      </p:cBhvr>
                                      <p:to>
                                        <p:strVal val="visible"/>
                                      </p:to>
                                    </p:set>
                                    <p:animEffect transition="in" filter="wipe(down)">
                                      <p:cBhvr>
                                        <p:cTn id="48" dur="500"/>
                                        <p:tgtEl>
                                          <p:spTgt spid="48"/>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1" fill="hold" nodeType="clickEffect">
                                  <p:stCondLst>
                                    <p:cond delay="0"/>
                                  </p:stCondLst>
                                  <p:childTnLst>
                                    <p:set>
                                      <p:cBhvr>
                                        <p:cTn id="52" dur="1" fill="hold">
                                          <p:stCondLst>
                                            <p:cond delay="0"/>
                                          </p:stCondLst>
                                        </p:cTn>
                                        <p:tgtEl>
                                          <p:spTgt spid="57"/>
                                        </p:tgtEl>
                                        <p:attrNameLst>
                                          <p:attrName>style.visibility</p:attrName>
                                        </p:attrNameLst>
                                      </p:cBhvr>
                                      <p:to>
                                        <p:strVal val="visible"/>
                                      </p:to>
                                    </p:set>
                                    <p:animEffect transition="in" filter="wipe(up)">
                                      <p:cBhvr>
                                        <p:cTn id="53" dur="500"/>
                                        <p:tgtEl>
                                          <p:spTgt spid="57"/>
                                        </p:tgtEl>
                                      </p:cBhvr>
                                    </p:animEffect>
                                  </p:childTnLst>
                                </p:cTn>
                              </p:par>
                            </p:childTnLst>
                          </p:cTn>
                        </p:par>
                        <p:par>
                          <p:cTn id="54" fill="hold" nodeType="afterGroup">
                            <p:stCondLst>
                              <p:cond delay="500"/>
                            </p:stCondLst>
                            <p:childTnLst>
                              <p:par>
                                <p:cTn id="55" presetID="22" presetClass="entr" presetSubtype="8" fill="hold" nodeType="afterEffect">
                                  <p:stCondLst>
                                    <p:cond delay="0"/>
                                  </p:stCondLst>
                                  <p:childTnLst>
                                    <p:set>
                                      <p:cBhvr>
                                        <p:cTn id="56" dur="1" fill="hold">
                                          <p:stCondLst>
                                            <p:cond delay="0"/>
                                          </p:stCondLst>
                                        </p:cTn>
                                        <p:tgtEl>
                                          <p:spTgt spid="54"/>
                                        </p:tgtEl>
                                        <p:attrNameLst>
                                          <p:attrName>style.visibility</p:attrName>
                                        </p:attrNameLst>
                                      </p:cBhvr>
                                      <p:to>
                                        <p:strVal val="visible"/>
                                      </p:to>
                                    </p:set>
                                    <p:animEffect transition="in" filter="wipe(left)">
                                      <p:cBhvr>
                                        <p:cTn id="57" dur="500"/>
                                        <p:tgtEl>
                                          <p:spTgt spid="54"/>
                                        </p:tgtEl>
                                      </p:cBhvr>
                                    </p:animEffect>
                                  </p:childTnLst>
                                </p:cTn>
                              </p:par>
                            </p:childTnLst>
                          </p:cTn>
                        </p:par>
                        <p:par>
                          <p:cTn id="58" fill="hold" nodeType="afterGroup">
                            <p:stCondLst>
                              <p:cond delay="1000"/>
                            </p:stCondLst>
                            <p:childTnLst>
                              <p:par>
                                <p:cTn id="59" presetID="22" presetClass="entr" presetSubtype="4" fill="hold" nodeType="afterEffect">
                                  <p:stCondLst>
                                    <p:cond delay="0"/>
                                  </p:stCondLst>
                                  <p:childTnLst>
                                    <p:set>
                                      <p:cBhvr>
                                        <p:cTn id="60" dur="1" fill="hold">
                                          <p:stCondLst>
                                            <p:cond delay="0"/>
                                          </p:stCondLst>
                                        </p:cTn>
                                        <p:tgtEl>
                                          <p:spTgt spid="50"/>
                                        </p:tgtEl>
                                        <p:attrNameLst>
                                          <p:attrName>style.visibility</p:attrName>
                                        </p:attrNameLst>
                                      </p:cBhvr>
                                      <p:to>
                                        <p:strVal val="visible"/>
                                      </p:to>
                                    </p:set>
                                    <p:animEffect transition="in" filter="wipe(down)">
                                      <p:cBhvr>
                                        <p:cTn id="61" dur="500"/>
                                        <p:tgtEl>
                                          <p:spTgt spid="50"/>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4" fill="hold" nodeType="clickEffect">
                                  <p:stCondLst>
                                    <p:cond delay="0"/>
                                  </p:stCondLst>
                                  <p:childTnLst>
                                    <p:set>
                                      <p:cBhvr>
                                        <p:cTn id="65" dur="1" fill="hold">
                                          <p:stCondLst>
                                            <p:cond delay="0"/>
                                          </p:stCondLst>
                                        </p:cTn>
                                        <p:tgtEl>
                                          <p:spTgt spid="18"/>
                                        </p:tgtEl>
                                        <p:attrNameLst>
                                          <p:attrName>style.visibility</p:attrName>
                                        </p:attrNameLst>
                                      </p:cBhvr>
                                      <p:to>
                                        <p:strVal val="visible"/>
                                      </p:to>
                                    </p:set>
                                    <p:animEffect transition="in" filter="wipe(down)">
                                      <p:cBhvr>
                                        <p:cTn id="66" dur="500"/>
                                        <p:tgtEl>
                                          <p:spTgt spid="18"/>
                                        </p:tgtEl>
                                      </p:cBhvr>
                                    </p:animEffect>
                                  </p:childTnLst>
                                </p:cTn>
                              </p:par>
                              <p:par>
                                <p:cTn id="67" presetID="22" presetClass="entr" presetSubtype="4" fill="hold" nodeType="withEffect">
                                  <p:stCondLst>
                                    <p:cond delay="0"/>
                                  </p:stCondLst>
                                  <p:childTnLst>
                                    <p:set>
                                      <p:cBhvr>
                                        <p:cTn id="68" dur="1" fill="hold">
                                          <p:stCondLst>
                                            <p:cond delay="0"/>
                                          </p:stCondLst>
                                        </p:cTn>
                                        <p:tgtEl>
                                          <p:spTgt spid="6"/>
                                        </p:tgtEl>
                                        <p:attrNameLst>
                                          <p:attrName>style.visibility</p:attrName>
                                        </p:attrNameLst>
                                      </p:cBhvr>
                                      <p:to>
                                        <p:strVal val="visible"/>
                                      </p:to>
                                    </p:set>
                                    <p:animEffect transition="in" filter="wipe(down)">
                                      <p:cBhvr>
                                        <p:cTn id="69" dur="500"/>
                                        <p:tgtEl>
                                          <p:spTgt spid="6"/>
                                        </p:tgtEl>
                                      </p:cBhvr>
                                    </p:animEffect>
                                  </p:childTnLst>
                                </p:cTn>
                              </p:par>
                            </p:childTnLst>
                          </p:cTn>
                        </p:par>
                        <p:par>
                          <p:cTn id="70" fill="hold" nodeType="afterGroup">
                            <p:stCondLst>
                              <p:cond delay="500"/>
                            </p:stCondLst>
                            <p:childTnLst>
                              <p:par>
                                <p:cTn id="71" presetID="22" presetClass="entr" presetSubtype="8" fill="hold" nodeType="afterEffect">
                                  <p:stCondLst>
                                    <p:cond delay="0"/>
                                  </p:stCondLst>
                                  <p:childTnLst>
                                    <p:set>
                                      <p:cBhvr>
                                        <p:cTn id="72" dur="1" fill="hold">
                                          <p:stCondLst>
                                            <p:cond delay="0"/>
                                          </p:stCondLst>
                                        </p:cTn>
                                        <p:tgtEl>
                                          <p:spTgt spid="8"/>
                                        </p:tgtEl>
                                        <p:attrNameLst>
                                          <p:attrName>style.visibility</p:attrName>
                                        </p:attrNameLst>
                                      </p:cBhvr>
                                      <p:to>
                                        <p:strVal val="visible"/>
                                      </p:to>
                                    </p:set>
                                    <p:animEffect transition="in" filter="wipe(left)">
                                      <p:cBhvr>
                                        <p:cTn id="73" dur="500"/>
                                        <p:tgtEl>
                                          <p:spTgt spid="8"/>
                                        </p:tgtEl>
                                      </p:cBhvr>
                                    </p:animEffect>
                                  </p:childTnLst>
                                </p:cTn>
                              </p:par>
                            </p:childTnLst>
                          </p:cTn>
                        </p:par>
                        <p:par>
                          <p:cTn id="74" fill="hold" nodeType="afterGroup">
                            <p:stCondLst>
                              <p:cond delay="1000"/>
                            </p:stCondLst>
                            <p:childTnLst>
                              <p:par>
                                <p:cTn id="75" presetID="22" presetClass="entr" presetSubtype="1" fill="hold" nodeType="afterEffect">
                                  <p:stCondLst>
                                    <p:cond delay="0"/>
                                  </p:stCondLst>
                                  <p:childTnLst>
                                    <p:set>
                                      <p:cBhvr>
                                        <p:cTn id="76" dur="1" fill="hold">
                                          <p:stCondLst>
                                            <p:cond delay="0"/>
                                          </p:stCondLst>
                                        </p:cTn>
                                        <p:tgtEl>
                                          <p:spTgt spid="20"/>
                                        </p:tgtEl>
                                        <p:attrNameLst>
                                          <p:attrName>style.visibility</p:attrName>
                                        </p:attrNameLst>
                                      </p:cBhvr>
                                      <p:to>
                                        <p:strVal val="visible"/>
                                      </p:to>
                                    </p:set>
                                    <p:animEffect transition="in" filter="wipe(up)">
                                      <p:cBhvr>
                                        <p:cTn id="77" dur="500"/>
                                        <p:tgtEl>
                                          <p:spTgt spid="20"/>
                                        </p:tgtEl>
                                      </p:cBhvr>
                                    </p:animEffect>
                                  </p:childTnLst>
                                </p:cTn>
                              </p:par>
                            </p:childTnLst>
                          </p:cTn>
                        </p:par>
                        <p:par>
                          <p:cTn id="78" fill="hold" nodeType="afterGroup">
                            <p:stCondLst>
                              <p:cond delay="1500"/>
                            </p:stCondLst>
                            <p:childTnLst>
                              <p:par>
                                <p:cTn id="79" presetID="22" presetClass="entr" presetSubtype="8" fill="hold" nodeType="afterEffect">
                                  <p:stCondLst>
                                    <p:cond delay="0"/>
                                  </p:stCondLst>
                                  <p:childTnLst>
                                    <p:set>
                                      <p:cBhvr>
                                        <p:cTn id="80" dur="1" fill="hold">
                                          <p:stCondLst>
                                            <p:cond delay="0"/>
                                          </p:stCondLst>
                                        </p:cTn>
                                        <p:tgtEl>
                                          <p:spTgt spid="24"/>
                                        </p:tgtEl>
                                        <p:attrNameLst>
                                          <p:attrName>style.visibility</p:attrName>
                                        </p:attrNameLst>
                                      </p:cBhvr>
                                      <p:to>
                                        <p:strVal val="visible"/>
                                      </p:to>
                                    </p:set>
                                    <p:animEffect transition="in" filter="wipe(left)">
                                      <p:cBhvr>
                                        <p:cTn id="81" dur="500"/>
                                        <p:tgtEl>
                                          <p:spTgt spid="24"/>
                                        </p:tgtEl>
                                      </p:cBhvr>
                                    </p:animEffect>
                                  </p:childTnLst>
                                </p:cTn>
                              </p:par>
                            </p:childTnLst>
                          </p:cTn>
                        </p:par>
                        <p:par>
                          <p:cTn id="82" fill="hold" nodeType="afterGroup">
                            <p:stCondLst>
                              <p:cond delay="2000"/>
                            </p:stCondLst>
                            <p:childTnLst>
                              <p:par>
                                <p:cTn id="83" presetID="22" presetClass="entr" presetSubtype="1" fill="hold" nodeType="afterEffect">
                                  <p:stCondLst>
                                    <p:cond delay="0"/>
                                  </p:stCondLst>
                                  <p:childTnLst>
                                    <p:set>
                                      <p:cBhvr>
                                        <p:cTn id="84" dur="1" fill="hold">
                                          <p:stCondLst>
                                            <p:cond delay="0"/>
                                          </p:stCondLst>
                                        </p:cTn>
                                        <p:tgtEl>
                                          <p:spTgt spid="25"/>
                                        </p:tgtEl>
                                        <p:attrNameLst>
                                          <p:attrName>style.visibility</p:attrName>
                                        </p:attrNameLst>
                                      </p:cBhvr>
                                      <p:to>
                                        <p:strVal val="visible"/>
                                      </p:to>
                                    </p:set>
                                    <p:animEffect transition="in" filter="wipe(up)">
                                      <p:cBhvr>
                                        <p:cTn id="85" dur="500"/>
                                        <p:tgtEl>
                                          <p:spTgt spid="25"/>
                                        </p:tgtEl>
                                      </p:cBhvr>
                                    </p:animEffect>
                                  </p:childTnLst>
                                </p:cTn>
                              </p:par>
                              <p:par>
                                <p:cTn id="86" presetID="22" presetClass="entr" presetSubtype="1" fill="hold" nodeType="withEffect">
                                  <p:stCondLst>
                                    <p:cond delay="0"/>
                                  </p:stCondLst>
                                  <p:childTnLst>
                                    <p:set>
                                      <p:cBhvr>
                                        <p:cTn id="87" dur="1" fill="hold">
                                          <p:stCondLst>
                                            <p:cond delay="0"/>
                                          </p:stCondLst>
                                        </p:cTn>
                                        <p:tgtEl>
                                          <p:spTgt spid="26"/>
                                        </p:tgtEl>
                                        <p:attrNameLst>
                                          <p:attrName>style.visibility</p:attrName>
                                        </p:attrNameLst>
                                      </p:cBhvr>
                                      <p:to>
                                        <p:strVal val="visible"/>
                                      </p:to>
                                    </p:set>
                                    <p:animEffect transition="in" filter="wipe(up)">
                                      <p:cBhvr>
                                        <p:cTn id="88" dur="500"/>
                                        <p:tgtEl>
                                          <p:spTgt spid="26"/>
                                        </p:tgtEl>
                                      </p:cBhvr>
                                    </p:animEffect>
                                  </p:childTnLst>
                                </p:cTn>
                              </p:par>
                              <p:par>
                                <p:cTn id="89" presetID="22" presetClass="entr" presetSubtype="1" fill="hold" nodeType="withEffect">
                                  <p:stCondLst>
                                    <p:cond delay="0"/>
                                  </p:stCondLst>
                                  <p:childTnLst>
                                    <p:set>
                                      <p:cBhvr>
                                        <p:cTn id="90" dur="1" fill="hold">
                                          <p:stCondLst>
                                            <p:cond delay="0"/>
                                          </p:stCondLst>
                                        </p:cTn>
                                        <p:tgtEl>
                                          <p:spTgt spid="28"/>
                                        </p:tgtEl>
                                        <p:attrNameLst>
                                          <p:attrName>style.visibility</p:attrName>
                                        </p:attrNameLst>
                                      </p:cBhvr>
                                      <p:to>
                                        <p:strVal val="visible"/>
                                      </p:to>
                                    </p:set>
                                    <p:animEffect transition="in" filter="wipe(up)">
                                      <p:cBhvr>
                                        <p:cTn id="91" dur="500"/>
                                        <p:tgtEl>
                                          <p:spTgt spid="28"/>
                                        </p:tgtEl>
                                      </p:cBhvr>
                                    </p:animEffect>
                                  </p:childTnLst>
                                </p:cTn>
                              </p:par>
                            </p:childTnLst>
                          </p:cTn>
                        </p:par>
                      </p:childTnLst>
                    </p:cTn>
                  </p:par>
                  <p:par>
                    <p:cTn id="92" fill="hold" nodeType="clickPar">
                      <p:stCondLst>
                        <p:cond delay="indefinite"/>
                      </p:stCondLst>
                      <p:childTnLst>
                        <p:par>
                          <p:cTn id="93" fill="hold" nodeType="withGroup">
                            <p:stCondLst>
                              <p:cond delay="0"/>
                            </p:stCondLst>
                            <p:childTnLst>
                              <p:par>
                                <p:cTn id="94" presetID="22" presetClass="entr" presetSubtype="1" fill="hold" grpId="0" nodeType="clickEffect">
                                  <p:stCondLst>
                                    <p:cond delay="0"/>
                                  </p:stCondLst>
                                  <p:childTnLst>
                                    <p:set>
                                      <p:cBhvr>
                                        <p:cTn id="95" dur="1" fill="hold">
                                          <p:stCondLst>
                                            <p:cond delay="0"/>
                                          </p:stCondLst>
                                        </p:cTn>
                                        <p:tgtEl>
                                          <p:spTgt spid="42"/>
                                        </p:tgtEl>
                                        <p:attrNameLst>
                                          <p:attrName>style.visibility</p:attrName>
                                        </p:attrNameLst>
                                      </p:cBhvr>
                                      <p:to>
                                        <p:strVal val="visible"/>
                                      </p:to>
                                    </p:set>
                                    <p:animEffect transition="in" filter="wipe(up)">
                                      <p:cBhvr>
                                        <p:cTn id="96"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42" grpId="0" animBg="1"/>
    </p:bld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218" name="Group 22">
            <a:extLst>
              <a:ext uri="{FF2B5EF4-FFF2-40B4-BE49-F238E27FC236}">
                <a16:creationId xmlns:a16="http://schemas.microsoft.com/office/drawing/2014/main" id="{1F1D086C-9DDF-2ABC-487C-A71FAC6095AD}"/>
              </a:ext>
            </a:extLst>
          </p:cNvPr>
          <p:cNvGrpSpPr>
            <a:grpSpLocks/>
          </p:cNvGrpSpPr>
          <p:nvPr/>
        </p:nvGrpSpPr>
        <p:grpSpPr bwMode="auto">
          <a:xfrm>
            <a:off x="1952625" y="4581525"/>
            <a:ext cx="6505575" cy="1792288"/>
            <a:chOff x="2194477" y="4287296"/>
            <a:chExt cx="6807128" cy="1793227"/>
          </a:xfrm>
        </p:grpSpPr>
        <p:sp>
          <p:nvSpPr>
            <p:cNvPr id="9245" name="Rectangle 23">
              <a:extLst>
                <a:ext uri="{FF2B5EF4-FFF2-40B4-BE49-F238E27FC236}">
                  <a16:creationId xmlns:a16="http://schemas.microsoft.com/office/drawing/2014/main" id="{9300D6E5-5F43-CD2D-0493-14D9225581E6}"/>
                </a:ext>
              </a:extLst>
            </p:cNvPr>
            <p:cNvSpPr>
              <a:spLocks noChangeArrowheads="1"/>
            </p:cNvSpPr>
            <p:nvPr/>
          </p:nvSpPr>
          <p:spPr bwMode="auto">
            <a:xfrm>
              <a:off x="6762434" y="4454164"/>
              <a:ext cx="2239171" cy="1626359"/>
            </a:xfrm>
            <a:prstGeom prst="rect">
              <a:avLst/>
            </a:prstGeom>
            <a:solidFill>
              <a:srgbClr val="FFFF00">
                <a:alpha val="30196"/>
              </a:srgbClr>
            </a:solidFill>
            <a:ln w="9525" algn="ctr">
              <a:solidFill>
                <a:srgbClr val="FFC000"/>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The higher the normal form, the “better” are the relations (i.e. 3NF &gt; 2NF &gt; 1NF &gt; UNF)</a:t>
              </a:r>
            </a:p>
          </p:txBody>
        </p:sp>
        <p:grpSp>
          <p:nvGrpSpPr>
            <p:cNvPr id="9246" name="Group 24">
              <a:extLst>
                <a:ext uri="{FF2B5EF4-FFF2-40B4-BE49-F238E27FC236}">
                  <a16:creationId xmlns:a16="http://schemas.microsoft.com/office/drawing/2014/main" id="{13AB6210-6614-10C4-07CA-C62131CBD190}"/>
                </a:ext>
              </a:extLst>
            </p:cNvPr>
            <p:cNvGrpSpPr>
              <a:grpSpLocks/>
            </p:cNvGrpSpPr>
            <p:nvPr/>
          </p:nvGrpSpPr>
          <p:grpSpPr bwMode="auto">
            <a:xfrm>
              <a:off x="2194477" y="4287296"/>
              <a:ext cx="2910923" cy="1626359"/>
              <a:chOff x="4628935" y="2948582"/>
              <a:chExt cx="2081807" cy="960834"/>
            </a:xfrm>
          </p:grpSpPr>
          <p:sp>
            <p:nvSpPr>
              <p:cNvPr id="26" name="Freeform 25">
                <a:hlinkClick r:id="rId2" action="ppaction://hlinksldjump"/>
                <a:extLst>
                  <a:ext uri="{FF2B5EF4-FFF2-40B4-BE49-F238E27FC236}">
                    <a16:creationId xmlns:a16="http://schemas.microsoft.com/office/drawing/2014/main" id="{0929CB71-E9C5-0140-7180-83D7EA74D077}"/>
                  </a:ext>
                </a:extLst>
              </p:cNvPr>
              <p:cNvSpPr/>
              <p:nvPr/>
            </p:nvSpPr>
            <p:spPr>
              <a:xfrm>
                <a:off x="4628935" y="3230092"/>
                <a:ext cx="339757" cy="397868"/>
              </a:xfrm>
              <a:custGeom>
                <a:avLst/>
                <a:gdLst>
                  <a:gd name="connsiteX0" fmla="*/ 0 w 339494"/>
                  <a:gd name="connsiteY0" fmla="*/ 79429 h 397144"/>
                  <a:gd name="connsiteX1" fmla="*/ 169747 w 339494"/>
                  <a:gd name="connsiteY1" fmla="*/ 79429 h 397144"/>
                  <a:gd name="connsiteX2" fmla="*/ 169747 w 339494"/>
                  <a:gd name="connsiteY2" fmla="*/ 0 h 397144"/>
                  <a:gd name="connsiteX3" fmla="*/ 339494 w 339494"/>
                  <a:gd name="connsiteY3" fmla="*/ 198572 h 397144"/>
                  <a:gd name="connsiteX4" fmla="*/ 169747 w 339494"/>
                  <a:gd name="connsiteY4" fmla="*/ 397144 h 397144"/>
                  <a:gd name="connsiteX5" fmla="*/ 169747 w 339494"/>
                  <a:gd name="connsiteY5" fmla="*/ 317715 h 397144"/>
                  <a:gd name="connsiteX6" fmla="*/ 0 w 339494"/>
                  <a:gd name="connsiteY6" fmla="*/ 317715 h 397144"/>
                  <a:gd name="connsiteX7" fmla="*/ 0 w 339494"/>
                  <a:gd name="connsiteY7" fmla="*/ 79429 h 397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9494" h="397144">
                    <a:moveTo>
                      <a:pt x="0" y="79429"/>
                    </a:moveTo>
                    <a:lnTo>
                      <a:pt x="169747" y="79429"/>
                    </a:lnTo>
                    <a:lnTo>
                      <a:pt x="169747" y="0"/>
                    </a:lnTo>
                    <a:lnTo>
                      <a:pt x="339494" y="198572"/>
                    </a:lnTo>
                    <a:lnTo>
                      <a:pt x="169747" y="397144"/>
                    </a:lnTo>
                    <a:lnTo>
                      <a:pt x="169747" y="317715"/>
                    </a:lnTo>
                    <a:lnTo>
                      <a:pt x="0" y="317715"/>
                    </a:lnTo>
                    <a:lnTo>
                      <a:pt x="0" y="79429"/>
                    </a:lnTo>
                    <a:close/>
                  </a:path>
                </a:pathLst>
              </a:custGeom>
              <a:solidFill>
                <a:schemeClr val="accent5">
                  <a:alpha val="30000"/>
                </a:schemeClr>
              </a:solidFill>
              <a:ln>
                <a:solidFill>
                  <a:schemeClr val="accent5"/>
                </a:solidFill>
              </a:ln>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lIns="0" tIns="79429" rIns="101848" bIns="79429" spcCol="1270" anchor="ctr"/>
              <a:lstStyle/>
              <a:p>
                <a:pPr marL="0" marR="0" lvl="0" indent="0" algn="ctr" defTabSz="800100" rtl="0" eaLnBrk="0" fontAlgn="base" latinLnBrk="0" hangingPunct="0">
                  <a:lnSpc>
                    <a:spcPct val="90000"/>
                  </a:lnSpc>
                  <a:spcBef>
                    <a:spcPct val="0"/>
                  </a:spcBef>
                  <a:spcAft>
                    <a:spcPct val="35000"/>
                  </a:spcAft>
                  <a:buClrTx/>
                  <a:buSzTx/>
                  <a:buFontTx/>
                  <a:buNone/>
                  <a:tabLst/>
                  <a:defRPr/>
                </a:pPr>
                <a:endParaRPr kumimoji="0" lang="en-CA" sz="1800" b="0" i="0" u="none" strike="noStrike" kern="1200" cap="none" spc="0" normalizeH="0" baseline="0" noProof="0">
                  <a:ln>
                    <a:noFill/>
                  </a:ln>
                  <a:solidFill>
                    <a:srgbClr val="FFFFFF"/>
                  </a:solidFill>
                  <a:effectLst/>
                  <a:uLnTx/>
                  <a:uFillTx/>
                  <a:latin typeface="Calibri"/>
                  <a:ea typeface="+mn-ea"/>
                  <a:cs typeface="+mn-cs"/>
                </a:endParaRPr>
              </a:p>
            </p:txBody>
          </p:sp>
          <p:sp>
            <p:nvSpPr>
              <p:cNvPr id="27" name="Freeform 26">
                <a:hlinkClick r:id="rId3" action="ppaction://hlinksldjump"/>
                <a:extLst>
                  <a:ext uri="{FF2B5EF4-FFF2-40B4-BE49-F238E27FC236}">
                    <a16:creationId xmlns:a16="http://schemas.microsoft.com/office/drawing/2014/main" id="{9B65D308-F7CD-FF97-B7A0-837F05B9FDF5}"/>
                  </a:ext>
                </a:extLst>
              </p:cNvPr>
              <p:cNvSpPr/>
              <p:nvPr/>
            </p:nvSpPr>
            <p:spPr>
              <a:xfrm>
                <a:off x="5108871" y="2948582"/>
                <a:ext cx="1601370" cy="960889"/>
              </a:xfrm>
              <a:custGeom>
                <a:avLst/>
                <a:gdLst>
                  <a:gd name="connsiteX0" fmla="*/ 0 w 1601390"/>
                  <a:gd name="connsiteY0" fmla="*/ 96083 h 960834"/>
                  <a:gd name="connsiteX1" fmla="*/ 96083 w 1601390"/>
                  <a:gd name="connsiteY1" fmla="*/ 0 h 960834"/>
                  <a:gd name="connsiteX2" fmla="*/ 1505307 w 1601390"/>
                  <a:gd name="connsiteY2" fmla="*/ 0 h 960834"/>
                  <a:gd name="connsiteX3" fmla="*/ 1601390 w 1601390"/>
                  <a:gd name="connsiteY3" fmla="*/ 96083 h 960834"/>
                  <a:gd name="connsiteX4" fmla="*/ 1601390 w 1601390"/>
                  <a:gd name="connsiteY4" fmla="*/ 864751 h 960834"/>
                  <a:gd name="connsiteX5" fmla="*/ 1505307 w 1601390"/>
                  <a:gd name="connsiteY5" fmla="*/ 960834 h 960834"/>
                  <a:gd name="connsiteX6" fmla="*/ 96083 w 1601390"/>
                  <a:gd name="connsiteY6" fmla="*/ 960834 h 960834"/>
                  <a:gd name="connsiteX7" fmla="*/ 0 w 1601390"/>
                  <a:gd name="connsiteY7" fmla="*/ 864751 h 960834"/>
                  <a:gd name="connsiteX8" fmla="*/ 0 w 1601390"/>
                  <a:gd name="connsiteY8" fmla="*/ 96083 h 960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01390" h="960834">
                    <a:moveTo>
                      <a:pt x="0" y="96083"/>
                    </a:moveTo>
                    <a:cubicBezTo>
                      <a:pt x="0" y="43018"/>
                      <a:pt x="43018" y="0"/>
                      <a:pt x="96083" y="0"/>
                    </a:cubicBezTo>
                    <a:lnTo>
                      <a:pt x="1505307" y="0"/>
                    </a:lnTo>
                    <a:cubicBezTo>
                      <a:pt x="1558372" y="0"/>
                      <a:pt x="1601390" y="43018"/>
                      <a:pt x="1601390" y="96083"/>
                    </a:cubicBezTo>
                    <a:lnTo>
                      <a:pt x="1601390" y="864751"/>
                    </a:lnTo>
                    <a:cubicBezTo>
                      <a:pt x="1601390" y="917816"/>
                      <a:pt x="1558372" y="960834"/>
                      <a:pt x="1505307" y="960834"/>
                    </a:cubicBezTo>
                    <a:lnTo>
                      <a:pt x="96083" y="960834"/>
                    </a:lnTo>
                    <a:cubicBezTo>
                      <a:pt x="43018" y="960834"/>
                      <a:pt x="0" y="917816"/>
                      <a:pt x="0" y="864751"/>
                    </a:cubicBezTo>
                    <a:lnTo>
                      <a:pt x="0" y="96083"/>
                    </a:lnTo>
                    <a:close/>
                  </a:path>
                </a:pathLst>
              </a:custGeom>
              <a:solidFill>
                <a:schemeClr val="accent3">
                  <a:alpha val="30000"/>
                </a:schemeClr>
              </a:solidFill>
              <a:ln>
                <a:solidFill>
                  <a:schemeClr val="accent3"/>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180542" tIns="180542" rIns="180542" bIns="180542" spcCol="1270" anchor="ctr"/>
              <a:lstStyle/>
              <a:p>
                <a:pPr marL="0" marR="0" lvl="0" indent="0" algn="ctr" defTabSz="1778000" rtl="0" eaLnBrk="0" fontAlgn="base" latinLnBrk="0" hangingPunct="0">
                  <a:lnSpc>
                    <a:spcPct val="90000"/>
                  </a:lnSpc>
                  <a:spcBef>
                    <a:spcPct val="0"/>
                  </a:spcBef>
                  <a:spcAft>
                    <a:spcPct val="35000"/>
                  </a:spcAft>
                  <a:buClrTx/>
                  <a:buSzTx/>
                  <a:buFontTx/>
                  <a:buNone/>
                  <a:tabLst/>
                  <a:defRPr/>
                </a:pPr>
                <a:r>
                  <a:rPr kumimoji="0" lang="en-CA" sz="2000" b="0" i="0" u="none" strike="noStrike" kern="1200" cap="none" spc="0" normalizeH="0" baseline="0" noProof="0" dirty="0">
                    <a:ln>
                      <a:noFill/>
                    </a:ln>
                    <a:solidFill>
                      <a:srgbClr val="2F2B20"/>
                    </a:solidFill>
                    <a:effectLst/>
                    <a:uLnTx/>
                    <a:uFillTx/>
                    <a:latin typeface="Calibri"/>
                    <a:ea typeface="+mn-ea"/>
                    <a:cs typeface="+mn-cs"/>
                  </a:rPr>
                  <a:t>Third Normal Form (3NF)</a:t>
                </a:r>
              </a:p>
            </p:txBody>
          </p:sp>
        </p:grpSp>
      </p:grpSp>
      <p:sp>
        <p:nvSpPr>
          <p:cNvPr id="9219" name="Content Placeholder 2">
            <a:extLst>
              <a:ext uri="{FF2B5EF4-FFF2-40B4-BE49-F238E27FC236}">
                <a16:creationId xmlns:a16="http://schemas.microsoft.com/office/drawing/2014/main" id="{1A87664B-B4A1-4BBB-F653-2F015F0EE61B}"/>
              </a:ext>
            </a:extLst>
          </p:cNvPr>
          <p:cNvSpPr txBox="1">
            <a:spLocks/>
          </p:cNvSpPr>
          <p:nvPr/>
        </p:nvSpPr>
        <p:spPr bwMode="auto">
          <a:xfrm>
            <a:off x="250825" y="1587500"/>
            <a:ext cx="8053388"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Normalization consists of working through a series of stages known as normal forms</a:t>
            </a:r>
            <a:endParaRPr kumimoji="0" lang="en-US" altLang="en-US" sz="32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US" altLang="en-US" sz="32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rPr>
              <a:t> </a:t>
            </a: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grpSp>
        <p:nvGrpSpPr>
          <p:cNvPr id="9220" name="Group 4">
            <a:extLst>
              <a:ext uri="{FF2B5EF4-FFF2-40B4-BE49-F238E27FC236}">
                <a16:creationId xmlns:a16="http://schemas.microsoft.com/office/drawing/2014/main" id="{9748E0A0-C692-6235-8F8E-FA759A4B8578}"/>
              </a:ext>
            </a:extLst>
          </p:cNvPr>
          <p:cNvGrpSpPr>
            <a:grpSpLocks/>
          </p:cNvGrpSpPr>
          <p:nvPr/>
        </p:nvGrpSpPr>
        <p:grpSpPr bwMode="auto">
          <a:xfrm>
            <a:off x="76200" y="2738438"/>
            <a:ext cx="8132763" cy="1625600"/>
            <a:chOff x="1529357" y="2948582"/>
            <a:chExt cx="6085284" cy="960834"/>
          </a:xfrm>
        </p:grpSpPr>
        <p:sp>
          <p:nvSpPr>
            <p:cNvPr id="6" name="Freeform 5">
              <a:extLst>
                <a:ext uri="{FF2B5EF4-FFF2-40B4-BE49-F238E27FC236}">
                  <a16:creationId xmlns:a16="http://schemas.microsoft.com/office/drawing/2014/main" id="{B401BC6B-9130-88BB-7B4E-DBF0FD43A96E}"/>
                </a:ext>
              </a:extLst>
            </p:cNvPr>
            <p:cNvSpPr/>
            <p:nvPr/>
          </p:nvSpPr>
          <p:spPr>
            <a:xfrm>
              <a:off x="1529357" y="2948582"/>
              <a:ext cx="1602391" cy="960834"/>
            </a:xfrm>
            <a:custGeom>
              <a:avLst/>
              <a:gdLst>
                <a:gd name="connsiteX0" fmla="*/ 0 w 1601390"/>
                <a:gd name="connsiteY0" fmla="*/ 96083 h 960834"/>
                <a:gd name="connsiteX1" fmla="*/ 96083 w 1601390"/>
                <a:gd name="connsiteY1" fmla="*/ 0 h 960834"/>
                <a:gd name="connsiteX2" fmla="*/ 1505307 w 1601390"/>
                <a:gd name="connsiteY2" fmla="*/ 0 h 960834"/>
                <a:gd name="connsiteX3" fmla="*/ 1601390 w 1601390"/>
                <a:gd name="connsiteY3" fmla="*/ 96083 h 960834"/>
                <a:gd name="connsiteX4" fmla="*/ 1601390 w 1601390"/>
                <a:gd name="connsiteY4" fmla="*/ 864751 h 960834"/>
                <a:gd name="connsiteX5" fmla="*/ 1505307 w 1601390"/>
                <a:gd name="connsiteY5" fmla="*/ 960834 h 960834"/>
                <a:gd name="connsiteX6" fmla="*/ 96083 w 1601390"/>
                <a:gd name="connsiteY6" fmla="*/ 960834 h 960834"/>
                <a:gd name="connsiteX7" fmla="*/ 0 w 1601390"/>
                <a:gd name="connsiteY7" fmla="*/ 864751 h 960834"/>
                <a:gd name="connsiteX8" fmla="*/ 0 w 1601390"/>
                <a:gd name="connsiteY8" fmla="*/ 96083 h 960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01390" h="960834">
                  <a:moveTo>
                    <a:pt x="0" y="96083"/>
                  </a:moveTo>
                  <a:cubicBezTo>
                    <a:pt x="0" y="43018"/>
                    <a:pt x="43018" y="0"/>
                    <a:pt x="96083" y="0"/>
                  </a:cubicBezTo>
                  <a:lnTo>
                    <a:pt x="1505307" y="0"/>
                  </a:lnTo>
                  <a:cubicBezTo>
                    <a:pt x="1558372" y="0"/>
                    <a:pt x="1601390" y="43018"/>
                    <a:pt x="1601390" y="96083"/>
                  </a:cubicBezTo>
                  <a:lnTo>
                    <a:pt x="1601390" y="864751"/>
                  </a:lnTo>
                  <a:cubicBezTo>
                    <a:pt x="1601390" y="917816"/>
                    <a:pt x="1558372" y="960834"/>
                    <a:pt x="1505307" y="960834"/>
                  </a:cubicBezTo>
                  <a:lnTo>
                    <a:pt x="96083" y="960834"/>
                  </a:lnTo>
                  <a:cubicBezTo>
                    <a:pt x="43018" y="960834"/>
                    <a:pt x="0" y="917816"/>
                    <a:pt x="0" y="864751"/>
                  </a:cubicBezTo>
                  <a:lnTo>
                    <a:pt x="0" y="96083"/>
                  </a:lnTo>
                  <a:close/>
                </a:path>
              </a:pathLst>
            </a:custGeom>
            <a:no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180542" tIns="180542" rIns="180542" bIns="180542" spcCol="1270" anchor="ctr"/>
            <a:lstStyle/>
            <a:p>
              <a:pPr marL="0" marR="0" lvl="0" indent="0" algn="ctr" defTabSz="1778000" rtl="0" eaLnBrk="0" fontAlgn="base" latinLnBrk="0" hangingPunct="0">
                <a:lnSpc>
                  <a:spcPct val="90000"/>
                </a:lnSpc>
                <a:spcBef>
                  <a:spcPct val="0"/>
                </a:spcBef>
                <a:spcAft>
                  <a:spcPct val="35000"/>
                </a:spcAft>
                <a:buClrTx/>
                <a:buSzTx/>
                <a:buFontTx/>
                <a:buNone/>
                <a:tabLst/>
                <a:defRPr/>
              </a:pPr>
              <a:r>
                <a:rPr kumimoji="0" lang="en-CA" sz="2000" b="0" i="0" u="none" strike="noStrike" kern="1200" cap="none" spc="0" normalizeH="0" baseline="0" noProof="0" dirty="0" err="1">
                  <a:ln>
                    <a:noFill/>
                  </a:ln>
                  <a:solidFill>
                    <a:srgbClr val="2F2B20"/>
                  </a:solidFill>
                  <a:effectLst/>
                  <a:uLnTx/>
                  <a:uFillTx/>
                  <a:latin typeface="Calibri"/>
                  <a:ea typeface="+mn-ea"/>
                  <a:cs typeface="+mn-cs"/>
                </a:rPr>
                <a:t>Unnormalized</a:t>
              </a:r>
              <a:r>
                <a:rPr kumimoji="0" lang="en-CA" sz="2000" b="0" i="0" u="none" strike="noStrike" kern="1200" cap="none" spc="0" normalizeH="0" baseline="0" noProof="0" dirty="0">
                  <a:ln>
                    <a:noFill/>
                  </a:ln>
                  <a:solidFill>
                    <a:srgbClr val="2F2B20"/>
                  </a:solidFill>
                  <a:effectLst/>
                  <a:uLnTx/>
                  <a:uFillTx/>
                  <a:latin typeface="Calibri"/>
                  <a:ea typeface="+mn-ea"/>
                  <a:cs typeface="+mn-cs"/>
                </a:rPr>
                <a:t> Form (UNF)</a:t>
              </a:r>
            </a:p>
          </p:txBody>
        </p:sp>
        <p:sp>
          <p:nvSpPr>
            <p:cNvPr id="7" name="Freeform 6">
              <a:extLst>
                <a:ext uri="{FF2B5EF4-FFF2-40B4-BE49-F238E27FC236}">
                  <a16:creationId xmlns:a16="http://schemas.microsoft.com/office/drawing/2014/main" id="{F3B6C119-0DD9-784A-F184-E1C3F80EAC50}"/>
                </a:ext>
              </a:extLst>
            </p:cNvPr>
            <p:cNvSpPr/>
            <p:nvPr/>
          </p:nvSpPr>
          <p:spPr>
            <a:xfrm>
              <a:off x="3290918" y="3230076"/>
              <a:ext cx="339721" cy="397845"/>
            </a:xfrm>
            <a:custGeom>
              <a:avLst/>
              <a:gdLst>
                <a:gd name="connsiteX0" fmla="*/ 0 w 339494"/>
                <a:gd name="connsiteY0" fmla="*/ 79429 h 397144"/>
                <a:gd name="connsiteX1" fmla="*/ 169747 w 339494"/>
                <a:gd name="connsiteY1" fmla="*/ 79429 h 397144"/>
                <a:gd name="connsiteX2" fmla="*/ 169747 w 339494"/>
                <a:gd name="connsiteY2" fmla="*/ 0 h 397144"/>
                <a:gd name="connsiteX3" fmla="*/ 339494 w 339494"/>
                <a:gd name="connsiteY3" fmla="*/ 198572 h 397144"/>
                <a:gd name="connsiteX4" fmla="*/ 169747 w 339494"/>
                <a:gd name="connsiteY4" fmla="*/ 397144 h 397144"/>
                <a:gd name="connsiteX5" fmla="*/ 169747 w 339494"/>
                <a:gd name="connsiteY5" fmla="*/ 317715 h 397144"/>
                <a:gd name="connsiteX6" fmla="*/ 0 w 339494"/>
                <a:gd name="connsiteY6" fmla="*/ 317715 h 397144"/>
                <a:gd name="connsiteX7" fmla="*/ 0 w 339494"/>
                <a:gd name="connsiteY7" fmla="*/ 79429 h 397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9494" h="397144">
                  <a:moveTo>
                    <a:pt x="0" y="79429"/>
                  </a:moveTo>
                  <a:lnTo>
                    <a:pt x="169747" y="79429"/>
                  </a:lnTo>
                  <a:lnTo>
                    <a:pt x="169747" y="0"/>
                  </a:lnTo>
                  <a:lnTo>
                    <a:pt x="339494" y="198572"/>
                  </a:lnTo>
                  <a:lnTo>
                    <a:pt x="169747" y="397144"/>
                  </a:lnTo>
                  <a:lnTo>
                    <a:pt x="169747" y="317715"/>
                  </a:lnTo>
                  <a:lnTo>
                    <a:pt x="0" y="317715"/>
                  </a:lnTo>
                  <a:lnTo>
                    <a:pt x="0" y="79429"/>
                  </a:lnTo>
                  <a:close/>
                </a:path>
              </a:pathLst>
            </a:custGeom>
            <a:solidFill>
              <a:schemeClr val="bg1"/>
            </a:solidFill>
            <a:ln>
              <a:solidFill>
                <a:schemeClr val="tx1"/>
              </a:solidFill>
            </a:ln>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lIns="0" tIns="79429" rIns="101848" bIns="79429" spcCol="1270" anchor="ctr"/>
            <a:lstStyle/>
            <a:p>
              <a:pPr marL="0" marR="0" lvl="0" indent="0" algn="ctr" defTabSz="800100" rtl="0" eaLnBrk="0" fontAlgn="base" latinLnBrk="0" hangingPunct="0">
                <a:lnSpc>
                  <a:spcPct val="90000"/>
                </a:lnSpc>
                <a:spcBef>
                  <a:spcPct val="0"/>
                </a:spcBef>
                <a:spcAft>
                  <a:spcPct val="35000"/>
                </a:spcAft>
                <a:buClrTx/>
                <a:buSzTx/>
                <a:buFontTx/>
                <a:buNone/>
                <a:tabLst/>
                <a:defRPr/>
              </a:pPr>
              <a:endParaRPr kumimoji="0" lang="en-CA" sz="1800" b="0" i="0" u="none" strike="noStrike" kern="1200" cap="none" spc="0" normalizeH="0" baseline="0" noProof="0">
                <a:ln>
                  <a:noFill/>
                </a:ln>
                <a:solidFill>
                  <a:srgbClr val="FFFFFF"/>
                </a:solidFill>
                <a:effectLst/>
                <a:uLnTx/>
                <a:uFillTx/>
                <a:latin typeface="Calibri"/>
                <a:ea typeface="+mn-ea"/>
                <a:cs typeface="+mn-cs"/>
              </a:endParaRPr>
            </a:p>
          </p:txBody>
        </p:sp>
        <p:sp>
          <p:nvSpPr>
            <p:cNvPr id="8" name="Freeform 7">
              <a:extLst>
                <a:ext uri="{FF2B5EF4-FFF2-40B4-BE49-F238E27FC236}">
                  <a16:creationId xmlns:a16="http://schemas.microsoft.com/office/drawing/2014/main" id="{D31CB54D-DB73-D522-5374-11069B7DD48D}"/>
                </a:ext>
              </a:extLst>
            </p:cNvPr>
            <p:cNvSpPr/>
            <p:nvPr/>
          </p:nvSpPr>
          <p:spPr>
            <a:xfrm>
              <a:off x="3771991" y="2948582"/>
              <a:ext cx="1600015" cy="960834"/>
            </a:xfrm>
            <a:custGeom>
              <a:avLst/>
              <a:gdLst>
                <a:gd name="connsiteX0" fmla="*/ 0 w 1601390"/>
                <a:gd name="connsiteY0" fmla="*/ 96083 h 960834"/>
                <a:gd name="connsiteX1" fmla="*/ 96083 w 1601390"/>
                <a:gd name="connsiteY1" fmla="*/ 0 h 960834"/>
                <a:gd name="connsiteX2" fmla="*/ 1505307 w 1601390"/>
                <a:gd name="connsiteY2" fmla="*/ 0 h 960834"/>
                <a:gd name="connsiteX3" fmla="*/ 1601390 w 1601390"/>
                <a:gd name="connsiteY3" fmla="*/ 96083 h 960834"/>
                <a:gd name="connsiteX4" fmla="*/ 1601390 w 1601390"/>
                <a:gd name="connsiteY4" fmla="*/ 864751 h 960834"/>
                <a:gd name="connsiteX5" fmla="*/ 1505307 w 1601390"/>
                <a:gd name="connsiteY5" fmla="*/ 960834 h 960834"/>
                <a:gd name="connsiteX6" fmla="*/ 96083 w 1601390"/>
                <a:gd name="connsiteY6" fmla="*/ 960834 h 960834"/>
                <a:gd name="connsiteX7" fmla="*/ 0 w 1601390"/>
                <a:gd name="connsiteY7" fmla="*/ 864751 h 960834"/>
                <a:gd name="connsiteX8" fmla="*/ 0 w 1601390"/>
                <a:gd name="connsiteY8" fmla="*/ 96083 h 960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01390" h="960834">
                  <a:moveTo>
                    <a:pt x="0" y="96083"/>
                  </a:moveTo>
                  <a:cubicBezTo>
                    <a:pt x="0" y="43018"/>
                    <a:pt x="43018" y="0"/>
                    <a:pt x="96083" y="0"/>
                  </a:cubicBezTo>
                  <a:lnTo>
                    <a:pt x="1505307" y="0"/>
                  </a:lnTo>
                  <a:cubicBezTo>
                    <a:pt x="1558372" y="0"/>
                    <a:pt x="1601390" y="43018"/>
                    <a:pt x="1601390" y="96083"/>
                  </a:cubicBezTo>
                  <a:lnTo>
                    <a:pt x="1601390" y="864751"/>
                  </a:lnTo>
                  <a:cubicBezTo>
                    <a:pt x="1601390" y="917816"/>
                    <a:pt x="1558372" y="960834"/>
                    <a:pt x="1505307" y="960834"/>
                  </a:cubicBezTo>
                  <a:lnTo>
                    <a:pt x="96083" y="960834"/>
                  </a:lnTo>
                  <a:cubicBezTo>
                    <a:pt x="43018" y="960834"/>
                    <a:pt x="0" y="917816"/>
                    <a:pt x="0" y="864751"/>
                  </a:cubicBezTo>
                  <a:lnTo>
                    <a:pt x="0" y="96083"/>
                  </a:lnTo>
                  <a:close/>
                </a:path>
              </a:pathLst>
            </a:custGeom>
            <a:solidFill>
              <a:schemeClr val="accent6">
                <a:alpha val="30000"/>
              </a:schemeClr>
            </a:solidFill>
            <a:ln>
              <a:solidFill>
                <a:schemeClr val="accent6"/>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180542" tIns="180542" rIns="180542" bIns="180542" spcCol="1270" anchor="ctr"/>
            <a:lstStyle/>
            <a:p>
              <a:pPr marL="0" marR="0" lvl="0" indent="0" algn="ctr" defTabSz="1778000" rtl="0" eaLnBrk="0" fontAlgn="base" latinLnBrk="0" hangingPunct="0">
                <a:lnSpc>
                  <a:spcPct val="90000"/>
                </a:lnSpc>
                <a:spcBef>
                  <a:spcPct val="0"/>
                </a:spcBef>
                <a:spcAft>
                  <a:spcPct val="35000"/>
                </a:spcAft>
                <a:buClrTx/>
                <a:buSzTx/>
                <a:buFontTx/>
                <a:buNone/>
                <a:tabLst/>
                <a:defRPr/>
              </a:pPr>
              <a:r>
                <a:rPr kumimoji="0" lang="en-CA" sz="2000" b="0" i="0" u="none" strike="noStrike" kern="1200" cap="none" spc="0" normalizeH="0" baseline="0" noProof="0" dirty="0">
                  <a:ln>
                    <a:noFill/>
                  </a:ln>
                  <a:solidFill>
                    <a:srgbClr val="2F2B20"/>
                  </a:solidFill>
                  <a:effectLst/>
                  <a:uLnTx/>
                  <a:uFillTx/>
                  <a:latin typeface="Calibri"/>
                  <a:ea typeface="+mn-ea"/>
                  <a:cs typeface="+mn-cs"/>
                </a:rPr>
                <a:t>First Normal Form (1NF)</a:t>
              </a:r>
            </a:p>
          </p:txBody>
        </p:sp>
        <p:sp>
          <p:nvSpPr>
            <p:cNvPr id="9" name="Freeform 8">
              <a:extLst>
                <a:ext uri="{FF2B5EF4-FFF2-40B4-BE49-F238E27FC236}">
                  <a16:creationId xmlns:a16="http://schemas.microsoft.com/office/drawing/2014/main" id="{B5936848-BD6A-8D01-3D34-A5B573E8F0DD}"/>
                </a:ext>
              </a:extLst>
            </p:cNvPr>
            <p:cNvSpPr/>
            <p:nvPr/>
          </p:nvSpPr>
          <p:spPr>
            <a:xfrm>
              <a:off x="5532364" y="3230076"/>
              <a:ext cx="339721" cy="397845"/>
            </a:xfrm>
            <a:custGeom>
              <a:avLst/>
              <a:gdLst>
                <a:gd name="connsiteX0" fmla="*/ 0 w 339494"/>
                <a:gd name="connsiteY0" fmla="*/ 79429 h 397144"/>
                <a:gd name="connsiteX1" fmla="*/ 169747 w 339494"/>
                <a:gd name="connsiteY1" fmla="*/ 79429 h 397144"/>
                <a:gd name="connsiteX2" fmla="*/ 169747 w 339494"/>
                <a:gd name="connsiteY2" fmla="*/ 0 h 397144"/>
                <a:gd name="connsiteX3" fmla="*/ 339494 w 339494"/>
                <a:gd name="connsiteY3" fmla="*/ 198572 h 397144"/>
                <a:gd name="connsiteX4" fmla="*/ 169747 w 339494"/>
                <a:gd name="connsiteY4" fmla="*/ 397144 h 397144"/>
                <a:gd name="connsiteX5" fmla="*/ 169747 w 339494"/>
                <a:gd name="connsiteY5" fmla="*/ 317715 h 397144"/>
                <a:gd name="connsiteX6" fmla="*/ 0 w 339494"/>
                <a:gd name="connsiteY6" fmla="*/ 317715 h 397144"/>
                <a:gd name="connsiteX7" fmla="*/ 0 w 339494"/>
                <a:gd name="connsiteY7" fmla="*/ 79429 h 397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9494" h="397144">
                  <a:moveTo>
                    <a:pt x="0" y="79429"/>
                  </a:moveTo>
                  <a:lnTo>
                    <a:pt x="169747" y="79429"/>
                  </a:lnTo>
                  <a:lnTo>
                    <a:pt x="169747" y="0"/>
                  </a:lnTo>
                  <a:lnTo>
                    <a:pt x="339494" y="198572"/>
                  </a:lnTo>
                  <a:lnTo>
                    <a:pt x="169747" y="397144"/>
                  </a:lnTo>
                  <a:lnTo>
                    <a:pt x="169747" y="317715"/>
                  </a:lnTo>
                  <a:lnTo>
                    <a:pt x="0" y="317715"/>
                  </a:lnTo>
                  <a:lnTo>
                    <a:pt x="0" y="79429"/>
                  </a:lnTo>
                  <a:close/>
                </a:path>
              </a:pathLst>
            </a:custGeom>
            <a:solidFill>
              <a:schemeClr val="accent6">
                <a:alpha val="30000"/>
              </a:schemeClr>
            </a:solidFill>
            <a:ln>
              <a:solidFill>
                <a:schemeClr val="accent6"/>
              </a:solidFill>
            </a:ln>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lIns="0" tIns="79429" rIns="101848" bIns="79429" spcCol="1270" anchor="ctr"/>
            <a:lstStyle/>
            <a:p>
              <a:pPr marL="0" marR="0" lvl="0" indent="0" algn="ctr" defTabSz="800100" rtl="0" eaLnBrk="0" fontAlgn="base" latinLnBrk="0" hangingPunct="0">
                <a:lnSpc>
                  <a:spcPct val="90000"/>
                </a:lnSpc>
                <a:spcBef>
                  <a:spcPct val="0"/>
                </a:spcBef>
                <a:spcAft>
                  <a:spcPct val="35000"/>
                </a:spcAft>
                <a:buClrTx/>
                <a:buSzTx/>
                <a:buFontTx/>
                <a:buNone/>
                <a:tabLst/>
                <a:defRPr/>
              </a:pPr>
              <a:endParaRPr kumimoji="0" lang="en-CA" sz="1800" b="0" i="0" u="none" strike="noStrike" kern="1200" cap="none" spc="0" normalizeH="0" baseline="0" noProof="0">
                <a:ln>
                  <a:noFill/>
                </a:ln>
                <a:solidFill>
                  <a:srgbClr val="FFFFFF"/>
                </a:solidFill>
                <a:effectLst/>
                <a:uLnTx/>
                <a:uFillTx/>
                <a:latin typeface="Calibri"/>
                <a:ea typeface="+mn-ea"/>
                <a:cs typeface="+mn-cs"/>
              </a:endParaRPr>
            </a:p>
          </p:txBody>
        </p:sp>
        <p:sp>
          <p:nvSpPr>
            <p:cNvPr id="11" name="Freeform 10">
              <a:extLst>
                <a:ext uri="{FF2B5EF4-FFF2-40B4-BE49-F238E27FC236}">
                  <a16:creationId xmlns:a16="http://schemas.microsoft.com/office/drawing/2014/main" id="{CB775AF2-0262-1E26-7B66-3702C95F3BB6}"/>
                </a:ext>
              </a:extLst>
            </p:cNvPr>
            <p:cNvSpPr/>
            <p:nvPr/>
          </p:nvSpPr>
          <p:spPr>
            <a:xfrm>
              <a:off x="6012250" y="2948582"/>
              <a:ext cx="1602391" cy="960834"/>
            </a:xfrm>
            <a:custGeom>
              <a:avLst/>
              <a:gdLst>
                <a:gd name="connsiteX0" fmla="*/ 0 w 1601390"/>
                <a:gd name="connsiteY0" fmla="*/ 96083 h 960834"/>
                <a:gd name="connsiteX1" fmla="*/ 96083 w 1601390"/>
                <a:gd name="connsiteY1" fmla="*/ 0 h 960834"/>
                <a:gd name="connsiteX2" fmla="*/ 1505307 w 1601390"/>
                <a:gd name="connsiteY2" fmla="*/ 0 h 960834"/>
                <a:gd name="connsiteX3" fmla="*/ 1601390 w 1601390"/>
                <a:gd name="connsiteY3" fmla="*/ 96083 h 960834"/>
                <a:gd name="connsiteX4" fmla="*/ 1601390 w 1601390"/>
                <a:gd name="connsiteY4" fmla="*/ 864751 h 960834"/>
                <a:gd name="connsiteX5" fmla="*/ 1505307 w 1601390"/>
                <a:gd name="connsiteY5" fmla="*/ 960834 h 960834"/>
                <a:gd name="connsiteX6" fmla="*/ 96083 w 1601390"/>
                <a:gd name="connsiteY6" fmla="*/ 960834 h 960834"/>
                <a:gd name="connsiteX7" fmla="*/ 0 w 1601390"/>
                <a:gd name="connsiteY7" fmla="*/ 864751 h 960834"/>
                <a:gd name="connsiteX8" fmla="*/ 0 w 1601390"/>
                <a:gd name="connsiteY8" fmla="*/ 96083 h 960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01390" h="960834">
                  <a:moveTo>
                    <a:pt x="0" y="96083"/>
                  </a:moveTo>
                  <a:cubicBezTo>
                    <a:pt x="0" y="43018"/>
                    <a:pt x="43018" y="0"/>
                    <a:pt x="96083" y="0"/>
                  </a:cubicBezTo>
                  <a:lnTo>
                    <a:pt x="1505307" y="0"/>
                  </a:lnTo>
                  <a:cubicBezTo>
                    <a:pt x="1558372" y="0"/>
                    <a:pt x="1601390" y="43018"/>
                    <a:pt x="1601390" y="96083"/>
                  </a:cubicBezTo>
                  <a:lnTo>
                    <a:pt x="1601390" y="864751"/>
                  </a:lnTo>
                  <a:cubicBezTo>
                    <a:pt x="1601390" y="917816"/>
                    <a:pt x="1558372" y="960834"/>
                    <a:pt x="1505307" y="960834"/>
                  </a:cubicBezTo>
                  <a:lnTo>
                    <a:pt x="96083" y="960834"/>
                  </a:lnTo>
                  <a:cubicBezTo>
                    <a:pt x="43018" y="960834"/>
                    <a:pt x="0" y="917816"/>
                    <a:pt x="0" y="864751"/>
                  </a:cubicBezTo>
                  <a:lnTo>
                    <a:pt x="0" y="96083"/>
                  </a:lnTo>
                  <a:close/>
                </a:path>
              </a:pathLst>
            </a:custGeom>
            <a:solidFill>
              <a:schemeClr val="accent5">
                <a:alpha val="30000"/>
              </a:schemeClr>
            </a:solidFill>
            <a:ln>
              <a:solidFill>
                <a:schemeClr val="accent5"/>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180542" tIns="180542" rIns="180542" bIns="180542" spcCol="1270" anchor="ctr"/>
            <a:lstStyle/>
            <a:p>
              <a:pPr marL="0" marR="0" lvl="0" indent="0" algn="ctr" defTabSz="1778000" rtl="0" eaLnBrk="0" fontAlgn="base" latinLnBrk="0" hangingPunct="0">
                <a:lnSpc>
                  <a:spcPct val="90000"/>
                </a:lnSpc>
                <a:spcBef>
                  <a:spcPct val="0"/>
                </a:spcBef>
                <a:spcAft>
                  <a:spcPct val="35000"/>
                </a:spcAft>
                <a:buClrTx/>
                <a:buSzTx/>
                <a:buFontTx/>
                <a:buNone/>
                <a:tabLst/>
                <a:defRPr/>
              </a:pPr>
              <a:r>
                <a:rPr kumimoji="0" lang="en-CA" sz="2000" b="0" i="0" u="none" strike="noStrike" kern="1200" cap="none" spc="0" normalizeH="0" baseline="0" noProof="0" dirty="0">
                  <a:ln>
                    <a:noFill/>
                  </a:ln>
                  <a:solidFill>
                    <a:srgbClr val="2F2B20"/>
                  </a:solidFill>
                  <a:effectLst/>
                  <a:uLnTx/>
                  <a:uFillTx/>
                  <a:latin typeface="Calibri"/>
                  <a:ea typeface="+mn-ea"/>
                  <a:cs typeface="+mn-cs"/>
                </a:rPr>
                <a:t>Second Normal Form (2NF)</a:t>
              </a:r>
            </a:p>
          </p:txBody>
        </p:sp>
      </p:grpSp>
      <p:sp>
        <p:nvSpPr>
          <p:cNvPr id="17" name="Title 1">
            <a:extLst>
              <a:ext uri="{FF2B5EF4-FFF2-40B4-BE49-F238E27FC236}">
                <a16:creationId xmlns:a16="http://schemas.microsoft.com/office/drawing/2014/main" id="{61D48CB3-5BA8-20CB-E54F-A93961401593}"/>
              </a:ext>
            </a:extLst>
          </p:cNvPr>
          <p:cNvSpPr txBox="1">
            <a:spLocks/>
          </p:cNvSpPr>
          <p:nvPr/>
        </p:nvSpPr>
        <p:spPr bwMode="auto">
          <a:xfrm>
            <a:off x="0" y="1498600"/>
            <a:ext cx="8172450" cy="323850"/>
          </a:xfrm>
          <a:prstGeom prst="rect">
            <a:avLst/>
          </a:prstGeom>
          <a:noFill/>
          <a:ln w="9525">
            <a:noFill/>
            <a:miter lim="800000"/>
            <a:headEnd/>
            <a:tailEnd/>
          </a:ln>
        </p:spPr>
        <p:txBody>
          <a:bodyPr lIns="72000" tIns="0" rIns="72000" bIns="0"/>
          <a:lstStyle/>
          <a:p>
            <a:pPr marL="0" marR="0" lvl="0" indent="0" algn="l" defTabSz="720000" rtl="0" eaLnBrk="1" fontAlgn="base" latinLnBrk="0" hangingPunct="1">
              <a:lnSpc>
                <a:spcPts val="1800"/>
              </a:lnSpc>
              <a:spcBef>
                <a:spcPts val="0"/>
              </a:spcBef>
              <a:spcAft>
                <a:spcPts val="0"/>
              </a:spcAft>
              <a:buClrTx/>
              <a:buSzTx/>
              <a:buFontTx/>
              <a:buNone/>
              <a:tabLst>
                <a:tab pos="0" algn="l"/>
              </a:tabLst>
              <a:defRPr/>
            </a:pPr>
            <a:r>
              <a:rPr kumimoji="0" lang="en-CA" sz="1800" b="1" i="0" u="none" strike="noStrike" kern="0" cap="none" spc="0" normalizeH="0" baseline="0" noProof="0" dirty="0">
                <a:ln>
                  <a:noFill/>
                </a:ln>
                <a:solidFill>
                  <a:srgbClr val="2F2B20"/>
                </a:solidFill>
                <a:effectLst/>
                <a:uLnTx/>
                <a:uFillTx/>
                <a:latin typeface="Arial" panose="020B0604020202020204" pitchFamily="34" charset="0"/>
                <a:ea typeface="+mn-ea"/>
                <a:cs typeface="Calibri" pitchFamily="34" charset="0"/>
              </a:rPr>
              <a:t>Normal Forms</a:t>
            </a:r>
            <a:endParaRPr kumimoji="0" lang="en-MY" sz="1800" b="1" i="0" u="none" strike="noStrike" kern="0" cap="none" spc="0" normalizeH="0" baseline="0" noProof="0" dirty="0">
              <a:ln>
                <a:noFill/>
              </a:ln>
              <a:solidFill>
                <a:srgbClr val="2F2B20"/>
              </a:solidFill>
              <a:effectLst/>
              <a:uLnTx/>
              <a:uFillTx/>
              <a:latin typeface="Calibri"/>
              <a:ea typeface="+mn-ea"/>
              <a:cs typeface="Calibri" pitchFamily="34" charset="0"/>
            </a:endParaRPr>
          </a:p>
        </p:txBody>
      </p:sp>
      <p:sp>
        <p:nvSpPr>
          <p:cNvPr id="9222" name="Rounded Rectangular Callout 19">
            <a:extLst>
              <a:ext uri="{FF2B5EF4-FFF2-40B4-BE49-F238E27FC236}">
                <a16:creationId xmlns:a16="http://schemas.microsoft.com/office/drawing/2014/main" id="{73C17AC7-7DC1-D06E-940E-93FF00708312}"/>
              </a:ext>
            </a:extLst>
          </p:cNvPr>
          <p:cNvSpPr>
            <a:spLocks noChangeArrowheads="1"/>
          </p:cNvSpPr>
          <p:nvPr/>
        </p:nvSpPr>
        <p:spPr bwMode="auto">
          <a:xfrm flipV="1">
            <a:off x="3225800" y="4127500"/>
            <a:ext cx="5143500" cy="2654300"/>
          </a:xfrm>
          <a:prstGeom prst="wedgeRoundRectCallout">
            <a:avLst>
              <a:gd name="adj1" fmla="val 22713"/>
              <a:gd name="adj2" fmla="val 61569"/>
              <a:gd name="adj3" fmla="val 16667"/>
            </a:avLst>
          </a:prstGeom>
          <a:solidFill>
            <a:srgbClr val="B50C00"/>
          </a:solidFill>
          <a:ln w="9525" algn="ctr">
            <a:solidFill>
              <a:schemeClr val="tx1"/>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endPar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endParaRPr>
          </a:p>
        </p:txBody>
      </p:sp>
      <p:sp>
        <p:nvSpPr>
          <p:cNvPr id="9223" name="TextBox 20">
            <a:extLst>
              <a:ext uri="{FF2B5EF4-FFF2-40B4-BE49-F238E27FC236}">
                <a16:creationId xmlns:a16="http://schemas.microsoft.com/office/drawing/2014/main" id="{C30BA5EA-55DA-00BC-3A27-4B2502F082DA}"/>
              </a:ext>
            </a:extLst>
          </p:cNvPr>
          <p:cNvSpPr txBox="1">
            <a:spLocks noChangeArrowheads="1"/>
          </p:cNvSpPr>
          <p:nvPr/>
        </p:nvSpPr>
        <p:spPr bwMode="auto">
          <a:xfrm>
            <a:off x="3454400" y="4143375"/>
            <a:ext cx="46228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A relation is in 2NF if it is already in 1NF and every non-key column is dependent on the </a:t>
            </a:r>
            <a:r>
              <a:rPr kumimoji="0" lang="en-CA" altLang="en-US" sz="1800" b="1" i="0" u="sng"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entire</a:t>
            </a:r>
            <a:r>
              <a:rPr kumimoji="0" lang="en-CA" altLang="en-US" sz="18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 primary key</a:t>
            </a:r>
          </a:p>
        </p:txBody>
      </p:sp>
      <p:graphicFrame>
        <p:nvGraphicFramePr>
          <p:cNvPr id="3" name="Table 2">
            <a:extLst>
              <a:ext uri="{FF2B5EF4-FFF2-40B4-BE49-F238E27FC236}">
                <a16:creationId xmlns:a16="http://schemas.microsoft.com/office/drawing/2014/main" id="{7F614CC1-1806-70D8-FE0A-312BBAF693E7}"/>
              </a:ext>
            </a:extLst>
          </p:cNvPr>
          <p:cNvGraphicFramePr>
            <a:graphicFrameLocks noGrp="1"/>
          </p:cNvGraphicFramePr>
          <p:nvPr/>
        </p:nvGraphicFramePr>
        <p:xfrm>
          <a:off x="3394075" y="5091113"/>
          <a:ext cx="1655763" cy="369887"/>
        </p:xfrm>
        <a:graphic>
          <a:graphicData uri="http://schemas.openxmlformats.org/drawingml/2006/table">
            <a:tbl>
              <a:tblPr firstRow="1" bandRow="1">
                <a:tableStyleId>{5940675A-B579-460E-94D1-54222C63F5DA}</a:tableStyleId>
              </a:tblPr>
              <a:tblGrid>
                <a:gridCol w="551921">
                  <a:extLst>
                    <a:ext uri="{9D8B030D-6E8A-4147-A177-3AD203B41FA5}">
                      <a16:colId xmlns:a16="http://schemas.microsoft.com/office/drawing/2014/main" val="20000"/>
                    </a:ext>
                  </a:extLst>
                </a:gridCol>
                <a:gridCol w="551921">
                  <a:extLst>
                    <a:ext uri="{9D8B030D-6E8A-4147-A177-3AD203B41FA5}">
                      <a16:colId xmlns:a16="http://schemas.microsoft.com/office/drawing/2014/main" val="20001"/>
                    </a:ext>
                  </a:extLst>
                </a:gridCol>
                <a:gridCol w="551921">
                  <a:extLst>
                    <a:ext uri="{9D8B030D-6E8A-4147-A177-3AD203B41FA5}">
                      <a16:colId xmlns:a16="http://schemas.microsoft.com/office/drawing/2014/main" val="20002"/>
                    </a:ext>
                  </a:extLst>
                </a:gridCol>
              </a:tblGrid>
              <a:tr h="369887">
                <a:tc>
                  <a:txBody>
                    <a:bodyPr/>
                    <a:lstStyle/>
                    <a:p>
                      <a:pPr algn="ctr"/>
                      <a:r>
                        <a:rPr lang="en-CA" sz="1800" b="1" u="sng" dirty="0"/>
                        <a:t>A</a:t>
                      </a:r>
                    </a:p>
                  </a:txBody>
                  <a:tcPr marL="91502" marR="91502" marT="45603" marB="45603">
                    <a:solidFill>
                      <a:schemeClr val="bg1"/>
                    </a:solidFill>
                  </a:tcPr>
                </a:tc>
                <a:tc>
                  <a:txBody>
                    <a:bodyPr/>
                    <a:lstStyle/>
                    <a:p>
                      <a:pPr algn="ctr"/>
                      <a:r>
                        <a:rPr lang="en-CA" sz="1800" b="1" u="none" dirty="0"/>
                        <a:t>B</a:t>
                      </a:r>
                    </a:p>
                  </a:txBody>
                  <a:tcPr marL="91502" marR="91502" marT="45603" marB="45603">
                    <a:solidFill>
                      <a:schemeClr val="bg1"/>
                    </a:solidFill>
                  </a:tcPr>
                </a:tc>
                <a:tc>
                  <a:txBody>
                    <a:bodyPr/>
                    <a:lstStyle/>
                    <a:p>
                      <a:pPr algn="ctr"/>
                      <a:r>
                        <a:rPr lang="en-CA" sz="1800" b="1" u="sng" dirty="0"/>
                        <a:t>C</a:t>
                      </a:r>
                    </a:p>
                  </a:txBody>
                  <a:tcPr marL="91502" marR="91502" marT="45603" marB="45603">
                    <a:solidFill>
                      <a:schemeClr val="bg1"/>
                    </a:solidFill>
                  </a:tcPr>
                </a:tc>
                <a:extLst>
                  <a:ext uri="{0D108BD9-81ED-4DB2-BD59-A6C34878D82A}">
                    <a16:rowId xmlns:a16="http://schemas.microsoft.com/office/drawing/2014/main" val="10000"/>
                  </a:ext>
                </a:extLst>
              </a:tr>
            </a:tbl>
          </a:graphicData>
        </a:graphic>
      </p:graphicFrame>
      <p:cxnSp>
        <p:nvCxnSpPr>
          <p:cNvPr id="9234" name="Straight Connector 29">
            <a:extLst>
              <a:ext uri="{FF2B5EF4-FFF2-40B4-BE49-F238E27FC236}">
                <a16:creationId xmlns:a16="http://schemas.microsoft.com/office/drawing/2014/main" id="{9E05D4A5-9B20-64EF-5647-ED93BC598922}"/>
              </a:ext>
            </a:extLst>
          </p:cNvPr>
          <p:cNvCxnSpPr>
            <a:cxnSpLocks noChangeShapeType="1"/>
          </p:cNvCxnSpPr>
          <p:nvPr/>
        </p:nvCxnSpPr>
        <p:spPr bwMode="auto">
          <a:xfrm flipV="1">
            <a:off x="3727450" y="5454650"/>
            <a:ext cx="0" cy="360363"/>
          </a:xfrm>
          <a:prstGeom prst="line">
            <a:avLst/>
          </a:prstGeom>
          <a:noFill/>
          <a:ln w="25400" algn="ctr">
            <a:solidFill>
              <a:schemeClr val="bg1"/>
            </a:solidFill>
            <a:round/>
            <a:headEnd/>
            <a:tailEnd/>
          </a:ln>
          <a:extLst>
            <a:ext uri="{909E8E84-426E-40DD-AFC4-6F175D3DCCD1}">
              <a14:hiddenFill xmlns:a14="http://schemas.microsoft.com/office/drawing/2010/main">
                <a:noFill/>
              </a14:hiddenFill>
            </a:ext>
          </a:extLst>
        </p:spPr>
      </p:cxnSp>
      <p:cxnSp>
        <p:nvCxnSpPr>
          <p:cNvPr id="9235" name="Straight Connector 30">
            <a:extLst>
              <a:ext uri="{FF2B5EF4-FFF2-40B4-BE49-F238E27FC236}">
                <a16:creationId xmlns:a16="http://schemas.microsoft.com/office/drawing/2014/main" id="{43520DC6-787B-0A18-FB65-F4B25A51A7D1}"/>
              </a:ext>
            </a:extLst>
          </p:cNvPr>
          <p:cNvCxnSpPr>
            <a:cxnSpLocks noChangeShapeType="1"/>
          </p:cNvCxnSpPr>
          <p:nvPr/>
        </p:nvCxnSpPr>
        <p:spPr bwMode="auto">
          <a:xfrm>
            <a:off x="3711575" y="5822950"/>
            <a:ext cx="546100" cy="0"/>
          </a:xfrm>
          <a:prstGeom prst="line">
            <a:avLst/>
          </a:prstGeom>
          <a:noFill/>
          <a:ln w="25400" algn="ctr">
            <a:solidFill>
              <a:schemeClr val="bg1"/>
            </a:solidFill>
            <a:round/>
            <a:headEnd/>
            <a:tailEnd/>
          </a:ln>
          <a:extLst>
            <a:ext uri="{909E8E84-426E-40DD-AFC4-6F175D3DCCD1}">
              <a14:hiddenFill xmlns:a14="http://schemas.microsoft.com/office/drawing/2010/main">
                <a:noFill/>
              </a14:hiddenFill>
            </a:ext>
          </a:extLst>
        </p:spPr>
      </p:cxnSp>
      <p:cxnSp>
        <p:nvCxnSpPr>
          <p:cNvPr id="9236" name="Straight Connector 31">
            <a:extLst>
              <a:ext uri="{FF2B5EF4-FFF2-40B4-BE49-F238E27FC236}">
                <a16:creationId xmlns:a16="http://schemas.microsoft.com/office/drawing/2014/main" id="{1C043C08-79F6-D2D5-E7C8-18655118F630}"/>
              </a:ext>
            </a:extLst>
          </p:cNvPr>
          <p:cNvCxnSpPr>
            <a:cxnSpLocks noChangeShapeType="1"/>
          </p:cNvCxnSpPr>
          <p:nvPr/>
        </p:nvCxnSpPr>
        <p:spPr bwMode="auto">
          <a:xfrm flipV="1">
            <a:off x="4283075" y="5449888"/>
            <a:ext cx="0" cy="373062"/>
          </a:xfrm>
          <a:prstGeom prst="line">
            <a:avLst/>
          </a:prstGeom>
          <a:noFill/>
          <a:ln w="25400" algn="ctr">
            <a:solidFill>
              <a:schemeClr val="bg1"/>
            </a:solidFill>
            <a:round/>
            <a:headEnd/>
            <a:tailEnd type="triangle" w="med" len="med"/>
          </a:ln>
          <a:extLst>
            <a:ext uri="{909E8E84-426E-40DD-AFC4-6F175D3DCCD1}">
              <a14:hiddenFill xmlns:a14="http://schemas.microsoft.com/office/drawing/2010/main">
                <a:noFill/>
              </a14:hiddenFill>
            </a:ext>
          </a:extLst>
        </p:spPr>
      </p:cxnSp>
      <p:sp>
        <p:nvSpPr>
          <p:cNvPr id="9237" name="TextBox 14">
            <a:extLst>
              <a:ext uri="{FF2B5EF4-FFF2-40B4-BE49-F238E27FC236}">
                <a16:creationId xmlns:a16="http://schemas.microsoft.com/office/drawing/2014/main" id="{AE97186E-4CAF-C0E9-0118-32AB8FD6F359}"/>
              </a:ext>
            </a:extLst>
          </p:cNvPr>
          <p:cNvSpPr txBox="1">
            <a:spLocks noChangeArrowheads="1"/>
          </p:cNvSpPr>
          <p:nvPr/>
        </p:nvSpPr>
        <p:spPr bwMode="auto">
          <a:xfrm>
            <a:off x="5270500" y="5091113"/>
            <a:ext cx="3033713" cy="14763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Non-key column = B</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Primary key = A + C</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B is only dependent on part of primary key (i.e. A) so it needs to be corrected</a:t>
            </a:r>
          </a:p>
        </p:txBody>
      </p:sp>
      <p:sp>
        <p:nvSpPr>
          <p:cNvPr id="28" name="Title 1">
            <a:extLst>
              <a:ext uri="{FF2B5EF4-FFF2-40B4-BE49-F238E27FC236}">
                <a16:creationId xmlns:a16="http://schemas.microsoft.com/office/drawing/2014/main" id="{50C0C34F-D6A8-5D60-21FD-168A96593B30}"/>
              </a:ext>
            </a:extLst>
          </p:cNvPr>
          <p:cNvSpPr>
            <a:spLocks noGrp="1"/>
          </p:cNvSpPr>
          <p:nvPr>
            <p:ph type="title"/>
          </p:nvPr>
        </p:nvSpPr>
        <p:spPr>
          <a:xfrm>
            <a:off x="457200" y="76200"/>
            <a:ext cx="7620000" cy="1143000"/>
          </a:xfrm>
        </p:spPr>
        <p:txBody>
          <a:bodyPr/>
          <a:lstStyle/>
          <a:p>
            <a:pPr algn="ctr">
              <a:defRPr/>
            </a:pPr>
            <a:r>
              <a:rPr lang="en-US" dirty="0"/>
              <a:t>Relational Database Normalization</a:t>
            </a:r>
            <a:endParaRPr lang="en-CA" dirty="0"/>
          </a:p>
        </p:txBody>
      </p:sp>
      <p:sp>
        <p:nvSpPr>
          <p:cNvPr id="29" name="Teardrop 28">
            <a:hlinkClick r:id="" action="ppaction://noaction"/>
            <a:extLst>
              <a:ext uri="{FF2B5EF4-FFF2-40B4-BE49-F238E27FC236}">
                <a16:creationId xmlns:a16="http://schemas.microsoft.com/office/drawing/2014/main" id="{B1F6C0C0-D5FF-47DC-9A7E-D6D1983811AF}"/>
              </a:ext>
            </a:extLst>
          </p:cNvPr>
          <p:cNvSpPr/>
          <p:nvPr/>
        </p:nvSpPr>
        <p:spPr bwMode="auto">
          <a:xfrm>
            <a:off x="7887556" y="4082040"/>
            <a:ext cx="570644" cy="431301"/>
          </a:xfrm>
          <a:prstGeom prst="teardrop">
            <a:avLst/>
          </a:prstGeom>
          <a:ln>
            <a:headEnd type="none" w="med" len="med"/>
            <a:tailEnd type="none" w="med" len="med"/>
          </a:ln>
        </p:spPr>
        <p:style>
          <a:lnRef idx="3">
            <a:schemeClr val="lt1"/>
          </a:lnRef>
          <a:fillRef idx="1">
            <a:schemeClr val="accent3"/>
          </a:fillRef>
          <a:effectRef idx="1">
            <a:schemeClr val="accent3"/>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2400" b="1" i="0" u="none" strike="noStrike" kern="1200" cap="none" spc="50" normalizeH="0" baseline="0" noProof="0" dirty="0">
                <a:ln w="13500">
                  <a:solidFill>
                    <a:srgbClr val="A9A57C">
                      <a:shade val="2500"/>
                      <a:alpha val="6500"/>
                    </a:srgbClr>
                  </a:solidFill>
                  <a:prstDash val="solid"/>
                </a:ln>
                <a:solidFill>
                  <a:srgbClr val="A9A57C">
                    <a:tint val="3000"/>
                    <a:alpha val="95000"/>
                  </a:srgbClr>
                </a:solidFill>
                <a:effectLst>
                  <a:innerShdw blurRad="50900" dist="38500" dir="13500000">
                    <a:srgbClr val="000000">
                      <a:alpha val="60000"/>
                    </a:srgbClr>
                  </a:innerShdw>
                </a:effectLst>
                <a:uLnTx/>
                <a:uFillTx/>
                <a:latin typeface="Arial" charset="0"/>
                <a:ea typeface="+mn-ea"/>
                <a:cs typeface="+mn-cs"/>
              </a:rPr>
              <a:t>X</a:t>
            </a:r>
          </a:p>
        </p:txBody>
      </p:sp>
    </p:spTree>
  </p:cSld>
  <p:clrMapOvr>
    <a:masterClrMapping/>
  </p:clrMapOvr>
  <p:transition spd="slow"/>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D7CBECB0-6FCB-47F4-48B5-FA983C1E2289}"/>
              </a:ext>
            </a:extLst>
          </p:cNvPr>
          <p:cNvSpPr txBox="1">
            <a:spLocks/>
          </p:cNvSpPr>
          <p:nvPr/>
        </p:nvSpPr>
        <p:spPr bwMode="auto">
          <a:xfrm>
            <a:off x="0" y="1389063"/>
            <a:ext cx="8172450" cy="323850"/>
          </a:xfrm>
          <a:prstGeom prst="rect">
            <a:avLst/>
          </a:prstGeom>
          <a:noFill/>
          <a:ln w="9525">
            <a:noFill/>
            <a:miter lim="800000"/>
            <a:headEnd/>
            <a:tailEnd/>
          </a:ln>
        </p:spPr>
        <p:txBody>
          <a:bodyPr lIns="72000" tIns="0" rIns="72000" bIns="0"/>
          <a:lstStyle/>
          <a:p>
            <a:pPr marL="0" marR="0" lvl="0" indent="0" algn="l" defTabSz="720000" rtl="0" eaLnBrk="1" fontAlgn="base" latinLnBrk="0" hangingPunct="1">
              <a:lnSpc>
                <a:spcPts val="1800"/>
              </a:lnSpc>
              <a:spcBef>
                <a:spcPts val="0"/>
              </a:spcBef>
              <a:spcAft>
                <a:spcPts val="0"/>
              </a:spcAft>
              <a:buClrTx/>
              <a:buSzTx/>
              <a:buFontTx/>
              <a:buNone/>
              <a:tabLst>
                <a:tab pos="0" algn="l"/>
              </a:tabLst>
              <a:defRPr/>
            </a:pPr>
            <a:r>
              <a:rPr kumimoji="0" lang="en-US" sz="1800" b="1" i="0" u="none" strike="noStrike" kern="0" cap="none" spc="0" normalizeH="0" baseline="0" noProof="0" dirty="0">
                <a:ln>
                  <a:noFill/>
                </a:ln>
                <a:solidFill>
                  <a:srgbClr val="2F2B20"/>
                </a:solidFill>
                <a:effectLst/>
                <a:uLnTx/>
                <a:uFillTx/>
                <a:latin typeface="Calibri"/>
                <a:ea typeface="+mn-ea"/>
                <a:cs typeface="Calibri" pitchFamily="34" charset="0"/>
              </a:rPr>
              <a:t>Normal Forms</a:t>
            </a:r>
            <a:endParaRPr kumimoji="0" lang="en-MY" sz="1800" b="1" i="0" u="none" strike="noStrike" kern="0" cap="none" spc="0" normalizeH="0" baseline="0" noProof="0" dirty="0">
              <a:ln>
                <a:noFill/>
              </a:ln>
              <a:solidFill>
                <a:srgbClr val="2F2B20"/>
              </a:solidFill>
              <a:effectLst/>
              <a:uLnTx/>
              <a:uFillTx/>
              <a:latin typeface="Calibri"/>
              <a:ea typeface="+mn-ea"/>
              <a:cs typeface="Calibri" pitchFamily="34" charset="0"/>
            </a:endParaRPr>
          </a:p>
        </p:txBody>
      </p:sp>
      <p:sp>
        <p:nvSpPr>
          <p:cNvPr id="38" name="Content Placeholder 2">
            <a:extLst>
              <a:ext uri="{FF2B5EF4-FFF2-40B4-BE49-F238E27FC236}">
                <a16:creationId xmlns:a16="http://schemas.microsoft.com/office/drawing/2014/main" id="{DABC51BD-C903-5205-48EF-148D2B9621C3}"/>
              </a:ext>
            </a:extLst>
          </p:cNvPr>
          <p:cNvSpPr txBox="1">
            <a:spLocks/>
          </p:cNvSpPr>
          <p:nvPr/>
        </p:nvSpPr>
        <p:spPr bwMode="auto">
          <a:xfrm>
            <a:off x="250825" y="1511300"/>
            <a:ext cx="8042275"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To convert a relation from 1NF to 2NF, first find all the non-key columns that are dependent on only part of the primary key </a:t>
            </a:r>
            <a:endParaRPr kumimoji="0" lang="en-US" altLang="en-US" sz="32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US" altLang="en-US" sz="32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rPr>
              <a:t> </a:t>
            </a: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graphicFrame>
        <p:nvGraphicFramePr>
          <p:cNvPr id="45" name="Table 44">
            <a:extLst>
              <a:ext uri="{FF2B5EF4-FFF2-40B4-BE49-F238E27FC236}">
                <a16:creationId xmlns:a16="http://schemas.microsoft.com/office/drawing/2014/main" id="{0A1CC505-7EE7-EDCC-7919-CA2EE684987B}"/>
              </a:ext>
            </a:extLst>
          </p:cNvPr>
          <p:cNvGraphicFramePr>
            <a:graphicFrameLocks noGrp="1"/>
          </p:cNvGraphicFramePr>
          <p:nvPr/>
        </p:nvGraphicFramePr>
        <p:xfrm>
          <a:off x="44450" y="4216400"/>
          <a:ext cx="8413749" cy="393700"/>
        </p:xfrm>
        <a:graphic>
          <a:graphicData uri="http://schemas.openxmlformats.org/drawingml/2006/table">
            <a:tbl>
              <a:tblPr firstRow="1" bandRow="1">
                <a:tableStyleId>{5940675A-B579-460E-94D1-54222C63F5DA}</a:tableStyleId>
              </a:tblPr>
              <a:tblGrid>
                <a:gridCol w="1472406">
                  <a:extLst>
                    <a:ext uri="{9D8B030D-6E8A-4147-A177-3AD203B41FA5}">
                      <a16:colId xmlns:a16="http://schemas.microsoft.com/office/drawing/2014/main" val="20000"/>
                    </a:ext>
                  </a:extLst>
                </a:gridCol>
                <a:gridCol w="1542521">
                  <a:extLst>
                    <a:ext uri="{9D8B030D-6E8A-4147-A177-3AD203B41FA5}">
                      <a16:colId xmlns:a16="http://schemas.microsoft.com/office/drawing/2014/main" val="20001"/>
                    </a:ext>
                  </a:extLst>
                </a:gridCol>
                <a:gridCol w="1332177">
                  <a:extLst>
                    <a:ext uri="{9D8B030D-6E8A-4147-A177-3AD203B41FA5}">
                      <a16:colId xmlns:a16="http://schemas.microsoft.com/office/drawing/2014/main" val="20002"/>
                    </a:ext>
                  </a:extLst>
                </a:gridCol>
                <a:gridCol w="1472406">
                  <a:extLst>
                    <a:ext uri="{9D8B030D-6E8A-4147-A177-3AD203B41FA5}">
                      <a16:colId xmlns:a16="http://schemas.microsoft.com/office/drawing/2014/main" val="20003"/>
                    </a:ext>
                  </a:extLst>
                </a:gridCol>
                <a:gridCol w="1472406">
                  <a:extLst>
                    <a:ext uri="{9D8B030D-6E8A-4147-A177-3AD203B41FA5}">
                      <a16:colId xmlns:a16="http://schemas.microsoft.com/office/drawing/2014/main" val="20004"/>
                    </a:ext>
                  </a:extLst>
                </a:gridCol>
                <a:gridCol w="1121833">
                  <a:extLst>
                    <a:ext uri="{9D8B030D-6E8A-4147-A177-3AD203B41FA5}">
                      <a16:colId xmlns:a16="http://schemas.microsoft.com/office/drawing/2014/main" val="20005"/>
                    </a:ext>
                  </a:extLst>
                </a:gridCol>
              </a:tblGrid>
              <a:tr h="393700">
                <a:tc>
                  <a:txBody>
                    <a:bodyPr/>
                    <a:lstStyle/>
                    <a:p>
                      <a:pPr algn="ctr"/>
                      <a:r>
                        <a:rPr lang="en-CA" sz="1800" dirty="0"/>
                        <a:t>PROJ_NUM</a:t>
                      </a:r>
                      <a:endParaRPr lang="en-CA" sz="1800" b="0" dirty="0"/>
                    </a:p>
                  </a:txBody>
                  <a:tcPr marL="91455" marR="91455" marT="45624" marB="45624"/>
                </a:tc>
                <a:tc>
                  <a:txBody>
                    <a:bodyPr/>
                    <a:lstStyle/>
                    <a:p>
                      <a:pPr algn="ctr"/>
                      <a:r>
                        <a:rPr lang="en-CA" sz="1800" dirty="0"/>
                        <a:t>PROJ_NAME</a:t>
                      </a:r>
                      <a:endParaRPr lang="en-CA" sz="1800" b="0" dirty="0"/>
                    </a:p>
                  </a:txBody>
                  <a:tcPr marL="91455" marR="91455" marT="45624" marB="45624"/>
                </a:tc>
                <a:tc>
                  <a:txBody>
                    <a:bodyPr/>
                    <a:lstStyle/>
                    <a:p>
                      <a:pPr algn="ctr"/>
                      <a:r>
                        <a:rPr lang="en-CA" sz="1800" dirty="0"/>
                        <a:t>EMP_NUM</a:t>
                      </a:r>
                      <a:endParaRPr lang="en-CA" sz="1800" b="0" dirty="0"/>
                    </a:p>
                  </a:txBody>
                  <a:tcPr marL="91455" marR="91455" marT="45624" marB="45624"/>
                </a:tc>
                <a:tc>
                  <a:txBody>
                    <a:bodyPr/>
                    <a:lstStyle/>
                    <a:p>
                      <a:pPr algn="ctr"/>
                      <a:r>
                        <a:rPr lang="en-CA" sz="1800" dirty="0"/>
                        <a:t>JOB_CLASS</a:t>
                      </a:r>
                      <a:endParaRPr lang="en-CA" sz="1800" b="0" dirty="0"/>
                    </a:p>
                  </a:txBody>
                  <a:tcPr marL="91455" marR="91455" marT="45624" marB="45624"/>
                </a:tc>
                <a:tc>
                  <a:txBody>
                    <a:bodyPr/>
                    <a:lstStyle/>
                    <a:p>
                      <a:pPr algn="ctr"/>
                      <a:r>
                        <a:rPr lang="en-CA" sz="1800" dirty="0"/>
                        <a:t>CHG_HOUR</a:t>
                      </a:r>
                      <a:endParaRPr lang="en-CA" sz="1800" b="0" dirty="0"/>
                    </a:p>
                  </a:txBody>
                  <a:tcPr marL="91455" marR="91455" marT="45624" marB="45624"/>
                </a:tc>
                <a:tc>
                  <a:txBody>
                    <a:bodyPr/>
                    <a:lstStyle/>
                    <a:p>
                      <a:pPr algn="ctr"/>
                      <a:r>
                        <a:rPr lang="en-CA" sz="1800" dirty="0"/>
                        <a:t>HOUR</a:t>
                      </a:r>
                      <a:endParaRPr lang="en-CA" sz="1800" b="0" dirty="0"/>
                    </a:p>
                  </a:txBody>
                  <a:tcPr marL="91455" marR="91455" marT="45624" marB="45624"/>
                </a:tc>
                <a:extLst>
                  <a:ext uri="{0D108BD9-81ED-4DB2-BD59-A6C34878D82A}">
                    <a16:rowId xmlns:a16="http://schemas.microsoft.com/office/drawing/2014/main" val="10000"/>
                  </a:ext>
                </a:extLst>
              </a:tr>
            </a:tbl>
          </a:graphicData>
        </a:graphic>
      </p:graphicFrame>
      <p:cxnSp>
        <p:nvCxnSpPr>
          <p:cNvPr id="46" name="Straight Connector 45">
            <a:extLst>
              <a:ext uri="{FF2B5EF4-FFF2-40B4-BE49-F238E27FC236}">
                <a16:creationId xmlns:a16="http://schemas.microsoft.com/office/drawing/2014/main" id="{C24CAF14-581A-5468-691F-A8BE0E2E983B}"/>
              </a:ext>
            </a:extLst>
          </p:cNvPr>
          <p:cNvCxnSpPr>
            <a:cxnSpLocks noChangeShapeType="1"/>
          </p:cNvCxnSpPr>
          <p:nvPr/>
        </p:nvCxnSpPr>
        <p:spPr bwMode="auto">
          <a:xfrm>
            <a:off x="188913" y="4522788"/>
            <a:ext cx="1223962" cy="0"/>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cxnSp>
        <p:nvCxnSpPr>
          <p:cNvPr id="47" name="Straight Connector 46">
            <a:extLst>
              <a:ext uri="{FF2B5EF4-FFF2-40B4-BE49-F238E27FC236}">
                <a16:creationId xmlns:a16="http://schemas.microsoft.com/office/drawing/2014/main" id="{E19BB571-3A89-E82F-2804-3F8BA376FC9C}"/>
              </a:ext>
            </a:extLst>
          </p:cNvPr>
          <p:cNvCxnSpPr>
            <a:cxnSpLocks noChangeShapeType="1"/>
          </p:cNvCxnSpPr>
          <p:nvPr/>
        </p:nvCxnSpPr>
        <p:spPr bwMode="auto">
          <a:xfrm>
            <a:off x="3195638" y="4522788"/>
            <a:ext cx="1223962" cy="0"/>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cxnSp>
        <p:nvCxnSpPr>
          <p:cNvPr id="48" name="Straight Connector 47">
            <a:extLst>
              <a:ext uri="{FF2B5EF4-FFF2-40B4-BE49-F238E27FC236}">
                <a16:creationId xmlns:a16="http://schemas.microsoft.com/office/drawing/2014/main" id="{1DA85F77-B901-1BE8-2462-C4A9D42E00CA}"/>
              </a:ext>
            </a:extLst>
          </p:cNvPr>
          <p:cNvCxnSpPr>
            <a:cxnSpLocks noChangeShapeType="1"/>
          </p:cNvCxnSpPr>
          <p:nvPr/>
        </p:nvCxnSpPr>
        <p:spPr bwMode="auto">
          <a:xfrm flipV="1">
            <a:off x="765175" y="3862388"/>
            <a:ext cx="0" cy="358775"/>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cxnSp>
        <p:nvCxnSpPr>
          <p:cNvPr id="49" name="Straight Connector 48">
            <a:extLst>
              <a:ext uri="{FF2B5EF4-FFF2-40B4-BE49-F238E27FC236}">
                <a16:creationId xmlns:a16="http://schemas.microsoft.com/office/drawing/2014/main" id="{0F66697B-FA90-A477-40E5-1F67633406EE}"/>
              </a:ext>
            </a:extLst>
          </p:cNvPr>
          <p:cNvCxnSpPr>
            <a:cxnSpLocks noChangeShapeType="1"/>
          </p:cNvCxnSpPr>
          <p:nvPr/>
        </p:nvCxnSpPr>
        <p:spPr bwMode="auto">
          <a:xfrm flipV="1">
            <a:off x="3863975" y="3857625"/>
            <a:ext cx="0" cy="360363"/>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cxnSp>
        <p:nvCxnSpPr>
          <p:cNvPr id="51" name="Straight Connector 50">
            <a:extLst>
              <a:ext uri="{FF2B5EF4-FFF2-40B4-BE49-F238E27FC236}">
                <a16:creationId xmlns:a16="http://schemas.microsoft.com/office/drawing/2014/main" id="{38516702-35DF-953F-2498-B39ECE67CB98}"/>
              </a:ext>
            </a:extLst>
          </p:cNvPr>
          <p:cNvCxnSpPr>
            <a:cxnSpLocks noChangeShapeType="1"/>
          </p:cNvCxnSpPr>
          <p:nvPr/>
        </p:nvCxnSpPr>
        <p:spPr bwMode="auto">
          <a:xfrm>
            <a:off x="765175" y="3862388"/>
            <a:ext cx="3114675" cy="0"/>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cxnSp>
        <p:nvCxnSpPr>
          <p:cNvPr id="52" name="Straight Arrow Connector 51">
            <a:extLst>
              <a:ext uri="{FF2B5EF4-FFF2-40B4-BE49-F238E27FC236}">
                <a16:creationId xmlns:a16="http://schemas.microsoft.com/office/drawing/2014/main" id="{6FA3553C-D940-4AFD-C23E-12DF860C4D72}"/>
              </a:ext>
            </a:extLst>
          </p:cNvPr>
          <p:cNvCxnSpPr>
            <a:cxnSpLocks noChangeShapeType="1"/>
          </p:cNvCxnSpPr>
          <p:nvPr/>
        </p:nvCxnSpPr>
        <p:spPr bwMode="auto">
          <a:xfrm flipH="1">
            <a:off x="2274888" y="3573463"/>
            <a:ext cx="3175" cy="638175"/>
          </a:xfrm>
          <a:prstGeom prst="straightConnector1">
            <a:avLst/>
          </a:prstGeom>
          <a:noFill/>
          <a:ln w="2540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3" name="Straight Connector 52">
            <a:extLst>
              <a:ext uri="{FF2B5EF4-FFF2-40B4-BE49-F238E27FC236}">
                <a16:creationId xmlns:a16="http://schemas.microsoft.com/office/drawing/2014/main" id="{A36A9770-2DB2-EA54-C285-7A6FF8FF1F1B}"/>
              </a:ext>
            </a:extLst>
          </p:cNvPr>
          <p:cNvCxnSpPr>
            <a:cxnSpLocks noChangeShapeType="1"/>
          </p:cNvCxnSpPr>
          <p:nvPr/>
        </p:nvCxnSpPr>
        <p:spPr bwMode="auto">
          <a:xfrm>
            <a:off x="2274888" y="3573463"/>
            <a:ext cx="6021387" cy="0"/>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cxnSp>
        <p:nvCxnSpPr>
          <p:cNvPr id="54" name="Straight Arrow Connector 53">
            <a:extLst>
              <a:ext uri="{FF2B5EF4-FFF2-40B4-BE49-F238E27FC236}">
                <a16:creationId xmlns:a16="http://schemas.microsoft.com/office/drawing/2014/main" id="{B6BD50AF-7CD1-7757-DD00-7F454F0FB6D4}"/>
              </a:ext>
            </a:extLst>
          </p:cNvPr>
          <p:cNvCxnSpPr>
            <a:cxnSpLocks noChangeShapeType="1"/>
          </p:cNvCxnSpPr>
          <p:nvPr/>
        </p:nvCxnSpPr>
        <p:spPr bwMode="auto">
          <a:xfrm flipH="1">
            <a:off x="5245100" y="3582988"/>
            <a:ext cx="9525" cy="641350"/>
          </a:xfrm>
          <a:prstGeom prst="straightConnector1">
            <a:avLst/>
          </a:prstGeom>
          <a:noFill/>
          <a:ln w="2540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5" name="Straight Arrow Connector 54">
            <a:extLst>
              <a:ext uri="{FF2B5EF4-FFF2-40B4-BE49-F238E27FC236}">
                <a16:creationId xmlns:a16="http://schemas.microsoft.com/office/drawing/2014/main" id="{1673FB7A-D686-8039-8410-069F393C1190}"/>
              </a:ext>
            </a:extLst>
          </p:cNvPr>
          <p:cNvCxnSpPr>
            <a:cxnSpLocks noChangeShapeType="1"/>
          </p:cNvCxnSpPr>
          <p:nvPr/>
        </p:nvCxnSpPr>
        <p:spPr bwMode="auto">
          <a:xfrm flipH="1">
            <a:off x="6742113" y="3573463"/>
            <a:ext cx="1587" cy="638175"/>
          </a:xfrm>
          <a:prstGeom prst="straightConnector1">
            <a:avLst/>
          </a:prstGeom>
          <a:noFill/>
          <a:ln w="2540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6" name="Straight Arrow Connector 55">
            <a:extLst>
              <a:ext uri="{FF2B5EF4-FFF2-40B4-BE49-F238E27FC236}">
                <a16:creationId xmlns:a16="http://schemas.microsoft.com/office/drawing/2014/main" id="{1A9FCAF0-975F-6134-3A40-0EFB06001731}"/>
              </a:ext>
            </a:extLst>
          </p:cNvPr>
          <p:cNvCxnSpPr>
            <a:cxnSpLocks noChangeShapeType="1"/>
          </p:cNvCxnSpPr>
          <p:nvPr/>
        </p:nvCxnSpPr>
        <p:spPr bwMode="auto">
          <a:xfrm flipH="1">
            <a:off x="8293100" y="3582988"/>
            <a:ext cx="3175" cy="638175"/>
          </a:xfrm>
          <a:prstGeom prst="straightConnector1">
            <a:avLst/>
          </a:prstGeom>
          <a:noFill/>
          <a:ln w="2540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7" name="Straight Connector 56">
            <a:extLst>
              <a:ext uri="{FF2B5EF4-FFF2-40B4-BE49-F238E27FC236}">
                <a16:creationId xmlns:a16="http://schemas.microsoft.com/office/drawing/2014/main" id="{F8E7C69A-4F92-1719-D1E7-AAA0C396C684}"/>
              </a:ext>
            </a:extLst>
          </p:cNvPr>
          <p:cNvCxnSpPr>
            <a:cxnSpLocks noChangeShapeType="1"/>
          </p:cNvCxnSpPr>
          <p:nvPr/>
        </p:nvCxnSpPr>
        <p:spPr bwMode="auto">
          <a:xfrm flipV="1">
            <a:off x="765175" y="4606925"/>
            <a:ext cx="0" cy="358775"/>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cxnSp>
        <p:nvCxnSpPr>
          <p:cNvPr id="58" name="Straight Connector 57">
            <a:extLst>
              <a:ext uri="{FF2B5EF4-FFF2-40B4-BE49-F238E27FC236}">
                <a16:creationId xmlns:a16="http://schemas.microsoft.com/office/drawing/2014/main" id="{5D489F3A-CD4B-BF02-C82E-515C95EBA716}"/>
              </a:ext>
            </a:extLst>
          </p:cNvPr>
          <p:cNvCxnSpPr>
            <a:cxnSpLocks noChangeShapeType="1"/>
          </p:cNvCxnSpPr>
          <p:nvPr/>
        </p:nvCxnSpPr>
        <p:spPr bwMode="auto">
          <a:xfrm>
            <a:off x="749300" y="4975225"/>
            <a:ext cx="1573213" cy="0"/>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cxnSp>
        <p:nvCxnSpPr>
          <p:cNvPr id="59" name="Straight Connector 58">
            <a:extLst>
              <a:ext uri="{FF2B5EF4-FFF2-40B4-BE49-F238E27FC236}">
                <a16:creationId xmlns:a16="http://schemas.microsoft.com/office/drawing/2014/main" id="{84A96AF1-D6BE-3BB4-E286-533210D9AF77}"/>
              </a:ext>
            </a:extLst>
          </p:cNvPr>
          <p:cNvCxnSpPr>
            <a:cxnSpLocks noChangeShapeType="1"/>
          </p:cNvCxnSpPr>
          <p:nvPr/>
        </p:nvCxnSpPr>
        <p:spPr bwMode="auto">
          <a:xfrm flipV="1">
            <a:off x="2317750" y="4614863"/>
            <a:ext cx="0" cy="360362"/>
          </a:xfrm>
          <a:prstGeom prst="line">
            <a:avLst/>
          </a:prstGeom>
          <a:noFill/>
          <a:ln w="2540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60" name="Straight Connector 59">
            <a:extLst>
              <a:ext uri="{FF2B5EF4-FFF2-40B4-BE49-F238E27FC236}">
                <a16:creationId xmlns:a16="http://schemas.microsoft.com/office/drawing/2014/main" id="{91B5A1CD-BD7B-658F-FD02-CC5BCDEA842C}"/>
              </a:ext>
            </a:extLst>
          </p:cNvPr>
          <p:cNvCxnSpPr>
            <a:cxnSpLocks noChangeShapeType="1"/>
          </p:cNvCxnSpPr>
          <p:nvPr/>
        </p:nvCxnSpPr>
        <p:spPr bwMode="auto">
          <a:xfrm flipV="1">
            <a:off x="3703638" y="4614863"/>
            <a:ext cx="0" cy="774700"/>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cxnSp>
        <p:nvCxnSpPr>
          <p:cNvPr id="61" name="Straight Connector 60">
            <a:extLst>
              <a:ext uri="{FF2B5EF4-FFF2-40B4-BE49-F238E27FC236}">
                <a16:creationId xmlns:a16="http://schemas.microsoft.com/office/drawing/2014/main" id="{02D8CCFD-499E-B370-3F52-CEE9DAC587D8}"/>
              </a:ext>
            </a:extLst>
          </p:cNvPr>
          <p:cNvCxnSpPr>
            <a:cxnSpLocks noChangeShapeType="1"/>
          </p:cNvCxnSpPr>
          <p:nvPr/>
        </p:nvCxnSpPr>
        <p:spPr bwMode="auto">
          <a:xfrm>
            <a:off x="3687763" y="5399088"/>
            <a:ext cx="3414712" cy="0"/>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cxnSp>
        <p:nvCxnSpPr>
          <p:cNvPr id="62" name="Straight Connector 61">
            <a:extLst>
              <a:ext uri="{FF2B5EF4-FFF2-40B4-BE49-F238E27FC236}">
                <a16:creationId xmlns:a16="http://schemas.microsoft.com/office/drawing/2014/main" id="{4688D515-1BB0-1981-0E89-60E977AEE26F}"/>
              </a:ext>
            </a:extLst>
          </p:cNvPr>
          <p:cNvCxnSpPr>
            <a:cxnSpLocks noChangeShapeType="1"/>
          </p:cNvCxnSpPr>
          <p:nvPr/>
        </p:nvCxnSpPr>
        <p:spPr bwMode="auto">
          <a:xfrm flipH="1" flipV="1">
            <a:off x="5254625" y="4614863"/>
            <a:ext cx="0" cy="784225"/>
          </a:xfrm>
          <a:prstGeom prst="line">
            <a:avLst/>
          </a:prstGeom>
          <a:noFill/>
          <a:ln w="2540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63" name="Straight Connector 62">
            <a:extLst>
              <a:ext uri="{FF2B5EF4-FFF2-40B4-BE49-F238E27FC236}">
                <a16:creationId xmlns:a16="http://schemas.microsoft.com/office/drawing/2014/main" id="{A502D5D7-C167-2A8A-9451-3A170F777C11}"/>
              </a:ext>
            </a:extLst>
          </p:cNvPr>
          <p:cNvCxnSpPr>
            <a:cxnSpLocks noChangeShapeType="1"/>
          </p:cNvCxnSpPr>
          <p:nvPr/>
        </p:nvCxnSpPr>
        <p:spPr bwMode="auto">
          <a:xfrm flipH="1" flipV="1">
            <a:off x="7102475" y="4598988"/>
            <a:ext cx="0" cy="782637"/>
          </a:xfrm>
          <a:prstGeom prst="line">
            <a:avLst/>
          </a:prstGeom>
          <a:noFill/>
          <a:ln w="2540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64" name="Straight Connector 63">
            <a:extLst>
              <a:ext uri="{FF2B5EF4-FFF2-40B4-BE49-F238E27FC236}">
                <a16:creationId xmlns:a16="http://schemas.microsoft.com/office/drawing/2014/main" id="{73D4CE71-943E-2AB9-9A93-12BA75247E1C}"/>
              </a:ext>
            </a:extLst>
          </p:cNvPr>
          <p:cNvCxnSpPr>
            <a:cxnSpLocks noChangeShapeType="1"/>
          </p:cNvCxnSpPr>
          <p:nvPr/>
        </p:nvCxnSpPr>
        <p:spPr bwMode="auto">
          <a:xfrm flipV="1">
            <a:off x="6742113" y="4602163"/>
            <a:ext cx="0" cy="381000"/>
          </a:xfrm>
          <a:prstGeom prst="line">
            <a:avLst/>
          </a:prstGeom>
          <a:noFill/>
          <a:ln w="2540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65" name="Straight Connector 64">
            <a:extLst>
              <a:ext uri="{FF2B5EF4-FFF2-40B4-BE49-F238E27FC236}">
                <a16:creationId xmlns:a16="http://schemas.microsoft.com/office/drawing/2014/main" id="{CC3A7EA6-2B21-04CF-0E1F-CB0AB89B00B2}"/>
              </a:ext>
            </a:extLst>
          </p:cNvPr>
          <p:cNvCxnSpPr>
            <a:cxnSpLocks noChangeShapeType="1"/>
          </p:cNvCxnSpPr>
          <p:nvPr/>
        </p:nvCxnSpPr>
        <p:spPr bwMode="auto">
          <a:xfrm>
            <a:off x="5661025" y="4975225"/>
            <a:ext cx="1081088" cy="0"/>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cxnSp>
        <p:nvCxnSpPr>
          <p:cNvPr id="66" name="Straight Connector 65">
            <a:extLst>
              <a:ext uri="{FF2B5EF4-FFF2-40B4-BE49-F238E27FC236}">
                <a16:creationId xmlns:a16="http://schemas.microsoft.com/office/drawing/2014/main" id="{2C2B5B82-0CD3-A528-D059-6388846C5629}"/>
              </a:ext>
            </a:extLst>
          </p:cNvPr>
          <p:cNvCxnSpPr>
            <a:cxnSpLocks noChangeShapeType="1"/>
          </p:cNvCxnSpPr>
          <p:nvPr/>
        </p:nvCxnSpPr>
        <p:spPr bwMode="auto">
          <a:xfrm flipV="1">
            <a:off x="5661025" y="4614863"/>
            <a:ext cx="0" cy="379412"/>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sp>
        <p:nvSpPr>
          <p:cNvPr id="67" name="TextBox 66">
            <a:extLst>
              <a:ext uri="{FF2B5EF4-FFF2-40B4-BE49-F238E27FC236}">
                <a16:creationId xmlns:a16="http://schemas.microsoft.com/office/drawing/2014/main" id="{6FCB42A4-1F81-BEC2-D741-05B539985CEF}"/>
              </a:ext>
            </a:extLst>
          </p:cNvPr>
          <p:cNvSpPr txBox="1"/>
          <p:nvPr/>
        </p:nvSpPr>
        <p:spPr>
          <a:xfrm>
            <a:off x="261938" y="5518150"/>
            <a:ext cx="3167062" cy="1020763"/>
          </a:xfrm>
          <a:prstGeom prst="roundRect">
            <a:avLst/>
          </a:prstGeom>
          <a:ln/>
        </p:spPr>
        <p:style>
          <a:lnRef idx="1">
            <a:schemeClr val="accent3"/>
          </a:lnRef>
          <a:fillRef idx="2">
            <a:schemeClr val="accent3"/>
          </a:fillRef>
          <a:effectRef idx="1">
            <a:schemeClr val="accent3"/>
          </a:effectRef>
          <a:fontRef idx="minor">
            <a:schemeClr val="dk1"/>
          </a:fontRef>
        </p:style>
        <p:txBody>
          <a:bodyP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sz="1800" b="0" i="0" u="none" strike="noStrike" kern="1200" cap="none" spc="0" normalizeH="0" baseline="0" noProof="0" dirty="0">
                <a:ln>
                  <a:noFill/>
                </a:ln>
                <a:solidFill>
                  <a:srgbClr val="2F2B20"/>
                </a:solidFill>
                <a:effectLst/>
                <a:uLnTx/>
                <a:uFillTx/>
                <a:latin typeface="Calibri"/>
                <a:ea typeface="+mn-ea"/>
                <a:cs typeface="+mn-cs"/>
              </a:rPr>
              <a:t>PROJ_NAME is a non-key column that is dependent on only part of the primary key</a:t>
            </a:r>
          </a:p>
        </p:txBody>
      </p:sp>
      <p:cxnSp>
        <p:nvCxnSpPr>
          <p:cNvPr id="68" name="Straight Arrow Connector 67">
            <a:extLst>
              <a:ext uri="{FF2B5EF4-FFF2-40B4-BE49-F238E27FC236}">
                <a16:creationId xmlns:a16="http://schemas.microsoft.com/office/drawing/2014/main" id="{1DAF7029-D2A6-E144-B471-D027F5B708F3}"/>
              </a:ext>
            </a:extLst>
          </p:cNvPr>
          <p:cNvCxnSpPr>
            <a:stCxn id="67" idx="0"/>
          </p:cNvCxnSpPr>
          <p:nvPr/>
        </p:nvCxnSpPr>
        <p:spPr bwMode="auto">
          <a:xfrm flipH="1" flipV="1">
            <a:off x="1701800" y="5006975"/>
            <a:ext cx="142875" cy="511175"/>
          </a:xfrm>
          <a:prstGeom prst="straightConnector1">
            <a:avLst/>
          </a:prstGeom>
          <a:ln>
            <a:headEnd type="none" w="med" len="med"/>
            <a:tailEnd type="triangle"/>
          </a:ln>
        </p:spPr>
        <p:style>
          <a:lnRef idx="1">
            <a:schemeClr val="accent3"/>
          </a:lnRef>
          <a:fillRef idx="2">
            <a:schemeClr val="accent3"/>
          </a:fillRef>
          <a:effectRef idx="1">
            <a:schemeClr val="accent3"/>
          </a:effectRef>
          <a:fontRef idx="minor">
            <a:schemeClr val="dk1"/>
          </a:fontRef>
        </p:style>
      </p:cxnSp>
      <p:sp>
        <p:nvSpPr>
          <p:cNvPr id="69" name="TextBox 68">
            <a:extLst>
              <a:ext uri="{FF2B5EF4-FFF2-40B4-BE49-F238E27FC236}">
                <a16:creationId xmlns:a16="http://schemas.microsoft.com/office/drawing/2014/main" id="{897B8AD4-CD6E-DADC-5878-401C93C6D5AA}"/>
              </a:ext>
            </a:extLst>
          </p:cNvPr>
          <p:cNvSpPr txBox="1"/>
          <p:nvPr/>
        </p:nvSpPr>
        <p:spPr>
          <a:xfrm>
            <a:off x="3703638" y="5684838"/>
            <a:ext cx="4157662" cy="1020762"/>
          </a:xfrm>
          <a:prstGeom prst="roundRect">
            <a:avLst/>
          </a:prstGeom>
          <a:ln/>
        </p:spPr>
        <p:style>
          <a:lnRef idx="1">
            <a:schemeClr val="accent5"/>
          </a:lnRef>
          <a:fillRef idx="2">
            <a:schemeClr val="accent5"/>
          </a:fillRef>
          <a:effectRef idx="1">
            <a:schemeClr val="accent5"/>
          </a:effectRef>
          <a:fontRef idx="minor">
            <a:schemeClr val="dk1"/>
          </a:fontRef>
        </p:style>
        <p:txBody>
          <a:bodyP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sz="1800" b="0" i="0" u="none" strike="noStrike" kern="1200" cap="none" spc="0" normalizeH="0" baseline="0" noProof="0" dirty="0">
                <a:ln>
                  <a:noFill/>
                </a:ln>
                <a:solidFill>
                  <a:srgbClr val="2F2B20"/>
                </a:solidFill>
                <a:effectLst/>
                <a:uLnTx/>
                <a:uFillTx/>
                <a:latin typeface="Calibri"/>
                <a:ea typeface="+mn-ea"/>
                <a:cs typeface="+mn-cs"/>
              </a:rPr>
              <a:t>JOB_CLASS and CHG_HOUR are non-key columns that are dependent on only part of the primary key</a:t>
            </a:r>
          </a:p>
        </p:txBody>
      </p:sp>
      <p:cxnSp>
        <p:nvCxnSpPr>
          <p:cNvPr id="70" name="Straight Arrow Connector 69">
            <a:extLst>
              <a:ext uri="{FF2B5EF4-FFF2-40B4-BE49-F238E27FC236}">
                <a16:creationId xmlns:a16="http://schemas.microsoft.com/office/drawing/2014/main" id="{45B58E4C-9CC9-DDC0-3F8F-EF3E573DE26D}"/>
              </a:ext>
            </a:extLst>
          </p:cNvPr>
          <p:cNvCxnSpPr>
            <a:stCxn id="69" idx="0"/>
          </p:cNvCxnSpPr>
          <p:nvPr/>
        </p:nvCxnSpPr>
        <p:spPr bwMode="auto">
          <a:xfrm flipH="1" flipV="1">
            <a:off x="5541963" y="5429250"/>
            <a:ext cx="241300" cy="255588"/>
          </a:xfrm>
          <a:prstGeom prst="straightConnector1">
            <a:avLst/>
          </a:prstGeom>
          <a:ln>
            <a:headEnd type="none" w="med" len="med"/>
            <a:tailEnd type="triangle"/>
          </a:ln>
        </p:spPr>
        <p:style>
          <a:lnRef idx="1">
            <a:schemeClr val="accent5"/>
          </a:lnRef>
          <a:fillRef idx="2">
            <a:schemeClr val="accent5"/>
          </a:fillRef>
          <a:effectRef idx="1">
            <a:schemeClr val="accent5"/>
          </a:effectRef>
          <a:fontRef idx="minor">
            <a:schemeClr val="dk1"/>
          </a:fontRef>
        </p:style>
      </p:cxnSp>
      <p:sp>
        <p:nvSpPr>
          <p:cNvPr id="40" name="Rectangle 39">
            <a:extLst>
              <a:ext uri="{FF2B5EF4-FFF2-40B4-BE49-F238E27FC236}">
                <a16:creationId xmlns:a16="http://schemas.microsoft.com/office/drawing/2014/main" id="{D57F94C8-94FA-5439-5E08-A5FFA7BE96E5}"/>
              </a:ext>
            </a:extLst>
          </p:cNvPr>
          <p:cNvSpPr>
            <a:spLocks noChangeArrowheads="1"/>
          </p:cNvSpPr>
          <p:nvPr/>
        </p:nvSpPr>
        <p:spPr bwMode="auto">
          <a:xfrm>
            <a:off x="2084388" y="3097213"/>
            <a:ext cx="4562475" cy="396875"/>
          </a:xfrm>
          <a:prstGeom prst="rect">
            <a:avLst/>
          </a:prstGeom>
          <a:solidFill>
            <a:srgbClr val="FFFF00">
              <a:alpha val="30196"/>
            </a:srgbClr>
          </a:solidFill>
          <a:ln w="9525" algn="ctr">
            <a:solidFill>
              <a:srgbClr val="FFC000"/>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Primary Key = PROJ_NUM + EMP_NUM</a:t>
            </a:r>
          </a:p>
        </p:txBody>
      </p:sp>
      <p:sp>
        <p:nvSpPr>
          <p:cNvPr id="41" name="Title 1">
            <a:extLst>
              <a:ext uri="{FF2B5EF4-FFF2-40B4-BE49-F238E27FC236}">
                <a16:creationId xmlns:a16="http://schemas.microsoft.com/office/drawing/2014/main" id="{5CAF6A99-8CDC-3EEC-9E0D-C1ABB8F8A746}"/>
              </a:ext>
            </a:extLst>
          </p:cNvPr>
          <p:cNvSpPr>
            <a:spLocks noGrp="1"/>
          </p:cNvSpPr>
          <p:nvPr>
            <p:ph type="title"/>
          </p:nvPr>
        </p:nvSpPr>
        <p:spPr>
          <a:xfrm>
            <a:off x="457200" y="76200"/>
            <a:ext cx="7620000" cy="1143000"/>
          </a:xfrm>
        </p:spPr>
        <p:txBody>
          <a:bodyPr/>
          <a:lstStyle/>
          <a:p>
            <a:pPr algn="ctr">
              <a:defRPr/>
            </a:pPr>
            <a:r>
              <a:rPr lang="en-US" dirty="0"/>
              <a:t>Relational Database Normalization</a:t>
            </a:r>
            <a:endParaRPr lang="en-CA"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38">
                                            <p:txEl>
                                              <p:pRg st="0" end="0"/>
                                            </p:txEl>
                                          </p:spTgt>
                                        </p:tgtEl>
                                        <p:attrNameLst>
                                          <p:attrName>style.visibility</p:attrName>
                                        </p:attrNameLst>
                                      </p:cBhvr>
                                      <p:to>
                                        <p:strVal val="visible"/>
                                      </p:to>
                                    </p:set>
                                    <p:animEffect transition="in" filter="wipe(left)">
                                      <p:cBhvr>
                                        <p:cTn id="7" dur="500"/>
                                        <p:tgtEl>
                                          <p:spTgt spid="3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5"/>
                                        </p:tgtEl>
                                        <p:attrNameLst>
                                          <p:attrName>style.visibility</p:attrName>
                                        </p:attrNameLst>
                                      </p:cBhvr>
                                      <p:to>
                                        <p:strVal val="visible"/>
                                      </p:to>
                                    </p:set>
                                    <p:animEffect transition="in" filter="wipe(left)">
                                      <p:cBhvr>
                                        <p:cTn id="12" dur="500"/>
                                        <p:tgtEl>
                                          <p:spTgt spid="45"/>
                                        </p:tgtEl>
                                      </p:cBhvr>
                                    </p:animEffect>
                                  </p:childTnLst>
                                </p:cTn>
                              </p:par>
                            </p:childTnLst>
                          </p:cTn>
                        </p:par>
                        <p:par>
                          <p:cTn id="13" fill="hold" nodeType="afterGroup">
                            <p:stCondLst>
                              <p:cond delay="500"/>
                            </p:stCondLst>
                            <p:childTnLst>
                              <p:par>
                                <p:cTn id="14" presetID="22" presetClass="entr" presetSubtype="8" fill="hold" nodeType="afterEffect">
                                  <p:stCondLst>
                                    <p:cond delay="0"/>
                                  </p:stCondLst>
                                  <p:childTnLst>
                                    <p:set>
                                      <p:cBhvr>
                                        <p:cTn id="15" dur="1" fill="hold">
                                          <p:stCondLst>
                                            <p:cond delay="0"/>
                                          </p:stCondLst>
                                        </p:cTn>
                                        <p:tgtEl>
                                          <p:spTgt spid="46"/>
                                        </p:tgtEl>
                                        <p:attrNameLst>
                                          <p:attrName>style.visibility</p:attrName>
                                        </p:attrNameLst>
                                      </p:cBhvr>
                                      <p:to>
                                        <p:strVal val="visible"/>
                                      </p:to>
                                    </p:set>
                                    <p:animEffect transition="in" filter="wipe(left)">
                                      <p:cBhvr>
                                        <p:cTn id="16" dur="500"/>
                                        <p:tgtEl>
                                          <p:spTgt spid="46"/>
                                        </p:tgtEl>
                                      </p:cBhvr>
                                    </p:animEffect>
                                  </p:childTnLst>
                                </p:cTn>
                              </p:par>
                              <p:par>
                                <p:cTn id="17" presetID="22" presetClass="entr" presetSubtype="8" fill="hold" nodeType="withEffect">
                                  <p:stCondLst>
                                    <p:cond delay="0"/>
                                  </p:stCondLst>
                                  <p:childTnLst>
                                    <p:set>
                                      <p:cBhvr>
                                        <p:cTn id="18" dur="1" fill="hold">
                                          <p:stCondLst>
                                            <p:cond delay="0"/>
                                          </p:stCondLst>
                                        </p:cTn>
                                        <p:tgtEl>
                                          <p:spTgt spid="47"/>
                                        </p:tgtEl>
                                        <p:attrNameLst>
                                          <p:attrName>style.visibility</p:attrName>
                                        </p:attrNameLst>
                                      </p:cBhvr>
                                      <p:to>
                                        <p:strVal val="visible"/>
                                      </p:to>
                                    </p:set>
                                    <p:animEffect transition="in" filter="wipe(left)">
                                      <p:cBhvr>
                                        <p:cTn id="19" dur="500"/>
                                        <p:tgtEl>
                                          <p:spTgt spid="47"/>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40"/>
                                        </p:tgtEl>
                                        <p:attrNameLst>
                                          <p:attrName>style.visibility</p:attrName>
                                        </p:attrNameLst>
                                      </p:cBhvr>
                                      <p:to>
                                        <p:strVal val="visible"/>
                                      </p:to>
                                    </p:set>
                                    <p:animEffect transition="in" filter="wipe(up)">
                                      <p:cBhvr>
                                        <p:cTn id="24" dur="500"/>
                                        <p:tgtEl>
                                          <p:spTgt spid="40"/>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1" fill="hold" nodeType="clickEffect">
                                  <p:stCondLst>
                                    <p:cond delay="0"/>
                                  </p:stCondLst>
                                  <p:childTnLst>
                                    <p:set>
                                      <p:cBhvr>
                                        <p:cTn id="28" dur="1" fill="hold">
                                          <p:stCondLst>
                                            <p:cond delay="0"/>
                                          </p:stCondLst>
                                        </p:cTn>
                                        <p:tgtEl>
                                          <p:spTgt spid="57"/>
                                        </p:tgtEl>
                                        <p:attrNameLst>
                                          <p:attrName>style.visibility</p:attrName>
                                        </p:attrNameLst>
                                      </p:cBhvr>
                                      <p:to>
                                        <p:strVal val="visible"/>
                                      </p:to>
                                    </p:set>
                                    <p:animEffect transition="in" filter="wipe(up)">
                                      <p:cBhvr>
                                        <p:cTn id="29" dur="500"/>
                                        <p:tgtEl>
                                          <p:spTgt spid="57"/>
                                        </p:tgtEl>
                                      </p:cBhvr>
                                    </p:animEffect>
                                  </p:childTnLst>
                                </p:cTn>
                              </p:par>
                            </p:childTnLst>
                          </p:cTn>
                        </p:par>
                        <p:par>
                          <p:cTn id="30" fill="hold" nodeType="afterGroup">
                            <p:stCondLst>
                              <p:cond delay="500"/>
                            </p:stCondLst>
                            <p:childTnLst>
                              <p:par>
                                <p:cTn id="31" presetID="22" presetClass="entr" presetSubtype="8" fill="hold" nodeType="afterEffect">
                                  <p:stCondLst>
                                    <p:cond delay="0"/>
                                  </p:stCondLst>
                                  <p:childTnLst>
                                    <p:set>
                                      <p:cBhvr>
                                        <p:cTn id="32" dur="1" fill="hold">
                                          <p:stCondLst>
                                            <p:cond delay="0"/>
                                          </p:stCondLst>
                                        </p:cTn>
                                        <p:tgtEl>
                                          <p:spTgt spid="58"/>
                                        </p:tgtEl>
                                        <p:attrNameLst>
                                          <p:attrName>style.visibility</p:attrName>
                                        </p:attrNameLst>
                                      </p:cBhvr>
                                      <p:to>
                                        <p:strVal val="visible"/>
                                      </p:to>
                                    </p:set>
                                    <p:animEffect transition="in" filter="wipe(left)">
                                      <p:cBhvr>
                                        <p:cTn id="33" dur="500"/>
                                        <p:tgtEl>
                                          <p:spTgt spid="58"/>
                                        </p:tgtEl>
                                      </p:cBhvr>
                                    </p:animEffect>
                                  </p:childTnLst>
                                </p:cTn>
                              </p:par>
                            </p:childTnLst>
                          </p:cTn>
                        </p:par>
                        <p:par>
                          <p:cTn id="34" fill="hold" nodeType="afterGroup">
                            <p:stCondLst>
                              <p:cond delay="1000"/>
                            </p:stCondLst>
                            <p:childTnLst>
                              <p:par>
                                <p:cTn id="35" presetID="22" presetClass="entr" presetSubtype="4" fill="hold" nodeType="afterEffect">
                                  <p:stCondLst>
                                    <p:cond delay="0"/>
                                  </p:stCondLst>
                                  <p:childTnLst>
                                    <p:set>
                                      <p:cBhvr>
                                        <p:cTn id="36" dur="1" fill="hold">
                                          <p:stCondLst>
                                            <p:cond delay="0"/>
                                          </p:stCondLst>
                                        </p:cTn>
                                        <p:tgtEl>
                                          <p:spTgt spid="59"/>
                                        </p:tgtEl>
                                        <p:attrNameLst>
                                          <p:attrName>style.visibility</p:attrName>
                                        </p:attrNameLst>
                                      </p:cBhvr>
                                      <p:to>
                                        <p:strVal val="visible"/>
                                      </p:to>
                                    </p:set>
                                    <p:animEffect transition="in" filter="wipe(down)">
                                      <p:cBhvr>
                                        <p:cTn id="37" dur="500"/>
                                        <p:tgtEl>
                                          <p:spTgt spid="59"/>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67"/>
                                        </p:tgtEl>
                                        <p:attrNameLst>
                                          <p:attrName>style.visibility</p:attrName>
                                        </p:attrNameLst>
                                      </p:cBhvr>
                                      <p:to>
                                        <p:strVal val="visible"/>
                                      </p:to>
                                    </p:set>
                                    <p:animEffect transition="in" filter="wipe(down)">
                                      <p:cBhvr>
                                        <p:cTn id="42" dur="500"/>
                                        <p:tgtEl>
                                          <p:spTgt spid="67"/>
                                        </p:tgtEl>
                                      </p:cBhvr>
                                    </p:animEffect>
                                  </p:childTnLst>
                                </p:cTn>
                              </p:par>
                            </p:childTnLst>
                          </p:cTn>
                        </p:par>
                        <p:par>
                          <p:cTn id="43" fill="hold" nodeType="afterGroup">
                            <p:stCondLst>
                              <p:cond delay="500"/>
                            </p:stCondLst>
                            <p:childTnLst>
                              <p:par>
                                <p:cTn id="44" presetID="22" presetClass="entr" presetSubtype="4" fill="hold" nodeType="afterEffect">
                                  <p:stCondLst>
                                    <p:cond delay="0"/>
                                  </p:stCondLst>
                                  <p:childTnLst>
                                    <p:set>
                                      <p:cBhvr>
                                        <p:cTn id="45" dur="1" fill="hold">
                                          <p:stCondLst>
                                            <p:cond delay="0"/>
                                          </p:stCondLst>
                                        </p:cTn>
                                        <p:tgtEl>
                                          <p:spTgt spid="68"/>
                                        </p:tgtEl>
                                        <p:attrNameLst>
                                          <p:attrName>style.visibility</p:attrName>
                                        </p:attrNameLst>
                                      </p:cBhvr>
                                      <p:to>
                                        <p:strVal val="visible"/>
                                      </p:to>
                                    </p:set>
                                    <p:animEffect transition="in" filter="wipe(down)">
                                      <p:cBhvr>
                                        <p:cTn id="46" dur="500"/>
                                        <p:tgtEl>
                                          <p:spTgt spid="68"/>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1" fill="hold" nodeType="clickEffect">
                                  <p:stCondLst>
                                    <p:cond delay="0"/>
                                  </p:stCondLst>
                                  <p:childTnLst>
                                    <p:set>
                                      <p:cBhvr>
                                        <p:cTn id="50" dur="1" fill="hold">
                                          <p:stCondLst>
                                            <p:cond delay="0"/>
                                          </p:stCondLst>
                                        </p:cTn>
                                        <p:tgtEl>
                                          <p:spTgt spid="60"/>
                                        </p:tgtEl>
                                        <p:attrNameLst>
                                          <p:attrName>style.visibility</p:attrName>
                                        </p:attrNameLst>
                                      </p:cBhvr>
                                      <p:to>
                                        <p:strVal val="visible"/>
                                      </p:to>
                                    </p:set>
                                    <p:animEffect transition="in" filter="wipe(up)">
                                      <p:cBhvr>
                                        <p:cTn id="51" dur="500"/>
                                        <p:tgtEl>
                                          <p:spTgt spid="60"/>
                                        </p:tgtEl>
                                      </p:cBhvr>
                                    </p:animEffect>
                                  </p:childTnLst>
                                </p:cTn>
                              </p:par>
                            </p:childTnLst>
                          </p:cTn>
                        </p:par>
                        <p:par>
                          <p:cTn id="52" fill="hold" nodeType="afterGroup">
                            <p:stCondLst>
                              <p:cond delay="500"/>
                            </p:stCondLst>
                            <p:childTnLst>
                              <p:par>
                                <p:cTn id="53" presetID="22" presetClass="entr" presetSubtype="8" fill="hold" nodeType="afterEffect">
                                  <p:stCondLst>
                                    <p:cond delay="0"/>
                                  </p:stCondLst>
                                  <p:childTnLst>
                                    <p:set>
                                      <p:cBhvr>
                                        <p:cTn id="54" dur="1" fill="hold">
                                          <p:stCondLst>
                                            <p:cond delay="0"/>
                                          </p:stCondLst>
                                        </p:cTn>
                                        <p:tgtEl>
                                          <p:spTgt spid="61"/>
                                        </p:tgtEl>
                                        <p:attrNameLst>
                                          <p:attrName>style.visibility</p:attrName>
                                        </p:attrNameLst>
                                      </p:cBhvr>
                                      <p:to>
                                        <p:strVal val="visible"/>
                                      </p:to>
                                    </p:set>
                                    <p:animEffect transition="in" filter="wipe(left)">
                                      <p:cBhvr>
                                        <p:cTn id="55" dur="500"/>
                                        <p:tgtEl>
                                          <p:spTgt spid="61"/>
                                        </p:tgtEl>
                                      </p:cBhvr>
                                    </p:animEffect>
                                  </p:childTnLst>
                                </p:cTn>
                              </p:par>
                            </p:childTnLst>
                          </p:cTn>
                        </p:par>
                        <p:par>
                          <p:cTn id="56" fill="hold" nodeType="afterGroup">
                            <p:stCondLst>
                              <p:cond delay="1000"/>
                            </p:stCondLst>
                            <p:childTnLst>
                              <p:par>
                                <p:cTn id="57" presetID="22" presetClass="entr" presetSubtype="4" fill="hold" nodeType="afterEffect">
                                  <p:stCondLst>
                                    <p:cond delay="0"/>
                                  </p:stCondLst>
                                  <p:childTnLst>
                                    <p:set>
                                      <p:cBhvr>
                                        <p:cTn id="58" dur="1" fill="hold">
                                          <p:stCondLst>
                                            <p:cond delay="0"/>
                                          </p:stCondLst>
                                        </p:cTn>
                                        <p:tgtEl>
                                          <p:spTgt spid="62"/>
                                        </p:tgtEl>
                                        <p:attrNameLst>
                                          <p:attrName>style.visibility</p:attrName>
                                        </p:attrNameLst>
                                      </p:cBhvr>
                                      <p:to>
                                        <p:strVal val="visible"/>
                                      </p:to>
                                    </p:set>
                                    <p:animEffect transition="in" filter="wipe(down)">
                                      <p:cBhvr>
                                        <p:cTn id="59" dur="500"/>
                                        <p:tgtEl>
                                          <p:spTgt spid="62"/>
                                        </p:tgtEl>
                                      </p:cBhvr>
                                    </p:animEffect>
                                  </p:childTnLst>
                                </p:cTn>
                              </p:par>
                              <p:par>
                                <p:cTn id="60" presetID="22" presetClass="entr" presetSubtype="4" fill="hold" nodeType="withEffect">
                                  <p:stCondLst>
                                    <p:cond delay="0"/>
                                  </p:stCondLst>
                                  <p:childTnLst>
                                    <p:set>
                                      <p:cBhvr>
                                        <p:cTn id="61" dur="1" fill="hold">
                                          <p:stCondLst>
                                            <p:cond delay="0"/>
                                          </p:stCondLst>
                                        </p:cTn>
                                        <p:tgtEl>
                                          <p:spTgt spid="63"/>
                                        </p:tgtEl>
                                        <p:attrNameLst>
                                          <p:attrName>style.visibility</p:attrName>
                                        </p:attrNameLst>
                                      </p:cBhvr>
                                      <p:to>
                                        <p:strVal val="visible"/>
                                      </p:to>
                                    </p:set>
                                    <p:animEffect transition="in" filter="wipe(down)">
                                      <p:cBhvr>
                                        <p:cTn id="62" dur="500"/>
                                        <p:tgtEl>
                                          <p:spTgt spid="63"/>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4" fill="hold" grpId="0" nodeType="clickEffect">
                                  <p:stCondLst>
                                    <p:cond delay="0"/>
                                  </p:stCondLst>
                                  <p:childTnLst>
                                    <p:set>
                                      <p:cBhvr>
                                        <p:cTn id="66" dur="1" fill="hold">
                                          <p:stCondLst>
                                            <p:cond delay="0"/>
                                          </p:stCondLst>
                                        </p:cTn>
                                        <p:tgtEl>
                                          <p:spTgt spid="69"/>
                                        </p:tgtEl>
                                        <p:attrNameLst>
                                          <p:attrName>style.visibility</p:attrName>
                                        </p:attrNameLst>
                                      </p:cBhvr>
                                      <p:to>
                                        <p:strVal val="visible"/>
                                      </p:to>
                                    </p:set>
                                    <p:animEffect transition="in" filter="wipe(down)">
                                      <p:cBhvr>
                                        <p:cTn id="67" dur="500"/>
                                        <p:tgtEl>
                                          <p:spTgt spid="69"/>
                                        </p:tgtEl>
                                      </p:cBhvr>
                                    </p:animEffect>
                                  </p:childTnLst>
                                </p:cTn>
                              </p:par>
                            </p:childTnLst>
                          </p:cTn>
                        </p:par>
                        <p:par>
                          <p:cTn id="68" fill="hold" nodeType="afterGroup">
                            <p:stCondLst>
                              <p:cond delay="500"/>
                            </p:stCondLst>
                            <p:childTnLst>
                              <p:par>
                                <p:cTn id="69" presetID="22" presetClass="entr" presetSubtype="4" fill="hold" nodeType="afterEffect">
                                  <p:stCondLst>
                                    <p:cond delay="0"/>
                                  </p:stCondLst>
                                  <p:childTnLst>
                                    <p:set>
                                      <p:cBhvr>
                                        <p:cTn id="70" dur="1" fill="hold">
                                          <p:stCondLst>
                                            <p:cond delay="0"/>
                                          </p:stCondLst>
                                        </p:cTn>
                                        <p:tgtEl>
                                          <p:spTgt spid="70"/>
                                        </p:tgtEl>
                                        <p:attrNameLst>
                                          <p:attrName>style.visibility</p:attrName>
                                        </p:attrNameLst>
                                      </p:cBhvr>
                                      <p:to>
                                        <p:strVal val="visible"/>
                                      </p:to>
                                    </p:set>
                                    <p:animEffect transition="in" filter="wipe(down)">
                                      <p:cBhvr>
                                        <p:cTn id="71" dur="500"/>
                                        <p:tgtEl>
                                          <p:spTgt spid="70"/>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22" presetClass="entr" presetSubtype="1" fill="hold" nodeType="clickEffect">
                                  <p:stCondLst>
                                    <p:cond delay="0"/>
                                  </p:stCondLst>
                                  <p:childTnLst>
                                    <p:set>
                                      <p:cBhvr>
                                        <p:cTn id="75" dur="1" fill="hold">
                                          <p:stCondLst>
                                            <p:cond delay="0"/>
                                          </p:stCondLst>
                                        </p:cTn>
                                        <p:tgtEl>
                                          <p:spTgt spid="66"/>
                                        </p:tgtEl>
                                        <p:attrNameLst>
                                          <p:attrName>style.visibility</p:attrName>
                                        </p:attrNameLst>
                                      </p:cBhvr>
                                      <p:to>
                                        <p:strVal val="visible"/>
                                      </p:to>
                                    </p:set>
                                    <p:animEffect transition="in" filter="wipe(up)">
                                      <p:cBhvr>
                                        <p:cTn id="76" dur="500"/>
                                        <p:tgtEl>
                                          <p:spTgt spid="66"/>
                                        </p:tgtEl>
                                      </p:cBhvr>
                                    </p:animEffect>
                                  </p:childTnLst>
                                </p:cTn>
                              </p:par>
                            </p:childTnLst>
                          </p:cTn>
                        </p:par>
                        <p:par>
                          <p:cTn id="77" fill="hold" nodeType="afterGroup">
                            <p:stCondLst>
                              <p:cond delay="500"/>
                            </p:stCondLst>
                            <p:childTnLst>
                              <p:par>
                                <p:cTn id="78" presetID="22" presetClass="entr" presetSubtype="8" fill="hold" nodeType="afterEffect">
                                  <p:stCondLst>
                                    <p:cond delay="0"/>
                                  </p:stCondLst>
                                  <p:childTnLst>
                                    <p:set>
                                      <p:cBhvr>
                                        <p:cTn id="79" dur="1" fill="hold">
                                          <p:stCondLst>
                                            <p:cond delay="0"/>
                                          </p:stCondLst>
                                        </p:cTn>
                                        <p:tgtEl>
                                          <p:spTgt spid="65"/>
                                        </p:tgtEl>
                                        <p:attrNameLst>
                                          <p:attrName>style.visibility</p:attrName>
                                        </p:attrNameLst>
                                      </p:cBhvr>
                                      <p:to>
                                        <p:strVal val="visible"/>
                                      </p:to>
                                    </p:set>
                                    <p:animEffect transition="in" filter="wipe(left)">
                                      <p:cBhvr>
                                        <p:cTn id="80" dur="500"/>
                                        <p:tgtEl>
                                          <p:spTgt spid="65"/>
                                        </p:tgtEl>
                                      </p:cBhvr>
                                    </p:animEffect>
                                  </p:childTnLst>
                                </p:cTn>
                              </p:par>
                            </p:childTnLst>
                          </p:cTn>
                        </p:par>
                        <p:par>
                          <p:cTn id="81" fill="hold" nodeType="afterGroup">
                            <p:stCondLst>
                              <p:cond delay="1000"/>
                            </p:stCondLst>
                            <p:childTnLst>
                              <p:par>
                                <p:cTn id="82" presetID="22" presetClass="entr" presetSubtype="4" fill="hold" nodeType="afterEffect">
                                  <p:stCondLst>
                                    <p:cond delay="0"/>
                                  </p:stCondLst>
                                  <p:childTnLst>
                                    <p:set>
                                      <p:cBhvr>
                                        <p:cTn id="83" dur="1" fill="hold">
                                          <p:stCondLst>
                                            <p:cond delay="0"/>
                                          </p:stCondLst>
                                        </p:cTn>
                                        <p:tgtEl>
                                          <p:spTgt spid="64"/>
                                        </p:tgtEl>
                                        <p:attrNameLst>
                                          <p:attrName>style.visibility</p:attrName>
                                        </p:attrNameLst>
                                      </p:cBhvr>
                                      <p:to>
                                        <p:strVal val="visible"/>
                                      </p:to>
                                    </p:set>
                                    <p:animEffect transition="in" filter="wipe(down)">
                                      <p:cBhvr>
                                        <p:cTn id="84" dur="500"/>
                                        <p:tgtEl>
                                          <p:spTgt spid="64"/>
                                        </p:tgtEl>
                                      </p:cBhvr>
                                    </p:animEffect>
                                  </p:childTnLst>
                                </p:cTn>
                              </p:par>
                            </p:childTnLst>
                          </p:cTn>
                        </p:par>
                      </p:childTnLst>
                    </p:cTn>
                  </p:par>
                  <p:par>
                    <p:cTn id="85" fill="hold" nodeType="clickPar">
                      <p:stCondLst>
                        <p:cond delay="indefinite"/>
                      </p:stCondLst>
                      <p:childTnLst>
                        <p:par>
                          <p:cTn id="86" fill="hold" nodeType="withGroup">
                            <p:stCondLst>
                              <p:cond delay="0"/>
                            </p:stCondLst>
                            <p:childTnLst>
                              <p:par>
                                <p:cTn id="87" presetID="22" presetClass="entr" presetSubtype="4" fill="hold" nodeType="clickEffect">
                                  <p:stCondLst>
                                    <p:cond delay="0"/>
                                  </p:stCondLst>
                                  <p:childTnLst>
                                    <p:set>
                                      <p:cBhvr>
                                        <p:cTn id="88" dur="1" fill="hold">
                                          <p:stCondLst>
                                            <p:cond delay="0"/>
                                          </p:stCondLst>
                                        </p:cTn>
                                        <p:tgtEl>
                                          <p:spTgt spid="49"/>
                                        </p:tgtEl>
                                        <p:attrNameLst>
                                          <p:attrName>style.visibility</p:attrName>
                                        </p:attrNameLst>
                                      </p:cBhvr>
                                      <p:to>
                                        <p:strVal val="visible"/>
                                      </p:to>
                                    </p:set>
                                    <p:animEffect transition="in" filter="wipe(down)">
                                      <p:cBhvr>
                                        <p:cTn id="89" dur="500"/>
                                        <p:tgtEl>
                                          <p:spTgt spid="49"/>
                                        </p:tgtEl>
                                      </p:cBhvr>
                                    </p:animEffect>
                                  </p:childTnLst>
                                </p:cTn>
                              </p:par>
                              <p:par>
                                <p:cTn id="90" presetID="22" presetClass="entr" presetSubtype="4" fill="hold" nodeType="withEffect">
                                  <p:stCondLst>
                                    <p:cond delay="0"/>
                                  </p:stCondLst>
                                  <p:childTnLst>
                                    <p:set>
                                      <p:cBhvr>
                                        <p:cTn id="91" dur="1" fill="hold">
                                          <p:stCondLst>
                                            <p:cond delay="0"/>
                                          </p:stCondLst>
                                        </p:cTn>
                                        <p:tgtEl>
                                          <p:spTgt spid="48"/>
                                        </p:tgtEl>
                                        <p:attrNameLst>
                                          <p:attrName>style.visibility</p:attrName>
                                        </p:attrNameLst>
                                      </p:cBhvr>
                                      <p:to>
                                        <p:strVal val="visible"/>
                                      </p:to>
                                    </p:set>
                                    <p:animEffect transition="in" filter="wipe(down)">
                                      <p:cBhvr>
                                        <p:cTn id="92" dur="500"/>
                                        <p:tgtEl>
                                          <p:spTgt spid="48"/>
                                        </p:tgtEl>
                                      </p:cBhvr>
                                    </p:animEffect>
                                  </p:childTnLst>
                                </p:cTn>
                              </p:par>
                            </p:childTnLst>
                          </p:cTn>
                        </p:par>
                        <p:par>
                          <p:cTn id="93" fill="hold" nodeType="afterGroup">
                            <p:stCondLst>
                              <p:cond delay="500"/>
                            </p:stCondLst>
                            <p:childTnLst>
                              <p:par>
                                <p:cTn id="94" presetID="22" presetClass="entr" presetSubtype="8" fill="hold" nodeType="afterEffect">
                                  <p:stCondLst>
                                    <p:cond delay="0"/>
                                  </p:stCondLst>
                                  <p:childTnLst>
                                    <p:set>
                                      <p:cBhvr>
                                        <p:cTn id="95" dur="1" fill="hold">
                                          <p:stCondLst>
                                            <p:cond delay="0"/>
                                          </p:stCondLst>
                                        </p:cTn>
                                        <p:tgtEl>
                                          <p:spTgt spid="51"/>
                                        </p:tgtEl>
                                        <p:attrNameLst>
                                          <p:attrName>style.visibility</p:attrName>
                                        </p:attrNameLst>
                                      </p:cBhvr>
                                      <p:to>
                                        <p:strVal val="visible"/>
                                      </p:to>
                                    </p:set>
                                    <p:animEffect transition="in" filter="wipe(left)">
                                      <p:cBhvr>
                                        <p:cTn id="96" dur="500"/>
                                        <p:tgtEl>
                                          <p:spTgt spid="51"/>
                                        </p:tgtEl>
                                      </p:cBhvr>
                                    </p:animEffect>
                                  </p:childTnLst>
                                </p:cTn>
                              </p:par>
                            </p:childTnLst>
                          </p:cTn>
                        </p:par>
                        <p:par>
                          <p:cTn id="97" fill="hold" nodeType="afterGroup">
                            <p:stCondLst>
                              <p:cond delay="1000"/>
                            </p:stCondLst>
                            <p:childTnLst>
                              <p:par>
                                <p:cTn id="98" presetID="22" presetClass="entr" presetSubtype="1" fill="hold" nodeType="afterEffect">
                                  <p:stCondLst>
                                    <p:cond delay="0"/>
                                  </p:stCondLst>
                                  <p:childTnLst>
                                    <p:set>
                                      <p:cBhvr>
                                        <p:cTn id="99" dur="1" fill="hold">
                                          <p:stCondLst>
                                            <p:cond delay="0"/>
                                          </p:stCondLst>
                                        </p:cTn>
                                        <p:tgtEl>
                                          <p:spTgt spid="52"/>
                                        </p:tgtEl>
                                        <p:attrNameLst>
                                          <p:attrName>style.visibility</p:attrName>
                                        </p:attrNameLst>
                                      </p:cBhvr>
                                      <p:to>
                                        <p:strVal val="visible"/>
                                      </p:to>
                                    </p:set>
                                    <p:animEffect transition="in" filter="wipe(up)">
                                      <p:cBhvr>
                                        <p:cTn id="100" dur="500"/>
                                        <p:tgtEl>
                                          <p:spTgt spid="52"/>
                                        </p:tgtEl>
                                      </p:cBhvr>
                                    </p:animEffect>
                                  </p:childTnLst>
                                </p:cTn>
                              </p:par>
                            </p:childTnLst>
                          </p:cTn>
                        </p:par>
                        <p:par>
                          <p:cTn id="101" fill="hold" nodeType="afterGroup">
                            <p:stCondLst>
                              <p:cond delay="1500"/>
                            </p:stCondLst>
                            <p:childTnLst>
                              <p:par>
                                <p:cTn id="102" presetID="22" presetClass="entr" presetSubtype="8" fill="hold" nodeType="afterEffect">
                                  <p:stCondLst>
                                    <p:cond delay="0"/>
                                  </p:stCondLst>
                                  <p:childTnLst>
                                    <p:set>
                                      <p:cBhvr>
                                        <p:cTn id="103" dur="1" fill="hold">
                                          <p:stCondLst>
                                            <p:cond delay="0"/>
                                          </p:stCondLst>
                                        </p:cTn>
                                        <p:tgtEl>
                                          <p:spTgt spid="53"/>
                                        </p:tgtEl>
                                        <p:attrNameLst>
                                          <p:attrName>style.visibility</p:attrName>
                                        </p:attrNameLst>
                                      </p:cBhvr>
                                      <p:to>
                                        <p:strVal val="visible"/>
                                      </p:to>
                                    </p:set>
                                    <p:animEffect transition="in" filter="wipe(left)">
                                      <p:cBhvr>
                                        <p:cTn id="104" dur="500"/>
                                        <p:tgtEl>
                                          <p:spTgt spid="53"/>
                                        </p:tgtEl>
                                      </p:cBhvr>
                                    </p:animEffect>
                                  </p:childTnLst>
                                </p:cTn>
                              </p:par>
                            </p:childTnLst>
                          </p:cTn>
                        </p:par>
                        <p:par>
                          <p:cTn id="105" fill="hold" nodeType="afterGroup">
                            <p:stCondLst>
                              <p:cond delay="2000"/>
                            </p:stCondLst>
                            <p:childTnLst>
                              <p:par>
                                <p:cTn id="106" presetID="22" presetClass="entr" presetSubtype="1" fill="hold" nodeType="afterEffect">
                                  <p:stCondLst>
                                    <p:cond delay="0"/>
                                  </p:stCondLst>
                                  <p:childTnLst>
                                    <p:set>
                                      <p:cBhvr>
                                        <p:cTn id="107" dur="1" fill="hold">
                                          <p:stCondLst>
                                            <p:cond delay="0"/>
                                          </p:stCondLst>
                                        </p:cTn>
                                        <p:tgtEl>
                                          <p:spTgt spid="54"/>
                                        </p:tgtEl>
                                        <p:attrNameLst>
                                          <p:attrName>style.visibility</p:attrName>
                                        </p:attrNameLst>
                                      </p:cBhvr>
                                      <p:to>
                                        <p:strVal val="visible"/>
                                      </p:to>
                                    </p:set>
                                    <p:animEffect transition="in" filter="wipe(up)">
                                      <p:cBhvr>
                                        <p:cTn id="108" dur="500"/>
                                        <p:tgtEl>
                                          <p:spTgt spid="54"/>
                                        </p:tgtEl>
                                      </p:cBhvr>
                                    </p:animEffect>
                                  </p:childTnLst>
                                </p:cTn>
                              </p:par>
                              <p:par>
                                <p:cTn id="109" presetID="22" presetClass="entr" presetSubtype="1" fill="hold" nodeType="withEffect">
                                  <p:stCondLst>
                                    <p:cond delay="0"/>
                                  </p:stCondLst>
                                  <p:childTnLst>
                                    <p:set>
                                      <p:cBhvr>
                                        <p:cTn id="110" dur="1" fill="hold">
                                          <p:stCondLst>
                                            <p:cond delay="0"/>
                                          </p:stCondLst>
                                        </p:cTn>
                                        <p:tgtEl>
                                          <p:spTgt spid="55"/>
                                        </p:tgtEl>
                                        <p:attrNameLst>
                                          <p:attrName>style.visibility</p:attrName>
                                        </p:attrNameLst>
                                      </p:cBhvr>
                                      <p:to>
                                        <p:strVal val="visible"/>
                                      </p:to>
                                    </p:set>
                                    <p:animEffect transition="in" filter="wipe(up)">
                                      <p:cBhvr>
                                        <p:cTn id="111" dur="500"/>
                                        <p:tgtEl>
                                          <p:spTgt spid="55"/>
                                        </p:tgtEl>
                                      </p:cBhvr>
                                    </p:animEffect>
                                  </p:childTnLst>
                                </p:cTn>
                              </p:par>
                              <p:par>
                                <p:cTn id="112" presetID="22" presetClass="entr" presetSubtype="1" fill="hold" nodeType="withEffect">
                                  <p:stCondLst>
                                    <p:cond delay="0"/>
                                  </p:stCondLst>
                                  <p:childTnLst>
                                    <p:set>
                                      <p:cBhvr>
                                        <p:cTn id="113" dur="1" fill="hold">
                                          <p:stCondLst>
                                            <p:cond delay="0"/>
                                          </p:stCondLst>
                                        </p:cTn>
                                        <p:tgtEl>
                                          <p:spTgt spid="56"/>
                                        </p:tgtEl>
                                        <p:attrNameLst>
                                          <p:attrName>style.visibility</p:attrName>
                                        </p:attrNameLst>
                                      </p:cBhvr>
                                      <p:to>
                                        <p:strVal val="visible"/>
                                      </p:to>
                                    </p:set>
                                    <p:animEffect transition="in" filter="wipe(up)">
                                      <p:cBhvr>
                                        <p:cTn id="114"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 grpId="0" animBg="1"/>
      <p:bldP spid="69" grpId="0" animBg="1"/>
      <p:bldP spid="40" grpId="0" animBg="1"/>
    </p:bld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576B53C0-DC66-949A-8117-06B2D7E89538}"/>
              </a:ext>
            </a:extLst>
          </p:cNvPr>
          <p:cNvSpPr txBox="1">
            <a:spLocks/>
          </p:cNvSpPr>
          <p:nvPr/>
        </p:nvSpPr>
        <p:spPr bwMode="auto">
          <a:xfrm>
            <a:off x="0" y="1446213"/>
            <a:ext cx="8172450" cy="323850"/>
          </a:xfrm>
          <a:prstGeom prst="rect">
            <a:avLst/>
          </a:prstGeom>
          <a:noFill/>
          <a:ln w="9525">
            <a:noFill/>
            <a:miter lim="800000"/>
            <a:headEnd/>
            <a:tailEnd/>
          </a:ln>
        </p:spPr>
        <p:txBody>
          <a:bodyPr lIns="72000" tIns="0" rIns="72000" bIns="0"/>
          <a:lstStyle/>
          <a:p>
            <a:pPr marL="0" marR="0" lvl="0" indent="0" algn="l" defTabSz="720000" rtl="0" eaLnBrk="1" fontAlgn="base" latinLnBrk="0" hangingPunct="1">
              <a:lnSpc>
                <a:spcPts val="1800"/>
              </a:lnSpc>
              <a:spcBef>
                <a:spcPts val="0"/>
              </a:spcBef>
              <a:spcAft>
                <a:spcPts val="0"/>
              </a:spcAft>
              <a:buClrTx/>
              <a:buSzTx/>
              <a:buFontTx/>
              <a:buNone/>
              <a:tabLst>
                <a:tab pos="0" algn="l"/>
              </a:tabLst>
              <a:defRPr/>
            </a:pPr>
            <a:r>
              <a:rPr kumimoji="0" lang="en-US" sz="1800" b="1" i="0" u="none" strike="noStrike" kern="0" cap="none" spc="0" normalizeH="0" baseline="0" noProof="0" dirty="0">
                <a:ln>
                  <a:noFill/>
                </a:ln>
                <a:solidFill>
                  <a:srgbClr val="2F2B20"/>
                </a:solidFill>
                <a:effectLst/>
                <a:uLnTx/>
                <a:uFillTx/>
                <a:latin typeface="Calibri"/>
                <a:ea typeface="+mn-ea"/>
                <a:cs typeface="Calibri" pitchFamily="34" charset="0"/>
              </a:rPr>
              <a:t>Normal Forms</a:t>
            </a:r>
            <a:endParaRPr kumimoji="0" lang="en-MY" sz="1800" b="1" i="0" u="none" strike="noStrike" kern="0" cap="none" spc="0" normalizeH="0" baseline="0" noProof="0" dirty="0">
              <a:ln>
                <a:noFill/>
              </a:ln>
              <a:solidFill>
                <a:srgbClr val="2F2B20"/>
              </a:solidFill>
              <a:effectLst/>
              <a:uLnTx/>
              <a:uFillTx/>
              <a:latin typeface="Calibri"/>
              <a:ea typeface="+mn-ea"/>
              <a:cs typeface="Calibri" pitchFamily="34" charset="0"/>
            </a:endParaRPr>
          </a:p>
        </p:txBody>
      </p:sp>
      <p:sp>
        <p:nvSpPr>
          <p:cNvPr id="38" name="Content Placeholder 2">
            <a:extLst>
              <a:ext uri="{FF2B5EF4-FFF2-40B4-BE49-F238E27FC236}">
                <a16:creationId xmlns:a16="http://schemas.microsoft.com/office/drawing/2014/main" id="{947F95DF-37D5-C0E7-011F-6A089DFEF09D}"/>
              </a:ext>
            </a:extLst>
          </p:cNvPr>
          <p:cNvSpPr txBox="1">
            <a:spLocks/>
          </p:cNvSpPr>
          <p:nvPr/>
        </p:nvSpPr>
        <p:spPr bwMode="auto">
          <a:xfrm>
            <a:off x="250825" y="1511300"/>
            <a:ext cx="7993063"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Next, create a new relation for each of our findings</a:t>
            </a:r>
            <a:endParaRPr kumimoji="0" lang="en-US" altLang="en-US" sz="32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US" altLang="en-US" sz="32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rPr>
              <a:t> </a:t>
            </a: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graphicFrame>
        <p:nvGraphicFramePr>
          <p:cNvPr id="45" name="Table 44">
            <a:extLst>
              <a:ext uri="{FF2B5EF4-FFF2-40B4-BE49-F238E27FC236}">
                <a16:creationId xmlns:a16="http://schemas.microsoft.com/office/drawing/2014/main" id="{80F9B439-5D43-CD65-4A8B-886A9EE49D7F}"/>
              </a:ext>
            </a:extLst>
          </p:cNvPr>
          <p:cNvGraphicFramePr>
            <a:graphicFrameLocks noGrp="1"/>
          </p:cNvGraphicFramePr>
          <p:nvPr/>
        </p:nvGraphicFramePr>
        <p:xfrm>
          <a:off x="76200" y="3141663"/>
          <a:ext cx="8305800" cy="393700"/>
        </p:xfrm>
        <a:graphic>
          <a:graphicData uri="http://schemas.openxmlformats.org/drawingml/2006/table">
            <a:tbl>
              <a:tblPr firstRow="1" bandRow="1">
                <a:tableStyleId>{5940675A-B579-460E-94D1-54222C63F5DA}</a:tableStyleId>
              </a:tblPr>
              <a:tblGrid>
                <a:gridCol w="1453515">
                  <a:extLst>
                    <a:ext uri="{9D8B030D-6E8A-4147-A177-3AD203B41FA5}">
                      <a16:colId xmlns:a16="http://schemas.microsoft.com/office/drawing/2014/main" val="20000"/>
                    </a:ext>
                  </a:extLst>
                </a:gridCol>
                <a:gridCol w="1522730">
                  <a:extLst>
                    <a:ext uri="{9D8B030D-6E8A-4147-A177-3AD203B41FA5}">
                      <a16:colId xmlns:a16="http://schemas.microsoft.com/office/drawing/2014/main" val="20001"/>
                    </a:ext>
                  </a:extLst>
                </a:gridCol>
                <a:gridCol w="1315085">
                  <a:extLst>
                    <a:ext uri="{9D8B030D-6E8A-4147-A177-3AD203B41FA5}">
                      <a16:colId xmlns:a16="http://schemas.microsoft.com/office/drawing/2014/main" val="20002"/>
                    </a:ext>
                  </a:extLst>
                </a:gridCol>
                <a:gridCol w="1453515">
                  <a:extLst>
                    <a:ext uri="{9D8B030D-6E8A-4147-A177-3AD203B41FA5}">
                      <a16:colId xmlns:a16="http://schemas.microsoft.com/office/drawing/2014/main" val="20003"/>
                    </a:ext>
                  </a:extLst>
                </a:gridCol>
                <a:gridCol w="1453515">
                  <a:extLst>
                    <a:ext uri="{9D8B030D-6E8A-4147-A177-3AD203B41FA5}">
                      <a16:colId xmlns:a16="http://schemas.microsoft.com/office/drawing/2014/main" val="20004"/>
                    </a:ext>
                  </a:extLst>
                </a:gridCol>
                <a:gridCol w="1107440">
                  <a:extLst>
                    <a:ext uri="{9D8B030D-6E8A-4147-A177-3AD203B41FA5}">
                      <a16:colId xmlns:a16="http://schemas.microsoft.com/office/drawing/2014/main" val="20005"/>
                    </a:ext>
                  </a:extLst>
                </a:gridCol>
              </a:tblGrid>
              <a:tr h="393700">
                <a:tc>
                  <a:txBody>
                    <a:bodyPr/>
                    <a:lstStyle/>
                    <a:p>
                      <a:pPr algn="ctr"/>
                      <a:r>
                        <a:rPr lang="en-CA" sz="1800" dirty="0"/>
                        <a:t>PROJ_NUM</a:t>
                      </a:r>
                      <a:endParaRPr lang="en-CA" sz="1800" b="0" dirty="0"/>
                    </a:p>
                  </a:txBody>
                  <a:tcPr marL="91455" marR="91455" marT="45624" marB="45624"/>
                </a:tc>
                <a:tc>
                  <a:txBody>
                    <a:bodyPr/>
                    <a:lstStyle/>
                    <a:p>
                      <a:pPr algn="ctr"/>
                      <a:r>
                        <a:rPr lang="en-CA" sz="1800" dirty="0"/>
                        <a:t>PROJ_NAME</a:t>
                      </a:r>
                      <a:endParaRPr lang="en-CA" sz="1800" b="0" dirty="0"/>
                    </a:p>
                  </a:txBody>
                  <a:tcPr marL="91455" marR="91455" marT="45624" marB="45624"/>
                </a:tc>
                <a:tc>
                  <a:txBody>
                    <a:bodyPr/>
                    <a:lstStyle/>
                    <a:p>
                      <a:pPr algn="ctr"/>
                      <a:r>
                        <a:rPr lang="en-CA" sz="1800" dirty="0"/>
                        <a:t>EMP_NUM</a:t>
                      </a:r>
                      <a:endParaRPr lang="en-CA" sz="1800" b="0" dirty="0"/>
                    </a:p>
                  </a:txBody>
                  <a:tcPr marL="91455" marR="91455" marT="45624" marB="45624"/>
                </a:tc>
                <a:tc>
                  <a:txBody>
                    <a:bodyPr/>
                    <a:lstStyle/>
                    <a:p>
                      <a:pPr algn="ctr"/>
                      <a:r>
                        <a:rPr lang="en-CA" sz="1800" dirty="0"/>
                        <a:t>JOB_CLASS</a:t>
                      </a:r>
                      <a:endParaRPr lang="en-CA" sz="1800" b="0" dirty="0"/>
                    </a:p>
                  </a:txBody>
                  <a:tcPr marL="91455" marR="91455" marT="45624" marB="45624"/>
                </a:tc>
                <a:tc>
                  <a:txBody>
                    <a:bodyPr/>
                    <a:lstStyle/>
                    <a:p>
                      <a:pPr algn="ctr"/>
                      <a:r>
                        <a:rPr lang="en-CA" sz="1800" dirty="0"/>
                        <a:t>CHG_HOUR</a:t>
                      </a:r>
                      <a:endParaRPr lang="en-CA" sz="1800" b="0" dirty="0"/>
                    </a:p>
                  </a:txBody>
                  <a:tcPr marL="91455" marR="91455" marT="45624" marB="45624"/>
                </a:tc>
                <a:tc>
                  <a:txBody>
                    <a:bodyPr/>
                    <a:lstStyle/>
                    <a:p>
                      <a:pPr algn="ctr"/>
                      <a:r>
                        <a:rPr lang="en-CA" sz="1800" dirty="0"/>
                        <a:t>HOUR</a:t>
                      </a:r>
                      <a:endParaRPr lang="en-CA" sz="1800" b="0" dirty="0"/>
                    </a:p>
                  </a:txBody>
                  <a:tcPr marL="91455" marR="91455" marT="45624" marB="45624"/>
                </a:tc>
                <a:extLst>
                  <a:ext uri="{0D108BD9-81ED-4DB2-BD59-A6C34878D82A}">
                    <a16:rowId xmlns:a16="http://schemas.microsoft.com/office/drawing/2014/main" val="10000"/>
                  </a:ext>
                </a:extLst>
              </a:tr>
            </a:tbl>
          </a:graphicData>
        </a:graphic>
      </p:graphicFrame>
      <p:cxnSp>
        <p:nvCxnSpPr>
          <p:cNvPr id="46" name="Straight Connector 45">
            <a:extLst>
              <a:ext uri="{FF2B5EF4-FFF2-40B4-BE49-F238E27FC236}">
                <a16:creationId xmlns:a16="http://schemas.microsoft.com/office/drawing/2014/main" id="{AEA5561C-ADDE-E1B1-F5F1-6082FF94BD1E}"/>
              </a:ext>
            </a:extLst>
          </p:cNvPr>
          <p:cNvCxnSpPr>
            <a:cxnSpLocks noChangeShapeType="1"/>
          </p:cNvCxnSpPr>
          <p:nvPr/>
        </p:nvCxnSpPr>
        <p:spPr bwMode="auto">
          <a:xfrm>
            <a:off x="220663" y="3448050"/>
            <a:ext cx="1223962" cy="0"/>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cxnSp>
        <p:nvCxnSpPr>
          <p:cNvPr id="47" name="Straight Connector 46">
            <a:extLst>
              <a:ext uri="{FF2B5EF4-FFF2-40B4-BE49-F238E27FC236}">
                <a16:creationId xmlns:a16="http://schemas.microsoft.com/office/drawing/2014/main" id="{BEFCAB98-6CF8-3DDA-8131-F6B9571D7C74}"/>
              </a:ext>
            </a:extLst>
          </p:cNvPr>
          <p:cNvCxnSpPr>
            <a:cxnSpLocks noChangeShapeType="1"/>
          </p:cNvCxnSpPr>
          <p:nvPr/>
        </p:nvCxnSpPr>
        <p:spPr bwMode="auto">
          <a:xfrm>
            <a:off x="3200400" y="3448050"/>
            <a:ext cx="1066800" cy="0"/>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cxnSp>
        <p:nvCxnSpPr>
          <p:cNvPr id="48" name="Straight Connector 47">
            <a:extLst>
              <a:ext uri="{FF2B5EF4-FFF2-40B4-BE49-F238E27FC236}">
                <a16:creationId xmlns:a16="http://schemas.microsoft.com/office/drawing/2014/main" id="{5166DBE9-1BA3-EB34-F70B-F039C5F219F0}"/>
              </a:ext>
            </a:extLst>
          </p:cNvPr>
          <p:cNvCxnSpPr>
            <a:cxnSpLocks noChangeShapeType="1"/>
          </p:cNvCxnSpPr>
          <p:nvPr/>
        </p:nvCxnSpPr>
        <p:spPr bwMode="auto">
          <a:xfrm flipV="1">
            <a:off x="796925" y="2786063"/>
            <a:ext cx="0" cy="360362"/>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cxnSp>
        <p:nvCxnSpPr>
          <p:cNvPr id="49" name="Straight Connector 48">
            <a:extLst>
              <a:ext uri="{FF2B5EF4-FFF2-40B4-BE49-F238E27FC236}">
                <a16:creationId xmlns:a16="http://schemas.microsoft.com/office/drawing/2014/main" id="{B719B658-BAC5-A7A5-B19D-ED1C378C36AE}"/>
              </a:ext>
            </a:extLst>
          </p:cNvPr>
          <p:cNvCxnSpPr>
            <a:cxnSpLocks noChangeShapeType="1"/>
          </p:cNvCxnSpPr>
          <p:nvPr/>
        </p:nvCxnSpPr>
        <p:spPr bwMode="auto">
          <a:xfrm flipV="1">
            <a:off x="3895725" y="2782888"/>
            <a:ext cx="0" cy="360362"/>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cxnSp>
        <p:nvCxnSpPr>
          <p:cNvPr id="51" name="Straight Connector 50">
            <a:extLst>
              <a:ext uri="{FF2B5EF4-FFF2-40B4-BE49-F238E27FC236}">
                <a16:creationId xmlns:a16="http://schemas.microsoft.com/office/drawing/2014/main" id="{F20022C6-F267-A09E-A3EB-6C59DB1CC0A8}"/>
              </a:ext>
            </a:extLst>
          </p:cNvPr>
          <p:cNvCxnSpPr>
            <a:cxnSpLocks noChangeShapeType="1"/>
          </p:cNvCxnSpPr>
          <p:nvPr/>
        </p:nvCxnSpPr>
        <p:spPr bwMode="auto">
          <a:xfrm>
            <a:off x="796925" y="2786063"/>
            <a:ext cx="3114675" cy="0"/>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cxnSp>
        <p:nvCxnSpPr>
          <p:cNvPr id="52" name="Straight Arrow Connector 51">
            <a:extLst>
              <a:ext uri="{FF2B5EF4-FFF2-40B4-BE49-F238E27FC236}">
                <a16:creationId xmlns:a16="http://schemas.microsoft.com/office/drawing/2014/main" id="{377F080F-D2D8-66D6-EADB-4A80C8A332C8}"/>
              </a:ext>
            </a:extLst>
          </p:cNvPr>
          <p:cNvCxnSpPr>
            <a:cxnSpLocks noChangeShapeType="1"/>
          </p:cNvCxnSpPr>
          <p:nvPr/>
        </p:nvCxnSpPr>
        <p:spPr bwMode="auto">
          <a:xfrm flipH="1">
            <a:off x="2306638" y="2498725"/>
            <a:ext cx="3175" cy="638175"/>
          </a:xfrm>
          <a:prstGeom prst="straightConnector1">
            <a:avLst/>
          </a:prstGeom>
          <a:noFill/>
          <a:ln w="2540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3" name="Straight Connector 52">
            <a:extLst>
              <a:ext uri="{FF2B5EF4-FFF2-40B4-BE49-F238E27FC236}">
                <a16:creationId xmlns:a16="http://schemas.microsoft.com/office/drawing/2014/main" id="{7DAFC409-EF54-6D48-E592-06B57265AE52}"/>
              </a:ext>
            </a:extLst>
          </p:cNvPr>
          <p:cNvCxnSpPr>
            <a:cxnSpLocks noChangeShapeType="1"/>
          </p:cNvCxnSpPr>
          <p:nvPr/>
        </p:nvCxnSpPr>
        <p:spPr bwMode="auto">
          <a:xfrm>
            <a:off x="2306638" y="2498725"/>
            <a:ext cx="5770562" cy="9525"/>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cxnSp>
        <p:nvCxnSpPr>
          <p:cNvPr id="54" name="Straight Arrow Connector 53">
            <a:extLst>
              <a:ext uri="{FF2B5EF4-FFF2-40B4-BE49-F238E27FC236}">
                <a16:creationId xmlns:a16="http://schemas.microsoft.com/office/drawing/2014/main" id="{DB69546D-8D0F-E162-24BD-291D7185F6BA}"/>
              </a:ext>
            </a:extLst>
          </p:cNvPr>
          <p:cNvCxnSpPr>
            <a:cxnSpLocks noChangeShapeType="1"/>
          </p:cNvCxnSpPr>
          <p:nvPr/>
        </p:nvCxnSpPr>
        <p:spPr bwMode="auto">
          <a:xfrm flipH="1">
            <a:off x="5276850" y="2508250"/>
            <a:ext cx="9525" cy="641350"/>
          </a:xfrm>
          <a:prstGeom prst="straightConnector1">
            <a:avLst/>
          </a:prstGeom>
          <a:noFill/>
          <a:ln w="2540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5" name="Straight Arrow Connector 54">
            <a:extLst>
              <a:ext uri="{FF2B5EF4-FFF2-40B4-BE49-F238E27FC236}">
                <a16:creationId xmlns:a16="http://schemas.microsoft.com/office/drawing/2014/main" id="{F62CFA24-6F54-FCC5-714F-1B015E841323}"/>
              </a:ext>
            </a:extLst>
          </p:cNvPr>
          <p:cNvCxnSpPr>
            <a:cxnSpLocks noChangeShapeType="1"/>
          </p:cNvCxnSpPr>
          <p:nvPr/>
        </p:nvCxnSpPr>
        <p:spPr bwMode="auto">
          <a:xfrm flipH="1">
            <a:off x="6773863" y="2498725"/>
            <a:ext cx="1587" cy="638175"/>
          </a:xfrm>
          <a:prstGeom prst="straightConnector1">
            <a:avLst/>
          </a:prstGeom>
          <a:noFill/>
          <a:ln w="2540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6" name="Straight Arrow Connector 55">
            <a:extLst>
              <a:ext uri="{FF2B5EF4-FFF2-40B4-BE49-F238E27FC236}">
                <a16:creationId xmlns:a16="http://schemas.microsoft.com/office/drawing/2014/main" id="{22766DEF-42EA-1A15-4B70-68057E4E585D}"/>
              </a:ext>
            </a:extLst>
          </p:cNvPr>
          <p:cNvCxnSpPr>
            <a:cxnSpLocks noChangeShapeType="1"/>
          </p:cNvCxnSpPr>
          <p:nvPr/>
        </p:nvCxnSpPr>
        <p:spPr bwMode="auto">
          <a:xfrm flipH="1">
            <a:off x="8077200" y="2508250"/>
            <a:ext cx="3175" cy="638175"/>
          </a:xfrm>
          <a:prstGeom prst="straightConnector1">
            <a:avLst/>
          </a:prstGeom>
          <a:noFill/>
          <a:ln w="2540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7" name="Straight Connector 56">
            <a:extLst>
              <a:ext uri="{FF2B5EF4-FFF2-40B4-BE49-F238E27FC236}">
                <a16:creationId xmlns:a16="http://schemas.microsoft.com/office/drawing/2014/main" id="{56BA4A0F-A72C-1584-993F-2332022602C2}"/>
              </a:ext>
            </a:extLst>
          </p:cNvPr>
          <p:cNvCxnSpPr>
            <a:cxnSpLocks noChangeShapeType="1"/>
          </p:cNvCxnSpPr>
          <p:nvPr/>
        </p:nvCxnSpPr>
        <p:spPr bwMode="auto">
          <a:xfrm flipV="1">
            <a:off x="796925" y="3530600"/>
            <a:ext cx="0" cy="360363"/>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cxnSp>
        <p:nvCxnSpPr>
          <p:cNvPr id="58" name="Straight Connector 57">
            <a:extLst>
              <a:ext uri="{FF2B5EF4-FFF2-40B4-BE49-F238E27FC236}">
                <a16:creationId xmlns:a16="http://schemas.microsoft.com/office/drawing/2014/main" id="{202AC061-9790-43DB-D833-8AD75BF9F526}"/>
              </a:ext>
            </a:extLst>
          </p:cNvPr>
          <p:cNvCxnSpPr>
            <a:cxnSpLocks noChangeShapeType="1"/>
          </p:cNvCxnSpPr>
          <p:nvPr/>
        </p:nvCxnSpPr>
        <p:spPr bwMode="auto">
          <a:xfrm>
            <a:off x="781050" y="3900488"/>
            <a:ext cx="1573213" cy="0"/>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cxnSp>
        <p:nvCxnSpPr>
          <p:cNvPr id="59" name="Straight Connector 58">
            <a:extLst>
              <a:ext uri="{FF2B5EF4-FFF2-40B4-BE49-F238E27FC236}">
                <a16:creationId xmlns:a16="http://schemas.microsoft.com/office/drawing/2014/main" id="{0696CC83-F3DE-FBD0-DA68-EA06DEF4167B}"/>
              </a:ext>
            </a:extLst>
          </p:cNvPr>
          <p:cNvCxnSpPr>
            <a:cxnSpLocks noChangeShapeType="1"/>
          </p:cNvCxnSpPr>
          <p:nvPr/>
        </p:nvCxnSpPr>
        <p:spPr bwMode="auto">
          <a:xfrm flipV="1">
            <a:off x="2349500" y="3540125"/>
            <a:ext cx="0" cy="360363"/>
          </a:xfrm>
          <a:prstGeom prst="line">
            <a:avLst/>
          </a:prstGeom>
          <a:noFill/>
          <a:ln w="2540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60" name="Straight Connector 59">
            <a:extLst>
              <a:ext uri="{FF2B5EF4-FFF2-40B4-BE49-F238E27FC236}">
                <a16:creationId xmlns:a16="http://schemas.microsoft.com/office/drawing/2014/main" id="{7E1674BE-83ED-2C24-8E0A-D29932A5553A}"/>
              </a:ext>
            </a:extLst>
          </p:cNvPr>
          <p:cNvCxnSpPr>
            <a:cxnSpLocks noChangeShapeType="1"/>
          </p:cNvCxnSpPr>
          <p:nvPr/>
        </p:nvCxnSpPr>
        <p:spPr bwMode="auto">
          <a:xfrm flipV="1">
            <a:off x="3735388" y="3540125"/>
            <a:ext cx="0" cy="614363"/>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cxnSp>
        <p:nvCxnSpPr>
          <p:cNvPr id="61" name="Straight Connector 60">
            <a:extLst>
              <a:ext uri="{FF2B5EF4-FFF2-40B4-BE49-F238E27FC236}">
                <a16:creationId xmlns:a16="http://schemas.microsoft.com/office/drawing/2014/main" id="{26289716-31C3-15C5-414E-ECD22D163D07}"/>
              </a:ext>
            </a:extLst>
          </p:cNvPr>
          <p:cNvCxnSpPr>
            <a:cxnSpLocks noChangeShapeType="1"/>
          </p:cNvCxnSpPr>
          <p:nvPr/>
        </p:nvCxnSpPr>
        <p:spPr bwMode="auto">
          <a:xfrm>
            <a:off x="3719513" y="4154488"/>
            <a:ext cx="3414712" cy="0"/>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cxnSp>
        <p:nvCxnSpPr>
          <p:cNvPr id="62" name="Straight Connector 61">
            <a:extLst>
              <a:ext uri="{FF2B5EF4-FFF2-40B4-BE49-F238E27FC236}">
                <a16:creationId xmlns:a16="http://schemas.microsoft.com/office/drawing/2014/main" id="{30AF25BC-E1F4-95EC-7672-64ED7A3ADC05}"/>
              </a:ext>
            </a:extLst>
          </p:cNvPr>
          <p:cNvCxnSpPr>
            <a:cxnSpLocks noChangeShapeType="1"/>
          </p:cNvCxnSpPr>
          <p:nvPr/>
        </p:nvCxnSpPr>
        <p:spPr bwMode="auto">
          <a:xfrm flipV="1">
            <a:off x="5286375" y="3540125"/>
            <a:ext cx="0" cy="614363"/>
          </a:xfrm>
          <a:prstGeom prst="line">
            <a:avLst/>
          </a:prstGeom>
          <a:noFill/>
          <a:ln w="2540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63" name="Straight Connector 62">
            <a:extLst>
              <a:ext uri="{FF2B5EF4-FFF2-40B4-BE49-F238E27FC236}">
                <a16:creationId xmlns:a16="http://schemas.microsoft.com/office/drawing/2014/main" id="{7D7394AD-1D2C-5AE0-7C09-75B6859CB728}"/>
              </a:ext>
            </a:extLst>
          </p:cNvPr>
          <p:cNvCxnSpPr>
            <a:cxnSpLocks noChangeShapeType="1"/>
          </p:cNvCxnSpPr>
          <p:nvPr/>
        </p:nvCxnSpPr>
        <p:spPr bwMode="auto">
          <a:xfrm flipV="1">
            <a:off x="7134225" y="3524250"/>
            <a:ext cx="0" cy="630238"/>
          </a:xfrm>
          <a:prstGeom prst="line">
            <a:avLst/>
          </a:prstGeom>
          <a:noFill/>
          <a:ln w="2540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64" name="Straight Connector 63">
            <a:extLst>
              <a:ext uri="{FF2B5EF4-FFF2-40B4-BE49-F238E27FC236}">
                <a16:creationId xmlns:a16="http://schemas.microsoft.com/office/drawing/2014/main" id="{9C8399BB-474B-997A-9CCC-ABF0BE8737EF}"/>
              </a:ext>
            </a:extLst>
          </p:cNvPr>
          <p:cNvCxnSpPr>
            <a:cxnSpLocks noChangeShapeType="1"/>
          </p:cNvCxnSpPr>
          <p:nvPr/>
        </p:nvCxnSpPr>
        <p:spPr bwMode="auto">
          <a:xfrm flipV="1">
            <a:off x="6773863" y="3527425"/>
            <a:ext cx="0" cy="381000"/>
          </a:xfrm>
          <a:prstGeom prst="line">
            <a:avLst/>
          </a:prstGeom>
          <a:noFill/>
          <a:ln w="2540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65" name="Straight Connector 64">
            <a:extLst>
              <a:ext uri="{FF2B5EF4-FFF2-40B4-BE49-F238E27FC236}">
                <a16:creationId xmlns:a16="http://schemas.microsoft.com/office/drawing/2014/main" id="{E867622B-64E0-B004-FC07-60735A172D26}"/>
              </a:ext>
            </a:extLst>
          </p:cNvPr>
          <p:cNvCxnSpPr>
            <a:cxnSpLocks noChangeShapeType="1"/>
          </p:cNvCxnSpPr>
          <p:nvPr/>
        </p:nvCxnSpPr>
        <p:spPr bwMode="auto">
          <a:xfrm>
            <a:off x="5692775" y="3900488"/>
            <a:ext cx="1081088" cy="0"/>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cxnSp>
        <p:nvCxnSpPr>
          <p:cNvPr id="66" name="Straight Connector 65">
            <a:extLst>
              <a:ext uri="{FF2B5EF4-FFF2-40B4-BE49-F238E27FC236}">
                <a16:creationId xmlns:a16="http://schemas.microsoft.com/office/drawing/2014/main" id="{99065637-B622-05D4-B604-D8CD23C28108}"/>
              </a:ext>
            </a:extLst>
          </p:cNvPr>
          <p:cNvCxnSpPr>
            <a:cxnSpLocks noChangeShapeType="1"/>
          </p:cNvCxnSpPr>
          <p:nvPr/>
        </p:nvCxnSpPr>
        <p:spPr bwMode="auto">
          <a:xfrm flipV="1">
            <a:off x="5692775" y="3540125"/>
            <a:ext cx="0" cy="379413"/>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graphicFrame>
        <p:nvGraphicFramePr>
          <p:cNvPr id="74" name="Table 73">
            <a:extLst>
              <a:ext uri="{FF2B5EF4-FFF2-40B4-BE49-F238E27FC236}">
                <a16:creationId xmlns:a16="http://schemas.microsoft.com/office/drawing/2014/main" id="{9CAC0436-C725-C508-CB0F-27DE66F13542}"/>
              </a:ext>
            </a:extLst>
          </p:cNvPr>
          <p:cNvGraphicFramePr>
            <a:graphicFrameLocks noGrp="1"/>
          </p:cNvGraphicFramePr>
          <p:nvPr/>
        </p:nvGraphicFramePr>
        <p:xfrm>
          <a:off x="220663" y="4733925"/>
          <a:ext cx="3240088" cy="428625"/>
        </p:xfrm>
        <a:graphic>
          <a:graphicData uri="http://schemas.openxmlformats.org/drawingml/2006/table">
            <a:tbl>
              <a:tblPr firstRow="1" bandRow="1">
                <a:tableStyleId>{5940675A-B579-460E-94D1-54222C63F5DA}</a:tableStyleId>
              </a:tblPr>
              <a:tblGrid>
                <a:gridCol w="1620044">
                  <a:extLst>
                    <a:ext uri="{9D8B030D-6E8A-4147-A177-3AD203B41FA5}">
                      <a16:colId xmlns:a16="http://schemas.microsoft.com/office/drawing/2014/main" val="20000"/>
                    </a:ext>
                  </a:extLst>
                </a:gridCol>
                <a:gridCol w="1620044">
                  <a:extLst>
                    <a:ext uri="{9D8B030D-6E8A-4147-A177-3AD203B41FA5}">
                      <a16:colId xmlns:a16="http://schemas.microsoft.com/office/drawing/2014/main" val="20001"/>
                    </a:ext>
                  </a:extLst>
                </a:gridCol>
              </a:tblGrid>
              <a:tr h="428625">
                <a:tc>
                  <a:txBody>
                    <a:bodyPr/>
                    <a:lstStyle/>
                    <a:p>
                      <a:pPr algn="ctr"/>
                      <a:r>
                        <a:rPr lang="en-CA" sz="1800" dirty="0"/>
                        <a:t>PROJ_NUM</a:t>
                      </a:r>
                      <a:endParaRPr lang="en-CA" sz="1800" b="0" dirty="0"/>
                    </a:p>
                  </a:txBody>
                  <a:tcPr marL="91432" marR="91432" marT="45736" marB="45736"/>
                </a:tc>
                <a:tc>
                  <a:txBody>
                    <a:bodyPr/>
                    <a:lstStyle/>
                    <a:p>
                      <a:pPr algn="ctr"/>
                      <a:r>
                        <a:rPr lang="en-CA" sz="1800" b="0" dirty="0"/>
                        <a:t>PROJ_NAME</a:t>
                      </a:r>
                    </a:p>
                  </a:txBody>
                  <a:tcPr marL="91432" marR="91432" marT="45736" marB="45736"/>
                </a:tc>
                <a:extLst>
                  <a:ext uri="{0D108BD9-81ED-4DB2-BD59-A6C34878D82A}">
                    <a16:rowId xmlns:a16="http://schemas.microsoft.com/office/drawing/2014/main" val="10000"/>
                  </a:ext>
                </a:extLst>
              </a:tr>
            </a:tbl>
          </a:graphicData>
        </a:graphic>
      </p:graphicFrame>
      <p:cxnSp>
        <p:nvCxnSpPr>
          <p:cNvPr id="75" name="Straight Connector 74">
            <a:extLst>
              <a:ext uri="{FF2B5EF4-FFF2-40B4-BE49-F238E27FC236}">
                <a16:creationId xmlns:a16="http://schemas.microsoft.com/office/drawing/2014/main" id="{64A8C77B-CA70-E81C-3E85-BFA836837AA2}"/>
              </a:ext>
            </a:extLst>
          </p:cNvPr>
          <p:cNvCxnSpPr>
            <a:cxnSpLocks noChangeShapeType="1"/>
          </p:cNvCxnSpPr>
          <p:nvPr/>
        </p:nvCxnSpPr>
        <p:spPr bwMode="auto">
          <a:xfrm>
            <a:off x="427038" y="5091113"/>
            <a:ext cx="1223962" cy="0"/>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graphicFrame>
        <p:nvGraphicFramePr>
          <p:cNvPr id="76" name="Table 75">
            <a:extLst>
              <a:ext uri="{FF2B5EF4-FFF2-40B4-BE49-F238E27FC236}">
                <a16:creationId xmlns:a16="http://schemas.microsoft.com/office/drawing/2014/main" id="{8FDB14E1-072D-F961-69D9-A10440F1077C}"/>
              </a:ext>
            </a:extLst>
          </p:cNvPr>
          <p:cNvGraphicFramePr>
            <a:graphicFrameLocks noGrp="1"/>
          </p:cNvGraphicFramePr>
          <p:nvPr/>
        </p:nvGraphicFramePr>
        <p:xfrm>
          <a:off x="244475" y="5549900"/>
          <a:ext cx="4805363" cy="438150"/>
        </p:xfrm>
        <a:graphic>
          <a:graphicData uri="http://schemas.openxmlformats.org/drawingml/2006/table">
            <a:tbl>
              <a:tblPr firstRow="1" bandRow="1">
                <a:tableStyleId>{5940675A-B579-460E-94D1-54222C63F5DA}</a:tableStyleId>
              </a:tblPr>
              <a:tblGrid>
                <a:gridCol w="1348679">
                  <a:extLst>
                    <a:ext uri="{9D8B030D-6E8A-4147-A177-3AD203B41FA5}">
                      <a16:colId xmlns:a16="http://schemas.microsoft.com/office/drawing/2014/main" val="20000"/>
                    </a:ext>
                  </a:extLst>
                </a:gridCol>
                <a:gridCol w="1728342">
                  <a:extLst>
                    <a:ext uri="{9D8B030D-6E8A-4147-A177-3AD203B41FA5}">
                      <a16:colId xmlns:a16="http://schemas.microsoft.com/office/drawing/2014/main" val="20001"/>
                    </a:ext>
                  </a:extLst>
                </a:gridCol>
                <a:gridCol w="1728342">
                  <a:extLst>
                    <a:ext uri="{9D8B030D-6E8A-4147-A177-3AD203B41FA5}">
                      <a16:colId xmlns:a16="http://schemas.microsoft.com/office/drawing/2014/main" val="20002"/>
                    </a:ext>
                  </a:extLst>
                </a:gridCol>
              </a:tblGrid>
              <a:tr h="438150">
                <a:tc>
                  <a:txBody>
                    <a:bodyPr/>
                    <a:lstStyle/>
                    <a:p>
                      <a:pPr algn="ctr"/>
                      <a:r>
                        <a:rPr lang="en-CA" sz="1800" dirty="0"/>
                        <a:t>EMP_NUM</a:t>
                      </a:r>
                      <a:endParaRPr lang="en-CA" sz="1800" b="0" dirty="0"/>
                    </a:p>
                  </a:txBody>
                  <a:tcPr marL="91454" marR="91454" marT="45760" marB="45760"/>
                </a:tc>
                <a:tc>
                  <a:txBody>
                    <a:bodyPr/>
                    <a:lstStyle/>
                    <a:p>
                      <a:pPr algn="ctr"/>
                      <a:r>
                        <a:rPr lang="en-CA" sz="1800" b="0" dirty="0"/>
                        <a:t>JOB_CLASS</a:t>
                      </a:r>
                    </a:p>
                  </a:txBody>
                  <a:tcPr marL="91454" marR="91454" marT="45760" marB="45760"/>
                </a:tc>
                <a:tc>
                  <a:txBody>
                    <a:bodyPr/>
                    <a:lstStyle/>
                    <a:p>
                      <a:pPr algn="ctr"/>
                      <a:r>
                        <a:rPr lang="en-CA" sz="1800" b="0" dirty="0"/>
                        <a:t>CHG_HOUR</a:t>
                      </a:r>
                    </a:p>
                  </a:txBody>
                  <a:tcPr marL="91454" marR="91454" marT="45760" marB="45760"/>
                </a:tc>
                <a:extLst>
                  <a:ext uri="{0D108BD9-81ED-4DB2-BD59-A6C34878D82A}">
                    <a16:rowId xmlns:a16="http://schemas.microsoft.com/office/drawing/2014/main" val="10000"/>
                  </a:ext>
                </a:extLst>
              </a:tr>
            </a:tbl>
          </a:graphicData>
        </a:graphic>
      </p:graphicFrame>
      <p:graphicFrame>
        <p:nvGraphicFramePr>
          <p:cNvPr id="77" name="Table 76">
            <a:extLst>
              <a:ext uri="{FF2B5EF4-FFF2-40B4-BE49-F238E27FC236}">
                <a16:creationId xmlns:a16="http://schemas.microsoft.com/office/drawing/2014/main" id="{0F1CBDC1-FC98-DBF6-5B3F-6B12FCEC8748}"/>
              </a:ext>
            </a:extLst>
          </p:cNvPr>
          <p:cNvGraphicFramePr>
            <a:graphicFrameLocks noGrp="1"/>
          </p:cNvGraphicFramePr>
          <p:nvPr/>
        </p:nvGraphicFramePr>
        <p:xfrm>
          <a:off x="4062413" y="4724400"/>
          <a:ext cx="4006849" cy="438150"/>
        </p:xfrm>
        <a:graphic>
          <a:graphicData uri="http://schemas.openxmlformats.org/drawingml/2006/table">
            <a:tbl>
              <a:tblPr firstRow="1" bandRow="1">
                <a:tableStyleId>{5940675A-B579-460E-94D1-54222C63F5DA}</a:tableStyleId>
              </a:tblPr>
              <a:tblGrid>
                <a:gridCol w="1472448">
                  <a:extLst>
                    <a:ext uri="{9D8B030D-6E8A-4147-A177-3AD203B41FA5}">
                      <a16:colId xmlns:a16="http://schemas.microsoft.com/office/drawing/2014/main" val="20000"/>
                    </a:ext>
                  </a:extLst>
                </a:gridCol>
                <a:gridCol w="1349968">
                  <a:extLst>
                    <a:ext uri="{9D8B030D-6E8A-4147-A177-3AD203B41FA5}">
                      <a16:colId xmlns:a16="http://schemas.microsoft.com/office/drawing/2014/main" val="20001"/>
                    </a:ext>
                  </a:extLst>
                </a:gridCol>
                <a:gridCol w="1184433">
                  <a:extLst>
                    <a:ext uri="{9D8B030D-6E8A-4147-A177-3AD203B41FA5}">
                      <a16:colId xmlns:a16="http://schemas.microsoft.com/office/drawing/2014/main" val="20002"/>
                    </a:ext>
                  </a:extLst>
                </a:gridCol>
              </a:tblGrid>
              <a:tr h="438150">
                <a:tc>
                  <a:txBody>
                    <a:bodyPr/>
                    <a:lstStyle/>
                    <a:p>
                      <a:pPr algn="ctr"/>
                      <a:r>
                        <a:rPr lang="en-CA" sz="1800" dirty="0"/>
                        <a:t>PROJ_NUM</a:t>
                      </a:r>
                      <a:endParaRPr lang="en-CA" sz="1800" b="0" dirty="0"/>
                    </a:p>
                  </a:txBody>
                  <a:tcPr marL="91426" marR="91426" marT="45760" marB="45760"/>
                </a:tc>
                <a:tc>
                  <a:txBody>
                    <a:bodyPr/>
                    <a:lstStyle/>
                    <a:p>
                      <a:pPr algn="ctr"/>
                      <a:r>
                        <a:rPr lang="en-CA" sz="1800" b="0" dirty="0"/>
                        <a:t>EMP_NUM</a:t>
                      </a:r>
                    </a:p>
                  </a:txBody>
                  <a:tcPr marL="91426" marR="91426" marT="45760" marB="45760"/>
                </a:tc>
                <a:tc>
                  <a:txBody>
                    <a:bodyPr/>
                    <a:lstStyle/>
                    <a:p>
                      <a:pPr algn="ctr"/>
                      <a:r>
                        <a:rPr lang="en-CA" sz="1800" b="0" dirty="0"/>
                        <a:t>HOUR</a:t>
                      </a:r>
                    </a:p>
                  </a:txBody>
                  <a:tcPr marL="91426" marR="91426" marT="45760" marB="45760"/>
                </a:tc>
                <a:extLst>
                  <a:ext uri="{0D108BD9-81ED-4DB2-BD59-A6C34878D82A}">
                    <a16:rowId xmlns:a16="http://schemas.microsoft.com/office/drawing/2014/main" val="10000"/>
                  </a:ext>
                </a:extLst>
              </a:tr>
            </a:tbl>
          </a:graphicData>
        </a:graphic>
      </p:graphicFrame>
      <p:cxnSp>
        <p:nvCxnSpPr>
          <p:cNvPr id="78" name="Straight Connector 77">
            <a:extLst>
              <a:ext uri="{FF2B5EF4-FFF2-40B4-BE49-F238E27FC236}">
                <a16:creationId xmlns:a16="http://schemas.microsoft.com/office/drawing/2014/main" id="{393552A1-E980-C790-7DD3-FAC787E6F2B5}"/>
              </a:ext>
            </a:extLst>
          </p:cNvPr>
          <p:cNvCxnSpPr>
            <a:cxnSpLocks noChangeShapeType="1"/>
          </p:cNvCxnSpPr>
          <p:nvPr/>
        </p:nvCxnSpPr>
        <p:spPr bwMode="auto">
          <a:xfrm>
            <a:off x="357188" y="5883275"/>
            <a:ext cx="1074737" cy="0"/>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cxnSp>
        <p:nvCxnSpPr>
          <p:cNvPr id="79" name="Straight Connector 78">
            <a:extLst>
              <a:ext uri="{FF2B5EF4-FFF2-40B4-BE49-F238E27FC236}">
                <a16:creationId xmlns:a16="http://schemas.microsoft.com/office/drawing/2014/main" id="{24757D34-97F4-F624-4E8D-499FB0B3AB43}"/>
              </a:ext>
            </a:extLst>
          </p:cNvPr>
          <p:cNvCxnSpPr>
            <a:cxnSpLocks noChangeShapeType="1"/>
          </p:cNvCxnSpPr>
          <p:nvPr/>
        </p:nvCxnSpPr>
        <p:spPr bwMode="auto">
          <a:xfrm>
            <a:off x="4206875" y="5089525"/>
            <a:ext cx="2536825" cy="0"/>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sp>
        <p:nvSpPr>
          <p:cNvPr id="80" name="TextBox 79">
            <a:extLst>
              <a:ext uri="{FF2B5EF4-FFF2-40B4-BE49-F238E27FC236}">
                <a16:creationId xmlns:a16="http://schemas.microsoft.com/office/drawing/2014/main" id="{F2650270-1B9F-1020-C2E1-6491F028AB24}"/>
              </a:ext>
            </a:extLst>
          </p:cNvPr>
          <p:cNvSpPr txBox="1">
            <a:spLocks noChangeArrowheads="1"/>
          </p:cNvSpPr>
          <p:nvPr/>
        </p:nvSpPr>
        <p:spPr bwMode="auto">
          <a:xfrm>
            <a:off x="136525" y="4370388"/>
            <a:ext cx="20891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PROJECT</a:t>
            </a:r>
          </a:p>
        </p:txBody>
      </p:sp>
      <p:sp>
        <p:nvSpPr>
          <p:cNvPr id="81" name="TextBox 80">
            <a:extLst>
              <a:ext uri="{FF2B5EF4-FFF2-40B4-BE49-F238E27FC236}">
                <a16:creationId xmlns:a16="http://schemas.microsoft.com/office/drawing/2014/main" id="{C8334EDE-A339-AA66-4462-5599B2B8DFBC}"/>
              </a:ext>
            </a:extLst>
          </p:cNvPr>
          <p:cNvSpPr txBox="1">
            <a:spLocks noChangeArrowheads="1"/>
          </p:cNvSpPr>
          <p:nvPr/>
        </p:nvSpPr>
        <p:spPr bwMode="auto">
          <a:xfrm>
            <a:off x="149225" y="5186363"/>
            <a:ext cx="20875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EMPLOYEE</a:t>
            </a:r>
          </a:p>
        </p:txBody>
      </p:sp>
      <p:sp>
        <p:nvSpPr>
          <p:cNvPr id="82" name="TextBox 81">
            <a:extLst>
              <a:ext uri="{FF2B5EF4-FFF2-40B4-BE49-F238E27FC236}">
                <a16:creationId xmlns:a16="http://schemas.microsoft.com/office/drawing/2014/main" id="{770CCED5-4807-2C79-4BCC-F19F4A3B2B31}"/>
              </a:ext>
            </a:extLst>
          </p:cNvPr>
          <p:cNvSpPr txBox="1">
            <a:spLocks noChangeArrowheads="1"/>
          </p:cNvSpPr>
          <p:nvPr/>
        </p:nvSpPr>
        <p:spPr bwMode="auto">
          <a:xfrm>
            <a:off x="3983038" y="4343400"/>
            <a:ext cx="29178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PROJECT_ASSIGNMENT</a:t>
            </a:r>
          </a:p>
        </p:txBody>
      </p:sp>
      <p:sp>
        <p:nvSpPr>
          <p:cNvPr id="44" name="TextBox 43">
            <a:extLst>
              <a:ext uri="{FF2B5EF4-FFF2-40B4-BE49-F238E27FC236}">
                <a16:creationId xmlns:a16="http://schemas.microsoft.com/office/drawing/2014/main" id="{285BD6F5-CCD0-869C-515F-350ADCD6268D}"/>
              </a:ext>
            </a:extLst>
          </p:cNvPr>
          <p:cNvSpPr txBox="1"/>
          <p:nvPr/>
        </p:nvSpPr>
        <p:spPr>
          <a:xfrm>
            <a:off x="1336675" y="6065838"/>
            <a:ext cx="6121400" cy="715962"/>
          </a:xfrm>
          <a:prstGeom prst="roundRect">
            <a:avLst/>
          </a:prstGeom>
          <a:ln/>
        </p:spPr>
        <p:style>
          <a:lnRef idx="1">
            <a:schemeClr val="accent4"/>
          </a:lnRef>
          <a:fillRef idx="2">
            <a:schemeClr val="accent4"/>
          </a:fillRef>
          <a:effectRef idx="1">
            <a:schemeClr val="accent4"/>
          </a:effectRef>
          <a:fontRef idx="minor">
            <a:schemeClr val="dk1"/>
          </a:fontRef>
        </p:style>
        <p:txBody>
          <a:bodyPr>
            <a:spAutoFit/>
          </a:bodyPr>
          <a:lstStyle/>
          <a:p>
            <a:pPr marL="808038" marR="0" lvl="0" indent="-808038" algn="ctr" defTabSz="914400" rtl="0" eaLnBrk="0" fontAlgn="base" latinLnBrk="0" hangingPunct="0">
              <a:lnSpc>
                <a:spcPct val="100000"/>
              </a:lnSpc>
              <a:spcBef>
                <a:spcPct val="0"/>
              </a:spcBef>
              <a:spcAft>
                <a:spcPct val="0"/>
              </a:spcAft>
              <a:buClrTx/>
              <a:buSzTx/>
              <a:buFontTx/>
              <a:buNone/>
              <a:tabLst/>
              <a:defRPr/>
            </a:pPr>
            <a:r>
              <a:rPr kumimoji="0" lang="en-CA" sz="1800" b="0" i="0" u="none" strike="noStrike" kern="1200" cap="none" spc="0" normalizeH="0" baseline="0" noProof="0" dirty="0">
                <a:ln>
                  <a:noFill/>
                </a:ln>
                <a:solidFill>
                  <a:srgbClr val="FF0000"/>
                </a:solidFill>
                <a:effectLst/>
                <a:uLnTx/>
                <a:uFillTx/>
                <a:latin typeface="Calibri"/>
                <a:ea typeface="+mn-ea"/>
                <a:cs typeface="+mn-cs"/>
              </a:rPr>
              <a:t>Useful Tip</a:t>
            </a:r>
            <a:r>
              <a:rPr kumimoji="0" lang="en-CA" sz="1800" b="0" i="0" u="none" strike="noStrike" kern="1200" cap="none" spc="0" normalizeH="0" baseline="0" noProof="0" dirty="0">
                <a:ln>
                  <a:noFill/>
                </a:ln>
                <a:solidFill>
                  <a:srgbClr val="2F2B20"/>
                </a:solidFill>
                <a:effectLst/>
                <a:uLnTx/>
                <a:uFillTx/>
                <a:latin typeface="Calibri"/>
                <a:ea typeface="+mn-ea"/>
                <a:cs typeface="+mn-cs"/>
              </a:rPr>
              <a:t>: The relation consisting of the original primary key </a:t>
            </a:r>
            <a:r>
              <a:rPr kumimoji="0" lang="en-CA" sz="1800" b="1" i="0" u="sng" strike="noStrike" kern="1200" cap="none" spc="0" normalizeH="0" baseline="0" noProof="0" dirty="0">
                <a:ln>
                  <a:noFill/>
                </a:ln>
                <a:solidFill>
                  <a:srgbClr val="2F2B20"/>
                </a:solidFill>
                <a:effectLst/>
                <a:uLnTx/>
                <a:uFillTx/>
                <a:latin typeface="Calibri"/>
                <a:ea typeface="+mn-ea"/>
                <a:cs typeface="+mn-cs"/>
              </a:rPr>
              <a:t>MUST EXIST</a:t>
            </a:r>
            <a:r>
              <a:rPr kumimoji="0" lang="en-CA" sz="1800" b="0" i="0" u="none" strike="noStrike" kern="1200" cap="none" spc="0" normalizeH="0" baseline="0" noProof="0" dirty="0">
                <a:ln>
                  <a:noFill/>
                </a:ln>
                <a:solidFill>
                  <a:srgbClr val="2F2B20"/>
                </a:solidFill>
                <a:effectLst/>
                <a:uLnTx/>
                <a:uFillTx/>
                <a:latin typeface="Calibri"/>
                <a:ea typeface="+mn-ea"/>
                <a:cs typeface="+mn-cs"/>
              </a:rPr>
              <a:t> at end of normalization</a:t>
            </a:r>
          </a:p>
        </p:txBody>
      </p:sp>
      <p:cxnSp>
        <p:nvCxnSpPr>
          <p:cNvPr id="67" name="Straight Arrow Connector 66">
            <a:extLst>
              <a:ext uri="{FF2B5EF4-FFF2-40B4-BE49-F238E27FC236}">
                <a16:creationId xmlns:a16="http://schemas.microsoft.com/office/drawing/2014/main" id="{52AAF9E7-D77C-485F-C298-ABA44CD5EDAF}"/>
              </a:ext>
            </a:extLst>
          </p:cNvPr>
          <p:cNvCxnSpPr/>
          <p:nvPr/>
        </p:nvCxnSpPr>
        <p:spPr bwMode="auto">
          <a:xfrm flipV="1">
            <a:off x="5573713" y="5186363"/>
            <a:ext cx="119062" cy="879475"/>
          </a:xfrm>
          <a:prstGeom prst="straightConnector1">
            <a:avLst/>
          </a:prstGeom>
          <a:ln>
            <a:headEnd type="none" w="med" len="med"/>
            <a:tailEnd type="triangle"/>
          </a:ln>
        </p:spPr>
        <p:style>
          <a:lnRef idx="1">
            <a:schemeClr val="accent4"/>
          </a:lnRef>
          <a:fillRef idx="2">
            <a:schemeClr val="accent4"/>
          </a:fillRef>
          <a:effectRef idx="1">
            <a:schemeClr val="accent4"/>
          </a:effectRef>
          <a:fontRef idx="minor">
            <a:schemeClr val="dk1"/>
          </a:fontRef>
        </p:style>
      </p:cxnSp>
      <p:sp>
        <p:nvSpPr>
          <p:cNvPr id="14" name="Oval 13">
            <a:extLst>
              <a:ext uri="{FF2B5EF4-FFF2-40B4-BE49-F238E27FC236}">
                <a16:creationId xmlns:a16="http://schemas.microsoft.com/office/drawing/2014/main" id="{3D874172-FA0F-C3FE-2DA5-63114AA314F5}"/>
              </a:ext>
            </a:extLst>
          </p:cNvPr>
          <p:cNvSpPr>
            <a:spLocks noChangeArrowheads="1"/>
          </p:cNvSpPr>
          <p:nvPr/>
        </p:nvSpPr>
        <p:spPr bwMode="auto">
          <a:xfrm>
            <a:off x="149225" y="3394075"/>
            <a:ext cx="2735263" cy="635000"/>
          </a:xfrm>
          <a:prstGeom prst="ellipse">
            <a:avLst/>
          </a:prstGeom>
          <a:noFill/>
          <a:ln w="25400" algn="ctr">
            <a:solidFill>
              <a:srgbClr val="B50C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endParaRPr>
          </a:p>
        </p:txBody>
      </p:sp>
      <p:cxnSp>
        <p:nvCxnSpPr>
          <p:cNvPr id="17" name="Straight Arrow Connector 16">
            <a:extLst>
              <a:ext uri="{FF2B5EF4-FFF2-40B4-BE49-F238E27FC236}">
                <a16:creationId xmlns:a16="http://schemas.microsoft.com/office/drawing/2014/main" id="{F405096A-7685-526E-4D96-5C0D0B112377}"/>
              </a:ext>
            </a:extLst>
          </p:cNvPr>
          <p:cNvCxnSpPr>
            <a:cxnSpLocks noChangeShapeType="1"/>
            <a:stCxn id="14" idx="4"/>
          </p:cNvCxnSpPr>
          <p:nvPr/>
        </p:nvCxnSpPr>
        <p:spPr bwMode="auto">
          <a:xfrm>
            <a:off x="1517650" y="4029075"/>
            <a:ext cx="49213" cy="627063"/>
          </a:xfrm>
          <a:prstGeom prst="straightConnector1">
            <a:avLst/>
          </a:prstGeom>
          <a:noFill/>
          <a:ln w="25400" algn="ctr">
            <a:solidFill>
              <a:srgbClr val="B50C00"/>
            </a:solidFill>
            <a:round/>
            <a:headEnd/>
            <a:tailEnd type="triangle" w="med" len="med"/>
          </a:ln>
          <a:extLst>
            <a:ext uri="{909E8E84-426E-40DD-AFC4-6F175D3DCCD1}">
              <a14:hiddenFill xmlns:a14="http://schemas.microsoft.com/office/drawing/2010/main">
                <a:noFill/>
              </a14:hiddenFill>
            </a:ext>
          </a:extLst>
        </p:spPr>
      </p:cxnSp>
      <p:sp>
        <p:nvSpPr>
          <p:cNvPr id="68" name="Oval 67">
            <a:extLst>
              <a:ext uri="{FF2B5EF4-FFF2-40B4-BE49-F238E27FC236}">
                <a16:creationId xmlns:a16="http://schemas.microsoft.com/office/drawing/2014/main" id="{37FFB873-41B3-BDF6-A139-D9A9B6549DA0}"/>
              </a:ext>
            </a:extLst>
          </p:cNvPr>
          <p:cNvSpPr>
            <a:spLocks noChangeArrowheads="1"/>
          </p:cNvSpPr>
          <p:nvPr/>
        </p:nvSpPr>
        <p:spPr bwMode="auto">
          <a:xfrm>
            <a:off x="3173413" y="3338513"/>
            <a:ext cx="4537075" cy="995362"/>
          </a:xfrm>
          <a:prstGeom prst="ellipse">
            <a:avLst/>
          </a:prstGeom>
          <a:noFill/>
          <a:ln w="25400" algn="ctr">
            <a:solidFill>
              <a:srgbClr val="7F7B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endParaRPr>
          </a:p>
        </p:txBody>
      </p:sp>
      <p:cxnSp>
        <p:nvCxnSpPr>
          <p:cNvPr id="69" name="Straight Arrow Connector 68">
            <a:extLst>
              <a:ext uri="{FF2B5EF4-FFF2-40B4-BE49-F238E27FC236}">
                <a16:creationId xmlns:a16="http://schemas.microsoft.com/office/drawing/2014/main" id="{A6498021-A153-F3DA-42EE-6BA7484420AA}"/>
              </a:ext>
            </a:extLst>
          </p:cNvPr>
          <p:cNvCxnSpPr>
            <a:cxnSpLocks noChangeShapeType="1"/>
            <a:stCxn id="68" idx="3"/>
          </p:cNvCxnSpPr>
          <p:nvPr/>
        </p:nvCxnSpPr>
        <p:spPr bwMode="auto">
          <a:xfrm flipH="1">
            <a:off x="3533775" y="4187825"/>
            <a:ext cx="303213" cy="1311275"/>
          </a:xfrm>
          <a:prstGeom prst="straightConnector1">
            <a:avLst/>
          </a:prstGeom>
          <a:noFill/>
          <a:ln w="25400" algn="ctr">
            <a:solidFill>
              <a:srgbClr val="7F7B00"/>
            </a:solidFill>
            <a:round/>
            <a:headEnd/>
            <a:tailEnd type="triangle" w="med" len="med"/>
          </a:ln>
          <a:extLst>
            <a:ext uri="{909E8E84-426E-40DD-AFC4-6F175D3DCCD1}">
              <a14:hiddenFill xmlns:a14="http://schemas.microsoft.com/office/drawing/2010/main">
                <a:noFill/>
              </a14:hiddenFill>
            </a:ext>
          </a:extLst>
        </p:spPr>
      </p:cxnSp>
      <p:sp>
        <p:nvSpPr>
          <p:cNvPr id="70" name="Title 1">
            <a:extLst>
              <a:ext uri="{FF2B5EF4-FFF2-40B4-BE49-F238E27FC236}">
                <a16:creationId xmlns:a16="http://schemas.microsoft.com/office/drawing/2014/main" id="{28BC506E-8EBB-3F16-B534-938DAEC215E7}"/>
              </a:ext>
            </a:extLst>
          </p:cNvPr>
          <p:cNvSpPr>
            <a:spLocks noGrp="1"/>
          </p:cNvSpPr>
          <p:nvPr>
            <p:ph type="title"/>
          </p:nvPr>
        </p:nvSpPr>
        <p:spPr>
          <a:xfrm>
            <a:off x="457200" y="76200"/>
            <a:ext cx="7620000" cy="1143000"/>
          </a:xfrm>
        </p:spPr>
        <p:txBody>
          <a:bodyPr/>
          <a:lstStyle/>
          <a:p>
            <a:pPr algn="ctr">
              <a:defRPr/>
            </a:pPr>
            <a:r>
              <a:rPr lang="en-US" dirty="0"/>
              <a:t>Relational Database Normalization</a:t>
            </a:r>
            <a:endParaRPr lang="en-CA"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38">
                                            <p:txEl>
                                              <p:pRg st="0" end="0"/>
                                            </p:txEl>
                                          </p:spTgt>
                                        </p:tgtEl>
                                        <p:attrNameLst>
                                          <p:attrName>style.visibility</p:attrName>
                                        </p:attrNameLst>
                                      </p:cBhvr>
                                      <p:to>
                                        <p:strVal val="visible"/>
                                      </p:to>
                                    </p:set>
                                    <p:animEffect transition="in" filter="wipe(left)">
                                      <p:cBhvr>
                                        <p:cTn id="7" dur="500"/>
                                        <p:tgtEl>
                                          <p:spTgt spid="38">
                                            <p:txEl>
                                              <p:pRg st="0" end="0"/>
                                            </p:txEl>
                                          </p:spTgt>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45"/>
                                        </p:tgtEl>
                                        <p:attrNameLst>
                                          <p:attrName>style.visibility</p:attrName>
                                        </p:attrNameLst>
                                      </p:cBhvr>
                                      <p:to>
                                        <p:strVal val="visible"/>
                                      </p:to>
                                    </p:set>
                                    <p:animEffect transition="in" filter="wipe(left)">
                                      <p:cBhvr>
                                        <p:cTn id="11" dur="500"/>
                                        <p:tgtEl>
                                          <p:spTgt spid="45"/>
                                        </p:tgtEl>
                                      </p:cBhvr>
                                    </p:animEffect>
                                  </p:childTnLst>
                                </p:cTn>
                              </p:par>
                            </p:childTnLst>
                          </p:cTn>
                        </p:par>
                        <p:par>
                          <p:cTn id="12" fill="hold" nodeType="afterGroup">
                            <p:stCondLst>
                              <p:cond delay="1000"/>
                            </p:stCondLst>
                            <p:childTnLst>
                              <p:par>
                                <p:cTn id="13" presetID="22" presetClass="entr" presetSubtype="8" fill="hold" nodeType="afterEffect">
                                  <p:stCondLst>
                                    <p:cond delay="0"/>
                                  </p:stCondLst>
                                  <p:childTnLst>
                                    <p:set>
                                      <p:cBhvr>
                                        <p:cTn id="14" dur="1" fill="hold">
                                          <p:stCondLst>
                                            <p:cond delay="0"/>
                                          </p:stCondLst>
                                        </p:cTn>
                                        <p:tgtEl>
                                          <p:spTgt spid="46"/>
                                        </p:tgtEl>
                                        <p:attrNameLst>
                                          <p:attrName>style.visibility</p:attrName>
                                        </p:attrNameLst>
                                      </p:cBhvr>
                                      <p:to>
                                        <p:strVal val="visible"/>
                                      </p:to>
                                    </p:set>
                                    <p:animEffect transition="in" filter="wipe(left)">
                                      <p:cBhvr>
                                        <p:cTn id="15" dur="500"/>
                                        <p:tgtEl>
                                          <p:spTgt spid="46"/>
                                        </p:tgtEl>
                                      </p:cBhvr>
                                    </p:animEffect>
                                  </p:childTnLst>
                                </p:cTn>
                              </p:par>
                              <p:par>
                                <p:cTn id="16" presetID="22" presetClass="entr" presetSubtype="8" fill="hold" nodeType="withEffect">
                                  <p:stCondLst>
                                    <p:cond delay="0"/>
                                  </p:stCondLst>
                                  <p:childTnLst>
                                    <p:set>
                                      <p:cBhvr>
                                        <p:cTn id="17" dur="1" fill="hold">
                                          <p:stCondLst>
                                            <p:cond delay="0"/>
                                          </p:stCondLst>
                                        </p:cTn>
                                        <p:tgtEl>
                                          <p:spTgt spid="47"/>
                                        </p:tgtEl>
                                        <p:attrNameLst>
                                          <p:attrName>style.visibility</p:attrName>
                                        </p:attrNameLst>
                                      </p:cBhvr>
                                      <p:to>
                                        <p:strVal val="visible"/>
                                      </p:to>
                                    </p:set>
                                    <p:animEffect transition="in" filter="wipe(left)">
                                      <p:cBhvr>
                                        <p:cTn id="18" dur="500"/>
                                        <p:tgtEl>
                                          <p:spTgt spid="47"/>
                                        </p:tgtEl>
                                      </p:cBhvr>
                                    </p:animEffect>
                                  </p:childTnLst>
                                </p:cTn>
                              </p:par>
                            </p:childTnLst>
                          </p:cTn>
                        </p:par>
                        <p:par>
                          <p:cTn id="19" fill="hold" nodeType="afterGroup">
                            <p:stCondLst>
                              <p:cond delay="1500"/>
                            </p:stCondLst>
                            <p:childTnLst>
                              <p:par>
                                <p:cTn id="20" presetID="22" presetClass="entr" presetSubtype="1" fill="hold" nodeType="afterEffect">
                                  <p:stCondLst>
                                    <p:cond delay="0"/>
                                  </p:stCondLst>
                                  <p:childTnLst>
                                    <p:set>
                                      <p:cBhvr>
                                        <p:cTn id="21" dur="1" fill="hold">
                                          <p:stCondLst>
                                            <p:cond delay="0"/>
                                          </p:stCondLst>
                                        </p:cTn>
                                        <p:tgtEl>
                                          <p:spTgt spid="57"/>
                                        </p:tgtEl>
                                        <p:attrNameLst>
                                          <p:attrName>style.visibility</p:attrName>
                                        </p:attrNameLst>
                                      </p:cBhvr>
                                      <p:to>
                                        <p:strVal val="visible"/>
                                      </p:to>
                                    </p:set>
                                    <p:animEffect transition="in" filter="wipe(up)">
                                      <p:cBhvr>
                                        <p:cTn id="22" dur="500"/>
                                        <p:tgtEl>
                                          <p:spTgt spid="57"/>
                                        </p:tgtEl>
                                      </p:cBhvr>
                                    </p:animEffect>
                                  </p:childTnLst>
                                </p:cTn>
                              </p:par>
                              <p:par>
                                <p:cTn id="23" presetID="22" presetClass="entr" presetSubtype="8" fill="hold" nodeType="withEffect">
                                  <p:stCondLst>
                                    <p:cond delay="0"/>
                                  </p:stCondLst>
                                  <p:childTnLst>
                                    <p:set>
                                      <p:cBhvr>
                                        <p:cTn id="24" dur="1" fill="hold">
                                          <p:stCondLst>
                                            <p:cond delay="0"/>
                                          </p:stCondLst>
                                        </p:cTn>
                                        <p:tgtEl>
                                          <p:spTgt spid="58"/>
                                        </p:tgtEl>
                                        <p:attrNameLst>
                                          <p:attrName>style.visibility</p:attrName>
                                        </p:attrNameLst>
                                      </p:cBhvr>
                                      <p:to>
                                        <p:strVal val="visible"/>
                                      </p:to>
                                    </p:set>
                                    <p:animEffect transition="in" filter="wipe(left)">
                                      <p:cBhvr>
                                        <p:cTn id="25" dur="500"/>
                                        <p:tgtEl>
                                          <p:spTgt spid="58"/>
                                        </p:tgtEl>
                                      </p:cBhvr>
                                    </p:animEffect>
                                  </p:childTnLst>
                                </p:cTn>
                              </p:par>
                              <p:par>
                                <p:cTn id="26" presetID="22" presetClass="entr" presetSubtype="4" fill="hold" nodeType="withEffect">
                                  <p:stCondLst>
                                    <p:cond delay="0"/>
                                  </p:stCondLst>
                                  <p:childTnLst>
                                    <p:set>
                                      <p:cBhvr>
                                        <p:cTn id="27" dur="1" fill="hold">
                                          <p:stCondLst>
                                            <p:cond delay="0"/>
                                          </p:stCondLst>
                                        </p:cTn>
                                        <p:tgtEl>
                                          <p:spTgt spid="59"/>
                                        </p:tgtEl>
                                        <p:attrNameLst>
                                          <p:attrName>style.visibility</p:attrName>
                                        </p:attrNameLst>
                                      </p:cBhvr>
                                      <p:to>
                                        <p:strVal val="visible"/>
                                      </p:to>
                                    </p:set>
                                    <p:animEffect transition="in" filter="wipe(down)">
                                      <p:cBhvr>
                                        <p:cTn id="28" dur="500"/>
                                        <p:tgtEl>
                                          <p:spTgt spid="59"/>
                                        </p:tgtEl>
                                      </p:cBhvr>
                                    </p:animEffect>
                                  </p:childTnLst>
                                </p:cTn>
                              </p:par>
                              <p:par>
                                <p:cTn id="29" presetID="22" presetClass="entr" presetSubtype="1" fill="hold" nodeType="withEffect">
                                  <p:stCondLst>
                                    <p:cond delay="0"/>
                                  </p:stCondLst>
                                  <p:childTnLst>
                                    <p:set>
                                      <p:cBhvr>
                                        <p:cTn id="30" dur="1" fill="hold">
                                          <p:stCondLst>
                                            <p:cond delay="0"/>
                                          </p:stCondLst>
                                        </p:cTn>
                                        <p:tgtEl>
                                          <p:spTgt spid="60"/>
                                        </p:tgtEl>
                                        <p:attrNameLst>
                                          <p:attrName>style.visibility</p:attrName>
                                        </p:attrNameLst>
                                      </p:cBhvr>
                                      <p:to>
                                        <p:strVal val="visible"/>
                                      </p:to>
                                    </p:set>
                                    <p:animEffect transition="in" filter="wipe(up)">
                                      <p:cBhvr>
                                        <p:cTn id="31" dur="500"/>
                                        <p:tgtEl>
                                          <p:spTgt spid="60"/>
                                        </p:tgtEl>
                                      </p:cBhvr>
                                    </p:animEffect>
                                  </p:childTnLst>
                                </p:cTn>
                              </p:par>
                              <p:par>
                                <p:cTn id="32" presetID="22" presetClass="entr" presetSubtype="8" fill="hold" nodeType="withEffect">
                                  <p:stCondLst>
                                    <p:cond delay="0"/>
                                  </p:stCondLst>
                                  <p:childTnLst>
                                    <p:set>
                                      <p:cBhvr>
                                        <p:cTn id="33" dur="1" fill="hold">
                                          <p:stCondLst>
                                            <p:cond delay="0"/>
                                          </p:stCondLst>
                                        </p:cTn>
                                        <p:tgtEl>
                                          <p:spTgt spid="61"/>
                                        </p:tgtEl>
                                        <p:attrNameLst>
                                          <p:attrName>style.visibility</p:attrName>
                                        </p:attrNameLst>
                                      </p:cBhvr>
                                      <p:to>
                                        <p:strVal val="visible"/>
                                      </p:to>
                                    </p:set>
                                    <p:animEffect transition="in" filter="wipe(left)">
                                      <p:cBhvr>
                                        <p:cTn id="34" dur="500"/>
                                        <p:tgtEl>
                                          <p:spTgt spid="61"/>
                                        </p:tgtEl>
                                      </p:cBhvr>
                                    </p:animEffect>
                                  </p:childTnLst>
                                </p:cTn>
                              </p:par>
                              <p:par>
                                <p:cTn id="35" presetID="22" presetClass="entr" presetSubtype="4" fill="hold" nodeType="withEffect">
                                  <p:stCondLst>
                                    <p:cond delay="0"/>
                                  </p:stCondLst>
                                  <p:childTnLst>
                                    <p:set>
                                      <p:cBhvr>
                                        <p:cTn id="36" dur="1" fill="hold">
                                          <p:stCondLst>
                                            <p:cond delay="0"/>
                                          </p:stCondLst>
                                        </p:cTn>
                                        <p:tgtEl>
                                          <p:spTgt spid="62"/>
                                        </p:tgtEl>
                                        <p:attrNameLst>
                                          <p:attrName>style.visibility</p:attrName>
                                        </p:attrNameLst>
                                      </p:cBhvr>
                                      <p:to>
                                        <p:strVal val="visible"/>
                                      </p:to>
                                    </p:set>
                                    <p:animEffect transition="in" filter="wipe(down)">
                                      <p:cBhvr>
                                        <p:cTn id="37" dur="500"/>
                                        <p:tgtEl>
                                          <p:spTgt spid="62"/>
                                        </p:tgtEl>
                                      </p:cBhvr>
                                    </p:animEffect>
                                  </p:childTnLst>
                                </p:cTn>
                              </p:par>
                              <p:par>
                                <p:cTn id="38" presetID="22" presetClass="entr" presetSubtype="4" fill="hold" nodeType="withEffect">
                                  <p:stCondLst>
                                    <p:cond delay="0"/>
                                  </p:stCondLst>
                                  <p:childTnLst>
                                    <p:set>
                                      <p:cBhvr>
                                        <p:cTn id="39" dur="1" fill="hold">
                                          <p:stCondLst>
                                            <p:cond delay="0"/>
                                          </p:stCondLst>
                                        </p:cTn>
                                        <p:tgtEl>
                                          <p:spTgt spid="63"/>
                                        </p:tgtEl>
                                        <p:attrNameLst>
                                          <p:attrName>style.visibility</p:attrName>
                                        </p:attrNameLst>
                                      </p:cBhvr>
                                      <p:to>
                                        <p:strVal val="visible"/>
                                      </p:to>
                                    </p:set>
                                    <p:animEffect transition="in" filter="wipe(down)">
                                      <p:cBhvr>
                                        <p:cTn id="40" dur="500"/>
                                        <p:tgtEl>
                                          <p:spTgt spid="63"/>
                                        </p:tgtEl>
                                      </p:cBhvr>
                                    </p:animEffect>
                                  </p:childTnLst>
                                </p:cTn>
                              </p:par>
                              <p:par>
                                <p:cTn id="41" presetID="22" presetClass="entr" presetSubtype="1" fill="hold" nodeType="withEffect">
                                  <p:stCondLst>
                                    <p:cond delay="0"/>
                                  </p:stCondLst>
                                  <p:childTnLst>
                                    <p:set>
                                      <p:cBhvr>
                                        <p:cTn id="42" dur="1" fill="hold">
                                          <p:stCondLst>
                                            <p:cond delay="0"/>
                                          </p:stCondLst>
                                        </p:cTn>
                                        <p:tgtEl>
                                          <p:spTgt spid="66"/>
                                        </p:tgtEl>
                                        <p:attrNameLst>
                                          <p:attrName>style.visibility</p:attrName>
                                        </p:attrNameLst>
                                      </p:cBhvr>
                                      <p:to>
                                        <p:strVal val="visible"/>
                                      </p:to>
                                    </p:set>
                                    <p:animEffect transition="in" filter="wipe(up)">
                                      <p:cBhvr>
                                        <p:cTn id="43" dur="500"/>
                                        <p:tgtEl>
                                          <p:spTgt spid="66"/>
                                        </p:tgtEl>
                                      </p:cBhvr>
                                    </p:animEffect>
                                  </p:childTnLst>
                                </p:cTn>
                              </p:par>
                              <p:par>
                                <p:cTn id="44" presetID="22" presetClass="entr" presetSubtype="8" fill="hold" nodeType="withEffect">
                                  <p:stCondLst>
                                    <p:cond delay="0"/>
                                  </p:stCondLst>
                                  <p:childTnLst>
                                    <p:set>
                                      <p:cBhvr>
                                        <p:cTn id="45" dur="1" fill="hold">
                                          <p:stCondLst>
                                            <p:cond delay="0"/>
                                          </p:stCondLst>
                                        </p:cTn>
                                        <p:tgtEl>
                                          <p:spTgt spid="65"/>
                                        </p:tgtEl>
                                        <p:attrNameLst>
                                          <p:attrName>style.visibility</p:attrName>
                                        </p:attrNameLst>
                                      </p:cBhvr>
                                      <p:to>
                                        <p:strVal val="visible"/>
                                      </p:to>
                                    </p:set>
                                    <p:animEffect transition="in" filter="wipe(left)">
                                      <p:cBhvr>
                                        <p:cTn id="46" dur="500"/>
                                        <p:tgtEl>
                                          <p:spTgt spid="65"/>
                                        </p:tgtEl>
                                      </p:cBhvr>
                                    </p:animEffect>
                                  </p:childTnLst>
                                </p:cTn>
                              </p:par>
                              <p:par>
                                <p:cTn id="47" presetID="22" presetClass="entr" presetSubtype="4" fill="hold" nodeType="withEffect">
                                  <p:stCondLst>
                                    <p:cond delay="0"/>
                                  </p:stCondLst>
                                  <p:childTnLst>
                                    <p:set>
                                      <p:cBhvr>
                                        <p:cTn id="48" dur="1" fill="hold">
                                          <p:stCondLst>
                                            <p:cond delay="0"/>
                                          </p:stCondLst>
                                        </p:cTn>
                                        <p:tgtEl>
                                          <p:spTgt spid="64"/>
                                        </p:tgtEl>
                                        <p:attrNameLst>
                                          <p:attrName>style.visibility</p:attrName>
                                        </p:attrNameLst>
                                      </p:cBhvr>
                                      <p:to>
                                        <p:strVal val="visible"/>
                                      </p:to>
                                    </p:set>
                                    <p:animEffect transition="in" filter="wipe(down)">
                                      <p:cBhvr>
                                        <p:cTn id="49" dur="500"/>
                                        <p:tgtEl>
                                          <p:spTgt spid="64"/>
                                        </p:tgtEl>
                                      </p:cBhvr>
                                    </p:animEffect>
                                  </p:childTnLst>
                                </p:cTn>
                              </p:par>
                              <p:par>
                                <p:cTn id="50" presetID="22" presetClass="entr" presetSubtype="4" fill="hold" nodeType="withEffect">
                                  <p:stCondLst>
                                    <p:cond delay="0"/>
                                  </p:stCondLst>
                                  <p:childTnLst>
                                    <p:set>
                                      <p:cBhvr>
                                        <p:cTn id="51" dur="1" fill="hold">
                                          <p:stCondLst>
                                            <p:cond delay="0"/>
                                          </p:stCondLst>
                                        </p:cTn>
                                        <p:tgtEl>
                                          <p:spTgt spid="49"/>
                                        </p:tgtEl>
                                        <p:attrNameLst>
                                          <p:attrName>style.visibility</p:attrName>
                                        </p:attrNameLst>
                                      </p:cBhvr>
                                      <p:to>
                                        <p:strVal val="visible"/>
                                      </p:to>
                                    </p:set>
                                    <p:animEffect transition="in" filter="wipe(down)">
                                      <p:cBhvr>
                                        <p:cTn id="52" dur="500"/>
                                        <p:tgtEl>
                                          <p:spTgt spid="49"/>
                                        </p:tgtEl>
                                      </p:cBhvr>
                                    </p:animEffect>
                                  </p:childTnLst>
                                </p:cTn>
                              </p:par>
                              <p:par>
                                <p:cTn id="53" presetID="22" presetClass="entr" presetSubtype="4" fill="hold" nodeType="withEffect">
                                  <p:stCondLst>
                                    <p:cond delay="0"/>
                                  </p:stCondLst>
                                  <p:childTnLst>
                                    <p:set>
                                      <p:cBhvr>
                                        <p:cTn id="54" dur="1" fill="hold">
                                          <p:stCondLst>
                                            <p:cond delay="0"/>
                                          </p:stCondLst>
                                        </p:cTn>
                                        <p:tgtEl>
                                          <p:spTgt spid="48"/>
                                        </p:tgtEl>
                                        <p:attrNameLst>
                                          <p:attrName>style.visibility</p:attrName>
                                        </p:attrNameLst>
                                      </p:cBhvr>
                                      <p:to>
                                        <p:strVal val="visible"/>
                                      </p:to>
                                    </p:set>
                                    <p:animEffect transition="in" filter="wipe(down)">
                                      <p:cBhvr>
                                        <p:cTn id="55" dur="500"/>
                                        <p:tgtEl>
                                          <p:spTgt spid="48"/>
                                        </p:tgtEl>
                                      </p:cBhvr>
                                    </p:animEffect>
                                  </p:childTnLst>
                                </p:cTn>
                              </p:par>
                              <p:par>
                                <p:cTn id="56" presetID="22" presetClass="entr" presetSubtype="8" fill="hold" nodeType="withEffect">
                                  <p:stCondLst>
                                    <p:cond delay="0"/>
                                  </p:stCondLst>
                                  <p:childTnLst>
                                    <p:set>
                                      <p:cBhvr>
                                        <p:cTn id="57" dur="1" fill="hold">
                                          <p:stCondLst>
                                            <p:cond delay="0"/>
                                          </p:stCondLst>
                                        </p:cTn>
                                        <p:tgtEl>
                                          <p:spTgt spid="51"/>
                                        </p:tgtEl>
                                        <p:attrNameLst>
                                          <p:attrName>style.visibility</p:attrName>
                                        </p:attrNameLst>
                                      </p:cBhvr>
                                      <p:to>
                                        <p:strVal val="visible"/>
                                      </p:to>
                                    </p:set>
                                    <p:animEffect transition="in" filter="wipe(left)">
                                      <p:cBhvr>
                                        <p:cTn id="58" dur="500"/>
                                        <p:tgtEl>
                                          <p:spTgt spid="51"/>
                                        </p:tgtEl>
                                      </p:cBhvr>
                                    </p:animEffect>
                                  </p:childTnLst>
                                </p:cTn>
                              </p:par>
                              <p:par>
                                <p:cTn id="59" presetID="22" presetClass="entr" presetSubtype="1" fill="hold" nodeType="withEffect">
                                  <p:stCondLst>
                                    <p:cond delay="0"/>
                                  </p:stCondLst>
                                  <p:childTnLst>
                                    <p:set>
                                      <p:cBhvr>
                                        <p:cTn id="60" dur="1" fill="hold">
                                          <p:stCondLst>
                                            <p:cond delay="0"/>
                                          </p:stCondLst>
                                        </p:cTn>
                                        <p:tgtEl>
                                          <p:spTgt spid="52"/>
                                        </p:tgtEl>
                                        <p:attrNameLst>
                                          <p:attrName>style.visibility</p:attrName>
                                        </p:attrNameLst>
                                      </p:cBhvr>
                                      <p:to>
                                        <p:strVal val="visible"/>
                                      </p:to>
                                    </p:set>
                                    <p:animEffect transition="in" filter="wipe(up)">
                                      <p:cBhvr>
                                        <p:cTn id="61" dur="500"/>
                                        <p:tgtEl>
                                          <p:spTgt spid="52"/>
                                        </p:tgtEl>
                                      </p:cBhvr>
                                    </p:animEffect>
                                  </p:childTnLst>
                                </p:cTn>
                              </p:par>
                              <p:par>
                                <p:cTn id="62" presetID="22" presetClass="entr" presetSubtype="8" fill="hold" nodeType="withEffect">
                                  <p:stCondLst>
                                    <p:cond delay="0"/>
                                  </p:stCondLst>
                                  <p:childTnLst>
                                    <p:set>
                                      <p:cBhvr>
                                        <p:cTn id="63" dur="1" fill="hold">
                                          <p:stCondLst>
                                            <p:cond delay="0"/>
                                          </p:stCondLst>
                                        </p:cTn>
                                        <p:tgtEl>
                                          <p:spTgt spid="53"/>
                                        </p:tgtEl>
                                        <p:attrNameLst>
                                          <p:attrName>style.visibility</p:attrName>
                                        </p:attrNameLst>
                                      </p:cBhvr>
                                      <p:to>
                                        <p:strVal val="visible"/>
                                      </p:to>
                                    </p:set>
                                    <p:animEffect transition="in" filter="wipe(left)">
                                      <p:cBhvr>
                                        <p:cTn id="64" dur="500"/>
                                        <p:tgtEl>
                                          <p:spTgt spid="53"/>
                                        </p:tgtEl>
                                      </p:cBhvr>
                                    </p:animEffect>
                                  </p:childTnLst>
                                </p:cTn>
                              </p:par>
                              <p:par>
                                <p:cTn id="65" presetID="22" presetClass="entr" presetSubtype="1" fill="hold" nodeType="withEffect">
                                  <p:stCondLst>
                                    <p:cond delay="0"/>
                                  </p:stCondLst>
                                  <p:childTnLst>
                                    <p:set>
                                      <p:cBhvr>
                                        <p:cTn id="66" dur="1" fill="hold">
                                          <p:stCondLst>
                                            <p:cond delay="0"/>
                                          </p:stCondLst>
                                        </p:cTn>
                                        <p:tgtEl>
                                          <p:spTgt spid="54"/>
                                        </p:tgtEl>
                                        <p:attrNameLst>
                                          <p:attrName>style.visibility</p:attrName>
                                        </p:attrNameLst>
                                      </p:cBhvr>
                                      <p:to>
                                        <p:strVal val="visible"/>
                                      </p:to>
                                    </p:set>
                                    <p:animEffect transition="in" filter="wipe(up)">
                                      <p:cBhvr>
                                        <p:cTn id="67" dur="500"/>
                                        <p:tgtEl>
                                          <p:spTgt spid="54"/>
                                        </p:tgtEl>
                                      </p:cBhvr>
                                    </p:animEffect>
                                  </p:childTnLst>
                                </p:cTn>
                              </p:par>
                              <p:par>
                                <p:cTn id="68" presetID="22" presetClass="entr" presetSubtype="1" fill="hold" nodeType="withEffect">
                                  <p:stCondLst>
                                    <p:cond delay="0"/>
                                  </p:stCondLst>
                                  <p:childTnLst>
                                    <p:set>
                                      <p:cBhvr>
                                        <p:cTn id="69" dur="1" fill="hold">
                                          <p:stCondLst>
                                            <p:cond delay="0"/>
                                          </p:stCondLst>
                                        </p:cTn>
                                        <p:tgtEl>
                                          <p:spTgt spid="55"/>
                                        </p:tgtEl>
                                        <p:attrNameLst>
                                          <p:attrName>style.visibility</p:attrName>
                                        </p:attrNameLst>
                                      </p:cBhvr>
                                      <p:to>
                                        <p:strVal val="visible"/>
                                      </p:to>
                                    </p:set>
                                    <p:animEffect transition="in" filter="wipe(up)">
                                      <p:cBhvr>
                                        <p:cTn id="70" dur="500"/>
                                        <p:tgtEl>
                                          <p:spTgt spid="55"/>
                                        </p:tgtEl>
                                      </p:cBhvr>
                                    </p:animEffect>
                                  </p:childTnLst>
                                </p:cTn>
                              </p:par>
                              <p:par>
                                <p:cTn id="71" presetID="22" presetClass="entr" presetSubtype="1" fill="hold" nodeType="withEffect">
                                  <p:stCondLst>
                                    <p:cond delay="0"/>
                                  </p:stCondLst>
                                  <p:childTnLst>
                                    <p:set>
                                      <p:cBhvr>
                                        <p:cTn id="72" dur="1" fill="hold">
                                          <p:stCondLst>
                                            <p:cond delay="0"/>
                                          </p:stCondLst>
                                        </p:cTn>
                                        <p:tgtEl>
                                          <p:spTgt spid="56"/>
                                        </p:tgtEl>
                                        <p:attrNameLst>
                                          <p:attrName>style.visibility</p:attrName>
                                        </p:attrNameLst>
                                      </p:cBhvr>
                                      <p:to>
                                        <p:strVal val="visible"/>
                                      </p:to>
                                    </p:set>
                                    <p:animEffect transition="in" filter="wipe(up)">
                                      <p:cBhvr>
                                        <p:cTn id="73" dur="500"/>
                                        <p:tgtEl>
                                          <p:spTgt spid="56"/>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21" presetClass="entr" presetSubtype="1" fill="hold" grpId="0" nodeType="clickEffect">
                                  <p:stCondLst>
                                    <p:cond delay="0"/>
                                  </p:stCondLst>
                                  <p:childTnLst>
                                    <p:set>
                                      <p:cBhvr>
                                        <p:cTn id="77" dur="1" fill="hold">
                                          <p:stCondLst>
                                            <p:cond delay="0"/>
                                          </p:stCondLst>
                                        </p:cTn>
                                        <p:tgtEl>
                                          <p:spTgt spid="14"/>
                                        </p:tgtEl>
                                        <p:attrNameLst>
                                          <p:attrName>style.visibility</p:attrName>
                                        </p:attrNameLst>
                                      </p:cBhvr>
                                      <p:to>
                                        <p:strVal val="visible"/>
                                      </p:to>
                                    </p:set>
                                    <p:animEffect transition="in" filter="wheel(1)">
                                      <p:cBhvr>
                                        <p:cTn id="78" dur="1000"/>
                                        <p:tgtEl>
                                          <p:spTgt spid="14"/>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22" presetClass="entr" presetSubtype="1" fill="hold" nodeType="clickEffect">
                                  <p:stCondLst>
                                    <p:cond delay="0"/>
                                  </p:stCondLst>
                                  <p:childTnLst>
                                    <p:set>
                                      <p:cBhvr>
                                        <p:cTn id="82" dur="1" fill="hold">
                                          <p:stCondLst>
                                            <p:cond delay="0"/>
                                          </p:stCondLst>
                                        </p:cTn>
                                        <p:tgtEl>
                                          <p:spTgt spid="17"/>
                                        </p:tgtEl>
                                        <p:attrNameLst>
                                          <p:attrName>style.visibility</p:attrName>
                                        </p:attrNameLst>
                                      </p:cBhvr>
                                      <p:to>
                                        <p:strVal val="visible"/>
                                      </p:to>
                                    </p:set>
                                    <p:animEffect transition="in" filter="wipe(up)">
                                      <p:cBhvr>
                                        <p:cTn id="83" dur="500"/>
                                        <p:tgtEl>
                                          <p:spTgt spid="17"/>
                                        </p:tgtEl>
                                      </p:cBhvr>
                                    </p:animEffect>
                                  </p:childTnLst>
                                </p:cTn>
                              </p:par>
                            </p:childTnLst>
                          </p:cTn>
                        </p:par>
                        <p:par>
                          <p:cTn id="84" fill="hold" nodeType="afterGroup">
                            <p:stCondLst>
                              <p:cond delay="500"/>
                            </p:stCondLst>
                            <p:childTnLst>
                              <p:par>
                                <p:cTn id="85" presetID="22" presetClass="entr" presetSubtype="1" fill="hold" grpId="0" nodeType="afterEffect">
                                  <p:stCondLst>
                                    <p:cond delay="0"/>
                                  </p:stCondLst>
                                  <p:childTnLst>
                                    <p:set>
                                      <p:cBhvr>
                                        <p:cTn id="86" dur="1" fill="hold">
                                          <p:stCondLst>
                                            <p:cond delay="0"/>
                                          </p:stCondLst>
                                        </p:cTn>
                                        <p:tgtEl>
                                          <p:spTgt spid="80"/>
                                        </p:tgtEl>
                                        <p:attrNameLst>
                                          <p:attrName>style.visibility</p:attrName>
                                        </p:attrNameLst>
                                      </p:cBhvr>
                                      <p:to>
                                        <p:strVal val="visible"/>
                                      </p:to>
                                    </p:set>
                                    <p:animEffect transition="in" filter="wipe(up)">
                                      <p:cBhvr>
                                        <p:cTn id="87" dur="500"/>
                                        <p:tgtEl>
                                          <p:spTgt spid="80"/>
                                        </p:tgtEl>
                                      </p:cBhvr>
                                    </p:animEffect>
                                  </p:childTnLst>
                                </p:cTn>
                              </p:par>
                            </p:childTnLst>
                          </p:cTn>
                        </p:par>
                        <p:par>
                          <p:cTn id="88" fill="hold" nodeType="afterGroup">
                            <p:stCondLst>
                              <p:cond delay="1000"/>
                            </p:stCondLst>
                            <p:childTnLst>
                              <p:par>
                                <p:cTn id="89" presetID="22" presetClass="entr" presetSubtype="8" fill="hold" nodeType="afterEffect">
                                  <p:stCondLst>
                                    <p:cond delay="0"/>
                                  </p:stCondLst>
                                  <p:childTnLst>
                                    <p:set>
                                      <p:cBhvr>
                                        <p:cTn id="90" dur="1" fill="hold">
                                          <p:stCondLst>
                                            <p:cond delay="0"/>
                                          </p:stCondLst>
                                        </p:cTn>
                                        <p:tgtEl>
                                          <p:spTgt spid="74"/>
                                        </p:tgtEl>
                                        <p:attrNameLst>
                                          <p:attrName>style.visibility</p:attrName>
                                        </p:attrNameLst>
                                      </p:cBhvr>
                                      <p:to>
                                        <p:strVal val="visible"/>
                                      </p:to>
                                    </p:set>
                                    <p:animEffect transition="in" filter="wipe(left)">
                                      <p:cBhvr>
                                        <p:cTn id="91" dur="500"/>
                                        <p:tgtEl>
                                          <p:spTgt spid="74"/>
                                        </p:tgtEl>
                                      </p:cBhvr>
                                    </p:animEffect>
                                  </p:childTnLst>
                                </p:cTn>
                              </p:par>
                            </p:childTnLst>
                          </p:cTn>
                        </p:par>
                        <p:par>
                          <p:cTn id="92" fill="hold" nodeType="afterGroup">
                            <p:stCondLst>
                              <p:cond delay="1500"/>
                            </p:stCondLst>
                            <p:childTnLst>
                              <p:par>
                                <p:cTn id="93" presetID="22" presetClass="entr" presetSubtype="8" fill="hold" nodeType="afterEffect">
                                  <p:stCondLst>
                                    <p:cond delay="0"/>
                                  </p:stCondLst>
                                  <p:childTnLst>
                                    <p:set>
                                      <p:cBhvr>
                                        <p:cTn id="94" dur="1" fill="hold">
                                          <p:stCondLst>
                                            <p:cond delay="0"/>
                                          </p:stCondLst>
                                        </p:cTn>
                                        <p:tgtEl>
                                          <p:spTgt spid="75"/>
                                        </p:tgtEl>
                                        <p:attrNameLst>
                                          <p:attrName>style.visibility</p:attrName>
                                        </p:attrNameLst>
                                      </p:cBhvr>
                                      <p:to>
                                        <p:strVal val="visible"/>
                                      </p:to>
                                    </p:set>
                                    <p:animEffect transition="in" filter="wipe(left)">
                                      <p:cBhvr>
                                        <p:cTn id="95" dur="500"/>
                                        <p:tgtEl>
                                          <p:spTgt spid="75"/>
                                        </p:tgtEl>
                                      </p:cBhvr>
                                    </p:animEffect>
                                  </p:childTnLst>
                                </p:cTn>
                              </p:par>
                            </p:childTnLst>
                          </p:cTn>
                        </p:par>
                      </p:childTnLst>
                    </p:cTn>
                  </p:par>
                  <p:par>
                    <p:cTn id="96" fill="hold" nodeType="clickPar">
                      <p:stCondLst>
                        <p:cond delay="indefinite"/>
                      </p:stCondLst>
                      <p:childTnLst>
                        <p:par>
                          <p:cTn id="97" fill="hold" nodeType="withGroup">
                            <p:stCondLst>
                              <p:cond delay="0"/>
                            </p:stCondLst>
                            <p:childTnLst>
                              <p:par>
                                <p:cTn id="98" presetID="21" presetClass="entr" presetSubtype="1" fill="hold" grpId="0" nodeType="clickEffect">
                                  <p:stCondLst>
                                    <p:cond delay="0"/>
                                  </p:stCondLst>
                                  <p:childTnLst>
                                    <p:set>
                                      <p:cBhvr>
                                        <p:cTn id="99" dur="1" fill="hold">
                                          <p:stCondLst>
                                            <p:cond delay="0"/>
                                          </p:stCondLst>
                                        </p:cTn>
                                        <p:tgtEl>
                                          <p:spTgt spid="68"/>
                                        </p:tgtEl>
                                        <p:attrNameLst>
                                          <p:attrName>style.visibility</p:attrName>
                                        </p:attrNameLst>
                                      </p:cBhvr>
                                      <p:to>
                                        <p:strVal val="visible"/>
                                      </p:to>
                                    </p:set>
                                    <p:animEffect transition="in" filter="wheel(1)">
                                      <p:cBhvr>
                                        <p:cTn id="100" dur="1000"/>
                                        <p:tgtEl>
                                          <p:spTgt spid="68"/>
                                        </p:tgtEl>
                                      </p:cBhvr>
                                    </p:animEffect>
                                  </p:childTnLst>
                                </p:cTn>
                              </p:par>
                            </p:childTnLst>
                          </p:cTn>
                        </p:par>
                      </p:childTnLst>
                    </p:cTn>
                  </p:par>
                  <p:par>
                    <p:cTn id="101" fill="hold" nodeType="clickPar">
                      <p:stCondLst>
                        <p:cond delay="indefinite"/>
                      </p:stCondLst>
                      <p:childTnLst>
                        <p:par>
                          <p:cTn id="102" fill="hold" nodeType="withGroup">
                            <p:stCondLst>
                              <p:cond delay="0"/>
                            </p:stCondLst>
                            <p:childTnLst>
                              <p:par>
                                <p:cTn id="103" presetID="22" presetClass="entr" presetSubtype="1" fill="hold" nodeType="clickEffect">
                                  <p:stCondLst>
                                    <p:cond delay="0"/>
                                  </p:stCondLst>
                                  <p:childTnLst>
                                    <p:set>
                                      <p:cBhvr>
                                        <p:cTn id="104" dur="1" fill="hold">
                                          <p:stCondLst>
                                            <p:cond delay="0"/>
                                          </p:stCondLst>
                                        </p:cTn>
                                        <p:tgtEl>
                                          <p:spTgt spid="69"/>
                                        </p:tgtEl>
                                        <p:attrNameLst>
                                          <p:attrName>style.visibility</p:attrName>
                                        </p:attrNameLst>
                                      </p:cBhvr>
                                      <p:to>
                                        <p:strVal val="visible"/>
                                      </p:to>
                                    </p:set>
                                    <p:animEffect transition="in" filter="wipe(up)">
                                      <p:cBhvr>
                                        <p:cTn id="105" dur="500"/>
                                        <p:tgtEl>
                                          <p:spTgt spid="69"/>
                                        </p:tgtEl>
                                      </p:cBhvr>
                                    </p:animEffect>
                                  </p:childTnLst>
                                </p:cTn>
                              </p:par>
                            </p:childTnLst>
                          </p:cTn>
                        </p:par>
                        <p:par>
                          <p:cTn id="106" fill="hold" nodeType="afterGroup">
                            <p:stCondLst>
                              <p:cond delay="500"/>
                            </p:stCondLst>
                            <p:childTnLst>
                              <p:par>
                                <p:cTn id="107" presetID="22" presetClass="entr" presetSubtype="1" fill="hold" grpId="0" nodeType="afterEffect">
                                  <p:stCondLst>
                                    <p:cond delay="0"/>
                                  </p:stCondLst>
                                  <p:childTnLst>
                                    <p:set>
                                      <p:cBhvr>
                                        <p:cTn id="108" dur="1" fill="hold">
                                          <p:stCondLst>
                                            <p:cond delay="0"/>
                                          </p:stCondLst>
                                        </p:cTn>
                                        <p:tgtEl>
                                          <p:spTgt spid="81"/>
                                        </p:tgtEl>
                                        <p:attrNameLst>
                                          <p:attrName>style.visibility</p:attrName>
                                        </p:attrNameLst>
                                      </p:cBhvr>
                                      <p:to>
                                        <p:strVal val="visible"/>
                                      </p:to>
                                    </p:set>
                                    <p:animEffect transition="in" filter="wipe(up)">
                                      <p:cBhvr>
                                        <p:cTn id="109" dur="500"/>
                                        <p:tgtEl>
                                          <p:spTgt spid="81"/>
                                        </p:tgtEl>
                                      </p:cBhvr>
                                    </p:animEffect>
                                  </p:childTnLst>
                                </p:cTn>
                              </p:par>
                            </p:childTnLst>
                          </p:cTn>
                        </p:par>
                        <p:par>
                          <p:cTn id="110" fill="hold" nodeType="afterGroup">
                            <p:stCondLst>
                              <p:cond delay="1000"/>
                            </p:stCondLst>
                            <p:childTnLst>
                              <p:par>
                                <p:cTn id="111" presetID="22" presetClass="entr" presetSubtype="8" fill="hold" nodeType="afterEffect">
                                  <p:stCondLst>
                                    <p:cond delay="0"/>
                                  </p:stCondLst>
                                  <p:childTnLst>
                                    <p:set>
                                      <p:cBhvr>
                                        <p:cTn id="112" dur="1" fill="hold">
                                          <p:stCondLst>
                                            <p:cond delay="0"/>
                                          </p:stCondLst>
                                        </p:cTn>
                                        <p:tgtEl>
                                          <p:spTgt spid="76"/>
                                        </p:tgtEl>
                                        <p:attrNameLst>
                                          <p:attrName>style.visibility</p:attrName>
                                        </p:attrNameLst>
                                      </p:cBhvr>
                                      <p:to>
                                        <p:strVal val="visible"/>
                                      </p:to>
                                    </p:set>
                                    <p:animEffect transition="in" filter="wipe(left)">
                                      <p:cBhvr>
                                        <p:cTn id="113" dur="500"/>
                                        <p:tgtEl>
                                          <p:spTgt spid="76"/>
                                        </p:tgtEl>
                                      </p:cBhvr>
                                    </p:animEffect>
                                  </p:childTnLst>
                                </p:cTn>
                              </p:par>
                            </p:childTnLst>
                          </p:cTn>
                        </p:par>
                        <p:par>
                          <p:cTn id="114" fill="hold" nodeType="afterGroup">
                            <p:stCondLst>
                              <p:cond delay="1500"/>
                            </p:stCondLst>
                            <p:childTnLst>
                              <p:par>
                                <p:cTn id="115" presetID="22" presetClass="entr" presetSubtype="8" fill="hold" nodeType="afterEffect">
                                  <p:stCondLst>
                                    <p:cond delay="0"/>
                                  </p:stCondLst>
                                  <p:childTnLst>
                                    <p:set>
                                      <p:cBhvr>
                                        <p:cTn id="116" dur="1" fill="hold">
                                          <p:stCondLst>
                                            <p:cond delay="0"/>
                                          </p:stCondLst>
                                        </p:cTn>
                                        <p:tgtEl>
                                          <p:spTgt spid="78"/>
                                        </p:tgtEl>
                                        <p:attrNameLst>
                                          <p:attrName>style.visibility</p:attrName>
                                        </p:attrNameLst>
                                      </p:cBhvr>
                                      <p:to>
                                        <p:strVal val="visible"/>
                                      </p:to>
                                    </p:set>
                                    <p:animEffect transition="in" filter="wipe(left)">
                                      <p:cBhvr>
                                        <p:cTn id="117" dur="500"/>
                                        <p:tgtEl>
                                          <p:spTgt spid="78"/>
                                        </p:tgtEl>
                                      </p:cBhvr>
                                    </p:animEffect>
                                  </p:childTnLst>
                                </p:cTn>
                              </p:par>
                            </p:childTnLst>
                          </p:cTn>
                        </p:par>
                      </p:childTnLst>
                    </p:cTn>
                  </p:par>
                  <p:par>
                    <p:cTn id="118" fill="hold" nodeType="clickPar">
                      <p:stCondLst>
                        <p:cond delay="indefinite"/>
                      </p:stCondLst>
                      <p:childTnLst>
                        <p:par>
                          <p:cTn id="119" fill="hold" nodeType="withGroup">
                            <p:stCondLst>
                              <p:cond delay="0"/>
                            </p:stCondLst>
                            <p:childTnLst>
                              <p:par>
                                <p:cTn id="120" presetID="16" presetClass="entr" presetSubtype="21" fill="hold" grpId="0" nodeType="clickEffect">
                                  <p:stCondLst>
                                    <p:cond delay="0"/>
                                  </p:stCondLst>
                                  <p:childTnLst>
                                    <p:set>
                                      <p:cBhvr>
                                        <p:cTn id="121" dur="1" fill="hold">
                                          <p:stCondLst>
                                            <p:cond delay="0"/>
                                          </p:stCondLst>
                                        </p:cTn>
                                        <p:tgtEl>
                                          <p:spTgt spid="44"/>
                                        </p:tgtEl>
                                        <p:attrNameLst>
                                          <p:attrName>style.visibility</p:attrName>
                                        </p:attrNameLst>
                                      </p:cBhvr>
                                      <p:to>
                                        <p:strVal val="visible"/>
                                      </p:to>
                                    </p:set>
                                    <p:animEffect transition="in" filter="barn(inVertical)">
                                      <p:cBhvr>
                                        <p:cTn id="122" dur="500"/>
                                        <p:tgtEl>
                                          <p:spTgt spid="44"/>
                                        </p:tgtEl>
                                      </p:cBhvr>
                                    </p:animEffect>
                                  </p:childTnLst>
                                </p:cTn>
                              </p:par>
                            </p:childTnLst>
                          </p:cTn>
                        </p:par>
                      </p:childTnLst>
                    </p:cTn>
                  </p:par>
                  <p:par>
                    <p:cTn id="123" fill="hold" nodeType="clickPar">
                      <p:stCondLst>
                        <p:cond delay="indefinite"/>
                      </p:stCondLst>
                      <p:childTnLst>
                        <p:par>
                          <p:cTn id="124" fill="hold" nodeType="withGroup">
                            <p:stCondLst>
                              <p:cond delay="0"/>
                            </p:stCondLst>
                            <p:childTnLst>
                              <p:par>
                                <p:cTn id="125" presetID="22" presetClass="entr" presetSubtype="4" fill="hold" nodeType="clickEffect">
                                  <p:stCondLst>
                                    <p:cond delay="0"/>
                                  </p:stCondLst>
                                  <p:childTnLst>
                                    <p:set>
                                      <p:cBhvr>
                                        <p:cTn id="126" dur="1" fill="hold">
                                          <p:stCondLst>
                                            <p:cond delay="0"/>
                                          </p:stCondLst>
                                        </p:cTn>
                                        <p:tgtEl>
                                          <p:spTgt spid="67"/>
                                        </p:tgtEl>
                                        <p:attrNameLst>
                                          <p:attrName>style.visibility</p:attrName>
                                        </p:attrNameLst>
                                      </p:cBhvr>
                                      <p:to>
                                        <p:strVal val="visible"/>
                                      </p:to>
                                    </p:set>
                                    <p:animEffect transition="in" filter="wipe(down)">
                                      <p:cBhvr>
                                        <p:cTn id="127" dur="500"/>
                                        <p:tgtEl>
                                          <p:spTgt spid="67"/>
                                        </p:tgtEl>
                                      </p:cBhvr>
                                    </p:animEffect>
                                  </p:childTnLst>
                                </p:cTn>
                              </p:par>
                            </p:childTnLst>
                          </p:cTn>
                        </p:par>
                        <p:par>
                          <p:cTn id="128" fill="hold" nodeType="afterGroup">
                            <p:stCondLst>
                              <p:cond delay="500"/>
                            </p:stCondLst>
                            <p:childTnLst>
                              <p:par>
                                <p:cTn id="129" presetID="22" presetClass="entr" presetSubtype="1" fill="hold" grpId="0" nodeType="afterEffect">
                                  <p:stCondLst>
                                    <p:cond delay="0"/>
                                  </p:stCondLst>
                                  <p:childTnLst>
                                    <p:set>
                                      <p:cBhvr>
                                        <p:cTn id="130" dur="1" fill="hold">
                                          <p:stCondLst>
                                            <p:cond delay="0"/>
                                          </p:stCondLst>
                                        </p:cTn>
                                        <p:tgtEl>
                                          <p:spTgt spid="82"/>
                                        </p:tgtEl>
                                        <p:attrNameLst>
                                          <p:attrName>style.visibility</p:attrName>
                                        </p:attrNameLst>
                                      </p:cBhvr>
                                      <p:to>
                                        <p:strVal val="visible"/>
                                      </p:to>
                                    </p:set>
                                    <p:animEffect transition="in" filter="wipe(up)">
                                      <p:cBhvr>
                                        <p:cTn id="131" dur="500"/>
                                        <p:tgtEl>
                                          <p:spTgt spid="82"/>
                                        </p:tgtEl>
                                      </p:cBhvr>
                                    </p:animEffect>
                                  </p:childTnLst>
                                </p:cTn>
                              </p:par>
                            </p:childTnLst>
                          </p:cTn>
                        </p:par>
                        <p:par>
                          <p:cTn id="132" fill="hold" nodeType="afterGroup">
                            <p:stCondLst>
                              <p:cond delay="1000"/>
                            </p:stCondLst>
                            <p:childTnLst>
                              <p:par>
                                <p:cTn id="133" presetID="22" presetClass="entr" presetSubtype="8" fill="hold" nodeType="afterEffect">
                                  <p:stCondLst>
                                    <p:cond delay="0"/>
                                  </p:stCondLst>
                                  <p:childTnLst>
                                    <p:set>
                                      <p:cBhvr>
                                        <p:cTn id="134" dur="1" fill="hold">
                                          <p:stCondLst>
                                            <p:cond delay="0"/>
                                          </p:stCondLst>
                                        </p:cTn>
                                        <p:tgtEl>
                                          <p:spTgt spid="77"/>
                                        </p:tgtEl>
                                        <p:attrNameLst>
                                          <p:attrName>style.visibility</p:attrName>
                                        </p:attrNameLst>
                                      </p:cBhvr>
                                      <p:to>
                                        <p:strVal val="visible"/>
                                      </p:to>
                                    </p:set>
                                    <p:animEffect transition="in" filter="wipe(left)">
                                      <p:cBhvr>
                                        <p:cTn id="135" dur="500"/>
                                        <p:tgtEl>
                                          <p:spTgt spid="77"/>
                                        </p:tgtEl>
                                      </p:cBhvr>
                                    </p:animEffect>
                                  </p:childTnLst>
                                </p:cTn>
                              </p:par>
                            </p:childTnLst>
                          </p:cTn>
                        </p:par>
                        <p:par>
                          <p:cTn id="136" fill="hold" nodeType="afterGroup">
                            <p:stCondLst>
                              <p:cond delay="1500"/>
                            </p:stCondLst>
                            <p:childTnLst>
                              <p:par>
                                <p:cTn id="137" presetID="22" presetClass="entr" presetSubtype="8" fill="hold" nodeType="afterEffect">
                                  <p:stCondLst>
                                    <p:cond delay="0"/>
                                  </p:stCondLst>
                                  <p:childTnLst>
                                    <p:set>
                                      <p:cBhvr>
                                        <p:cTn id="138" dur="1" fill="hold">
                                          <p:stCondLst>
                                            <p:cond delay="0"/>
                                          </p:stCondLst>
                                        </p:cTn>
                                        <p:tgtEl>
                                          <p:spTgt spid="79"/>
                                        </p:tgtEl>
                                        <p:attrNameLst>
                                          <p:attrName>style.visibility</p:attrName>
                                        </p:attrNameLst>
                                      </p:cBhvr>
                                      <p:to>
                                        <p:strVal val="visible"/>
                                      </p:to>
                                    </p:set>
                                    <p:animEffect transition="in" filter="wipe(left)">
                                      <p:cBhvr>
                                        <p:cTn id="139" dur="50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p:bldP spid="81" grpId="0"/>
      <p:bldP spid="82" grpId="0"/>
      <p:bldP spid="44" grpId="0" animBg="1"/>
      <p:bldP spid="14" grpId="0" animBg="1"/>
      <p:bldP spid="68" grpId="0" animBg="1"/>
    </p:bld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2C80D2DD-CBBC-482C-ED7A-46F827B73D8E}"/>
              </a:ext>
            </a:extLst>
          </p:cNvPr>
          <p:cNvSpPr txBox="1">
            <a:spLocks/>
          </p:cNvSpPr>
          <p:nvPr/>
        </p:nvSpPr>
        <p:spPr bwMode="auto">
          <a:xfrm>
            <a:off x="0" y="1524000"/>
            <a:ext cx="8172450" cy="323850"/>
          </a:xfrm>
          <a:prstGeom prst="rect">
            <a:avLst/>
          </a:prstGeom>
          <a:noFill/>
          <a:ln w="9525">
            <a:noFill/>
            <a:miter lim="800000"/>
            <a:headEnd/>
            <a:tailEnd/>
          </a:ln>
        </p:spPr>
        <p:txBody>
          <a:bodyPr lIns="72000" tIns="0" rIns="72000" bIns="0"/>
          <a:lstStyle/>
          <a:p>
            <a:pPr marL="0" marR="0" lvl="0" indent="0" algn="l" defTabSz="720000" rtl="0" eaLnBrk="1" fontAlgn="base" latinLnBrk="0" hangingPunct="1">
              <a:lnSpc>
                <a:spcPts val="1800"/>
              </a:lnSpc>
              <a:spcBef>
                <a:spcPts val="0"/>
              </a:spcBef>
              <a:spcAft>
                <a:spcPts val="0"/>
              </a:spcAft>
              <a:buClrTx/>
              <a:buSzTx/>
              <a:buFontTx/>
              <a:buNone/>
              <a:tabLst>
                <a:tab pos="0" algn="l"/>
              </a:tabLst>
              <a:defRPr/>
            </a:pPr>
            <a:r>
              <a:rPr kumimoji="0" lang="en-US" sz="1800" b="1" i="0" u="none" strike="noStrike" kern="0" cap="none" spc="0" normalizeH="0" baseline="0" noProof="0" dirty="0">
                <a:ln>
                  <a:noFill/>
                </a:ln>
                <a:solidFill>
                  <a:srgbClr val="2F2B20"/>
                </a:solidFill>
                <a:effectLst/>
                <a:uLnTx/>
                <a:uFillTx/>
                <a:latin typeface="Calibri"/>
                <a:ea typeface="+mn-ea"/>
                <a:cs typeface="Calibri" pitchFamily="34" charset="0"/>
              </a:rPr>
              <a:t>Normal Forms</a:t>
            </a:r>
            <a:endParaRPr kumimoji="0" lang="en-MY" sz="1800" b="1" i="0" u="none" strike="noStrike" kern="0" cap="none" spc="0" normalizeH="0" baseline="0" noProof="0" dirty="0">
              <a:ln>
                <a:noFill/>
              </a:ln>
              <a:solidFill>
                <a:srgbClr val="2F2B20"/>
              </a:solidFill>
              <a:effectLst/>
              <a:uLnTx/>
              <a:uFillTx/>
              <a:latin typeface="Calibri"/>
              <a:ea typeface="+mn-ea"/>
              <a:cs typeface="Calibri" pitchFamily="34" charset="0"/>
            </a:endParaRPr>
          </a:p>
        </p:txBody>
      </p:sp>
      <p:sp>
        <p:nvSpPr>
          <p:cNvPr id="38" name="Content Placeholder 2">
            <a:extLst>
              <a:ext uri="{FF2B5EF4-FFF2-40B4-BE49-F238E27FC236}">
                <a16:creationId xmlns:a16="http://schemas.microsoft.com/office/drawing/2014/main" id="{3BA75093-F3EC-F19B-302B-A289B64F29E3}"/>
              </a:ext>
            </a:extLst>
          </p:cNvPr>
          <p:cNvSpPr txBox="1">
            <a:spLocks/>
          </p:cNvSpPr>
          <p:nvPr/>
        </p:nvSpPr>
        <p:spPr bwMode="auto">
          <a:xfrm>
            <a:off x="250825" y="1646238"/>
            <a:ext cx="7978775"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If we put back in the data, this is what the relations would look like in 2NF</a:t>
            </a:r>
            <a:endParaRPr kumimoji="0" lang="en-US" altLang="en-US" sz="32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US" altLang="en-US" sz="32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rPr>
              <a:t> </a:t>
            </a: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graphicFrame>
        <p:nvGraphicFramePr>
          <p:cNvPr id="44" name="Table 43">
            <a:extLst>
              <a:ext uri="{FF2B5EF4-FFF2-40B4-BE49-F238E27FC236}">
                <a16:creationId xmlns:a16="http://schemas.microsoft.com/office/drawing/2014/main" id="{9D6A4259-EAC8-D6C1-54D3-D0932D0AF5C4}"/>
              </a:ext>
            </a:extLst>
          </p:cNvPr>
          <p:cNvGraphicFramePr>
            <a:graphicFrameLocks noGrp="1"/>
          </p:cNvGraphicFramePr>
          <p:nvPr/>
        </p:nvGraphicFramePr>
        <p:xfrm>
          <a:off x="166688" y="2943225"/>
          <a:ext cx="3240087" cy="1112838"/>
        </p:xfrm>
        <a:graphic>
          <a:graphicData uri="http://schemas.openxmlformats.org/drawingml/2006/table">
            <a:tbl>
              <a:tblPr firstRow="1" bandRow="1">
                <a:tableStyleId>{0E3FDE45-AF77-4B5C-9715-49D594BDF05E}</a:tableStyleId>
              </a:tblPr>
              <a:tblGrid>
                <a:gridCol w="1507017">
                  <a:extLst>
                    <a:ext uri="{9D8B030D-6E8A-4147-A177-3AD203B41FA5}">
                      <a16:colId xmlns:a16="http://schemas.microsoft.com/office/drawing/2014/main" val="20000"/>
                    </a:ext>
                  </a:extLst>
                </a:gridCol>
                <a:gridCol w="1733070">
                  <a:extLst>
                    <a:ext uri="{9D8B030D-6E8A-4147-A177-3AD203B41FA5}">
                      <a16:colId xmlns:a16="http://schemas.microsoft.com/office/drawing/2014/main" val="20001"/>
                    </a:ext>
                  </a:extLst>
                </a:gridCol>
              </a:tblGrid>
              <a:tr h="370946">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CA" sz="1800" dirty="0"/>
                        <a:t>PROJ_NUM</a:t>
                      </a:r>
                      <a:endParaRPr lang="en-CA" sz="1800" b="0" dirty="0"/>
                    </a:p>
                  </a:txBody>
                  <a:tcPr marL="91432" marR="91432" marT="45733" marB="45733"/>
                </a:tc>
                <a:tc>
                  <a:txBody>
                    <a:bodyPr/>
                    <a:lstStyle/>
                    <a:p>
                      <a:pPr algn="ctr"/>
                      <a:r>
                        <a:rPr lang="en-CA" sz="1800" dirty="0"/>
                        <a:t>PROJ_NAME</a:t>
                      </a:r>
                      <a:endParaRPr lang="en-CA" sz="1800" b="0" dirty="0"/>
                    </a:p>
                  </a:txBody>
                  <a:tcPr marL="91432" marR="91432" marT="45733" marB="45733"/>
                </a:tc>
                <a:extLst>
                  <a:ext uri="{0D108BD9-81ED-4DB2-BD59-A6C34878D82A}">
                    <a16:rowId xmlns:a16="http://schemas.microsoft.com/office/drawing/2014/main" val="10000"/>
                  </a:ext>
                </a:extLst>
              </a:tr>
              <a:tr h="370946">
                <a:tc>
                  <a:txBody>
                    <a:bodyPr/>
                    <a:lstStyle/>
                    <a:p>
                      <a:pPr algn="ctr"/>
                      <a:r>
                        <a:rPr lang="en-CA" sz="1800" dirty="0"/>
                        <a:t>15</a:t>
                      </a:r>
                    </a:p>
                  </a:txBody>
                  <a:tcPr marL="91432" marR="91432" marT="45733" marB="45733"/>
                </a:tc>
                <a:tc>
                  <a:txBody>
                    <a:bodyPr/>
                    <a:lstStyle/>
                    <a:p>
                      <a:pPr algn="ctr"/>
                      <a:r>
                        <a:rPr lang="en-CA" sz="1800" dirty="0"/>
                        <a:t>Evergreen</a:t>
                      </a:r>
                    </a:p>
                  </a:txBody>
                  <a:tcPr marL="91432" marR="91432" marT="45733" marB="45733"/>
                </a:tc>
                <a:extLst>
                  <a:ext uri="{0D108BD9-81ED-4DB2-BD59-A6C34878D82A}">
                    <a16:rowId xmlns:a16="http://schemas.microsoft.com/office/drawing/2014/main" val="10001"/>
                  </a:ext>
                </a:extLst>
              </a:tr>
              <a:tr h="370946">
                <a:tc>
                  <a:txBody>
                    <a:bodyPr/>
                    <a:lstStyle/>
                    <a:p>
                      <a:pPr algn="ctr"/>
                      <a:r>
                        <a:rPr lang="en-CA" sz="1800" dirty="0"/>
                        <a:t>22</a:t>
                      </a:r>
                    </a:p>
                  </a:txBody>
                  <a:tcPr marL="91432" marR="91432" marT="45733" marB="45733"/>
                </a:tc>
                <a:tc>
                  <a:txBody>
                    <a:bodyPr/>
                    <a:lstStyle/>
                    <a:p>
                      <a:pPr algn="ctr"/>
                      <a:r>
                        <a:rPr lang="en-CA" sz="1800" dirty="0"/>
                        <a:t>Wave</a:t>
                      </a:r>
                    </a:p>
                  </a:txBody>
                  <a:tcPr marL="91432" marR="91432" marT="45733" marB="45733"/>
                </a:tc>
                <a:extLst>
                  <a:ext uri="{0D108BD9-81ED-4DB2-BD59-A6C34878D82A}">
                    <a16:rowId xmlns:a16="http://schemas.microsoft.com/office/drawing/2014/main" val="10002"/>
                  </a:ext>
                </a:extLst>
              </a:tr>
            </a:tbl>
          </a:graphicData>
        </a:graphic>
      </p:graphicFrame>
      <p:cxnSp>
        <p:nvCxnSpPr>
          <p:cNvPr id="67" name="Straight Connector 66">
            <a:extLst>
              <a:ext uri="{FF2B5EF4-FFF2-40B4-BE49-F238E27FC236}">
                <a16:creationId xmlns:a16="http://schemas.microsoft.com/office/drawing/2014/main" id="{5EA9865B-0ECD-9612-A133-FE4186A62C37}"/>
              </a:ext>
            </a:extLst>
          </p:cNvPr>
          <p:cNvCxnSpPr>
            <a:cxnSpLocks noChangeShapeType="1"/>
          </p:cNvCxnSpPr>
          <p:nvPr/>
        </p:nvCxnSpPr>
        <p:spPr bwMode="auto">
          <a:xfrm>
            <a:off x="296863" y="3255963"/>
            <a:ext cx="1225550" cy="0"/>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graphicFrame>
        <p:nvGraphicFramePr>
          <p:cNvPr id="68" name="Table 67">
            <a:extLst>
              <a:ext uri="{FF2B5EF4-FFF2-40B4-BE49-F238E27FC236}">
                <a16:creationId xmlns:a16="http://schemas.microsoft.com/office/drawing/2014/main" id="{C4F44CFF-9D96-119F-7887-DA34334AF79B}"/>
              </a:ext>
            </a:extLst>
          </p:cNvPr>
          <p:cNvGraphicFramePr>
            <a:graphicFrameLocks noGrp="1"/>
          </p:cNvGraphicFramePr>
          <p:nvPr/>
        </p:nvGraphicFramePr>
        <p:xfrm>
          <a:off x="3822700" y="2936875"/>
          <a:ext cx="4406901" cy="1482724"/>
        </p:xfrm>
        <a:graphic>
          <a:graphicData uri="http://schemas.openxmlformats.org/drawingml/2006/table">
            <a:tbl>
              <a:tblPr firstRow="1" bandRow="1">
                <a:tableStyleId>{C083E6E3-FA7D-4D7B-A595-EF9225AFEA82}</a:tableStyleId>
              </a:tblPr>
              <a:tblGrid>
                <a:gridCol w="1468967">
                  <a:extLst>
                    <a:ext uri="{9D8B030D-6E8A-4147-A177-3AD203B41FA5}">
                      <a16:colId xmlns:a16="http://schemas.microsoft.com/office/drawing/2014/main" val="20000"/>
                    </a:ext>
                  </a:extLst>
                </a:gridCol>
                <a:gridCol w="1468967">
                  <a:extLst>
                    <a:ext uri="{9D8B030D-6E8A-4147-A177-3AD203B41FA5}">
                      <a16:colId xmlns:a16="http://schemas.microsoft.com/office/drawing/2014/main" val="20001"/>
                    </a:ext>
                  </a:extLst>
                </a:gridCol>
                <a:gridCol w="1468967">
                  <a:extLst>
                    <a:ext uri="{9D8B030D-6E8A-4147-A177-3AD203B41FA5}">
                      <a16:colId xmlns:a16="http://schemas.microsoft.com/office/drawing/2014/main" val="20002"/>
                    </a:ext>
                  </a:extLst>
                </a:gridCol>
              </a:tblGrid>
              <a:tr h="370681">
                <a:tc>
                  <a:txBody>
                    <a:bodyPr/>
                    <a:lstStyle/>
                    <a:p>
                      <a:pPr algn="ctr"/>
                      <a:r>
                        <a:rPr lang="en-CA" sz="1800" dirty="0"/>
                        <a:t>EMP_NUM</a:t>
                      </a:r>
                      <a:endParaRPr lang="en-CA" sz="1800" b="1" dirty="0"/>
                    </a:p>
                  </a:txBody>
                  <a:tcPr marL="91460" marR="91460" marT="45700" marB="45700"/>
                </a:tc>
                <a:tc>
                  <a:txBody>
                    <a:bodyPr/>
                    <a:lstStyle/>
                    <a:p>
                      <a:pPr algn="ctr"/>
                      <a:r>
                        <a:rPr lang="en-CA" sz="1800" dirty="0"/>
                        <a:t>JOB_CLASS</a:t>
                      </a:r>
                      <a:endParaRPr lang="en-CA" sz="1800" b="1" dirty="0"/>
                    </a:p>
                  </a:txBody>
                  <a:tcPr marL="91460" marR="91460" marT="45700" marB="45700"/>
                </a:tc>
                <a:tc>
                  <a:txBody>
                    <a:bodyPr/>
                    <a:lstStyle/>
                    <a:p>
                      <a:pPr algn="ctr"/>
                      <a:r>
                        <a:rPr lang="en-CA" sz="1800" dirty="0"/>
                        <a:t>CHG_HOUR</a:t>
                      </a:r>
                      <a:endParaRPr lang="en-CA" sz="1800" b="1" dirty="0"/>
                    </a:p>
                  </a:txBody>
                  <a:tcPr marL="91460" marR="91460" marT="45700" marB="45700"/>
                </a:tc>
                <a:extLst>
                  <a:ext uri="{0D108BD9-81ED-4DB2-BD59-A6C34878D82A}">
                    <a16:rowId xmlns:a16="http://schemas.microsoft.com/office/drawing/2014/main" val="10000"/>
                  </a:ext>
                </a:extLst>
              </a:tr>
              <a:tr h="370681">
                <a:tc>
                  <a:txBody>
                    <a:bodyPr/>
                    <a:lstStyle/>
                    <a:p>
                      <a:pPr algn="ctr"/>
                      <a:r>
                        <a:rPr lang="en-CA" sz="1800" dirty="0"/>
                        <a:t>102</a:t>
                      </a:r>
                    </a:p>
                  </a:txBody>
                  <a:tcPr marL="91460" marR="91460" marT="45700" marB="45700"/>
                </a:tc>
                <a:tc>
                  <a:txBody>
                    <a:bodyPr/>
                    <a:lstStyle/>
                    <a:p>
                      <a:pPr algn="ctr"/>
                      <a:r>
                        <a:rPr lang="en-CA" sz="1800" dirty="0"/>
                        <a:t>Engineer</a:t>
                      </a:r>
                    </a:p>
                  </a:txBody>
                  <a:tcPr marL="91460" marR="91460" marT="45700" marB="45700"/>
                </a:tc>
                <a:tc>
                  <a:txBody>
                    <a:bodyPr/>
                    <a:lstStyle/>
                    <a:p>
                      <a:pPr algn="ctr"/>
                      <a:r>
                        <a:rPr lang="en-CA" sz="1800" dirty="0"/>
                        <a:t>84.50</a:t>
                      </a:r>
                    </a:p>
                  </a:txBody>
                  <a:tcPr marL="91460" marR="91460" marT="45700" marB="45700"/>
                </a:tc>
                <a:extLst>
                  <a:ext uri="{0D108BD9-81ED-4DB2-BD59-A6C34878D82A}">
                    <a16:rowId xmlns:a16="http://schemas.microsoft.com/office/drawing/2014/main" val="10001"/>
                  </a:ext>
                </a:extLst>
              </a:tr>
              <a:tr h="370681">
                <a:tc>
                  <a:txBody>
                    <a:bodyPr/>
                    <a:lstStyle/>
                    <a:p>
                      <a:pPr algn="ctr"/>
                      <a:r>
                        <a:rPr lang="en-CA" sz="1800" dirty="0"/>
                        <a:t>103</a:t>
                      </a:r>
                    </a:p>
                  </a:txBody>
                  <a:tcPr marL="91460" marR="91460" marT="45700" marB="45700"/>
                </a:tc>
                <a:tc>
                  <a:txBody>
                    <a:bodyPr/>
                    <a:lstStyle/>
                    <a:p>
                      <a:pPr algn="ctr"/>
                      <a:r>
                        <a:rPr lang="en-CA" sz="1800" dirty="0"/>
                        <a:t>Engineer</a:t>
                      </a:r>
                    </a:p>
                  </a:txBody>
                  <a:tcPr marL="91460" marR="91460" marT="45700" marB="45700"/>
                </a:tc>
                <a:tc>
                  <a:txBody>
                    <a:bodyPr/>
                    <a:lstStyle/>
                    <a:p>
                      <a:pPr algn="ctr"/>
                      <a:r>
                        <a:rPr lang="en-CA" sz="1800" dirty="0"/>
                        <a:t>84.50</a:t>
                      </a:r>
                    </a:p>
                  </a:txBody>
                  <a:tcPr marL="91460" marR="91460" marT="45700" marB="45700"/>
                </a:tc>
                <a:extLst>
                  <a:ext uri="{0D108BD9-81ED-4DB2-BD59-A6C34878D82A}">
                    <a16:rowId xmlns:a16="http://schemas.microsoft.com/office/drawing/2014/main" val="10002"/>
                  </a:ext>
                </a:extLst>
              </a:tr>
              <a:tr h="370681">
                <a:tc>
                  <a:txBody>
                    <a:bodyPr/>
                    <a:lstStyle/>
                    <a:p>
                      <a:pPr algn="ctr"/>
                      <a:r>
                        <a:rPr lang="en-CA" sz="1800" dirty="0"/>
                        <a:t>…</a:t>
                      </a:r>
                    </a:p>
                  </a:txBody>
                  <a:tcPr marL="91460" marR="91460" marT="45700" marB="45700"/>
                </a:tc>
                <a:tc>
                  <a:txBody>
                    <a:bodyPr/>
                    <a:lstStyle/>
                    <a:p>
                      <a:pPr algn="ctr"/>
                      <a:r>
                        <a:rPr lang="en-CA" sz="1800" dirty="0"/>
                        <a:t>…</a:t>
                      </a:r>
                    </a:p>
                  </a:txBody>
                  <a:tcPr marL="91460" marR="91460" marT="45700" marB="45700"/>
                </a:tc>
                <a:tc>
                  <a:txBody>
                    <a:bodyPr/>
                    <a:lstStyle/>
                    <a:p>
                      <a:pPr algn="ctr"/>
                      <a:r>
                        <a:rPr lang="en-CA" sz="1800" dirty="0"/>
                        <a:t>…</a:t>
                      </a:r>
                    </a:p>
                  </a:txBody>
                  <a:tcPr marL="91460" marR="91460" marT="45700" marB="45700"/>
                </a:tc>
                <a:extLst>
                  <a:ext uri="{0D108BD9-81ED-4DB2-BD59-A6C34878D82A}">
                    <a16:rowId xmlns:a16="http://schemas.microsoft.com/office/drawing/2014/main" val="10003"/>
                  </a:ext>
                </a:extLst>
              </a:tr>
            </a:tbl>
          </a:graphicData>
        </a:graphic>
      </p:graphicFrame>
      <p:cxnSp>
        <p:nvCxnSpPr>
          <p:cNvPr id="69" name="Straight Connector 68">
            <a:extLst>
              <a:ext uri="{FF2B5EF4-FFF2-40B4-BE49-F238E27FC236}">
                <a16:creationId xmlns:a16="http://schemas.microsoft.com/office/drawing/2014/main" id="{B2F8A931-CBD5-303B-928D-F49CFD2C0F6A}"/>
              </a:ext>
            </a:extLst>
          </p:cNvPr>
          <p:cNvCxnSpPr>
            <a:cxnSpLocks noChangeShapeType="1"/>
          </p:cNvCxnSpPr>
          <p:nvPr/>
        </p:nvCxnSpPr>
        <p:spPr bwMode="auto">
          <a:xfrm>
            <a:off x="4046538" y="3244850"/>
            <a:ext cx="1081087" cy="0"/>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graphicFrame>
        <p:nvGraphicFramePr>
          <p:cNvPr id="70" name="Table 69">
            <a:extLst>
              <a:ext uri="{FF2B5EF4-FFF2-40B4-BE49-F238E27FC236}">
                <a16:creationId xmlns:a16="http://schemas.microsoft.com/office/drawing/2014/main" id="{FD68A7A8-3008-1EC3-FE9B-02B6C683B414}"/>
              </a:ext>
            </a:extLst>
          </p:cNvPr>
          <p:cNvGraphicFramePr>
            <a:graphicFrameLocks noGrp="1"/>
          </p:cNvGraphicFramePr>
          <p:nvPr/>
        </p:nvGraphicFramePr>
        <p:xfrm>
          <a:off x="204788" y="4935538"/>
          <a:ext cx="4643437" cy="1484312"/>
        </p:xfrm>
        <a:graphic>
          <a:graphicData uri="http://schemas.openxmlformats.org/drawingml/2006/table">
            <a:tbl>
              <a:tblPr firstRow="1" bandRow="1">
                <a:tableStyleId>{D27102A9-8310-4765-A935-A1911B00CA55}</a:tableStyleId>
              </a:tblPr>
              <a:tblGrid>
                <a:gridCol w="1457747">
                  <a:extLst>
                    <a:ext uri="{9D8B030D-6E8A-4147-A177-3AD203B41FA5}">
                      <a16:colId xmlns:a16="http://schemas.microsoft.com/office/drawing/2014/main" val="20000"/>
                    </a:ext>
                  </a:extLst>
                </a:gridCol>
                <a:gridCol w="1423926">
                  <a:extLst>
                    <a:ext uri="{9D8B030D-6E8A-4147-A177-3AD203B41FA5}">
                      <a16:colId xmlns:a16="http://schemas.microsoft.com/office/drawing/2014/main" val="20001"/>
                    </a:ext>
                  </a:extLst>
                </a:gridCol>
                <a:gridCol w="1761764">
                  <a:extLst>
                    <a:ext uri="{9D8B030D-6E8A-4147-A177-3AD203B41FA5}">
                      <a16:colId xmlns:a16="http://schemas.microsoft.com/office/drawing/2014/main" val="20002"/>
                    </a:ext>
                  </a:extLst>
                </a:gridCol>
              </a:tblGrid>
              <a:tr h="371078">
                <a:tc>
                  <a:txBody>
                    <a:bodyPr/>
                    <a:lstStyle/>
                    <a:p>
                      <a:pPr algn="ctr"/>
                      <a:r>
                        <a:rPr lang="en-CA" sz="1800" dirty="0"/>
                        <a:t>PROJ_NUM</a:t>
                      </a:r>
                      <a:endParaRPr lang="en-CA" sz="1800" b="1" dirty="0"/>
                    </a:p>
                  </a:txBody>
                  <a:tcPr marL="91454" marR="91454" marT="45749" marB="45749"/>
                </a:tc>
                <a:tc>
                  <a:txBody>
                    <a:bodyPr/>
                    <a:lstStyle/>
                    <a:p>
                      <a:pPr algn="ctr"/>
                      <a:r>
                        <a:rPr lang="en-CA" sz="1800" dirty="0"/>
                        <a:t>EMP_NUM</a:t>
                      </a:r>
                      <a:endParaRPr lang="en-CA" sz="1800" b="1" dirty="0"/>
                    </a:p>
                  </a:txBody>
                  <a:tcPr marL="91454" marR="91454" marT="45749" marB="45749"/>
                </a:tc>
                <a:tc>
                  <a:txBody>
                    <a:bodyPr/>
                    <a:lstStyle/>
                    <a:p>
                      <a:pPr algn="ctr"/>
                      <a:r>
                        <a:rPr lang="en-CA" sz="1800" dirty="0"/>
                        <a:t>HOUR</a:t>
                      </a:r>
                      <a:endParaRPr lang="en-CA" sz="1800" b="1" dirty="0"/>
                    </a:p>
                  </a:txBody>
                  <a:tcPr marL="91454" marR="91454" marT="45749" marB="45749"/>
                </a:tc>
                <a:extLst>
                  <a:ext uri="{0D108BD9-81ED-4DB2-BD59-A6C34878D82A}">
                    <a16:rowId xmlns:a16="http://schemas.microsoft.com/office/drawing/2014/main" val="10000"/>
                  </a:ext>
                </a:extLst>
              </a:tr>
              <a:tr h="371078">
                <a:tc>
                  <a:txBody>
                    <a:bodyPr/>
                    <a:lstStyle/>
                    <a:p>
                      <a:pPr algn="ctr"/>
                      <a:r>
                        <a:rPr lang="en-CA" sz="1800" dirty="0"/>
                        <a:t>15</a:t>
                      </a:r>
                    </a:p>
                  </a:txBody>
                  <a:tcPr marL="91454" marR="91454" marT="45749" marB="45749"/>
                </a:tc>
                <a:tc>
                  <a:txBody>
                    <a:bodyPr/>
                    <a:lstStyle/>
                    <a:p>
                      <a:pPr algn="ctr"/>
                      <a:r>
                        <a:rPr lang="en-CA" sz="1800" dirty="0"/>
                        <a:t>103</a:t>
                      </a:r>
                    </a:p>
                  </a:txBody>
                  <a:tcPr marL="91454" marR="91454" marT="45749" marB="45749"/>
                </a:tc>
                <a:tc>
                  <a:txBody>
                    <a:bodyPr/>
                    <a:lstStyle/>
                    <a:p>
                      <a:pPr algn="ctr"/>
                      <a:r>
                        <a:rPr lang="en-CA" sz="1800" dirty="0"/>
                        <a:t>23</a:t>
                      </a:r>
                    </a:p>
                  </a:txBody>
                  <a:tcPr marL="91454" marR="91454" marT="45749" marB="45749"/>
                </a:tc>
                <a:extLst>
                  <a:ext uri="{0D108BD9-81ED-4DB2-BD59-A6C34878D82A}">
                    <a16:rowId xmlns:a16="http://schemas.microsoft.com/office/drawing/2014/main" val="10001"/>
                  </a:ext>
                </a:extLst>
              </a:tr>
              <a:tr h="371078">
                <a:tc>
                  <a:txBody>
                    <a:bodyPr/>
                    <a:lstStyle/>
                    <a:p>
                      <a:pPr algn="ctr"/>
                      <a:r>
                        <a:rPr lang="en-CA" sz="1800" dirty="0"/>
                        <a:t>15</a:t>
                      </a:r>
                    </a:p>
                  </a:txBody>
                  <a:tcPr marL="91454" marR="91454" marT="45749" marB="45749"/>
                </a:tc>
                <a:tc>
                  <a:txBody>
                    <a:bodyPr/>
                    <a:lstStyle/>
                    <a:p>
                      <a:pPr algn="ctr"/>
                      <a:r>
                        <a:rPr lang="en-CA" sz="1800" dirty="0"/>
                        <a:t>102</a:t>
                      </a:r>
                    </a:p>
                  </a:txBody>
                  <a:tcPr marL="91454" marR="91454" marT="45749" marB="45749"/>
                </a:tc>
                <a:tc>
                  <a:txBody>
                    <a:bodyPr/>
                    <a:lstStyle/>
                    <a:p>
                      <a:pPr algn="ctr"/>
                      <a:r>
                        <a:rPr lang="en-CA" sz="1800" dirty="0"/>
                        <a:t>30</a:t>
                      </a:r>
                    </a:p>
                  </a:txBody>
                  <a:tcPr marL="91454" marR="91454" marT="45749" marB="45749"/>
                </a:tc>
                <a:extLst>
                  <a:ext uri="{0D108BD9-81ED-4DB2-BD59-A6C34878D82A}">
                    <a16:rowId xmlns:a16="http://schemas.microsoft.com/office/drawing/2014/main" val="10002"/>
                  </a:ext>
                </a:extLst>
              </a:tr>
              <a:tr h="371078">
                <a:tc>
                  <a:txBody>
                    <a:bodyPr/>
                    <a:lstStyle/>
                    <a:p>
                      <a:pPr algn="ctr"/>
                      <a:r>
                        <a:rPr lang="en-CA" sz="1800" dirty="0"/>
                        <a:t>…</a:t>
                      </a:r>
                    </a:p>
                  </a:txBody>
                  <a:tcPr marL="91454" marR="91454" marT="45749" marB="45749"/>
                </a:tc>
                <a:tc>
                  <a:txBody>
                    <a:bodyPr/>
                    <a:lstStyle/>
                    <a:p>
                      <a:pPr algn="ctr"/>
                      <a:r>
                        <a:rPr lang="en-CA" sz="1800" dirty="0"/>
                        <a:t>…</a:t>
                      </a:r>
                    </a:p>
                  </a:txBody>
                  <a:tcPr marL="91454" marR="91454" marT="45749" marB="45749"/>
                </a:tc>
                <a:tc>
                  <a:txBody>
                    <a:bodyPr/>
                    <a:lstStyle/>
                    <a:p>
                      <a:pPr algn="ctr"/>
                      <a:r>
                        <a:rPr lang="en-CA" sz="1800" dirty="0"/>
                        <a:t>…</a:t>
                      </a:r>
                    </a:p>
                  </a:txBody>
                  <a:tcPr marL="91454" marR="91454" marT="45749" marB="45749"/>
                </a:tc>
                <a:extLst>
                  <a:ext uri="{0D108BD9-81ED-4DB2-BD59-A6C34878D82A}">
                    <a16:rowId xmlns:a16="http://schemas.microsoft.com/office/drawing/2014/main" val="10003"/>
                  </a:ext>
                </a:extLst>
              </a:tr>
            </a:tbl>
          </a:graphicData>
        </a:graphic>
      </p:graphicFrame>
      <p:sp>
        <p:nvSpPr>
          <p:cNvPr id="73" name="TextBox 72">
            <a:extLst>
              <a:ext uri="{FF2B5EF4-FFF2-40B4-BE49-F238E27FC236}">
                <a16:creationId xmlns:a16="http://schemas.microsoft.com/office/drawing/2014/main" id="{7D300BF6-64B4-D6D8-1A0E-3D7FA55D0BE6}"/>
              </a:ext>
            </a:extLst>
          </p:cNvPr>
          <p:cNvSpPr txBox="1">
            <a:spLocks noChangeArrowheads="1"/>
          </p:cNvSpPr>
          <p:nvPr/>
        </p:nvSpPr>
        <p:spPr bwMode="auto">
          <a:xfrm>
            <a:off x="858838" y="6411913"/>
            <a:ext cx="33353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Project_Assignment relation</a:t>
            </a:r>
          </a:p>
        </p:txBody>
      </p:sp>
      <p:cxnSp>
        <p:nvCxnSpPr>
          <p:cNvPr id="83" name="Straight Connector 82">
            <a:extLst>
              <a:ext uri="{FF2B5EF4-FFF2-40B4-BE49-F238E27FC236}">
                <a16:creationId xmlns:a16="http://schemas.microsoft.com/office/drawing/2014/main" id="{12C150CF-6959-E9EA-2F7D-BD9BD3F3B83A}"/>
              </a:ext>
            </a:extLst>
          </p:cNvPr>
          <p:cNvCxnSpPr>
            <a:cxnSpLocks noChangeShapeType="1"/>
          </p:cNvCxnSpPr>
          <p:nvPr/>
        </p:nvCxnSpPr>
        <p:spPr bwMode="auto">
          <a:xfrm>
            <a:off x="276225" y="5245100"/>
            <a:ext cx="2687638" cy="0"/>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sp>
        <p:nvSpPr>
          <p:cNvPr id="84" name="TextBox 83">
            <a:extLst>
              <a:ext uri="{FF2B5EF4-FFF2-40B4-BE49-F238E27FC236}">
                <a16:creationId xmlns:a16="http://schemas.microsoft.com/office/drawing/2014/main" id="{5CF1CDD7-F9BA-E5E7-2E49-7C9CA1B6BBFC}"/>
              </a:ext>
            </a:extLst>
          </p:cNvPr>
          <p:cNvSpPr txBox="1">
            <a:spLocks noChangeArrowheads="1"/>
          </p:cNvSpPr>
          <p:nvPr/>
        </p:nvSpPr>
        <p:spPr bwMode="auto">
          <a:xfrm>
            <a:off x="887413" y="4056063"/>
            <a:ext cx="18002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Project relation</a:t>
            </a:r>
          </a:p>
        </p:txBody>
      </p:sp>
      <p:sp>
        <p:nvSpPr>
          <p:cNvPr id="85" name="TextBox 84">
            <a:extLst>
              <a:ext uri="{FF2B5EF4-FFF2-40B4-BE49-F238E27FC236}">
                <a16:creationId xmlns:a16="http://schemas.microsoft.com/office/drawing/2014/main" id="{68DD8D7F-21CA-7AB2-EC6A-FDC52DEEA188}"/>
              </a:ext>
            </a:extLst>
          </p:cNvPr>
          <p:cNvSpPr txBox="1">
            <a:spLocks noChangeArrowheads="1"/>
          </p:cNvSpPr>
          <p:nvPr/>
        </p:nvSpPr>
        <p:spPr bwMode="auto">
          <a:xfrm>
            <a:off x="5159375" y="4419600"/>
            <a:ext cx="20240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Employee relation</a:t>
            </a:r>
          </a:p>
        </p:txBody>
      </p:sp>
      <p:sp>
        <p:nvSpPr>
          <p:cNvPr id="24" name="Title 1">
            <a:extLst>
              <a:ext uri="{FF2B5EF4-FFF2-40B4-BE49-F238E27FC236}">
                <a16:creationId xmlns:a16="http://schemas.microsoft.com/office/drawing/2014/main" id="{C70167A9-CC9A-5E07-9D92-070BD64CE1CB}"/>
              </a:ext>
            </a:extLst>
          </p:cNvPr>
          <p:cNvSpPr>
            <a:spLocks noGrp="1"/>
          </p:cNvSpPr>
          <p:nvPr>
            <p:ph type="title"/>
          </p:nvPr>
        </p:nvSpPr>
        <p:spPr>
          <a:xfrm>
            <a:off x="457200" y="76200"/>
            <a:ext cx="7620000" cy="1143000"/>
          </a:xfrm>
        </p:spPr>
        <p:txBody>
          <a:bodyPr/>
          <a:lstStyle/>
          <a:p>
            <a:pPr algn="ctr">
              <a:defRPr/>
            </a:pPr>
            <a:r>
              <a:rPr lang="en-US" dirty="0"/>
              <a:t>Relational Database Normalization</a:t>
            </a:r>
            <a:endParaRPr lang="en-CA"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38">
                                            <p:txEl>
                                              <p:pRg st="0" end="0"/>
                                            </p:txEl>
                                          </p:spTgt>
                                        </p:tgtEl>
                                        <p:attrNameLst>
                                          <p:attrName>style.visibility</p:attrName>
                                        </p:attrNameLst>
                                      </p:cBhvr>
                                      <p:to>
                                        <p:strVal val="visible"/>
                                      </p:to>
                                    </p:set>
                                    <p:animEffect transition="in" filter="wipe(left)">
                                      <p:cBhvr>
                                        <p:cTn id="7" dur="500"/>
                                        <p:tgtEl>
                                          <p:spTgt spid="3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44"/>
                                        </p:tgtEl>
                                        <p:attrNameLst>
                                          <p:attrName>style.visibility</p:attrName>
                                        </p:attrNameLst>
                                      </p:cBhvr>
                                      <p:to>
                                        <p:strVal val="visible"/>
                                      </p:to>
                                    </p:set>
                                    <p:animEffect transition="in" filter="wipe(up)">
                                      <p:cBhvr>
                                        <p:cTn id="12" dur="500"/>
                                        <p:tgtEl>
                                          <p:spTgt spid="44"/>
                                        </p:tgtEl>
                                      </p:cBhvr>
                                    </p:animEffect>
                                  </p:childTnLst>
                                </p:cTn>
                              </p:par>
                            </p:childTnLst>
                          </p:cTn>
                        </p:par>
                        <p:par>
                          <p:cTn id="13" fill="hold" nodeType="afterGroup">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84"/>
                                        </p:tgtEl>
                                        <p:attrNameLst>
                                          <p:attrName>style.visibility</p:attrName>
                                        </p:attrNameLst>
                                      </p:cBhvr>
                                      <p:to>
                                        <p:strVal val="visible"/>
                                      </p:to>
                                    </p:set>
                                    <p:animEffect transition="in" filter="wipe(left)">
                                      <p:cBhvr>
                                        <p:cTn id="16" dur="500"/>
                                        <p:tgtEl>
                                          <p:spTgt spid="84"/>
                                        </p:tgtEl>
                                      </p:cBhvr>
                                    </p:animEffect>
                                  </p:childTnLst>
                                </p:cTn>
                              </p:par>
                            </p:childTnLst>
                          </p:cTn>
                        </p:par>
                        <p:par>
                          <p:cTn id="17" fill="hold" nodeType="afterGroup">
                            <p:stCondLst>
                              <p:cond delay="1000"/>
                            </p:stCondLst>
                            <p:childTnLst>
                              <p:par>
                                <p:cTn id="18" presetID="22" presetClass="entr" presetSubtype="8" fill="hold" nodeType="afterEffect">
                                  <p:stCondLst>
                                    <p:cond delay="0"/>
                                  </p:stCondLst>
                                  <p:childTnLst>
                                    <p:set>
                                      <p:cBhvr>
                                        <p:cTn id="19" dur="1" fill="hold">
                                          <p:stCondLst>
                                            <p:cond delay="0"/>
                                          </p:stCondLst>
                                        </p:cTn>
                                        <p:tgtEl>
                                          <p:spTgt spid="67"/>
                                        </p:tgtEl>
                                        <p:attrNameLst>
                                          <p:attrName>style.visibility</p:attrName>
                                        </p:attrNameLst>
                                      </p:cBhvr>
                                      <p:to>
                                        <p:strVal val="visible"/>
                                      </p:to>
                                    </p:set>
                                    <p:animEffect transition="in" filter="wipe(left)">
                                      <p:cBhvr>
                                        <p:cTn id="20" dur="500"/>
                                        <p:tgtEl>
                                          <p:spTgt spid="67"/>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1" fill="hold" nodeType="clickEffect">
                                  <p:stCondLst>
                                    <p:cond delay="0"/>
                                  </p:stCondLst>
                                  <p:childTnLst>
                                    <p:set>
                                      <p:cBhvr>
                                        <p:cTn id="24" dur="1" fill="hold">
                                          <p:stCondLst>
                                            <p:cond delay="0"/>
                                          </p:stCondLst>
                                        </p:cTn>
                                        <p:tgtEl>
                                          <p:spTgt spid="68"/>
                                        </p:tgtEl>
                                        <p:attrNameLst>
                                          <p:attrName>style.visibility</p:attrName>
                                        </p:attrNameLst>
                                      </p:cBhvr>
                                      <p:to>
                                        <p:strVal val="visible"/>
                                      </p:to>
                                    </p:set>
                                    <p:animEffect transition="in" filter="wipe(up)">
                                      <p:cBhvr>
                                        <p:cTn id="25" dur="500"/>
                                        <p:tgtEl>
                                          <p:spTgt spid="68"/>
                                        </p:tgtEl>
                                      </p:cBhvr>
                                    </p:animEffect>
                                  </p:childTnLst>
                                </p:cTn>
                              </p:par>
                            </p:childTnLst>
                          </p:cTn>
                        </p:par>
                        <p:par>
                          <p:cTn id="26" fill="hold" nodeType="afterGroup">
                            <p:stCondLst>
                              <p:cond delay="500"/>
                            </p:stCondLst>
                            <p:childTnLst>
                              <p:par>
                                <p:cTn id="27" presetID="22" presetClass="entr" presetSubtype="8" fill="hold" grpId="0" nodeType="afterEffect">
                                  <p:stCondLst>
                                    <p:cond delay="0"/>
                                  </p:stCondLst>
                                  <p:childTnLst>
                                    <p:set>
                                      <p:cBhvr>
                                        <p:cTn id="28" dur="1" fill="hold">
                                          <p:stCondLst>
                                            <p:cond delay="0"/>
                                          </p:stCondLst>
                                        </p:cTn>
                                        <p:tgtEl>
                                          <p:spTgt spid="85"/>
                                        </p:tgtEl>
                                        <p:attrNameLst>
                                          <p:attrName>style.visibility</p:attrName>
                                        </p:attrNameLst>
                                      </p:cBhvr>
                                      <p:to>
                                        <p:strVal val="visible"/>
                                      </p:to>
                                    </p:set>
                                    <p:animEffect transition="in" filter="wipe(left)">
                                      <p:cBhvr>
                                        <p:cTn id="29" dur="500"/>
                                        <p:tgtEl>
                                          <p:spTgt spid="85"/>
                                        </p:tgtEl>
                                      </p:cBhvr>
                                    </p:animEffect>
                                  </p:childTnLst>
                                </p:cTn>
                              </p:par>
                            </p:childTnLst>
                          </p:cTn>
                        </p:par>
                        <p:par>
                          <p:cTn id="30" fill="hold" nodeType="afterGroup">
                            <p:stCondLst>
                              <p:cond delay="1000"/>
                            </p:stCondLst>
                            <p:childTnLst>
                              <p:par>
                                <p:cTn id="31" presetID="22" presetClass="entr" presetSubtype="8" fill="hold" nodeType="afterEffect">
                                  <p:stCondLst>
                                    <p:cond delay="0"/>
                                  </p:stCondLst>
                                  <p:childTnLst>
                                    <p:set>
                                      <p:cBhvr>
                                        <p:cTn id="32" dur="1" fill="hold">
                                          <p:stCondLst>
                                            <p:cond delay="0"/>
                                          </p:stCondLst>
                                        </p:cTn>
                                        <p:tgtEl>
                                          <p:spTgt spid="69"/>
                                        </p:tgtEl>
                                        <p:attrNameLst>
                                          <p:attrName>style.visibility</p:attrName>
                                        </p:attrNameLst>
                                      </p:cBhvr>
                                      <p:to>
                                        <p:strVal val="visible"/>
                                      </p:to>
                                    </p:set>
                                    <p:animEffect transition="in" filter="wipe(left)">
                                      <p:cBhvr>
                                        <p:cTn id="33" dur="500"/>
                                        <p:tgtEl>
                                          <p:spTgt spid="69"/>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1" fill="hold" nodeType="clickEffect">
                                  <p:stCondLst>
                                    <p:cond delay="0"/>
                                  </p:stCondLst>
                                  <p:childTnLst>
                                    <p:set>
                                      <p:cBhvr>
                                        <p:cTn id="37" dur="1" fill="hold">
                                          <p:stCondLst>
                                            <p:cond delay="0"/>
                                          </p:stCondLst>
                                        </p:cTn>
                                        <p:tgtEl>
                                          <p:spTgt spid="70"/>
                                        </p:tgtEl>
                                        <p:attrNameLst>
                                          <p:attrName>style.visibility</p:attrName>
                                        </p:attrNameLst>
                                      </p:cBhvr>
                                      <p:to>
                                        <p:strVal val="visible"/>
                                      </p:to>
                                    </p:set>
                                    <p:animEffect transition="in" filter="wipe(up)">
                                      <p:cBhvr>
                                        <p:cTn id="38" dur="500"/>
                                        <p:tgtEl>
                                          <p:spTgt spid="70"/>
                                        </p:tgtEl>
                                      </p:cBhvr>
                                    </p:animEffect>
                                  </p:childTnLst>
                                </p:cTn>
                              </p:par>
                            </p:childTnLst>
                          </p:cTn>
                        </p:par>
                        <p:par>
                          <p:cTn id="39" fill="hold" nodeType="afterGroup">
                            <p:stCondLst>
                              <p:cond delay="500"/>
                            </p:stCondLst>
                            <p:childTnLst>
                              <p:par>
                                <p:cTn id="40" presetID="22" presetClass="entr" presetSubtype="8" fill="hold" grpId="0" nodeType="afterEffect">
                                  <p:stCondLst>
                                    <p:cond delay="0"/>
                                  </p:stCondLst>
                                  <p:childTnLst>
                                    <p:set>
                                      <p:cBhvr>
                                        <p:cTn id="41" dur="1" fill="hold">
                                          <p:stCondLst>
                                            <p:cond delay="0"/>
                                          </p:stCondLst>
                                        </p:cTn>
                                        <p:tgtEl>
                                          <p:spTgt spid="73"/>
                                        </p:tgtEl>
                                        <p:attrNameLst>
                                          <p:attrName>style.visibility</p:attrName>
                                        </p:attrNameLst>
                                      </p:cBhvr>
                                      <p:to>
                                        <p:strVal val="visible"/>
                                      </p:to>
                                    </p:set>
                                    <p:animEffect transition="in" filter="wipe(left)">
                                      <p:cBhvr>
                                        <p:cTn id="42" dur="500"/>
                                        <p:tgtEl>
                                          <p:spTgt spid="73"/>
                                        </p:tgtEl>
                                      </p:cBhvr>
                                    </p:animEffect>
                                  </p:childTnLst>
                                </p:cTn>
                              </p:par>
                            </p:childTnLst>
                          </p:cTn>
                        </p:par>
                        <p:par>
                          <p:cTn id="43" fill="hold" nodeType="afterGroup">
                            <p:stCondLst>
                              <p:cond delay="1000"/>
                            </p:stCondLst>
                            <p:childTnLst>
                              <p:par>
                                <p:cTn id="44" presetID="22" presetClass="entr" presetSubtype="8" fill="hold" nodeType="afterEffect">
                                  <p:stCondLst>
                                    <p:cond delay="0"/>
                                  </p:stCondLst>
                                  <p:childTnLst>
                                    <p:set>
                                      <p:cBhvr>
                                        <p:cTn id="45" dur="1" fill="hold">
                                          <p:stCondLst>
                                            <p:cond delay="0"/>
                                          </p:stCondLst>
                                        </p:cTn>
                                        <p:tgtEl>
                                          <p:spTgt spid="83"/>
                                        </p:tgtEl>
                                        <p:attrNameLst>
                                          <p:attrName>style.visibility</p:attrName>
                                        </p:attrNameLst>
                                      </p:cBhvr>
                                      <p:to>
                                        <p:strVal val="visible"/>
                                      </p:to>
                                    </p:set>
                                    <p:animEffect transition="in" filter="wipe(left)">
                                      <p:cBhvr>
                                        <p:cTn id="46" dur="500"/>
                                        <p:tgtEl>
                                          <p:spTgt spid="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 grpId="0"/>
      <p:bldP spid="84" grpId="0"/>
      <p:bldP spid="85" grpId="0"/>
    </p:bld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6D216070-10C7-CD23-9630-F8EA9F5DB8FD}"/>
              </a:ext>
            </a:extLst>
          </p:cNvPr>
          <p:cNvSpPr txBox="1">
            <a:spLocks/>
          </p:cNvSpPr>
          <p:nvPr/>
        </p:nvSpPr>
        <p:spPr bwMode="auto">
          <a:xfrm>
            <a:off x="0" y="1504950"/>
            <a:ext cx="8172450" cy="323850"/>
          </a:xfrm>
          <a:prstGeom prst="rect">
            <a:avLst/>
          </a:prstGeom>
          <a:noFill/>
          <a:ln w="9525">
            <a:noFill/>
            <a:miter lim="800000"/>
            <a:headEnd/>
            <a:tailEnd/>
          </a:ln>
        </p:spPr>
        <p:txBody>
          <a:bodyPr lIns="72000" tIns="0" rIns="72000" bIns="0"/>
          <a:lstStyle/>
          <a:p>
            <a:pPr marL="0" marR="0" lvl="0" indent="0" algn="l" defTabSz="720000" rtl="0" eaLnBrk="1" fontAlgn="base" latinLnBrk="0" hangingPunct="1">
              <a:lnSpc>
                <a:spcPts val="1800"/>
              </a:lnSpc>
              <a:spcBef>
                <a:spcPts val="0"/>
              </a:spcBef>
              <a:spcAft>
                <a:spcPts val="0"/>
              </a:spcAft>
              <a:buClrTx/>
              <a:buSzTx/>
              <a:buFontTx/>
              <a:buNone/>
              <a:tabLst>
                <a:tab pos="0" algn="l"/>
              </a:tabLst>
              <a:defRPr/>
            </a:pPr>
            <a:r>
              <a:rPr kumimoji="0" lang="en-US" sz="1800" b="1" i="0" u="none" strike="noStrike" kern="0" cap="none" spc="0" normalizeH="0" baseline="0" noProof="0" dirty="0">
                <a:ln>
                  <a:noFill/>
                </a:ln>
                <a:solidFill>
                  <a:srgbClr val="2F2B20"/>
                </a:solidFill>
                <a:effectLst/>
                <a:uLnTx/>
                <a:uFillTx/>
                <a:latin typeface="Calibri"/>
                <a:ea typeface="+mn-ea"/>
                <a:cs typeface="Calibri" pitchFamily="34" charset="0"/>
              </a:rPr>
              <a:t>Normal Forms</a:t>
            </a:r>
            <a:endParaRPr kumimoji="0" lang="en-MY" sz="1800" b="1" i="0" u="none" strike="noStrike" kern="0" cap="none" spc="0" normalizeH="0" baseline="0" noProof="0" dirty="0">
              <a:ln>
                <a:noFill/>
              </a:ln>
              <a:solidFill>
                <a:srgbClr val="2F2B20"/>
              </a:solidFill>
              <a:effectLst/>
              <a:uLnTx/>
              <a:uFillTx/>
              <a:latin typeface="Calibri"/>
              <a:ea typeface="+mn-ea"/>
              <a:cs typeface="Calibri" pitchFamily="34" charset="0"/>
            </a:endParaRPr>
          </a:p>
        </p:txBody>
      </p:sp>
      <p:sp>
        <p:nvSpPr>
          <p:cNvPr id="38" name="Content Placeholder 2">
            <a:extLst>
              <a:ext uri="{FF2B5EF4-FFF2-40B4-BE49-F238E27FC236}">
                <a16:creationId xmlns:a16="http://schemas.microsoft.com/office/drawing/2014/main" id="{482F706C-9D8A-1BA3-2947-4EC879D7A4E3}"/>
              </a:ext>
            </a:extLst>
          </p:cNvPr>
          <p:cNvSpPr txBox="1">
            <a:spLocks/>
          </p:cNvSpPr>
          <p:nvPr/>
        </p:nvSpPr>
        <p:spPr bwMode="auto">
          <a:xfrm>
            <a:off x="250825" y="1816100"/>
            <a:ext cx="7921625"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For simplicity sake, we will redraw our relations in 2NF as dependency diagrams</a:t>
            </a: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US" altLang="en-US" sz="32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rPr>
              <a:t> </a:t>
            </a: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graphicFrame>
        <p:nvGraphicFramePr>
          <p:cNvPr id="26" name="Table 25">
            <a:extLst>
              <a:ext uri="{FF2B5EF4-FFF2-40B4-BE49-F238E27FC236}">
                <a16:creationId xmlns:a16="http://schemas.microsoft.com/office/drawing/2014/main" id="{A78076C7-0612-9A0C-737C-D6D773CCBD68}"/>
              </a:ext>
            </a:extLst>
          </p:cNvPr>
          <p:cNvGraphicFramePr>
            <a:graphicFrameLocks noGrp="1"/>
          </p:cNvGraphicFramePr>
          <p:nvPr/>
        </p:nvGraphicFramePr>
        <p:xfrm>
          <a:off x="112713" y="3500438"/>
          <a:ext cx="3240088" cy="428625"/>
        </p:xfrm>
        <a:graphic>
          <a:graphicData uri="http://schemas.openxmlformats.org/drawingml/2006/table">
            <a:tbl>
              <a:tblPr firstRow="1" bandRow="1">
                <a:tableStyleId>{5940675A-B579-460E-94D1-54222C63F5DA}</a:tableStyleId>
              </a:tblPr>
              <a:tblGrid>
                <a:gridCol w="1620044">
                  <a:extLst>
                    <a:ext uri="{9D8B030D-6E8A-4147-A177-3AD203B41FA5}">
                      <a16:colId xmlns:a16="http://schemas.microsoft.com/office/drawing/2014/main" val="20000"/>
                    </a:ext>
                  </a:extLst>
                </a:gridCol>
                <a:gridCol w="1620044">
                  <a:extLst>
                    <a:ext uri="{9D8B030D-6E8A-4147-A177-3AD203B41FA5}">
                      <a16:colId xmlns:a16="http://schemas.microsoft.com/office/drawing/2014/main" val="20001"/>
                    </a:ext>
                  </a:extLst>
                </a:gridCol>
              </a:tblGrid>
              <a:tr h="428625">
                <a:tc>
                  <a:txBody>
                    <a:bodyPr/>
                    <a:lstStyle/>
                    <a:p>
                      <a:pPr algn="ctr"/>
                      <a:r>
                        <a:rPr lang="en-CA" sz="1800" dirty="0"/>
                        <a:t>PROJ_NUM</a:t>
                      </a:r>
                      <a:endParaRPr lang="en-CA" sz="1800" b="0" dirty="0"/>
                    </a:p>
                  </a:txBody>
                  <a:tcPr marL="91432" marR="91432" marT="45736" marB="45736"/>
                </a:tc>
                <a:tc>
                  <a:txBody>
                    <a:bodyPr/>
                    <a:lstStyle/>
                    <a:p>
                      <a:pPr algn="ctr"/>
                      <a:r>
                        <a:rPr lang="en-CA" sz="1800" b="0" dirty="0"/>
                        <a:t>PROJ_NAME</a:t>
                      </a:r>
                    </a:p>
                  </a:txBody>
                  <a:tcPr marL="91432" marR="91432" marT="45736" marB="45736"/>
                </a:tc>
                <a:extLst>
                  <a:ext uri="{0D108BD9-81ED-4DB2-BD59-A6C34878D82A}">
                    <a16:rowId xmlns:a16="http://schemas.microsoft.com/office/drawing/2014/main" val="10000"/>
                  </a:ext>
                </a:extLst>
              </a:tr>
            </a:tbl>
          </a:graphicData>
        </a:graphic>
      </p:graphicFrame>
      <p:cxnSp>
        <p:nvCxnSpPr>
          <p:cNvPr id="27" name="Straight Connector 26">
            <a:extLst>
              <a:ext uri="{FF2B5EF4-FFF2-40B4-BE49-F238E27FC236}">
                <a16:creationId xmlns:a16="http://schemas.microsoft.com/office/drawing/2014/main" id="{66564EE9-9C6F-DE8B-27E9-912717209690}"/>
              </a:ext>
            </a:extLst>
          </p:cNvPr>
          <p:cNvCxnSpPr>
            <a:cxnSpLocks noChangeShapeType="1"/>
          </p:cNvCxnSpPr>
          <p:nvPr/>
        </p:nvCxnSpPr>
        <p:spPr bwMode="auto">
          <a:xfrm>
            <a:off x="319088" y="3810000"/>
            <a:ext cx="1223962" cy="0"/>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graphicFrame>
        <p:nvGraphicFramePr>
          <p:cNvPr id="28" name="Table 27">
            <a:extLst>
              <a:ext uri="{FF2B5EF4-FFF2-40B4-BE49-F238E27FC236}">
                <a16:creationId xmlns:a16="http://schemas.microsoft.com/office/drawing/2014/main" id="{8A10925F-A043-1DCA-FF89-F0EB220ADB37}"/>
              </a:ext>
            </a:extLst>
          </p:cNvPr>
          <p:cNvGraphicFramePr>
            <a:graphicFrameLocks noGrp="1"/>
          </p:cNvGraphicFramePr>
          <p:nvPr/>
        </p:nvGraphicFramePr>
        <p:xfrm>
          <a:off x="3805238" y="3487738"/>
          <a:ext cx="4576762" cy="438150"/>
        </p:xfrm>
        <a:graphic>
          <a:graphicData uri="http://schemas.openxmlformats.org/drawingml/2006/table">
            <a:tbl>
              <a:tblPr firstRow="1" bandRow="1">
                <a:tableStyleId>{5940675A-B579-460E-94D1-54222C63F5DA}</a:tableStyleId>
              </a:tblPr>
              <a:tblGrid>
                <a:gridCol w="1284520">
                  <a:extLst>
                    <a:ext uri="{9D8B030D-6E8A-4147-A177-3AD203B41FA5}">
                      <a16:colId xmlns:a16="http://schemas.microsoft.com/office/drawing/2014/main" val="20000"/>
                    </a:ext>
                  </a:extLst>
                </a:gridCol>
                <a:gridCol w="1646121">
                  <a:extLst>
                    <a:ext uri="{9D8B030D-6E8A-4147-A177-3AD203B41FA5}">
                      <a16:colId xmlns:a16="http://schemas.microsoft.com/office/drawing/2014/main" val="20001"/>
                    </a:ext>
                  </a:extLst>
                </a:gridCol>
                <a:gridCol w="1646121">
                  <a:extLst>
                    <a:ext uri="{9D8B030D-6E8A-4147-A177-3AD203B41FA5}">
                      <a16:colId xmlns:a16="http://schemas.microsoft.com/office/drawing/2014/main" val="20002"/>
                    </a:ext>
                  </a:extLst>
                </a:gridCol>
              </a:tblGrid>
              <a:tr h="438150">
                <a:tc>
                  <a:txBody>
                    <a:bodyPr/>
                    <a:lstStyle/>
                    <a:p>
                      <a:pPr algn="ctr"/>
                      <a:r>
                        <a:rPr lang="en-CA" sz="1800" dirty="0"/>
                        <a:t>EMP_NUM</a:t>
                      </a:r>
                      <a:endParaRPr lang="en-CA" sz="1800" b="0" dirty="0"/>
                    </a:p>
                  </a:txBody>
                  <a:tcPr marL="91454" marR="91454" marT="45760" marB="45760"/>
                </a:tc>
                <a:tc>
                  <a:txBody>
                    <a:bodyPr/>
                    <a:lstStyle/>
                    <a:p>
                      <a:pPr algn="ctr"/>
                      <a:r>
                        <a:rPr lang="en-CA" sz="1800" b="0" dirty="0"/>
                        <a:t>JOB_CLASS</a:t>
                      </a:r>
                    </a:p>
                  </a:txBody>
                  <a:tcPr marL="91454" marR="91454" marT="45760" marB="45760"/>
                </a:tc>
                <a:tc>
                  <a:txBody>
                    <a:bodyPr/>
                    <a:lstStyle/>
                    <a:p>
                      <a:pPr algn="ctr"/>
                      <a:r>
                        <a:rPr lang="en-CA" sz="1800" b="0" dirty="0"/>
                        <a:t>CHG_HOUR</a:t>
                      </a:r>
                    </a:p>
                  </a:txBody>
                  <a:tcPr marL="91454" marR="91454" marT="45760" marB="45760"/>
                </a:tc>
                <a:extLst>
                  <a:ext uri="{0D108BD9-81ED-4DB2-BD59-A6C34878D82A}">
                    <a16:rowId xmlns:a16="http://schemas.microsoft.com/office/drawing/2014/main" val="10000"/>
                  </a:ext>
                </a:extLst>
              </a:tr>
            </a:tbl>
          </a:graphicData>
        </a:graphic>
      </p:graphicFrame>
      <p:graphicFrame>
        <p:nvGraphicFramePr>
          <p:cNvPr id="29" name="Table 28">
            <a:extLst>
              <a:ext uri="{FF2B5EF4-FFF2-40B4-BE49-F238E27FC236}">
                <a16:creationId xmlns:a16="http://schemas.microsoft.com/office/drawing/2014/main" id="{51ACD96A-E6FC-F1EF-9397-F0075306EEE3}"/>
              </a:ext>
            </a:extLst>
          </p:cNvPr>
          <p:cNvGraphicFramePr>
            <a:graphicFrameLocks noGrp="1"/>
          </p:cNvGraphicFramePr>
          <p:nvPr/>
        </p:nvGraphicFramePr>
        <p:xfrm>
          <a:off x="120650" y="5399088"/>
          <a:ext cx="4006849" cy="436562"/>
        </p:xfrm>
        <a:graphic>
          <a:graphicData uri="http://schemas.openxmlformats.org/drawingml/2006/table">
            <a:tbl>
              <a:tblPr firstRow="1" bandRow="1">
                <a:tableStyleId>{5940675A-B579-460E-94D1-54222C63F5DA}</a:tableStyleId>
              </a:tblPr>
              <a:tblGrid>
                <a:gridCol w="1472448">
                  <a:extLst>
                    <a:ext uri="{9D8B030D-6E8A-4147-A177-3AD203B41FA5}">
                      <a16:colId xmlns:a16="http://schemas.microsoft.com/office/drawing/2014/main" val="20000"/>
                    </a:ext>
                  </a:extLst>
                </a:gridCol>
                <a:gridCol w="1349968">
                  <a:extLst>
                    <a:ext uri="{9D8B030D-6E8A-4147-A177-3AD203B41FA5}">
                      <a16:colId xmlns:a16="http://schemas.microsoft.com/office/drawing/2014/main" val="20001"/>
                    </a:ext>
                  </a:extLst>
                </a:gridCol>
                <a:gridCol w="1184433">
                  <a:extLst>
                    <a:ext uri="{9D8B030D-6E8A-4147-A177-3AD203B41FA5}">
                      <a16:colId xmlns:a16="http://schemas.microsoft.com/office/drawing/2014/main" val="20002"/>
                    </a:ext>
                  </a:extLst>
                </a:gridCol>
              </a:tblGrid>
              <a:tr h="436562">
                <a:tc>
                  <a:txBody>
                    <a:bodyPr/>
                    <a:lstStyle/>
                    <a:p>
                      <a:pPr algn="ctr"/>
                      <a:r>
                        <a:rPr lang="en-CA" sz="1800" dirty="0"/>
                        <a:t>PROJ_NUM</a:t>
                      </a:r>
                      <a:endParaRPr lang="en-CA" sz="1800" b="0" dirty="0"/>
                    </a:p>
                  </a:txBody>
                  <a:tcPr marL="91426" marR="91426" marT="45594" marB="45594"/>
                </a:tc>
                <a:tc>
                  <a:txBody>
                    <a:bodyPr/>
                    <a:lstStyle/>
                    <a:p>
                      <a:pPr algn="ctr"/>
                      <a:r>
                        <a:rPr lang="en-CA" sz="1800" b="0" dirty="0"/>
                        <a:t>EMP_NUM</a:t>
                      </a:r>
                    </a:p>
                  </a:txBody>
                  <a:tcPr marL="91426" marR="91426" marT="45594" marB="45594"/>
                </a:tc>
                <a:tc>
                  <a:txBody>
                    <a:bodyPr/>
                    <a:lstStyle/>
                    <a:p>
                      <a:pPr algn="ctr"/>
                      <a:r>
                        <a:rPr lang="en-CA" sz="1800" b="0" dirty="0"/>
                        <a:t>HOUR</a:t>
                      </a:r>
                    </a:p>
                  </a:txBody>
                  <a:tcPr marL="91426" marR="91426" marT="45594" marB="45594"/>
                </a:tc>
                <a:extLst>
                  <a:ext uri="{0D108BD9-81ED-4DB2-BD59-A6C34878D82A}">
                    <a16:rowId xmlns:a16="http://schemas.microsoft.com/office/drawing/2014/main" val="10000"/>
                  </a:ext>
                </a:extLst>
              </a:tr>
            </a:tbl>
          </a:graphicData>
        </a:graphic>
      </p:graphicFrame>
      <p:cxnSp>
        <p:nvCxnSpPr>
          <p:cNvPr id="30" name="Straight Connector 29">
            <a:extLst>
              <a:ext uri="{FF2B5EF4-FFF2-40B4-BE49-F238E27FC236}">
                <a16:creationId xmlns:a16="http://schemas.microsoft.com/office/drawing/2014/main" id="{1AAA2BD7-DA78-9CF2-CB6C-1DAF92F6E90C}"/>
              </a:ext>
            </a:extLst>
          </p:cNvPr>
          <p:cNvCxnSpPr>
            <a:cxnSpLocks noChangeShapeType="1"/>
          </p:cNvCxnSpPr>
          <p:nvPr/>
        </p:nvCxnSpPr>
        <p:spPr bwMode="auto">
          <a:xfrm>
            <a:off x="3917950" y="3798888"/>
            <a:ext cx="1074738" cy="0"/>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cxnSp>
        <p:nvCxnSpPr>
          <p:cNvPr id="31" name="Straight Connector 30">
            <a:extLst>
              <a:ext uri="{FF2B5EF4-FFF2-40B4-BE49-F238E27FC236}">
                <a16:creationId xmlns:a16="http://schemas.microsoft.com/office/drawing/2014/main" id="{0CF2752F-7730-C285-79ED-93D3B11F7349}"/>
              </a:ext>
            </a:extLst>
          </p:cNvPr>
          <p:cNvCxnSpPr>
            <a:cxnSpLocks noChangeShapeType="1"/>
          </p:cNvCxnSpPr>
          <p:nvPr/>
        </p:nvCxnSpPr>
        <p:spPr bwMode="auto">
          <a:xfrm>
            <a:off x="265113" y="5702300"/>
            <a:ext cx="2536825" cy="0"/>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sp>
        <p:nvSpPr>
          <p:cNvPr id="32" name="TextBox 31">
            <a:extLst>
              <a:ext uri="{FF2B5EF4-FFF2-40B4-BE49-F238E27FC236}">
                <a16:creationId xmlns:a16="http://schemas.microsoft.com/office/drawing/2014/main" id="{035F4FDA-5D54-FD8D-4A8B-4CF2D7685933}"/>
              </a:ext>
            </a:extLst>
          </p:cNvPr>
          <p:cNvSpPr txBox="1">
            <a:spLocks noChangeArrowheads="1"/>
          </p:cNvSpPr>
          <p:nvPr/>
        </p:nvSpPr>
        <p:spPr bwMode="auto">
          <a:xfrm>
            <a:off x="28575" y="3136900"/>
            <a:ext cx="2089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PROJECT</a:t>
            </a:r>
          </a:p>
        </p:txBody>
      </p:sp>
      <p:sp>
        <p:nvSpPr>
          <p:cNvPr id="33" name="TextBox 32">
            <a:extLst>
              <a:ext uri="{FF2B5EF4-FFF2-40B4-BE49-F238E27FC236}">
                <a16:creationId xmlns:a16="http://schemas.microsoft.com/office/drawing/2014/main" id="{FEE68EF0-B303-ED1B-A221-F9C479F90822}"/>
              </a:ext>
            </a:extLst>
          </p:cNvPr>
          <p:cNvSpPr txBox="1">
            <a:spLocks noChangeArrowheads="1"/>
          </p:cNvSpPr>
          <p:nvPr/>
        </p:nvSpPr>
        <p:spPr bwMode="auto">
          <a:xfrm>
            <a:off x="3709988" y="3124200"/>
            <a:ext cx="208756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EMPLOYEE</a:t>
            </a:r>
          </a:p>
        </p:txBody>
      </p:sp>
      <p:sp>
        <p:nvSpPr>
          <p:cNvPr id="34" name="TextBox 33">
            <a:extLst>
              <a:ext uri="{FF2B5EF4-FFF2-40B4-BE49-F238E27FC236}">
                <a16:creationId xmlns:a16="http://schemas.microsoft.com/office/drawing/2014/main" id="{6AA7828C-B258-D757-1923-7AACDAA34201}"/>
              </a:ext>
            </a:extLst>
          </p:cNvPr>
          <p:cNvSpPr txBox="1">
            <a:spLocks noChangeArrowheads="1"/>
          </p:cNvSpPr>
          <p:nvPr/>
        </p:nvSpPr>
        <p:spPr bwMode="auto">
          <a:xfrm>
            <a:off x="41275" y="5016500"/>
            <a:ext cx="29178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PROJECT_ASSIGNMENT</a:t>
            </a:r>
          </a:p>
        </p:txBody>
      </p:sp>
      <p:cxnSp>
        <p:nvCxnSpPr>
          <p:cNvPr id="39" name="Straight Connector 38">
            <a:extLst>
              <a:ext uri="{FF2B5EF4-FFF2-40B4-BE49-F238E27FC236}">
                <a16:creationId xmlns:a16="http://schemas.microsoft.com/office/drawing/2014/main" id="{D8B04E1D-A234-3919-1E71-BE3374D43EFD}"/>
              </a:ext>
            </a:extLst>
          </p:cNvPr>
          <p:cNvCxnSpPr>
            <a:cxnSpLocks noChangeShapeType="1"/>
          </p:cNvCxnSpPr>
          <p:nvPr/>
        </p:nvCxnSpPr>
        <p:spPr bwMode="auto">
          <a:xfrm flipV="1">
            <a:off x="860425" y="3940175"/>
            <a:ext cx="0" cy="360363"/>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cxnSp>
        <p:nvCxnSpPr>
          <p:cNvPr id="42" name="Straight Connector 41">
            <a:extLst>
              <a:ext uri="{FF2B5EF4-FFF2-40B4-BE49-F238E27FC236}">
                <a16:creationId xmlns:a16="http://schemas.microsoft.com/office/drawing/2014/main" id="{3C26B0DD-DF37-B88D-1D11-4481EEDB0F6E}"/>
              </a:ext>
            </a:extLst>
          </p:cNvPr>
          <p:cNvCxnSpPr>
            <a:cxnSpLocks noChangeShapeType="1"/>
          </p:cNvCxnSpPr>
          <p:nvPr/>
        </p:nvCxnSpPr>
        <p:spPr bwMode="auto">
          <a:xfrm>
            <a:off x="844550" y="4310063"/>
            <a:ext cx="1573213" cy="0"/>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cxnSp>
        <p:nvCxnSpPr>
          <p:cNvPr id="45" name="Straight Connector 44">
            <a:extLst>
              <a:ext uri="{FF2B5EF4-FFF2-40B4-BE49-F238E27FC236}">
                <a16:creationId xmlns:a16="http://schemas.microsoft.com/office/drawing/2014/main" id="{2F1EC6EE-CA00-AE12-D3A4-3163E25FD99C}"/>
              </a:ext>
            </a:extLst>
          </p:cNvPr>
          <p:cNvCxnSpPr>
            <a:cxnSpLocks noChangeShapeType="1"/>
          </p:cNvCxnSpPr>
          <p:nvPr/>
        </p:nvCxnSpPr>
        <p:spPr bwMode="auto">
          <a:xfrm flipV="1">
            <a:off x="2411413" y="3949700"/>
            <a:ext cx="0" cy="360363"/>
          </a:xfrm>
          <a:prstGeom prst="line">
            <a:avLst/>
          </a:prstGeom>
          <a:noFill/>
          <a:ln w="2540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6" name="Straight Connector 45">
            <a:extLst>
              <a:ext uri="{FF2B5EF4-FFF2-40B4-BE49-F238E27FC236}">
                <a16:creationId xmlns:a16="http://schemas.microsoft.com/office/drawing/2014/main" id="{A465D686-5616-6CB3-F3DE-6F416D666C1A}"/>
              </a:ext>
            </a:extLst>
          </p:cNvPr>
          <p:cNvCxnSpPr>
            <a:cxnSpLocks noChangeShapeType="1"/>
          </p:cNvCxnSpPr>
          <p:nvPr/>
        </p:nvCxnSpPr>
        <p:spPr bwMode="auto">
          <a:xfrm flipV="1">
            <a:off x="4521200" y="3930650"/>
            <a:ext cx="0" cy="720725"/>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cxnSp>
        <p:nvCxnSpPr>
          <p:cNvPr id="47" name="Straight Connector 46">
            <a:extLst>
              <a:ext uri="{FF2B5EF4-FFF2-40B4-BE49-F238E27FC236}">
                <a16:creationId xmlns:a16="http://schemas.microsoft.com/office/drawing/2014/main" id="{D1B3465F-55EC-6C28-58EF-743FE96B1A73}"/>
              </a:ext>
            </a:extLst>
          </p:cNvPr>
          <p:cNvCxnSpPr>
            <a:cxnSpLocks noChangeShapeType="1"/>
          </p:cNvCxnSpPr>
          <p:nvPr/>
        </p:nvCxnSpPr>
        <p:spPr bwMode="auto">
          <a:xfrm>
            <a:off x="4505325" y="4651375"/>
            <a:ext cx="3157538" cy="0"/>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cxnSp>
        <p:nvCxnSpPr>
          <p:cNvPr id="48" name="Straight Connector 47">
            <a:extLst>
              <a:ext uri="{FF2B5EF4-FFF2-40B4-BE49-F238E27FC236}">
                <a16:creationId xmlns:a16="http://schemas.microsoft.com/office/drawing/2014/main" id="{5FEBA92C-9E43-EC45-75C0-CB1825B9D1CE}"/>
              </a:ext>
            </a:extLst>
          </p:cNvPr>
          <p:cNvCxnSpPr>
            <a:cxnSpLocks noChangeShapeType="1"/>
          </p:cNvCxnSpPr>
          <p:nvPr/>
        </p:nvCxnSpPr>
        <p:spPr bwMode="auto">
          <a:xfrm flipH="1" flipV="1">
            <a:off x="6073775" y="3940175"/>
            <a:ext cx="4763" cy="711200"/>
          </a:xfrm>
          <a:prstGeom prst="line">
            <a:avLst/>
          </a:prstGeom>
          <a:noFill/>
          <a:ln w="2540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9" name="Straight Connector 48">
            <a:extLst>
              <a:ext uri="{FF2B5EF4-FFF2-40B4-BE49-F238E27FC236}">
                <a16:creationId xmlns:a16="http://schemas.microsoft.com/office/drawing/2014/main" id="{74E54DD4-CFC0-834C-29ED-77BFC4833363}"/>
              </a:ext>
            </a:extLst>
          </p:cNvPr>
          <p:cNvCxnSpPr>
            <a:cxnSpLocks noChangeShapeType="1"/>
          </p:cNvCxnSpPr>
          <p:nvPr/>
        </p:nvCxnSpPr>
        <p:spPr bwMode="auto">
          <a:xfrm flipH="1" flipV="1">
            <a:off x="7639050" y="3957638"/>
            <a:ext cx="6350" cy="711200"/>
          </a:xfrm>
          <a:prstGeom prst="line">
            <a:avLst/>
          </a:prstGeom>
          <a:noFill/>
          <a:ln w="2540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1" name="Straight Connector 50">
            <a:extLst>
              <a:ext uri="{FF2B5EF4-FFF2-40B4-BE49-F238E27FC236}">
                <a16:creationId xmlns:a16="http://schemas.microsoft.com/office/drawing/2014/main" id="{2E16C6A2-3FE9-BBAF-04EC-ACA10C1B3F8A}"/>
              </a:ext>
            </a:extLst>
          </p:cNvPr>
          <p:cNvCxnSpPr>
            <a:cxnSpLocks noChangeShapeType="1"/>
          </p:cNvCxnSpPr>
          <p:nvPr/>
        </p:nvCxnSpPr>
        <p:spPr bwMode="auto">
          <a:xfrm flipV="1">
            <a:off x="6294438" y="3940175"/>
            <a:ext cx="0" cy="495300"/>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cxnSp>
        <p:nvCxnSpPr>
          <p:cNvPr id="52" name="Straight Connector 51">
            <a:extLst>
              <a:ext uri="{FF2B5EF4-FFF2-40B4-BE49-F238E27FC236}">
                <a16:creationId xmlns:a16="http://schemas.microsoft.com/office/drawing/2014/main" id="{86927727-68FA-2275-2E3D-AA0F632B5706}"/>
              </a:ext>
            </a:extLst>
          </p:cNvPr>
          <p:cNvCxnSpPr>
            <a:cxnSpLocks noChangeShapeType="1"/>
          </p:cNvCxnSpPr>
          <p:nvPr/>
        </p:nvCxnSpPr>
        <p:spPr bwMode="auto">
          <a:xfrm>
            <a:off x="6294438" y="4435475"/>
            <a:ext cx="1079500" cy="0"/>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cxnSp>
        <p:nvCxnSpPr>
          <p:cNvPr id="53" name="Straight Connector 52">
            <a:extLst>
              <a:ext uri="{FF2B5EF4-FFF2-40B4-BE49-F238E27FC236}">
                <a16:creationId xmlns:a16="http://schemas.microsoft.com/office/drawing/2014/main" id="{F9F7ED66-CC5D-55B2-64C1-7841A82564B0}"/>
              </a:ext>
            </a:extLst>
          </p:cNvPr>
          <p:cNvCxnSpPr>
            <a:cxnSpLocks noChangeShapeType="1"/>
          </p:cNvCxnSpPr>
          <p:nvPr/>
        </p:nvCxnSpPr>
        <p:spPr bwMode="auto">
          <a:xfrm flipH="1" flipV="1">
            <a:off x="7373938" y="3930650"/>
            <a:ext cx="6350" cy="504825"/>
          </a:xfrm>
          <a:prstGeom prst="line">
            <a:avLst/>
          </a:prstGeom>
          <a:noFill/>
          <a:ln w="2540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4" name="Straight Connector 53">
            <a:extLst>
              <a:ext uri="{FF2B5EF4-FFF2-40B4-BE49-F238E27FC236}">
                <a16:creationId xmlns:a16="http://schemas.microsoft.com/office/drawing/2014/main" id="{FE97A72D-0497-E888-BAC1-67A72F6DAA43}"/>
              </a:ext>
            </a:extLst>
          </p:cNvPr>
          <p:cNvCxnSpPr>
            <a:cxnSpLocks noChangeShapeType="1"/>
          </p:cNvCxnSpPr>
          <p:nvPr/>
        </p:nvCxnSpPr>
        <p:spPr bwMode="auto">
          <a:xfrm flipV="1">
            <a:off x="523875" y="5835650"/>
            <a:ext cx="0" cy="360363"/>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cxnSp>
        <p:nvCxnSpPr>
          <p:cNvPr id="55" name="Straight Connector 54">
            <a:extLst>
              <a:ext uri="{FF2B5EF4-FFF2-40B4-BE49-F238E27FC236}">
                <a16:creationId xmlns:a16="http://schemas.microsoft.com/office/drawing/2014/main" id="{1A554D46-F7C1-BBEE-95B5-5721CCC188AA}"/>
              </a:ext>
            </a:extLst>
          </p:cNvPr>
          <p:cNvCxnSpPr>
            <a:cxnSpLocks noChangeShapeType="1"/>
          </p:cNvCxnSpPr>
          <p:nvPr/>
        </p:nvCxnSpPr>
        <p:spPr bwMode="auto">
          <a:xfrm flipV="1">
            <a:off x="1925638" y="5835650"/>
            <a:ext cx="0" cy="360363"/>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cxnSp>
        <p:nvCxnSpPr>
          <p:cNvPr id="56" name="Straight Connector 55">
            <a:extLst>
              <a:ext uri="{FF2B5EF4-FFF2-40B4-BE49-F238E27FC236}">
                <a16:creationId xmlns:a16="http://schemas.microsoft.com/office/drawing/2014/main" id="{717F731B-8FC1-4485-A026-EB4DCE21BE9E}"/>
              </a:ext>
            </a:extLst>
          </p:cNvPr>
          <p:cNvCxnSpPr>
            <a:cxnSpLocks noChangeShapeType="1"/>
          </p:cNvCxnSpPr>
          <p:nvPr/>
        </p:nvCxnSpPr>
        <p:spPr bwMode="auto">
          <a:xfrm>
            <a:off x="508000" y="6196013"/>
            <a:ext cx="3049588" cy="0"/>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cxnSp>
        <p:nvCxnSpPr>
          <p:cNvPr id="57" name="Straight Connector 56">
            <a:extLst>
              <a:ext uri="{FF2B5EF4-FFF2-40B4-BE49-F238E27FC236}">
                <a16:creationId xmlns:a16="http://schemas.microsoft.com/office/drawing/2014/main" id="{1EB8DDEC-F0E0-2B77-146C-EC1E646B0001}"/>
              </a:ext>
            </a:extLst>
          </p:cNvPr>
          <p:cNvCxnSpPr>
            <a:cxnSpLocks noChangeShapeType="1"/>
          </p:cNvCxnSpPr>
          <p:nvPr/>
        </p:nvCxnSpPr>
        <p:spPr bwMode="auto">
          <a:xfrm flipV="1">
            <a:off x="3557588" y="5835650"/>
            <a:ext cx="0" cy="360363"/>
          </a:xfrm>
          <a:prstGeom prst="line">
            <a:avLst/>
          </a:prstGeom>
          <a:noFill/>
          <a:ln w="25400"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58" name="Rectangle 57">
            <a:extLst>
              <a:ext uri="{FF2B5EF4-FFF2-40B4-BE49-F238E27FC236}">
                <a16:creationId xmlns:a16="http://schemas.microsoft.com/office/drawing/2014/main" id="{E80E741A-E86D-A174-4BC7-4E42E93A8B6C}"/>
              </a:ext>
            </a:extLst>
          </p:cNvPr>
          <p:cNvSpPr>
            <a:spLocks noChangeArrowheads="1"/>
          </p:cNvSpPr>
          <p:nvPr/>
        </p:nvSpPr>
        <p:spPr bwMode="auto">
          <a:xfrm>
            <a:off x="4505325" y="5057775"/>
            <a:ext cx="3876675" cy="1138238"/>
          </a:xfrm>
          <a:prstGeom prst="rect">
            <a:avLst/>
          </a:prstGeom>
          <a:solidFill>
            <a:srgbClr val="FFFF00">
              <a:alpha val="30196"/>
            </a:srgbClr>
          </a:solidFill>
          <a:ln w="9525" algn="ctr">
            <a:solidFill>
              <a:srgbClr val="FFC000"/>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24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This is the end result of our conversion of a relation in 1NF to 2NF</a:t>
            </a:r>
          </a:p>
        </p:txBody>
      </p:sp>
      <p:sp>
        <p:nvSpPr>
          <p:cNvPr id="40" name="Title 1">
            <a:extLst>
              <a:ext uri="{FF2B5EF4-FFF2-40B4-BE49-F238E27FC236}">
                <a16:creationId xmlns:a16="http://schemas.microsoft.com/office/drawing/2014/main" id="{0BA5BE48-5F24-6096-04B0-D9BB0805DC79}"/>
              </a:ext>
            </a:extLst>
          </p:cNvPr>
          <p:cNvSpPr>
            <a:spLocks noGrp="1"/>
          </p:cNvSpPr>
          <p:nvPr>
            <p:ph type="title"/>
          </p:nvPr>
        </p:nvSpPr>
        <p:spPr>
          <a:xfrm>
            <a:off x="457200" y="76200"/>
            <a:ext cx="7620000" cy="1143000"/>
          </a:xfrm>
        </p:spPr>
        <p:txBody>
          <a:bodyPr/>
          <a:lstStyle/>
          <a:p>
            <a:pPr algn="ctr">
              <a:defRPr/>
            </a:pPr>
            <a:r>
              <a:rPr lang="en-US" dirty="0"/>
              <a:t>Relational Database Normalization</a:t>
            </a:r>
            <a:endParaRPr lang="en-CA"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wipe(left)">
                                      <p:cBhvr>
                                        <p:cTn id="7" dur="500"/>
                                        <p:tgtEl>
                                          <p:spTgt spid="3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2"/>
                                        </p:tgtEl>
                                        <p:attrNameLst>
                                          <p:attrName>style.visibility</p:attrName>
                                        </p:attrNameLst>
                                      </p:cBhvr>
                                      <p:to>
                                        <p:strVal val="visible"/>
                                      </p:to>
                                    </p:set>
                                    <p:animEffect transition="in" filter="wipe(up)">
                                      <p:cBhvr>
                                        <p:cTn id="12" dur="500"/>
                                        <p:tgtEl>
                                          <p:spTgt spid="32"/>
                                        </p:tgtEl>
                                      </p:cBhvr>
                                    </p:animEffect>
                                  </p:childTnLst>
                                </p:cTn>
                              </p:par>
                            </p:childTnLst>
                          </p:cTn>
                        </p:par>
                        <p:par>
                          <p:cTn id="13" fill="hold" nodeType="afterGroup">
                            <p:stCondLst>
                              <p:cond delay="500"/>
                            </p:stCondLst>
                            <p:childTnLst>
                              <p:par>
                                <p:cTn id="14" presetID="22" presetClass="entr" presetSubtype="8" fill="hold" nodeType="afterEffect">
                                  <p:stCondLst>
                                    <p:cond delay="0"/>
                                  </p:stCondLst>
                                  <p:childTnLst>
                                    <p:set>
                                      <p:cBhvr>
                                        <p:cTn id="15" dur="1" fill="hold">
                                          <p:stCondLst>
                                            <p:cond delay="0"/>
                                          </p:stCondLst>
                                        </p:cTn>
                                        <p:tgtEl>
                                          <p:spTgt spid="26"/>
                                        </p:tgtEl>
                                        <p:attrNameLst>
                                          <p:attrName>style.visibility</p:attrName>
                                        </p:attrNameLst>
                                      </p:cBhvr>
                                      <p:to>
                                        <p:strVal val="visible"/>
                                      </p:to>
                                    </p:set>
                                    <p:animEffect transition="in" filter="wipe(left)">
                                      <p:cBhvr>
                                        <p:cTn id="16" dur="500"/>
                                        <p:tgtEl>
                                          <p:spTgt spid="26"/>
                                        </p:tgtEl>
                                      </p:cBhvr>
                                    </p:animEffect>
                                  </p:childTnLst>
                                </p:cTn>
                              </p:par>
                            </p:childTnLst>
                          </p:cTn>
                        </p:par>
                        <p:par>
                          <p:cTn id="17" fill="hold" nodeType="afterGroup">
                            <p:stCondLst>
                              <p:cond delay="1000"/>
                            </p:stCondLst>
                            <p:childTnLst>
                              <p:par>
                                <p:cTn id="18" presetID="22" presetClass="entr" presetSubtype="8" fill="hold" nodeType="afterEffect">
                                  <p:stCondLst>
                                    <p:cond delay="0"/>
                                  </p:stCondLst>
                                  <p:childTnLst>
                                    <p:set>
                                      <p:cBhvr>
                                        <p:cTn id="19" dur="1" fill="hold">
                                          <p:stCondLst>
                                            <p:cond delay="0"/>
                                          </p:stCondLst>
                                        </p:cTn>
                                        <p:tgtEl>
                                          <p:spTgt spid="27"/>
                                        </p:tgtEl>
                                        <p:attrNameLst>
                                          <p:attrName>style.visibility</p:attrName>
                                        </p:attrNameLst>
                                      </p:cBhvr>
                                      <p:to>
                                        <p:strVal val="visible"/>
                                      </p:to>
                                    </p:set>
                                    <p:animEffect transition="in" filter="wipe(left)">
                                      <p:cBhvr>
                                        <p:cTn id="20" dur="500"/>
                                        <p:tgtEl>
                                          <p:spTgt spid="27"/>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1" fill="hold" nodeType="clickEffect">
                                  <p:stCondLst>
                                    <p:cond delay="0"/>
                                  </p:stCondLst>
                                  <p:childTnLst>
                                    <p:set>
                                      <p:cBhvr>
                                        <p:cTn id="24" dur="1" fill="hold">
                                          <p:stCondLst>
                                            <p:cond delay="0"/>
                                          </p:stCondLst>
                                        </p:cTn>
                                        <p:tgtEl>
                                          <p:spTgt spid="39"/>
                                        </p:tgtEl>
                                        <p:attrNameLst>
                                          <p:attrName>style.visibility</p:attrName>
                                        </p:attrNameLst>
                                      </p:cBhvr>
                                      <p:to>
                                        <p:strVal val="visible"/>
                                      </p:to>
                                    </p:set>
                                    <p:animEffect transition="in" filter="wipe(up)">
                                      <p:cBhvr>
                                        <p:cTn id="25" dur="500"/>
                                        <p:tgtEl>
                                          <p:spTgt spid="39"/>
                                        </p:tgtEl>
                                      </p:cBhvr>
                                    </p:animEffect>
                                  </p:childTnLst>
                                </p:cTn>
                              </p:par>
                            </p:childTnLst>
                          </p:cTn>
                        </p:par>
                        <p:par>
                          <p:cTn id="26" fill="hold" nodeType="afterGroup">
                            <p:stCondLst>
                              <p:cond delay="500"/>
                            </p:stCondLst>
                            <p:childTnLst>
                              <p:par>
                                <p:cTn id="27" presetID="22" presetClass="entr" presetSubtype="8" fill="hold" nodeType="afterEffect">
                                  <p:stCondLst>
                                    <p:cond delay="0"/>
                                  </p:stCondLst>
                                  <p:childTnLst>
                                    <p:set>
                                      <p:cBhvr>
                                        <p:cTn id="28" dur="1" fill="hold">
                                          <p:stCondLst>
                                            <p:cond delay="0"/>
                                          </p:stCondLst>
                                        </p:cTn>
                                        <p:tgtEl>
                                          <p:spTgt spid="42"/>
                                        </p:tgtEl>
                                        <p:attrNameLst>
                                          <p:attrName>style.visibility</p:attrName>
                                        </p:attrNameLst>
                                      </p:cBhvr>
                                      <p:to>
                                        <p:strVal val="visible"/>
                                      </p:to>
                                    </p:set>
                                    <p:animEffect transition="in" filter="wipe(left)">
                                      <p:cBhvr>
                                        <p:cTn id="29" dur="500"/>
                                        <p:tgtEl>
                                          <p:spTgt spid="42"/>
                                        </p:tgtEl>
                                      </p:cBhvr>
                                    </p:animEffect>
                                  </p:childTnLst>
                                </p:cTn>
                              </p:par>
                            </p:childTnLst>
                          </p:cTn>
                        </p:par>
                        <p:par>
                          <p:cTn id="30" fill="hold" nodeType="afterGroup">
                            <p:stCondLst>
                              <p:cond delay="1000"/>
                            </p:stCondLst>
                            <p:childTnLst>
                              <p:par>
                                <p:cTn id="31" presetID="22" presetClass="entr" presetSubtype="4" fill="hold" nodeType="afterEffect">
                                  <p:stCondLst>
                                    <p:cond delay="0"/>
                                  </p:stCondLst>
                                  <p:childTnLst>
                                    <p:set>
                                      <p:cBhvr>
                                        <p:cTn id="32" dur="1" fill="hold">
                                          <p:stCondLst>
                                            <p:cond delay="0"/>
                                          </p:stCondLst>
                                        </p:cTn>
                                        <p:tgtEl>
                                          <p:spTgt spid="45"/>
                                        </p:tgtEl>
                                        <p:attrNameLst>
                                          <p:attrName>style.visibility</p:attrName>
                                        </p:attrNameLst>
                                      </p:cBhvr>
                                      <p:to>
                                        <p:strVal val="visible"/>
                                      </p:to>
                                    </p:set>
                                    <p:animEffect transition="in" filter="wipe(down)">
                                      <p:cBhvr>
                                        <p:cTn id="33" dur="500"/>
                                        <p:tgtEl>
                                          <p:spTgt spid="45"/>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1" fill="hold" grpId="0" nodeType="clickEffect">
                                  <p:stCondLst>
                                    <p:cond delay="0"/>
                                  </p:stCondLst>
                                  <p:childTnLst>
                                    <p:set>
                                      <p:cBhvr>
                                        <p:cTn id="37" dur="1" fill="hold">
                                          <p:stCondLst>
                                            <p:cond delay="0"/>
                                          </p:stCondLst>
                                        </p:cTn>
                                        <p:tgtEl>
                                          <p:spTgt spid="33"/>
                                        </p:tgtEl>
                                        <p:attrNameLst>
                                          <p:attrName>style.visibility</p:attrName>
                                        </p:attrNameLst>
                                      </p:cBhvr>
                                      <p:to>
                                        <p:strVal val="visible"/>
                                      </p:to>
                                    </p:set>
                                    <p:animEffect transition="in" filter="wipe(up)">
                                      <p:cBhvr>
                                        <p:cTn id="38" dur="500"/>
                                        <p:tgtEl>
                                          <p:spTgt spid="33"/>
                                        </p:tgtEl>
                                      </p:cBhvr>
                                    </p:animEffect>
                                  </p:childTnLst>
                                </p:cTn>
                              </p:par>
                            </p:childTnLst>
                          </p:cTn>
                        </p:par>
                        <p:par>
                          <p:cTn id="39" fill="hold" nodeType="afterGroup">
                            <p:stCondLst>
                              <p:cond delay="500"/>
                            </p:stCondLst>
                            <p:childTnLst>
                              <p:par>
                                <p:cTn id="40" presetID="22" presetClass="entr" presetSubtype="8" fill="hold" nodeType="afterEffect">
                                  <p:stCondLst>
                                    <p:cond delay="0"/>
                                  </p:stCondLst>
                                  <p:childTnLst>
                                    <p:set>
                                      <p:cBhvr>
                                        <p:cTn id="41" dur="1" fill="hold">
                                          <p:stCondLst>
                                            <p:cond delay="0"/>
                                          </p:stCondLst>
                                        </p:cTn>
                                        <p:tgtEl>
                                          <p:spTgt spid="28"/>
                                        </p:tgtEl>
                                        <p:attrNameLst>
                                          <p:attrName>style.visibility</p:attrName>
                                        </p:attrNameLst>
                                      </p:cBhvr>
                                      <p:to>
                                        <p:strVal val="visible"/>
                                      </p:to>
                                    </p:set>
                                    <p:animEffect transition="in" filter="wipe(left)">
                                      <p:cBhvr>
                                        <p:cTn id="42" dur="500"/>
                                        <p:tgtEl>
                                          <p:spTgt spid="28"/>
                                        </p:tgtEl>
                                      </p:cBhvr>
                                    </p:animEffect>
                                  </p:childTnLst>
                                </p:cTn>
                              </p:par>
                            </p:childTnLst>
                          </p:cTn>
                        </p:par>
                        <p:par>
                          <p:cTn id="43" fill="hold" nodeType="afterGroup">
                            <p:stCondLst>
                              <p:cond delay="1000"/>
                            </p:stCondLst>
                            <p:childTnLst>
                              <p:par>
                                <p:cTn id="44" presetID="22" presetClass="entr" presetSubtype="8" fill="hold" nodeType="after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wipe(left)">
                                      <p:cBhvr>
                                        <p:cTn id="46" dur="500"/>
                                        <p:tgtEl>
                                          <p:spTgt spid="30"/>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1" fill="hold" nodeType="clickEffect">
                                  <p:stCondLst>
                                    <p:cond delay="0"/>
                                  </p:stCondLst>
                                  <p:childTnLst>
                                    <p:set>
                                      <p:cBhvr>
                                        <p:cTn id="50" dur="1" fill="hold">
                                          <p:stCondLst>
                                            <p:cond delay="0"/>
                                          </p:stCondLst>
                                        </p:cTn>
                                        <p:tgtEl>
                                          <p:spTgt spid="46"/>
                                        </p:tgtEl>
                                        <p:attrNameLst>
                                          <p:attrName>style.visibility</p:attrName>
                                        </p:attrNameLst>
                                      </p:cBhvr>
                                      <p:to>
                                        <p:strVal val="visible"/>
                                      </p:to>
                                    </p:set>
                                    <p:animEffect transition="in" filter="wipe(up)">
                                      <p:cBhvr>
                                        <p:cTn id="51" dur="500"/>
                                        <p:tgtEl>
                                          <p:spTgt spid="46"/>
                                        </p:tgtEl>
                                      </p:cBhvr>
                                    </p:animEffect>
                                  </p:childTnLst>
                                </p:cTn>
                              </p:par>
                            </p:childTnLst>
                          </p:cTn>
                        </p:par>
                        <p:par>
                          <p:cTn id="52" fill="hold" nodeType="afterGroup">
                            <p:stCondLst>
                              <p:cond delay="500"/>
                            </p:stCondLst>
                            <p:childTnLst>
                              <p:par>
                                <p:cTn id="53" presetID="22" presetClass="entr" presetSubtype="8" fill="hold" nodeType="afterEffect">
                                  <p:stCondLst>
                                    <p:cond delay="0"/>
                                  </p:stCondLst>
                                  <p:childTnLst>
                                    <p:set>
                                      <p:cBhvr>
                                        <p:cTn id="54" dur="1" fill="hold">
                                          <p:stCondLst>
                                            <p:cond delay="0"/>
                                          </p:stCondLst>
                                        </p:cTn>
                                        <p:tgtEl>
                                          <p:spTgt spid="47"/>
                                        </p:tgtEl>
                                        <p:attrNameLst>
                                          <p:attrName>style.visibility</p:attrName>
                                        </p:attrNameLst>
                                      </p:cBhvr>
                                      <p:to>
                                        <p:strVal val="visible"/>
                                      </p:to>
                                    </p:set>
                                    <p:animEffect transition="in" filter="wipe(left)">
                                      <p:cBhvr>
                                        <p:cTn id="55" dur="500"/>
                                        <p:tgtEl>
                                          <p:spTgt spid="47"/>
                                        </p:tgtEl>
                                      </p:cBhvr>
                                    </p:animEffect>
                                  </p:childTnLst>
                                </p:cTn>
                              </p:par>
                            </p:childTnLst>
                          </p:cTn>
                        </p:par>
                        <p:par>
                          <p:cTn id="56" fill="hold" nodeType="afterGroup">
                            <p:stCondLst>
                              <p:cond delay="1000"/>
                            </p:stCondLst>
                            <p:childTnLst>
                              <p:par>
                                <p:cTn id="57" presetID="22" presetClass="entr" presetSubtype="4" fill="hold" nodeType="afterEffect">
                                  <p:stCondLst>
                                    <p:cond delay="0"/>
                                  </p:stCondLst>
                                  <p:childTnLst>
                                    <p:set>
                                      <p:cBhvr>
                                        <p:cTn id="58" dur="1" fill="hold">
                                          <p:stCondLst>
                                            <p:cond delay="0"/>
                                          </p:stCondLst>
                                        </p:cTn>
                                        <p:tgtEl>
                                          <p:spTgt spid="48"/>
                                        </p:tgtEl>
                                        <p:attrNameLst>
                                          <p:attrName>style.visibility</p:attrName>
                                        </p:attrNameLst>
                                      </p:cBhvr>
                                      <p:to>
                                        <p:strVal val="visible"/>
                                      </p:to>
                                    </p:set>
                                    <p:animEffect transition="in" filter="wipe(down)">
                                      <p:cBhvr>
                                        <p:cTn id="59" dur="500"/>
                                        <p:tgtEl>
                                          <p:spTgt spid="48"/>
                                        </p:tgtEl>
                                      </p:cBhvr>
                                    </p:animEffect>
                                  </p:childTnLst>
                                </p:cTn>
                              </p:par>
                              <p:par>
                                <p:cTn id="60" presetID="22" presetClass="entr" presetSubtype="4" fill="hold" nodeType="withEffect">
                                  <p:stCondLst>
                                    <p:cond delay="0"/>
                                  </p:stCondLst>
                                  <p:childTnLst>
                                    <p:set>
                                      <p:cBhvr>
                                        <p:cTn id="61" dur="1" fill="hold">
                                          <p:stCondLst>
                                            <p:cond delay="0"/>
                                          </p:stCondLst>
                                        </p:cTn>
                                        <p:tgtEl>
                                          <p:spTgt spid="49"/>
                                        </p:tgtEl>
                                        <p:attrNameLst>
                                          <p:attrName>style.visibility</p:attrName>
                                        </p:attrNameLst>
                                      </p:cBhvr>
                                      <p:to>
                                        <p:strVal val="visible"/>
                                      </p:to>
                                    </p:set>
                                    <p:animEffect transition="in" filter="wipe(down)">
                                      <p:cBhvr>
                                        <p:cTn id="62" dur="500"/>
                                        <p:tgtEl>
                                          <p:spTgt spid="49"/>
                                        </p:tgtEl>
                                      </p:cBhvr>
                                    </p:animEffect>
                                  </p:childTnLst>
                                </p:cTn>
                              </p:par>
                            </p:childTnLst>
                          </p:cTn>
                        </p:par>
                        <p:par>
                          <p:cTn id="63" fill="hold" nodeType="afterGroup">
                            <p:stCondLst>
                              <p:cond delay="1500"/>
                            </p:stCondLst>
                            <p:childTnLst>
                              <p:par>
                                <p:cTn id="64" presetID="22" presetClass="entr" presetSubtype="1" fill="hold" nodeType="afterEffect">
                                  <p:stCondLst>
                                    <p:cond delay="0"/>
                                  </p:stCondLst>
                                  <p:childTnLst>
                                    <p:set>
                                      <p:cBhvr>
                                        <p:cTn id="65" dur="1" fill="hold">
                                          <p:stCondLst>
                                            <p:cond delay="0"/>
                                          </p:stCondLst>
                                        </p:cTn>
                                        <p:tgtEl>
                                          <p:spTgt spid="51"/>
                                        </p:tgtEl>
                                        <p:attrNameLst>
                                          <p:attrName>style.visibility</p:attrName>
                                        </p:attrNameLst>
                                      </p:cBhvr>
                                      <p:to>
                                        <p:strVal val="visible"/>
                                      </p:to>
                                    </p:set>
                                    <p:animEffect transition="in" filter="wipe(up)">
                                      <p:cBhvr>
                                        <p:cTn id="66" dur="500"/>
                                        <p:tgtEl>
                                          <p:spTgt spid="51"/>
                                        </p:tgtEl>
                                      </p:cBhvr>
                                    </p:animEffect>
                                  </p:childTnLst>
                                </p:cTn>
                              </p:par>
                            </p:childTnLst>
                          </p:cTn>
                        </p:par>
                        <p:par>
                          <p:cTn id="67" fill="hold" nodeType="afterGroup">
                            <p:stCondLst>
                              <p:cond delay="2000"/>
                            </p:stCondLst>
                            <p:childTnLst>
                              <p:par>
                                <p:cTn id="68" presetID="22" presetClass="entr" presetSubtype="8" fill="hold" nodeType="afterEffect">
                                  <p:stCondLst>
                                    <p:cond delay="0"/>
                                  </p:stCondLst>
                                  <p:childTnLst>
                                    <p:set>
                                      <p:cBhvr>
                                        <p:cTn id="69" dur="1" fill="hold">
                                          <p:stCondLst>
                                            <p:cond delay="0"/>
                                          </p:stCondLst>
                                        </p:cTn>
                                        <p:tgtEl>
                                          <p:spTgt spid="52"/>
                                        </p:tgtEl>
                                        <p:attrNameLst>
                                          <p:attrName>style.visibility</p:attrName>
                                        </p:attrNameLst>
                                      </p:cBhvr>
                                      <p:to>
                                        <p:strVal val="visible"/>
                                      </p:to>
                                    </p:set>
                                    <p:animEffect transition="in" filter="wipe(left)">
                                      <p:cBhvr>
                                        <p:cTn id="70" dur="500"/>
                                        <p:tgtEl>
                                          <p:spTgt spid="52"/>
                                        </p:tgtEl>
                                      </p:cBhvr>
                                    </p:animEffect>
                                  </p:childTnLst>
                                </p:cTn>
                              </p:par>
                            </p:childTnLst>
                          </p:cTn>
                        </p:par>
                        <p:par>
                          <p:cTn id="71" fill="hold" nodeType="afterGroup">
                            <p:stCondLst>
                              <p:cond delay="2500"/>
                            </p:stCondLst>
                            <p:childTnLst>
                              <p:par>
                                <p:cTn id="72" presetID="22" presetClass="entr" presetSubtype="4" fill="hold" nodeType="afterEffect">
                                  <p:stCondLst>
                                    <p:cond delay="0"/>
                                  </p:stCondLst>
                                  <p:childTnLst>
                                    <p:set>
                                      <p:cBhvr>
                                        <p:cTn id="73" dur="1" fill="hold">
                                          <p:stCondLst>
                                            <p:cond delay="0"/>
                                          </p:stCondLst>
                                        </p:cTn>
                                        <p:tgtEl>
                                          <p:spTgt spid="53"/>
                                        </p:tgtEl>
                                        <p:attrNameLst>
                                          <p:attrName>style.visibility</p:attrName>
                                        </p:attrNameLst>
                                      </p:cBhvr>
                                      <p:to>
                                        <p:strVal val="visible"/>
                                      </p:to>
                                    </p:set>
                                    <p:animEffect transition="in" filter="wipe(down)">
                                      <p:cBhvr>
                                        <p:cTn id="74" dur="500"/>
                                        <p:tgtEl>
                                          <p:spTgt spid="53"/>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22" presetClass="entr" presetSubtype="1" fill="hold" grpId="0" nodeType="clickEffect">
                                  <p:stCondLst>
                                    <p:cond delay="0"/>
                                  </p:stCondLst>
                                  <p:childTnLst>
                                    <p:set>
                                      <p:cBhvr>
                                        <p:cTn id="78" dur="1" fill="hold">
                                          <p:stCondLst>
                                            <p:cond delay="0"/>
                                          </p:stCondLst>
                                        </p:cTn>
                                        <p:tgtEl>
                                          <p:spTgt spid="34"/>
                                        </p:tgtEl>
                                        <p:attrNameLst>
                                          <p:attrName>style.visibility</p:attrName>
                                        </p:attrNameLst>
                                      </p:cBhvr>
                                      <p:to>
                                        <p:strVal val="visible"/>
                                      </p:to>
                                    </p:set>
                                    <p:animEffect transition="in" filter="wipe(up)">
                                      <p:cBhvr>
                                        <p:cTn id="79" dur="500"/>
                                        <p:tgtEl>
                                          <p:spTgt spid="34"/>
                                        </p:tgtEl>
                                      </p:cBhvr>
                                    </p:animEffect>
                                  </p:childTnLst>
                                </p:cTn>
                              </p:par>
                            </p:childTnLst>
                          </p:cTn>
                        </p:par>
                        <p:par>
                          <p:cTn id="80" fill="hold" nodeType="afterGroup">
                            <p:stCondLst>
                              <p:cond delay="500"/>
                            </p:stCondLst>
                            <p:childTnLst>
                              <p:par>
                                <p:cTn id="81" presetID="22" presetClass="entr" presetSubtype="8" fill="hold" nodeType="afterEffect">
                                  <p:stCondLst>
                                    <p:cond delay="0"/>
                                  </p:stCondLst>
                                  <p:childTnLst>
                                    <p:set>
                                      <p:cBhvr>
                                        <p:cTn id="82" dur="1" fill="hold">
                                          <p:stCondLst>
                                            <p:cond delay="0"/>
                                          </p:stCondLst>
                                        </p:cTn>
                                        <p:tgtEl>
                                          <p:spTgt spid="29"/>
                                        </p:tgtEl>
                                        <p:attrNameLst>
                                          <p:attrName>style.visibility</p:attrName>
                                        </p:attrNameLst>
                                      </p:cBhvr>
                                      <p:to>
                                        <p:strVal val="visible"/>
                                      </p:to>
                                    </p:set>
                                    <p:animEffect transition="in" filter="wipe(left)">
                                      <p:cBhvr>
                                        <p:cTn id="83" dur="500"/>
                                        <p:tgtEl>
                                          <p:spTgt spid="29"/>
                                        </p:tgtEl>
                                      </p:cBhvr>
                                    </p:animEffect>
                                  </p:childTnLst>
                                </p:cTn>
                              </p:par>
                            </p:childTnLst>
                          </p:cTn>
                        </p:par>
                        <p:par>
                          <p:cTn id="84" fill="hold" nodeType="afterGroup">
                            <p:stCondLst>
                              <p:cond delay="1000"/>
                            </p:stCondLst>
                            <p:childTnLst>
                              <p:par>
                                <p:cTn id="85" presetID="22" presetClass="entr" presetSubtype="8" fill="hold" nodeType="afterEffect">
                                  <p:stCondLst>
                                    <p:cond delay="0"/>
                                  </p:stCondLst>
                                  <p:childTnLst>
                                    <p:set>
                                      <p:cBhvr>
                                        <p:cTn id="86" dur="1" fill="hold">
                                          <p:stCondLst>
                                            <p:cond delay="0"/>
                                          </p:stCondLst>
                                        </p:cTn>
                                        <p:tgtEl>
                                          <p:spTgt spid="31"/>
                                        </p:tgtEl>
                                        <p:attrNameLst>
                                          <p:attrName>style.visibility</p:attrName>
                                        </p:attrNameLst>
                                      </p:cBhvr>
                                      <p:to>
                                        <p:strVal val="visible"/>
                                      </p:to>
                                    </p:set>
                                    <p:animEffect transition="in" filter="wipe(left)">
                                      <p:cBhvr>
                                        <p:cTn id="87" dur="500"/>
                                        <p:tgtEl>
                                          <p:spTgt spid="31"/>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22" presetClass="entr" presetSubtype="1" fill="hold" nodeType="clickEffect">
                                  <p:stCondLst>
                                    <p:cond delay="0"/>
                                  </p:stCondLst>
                                  <p:childTnLst>
                                    <p:set>
                                      <p:cBhvr>
                                        <p:cTn id="91" dur="1" fill="hold">
                                          <p:stCondLst>
                                            <p:cond delay="0"/>
                                          </p:stCondLst>
                                        </p:cTn>
                                        <p:tgtEl>
                                          <p:spTgt spid="54"/>
                                        </p:tgtEl>
                                        <p:attrNameLst>
                                          <p:attrName>style.visibility</p:attrName>
                                        </p:attrNameLst>
                                      </p:cBhvr>
                                      <p:to>
                                        <p:strVal val="visible"/>
                                      </p:to>
                                    </p:set>
                                    <p:animEffect transition="in" filter="wipe(up)">
                                      <p:cBhvr>
                                        <p:cTn id="92" dur="500"/>
                                        <p:tgtEl>
                                          <p:spTgt spid="54"/>
                                        </p:tgtEl>
                                      </p:cBhvr>
                                    </p:animEffect>
                                  </p:childTnLst>
                                </p:cTn>
                              </p:par>
                              <p:par>
                                <p:cTn id="93" presetID="22" presetClass="entr" presetSubtype="1" fill="hold" nodeType="withEffect">
                                  <p:stCondLst>
                                    <p:cond delay="0"/>
                                  </p:stCondLst>
                                  <p:childTnLst>
                                    <p:set>
                                      <p:cBhvr>
                                        <p:cTn id="94" dur="1" fill="hold">
                                          <p:stCondLst>
                                            <p:cond delay="0"/>
                                          </p:stCondLst>
                                        </p:cTn>
                                        <p:tgtEl>
                                          <p:spTgt spid="55"/>
                                        </p:tgtEl>
                                        <p:attrNameLst>
                                          <p:attrName>style.visibility</p:attrName>
                                        </p:attrNameLst>
                                      </p:cBhvr>
                                      <p:to>
                                        <p:strVal val="visible"/>
                                      </p:to>
                                    </p:set>
                                    <p:animEffect transition="in" filter="wipe(up)">
                                      <p:cBhvr>
                                        <p:cTn id="95" dur="500"/>
                                        <p:tgtEl>
                                          <p:spTgt spid="55"/>
                                        </p:tgtEl>
                                      </p:cBhvr>
                                    </p:animEffect>
                                  </p:childTnLst>
                                </p:cTn>
                              </p:par>
                            </p:childTnLst>
                          </p:cTn>
                        </p:par>
                        <p:par>
                          <p:cTn id="96" fill="hold" nodeType="afterGroup">
                            <p:stCondLst>
                              <p:cond delay="500"/>
                            </p:stCondLst>
                            <p:childTnLst>
                              <p:par>
                                <p:cTn id="97" presetID="22" presetClass="entr" presetSubtype="8" fill="hold" nodeType="afterEffect">
                                  <p:stCondLst>
                                    <p:cond delay="0"/>
                                  </p:stCondLst>
                                  <p:childTnLst>
                                    <p:set>
                                      <p:cBhvr>
                                        <p:cTn id="98" dur="1" fill="hold">
                                          <p:stCondLst>
                                            <p:cond delay="0"/>
                                          </p:stCondLst>
                                        </p:cTn>
                                        <p:tgtEl>
                                          <p:spTgt spid="56"/>
                                        </p:tgtEl>
                                        <p:attrNameLst>
                                          <p:attrName>style.visibility</p:attrName>
                                        </p:attrNameLst>
                                      </p:cBhvr>
                                      <p:to>
                                        <p:strVal val="visible"/>
                                      </p:to>
                                    </p:set>
                                    <p:animEffect transition="in" filter="wipe(left)">
                                      <p:cBhvr>
                                        <p:cTn id="99" dur="500"/>
                                        <p:tgtEl>
                                          <p:spTgt spid="56"/>
                                        </p:tgtEl>
                                      </p:cBhvr>
                                    </p:animEffect>
                                  </p:childTnLst>
                                </p:cTn>
                              </p:par>
                            </p:childTnLst>
                          </p:cTn>
                        </p:par>
                        <p:par>
                          <p:cTn id="100" fill="hold" nodeType="afterGroup">
                            <p:stCondLst>
                              <p:cond delay="1000"/>
                            </p:stCondLst>
                            <p:childTnLst>
                              <p:par>
                                <p:cTn id="101" presetID="22" presetClass="entr" presetSubtype="4" fill="hold" nodeType="afterEffect">
                                  <p:stCondLst>
                                    <p:cond delay="0"/>
                                  </p:stCondLst>
                                  <p:childTnLst>
                                    <p:set>
                                      <p:cBhvr>
                                        <p:cTn id="102" dur="1" fill="hold">
                                          <p:stCondLst>
                                            <p:cond delay="0"/>
                                          </p:stCondLst>
                                        </p:cTn>
                                        <p:tgtEl>
                                          <p:spTgt spid="57"/>
                                        </p:tgtEl>
                                        <p:attrNameLst>
                                          <p:attrName>style.visibility</p:attrName>
                                        </p:attrNameLst>
                                      </p:cBhvr>
                                      <p:to>
                                        <p:strVal val="visible"/>
                                      </p:to>
                                    </p:set>
                                    <p:animEffect transition="in" filter="wipe(down)">
                                      <p:cBhvr>
                                        <p:cTn id="103" dur="500"/>
                                        <p:tgtEl>
                                          <p:spTgt spid="57"/>
                                        </p:tgtEl>
                                      </p:cBhvr>
                                    </p:animEffect>
                                  </p:childTnLst>
                                </p:cTn>
                              </p:par>
                            </p:childTnLst>
                          </p:cTn>
                        </p:par>
                      </p:childTnLst>
                    </p:cTn>
                  </p:par>
                  <p:par>
                    <p:cTn id="104" fill="hold" nodeType="clickPar">
                      <p:stCondLst>
                        <p:cond delay="indefinite"/>
                      </p:stCondLst>
                      <p:childTnLst>
                        <p:par>
                          <p:cTn id="105" fill="hold" nodeType="withGroup">
                            <p:stCondLst>
                              <p:cond delay="0"/>
                            </p:stCondLst>
                            <p:childTnLst>
                              <p:par>
                                <p:cTn id="106" presetID="22" presetClass="entr" presetSubtype="1" fill="hold" grpId="0" nodeType="clickEffect">
                                  <p:stCondLst>
                                    <p:cond delay="0"/>
                                  </p:stCondLst>
                                  <p:childTnLst>
                                    <p:set>
                                      <p:cBhvr>
                                        <p:cTn id="107" dur="1" fill="hold">
                                          <p:stCondLst>
                                            <p:cond delay="0"/>
                                          </p:stCondLst>
                                        </p:cTn>
                                        <p:tgtEl>
                                          <p:spTgt spid="58"/>
                                        </p:tgtEl>
                                        <p:attrNameLst>
                                          <p:attrName>style.visibility</p:attrName>
                                        </p:attrNameLst>
                                      </p:cBhvr>
                                      <p:to>
                                        <p:strVal val="visible"/>
                                      </p:to>
                                    </p:set>
                                    <p:animEffect transition="in" filter="wipe(up)">
                                      <p:cBhvr>
                                        <p:cTn id="108"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32" grpId="0"/>
      <p:bldP spid="33" grpId="0"/>
      <p:bldP spid="34" grpId="0"/>
      <p:bldP spid="58" grpId="0" animBg="1"/>
    </p:bld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338" name="Group 22">
            <a:extLst>
              <a:ext uri="{FF2B5EF4-FFF2-40B4-BE49-F238E27FC236}">
                <a16:creationId xmlns:a16="http://schemas.microsoft.com/office/drawing/2014/main" id="{B9D5E1E3-2E3F-F692-965E-A9C43721D025}"/>
              </a:ext>
            </a:extLst>
          </p:cNvPr>
          <p:cNvGrpSpPr>
            <a:grpSpLocks/>
          </p:cNvGrpSpPr>
          <p:nvPr/>
        </p:nvGrpSpPr>
        <p:grpSpPr bwMode="auto">
          <a:xfrm>
            <a:off x="2540000" y="5070475"/>
            <a:ext cx="5842000" cy="1635125"/>
            <a:chOff x="2780663" y="4277770"/>
            <a:chExt cx="6045764" cy="1635884"/>
          </a:xfrm>
        </p:grpSpPr>
        <p:sp>
          <p:nvSpPr>
            <p:cNvPr id="14365" name="Rectangle 23">
              <a:extLst>
                <a:ext uri="{FF2B5EF4-FFF2-40B4-BE49-F238E27FC236}">
                  <a16:creationId xmlns:a16="http://schemas.microsoft.com/office/drawing/2014/main" id="{AA14B759-5B46-4379-069D-C84CE4C286A7}"/>
                </a:ext>
              </a:extLst>
            </p:cNvPr>
            <p:cNvSpPr>
              <a:spLocks noChangeArrowheads="1"/>
            </p:cNvSpPr>
            <p:nvPr/>
          </p:nvSpPr>
          <p:spPr bwMode="auto">
            <a:xfrm>
              <a:off x="6587256" y="4287295"/>
              <a:ext cx="2239171" cy="1626359"/>
            </a:xfrm>
            <a:prstGeom prst="rect">
              <a:avLst/>
            </a:prstGeom>
            <a:solidFill>
              <a:srgbClr val="FFFF00">
                <a:alpha val="30196"/>
              </a:srgbClr>
            </a:solidFill>
            <a:ln w="9525" algn="ctr">
              <a:solidFill>
                <a:srgbClr val="FFC000"/>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The higher the normal form, the “better” are the relations (i.e. 3NF &gt; 2NF &gt; 1NF &gt; UNF)</a:t>
              </a:r>
            </a:p>
          </p:txBody>
        </p:sp>
        <p:grpSp>
          <p:nvGrpSpPr>
            <p:cNvPr id="14366" name="Group 24">
              <a:extLst>
                <a:ext uri="{FF2B5EF4-FFF2-40B4-BE49-F238E27FC236}">
                  <a16:creationId xmlns:a16="http://schemas.microsoft.com/office/drawing/2014/main" id="{90230573-599C-D6FB-8EC7-43D2AF2CB2F5}"/>
                </a:ext>
              </a:extLst>
            </p:cNvPr>
            <p:cNvGrpSpPr>
              <a:grpSpLocks/>
            </p:cNvGrpSpPr>
            <p:nvPr/>
          </p:nvGrpSpPr>
          <p:grpSpPr bwMode="auto">
            <a:xfrm>
              <a:off x="2780663" y="4277770"/>
              <a:ext cx="2910923" cy="1626359"/>
              <a:chOff x="5048158" y="2942954"/>
              <a:chExt cx="2081807" cy="960834"/>
            </a:xfrm>
          </p:grpSpPr>
          <p:sp>
            <p:nvSpPr>
              <p:cNvPr id="26" name="Freeform 25">
                <a:hlinkClick r:id="rId2" action="ppaction://hlinksldjump"/>
                <a:extLst>
                  <a:ext uri="{FF2B5EF4-FFF2-40B4-BE49-F238E27FC236}">
                    <a16:creationId xmlns:a16="http://schemas.microsoft.com/office/drawing/2014/main" id="{DD196CD2-CC1F-832B-BCA1-67D78E5B83F3}"/>
                  </a:ext>
                </a:extLst>
              </p:cNvPr>
              <p:cNvSpPr/>
              <p:nvPr/>
            </p:nvSpPr>
            <p:spPr>
              <a:xfrm>
                <a:off x="5048158" y="3224448"/>
                <a:ext cx="339556" cy="397844"/>
              </a:xfrm>
              <a:custGeom>
                <a:avLst/>
                <a:gdLst>
                  <a:gd name="connsiteX0" fmla="*/ 0 w 339494"/>
                  <a:gd name="connsiteY0" fmla="*/ 79429 h 397144"/>
                  <a:gd name="connsiteX1" fmla="*/ 169747 w 339494"/>
                  <a:gd name="connsiteY1" fmla="*/ 79429 h 397144"/>
                  <a:gd name="connsiteX2" fmla="*/ 169747 w 339494"/>
                  <a:gd name="connsiteY2" fmla="*/ 0 h 397144"/>
                  <a:gd name="connsiteX3" fmla="*/ 339494 w 339494"/>
                  <a:gd name="connsiteY3" fmla="*/ 198572 h 397144"/>
                  <a:gd name="connsiteX4" fmla="*/ 169747 w 339494"/>
                  <a:gd name="connsiteY4" fmla="*/ 397144 h 397144"/>
                  <a:gd name="connsiteX5" fmla="*/ 169747 w 339494"/>
                  <a:gd name="connsiteY5" fmla="*/ 317715 h 397144"/>
                  <a:gd name="connsiteX6" fmla="*/ 0 w 339494"/>
                  <a:gd name="connsiteY6" fmla="*/ 317715 h 397144"/>
                  <a:gd name="connsiteX7" fmla="*/ 0 w 339494"/>
                  <a:gd name="connsiteY7" fmla="*/ 79429 h 397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9494" h="397144">
                    <a:moveTo>
                      <a:pt x="0" y="79429"/>
                    </a:moveTo>
                    <a:lnTo>
                      <a:pt x="169747" y="79429"/>
                    </a:lnTo>
                    <a:lnTo>
                      <a:pt x="169747" y="0"/>
                    </a:lnTo>
                    <a:lnTo>
                      <a:pt x="339494" y="198572"/>
                    </a:lnTo>
                    <a:lnTo>
                      <a:pt x="169747" y="397144"/>
                    </a:lnTo>
                    <a:lnTo>
                      <a:pt x="169747" y="317715"/>
                    </a:lnTo>
                    <a:lnTo>
                      <a:pt x="0" y="317715"/>
                    </a:lnTo>
                    <a:lnTo>
                      <a:pt x="0" y="79429"/>
                    </a:lnTo>
                    <a:close/>
                  </a:path>
                </a:pathLst>
              </a:custGeom>
              <a:solidFill>
                <a:schemeClr val="accent5">
                  <a:alpha val="30000"/>
                </a:schemeClr>
              </a:solidFill>
              <a:ln>
                <a:solidFill>
                  <a:schemeClr val="accent5"/>
                </a:solidFill>
              </a:ln>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lIns="0" tIns="79429" rIns="101848" bIns="79429" spcCol="1270" anchor="ctr"/>
              <a:lstStyle/>
              <a:p>
                <a:pPr marL="0" marR="0" lvl="0" indent="0" algn="ctr" defTabSz="800100" rtl="0" eaLnBrk="0" fontAlgn="base" latinLnBrk="0" hangingPunct="0">
                  <a:lnSpc>
                    <a:spcPct val="90000"/>
                  </a:lnSpc>
                  <a:spcBef>
                    <a:spcPct val="0"/>
                  </a:spcBef>
                  <a:spcAft>
                    <a:spcPct val="35000"/>
                  </a:spcAft>
                  <a:buClrTx/>
                  <a:buSzTx/>
                  <a:buFontTx/>
                  <a:buNone/>
                  <a:tabLst/>
                  <a:defRPr/>
                </a:pPr>
                <a:endParaRPr kumimoji="0" lang="en-CA" sz="1800" b="0" i="0" u="none" strike="noStrike" kern="1200" cap="none" spc="0" normalizeH="0" baseline="0" noProof="0">
                  <a:ln>
                    <a:noFill/>
                  </a:ln>
                  <a:solidFill>
                    <a:srgbClr val="FFFFFF"/>
                  </a:solidFill>
                  <a:effectLst/>
                  <a:uLnTx/>
                  <a:uFillTx/>
                  <a:latin typeface="Calibri"/>
                  <a:ea typeface="+mn-ea"/>
                  <a:cs typeface="+mn-cs"/>
                </a:endParaRPr>
              </a:p>
            </p:txBody>
          </p:sp>
          <p:sp>
            <p:nvSpPr>
              <p:cNvPr id="27" name="Freeform 26">
                <a:hlinkClick r:id="rId3" action="ppaction://hlinksldjump"/>
                <a:extLst>
                  <a:ext uri="{FF2B5EF4-FFF2-40B4-BE49-F238E27FC236}">
                    <a16:creationId xmlns:a16="http://schemas.microsoft.com/office/drawing/2014/main" id="{E5DFE33F-A9A0-05DE-5332-F50511069306}"/>
                  </a:ext>
                </a:extLst>
              </p:cNvPr>
              <p:cNvSpPr/>
              <p:nvPr/>
            </p:nvSpPr>
            <p:spPr>
              <a:xfrm>
                <a:off x="5528706" y="2942954"/>
                <a:ext cx="1601434" cy="960832"/>
              </a:xfrm>
              <a:custGeom>
                <a:avLst/>
                <a:gdLst>
                  <a:gd name="connsiteX0" fmla="*/ 0 w 1601390"/>
                  <a:gd name="connsiteY0" fmla="*/ 96083 h 960834"/>
                  <a:gd name="connsiteX1" fmla="*/ 96083 w 1601390"/>
                  <a:gd name="connsiteY1" fmla="*/ 0 h 960834"/>
                  <a:gd name="connsiteX2" fmla="*/ 1505307 w 1601390"/>
                  <a:gd name="connsiteY2" fmla="*/ 0 h 960834"/>
                  <a:gd name="connsiteX3" fmla="*/ 1601390 w 1601390"/>
                  <a:gd name="connsiteY3" fmla="*/ 96083 h 960834"/>
                  <a:gd name="connsiteX4" fmla="*/ 1601390 w 1601390"/>
                  <a:gd name="connsiteY4" fmla="*/ 864751 h 960834"/>
                  <a:gd name="connsiteX5" fmla="*/ 1505307 w 1601390"/>
                  <a:gd name="connsiteY5" fmla="*/ 960834 h 960834"/>
                  <a:gd name="connsiteX6" fmla="*/ 96083 w 1601390"/>
                  <a:gd name="connsiteY6" fmla="*/ 960834 h 960834"/>
                  <a:gd name="connsiteX7" fmla="*/ 0 w 1601390"/>
                  <a:gd name="connsiteY7" fmla="*/ 864751 h 960834"/>
                  <a:gd name="connsiteX8" fmla="*/ 0 w 1601390"/>
                  <a:gd name="connsiteY8" fmla="*/ 96083 h 960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01390" h="960834">
                    <a:moveTo>
                      <a:pt x="0" y="96083"/>
                    </a:moveTo>
                    <a:cubicBezTo>
                      <a:pt x="0" y="43018"/>
                      <a:pt x="43018" y="0"/>
                      <a:pt x="96083" y="0"/>
                    </a:cubicBezTo>
                    <a:lnTo>
                      <a:pt x="1505307" y="0"/>
                    </a:lnTo>
                    <a:cubicBezTo>
                      <a:pt x="1558372" y="0"/>
                      <a:pt x="1601390" y="43018"/>
                      <a:pt x="1601390" y="96083"/>
                    </a:cubicBezTo>
                    <a:lnTo>
                      <a:pt x="1601390" y="864751"/>
                    </a:lnTo>
                    <a:cubicBezTo>
                      <a:pt x="1601390" y="917816"/>
                      <a:pt x="1558372" y="960834"/>
                      <a:pt x="1505307" y="960834"/>
                    </a:cubicBezTo>
                    <a:lnTo>
                      <a:pt x="96083" y="960834"/>
                    </a:lnTo>
                    <a:cubicBezTo>
                      <a:pt x="43018" y="960834"/>
                      <a:pt x="0" y="917816"/>
                      <a:pt x="0" y="864751"/>
                    </a:cubicBezTo>
                    <a:lnTo>
                      <a:pt x="0" y="96083"/>
                    </a:lnTo>
                    <a:close/>
                  </a:path>
                </a:pathLst>
              </a:custGeom>
              <a:solidFill>
                <a:schemeClr val="accent3">
                  <a:alpha val="30000"/>
                </a:schemeClr>
              </a:solidFill>
              <a:ln>
                <a:solidFill>
                  <a:schemeClr val="accent3"/>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180542" tIns="180542" rIns="180542" bIns="180542" spcCol="1270" anchor="ctr"/>
              <a:lstStyle/>
              <a:p>
                <a:pPr marL="0" marR="0" lvl="0" indent="0" algn="ctr" defTabSz="1778000" rtl="0" eaLnBrk="0" fontAlgn="base" latinLnBrk="0" hangingPunct="0">
                  <a:lnSpc>
                    <a:spcPct val="90000"/>
                  </a:lnSpc>
                  <a:spcBef>
                    <a:spcPct val="0"/>
                  </a:spcBef>
                  <a:spcAft>
                    <a:spcPct val="35000"/>
                  </a:spcAft>
                  <a:buClrTx/>
                  <a:buSzTx/>
                  <a:buFontTx/>
                  <a:buNone/>
                  <a:tabLst/>
                  <a:defRPr/>
                </a:pPr>
                <a:r>
                  <a:rPr kumimoji="0" lang="en-CA" sz="2000" b="0" i="0" u="none" strike="noStrike" kern="1200" cap="none" spc="0" normalizeH="0" baseline="0" noProof="0" dirty="0">
                    <a:ln>
                      <a:noFill/>
                    </a:ln>
                    <a:solidFill>
                      <a:srgbClr val="2F2B20"/>
                    </a:solidFill>
                    <a:effectLst/>
                    <a:uLnTx/>
                    <a:uFillTx/>
                    <a:latin typeface="Calibri"/>
                    <a:ea typeface="+mn-ea"/>
                    <a:cs typeface="+mn-cs"/>
                  </a:rPr>
                  <a:t>Third Normal Form (3NF)</a:t>
                </a:r>
              </a:p>
            </p:txBody>
          </p:sp>
        </p:grpSp>
      </p:grpSp>
      <p:sp>
        <p:nvSpPr>
          <p:cNvPr id="14339" name="Content Placeholder 2">
            <a:extLst>
              <a:ext uri="{FF2B5EF4-FFF2-40B4-BE49-F238E27FC236}">
                <a16:creationId xmlns:a16="http://schemas.microsoft.com/office/drawing/2014/main" id="{8F707FF0-5260-5E51-7DA0-FB3954D18684}"/>
              </a:ext>
            </a:extLst>
          </p:cNvPr>
          <p:cNvSpPr txBox="1">
            <a:spLocks/>
          </p:cNvSpPr>
          <p:nvPr/>
        </p:nvSpPr>
        <p:spPr bwMode="auto">
          <a:xfrm>
            <a:off x="250825" y="1512888"/>
            <a:ext cx="7978775"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Normalization consists of working through a series of stages known as normal forms</a:t>
            </a:r>
            <a:endParaRPr kumimoji="0" lang="en-US" altLang="en-US" sz="32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US" altLang="en-US" sz="32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rPr>
              <a:t> </a:t>
            </a: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grpSp>
        <p:nvGrpSpPr>
          <p:cNvPr id="14340" name="Group 4">
            <a:extLst>
              <a:ext uri="{FF2B5EF4-FFF2-40B4-BE49-F238E27FC236}">
                <a16:creationId xmlns:a16="http://schemas.microsoft.com/office/drawing/2014/main" id="{BD73BA2A-00B3-8DE7-9B17-D3A9C3AF5618}"/>
              </a:ext>
            </a:extLst>
          </p:cNvPr>
          <p:cNvGrpSpPr>
            <a:grpSpLocks/>
          </p:cNvGrpSpPr>
          <p:nvPr/>
        </p:nvGrpSpPr>
        <p:grpSpPr bwMode="auto">
          <a:xfrm>
            <a:off x="76200" y="3236913"/>
            <a:ext cx="8305800" cy="1625600"/>
            <a:chOff x="1529357" y="2948582"/>
            <a:chExt cx="6085284" cy="960834"/>
          </a:xfrm>
        </p:grpSpPr>
        <p:sp>
          <p:nvSpPr>
            <p:cNvPr id="6" name="Freeform 5">
              <a:extLst>
                <a:ext uri="{FF2B5EF4-FFF2-40B4-BE49-F238E27FC236}">
                  <a16:creationId xmlns:a16="http://schemas.microsoft.com/office/drawing/2014/main" id="{72858BBC-4580-A359-7175-E16B5FCD5AAD}"/>
                </a:ext>
              </a:extLst>
            </p:cNvPr>
            <p:cNvSpPr/>
            <p:nvPr/>
          </p:nvSpPr>
          <p:spPr>
            <a:xfrm>
              <a:off x="1529357" y="2948582"/>
              <a:ext cx="1601575" cy="960834"/>
            </a:xfrm>
            <a:custGeom>
              <a:avLst/>
              <a:gdLst>
                <a:gd name="connsiteX0" fmla="*/ 0 w 1601390"/>
                <a:gd name="connsiteY0" fmla="*/ 96083 h 960834"/>
                <a:gd name="connsiteX1" fmla="*/ 96083 w 1601390"/>
                <a:gd name="connsiteY1" fmla="*/ 0 h 960834"/>
                <a:gd name="connsiteX2" fmla="*/ 1505307 w 1601390"/>
                <a:gd name="connsiteY2" fmla="*/ 0 h 960834"/>
                <a:gd name="connsiteX3" fmla="*/ 1601390 w 1601390"/>
                <a:gd name="connsiteY3" fmla="*/ 96083 h 960834"/>
                <a:gd name="connsiteX4" fmla="*/ 1601390 w 1601390"/>
                <a:gd name="connsiteY4" fmla="*/ 864751 h 960834"/>
                <a:gd name="connsiteX5" fmla="*/ 1505307 w 1601390"/>
                <a:gd name="connsiteY5" fmla="*/ 960834 h 960834"/>
                <a:gd name="connsiteX6" fmla="*/ 96083 w 1601390"/>
                <a:gd name="connsiteY6" fmla="*/ 960834 h 960834"/>
                <a:gd name="connsiteX7" fmla="*/ 0 w 1601390"/>
                <a:gd name="connsiteY7" fmla="*/ 864751 h 960834"/>
                <a:gd name="connsiteX8" fmla="*/ 0 w 1601390"/>
                <a:gd name="connsiteY8" fmla="*/ 96083 h 960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01390" h="960834">
                  <a:moveTo>
                    <a:pt x="0" y="96083"/>
                  </a:moveTo>
                  <a:cubicBezTo>
                    <a:pt x="0" y="43018"/>
                    <a:pt x="43018" y="0"/>
                    <a:pt x="96083" y="0"/>
                  </a:cubicBezTo>
                  <a:lnTo>
                    <a:pt x="1505307" y="0"/>
                  </a:lnTo>
                  <a:cubicBezTo>
                    <a:pt x="1558372" y="0"/>
                    <a:pt x="1601390" y="43018"/>
                    <a:pt x="1601390" y="96083"/>
                  </a:cubicBezTo>
                  <a:lnTo>
                    <a:pt x="1601390" y="864751"/>
                  </a:lnTo>
                  <a:cubicBezTo>
                    <a:pt x="1601390" y="917816"/>
                    <a:pt x="1558372" y="960834"/>
                    <a:pt x="1505307" y="960834"/>
                  </a:cubicBezTo>
                  <a:lnTo>
                    <a:pt x="96083" y="960834"/>
                  </a:lnTo>
                  <a:cubicBezTo>
                    <a:pt x="43018" y="960834"/>
                    <a:pt x="0" y="917816"/>
                    <a:pt x="0" y="864751"/>
                  </a:cubicBezTo>
                  <a:lnTo>
                    <a:pt x="0" y="96083"/>
                  </a:lnTo>
                  <a:close/>
                </a:path>
              </a:pathLst>
            </a:custGeom>
            <a:no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180542" tIns="180542" rIns="180542" bIns="180542" spcCol="1270" anchor="ctr"/>
            <a:lstStyle/>
            <a:p>
              <a:pPr marL="0" marR="0" lvl="0" indent="0" algn="ctr" defTabSz="1778000" rtl="0" eaLnBrk="0" fontAlgn="base" latinLnBrk="0" hangingPunct="0">
                <a:lnSpc>
                  <a:spcPct val="90000"/>
                </a:lnSpc>
                <a:spcBef>
                  <a:spcPct val="0"/>
                </a:spcBef>
                <a:spcAft>
                  <a:spcPct val="35000"/>
                </a:spcAft>
                <a:buClrTx/>
                <a:buSzTx/>
                <a:buFontTx/>
                <a:buNone/>
                <a:tabLst/>
                <a:defRPr/>
              </a:pPr>
              <a:r>
                <a:rPr kumimoji="0" lang="en-CA" sz="2000" b="0" i="0" u="none" strike="noStrike" kern="1200" cap="none" spc="0" normalizeH="0" baseline="0" noProof="0" dirty="0" err="1">
                  <a:ln>
                    <a:noFill/>
                  </a:ln>
                  <a:solidFill>
                    <a:srgbClr val="2F2B20"/>
                  </a:solidFill>
                  <a:effectLst/>
                  <a:uLnTx/>
                  <a:uFillTx/>
                  <a:latin typeface="Calibri"/>
                  <a:ea typeface="+mn-ea"/>
                  <a:cs typeface="+mn-cs"/>
                </a:rPr>
                <a:t>Unnormalized</a:t>
              </a:r>
              <a:r>
                <a:rPr kumimoji="0" lang="en-CA" sz="2000" b="0" i="0" u="none" strike="noStrike" kern="1200" cap="none" spc="0" normalizeH="0" baseline="0" noProof="0" dirty="0">
                  <a:ln>
                    <a:noFill/>
                  </a:ln>
                  <a:solidFill>
                    <a:srgbClr val="2F2B20"/>
                  </a:solidFill>
                  <a:effectLst/>
                  <a:uLnTx/>
                  <a:uFillTx/>
                  <a:latin typeface="Calibri"/>
                  <a:ea typeface="+mn-ea"/>
                  <a:cs typeface="+mn-cs"/>
                </a:rPr>
                <a:t> Form (UNF)</a:t>
              </a:r>
            </a:p>
          </p:txBody>
        </p:sp>
        <p:sp>
          <p:nvSpPr>
            <p:cNvPr id="7" name="Freeform 6">
              <a:extLst>
                <a:ext uri="{FF2B5EF4-FFF2-40B4-BE49-F238E27FC236}">
                  <a16:creationId xmlns:a16="http://schemas.microsoft.com/office/drawing/2014/main" id="{DB7F78AB-3959-C97B-2E66-4741FBDD3D9B}"/>
                </a:ext>
              </a:extLst>
            </p:cNvPr>
            <p:cNvSpPr/>
            <p:nvPr/>
          </p:nvSpPr>
          <p:spPr>
            <a:xfrm>
              <a:off x="3291438" y="3230076"/>
              <a:ext cx="339622" cy="397845"/>
            </a:xfrm>
            <a:custGeom>
              <a:avLst/>
              <a:gdLst>
                <a:gd name="connsiteX0" fmla="*/ 0 w 339494"/>
                <a:gd name="connsiteY0" fmla="*/ 79429 h 397144"/>
                <a:gd name="connsiteX1" fmla="*/ 169747 w 339494"/>
                <a:gd name="connsiteY1" fmla="*/ 79429 h 397144"/>
                <a:gd name="connsiteX2" fmla="*/ 169747 w 339494"/>
                <a:gd name="connsiteY2" fmla="*/ 0 h 397144"/>
                <a:gd name="connsiteX3" fmla="*/ 339494 w 339494"/>
                <a:gd name="connsiteY3" fmla="*/ 198572 h 397144"/>
                <a:gd name="connsiteX4" fmla="*/ 169747 w 339494"/>
                <a:gd name="connsiteY4" fmla="*/ 397144 h 397144"/>
                <a:gd name="connsiteX5" fmla="*/ 169747 w 339494"/>
                <a:gd name="connsiteY5" fmla="*/ 317715 h 397144"/>
                <a:gd name="connsiteX6" fmla="*/ 0 w 339494"/>
                <a:gd name="connsiteY6" fmla="*/ 317715 h 397144"/>
                <a:gd name="connsiteX7" fmla="*/ 0 w 339494"/>
                <a:gd name="connsiteY7" fmla="*/ 79429 h 397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9494" h="397144">
                  <a:moveTo>
                    <a:pt x="0" y="79429"/>
                  </a:moveTo>
                  <a:lnTo>
                    <a:pt x="169747" y="79429"/>
                  </a:lnTo>
                  <a:lnTo>
                    <a:pt x="169747" y="0"/>
                  </a:lnTo>
                  <a:lnTo>
                    <a:pt x="339494" y="198572"/>
                  </a:lnTo>
                  <a:lnTo>
                    <a:pt x="169747" y="397144"/>
                  </a:lnTo>
                  <a:lnTo>
                    <a:pt x="169747" y="317715"/>
                  </a:lnTo>
                  <a:lnTo>
                    <a:pt x="0" y="317715"/>
                  </a:lnTo>
                  <a:lnTo>
                    <a:pt x="0" y="79429"/>
                  </a:lnTo>
                  <a:close/>
                </a:path>
              </a:pathLst>
            </a:custGeom>
            <a:solidFill>
              <a:schemeClr val="bg1"/>
            </a:solidFill>
            <a:ln>
              <a:solidFill>
                <a:schemeClr val="tx1"/>
              </a:solidFill>
            </a:ln>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lIns="0" tIns="79429" rIns="101848" bIns="79429" spcCol="1270" anchor="ctr"/>
            <a:lstStyle/>
            <a:p>
              <a:pPr marL="0" marR="0" lvl="0" indent="0" algn="ctr" defTabSz="800100" rtl="0" eaLnBrk="0" fontAlgn="base" latinLnBrk="0" hangingPunct="0">
                <a:lnSpc>
                  <a:spcPct val="90000"/>
                </a:lnSpc>
                <a:spcBef>
                  <a:spcPct val="0"/>
                </a:spcBef>
                <a:spcAft>
                  <a:spcPct val="35000"/>
                </a:spcAft>
                <a:buClrTx/>
                <a:buSzTx/>
                <a:buFontTx/>
                <a:buNone/>
                <a:tabLst/>
                <a:defRPr/>
              </a:pPr>
              <a:endParaRPr kumimoji="0" lang="en-CA" sz="1800" b="0" i="0" u="none" strike="noStrike" kern="1200" cap="none" spc="0" normalizeH="0" baseline="0" noProof="0">
                <a:ln>
                  <a:noFill/>
                </a:ln>
                <a:solidFill>
                  <a:srgbClr val="FFFFFF"/>
                </a:solidFill>
                <a:effectLst/>
                <a:uLnTx/>
                <a:uFillTx/>
                <a:latin typeface="Calibri"/>
                <a:ea typeface="+mn-ea"/>
                <a:cs typeface="+mn-cs"/>
              </a:endParaRPr>
            </a:p>
          </p:txBody>
        </p:sp>
        <p:sp>
          <p:nvSpPr>
            <p:cNvPr id="8" name="Freeform 7">
              <a:extLst>
                <a:ext uri="{FF2B5EF4-FFF2-40B4-BE49-F238E27FC236}">
                  <a16:creationId xmlns:a16="http://schemas.microsoft.com/office/drawing/2014/main" id="{D53D9F3B-ACE2-1DD6-7AA0-B051B043D920}"/>
                </a:ext>
              </a:extLst>
            </p:cNvPr>
            <p:cNvSpPr/>
            <p:nvPr/>
          </p:nvSpPr>
          <p:spPr>
            <a:xfrm>
              <a:off x="3771793" y="2948582"/>
              <a:ext cx="1600411" cy="960834"/>
            </a:xfrm>
            <a:custGeom>
              <a:avLst/>
              <a:gdLst>
                <a:gd name="connsiteX0" fmla="*/ 0 w 1601390"/>
                <a:gd name="connsiteY0" fmla="*/ 96083 h 960834"/>
                <a:gd name="connsiteX1" fmla="*/ 96083 w 1601390"/>
                <a:gd name="connsiteY1" fmla="*/ 0 h 960834"/>
                <a:gd name="connsiteX2" fmla="*/ 1505307 w 1601390"/>
                <a:gd name="connsiteY2" fmla="*/ 0 h 960834"/>
                <a:gd name="connsiteX3" fmla="*/ 1601390 w 1601390"/>
                <a:gd name="connsiteY3" fmla="*/ 96083 h 960834"/>
                <a:gd name="connsiteX4" fmla="*/ 1601390 w 1601390"/>
                <a:gd name="connsiteY4" fmla="*/ 864751 h 960834"/>
                <a:gd name="connsiteX5" fmla="*/ 1505307 w 1601390"/>
                <a:gd name="connsiteY5" fmla="*/ 960834 h 960834"/>
                <a:gd name="connsiteX6" fmla="*/ 96083 w 1601390"/>
                <a:gd name="connsiteY6" fmla="*/ 960834 h 960834"/>
                <a:gd name="connsiteX7" fmla="*/ 0 w 1601390"/>
                <a:gd name="connsiteY7" fmla="*/ 864751 h 960834"/>
                <a:gd name="connsiteX8" fmla="*/ 0 w 1601390"/>
                <a:gd name="connsiteY8" fmla="*/ 96083 h 960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01390" h="960834">
                  <a:moveTo>
                    <a:pt x="0" y="96083"/>
                  </a:moveTo>
                  <a:cubicBezTo>
                    <a:pt x="0" y="43018"/>
                    <a:pt x="43018" y="0"/>
                    <a:pt x="96083" y="0"/>
                  </a:cubicBezTo>
                  <a:lnTo>
                    <a:pt x="1505307" y="0"/>
                  </a:lnTo>
                  <a:cubicBezTo>
                    <a:pt x="1558372" y="0"/>
                    <a:pt x="1601390" y="43018"/>
                    <a:pt x="1601390" y="96083"/>
                  </a:cubicBezTo>
                  <a:lnTo>
                    <a:pt x="1601390" y="864751"/>
                  </a:lnTo>
                  <a:cubicBezTo>
                    <a:pt x="1601390" y="917816"/>
                    <a:pt x="1558372" y="960834"/>
                    <a:pt x="1505307" y="960834"/>
                  </a:cubicBezTo>
                  <a:lnTo>
                    <a:pt x="96083" y="960834"/>
                  </a:lnTo>
                  <a:cubicBezTo>
                    <a:pt x="43018" y="960834"/>
                    <a:pt x="0" y="917816"/>
                    <a:pt x="0" y="864751"/>
                  </a:cubicBezTo>
                  <a:lnTo>
                    <a:pt x="0" y="96083"/>
                  </a:lnTo>
                  <a:close/>
                </a:path>
              </a:pathLst>
            </a:custGeom>
            <a:solidFill>
              <a:schemeClr val="accent6">
                <a:alpha val="30000"/>
              </a:schemeClr>
            </a:solidFill>
            <a:ln>
              <a:solidFill>
                <a:schemeClr val="accent6"/>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180542" tIns="180542" rIns="180542" bIns="180542" spcCol="1270" anchor="ctr"/>
            <a:lstStyle/>
            <a:p>
              <a:pPr marL="0" marR="0" lvl="0" indent="0" algn="ctr" defTabSz="1778000" rtl="0" eaLnBrk="0" fontAlgn="base" latinLnBrk="0" hangingPunct="0">
                <a:lnSpc>
                  <a:spcPct val="90000"/>
                </a:lnSpc>
                <a:spcBef>
                  <a:spcPct val="0"/>
                </a:spcBef>
                <a:spcAft>
                  <a:spcPct val="35000"/>
                </a:spcAft>
                <a:buClrTx/>
                <a:buSzTx/>
                <a:buFontTx/>
                <a:buNone/>
                <a:tabLst/>
                <a:defRPr/>
              </a:pPr>
              <a:r>
                <a:rPr kumimoji="0" lang="en-CA" sz="2000" b="0" i="0" u="none" strike="noStrike" kern="1200" cap="none" spc="0" normalizeH="0" baseline="0" noProof="0" dirty="0">
                  <a:ln>
                    <a:noFill/>
                  </a:ln>
                  <a:solidFill>
                    <a:srgbClr val="2F2B20"/>
                  </a:solidFill>
                  <a:effectLst/>
                  <a:uLnTx/>
                  <a:uFillTx/>
                  <a:latin typeface="Calibri"/>
                  <a:ea typeface="+mn-ea"/>
                  <a:cs typeface="+mn-cs"/>
                </a:rPr>
                <a:t>First Normal Form (1NF)</a:t>
              </a:r>
            </a:p>
          </p:txBody>
        </p:sp>
        <p:sp>
          <p:nvSpPr>
            <p:cNvPr id="9" name="Freeform 8">
              <a:extLst>
                <a:ext uri="{FF2B5EF4-FFF2-40B4-BE49-F238E27FC236}">
                  <a16:creationId xmlns:a16="http://schemas.microsoft.com/office/drawing/2014/main" id="{F80A95C5-AD10-27A0-6096-02A0E8BCE0CA}"/>
                </a:ext>
              </a:extLst>
            </p:cNvPr>
            <p:cNvSpPr/>
            <p:nvPr/>
          </p:nvSpPr>
          <p:spPr>
            <a:xfrm>
              <a:off x="5532711" y="3230076"/>
              <a:ext cx="339622" cy="397845"/>
            </a:xfrm>
            <a:custGeom>
              <a:avLst/>
              <a:gdLst>
                <a:gd name="connsiteX0" fmla="*/ 0 w 339494"/>
                <a:gd name="connsiteY0" fmla="*/ 79429 h 397144"/>
                <a:gd name="connsiteX1" fmla="*/ 169747 w 339494"/>
                <a:gd name="connsiteY1" fmla="*/ 79429 h 397144"/>
                <a:gd name="connsiteX2" fmla="*/ 169747 w 339494"/>
                <a:gd name="connsiteY2" fmla="*/ 0 h 397144"/>
                <a:gd name="connsiteX3" fmla="*/ 339494 w 339494"/>
                <a:gd name="connsiteY3" fmla="*/ 198572 h 397144"/>
                <a:gd name="connsiteX4" fmla="*/ 169747 w 339494"/>
                <a:gd name="connsiteY4" fmla="*/ 397144 h 397144"/>
                <a:gd name="connsiteX5" fmla="*/ 169747 w 339494"/>
                <a:gd name="connsiteY5" fmla="*/ 317715 h 397144"/>
                <a:gd name="connsiteX6" fmla="*/ 0 w 339494"/>
                <a:gd name="connsiteY6" fmla="*/ 317715 h 397144"/>
                <a:gd name="connsiteX7" fmla="*/ 0 w 339494"/>
                <a:gd name="connsiteY7" fmla="*/ 79429 h 397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9494" h="397144">
                  <a:moveTo>
                    <a:pt x="0" y="79429"/>
                  </a:moveTo>
                  <a:lnTo>
                    <a:pt x="169747" y="79429"/>
                  </a:lnTo>
                  <a:lnTo>
                    <a:pt x="169747" y="0"/>
                  </a:lnTo>
                  <a:lnTo>
                    <a:pt x="339494" y="198572"/>
                  </a:lnTo>
                  <a:lnTo>
                    <a:pt x="169747" y="397144"/>
                  </a:lnTo>
                  <a:lnTo>
                    <a:pt x="169747" y="317715"/>
                  </a:lnTo>
                  <a:lnTo>
                    <a:pt x="0" y="317715"/>
                  </a:lnTo>
                  <a:lnTo>
                    <a:pt x="0" y="79429"/>
                  </a:lnTo>
                  <a:close/>
                </a:path>
              </a:pathLst>
            </a:custGeom>
            <a:solidFill>
              <a:schemeClr val="accent6">
                <a:alpha val="30000"/>
              </a:schemeClr>
            </a:solidFill>
            <a:ln>
              <a:solidFill>
                <a:schemeClr val="accent6"/>
              </a:solidFill>
            </a:ln>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lIns="0" tIns="79429" rIns="101848" bIns="79429" spcCol="1270" anchor="ctr"/>
            <a:lstStyle/>
            <a:p>
              <a:pPr marL="0" marR="0" lvl="0" indent="0" algn="ctr" defTabSz="800100" rtl="0" eaLnBrk="0" fontAlgn="base" latinLnBrk="0" hangingPunct="0">
                <a:lnSpc>
                  <a:spcPct val="90000"/>
                </a:lnSpc>
                <a:spcBef>
                  <a:spcPct val="0"/>
                </a:spcBef>
                <a:spcAft>
                  <a:spcPct val="35000"/>
                </a:spcAft>
                <a:buClrTx/>
                <a:buSzTx/>
                <a:buFontTx/>
                <a:buNone/>
                <a:tabLst/>
                <a:defRPr/>
              </a:pPr>
              <a:endParaRPr kumimoji="0" lang="en-CA" sz="1800" b="0" i="0" u="none" strike="noStrike" kern="1200" cap="none" spc="0" normalizeH="0" baseline="0" noProof="0">
                <a:ln>
                  <a:noFill/>
                </a:ln>
                <a:solidFill>
                  <a:srgbClr val="FFFFFF"/>
                </a:solidFill>
                <a:effectLst/>
                <a:uLnTx/>
                <a:uFillTx/>
                <a:latin typeface="Calibri"/>
                <a:ea typeface="+mn-ea"/>
                <a:cs typeface="+mn-cs"/>
              </a:endParaRPr>
            </a:p>
          </p:txBody>
        </p:sp>
        <p:sp>
          <p:nvSpPr>
            <p:cNvPr id="11" name="Freeform 10">
              <a:extLst>
                <a:ext uri="{FF2B5EF4-FFF2-40B4-BE49-F238E27FC236}">
                  <a16:creationId xmlns:a16="http://schemas.microsoft.com/office/drawing/2014/main" id="{D2887D83-653F-0F18-EFF3-B0FB639D3B89}"/>
                </a:ext>
              </a:extLst>
            </p:cNvPr>
            <p:cNvSpPr/>
            <p:nvPr/>
          </p:nvSpPr>
          <p:spPr>
            <a:xfrm>
              <a:off x="6013067" y="2948582"/>
              <a:ext cx="1601574" cy="960834"/>
            </a:xfrm>
            <a:custGeom>
              <a:avLst/>
              <a:gdLst>
                <a:gd name="connsiteX0" fmla="*/ 0 w 1601390"/>
                <a:gd name="connsiteY0" fmla="*/ 96083 h 960834"/>
                <a:gd name="connsiteX1" fmla="*/ 96083 w 1601390"/>
                <a:gd name="connsiteY1" fmla="*/ 0 h 960834"/>
                <a:gd name="connsiteX2" fmla="*/ 1505307 w 1601390"/>
                <a:gd name="connsiteY2" fmla="*/ 0 h 960834"/>
                <a:gd name="connsiteX3" fmla="*/ 1601390 w 1601390"/>
                <a:gd name="connsiteY3" fmla="*/ 96083 h 960834"/>
                <a:gd name="connsiteX4" fmla="*/ 1601390 w 1601390"/>
                <a:gd name="connsiteY4" fmla="*/ 864751 h 960834"/>
                <a:gd name="connsiteX5" fmla="*/ 1505307 w 1601390"/>
                <a:gd name="connsiteY5" fmla="*/ 960834 h 960834"/>
                <a:gd name="connsiteX6" fmla="*/ 96083 w 1601390"/>
                <a:gd name="connsiteY6" fmla="*/ 960834 h 960834"/>
                <a:gd name="connsiteX7" fmla="*/ 0 w 1601390"/>
                <a:gd name="connsiteY7" fmla="*/ 864751 h 960834"/>
                <a:gd name="connsiteX8" fmla="*/ 0 w 1601390"/>
                <a:gd name="connsiteY8" fmla="*/ 96083 h 960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01390" h="960834">
                  <a:moveTo>
                    <a:pt x="0" y="96083"/>
                  </a:moveTo>
                  <a:cubicBezTo>
                    <a:pt x="0" y="43018"/>
                    <a:pt x="43018" y="0"/>
                    <a:pt x="96083" y="0"/>
                  </a:cubicBezTo>
                  <a:lnTo>
                    <a:pt x="1505307" y="0"/>
                  </a:lnTo>
                  <a:cubicBezTo>
                    <a:pt x="1558372" y="0"/>
                    <a:pt x="1601390" y="43018"/>
                    <a:pt x="1601390" y="96083"/>
                  </a:cubicBezTo>
                  <a:lnTo>
                    <a:pt x="1601390" y="864751"/>
                  </a:lnTo>
                  <a:cubicBezTo>
                    <a:pt x="1601390" y="917816"/>
                    <a:pt x="1558372" y="960834"/>
                    <a:pt x="1505307" y="960834"/>
                  </a:cubicBezTo>
                  <a:lnTo>
                    <a:pt x="96083" y="960834"/>
                  </a:lnTo>
                  <a:cubicBezTo>
                    <a:pt x="43018" y="960834"/>
                    <a:pt x="0" y="917816"/>
                    <a:pt x="0" y="864751"/>
                  </a:cubicBezTo>
                  <a:lnTo>
                    <a:pt x="0" y="96083"/>
                  </a:lnTo>
                  <a:close/>
                </a:path>
              </a:pathLst>
            </a:custGeom>
            <a:solidFill>
              <a:schemeClr val="accent5">
                <a:alpha val="30000"/>
              </a:schemeClr>
            </a:solidFill>
            <a:ln>
              <a:solidFill>
                <a:schemeClr val="accent5"/>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180542" tIns="180542" rIns="180542" bIns="180542" spcCol="1270" anchor="ctr"/>
            <a:lstStyle/>
            <a:p>
              <a:pPr marL="0" marR="0" lvl="0" indent="0" algn="ctr" defTabSz="1778000" rtl="0" eaLnBrk="0" fontAlgn="base" latinLnBrk="0" hangingPunct="0">
                <a:lnSpc>
                  <a:spcPct val="90000"/>
                </a:lnSpc>
                <a:spcBef>
                  <a:spcPct val="0"/>
                </a:spcBef>
                <a:spcAft>
                  <a:spcPct val="35000"/>
                </a:spcAft>
                <a:buClrTx/>
                <a:buSzTx/>
                <a:buFontTx/>
                <a:buNone/>
                <a:tabLst/>
                <a:defRPr/>
              </a:pPr>
              <a:r>
                <a:rPr kumimoji="0" lang="en-CA" sz="2000" b="0" i="0" u="none" strike="noStrike" kern="1200" cap="none" spc="0" normalizeH="0" baseline="0" noProof="0" dirty="0">
                  <a:ln>
                    <a:noFill/>
                  </a:ln>
                  <a:solidFill>
                    <a:srgbClr val="2F2B20"/>
                  </a:solidFill>
                  <a:effectLst/>
                  <a:uLnTx/>
                  <a:uFillTx/>
                  <a:latin typeface="Calibri"/>
                  <a:ea typeface="+mn-ea"/>
                  <a:cs typeface="+mn-cs"/>
                </a:rPr>
                <a:t>Second Normal Form (2NF)</a:t>
              </a:r>
            </a:p>
          </p:txBody>
        </p:sp>
      </p:grpSp>
      <p:sp>
        <p:nvSpPr>
          <p:cNvPr id="17" name="Title 1">
            <a:extLst>
              <a:ext uri="{FF2B5EF4-FFF2-40B4-BE49-F238E27FC236}">
                <a16:creationId xmlns:a16="http://schemas.microsoft.com/office/drawing/2014/main" id="{A9938B06-F89A-EDCA-A3B9-2DD3D7817E46}"/>
              </a:ext>
            </a:extLst>
          </p:cNvPr>
          <p:cNvSpPr txBox="1">
            <a:spLocks/>
          </p:cNvSpPr>
          <p:nvPr/>
        </p:nvSpPr>
        <p:spPr bwMode="auto">
          <a:xfrm>
            <a:off x="0" y="1447800"/>
            <a:ext cx="8172450" cy="323850"/>
          </a:xfrm>
          <a:prstGeom prst="rect">
            <a:avLst/>
          </a:prstGeom>
          <a:noFill/>
          <a:ln w="9525">
            <a:noFill/>
            <a:miter lim="800000"/>
            <a:headEnd/>
            <a:tailEnd/>
          </a:ln>
        </p:spPr>
        <p:txBody>
          <a:bodyPr lIns="72000" tIns="0" rIns="72000" bIns="0"/>
          <a:lstStyle/>
          <a:p>
            <a:pPr marL="0" marR="0" lvl="0" indent="0" algn="l" defTabSz="720000" rtl="0" eaLnBrk="1" fontAlgn="base" latinLnBrk="0" hangingPunct="1">
              <a:lnSpc>
                <a:spcPts val="1800"/>
              </a:lnSpc>
              <a:spcBef>
                <a:spcPts val="0"/>
              </a:spcBef>
              <a:spcAft>
                <a:spcPts val="0"/>
              </a:spcAft>
              <a:buClrTx/>
              <a:buSzTx/>
              <a:buFontTx/>
              <a:buNone/>
              <a:tabLst>
                <a:tab pos="0" algn="l"/>
              </a:tabLst>
              <a:defRPr/>
            </a:pPr>
            <a:r>
              <a:rPr kumimoji="0" lang="en-CA" sz="1800" b="1" i="0" u="none" strike="noStrike" kern="0" cap="none" spc="0" normalizeH="0" baseline="0" noProof="0" dirty="0">
                <a:ln>
                  <a:noFill/>
                </a:ln>
                <a:solidFill>
                  <a:srgbClr val="2F2B20"/>
                </a:solidFill>
                <a:effectLst/>
                <a:uLnTx/>
                <a:uFillTx/>
                <a:latin typeface="Arial" panose="020B0604020202020204" pitchFamily="34" charset="0"/>
                <a:ea typeface="+mn-ea"/>
                <a:cs typeface="Calibri" pitchFamily="34" charset="0"/>
              </a:rPr>
              <a:t>Normal Forms</a:t>
            </a:r>
            <a:endParaRPr kumimoji="0" lang="en-MY" sz="1800" b="1" i="0" u="none" strike="noStrike" kern="0" cap="none" spc="0" normalizeH="0" baseline="0" noProof="0" dirty="0">
              <a:ln>
                <a:noFill/>
              </a:ln>
              <a:solidFill>
                <a:srgbClr val="2F2B20"/>
              </a:solidFill>
              <a:effectLst/>
              <a:uLnTx/>
              <a:uFillTx/>
              <a:latin typeface="Calibri"/>
              <a:ea typeface="+mn-ea"/>
              <a:cs typeface="Calibri" pitchFamily="34" charset="0"/>
            </a:endParaRPr>
          </a:p>
        </p:txBody>
      </p:sp>
      <p:sp>
        <p:nvSpPr>
          <p:cNvPr id="14342" name="Rounded Rectangular Callout 19">
            <a:extLst>
              <a:ext uri="{FF2B5EF4-FFF2-40B4-BE49-F238E27FC236}">
                <a16:creationId xmlns:a16="http://schemas.microsoft.com/office/drawing/2014/main" id="{98384185-583E-B0BB-CBA7-BF22AC66A604}"/>
              </a:ext>
            </a:extLst>
          </p:cNvPr>
          <p:cNvSpPr>
            <a:spLocks noChangeArrowheads="1"/>
          </p:cNvSpPr>
          <p:nvPr/>
        </p:nvSpPr>
        <p:spPr bwMode="auto">
          <a:xfrm flipV="1">
            <a:off x="2490788" y="2671763"/>
            <a:ext cx="5100637" cy="2387600"/>
          </a:xfrm>
          <a:prstGeom prst="wedgeRoundRectCallout">
            <a:avLst>
              <a:gd name="adj1" fmla="val -21616"/>
              <a:gd name="adj2" fmla="val -62778"/>
              <a:gd name="adj3" fmla="val 16667"/>
            </a:avLst>
          </a:prstGeom>
          <a:solidFill>
            <a:srgbClr val="B50C00"/>
          </a:solidFill>
          <a:ln w="9525" algn="ctr">
            <a:solidFill>
              <a:schemeClr val="tx1"/>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endPar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endParaRPr>
          </a:p>
        </p:txBody>
      </p:sp>
      <p:sp>
        <p:nvSpPr>
          <p:cNvPr id="14343" name="TextBox 20">
            <a:extLst>
              <a:ext uri="{FF2B5EF4-FFF2-40B4-BE49-F238E27FC236}">
                <a16:creationId xmlns:a16="http://schemas.microsoft.com/office/drawing/2014/main" id="{468B8820-7613-F9E9-0B32-096D33ADAE25}"/>
              </a:ext>
            </a:extLst>
          </p:cNvPr>
          <p:cNvSpPr txBox="1">
            <a:spLocks noChangeArrowheads="1"/>
          </p:cNvSpPr>
          <p:nvPr/>
        </p:nvSpPr>
        <p:spPr bwMode="auto">
          <a:xfrm>
            <a:off x="2579688" y="2749550"/>
            <a:ext cx="4745037"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A relation is in 3NF if it is already in 2NF and has </a:t>
            </a:r>
            <a:r>
              <a:rPr kumimoji="0" lang="en-CA" altLang="en-US" sz="1800" b="1" i="0" u="sng"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NO</a:t>
            </a:r>
            <a:r>
              <a:rPr kumimoji="0" lang="en-CA" altLang="en-US" sz="18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 non-key column that is functional dependent on another non-key column</a:t>
            </a:r>
          </a:p>
        </p:txBody>
      </p:sp>
      <p:sp>
        <p:nvSpPr>
          <p:cNvPr id="22" name="Teardrop 21">
            <a:hlinkClick r:id="" action="ppaction://noaction"/>
            <a:extLst>
              <a:ext uri="{FF2B5EF4-FFF2-40B4-BE49-F238E27FC236}">
                <a16:creationId xmlns:a16="http://schemas.microsoft.com/office/drawing/2014/main" id="{5308732C-58FB-E7AB-D71A-D14E895E78B7}"/>
              </a:ext>
            </a:extLst>
          </p:cNvPr>
          <p:cNvSpPr/>
          <p:nvPr/>
        </p:nvSpPr>
        <p:spPr bwMode="auto">
          <a:xfrm>
            <a:off x="7189056" y="2533809"/>
            <a:ext cx="570644" cy="431301"/>
          </a:xfrm>
          <a:prstGeom prst="teardrop">
            <a:avLst/>
          </a:prstGeom>
          <a:ln>
            <a:headEnd type="none" w="med" len="med"/>
            <a:tailEnd type="none" w="med" len="med"/>
          </a:ln>
        </p:spPr>
        <p:style>
          <a:lnRef idx="3">
            <a:schemeClr val="lt1"/>
          </a:lnRef>
          <a:fillRef idx="1">
            <a:schemeClr val="accent3"/>
          </a:fillRef>
          <a:effectRef idx="1">
            <a:schemeClr val="accent3"/>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2400" b="1" i="0" u="none" strike="noStrike" kern="1200" cap="none" spc="50" normalizeH="0" baseline="0" noProof="0" dirty="0">
                <a:ln w="13500">
                  <a:solidFill>
                    <a:srgbClr val="A9A57C">
                      <a:shade val="2500"/>
                      <a:alpha val="6500"/>
                    </a:srgbClr>
                  </a:solidFill>
                  <a:prstDash val="solid"/>
                </a:ln>
                <a:solidFill>
                  <a:srgbClr val="A9A57C">
                    <a:tint val="3000"/>
                    <a:alpha val="95000"/>
                  </a:srgbClr>
                </a:solidFill>
                <a:effectLst>
                  <a:innerShdw blurRad="50900" dist="38500" dir="13500000">
                    <a:srgbClr val="000000">
                      <a:alpha val="60000"/>
                    </a:srgbClr>
                  </a:innerShdw>
                </a:effectLst>
                <a:uLnTx/>
                <a:uFillTx/>
                <a:latin typeface="Arial" charset="0"/>
                <a:ea typeface="+mn-ea"/>
                <a:cs typeface="+mn-cs"/>
              </a:rPr>
              <a:t>X</a:t>
            </a:r>
          </a:p>
        </p:txBody>
      </p:sp>
      <p:graphicFrame>
        <p:nvGraphicFramePr>
          <p:cNvPr id="30" name="Table 29">
            <a:extLst>
              <a:ext uri="{FF2B5EF4-FFF2-40B4-BE49-F238E27FC236}">
                <a16:creationId xmlns:a16="http://schemas.microsoft.com/office/drawing/2014/main" id="{4119B847-64D1-13AB-8074-BF5C8F98A025}"/>
              </a:ext>
            </a:extLst>
          </p:cNvPr>
          <p:cNvGraphicFramePr>
            <a:graphicFrameLocks noGrp="1"/>
          </p:cNvGraphicFramePr>
          <p:nvPr/>
        </p:nvGraphicFramePr>
        <p:xfrm>
          <a:off x="2692400" y="3751263"/>
          <a:ext cx="1731963" cy="371475"/>
        </p:xfrm>
        <a:graphic>
          <a:graphicData uri="http://schemas.openxmlformats.org/drawingml/2006/table">
            <a:tbl>
              <a:tblPr firstRow="1" bandRow="1">
                <a:tableStyleId>{5940675A-B579-460E-94D1-54222C63F5DA}</a:tableStyleId>
              </a:tblPr>
              <a:tblGrid>
                <a:gridCol w="577321">
                  <a:extLst>
                    <a:ext uri="{9D8B030D-6E8A-4147-A177-3AD203B41FA5}">
                      <a16:colId xmlns:a16="http://schemas.microsoft.com/office/drawing/2014/main" val="20000"/>
                    </a:ext>
                  </a:extLst>
                </a:gridCol>
                <a:gridCol w="577321">
                  <a:extLst>
                    <a:ext uri="{9D8B030D-6E8A-4147-A177-3AD203B41FA5}">
                      <a16:colId xmlns:a16="http://schemas.microsoft.com/office/drawing/2014/main" val="20001"/>
                    </a:ext>
                  </a:extLst>
                </a:gridCol>
                <a:gridCol w="577321">
                  <a:extLst>
                    <a:ext uri="{9D8B030D-6E8A-4147-A177-3AD203B41FA5}">
                      <a16:colId xmlns:a16="http://schemas.microsoft.com/office/drawing/2014/main" val="20002"/>
                    </a:ext>
                  </a:extLst>
                </a:gridCol>
              </a:tblGrid>
              <a:tr h="371475">
                <a:tc>
                  <a:txBody>
                    <a:bodyPr/>
                    <a:lstStyle/>
                    <a:p>
                      <a:pPr algn="ctr"/>
                      <a:r>
                        <a:rPr lang="en-CA" sz="1800" b="1" u="sng" dirty="0"/>
                        <a:t>A</a:t>
                      </a:r>
                    </a:p>
                  </a:txBody>
                  <a:tcPr marL="91472" marR="91472" marT="45798" marB="45798">
                    <a:solidFill>
                      <a:schemeClr val="bg1"/>
                    </a:solidFill>
                  </a:tcPr>
                </a:tc>
                <a:tc>
                  <a:txBody>
                    <a:bodyPr/>
                    <a:lstStyle/>
                    <a:p>
                      <a:pPr algn="ctr"/>
                      <a:r>
                        <a:rPr lang="en-CA" sz="1800" b="1" u="none" dirty="0"/>
                        <a:t>B</a:t>
                      </a:r>
                    </a:p>
                  </a:txBody>
                  <a:tcPr marL="91472" marR="91472" marT="45798" marB="45798">
                    <a:solidFill>
                      <a:schemeClr val="bg1"/>
                    </a:solidFill>
                  </a:tcPr>
                </a:tc>
                <a:tc>
                  <a:txBody>
                    <a:bodyPr/>
                    <a:lstStyle/>
                    <a:p>
                      <a:pPr algn="ctr"/>
                      <a:r>
                        <a:rPr lang="en-CA" sz="1800" b="1" u="none" dirty="0"/>
                        <a:t>C</a:t>
                      </a:r>
                    </a:p>
                  </a:txBody>
                  <a:tcPr marL="91472" marR="91472" marT="45798" marB="45798">
                    <a:solidFill>
                      <a:schemeClr val="bg1"/>
                    </a:solidFill>
                  </a:tcPr>
                </a:tc>
                <a:extLst>
                  <a:ext uri="{0D108BD9-81ED-4DB2-BD59-A6C34878D82A}">
                    <a16:rowId xmlns:a16="http://schemas.microsoft.com/office/drawing/2014/main" val="10000"/>
                  </a:ext>
                </a:extLst>
              </a:tr>
            </a:tbl>
          </a:graphicData>
        </a:graphic>
      </p:graphicFrame>
      <p:cxnSp>
        <p:nvCxnSpPr>
          <p:cNvPr id="14355" name="Straight Connector 30">
            <a:extLst>
              <a:ext uri="{FF2B5EF4-FFF2-40B4-BE49-F238E27FC236}">
                <a16:creationId xmlns:a16="http://schemas.microsoft.com/office/drawing/2014/main" id="{E39FE527-B3C2-FD23-CA46-CF451D9C7021}"/>
              </a:ext>
            </a:extLst>
          </p:cNvPr>
          <p:cNvCxnSpPr>
            <a:cxnSpLocks noChangeShapeType="1"/>
          </p:cNvCxnSpPr>
          <p:nvPr/>
        </p:nvCxnSpPr>
        <p:spPr bwMode="auto">
          <a:xfrm flipV="1">
            <a:off x="3603625" y="4122738"/>
            <a:ext cx="0" cy="360362"/>
          </a:xfrm>
          <a:prstGeom prst="line">
            <a:avLst/>
          </a:prstGeom>
          <a:noFill/>
          <a:ln w="25400" algn="ctr">
            <a:solidFill>
              <a:schemeClr val="bg1"/>
            </a:solidFill>
            <a:round/>
            <a:headEnd/>
            <a:tailEnd/>
          </a:ln>
          <a:extLst>
            <a:ext uri="{909E8E84-426E-40DD-AFC4-6F175D3DCCD1}">
              <a14:hiddenFill xmlns:a14="http://schemas.microsoft.com/office/drawing/2010/main">
                <a:noFill/>
              </a14:hiddenFill>
            </a:ext>
          </a:extLst>
        </p:spPr>
      </p:cxnSp>
      <p:cxnSp>
        <p:nvCxnSpPr>
          <p:cNvPr id="14356" name="Straight Connector 31">
            <a:extLst>
              <a:ext uri="{FF2B5EF4-FFF2-40B4-BE49-F238E27FC236}">
                <a16:creationId xmlns:a16="http://schemas.microsoft.com/office/drawing/2014/main" id="{DC598E4E-C413-64F8-9E74-9BE44DA487B4}"/>
              </a:ext>
            </a:extLst>
          </p:cNvPr>
          <p:cNvCxnSpPr>
            <a:cxnSpLocks noChangeShapeType="1"/>
          </p:cNvCxnSpPr>
          <p:nvPr/>
        </p:nvCxnSpPr>
        <p:spPr bwMode="auto">
          <a:xfrm>
            <a:off x="3586163" y="4492625"/>
            <a:ext cx="573087" cy="0"/>
          </a:xfrm>
          <a:prstGeom prst="line">
            <a:avLst/>
          </a:prstGeom>
          <a:noFill/>
          <a:ln w="25400" algn="ctr">
            <a:solidFill>
              <a:schemeClr val="bg1"/>
            </a:solidFill>
            <a:round/>
            <a:headEnd/>
            <a:tailEnd/>
          </a:ln>
          <a:extLst>
            <a:ext uri="{909E8E84-426E-40DD-AFC4-6F175D3DCCD1}">
              <a14:hiddenFill xmlns:a14="http://schemas.microsoft.com/office/drawing/2010/main">
                <a:noFill/>
              </a14:hiddenFill>
            </a:ext>
          </a:extLst>
        </p:spPr>
      </p:cxnSp>
      <p:cxnSp>
        <p:nvCxnSpPr>
          <p:cNvPr id="14357" name="Straight Connector 32">
            <a:extLst>
              <a:ext uri="{FF2B5EF4-FFF2-40B4-BE49-F238E27FC236}">
                <a16:creationId xmlns:a16="http://schemas.microsoft.com/office/drawing/2014/main" id="{CF745485-9095-B15F-11F6-83891154FE28}"/>
              </a:ext>
            </a:extLst>
          </p:cNvPr>
          <p:cNvCxnSpPr>
            <a:cxnSpLocks noChangeShapeType="1"/>
          </p:cNvCxnSpPr>
          <p:nvPr/>
        </p:nvCxnSpPr>
        <p:spPr bwMode="auto">
          <a:xfrm flipV="1">
            <a:off x="4159250" y="4117975"/>
            <a:ext cx="0" cy="374650"/>
          </a:xfrm>
          <a:prstGeom prst="line">
            <a:avLst/>
          </a:prstGeom>
          <a:noFill/>
          <a:ln w="25400" algn="ctr">
            <a:solidFill>
              <a:schemeClr val="bg1"/>
            </a:solidFill>
            <a:round/>
            <a:headEnd/>
            <a:tailEnd type="triangle" w="med" len="med"/>
          </a:ln>
          <a:extLst>
            <a:ext uri="{909E8E84-426E-40DD-AFC4-6F175D3DCCD1}">
              <a14:hiddenFill xmlns:a14="http://schemas.microsoft.com/office/drawing/2010/main">
                <a:noFill/>
              </a14:hiddenFill>
            </a:ext>
          </a:extLst>
        </p:spPr>
      </p:cxnSp>
      <p:sp>
        <p:nvSpPr>
          <p:cNvPr id="14358" name="TextBox 33">
            <a:extLst>
              <a:ext uri="{FF2B5EF4-FFF2-40B4-BE49-F238E27FC236}">
                <a16:creationId xmlns:a16="http://schemas.microsoft.com/office/drawing/2014/main" id="{06FEF603-EE0E-F854-6EC9-7BEB3724F583}"/>
              </a:ext>
            </a:extLst>
          </p:cNvPr>
          <p:cNvSpPr txBox="1">
            <a:spLocks noChangeArrowheads="1"/>
          </p:cNvSpPr>
          <p:nvPr/>
        </p:nvSpPr>
        <p:spPr bwMode="auto">
          <a:xfrm>
            <a:off x="4568825" y="3751263"/>
            <a:ext cx="2755900" cy="1200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Non-key columns = B, C</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C (non-key) is dependent on B (non-key) so needs to be corrected</a:t>
            </a:r>
          </a:p>
        </p:txBody>
      </p:sp>
      <p:sp>
        <p:nvSpPr>
          <p:cNvPr id="28" name="Title 1">
            <a:extLst>
              <a:ext uri="{FF2B5EF4-FFF2-40B4-BE49-F238E27FC236}">
                <a16:creationId xmlns:a16="http://schemas.microsoft.com/office/drawing/2014/main" id="{0CA14006-9AA0-1CD6-D4C6-DAE80D62DCA1}"/>
              </a:ext>
            </a:extLst>
          </p:cNvPr>
          <p:cNvSpPr>
            <a:spLocks noGrp="1"/>
          </p:cNvSpPr>
          <p:nvPr>
            <p:ph type="title"/>
          </p:nvPr>
        </p:nvSpPr>
        <p:spPr>
          <a:xfrm>
            <a:off x="457200" y="76200"/>
            <a:ext cx="7620000" cy="1143000"/>
          </a:xfrm>
        </p:spPr>
        <p:txBody>
          <a:bodyPr/>
          <a:lstStyle/>
          <a:p>
            <a:pPr algn="ctr">
              <a:defRPr/>
            </a:pPr>
            <a:r>
              <a:rPr lang="en-US" dirty="0"/>
              <a:t>Relational Database Normalization</a:t>
            </a:r>
            <a:endParaRPr lang="en-CA" dirty="0"/>
          </a:p>
        </p:txBody>
      </p:sp>
    </p:spTree>
  </p:cSld>
  <p:clrMapOvr>
    <a:masterClrMapping/>
  </p:clrMapOvr>
  <p:transition spd="slow"/>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95625691-C1E5-52CA-1124-B9749553BA60}"/>
              </a:ext>
            </a:extLst>
          </p:cNvPr>
          <p:cNvSpPr txBox="1">
            <a:spLocks/>
          </p:cNvSpPr>
          <p:nvPr/>
        </p:nvSpPr>
        <p:spPr bwMode="auto">
          <a:xfrm>
            <a:off x="0" y="1447800"/>
            <a:ext cx="8172450" cy="323850"/>
          </a:xfrm>
          <a:prstGeom prst="rect">
            <a:avLst/>
          </a:prstGeom>
          <a:noFill/>
          <a:ln w="9525">
            <a:noFill/>
            <a:miter lim="800000"/>
            <a:headEnd/>
            <a:tailEnd/>
          </a:ln>
        </p:spPr>
        <p:txBody>
          <a:bodyPr lIns="72000" tIns="0" rIns="72000" bIns="0"/>
          <a:lstStyle/>
          <a:p>
            <a:pPr marL="0" marR="0" lvl="0" indent="0" algn="l" defTabSz="720000" rtl="0" eaLnBrk="1" fontAlgn="base" latinLnBrk="0" hangingPunct="1">
              <a:lnSpc>
                <a:spcPts val="1800"/>
              </a:lnSpc>
              <a:spcBef>
                <a:spcPts val="0"/>
              </a:spcBef>
              <a:spcAft>
                <a:spcPts val="0"/>
              </a:spcAft>
              <a:buClrTx/>
              <a:buSzTx/>
              <a:buFontTx/>
              <a:buNone/>
              <a:tabLst>
                <a:tab pos="0" algn="l"/>
              </a:tabLst>
              <a:defRPr/>
            </a:pPr>
            <a:r>
              <a:rPr kumimoji="0" lang="en-US" sz="1800" b="1" i="0" u="none" strike="noStrike" kern="0" cap="none" spc="0" normalizeH="0" baseline="0" noProof="0" dirty="0">
                <a:ln>
                  <a:noFill/>
                </a:ln>
                <a:solidFill>
                  <a:srgbClr val="2F2B20"/>
                </a:solidFill>
                <a:effectLst/>
                <a:uLnTx/>
                <a:uFillTx/>
                <a:latin typeface="Calibri"/>
                <a:ea typeface="+mn-ea"/>
                <a:cs typeface="Calibri" pitchFamily="34" charset="0"/>
              </a:rPr>
              <a:t>Normal Forms</a:t>
            </a:r>
            <a:endParaRPr kumimoji="0" lang="en-MY" sz="1800" b="1" i="0" u="none" strike="noStrike" kern="0" cap="none" spc="0" normalizeH="0" baseline="0" noProof="0" dirty="0">
              <a:ln>
                <a:noFill/>
              </a:ln>
              <a:solidFill>
                <a:srgbClr val="2F2B20"/>
              </a:solidFill>
              <a:effectLst/>
              <a:uLnTx/>
              <a:uFillTx/>
              <a:latin typeface="Calibri"/>
              <a:ea typeface="+mn-ea"/>
              <a:cs typeface="Calibri" pitchFamily="34" charset="0"/>
            </a:endParaRPr>
          </a:p>
        </p:txBody>
      </p:sp>
      <p:sp>
        <p:nvSpPr>
          <p:cNvPr id="50" name="Content Placeholder 2">
            <a:extLst>
              <a:ext uri="{FF2B5EF4-FFF2-40B4-BE49-F238E27FC236}">
                <a16:creationId xmlns:a16="http://schemas.microsoft.com/office/drawing/2014/main" id="{56FA0FD0-EC22-9798-D96F-58CC4932F534}"/>
              </a:ext>
            </a:extLst>
          </p:cNvPr>
          <p:cNvSpPr txBox="1">
            <a:spLocks/>
          </p:cNvSpPr>
          <p:nvPr/>
        </p:nvSpPr>
        <p:spPr bwMode="auto">
          <a:xfrm>
            <a:off x="250825" y="1589088"/>
            <a:ext cx="7921625"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To convert a relation from 2NF to 3NF, first find all the non-key columns that are dependent on other non-key columns</a:t>
            </a:r>
            <a:endParaRPr kumimoji="0" lang="en-US" altLang="en-US" sz="32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US" altLang="en-US" sz="32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rPr>
              <a:t> </a:t>
            </a: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graphicFrame>
        <p:nvGraphicFramePr>
          <p:cNvPr id="54" name="Table 53">
            <a:extLst>
              <a:ext uri="{FF2B5EF4-FFF2-40B4-BE49-F238E27FC236}">
                <a16:creationId xmlns:a16="http://schemas.microsoft.com/office/drawing/2014/main" id="{87E30B5F-2D50-1736-4388-19B63F0441C9}"/>
              </a:ext>
            </a:extLst>
          </p:cNvPr>
          <p:cNvGraphicFramePr>
            <a:graphicFrameLocks noGrp="1"/>
          </p:cNvGraphicFramePr>
          <p:nvPr/>
        </p:nvGraphicFramePr>
        <p:xfrm>
          <a:off x="160338" y="3781425"/>
          <a:ext cx="3240087" cy="428625"/>
        </p:xfrm>
        <a:graphic>
          <a:graphicData uri="http://schemas.openxmlformats.org/drawingml/2006/table">
            <a:tbl>
              <a:tblPr firstRow="1" bandRow="1">
                <a:tableStyleId>{5940675A-B579-460E-94D1-54222C63F5DA}</a:tableStyleId>
              </a:tblPr>
              <a:tblGrid>
                <a:gridCol w="1620044">
                  <a:extLst>
                    <a:ext uri="{9D8B030D-6E8A-4147-A177-3AD203B41FA5}">
                      <a16:colId xmlns:a16="http://schemas.microsoft.com/office/drawing/2014/main" val="20000"/>
                    </a:ext>
                  </a:extLst>
                </a:gridCol>
                <a:gridCol w="1620044">
                  <a:extLst>
                    <a:ext uri="{9D8B030D-6E8A-4147-A177-3AD203B41FA5}">
                      <a16:colId xmlns:a16="http://schemas.microsoft.com/office/drawing/2014/main" val="20001"/>
                    </a:ext>
                  </a:extLst>
                </a:gridCol>
              </a:tblGrid>
              <a:tr h="428625">
                <a:tc>
                  <a:txBody>
                    <a:bodyPr/>
                    <a:lstStyle/>
                    <a:p>
                      <a:pPr algn="ctr"/>
                      <a:r>
                        <a:rPr lang="en-CA" sz="1800" dirty="0"/>
                        <a:t>PROJ_NUM</a:t>
                      </a:r>
                      <a:endParaRPr lang="en-CA" sz="1800" b="0" dirty="0"/>
                    </a:p>
                  </a:txBody>
                  <a:tcPr marL="91432" marR="91432" marT="45736" marB="45736"/>
                </a:tc>
                <a:tc>
                  <a:txBody>
                    <a:bodyPr/>
                    <a:lstStyle/>
                    <a:p>
                      <a:pPr algn="ctr"/>
                      <a:r>
                        <a:rPr lang="en-CA" sz="1800" b="0" dirty="0"/>
                        <a:t>PROJ_NAME</a:t>
                      </a:r>
                    </a:p>
                  </a:txBody>
                  <a:tcPr marL="91432" marR="91432" marT="45736" marB="45736"/>
                </a:tc>
                <a:extLst>
                  <a:ext uri="{0D108BD9-81ED-4DB2-BD59-A6C34878D82A}">
                    <a16:rowId xmlns:a16="http://schemas.microsoft.com/office/drawing/2014/main" val="10000"/>
                  </a:ext>
                </a:extLst>
              </a:tr>
            </a:tbl>
          </a:graphicData>
        </a:graphic>
      </p:graphicFrame>
      <p:cxnSp>
        <p:nvCxnSpPr>
          <p:cNvPr id="55" name="Straight Connector 54">
            <a:extLst>
              <a:ext uri="{FF2B5EF4-FFF2-40B4-BE49-F238E27FC236}">
                <a16:creationId xmlns:a16="http://schemas.microsoft.com/office/drawing/2014/main" id="{E69D9D1F-33C2-D168-B2D5-00CE34027E07}"/>
              </a:ext>
            </a:extLst>
          </p:cNvPr>
          <p:cNvCxnSpPr>
            <a:cxnSpLocks noChangeShapeType="1"/>
          </p:cNvCxnSpPr>
          <p:nvPr/>
        </p:nvCxnSpPr>
        <p:spPr bwMode="auto">
          <a:xfrm>
            <a:off x="366713" y="4090988"/>
            <a:ext cx="1223962" cy="0"/>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graphicFrame>
        <p:nvGraphicFramePr>
          <p:cNvPr id="56" name="Table 55">
            <a:extLst>
              <a:ext uri="{FF2B5EF4-FFF2-40B4-BE49-F238E27FC236}">
                <a16:creationId xmlns:a16="http://schemas.microsoft.com/office/drawing/2014/main" id="{80B13CAF-F6CA-67E6-BB01-1738206AA999}"/>
              </a:ext>
            </a:extLst>
          </p:cNvPr>
          <p:cNvGraphicFramePr>
            <a:graphicFrameLocks noGrp="1"/>
          </p:cNvGraphicFramePr>
          <p:nvPr/>
        </p:nvGraphicFramePr>
        <p:xfrm>
          <a:off x="3852863" y="3768725"/>
          <a:ext cx="4529137" cy="438150"/>
        </p:xfrm>
        <a:graphic>
          <a:graphicData uri="http://schemas.openxmlformats.org/drawingml/2006/table">
            <a:tbl>
              <a:tblPr firstRow="1" bandRow="1">
                <a:tableStyleId>{5940675A-B579-460E-94D1-54222C63F5DA}</a:tableStyleId>
              </a:tblPr>
              <a:tblGrid>
                <a:gridCol w="1271154">
                  <a:extLst>
                    <a:ext uri="{9D8B030D-6E8A-4147-A177-3AD203B41FA5}">
                      <a16:colId xmlns:a16="http://schemas.microsoft.com/office/drawing/2014/main" val="20000"/>
                    </a:ext>
                  </a:extLst>
                </a:gridCol>
                <a:gridCol w="1628992">
                  <a:extLst>
                    <a:ext uri="{9D8B030D-6E8A-4147-A177-3AD203B41FA5}">
                      <a16:colId xmlns:a16="http://schemas.microsoft.com/office/drawing/2014/main" val="20001"/>
                    </a:ext>
                  </a:extLst>
                </a:gridCol>
                <a:gridCol w="1628992">
                  <a:extLst>
                    <a:ext uri="{9D8B030D-6E8A-4147-A177-3AD203B41FA5}">
                      <a16:colId xmlns:a16="http://schemas.microsoft.com/office/drawing/2014/main" val="20002"/>
                    </a:ext>
                  </a:extLst>
                </a:gridCol>
              </a:tblGrid>
              <a:tr h="438150">
                <a:tc>
                  <a:txBody>
                    <a:bodyPr/>
                    <a:lstStyle/>
                    <a:p>
                      <a:pPr algn="ctr"/>
                      <a:r>
                        <a:rPr lang="en-CA" sz="1800" dirty="0"/>
                        <a:t>EMP_NUM</a:t>
                      </a:r>
                      <a:endParaRPr lang="en-CA" sz="1800" b="0" dirty="0"/>
                    </a:p>
                  </a:txBody>
                  <a:tcPr marL="91454" marR="91454" marT="45760" marB="45760"/>
                </a:tc>
                <a:tc>
                  <a:txBody>
                    <a:bodyPr/>
                    <a:lstStyle/>
                    <a:p>
                      <a:pPr algn="ctr"/>
                      <a:r>
                        <a:rPr lang="en-CA" sz="1800" b="0" dirty="0"/>
                        <a:t>JOB_CLASS</a:t>
                      </a:r>
                    </a:p>
                  </a:txBody>
                  <a:tcPr marL="91454" marR="91454" marT="45760" marB="45760"/>
                </a:tc>
                <a:tc>
                  <a:txBody>
                    <a:bodyPr/>
                    <a:lstStyle/>
                    <a:p>
                      <a:pPr algn="ctr"/>
                      <a:r>
                        <a:rPr lang="en-CA" sz="1800" b="0" dirty="0"/>
                        <a:t>CHG_HOUR</a:t>
                      </a:r>
                    </a:p>
                  </a:txBody>
                  <a:tcPr marL="91454" marR="91454" marT="45760" marB="45760"/>
                </a:tc>
                <a:extLst>
                  <a:ext uri="{0D108BD9-81ED-4DB2-BD59-A6C34878D82A}">
                    <a16:rowId xmlns:a16="http://schemas.microsoft.com/office/drawing/2014/main" val="10000"/>
                  </a:ext>
                </a:extLst>
              </a:tr>
            </a:tbl>
          </a:graphicData>
        </a:graphic>
      </p:graphicFrame>
      <p:graphicFrame>
        <p:nvGraphicFramePr>
          <p:cNvPr id="57" name="Table 56">
            <a:extLst>
              <a:ext uri="{FF2B5EF4-FFF2-40B4-BE49-F238E27FC236}">
                <a16:creationId xmlns:a16="http://schemas.microsoft.com/office/drawing/2014/main" id="{3133E2FD-9F1E-35A6-20D6-149C0F533BA0}"/>
              </a:ext>
            </a:extLst>
          </p:cNvPr>
          <p:cNvGraphicFramePr>
            <a:graphicFrameLocks noGrp="1"/>
          </p:cNvGraphicFramePr>
          <p:nvPr/>
        </p:nvGraphicFramePr>
        <p:xfrm>
          <a:off x="168275" y="5680075"/>
          <a:ext cx="4006850" cy="436563"/>
        </p:xfrm>
        <a:graphic>
          <a:graphicData uri="http://schemas.openxmlformats.org/drawingml/2006/table">
            <a:tbl>
              <a:tblPr firstRow="1" bandRow="1">
                <a:tableStyleId>{5940675A-B579-460E-94D1-54222C63F5DA}</a:tableStyleId>
              </a:tblPr>
              <a:tblGrid>
                <a:gridCol w="1472448">
                  <a:extLst>
                    <a:ext uri="{9D8B030D-6E8A-4147-A177-3AD203B41FA5}">
                      <a16:colId xmlns:a16="http://schemas.microsoft.com/office/drawing/2014/main" val="20000"/>
                    </a:ext>
                  </a:extLst>
                </a:gridCol>
                <a:gridCol w="1349968">
                  <a:extLst>
                    <a:ext uri="{9D8B030D-6E8A-4147-A177-3AD203B41FA5}">
                      <a16:colId xmlns:a16="http://schemas.microsoft.com/office/drawing/2014/main" val="20001"/>
                    </a:ext>
                  </a:extLst>
                </a:gridCol>
                <a:gridCol w="1184433">
                  <a:extLst>
                    <a:ext uri="{9D8B030D-6E8A-4147-A177-3AD203B41FA5}">
                      <a16:colId xmlns:a16="http://schemas.microsoft.com/office/drawing/2014/main" val="20002"/>
                    </a:ext>
                  </a:extLst>
                </a:gridCol>
              </a:tblGrid>
              <a:tr h="436563">
                <a:tc>
                  <a:txBody>
                    <a:bodyPr/>
                    <a:lstStyle/>
                    <a:p>
                      <a:pPr algn="ctr"/>
                      <a:r>
                        <a:rPr lang="en-CA" sz="1800" dirty="0"/>
                        <a:t>PROJ_NUM</a:t>
                      </a:r>
                      <a:endParaRPr lang="en-CA" sz="1800" b="0" dirty="0"/>
                    </a:p>
                  </a:txBody>
                  <a:tcPr marL="91426" marR="91426" marT="45594" marB="45594"/>
                </a:tc>
                <a:tc>
                  <a:txBody>
                    <a:bodyPr/>
                    <a:lstStyle/>
                    <a:p>
                      <a:pPr algn="ctr"/>
                      <a:r>
                        <a:rPr lang="en-CA" sz="1800" b="0" dirty="0"/>
                        <a:t>EMP_NUM</a:t>
                      </a:r>
                    </a:p>
                  </a:txBody>
                  <a:tcPr marL="91426" marR="91426" marT="45594" marB="45594"/>
                </a:tc>
                <a:tc>
                  <a:txBody>
                    <a:bodyPr/>
                    <a:lstStyle/>
                    <a:p>
                      <a:pPr algn="ctr"/>
                      <a:r>
                        <a:rPr lang="en-CA" sz="1800" b="0" dirty="0"/>
                        <a:t>HOUR</a:t>
                      </a:r>
                    </a:p>
                  </a:txBody>
                  <a:tcPr marL="91426" marR="91426" marT="45594" marB="45594"/>
                </a:tc>
                <a:extLst>
                  <a:ext uri="{0D108BD9-81ED-4DB2-BD59-A6C34878D82A}">
                    <a16:rowId xmlns:a16="http://schemas.microsoft.com/office/drawing/2014/main" val="10000"/>
                  </a:ext>
                </a:extLst>
              </a:tr>
            </a:tbl>
          </a:graphicData>
        </a:graphic>
      </p:graphicFrame>
      <p:cxnSp>
        <p:nvCxnSpPr>
          <p:cNvPr id="58" name="Straight Connector 57">
            <a:extLst>
              <a:ext uri="{FF2B5EF4-FFF2-40B4-BE49-F238E27FC236}">
                <a16:creationId xmlns:a16="http://schemas.microsoft.com/office/drawing/2014/main" id="{2C87B395-10E2-DCE7-6CFD-14F8A780E9F6}"/>
              </a:ext>
            </a:extLst>
          </p:cNvPr>
          <p:cNvCxnSpPr>
            <a:cxnSpLocks noChangeShapeType="1"/>
          </p:cNvCxnSpPr>
          <p:nvPr/>
        </p:nvCxnSpPr>
        <p:spPr bwMode="auto">
          <a:xfrm>
            <a:off x="3965575" y="4079875"/>
            <a:ext cx="1074738" cy="0"/>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cxnSp>
        <p:nvCxnSpPr>
          <p:cNvPr id="59" name="Straight Connector 58">
            <a:extLst>
              <a:ext uri="{FF2B5EF4-FFF2-40B4-BE49-F238E27FC236}">
                <a16:creationId xmlns:a16="http://schemas.microsoft.com/office/drawing/2014/main" id="{88B37EB9-C3F4-B5B9-60DE-468BA327B677}"/>
              </a:ext>
            </a:extLst>
          </p:cNvPr>
          <p:cNvCxnSpPr>
            <a:cxnSpLocks noChangeShapeType="1"/>
          </p:cNvCxnSpPr>
          <p:nvPr/>
        </p:nvCxnSpPr>
        <p:spPr bwMode="auto">
          <a:xfrm>
            <a:off x="312738" y="5983288"/>
            <a:ext cx="2536825" cy="0"/>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sp>
        <p:nvSpPr>
          <p:cNvPr id="60" name="TextBox 59">
            <a:extLst>
              <a:ext uri="{FF2B5EF4-FFF2-40B4-BE49-F238E27FC236}">
                <a16:creationId xmlns:a16="http://schemas.microsoft.com/office/drawing/2014/main" id="{39B55E53-E129-C9D3-9301-3212FA24EE27}"/>
              </a:ext>
            </a:extLst>
          </p:cNvPr>
          <p:cNvSpPr txBox="1">
            <a:spLocks noChangeArrowheads="1"/>
          </p:cNvSpPr>
          <p:nvPr/>
        </p:nvSpPr>
        <p:spPr bwMode="auto">
          <a:xfrm>
            <a:off x="76200" y="3417888"/>
            <a:ext cx="20891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PROJECT</a:t>
            </a:r>
          </a:p>
        </p:txBody>
      </p:sp>
      <p:sp>
        <p:nvSpPr>
          <p:cNvPr id="61" name="TextBox 60">
            <a:extLst>
              <a:ext uri="{FF2B5EF4-FFF2-40B4-BE49-F238E27FC236}">
                <a16:creationId xmlns:a16="http://schemas.microsoft.com/office/drawing/2014/main" id="{90CAA068-67CC-E58E-7E1E-840B7CFBDC8E}"/>
              </a:ext>
            </a:extLst>
          </p:cNvPr>
          <p:cNvSpPr txBox="1">
            <a:spLocks noChangeArrowheads="1"/>
          </p:cNvSpPr>
          <p:nvPr/>
        </p:nvSpPr>
        <p:spPr bwMode="auto">
          <a:xfrm>
            <a:off x="3757613" y="3405188"/>
            <a:ext cx="208756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EMPLOYEE</a:t>
            </a:r>
          </a:p>
        </p:txBody>
      </p:sp>
      <p:sp>
        <p:nvSpPr>
          <p:cNvPr id="62" name="TextBox 61">
            <a:extLst>
              <a:ext uri="{FF2B5EF4-FFF2-40B4-BE49-F238E27FC236}">
                <a16:creationId xmlns:a16="http://schemas.microsoft.com/office/drawing/2014/main" id="{CF4B2F67-D63F-3D01-41EC-FDAA132B0049}"/>
              </a:ext>
            </a:extLst>
          </p:cNvPr>
          <p:cNvSpPr txBox="1">
            <a:spLocks noChangeArrowheads="1"/>
          </p:cNvSpPr>
          <p:nvPr/>
        </p:nvSpPr>
        <p:spPr bwMode="auto">
          <a:xfrm>
            <a:off x="88900" y="5297488"/>
            <a:ext cx="29178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PROJECT_ASSIGNMENT</a:t>
            </a:r>
          </a:p>
        </p:txBody>
      </p:sp>
      <p:cxnSp>
        <p:nvCxnSpPr>
          <p:cNvPr id="63" name="Straight Connector 62">
            <a:extLst>
              <a:ext uri="{FF2B5EF4-FFF2-40B4-BE49-F238E27FC236}">
                <a16:creationId xmlns:a16="http://schemas.microsoft.com/office/drawing/2014/main" id="{A4E84FA8-FFA6-9913-60C2-2BB75F7D8909}"/>
              </a:ext>
            </a:extLst>
          </p:cNvPr>
          <p:cNvCxnSpPr>
            <a:cxnSpLocks noChangeShapeType="1"/>
          </p:cNvCxnSpPr>
          <p:nvPr/>
        </p:nvCxnSpPr>
        <p:spPr bwMode="auto">
          <a:xfrm flipV="1">
            <a:off x="908050" y="4221163"/>
            <a:ext cx="0" cy="360362"/>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cxnSp>
        <p:nvCxnSpPr>
          <p:cNvPr id="64" name="Straight Connector 63">
            <a:extLst>
              <a:ext uri="{FF2B5EF4-FFF2-40B4-BE49-F238E27FC236}">
                <a16:creationId xmlns:a16="http://schemas.microsoft.com/office/drawing/2014/main" id="{C8295233-D8A3-B240-968F-C72B99C5D9AA}"/>
              </a:ext>
            </a:extLst>
          </p:cNvPr>
          <p:cNvCxnSpPr>
            <a:cxnSpLocks noChangeShapeType="1"/>
          </p:cNvCxnSpPr>
          <p:nvPr/>
        </p:nvCxnSpPr>
        <p:spPr bwMode="auto">
          <a:xfrm>
            <a:off x="892175" y="4591050"/>
            <a:ext cx="1573213" cy="0"/>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cxnSp>
        <p:nvCxnSpPr>
          <p:cNvPr id="65" name="Straight Connector 64">
            <a:extLst>
              <a:ext uri="{FF2B5EF4-FFF2-40B4-BE49-F238E27FC236}">
                <a16:creationId xmlns:a16="http://schemas.microsoft.com/office/drawing/2014/main" id="{107B871E-E2B4-931A-F4A7-2E9D9C146471}"/>
              </a:ext>
            </a:extLst>
          </p:cNvPr>
          <p:cNvCxnSpPr>
            <a:cxnSpLocks noChangeShapeType="1"/>
          </p:cNvCxnSpPr>
          <p:nvPr/>
        </p:nvCxnSpPr>
        <p:spPr bwMode="auto">
          <a:xfrm flipV="1">
            <a:off x="2459038" y="4230688"/>
            <a:ext cx="0" cy="360362"/>
          </a:xfrm>
          <a:prstGeom prst="line">
            <a:avLst/>
          </a:prstGeom>
          <a:noFill/>
          <a:ln w="2540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66" name="Straight Connector 65">
            <a:extLst>
              <a:ext uri="{FF2B5EF4-FFF2-40B4-BE49-F238E27FC236}">
                <a16:creationId xmlns:a16="http://schemas.microsoft.com/office/drawing/2014/main" id="{E87662D1-9AB5-7589-6127-6FCFD5C1C6EE}"/>
              </a:ext>
            </a:extLst>
          </p:cNvPr>
          <p:cNvCxnSpPr>
            <a:cxnSpLocks noChangeShapeType="1"/>
          </p:cNvCxnSpPr>
          <p:nvPr/>
        </p:nvCxnSpPr>
        <p:spPr bwMode="auto">
          <a:xfrm flipV="1">
            <a:off x="4568825" y="4211638"/>
            <a:ext cx="0" cy="720725"/>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cxnSp>
        <p:nvCxnSpPr>
          <p:cNvPr id="67" name="Straight Connector 66">
            <a:extLst>
              <a:ext uri="{FF2B5EF4-FFF2-40B4-BE49-F238E27FC236}">
                <a16:creationId xmlns:a16="http://schemas.microsoft.com/office/drawing/2014/main" id="{0F59B03A-3EEA-8FAC-E5CD-29DA419838EB}"/>
              </a:ext>
            </a:extLst>
          </p:cNvPr>
          <p:cNvCxnSpPr>
            <a:cxnSpLocks noChangeShapeType="1"/>
          </p:cNvCxnSpPr>
          <p:nvPr/>
        </p:nvCxnSpPr>
        <p:spPr bwMode="auto">
          <a:xfrm>
            <a:off x="4552950" y="4932363"/>
            <a:ext cx="3157538" cy="0"/>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cxnSp>
        <p:nvCxnSpPr>
          <p:cNvPr id="68" name="Straight Connector 67">
            <a:extLst>
              <a:ext uri="{FF2B5EF4-FFF2-40B4-BE49-F238E27FC236}">
                <a16:creationId xmlns:a16="http://schemas.microsoft.com/office/drawing/2014/main" id="{28687C3F-8AF2-6E2E-517B-22F454920DC0}"/>
              </a:ext>
            </a:extLst>
          </p:cNvPr>
          <p:cNvCxnSpPr>
            <a:cxnSpLocks noChangeShapeType="1"/>
          </p:cNvCxnSpPr>
          <p:nvPr/>
        </p:nvCxnSpPr>
        <p:spPr bwMode="auto">
          <a:xfrm flipH="1" flipV="1">
            <a:off x="6121400" y="4221163"/>
            <a:ext cx="4763" cy="711200"/>
          </a:xfrm>
          <a:prstGeom prst="line">
            <a:avLst/>
          </a:prstGeom>
          <a:noFill/>
          <a:ln w="2540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69" name="Straight Connector 68">
            <a:extLst>
              <a:ext uri="{FF2B5EF4-FFF2-40B4-BE49-F238E27FC236}">
                <a16:creationId xmlns:a16="http://schemas.microsoft.com/office/drawing/2014/main" id="{2AA77CAC-69CE-2132-7998-D90F8D137450}"/>
              </a:ext>
            </a:extLst>
          </p:cNvPr>
          <p:cNvCxnSpPr>
            <a:cxnSpLocks noChangeShapeType="1"/>
          </p:cNvCxnSpPr>
          <p:nvPr/>
        </p:nvCxnSpPr>
        <p:spPr bwMode="auto">
          <a:xfrm flipH="1" flipV="1">
            <a:off x="7686675" y="4238625"/>
            <a:ext cx="6350" cy="711200"/>
          </a:xfrm>
          <a:prstGeom prst="line">
            <a:avLst/>
          </a:prstGeom>
          <a:noFill/>
          <a:ln w="2540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0" name="Straight Connector 69">
            <a:extLst>
              <a:ext uri="{FF2B5EF4-FFF2-40B4-BE49-F238E27FC236}">
                <a16:creationId xmlns:a16="http://schemas.microsoft.com/office/drawing/2014/main" id="{FF1B9B79-33F6-9401-3BF3-ABCDDEEB614B}"/>
              </a:ext>
            </a:extLst>
          </p:cNvPr>
          <p:cNvCxnSpPr>
            <a:cxnSpLocks noChangeShapeType="1"/>
          </p:cNvCxnSpPr>
          <p:nvPr/>
        </p:nvCxnSpPr>
        <p:spPr bwMode="auto">
          <a:xfrm flipV="1">
            <a:off x="6342063" y="4221163"/>
            <a:ext cx="0" cy="495300"/>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cxnSp>
        <p:nvCxnSpPr>
          <p:cNvPr id="71" name="Straight Connector 70">
            <a:extLst>
              <a:ext uri="{FF2B5EF4-FFF2-40B4-BE49-F238E27FC236}">
                <a16:creationId xmlns:a16="http://schemas.microsoft.com/office/drawing/2014/main" id="{70F79238-07FD-6F88-0835-F99581806D5A}"/>
              </a:ext>
            </a:extLst>
          </p:cNvPr>
          <p:cNvCxnSpPr>
            <a:cxnSpLocks noChangeShapeType="1"/>
          </p:cNvCxnSpPr>
          <p:nvPr/>
        </p:nvCxnSpPr>
        <p:spPr bwMode="auto">
          <a:xfrm>
            <a:off x="6342063" y="4716463"/>
            <a:ext cx="1079500" cy="0"/>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cxnSp>
        <p:nvCxnSpPr>
          <p:cNvPr id="72" name="Straight Connector 71">
            <a:extLst>
              <a:ext uri="{FF2B5EF4-FFF2-40B4-BE49-F238E27FC236}">
                <a16:creationId xmlns:a16="http://schemas.microsoft.com/office/drawing/2014/main" id="{5AB4D3CC-5597-5A29-65D3-92A8FE8AAFE2}"/>
              </a:ext>
            </a:extLst>
          </p:cNvPr>
          <p:cNvCxnSpPr>
            <a:cxnSpLocks noChangeShapeType="1"/>
          </p:cNvCxnSpPr>
          <p:nvPr/>
        </p:nvCxnSpPr>
        <p:spPr bwMode="auto">
          <a:xfrm flipH="1" flipV="1">
            <a:off x="7421563" y="4211638"/>
            <a:ext cx="6350" cy="504825"/>
          </a:xfrm>
          <a:prstGeom prst="line">
            <a:avLst/>
          </a:prstGeom>
          <a:noFill/>
          <a:ln w="2540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3" name="Straight Connector 72">
            <a:extLst>
              <a:ext uri="{FF2B5EF4-FFF2-40B4-BE49-F238E27FC236}">
                <a16:creationId xmlns:a16="http://schemas.microsoft.com/office/drawing/2014/main" id="{ABE84E94-5EA2-89A8-74FA-23A41615FB6E}"/>
              </a:ext>
            </a:extLst>
          </p:cNvPr>
          <p:cNvCxnSpPr>
            <a:cxnSpLocks noChangeShapeType="1"/>
          </p:cNvCxnSpPr>
          <p:nvPr/>
        </p:nvCxnSpPr>
        <p:spPr bwMode="auto">
          <a:xfrm flipV="1">
            <a:off x="571500" y="6116638"/>
            <a:ext cx="0" cy="360362"/>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cxnSp>
        <p:nvCxnSpPr>
          <p:cNvPr id="74" name="Straight Connector 73">
            <a:extLst>
              <a:ext uri="{FF2B5EF4-FFF2-40B4-BE49-F238E27FC236}">
                <a16:creationId xmlns:a16="http://schemas.microsoft.com/office/drawing/2014/main" id="{9C9626B8-D24E-EAB9-A84B-AD26E0B94E77}"/>
              </a:ext>
            </a:extLst>
          </p:cNvPr>
          <p:cNvCxnSpPr>
            <a:cxnSpLocks noChangeShapeType="1"/>
          </p:cNvCxnSpPr>
          <p:nvPr/>
        </p:nvCxnSpPr>
        <p:spPr bwMode="auto">
          <a:xfrm flipV="1">
            <a:off x="1973263" y="6116638"/>
            <a:ext cx="0" cy="360362"/>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cxnSp>
        <p:nvCxnSpPr>
          <p:cNvPr id="75" name="Straight Connector 74">
            <a:extLst>
              <a:ext uri="{FF2B5EF4-FFF2-40B4-BE49-F238E27FC236}">
                <a16:creationId xmlns:a16="http://schemas.microsoft.com/office/drawing/2014/main" id="{73789373-D2A6-1EFE-DF33-195DFC421F56}"/>
              </a:ext>
            </a:extLst>
          </p:cNvPr>
          <p:cNvCxnSpPr>
            <a:cxnSpLocks noChangeShapeType="1"/>
          </p:cNvCxnSpPr>
          <p:nvPr/>
        </p:nvCxnSpPr>
        <p:spPr bwMode="auto">
          <a:xfrm>
            <a:off x="555625" y="6477000"/>
            <a:ext cx="3049588" cy="0"/>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cxnSp>
        <p:nvCxnSpPr>
          <p:cNvPr id="76" name="Straight Connector 75">
            <a:extLst>
              <a:ext uri="{FF2B5EF4-FFF2-40B4-BE49-F238E27FC236}">
                <a16:creationId xmlns:a16="http://schemas.microsoft.com/office/drawing/2014/main" id="{9F7CDD47-53E6-4A46-1E5E-E8CCD4AE8EEE}"/>
              </a:ext>
            </a:extLst>
          </p:cNvPr>
          <p:cNvCxnSpPr>
            <a:cxnSpLocks noChangeShapeType="1"/>
          </p:cNvCxnSpPr>
          <p:nvPr/>
        </p:nvCxnSpPr>
        <p:spPr bwMode="auto">
          <a:xfrm flipV="1">
            <a:off x="3605213" y="6116638"/>
            <a:ext cx="0" cy="360362"/>
          </a:xfrm>
          <a:prstGeom prst="line">
            <a:avLst/>
          </a:prstGeom>
          <a:noFill/>
          <a:ln w="25400"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77" name="TextBox 76">
            <a:extLst>
              <a:ext uri="{FF2B5EF4-FFF2-40B4-BE49-F238E27FC236}">
                <a16:creationId xmlns:a16="http://schemas.microsoft.com/office/drawing/2014/main" id="{07AF2307-8BD0-EBAD-EAAD-45592F222239}"/>
              </a:ext>
            </a:extLst>
          </p:cNvPr>
          <p:cNvSpPr txBox="1"/>
          <p:nvPr/>
        </p:nvSpPr>
        <p:spPr>
          <a:xfrm>
            <a:off x="4329113" y="5335588"/>
            <a:ext cx="3679825" cy="1022350"/>
          </a:xfrm>
          <a:prstGeom prst="roundRect">
            <a:avLst/>
          </a:prstGeom>
          <a:ln/>
        </p:spPr>
        <p:style>
          <a:lnRef idx="1">
            <a:schemeClr val="accent6"/>
          </a:lnRef>
          <a:fillRef idx="2">
            <a:schemeClr val="accent6"/>
          </a:fillRef>
          <a:effectRef idx="1">
            <a:schemeClr val="accent6"/>
          </a:effectRef>
          <a:fontRef idx="minor">
            <a:schemeClr val="dk1"/>
          </a:fontRef>
        </p:style>
        <p:txBody>
          <a:bodyP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sz="1800" b="0" i="0" u="none" strike="noStrike" kern="1200" cap="none" spc="0" normalizeH="0" baseline="0" noProof="0" dirty="0">
                <a:ln>
                  <a:noFill/>
                </a:ln>
                <a:solidFill>
                  <a:srgbClr val="2F2B20"/>
                </a:solidFill>
                <a:effectLst/>
                <a:uLnTx/>
                <a:uFillTx/>
                <a:latin typeface="Calibri"/>
                <a:ea typeface="+mn-ea"/>
                <a:cs typeface="+mn-cs"/>
              </a:rPr>
              <a:t>CHG_HOUR is a non-key column that is dependent on the non-key column JOB_CLASS</a:t>
            </a:r>
          </a:p>
        </p:txBody>
      </p:sp>
      <p:cxnSp>
        <p:nvCxnSpPr>
          <p:cNvPr id="78" name="Straight Arrow Connector 77">
            <a:extLst>
              <a:ext uri="{FF2B5EF4-FFF2-40B4-BE49-F238E27FC236}">
                <a16:creationId xmlns:a16="http://schemas.microsoft.com/office/drawing/2014/main" id="{39E58C81-B9EA-A910-D2EB-DCE793BF9759}"/>
              </a:ext>
            </a:extLst>
          </p:cNvPr>
          <p:cNvCxnSpPr>
            <a:stCxn id="77" idx="0"/>
          </p:cNvCxnSpPr>
          <p:nvPr/>
        </p:nvCxnSpPr>
        <p:spPr bwMode="auto">
          <a:xfrm flipV="1">
            <a:off x="6169025" y="4773613"/>
            <a:ext cx="544513" cy="561975"/>
          </a:xfrm>
          <a:prstGeom prst="straightConnector1">
            <a:avLst/>
          </a:prstGeom>
          <a:ln>
            <a:headEnd type="none" w="med" len="med"/>
            <a:tailEnd type="triangle"/>
          </a:ln>
        </p:spPr>
        <p:style>
          <a:lnRef idx="1">
            <a:schemeClr val="accent6"/>
          </a:lnRef>
          <a:fillRef idx="2">
            <a:schemeClr val="accent6"/>
          </a:fillRef>
          <a:effectRef idx="1">
            <a:schemeClr val="accent6"/>
          </a:effectRef>
          <a:fontRef idx="minor">
            <a:schemeClr val="dk1"/>
          </a:fontRef>
        </p:style>
      </p:cxnSp>
      <p:sp>
        <p:nvSpPr>
          <p:cNvPr id="37" name="Title 1">
            <a:extLst>
              <a:ext uri="{FF2B5EF4-FFF2-40B4-BE49-F238E27FC236}">
                <a16:creationId xmlns:a16="http://schemas.microsoft.com/office/drawing/2014/main" id="{22C05CE6-B31B-8D43-CD4E-5B2FC00C500B}"/>
              </a:ext>
            </a:extLst>
          </p:cNvPr>
          <p:cNvSpPr>
            <a:spLocks noGrp="1"/>
          </p:cNvSpPr>
          <p:nvPr>
            <p:ph type="title"/>
          </p:nvPr>
        </p:nvSpPr>
        <p:spPr>
          <a:xfrm>
            <a:off x="457200" y="76200"/>
            <a:ext cx="7620000" cy="1143000"/>
          </a:xfrm>
        </p:spPr>
        <p:txBody>
          <a:bodyPr/>
          <a:lstStyle/>
          <a:p>
            <a:pPr algn="ctr">
              <a:defRPr/>
            </a:pPr>
            <a:r>
              <a:rPr lang="en-US" dirty="0"/>
              <a:t>Relational Database Normalization</a:t>
            </a:r>
            <a:endParaRPr lang="en-CA"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50">
                                            <p:txEl>
                                              <p:pRg st="0" end="0"/>
                                            </p:txEl>
                                          </p:spTgt>
                                        </p:tgtEl>
                                        <p:attrNameLst>
                                          <p:attrName>style.visibility</p:attrName>
                                        </p:attrNameLst>
                                      </p:cBhvr>
                                      <p:to>
                                        <p:strVal val="visible"/>
                                      </p:to>
                                    </p:set>
                                    <p:animEffect transition="in" filter="wipe(left)">
                                      <p:cBhvr>
                                        <p:cTn id="7" dur="500"/>
                                        <p:tgtEl>
                                          <p:spTgt spid="5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60"/>
                                        </p:tgtEl>
                                        <p:attrNameLst>
                                          <p:attrName>style.visibility</p:attrName>
                                        </p:attrNameLst>
                                      </p:cBhvr>
                                      <p:to>
                                        <p:strVal val="visible"/>
                                      </p:to>
                                    </p:set>
                                    <p:animEffect transition="in" filter="wipe(up)">
                                      <p:cBhvr>
                                        <p:cTn id="12" dur="500"/>
                                        <p:tgtEl>
                                          <p:spTgt spid="60"/>
                                        </p:tgtEl>
                                      </p:cBhvr>
                                    </p:animEffect>
                                  </p:childTnLst>
                                </p:cTn>
                              </p:par>
                            </p:childTnLst>
                          </p:cTn>
                        </p:par>
                        <p:par>
                          <p:cTn id="13" fill="hold" nodeType="afterGroup">
                            <p:stCondLst>
                              <p:cond delay="500"/>
                            </p:stCondLst>
                            <p:childTnLst>
                              <p:par>
                                <p:cTn id="14" presetID="22" presetClass="entr" presetSubtype="8" fill="hold" nodeType="afterEffect">
                                  <p:stCondLst>
                                    <p:cond delay="0"/>
                                  </p:stCondLst>
                                  <p:childTnLst>
                                    <p:set>
                                      <p:cBhvr>
                                        <p:cTn id="15" dur="1" fill="hold">
                                          <p:stCondLst>
                                            <p:cond delay="0"/>
                                          </p:stCondLst>
                                        </p:cTn>
                                        <p:tgtEl>
                                          <p:spTgt spid="54"/>
                                        </p:tgtEl>
                                        <p:attrNameLst>
                                          <p:attrName>style.visibility</p:attrName>
                                        </p:attrNameLst>
                                      </p:cBhvr>
                                      <p:to>
                                        <p:strVal val="visible"/>
                                      </p:to>
                                    </p:set>
                                    <p:animEffect transition="in" filter="wipe(left)">
                                      <p:cBhvr>
                                        <p:cTn id="16" dur="500"/>
                                        <p:tgtEl>
                                          <p:spTgt spid="54"/>
                                        </p:tgtEl>
                                      </p:cBhvr>
                                    </p:animEffect>
                                  </p:childTnLst>
                                </p:cTn>
                              </p:par>
                            </p:childTnLst>
                          </p:cTn>
                        </p:par>
                        <p:par>
                          <p:cTn id="17" fill="hold" nodeType="afterGroup">
                            <p:stCondLst>
                              <p:cond delay="1000"/>
                            </p:stCondLst>
                            <p:childTnLst>
                              <p:par>
                                <p:cTn id="18" presetID="22" presetClass="entr" presetSubtype="8" fill="hold" nodeType="afterEffect">
                                  <p:stCondLst>
                                    <p:cond delay="0"/>
                                  </p:stCondLst>
                                  <p:childTnLst>
                                    <p:set>
                                      <p:cBhvr>
                                        <p:cTn id="19" dur="1" fill="hold">
                                          <p:stCondLst>
                                            <p:cond delay="0"/>
                                          </p:stCondLst>
                                        </p:cTn>
                                        <p:tgtEl>
                                          <p:spTgt spid="55"/>
                                        </p:tgtEl>
                                        <p:attrNameLst>
                                          <p:attrName>style.visibility</p:attrName>
                                        </p:attrNameLst>
                                      </p:cBhvr>
                                      <p:to>
                                        <p:strVal val="visible"/>
                                      </p:to>
                                    </p:set>
                                    <p:animEffect transition="in" filter="wipe(left)">
                                      <p:cBhvr>
                                        <p:cTn id="20" dur="500"/>
                                        <p:tgtEl>
                                          <p:spTgt spid="55"/>
                                        </p:tgtEl>
                                      </p:cBhvr>
                                    </p:animEffect>
                                  </p:childTnLst>
                                </p:cTn>
                              </p:par>
                            </p:childTnLst>
                          </p:cTn>
                        </p:par>
                        <p:par>
                          <p:cTn id="21" fill="hold" nodeType="afterGroup">
                            <p:stCondLst>
                              <p:cond delay="1500"/>
                            </p:stCondLst>
                            <p:childTnLst>
                              <p:par>
                                <p:cTn id="22" presetID="22" presetClass="entr" presetSubtype="1" fill="hold" nodeType="afterEffect">
                                  <p:stCondLst>
                                    <p:cond delay="0"/>
                                  </p:stCondLst>
                                  <p:childTnLst>
                                    <p:set>
                                      <p:cBhvr>
                                        <p:cTn id="23" dur="1" fill="hold">
                                          <p:stCondLst>
                                            <p:cond delay="0"/>
                                          </p:stCondLst>
                                        </p:cTn>
                                        <p:tgtEl>
                                          <p:spTgt spid="63"/>
                                        </p:tgtEl>
                                        <p:attrNameLst>
                                          <p:attrName>style.visibility</p:attrName>
                                        </p:attrNameLst>
                                      </p:cBhvr>
                                      <p:to>
                                        <p:strVal val="visible"/>
                                      </p:to>
                                    </p:set>
                                    <p:animEffect transition="in" filter="wipe(up)">
                                      <p:cBhvr>
                                        <p:cTn id="24" dur="500"/>
                                        <p:tgtEl>
                                          <p:spTgt spid="63"/>
                                        </p:tgtEl>
                                      </p:cBhvr>
                                    </p:animEffect>
                                  </p:childTnLst>
                                </p:cTn>
                              </p:par>
                            </p:childTnLst>
                          </p:cTn>
                        </p:par>
                        <p:par>
                          <p:cTn id="25" fill="hold" nodeType="afterGroup">
                            <p:stCondLst>
                              <p:cond delay="2000"/>
                            </p:stCondLst>
                            <p:childTnLst>
                              <p:par>
                                <p:cTn id="26" presetID="22" presetClass="entr" presetSubtype="8" fill="hold" nodeType="afterEffect">
                                  <p:stCondLst>
                                    <p:cond delay="0"/>
                                  </p:stCondLst>
                                  <p:childTnLst>
                                    <p:set>
                                      <p:cBhvr>
                                        <p:cTn id="27" dur="1" fill="hold">
                                          <p:stCondLst>
                                            <p:cond delay="0"/>
                                          </p:stCondLst>
                                        </p:cTn>
                                        <p:tgtEl>
                                          <p:spTgt spid="64"/>
                                        </p:tgtEl>
                                        <p:attrNameLst>
                                          <p:attrName>style.visibility</p:attrName>
                                        </p:attrNameLst>
                                      </p:cBhvr>
                                      <p:to>
                                        <p:strVal val="visible"/>
                                      </p:to>
                                    </p:set>
                                    <p:animEffect transition="in" filter="wipe(left)">
                                      <p:cBhvr>
                                        <p:cTn id="28" dur="500"/>
                                        <p:tgtEl>
                                          <p:spTgt spid="64"/>
                                        </p:tgtEl>
                                      </p:cBhvr>
                                    </p:animEffect>
                                  </p:childTnLst>
                                </p:cTn>
                              </p:par>
                            </p:childTnLst>
                          </p:cTn>
                        </p:par>
                        <p:par>
                          <p:cTn id="29" fill="hold" nodeType="afterGroup">
                            <p:stCondLst>
                              <p:cond delay="2500"/>
                            </p:stCondLst>
                            <p:childTnLst>
                              <p:par>
                                <p:cTn id="30" presetID="22" presetClass="entr" presetSubtype="4" fill="hold" nodeType="afterEffect">
                                  <p:stCondLst>
                                    <p:cond delay="0"/>
                                  </p:stCondLst>
                                  <p:childTnLst>
                                    <p:set>
                                      <p:cBhvr>
                                        <p:cTn id="31" dur="1" fill="hold">
                                          <p:stCondLst>
                                            <p:cond delay="0"/>
                                          </p:stCondLst>
                                        </p:cTn>
                                        <p:tgtEl>
                                          <p:spTgt spid="65"/>
                                        </p:tgtEl>
                                        <p:attrNameLst>
                                          <p:attrName>style.visibility</p:attrName>
                                        </p:attrNameLst>
                                      </p:cBhvr>
                                      <p:to>
                                        <p:strVal val="visible"/>
                                      </p:to>
                                    </p:set>
                                    <p:animEffect transition="in" filter="wipe(down)">
                                      <p:cBhvr>
                                        <p:cTn id="32" dur="500"/>
                                        <p:tgtEl>
                                          <p:spTgt spid="6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61"/>
                                        </p:tgtEl>
                                        <p:attrNameLst>
                                          <p:attrName>style.visibility</p:attrName>
                                        </p:attrNameLst>
                                      </p:cBhvr>
                                      <p:to>
                                        <p:strVal val="visible"/>
                                      </p:to>
                                    </p:set>
                                    <p:animEffect transition="in" filter="wipe(up)">
                                      <p:cBhvr>
                                        <p:cTn id="37" dur="500"/>
                                        <p:tgtEl>
                                          <p:spTgt spid="61"/>
                                        </p:tgtEl>
                                      </p:cBhvr>
                                    </p:animEffect>
                                  </p:childTnLst>
                                </p:cTn>
                              </p:par>
                            </p:childTnLst>
                          </p:cTn>
                        </p:par>
                        <p:par>
                          <p:cTn id="38" fill="hold" nodeType="afterGroup">
                            <p:stCondLst>
                              <p:cond delay="500"/>
                            </p:stCondLst>
                            <p:childTnLst>
                              <p:par>
                                <p:cTn id="39" presetID="22" presetClass="entr" presetSubtype="8" fill="hold" nodeType="afterEffect">
                                  <p:stCondLst>
                                    <p:cond delay="0"/>
                                  </p:stCondLst>
                                  <p:childTnLst>
                                    <p:set>
                                      <p:cBhvr>
                                        <p:cTn id="40" dur="1" fill="hold">
                                          <p:stCondLst>
                                            <p:cond delay="0"/>
                                          </p:stCondLst>
                                        </p:cTn>
                                        <p:tgtEl>
                                          <p:spTgt spid="56"/>
                                        </p:tgtEl>
                                        <p:attrNameLst>
                                          <p:attrName>style.visibility</p:attrName>
                                        </p:attrNameLst>
                                      </p:cBhvr>
                                      <p:to>
                                        <p:strVal val="visible"/>
                                      </p:to>
                                    </p:set>
                                    <p:animEffect transition="in" filter="wipe(left)">
                                      <p:cBhvr>
                                        <p:cTn id="41" dur="500"/>
                                        <p:tgtEl>
                                          <p:spTgt spid="56"/>
                                        </p:tgtEl>
                                      </p:cBhvr>
                                    </p:animEffect>
                                  </p:childTnLst>
                                </p:cTn>
                              </p:par>
                            </p:childTnLst>
                          </p:cTn>
                        </p:par>
                        <p:par>
                          <p:cTn id="42" fill="hold" nodeType="afterGroup">
                            <p:stCondLst>
                              <p:cond delay="1000"/>
                            </p:stCondLst>
                            <p:childTnLst>
                              <p:par>
                                <p:cTn id="43" presetID="22" presetClass="entr" presetSubtype="8" fill="hold" nodeType="afterEffect">
                                  <p:stCondLst>
                                    <p:cond delay="0"/>
                                  </p:stCondLst>
                                  <p:childTnLst>
                                    <p:set>
                                      <p:cBhvr>
                                        <p:cTn id="44" dur="1" fill="hold">
                                          <p:stCondLst>
                                            <p:cond delay="0"/>
                                          </p:stCondLst>
                                        </p:cTn>
                                        <p:tgtEl>
                                          <p:spTgt spid="58"/>
                                        </p:tgtEl>
                                        <p:attrNameLst>
                                          <p:attrName>style.visibility</p:attrName>
                                        </p:attrNameLst>
                                      </p:cBhvr>
                                      <p:to>
                                        <p:strVal val="visible"/>
                                      </p:to>
                                    </p:set>
                                    <p:animEffect transition="in" filter="wipe(left)">
                                      <p:cBhvr>
                                        <p:cTn id="45" dur="500"/>
                                        <p:tgtEl>
                                          <p:spTgt spid="58"/>
                                        </p:tgtEl>
                                      </p:cBhvr>
                                    </p:animEffect>
                                  </p:childTnLst>
                                </p:cTn>
                              </p:par>
                            </p:childTnLst>
                          </p:cTn>
                        </p:par>
                        <p:par>
                          <p:cTn id="46" fill="hold" nodeType="afterGroup">
                            <p:stCondLst>
                              <p:cond delay="1500"/>
                            </p:stCondLst>
                            <p:childTnLst>
                              <p:par>
                                <p:cTn id="47" presetID="22" presetClass="entr" presetSubtype="1" fill="hold" nodeType="afterEffect">
                                  <p:stCondLst>
                                    <p:cond delay="0"/>
                                  </p:stCondLst>
                                  <p:childTnLst>
                                    <p:set>
                                      <p:cBhvr>
                                        <p:cTn id="48" dur="1" fill="hold">
                                          <p:stCondLst>
                                            <p:cond delay="0"/>
                                          </p:stCondLst>
                                        </p:cTn>
                                        <p:tgtEl>
                                          <p:spTgt spid="66"/>
                                        </p:tgtEl>
                                        <p:attrNameLst>
                                          <p:attrName>style.visibility</p:attrName>
                                        </p:attrNameLst>
                                      </p:cBhvr>
                                      <p:to>
                                        <p:strVal val="visible"/>
                                      </p:to>
                                    </p:set>
                                    <p:animEffect transition="in" filter="wipe(up)">
                                      <p:cBhvr>
                                        <p:cTn id="49" dur="500"/>
                                        <p:tgtEl>
                                          <p:spTgt spid="66"/>
                                        </p:tgtEl>
                                      </p:cBhvr>
                                    </p:animEffect>
                                  </p:childTnLst>
                                </p:cTn>
                              </p:par>
                            </p:childTnLst>
                          </p:cTn>
                        </p:par>
                        <p:par>
                          <p:cTn id="50" fill="hold" nodeType="afterGroup">
                            <p:stCondLst>
                              <p:cond delay="2000"/>
                            </p:stCondLst>
                            <p:childTnLst>
                              <p:par>
                                <p:cTn id="51" presetID="22" presetClass="entr" presetSubtype="8" fill="hold" nodeType="afterEffect">
                                  <p:stCondLst>
                                    <p:cond delay="0"/>
                                  </p:stCondLst>
                                  <p:childTnLst>
                                    <p:set>
                                      <p:cBhvr>
                                        <p:cTn id="52" dur="1" fill="hold">
                                          <p:stCondLst>
                                            <p:cond delay="0"/>
                                          </p:stCondLst>
                                        </p:cTn>
                                        <p:tgtEl>
                                          <p:spTgt spid="67"/>
                                        </p:tgtEl>
                                        <p:attrNameLst>
                                          <p:attrName>style.visibility</p:attrName>
                                        </p:attrNameLst>
                                      </p:cBhvr>
                                      <p:to>
                                        <p:strVal val="visible"/>
                                      </p:to>
                                    </p:set>
                                    <p:animEffect transition="in" filter="wipe(left)">
                                      <p:cBhvr>
                                        <p:cTn id="53" dur="500"/>
                                        <p:tgtEl>
                                          <p:spTgt spid="67"/>
                                        </p:tgtEl>
                                      </p:cBhvr>
                                    </p:animEffect>
                                  </p:childTnLst>
                                </p:cTn>
                              </p:par>
                            </p:childTnLst>
                          </p:cTn>
                        </p:par>
                        <p:par>
                          <p:cTn id="54" fill="hold" nodeType="afterGroup">
                            <p:stCondLst>
                              <p:cond delay="2500"/>
                            </p:stCondLst>
                            <p:childTnLst>
                              <p:par>
                                <p:cTn id="55" presetID="22" presetClass="entr" presetSubtype="4" fill="hold" nodeType="afterEffect">
                                  <p:stCondLst>
                                    <p:cond delay="0"/>
                                  </p:stCondLst>
                                  <p:childTnLst>
                                    <p:set>
                                      <p:cBhvr>
                                        <p:cTn id="56" dur="1" fill="hold">
                                          <p:stCondLst>
                                            <p:cond delay="0"/>
                                          </p:stCondLst>
                                        </p:cTn>
                                        <p:tgtEl>
                                          <p:spTgt spid="68"/>
                                        </p:tgtEl>
                                        <p:attrNameLst>
                                          <p:attrName>style.visibility</p:attrName>
                                        </p:attrNameLst>
                                      </p:cBhvr>
                                      <p:to>
                                        <p:strVal val="visible"/>
                                      </p:to>
                                    </p:set>
                                    <p:animEffect transition="in" filter="wipe(down)">
                                      <p:cBhvr>
                                        <p:cTn id="57" dur="500"/>
                                        <p:tgtEl>
                                          <p:spTgt spid="68"/>
                                        </p:tgtEl>
                                      </p:cBhvr>
                                    </p:animEffect>
                                  </p:childTnLst>
                                </p:cTn>
                              </p:par>
                              <p:par>
                                <p:cTn id="58" presetID="22" presetClass="entr" presetSubtype="4" fill="hold" nodeType="withEffect">
                                  <p:stCondLst>
                                    <p:cond delay="0"/>
                                  </p:stCondLst>
                                  <p:childTnLst>
                                    <p:set>
                                      <p:cBhvr>
                                        <p:cTn id="59" dur="1" fill="hold">
                                          <p:stCondLst>
                                            <p:cond delay="0"/>
                                          </p:stCondLst>
                                        </p:cTn>
                                        <p:tgtEl>
                                          <p:spTgt spid="69"/>
                                        </p:tgtEl>
                                        <p:attrNameLst>
                                          <p:attrName>style.visibility</p:attrName>
                                        </p:attrNameLst>
                                      </p:cBhvr>
                                      <p:to>
                                        <p:strVal val="visible"/>
                                      </p:to>
                                    </p:set>
                                    <p:animEffect transition="in" filter="wipe(down)">
                                      <p:cBhvr>
                                        <p:cTn id="60" dur="500"/>
                                        <p:tgtEl>
                                          <p:spTgt spid="69"/>
                                        </p:tgtEl>
                                      </p:cBhvr>
                                    </p:animEffect>
                                  </p:childTnLst>
                                </p:cTn>
                              </p:par>
                            </p:childTnLst>
                          </p:cTn>
                        </p:par>
                        <p:par>
                          <p:cTn id="61" fill="hold" nodeType="afterGroup">
                            <p:stCondLst>
                              <p:cond delay="3000"/>
                            </p:stCondLst>
                            <p:childTnLst>
                              <p:par>
                                <p:cTn id="62" presetID="22" presetClass="entr" presetSubtype="1" fill="hold" nodeType="afterEffect">
                                  <p:stCondLst>
                                    <p:cond delay="0"/>
                                  </p:stCondLst>
                                  <p:childTnLst>
                                    <p:set>
                                      <p:cBhvr>
                                        <p:cTn id="63" dur="1" fill="hold">
                                          <p:stCondLst>
                                            <p:cond delay="0"/>
                                          </p:stCondLst>
                                        </p:cTn>
                                        <p:tgtEl>
                                          <p:spTgt spid="70"/>
                                        </p:tgtEl>
                                        <p:attrNameLst>
                                          <p:attrName>style.visibility</p:attrName>
                                        </p:attrNameLst>
                                      </p:cBhvr>
                                      <p:to>
                                        <p:strVal val="visible"/>
                                      </p:to>
                                    </p:set>
                                    <p:animEffect transition="in" filter="wipe(up)">
                                      <p:cBhvr>
                                        <p:cTn id="64" dur="500"/>
                                        <p:tgtEl>
                                          <p:spTgt spid="70"/>
                                        </p:tgtEl>
                                      </p:cBhvr>
                                    </p:animEffect>
                                  </p:childTnLst>
                                </p:cTn>
                              </p:par>
                            </p:childTnLst>
                          </p:cTn>
                        </p:par>
                        <p:par>
                          <p:cTn id="65" fill="hold" nodeType="afterGroup">
                            <p:stCondLst>
                              <p:cond delay="3500"/>
                            </p:stCondLst>
                            <p:childTnLst>
                              <p:par>
                                <p:cTn id="66" presetID="22" presetClass="entr" presetSubtype="8" fill="hold" nodeType="afterEffect">
                                  <p:stCondLst>
                                    <p:cond delay="0"/>
                                  </p:stCondLst>
                                  <p:childTnLst>
                                    <p:set>
                                      <p:cBhvr>
                                        <p:cTn id="67" dur="1" fill="hold">
                                          <p:stCondLst>
                                            <p:cond delay="0"/>
                                          </p:stCondLst>
                                        </p:cTn>
                                        <p:tgtEl>
                                          <p:spTgt spid="71"/>
                                        </p:tgtEl>
                                        <p:attrNameLst>
                                          <p:attrName>style.visibility</p:attrName>
                                        </p:attrNameLst>
                                      </p:cBhvr>
                                      <p:to>
                                        <p:strVal val="visible"/>
                                      </p:to>
                                    </p:set>
                                    <p:animEffect transition="in" filter="wipe(left)">
                                      <p:cBhvr>
                                        <p:cTn id="68" dur="500"/>
                                        <p:tgtEl>
                                          <p:spTgt spid="71"/>
                                        </p:tgtEl>
                                      </p:cBhvr>
                                    </p:animEffect>
                                  </p:childTnLst>
                                </p:cTn>
                              </p:par>
                            </p:childTnLst>
                          </p:cTn>
                        </p:par>
                        <p:par>
                          <p:cTn id="69" fill="hold" nodeType="afterGroup">
                            <p:stCondLst>
                              <p:cond delay="4000"/>
                            </p:stCondLst>
                            <p:childTnLst>
                              <p:par>
                                <p:cTn id="70" presetID="22" presetClass="entr" presetSubtype="4" fill="hold" nodeType="afterEffect">
                                  <p:stCondLst>
                                    <p:cond delay="0"/>
                                  </p:stCondLst>
                                  <p:childTnLst>
                                    <p:set>
                                      <p:cBhvr>
                                        <p:cTn id="71" dur="1" fill="hold">
                                          <p:stCondLst>
                                            <p:cond delay="0"/>
                                          </p:stCondLst>
                                        </p:cTn>
                                        <p:tgtEl>
                                          <p:spTgt spid="72"/>
                                        </p:tgtEl>
                                        <p:attrNameLst>
                                          <p:attrName>style.visibility</p:attrName>
                                        </p:attrNameLst>
                                      </p:cBhvr>
                                      <p:to>
                                        <p:strVal val="visible"/>
                                      </p:to>
                                    </p:set>
                                    <p:animEffect transition="in" filter="wipe(down)">
                                      <p:cBhvr>
                                        <p:cTn id="72" dur="500"/>
                                        <p:tgtEl>
                                          <p:spTgt spid="72"/>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4" fill="hold" grpId="0" nodeType="clickEffect">
                                  <p:stCondLst>
                                    <p:cond delay="0"/>
                                  </p:stCondLst>
                                  <p:childTnLst>
                                    <p:set>
                                      <p:cBhvr>
                                        <p:cTn id="76" dur="1" fill="hold">
                                          <p:stCondLst>
                                            <p:cond delay="0"/>
                                          </p:stCondLst>
                                        </p:cTn>
                                        <p:tgtEl>
                                          <p:spTgt spid="77"/>
                                        </p:tgtEl>
                                        <p:attrNameLst>
                                          <p:attrName>style.visibility</p:attrName>
                                        </p:attrNameLst>
                                      </p:cBhvr>
                                      <p:to>
                                        <p:strVal val="visible"/>
                                      </p:to>
                                    </p:set>
                                    <p:animEffect transition="in" filter="wipe(down)">
                                      <p:cBhvr>
                                        <p:cTn id="77" dur="500"/>
                                        <p:tgtEl>
                                          <p:spTgt spid="77"/>
                                        </p:tgtEl>
                                      </p:cBhvr>
                                    </p:animEffect>
                                  </p:childTnLst>
                                </p:cTn>
                              </p:par>
                            </p:childTnLst>
                          </p:cTn>
                        </p:par>
                        <p:par>
                          <p:cTn id="78" fill="hold" nodeType="afterGroup">
                            <p:stCondLst>
                              <p:cond delay="500"/>
                            </p:stCondLst>
                            <p:childTnLst>
                              <p:par>
                                <p:cTn id="79" presetID="22" presetClass="entr" presetSubtype="4" fill="hold" nodeType="afterEffect">
                                  <p:stCondLst>
                                    <p:cond delay="0"/>
                                  </p:stCondLst>
                                  <p:childTnLst>
                                    <p:set>
                                      <p:cBhvr>
                                        <p:cTn id="80" dur="1" fill="hold">
                                          <p:stCondLst>
                                            <p:cond delay="0"/>
                                          </p:stCondLst>
                                        </p:cTn>
                                        <p:tgtEl>
                                          <p:spTgt spid="78"/>
                                        </p:tgtEl>
                                        <p:attrNameLst>
                                          <p:attrName>style.visibility</p:attrName>
                                        </p:attrNameLst>
                                      </p:cBhvr>
                                      <p:to>
                                        <p:strVal val="visible"/>
                                      </p:to>
                                    </p:set>
                                    <p:animEffect transition="in" filter="wipe(down)">
                                      <p:cBhvr>
                                        <p:cTn id="81" dur="500"/>
                                        <p:tgtEl>
                                          <p:spTgt spid="78"/>
                                        </p:tgtEl>
                                      </p:cBhvr>
                                    </p:animEffect>
                                  </p:childTnLst>
                                </p:cTn>
                              </p:par>
                            </p:childTnLst>
                          </p:cTn>
                        </p:par>
                      </p:childTnLst>
                    </p:cTn>
                  </p:par>
                  <p:par>
                    <p:cTn id="82" fill="hold" nodeType="clickPar">
                      <p:stCondLst>
                        <p:cond delay="indefinite"/>
                      </p:stCondLst>
                      <p:childTnLst>
                        <p:par>
                          <p:cTn id="83" fill="hold" nodeType="withGroup">
                            <p:stCondLst>
                              <p:cond delay="0"/>
                            </p:stCondLst>
                            <p:childTnLst>
                              <p:par>
                                <p:cTn id="84" presetID="22" presetClass="entr" presetSubtype="1" fill="hold" grpId="0" nodeType="clickEffect">
                                  <p:stCondLst>
                                    <p:cond delay="0"/>
                                  </p:stCondLst>
                                  <p:childTnLst>
                                    <p:set>
                                      <p:cBhvr>
                                        <p:cTn id="85" dur="1" fill="hold">
                                          <p:stCondLst>
                                            <p:cond delay="0"/>
                                          </p:stCondLst>
                                        </p:cTn>
                                        <p:tgtEl>
                                          <p:spTgt spid="62"/>
                                        </p:tgtEl>
                                        <p:attrNameLst>
                                          <p:attrName>style.visibility</p:attrName>
                                        </p:attrNameLst>
                                      </p:cBhvr>
                                      <p:to>
                                        <p:strVal val="visible"/>
                                      </p:to>
                                    </p:set>
                                    <p:animEffect transition="in" filter="wipe(up)">
                                      <p:cBhvr>
                                        <p:cTn id="86" dur="500"/>
                                        <p:tgtEl>
                                          <p:spTgt spid="62"/>
                                        </p:tgtEl>
                                      </p:cBhvr>
                                    </p:animEffect>
                                  </p:childTnLst>
                                </p:cTn>
                              </p:par>
                            </p:childTnLst>
                          </p:cTn>
                        </p:par>
                        <p:par>
                          <p:cTn id="87" fill="hold" nodeType="afterGroup">
                            <p:stCondLst>
                              <p:cond delay="500"/>
                            </p:stCondLst>
                            <p:childTnLst>
                              <p:par>
                                <p:cTn id="88" presetID="22" presetClass="entr" presetSubtype="8" fill="hold" nodeType="afterEffect">
                                  <p:stCondLst>
                                    <p:cond delay="0"/>
                                  </p:stCondLst>
                                  <p:childTnLst>
                                    <p:set>
                                      <p:cBhvr>
                                        <p:cTn id="89" dur="1" fill="hold">
                                          <p:stCondLst>
                                            <p:cond delay="0"/>
                                          </p:stCondLst>
                                        </p:cTn>
                                        <p:tgtEl>
                                          <p:spTgt spid="57"/>
                                        </p:tgtEl>
                                        <p:attrNameLst>
                                          <p:attrName>style.visibility</p:attrName>
                                        </p:attrNameLst>
                                      </p:cBhvr>
                                      <p:to>
                                        <p:strVal val="visible"/>
                                      </p:to>
                                    </p:set>
                                    <p:animEffect transition="in" filter="wipe(left)">
                                      <p:cBhvr>
                                        <p:cTn id="90" dur="500"/>
                                        <p:tgtEl>
                                          <p:spTgt spid="57"/>
                                        </p:tgtEl>
                                      </p:cBhvr>
                                    </p:animEffect>
                                  </p:childTnLst>
                                </p:cTn>
                              </p:par>
                            </p:childTnLst>
                          </p:cTn>
                        </p:par>
                        <p:par>
                          <p:cTn id="91" fill="hold" nodeType="afterGroup">
                            <p:stCondLst>
                              <p:cond delay="1000"/>
                            </p:stCondLst>
                            <p:childTnLst>
                              <p:par>
                                <p:cTn id="92" presetID="22" presetClass="entr" presetSubtype="8" fill="hold" nodeType="afterEffect">
                                  <p:stCondLst>
                                    <p:cond delay="0"/>
                                  </p:stCondLst>
                                  <p:childTnLst>
                                    <p:set>
                                      <p:cBhvr>
                                        <p:cTn id="93" dur="1" fill="hold">
                                          <p:stCondLst>
                                            <p:cond delay="0"/>
                                          </p:stCondLst>
                                        </p:cTn>
                                        <p:tgtEl>
                                          <p:spTgt spid="59"/>
                                        </p:tgtEl>
                                        <p:attrNameLst>
                                          <p:attrName>style.visibility</p:attrName>
                                        </p:attrNameLst>
                                      </p:cBhvr>
                                      <p:to>
                                        <p:strVal val="visible"/>
                                      </p:to>
                                    </p:set>
                                    <p:animEffect transition="in" filter="wipe(left)">
                                      <p:cBhvr>
                                        <p:cTn id="94" dur="500"/>
                                        <p:tgtEl>
                                          <p:spTgt spid="59"/>
                                        </p:tgtEl>
                                      </p:cBhvr>
                                    </p:animEffect>
                                  </p:childTnLst>
                                </p:cTn>
                              </p:par>
                            </p:childTnLst>
                          </p:cTn>
                        </p:par>
                        <p:par>
                          <p:cTn id="95" fill="hold" nodeType="afterGroup">
                            <p:stCondLst>
                              <p:cond delay="1500"/>
                            </p:stCondLst>
                            <p:childTnLst>
                              <p:par>
                                <p:cTn id="96" presetID="22" presetClass="entr" presetSubtype="1" fill="hold" nodeType="afterEffect">
                                  <p:stCondLst>
                                    <p:cond delay="0"/>
                                  </p:stCondLst>
                                  <p:childTnLst>
                                    <p:set>
                                      <p:cBhvr>
                                        <p:cTn id="97" dur="1" fill="hold">
                                          <p:stCondLst>
                                            <p:cond delay="0"/>
                                          </p:stCondLst>
                                        </p:cTn>
                                        <p:tgtEl>
                                          <p:spTgt spid="73"/>
                                        </p:tgtEl>
                                        <p:attrNameLst>
                                          <p:attrName>style.visibility</p:attrName>
                                        </p:attrNameLst>
                                      </p:cBhvr>
                                      <p:to>
                                        <p:strVal val="visible"/>
                                      </p:to>
                                    </p:set>
                                    <p:animEffect transition="in" filter="wipe(up)">
                                      <p:cBhvr>
                                        <p:cTn id="98" dur="500"/>
                                        <p:tgtEl>
                                          <p:spTgt spid="73"/>
                                        </p:tgtEl>
                                      </p:cBhvr>
                                    </p:animEffect>
                                  </p:childTnLst>
                                </p:cTn>
                              </p:par>
                              <p:par>
                                <p:cTn id="99" presetID="22" presetClass="entr" presetSubtype="1" fill="hold" nodeType="withEffect">
                                  <p:stCondLst>
                                    <p:cond delay="0"/>
                                  </p:stCondLst>
                                  <p:childTnLst>
                                    <p:set>
                                      <p:cBhvr>
                                        <p:cTn id="100" dur="1" fill="hold">
                                          <p:stCondLst>
                                            <p:cond delay="0"/>
                                          </p:stCondLst>
                                        </p:cTn>
                                        <p:tgtEl>
                                          <p:spTgt spid="74"/>
                                        </p:tgtEl>
                                        <p:attrNameLst>
                                          <p:attrName>style.visibility</p:attrName>
                                        </p:attrNameLst>
                                      </p:cBhvr>
                                      <p:to>
                                        <p:strVal val="visible"/>
                                      </p:to>
                                    </p:set>
                                    <p:animEffect transition="in" filter="wipe(up)">
                                      <p:cBhvr>
                                        <p:cTn id="101" dur="500"/>
                                        <p:tgtEl>
                                          <p:spTgt spid="74"/>
                                        </p:tgtEl>
                                      </p:cBhvr>
                                    </p:animEffect>
                                  </p:childTnLst>
                                </p:cTn>
                              </p:par>
                            </p:childTnLst>
                          </p:cTn>
                        </p:par>
                        <p:par>
                          <p:cTn id="102" fill="hold" nodeType="afterGroup">
                            <p:stCondLst>
                              <p:cond delay="2000"/>
                            </p:stCondLst>
                            <p:childTnLst>
                              <p:par>
                                <p:cTn id="103" presetID="22" presetClass="entr" presetSubtype="8" fill="hold" nodeType="afterEffect">
                                  <p:stCondLst>
                                    <p:cond delay="0"/>
                                  </p:stCondLst>
                                  <p:childTnLst>
                                    <p:set>
                                      <p:cBhvr>
                                        <p:cTn id="104" dur="1" fill="hold">
                                          <p:stCondLst>
                                            <p:cond delay="0"/>
                                          </p:stCondLst>
                                        </p:cTn>
                                        <p:tgtEl>
                                          <p:spTgt spid="75"/>
                                        </p:tgtEl>
                                        <p:attrNameLst>
                                          <p:attrName>style.visibility</p:attrName>
                                        </p:attrNameLst>
                                      </p:cBhvr>
                                      <p:to>
                                        <p:strVal val="visible"/>
                                      </p:to>
                                    </p:set>
                                    <p:animEffect transition="in" filter="wipe(left)">
                                      <p:cBhvr>
                                        <p:cTn id="105" dur="500"/>
                                        <p:tgtEl>
                                          <p:spTgt spid="75"/>
                                        </p:tgtEl>
                                      </p:cBhvr>
                                    </p:animEffect>
                                  </p:childTnLst>
                                </p:cTn>
                              </p:par>
                            </p:childTnLst>
                          </p:cTn>
                        </p:par>
                        <p:par>
                          <p:cTn id="106" fill="hold" nodeType="afterGroup">
                            <p:stCondLst>
                              <p:cond delay="2500"/>
                            </p:stCondLst>
                            <p:childTnLst>
                              <p:par>
                                <p:cTn id="107" presetID="22" presetClass="entr" presetSubtype="4" fill="hold" nodeType="afterEffect">
                                  <p:stCondLst>
                                    <p:cond delay="0"/>
                                  </p:stCondLst>
                                  <p:childTnLst>
                                    <p:set>
                                      <p:cBhvr>
                                        <p:cTn id="108" dur="1" fill="hold">
                                          <p:stCondLst>
                                            <p:cond delay="0"/>
                                          </p:stCondLst>
                                        </p:cTn>
                                        <p:tgtEl>
                                          <p:spTgt spid="76"/>
                                        </p:tgtEl>
                                        <p:attrNameLst>
                                          <p:attrName>style.visibility</p:attrName>
                                        </p:attrNameLst>
                                      </p:cBhvr>
                                      <p:to>
                                        <p:strVal val="visible"/>
                                      </p:to>
                                    </p:set>
                                    <p:animEffect transition="in" filter="wipe(down)">
                                      <p:cBhvr>
                                        <p:cTn id="109" dur="500"/>
                                        <p:tgtEl>
                                          <p:spTgt spid="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P spid="61" grpId="0"/>
      <p:bldP spid="62" grpId="0"/>
      <p:bldP spid="77" grpId="0" animBg="1"/>
    </p:bld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D0D5B7ED-D936-6837-D4C5-1C30CB71C478}"/>
              </a:ext>
            </a:extLst>
          </p:cNvPr>
          <p:cNvSpPr txBox="1">
            <a:spLocks/>
          </p:cNvSpPr>
          <p:nvPr/>
        </p:nvSpPr>
        <p:spPr bwMode="auto">
          <a:xfrm>
            <a:off x="0" y="1447800"/>
            <a:ext cx="8172450" cy="323850"/>
          </a:xfrm>
          <a:prstGeom prst="rect">
            <a:avLst/>
          </a:prstGeom>
          <a:noFill/>
          <a:ln w="9525">
            <a:noFill/>
            <a:miter lim="800000"/>
            <a:headEnd/>
            <a:tailEnd/>
          </a:ln>
        </p:spPr>
        <p:txBody>
          <a:bodyPr lIns="72000" tIns="0" rIns="72000" bIns="0"/>
          <a:lstStyle/>
          <a:p>
            <a:pPr marL="0" marR="0" lvl="0" indent="0" algn="l" defTabSz="720000" rtl="0" eaLnBrk="1" fontAlgn="base" latinLnBrk="0" hangingPunct="1">
              <a:lnSpc>
                <a:spcPts val="1800"/>
              </a:lnSpc>
              <a:spcBef>
                <a:spcPts val="0"/>
              </a:spcBef>
              <a:spcAft>
                <a:spcPts val="0"/>
              </a:spcAft>
              <a:buClrTx/>
              <a:buSzTx/>
              <a:buFontTx/>
              <a:buNone/>
              <a:tabLst>
                <a:tab pos="0" algn="l"/>
              </a:tabLst>
              <a:defRPr/>
            </a:pPr>
            <a:r>
              <a:rPr kumimoji="0" lang="en-US" sz="1800" b="1" i="0" u="none" strike="noStrike" kern="0" cap="none" spc="0" normalizeH="0" baseline="0" noProof="0" dirty="0">
                <a:ln>
                  <a:noFill/>
                </a:ln>
                <a:solidFill>
                  <a:srgbClr val="2F2B20"/>
                </a:solidFill>
                <a:effectLst/>
                <a:uLnTx/>
                <a:uFillTx/>
                <a:latin typeface="Calibri"/>
                <a:ea typeface="+mn-ea"/>
                <a:cs typeface="Calibri" pitchFamily="34" charset="0"/>
              </a:rPr>
              <a:t>Normal Forms</a:t>
            </a:r>
            <a:endParaRPr kumimoji="0" lang="en-MY" sz="1800" b="1" i="0" u="none" strike="noStrike" kern="0" cap="none" spc="0" normalizeH="0" baseline="0" noProof="0" dirty="0">
              <a:ln>
                <a:noFill/>
              </a:ln>
              <a:solidFill>
                <a:srgbClr val="2F2B20"/>
              </a:solidFill>
              <a:effectLst/>
              <a:uLnTx/>
              <a:uFillTx/>
              <a:latin typeface="Calibri"/>
              <a:ea typeface="+mn-ea"/>
              <a:cs typeface="Calibri" pitchFamily="34" charset="0"/>
            </a:endParaRPr>
          </a:p>
        </p:txBody>
      </p:sp>
      <p:sp>
        <p:nvSpPr>
          <p:cNvPr id="36" name="Content Placeholder 2">
            <a:extLst>
              <a:ext uri="{FF2B5EF4-FFF2-40B4-BE49-F238E27FC236}">
                <a16:creationId xmlns:a16="http://schemas.microsoft.com/office/drawing/2014/main" id="{BA05384F-DCD0-593B-70CD-3AB783C8DF5C}"/>
              </a:ext>
            </a:extLst>
          </p:cNvPr>
          <p:cNvSpPr txBox="1">
            <a:spLocks/>
          </p:cNvSpPr>
          <p:nvPr/>
        </p:nvSpPr>
        <p:spPr bwMode="auto">
          <a:xfrm>
            <a:off x="250825" y="1570038"/>
            <a:ext cx="8054975"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Next, create a new relation for each of our findings</a:t>
            </a:r>
            <a:endParaRPr kumimoji="0" lang="en-US" altLang="en-US" sz="32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US" altLang="en-US" sz="32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rPr>
              <a:t> </a:t>
            </a: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graphicFrame>
        <p:nvGraphicFramePr>
          <p:cNvPr id="46" name="Table 45">
            <a:extLst>
              <a:ext uri="{FF2B5EF4-FFF2-40B4-BE49-F238E27FC236}">
                <a16:creationId xmlns:a16="http://schemas.microsoft.com/office/drawing/2014/main" id="{9C7A2633-A187-5336-6CBD-AD5DA1AA9DD5}"/>
              </a:ext>
            </a:extLst>
          </p:cNvPr>
          <p:cNvGraphicFramePr>
            <a:graphicFrameLocks noGrp="1"/>
          </p:cNvGraphicFramePr>
          <p:nvPr/>
        </p:nvGraphicFramePr>
        <p:xfrm>
          <a:off x="133350" y="3090863"/>
          <a:ext cx="3240088" cy="428625"/>
        </p:xfrm>
        <a:graphic>
          <a:graphicData uri="http://schemas.openxmlformats.org/drawingml/2006/table">
            <a:tbl>
              <a:tblPr firstRow="1" bandRow="1">
                <a:tableStyleId>{5940675A-B579-460E-94D1-54222C63F5DA}</a:tableStyleId>
              </a:tblPr>
              <a:tblGrid>
                <a:gridCol w="1620044">
                  <a:extLst>
                    <a:ext uri="{9D8B030D-6E8A-4147-A177-3AD203B41FA5}">
                      <a16:colId xmlns:a16="http://schemas.microsoft.com/office/drawing/2014/main" val="20000"/>
                    </a:ext>
                  </a:extLst>
                </a:gridCol>
                <a:gridCol w="1620044">
                  <a:extLst>
                    <a:ext uri="{9D8B030D-6E8A-4147-A177-3AD203B41FA5}">
                      <a16:colId xmlns:a16="http://schemas.microsoft.com/office/drawing/2014/main" val="20001"/>
                    </a:ext>
                  </a:extLst>
                </a:gridCol>
              </a:tblGrid>
              <a:tr h="428625">
                <a:tc>
                  <a:txBody>
                    <a:bodyPr/>
                    <a:lstStyle/>
                    <a:p>
                      <a:pPr algn="ctr"/>
                      <a:r>
                        <a:rPr lang="en-CA" sz="1800" dirty="0"/>
                        <a:t>PROJ_NUM</a:t>
                      </a:r>
                      <a:endParaRPr lang="en-CA" sz="1800" b="0" dirty="0"/>
                    </a:p>
                  </a:txBody>
                  <a:tcPr marL="91432" marR="91432" marT="45736" marB="45736"/>
                </a:tc>
                <a:tc>
                  <a:txBody>
                    <a:bodyPr/>
                    <a:lstStyle/>
                    <a:p>
                      <a:pPr algn="ctr"/>
                      <a:r>
                        <a:rPr lang="en-CA" sz="1800" b="0" dirty="0"/>
                        <a:t>PROJ_NAME</a:t>
                      </a:r>
                    </a:p>
                  </a:txBody>
                  <a:tcPr marL="91432" marR="91432" marT="45736" marB="45736"/>
                </a:tc>
                <a:extLst>
                  <a:ext uri="{0D108BD9-81ED-4DB2-BD59-A6C34878D82A}">
                    <a16:rowId xmlns:a16="http://schemas.microsoft.com/office/drawing/2014/main" val="10000"/>
                  </a:ext>
                </a:extLst>
              </a:tr>
            </a:tbl>
          </a:graphicData>
        </a:graphic>
      </p:graphicFrame>
      <p:cxnSp>
        <p:nvCxnSpPr>
          <p:cNvPr id="47" name="Straight Connector 46">
            <a:extLst>
              <a:ext uri="{FF2B5EF4-FFF2-40B4-BE49-F238E27FC236}">
                <a16:creationId xmlns:a16="http://schemas.microsoft.com/office/drawing/2014/main" id="{F9E6E95E-8026-6263-B55E-4279C04BD341}"/>
              </a:ext>
            </a:extLst>
          </p:cNvPr>
          <p:cNvCxnSpPr>
            <a:cxnSpLocks noChangeShapeType="1"/>
          </p:cNvCxnSpPr>
          <p:nvPr/>
        </p:nvCxnSpPr>
        <p:spPr bwMode="auto">
          <a:xfrm>
            <a:off x="339725" y="3400425"/>
            <a:ext cx="1223963" cy="0"/>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graphicFrame>
        <p:nvGraphicFramePr>
          <p:cNvPr id="50" name="Table 49">
            <a:extLst>
              <a:ext uri="{FF2B5EF4-FFF2-40B4-BE49-F238E27FC236}">
                <a16:creationId xmlns:a16="http://schemas.microsoft.com/office/drawing/2014/main" id="{7C412C30-B3E5-6DCE-4DFC-51C6A2E5E178}"/>
              </a:ext>
            </a:extLst>
          </p:cNvPr>
          <p:cNvGraphicFramePr>
            <a:graphicFrameLocks noGrp="1"/>
          </p:cNvGraphicFramePr>
          <p:nvPr/>
        </p:nvGraphicFramePr>
        <p:xfrm>
          <a:off x="3825875" y="3078163"/>
          <a:ext cx="4616449" cy="438150"/>
        </p:xfrm>
        <a:graphic>
          <a:graphicData uri="http://schemas.openxmlformats.org/drawingml/2006/table">
            <a:tbl>
              <a:tblPr firstRow="1" bandRow="1">
                <a:tableStyleId>{5940675A-B579-460E-94D1-54222C63F5DA}</a:tableStyleId>
              </a:tblPr>
              <a:tblGrid>
                <a:gridCol w="1295659">
                  <a:extLst>
                    <a:ext uri="{9D8B030D-6E8A-4147-A177-3AD203B41FA5}">
                      <a16:colId xmlns:a16="http://schemas.microsoft.com/office/drawing/2014/main" val="20000"/>
                    </a:ext>
                  </a:extLst>
                </a:gridCol>
                <a:gridCol w="1660395">
                  <a:extLst>
                    <a:ext uri="{9D8B030D-6E8A-4147-A177-3AD203B41FA5}">
                      <a16:colId xmlns:a16="http://schemas.microsoft.com/office/drawing/2014/main" val="20001"/>
                    </a:ext>
                  </a:extLst>
                </a:gridCol>
                <a:gridCol w="1660395">
                  <a:extLst>
                    <a:ext uri="{9D8B030D-6E8A-4147-A177-3AD203B41FA5}">
                      <a16:colId xmlns:a16="http://schemas.microsoft.com/office/drawing/2014/main" val="20002"/>
                    </a:ext>
                  </a:extLst>
                </a:gridCol>
              </a:tblGrid>
              <a:tr h="438150">
                <a:tc>
                  <a:txBody>
                    <a:bodyPr/>
                    <a:lstStyle/>
                    <a:p>
                      <a:pPr algn="ctr"/>
                      <a:r>
                        <a:rPr lang="en-CA" sz="1800" dirty="0"/>
                        <a:t>EMP_NUM</a:t>
                      </a:r>
                      <a:endParaRPr lang="en-CA" sz="1800" b="0" dirty="0"/>
                    </a:p>
                  </a:txBody>
                  <a:tcPr marL="91454" marR="91454" marT="45760" marB="45760"/>
                </a:tc>
                <a:tc>
                  <a:txBody>
                    <a:bodyPr/>
                    <a:lstStyle/>
                    <a:p>
                      <a:pPr algn="ctr"/>
                      <a:r>
                        <a:rPr lang="en-CA" sz="1800" b="0" dirty="0"/>
                        <a:t>JOB_CLASS</a:t>
                      </a:r>
                    </a:p>
                  </a:txBody>
                  <a:tcPr marL="91454" marR="91454" marT="45760" marB="45760"/>
                </a:tc>
                <a:tc>
                  <a:txBody>
                    <a:bodyPr/>
                    <a:lstStyle/>
                    <a:p>
                      <a:pPr algn="ctr"/>
                      <a:r>
                        <a:rPr lang="en-CA" sz="1800" b="0" dirty="0"/>
                        <a:t>CHG_HOUR</a:t>
                      </a:r>
                    </a:p>
                  </a:txBody>
                  <a:tcPr marL="91454" marR="91454" marT="45760" marB="45760"/>
                </a:tc>
                <a:extLst>
                  <a:ext uri="{0D108BD9-81ED-4DB2-BD59-A6C34878D82A}">
                    <a16:rowId xmlns:a16="http://schemas.microsoft.com/office/drawing/2014/main" val="10000"/>
                  </a:ext>
                </a:extLst>
              </a:tr>
            </a:tbl>
          </a:graphicData>
        </a:graphic>
      </p:graphicFrame>
      <p:cxnSp>
        <p:nvCxnSpPr>
          <p:cNvPr id="51" name="Straight Connector 50">
            <a:extLst>
              <a:ext uri="{FF2B5EF4-FFF2-40B4-BE49-F238E27FC236}">
                <a16:creationId xmlns:a16="http://schemas.microsoft.com/office/drawing/2014/main" id="{EBD65586-5D16-E4FE-D3A3-8A8F19FBDDCE}"/>
              </a:ext>
            </a:extLst>
          </p:cNvPr>
          <p:cNvCxnSpPr>
            <a:cxnSpLocks noChangeShapeType="1"/>
          </p:cNvCxnSpPr>
          <p:nvPr/>
        </p:nvCxnSpPr>
        <p:spPr bwMode="auto">
          <a:xfrm>
            <a:off x="3938588" y="3389313"/>
            <a:ext cx="1074737" cy="0"/>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sp>
        <p:nvSpPr>
          <p:cNvPr id="52" name="TextBox 51">
            <a:extLst>
              <a:ext uri="{FF2B5EF4-FFF2-40B4-BE49-F238E27FC236}">
                <a16:creationId xmlns:a16="http://schemas.microsoft.com/office/drawing/2014/main" id="{70AC7E75-00A2-B6BD-4B45-3F6540EFFB6A}"/>
              </a:ext>
            </a:extLst>
          </p:cNvPr>
          <p:cNvSpPr txBox="1">
            <a:spLocks noChangeArrowheads="1"/>
          </p:cNvSpPr>
          <p:nvPr/>
        </p:nvSpPr>
        <p:spPr bwMode="auto">
          <a:xfrm>
            <a:off x="49213" y="2727325"/>
            <a:ext cx="2089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PROJECT</a:t>
            </a:r>
          </a:p>
        </p:txBody>
      </p:sp>
      <p:sp>
        <p:nvSpPr>
          <p:cNvPr id="53" name="TextBox 52">
            <a:extLst>
              <a:ext uri="{FF2B5EF4-FFF2-40B4-BE49-F238E27FC236}">
                <a16:creationId xmlns:a16="http://schemas.microsoft.com/office/drawing/2014/main" id="{E792D90D-9E35-E4A2-403A-05C572A4BF66}"/>
              </a:ext>
            </a:extLst>
          </p:cNvPr>
          <p:cNvSpPr txBox="1">
            <a:spLocks noChangeArrowheads="1"/>
          </p:cNvSpPr>
          <p:nvPr/>
        </p:nvSpPr>
        <p:spPr bwMode="auto">
          <a:xfrm>
            <a:off x="3730625" y="2714625"/>
            <a:ext cx="208756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EMPLOYEE</a:t>
            </a:r>
          </a:p>
        </p:txBody>
      </p:sp>
      <p:cxnSp>
        <p:nvCxnSpPr>
          <p:cNvPr id="54" name="Straight Connector 53">
            <a:extLst>
              <a:ext uri="{FF2B5EF4-FFF2-40B4-BE49-F238E27FC236}">
                <a16:creationId xmlns:a16="http://schemas.microsoft.com/office/drawing/2014/main" id="{711A2F0A-5310-AD4C-EDAC-51D635C9ABCE}"/>
              </a:ext>
            </a:extLst>
          </p:cNvPr>
          <p:cNvCxnSpPr>
            <a:cxnSpLocks noChangeShapeType="1"/>
          </p:cNvCxnSpPr>
          <p:nvPr/>
        </p:nvCxnSpPr>
        <p:spPr bwMode="auto">
          <a:xfrm flipV="1">
            <a:off x="881063" y="3530600"/>
            <a:ext cx="0" cy="360363"/>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cxnSp>
        <p:nvCxnSpPr>
          <p:cNvPr id="55" name="Straight Connector 54">
            <a:extLst>
              <a:ext uri="{FF2B5EF4-FFF2-40B4-BE49-F238E27FC236}">
                <a16:creationId xmlns:a16="http://schemas.microsoft.com/office/drawing/2014/main" id="{A44B29A1-1363-64FF-EE4B-AF0AA630D569}"/>
              </a:ext>
            </a:extLst>
          </p:cNvPr>
          <p:cNvCxnSpPr>
            <a:cxnSpLocks noChangeShapeType="1"/>
          </p:cNvCxnSpPr>
          <p:nvPr/>
        </p:nvCxnSpPr>
        <p:spPr bwMode="auto">
          <a:xfrm>
            <a:off x="865188" y="3900488"/>
            <a:ext cx="1573212" cy="0"/>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cxnSp>
        <p:nvCxnSpPr>
          <p:cNvPr id="56" name="Straight Connector 55">
            <a:extLst>
              <a:ext uri="{FF2B5EF4-FFF2-40B4-BE49-F238E27FC236}">
                <a16:creationId xmlns:a16="http://schemas.microsoft.com/office/drawing/2014/main" id="{4821FB3C-FDB1-73E9-DEC5-E98A9459AD54}"/>
              </a:ext>
            </a:extLst>
          </p:cNvPr>
          <p:cNvCxnSpPr>
            <a:cxnSpLocks noChangeShapeType="1"/>
          </p:cNvCxnSpPr>
          <p:nvPr/>
        </p:nvCxnSpPr>
        <p:spPr bwMode="auto">
          <a:xfrm flipV="1">
            <a:off x="2432050" y="3540125"/>
            <a:ext cx="0" cy="360363"/>
          </a:xfrm>
          <a:prstGeom prst="line">
            <a:avLst/>
          </a:prstGeom>
          <a:noFill/>
          <a:ln w="2540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7" name="Straight Connector 56">
            <a:extLst>
              <a:ext uri="{FF2B5EF4-FFF2-40B4-BE49-F238E27FC236}">
                <a16:creationId xmlns:a16="http://schemas.microsoft.com/office/drawing/2014/main" id="{BD48EE8F-0D89-E24B-2C10-EEB47B5B139B}"/>
              </a:ext>
            </a:extLst>
          </p:cNvPr>
          <p:cNvCxnSpPr>
            <a:cxnSpLocks noChangeShapeType="1"/>
          </p:cNvCxnSpPr>
          <p:nvPr/>
        </p:nvCxnSpPr>
        <p:spPr bwMode="auto">
          <a:xfrm flipV="1">
            <a:off x="4541838" y="3521075"/>
            <a:ext cx="0" cy="720725"/>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cxnSp>
        <p:nvCxnSpPr>
          <p:cNvPr id="58" name="Straight Connector 57">
            <a:extLst>
              <a:ext uri="{FF2B5EF4-FFF2-40B4-BE49-F238E27FC236}">
                <a16:creationId xmlns:a16="http://schemas.microsoft.com/office/drawing/2014/main" id="{D8365DE0-7411-A68B-C61F-A2ECD03C4E06}"/>
              </a:ext>
            </a:extLst>
          </p:cNvPr>
          <p:cNvCxnSpPr>
            <a:cxnSpLocks noChangeShapeType="1"/>
          </p:cNvCxnSpPr>
          <p:nvPr/>
        </p:nvCxnSpPr>
        <p:spPr bwMode="auto">
          <a:xfrm>
            <a:off x="4525963" y="4241800"/>
            <a:ext cx="3157537" cy="0"/>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cxnSp>
        <p:nvCxnSpPr>
          <p:cNvPr id="59" name="Straight Connector 58">
            <a:extLst>
              <a:ext uri="{FF2B5EF4-FFF2-40B4-BE49-F238E27FC236}">
                <a16:creationId xmlns:a16="http://schemas.microsoft.com/office/drawing/2014/main" id="{4DF9A7EB-58A0-1729-0368-1836C4E7A3A3}"/>
              </a:ext>
            </a:extLst>
          </p:cNvPr>
          <p:cNvCxnSpPr>
            <a:cxnSpLocks noChangeShapeType="1"/>
          </p:cNvCxnSpPr>
          <p:nvPr/>
        </p:nvCxnSpPr>
        <p:spPr bwMode="auto">
          <a:xfrm flipH="1" flipV="1">
            <a:off x="6094413" y="3530600"/>
            <a:ext cx="4762" cy="711200"/>
          </a:xfrm>
          <a:prstGeom prst="line">
            <a:avLst/>
          </a:prstGeom>
          <a:noFill/>
          <a:ln w="2540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60" name="Straight Connector 59">
            <a:extLst>
              <a:ext uri="{FF2B5EF4-FFF2-40B4-BE49-F238E27FC236}">
                <a16:creationId xmlns:a16="http://schemas.microsoft.com/office/drawing/2014/main" id="{7C091004-43B4-290C-6AF5-F03DFA5D4C12}"/>
              </a:ext>
            </a:extLst>
          </p:cNvPr>
          <p:cNvCxnSpPr>
            <a:cxnSpLocks noChangeShapeType="1"/>
          </p:cNvCxnSpPr>
          <p:nvPr/>
        </p:nvCxnSpPr>
        <p:spPr bwMode="auto">
          <a:xfrm flipH="1" flipV="1">
            <a:off x="7659688" y="3548063"/>
            <a:ext cx="6350" cy="711200"/>
          </a:xfrm>
          <a:prstGeom prst="line">
            <a:avLst/>
          </a:prstGeom>
          <a:noFill/>
          <a:ln w="2540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61" name="Straight Connector 60">
            <a:extLst>
              <a:ext uri="{FF2B5EF4-FFF2-40B4-BE49-F238E27FC236}">
                <a16:creationId xmlns:a16="http://schemas.microsoft.com/office/drawing/2014/main" id="{72A43FE6-C778-5BD7-2D6B-FA19253112EB}"/>
              </a:ext>
            </a:extLst>
          </p:cNvPr>
          <p:cNvCxnSpPr>
            <a:cxnSpLocks noChangeShapeType="1"/>
          </p:cNvCxnSpPr>
          <p:nvPr/>
        </p:nvCxnSpPr>
        <p:spPr bwMode="auto">
          <a:xfrm flipV="1">
            <a:off x="6315075" y="3530600"/>
            <a:ext cx="0" cy="493713"/>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cxnSp>
        <p:nvCxnSpPr>
          <p:cNvPr id="62" name="Straight Connector 61">
            <a:extLst>
              <a:ext uri="{FF2B5EF4-FFF2-40B4-BE49-F238E27FC236}">
                <a16:creationId xmlns:a16="http://schemas.microsoft.com/office/drawing/2014/main" id="{27590D0B-9E48-4E87-48B0-2A1EAE7D7D5B}"/>
              </a:ext>
            </a:extLst>
          </p:cNvPr>
          <p:cNvCxnSpPr>
            <a:cxnSpLocks noChangeShapeType="1"/>
          </p:cNvCxnSpPr>
          <p:nvPr/>
        </p:nvCxnSpPr>
        <p:spPr bwMode="auto">
          <a:xfrm>
            <a:off x="6315075" y="4024313"/>
            <a:ext cx="1079500" cy="0"/>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cxnSp>
        <p:nvCxnSpPr>
          <p:cNvPr id="63" name="Straight Connector 62">
            <a:extLst>
              <a:ext uri="{FF2B5EF4-FFF2-40B4-BE49-F238E27FC236}">
                <a16:creationId xmlns:a16="http://schemas.microsoft.com/office/drawing/2014/main" id="{FA12D464-AEBF-8152-08A8-21BF5B73B111}"/>
              </a:ext>
            </a:extLst>
          </p:cNvPr>
          <p:cNvCxnSpPr>
            <a:cxnSpLocks noChangeShapeType="1"/>
          </p:cNvCxnSpPr>
          <p:nvPr/>
        </p:nvCxnSpPr>
        <p:spPr bwMode="auto">
          <a:xfrm flipH="1" flipV="1">
            <a:off x="7394575" y="3521075"/>
            <a:ext cx="6350" cy="503238"/>
          </a:xfrm>
          <a:prstGeom prst="line">
            <a:avLst/>
          </a:prstGeom>
          <a:noFill/>
          <a:ln w="25400" algn="ctr">
            <a:solidFill>
              <a:schemeClr val="tx1"/>
            </a:solidFill>
            <a:round/>
            <a:headEnd/>
            <a:tailEnd type="triangle" w="med" len="med"/>
          </a:ln>
          <a:extLst>
            <a:ext uri="{909E8E84-426E-40DD-AFC4-6F175D3DCCD1}">
              <a14:hiddenFill xmlns:a14="http://schemas.microsoft.com/office/drawing/2010/main">
                <a:noFill/>
              </a14:hiddenFill>
            </a:ext>
          </a:extLst>
        </p:spPr>
      </p:cxnSp>
      <p:graphicFrame>
        <p:nvGraphicFramePr>
          <p:cNvPr id="64" name="Table 63">
            <a:extLst>
              <a:ext uri="{FF2B5EF4-FFF2-40B4-BE49-F238E27FC236}">
                <a16:creationId xmlns:a16="http://schemas.microsoft.com/office/drawing/2014/main" id="{9729B8EC-B6EA-1429-10D9-9C19B09E4AB2}"/>
              </a:ext>
            </a:extLst>
          </p:cNvPr>
          <p:cNvGraphicFramePr>
            <a:graphicFrameLocks noGrp="1"/>
          </p:cNvGraphicFramePr>
          <p:nvPr/>
        </p:nvGraphicFramePr>
        <p:xfrm>
          <a:off x="141288" y="4468813"/>
          <a:ext cx="4006849" cy="438150"/>
        </p:xfrm>
        <a:graphic>
          <a:graphicData uri="http://schemas.openxmlformats.org/drawingml/2006/table">
            <a:tbl>
              <a:tblPr firstRow="1" bandRow="1">
                <a:tableStyleId>{5940675A-B579-460E-94D1-54222C63F5DA}</a:tableStyleId>
              </a:tblPr>
              <a:tblGrid>
                <a:gridCol w="1472448">
                  <a:extLst>
                    <a:ext uri="{9D8B030D-6E8A-4147-A177-3AD203B41FA5}">
                      <a16:colId xmlns:a16="http://schemas.microsoft.com/office/drawing/2014/main" val="20000"/>
                    </a:ext>
                  </a:extLst>
                </a:gridCol>
                <a:gridCol w="1349968">
                  <a:extLst>
                    <a:ext uri="{9D8B030D-6E8A-4147-A177-3AD203B41FA5}">
                      <a16:colId xmlns:a16="http://schemas.microsoft.com/office/drawing/2014/main" val="20001"/>
                    </a:ext>
                  </a:extLst>
                </a:gridCol>
                <a:gridCol w="1184433">
                  <a:extLst>
                    <a:ext uri="{9D8B030D-6E8A-4147-A177-3AD203B41FA5}">
                      <a16:colId xmlns:a16="http://schemas.microsoft.com/office/drawing/2014/main" val="20002"/>
                    </a:ext>
                  </a:extLst>
                </a:gridCol>
              </a:tblGrid>
              <a:tr h="438150">
                <a:tc>
                  <a:txBody>
                    <a:bodyPr/>
                    <a:lstStyle/>
                    <a:p>
                      <a:pPr algn="ctr"/>
                      <a:r>
                        <a:rPr lang="en-CA" sz="1800" dirty="0"/>
                        <a:t>PROJ_NUM</a:t>
                      </a:r>
                      <a:endParaRPr lang="en-CA" sz="1800" b="0" dirty="0"/>
                    </a:p>
                  </a:txBody>
                  <a:tcPr marL="91426" marR="91426" marT="45760" marB="45760"/>
                </a:tc>
                <a:tc>
                  <a:txBody>
                    <a:bodyPr/>
                    <a:lstStyle/>
                    <a:p>
                      <a:pPr algn="ctr"/>
                      <a:r>
                        <a:rPr lang="en-CA" sz="1800" b="0" dirty="0"/>
                        <a:t>EMP_NUM</a:t>
                      </a:r>
                    </a:p>
                  </a:txBody>
                  <a:tcPr marL="91426" marR="91426" marT="45760" marB="45760"/>
                </a:tc>
                <a:tc>
                  <a:txBody>
                    <a:bodyPr/>
                    <a:lstStyle/>
                    <a:p>
                      <a:pPr algn="ctr"/>
                      <a:r>
                        <a:rPr lang="en-CA" sz="1800" b="0" dirty="0"/>
                        <a:t>HOUR</a:t>
                      </a:r>
                    </a:p>
                  </a:txBody>
                  <a:tcPr marL="91426" marR="91426" marT="45760" marB="45760"/>
                </a:tc>
                <a:extLst>
                  <a:ext uri="{0D108BD9-81ED-4DB2-BD59-A6C34878D82A}">
                    <a16:rowId xmlns:a16="http://schemas.microsoft.com/office/drawing/2014/main" val="10000"/>
                  </a:ext>
                </a:extLst>
              </a:tr>
            </a:tbl>
          </a:graphicData>
        </a:graphic>
      </p:graphicFrame>
      <p:cxnSp>
        <p:nvCxnSpPr>
          <p:cNvPr id="65" name="Straight Connector 64">
            <a:extLst>
              <a:ext uri="{FF2B5EF4-FFF2-40B4-BE49-F238E27FC236}">
                <a16:creationId xmlns:a16="http://schemas.microsoft.com/office/drawing/2014/main" id="{6A85BA80-8E42-6D7C-09AC-B7536B749E03}"/>
              </a:ext>
            </a:extLst>
          </p:cNvPr>
          <p:cNvCxnSpPr>
            <a:cxnSpLocks noChangeShapeType="1"/>
          </p:cNvCxnSpPr>
          <p:nvPr/>
        </p:nvCxnSpPr>
        <p:spPr bwMode="auto">
          <a:xfrm>
            <a:off x="285750" y="4772025"/>
            <a:ext cx="2536825" cy="0"/>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sp>
        <p:nvSpPr>
          <p:cNvPr id="66" name="TextBox 65">
            <a:extLst>
              <a:ext uri="{FF2B5EF4-FFF2-40B4-BE49-F238E27FC236}">
                <a16:creationId xmlns:a16="http://schemas.microsoft.com/office/drawing/2014/main" id="{F4D5AE1D-AE43-1D65-3BC9-E7DF7DD8CC62}"/>
              </a:ext>
            </a:extLst>
          </p:cNvPr>
          <p:cNvSpPr txBox="1">
            <a:spLocks noChangeArrowheads="1"/>
          </p:cNvSpPr>
          <p:nvPr/>
        </p:nvSpPr>
        <p:spPr bwMode="auto">
          <a:xfrm>
            <a:off x="61913" y="4087813"/>
            <a:ext cx="29178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PROJECT_ASSIGNMENT</a:t>
            </a:r>
          </a:p>
        </p:txBody>
      </p:sp>
      <p:cxnSp>
        <p:nvCxnSpPr>
          <p:cNvPr id="67" name="Straight Connector 66">
            <a:extLst>
              <a:ext uri="{FF2B5EF4-FFF2-40B4-BE49-F238E27FC236}">
                <a16:creationId xmlns:a16="http://schemas.microsoft.com/office/drawing/2014/main" id="{CC9AC5AB-71CA-2921-3469-EB91D08B7898}"/>
              </a:ext>
            </a:extLst>
          </p:cNvPr>
          <p:cNvCxnSpPr>
            <a:cxnSpLocks noChangeShapeType="1"/>
          </p:cNvCxnSpPr>
          <p:nvPr/>
        </p:nvCxnSpPr>
        <p:spPr bwMode="auto">
          <a:xfrm flipV="1">
            <a:off x="544513" y="4906963"/>
            <a:ext cx="0" cy="360362"/>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cxnSp>
        <p:nvCxnSpPr>
          <p:cNvPr id="68" name="Straight Connector 67">
            <a:extLst>
              <a:ext uri="{FF2B5EF4-FFF2-40B4-BE49-F238E27FC236}">
                <a16:creationId xmlns:a16="http://schemas.microsoft.com/office/drawing/2014/main" id="{5E14A38A-6402-3B7F-6F0F-3269A799623F}"/>
              </a:ext>
            </a:extLst>
          </p:cNvPr>
          <p:cNvCxnSpPr>
            <a:cxnSpLocks noChangeShapeType="1"/>
          </p:cNvCxnSpPr>
          <p:nvPr/>
        </p:nvCxnSpPr>
        <p:spPr bwMode="auto">
          <a:xfrm flipV="1">
            <a:off x="1946275" y="4906963"/>
            <a:ext cx="0" cy="360362"/>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cxnSp>
        <p:nvCxnSpPr>
          <p:cNvPr id="69" name="Straight Connector 68">
            <a:extLst>
              <a:ext uri="{FF2B5EF4-FFF2-40B4-BE49-F238E27FC236}">
                <a16:creationId xmlns:a16="http://schemas.microsoft.com/office/drawing/2014/main" id="{012C7ED7-0535-A1DC-02CC-A1AACC175850}"/>
              </a:ext>
            </a:extLst>
          </p:cNvPr>
          <p:cNvCxnSpPr>
            <a:cxnSpLocks noChangeShapeType="1"/>
          </p:cNvCxnSpPr>
          <p:nvPr/>
        </p:nvCxnSpPr>
        <p:spPr bwMode="auto">
          <a:xfrm>
            <a:off x="528638" y="5267325"/>
            <a:ext cx="3049587" cy="0"/>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cxnSp>
        <p:nvCxnSpPr>
          <p:cNvPr id="70" name="Straight Connector 69">
            <a:extLst>
              <a:ext uri="{FF2B5EF4-FFF2-40B4-BE49-F238E27FC236}">
                <a16:creationId xmlns:a16="http://schemas.microsoft.com/office/drawing/2014/main" id="{8FDE596E-15DC-D774-1486-6C15F4139E53}"/>
              </a:ext>
            </a:extLst>
          </p:cNvPr>
          <p:cNvCxnSpPr>
            <a:cxnSpLocks noChangeShapeType="1"/>
          </p:cNvCxnSpPr>
          <p:nvPr/>
        </p:nvCxnSpPr>
        <p:spPr bwMode="auto">
          <a:xfrm flipV="1">
            <a:off x="3578225" y="4906963"/>
            <a:ext cx="0" cy="360362"/>
          </a:xfrm>
          <a:prstGeom prst="line">
            <a:avLst/>
          </a:prstGeom>
          <a:noFill/>
          <a:ln w="25400"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71" name="Oval 70">
            <a:extLst>
              <a:ext uri="{FF2B5EF4-FFF2-40B4-BE49-F238E27FC236}">
                <a16:creationId xmlns:a16="http://schemas.microsoft.com/office/drawing/2014/main" id="{99CBEBF3-D811-FCF2-52E1-AC59E6D6C7BB}"/>
              </a:ext>
            </a:extLst>
          </p:cNvPr>
          <p:cNvSpPr>
            <a:spLocks noChangeArrowheads="1"/>
          </p:cNvSpPr>
          <p:nvPr/>
        </p:nvSpPr>
        <p:spPr bwMode="auto">
          <a:xfrm>
            <a:off x="5911850" y="3400425"/>
            <a:ext cx="1854200" cy="733425"/>
          </a:xfrm>
          <a:prstGeom prst="ellipse">
            <a:avLst/>
          </a:prstGeom>
          <a:noFill/>
          <a:ln w="25400" algn="ctr">
            <a:solidFill>
              <a:srgbClr val="B50C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endParaRPr>
          </a:p>
        </p:txBody>
      </p:sp>
      <p:cxnSp>
        <p:nvCxnSpPr>
          <p:cNvPr id="72" name="Straight Arrow Connector 71">
            <a:extLst>
              <a:ext uri="{FF2B5EF4-FFF2-40B4-BE49-F238E27FC236}">
                <a16:creationId xmlns:a16="http://schemas.microsoft.com/office/drawing/2014/main" id="{71CCFD47-9E73-E06E-2CB2-96CA7026C440}"/>
              </a:ext>
            </a:extLst>
          </p:cNvPr>
          <p:cNvCxnSpPr>
            <a:cxnSpLocks noChangeShapeType="1"/>
            <a:stCxn id="71" idx="4"/>
          </p:cNvCxnSpPr>
          <p:nvPr/>
        </p:nvCxnSpPr>
        <p:spPr bwMode="auto">
          <a:xfrm flipH="1">
            <a:off x="5340350" y="4133850"/>
            <a:ext cx="1498600" cy="1133475"/>
          </a:xfrm>
          <a:prstGeom prst="straightConnector1">
            <a:avLst/>
          </a:prstGeom>
          <a:noFill/>
          <a:ln w="25400" algn="ctr">
            <a:solidFill>
              <a:srgbClr val="B50C00"/>
            </a:solidFill>
            <a:round/>
            <a:headEnd/>
            <a:tailEnd type="triangle" w="med" len="med"/>
          </a:ln>
          <a:extLst>
            <a:ext uri="{909E8E84-426E-40DD-AFC4-6F175D3DCCD1}">
              <a14:hiddenFill xmlns:a14="http://schemas.microsoft.com/office/drawing/2010/main">
                <a:noFill/>
              </a14:hiddenFill>
            </a:ext>
          </a:extLst>
        </p:spPr>
      </p:cxnSp>
      <p:graphicFrame>
        <p:nvGraphicFramePr>
          <p:cNvPr id="73" name="Table 72">
            <a:extLst>
              <a:ext uri="{FF2B5EF4-FFF2-40B4-BE49-F238E27FC236}">
                <a16:creationId xmlns:a16="http://schemas.microsoft.com/office/drawing/2014/main" id="{A18B4C4D-1954-0FA8-5C7C-820BE15E5BC8}"/>
              </a:ext>
            </a:extLst>
          </p:cNvPr>
          <p:cNvGraphicFramePr>
            <a:graphicFrameLocks noGrp="1"/>
          </p:cNvGraphicFramePr>
          <p:nvPr/>
        </p:nvGraphicFramePr>
        <p:xfrm>
          <a:off x="4686300" y="5343525"/>
          <a:ext cx="3076575" cy="436563"/>
        </p:xfrm>
        <a:graphic>
          <a:graphicData uri="http://schemas.openxmlformats.org/drawingml/2006/table">
            <a:tbl>
              <a:tblPr firstRow="1" bandRow="1">
                <a:tableStyleId>{5940675A-B579-460E-94D1-54222C63F5DA}</a:tableStyleId>
              </a:tblPr>
              <a:tblGrid>
                <a:gridCol w="1560432">
                  <a:extLst>
                    <a:ext uri="{9D8B030D-6E8A-4147-A177-3AD203B41FA5}">
                      <a16:colId xmlns:a16="http://schemas.microsoft.com/office/drawing/2014/main" val="20000"/>
                    </a:ext>
                  </a:extLst>
                </a:gridCol>
                <a:gridCol w="1516143">
                  <a:extLst>
                    <a:ext uri="{9D8B030D-6E8A-4147-A177-3AD203B41FA5}">
                      <a16:colId xmlns:a16="http://schemas.microsoft.com/office/drawing/2014/main" val="20001"/>
                    </a:ext>
                  </a:extLst>
                </a:gridCol>
              </a:tblGrid>
              <a:tr h="436563">
                <a:tc>
                  <a:txBody>
                    <a:bodyPr/>
                    <a:lstStyle/>
                    <a:p>
                      <a:pPr algn="ctr"/>
                      <a:r>
                        <a:rPr lang="en-CA" sz="1800" b="0" dirty="0"/>
                        <a:t>JOB_CLASS</a:t>
                      </a:r>
                    </a:p>
                  </a:txBody>
                  <a:tcPr marT="45594" marB="45594"/>
                </a:tc>
                <a:tc>
                  <a:txBody>
                    <a:bodyPr/>
                    <a:lstStyle/>
                    <a:p>
                      <a:pPr algn="ctr"/>
                      <a:r>
                        <a:rPr lang="en-CA" sz="1800" b="0" dirty="0"/>
                        <a:t>CHG_HOUR</a:t>
                      </a:r>
                    </a:p>
                  </a:txBody>
                  <a:tcPr marT="45594" marB="45594"/>
                </a:tc>
                <a:extLst>
                  <a:ext uri="{0D108BD9-81ED-4DB2-BD59-A6C34878D82A}">
                    <a16:rowId xmlns:a16="http://schemas.microsoft.com/office/drawing/2014/main" val="10000"/>
                  </a:ext>
                </a:extLst>
              </a:tr>
            </a:tbl>
          </a:graphicData>
        </a:graphic>
      </p:graphicFrame>
      <p:cxnSp>
        <p:nvCxnSpPr>
          <p:cNvPr id="74" name="Straight Connector 73">
            <a:extLst>
              <a:ext uri="{FF2B5EF4-FFF2-40B4-BE49-F238E27FC236}">
                <a16:creationId xmlns:a16="http://schemas.microsoft.com/office/drawing/2014/main" id="{BDBE588E-9920-FD7C-AC68-A63CA0617471}"/>
              </a:ext>
            </a:extLst>
          </p:cNvPr>
          <p:cNvCxnSpPr>
            <a:cxnSpLocks noChangeShapeType="1"/>
          </p:cNvCxnSpPr>
          <p:nvPr/>
        </p:nvCxnSpPr>
        <p:spPr bwMode="auto">
          <a:xfrm>
            <a:off x="4800600" y="5643563"/>
            <a:ext cx="1374775" cy="0"/>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sp>
        <p:nvSpPr>
          <p:cNvPr id="75" name="TextBox 74">
            <a:extLst>
              <a:ext uri="{FF2B5EF4-FFF2-40B4-BE49-F238E27FC236}">
                <a16:creationId xmlns:a16="http://schemas.microsoft.com/office/drawing/2014/main" id="{81EFF983-24E5-CD8F-1CA2-46955E39DFD4}"/>
              </a:ext>
            </a:extLst>
          </p:cNvPr>
          <p:cNvSpPr txBox="1">
            <a:spLocks noChangeArrowheads="1"/>
          </p:cNvSpPr>
          <p:nvPr/>
        </p:nvSpPr>
        <p:spPr bwMode="auto">
          <a:xfrm>
            <a:off x="4591050" y="4978400"/>
            <a:ext cx="2089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JOB</a:t>
            </a:r>
          </a:p>
        </p:txBody>
      </p:sp>
      <p:sp>
        <p:nvSpPr>
          <p:cNvPr id="76" name="TextBox 75">
            <a:extLst>
              <a:ext uri="{FF2B5EF4-FFF2-40B4-BE49-F238E27FC236}">
                <a16:creationId xmlns:a16="http://schemas.microsoft.com/office/drawing/2014/main" id="{9EFBFB2E-9700-EE33-F59C-E9BEC97371B2}"/>
              </a:ext>
            </a:extLst>
          </p:cNvPr>
          <p:cNvSpPr txBox="1"/>
          <p:nvPr/>
        </p:nvSpPr>
        <p:spPr>
          <a:xfrm>
            <a:off x="6680200" y="4456113"/>
            <a:ext cx="1762125" cy="715962"/>
          </a:xfrm>
          <a:prstGeom prst="roundRect">
            <a:avLst/>
          </a:prstGeom>
          <a:ln/>
        </p:spPr>
        <p:style>
          <a:lnRef idx="1">
            <a:schemeClr val="accent3"/>
          </a:lnRef>
          <a:fillRef idx="2">
            <a:schemeClr val="accent3"/>
          </a:fillRef>
          <a:effectRef idx="1">
            <a:schemeClr val="accent3"/>
          </a:effectRef>
          <a:fontRef idx="minor">
            <a:schemeClr val="dk1"/>
          </a:fontRef>
        </p:style>
        <p:txBody>
          <a:bodyP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sz="1800" b="0" i="0" u="none" strike="noStrike" kern="1200" cap="none" spc="0" normalizeH="0" baseline="0" noProof="0" dirty="0">
                <a:ln>
                  <a:noFill/>
                </a:ln>
                <a:solidFill>
                  <a:srgbClr val="2F2B20"/>
                </a:solidFill>
                <a:effectLst/>
                <a:uLnTx/>
                <a:uFillTx/>
                <a:latin typeface="Calibri"/>
                <a:ea typeface="+mn-ea"/>
                <a:cs typeface="+mn-cs"/>
              </a:rPr>
              <a:t>JOB_CLASS is the primary key</a:t>
            </a:r>
          </a:p>
        </p:txBody>
      </p:sp>
      <p:cxnSp>
        <p:nvCxnSpPr>
          <p:cNvPr id="77" name="Straight Arrow Connector 76">
            <a:extLst>
              <a:ext uri="{FF2B5EF4-FFF2-40B4-BE49-F238E27FC236}">
                <a16:creationId xmlns:a16="http://schemas.microsoft.com/office/drawing/2014/main" id="{433167FD-8ACC-0264-BCF2-6003940A456D}"/>
              </a:ext>
            </a:extLst>
          </p:cNvPr>
          <p:cNvCxnSpPr>
            <a:stCxn id="76" idx="1"/>
          </p:cNvCxnSpPr>
          <p:nvPr/>
        </p:nvCxnSpPr>
        <p:spPr bwMode="auto">
          <a:xfrm flipH="1">
            <a:off x="5818188" y="4814888"/>
            <a:ext cx="862012" cy="533400"/>
          </a:xfrm>
          <a:prstGeom prst="straightConnector1">
            <a:avLst/>
          </a:prstGeom>
          <a:ln>
            <a:headEnd type="none" w="med" len="med"/>
            <a:tailEnd type="triangle"/>
          </a:ln>
        </p:spPr>
        <p:style>
          <a:lnRef idx="1">
            <a:schemeClr val="accent3"/>
          </a:lnRef>
          <a:fillRef idx="2">
            <a:schemeClr val="accent3"/>
          </a:fillRef>
          <a:effectRef idx="1">
            <a:schemeClr val="accent3"/>
          </a:effectRef>
          <a:fontRef idx="minor">
            <a:schemeClr val="dk1"/>
          </a:fontRef>
        </p:style>
      </p:cxnSp>
      <p:cxnSp>
        <p:nvCxnSpPr>
          <p:cNvPr id="94" name="Straight Arrow Connector 93">
            <a:extLst>
              <a:ext uri="{FF2B5EF4-FFF2-40B4-BE49-F238E27FC236}">
                <a16:creationId xmlns:a16="http://schemas.microsoft.com/office/drawing/2014/main" id="{995476D5-D0C3-EA5A-A2DB-2560AEA27E0F}"/>
              </a:ext>
            </a:extLst>
          </p:cNvPr>
          <p:cNvCxnSpPr>
            <a:cxnSpLocks noChangeShapeType="1"/>
            <a:stCxn id="71" idx="4"/>
          </p:cNvCxnSpPr>
          <p:nvPr/>
        </p:nvCxnSpPr>
        <p:spPr bwMode="auto">
          <a:xfrm flipH="1">
            <a:off x="3040063" y="4133850"/>
            <a:ext cx="3798887" cy="1606550"/>
          </a:xfrm>
          <a:prstGeom prst="straightConnector1">
            <a:avLst/>
          </a:prstGeom>
          <a:noFill/>
          <a:ln w="25400" algn="ctr">
            <a:solidFill>
              <a:srgbClr val="B50C00"/>
            </a:solidFill>
            <a:round/>
            <a:headEnd/>
            <a:tailEnd type="triangle" w="med" len="med"/>
          </a:ln>
          <a:extLst>
            <a:ext uri="{909E8E84-426E-40DD-AFC4-6F175D3DCCD1}">
              <a14:hiddenFill xmlns:a14="http://schemas.microsoft.com/office/drawing/2010/main">
                <a:noFill/>
              </a14:hiddenFill>
            </a:ext>
          </a:extLst>
        </p:spPr>
      </p:cxnSp>
      <p:graphicFrame>
        <p:nvGraphicFramePr>
          <p:cNvPr id="95" name="Table 94">
            <a:extLst>
              <a:ext uri="{FF2B5EF4-FFF2-40B4-BE49-F238E27FC236}">
                <a16:creationId xmlns:a16="http://schemas.microsoft.com/office/drawing/2014/main" id="{6C6E61A3-B59E-0CB9-F9F6-0728BEF48A91}"/>
              </a:ext>
            </a:extLst>
          </p:cNvPr>
          <p:cNvGraphicFramePr>
            <a:graphicFrameLocks noGrp="1"/>
          </p:cNvGraphicFramePr>
          <p:nvPr/>
        </p:nvGraphicFramePr>
        <p:xfrm>
          <a:off x="158750" y="5822950"/>
          <a:ext cx="3076575" cy="438150"/>
        </p:xfrm>
        <a:graphic>
          <a:graphicData uri="http://schemas.openxmlformats.org/drawingml/2006/table">
            <a:tbl>
              <a:tblPr firstRow="1" bandRow="1">
                <a:tableStyleId>{5940675A-B579-460E-94D1-54222C63F5DA}</a:tableStyleId>
              </a:tblPr>
              <a:tblGrid>
                <a:gridCol w="1348484">
                  <a:extLst>
                    <a:ext uri="{9D8B030D-6E8A-4147-A177-3AD203B41FA5}">
                      <a16:colId xmlns:a16="http://schemas.microsoft.com/office/drawing/2014/main" val="20000"/>
                    </a:ext>
                  </a:extLst>
                </a:gridCol>
                <a:gridCol w="1728091">
                  <a:extLst>
                    <a:ext uri="{9D8B030D-6E8A-4147-A177-3AD203B41FA5}">
                      <a16:colId xmlns:a16="http://schemas.microsoft.com/office/drawing/2014/main" val="20001"/>
                    </a:ext>
                  </a:extLst>
                </a:gridCol>
              </a:tblGrid>
              <a:tr h="438150">
                <a:tc>
                  <a:txBody>
                    <a:bodyPr/>
                    <a:lstStyle/>
                    <a:p>
                      <a:pPr algn="ctr"/>
                      <a:r>
                        <a:rPr lang="en-CA" sz="1800" dirty="0"/>
                        <a:t>EMP_NUM</a:t>
                      </a:r>
                      <a:endParaRPr lang="en-CA" sz="1800" b="0" dirty="0"/>
                    </a:p>
                  </a:txBody>
                  <a:tcPr marT="45760" marB="45760"/>
                </a:tc>
                <a:tc>
                  <a:txBody>
                    <a:bodyPr/>
                    <a:lstStyle/>
                    <a:p>
                      <a:pPr algn="ctr"/>
                      <a:r>
                        <a:rPr lang="en-CA" sz="1800" b="0" dirty="0"/>
                        <a:t>JOB_CLASS</a:t>
                      </a:r>
                    </a:p>
                  </a:txBody>
                  <a:tcPr marT="45760" marB="45760"/>
                </a:tc>
                <a:extLst>
                  <a:ext uri="{0D108BD9-81ED-4DB2-BD59-A6C34878D82A}">
                    <a16:rowId xmlns:a16="http://schemas.microsoft.com/office/drawing/2014/main" val="10000"/>
                  </a:ext>
                </a:extLst>
              </a:tr>
            </a:tbl>
          </a:graphicData>
        </a:graphic>
      </p:graphicFrame>
      <p:cxnSp>
        <p:nvCxnSpPr>
          <p:cNvPr id="96" name="Straight Connector 95">
            <a:extLst>
              <a:ext uri="{FF2B5EF4-FFF2-40B4-BE49-F238E27FC236}">
                <a16:creationId xmlns:a16="http://schemas.microsoft.com/office/drawing/2014/main" id="{8C3E2EDA-752E-7CE1-E3D9-C3AC78E673CD}"/>
              </a:ext>
            </a:extLst>
          </p:cNvPr>
          <p:cNvCxnSpPr>
            <a:cxnSpLocks noChangeShapeType="1"/>
          </p:cNvCxnSpPr>
          <p:nvPr/>
        </p:nvCxnSpPr>
        <p:spPr bwMode="auto">
          <a:xfrm>
            <a:off x="271463" y="6135688"/>
            <a:ext cx="1074737" cy="0"/>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sp>
        <p:nvSpPr>
          <p:cNvPr id="97" name="TextBox 96">
            <a:extLst>
              <a:ext uri="{FF2B5EF4-FFF2-40B4-BE49-F238E27FC236}">
                <a16:creationId xmlns:a16="http://schemas.microsoft.com/office/drawing/2014/main" id="{3E9AE8E2-C4DC-20A7-00D1-ACEC8643F075}"/>
              </a:ext>
            </a:extLst>
          </p:cNvPr>
          <p:cNvSpPr txBox="1">
            <a:spLocks noChangeArrowheads="1"/>
          </p:cNvSpPr>
          <p:nvPr/>
        </p:nvSpPr>
        <p:spPr bwMode="auto">
          <a:xfrm>
            <a:off x="63500" y="5459413"/>
            <a:ext cx="20875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EMPLOYEE</a:t>
            </a:r>
          </a:p>
        </p:txBody>
      </p:sp>
      <p:sp>
        <p:nvSpPr>
          <p:cNvPr id="98" name="TextBox 97">
            <a:extLst>
              <a:ext uri="{FF2B5EF4-FFF2-40B4-BE49-F238E27FC236}">
                <a16:creationId xmlns:a16="http://schemas.microsoft.com/office/drawing/2014/main" id="{6098062A-8C54-77D9-7C31-DD8073ADCE13}"/>
              </a:ext>
            </a:extLst>
          </p:cNvPr>
          <p:cNvSpPr txBox="1"/>
          <p:nvPr/>
        </p:nvSpPr>
        <p:spPr>
          <a:xfrm>
            <a:off x="3754438" y="5989638"/>
            <a:ext cx="3389312" cy="715962"/>
          </a:xfrm>
          <a:prstGeom prst="roundRect">
            <a:avLst/>
          </a:prstGeom>
          <a:ln/>
        </p:spPr>
        <p:style>
          <a:lnRef idx="1">
            <a:schemeClr val="accent5"/>
          </a:lnRef>
          <a:fillRef idx="2">
            <a:schemeClr val="accent5"/>
          </a:fillRef>
          <a:effectRef idx="1">
            <a:schemeClr val="accent5"/>
          </a:effectRef>
          <a:fontRef idx="minor">
            <a:schemeClr val="dk1"/>
          </a:fontRef>
        </p:style>
        <p:txBody>
          <a:bodyP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sz="1800" b="0" i="0" u="none" strike="noStrike" kern="1200" cap="none" spc="0" normalizeH="0" baseline="0" noProof="0" dirty="0">
                <a:ln>
                  <a:noFill/>
                </a:ln>
                <a:solidFill>
                  <a:srgbClr val="2F2B20"/>
                </a:solidFill>
                <a:effectLst/>
                <a:uLnTx/>
                <a:uFillTx/>
                <a:latin typeface="Calibri"/>
                <a:ea typeface="+mn-ea"/>
                <a:cs typeface="+mn-cs"/>
              </a:rPr>
              <a:t>JOB_CLASS exists in both relations</a:t>
            </a:r>
          </a:p>
        </p:txBody>
      </p:sp>
      <p:cxnSp>
        <p:nvCxnSpPr>
          <p:cNvPr id="99" name="Straight Arrow Connector 98">
            <a:extLst>
              <a:ext uri="{FF2B5EF4-FFF2-40B4-BE49-F238E27FC236}">
                <a16:creationId xmlns:a16="http://schemas.microsoft.com/office/drawing/2014/main" id="{6A06EDC4-95EC-2E5C-64DB-674D6B32D98C}"/>
              </a:ext>
            </a:extLst>
          </p:cNvPr>
          <p:cNvCxnSpPr>
            <a:stCxn id="98" idx="0"/>
          </p:cNvCxnSpPr>
          <p:nvPr/>
        </p:nvCxnSpPr>
        <p:spPr bwMode="auto">
          <a:xfrm flipH="1" flipV="1">
            <a:off x="5230813" y="5708650"/>
            <a:ext cx="217487" cy="280988"/>
          </a:xfrm>
          <a:prstGeom prst="straightConnector1">
            <a:avLst/>
          </a:prstGeom>
          <a:ln>
            <a:headEnd type="none" w="med" len="med"/>
            <a:tailEnd type="triangle"/>
          </a:ln>
        </p:spPr>
        <p:style>
          <a:lnRef idx="1">
            <a:schemeClr val="accent5"/>
          </a:lnRef>
          <a:fillRef idx="2">
            <a:schemeClr val="accent5"/>
          </a:fillRef>
          <a:effectRef idx="1">
            <a:schemeClr val="accent5"/>
          </a:effectRef>
          <a:fontRef idx="minor">
            <a:schemeClr val="dk1"/>
          </a:fontRef>
        </p:style>
      </p:cxnSp>
      <p:cxnSp>
        <p:nvCxnSpPr>
          <p:cNvPr id="100" name="Straight Arrow Connector 99">
            <a:extLst>
              <a:ext uri="{FF2B5EF4-FFF2-40B4-BE49-F238E27FC236}">
                <a16:creationId xmlns:a16="http://schemas.microsoft.com/office/drawing/2014/main" id="{BE787FCC-C951-4E83-E680-2848B1F344A1}"/>
              </a:ext>
            </a:extLst>
          </p:cNvPr>
          <p:cNvCxnSpPr>
            <a:stCxn id="98" idx="1"/>
            <a:endCxn id="95" idx="3"/>
          </p:cNvCxnSpPr>
          <p:nvPr/>
        </p:nvCxnSpPr>
        <p:spPr bwMode="auto">
          <a:xfrm flipH="1" flipV="1">
            <a:off x="3235325" y="6042025"/>
            <a:ext cx="519113" cy="306388"/>
          </a:xfrm>
          <a:prstGeom prst="straightConnector1">
            <a:avLst/>
          </a:prstGeom>
          <a:ln>
            <a:headEnd type="none" w="med" len="med"/>
            <a:tailEnd type="triangle"/>
          </a:ln>
        </p:spPr>
        <p:style>
          <a:lnRef idx="1">
            <a:schemeClr val="accent5"/>
          </a:lnRef>
          <a:fillRef idx="2">
            <a:schemeClr val="accent5"/>
          </a:fillRef>
          <a:effectRef idx="1">
            <a:schemeClr val="accent5"/>
          </a:effectRef>
          <a:fontRef idx="minor">
            <a:schemeClr val="dk1"/>
          </a:fontRef>
        </p:style>
      </p:cxnSp>
      <p:sp>
        <p:nvSpPr>
          <p:cNvPr id="78" name="Title 1">
            <a:extLst>
              <a:ext uri="{FF2B5EF4-FFF2-40B4-BE49-F238E27FC236}">
                <a16:creationId xmlns:a16="http://schemas.microsoft.com/office/drawing/2014/main" id="{0C8889E7-BBC3-C7EB-F6AF-B20F5ACE78A0}"/>
              </a:ext>
            </a:extLst>
          </p:cNvPr>
          <p:cNvSpPr>
            <a:spLocks noGrp="1"/>
          </p:cNvSpPr>
          <p:nvPr>
            <p:ph type="title"/>
          </p:nvPr>
        </p:nvSpPr>
        <p:spPr>
          <a:xfrm>
            <a:off x="457200" y="76200"/>
            <a:ext cx="7620000" cy="1143000"/>
          </a:xfrm>
        </p:spPr>
        <p:txBody>
          <a:bodyPr/>
          <a:lstStyle/>
          <a:p>
            <a:pPr algn="ctr">
              <a:defRPr/>
            </a:pPr>
            <a:r>
              <a:rPr lang="en-US" dirty="0"/>
              <a:t>Relational Database Normalization</a:t>
            </a:r>
            <a:endParaRPr lang="en-CA"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36">
                                            <p:txEl>
                                              <p:pRg st="0" end="0"/>
                                            </p:txEl>
                                          </p:spTgt>
                                        </p:tgtEl>
                                        <p:attrNameLst>
                                          <p:attrName>style.visibility</p:attrName>
                                        </p:attrNameLst>
                                      </p:cBhvr>
                                      <p:to>
                                        <p:strVal val="visible"/>
                                      </p:to>
                                    </p:set>
                                    <p:animEffect transition="in" filter="wipe(left)">
                                      <p:cBhvr>
                                        <p:cTn id="7" dur="500"/>
                                        <p:tgtEl>
                                          <p:spTgt spid="3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2"/>
                                        </p:tgtEl>
                                        <p:attrNameLst>
                                          <p:attrName>style.visibility</p:attrName>
                                        </p:attrNameLst>
                                      </p:cBhvr>
                                      <p:to>
                                        <p:strVal val="visible"/>
                                      </p:to>
                                    </p:set>
                                    <p:animEffect transition="in" filter="wipe(up)">
                                      <p:cBhvr>
                                        <p:cTn id="12" dur="500"/>
                                        <p:tgtEl>
                                          <p:spTgt spid="52"/>
                                        </p:tgtEl>
                                      </p:cBhvr>
                                    </p:animEffect>
                                  </p:childTnLst>
                                </p:cTn>
                              </p:par>
                              <p:par>
                                <p:cTn id="13" presetID="22" presetClass="entr" presetSubtype="8" fill="hold" nodeType="withEffect">
                                  <p:stCondLst>
                                    <p:cond delay="0"/>
                                  </p:stCondLst>
                                  <p:childTnLst>
                                    <p:set>
                                      <p:cBhvr>
                                        <p:cTn id="14" dur="1" fill="hold">
                                          <p:stCondLst>
                                            <p:cond delay="0"/>
                                          </p:stCondLst>
                                        </p:cTn>
                                        <p:tgtEl>
                                          <p:spTgt spid="46"/>
                                        </p:tgtEl>
                                        <p:attrNameLst>
                                          <p:attrName>style.visibility</p:attrName>
                                        </p:attrNameLst>
                                      </p:cBhvr>
                                      <p:to>
                                        <p:strVal val="visible"/>
                                      </p:to>
                                    </p:set>
                                    <p:animEffect transition="in" filter="wipe(left)">
                                      <p:cBhvr>
                                        <p:cTn id="15" dur="500"/>
                                        <p:tgtEl>
                                          <p:spTgt spid="46"/>
                                        </p:tgtEl>
                                      </p:cBhvr>
                                    </p:animEffect>
                                  </p:childTnLst>
                                </p:cTn>
                              </p:par>
                              <p:par>
                                <p:cTn id="16" presetID="22" presetClass="entr" presetSubtype="1" fill="hold" grpId="0" nodeType="withEffect">
                                  <p:stCondLst>
                                    <p:cond delay="0"/>
                                  </p:stCondLst>
                                  <p:childTnLst>
                                    <p:set>
                                      <p:cBhvr>
                                        <p:cTn id="17" dur="1" fill="hold">
                                          <p:stCondLst>
                                            <p:cond delay="0"/>
                                          </p:stCondLst>
                                        </p:cTn>
                                        <p:tgtEl>
                                          <p:spTgt spid="53"/>
                                        </p:tgtEl>
                                        <p:attrNameLst>
                                          <p:attrName>style.visibility</p:attrName>
                                        </p:attrNameLst>
                                      </p:cBhvr>
                                      <p:to>
                                        <p:strVal val="visible"/>
                                      </p:to>
                                    </p:set>
                                    <p:animEffect transition="in" filter="wipe(up)">
                                      <p:cBhvr>
                                        <p:cTn id="18" dur="500"/>
                                        <p:tgtEl>
                                          <p:spTgt spid="53"/>
                                        </p:tgtEl>
                                      </p:cBhvr>
                                    </p:animEffect>
                                  </p:childTnLst>
                                </p:cTn>
                              </p:par>
                              <p:par>
                                <p:cTn id="19" presetID="22" presetClass="entr" presetSubtype="8" fill="hold" nodeType="withEffect">
                                  <p:stCondLst>
                                    <p:cond delay="0"/>
                                  </p:stCondLst>
                                  <p:childTnLst>
                                    <p:set>
                                      <p:cBhvr>
                                        <p:cTn id="20" dur="1" fill="hold">
                                          <p:stCondLst>
                                            <p:cond delay="0"/>
                                          </p:stCondLst>
                                        </p:cTn>
                                        <p:tgtEl>
                                          <p:spTgt spid="50"/>
                                        </p:tgtEl>
                                        <p:attrNameLst>
                                          <p:attrName>style.visibility</p:attrName>
                                        </p:attrNameLst>
                                      </p:cBhvr>
                                      <p:to>
                                        <p:strVal val="visible"/>
                                      </p:to>
                                    </p:set>
                                    <p:animEffect transition="in" filter="wipe(left)">
                                      <p:cBhvr>
                                        <p:cTn id="21" dur="500"/>
                                        <p:tgtEl>
                                          <p:spTgt spid="50"/>
                                        </p:tgtEl>
                                      </p:cBhvr>
                                    </p:animEffect>
                                  </p:childTnLst>
                                </p:cTn>
                              </p:par>
                              <p:par>
                                <p:cTn id="22" presetID="22" presetClass="entr" presetSubtype="1" fill="hold" grpId="0" nodeType="withEffect">
                                  <p:stCondLst>
                                    <p:cond delay="0"/>
                                  </p:stCondLst>
                                  <p:childTnLst>
                                    <p:set>
                                      <p:cBhvr>
                                        <p:cTn id="23" dur="1" fill="hold">
                                          <p:stCondLst>
                                            <p:cond delay="0"/>
                                          </p:stCondLst>
                                        </p:cTn>
                                        <p:tgtEl>
                                          <p:spTgt spid="66"/>
                                        </p:tgtEl>
                                        <p:attrNameLst>
                                          <p:attrName>style.visibility</p:attrName>
                                        </p:attrNameLst>
                                      </p:cBhvr>
                                      <p:to>
                                        <p:strVal val="visible"/>
                                      </p:to>
                                    </p:set>
                                    <p:animEffect transition="in" filter="wipe(up)">
                                      <p:cBhvr>
                                        <p:cTn id="24" dur="500"/>
                                        <p:tgtEl>
                                          <p:spTgt spid="66"/>
                                        </p:tgtEl>
                                      </p:cBhvr>
                                    </p:animEffect>
                                  </p:childTnLst>
                                </p:cTn>
                              </p:par>
                              <p:par>
                                <p:cTn id="25" presetID="22" presetClass="entr" presetSubtype="8" fill="hold" nodeType="withEffect">
                                  <p:stCondLst>
                                    <p:cond delay="0"/>
                                  </p:stCondLst>
                                  <p:childTnLst>
                                    <p:set>
                                      <p:cBhvr>
                                        <p:cTn id="26" dur="1" fill="hold">
                                          <p:stCondLst>
                                            <p:cond delay="0"/>
                                          </p:stCondLst>
                                        </p:cTn>
                                        <p:tgtEl>
                                          <p:spTgt spid="64"/>
                                        </p:tgtEl>
                                        <p:attrNameLst>
                                          <p:attrName>style.visibility</p:attrName>
                                        </p:attrNameLst>
                                      </p:cBhvr>
                                      <p:to>
                                        <p:strVal val="visible"/>
                                      </p:to>
                                    </p:set>
                                    <p:animEffect transition="in" filter="wipe(left)">
                                      <p:cBhvr>
                                        <p:cTn id="27" dur="500"/>
                                        <p:tgtEl>
                                          <p:spTgt spid="64"/>
                                        </p:tgtEl>
                                      </p:cBhvr>
                                    </p:animEffect>
                                  </p:childTnLst>
                                </p:cTn>
                              </p:par>
                            </p:childTnLst>
                          </p:cTn>
                        </p:par>
                        <p:par>
                          <p:cTn id="28" fill="hold" nodeType="afterGroup">
                            <p:stCondLst>
                              <p:cond delay="500"/>
                            </p:stCondLst>
                            <p:childTnLst>
                              <p:par>
                                <p:cTn id="29" presetID="22" presetClass="entr" presetSubtype="8" fill="hold" nodeType="afterEffect">
                                  <p:stCondLst>
                                    <p:cond delay="0"/>
                                  </p:stCondLst>
                                  <p:childTnLst>
                                    <p:set>
                                      <p:cBhvr>
                                        <p:cTn id="30" dur="1" fill="hold">
                                          <p:stCondLst>
                                            <p:cond delay="0"/>
                                          </p:stCondLst>
                                        </p:cTn>
                                        <p:tgtEl>
                                          <p:spTgt spid="47"/>
                                        </p:tgtEl>
                                        <p:attrNameLst>
                                          <p:attrName>style.visibility</p:attrName>
                                        </p:attrNameLst>
                                      </p:cBhvr>
                                      <p:to>
                                        <p:strVal val="visible"/>
                                      </p:to>
                                    </p:set>
                                    <p:animEffect transition="in" filter="wipe(left)">
                                      <p:cBhvr>
                                        <p:cTn id="31" dur="500"/>
                                        <p:tgtEl>
                                          <p:spTgt spid="47"/>
                                        </p:tgtEl>
                                      </p:cBhvr>
                                    </p:animEffect>
                                  </p:childTnLst>
                                </p:cTn>
                              </p:par>
                              <p:par>
                                <p:cTn id="32" presetID="22" presetClass="entr" presetSubtype="8" fill="hold" nodeType="withEffect">
                                  <p:stCondLst>
                                    <p:cond delay="0"/>
                                  </p:stCondLst>
                                  <p:childTnLst>
                                    <p:set>
                                      <p:cBhvr>
                                        <p:cTn id="33" dur="1" fill="hold">
                                          <p:stCondLst>
                                            <p:cond delay="0"/>
                                          </p:stCondLst>
                                        </p:cTn>
                                        <p:tgtEl>
                                          <p:spTgt spid="51"/>
                                        </p:tgtEl>
                                        <p:attrNameLst>
                                          <p:attrName>style.visibility</p:attrName>
                                        </p:attrNameLst>
                                      </p:cBhvr>
                                      <p:to>
                                        <p:strVal val="visible"/>
                                      </p:to>
                                    </p:set>
                                    <p:animEffect transition="in" filter="wipe(left)">
                                      <p:cBhvr>
                                        <p:cTn id="34" dur="500"/>
                                        <p:tgtEl>
                                          <p:spTgt spid="51"/>
                                        </p:tgtEl>
                                      </p:cBhvr>
                                    </p:animEffect>
                                  </p:childTnLst>
                                </p:cTn>
                              </p:par>
                              <p:par>
                                <p:cTn id="35" presetID="22" presetClass="entr" presetSubtype="8" fill="hold" nodeType="withEffect">
                                  <p:stCondLst>
                                    <p:cond delay="0"/>
                                  </p:stCondLst>
                                  <p:childTnLst>
                                    <p:set>
                                      <p:cBhvr>
                                        <p:cTn id="36" dur="1" fill="hold">
                                          <p:stCondLst>
                                            <p:cond delay="0"/>
                                          </p:stCondLst>
                                        </p:cTn>
                                        <p:tgtEl>
                                          <p:spTgt spid="65"/>
                                        </p:tgtEl>
                                        <p:attrNameLst>
                                          <p:attrName>style.visibility</p:attrName>
                                        </p:attrNameLst>
                                      </p:cBhvr>
                                      <p:to>
                                        <p:strVal val="visible"/>
                                      </p:to>
                                    </p:set>
                                    <p:animEffect transition="in" filter="wipe(left)">
                                      <p:cBhvr>
                                        <p:cTn id="37" dur="500"/>
                                        <p:tgtEl>
                                          <p:spTgt spid="65"/>
                                        </p:tgtEl>
                                      </p:cBhvr>
                                    </p:animEffect>
                                  </p:childTnLst>
                                </p:cTn>
                              </p:par>
                            </p:childTnLst>
                          </p:cTn>
                        </p:par>
                        <p:par>
                          <p:cTn id="38" fill="hold" nodeType="afterGroup">
                            <p:stCondLst>
                              <p:cond delay="1000"/>
                            </p:stCondLst>
                            <p:childTnLst>
                              <p:par>
                                <p:cTn id="39" presetID="22" presetClass="entr" presetSubtype="1" fill="hold" nodeType="afterEffect">
                                  <p:stCondLst>
                                    <p:cond delay="0"/>
                                  </p:stCondLst>
                                  <p:childTnLst>
                                    <p:set>
                                      <p:cBhvr>
                                        <p:cTn id="40" dur="1" fill="hold">
                                          <p:stCondLst>
                                            <p:cond delay="0"/>
                                          </p:stCondLst>
                                        </p:cTn>
                                        <p:tgtEl>
                                          <p:spTgt spid="54"/>
                                        </p:tgtEl>
                                        <p:attrNameLst>
                                          <p:attrName>style.visibility</p:attrName>
                                        </p:attrNameLst>
                                      </p:cBhvr>
                                      <p:to>
                                        <p:strVal val="visible"/>
                                      </p:to>
                                    </p:set>
                                    <p:animEffect transition="in" filter="wipe(up)">
                                      <p:cBhvr>
                                        <p:cTn id="41" dur="500"/>
                                        <p:tgtEl>
                                          <p:spTgt spid="54"/>
                                        </p:tgtEl>
                                      </p:cBhvr>
                                    </p:animEffect>
                                  </p:childTnLst>
                                </p:cTn>
                              </p:par>
                              <p:par>
                                <p:cTn id="42" presetID="22" presetClass="entr" presetSubtype="8" fill="hold" nodeType="withEffect">
                                  <p:stCondLst>
                                    <p:cond delay="0"/>
                                  </p:stCondLst>
                                  <p:childTnLst>
                                    <p:set>
                                      <p:cBhvr>
                                        <p:cTn id="43" dur="1" fill="hold">
                                          <p:stCondLst>
                                            <p:cond delay="0"/>
                                          </p:stCondLst>
                                        </p:cTn>
                                        <p:tgtEl>
                                          <p:spTgt spid="55"/>
                                        </p:tgtEl>
                                        <p:attrNameLst>
                                          <p:attrName>style.visibility</p:attrName>
                                        </p:attrNameLst>
                                      </p:cBhvr>
                                      <p:to>
                                        <p:strVal val="visible"/>
                                      </p:to>
                                    </p:set>
                                    <p:animEffect transition="in" filter="wipe(left)">
                                      <p:cBhvr>
                                        <p:cTn id="44" dur="500"/>
                                        <p:tgtEl>
                                          <p:spTgt spid="55"/>
                                        </p:tgtEl>
                                      </p:cBhvr>
                                    </p:animEffect>
                                  </p:childTnLst>
                                </p:cTn>
                              </p:par>
                              <p:par>
                                <p:cTn id="45" presetID="22" presetClass="entr" presetSubtype="4" fill="hold" nodeType="withEffect">
                                  <p:stCondLst>
                                    <p:cond delay="0"/>
                                  </p:stCondLst>
                                  <p:childTnLst>
                                    <p:set>
                                      <p:cBhvr>
                                        <p:cTn id="46" dur="1" fill="hold">
                                          <p:stCondLst>
                                            <p:cond delay="0"/>
                                          </p:stCondLst>
                                        </p:cTn>
                                        <p:tgtEl>
                                          <p:spTgt spid="56"/>
                                        </p:tgtEl>
                                        <p:attrNameLst>
                                          <p:attrName>style.visibility</p:attrName>
                                        </p:attrNameLst>
                                      </p:cBhvr>
                                      <p:to>
                                        <p:strVal val="visible"/>
                                      </p:to>
                                    </p:set>
                                    <p:animEffect transition="in" filter="wipe(down)">
                                      <p:cBhvr>
                                        <p:cTn id="47" dur="500"/>
                                        <p:tgtEl>
                                          <p:spTgt spid="56"/>
                                        </p:tgtEl>
                                      </p:cBhvr>
                                    </p:animEffect>
                                  </p:childTnLst>
                                </p:cTn>
                              </p:par>
                              <p:par>
                                <p:cTn id="48" presetID="22" presetClass="entr" presetSubtype="1" fill="hold" nodeType="withEffect">
                                  <p:stCondLst>
                                    <p:cond delay="0"/>
                                  </p:stCondLst>
                                  <p:childTnLst>
                                    <p:set>
                                      <p:cBhvr>
                                        <p:cTn id="49" dur="1" fill="hold">
                                          <p:stCondLst>
                                            <p:cond delay="0"/>
                                          </p:stCondLst>
                                        </p:cTn>
                                        <p:tgtEl>
                                          <p:spTgt spid="57"/>
                                        </p:tgtEl>
                                        <p:attrNameLst>
                                          <p:attrName>style.visibility</p:attrName>
                                        </p:attrNameLst>
                                      </p:cBhvr>
                                      <p:to>
                                        <p:strVal val="visible"/>
                                      </p:to>
                                    </p:set>
                                    <p:animEffect transition="in" filter="wipe(up)">
                                      <p:cBhvr>
                                        <p:cTn id="50" dur="500"/>
                                        <p:tgtEl>
                                          <p:spTgt spid="57"/>
                                        </p:tgtEl>
                                      </p:cBhvr>
                                    </p:animEffect>
                                  </p:childTnLst>
                                </p:cTn>
                              </p:par>
                              <p:par>
                                <p:cTn id="51" presetID="22" presetClass="entr" presetSubtype="8" fill="hold" nodeType="withEffect">
                                  <p:stCondLst>
                                    <p:cond delay="0"/>
                                  </p:stCondLst>
                                  <p:childTnLst>
                                    <p:set>
                                      <p:cBhvr>
                                        <p:cTn id="52" dur="1" fill="hold">
                                          <p:stCondLst>
                                            <p:cond delay="0"/>
                                          </p:stCondLst>
                                        </p:cTn>
                                        <p:tgtEl>
                                          <p:spTgt spid="58"/>
                                        </p:tgtEl>
                                        <p:attrNameLst>
                                          <p:attrName>style.visibility</p:attrName>
                                        </p:attrNameLst>
                                      </p:cBhvr>
                                      <p:to>
                                        <p:strVal val="visible"/>
                                      </p:to>
                                    </p:set>
                                    <p:animEffect transition="in" filter="wipe(left)">
                                      <p:cBhvr>
                                        <p:cTn id="53" dur="500"/>
                                        <p:tgtEl>
                                          <p:spTgt spid="58"/>
                                        </p:tgtEl>
                                      </p:cBhvr>
                                    </p:animEffect>
                                  </p:childTnLst>
                                </p:cTn>
                              </p:par>
                              <p:par>
                                <p:cTn id="54" presetID="22" presetClass="entr" presetSubtype="4" fill="hold" nodeType="withEffect">
                                  <p:stCondLst>
                                    <p:cond delay="0"/>
                                  </p:stCondLst>
                                  <p:childTnLst>
                                    <p:set>
                                      <p:cBhvr>
                                        <p:cTn id="55" dur="1" fill="hold">
                                          <p:stCondLst>
                                            <p:cond delay="0"/>
                                          </p:stCondLst>
                                        </p:cTn>
                                        <p:tgtEl>
                                          <p:spTgt spid="59"/>
                                        </p:tgtEl>
                                        <p:attrNameLst>
                                          <p:attrName>style.visibility</p:attrName>
                                        </p:attrNameLst>
                                      </p:cBhvr>
                                      <p:to>
                                        <p:strVal val="visible"/>
                                      </p:to>
                                    </p:set>
                                    <p:animEffect transition="in" filter="wipe(down)">
                                      <p:cBhvr>
                                        <p:cTn id="56" dur="500"/>
                                        <p:tgtEl>
                                          <p:spTgt spid="59"/>
                                        </p:tgtEl>
                                      </p:cBhvr>
                                    </p:animEffect>
                                  </p:childTnLst>
                                </p:cTn>
                              </p:par>
                              <p:par>
                                <p:cTn id="57" presetID="22" presetClass="entr" presetSubtype="4" fill="hold" nodeType="withEffect">
                                  <p:stCondLst>
                                    <p:cond delay="0"/>
                                  </p:stCondLst>
                                  <p:childTnLst>
                                    <p:set>
                                      <p:cBhvr>
                                        <p:cTn id="58" dur="1" fill="hold">
                                          <p:stCondLst>
                                            <p:cond delay="0"/>
                                          </p:stCondLst>
                                        </p:cTn>
                                        <p:tgtEl>
                                          <p:spTgt spid="60"/>
                                        </p:tgtEl>
                                        <p:attrNameLst>
                                          <p:attrName>style.visibility</p:attrName>
                                        </p:attrNameLst>
                                      </p:cBhvr>
                                      <p:to>
                                        <p:strVal val="visible"/>
                                      </p:to>
                                    </p:set>
                                    <p:animEffect transition="in" filter="wipe(down)">
                                      <p:cBhvr>
                                        <p:cTn id="59" dur="500"/>
                                        <p:tgtEl>
                                          <p:spTgt spid="60"/>
                                        </p:tgtEl>
                                      </p:cBhvr>
                                    </p:animEffect>
                                  </p:childTnLst>
                                </p:cTn>
                              </p:par>
                              <p:par>
                                <p:cTn id="60" presetID="22" presetClass="entr" presetSubtype="1" fill="hold" nodeType="withEffect">
                                  <p:stCondLst>
                                    <p:cond delay="0"/>
                                  </p:stCondLst>
                                  <p:childTnLst>
                                    <p:set>
                                      <p:cBhvr>
                                        <p:cTn id="61" dur="1" fill="hold">
                                          <p:stCondLst>
                                            <p:cond delay="0"/>
                                          </p:stCondLst>
                                        </p:cTn>
                                        <p:tgtEl>
                                          <p:spTgt spid="61"/>
                                        </p:tgtEl>
                                        <p:attrNameLst>
                                          <p:attrName>style.visibility</p:attrName>
                                        </p:attrNameLst>
                                      </p:cBhvr>
                                      <p:to>
                                        <p:strVal val="visible"/>
                                      </p:to>
                                    </p:set>
                                    <p:animEffect transition="in" filter="wipe(up)">
                                      <p:cBhvr>
                                        <p:cTn id="62" dur="500"/>
                                        <p:tgtEl>
                                          <p:spTgt spid="61"/>
                                        </p:tgtEl>
                                      </p:cBhvr>
                                    </p:animEffect>
                                  </p:childTnLst>
                                </p:cTn>
                              </p:par>
                              <p:par>
                                <p:cTn id="63" presetID="22" presetClass="entr" presetSubtype="8" fill="hold" nodeType="withEffect">
                                  <p:stCondLst>
                                    <p:cond delay="0"/>
                                  </p:stCondLst>
                                  <p:childTnLst>
                                    <p:set>
                                      <p:cBhvr>
                                        <p:cTn id="64" dur="1" fill="hold">
                                          <p:stCondLst>
                                            <p:cond delay="0"/>
                                          </p:stCondLst>
                                        </p:cTn>
                                        <p:tgtEl>
                                          <p:spTgt spid="62"/>
                                        </p:tgtEl>
                                        <p:attrNameLst>
                                          <p:attrName>style.visibility</p:attrName>
                                        </p:attrNameLst>
                                      </p:cBhvr>
                                      <p:to>
                                        <p:strVal val="visible"/>
                                      </p:to>
                                    </p:set>
                                    <p:animEffect transition="in" filter="wipe(left)">
                                      <p:cBhvr>
                                        <p:cTn id="65" dur="500"/>
                                        <p:tgtEl>
                                          <p:spTgt spid="62"/>
                                        </p:tgtEl>
                                      </p:cBhvr>
                                    </p:animEffect>
                                  </p:childTnLst>
                                </p:cTn>
                              </p:par>
                              <p:par>
                                <p:cTn id="66" presetID="22" presetClass="entr" presetSubtype="4" fill="hold" nodeType="withEffect">
                                  <p:stCondLst>
                                    <p:cond delay="0"/>
                                  </p:stCondLst>
                                  <p:childTnLst>
                                    <p:set>
                                      <p:cBhvr>
                                        <p:cTn id="67" dur="1" fill="hold">
                                          <p:stCondLst>
                                            <p:cond delay="0"/>
                                          </p:stCondLst>
                                        </p:cTn>
                                        <p:tgtEl>
                                          <p:spTgt spid="63"/>
                                        </p:tgtEl>
                                        <p:attrNameLst>
                                          <p:attrName>style.visibility</p:attrName>
                                        </p:attrNameLst>
                                      </p:cBhvr>
                                      <p:to>
                                        <p:strVal val="visible"/>
                                      </p:to>
                                    </p:set>
                                    <p:animEffect transition="in" filter="wipe(down)">
                                      <p:cBhvr>
                                        <p:cTn id="68" dur="500"/>
                                        <p:tgtEl>
                                          <p:spTgt spid="63"/>
                                        </p:tgtEl>
                                      </p:cBhvr>
                                    </p:animEffect>
                                  </p:childTnLst>
                                </p:cTn>
                              </p:par>
                              <p:par>
                                <p:cTn id="69" presetID="22" presetClass="entr" presetSubtype="1" fill="hold" nodeType="withEffect">
                                  <p:stCondLst>
                                    <p:cond delay="0"/>
                                  </p:stCondLst>
                                  <p:childTnLst>
                                    <p:set>
                                      <p:cBhvr>
                                        <p:cTn id="70" dur="1" fill="hold">
                                          <p:stCondLst>
                                            <p:cond delay="0"/>
                                          </p:stCondLst>
                                        </p:cTn>
                                        <p:tgtEl>
                                          <p:spTgt spid="67"/>
                                        </p:tgtEl>
                                        <p:attrNameLst>
                                          <p:attrName>style.visibility</p:attrName>
                                        </p:attrNameLst>
                                      </p:cBhvr>
                                      <p:to>
                                        <p:strVal val="visible"/>
                                      </p:to>
                                    </p:set>
                                    <p:animEffect transition="in" filter="wipe(up)">
                                      <p:cBhvr>
                                        <p:cTn id="71" dur="500"/>
                                        <p:tgtEl>
                                          <p:spTgt spid="67"/>
                                        </p:tgtEl>
                                      </p:cBhvr>
                                    </p:animEffect>
                                  </p:childTnLst>
                                </p:cTn>
                              </p:par>
                              <p:par>
                                <p:cTn id="72" presetID="22" presetClass="entr" presetSubtype="1" fill="hold" nodeType="withEffect">
                                  <p:stCondLst>
                                    <p:cond delay="0"/>
                                  </p:stCondLst>
                                  <p:childTnLst>
                                    <p:set>
                                      <p:cBhvr>
                                        <p:cTn id="73" dur="1" fill="hold">
                                          <p:stCondLst>
                                            <p:cond delay="0"/>
                                          </p:stCondLst>
                                        </p:cTn>
                                        <p:tgtEl>
                                          <p:spTgt spid="68"/>
                                        </p:tgtEl>
                                        <p:attrNameLst>
                                          <p:attrName>style.visibility</p:attrName>
                                        </p:attrNameLst>
                                      </p:cBhvr>
                                      <p:to>
                                        <p:strVal val="visible"/>
                                      </p:to>
                                    </p:set>
                                    <p:animEffect transition="in" filter="wipe(up)">
                                      <p:cBhvr>
                                        <p:cTn id="74" dur="500"/>
                                        <p:tgtEl>
                                          <p:spTgt spid="68"/>
                                        </p:tgtEl>
                                      </p:cBhvr>
                                    </p:animEffect>
                                  </p:childTnLst>
                                </p:cTn>
                              </p:par>
                              <p:par>
                                <p:cTn id="75" presetID="22" presetClass="entr" presetSubtype="8" fill="hold" nodeType="withEffect">
                                  <p:stCondLst>
                                    <p:cond delay="0"/>
                                  </p:stCondLst>
                                  <p:childTnLst>
                                    <p:set>
                                      <p:cBhvr>
                                        <p:cTn id="76" dur="1" fill="hold">
                                          <p:stCondLst>
                                            <p:cond delay="0"/>
                                          </p:stCondLst>
                                        </p:cTn>
                                        <p:tgtEl>
                                          <p:spTgt spid="69"/>
                                        </p:tgtEl>
                                        <p:attrNameLst>
                                          <p:attrName>style.visibility</p:attrName>
                                        </p:attrNameLst>
                                      </p:cBhvr>
                                      <p:to>
                                        <p:strVal val="visible"/>
                                      </p:to>
                                    </p:set>
                                    <p:animEffect transition="in" filter="wipe(left)">
                                      <p:cBhvr>
                                        <p:cTn id="77" dur="500"/>
                                        <p:tgtEl>
                                          <p:spTgt spid="69"/>
                                        </p:tgtEl>
                                      </p:cBhvr>
                                    </p:animEffect>
                                  </p:childTnLst>
                                </p:cTn>
                              </p:par>
                              <p:par>
                                <p:cTn id="78" presetID="22" presetClass="entr" presetSubtype="4" fill="hold" nodeType="withEffect">
                                  <p:stCondLst>
                                    <p:cond delay="0"/>
                                  </p:stCondLst>
                                  <p:childTnLst>
                                    <p:set>
                                      <p:cBhvr>
                                        <p:cTn id="79" dur="1" fill="hold">
                                          <p:stCondLst>
                                            <p:cond delay="0"/>
                                          </p:stCondLst>
                                        </p:cTn>
                                        <p:tgtEl>
                                          <p:spTgt spid="70"/>
                                        </p:tgtEl>
                                        <p:attrNameLst>
                                          <p:attrName>style.visibility</p:attrName>
                                        </p:attrNameLst>
                                      </p:cBhvr>
                                      <p:to>
                                        <p:strVal val="visible"/>
                                      </p:to>
                                    </p:set>
                                    <p:animEffect transition="in" filter="wipe(down)">
                                      <p:cBhvr>
                                        <p:cTn id="80" dur="500"/>
                                        <p:tgtEl>
                                          <p:spTgt spid="70"/>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21" presetClass="entr" presetSubtype="1" fill="hold" grpId="0" nodeType="clickEffect">
                                  <p:stCondLst>
                                    <p:cond delay="0"/>
                                  </p:stCondLst>
                                  <p:childTnLst>
                                    <p:set>
                                      <p:cBhvr>
                                        <p:cTn id="84" dur="1" fill="hold">
                                          <p:stCondLst>
                                            <p:cond delay="0"/>
                                          </p:stCondLst>
                                        </p:cTn>
                                        <p:tgtEl>
                                          <p:spTgt spid="71"/>
                                        </p:tgtEl>
                                        <p:attrNameLst>
                                          <p:attrName>style.visibility</p:attrName>
                                        </p:attrNameLst>
                                      </p:cBhvr>
                                      <p:to>
                                        <p:strVal val="visible"/>
                                      </p:to>
                                    </p:set>
                                    <p:animEffect transition="in" filter="wheel(1)">
                                      <p:cBhvr>
                                        <p:cTn id="85" dur="1000"/>
                                        <p:tgtEl>
                                          <p:spTgt spid="71"/>
                                        </p:tgtEl>
                                      </p:cBhvr>
                                    </p:animEffect>
                                  </p:childTnLst>
                                </p:cTn>
                              </p:par>
                            </p:childTnLst>
                          </p:cTn>
                        </p:par>
                      </p:childTnLst>
                    </p:cTn>
                  </p:par>
                  <p:par>
                    <p:cTn id="86" fill="hold" nodeType="clickPar">
                      <p:stCondLst>
                        <p:cond delay="indefinite"/>
                      </p:stCondLst>
                      <p:childTnLst>
                        <p:par>
                          <p:cTn id="87" fill="hold" nodeType="withGroup">
                            <p:stCondLst>
                              <p:cond delay="0"/>
                            </p:stCondLst>
                            <p:childTnLst>
                              <p:par>
                                <p:cTn id="88" presetID="22" presetClass="entr" presetSubtype="1" fill="hold" nodeType="clickEffect">
                                  <p:stCondLst>
                                    <p:cond delay="0"/>
                                  </p:stCondLst>
                                  <p:childTnLst>
                                    <p:set>
                                      <p:cBhvr>
                                        <p:cTn id="89" dur="1" fill="hold">
                                          <p:stCondLst>
                                            <p:cond delay="0"/>
                                          </p:stCondLst>
                                        </p:cTn>
                                        <p:tgtEl>
                                          <p:spTgt spid="72"/>
                                        </p:tgtEl>
                                        <p:attrNameLst>
                                          <p:attrName>style.visibility</p:attrName>
                                        </p:attrNameLst>
                                      </p:cBhvr>
                                      <p:to>
                                        <p:strVal val="visible"/>
                                      </p:to>
                                    </p:set>
                                    <p:animEffect transition="in" filter="wipe(up)">
                                      <p:cBhvr>
                                        <p:cTn id="90" dur="500"/>
                                        <p:tgtEl>
                                          <p:spTgt spid="72"/>
                                        </p:tgtEl>
                                      </p:cBhvr>
                                    </p:animEffect>
                                  </p:childTnLst>
                                </p:cTn>
                              </p:par>
                            </p:childTnLst>
                          </p:cTn>
                        </p:par>
                        <p:par>
                          <p:cTn id="91" fill="hold" nodeType="afterGroup">
                            <p:stCondLst>
                              <p:cond delay="500"/>
                            </p:stCondLst>
                            <p:childTnLst>
                              <p:par>
                                <p:cTn id="92" presetID="22" presetClass="entr" presetSubtype="1" fill="hold" grpId="0" nodeType="afterEffect">
                                  <p:stCondLst>
                                    <p:cond delay="0"/>
                                  </p:stCondLst>
                                  <p:childTnLst>
                                    <p:set>
                                      <p:cBhvr>
                                        <p:cTn id="93" dur="1" fill="hold">
                                          <p:stCondLst>
                                            <p:cond delay="0"/>
                                          </p:stCondLst>
                                        </p:cTn>
                                        <p:tgtEl>
                                          <p:spTgt spid="75"/>
                                        </p:tgtEl>
                                        <p:attrNameLst>
                                          <p:attrName>style.visibility</p:attrName>
                                        </p:attrNameLst>
                                      </p:cBhvr>
                                      <p:to>
                                        <p:strVal val="visible"/>
                                      </p:to>
                                    </p:set>
                                    <p:animEffect transition="in" filter="wipe(up)">
                                      <p:cBhvr>
                                        <p:cTn id="94" dur="500"/>
                                        <p:tgtEl>
                                          <p:spTgt spid="75"/>
                                        </p:tgtEl>
                                      </p:cBhvr>
                                    </p:animEffect>
                                  </p:childTnLst>
                                </p:cTn>
                              </p:par>
                            </p:childTnLst>
                          </p:cTn>
                        </p:par>
                        <p:par>
                          <p:cTn id="95" fill="hold" nodeType="afterGroup">
                            <p:stCondLst>
                              <p:cond delay="1000"/>
                            </p:stCondLst>
                            <p:childTnLst>
                              <p:par>
                                <p:cTn id="96" presetID="22" presetClass="entr" presetSubtype="8" fill="hold" nodeType="afterEffect">
                                  <p:stCondLst>
                                    <p:cond delay="0"/>
                                  </p:stCondLst>
                                  <p:childTnLst>
                                    <p:set>
                                      <p:cBhvr>
                                        <p:cTn id="97" dur="1" fill="hold">
                                          <p:stCondLst>
                                            <p:cond delay="0"/>
                                          </p:stCondLst>
                                        </p:cTn>
                                        <p:tgtEl>
                                          <p:spTgt spid="73"/>
                                        </p:tgtEl>
                                        <p:attrNameLst>
                                          <p:attrName>style.visibility</p:attrName>
                                        </p:attrNameLst>
                                      </p:cBhvr>
                                      <p:to>
                                        <p:strVal val="visible"/>
                                      </p:to>
                                    </p:set>
                                    <p:animEffect transition="in" filter="wipe(left)">
                                      <p:cBhvr>
                                        <p:cTn id="98" dur="500"/>
                                        <p:tgtEl>
                                          <p:spTgt spid="73"/>
                                        </p:tgtEl>
                                      </p:cBhvr>
                                    </p:animEffect>
                                  </p:childTnLst>
                                </p:cTn>
                              </p:par>
                            </p:childTnLst>
                          </p:cTn>
                        </p:par>
                        <p:par>
                          <p:cTn id="99" fill="hold" nodeType="afterGroup">
                            <p:stCondLst>
                              <p:cond delay="1500"/>
                            </p:stCondLst>
                            <p:childTnLst>
                              <p:par>
                                <p:cTn id="100" presetID="22" presetClass="entr" presetSubtype="8" fill="hold" nodeType="afterEffect">
                                  <p:stCondLst>
                                    <p:cond delay="0"/>
                                  </p:stCondLst>
                                  <p:childTnLst>
                                    <p:set>
                                      <p:cBhvr>
                                        <p:cTn id="101" dur="1" fill="hold">
                                          <p:stCondLst>
                                            <p:cond delay="0"/>
                                          </p:stCondLst>
                                        </p:cTn>
                                        <p:tgtEl>
                                          <p:spTgt spid="74"/>
                                        </p:tgtEl>
                                        <p:attrNameLst>
                                          <p:attrName>style.visibility</p:attrName>
                                        </p:attrNameLst>
                                      </p:cBhvr>
                                      <p:to>
                                        <p:strVal val="visible"/>
                                      </p:to>
                                    </p:set>
                                    <p:animEffect transition="in" filter="wipe(left)">
                                      <p:cBhvr>
                                        <p:cTn id="102" dur="500"/>
                                        <p:tgtEl>
                                          <p:spTgt spid="74"/>
                                        </p:tgtEl>
                                      </p:cBhvr>
                                    </p:animEffec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22" presetClass="entr" presetSubtype="1" fill="hold" grpId="0" nodeType="clickEffect">
                                  <p:stCondLst>
                                    <p:cond delay="0"/>
                                  </p:stCondLst>
                                  <p:childTnLst>
                                    <p:set>
                                      <p:cBhvr>
                                        <p:cTn id="106" dur="1" fill="hold">
                                          <p:stCondLst>
                                            <p:cond delay="0"/>
                                          </p:stCondLst>
                                        </p:cTn>
                                        <p:tgtEl>
                                          <p:spTgt spid="76"/>
                                        </p:tgtEl>
                                        <p:attrNameLst>
                                          <p:attrName>style.visibility</p:attrName>
                                        </p:attrNameLst>
                                      </p:cBhvr>
                                      <p:to>
                                        <p:strVal val="visible"/>
                                      </p:to>
                                    </p:set>
                                    <p:animEffect transition="in" filter="wipe(up)">
                                      <p:cBhvr>
                                        <p:cTn id="107" dur="500"/>
                                        <p:tgtEl>
                                          <p:spTgt spid="76"/>
                                        </p:tgtEl>
                                      </p:cBhvr>
                                    </p:animEffect>
                                  </p:childTnLst>
                                </p:cTn>
                              </p:par>
                            </p:childTnLst>
                          </p:cTn>
                        </p:par>
                        <p:par>
                          <p:cTn id="108" fill="hold" nodeType="afterGroup">
                            <p:stCondLst>
                              <p:cond delay="500"/>
                            </p:stCondLst>
                            <p:childTnLst>
                              <p:par>
                                <p:cTn id="109" presetID="22" presetClass="entr" presetSubtype="1" fill="hold" nodeType="afterEffect">
                                  <p:stCondLst>
                                    <p:cond delay="0"/>
                                  </p:stCondLst>
                                  <p:childTnLst>
                                    <p:set>
                                      <p:cBhvr>
                                        <p:cTn id="110" dur="1" fill="hold">
                                          <p:stCondLst>
                                            <p:cond delay="0"/>
                                          </p:stCondLst>
                                        </p:cTn>
                                        <p:tgtEl>
                                          <p:spTgt spid="77"/>
                                        </p:tgtEl>
                                        <p:attrNameLst>
                                          <p:attrName>style.visibility</p:attrName>
                                        </p:attrNameLst>
                                      </p:cBhvr>
                                      <p:to>
                                        <p:strVal val="visible"/>
                                      </p:to>
                                    </p:set>
                                    <p:animEffect transition="in" filter="wipe(up)">
                                      <p:cBhvr>
                                        <p:cTn id="111" dur="500"/>
                                        <p:tgtEl>
                                          <p:spTgt spid="77"/>
                                        </p:tgtEl>
                                      </p:cBhvr>
                                    </p:animEffect>
                                  </p:childTnLst>
                                </p:cTn>
                              </p:par>
                            </p:childTnLst>
                          </p:cTn>
                        </p:par>
                      </p:childTnLst>
                    </p:cTn>
                  </p:par>
                  <p:par>
                    <p:cTn id="112" fill="hold" nodeType="clickPar">
                      <p:stCondLst>
                        <p:cond delay="indefinite"/>
                      </p:stCondLst>
                      <p:childTnLst>
                        <p:par>
                          <p:cTn id="113" fill="hold" nodeType="withGroup">
                            <p:stCondLst>
                              <p:cond delay="0"/>
                            </p:stCondLst>
                            <p:childTnLst>
                              <p:par>
                                <p:cTn id="114" presetID="22" presetClass="entr" presetSubtype="1" fill="hold" nodeType="clickEffect">
                                  <p:stCondLst>
                                    <p:cond delay="0"/>
                                  </p:stCondLst>
                                  <p:childTnLst>
                                    <p:set>
                                      <p:cBhvr>
                                        <p:cTn id="115" dur="1" fill="hold">
                                          <p:stCondLst>
                                            <p:cond delay="0"/>
                                          </p:stCondLst>
                                        </p:cTn>
                                        <p:tgtEl>
                                          <p:spTgt spid="94"/>
                                        </p:tgtEl>
                                        <p:attrNameLst>
                                          <p:attrName>style.visibility</p:attrName>
                                        </p:attrNameLst>
                                      </p:cBhvr>
                                      <p:to>
                                        <p:strVal val="visible"/>
                                      </p:to>
                                    </p:set>
                                    <p:animEffect transition="in" filter="wipe(up)">
                                      <p:cBhvr>
                                        <p:cTn id="116" dur="500"/>
                                        <p:tgtEl>
                                          <p:spTgt spid="94"/>
                                        </p:tgtEl>
                                      </p:cBhvr>
                                    </p:animEffect>
                                  </p:childTnLst>
                                </p:cTn>
                              </p:par>
                            </p:childTnLst>
                          </p:cTn>
                        </p:par>
                        <p:par>
                          <p:cTn id="117" fill="hold" nodeType="afterGroup">
                            <p:stCondLst>
                              <p:cond delay="500"/>
                            </p:stCondLst>
                            <p:childTnLst>
                              <p:par>
                                <p:cTn id="118" presetID="22" presetClass="entr" presetSubtype="1" fill="hold" grpId="0" nodeType="afterEffect">
                                  <p:stCondLst>
                                    <p:cond delay="0"/>
                                  </p:stCondLst>
                                  <p:childTnLst>
                                    <p:set>
                                      <p:cBhvr>
                                        <p:cTn id="119" dur="1" fill="hold">
                                          <p:stCondLst>
                                            <p:cond delay="0"/>
                                          </p:stCondLst>
                                        </p:cTn>
                                        <p:tgtEl>
                                          <p:spTgt spid="97"/>
                                        </p:tgtEl>
                                        <p:attrNameLst>
                                          <p:attrName>style.visibility</p:attrName>
                                        </p:attrNameLst>
                                      </p:cBhvr>
                                      <p:to>
                                        <p:strVal val="visible"/>
                                      </p:to>
                                    </p:set>
                                    <p:animEffect transition="in" filter="wipe(up)">
                                      <p:cBhvr>
                                        <p:cTn id="120" dur="500"/>
                                        <p:tgtEl>
                                          <p:spTgt spid="97"/>
                                        </p:tgtEl>
                                      </p:cBhvr>
                                    </p:animEffect>
                                  </p:childTnLst>
                                </p:cTn>
                              </p:par>
                            </p:childTnLst>
                          </p:cTn>
                        </p:par>
                        <p:par>
                          <p:cTn id="121" fill="hold" nodeType="afterGroup">
                            <p:stCondLst>
                              <p:cond delay="1000"/>
                            </p:stCondLst>
                            <p:childTnLst>
                              <p:par>
                                <p:cTn id="122" presetID="22" presetClass="entr" presetSubtype="8" fill="hold" nodeType="afterEffect">
                                  <p:stCondLst>
                                    <p:cond delay="0"/>
                                  </p:stCondLst>
                                  <p:childTnLst>
                                    <p:set>
                                      <p:cBhvr>
                                        <p:cTn id="123" dur="1" fill="hold">
                                          <p:stCondLst>
                                            <p:cond delay="0"/>
                                          </p:stCondLst>
                                        </p:cTn>
                                        <p:tgtEl>
                                          <p:spTgt spid="95"/>
                                        </p:tgtEl>
                                        <p:attrNameLst>
                                          <p:attrName>style.visibility</p:attrName>
                                        </p:attrNameLst>
                                      </p:cBhvr>
                                      <p:to>
                                        <p:strVal val="visible"/>
                                      </p:to>
                                    </p:set>
                                    <p:animEffect transition="in" filter="wipe(left)">
                                      <p:cBhvr>
                                        <p:cTn id="124" dur="500"/>
                                        <p:tgtEl>
                                          <p:spTgt spid="95"/>
                                        </p:tgtEl>
                                      </p:cBhvr>
                                    </p:animEffect>
                                  </p:childTnLst>
                                </p:cTn>
                              </p:par>
                            </p:childTnLst>
                          </p:cTn>
                        </p:par>
                        <p:par>
                          <p:cTn id="125" fill="hold" nodeType="afterGroup">
                            <p:stCondLst>
                              <p:cond delay="1500"/>
                            </p:stCondLst>
                            <p:childTnLst>
                              <p:par>
                                <p:cTn id="126" presetID="22" presetClass="entr" presetSubtype="8" fill="hold" nodeType="afterEffect">
                                  <p:stCondLst>
                                    <p:cond delay="0"/>
                                  </p:stCondLst>
                                  <p:childTnLst>
                                    <p:set>
                                      <p:cBhvr>
                                        <p:cTn id="127" dur="1" fill="hold">
                                          <p:stCondLst>
                                            <p:cond delay="0"/>
                                          </p:stCondLst>
                                        </p:cTn>
                                        <p:tgtEl>
                                          <p:spTgt spid="96"/>
                                        </p:tgtEl>
                                        <p:attrNameLst>
                                          <p:attrName>style.visibility</p:attrName>
                                        </p:attrNameLst>
                                      </p:cBhvr>
                                      <p:to>
                                        <p:strVal val="visible"/>
                                      </p:to>
                                    </p:set>
                                    <p:animEffect transition="in" filter="wipe(left)">
                                      <p:cBhvr>
                                        <p:cTn id="128" dur="500"/>
                                        <p:tgtEl>
                                          <p:spTgt spid="96"/>
                                        </p:tgtEl>
                                      </p:cBhvr>
                                    </p:animEffect>
                                  </p:childTnLst>
                                </p:cTn>
                              </p:par>
                            </p:childTnLst>
                          </p:cTn>
                        </p:par>
                      </p:childTnLst>
                    </p:cTn>
                  </p:par>
                  <p:par>
                    <p:cTn id="129" fill="hold" nodeType="clickPar">
                      <p:stCondLst>
                        <p:cond delay="indefinite"/>
                      </p:stCondLst>
                      <p:childTnLst>
                        <p:par>
                          <p:cTn id="130" fill="hold" nodeType="withGroup">
                            <p:stCondLst>
                              <p:cond delay="0"/>
                            </p:stCondLst>
                            <p:childTnLst>
                              <p:par>
                                <p:cTn id="131" presetID="22" presetClass="entr" presetSubtype="4" fill="hold" grpId="0" nodeType="clickEffect">
                                  <p:stCondLst>
                                    <p:cond delay="0"/>
                                  </p:stCondLst>
                                  <p:childTnLst>
                                    <p:set>
                                      <p:cBhvr>
                                        <p:cTn id="132" dur="1" fill="hold">
                                          <p:stCondLst>
                                            <p:cond delay="0"/>
                                          </p:stCondLst>
                                        </p:cTn>
                                        <p:tgtEl>
                                          <p:spTgt spid="98"/>
                                        </p:tgtEl>
                                        <p:attrNameLst>
                                          <p:attrName>style.visibility</p:attrName>
                                        </p:attrNameLst>
                                      </p:cBhvr>
                                      <p:to>
                                        <p:strVal val="visible"/>
                                      </p:to>
                                    </p:set>
                                    <p:animEffect transition="in" filter="wipe(down)">
                                      <p:cBhvr>
                                        <p:cTn id="133" dur="500"/>
                                        <p:tgtEl>
                                          <p:spTgt spid="98"/>
                                        </p:tgtEl>
                                      </p:cBhvr>
                                    </p:animEffect>
                                  </p:childTnLst>
                                </p:cTn>
                              </p:par>
                            </p:childTnLst>
                          </p:cTn>
                        </p:par>
                        <p:par>
                          <p:cTn id="134" fill="hold" nodeType="afterGroup">
                            <p:stCondLst>
                              <p:cond delay="500"/>
                            </p:stCondLst>
                            <p:childTnLst>
                              <p:par>
                                <p:cTn id="135" presetID="22" presetClass="entr" presetSubtype="4" fill="hold" nodeType="afterEffect">
                                  <p:stCondLst>
                                    <p:cond delay="0"/>
                                  </p:stCondLst>
                                  <p:childTnLst>
                                    <p:set>
                                      <p:cBhvr>
                                        <p:cTn id="136" dur="1" fill="hold">
                                          <p:stCondLst>
                                            <p:cond delay="0"/>
                                          </p:stCondLst>
                                        </p:cTn>
                                        <p:tgtEl>
                                          <p:spTgt spid="99"/>
                                        </p:tgtEl>
                                        <p:attrNameLst>
                                          <p:attrName>style.visibility</p:attrName>
                                        </p:attrNameLst>
                                      </p:cBhvr>
                                      <p:to>
                                        <p:strVal val="visible"/>
                                      </p:to>
                                    </p:set>
                                    <p:animEffect transition="in" filter="wipe(down)">
                                      <p:cBhvr>
                                        <p:cTn id="137" dur="500"/>
                                        <p:tgtEl>
                                          <p:spTgt spid="99"/>
                                        </p:tgtEl>
                                      </p:cBhvr>
                                    </p:animEffect>
                                  </p:childTnLst>
                                </p:cTn>
                              </p:par>
                              <p:par>
                                <p:cTn id="138" presetID="22" presetClass="entr" presetSubtype="4" fill="hold" nodeType="withEffect">
                                  <p:stCondLst>
                                    <p:cond delay="0"/>
                                  </p:stCondLst>
                                  <p:childTnLst>
                                    <p:set>
                                      <p:cBhvr>
                                        <p:cTn id="139" dur="1" fill="hold">
                                          <p:stCondLst>
                                            <p:cond delay="0"/>
                                          </p:stCondLst>
                                        </p:cTn>
                                        <p:tgtEl>
                                          <p:spTgt spid="100"/>
                                        </p:tgtEl>
                                        <p:attrNameLst>
                                          <p:attrName>style.visibility</p:attrName>
                                        </p:attrNameLst>
                                      </p:cBhvr>
                                      <p:to>
                                        <p:strVal val="visible"/>
                                      </p:to>
                                    </p:set>
                                    <p:animEffect transition="in" filter="wipe(down)">
                                      <p:cBhvr>
                                        <p:cTn id="140" dur="500"/>
                                        <p:tgtEl>
                                          <p:spTgt spid="1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p:bldP spid="53" grpId="0"/>
      <p:bldP spid="66" grpId="0"/>
      <p:bldP spid="71" grpId="0" animBg="1"/>
      <p:bldP spid="75" grpId="0"/>
      <p:bldP spid="76" grpId="0" animBg="1"/>
      <p:bldP spid="97" grpId="0"/>
      <p:bldP spid="98" grpId="0" animBg="1"/>
    </p:bld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C52EFA3E-E31A-C3C8-25D2-C31FAF57734E}"/>
              </a:ext>
            </a:extLst>
          </p:cNvPr>
          <p:cNvSpPr txBox="1">
            <a:spLocks/>
          </p:cNvSpPr>
          <p:nvPr/>
        </p:nvSpPr>
        <p:spPr bwMode="auto">
          <a:xfrm>
            <a:off x="0" y="1522413"/>
            <a:ext cx="8172450" cy="323850"/>
          </a:xfrm>
          <a:prstGeom prst="rect">
            <a:avLst/>
          </a:prstGeom>
          <a:noFill/>
          <a:ln w="9525">
            <a:noFill/>
            <a:miter lim="800000"/>
            <a:headEnd/>
            <a:tailEnd/>
          </a:ln>
        </p:spPr>
        <p:txBody>
          <a:bodyPr lIns="72000" tIns="0" rIns="72000" bIns="0"/>
          <a:lstStyle/>
          <a:p>
            <a:pPr marL="0" marR="0" lvl="0" indent="0" algn="l" defTabSz="720000" rtl="0" eaLnBrk="1" fontAlgn="base" latinLnBrk="0" hangingPunct="1">
              <a:lnSpc>
                <a:spcPts val="1800"/>
              </a:lnSpc>
              <a:spcBef>
                <a:spcPts val="0"/>
              </a:spcBef>
              <a:spcAft>
                <a:spcPts val="0"/>
              </a:spcAft>
              <a:buClrTx/>
              <a:buSzTx/>
              <a:buFontTx/>
              <a:buNone/>
              <a:tabLst>
                <a:tab pos="0" algn="l"/>
              </a:tabLst>
              <a:defRPr/>
            </a:pPr>
            <a:r>
              <a:rPr kumimoji="0" lang="en-US" sz="1800" b="1" i="0" u="none" strike="noStrike" kern="0" cap="none" spc="0" normalizeH="0" baseline="0" noProof="0" dirty="0">
                <a:ln>
                  <a:noFill/>
                </a:ln>
                <a:solidFill>
                  <a:srgbClr val="2F2B20"/>
                </a:solidFill>
                <a:effectLst/>
                <a:uLnTx/>
                <a:uFillTx/>
                <a:latin typeface="Calibri"/>
                <a:ea typeface="+mn-ea"/>
                <a:cs typeface="Calibri" pitchFamily="34" charset="0"/>
              </a:rPr>
              <a:t>Normal Forms</a:t>
            </a:r>
            <a:endParaRPr kumimoji="0" lang="en-MY" sz="1800" b="1" i="0" u="none" strike="noStrike" kern="0" cap="none" spc="0" normalizeH="0" baseline="0" noProof="0" dirty="0">
              <a:ln>
                <a:noFill/>
              </a:ln>
              <a:solidFill>
                <a:srgbClr val="2F2B20"/>
              </a:solidFill>
              <a:effectLst/>
              <a:uLnTx/>
              <a:uFillTx/>
              <a:latin typeface="Calibri"/>
              <a:ea typeface="+mn-ea"/>
              <a:cs typeface="Calibri" pitchFamily="34" charset="0"/>
            </a:endParaRPr>
          </a:p>
        </p:txBody>
      </p:sp>
      <p:sp>
        <p:nvSpPr>
          <p:cNvPr id="27" name="Content Placeholder 2">
            <a:extLst>
              <a:ext uri="{FF2B5EF4-FFF2-40B4-BE49-F238E27FC236}">
                <a16:creationId xmlns:a16="http://schemas.microsoft.com/office/drawing/2014/main" id="{B71D5A5A-044B-24F4-7B0F-12E0E5132646}"/>
              </a:ext>
            </a:extLst>
          </p:cNvPr>
          <p:cNvSpPr txBox="1">
            <a:spLocks/>
          </p:cNvSpPr>
          <p:nvPr/>
        </p:nvSpPr>
        <p:spPr bwMode="auto">
          <a:xfrm>
            <a:off x="250825" y="1663700"/>
            <a:ext cx="7921625"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If we put back in the data, this is what the relations would look like in 3NF</a:t>
            </a:r>
            <a:endParaRPr kumimoji="0" lang="en-US" altLang="en-US" sz="32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US" altLang="en-US" sz="32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rPr>
              <a:t> </a:t>
            </a: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graphicFrame>
        <p:nvGraphicFramePr>
          <p:cNvPr id="34" name="Table 33">
            <a:extLst>
              <a:ext uri="{FF2B5EF4-FFF2-40B4-BE49-F238E27FC236}">
                <a16:creationId xmlns:a16="http://schemas.microsoft.com/office/drawing/2014/main" id="{87D1A8C3-2593-7F5D-FBCA-6C702050B40A}"/>
              </a:ext>
            </a:extLst>
          </p:cNvPr>
          <p:cNvGraphicFramePr>
            <a:graphicFrameLocks noGrp="1"/>
          </p:cNvGraphicFramePr>
          <p:nvPr/>
        </p:nvGraphicFramePr>
        <p:xfrm>
          <a:off x="395288" y="2932113"/>
          <a:ext cx="3240087" cy="1112838"/>
        </p:xfrm>
        <a:graphic>
          <a:graphicData uri="http://schemas.openxmlformats.org/drawingml/2006/table">
            <a:tbl>
              <a:tblPr firstRow="1" bandRow="1">
                <a:tableStyleId>{0E3FDE45-AF77-4B5C-9715-49D594BDF05E}</a:tableStyleId>
              </a:tblPr>
              <a:tblGrid>
                <a:gridCol w="1507017">
                  <a:extLst>
                    <a:ext uri="{9D8B030D-6E8A-4147-A177-3AD203B41FA5}">
                      <a16:colId xmlns:a16="http://schemas.microsoft.com/office/drawing/2014/main" val="20000"/>
                    </a:ext>
                  </a:extLst>
                </a:gridCol>
                <a:gridCol w="1733070">
                  <a:extLst>
                    <a:ext uri="{9D8B030D-6E8A-4147-A177-3AD203B41FA5}">
                      <a16:colId xmlns:a16="http://schemas.microsoft.com/office/drawing/2014/main" val="20001"/>
                    </a:ext>
                  </a:extLst>
                </a:gridCol>
              </a:tblGrid>
              <a:tr h="370946">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CA" sz="1800" dirty="0"/>
                        <a:t>PROJ_NUM</a:t>
                      </a:r>
                      <a:endParaRPr lang="en-CA" sz="1800" b="0" dirty="0"/>
                    </a:p>
                  </a:txBody>
                  <a:tcPr marL="91432" marR="91432" marT="45733" marB="45733"/>
                </a:tc>
                <a:tc>
                  <a:txBody>
                    <a:bodyPr/>
                    <a:lstStyle/>
                    <a:p>
                      <a:pPr algn="ctr"/>
                      <a:r>
                        <a:rPr lang="en-CA" sz="1800" dirty="0"/>
                        <a:t>PROJ_NAME</a:t>
                      </a:r>
                      <a:endParaRPr lang="en-CA" sz="1800" b="0" dirty="0"/>
                    </a:p>
                  </a:txBody>
                  <a:tcPr marL="91432" marR="91432" marT="45733" marB="45733"/>
                </a:tc>
                <a:extLst>
                  <a:ext uri="{0D108BD9-81ED-4DB2-BD59-A6C34878D82A}">
                    <a16:rowId xmlns:a16="http://schemas.microsoft.com/office/drawing/2014/main" val="10000"/>
                  </a:ext>
                </a:extLst>
              </a:tr>
              <a:tr h="370946">
                <a:tc>
                  <a:txBody>
                    <a:bodyPr/>
                    <a:lstStyle/>
                    <a:p>
                      <a:pPr algn="ctr"/>
                      <a:r>
                        <a:rPr lang="en-CA" sz="1800" dirty="0"/>
                        <a:t>15</a:t>
                      </a:r>
                    </a:p>
                  </a:txBody>
                  <a:tcPr marL="91432" marR="91432" marT="45733" marB="45733"/>
                </a:tc>
                <a:tc>
                  <a:txBody>
                    <a:bodyPr/>
                    <a:lstStyle/>
                    <a:p>
                      <a:pPr algn="ctr"/>
                      <a:r>
                        <a:rPr lang="en-CA" sz="1800" dirty="0"/>
                        <a:t>Evergreen</a:t>
                      </a:r>
                    </a:p>
                  </a:txBody>
                  <a:tcPr marL="91432" marR="91432" marT="45733" marB="45733"/>
                </a:tc>
                <a:extLst>
                  <a:ext uri="{0D108BD9-81ED-4DB2-BD59-A6C34878D82A}">
                    <a16:rowId xmlns:a16="http://schemas.microsoft.com/office/drawing/2014/main" val="10001"/>
                  </a:ext>
                </a:extLst>
              </a:tr>
              <a:tr h="370946">
                <a:tc>
                  <a:txBody>
                    <a:bodyPr/>
                    <a:lstStyle/>
                    <a:p>
                      <a:pPr algn="ctr"/>
                      <a:r>
                        <a:rPr lang="en-CA" sz="1800" dirty="0"/>
                        <a:t>22</a:t>
                      </a:r>
                    </a:p>
                  </a:txBody>
                  <a:tcPr marL="91432" marR="91432" marT="45733" marB="45733"/>
                </a:tc>
                <a:tc>
                  <a:txBody>
                    <a:bodyPr/>
                    <a:lstStyle/>
                    <a:p>
                      <a:pPr algn="ctr"/>
                      <a:r>
                        <a:rPr lang="en-CA" sz="1800" dirty="0"/>
                        <a:t>Wave</a:t>
                      </a:r>
                    </a:p>
                  </a:txBody>
                  <a:tcPr marL="91432" marR="91432" marT="45733" marB="45733"/>
                </a:tc>
                <a:extLst>
                  <a:ext uri="{0D108BD9-81ED-4DB2-BD59-A6C34878D82A}">
                    <a16:rowId xmlns:a16="http://schemas.microsoft.com/office/drawing/2014/main" val="10002"/>
                  </a:ext>
                </a:extLst>
              </a:tr>
            </a:tbl>
          </a:graphicData>
        </a:graphic>
      </p:graphicFrame>
      <p:cxnSp>
        <p:nvCxnSpPr>
          <p:cNvPr id="35" name="Straight Connector 34">
            <a:extLst>
              <a:ext uri="{FF2B5EF4-FFF2-40B4-BE49-F238E27FC236}">
                <a16:creationId xmlns:a16="http://schemas.microsoft.com/office/drawing/2014/main" id="{363AB6AF-D690-ABAF-9D0D-ABAB2E662649}"/>
              </a:ext>
            </a:extLst>
          </p:cNvPr>
          <p:cNvCxnSpPr>
            <a:cxnSpLocks noChangeShapeType="1"/>
          </p:cNvCxnSpPr>
          <p:nvPr/>
        </p:nvCxnSpPr>
        <p:spPr bwMode="auto">
          <a:xfrm>
            <a:off x="525463" y="3244850"/>
            <a:ext cx="1225550" cy="0"/>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graphicFrame>
        <p:nvGraphicFramePr>
          <p:cNvPr id="36" name="Table 35">
            <a:extLst>
              <a:ext uri="{FF2B5EF4-FFF2-40B4-BE49-F238E27FC236}">
                <a16:creationId xmlns:a16="http://schemas.microsoft.com/office/drawing/2014/main" id="{88999E54-8154-0FB8-FE56-69BA4A307E61}"/>
              </a:ext>
            </a:extLst>
          </p:cNvPr>
          <p:cNvGraphicFramePr>
            <a:graphicFrameLocks noGrp="1"/>
          </p:cNvGraphicFramePr>
          <p:nvPr/>
        </p:nvGraphicFramePr>
        <p:xfrm>
          <a:off x="4572000" y="2925763"/>
          <a:ext cx="3130550" cy="1482724"/>
        </p:xfrm>
        <a:graphic>
          <a:graphicData uri="http://schemas.openxmlformats.org/drawingml/2006/table">
            <a:tbl>
              <a:tblPr firstRow="1" bandRow="1">
                <a:tableStyleId>{C083E6E3-FA7D-4D7B-A595-EF9225AFEA82}</a:tableStyleId>
              </a:tblPr>
              <a:tblGrid>
                <a:gridCol w="1565275">
                  <a:extLst>
                    <a:ext uri="{9D8B030D-6E8A-4147-A177-3AD203B41FA5}">
                      <a16:colId xmlns:a16="http://schemas.microsoft.com/office/drawing/2014/main" val="20000"/>
                    </a:ext>
                  </a:extLst>
                </a:gridCol>
                <a:gridCol w="1565275">
                  <a:extLst>
                    <a:ext uri="{9D8B030D-6E8A-4147-A177-3AD203B41FA5}">
                      <a16:colId xmlns:a16="http://schemas.microsoft.com/office/drawing/2014/main" val="20001"/>
                    </a:ext>
                  </a:extLst>
                </a:gridCol>
              </a:tblGrid>
              <a:tr h="370681">
                <a:tc>
                  <a:txBody>
                    <a:bodyPr/>
                    <a:lstStyle/>
                    <a:p>
                      <a:pPr algn="ctr"/>
                      <a:r>
                        <a:rPr lang="en-CA" sz="1800" dirty="0"/>
                        <a:t>EMP_NUM</a:t>
                      </a:r>
                      <a:endParaRPr lang="en-CA" sz="1800" b="1" dirty="0"/>
                    </a:p>
                  </a:txBody>
                  <a:tcPr marL="91429" marR="91429" marT="45700" marB="45700"/>
                </a:tc>
                <a:tc>
                  <a:txBody>
                    <a:bodyPr/>
                    <a:lstStyle/>
                    <a:p>
                      <a:pPr algn="ctr"/>
                      <a:r>
                        <a:rPr lang="en-CA" sz="1800" dirty="0"/>
                        <a:t>JOB_CLASS</a:t>
                      </a:r>
                      <a:endParaRPr lang="en-CA" sz="1800" b="1" dirty="0"/>
                    </a:p>
                  </a:txBody>
                  <a:tcPr marL="91429" marR="91429" marT="45700" marB="45700"/>
                </a:tc>
                <a:extLst>
                  <a:ext uri="{0D108BD9-81ED-4DB2-BD59-A6C34878D82A}">
                    <a16:rowId xmlns:a16="http://schemas.microsoft.com/office/drawing/2014/main" val="10000"/>
                  </a:ext>
                </a:extLst>
              </a:tr>
              <a:tr h="370681">
                <a:tc>
                  <a:txBody>
                    <a:bodyPr/>
                    <a:lstStyle/>
                    <a:p>
                      <a:pPr algn="ctr"/>
                      <a:r>
                        <a:rPr lang="en-CA" sz="1800" dirty="0"/>
                        <a:t>102</a:t>
                      </a:r>
                    </a:p>
                  </a:txBody>
                  <a:tcPr marL="91429" marR="91429" marT="45700" marB="45700"/>
                </a:tc>
                <a:tc>
                  <a:txBody>
                    <a:bodyPr/>
                    <a:lstStyle/>
                    <a:p>
                      <a:pPr algn="ctr"/>
                      <a:r>
                        <a:rPr lang="en-CA" sz="1800" dirty="0"/>
                        <a:t>Engineer</a:t>
                      </a:r>
                    </a:p>
                  </a:txBody>
                  <a:tcPr marL="91429" marR="91429" marT="45700" marB="45700"/>
                </a:tc>
                <a:extLst>
                  <a:ext uri="{0D108BD9-81ED-4DB2-BD59-A6C34878D82A}">
                    <a16:rowId xmlns:a16="http://schemas.microsoft.com/office/drawing/2014/main" val="10001"/>
                  </a:ext>
                </a:extLst>
              </a:tr>
              <a:tr h="370681">
                <a:tc>
                  <a:txBody>
                    <a:bodyPr/>
                    <a:lstStyle/>
                    <a:p>
                      <a:pPr algn="ctr"/>
                      <a:r>
                        <a:rPr lang="en-CA" sz="1800" dirty="0"/>
                        <a:t>103</a:t>
                      </a:r>
                    </a:p>
                  </a:txBody>
                  <a:tcPr marL="91429" marR="91429" marT="45700" marB="45700"/>
                </a:tc>
                <a:tc>
                  <a:txBody>
                    <a:bodyPr/>
                    <a:lstStyle/>
                    <a:p>
                      <a:pPr algn="ctr"/>
                      <a:r>
                        <a:rPr lang="en-CA" sz="1800" dirty="0"/>
                        <a:t>Engineer</a:t>
                      </a:r>
                    </a:p>
                  </a:txBody>
                  <a:tcPr marL="91429" marR="91429" marT="45700" marB="45700"/>
                </a:tc>
                <a:extLst>
                  <a:ext uri="{0D108BD9-81ED-4DB2-BD59-A6C34878D82A}">
                    <a16:rowId xmlns:a16="http://schemas.microsoft.com/office/drawing/2014/main" val="10002"/>
                  </a:ext>
                </a:extLst>
              </a:tr>
              <a:tr h="370681">
                <a:tc>
                  <a:txBody>
                    <a:bodyPr/>
                    <a:lstStyle/>
                    <a:p>
                      <a:pPr algn="ctr"/>
                      <a:r>
                        <a:rPr lang="en-CA" sz="1800" dirty="0"/>
                        <a:t>…</a:t>
                      </a:r>
                    </a:p>
                  </a:txBody>
                  <a:tcPr marL="91429" marR="91429" marT="45700" marB="45700"/>
                </a:tc>
                <a:tc>
                  <a:txBody>
                    <a:bodyPr/>
                    <a:lstStyle/>
                    <a:p>
                      <a:pPr algn="ctr"/>
                      <a:r>
                        <a:rPr lang="en-CA" sz="1800" dirty="0"/>
                        <a:t>…</a:t>
                      </a:r>
                    </a:p>
                  </a:txBody>
                  <a:tcPr marL="91429" marR="91429" marT="45700" marB="45700"/>
                </a:tc>
                <a:extLst>
                  <a:ext uri="{0D108BD9-81ED-4DB2-BD59-A6C34878D82A}">
                    <a16:rowId xmlns:a16="http://schemas.microsoft.com/office/drawing/2014/main" val="10003"/>
                  </a:ext>
                </a:extLst>
              </a:tr>
            </a:tbl>
          </a:graphicData>
        </a:graphic>
      </p:graphicFrame>
      <p:cxnSp>
        <p:nvCxnSpPr>
          <p:cNvPr id="37" name="Straight Connector 36">
            <a:extLst>
              <a:ext uri="{FF2B5EF4-FFF2-40B4-BE49-F238E27FC236}">
                <a16:creationId xmlns:a16="http://schemas.microsoft.com/office/drawing/2014/main" id="{AF3240E1-5C54-B205-F021-E5729BEC5E4A}"/>
              </a:ext>
            </a:extLst>
          </p:cNvPr>
          <p:cNvCxnSpPr>
            <a:cxnSpLocks noChangeShapeType="1"/>
          </p:cNvCxnSpPr>
          <p:nvPr/>
        </p:nvCxnSpPr>
        <p:spPr bwMode="auto">
          <a:xfrm>
            <a:off x="4795838" y="3233738"/>
            <a:ext cx="1079500" cy="0"/>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graphicFrame>
        <p:nvGraphicFramePr>
          <p:cNvPr id="38" name="Table 37">
            <a:extLst>
              <a:ext uri="{FF2B5EF4-FFF2-40B4-BE49-F238E27FC236}">
                <a16:creationId xmlns:a16="http://schemas.microsoft.com/office/drawing/2014/main" id="{62AB0237-3A5E-4885-6EF2-F0DCBD61E731}"/>
              </a:ext>
            </a:extLst>
          </p:cNvPr>
          <p:cNvGraphicFramePr>
            <a:graphicFrameLocks noGrp="1"/>
          </p:cNvGraphicFramePr>
          <p:nvPr/>
        </p:nvGraphicFramePr>
        <p:xfrm>
          <a:off x="433388" y="4924425"/>
          <a:ext cx="3841750" cy="1484312"/>
        </p:xfrm>
        <a:graphic>
          <a:graphicData uri="http://schemas.openxmlformats.org/drawingml/2006/table">
            <a:tbl>
              <a:tblPr firstRow="1" bandRow="1">
                <a:tableStyleId>{D27102A9-8310-4765-A935-A1911B00CA55}</a:tableStyleId>
              </a:tblPr>
              <a:tblGrid>
                <a:gridCol w="1550606">
                  <a:extLst>
                    <a:ext uri="{9D8B030D-6E8A-4147-A177-3AD203B41FA5}">
                      <a16:colId xmlns:a16="http://schemas.microsoft.com/office/drawing/2014/main" val="20000"/>
                    </a:ext>
                  </a:extLst>
                </a:gridCol>
                <a:gridCol w="1363509">
                  <a:extLst>
                    <a:ext uri="{9D8B030D-6E8A-4147-A177-3AD203B41FA5}">
                      <a16:colId xmlns:a16="http://schemas.microsoft.com/office/drawing/2014/main" val="20001"/>
                    </a:ext>
                  </a:extLst>
                </a:gridCol>
                <a:gridCol w="927635">
                  <a:extLst>
                    <a:ext uri="{9D8B030D-6E8A-4147-A177-3AD203B41FA5}">
                      <a16:colId xmlns:a16="http://schemas.microsoft.com/office/drawing/2014/main" val="20002"/>
                    </a:ext>
                  </a:extLst>
                </a:gridCol>
              </a:tblGrid>
              <a:tr h="371078">
                <a:tc>
                  <a:txBody>
                    <a:bodyPr/>
                    <a:lstStyle/>
                    <a:p>
                      <a:pPr algn="ctr"/>
                      <a:r>
                        <a:rPr lang="en-CA" sz="1800" dirty="0"/>
                        <a:t>PROJ_NUM</a:t>
                      </a:r>
                      <a:endParaRPr lang="en-CA" sz="1800" b="1" dirty="0"/>
                    </a:p>
                  </a:txBody>
                  <a:tcPr marL="91427" marR="91427" marT="45749" marB="45749"/>
                </a:tc>
                <a:tc>
                  <a:txBody>
                    <a:bodyPr/>
                    <a:lstStyle/>
                    <a:p>
                      <a:pPr algn="ctr"/>
                      <a:r>
                        <a:rPr lang="en-CA" sz="1800" dirty="0"/>
                        <a:t>EMP_NUM</a:t>
                      </a:r>
                      <a:endParaRPr lang="en-CA" sz="1800" b="1" dirty="0"/>
                    </a:p>
                  </a:txBody>
                  <a:tcPr marL="91427" marR="91427" marT="45749" marB="45749"/>
                </a:tc>
                <a:tc>
                  <a:txBody>
                    <a:bodyPr/>
                    <a:lstStyle/>
                    <a:p>
                      <a:pPr algn="ctr"/>
                      <a:r>
                        <a:rPr lang="en-CA" sz="1800" dirty="0"/>
                        <a:t>HOUR</a:t>
                      </a:r>
                      <a:endParaRPr lang="en-CA" sz="1800" b="1" dirty="0"/>
                    </a:p>
                  </a:txBody>
                  <a:tcPr marL="91427" marR="91427" marT="45749" marB="45749"/>
                </a:tc>
                <a:extLst>
                  <a:ext uri="{0D108BD9-81ED-4DB2-BD59-A6C34878D82A}">
                    <a16:rowId xmlns:a16="http://schemas.microsoft.com/office/drawing/2014/main" val="10000"/>
                  </a:ext>
                </a:extLst>
              </a:tr>
              <a:tr h="371078">
                <a:tc>
                  <a:txBody>
                    <a:bodyPr/>
                    <a:lstStyle/>
                    <a:p>
                      <a:pPr algn="ctr"/>
                      <a:r>
                        <a:rPr lang="en-CA" sz="1800" dirty="0"/>
                        <a:t>15</a:t>
                      </a:r>
                    </a:p>
                  </a:txBody>
                  <a:tcPr marL="91427" marR="91427" marT="45749" marB="45749"/>
                </a:tc>
                <a:tc>
                  <a:txBody>
                    <a:bodyPr/>
                    <a:lstStyle/>
                    <a:p>
                      <a:pPr algn="ctr"/>
                      <a:r>
                        <a:rPr lang="en-CA" sz="1800" dirty="0"/>
                        <a:t>103</a:t>
                      </a:r>
                    </a:p>
                  </a:txBody>
                  <a:tcPr marL="91427" marR="91427" marT="45749" marB="45749"/>
                </a:tc>
                <a:tc>
                  <a:txBody>
                    <a:bodyPr/>
                    <a:lstStyle/>
                    <a:p>
                      <a:pPr algn="ctr"/>
                      <a:r>
                        <a:rPr lang="en-CA" sz="1800" dirty="0"/>
                        <a:t>23</a:t>
                      </a:r>
                    </a:p>
                  </a:txBody>
                  <a:tcPr marL="91427" marR="91427" marT="45749" marB="45749"/>
                </a:tc>
                <a:extLst>
                  <a:ext uri="{0D108BD9-81ED-4DB2-BD59-A6C34878D82A}">
                    <a16:rowId xmlns:a16="http://schemas.microsoft.com/office/drawing/2014/main" val="10001"/>
                  </a:ext>
                </a:extLst>
              </a:tr>
              <a:tr h="371078">
                <a:tc>
                  <a:txBody>
                    <a:bodyPr/>
                    <a:lstStyle/>
                    <a:p>
                      <a:pPr algn="ctr"/>
                      <a:r>
                        <a:rPr lang="en-CA" sz="1800" dirty="0"/>
                        <a:t>15</a:t>
                      </a:r>
                    </a:p>
                  </a:txBody>
                  <a:tcPr marL="91427" marR="91427" marT="45749" marB="45749"/>
                </a:tc>
                <a:tc>
                  <a:txBody>
                    <a:bodyPr/>
                    <a:lstStyle/>
                    <a:p>
                      <a:pPr algn="ctr"/>
                      <a:r>
                        <a:rPr lang="en-CA" sz="1800" dirty="0"/>
                        <a:t>102</a:t>
                      </a:r>
                    </a:p>
                  </a:txBody>
                  <a:tcPr marL="91427" marR="91427" marT="45749" marB="45749"/>
                </a:tc>
                <a:tc>
                  <a:txBody>
                    <a:bodyPr/>
                    <a:lstStyle/>
                    <a:p>
                      <a:pPr algn="ctr"/>
                      <a:r>
                        <a:rPr lang="en-CA" sz="1800" dirty="0"/>
                        <a:t>30</a:t>
                      </a:r>
                    </a:p>
                  </a:txBody>
                  <a:tcPr marL="91427" marR="91427" marT="45749" marB="45749"/>
                </a:tc>
                <a:extLst>
                  <a:ext uri="{0D108BD9-81ED-4DB2-BD59-A6C34878D82A}">
                    <a16:rowId xmlns:a16="http://schemas.microsoft.com/office/drawing/2014/main" val="10002"/>
                  </a:ext>
                </a:extLst>
              </a:tr>
              <a:tr h="371078">
                <a:tc>
                  <a:txBody>
                    <a:bodyPr/>
                    <a:lstStyle/>
                    <a:p>
                      <a:pPr algn="ctr"/>
                      <a:r>
                        <a:rPr lang="en-CA" sz="1800" dirty="0"/>
                        <a:t>…</a:t>
                      </a:r>
                    </a:p>
                  </a:txBody>
                  <a:tcPr marL="91427" marR="91427" marT="45749" marB="45749"/>
                </a:tc>
                <a:tc>
                  <a:txBody>
                    <a:bodyPr/>
                    <a:lstStyle/>
                    <a:p>
                      <a:pPr algn="ctr"/>
                      <a:r>
                        <a:rPr lang="en-CA" sz="1800" dirty="0"/>
                        <a:t>…</a:t>
                      </a:r>
                    </a:p>
                  </a:txBody>
                  <a:tcPr marL="91427" marR="91427" marT="45749" marB="45749"/>
                </a:tc>
                <a:tc>
                  <a:txBody>
                    <a:bodyPr/>
                    <a:lstStyle/>
                    <a:p>
                      <a:pPr algn="ctr"/>
                      <a:r>
                        <a:rPr lang="en-CA" sz="1800" dirty="0"/>
                        <a:t>…</a:t>
                      </a:r>
                    </a:p>
                  </a:txBody>
                  <a:tcPr marL="91427" marR="91427" marT="45749" marB="45749"/>
                </a:tc>
                <a:extLst>
                  <a:ext uri="{0D108BD9-81ED-4DB2-BD59-A6C34878D82A}">
                    <a16:rowId xmlns:a16="http://schemas.microsoft.com/office/drawing/2014/main" val="10003"/>
                  </a:ext>
                </a:extLst>
              </a:tr>
            </a:tbl>
          </a:graphicData>
        </a:graphic>
      </p:graphicFrame>
      <p:sp>
        <p:nvSpPr>
          <p:cNvPr id="39" name="TextBox 38">
            <a:extLst>
              <a:ext uri="{FF2B5EF4-FFF2-40B4-BE49-F238E27FC236}">
                <a16:creationId xmlns:a16="http://schemas.microsoft.com/office/drawing/2014/main" id="{E39A36EB-98F0-3D52-4D31-EFE9B60881EA}"/>
              </a:ext>
            </a:extLst>
          </p:cNvPr>
          <p:cNvSpPr txBox="1">
            <a:spLocks noChangeArrowheads="1"/>
          </p:cNvSpPr>
          <p:nvPr/>
        </p:nvSpPr>
        <p:spPr bwMode="auto">
          <a:xfrm>
            <a:off x="685800" y="6413500"/>
            <a:ext cx="33369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Project_Assignment relation</a:t>
            </a:r>
          </a:p>
        </p:txBody>
      </p:sp>
      <p:cxnSp>
        <p:nvCxnSpPr>
          <p:cNvPr id="40" name="Straight Connector 39">
            <a:extLst>
              <a:ext uri="{FF2B5EF4-FFF2-40B4-BE49-F238E27FC236}">
                <a16:creationId xmlns:a16="http://schemas.microsoft.com/office/drawing/2014/main" id="{952A931B-D0B6-34A5-33B0-4316B37C0906}"/>
              </a:ext>
            </a:extLst>
          </p:cNvPr>
          <p:cNvCxnSpPr>
            <a:cxnSpLocks noChangeShapeType="1"/>
          </p:cNvCxnSpPr>
          <p:nvPr/>
        </p:nvCxnSpPr>
        <p:spPr bwMode="auto">
          <a:xfrm>
            <a:off x="552450" y="5233988"/>
            <a:ext cx="2687638" cy="0"/>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sp>
        <p:nvSpPr>
          <p:cNvPr id="42" name="TextBox 41">
            <a:extLst>
              <a:ext uri="{FF2B5EF4-FFF2-40B4-BE49-F238E27FC236}">
                <a16:creationId xmlns:a16="http://schemas.microsoft.com/office/drawing/2014/main" id="{536EABE6-A89C-C20E-19F7-4D9E1CADA43B}"/>
              </a:ext>
            </a:extLst>
          </p:cNvPr>
          <p:cNvSpPr txBox="1">
            <a:spLocks noChangeArrowheads="1"/>
          </p:cNvSpPr>
          <p:nvPr/>
        </p:nvSpPr>
        <p:spPr bwMode="auto">
          <a:xfrm>
            <a:off x="1116013" y="4044950"/>
            <a:ext cx="18002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Project relation</a:t>
            </a:r>
          </a:p>
        </p:txBody>
      </p:sp>
      <p:sp>
        <p:nvSpPr>
          <p:cNvPr id="43" name="TextBox 42">
            <a:extLst>
              <a:ext uri="{FF2B5EF4-FFF2-40B4-BE49-F238E27FC236}">
                <a16:creationId xmlns:a16="http://schemas.microsoft.com/office/drawing/2014/main" id="{F99BDC55-6EBE-8050-1E12-7434A08EFCB1}"/>
              </a:ext>
            </a:extLst>
          </p:cNvPr>
          <p:cNvSpPr txBox="1">
            <a:spLocks noChangeArrowheads="1"/>
          </p:cNvSpPr>
          <p:nvPr/>
        </p:nvSpPr>
        <p:spPr bwMode="auto">
          <a:xfrm>
            <a:off x="5126038" y="4408488"/>
            <a:ext cx="20240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Employee relation</a:t>
            </a:r>
          </a:p>
        </p:txBody>
      </p:sp>
      <p:graphicFrame>
        <p:nvGraphicFramePr>
          <p:cNvPr id="44" name="Table 43">
            <a:extLst>
              <a:ext uri="{FF2B5EF4-FFF2-40B4-BE49-F238E27FC236}">
                <a16:creationId xmlns:a16="http://schemas.microsoft.com/office/drawing/2014/main" id="{92813465-3DCA-4838-BFD0-06A9028B9736}"/>
              </a:ext>
            </a:extLst>
          </p:cNvPr>
          <p:cNvGraphicFramePr>
            <a:graphicFrameLocks noGrp="1"/>
          </p:cNvGraphicFramePr>
          <p:nvPr/>
        </p:nvGraphicFramePr>
        <p:xfrm>
          <a:off x="4572000" y="4914900"/>
          <a:ext cx="3130550" cy="1482724"/>
        </p:xfrm>
        <a:graphic>
          <a:graphicData uri="http://schemas.openxmlformats.org/drawingml/2006/table">
            <a:tbl>
              <a:tblPr firstRow="1" bandRow="1">
                <a:tableStyleId>{5FD0F851-EC5A-4D38-B0AD-8093EC10F338}</a:tableStyleId>
              </a:tblPr>
              <a:tblGrid>
                <a:gridCol w="1565275">
                  <a:extLst>
                    <a:ext uri="{9D8B030D-6E8A-4147-A177-3AD203B41FA5}">
                      <a16:colId xmlns:a16="http://schemas.microsoft.com/office/drawing/2014/main" val="20000"/>
                    </a:ext>
                  </a:extLst>
                </a:gridCol>
                <a:gridCol w="1565275">
                  <a:extLst>
                    <a:ext uri="{9D8B030D-6E8A-4147-A177-3AD203B41FA5}">
                      <a16:colId xmlns:a16="http://schemas.microsoft.com/office/drawing/2014/main" val="20001"/>
                    </a:ext>
                  </a:extLst>
                </a:gridCol>
              </a:tblGrid>
              <a:tr h="370681">
                <a:tc>
                  <a:txBody>
                    <a:bodyPr/>
                    <a:lstStyle/>
                    <a:p>
                      <a:pPr algn="ctr"/>
                      <a:r>
                        <a:rPr lang="en-CA" sz="1800" dirty="0"/>
                        <a:t>JOB_CLASS</a:t>
                      </a:r>
                      <a:endParaRPr lang="en-CA" sz="1800" b="1" dirty="0"/>
                    </a:p>
                  </a:txBody>
                  <a:tcPr marL="91429" marR="91429" marT="45700" marB="45700"/>
                </a:tc>
                <a:tc>
                  <a:txBody>
                    <a:bodyPr/>
                    <a:lstStyle/>
                    <a:p>
                      <a:pPr algn="ctr"/>
                      <a:r>
                        <a:rPr lang="en-CA" sz="1800" dirty="0"/>
                        <a:t>CHG_HOUR</a:t>
                      </a:r>
                      <a:endParaRPr lang="en-CA" sz="1800" b="1" dirty="0"/>
                    </a:p>
                  </a:txBody>
                  <a:tcPr marL="91429" marR="91429" marT="45700" marB="45700"/>
                </a:tc>
                <a:extLst>
                  <a:ext uri="{0D108BD9-81ED-4DB2-BD59-A6C34878D82A}">
                    <a16:rowId xmlns:a16="http://schemas.microsoft.com/office/drawing/2014/main" val="10000"/>
                  </a:ext>
                </a:extLst>
              </a:tr>
              <a:tr h="370681">
                <a:tc>
                  <a:txBody>
                    <a:bodyPr/>
                    <a:lstStyle/>
                    <a:p>
                      <a:pPr algn="ctr"/>
                      <a:r>
                        <a:rPr lang="en-CA" sz="1800" dirty="0"/>
                        <a:t>Engineer</a:t>
                      </a:r>
                    </a:p>
                  </a:txBody>
                  <a:tcPr marL="91429" marR="91429" marT="45700" marB="45700"/>
                </a:tc>
                <a:tc>
                  <a:txBody>
                    <a:bodyPr/>
                    <a:lstStyle/>
                    <a:p>
                      <a:pPr algn="ctr"/>
                      <a:r>
                        <a:rPr lang="en-CA" sz="1800" dirty="0"/>
                        <a:t>84.50</a:t>
                      </a:r>
                      <a:endParaRPr lang="en-CA" sz="1800" b="0" dirty="0"/>
                    </a:p>
                  </a:txBody>
                  <a:tcPr marL="91429" marR="91429" marT="45700" marB="45700"/>
                </a:tc>
                <a:extLst>
                  <a:ext uri="{0D108BD9-81ED-4DB2-BD59-A6C34878D82A}">
                    <a16:rowId xmlns:a16="http://schemas.microsoft.com/office/drawing/2014/main" val="10001"/>
                  </a:ext>
                </a:extLst>
              </a:tr>
              <a:tr h="370681">
                <a:tc>
                  <a:txBody>
                    <a:bodyPr/>
                    <a:lstStyle/>
                    <a:p>
                      <a:pPr algn="ctr"/>
                      <a:r>
                        <a:rPr lang="en-CA" sz="1800" dirty="0"/>
                        <a:t>Consultant</a:t>
                      </a:r>
                    </a:p>
                  </a:txBody>
                  <a:tcPr marL="91429" marR="91429" marT="45700" marB="45700"/>
                </a:tc>
                <a:tc>
                  <a:txBody>
                    <a:bodyPr/>
                    <a:lstStyle/>
                    <a:p>
                      <a:pPr algn="ctr"/>
                      <a:r>
                        <a:rPr lang="en-CA" sz="1800" dirty="0"/>
                        <a:t>105.00</a:t>
                      </a:r>
                    </a:p>
                  </a:txBody>
                  <a:tcPr marL="91429" marR="91429" marT="45700" marB="45700"/>
                </a:tc>
                <a:extLst>
                  <a:ext uri="{0D108BD9-81ED-4DB2-BD59-A6C34878D82A}">
                    <a16:rowId xmlns:a16="http://schemas.microsoft.com/office/drawing/2014/main" val="10002"/>
                  </a:ext>
                </a:extLst>
              </a:tr>
              <a:tr h="370681">
                <a:tc>
                  <a:txBody>
                    <a:bodyPr/>
                    <a:lstStyle/>
                    <a:p>
                      <a:pPr algn="ctr"/>
                      <a:r>
                        <a:rPr lang="en-CA" sz="1800" dirty="0"/>
                        <a:t>Programmer</a:t>
                      </a:r>
                    </a:p>
                  </a:txBody>
                  <a:tcPr marL="91429" marR="91429" marT="45700" marB="45700"/>
                </a:tc>
                <a:tc>
                  <a:txBody>
                    <a:bodyPr/>
                    <a:lstStyle/>
                    <a:p>
                      <a:pPr algn="ctr"/>
                      <a:r>
                        <a:rPr lang="en-CA" sz="1800" dirty="0"/>
                        <a:t>60.00</a:t>
                      </a:r>
                    </a:p>
                  </a:txBody>
                  <a:tcPr marL="91429" marR="91429" marT="45700" marB="45700"/>
                </a:tc>
                <a:extLst>
                  <a:ext uri="{0D108BD9-81ED-4DB2-BD59-A6C34878D82A}">
                    <a16:rowId xmlns:a16="http://schemas.microsoft.com/office/drawing/2014/main" val="10003"/>
                  </a:ext>
                </a:extLst>
              </a:tr>
            </a:tbl>
          </a:graphicData>
        </a:graphic>
      </p:graphicFrame>
      <p:cxnSp>
        <p:nvCxnSpPr>
          <p:cNvPr id="45" name="Straight Connector 44">
            <a:extLst>
              <a:ext uri="{FF2B5EF4-FFF2-40B4-BE49-F238E27FC236}">
                <a16:creationId xmlns:a16="http://schemas.microsoft.com/office/drawing/2014/main" id="{3F6A4F12-F6C7-FE60-0755-4243843D693C}"/>
              </a:ext>
            </a:extLst>
          </p:cNvPr>
          <p:cNvCxnSpPr>
            <a:cxnSpLocks noChangeShapeType="1"/>
          </p:cNvCxnSpPr>
          <p:nvPr/>
        </p:nvCxnSpPr>
        <p:spPr bwMode="auto">
          <a:xfrm>
            <a:off x="4678363" y="5222875"/>
            <a:ext cx="1368425" cy="0"/>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sp>
        <p:nvSpPr>
          <p:cNvPr id="46" name="TextBox 45">
            <a:extLst>
              <a:ext uri="{FF2B5EF4-FFF2-40B4-BE49-F238E27FC236}">
                <a16:creationId xmlns:a16="http://schemas.microsoft.com/office/drawing/2014/main" id="{015FEB48-21BE-A4B6-425D-7614DCA47921}"/>
              </a:ext>
            </a:extLst>
          </p:cNvPr>
          <p:cNvSpPr txBox="1">
            <a:spLocks noChangeArrowheads="1"/>
          </p:cNvSpPr>
          <p:nvPr/>
        </p:nvSpPr>
        <p:spPr bwMode="auto">
          <a:xfrm>
            <a:off x="5126038" y="6400800"/>
            <a:ext cx="20240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Job relation</a:t>
            </a:r>
          </a:p>
        </p:txBody>
      </p:sp>
      <p:sp>
        <p:nvSpPr>
          <p:cNvPr id="41" name="Title 1">
            <a:extLst>
              <a:ext uri="{FF2B5EF4-FFF2-40B4-BE49-F238E27FC236}">
                <a16:creationId xmlns:a16="http://schemas.microsoft.com/office/drawing/2014/main" id="{1B258CD9-44EB-FDF2-B1BB-933E5B516491}"/>
              </a:ext>
            </a:extLst>
          </p:cNvPr>
          <p:cNvSpPr>
            <a:spLocks noGrp="1"/>
          </p:cNvSpPr>
          <p:nvPr>
            <p:ph type="title"/>
          </p:nvPr>
        </p:nvSpPr>
        <p:spPr>
          <a:xfrm>
            <a:off x="457200" y="76200"/>
            <a:ext cx="7620000" cy="1143000"/>
          </a:xfrm>
        </p:spPr>
        <p:txBody>
          <a:bodyPr/>
          <a:lstStyle/>
          <a:p>
            <a:pPr algn="ctr">
              <a:defRPr/>
            </a:pPr>
            <a:r>
              <a:rPr lang="en-US" dirty="0"/>
              <a:t>Relational Database Normalization</a:t>
            </a:r>
            <a:endParaRPr lang="en-CA"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27">
                                            <p:txEl>
                                              <p:pRg st="0" end="0"/>
                                            </p:txEl>
                                          </p:spTgt>
                                        </p:tgtEl>
                                        <p:attrNameLst>
                                          <p:attrName>style.visibility</p:attrName>
                                        </p:attrNameLst>
                                      </p:cBhvr>
                                      <p:to>
                                        <p:strVal val="visible"/>
                                      </p:to>
                                    </p:set>
                                    <p:animEffect transition="in" filter="wipe(left)">
                                      <p:cBhvr>
                                        <p:cTn id="7" dur="500"/>
                                        <p:tgtEl>
                                          <p:spTgt spid="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wipe(up)">
                                      <p:cBhvr>
                                        <p:cTn id="12" dur="500"/>
                                        <p:tgtEl>
                                          <p:spTgt spid="34"/>
                                        </p:tgtEl>
                                      </p:cBhvr>
                                    </p:animEffect>
                                  </p:childTnLst>
                                </p:cTn>
                              </p:par>
                            </p:childTnLst>
                          </p:cTn>
                        </p:par>
                        <p:par>
                          <p:cTn id="13" fill="hold" nodeType="afterGroup">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42"/>
                                        </p:tgtEl>
                                        <p:attrNameLst>
                                          <p:attrName>style.visibility</p:attrName>
                                        </p:attrNameLst>
                                      </p:cBhvr>
                                      <p:to>
                                        <p:strVal val="visible"/>
                                      </p:to>
                                    </p:set>
                                    <p:animEffect transition="in" filter="wipe(left)">
                                      <p:cBhvr>
                                        <p:cTn id="16" dur="500"/>
                                        <p:tgtEl>
                                          <p:spTgt spid="42"/>
                                        </p:tgtEl>
                                      </p:cBhvr>
                                    </p:animEffect>
                                  </p:childTnLst>
                                </p:cTn>
                              </p:par>
                            </p:childTnLst>
                          </p:cTn>
                        </p:par>
                        <p:par>
                          <p:cTn id="17" fill="hold" nodeType="afterGroup">
                            <p:stCondLst>
                              <p:cond delay="1000"/>
                            </p:stCondLst>
                            <p:childTnLst>
                              <p:par>
                                <p:cTn id="18" presetID="22" presetClass="entr" presetSubtype="8" fill="hold" nodeType="afterEffect">
                                  <p:stCondLst>
                                    <p:cond delay="0"/>
                                  </p:stCondLst>
                                  <p:childTnLst>
                                    <p:set>
                                      <p:cBhvr>
                                        <p:cTn id="19" dur="1" fill="hold">
                                          <p:stCondLst>
                                            <p:cond delay="0"/>
                                          </p:stCondLst>
                                        </p:cTn>
                                        <p:tgtEl>
                                          <p:spTgt spid="35"/>
                                        </p:tgtEl>
                                        <p:attrNameLst>
                                          <p:attrName>style.visibility</p:attrName>
                                        </p:attrNameLst>
                                      </p:cBhvr>
                                      <p:to>
                                        <p:strVal val="visible"/>
                                      </p:to>
                                    </p:set>
                                    <p:animEffect transition="in" filter="wipe(left)">
                                      <p:cBhvr>
                                        <p:cTn id="20" dur="500"/>
                                        <p:tgtEl>
                                          <p:spTgt spid="35"/>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1" fill="hold" nodeType="clickEffect">
                                  <p:stCondLst>
                                    <p:cond delay="0"/>
                                  </p:stCondLst>
                                  <p:childTnLst>
                                    <p:set>
                                      <p:cBhvr>
                                        <p:cTn id="24" dur="1" fill="hold">
                                          <p:stCondLst>
                                            <p:cond delay="0"/>
                                          </p:stCondLst>
                                        </p:cTn>
                                        <p:tgtEl>
                                          <p:spTgt spid="38"/>
                                        </p:tgtEl>
                                        <p:attrNameLst>
                                          <p:attrName>style.visibility</p:attrName>
                                        </p:attrNameLst>
                                      </p:cBhvr>
                                      <p:to>
                                        <p:strVal val="visible"/>
                                      </p:to>
                                    </p:set>
                                    <p:animEffect transition="in" filter="wipe(up)">
                                      <p:cBhvr>
                                        <p:cTn id="25" dur="500"/>
                                        <p:tgtEl>
                                          <p:spTgt spid="38"/>
                                        </p:tgtEl>
                                      </p:cBhvr>
                                    </p:animEffect>
                                  </p:childTnLst>
                                </p:cTn>
                              </p:par>
                            </p:childTnLst>
                          </p:cTn>
                        </p:par>
                        <p:par>
                          <p:cTn id="26" fill="hold" nodeType="afterGroup">
                            <p:stCondLst>
                              <p:cond delay="500"/>
                            </p:stCondLst>
                            <p:childTnLst>
                              <p:par>
                                <p:cTn id="27" presetID="22" presetClass="entr" presetSubtype="8" fill="hold" grpId="0" nodeType="afterEffect">
                                  <p:stCondLst>
                                    <p:cond delay="0"/>
                                  </p:stCondLst>
                                  <p:childTnLst>
                                    <p:set>
                                      <p:cBhvr>
                                        <p:cTn id="28" dur="1" fill="hold">
                                          <p:stCondLst>
                                            <p:cond delay="0"/>
                                          </p:stCondLst>
                                        </p:cTn>
                                        <p:tgtEl>
                                          <p:spTgt spid="39"/>
                                        </p:tgtEl>
                                        <p:attrNameLst>
                                          <p:attrName>style.visibility</p:attrName>
                                        </p:attrNameLst>
                                      </p:cBhvr>
                                      <p:to>
                                        <p:strVal val="visible"/>
                                      </p:to>
                                    </p:set>
                                    <p:animEffect transition="in" filter="wipe(left)">
                                      <p:cBhvr>
                                        <p:cTn id="29" dur="500"/>
                                        <p:tgtEl>
                                          <p:spTgt spid="39"/>
                                        </p:tgtEl>
                                      </p:cBhvr>
                                    </p:animEffect>
                                  </p:childTnLst>
                                </p:cTn>
                              </p:par>
                            </p:childTnLst>
                          </p:cTn>
                        </p:par>
                        <p:par>
                          <p:cTn id="30" fill="hold" nodeType="afterGroup">
                            <p:stCondLst>
                              <p:cond delay="1000"/>
                            </p:stCondLst>
                            <p:childTnLst>
                              <p:par>
                                <p:cTn id="31" presetID="22" presetClass="entr" presetSubtype="8" fill="hold" nodeType="afterEffect">
                                  <p:stCondLst>
                                    <p:cond delay="0"/>
                                  </p:stCondLst>
                                  <p:childTnLst>
                                    <p:set>
                                      <p:cBhvr>
                                        <p:cTn id="32" dur="1" fill="hold">
                                          <p:stCondLst>
                                            <p:cond delay="0"/>
                                          </p:stCondLst>
                                        </p:cTn>
                                        <p:tgtEl>
                                          <p:spTgt spid="40"/>
                                        </p:tgtEl>
                                        <p:attrNameLst>
                                          <p:attrName>style.visibility</p:attrName>
                                        </p:attrNameLst>
                                      </p:cBhvr>
                                      <p:to>
                                        <p:strVal val="visible"/>
                                      </p:to>
                                    </p:set>
                                    <p:animEffect transition="in" filter="wipe(left)">
                                      <p:cBhvr>
                                        <p:cTn id="33" dur="500"/>
                                        <p:tgtEl>
                                          <p:spTgt spid="40"/>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1" fill="hold" nodeType="clickEffect">
                                  <p:stCondLst>
                                    <p:cond delay="0"/>
                                  </p:stCondLst>
                                  <p:childTnLst>
                                    <p:set>
                                      <p:cBhvr>
                                        <p:cTn id="37" dur="1" fill="hold">
                                          <p:stCondLst>
                                            <p:cond delay="0"/>
                                          </p:stCondLst>
                                        </p:cTn>
                                        <p:tgtEl>
                                          <p:spTgt spid="36"/>
                                        </p:tgtEl>
                                        <p:attrNameLst>
                                          <p:attrName>style.visibility</p:attrName>
                                        </p:attrNameLst>
                                      </p:cBhvr>
                                      <p:to>
                                        <p:strVal val="visible"/>
                                      </p:to>
                                    </p:set>
                                    <p:animEffect transition="in" filter="wipe(up)">
                                      <p:cBhvr>
                                        <p:cTn id="38" dur="500"/>
                                        <p:tgtEl>
                                          <p:spTgt spid="36"/>
                                        </p:tgtEl>
                                      </p:cBhvr>
                                    </p:animEffect>
                                  </p:childTnLst>
                                </p:cTn>
                              </p:par>
                            </p:childTnLst>
                          </p:cTn>
                        </p:par>
                        <p:par>
                          <p:cTn id="39" fill="hold" nodeType="afterGroup">
                            <p:stCondLst>
                              <p:cond delay="500"/>
                            </p:stCondLst>
                            <p:childTnLst>
                              <p:par>
                                <p:cTn id="40" presetID="22" presetClass="entr" presetSubtype="8" fill="hold" grpId="0" nodeType="afterEffect">
                                  <p:stCondLst>
                                    <p:cond delay="0"/>
                                  </p:stCondLst>
                                  <p:childTnLst>
                                    <p:set>
                                      <p:cBhvr>
                                        <p:cTn id="41" dur="1" fill="hold">
                                          <p:stCondLst>
                                            <p:cond delay="0"/>
                                          </p:stCondLst>
                                        </p:cTn>
                                        <p:tgtEl>
                                          <p:spTgt spid="43"/>
                                        </p:tgtEl>
                                        <p:attrNameLst>
                                          <p:attrName>style.visibility</p:attrName>
                                        </p:attrNameLst>
                                      </p:cBhvr>
                                      <p:to>
                                        <p:strVal val="visible"/>
                                      </p:to>
                                    </p:set>
                                    <p:animEffect transition="in" filter="wipe(left)">
                                      <p:cBhvr>
                                        <p:cTn id="42" dur="500"/>
                                        <p:tgtEl>
                                          <p:spTgt spid="43"/>
                                        </p:tgtEl>
                                      </p:cBhvr>
                                    </p:animEffect>
                                  </p:childTnLst>
                                </p:cTn>
                              </p:par>
                            </p:childTnLst>
                          </p:cTn>
                        </p:par>
                        <p:par>
                          <p:cTn id="43" fill="hold" nodeType="afterGroup">
                            <p:stCondLst>
                              <p:cond delay="1000"/>
                            </p:stCondLst>
                            <p:childTnLst>
                              <p:par>
                                <p:cTn id="44" presetID="22" presetClass="entr" presetSubtype="8" fill="hold" nodeType="afterEffect">
                                  <p:stCondLst>
                                    <p:cond delay="0"/>
                                  </p:stCondLst>
                                  <p:childTnLst>
                                    <p:set>
                                      <p:cBhvr>
                                        <p:cTn id="45" dur="1" fill="hold">
                                          <p:stCondLst>
                                            <p:cond delay="0"/>
                                          </p:stCondLst>
                                        </p:cTn>
                                        <p:tgtEl>
                                          <p:spTgt spid="37"/>
                                        </p:tgtEl>
                                        <p:attrNameLst>
                                          <p:attrName>style.visibility</p:attrName>
                                        </p:attrNameLst>
                                      </p:cBhvr>
                                      <p:to>
                                        <p:strVal val="visible"/>
                                      </p:to>
                                    </p:set>
                                    <p:animEffect transition="in" filter="wipe(left)">
                                      <p:cBhvr>
                                        <p:cTn id="46" dur="500"/>
                                        <p:tgtEl>
                                          <p:spTgt spid="37"/>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1" fill="hold" nodeType="clickEffect">
                                  <p:stCondLst>
                                    <p:cond delay="0"/>
                                  </p:stCondLst>
                                  <p:childTnLst>
                                    <p:set>
                                      <p:cBhvr>
                                        <p:cTn id="50" dur="1" fill="hold">
                                          <p:stCondLst>
                                            <p:cond delay="0"/>
                                          </p:stCondLst>
                                        </p:cTn>
                                        <p:tgtEl>
                                          <p:spTgt spid="44"/>
                                        </p:tgtEl>
                                        <p:attrNameLst>
                                          <p:attrName>style.visibility</p:attrName>
                                        </p:attrNameLst>
                                      </p:cBhvr>
                                      <p:to>
                                        <p:strVal val="visible"/>
                                      </p:to>
                                    </p:set>
                                    <p:animEffect transition="in" filter="wipe(up)">
                                      <p:cBhvr>
                                        <p:cTn id="51" dur="500"/>
                                        <p:tgtEl>
                                          <p:spTgt spid="44"/>
                                        </p:tgtEl>
                                      </p:cBhvr>
                                    </p:animEffect>
                                  </p:childTnLst>
                                </p:cTn>
                              </p:par>
                            </p:childTnLst>
                          </p:cTn>
                        </p:par>
                        <p:par>
                          <p:cTn id="52" fill="hold" nodeType="afterGroup">
                            <p:stCondLst>
                              <p:cond delay="500"/>
                            </p:stCondLst>
                            <p:childTnLst>
                              <p:par>
                                <p:cTn id="53" presetID="22" presetClass="entr" presetSubtype="8" fill="hold" grpId="0" nodeType="afterEffect">
                                  <p:stCondLst>
                                    <p:cond delay="0"/>
                                  </p:stCondLst>
                                  <p:childTnLst>
                                    <p:set>
                                      <p:cBhvr>
                                        <p:cTn id="54" dur="1" fill="hold">
                                          <p:stCondLst>
                                            <p:cond delay="0"/>
                                          </p:stCondLst>
                                        </p:cTn>
                                        <p:tgtEl>
                                          <p:spTgt spid="46"/>
                                        </p:tgtEl>
                                        <p:attrNameLst>
                                          <p:attrName>style.visibility</p:attrName>
                                        </p:attrNameLst>
                                      </p:cBhvr>
                                      <p:to>
                                        <p:strVal val="visible"/>
                                      </p:to>
                                    </p:set>
                                    <p:animEffect transition="in" filter="wipe(left)">
                                      <p:cBhvr>
                                        <p:cTn id="55" dur="500"/>
                                        <p:tgtEl>
                                          <p:spTgt spid="46"/>
                                        </p:tgtEl>
                                      </p:cBhvr>
                                    </p:animEffect>
                                  </p:childTnLst>
                                </p:cTn>
                              </p:par>
                            </p:childTnLst>
                          </p:cTn>
                        </p:par>
                        <p:par>
                          <p:cTn id="56" fill="hold" nodeType="afterGroup">
                            <p:stCondLst>
                              <p:cond delay="1000"/>
                            </p:stCondLst>
                            <p:childTnLst>
                              <p:par>
                                <p:cTn id="57" presetID="22" presetClass="entr" presetSubtype="8" fill="hold" nodeType="afterEffect">
                                  <p:stCondLst>
                                    <p:cond delay="0"/>
                                  </p:stCondLst>
                                  <p:childTnLst>
                                    <p:set>
                                      <p:cBhvr>
                                        <p:cTn id="58" dur="1" fill="hold">
                                          <p:stCondLst>
                                            <p:cond delay="0"/>
                                          </p:stCondLst>
                                        </p:cTn>
                                        <p:tgtEl>
                                          <p:spTgt spid="45"/>
                                        </p:tgtEl>
                                        <p:attrNameLst>
                                          <p:attrName>style.visibility</p:attrName>
                                        </p:attrNameLst>
                                      </p:cBhvr>
                                      <p:to>
                                        <p:strVal val="visible"/>
                                      </p:to>
                                    </p:set>
                                    <p:animEffect transition="in" filter="wipe(left)">
                                      <p:cBhvr>
                                        <p:cTn id="59"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P spid="42" grpId="0"/>
      <p:bldP spid="43" grpId="0"/>
      <p:bldP spid="46" grpId="0"/>
    </p:bld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C0B7253D-1742-AA13-775D-B4217F0FC004}"/>
              </a:ext>
            </a:extLst>
          </p:cNvPr>
          <p:cNvSpPr txBox="1">
            <a:spLocks/>
          </p:cNvSpPr>
          <p:nvPr/>
        </p:nvSpPr>
        <p:spPr bwMode="auto">
          <a:xfrm>
            <a:off x="0" y="1560513"/>
            <a:ext cx="8172450" cy="323850"/>
          </a:xfrm>
          <a:prstGeom prst="rect">
            <a:avLst/>
          </a:prstGeom>
          <a:noFill/>
          <a:ln w="9525">
            <a:noFill/>
            <a:miter lim="800000"/>
            <a:headEnd/>
            <a:tailEnd/>
          </a:ln>
        </p:spPr>
        <p:txBody>
          <a:bodyPr lIns="72000" tIns="0" rIns="72000" bIns="0"/>
          <a:lstStyle/>
          <a:p>
            <a:pPr marL="0" marR="0" lvl="0" indent="0" algn="l" defTabSz="720000" rtl="0" eaLnBrk="1" fontAlgn="base" latinLnBrk="0" hangingPunct="1">
              <a:lnSpc>
                <a:spcPts val="1800"/>
              </a:lnSpc>
              <a:spcBef>
                <a:spcPts val="0"/>
              </a:spcBef>
              <a:spcAft>
                <a:spcPts val="0"/>
              </a:spcAft>
              <a:buClrTx/>
              <a:buSzTx/>
              <a:buFontTx/>
              <a:buNone/>
              <a:tabLst>
                <a:tab pos="0" algn="l"/>
              </a:tabLst>
              <a:defRPr/>
            </a:pPr>
            <a:r>
              <a:rPr kumimoji="0" lang="en-US" sz="1800" b="1" i="0" u="none" strike="noStrike" kern="0" cap="none" spc="0" normalizeH="0" baseline="0" noProof="0" dirty="0">
                <a:ln>
                  <a:noFill/>
                </a:ln>
                <a:solidFill>
                  <a:srgbClr val="2F2B20"/>
                </a:solidFill>
                <a:effectLst/>
                <a:uLnTx/>
                <a:uFillTx/>
                <a:latin typeface="Calibri"/>
                <a:ea typeface="+mn-ea"/>
                <a:cs typeface="Calibri" pitchFamily="34" charset="0"/>
              </a:rPr>
              <a:t>Normal Forms</a:t>
            </a:r>
            <a:endParaRPr kumimoji="0" lang="en-MY" sz="1800" b="1" i="0" u="none" strike="noStrike" kern="0" cap="none" spc="0" normalizeH="0" baseline="0" noProof="0" dirty="0">
              <a:ln>
                <a:noFill/>
              </a:ln>
              <a:solidFill>
                <a:srgbClr val="2F2B20"/>
              </a:solidFill>
              <a:effectLst/>
              <a:uLnTx/>
              <a:uFillTx/>
              <a:latin typeface="Calibri"/>
              <a:ea typeface="+mn-ea"/>
              <a:cs typeface="Calibri" pitchFamily="34" charset="0"/>
            </a:endParaRPr>
          </a:p>
        </p:txBody>
      </p:sp>
      <p:sp>
        <p:nvSpPr>
          <p:cNvPr id="15" name="Content Placeholder 2">
            <a:extLst>
              <a:ext uri="{FF2B5EF4-FFF2-40B4-BE49-F238E27FC236}">
                <a16:creationId xmlns:a16="http://schemas.microsoft.com/office/drawing/2014/main" id="{9EE1821B-C662-3D84-F03E-5EC1CE56D6C2}"/>
              </a:ext>
            </a:extLst>
          </p:cNvPr>
          <p:cNvSpPr txBox="1">
            <a:spLocks/>
          </p:cNvSpPr>
          <p:nvPr/>
        </p:nvSpPr>
        <p:spPr bwMode="auto">
          <a:xfrm>
            <a:off x="250825" y="1701800"/>
            <a:ext cx="7921625"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For simplicity sake, we will redraw our relations in 3NF as dependency diagrams</a:t>
            </a: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US" altLang="en-US" sz="32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rPr>
              <a:t> </a:t>
            </a: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graphicFrame>
        <p:nvGraphicFramePr>
          <p:cNvPr id="20" name="Table 19">
            <a:extLst>
              <a:ext uri="{FF2B5EF4-FFF2-40B4-BE49-F238E27FC236}">
                <a16:creationId xmlns:a16="http://schemas.microsoft.com/office/drawing/2014/main" id="{AE4B4C5B-3763-006D-3A5C-30D04CD8AE79}"/>
              </a:ext>
            </a:extLst>
          </p:cNvPr>
          <p:cNvGraphicFramePr>
            <a:graphicFrameLocks noGrp="1"/>
          </p:cNvGraphicFramePr>
          <p:nvPr/>
        </p:nvGraphicFramePr>
        <p:xfrm>
          <a:off x="395288" y="3325813"/>
          <a:ext cx="3240088" cy="428625"/>
        </p:xfrm>
        <a:graphic>
          <a:graphicData uri="http://schemas.openxmlformats.org/drawingml/2006/table">
            <a:tbl>
              <a:tblPr firstRow="1" bandRow="1">
                <a:tableStyleId>{5940675A-B579-460E-94D1-54222C63F5DA}</a:tableStyleId>
              </a:tblPr>
              <a:tblGrid>
                <a:gridCol w="1620044">
                  <a:extLst>
                    <a:ext uri="{9D8B030D-6E8A-4147-A177-3AD203B41FA5}">
                      <a16:colId xmlns:a16="http://schemas.microsoft.com/office/drawing/2014/main" val="20000"/>
                    </a:ext>
                  </a:extLst>
                </a:gridCol>
                <a:gridCol w="1620044">
                  <a:extLst>
                    <a:ext uri="{9D8B030D-6E8A-4147-A177-3AD203B41FA5}">
                      <a16:colId xmlns:a16="http://schemas.microsoft.com/office/drawing/2014/main" val="20001"/>
                    </a:ext>
                  </a:extLst>
                </a:gridCol>
              </a:tblGrid>
              <a:tr h="428625">
                <a:tc>
                  <a:txBody>
                    <a:bodyPr/>
                    <a:lstStyle/>
                    <a:p>
                      <a:pPr algn="ctr"/>
                      <a:r>
                        <a:rPr lang="en-CA" sz="1800" dirty="0"/>
                        <a:t>PROJ_NUM</a:t>
                      </a:r>
                      <a:endParaRPr lang="en-CA" sz="1800" b="0" dirty="0"/>
                    </a:p>
                  </a:txBody>
                  <a:tcPr marL="91432" marR="91432" marT="45736" marB="45736"/>
                </a:tc>
                <a:tc>
                  <a:txBody>
                    <a:bodyPr/>
                    <a:lstStyle/>
                    <a:p>
                      <a:pPr algn="ctr"/>
                      <a:r>
                        <a:rPr lang="en-CA" sz="1800" b="0" dirty="0"/>
                        <a:t>PROJ_NAME</a:t>
                      </a:r>
                    </a:p>
                  </a:txBody>
                  <a:tcPr marL="91432" marR="91432" marT="45736" marB="45736"/>
                </a:tc>
                <a:extLst>
                  <a:ext uri="{0D108BD9-81ED-4DB2-BD59-A6C34878D82A}">
                    <a16:rowId xmlns:a16="http://schemas.microsoft.com/office/drawing/2014/main" val="10000"/>
                  </a:ext>
                </a:extLst>
              </a:tr>
            </a:tbl>
          </a:graphicData>
        </a:graphic>
      </p:graphicFrame>
      <p:cxnSp>
        <p:nvCxnSpPr>
          <p:cNvPr id="21" name="Straight Connector 20">
            <a:extLst>
              <a:ext uri="{FF2B5EF4-FFF2-40B4-BE49-F238E27FC236}">
                <a16:creationId xmlns:a16="http://schemas.microsoft.com/office/drawing/2014/main" id="{4E1FBA6D-CFE5-6F0F-D4FD-12405A98DCBC}"/>
              </a:ext>
            </a:extLst>
          </p:cNvPr>
          <p:cNvCxnSpPr>
            <a:cxnSpLocks noChangeShapeType="1"/>
          </p:cNvCxnSpPr>
          <p:nvPr/>
        </p:nvCxnSpPr>
        <p:spPr bwMode="auto">
          <a:xfrm>
            <a:off x="601663" y="3635375"/>
            <a:ext cx="1223962" cy="0"/>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graphicFrame>
        <p:nvGraphicFramePr>
          <p:cNvPr id="25" name="Table 24">
            <a:extLst>
              <a:ext uri="{FF2B5EF4-FFF2-40B4-BE49-F238E27FC236}">
                <a16:creationId xmlns:a16="http://schemas.microsoft.com/office/drawing/2014/main" id="{4FCA7A82-9571-629D-636B-AD99C991AB16}"/>
              </a:ext>
            </a:extLst>
          </p:cNvPr>
          <p:cNvGraphicFramePr>
            <a:graphicFrameLocks noGrp="1"/>
          </p:cNvGraphicFramePr>
          <p:nvPr/>
        </p:nvGraphicFramePr>
        <p:xfrm>
          <a:off x="403225" y="4783138"/>
          <a:ext cx="4006849" cy="438150"/>
        </p:xfrm>
        <a:graphic>
          <a:graphicData uri="http://schemas.openxmlformats.org/drawingml/2006/table">
            <a:tbl>
              <a:tblPr firstRow="1" bandRow="1">
                <a:tableStyleId>{5940675A-B579-460E-94D1-54222C63F5DA}</a:tableStyleId>
              </a:tblPr>
              <a:tblGrid>
                <a:gridCol w="1472448">
                  <a:extLst>
                    <a:ext uri="{9D8B030D-6E8A-4147-A177-3AD203B41FA5}">
                      <a16:colId xmlns:a16="http://schemas.microsoft.com/office/drawing/2014/main" val="20000"/>
                    </a:ext>
                  </a:extLst>
                </a:gridCol>
                <a:gridCol w="1349968">
                  <a:extLst>
                    <a:ext uri="{9D8B030D-6E8A-4147-A177-3AD203B41FA5}">
                      <a16:colId xmlns:a16="http://schemas.microsoft.com/office/drawing/2014/main" val="20001"/>
                    </a:ext>
                  </a:extLst>
                </a:gridCol>
                <a:gridCol w="1184433">
                  <a:extLst>
                    <a:ext uri="{9D8B030D-6E8A-4147-A177-3AD203B41FA5}">
                      <a16:colId xmlns:a16="http://schemas.microsoft.com/office/drawing/2014/main" val="20002"/>
                    </a:ext>
                  </a:extLst>
                </a:gridCol>
              </a:tblGrid>
              <a:tr h="438150">
                <a:tc>
                  <a:txBody>
                    <a:bodyPr/>
                    <a:lstStyle/>
                    <a:p>
                      <a:pPr algn="ctr"/>
                      <a:r>
                        <a:rPr lang="en-CA" sz="1800" dirty="0"/>
                        <a:t>PROJ_NUM</a:t>
                      </a:r>
                      <a:endParaRPr lang="en-CA" sz="1800" b="0" dirty="0"/>
                    </a:p>
                  </a:txBody>
                  <a:tcPr marL="91426" marR="91426" marT="45760" marB="45760"/>
                </a:tc>
                <a:tc>
                  <a:txBody>
                    <a:bodyPr/>
                    <a:lstStyle/>
                    <a:p>
                      <a:pPr algn="ctr"/>
                      <a:r>
                        <a:rPr lang="en-CA" sz="1800" b="0" dirty="0"/>
                        <a:t>EMP_NUM</a:t>
                      </a:r>
                    </a:p>
                  </a:txBody>
                  <a:tcPr marL="91426" marR="91426" marT="45760" marB="45760"/>
                </a:tc>
                <a:tc>
                  <a:txBody>
                    <a:bodyPr/>
                    <a:lstStyle/>
                    <a:p>
                      <a:pPr algn="ctr"/>
                      <a:r>
                        <a:rPr lang="en-CA" sz="1800" b="0" dirty="0"/>
                        <a:t>HOUR</a:t>
                      </a:r>
                    </a:p>
                  </a:txBody>
                  <a:tcPr marL="91426" marR="91426" marT="45760" marB="45760"/>
                </a:tc>
                <a:extLst>
                  <a:ext uri="{0D108BD9-81ED-4DB2-BD59-A6C34878D82A}">
                    <a16:rowId xmlns:a16="http://schemas.microsoft.com/office/drawing/2014/main" val="10000"/>
                  </a:ext>
                </a:extLst>
              </a:tr>
            </a:tbl>
          </a:graphicData>
        </a:graphic>
      </p:graphicFrame>
      <p:cxnSp>
        <p:nvCxnSpPr>
          <p:cNvPr id="27" name="Straight Connector 26">
            <a:extLst>
              <a:ext uri="{FF2B5EF4-FFF2-40B4-BE49-F238E27FC236}">
                <a16:creationId xmlns:a16="http://schemas.microsoft.com/office/drawing/2014/main" id="{6B223FCD-EE69-71E6-FE87-15340C92B9A7}"/>
              </a:ext>
            </a:extLst>
          </p:cNvPr>
          <p:cNvCxnSpPr>
            <a:cxnSpLocks noChangeShapeType="1"/>
          </p:cNvCxnSpPr>
          <p:nvPr/>
        </p:nvCxnSpPr>
        <p:spPr bwMode="auto">
          <a:xfrm>
            <a:off x="547688" y="5086350"/>
            <a:ext cx="2536825" cy="0"/>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sp>
        <p:nvSpPr>
          <p:cNvPr id="28" name="TextBox 27">
            <a:extLst>
              <a:ext uri="{FF2B5EF4-FFF2-40B4-BE49-F238E27FC236}">
                <a16:creationId xmlns:a16="http://schemas.microsoft.com/office/drawing/2014/main" id="{3D054B0F-8AB5-078B-3435-6DC3F622E1A3}"/>
              </a:ext>
            </a:extLst>
          </p:cNvPr>
          <p:cNvSpPr txBox="1">
            <a:spLocks noChangeArrowheads="1"/>
          </p:cNvSpPr>
          <p:nvPr/>
        </p:nvSpPr>
        <p:spPr bwMode="auto">
          <a:xfrm>
            <a:off x="311150" y="2962275"/>
            <a:ext cx="2089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PROJECT</a:t>
            </a:r>
          </a:p>
        </p:txBody>
      </p:sp>
      <p:sp>
        <p:nvSpPr>
          <p:cNvPr id="30" name="TextBox 29">
            <a:extLst>
              <a:ext uri="{FF2B5EF4-FFF2-40B4-BE49-F238E27FC236}">
                <a16:creationId xmlns:a16="http://schemas.microsoft.com/office/drawing/2014/main" id="{73261B3E-C051-0BE9-BAA3-7B865C3DE2F2}"/>
              </a:ext>
            </a:extLst>
          </p:cNvPr>
          <p:cNvSpPr txBox="1">
            <a:spLocks noChangeArrowheads="1"/>
          </p:cNvSpPr>
          <p:nvPr/>
        </p:nvSpPr>
        <p:spPr bwMode="auto">
          <a:xfrm>
            <a:off x="323850" y="4402138"/>
            <a:ext cx="29178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PROJECT_ASSIGNMENT</a:t>
            </a:r>
          </a:p>
        </p:txBody>
      </p:sp>
      <p:cxnSp>
        <p:nvCxnSpPr>
          <p:cNvPr id="31" name="Straight Connector 30">
            <a:extLst>
              <a:ext uri="{FF2B5EF4-FFF2-40B4-BE49-F238E27FC236}">
                <a16:creationId xmlns:a16="http://schemas.microsoft.com/office/drawing/2014/main" id="{080AC9C6-FEBA-7055-8510-E341CC4E4F1B}"/>
              </a:ext>
            </a:extLst>
          </p:cNvPr>
          <p:cNvCxnSpPr>
            <a:cxnSpLocks noChangeShapeType="1"/>
          </p:cNvCxnSpPr>
          <p:nvPr/>
        </p:nvCxnSpPr>
        <p:spPr bwMode="auto">
          <a:xfrm flipV="1">
            <a:off x="1143000" y="3765550"/>
            <a:ext cx="0" cy="360363"/>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cxnSp>
        <p:nvCxnSpPr>
          <p:cNvPr id="32" name="Straight Connector 31">
            <a:extLst>
              <a:ext uri="{FF2B5EF4-FFF2-40B4-BE49-F238E27FC236}">
                <a16:creationId xmlns:a16="http://schemas.microsoft.com/office/drawing/2014/main" id="{614D415D-4AD4-C936-C136-EFACA5C1ECC7}"/>
              </a:ext>
            </a:extLst>
          </p:cNvPr>
          <p:cNvCxnSpPr>
            <a:cxnSpLocks noChangeShapeType="1"/>
          </p:cNvCxnSpPr>
          <p:nvPr/>
        </p:nvCxnSpPr>
        <p:spPr bwMode="auto">
          <a:xfrm>
            <a:off x="1127125" y="4135438"/>
            <a:ext cx="1573213" cy="0"/>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cxnSp>
        <p:nvCxnSpPr>
          <p:cNvPr id="33" name="Straight Connector 32">
            <a:extLst>
              <a:ext uri="{FF2B5EF4-FFF2-40B4-BE49-F238E27FC236}">
                <a16:creationId xmlns:a16="http://schemas.microsoft.com/office/drawing/2014/main" id="{830801A6-A0B3-72EE-7317-A8D3F55E31F7}"/>
              </a:ext>
            </a:extLst>
          </p:cNvPr>
          <p:cNvCxnSpPr>
            <a:cxnSpLocks noChangeShapeType="1"/>
          </p:cNvCxnSpPr>
          <p:nvPr/>
        </p:nvCxnSpPr>
        <p:spPr bwMode="auto">
          <a:xfrm flipV="1">
            <a:off x="2693988" y="3775075"/>
            <a:ext cx="0" cy="360363"/>
          </a:xfrm>
          <a:prstGeom prst="line">
            <a:avLst/>
          </a:prstGeom>
          <a:noFill/>
          <a:ln w="2540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3" name="Straight Connector 42">
            <a:extLst>
              <a:ext uri="{FF2B5EF4-FFF2-40B4-BE49-F238E27FC236}">
                <a16:creationId xmlns:a16="http://schemas.microsoft.com/office/drawing/2014/main" id="{4B7BE0C9-06C7-E26E-EF95-ECDDA7F0FDE4}"/>
              </a:ext>
            </a:extLst>
          </p:cNvPr>
          <p:cNvCxnSpPr>
            <a:cxnSpLocks noChangeShapeType="1"/>
          </p:cNvCxnSpPr>
          <p:nvPr/>
        </p:nvCxnSpPr>
        <p:spPr bwMode="auto">
          <a:xfrm flipV="1">
            <a:off x="806450" y="5221288"/>
            <a:ext cx="0" cy="360362"/>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cxnSp>
        <p:nvCxnSpPr>
          <p:cNvPr id="44" name="Straight Connector 43">
            <a:extLst>
              <a:ext uri="{FF2B5EF4-FFF2-40B4-BE49-F238E27FC236}">
                <a16:creationId xmlns:a16="http://schemas.microsoft.com/office/drawing/2014/main" id="{1BB1442C-BF22-519E-D848-9B2D465B1BC8}"/>
              </a:ext>
            </a:extLst>
          </p:cNvPr>
          <p:cNvCxnSpPr>
            <a:cxnSpLocks noChangeShapeType="1"/>
          </p:cNvCxnSpPr>
          <p:nvPr/>
        </p:nvCxnSpPr>
        <p:spPr bwMode="auto">
          <a:xfrm flipV="1">
            <a:off x="2208213" y="5221288"/>
            <a:ext cx="0" cy="360362"/>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cxnSp>
        <p:nvCxnSpPr>
          <p:cNvPr id="45" name="Straight Connector 44">
            <a:extLst>
              <a:ext uri="{FF2B5EF4-FFF2-40B4-BE49-F238E27FC236}">
                <a16:creationId xmlns:a16="http://schemas.microsoft.com/office/drawing/2014/main" id="{57A491F3-AF2D-BA19-6C94-8CEDA0033993}"/>
              </a:ext>
            </a:extLst>
          </p:cNvPr>
          <p:cNvCxnSpPr>
            <a:cxnSpLocks noChangeShapeType="1"/>
          </p:cNvCxnSpPr>
          <p:nvPr/>
        </p:nvCxnSpPr>
        <p:spPr bwMode="auto">
          <a:xfrm>
            <a:off x="790575" y="5581650"/>
            <a:ext cx="3049588" cy="0"/>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cxnSp>
        <p:nvCxnSpPr>
          <p:cNvPr id="46" name="Straight Connector 45">
            <a:extLst>
              <a:ext uri="{FF2B5EF4-FFF2-40B4-BE49-F238E27FC236}">
                <a16:creationId xmlns:a16="http://schemas.microsoft.com/office/drawing/2014/main" id="{363F1A14-A7CD-ED02-D35B-BA80ECA3A1D9}"/>
              </a:ext>
            </a:extLst>
          </p:cNvPr>
          <p:cNvCxnSpPr>
            <a:cxnSpLocks noChangeShapeType="1"/>
          </p:cNvCxnSpPr>
          <p:nvPr/>
        </p:nvCxnSpPr>
        <p:spPr bwMode="auto">
          <a:xfrm flipV="1">
            <a:off x="3840163" y="5221288"/>
            <a:ext cx="0" cy="360362"/>
          </a:xfrm>
          <a:prstGeom prst="line">
            <a:avLst/>
          </a:prstGeom>
          <a:noFill/>
          <a:ln w="25400" algn="ctr">
            <a:solidFill>
              <a:schemeClr val="tx1"/>
            </a:solidFill>
            <a:round/>
            <a:headEnd/>
            <a:tailEnd type="triangle" w="med" len="med"/>
          </a:ln>
          <a:extLst>
            <a:ext uri="{909E8E84-426E-40DD-AFC4-6F175D3DCCD1}">
              <a14:hiddenFill xmlns:a14="http://schemas.microsoft.com/office/drawing/2010/main">
                <a:noFill/>
              </a14:hiddenFill>
            </a:ext>
          </a:extLst>
        </p:spPr>
      </p:cxnSp>
      <p:graphicFrame>
        <p:nvGraphicFramePr>
          <p:cNvPr id="48" name="Table 47">
            <a:extLst>
              <a:ext uri="{FF2B5EF4-FFF2-40B4-BE49-F238E27FC236}">
                <a16:creationId xmlns:a16="http://schemas.microsoft.com/office/drawing/2014/main" id="{8603A341-98EC-9437-2E0E-480C8DD576C1}"/>
              </a:ext>
            </a:extLst>
          </p:cNvPr>
          <p:cNvGraphicFramePr>
            <a:graphicFrameLocks noGrp="1"/>
          </p:cNvGraphicFramePr>
          <p:nvPr/>
        </p:nvGraphicFramePr>
        <p:xfrm>
          <a:off x="4956175" y="3300413"/>
          <a:ext cx="3076575" cy="438150"/>
        </p:xfrm>
        <a:graphic>
          <a:graphicData uri="http://schemas.openxmlformats.org/drawingml/2006/table">
            <a:tbl>
              <a:tblPr firstRow="1" bandRow="1">
                <a:tableStyleId>{5940675A-B579-460E-94D1-54222C63F5DA}</a:tableStyleId>
              </a:tblPr>
              <a:tblGrid>
                <a:gridCol w="1348484">
                  <a:extLst>
                    <a:ext uri="{9D8B030D-6E8A-4147-A177-3AD203B41FA5}">
                      <a16:colId xmlns:a16="http://schemas.microsoft.com/office/drawing/2014/main" val="20000"/>
                    </a:ext>
                  </a:extLst>
                </a:gridCol>
                <a:gridCol w="1728091">
                  <a:extLst>
                    <a:ext uri="{9D8B030D-6E8A-4147-A177-3AD203B41FA5}">
                      <a16:colId xmlns:a16="http://schemas.microsoft.com/office/drawing/2014/main" val="20001"/>
                    </a:ext>
                  </a:extLst>
                </a:gridCol>
              </a:tblGrid>
              <a:tr h="438150">
                <a:tc>
                  <a:txBody>
                    <a:bodyPr/>
                    <a:lstStyle/>
                    <a:p>
                      <a:pPr algn="ctr"/>
                      <a:r>
                        <a:rPr lang="en-CA" sz="1800" dirty="0"/>
                        <a:t>EMP_NUM</a:t>
                      </a:r>
                      <a:endParaRPr lang="en-CA" sz="1800" b="0" dirty="0"/>
                    </a:p>
                  </a:txBody>
                  <a:tcPr marT="45760" marB="45760"/>
                </a:tc>
                <a:tc>
                  <a:txBody>
                    <a:bodyPr/>
                    <a:lstStyle/>
                    <a:p>
                      <a:pPr algn="ctr"/>
                      <a:r>
                        <a:rPr lang="en-CA" sz="1800" b="0" dirty="0"/>
                        <a:t>JOB_CLASS</a:t>
                      </a:r>
                    </a:p>
                  </a:txBody>
                  <a:tcPr marT="45760" marB="45760"/>
                </a:tc>
                <a:extLst>
                  <a:ext uri="{0D108BD9-81ED-4DB2-BD59-A6C34878D82A}">
                    <a16:rowId xmlns:a16="http://schemas.microsoft.com/office/drawing/2014/main" val="10000"/>
                  </a:ext>
                </a:extLst>
              </a:tr>
            </a:tbl>
          </a:graphicData>
        </a:graphic>
      </p:graphicFrame>
      <p:cxnSp>
        <p:nvCxnSpPr>
          <p:cNvPr id="49" name="Straight Connector 48">
            <a:extLst>
              <a:ext uri="{FF2B5EF4-FFF2-40B4-BE49-F238E27FC236}">
                <a16:creationId xmlns:a16="http://schemas.microsoft.com/office/drawing/2014/main" id="{4AEA194B-2C4D-A396-E1BB-CA3C481E0B13}"/>
              </a:ext>
            </a:extLst>
          </p:cNvPr>
          <p:cNvCxnSpPr>
            <a:cxnSpLocks noChangeShapeType="1"/>
          </p:cNvCxnSpPr>
          <p:nvPr/>
        </p:nvCxnSpPr>
        <p:spPr bwMode="auto">
          <a:xfrm>
            <a:off x="5068888" y="3600450"/>
            <a:ext cx="1073150" cy="0"/>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sp>
        <p:nvSpPr>
          <p:cNvPr id="50" name="TextBox 49">
            <a:extLst>
              <a:ext uri="{FF2B5EF4-FFF2-40B4-BE49-F238E27FC236}">
                <a16:creationId xmlns:a16="http://schemas.microsoft.com/office/drawing/2014/main" id="{3044DB1E-12BF-4022-98A7-D09730C2171C}"/>
              </a:ext>
            </a:extLst>
          </p:cNvPr>
          <p:cNvSpPr txBox="1">
            <a:spLocks noChangeArrowheads="1"/>
          </p:cNvSpPr>
          <p:nvPr/>
        </p:nvSpPr>
        <p:spPr bwMode="auto">
          <a:xfrm>
            <a:off x="4859338" y="2936875"/>
            <a:ext cx="2089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EMPLOYEE</a:t>
            </a:r>
          </a:p>
        </p:txBody>
      </p:sp>
      <p:graphicFrame>
        <p:nvGraphicFramePr>
          <p:cNvPr id="51" name="Table 50">
            <a:extLst>
              <a:ext uri="{FF2B5EF4-FFF2-40B4-BE49-F238E27FC236}">
                <a16:creationId xmlns:a16="http://schemas.microsoft.com/office/drawing/2014/main" id="{96642761-1D59-8932-7195-E5BBA7E1B8ED}"/>
              </a:ext>
            </a:extLst>
          </p:cNvPr>
          <p:cNvGraphicFramePr>
            <a:graphicFrameLocks noGrp="1"/>
          </p:cNvGraphicFramePr>
          <p:nvPr/>
        </p:nvGraphicFramePr>
        <p:xfrm>
          <a:off x="4956175" y="4783138"/>
          <a:ext cx="3076575" cy="438150"/>
        </p:xfrm>
        <a:graphic>
          <a:graphicData uri="http://schemas.openxmlformats.org/drawingml/2006/table">
            <a:tbl>
              <a:tblPr firstRow="1" bandRow="1">
                <a:tableStyleId>{5940675A-B579-460E-94D1-54222C63F5DA}</a:tableStyleId>
              </a:tblPr>
              <a:tblGrid>
                <a:gridCol w="1560432">
                  <a:extLst>
                    <a:ext uri="{9D8B030D-6E8A-4147-A177-3AD203B41FA5}">
                      <a16:colId xmlns:a16="http://schemas.microsoft.com/office/drawing/2014/main" val="20000"/>
                    </a:ext>
                  </a:extLst>
                </a:gridCol>
                <a:gridCol w="1516143">
                  <a:extLst>
                    <a:ext uri="{9D8B030D-6E8A-4147-A177-3AD203B41FA5}">
                      <a16:colId xmlns:a16="http://schemas.microsoft.com/office/drawing/2014/main" val="20001"/>
                    </a:ext>
                  </a:extLst>
                </a:gridCol>
              </a:tblGrid>
              <a:tr h="438150">
                <a:tc>
                  <a:txBody>
                    <a:bodyPr/>
                    <a:lstStyle/>
                    <a:p>
                      <a:pPr algn="ctr"/>
                      <a:r>
                        <a:rPr lang="en-CA" sz="1800" b="0" dirty="0"/>
                        <a:t>JOB_CLASS</a:t>
                      </a:r>
                    </a:p>
                  </a:txBody>
                  <a:tcPr marT="45760" marB="45760"/>
                </a:tc>
                <a:tc>
                  <a:txBody>
                    <a:bodyPr/>
                    <a:lstStyle/>
                    <a:p>
                      <a:pPr algn="ctr"/>
                      <a:r>
                        <a:rPr lang="en-CA" sz="1800" b="0" dirty="0"/>
                        <a:t>CHG_HOUR</a:t>
                      </a:r>
                    </a:p>
                  </a:txBody>
                  <a:tcPr marT="45760" marB="45760"/>
                </a:tc>
                <a:extLst>
                  <a:ext uri="{0D108BD9-81ED-4DB2-BD59-A6C34878D82A}">
                    <a16:rowId xmlns:a16="http://schemas.microsoft.com/office/drawing/2014/main" val="10000"/>
                  </a:ext>
                </a:extLst>
              </a:tr>
            </a:tbl>
          </a:graphicData>
        </a:graphic>
      </p:graphicFrame>
      <p:cxnSp>
        <p:nvCxnSpPr>
          <p:cNvPr id="52" name="Straight Connector 51">
            <a:extLst>
              <a:ext uri="{FF2B5EF4-FFF2-40B4-BE49-F238E27FC236}">
                <a16:creationId xmlns:a16="http://schemas.microsoft.com/office/drawing/2014/main" id="{7CC3B11F-3362-1120-4382-5D178DB1AA81}"/>
              </a:ext>
            </a:extLst>
          </p:cNvPr>
          <p:cNvCxnSpPr>
            <a:cxnSpLocks noChangeShapeType="1"/>
          </p:cNvCxnSpPr>
          <p:nvPr/>
        </p:nvCxnSpPr>
        <p:spPr bwMode="auto">
          <a:xfrm>
            <a:off x="5068888" y="5083175"/>
            <a:ext cx="1374775" cy="0"/>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sp>
        <p:nvSpPr>
          <p:cNvPr id="53" name="TextBox 52">
            <a:extLst>
              <a:ext uri="{FF2B5EF4-FFF2-40B4-BE49-F238E27FC236}">
                <a16:creationId xmlns:a16="http://schemas.microsoft.com/office/drawing/2014/main" id="{5FCDD84B-1A26-FAF0-C11C-6211B7FDE8F3}"/>
              </a:ext>
            </a:extLst>
          </p:cNvPr>
          <p:cNvSpPr txBox="1">
            <a:spLocks noChangeArrowheads="1"/>
          </p:cNvSpPr>
          <p:nvPr/>
        </p:nvSpPr>
        <p:spPr bwMode="auto">
          <a:xfrm>
            <a:off x="4859338" y="4419600"/>
            <a:ext cx="2089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JOB</a:t>
            </a:r>
          </a:p>
        </p:txBody>
      </p:sp>
      <p:cxnSp>
        <p:nvCxnSpPr>
          <p:cNvPr id="54" name="Straight Connector 53">
            <a:extLst>
              <a:ext uri="{FF2B5EF4-FFF2-40B4-BE49-F238E27FC236}">
                <a16:creationId xmlns:a16="http://schemas.microsoft.com/office/drawing/2014/main" id="{2A319A3F-5E6A-F200-6082-EC66099F2217}"/>
              </a:ext>
            </a:extLst>
          </p:cNvPr>
          <p:cNvCxnSpPr>
            <a:cxnSpLocks noChangeShapeType="1"/>
          </p:cNvCxnSpPr>
          <p:nvPr/>
        </p:nvCxnSpPr>
        <p:spPr bwMode="auto">
          <a:xfrm flipV="1">
            <a:off x="5673725" y="3733800"/>
            <a:ext cx="0" cy="360363"/>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cxnSp>
        <p:nvCxnSpPr>
          <p:cNvPr id="55" name="Straight Connector 54">
            <a:extLst>
              <a:ext uri="{FF2B5EF4-FFF2-40B4-BE49-F238E27FC236}">
                <a16:creationId xmlns:a16="http://schemas.microsoft.com/office/drawing/2014/main" id="{D5E67467-03A5-E9D5-9B17-03C1DCEAD12B}"/>
              </a:ext>
            </a:extLst>
          </p:cNvPr>
          <p:cNvCxnSpPr>
            <a:cxnSpLocks noChangeShapeType="1"/>
          </p:cNvCxnSpPr>
          <p:nvPr/>
        </p:nvCxnSpPr>
        <p:spPr bwMode="auto">
          <a:xfrm>
            <a:off x="5657850" y="4103688"/>
            <a:ext cx="1573213" cy="0"/>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cxnSp>
        <p:nvCxnSpPr>
          <p:cNvPr id="56" name="Straight Connector 55">
            <a:extLst>
              <a:ext uri="{FF2B5EF4-FFF2-40B4-BE49-F238E27FC236}">
                <a16:creationId xmlns:a16="http://schemas.microsoft.com/office/drawing/2014/main" id="{EC8EB375-FD61-44AB-3CEE-6579B50A1014}"/>
              </a:ext>
            </a:extLst>
          </p:cNvPr>
          <p:cNvCxnSpPr>
            <a:cxnSpLocks noChangeShapeType="1"/>
          </p:cNvCxnSpPr>
          <p:nvPr/>
        </p:nvCxnSpPr>
        <p:spPr bwMode="auto">
          <a:xfrm flipV="1">
            <a:off x="7226300" y="3743325"/>
            <a:ext cx="0" cy="360363"/>
          </a:xfrm>
          <a:prstGeom prst="line">
            <a:avLst/>
          </a:prstGeom>
          <a:noFill/>
          <a:ln w="2540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7" name="Straight Connector 56">
            <a:extLst>
              <a:ext uri="{FF2B5EF4-FFF2-40B4-BE49-F238E27FC236}">
                <a16:creationId xmlns:a16="http://schemas.microsoft.com/office/drawing/2014/main" id="{581CCF59-6A37-C6F1-5950-C687ED4BC3CB}"/>
              </a:ext>
            </a:extLst>
          </p:cNvPr>
          <p:cNvCxnSpPr>
            <a:cxnSpLocks noChangeShapeType="1"/>
          </p:cNvCxnSpPr>
          <p:nvPr/>
        </p:nvCxnSpPr>
        <p:spPr bwMode="auto">
          <a:xfrm flipV="1">
            <a:off x="5680075" y="5213350"/>
            <a:ext cx="0" cy="360363"/>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cxnSp>
        <p:nvCxnSpPr>
          <p:cNvPr id="58" name="Straight Connector 57">
            <a:extLst>
              <a:ext uri="{FF2B5EF4-FFF2-40B4-BE49-F238E27FC236}">
                <a16:creationId xmlns:a16="http://schemas.microsoft.com/office/drawing/2014/main" id="{CF86742C-F605-786E-9E9A-667FC00DC94F}"/>
              </a:ext>
            </a:extLst>
          </p:cNvPr>
          <p:cNvCxnSpPr>
            <a:cxnSpLocks noChangeShapeType="1"/>
          </p:cNvCxnSpPr>
          <p:nvPr/>
        </p:nvCxnSpPr>
        <p:spPr bwMode="auto">
          <a:xfrm>
            <a:off x="5664200" y="5581650"/>
            <a:ext cx="1573213" cy="0"/>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cxnSp>
        <p:nvCxnSpPr>
          <p:cNvPr id="59" name="Straight Connector 58">
            <a:extLst>
              <a:ext uri="{FF2B5EF4-FFF2-40B4-BE49-F238E27FC236}">
                <a16:creationId xmlns:a16="http://schemas.microsoft.com/office/drawing/2014/main" id="{6707EB9A-123B-AD30-70D5-5F6D968346CF}"/>
              </a:ext>
            </a:extLst>
          </p:cNvPr>
          <p:cNvCxnSpPr>
            <a:cxnSpLocks noChangeShapeType="1"/>
          </p:cNvCxnSpPr>
          <p:nvPr/>
        </p:nvCxnSpPr>
        <p:spPr bwMode="auto">
          <a:xfrm flipV="1">
            <a:off x="7232650" y="5222875"/>
            <a:ext cx="0" cy="358775"/>
          </a:xfrm>
          <a:prstGeom prst="line">
            <a:avLst/>
          </a:prstGeom>
          <a:noFill/>
          <a:ln w="25400"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60" name="Rectangle 59">
            <a:extLst>
              <a:ext uri="{FF2B5EF4-FFF2-40B4-BE49-F238E27FC236}">
                <a16:creationId xmlns:a16="http://schemas.microsoft.com/office/drawing/2014/main" id="{5D2281FD-8A7B-28CA-2A82-D4C340A466F2}"/>
              </a:ext>
            </a:extLst>
          </p:cNvPr>
          <p:cNvSpPr>
            <a:spLocks noChangeArrowheads="1"/>
          </p:cNvSpPr>
          <p:nvPr/>
        </p:nvSpPr>
        <p:spPr bwMode="auto">
          <a:xfrm>
            <a:off x="1116013" y="5886450"/>
            <a:ext cx="6911975" cy="819150"/>
          </a:xfrm>
          <a:prstGeom prst="rect">
            <a:avLst/>
          </a:prstGeom>
          <a:solidFill>
            <a:srgbClr val="FFFF00">
              <a:alpha val="30196"/>
            </a:srgbClr>
          </a:solidFill>
          <a:ln w="9525" algn="ctr">
            <a:solidFill>
              <a:srgbClr val="FFC000"/>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24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This is the end result of our conversion of a relation in 2NF to 3NF</a:t>
            </a:r>
          </a:p>
        </p:txBody>
      </p:sp>
      <p:sp>
        <p:nvSpPr>
          <p:cNvPr id="38" name="Title 1">
            <a:extLst>
              <a:ext uri="{FF2B5EF4-FFF2-40B4-BE49-F238E27FC236}">
                <a16:creationId xmlns:a16="http://schemas.microsoft.com/office/drawing/2014/main" id="{CFBB4949-7D02-9C0D-04B2-AE301B8AAFDE}"/>
              </a:ext>
            </a:extLst>
          </p:cNvPr>
          <p:cNvSpPr>
            <a:spLocks noGrp="1"/>
          </p:cNvSpPr>
          <p:nvPr>
            <p:ph type="title"/>
          </p:nvPr>
        </p:nvSpPr>
        <p:spPr>
          <a:xfrm>
            <a:off x="457200" y="76200"/>
            <a:ext cx="7620000" cy="1143000"/>
          </a:xfrm>
        </p:spPr>
        <p:txBody>
          <a:bodyPr/>
          <a:lstStyle/>
          <a:p>
            <a:pPr algn="ctr">
              <a:defRPr/>
            </a:pPr>
            <a:r>
              <a:rPr lang="en-US" dirty="0"/>
              <a:t>Relational Database Normalization</a:t>
            </a:r>
            <a:endParaRPr lang="en-CA"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wipe(up)">
                                      <p:cBhvr>
                                        <p:cTn id="12" dur="500"/>
                                        <p:tgtEl>
                                          <p:spTgt spid="28"/>
                                        </p:tgtEl>
                                      </p:cBhvr>
                                    </p:animEffect>
                                  </p:childTnLst>
                                </p:cTn>
                              </p:par>
                            </p:childTnLst>
                          </p:cTn>
                        </p:par>
                        <p:par>
                          <p:cTn id="13" fill="hold" nodeType="afterGroup">
                            <p:stCondLst>
                              <p:cond delay="500"/>
                            </p:stCondLst>
                            <p:childTnLst>
                              <p:par>
                                <p:cTn id="14" presetID="22" presetClass="entr" presetSubtype="8" fill="hold" nodeType="after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wipe(left)">
                                      <p:cBhvr>
                                        <p:cTn id="16" dur="500"/>
                                        <p:tgtEl>
                                          <p:spTgt spid="20"/>
                                        </p:tgtEl>
                                      </p:cBhvr>
                                    </p:animEffect>
                                  </p:childTnLst>
                                </p:cTn>
                              </p:par>
                            </p:childTnLst>
                          </p:cTn>
                        </p:par>
                        <p:par>
                          <p:cTn id="17" fill="hold" nodeType="afterGroup">
                            <p:stCondLst>
                              <p:cond delay="1000"/>
                            </p:stCondLst>
                            <p:childTnLst>
                              <p:par>
                                <p:cTn id="18" presetID="22" presetClass="entr" presetSubtype="8" fill="hold" nodeType="afterEffect">
                                  <p:stCondLst>
                                    <p:cond delay="0"/>
                                  </p:stCondLst>
                                  <p:childTnLst>
                                    <p:set>
                                      <p:cBhvr>
                                        <p:cTn id="19" dur="1" fill="hold">
                                          <p:stCondLst>
                                            <p:cond delay="0"/>
                                          </p:stCondLst>
                                        </p:cTn>
                                        <p:tgtEl>
                                          <p:spTgt spid="21"/>
                                        </p:tgtEl>
                                        <p:attrNameLst>
                                          <p:attrName>style.visibility</p:attrName>
                                        </p:attrNameLst>
                                      </p:cBhvr>
                                      <p:to>
                                        <p:strVal val="visible"/>
                                      </p:to>
                                    </p:set>
                                    <p:animEffect transition="in" filter="wipe(left)">
                                      <p:cBhvr>
                                        <p:cTn id="20" dur="500"/>
                                        <p:tgtEl>
                                          <p:spTgt spid="21"/>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1" fill="hold" nodeType="clickEffect">
                                  <p:stCondLst>
                                    <p:cond delay="0"/>
                                  </p:stCondLst>
                                  <p:childTnLst>
                                    <p:set>
                                      <p:cBhvr>
                                        <p:cTn id="24" dur="1" fill="hold">
                                          <p:stCondLst>
                                            <p:cond delay="0"/>
                                          </p:stCondLst>
                                        </p:cTn>
                                        <p:tgtEl>
                                          <p:spTgt spid="31"/>
                                        </p:tgtEl>
                                        <p:attrNameLst>
                                          <p:attrName>style.visibility</p:attrName>
                                        </p:attrNameLst>
                                      </p:cBhvr>
                                      <p:to>
                                        <p:strVal val="visible"/>
                                      </p:to>
                                    </p:set>
                                    <p:animEffect transition="in" filter="wipe(up)">
                                      <p:cBhvr>
                                        <p:cTn id="25" dur="500"/>
                                        <p:tgtEl>
                                          <p:spTgt spid="31"/>
                                        </p:tgtEl>
                                      </p:cBhvr>
                                    </p:animEffect>
                                  </p:childTnLst>
                                </p:cTn>
                              </p:par>
                            </p:childTnLst>
                          </p:cTn>
                        </p:par>
                        <p:par>
                          <p:cTn id="26" fill="hold" nodeType="afterGroup">
                            <p:stCondLst>
                              <p:cond delay="500"/>
                            </p:stCondLst>
                            <p:childTnLst>
                              <p:par>
                                <p:cTn id="27" presetID="22" presetClass="entr" presetSubtype="8" fill="hold" nodeType="after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wipe(left)">
                                      <p:cBhvr>
                                        <p:cTn id="29" dur="500"/>
                                        <p:tgtEl>
                                          <p:spTgt spid="32"/>
                                        </p:tgtEl>
                                      </p:cBhvr>
                                    </p:animEffect>
                                  </p:childTnLst>
                                </p:cTn>
                              </p:par>
                            </p:childTnLst>
                          </p:cTn>
                        </p:par>
                        <p:par>
                          <p:cTn id="30" fill="hold" nodeType="afterGroup">
                            <p:stCondLst>
                              <p:cond delay="1000"/>
                            </p:stCondLst>
                            <p:childTnLst>
                              <p:par>
                                <p:cTn id="31" presetID="22" presetClass="entr" presetSubtype="4" fill="hold" nodeType="afterEffect">
                                  <p:stCondLst>
                                    <p:cond delay="0"/>
                                  </p:stCondLst>
                                  <p:childTnLst>
                                    <p:set>
                                      <p:cBhvr>
                                        <p:cTn id="32" dur="1" fill="hold">
                                          <p:stCondLst>
                                            <p:cond delay="0"/>
                                          </p:stCondLst>
                                        </p:cTn>
                                        <p:tgtEl>
                                          <p:spTgt spid="33"/>
                                        </p:tgtEl>
                                        <p:attrNameLst>
                                          <p:attrName>style.visibility</p:attrName>
                                        </p:attrNameLst>
                                      </p:cBhvr>
                                      <p:to>
                                        <p:strVal val="visible"/>
                                      </p:to>
                                    </p:set>
                                    <p:animEffect transition="in" filter="wipe(down)">
                                      <p:cBhvr>
                                        <p:cTn id="33" dur="500"/>
                                        <p:tgtEl>
                                          <p:spTgt spid="33"/>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1" fill="hold" grpId="0" nodeType="clickEffect">
                                  <p:stCondLst>
                                    <p:cond delay="0"/>
                                  </p:stCondLst>
                                  <p:childTnLst>
                                    <p:set>
                                      <p:cBhvr>
                                        <p:cTn id="37" dur="1" fill="hold">
                                          <p:stCondLst>
                                            <p:cond delay="0"/>
                                          </p:stCondLst>
                                        </p:cTn>
                                        <p:tgtEl>
                                          <p:spTgt spid="30"/>
                                        </p:tgtEl>
                                        <p:attrNameLst>
                                          <p:attrName>style.visibility</p:attrName>
                                        </p:attrNameLst>
                                      </p:cBhvr>
                                      <p:to>
                                        <p:strVal val="visible"/>
                                      </p:to>
                                    </p:set>
                                    <p:animEffect transition="in" filter="wipe(up)">
                                      <p:cBhvr>
                                        <p:cTn id="38" dur="500"/>
                                        <p:tgtEl>
                                          <p:spTgt spid="30"/>
                                        </p:tgtEl>
                                      </p:cBhvr>
                                    </p:animEffect>
                                  </p:childTnLst>
                                </p:cTn>
                              </p:par>
                            </p:childTnLst>
                          </p:cTn>
                        </p:par>
                        <p:par>
                          <p:cTn id="39" fill="hold" nodeType="afterGroup">
                            <p:stCondLst>
                              <p:cond delay="500"/>
                            </p:stCondLst>
                            <p:childTnLst>
                              <p:par>
                                <p:cTn id="40" presetID="22" presetClass="entr" presetSubtype="8" fill="hold" nodeType="afterEffect">
                                  <p:stCondLst>
                                    <p:cond delay="0"/>
                                  </p:stCondLst>
                                  <p:childTnLst>
                                    <p:set>
                                      <p:cBhvr>
                                        <p:cTn id="41" dur="1" fill="hold">
                                          <p:stCondLst>
                                            <p:cond delay="0"/>
                                          </p:stCondLst>
                                        </p:cTn>
                                        <p:tgtEl>
                                          <p:spTgt spid="25"/>
                                        </p:tgtEl>
                                        <p:attrNameLst>
                                          <p:attrName>style.visibility</p:attrName>
                                        </p:attrNameLst>
                                      </p:cBhvr>
                                      <p:to>
                                        <p:strVal val="visible"/>
                                      </p:to>
                                    </p:set>
                                    <p:animEffect transition="in" filter="wipe(left)">
                                      <p:cBhvr>
                                        <p:cTn id="42" dur="500"/>
                                        <p:tgtEl>
                                          <p:spTgt spid="25"/>
                                        </p:tgtEl>
                                      </p:cBhvr>
                                    </p:animEffect>
                                  </p:childTnLst>
                                </p:cTn>
                              </p:par>
                            </p:childTnLst>
                          </p:cTn>
                        </p:par>
                        <p:par>
                          <p:cTn id="43" fill="hold" nodeType="afterGroup">
                            <p:stCondLst>
                              <p:cond delay="1000"/>
                            </p:stCondLst>
                            <p:childTnLst>
                              <p:par>
                                <p:cTn id="44" presetID="22" presetClass="entr" presetSubtype="8" fill="hold" nodeType="afterEffect">
                                  <p:stCondLst>
                                    <p:cond delay="0"/>
                                  </p:stCondLst>
                                  <p:childTnLst>
                                    <p:set>
                                      <p:cBhvr>
                                        <p:cTn id="45" dur="1" fill="hold">
                                          <p:stCondLst>
                                            <p:cond delay="0"/>
                                          </p:stCondLst>
                                        </p:cTn>
                                        <p:tgtEl>
                                          <p:spTgt spid="27"/>
                                        </p:tgtEl>
                                        <p:attrNameLst>
                                          <p:attrName>style.visibility</p:attrName>
                                        </p:attrNameLst>
                                      </p:cBhvr>
                                      <p:to>
                                        <p:strVal val="visible"/>
                                      </p:to>
                                    </p:set>
                                    <p:animEffect transition="in" filter="wipe(left)">
                                      <p:cBhvr>
                                        <p:cTn id="46" dur="500"/>
                                        <p:tgtEl>
                                          <p:spTgt spid="27"/>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1" fill="hold" nodeType="clickEffect">
                                  <p:stCondLst>
                                    <p:cond delay="0"/>
                                  </p:stCondLst>
                                  <p:childTnLst>
                                    <p:set>
                                      <p:cBhvr>
                                        <p:cTn id="50" dur="1" fill="hold">
                                          <p:stCondLst>
                                            <p:cond delay="0"/>
                                          </p:stCondLst>
                                        </p:cTn>
                                        <p:tgtEl>
                                          <p:spTgt spid="43"/>
                                        </p:tgtEl>
                                        <p:attrNameLst>
                                          <p:attrName>style.visibility</p:attrName>
                                        </p:attrNameLst>
                                      </p:cBhvr>
                                      <p:to>
                                        <p:strVal val="visible"/>
                                      </p:to>
                                    </p:set>
                                    <p:animEffect transition="in" filter="wipe(up)">
                                      <p:cBhvr>
                                        <p:cTn id="51" dur="500"/>
                                        <p:tgtEl>
                                          <p:spTgt spid="43"/>
                                        </p:tgtEl>
                                      </p:cBhvr>
                                    </p:animEffect>
                                  </p:childTnLst>
                                </p:cTn>
                              </p:par>
                              <p:par>
                                <p:cTn id="52" presetID="22" presetClass="entr" presetSubtype="1" fill="hold" nodeType="withEffect">
                                  <p:stCondLst>
                                    <p:cond delay="0"/>
                                  </p:stCondLst>
                                  <p:childTnLst>
                                    <p:set>
                                      <p:cBhvr>
                                        <p:cTn id="53" dur="1" fill="hold">
                                          <p:stCondLst>
                                            <p:cond delay="0"/>
                                          </p:stCondLst>
                                        </p:cTn>
                                        <p:tgtEl>
                                          <p:spTgt spid="44"/>
                                        </p:tgtEl>
                                        <p:attrNameLst>
                                          <p:attrName>style.visibility</p:attrName>
                                        </p:attrNameLst>
                                      </p:cBhvr>
                                      <p:to>
                                        <p:strVal val="visible"/>
                                      </p:to>
                                    </p:set>
                                    <p:animEffect transition="in" filter="wipe(up)">
                                      <p:cBhvr>
                                        <p:cTn id="54" dur="500"/>
                                        <p:tgtEl>
                                          <p:spTgt spid="44"/>
                                        </p:tgtEl>
                                      </p:cBhvr>
                                    </p:animEffect>
                                  </p:childTnLst>
                                </p:cTn>
                              </p:par>
                            </p:childTnLst>
                          </p:cTn>
                        </p:par>
                        <p:par>
                          <p:cTn id="55" fill="hold" nodeType="afterGroup">
                            <p:stCondLst>
                              <p:cond delay="500"/>
                            </p:stCondLst>
                            <p:childTnLst>
                              <p:par>
                                <p:cTn id="56" presetID="22" presetClass="entr" presetSubtype="8" fill="hold" nodeType="afterEffect">
                                  <p:stCondLst>
                                    <p:cond delay="0"/>
                                  </p:stCondLst>
                                  <p:childTnLst>
                                    <p:set>
                                      <p:cBhvr>
                                        <p:cTn id="57" dur="1" fill="hold">
                                          <p:stCondLst>
                                            <p:cond delay="0"/>
                                          </p:stCondLst>
                                        </p:cTn>
                                        <p:tgtEl>
                                          <p:spTgt spid="45"/>
                                        </p:tgtEl>
                                        <p:attrNameLst>
                                          <p:attrName>style.visibility</p:attrName>
                                        </p:attrNameLst>
                                      </p:cBhvr>
                                      <p:to>
                                        <p:strVal val="visible"/>
                                      </p:to>
                                    </p:set>
                                    <p:animEffect transition="in" filter="wipe(left)">
                                      <p:cBhvr>
                                        <p:cTn id="58" dur="500"/>
                                        <p:tgtEl>
                                          <p:spTgt spid="45"/>
                                        </p:tgtEl>
                                      </p:cBhvr>
                                    </p:animEffect>
                                  </p:childTnLst>
                                </p:cTn>
                              </p:par>
                            </p:childTnLst>
                          </p:cTn>
                        </p:par>
                        <p:par>
                          <p:cTn id="59" fill="hold" nodeType="afterGroup">
                            <p:stCondLst>
                              <p:cond delay="1000"/>
                            </p:stCondLst>
                            <p:childTnLst>
                              <p:par>
                                <p:cTn id="60" presetID="22" presetClass="entr" presetSubtype="4" fill="hold" nodeType="afterEffect">
                                  <p:stCondLst>
                                    <p:cond delay="0"/>
                                  </p:stCondLst>
                                  <p:childTnLst>
                                    <p:set>
                                      <p:cBhvr>
                                        <p:cTn id="61" dur="1" fill="hold">
                                          <p:stCondLst>
                                            <p:cond delay="0"/>
                                          </p:stCondLst>
                                        </p:cTn>
                                        <p:tgtEl>
                                          <p:spTgt spid="46"/>
                                        </p:tgtEl>
                                        <p:attrNameLst>
                                          <p:attrName>style.visibility</p:attrName>
                                        </p:attrNameLst>
                                      </p:cBhvr>
                                      <p:to>
                                        <p:strVal val="visible"/>
                                      </p:to>
                                    </p:set>
                                    <p:animEffect transition="in" filter="wipe(down)">
                                      <p:cBhvr>
                                        <p:cTn id="62" dur="500"/>
                                        <p:tgtEl>
                                          <p:spTgt spid="46"/>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1" fill="hold" grpId="0" nodeType="clickEffect">
                                  <p:stCondLst>
                                    <p:cond delay="0"/>
                                  </p:stCondLst>
                                  <p:childTnLst>
                                    <p:set>
                                      <p:cBhvr>
                                        <p:cTn id="66" dur="1" fill="hold">
                                          <p:stCondLst>
                                            <p:cond delay="0"/>
                                          </p:stCondLst>
                                        </p:cTn>
                                        <p:tgtEl>
                                          <p:spTgt spid="50"/>
                                        </p:tgtEl>
                                        <p:attrNameLst>
                                          <p:attrName>style.visibility</p:attrName>
                                        </p:attrNameLst>
                                      </p:cBhvr>
                                      <p:to>
                                        <p:strVal val="visible"/>
                                      </p:to>
                                    </p:set>
                                    <p:animEffect transition="in" filter="wipe(up)">
                                      <p:cBhvr>
                                        <p:cTn id="67" dur="500"/>
                                        <p:tgtEl>
                                          <p:spTgt spid="50"/>
                                        </p:tgtEl>
                                      </p:cBhvr>
                                    </p:animEffect>
                                  </p:childTnLst>
                                </p:cTn>
                              </p:par>
                            </p:childTnLst>
                          </p:cTn>
                        </p:par>
                        <p:par>
                          <p:cTn id="68" fill="hold" nodeType="afterGroup">
                            <p:stCondLst>
                              <p:cond delay="500"/>
                            </p:stCondLst>
                            <p:childTnLst>
                              <p:par>
                                <p:cTn id="69" presetID="22" presetClass="entr" presetSubtype="8" fill="hold" nodeType="afterEffect">
                                  <p:stCondLst>
                                    <p:cond delay="0"/>
                                  </p:stCondLst>
                                  <p:childTnLst>
                                    <p:set>
                                      <p:cBhvr>
                                        <p:cTn id="70" dur="1" fill="hold">
                                          <p:stCondLst>
                                            <p:cond delay="0"/>
                                          </p:stCondLst>
                                        </p:cTn>
                                        <p:tgtEl>
                                          <p:spTgt spid="48"/>
                                        </p:tgtEl>
                                        <p:attrNameLst>
                                          <p:attrName>style.visibility</p:attrName>
                                        </p:attrNameLst>
                                      </p:cBhvr>
                                      <p:to>
                                        <p:strVal val="visible"/>
                                      </p:to>
                                    </p:set>
                                    <p:animEffect transition="in" filter="wipe(left)">
                                      <p:cBhvr>
                                        <p:cTn id="71" dur="500"/>
                                        <p:tgtEl>
                                          <p:spTgt spid="48"/>
                                        </p:tgtEl>
                                      </p:cBhvr>
                                    </p:animEffect>
                                  </p:childTnLst>
                                </p:cTn>
                              </p:par>
                            </p:childTnLst>
                          </p:cTn>
                        </p:par>
                        <p:par>
                          <p:cTn id="72" fill="hold" nodeType="afterGroup">
                            <p:stCondLst>
                              <p:cond delay="1000"/>
                            </p:stCondLst>
                            <p:childTnLst>
                              <p:par>
                                <p:cTn id="73" presetID="22" presetClass="entr" presetSubtype="8" fill="hold" nodeType="afterEffect">
                                  <p:stCondLst>
                                    <p:cond delay="0"/>
                                  </p:stCondLst>
                                  <p:childTnLst>
                                    <p:set>
                                      <p:cBhvr>
                                        <p:cTn id="74" dur="1" fill="hold">
                                          <p:stCondLst>
                                            <p:cond delay="0"/>
                                          </p:stCondLst>
                                        </p:cTn>
                                        <p:tgtEl>
                                          <p:spTgt spid="49"/>
                                        </p:tgtEl>
                                        <p:attrNameLst>
                                          <p:attrName>style.visibility</p:attrName>
                                        </p:attrNameLst>
                                      </p:cBhvr>
                                      <p:to>
                                        <p:strVal val="visible"/>
                                      </p:to>
                                    </p:set>
                                    <p:animEffect transition="in" filter="wipe(left)">
                                      <p:cBhvr>
                                        <p:cTn id="75" dur="500"/>
                                        <p:tgtEl>
                                          <p:spTgt spid="49"/>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22" presetClass="entr" presetSubtype="1" fill="hold" nodeType="clickEffect">
                                  <p:stCondLst>
                                    <p:cond delay="0"/>
                                  </p:stCondLst>
                                  <p:childTnLst>
                                    <p:set>
                                      <p:cBhvr>
                                        <p:cTn id="79" dur="1" fill="hold">
                                          <p:stCondLst>
                                            <p:cond delay="0"/>
                                          </p:stCondLst>
                                        </p:cTn>
                                        <p:tgtEl>
                                          <p:spTgt spid="54"/>
                                        </p:tgtEl>
                                        <p:attrNameLst>
                                          <p:attrName>style.visibility</p:attrName>
                                        </p:attrNameLst>
                                      </p:cBhvr>
                                      <p:to>
                                        <p:strVal val="visible"/>
                                      </p:to>
                                    </p:set>
                                    <p:animEffect transition="in" filter="wipe(up)">
                                      <p:cBhvr>
                                        <p:cTn id="80" dur="500"/>
                                        <p:tgtEl>
                                          <p:spTgt spid="54"/>
                                        </p:tgtEl>
                                      </p:cBhvr>
                                    </p:animEffect>
                                  </p:childTnLst>
                                </p:cTn>
                              </p:par>
                            </p:childTnLst>
                          </p:cTn>
                        </p:par>
                        <p:par>
                          <p:cTn id="81" fill="hold" nodeType="afterGroup">
                            <p:stCondLst>
                              <p:cond delay="500"/>
                            </p:stCondLst>
                            <p:childTnLst>
                              <p:par>
                                <p:cTn id="82" presetID="22" presetClass="entr" presetSubtype="8" fill="hold" nodeType="afterEffect">
                                  <p:stCondLst>
                                    <p:cond delay="0"/>
                                  </p:stCondLst>
                                  <p:childTnLst>
                                    <p:set>
                                      <p:cBhvr>
                                        <p:cTn id="83" dur="1" fill="hold">
                                          <p:stCondLst>
                                            <p:cond delay="0"/>
                                          </p:stCondLst>
                                        </p:cTn>
                                        <p:tgtEl>
                                          <p:spTgt spid="55"/>
                                        </p:tgtEl>
                                        <p:attrNameLst>
                                          <p:attrName>style.visibility</p:attrName>
                                        </p:attrNameLst>
                                      </p:cBhvr>
                                      <p:to>
                                        <p:strVal val="visible"/>
                                      </p:to>
                                    </p:set>
                                    <p:animEffect transition="in" filter="wipe(left)">
                                      <p:cBhvr>
                                        <p:cTn id="84" dur="500"/>
                                        <p:tgtEl>
                                          <p:spTgt spid="55"/>
                                        </p:tgtEl>
                                      </p:cBhvr>
                                    </p:animEffect>
                                  </p:childTnLst>
                                </p:cTn>
                              </p:par>
                            </p:childTnLst>
                          </p:cTn>
                        </p:par>
                        <p:par>
                          <p:cTn id="85" fill="hold" nodeType="afterGroup">
                            <p:stCondLst>
                              <p:cond delay="1000"/>
                            </p:stCondLst>
                            <p:childTnLst>
                              <p:par>
                                <p:cTn id="86" presetID="22" presetClass="entr" presetSubtype="4" fill="hold" nodeType="afterEffect">
                                  <p:stCondLst>
                                    <p:cond delay="0"/>
                                  </p:stCondLst>
                                  <p:childTnLst>
                                    <p:set>
                                      <p:cBhvr>
                                        <p:cTn id="87" dur="1" fill="hold">
                                          <p:stCondLst>
                                            <p:cond delay="0"/>
                                          </p:stCondLst>
                                        </p:cTn>
                                        <p:tgtEl>
                                          <p:spTgt spid="56"/>
                                        </p:tgtEl>
                                        <p:attrNameLst>
                                          <p:attrName>style.visibility</p:attrName>
                                        </p:attrNameLst>
                                      </p:cBhvr>
                                      <p:to>
                                        <p:strVal val="visible"/>
                                      </p:to>
                                    </p:set>
                                    <p:animEffect transition="in" filter="wipe(down)">
                                      <p:cBhvr>
                                        <p:cTn id="88" dur="500"/>
                                        <p:tgtEl>
                                          <p:spTgt spid="56"/>
                                        </p:tgtEl>
                                      </p:cBhvr>
                                    </p:animEffect>
                                  </p:childTnLst>
                                </p:cTn>
                              </p:par>
                            </p:childTnLst>
                          </p:cTn>
                        </p:par>
                      </p:childTnLst>
                    </p:cTn>
                  </p:par>
                  <p:par>
                    <p:cTn id="89" fill="hold" nodeType="clickPar">
                      <p:stCondLst>
                        <p:cond delay="indefinite"/>
                      </p:stCondLst>
                      <p:childTnLst>
                        <p:par>
                          <p:cTn id="90" fill="hold" nodeType="withGroup">
                            <p:stCondLst>
                              <p:cond delay="0"/>
                            </p:stCondLst>
                            <p:childTnLst>
                              <p:par>
                                <p:cTn id="91" presetID="22" presetClass="entr" presetSubtype="1" fill="hold" grpId="0" nodeType="clickEffect">
                                  <p:stCondLst>
                                    <p:cond delay="0"/>
                                  </p:stCondLst>
                                  <p:childTnLst>
                                    <p:set>
                                      <p:cBhvr>
                                        <p:cTn id="92" dur="1" fill="hold">
                                          <p:stCondLst>
                                            <p:cond delay="0"/>
                                          </p:stCondLst>
                                        </p:cTn>
                                        <p:tgtEl>
                                          <p:spTgt spid="53"/>
                                        </p:tgtEl>
                                        <p:attrNameLst>
                                          <p:attrName>style.visibility</p:attrName>
                                        </p:attrNameLst>
                                      </p:cBhvr>
                                      <p:to>
                                        <p:strVal val="visible"/>
                                      </p:to>
                                    </p:set>
                                    <p:animEffect transition="in" filter="wipe(up)">
                                      <p:cBhvr>
                                        <p:cTn id="93" dur="500"/>
                                        <p:tgtEl>
                                          <p:spTgt spid="53"/>
                                        </p:tgtEl>
                                      </p:cBhvr>
                                    </p:animEffect>
                                  </p:childTnLst>
                                </p:cTn>
                              </p:par>
                            </p:childTnLst>
                          </p:cTn>
                        </p:par>
                        <p:par>
                          <p:cTn id="94" fill="hold" nodeType="afterGroup">
                            <p:stCondLst>
                              <p:cond delay="500"/>
                            </p:stCondLst>
                            <p:childTnLst>
                              <p:par>
                                <p:cTn id="95" presetID="22" presetClass="entr" presetSubtype="8" fill="hold" nodeType="afterEffect">
                                  <p:stCondLst>
                                    <p:cond delay="0"/>
                                  </p:stCondLst>
                                  <p:childTnLst>
                                    <p:set>
                                      <p:cBhvr>
                                        <p:cTn id="96" dur="1" fill="hold">
                                          <p:stCondLst>
                                            <p:cond delay="0"/>
                                          </p:stCondLst>
                                        </p:cTn>
                                        <p:tgtEl>
                                          <p:spTgt spid="51"/>
                                        </p:tgtEl>
                                        <p:attrNameLst>
                                          <p:attrName>style.visibility</p:attrName>
                                        </p:attrNameLst>
                                      </p:cBhvr>
                                      <p:to>
                                        <p:strVal val="visible"/>
                                      </p:to>
                                    </p:set>
                                    <p:animEffect transition="in" filter="wipe(left)">
                                      <p:cBhvr>
                                        <p:cTn id="97" dur="500"/>
                                        <p:tgtEl>
                                          <p:spTgt spid="51"/>
                                        </p:tgtEl>
                                      </p:cBhvr>
                                    </p:animEffect>
                                  </p:childTnLst>
                                </p:cTn>
                              </p:par>
                            </p:childTnLst>
                          </p:cTn>
                        </p:par>
                        <p:par>
                          <p:cTn id="98" fill="hold" nodeType="afterGroup">
                            <p:stCondLst>
                              <p:cond delay="1000"/>
                            </p:stCondLst>
                            <p:childTnLst>
                              <p:par>
                                <p:cTn id="99" presetID="22" presetClass="entr" presetSubtype="8" fill="hold" nodeType="afterEffect">
                                  <p:stCondLst>
                                    <p:cond delay="0"/>
                                  </p:stCondLst>
                                  <p:childTnLst>
                                    <p:set>
                                      <p:cBhvr>
                                        <p:cTn id="100" dur="1" fill="hold">
                                          <p:stCondLst>
                                            <p:cond delay="0"/>
                                          </p:stCondLst>
                                        </p:cTn>
                                        <p:tgtEl>
                                          <p:spTgt spid="52"/>
                                        </p:tgtEl>
                                        <p:attrNameLst>
                                          <p:attrName>style.visibility</p:attrName>
                                        </p:attrNameLst>
                                      </p:cBhvr>
                                      <p:to>
                                        <p:strVal val="visible"/>
                                      </p:to>
                                    </p:set>
                                    <p:animEffect transition="in" filter="wipe(left)">
                                      <p:cBhvr>
                                        <p:cTn id="101" dur="500"/>
                                        <p:tgtEl>
                                          <p:spTgt spid="52"/>
                                        </p:tgtEl>
                                      </p:cBhvr>
                                    </p:animEffect>
                                  </p:childTnLst>
                                </p:cTn>
                              </p:par>
                            </p:childTnLst>
                          </p:cTn>
                        </p:par>
                      </p:childTnLst>
                    </p:cTn>
                  </p:par>
                  <p:par>
                    <p:cTn id="102" fill="hold" nodeType="clickPar">
                      <p:stCondLst>
                        <p:cond delay="indefinite"/>
                      </p:stCondLst>
                      <p:childTnLst>
                        <p:par>
                          <p:cTn id="103" fill="hold" nodeType="withGroup">
                            <p:stCondLst>
                              <p:cond delay="0"/>
                            </p:stCondLst>
                            <p:childTnLst>
                              <p:par>
                                <p:cTn id="104" presetID="22" presetClass="entr" presetSubtype="1" fill="hold" nodeType="clickEffect">
                                  <p:stCondLst>
                                    <p:cond delay="0"/>
                                  </p:stCondLst>
                                  <p:childTnLst>
                                    <p:set>
                                      <p:cBhvr>
                                        <p:cTn id="105" dur="1" fill="hold">
                                          <p:stCondLst>
                                            <p:cond delay="0"/>
                                          </p:stCondLst>
                                        </p:cTn>
                                        <p:tgtEl>
                                          <p:spTgt spid="57"/>
                                        </p:tgtEl>
                                        <p:attrNameLst>
                                          <p:attrName>style.visibility</p:attrName>
                                        </p:attrNameLst>
                                      </p:cBhvr>
                                      <p:to>
                                        <p:strVal val="visible"/>
                                      </p:to>
                                    </p:set>
                                    <p:animEffect transition="in" filter="wipe(up)">
                                      <p:cBhvr>
                                        <p:cTn id="106" dur="500"/>
                                        <p:tgtEl>
                                          <p:spTgt spid="57"/>
                                        </p:tgtEl>
                                      </p:cBhvr>
                                    </p:animEffect>
                                  </p:childTnLst>
                                </p:cTn>
                              </p:par>
                            </p:childTnLst>
                          </p:cTn>
                        </p:par>
                        <p:par>
                          <p:cTn id="107" fill="hold" nodeType="afterGroup">
                            <p:stCondLst>
                              <p:cond delay="500"/>
                            </p:stCondLst>
                            <p:childTnLst>
                              <p:par>
                                <p:cTn id="108" presetID="22" presetClass="entr" presetSubtype="8" fill="hold" nodeType="afterEffect">
                                  <p:stCondLst>
                                    <p:cond delay="0"/>
                                  </p:stCondLst>
                                  <p:childTnLst>
                                    <p:set>
                                      <p:cBhvr>
                                        <p:cTn id="109" dur="1" fill="hold">
                                          <p:stCondLst>
                                            <p:cond delay="0"/>
                                          </p:stCondLst>
                                        </p:cTn>
                                        <p:tgtEl>
                                          <p:spTgt spid="58"/>
                                        </p:tgtEl>
                                        <p:attrNameLst>
                                          <p:attrName>style.visibility</p:attrName>
                                        </p:attrNameLst>
                                      </p:cBhvr>
                                      <p:to>
                                        <p:strVal val="visible"/>
                                      </p:to>
                                    </p:set>
                                    <p:animEffect transition="in" filter="wipe(left)">
                                      <p:cBhvr>
                                        <p:cTn id="110" dur="500"/>
                                        <p:tgtEl>
                                          <p:spTgt spid="58"/>
                                        </p:tgtEl>
                                      </p:cBhvr>
                                    </p:animEffect>
                                  </p:childTnLst>
                                </p:cTn>
                              </p:par>
                            </p:childTnLst>
                          </p:cTn>
                        </p:par>
                        <p:par>
                          <p:cTn id="111" fill="hold" nodeType="afterGroup">
                            <p:stCondLst>
                              <p:cond delay="1000"/>
                            </p:stCondLst>
                            <p:childTnLst>
                              <p:par>
                                <p:cTn id="112" presetID="22" presetClass="entr" presetSubtype="4" fill="hold" nodeType="afterEffect">
                                  <p:stCondLst>
                                    <p:cond delay="0"/>
                                  </p:stCondLst>
                                  <p:childTnLst>
                                    <p:set>
                                      <p:cBhvr>
                                        <p:cTn id="113" dur="1" fill="hold">
                                          <p:stCondLst>
                                            <p:cond delay="0"/>
                                          </p:stCondLst>
                                        </p:cTn>
                                        <p:tgtEl>
                                          <p:spTgt spid="59"/>
                                        </p:tgtEl>
                                        <p:attrNameLst>
                                          <p:attrName>style.visibility</p:attrName>
                                        </p:attrNameLst>
                                      </p:cBhvr>
                                      <p:to>
                                        <p:strVal val="visible"/>
                                      </p:to>
                                    </p:set>
                                    <p:animEffect transition="in" filter="wipe(down)">
                                      <p:cBhvr>
                                        <p:cTn id="114" dur="500"/>
                                        <p:tgtEl>
                                          <p:spTgt spid="59"/>
                                        </p:tgtEl>
                                      </p:cBhvr>
                                    </p:animEffect>
                                  </p:childTnLst>
                                </p:cTn>
                              </p:par>
                            </p:childTnLst>
                          </p:cTn>
                        </p:par>
                      </p:childTnLst>
                    </p:cTn>
                  </p:par>
                  <p:par>
                    <p:cTn id="115" fill="hold" nodeType="clickPar">
                      <p:stCondLst>
                        <p:cond delay="indefinite"/>
                      </p:stCondLst>
                      <p:childTnLst>
                        <p:par>
                          <p:cTn id="116" fill="hold" nodeType="withGroup">
                            <p:stCondLst>
                              <p:cond delay="0"/>
                            </p:stCondLst>
                            <p:childTnLst>
                              <p:par>
                                <p:cTn id="117" presetID="22" presetClass="entr" presetSubtype="1" fill="hold" grpId="0" nodeType="clickEffect">
                                  <p:stCondLst>
                                    <p:cond delay="0"/>
                                  </p:stCondLst>
                                  <p:childTnLst>
                                    <p:set>
                                      <p:cBhvr>
                                        <p:cTn id="118" dur="1" fill="hold">
                                          <p:stCondLst>
                                            <p:cond delay="0"/>
                                          </p:stCondLst>
                                        </p:cTn>
                                        <p:tgtEl>
                                          <p:spTgt spid="60"/>
                                        </p:tgtEl>
                                        <p:attrNameLst>
                                          <p:attrName>style.visibility</p:attrName>
                                        </p:attrNameLst>
                                      </p:cBhvr>
                                      <p:to>
                                        <p:strVal val="visible"/>
                                      </p:to>
                                    </p:set>
                                    <p:animEffect transition="in" filter="wipe(up)">
                                      <p:cBhvr>
                                        <p:cTn id="119"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28" grpId="0"/>
      <p:bldP spid="30" grpId="0"/>
      <p:bldP spid="50" grpId="0"/>
      <p:bldP spid="53" grpId="0"/>
      <p:bldP spid="60" grpId="0" animBg="1"/>
    </p:bld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Content Placeholder 2">
            <a:extLst>
              <a:ext uri="{FF2B5EF4-FFF2-40B4-BE49-F238E27FC236}">
                <a16:creationId xmlns:a16="http://schemas.microsoft.com/office/drawing/2014/main" id="{B43A7F56-2698-8CFE-78B9-EE584CAA5067}"/>
              </a:ext>
            </a:extLst>
          </p:cNvPr>
          <p:cNvSpPr txBox="1">
            <a:spLocks/>
          </p:cNvSpPr>
          <p:nvPr/>
        </p:nvSpPr>
        <p:spPr bwMode="auto">
          <a:xfrm>
            <a:off x="250825" y="1341438"/>
            <a:ext cx="7921625"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rPr>
              <a:t>Given the following relation</a:t>
            </a: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US" altLang="en-US" sz="32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US" altLang="en-US" sz="36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rPr>
              <a:t>and the following functional dependencies</a:t>
            </a: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Char char=""/>
              <a:tabLst/>
              <a:defRPr/>
            </a:pPr>
            <a:r>
              <a:rPr kumimoji="0" lang="en-US" altLang="en-US" sz="20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rPr>
              <a:t>AUTHOR_ID </a:t>
            </a:r>
            <a:r>
              <a:rPr kumimoji="0" lang="en-CA" altLang="en-US" sz="20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 NAME</a:t>
            </a: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Char char=""/>
              <a:tabLst/>
              <a:defRPr/>
            </a:pPr>
            <a:r>
              <a:rPr kumimoji="0" lang="en-CA" altLang="en-US" sz="20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ISBN → TITLE</a:t>
            </a: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Char char=""/>
              <a:tabLst/>
              <a:defRPr/>
            </a:pPr>
            <a:r>
              <a:rPr kumimoji="0" lang="en-CA" altLang="en-US" sz="20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AUTHOR_ID, ISBN → NAME, TITLE</a:t>
            </a: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Normalized the relation and draw the resulting dependency diagrams and relations in 1NF, 2NF and 3NF</a:t>
            </a:r>
            <a:endPar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US" altLang="en-US" sz="10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US" altLang="en-US" sz="40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endParaRPr>
          </a:p>
        </p:txBody>
      </p:sp>
      <p:sp>
        <p:nvSpPr>
          <p:cNvPr id="2" name="Title 1">
            <a:extLst>
              <a:ext uri="{FF2B5EF4-FFF2-40B4-BE49-F238E27FC236}">
                <a16:creationId xmlns:a16="http://schemas.microsoft.com/office/drawing/2014/main" id="{D66E4298-899D-E4FB-8DC1-206FA9F9FC2D}"/>
              </a:ext>
            </a:extLst>
          </p:cNvPr>
          <p:cNvSpPr>
            <a:spLocks noGrp="1"/>
          </p:cNvSpPr>
          <p:nvPr>
            <p:ph type="title"/>
          </p:nvPr>
        </p:nvSpPr>
        <p:spPr>
          <a:xfrm>
            <a:off x="457200" y="0"/>
            <a:ext cx="7620000" cy="1143000"/>
          </a:xfrm>
        </p:spPr>
        <p:txBody>
          <a:bodyPr/>
          <a:lstStyle/>
          <a:p>
            <a:pPr algn="ctr">
              <a:defRPr/>
            </a:pPr>
            <a:r>
              <a:rPr lang="en-US" dirty="0"/>
              <a:t>Activity 7</a:t>
            </a:r>
            <a:endParaRPr lang="en-CA" dirty="0"/>
          </a:p>
        </p:txBody>
      </p:sp>
      <p:sp>
        <p:nvSpPr>
          <p:cNvPr id="6" name="Title 1">
            <a:extLst>
              <a:ext uri="{FF2B5EF4-FFF2-40B4-BE49-F238E27FC236}">
                <a16:creationId xmlns:a16="http://schemas.microsoft.com/office/drawing/2014/main" id="{6AF463F3-C8EF-D43D-F228-368704E231ED}"/>
              </a:ext>
            </a:extLst>
          </p:cNvPr>
          <p:cNvSpPr txBox="1">
            <a:spLocks/>
          </p:cNvSpPr>
          <p:nvPr/>
        </p:nvSpPr>
        <p:spPr bwMode="auto">
          <a:xfrm>
            <a:off x="0" y="836613"/>
            <a:ext cx="8172450" cy="323850"/>
          </a:xfrm>
          <a:prstGeom prst="rect">
            <a:avLst/>
          </a:prstGeom>
          <a:noFill/>
          <a:ln w="9525">
            <a:noFill/>
            <a:miter lim="800000"/>
            <a:headEnd/>
            <a:tailEnd/>
          </a:ln>
        </p:spPr>
        <p:txBody>
          <a:bodyPr lIns="72000" tIns="0" rIns="72000" bIns="0"/>
          <a:lstStyle/>
          <a:p>
            <a:pPr marL="0" marR="0" lvl="0" indent="0" algn="l" defTabSz="720000" rtl="0" eaLnBrk="1" fontAlgn="base" latinLnBrk="0" hangingPunct="1">
              <a:lnSpc>
                <a:spcPts val="1800"/>
              </a:lnSpc>
              <a:spcBef>
                <a:spcPts val="0"/>
              </a:spcBef>
              <a:spcAft>
                <a:spcPts val="0"/>
              </a:spcAft>
              <a:buClrTx/>
              <a:buSzTx/>
              <a:buFontTx/>
              <a:buNone/>
              <a:tabLst>
                <a:tab pos="0" algn="l"/>
              </a:tabLst>
              <a:defRPr/>
            </a:pPr>
            <a:r>
              <a:rPr kumimoji="0" lang="en-CA" sz="1800" b="1" i="0" u="none" strike="noStrike" kern="0" cap="none" spc="0" normalizeH="0" baseline="0" noProof="0" dirty="0">
                <a:ln>
                  <a:noFill/>
                </a:ln>
                <a:solidFill>
                  <a:srgbClr val="2F2B20"/>
                </a:solidFill>
                <a:effectLst/>
                <a:uLnTx/>
                <a:uFillTx/>
                <a:latin typeface="Calibri"/>
                <a:ea typeface="+mn-ea"/>
                <a:cs typeface="Calibri" pitchFamily="34" charset="0"/>
              </a:rPr>
              <a:t>CLASS ACTIVITY</a:t>
            </a:r>
            <a:endParaRPr kumimoji="0" lang="en-MY" sz="1800" b="1" i="0" u="none" strike="noStrike" kern="0" cap="none" spc="0" normalizeH="0" baseline="0" noProof="0" dirty="0">
              <a:ln>
                <a:noFill/>
              </a:ln>
              <a:solidFill>
                <a:srgbClr val="2F2B20"/>
              </a:solidFill>
              <a:effectLst/>
              <a:uLnTx/>
              <a:uFillTx/>
              <a:latin typeface="Arial" panose="020B0604020202020204" pitchFamily="34" charset="0"/>
              <a:ea typeface="+mn-ea"/>
              <a:cs typeface="Calibri" pitchFamily="34" charset="0"/>
            </a:endParaRPr>
          </a:p>
          <a:p>
            <a:pPr marL="0" marR="0" lvl="0" indent="0" algn="l" defTabSz="720000" rtl="0" eaLnBrk="1" fontAlgn="base" latinLnBrk="0" hangingPunct="1">
              <a:lnSpc>
                <a:spcPts val="1800"/>
              </a:lnSpc>
              <a:spcBef>
                <a:spcPts val="0"/>
              </a:spcBef>
              <a:spcAft>
                <a:spcPts val="0"/>
              </a:spcAft>
              <a:buClrTx/>
              <a:buSzTx/>
              <a:buFontTx/>
              <a:buNone/>
              <a:tabLst>
                <a:tab pos="0" algn="l"/>
              </a:tabLst>
              <a:defRPr/>
            </a:pPr>
            <a:endParaRPr kumimoji="0" lang="en-MY" sz="1800" b="1" i="0" u="none" strike="noStrike" kern="0" cap="none" spc="0" normalizeH="0" baseline="0" noProof="0" dirty="0">
              <a:ln>
                <a:noFill/>
              </a:ln>
              <a:solidFill>
                <a:srgbClr val="2F2B20"/>
              </a:solidFill>
              <a:effectLst/>
              <a:uLnTx/>
              <a:uFillTx/>
              <a:latin typeface="Calibri"/>
              <a:ea typeface="+mn-ea"/>
              <a:cs typeface="Calibri" pitchFamily="34" charset="0"/>
            </a:endParaRPr>
          </a:p>
        </p:txBody>
      </p:sp>
      <p:graphicFrame>
        <p:nvGraphicFramePr>
          <p:cNvPr id="14" name="Table 13">
            <a:extLst>
              <a:ext uri="{FF2B5EF4-FFF2-40B4-BE49-F238E27FC236}">
                <a16:creationId xmlns:a16="http://schemas.microsoft.com/office/drawing/2014/main" id="{250666A1-1065-4C15-025A-1529A1E2099E}"/>
              </a:ext>
            </a:extLst>
          </p:cNvPr>
          <p:cNvGraphicFramePr>
            <a:graphicFrameLocks noGrp="1"/>
          </p:cNvGraphicFramePr>
          <p:nvPr/>
        </p:nvGraphicFramePr>
        <p:xfrm>
          <a:off x="508000" y="1881188"/>
          <a:ext cx="7416800" cy="1228726"/>
        </p:xfrm>
        <a:graphic>
          <a:graphicData uri="http://schemas.openxmlformats.org/drawingml/2006/table">
            <a:tbl>
              <a:tblPr firstRow="1" bandRow="1">
                <a:tableStyleId>{9D7B26C5-4107-4FEC-AEDC-1716B250A1EF}</a:tableStyleId>
              </a:tblPr>
              <a:tblGrid>
                <a:gridCol w="1584171">
                  <a:extLst>
                    <a:ext uri="{9D8B030D-6E8A-4147-A177-3AD203B41FA5}">
                      <a16:colId xmlns:a16="http://schemas.microsoft.com/office/drawing/2014/main" val="20000"/>
                    </a:ext>
                  </a:extLst>
                </a:gridCol>
                <a:gridCol w="1944209">
                  <a:extLst>
                    <a:ext uri="{9D8B030D-6E8A-4147-A177-3AD203B41FA5}">
                      <a16:colId xmlns:a16="http://schemas.microsoft.com/office/drawing/2014/main" val="20001"/>
                    </a:ext>
                  </a:extLst>
                </a:gridCol>
                <a:gridCol w="1296140">
                  <a:extLst>
                    <a:ext uri="{9D8B030D-6E8A-4147-A177-3AD203B41FA5}">
                      <a16:colId xmlns:a16="http://schemas.microsoft.com/office/drawing/2014/main" val="20002"/>
                    </a:ext>
                  </a:extLst>
                </a:gridCol>
                <a:gridCol w="2592280">
                  <a:extLst>
                    <a:ext uri="{9D8B030D-6E8A-4147-A177-3AD203B41FA5}">
                      <a16:colId xmlns:a16="http://schemas.microsoft.com/office/drawing/2014/main" val="20003"/>
                    </a:ext>
                  </a:extLst>
                </a:gridCol>
              </a:tblGrid>
              <a:tr h="365654">
                <a:tc>
                  <a:txBody>
                    <a:bodyPr/>
                    <a:lstStyle/>
                    <a:p>
                      <a:pPr algn="ctr"/>
                      <a:r>
                        <a:rPr lang="en-CA" sz="1800" u="sng" dirty="0"/>
                        <a:t>AUTHOR_ID</a:t>
                      </a:r>
                      <a:endParaRPr lang="en-CA" sz="1800" b="0" u="sng" dirty="0"/>
                    </a:p>
                  </a:txBody>
                  <a:tcPr marT="45667" marB="45667"/>
                </a:tc>
                <a:tc>
                  <a:txBody>
                    <a:bodyPr/>
                    <a:lstStyle/>
                    <a:p>
                      <a:pPr algn="ctr"/>
                      <a:r>
                        <a:rPr lang="en-CA" sz="1800" dirty="0"/>
                        <a:t>NAME</a:t>
                      </a:r>
                      <a:endParaRPr lang="en-CA" sz="1800" b="0" dirty="0"/>
                    </a:p>
                  </a:txBody>
                  <a:tcPr marT="45667" marB="45667"/>
                </a:tc>
                <a:tc>
                  <a:txBody>
                    <a:bodyPr/>
                    <a:lstStyle/>
                    <a:p>
                      <a:pPr algn="ctr"/>
                      <a:r>
                        <a:rPr lang="en-CA" sz="1800" u="sng" dirty="0"/>
                        <a:t>ISBN</a:t>
                      </a:r>
                      <a:endParaRPr lang="en-CA" sz="1800" b="0" u="sng" dirty="0"/>
                    </a:p>
                  </a:txBody>
                  <a:tcPr marT="45667" marB="45667"/>
                </a:tc>
                <a:tc>
                  <a:txBody>
                    <a:bodyPr/>
                    <a:lstStyle/>
                    <a:p>
                      <a:pPr algn="ctr"/>
                      <a:r>
                        <a:rPr lang="en-CA" sz="1800" dirty="0"/>
                        <a:t>TITLE</a:t>
                      </a:r>
                      <a:endParaRPr lang="en-CA" sz="1800" b="0" dirty="0"/>
                    </a:p>
                  </a:txBody>
                  <a:tcPr marT="45667" marB="45667"/>
                </a:tc>
                <a:extLst>
                  <a:ext uri="{0D108BD9-81ED-4DB2-BD59-A6C34878D82A}">
                    <a16:rowId xmlns:a16="http://schemas.microsoft.com/office/drawing/2014/main" val="10000"/>
                  </a:ext>
                </a:extLst>
              </a:tr>
              <a:tr h="436679">
                <a:tc rowSpan="2">
                  <a:txBody>
                    <a:bodyPr/>
                    <a:lstStyle/>
                    <a:p>
                      <a:pPr algn="ctr"/>
                      <a:r>
                        <a:rPr lang="en-CA" sz="2000" dirty="0"/>
                        <a:t>15</a:t>
                      </a:r>
                      <a:endParaRPr lang="en-CA" sz="2000" b="0" dirty="0"/>
                    </a:p>
                  </a:txBody>
                  <a:tcPr marT="45667" marB="45667" anchor="ctr"/>
                </a:tc>
                <a:tc rowSpan="2">
                  <a:txBody>
                    <a:bodyPr/>
                    <a:lstStyle/>
                    <a:p>
                      <a:pPr algn="ctr"/>
                      <a:r>
                        <a:rPr lang="en-CA" sz="2000" dirty="0"/>
                        <a:t>Suzanne Collins</a:t>
                      </a:r>
                      <a:endParaRPr lang="en-CA" sz="2000" b="0" dirty="0"/>
                    </a:p>
                  </a:txBody>
                  <a:tcPr marT="45667" marB="45667" anchor="ctr"/>
                </a:tc>
                <a:tc>
                  <a:txBody>
                    <a:bodyPr/>
                    <a:lstStyle/>
                    <a:p>
                      <a:pPr algn="ctr"/>
                      <a:r>
                        <a:rPr lang="en-CA" sz="2000" dirty="0"/>
                        <a:t>12345</a:t>
                      </a:r>
                      <a:endParaRPr lang="en-CA" sz="2000" b="0" dirty="0"/>
                    </a:p>
                  </a:txBody>
                  <a:tcPr marT="45667" marB="45667" anchor="ctr"/>
                </a:tc>
                <a:tc>
                  <a:txBody>
                    <a:bodyPr/>
                    <a:lstStyle/>
                    <a:p>
                      <a:pPr algn="ctr"/>
                      <a:r>
                        <a:rPr lang="en-CA" sz="2000" dirty="0"/>
                        <a:t>The</a:t>
                      </a:r>
                      <a:r>
                        <a:rPr lang="en-CA" sz="2000" baseline="0" dirty="0"/>
                        <a:t> Hunger Game</a:t>
                      </a:r>
                      <a:endParaRPr lang="en-CA" sz="2000" b="0" dirty="0"/>
                    </a:p>
                  </a:txBody>
                  <a:tcPr marT="45667" marB="45667" anchor="ctr"/>
                </a:tc>
                <a:extLst>
                  <a:ext uri="{0D108BD9-81ED-4DB2-BD59-A6C34878D82A}">
                    <a16:rowId xmlns:a16="http://schemas.microsoft.com/office/drawing/2014/main" val="10001"/>
                  </a:ext>
                </a:extLst>
              </a:tr>
              <a:tr h="426393">
                <a:tc vMerge="1">
                  <a:txBody>
                    <a:bodyPr/>
                    <a:lstStyle/>
                    <a:p>
                      <a:pPr algn="ctr"/>
                      <a:endParaRPr lang="en-CA" b="0" dirty="0"/>
                    </a:p>
                  </a:txBody>
                  <a:tcPr anchor="ctr"/>
                </a:tc>
                <a:tc v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CA" b="0" dirty="0"/>
                    </a:p>
                  </a:txBody>
                  <a:tcPr anchor="ctr"/>
                </a:tc>
                <a:tc>
                  <a:txBody>
                    <a:bodyPr/>
                    <a:lstStyle/>
                    <a:p>
                      <a:pPr algn="ctr"/>
                      <a:r>
                        <a:rPr lang="en-CA" sz="2000" dirty="0"/>
                        <a:t>34567</a:t>
                      </a:r>
                      <a:endParaRPr lang="en-CA" sz="2000" b="0" dirty="0"/>
                    </a:p>
                  </a:txBody>
                  <a:tcPr marT="45667" marB="45667" anchor="ctr"/>
                </a:tc>
                <a:tc>
                  <a:txBody>
                    <a:bodyPr/>
                    <a:lstStyle/>
                    <a:p>
                      <a:pPr algn="ctr"/>
                      <a:r>
                        <a:rPr lang="en-CA" sz="2000" dirty="0"/>
                        <a:t>Catching</a:t>
                      </a:r>
                      <a:r>
                        <a:rPr lang="en-CA" sz="2000" baseline="0" dirty="0"/>
                        <a:t> Fire</a:t>
                      </a:r>
                      <a:endParaRPr lang="en-CA" sz="2000" b="0" dirty="0"/>
                    </a:p>
                  </a:txBody>
                  <a:tcPr marT="45667" marB="45667" anchor="ctr"/>
                </a:tc>
                <a:extLst>
                  <a:ext uri="{0D108BD9-81ED-4DB2-BD59-A6C34878D82A}">
                    <a16:rowId xmlns:a16="http://schemas.microsoft.com/office/drawing/2014/main" val="10002"/>
                  </a:ext>
                </a:extLst>
              </a:tr>
            </a:tbl>
          </a:graphicData>
        </a:graphic>
      </p:graphicFrame>
      <p:sp>
        <p:nvSpPr>
          <p:cNvPr id="15" name="Rounded Rectangle 14">
            <a:hlinkClick r:id="rId2" action="ppaction://hlinksldjump"/>
            <a:extLst>
              <a:ext uri="{FF2B5EF4-FFF2-40B4-BE49-F238E27FC236}">
                <a16:creationId xmlns:a16="http://schemas.microsoft.com/office/drawing/2014/main" id="{D1368F82-9AC2-23C0-C786-22EBD638F554}"/>
              </a:ext>
            </a:extLst>
          </p:cNvPr>
          <p:cNvSpPr/>
          <p:nvPr/>
        </p:nvSpPr>
        <p:spPr bwMode="auto">
          <a:xfrm>
            <a:off x="3352800" y="5805488"/>
            <a:ext cx="2195513" cy="482600"/>
          </a:xfrm>
          <a:prstGeom prst="roundRect">
            <a:avLst/>
          </a:prstGeom>
          <a:ln>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nchorCtr="1"/>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sz="3200" b="0" i="0" u="none" strike="noStrike" kern="1200" cap="none" spc="0" normalizeH="0" baseline="0" noProof="0" dirty="0">
                <a:ln>
                  <a:noFill/>
                </a:ln>
                <a:solidFill>
                  <a:srgbClr val="FFFFFF"/>
                </a:solidFill>
                <a:effectLst/>
                <a:uLnTx/>
                <a:uFillTx/>
                <a:latin typeface="Arial" charset="0"/>
                <a:ea typeface="+mn-ea"/>
                <a:cs typeface="+mn-cs"/>
              </a:rPr>
              <a:t>Answer</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28">
                                            <p:txEl>
                                              <p:pRg st="0" end="0"/>
                                            </p:txEl>
                                          </p:spTgt>
                                        </p:tgtEl>
                                        <p:attrNameLst>
                                          <p:attrName>style.visibility</p:attrName>
                                        </p:attrNameLst>
                                      </p:cBhvr>
                                      <p:to>
                                        <p:strVal val="visible"/>
                                      </p:to>
                                    </p:set>
                                    <p:animEffect transition="in" filter="wipe(left)">
                                      <p:cBhvr>
                                        <p:cTn id="7" dur="500"/>
                                        <p:tgtEl>
                                          <p:spTgt spid="28">
                                            <p:txEl>
                                              <p:pRg st="0" end="0"/>
                                            </p:txEl>
                                          </p:spTgt>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wipe(up)">
                                      <p:cBhvr>
                                        <p:cTn id="11" dur="500"/>
                                        <p:tgtEl>
                                          <p:spTgt spid="14"/>
                                        </p:tgtEl>
                                      </p:cBhvr>
                                    </p:animEffect>
                                  </p:childTnLst>
                                </p:cTn>
                              </p:par>
                            </p:childTnLst>
                          </p:cTn>
                        </p:par>
                        <p:par>
                          <p:cTn id="12" fill="hold" nodeType="afterGroup">
                            <p:stCondLst>
                              <p:cond delay="1000"/>
                            </p:stCondLst>
                            <p:childTnLst>
                              <p:par>
                                <p:cTn id="13" presetID="22" presetClass="entr" presetSubtype="8" fill="hold" nodeType="afterEffect">
                                  <p:stCondLst>
                                    <p:cond delay="0"/>
                                  </p:stCondLst>
                                  <p:childTnLst>
                                    <p:set>
                                      <p:cBhvr>
                                        <p:cTn id="14" dur="1" fill="hold">
                                          <p:stCondLst>
                                            <p:cond delay="0"/>
                                          </p:stCondLst>
                                        </p:cTn>
                                        <p:tgtEl>
                                          <p:spTgt spid="28">
                                            <p:txEl>
                                              <p:pRg st="3" end="3"/>
                                            </p:txEl>
                                          </p:spTgt>
                                        </p:tgtEl>
                                        <p:attrNameLst>
                                          <p:attrName>style.visibility</p:attrName>
                                        </p:attrNameLst>
                                      </p:cBhvr>
                                      <p:to>
                                        <p:strVal val="visible"/>
                                      </p:to>
                                    </p:set>
                                    <p:animEffect transition="in" filter="wipe(left)">
                                      <p:cBhvr>
                                        <p:cTn id="15" dur="500"/>
                                        <p:tgtEl>
                                          <p:spTgt spid="28">
                                            <p:txEl>
                                              <p:pRg st="3" end="3"/>
                                            </p:txEl>
                                          </p:spTgt>
                                        </p:tgtEl>
                                      </p:cBhvr>
                                    </p:animEffect>
                                  </p:childTnLst>
                                </p:cTn>
                              </p:par>
                            </p:childTnLst>
                          </p:cTn>
                        </p:par>
                        <p:par>
                          <p:cTn id="16" fill="hold" nodeType="afterGroup">
                            <p:stCondLst>
                              <p:cond delay="1500"/>
                            </p:stCondLst>
                            <p:childTnLst>
                              <p:par>
                                <p:cTn id="17" presetID="22" presetClass="entr" presetSubtype="8" fill="hold" nodeType="afterEffect">
                                  <p:stCondLst>
                                    <p:cond delay="0"/>
                                  </p:stCondLst>
                                  <p:childTnLst>
                                    <p:set>
                                      <p:cBhvr>
                                        <p:cTn id="18" dur="1" fill="hold">
                                          <p:stCondLst>
                                            <p:cond delay="0"/>
                                          </p:stCondLst>
                                        </p:cTn>
                                        <p:tgtEl>
                                          <p:spTgt spid="28">
                                            <p:txEl>
                                              <p:pRg st="4" end="4"/>
                                            </p:txEl>
                                          </p:spTgt>
                                        </p:tgtEl>
                                        <p:attrNameLst>
                                          <p:attrName>style.visibility</p:attrName>
                                        </p:attrNameLst>
                                      </p:cBhvr>
                                      <p:to>
                                        <p:strVal val="visible"/>
                                      </p:to>
                                    </p:set>
                                    <p:animEffect transition="in" filter="wipe(left)">
                                      <p:cBhvr>
                                        <p:cTn id="19" dur="500"/>
                                        <p:tgtEl>
                                          <p:spTgt spid="28">
                                            <p:txEl>
                                              <p:pRg st="4" end="4"/>
                                            </p:txEl>
                                          </p:spTgt>
                                        </p:tgtEl>
                                      </p:cBhvr>
                                    </p:animEffect>
                                  </p:childTnLst>
                                </p:cTn>
                              </p:par>
                            </p:childTnLst>
                          </p:cTn>
                        </p:par>
                        <p:par>
                          <p:cTn id="20" fill="hold" nodeType="afterGroup">
                            <p:stCondLst>
                              <p:cond delay="2000"/>
                            </p:stCondLst>
                            <p:childTnLst>
                              <p:par>
                                <p:cTn id="21" presetID="22" presetClass="entr" presetSubtype="8" fill="hold" nodeType="afterEffect">
                                  <p:stCondLst>
                                    <p:cond delay="0"/>
                                  </p:stCondLst>
                                  <p:childTnLst>
                                    <p:set>
                                      <p:cBhvr>
                                        <p:cTn id="22" dur="1" fill="hold">
                                          <p:stCondLst>
                                            <p:cond delay="0"/>
                                          </p:stCondLst>
                                        </p:cTn>
                                        <p:tgtEl>
                                          <p:spTgt spid="28">
                                            <p:txEl>
                                              <p:pRg st="5" end="5"/>
                                            </p:txEl>
                                          </p:spTgt>
                                        </p:tgtEl>
                                        <p:attrNameLst>
                                          <p:attrName>style.visibility</p:attrName>
                                        </p:attrNameLst>
                                      </p:cBhvr>
                                      <p:to>
                                        <p:strVal val="visible"/>
                                      </p:to>
                                    </p:set>
                                    <p:animEffect transition="in" filter="wipe(left)">
                                      <p:cBhvr>
                                        <p:cTn id="23" dur="500"/>
                                        <p:tgtEl>
                                          <p:spTgt spid="28">
                                            <p:txEl>
                                              <p:pRg st="5" end="5"/>
                                            </p:txEl>
                                          </p:spTgt>
                                        </p:tgtEl>
                                      </p:cBhvr>
                                    </p:animEffect>
                                  </p:childTnLst>
                                </p:cTn>
                              </p:par>
                            </p:childTnLst>
                          </p:cTn>
                        </p:par>
                        <p:par>
                          <p:cTn id="24" fill="hold" nodeType="afterGroup">
                            <p:stCondLst>
                              <p:cond delay="2500"/>
                            </p:stCondLst>
                            <p:childTnLst>
                              <p:par>
                                <p:cTn id="25" presetID="22" presetClass="entr" presetSubtype="8" fill="hold" nodeType="afterEffect">
                                  <p:stCondLst>
                                    <p:cond delay="0"/>
                                  </p:stCondLst>
                                  <p:childTnLst>
                                    <p:set>
                                      <p:cBhvr>
                                        <p:cTn id="26" dur="1" fill="hold">
                                          <p:stCondLst>
                                            <p:cond delay="0"/>
                                          </p:stCondLst>
                                        </p:cTn>
                                        <p:tgtEl>
                                          <p:spTgt spid="28">
                                            <p:txEl>
                                              <p:pRg st="6" end="6"/>
                                            </p:txEl>
                                          </p:spTgt>
                                        </p:tgtEl>
                                        <p:attrNameLst>
                                          <p:attrName>style.visibility</p:attrName>
                                        </p:attrNameLst>
                                      </p:cBhvr>
                                      <p:to>
                                        <p:strVal val="visible"/>
                                      </p:to>
                                    </p:set>
                                    <p:animEffect transition="in" filter="wipe(left)">
                                      <p:cBhvr>
                                        <p:cTn id="27" dur="500"/>
                                        <p:tgtEl>
                                          <p:spTgt spid="28">
                                            <p:txEl>
                                              <p:pRg st="6" end="6"/>
                                            </p:txEl>
                                          </p:spTgt>
                                        </p:tgtEl>
                                      </p:cBhvr>
                                    </p:animEffect>
                                  </p:childTnLst>
                                </p:cTn>
                              </p:par>
                            </p:childTnLst>
                          </p:cTn>
                        </p:par>
                        <p:par>
                          <p:cTn id="28" fill="hold" nodeType="afterGroup">
                            <p:stCondLst>
                              <p:cond delay="3000"/>
                            </p:stCondLst>
                            <p:childTnLst>
                              <p:par>
                                <p:cTn id="29" presetID="22" presetClass="entr" presetSubtype="8" fill="hold" nodeType="afterEffect">
                                  <p:stCondLst>
                                    <p:cond delay="0"/>
                                  </p:stCondLst>
                                  <p:childTnLst>
                                    <p:set>
                                      <p:cBhvr>
                                        <p:cTn id="30" dur="1" fill="hold">
                                          <p:stCondLst>
                                            <p:cond delay="0"/>
                                          </p:stCondLst>
                                        </p:cTn>
                                        <p:tgtEl>
                                          <p:spTgt spid="28">
                                            <p:txEl>
                                              <p:pRg st="7" end="7"/>
                                            </p:txEl>
                                          </p:spTgt>
                                        </p:tgtEl>
                                        <p:attrNameLst>
                                          <p:attrName>style.visibility</p:attrName>
                                        </p:attrNameLst>
                                      </p:cBhvr>
                                      <p:to>
                                        <p:strVal val="visible"/>
                                      </p:to>
                                    </p:set>
                                    <p:animEffect transition="in" filter="wipe(left)">
                                      <p:cBhvr>
                                        <p:cTn id="31" dur="500"/>
                                        <p:tgtEl>
                                          <p:spTgt spid="28">
                                            <p:txEl>
                                              <p:pRg st="7" end="7"/>
                                            </p:txEl>
                                          </p:spTgt>
                                        </p:tgtEl>
                                      </p:cBhvr>
                                    </p:animEffect>
                                  </p:childTnLst>
                                </p:cTn>
                              </p:par>
                            </p:childTnLst>
                          </p:cTn>
                        </p:par>
                        <p:par>
                          <p:cTn id="32" fill="hold" nodeType="afterGroup">
                            <p:stCondLst>
                              <p:cond delay="3500"/>
                            </p:stCondLst>
                            <p:childTnLst>
                              <p:par>
                                <p:cTn id="33" presetID="22" presetClass="entr" presetSubtype="8" fill="hold" grpId="0" nodeType="after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wipe(left)">
                                      <p:cBhvr>
                                        <p:cTn id="3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D2DD8-7AF4-65AC-CCB6-E75B9CE3A8AE}"/>
              </a:ext>
            </a:extLst>
          </p:cNvPr>
          <p:cNvSpPr>
            <a:spLocks noGrp="1"/>
          </p:cNvSpPr>
          <p:nvPr>
            <p:ph type="title"/>
          </p:nvPr>
        </p:nvSpPr>
        <p:spPr>
          <a:xfrm>
            <a:off x="457200" y="0"/>
            <a:ext cx="7620000" cy="1143000"/>
          </a:xfrm>
        </p:spPr>
        <p:txBody>
          <a:bodyPr/>
          <a:lstStyle/>
          <a:p>
            <a:pPr algn="ctr">
              <a:defRPr/>
            </a:pPr>
            <a:r>
              <a:rPr lang="en-US" dirty="0"/>
              <a:t>Activity 7</a:t>
            </a:r>
            <a:endParaRPr lang="en-CA" dirty="0"/>
          </a:p>
        </p:txBody>
      </p:sp>
      <p:sp>
        <p:nvSpPr>
          <p:cNvPr id="74" name="Title 1">
            <a:extLst>
              <a:ext uri="{FF2B5EF4-FFF2-40B4-BE49-F238E27FC236}">
                <a16:creationId xmlns:a16="http://schemas.microsoft.com/office/drawing/2014/main" id="{95829147-7DD0-0B1D-AA09-A826345231AA}"/>
              </a:ext>
            </a:extLst>
          </p:cNvPr>
          <p:cNvSpPr txBox="1">
            <a:spLocks/>
          </p:cNvSpPr>
          <p:nvPr/>
        </p:nvSpPr>
        <p:spPr bwMode="auto">
          <a:xfrm>
            <a:off x="0" y="1030288"/>
            <a:ext cx="8172450" cy="323850"/>
          </a:xfrm>
          <a:prstGeom prst="rect">
            <a:avLst/>
          </a:prstGeom>
          <a:noFill/>
          <a:ln w="9525">
            <a:noFill/>
            <a:miter lim="800000"/>
            <a:headEnd/>
            <a:tailEnd/>
          </a:ln>
        </p:spPr>
        <p:txBody>
          <a:bodyPr lIns="72000" tIns="0" rIns="72000" bIns="0"/>
          <a:lstStyle/>
          <a:p>
            <a:pPr marL="0" marR="0" lvl="0" indent="0" algn="l" defTabSz="720000" rtl="0" eaLnBrk="1" fontAlgn="base" latinLnBrk="0" hangingPunct="1">
              <a:lnSpc>
                <a:spcPts val="1800"/>
              </a:lnSpc>
              <a:spcBef>
                <a:spcPts val="0"/>
              </a:spcBef>
              <a:spcAft>
                <a:spcPts val="0"/>
              </a:spcAft>
              <a:buClrTx/>
              <a:buSzTx/>
              <a:buFontTx/>
              <a:buNone/>
              <a:tabLst>
                <a:tab pos="0" algn="l"/>
              </a:tabLst>
              <a:defRPr/>
            </a:pPr>
            <a:r>
              <a:rPr kumimoji="0" lang="en-CA" sz="1800" b="1" i="0" u="none" strike="noStrike" kern="0" cap="none" spc="0" normalizeH="0" baseline="0" noProof="0" dirty="0">
                <a:ln>
                  <a:noFill/>
                </a:ln>
                <a:solidFill>
                  <a:srgbClr val="2F2B20"/>
                </a:solidFill>
                <a:effectLst/>
                <a:uLnTx/>
                <a:uFillTx/>
                <a:latin typeface="Calibri"/>
                <a:ea typeface="+mn-ea"/>
                <a:cs typeface="Calibri" pitchFamily="34" charset="0"/>
              </a:rPr>
              <a:t>CLASS ACTIVITY</a:t>
            </a:r>
            <a:endParaRPr kumimoji="0" lang="en-MY" sz="1800" b="1" i="0" u="none" strike="noStrike" kern="0" cap="none" spc="0" normalizeH="0" baseline="0" noProof="0" dirty="0">
              <a:ln>
                <a:noFill/>
              </a:ln>
              <a:solidFill>
                <a:srgbClr val="2F2B20"/>
              </a:solidFill>
              <a:effectLst/>
              <a:uLnTx/>
              <a:uFillTx/>
              <a:latin typeface="Arial" panose="020B0604020202020204" pitchFamily="34" charset="0"/>
              <a:ea typeface="+mn-ea"/>
              <a:cs typeface="Calibri" pitchFamily="34" charset="0"/>
            </a:endParaRPr>
          </a:p>
          <a:p>
            <a:pPr marL="0" marR="0" lvl="0" indent="0" algn="l" defTabSz="720000" rtl="0" eaLnBrk="1" fontAlgn="base" latinLnBrk="0" hangingPunct="1">
              <a:lnSpc>
                <a:spcPts val="1800"/>
              </a:lnSpc>
              <a:spcBef>
                <a:spcPts val="0"/>
              </a:spcBef>
              <a:spcAft>
                <a:spcPts val="0"/>
              </a:spcAft>
              <a:buClrTx/>
              <a:buSzTx/>
              <a:buFontTx/>
              <a:buNone/>
              <a:tabLst>
                <a:tab pos="0" algn="l"/>
              </a:tabLst>
              <a:defRPr/>
            </a:pPr>
            <a:endParaRPr kumimoji="0" lang="en-MY" sz="1800" b="1" i="0" u="none" strike="noStrike" kern="0" cap="none" spc="0" normalizeH="0" baseline="0" noProof="0" dirty="0">
              <a:ln>
                <a:noFill/>
              </a:ln>
              <a:solidFill>
                <a:srgbClr val="2F2B20"/>
              </a:solidFill>
              <a:effectLst/>
              <a:uLnTx/>
              <a:uFillTx/>
              <a:latin typeface="Calibri"/>
              <a:ea typeface="+mn-ea"/>
              <a:cs typeface="Calibri" pitchFamily="34" charset="0"/>
            </a:endParaRPr>
          </a:p>
        </p:txBody>
      </p:sp>
      <p:sp>
        <p:nvSpPr>
          <p:cNvPr id="18" name="Rounded Rectangle 17">
            <a:extLst>
              <a:ext uri="{FF2B5EF4-FFF2-40B4-BE49-F238E27FC236}">
                <a16:creationId xmlns:a16="http://schemas.microsoft.com/office/drawing/2014/main" id="{664AE1D1-FDD8-92F9-D272-DF1542FC4AC4}"/>
              </a:ext>
            </a:extLst>
          </p:cNvPr>
          <p:cNvSpPr/>
          <p:nvPr/>
        </p:nvSpPr>
        <p:spPr bwMode="auto">
          <a:xfrm>
            <a:off x="3136900" y="1677988"/>
            <a:ext cx="2197100" cy="482600"/>
          </a:xfrm>
          <a:prstGeom prst="roundRect">
            <a:avLst/>
          </a:prstGeom>
          <a:ln>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nchorCtr="1"/>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sz="3200" b="0" i="0" u="none" strike="noStrike" kern="1200" cap="none" spc="0" normalizeH="0" baseline="0" noProof="0" dirty="0">
                <a:ln>
                  <a:noFill/>
                </a:ln>
                <a:solidFill>
                  <a:srgbClr val="FFFFFF"/>
                </a:solidFill>
                <a:effectLst/>
                <a:uLnTx/>
                <a:uFillTx/>
                <a:latin typeface="Arial" charset="0"/>
                <a:ea typeface="+mn-ea"/>
                <a:cs typeface="+mn-cs"/>
              </a:rPr>
              <a:t>Answer</a:t>
            </a:r>
          </a:p>
        </p:txBody>
      </p:sp>
      <p:sp>
        <p:nvSpPr>
          <p:cNvPr id="20485" name="Content Placeholder 2">
            <a:extLst>
              <a:ext uri="{FF2B5EF4-FFF2-40B4-BE49-F238E27FC236}">
                <a16:creationId xmlns:a16="http://schemas.microsoft.com/office/drawing/2014/main" id="{BA2A67DA-B42A-2745-1658-DA3252C4A6C6}"/>
              </a:ext>
            </a:extLst>
          </p:cNvPr>
          <p:cNvSpPr txBox="1">
            <a:spLocks/>
          </p:cNvSpPr>
          <p:nvPr/>
        </p:nvSpPr>
        <p:spPr bwMode="auto">
          <a:xfrm>
            <a:off x="76200" y="2398713"/>
            <a:ext cx="8569325"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rPr>
              <a:t>In 1NF</a:t>
            </a: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US" altLang="en-US" sz="10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US" altLang="en-US" sz="40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endParaRPr>
          </a:p>
        </p:txBody>
      </p:sp>
      <p:graphicFrame>
        <p:nvGraphicFramePr>
          <p:cNvPr id="21" name="Table 20">
            <a:extLst>
              <a:ext uri="{FF2B5EF4-FFF2-40B4-BE49-F238E27FC236}">
                <a16:creationId xmlns:a16="http://schemas.microsoft.com/office/drawing/2014/main" id="{3566FB29-2079-8B1F-6981-C9BAC4CF3FF6}"/>
              </a:ext>
            </a:extLst>
          </p:cNvPr>
          <p:cNvGraphicFramePr>
            <a:graphicFrameLocks noGrp="1"/>
          </p:cNvGraphicFramePr>
          <p:nvPr/>
        </p:nvGraphicFramePr>
        <p:xfrm>
          <a:off x="2981325" y="3656013"/>
          <a:ext cx="5016500" cy="438150"/>
        </p:xfrm>
        <a:graphic>
          <a:graphicData uri="http://schemas.openxmlformats.org/drawingml/2006/table">
            <a:tbl>
              <a:tblPr firstRow="1" bandRow="1">
                <a:tableStyleId>{5940675A-B579-460E-94D1-54222C63F5DA}</a:tableStyleId>
              </a:tblPr>
              <a:tblGrid>
                <a:gridCol w="1560329">
                  <a:extLst>
                    <a:ext uri="{9D8B030D-6E8A-4147-A177-3AD203B41FA5}">
                      <a16:colId xmlns:a16="http://schemas.microsoft.com/office/drawing/2014/main" val="20000"/>
                    </a:ext>
                  </a:extLst>
                </a:gridCol>
                <a:gridCol w="1080053">
                  <a:extLst>
                    <a:ext uri="{9D8B030D-6E8A-4147-A177-3AD203B41FA5}">
                      <a16:colId xmlns:a16="http://schemas.microsoft.com/office/drawing/2014/main" val="20001"/>
                    </a:ext>
                  </a:extLst>
                </a:gridCol>
                <a:gridCol w="1152057">
                  <a:extLst>
                    <a:ext uri="{9D8B030D-6E8A-4147-A177-3AD203B41FA5}">
                      <a16:colId xmlns:a16="http://schemas.microsoft.com/office/drawing/2014/main" val="20002"/>
                    </a:ext>
                  </a:extLst>
                </a:gridCol>
                <a:gridCol w="1224061">
                  <a:extLst>
                    <a:ext uri="{9D8B030D-6E8A-4147-A177-3AD203B41FA5}">
                      <a16:colId xmlns:a16="http://schemas.microsoft.com/office/drawing/2014/main" val="20003"/>
                    </a:ext>
                  </a:extLst>
                </a:gridCol>
              </a:tblGrid>
              <a:tr h="438150">
                <a:tc>
                  <a:txBody>
                    <a:bodyPr/>
                    <a:lstStyle/>
                    <a:p>
                      <a:pPr algn="ctr"/>
                      <a:r>
                        <a:rPr lang="en-CA" sz="1800" u="sng" dirty="0"/>
                        <a:t>AUTHOR_ID</a:t>
                      </a:r>
                      <a:endParaRPr lang="en-CA" sz="1800" b="0" u="sng" dirty="0"/>
                    </a:p>
                  </a:txBody>
                  <a:tcPr marL="91434" marR="91434" marT="45760" marB="45760"/>
                </a:tc>
                <a:tc>
                  <a:txBody>
                    <a:bodyPr/>
                    <a:lstStyle/>
                    <a:p>
                      <a:pPr algn="ctr"/>
                      <a:r>
                        <a:rPr lang="en-CA" sz="1800" b="0" dirty="0"/>
                        <a:t>NAME</a:t>
                      </a:r>
                    </a:p>
                  </a:txBody>
                  <a:tcPr marL="91434" marR="91434" marT="45760" marB="45760"/>
                </a:tc>
                <a:tc>
                  <a:txBody>
                    <a:bodyPr/>
                    <a:lstStyle/>
                    <a:p>
                      <a:pPr algn="ctr"/>
                      <a:r>
                        <a:rPr lang="en-CA" sz="1800" b="0" u="sng" dirty="0"/>
                        <a:t>ISBN</a:t>
                      </a:r>
                    </a:p>
                  </a:txBody>
                  <a:tcPr marL="91434" marR="91434" marT="45760" marB="45760"/>
                </a:tc>
                <a:tc>
                  <a:txBody>
                    <a:bodyPr/>
                    <a:lstStyle/>
                    <a:p>
                      <a:pPr algn="ctr"/>
                      <a:r>
                        <a:rPr lang="en-CA" sz="1800" b="0" u="none" dirty="0"/>
                        <a:t>TITLE</a:t>
                      </a:r>
                    </a:p>
                  </a:txBody>
                  <a:tcPr marL="91434" marR="91434" marT="45760" marB="45760"/>
                </a:tc>
                <a:extLst>
                  <a:ext uri="{0D108BD9-81ED-4DB2-BD59-A6C34878D82A}">
                    <a16:rowId xmlns:a16="http://schemas.microsoft.com/office/drawing/2014/main" val="10000"/>
                  </a:ext>
                </a:extLst>
              </a:tr>
            </a:tbl>
          </a:graphicData>
        </a:graphic>
      </p:graphicFrame>
      <p:cxnSp>
        <p:nvCxnSpPr>
          <p:cNvPr id="20498" name="Straight Connector 53">
            <a:extLst>
              <a:ext uri="{FF2B5EF4-FFF2-40B4-BE49-F238E27FC236}">
                <a16:creationId xmlns:a16="http://schemas.microsoft.com/office/drawing/2014/main" id="{EB69FF96-239A-95C5-5AAB-3A4D59887665}"/>
              </a:ext>
            </a:extLst>
          </p:cNvPr>
          <p:cNvCxnSpPr>
            <a:cxnSpLocks noChangeShapeType="1"/>
          </p:cNvCxnSpPr>
          <p:nvPr/>
        </p:nvCxnSpPr>
        <p:spPr bwMode="auto">
          <a:xfrm flipV="1">
            <a:off x="7434263" y="4071938"/>
            <a:ext cx="0" cy="381000"/>
          </a:xfrm>
          <a:prstGeom prst="line">
            <a:avLst/>
          </a:prstGeom>
          <a:noFill/>
          <a:ln w="2540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0499" name="Straight Connector 54">
            <a:extLst>
              <a:ext uri="{FF2B5EF4-FFF2-40B4-BE49-F238E27FC236}">
                <a16:creationId xmlns:a16="http://schemas.microsoft.com/office/drawing/2014/main" id="{3325C783-3431-EC77-5023-8A03020F9965}"/>
              </a:ext>
            </a:extLst>
          </p:cNvPr>
          <p:cNvCxnSpPr>
            <a:cxnSpLocks noChangeShapeType="1"/>
          </p:cNvCxnSpPr>
          <p:nvPr/>
        </p:nvCxnSpPr>
        <p:spPr bwMode="auto">
          <a:xfrm>
            <a:off x="6208713" y="4445000"/>
            <a:ext cx="1225550" cy="0"/>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cxnSp>
        <p:nvCxnSpPr>
          <p:cNvPr id="20500" name="Straight Connector 55">
            <a:extLst>
              <a:ext uri="{FF2B5EF4-FFF2-40B4-BE49-F238E27FC236}">
                <a16:creationId xmlns:a16="http://schemas.microsoft.com/office/drawing/2014/main" id="{EF62D02B-EE01-215F-D775-1140CE350C6E}"/>
              </a:ext>
            </a:extLst>
          </p:cNvPr>
          <p:cNvCxnSpPr>
            <a:cxnSpLocks noChangeShapeType="1"/>
          </p:cNvCxnSpPr>
          <p:nvPr/>
        </p:nvCxnSpPr>
        <p:spPr bwMode="auto">
          <a:xfrm flipV="1">
            <a:off x="6208713" y="4084638"/>
            <a:ext cx="0" cy="379412"/>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cxnSp>
        <p:nvCxnSpPr>
          <p:cNvPr id="20501" name="Straight Connector 57">
            <a:extLst>
              <a:ext uri="{FF2B5EF4-FFF2-40B4-BE49-F238E27FC236}">
                <a16:creationId xmlns:a16="http://schemas.microsoft.com/office/drawing/2014/main" id="{752D5A63-F817-2EB5-84BC-C5EC458DD422}"/>
              </a:ext>
            </a:extLst>
          </p:cNvPr>
          <p:cNvCxnSpPr>
            <a:cxnSpLocks noChangeShapeType="1"/>
          </p:cNvCxnSpPr>
          <p:nvPr/>
        </p:nvCxnSpPr>
        <p:spPr bwMode="auto">
          <a:xfrm flipV="1">
            <a:off x="3806825" y="4076700"/>
            <a:ext cx="0" cy="358775"/>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cxnSp>
        <p:nvCxnSpPr>
          <p:cNvPr id="20502" name="Straight Connector 58">
            <a:extLst>
              <a:ext uri="{FF2B5EF4-FFF2-40B4-BE49-F238E27FC236}">
                <a16:creationId xmlns:a16="http://schemas.microsoft.com/office/drawing/2014/main" id="{043BD29C-C71E-ED65-CD7D-987FE1ED9696}"/>
              </a:ext>
            </a:extLst>
          </p:cNvPr>
          <p:cNvCxnSpPr>
            <a:cxnSpLocks noChangeShapeType="1"/>
          </p:cNvCxnSpPr>
          <p:nvPr/>
        </p:nvCxnSpPr>
        <p:spPr bwMode="auto">
          <a:xfrm flipV="1">
            <a:off x="3789363" y="4432300"/>
            <a:ext cx="1214437" cy="12700"/>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cxnSp>
        <p:nvCxnSpPr>
          <p:cNvPr id="20503" name="Straight Connector 59">
            <a:extLst>
              <a:ext uri="{FF2B5EF4-FFF2-40B4-BE49-F238E27FC236}">
                <a16:creationId xmlns:a16="http://schemas.microsoft.com/office/drawing/2014/main" id="{AC3E5620-3959-0462-30BA-FC86449B02D8}"/>
              </a:ext>
            </a:extLst>
          </p:cNvPr>
          <p:cNvCxnSpPr>
            <a:cxnSpLocks noChangeShapeType="1"/>
          </p:cNvCxnSpPr>
          <p:nvPr/>
        </p:nvCxnSpPr>
        <p:spPr bwMode="auto">
          <a:xfrm flipV="1">
            <a:off x="5003800" y="4073525"/>
            <a:ext cx="0" cy="358775"/>
          </a:xfrm>
          <a:prstGeom prst="line">
            <a:avLst/>
          </a:prstGeom>
          <a:noFill/>
          <a:ln w="2540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0504" name="Straight Connector 60">
            <a:extLst>
              <a:ext uri="{FF2B5EF4-FFF2-40B4-BE49-F238E27FC236}">
                <a16:creationId xmlns:a16="http://schemas.microsoft.com/office/drawing/2014/main" id="{B51D1747-ED44-5B79-0DFA-342AC0EA6241}"/>
              </a:ext>
            </a:extLst>
          </p:cNvPr>
          <p:cNvCxnSpPr>
            <a:cxnSpLocks noChangeShapeType="1"/>
          </p:cNvCxnSpPr>
          <p:nvPr/>
        </p:nvCxnSpPr>
        <p:spPr bwMode="auto">
          <a:xfrm flipV="1">
            <a:off x="3806825" y="3305175"/>
            <a:ext cx="0" cy="360363"/>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cxnSp>
        <p:nvCxnSpPr>
          <p:cNvPr id="20505" name="Straight Connector 61">
            <a:extLst>
              <a:ext uri="{FF2B5EF4-FFF2-40B4-BE49-F238E27FC236}">
                <a16:creationId xmlns:a16="http://schemas.microsoft.com/office/drawing/2014/main" id="{93DEB173-6599-C8A1-4296-4F5676C58320}"/>
              </a:ext>
            </a:extLst>
          </p:cNvPr>
          <p:cNvCxnSpPr>
            <a:cxnSpLocks noChangeShapeType="1"/>
          </p:cNvCxnSpPr>
          <p:nvPr/>
        </p:nvCxnSpPr>
        <p:spPr bwMode="auto">
          <a:xfrm flipV="1">
            <a:off x="6248400" y="3302000"/>
            <a:ext cx="0" cy="358775"/>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cxnSp>
        <p:nvCxnSpPr>
          <p:cNvPr id="20506" name="Straight Connector 62">
            <a:extLst>
              <a:ext uri="{FF2B5EF4-FFF2-40B4-BE49-F238E27FC236}">
                <a16:creationId xmlns:a16="http://schemas.microsoft.com/office/drawing/2014/main" id="{9DA28CF0-BD83-9D73-C118-3DCDB64E8B78}"/>
              </a:ext>
            </a:extLst>
          </p:cNvPr>
          <p:cNvCxnSpPr>
            <a:cxnSpLocks noChangeShapeType="1"/>
          </p:cNvCxnSpPr>
          <p:nvPr/>
        </p:nvCxnSpPr>
        <p:spPr bwMode="auto">
          <a:xfrm>
            <a:off x="3806825" y="3305175"/>
            <a:ext cx="2441575" cy="0"/>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cxnSp>
        <p:nvCxnSpPr>
          <p:cNvPr id="20507" name="Straight Arrow Connector 63">
            <a:extLst>
              <a:ext uri="{FF2B5EF4-FFF2-40B4-BE49-F238E27FC236}">
                <a16:creationId xmlns:a16="http://schemas.microsoft.com/office/drawing/2014/main" id="{F2778F53-A82F-4191-1F86-D7BAFF9B333D}"/>
              </a:ext>
            </a:extLst>
          </p:cNvPr>
          <p:cNvCxnSpPr>
            <a:cxnSpLocks noChangeShapeType="1"/>
          </p:cNvCxnSpPr>
          <p:nvPr/>
        </p:nvCxnSpPr>
        <p:spPr bwMode="auto">
          <a:xfrm flipH="1">
            <a:off x="7431088" y="3046413"/>
            <a:ext cx="3175" cy="638175"/>
          </a:xfrm>
          <a:prstGeom prst="straightConnector1">
            <a:avLst/>
          </a:prstGeom>
          <a:noFill/>
          <a:ln w="2540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0508" name="Straight Connector 64">
            <a:extLst>
              <a:ext uri="{FF2B5EF4-FFF2-40B4-BE49-F238E27FC236}">
                <a16:creationId xmlns:a16="http://schemas.microsoft.com/office/drawing/2014/main" id="{7C8CEE18-86D5-2543-025C-2883B1824043}"/>
              </a:ext>
            </a:extLst>
          </p:cNvPr>
          <p:cNvCxnSpPr>
            <a:cxnSpLocks noChangeShapeType="1"/>
          </p:cNvCxnSpPr>
          <p:nvPr/>
        </p:nvCxnSpPr>
        <p:spPr bwMode="auto">
          <a:xfrm>
            <a:off x="5029200" y="3046413"/>
            <a:ext cx="2405063" cy="0"/>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cxnSp>
        <p:nvCxnSpPr>
          <p:cNvPr id="20509" name="Straight Arrow Connector 65">
            <a:extLst>
              <a:ext uri="{FF2B5EF4-FFF2-40B4-BE49-F238E27FC236}">
                <a16:creationId xmlns:a16="http://schemas.microsoft.com/office/drawing/2014/main" id="{7F918E10-D121-BECE-7B81-AD82E0E7AC77}"/>
              </a:ext>
            </a:extLst>
          </p:cNvPr>
          <p:cNvCxnSpPr>
            <a:cxnSpLocks noChangeShapeType="1"/>
          </p:cNvCxnSpPr>
          <p:nvPr/>
        </p:nvCxnSpPr>
        <p:spPr bwMode="auto">
          <a:xfrm flipH="1">
            <a:off x="5027613" y="3046413"/>
            <a:ext cx="1587" cy="638175"/>
          </a:xfrm>
          <a:prstGeom prst="straightConnector1">
            <a:avLst/>
          </a:prstGeom>
          <a:noFill/>
          <a:ln w="25400"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20510" name="TextBox 7">
            <a:extLst>
              <a:ext uri="{FF2B5EF4-FFF2-40B4-BE49-F238E27FC236}">
                <a16:creationId xmlns:a16="http://schemas.microsoft.com/office/drawing/2014/main" id="{B2DB35CA-23D2-BA03-D22A-8382998492DB}"/>
              </a:ext>
            </a:extLst>
          </p:cNvPr>
          <p:cNvSpPr txBox="1">
            <a:spLocks noChangeArrowheads="1"/>
          </p:cNvSpPr>
          <p:nvPr/>
        </p:nvSpPr>
        <p:spPr bwMode="auto">
          <a:xfrm>
            <a:off x="149225" y="3690938"/>
            <a:ext cx="27352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Dependency Diagram:</a:t>
            </a:r>
          </a:p>
        </p:txBody>
      </p:sp>
      <p:sp>
        <p:nvSpPr>
          <p:cNvPr id="20511" name="TextBox 67">
            <a:extLst>
              <a:ext uri="{FF2B5EF4-FFF2-40B4-BE49-F238E27FC236}">
                <a16:creationId xmlns:a16="http://schemas.microsoft.com/office/drawing/2014/main" id="{269EDE63-E84E-5CE8-0017-12B409E1A4C3}"/>
              </a:ext>
            </a:extLst>
          </p:cNvPr>
          <p:cNvSpPr txBox="1">
            <a:spLocks noChangeArrowheads="1"/>
          </p:cNvSpPr>
          <p:nvPr/>
        </p:nvSpPr>
        <p:spPr bwMode="auto">
          <a:xfrm>
            <a:off x="149225" y="5053013"/>
            <a:ext cx="27352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Relation:</a:t>
            </a:r>
          </a:p>
        </p:txBody>
      </p:sp>
      <p:graphicFrame>
        <p:nvGraphicFramePr>
          <p:cNvPr id="69" name="Table 68">
            <a:extLst>
              <a:ext uri="{FF2B5EF4-FFF2-40B4-BE49-F238E27FC236}">
                <a16:creationId xmlns:a16="http://schemas.microsoft.com/office/drawing/2014/main" id="{0B8CC728-4E43-E014-E055-3F0CCC01DFA4}"/>
              </a:ext>
            </a:extLst>
          </p:cNvPr>
          <p:cNvGraphicFramePr>
            <a:graphicFrameLocks noGrp="1"/>
          </p:cNvGraphicFramePr>
          <p:nvPr/>
        </p:nvGraphicFramePr>
        <p:xfrm>
          <a:off x="1301750" y="4702175"/>
          <a:ext cx="7080251" cy="1241426"/>
        </p:xfrm>
        <a:graphic>
          <a:graphicData uri="http://schemas.openxmlformats.org/drawingml/2006/table">
            <a:tbl>
              <a:tblPr firstRow="1" bandRow="1">
                <a:tableStyleId>{9D7B26C5-4107-4FEC-AEDC-1716B250A1EF}</a:tableStyleId>
              </a:tblPr>
              <a:tblGrid>
                <a:gridCol w="1512287">
                  <a:extLst>
                    <a:ext uri="{9D8B030D-6E8A-4147-A177-3AD203B41FA5}">
                      <a16:colId xmlns:a16="http://schemas.microsoft.com/office/drawing/2014/main" val="20000"/>
                    </a:ext>
                  </a:extLst>
                </a:gridCol>
                <a:gridCol w="2062209">
                  <a:extLst>
                    <a:ext uri="{9D8B030D-6E8A-4147-A177-3AD203B41FA5}">
                      <a16:colId xmlns:a16="http://schemas.microsoft.com/office/drawing/2014/main" val="20001"/>
                    </a:ext>
                  </a:extLst>
                </a:gridCol>
                <a:gridCol w="1031104">
                  <a:extLst>
                    <a:ext uri="{9D8B030D-6E8A-4147-A177-3AD203B41FA5}">
                      <a16:colId xmlns:a16="http://schemas.microsoft.com/office/drawing/2014/main" val="20002"/>
                    </a:ext>
                  </a:extLst>
                </a:gridCol>
                <a:gridCol w="2474651">
                  <a:extLst>
                    <a:ext uri="{9D8B030D-6E8A-4147-A177-3AD203B41FA5}">
                      <a16:colId xmlns:a16="http://schemas.microsoft.com/office/drawing/2014/main" val="20003"/>
                    </a:ext>
                  </a:extLst>
                </a:gridCol>
              </a:tblGrid>
              <a:tr h="365880">
                <a:tc>
                  <a:txBody>
                    <a:bodyPr/>
                    <a:lstStyle/>
                    <a:p>
                      <a:pPr algn="ctr"/>
                      <a:r>
                        <a:rPr lang="en-CA" sz="1800" u="sng" dirty="0"/>
                        <a:t>AUTHOR_ID</a:t>
                      </a:r>
                      <a:endParaRPr lang="en-CA" sz="1800" b="0" u="sng" dirty="0"/>
                    </a:p>
                  </a:txBody>
                  <a:tcPr marT="45735" marB="45735"/>
                </a:tc>
                <a:tc>
                  <a:txBody>
                    <a:bodyPr/>
                    <a:lstStyle/>
                    <a:p>
                      <a:pPr algn="ctr"/>
                      <a:r>
                        <a:rPr lang="en-CA" sz="1800" dirty="0"/>
                        <a:t>NAME</a:t>
                      </a:r>
                      <a:endParaRPr lang="en-CA" sz="1800" b="0" dirty="0"/>
                    </a:p>
                  </a:txBody>
                  <a:tcPr marT="45735" marB="45735"/>
                </a:tc>
                <a:tc>
                  <a:txBody>
                    <a:bodyPr/>
                    <a:lstStyle/>
                    <a:p>
                      <a:pPr algn="ctr"/>
                      <a:r>
                        <a:rPr lang="en-CA" sz="1800" u="sng" dirty="0"/>
                        <a:t>ISBN</a:t>
                      </a:r>
                      <a:endParaRPr lang="en-CA" sz="1800" b="0" u="sng" dirty="0"/>
                    </a:p>
                  </a:txBody>
                  <a:tcPr marT="45735" marB="45735"/>
                </a:tc>
                <a:tc>
                  <a:txBody>
                    <a:bodyPr/>
                    <a:lstStyle/>
                    <a:p>
                      <a:pPr algn="ctr"/>
                      <a:r>
                        <a:rPr lang="en-CA" sz="1800" dirty="0"/>
                        <a:t>TITLE</a:t>
                      </a:r>
                      <a:endParaRPr lang="en-CA" sz="1800" b="0" dirty="0"/>
                    </a:p>
                  </a:txBody>
                  <a:tcPr marT="45735" marB="45735"/>
                </a:tc>
                <a:extLst>
                  <a:ext uri="{0D108BD9-81ED-4DB2-BD59-A6C34878D82A}">
                    <a16:rowId xmlns:a16="http://schemas.microsoft.com/office/drawing/2014/main" val="10000"/>
                  </a:ext>
                </a:extLst>
              </a:tr>
              <a:tr h="448507">
                <a:tc>
                  <a:txBody>
                    <a:bodyPr/>
                    <a:lstStyle/>
                    <a:p>
                      <a:pPr algn="ctr"/>
                      <a:r>
                        <a:rPr lang="en-CA" sz="2000" dirty="0"/>
                        <a:t>15</a:t>
                      </a:r>
                      <a:endParaRPr lang="en-CA" sz="2000" b="0" dirty="0"/>
                    </a:p>
                  </a:txBody>
                  <a:tcPr marT="45735" marB="45735" anchor="ctr"/>
                </a:tc>
                <a:tc>
                  <a:txBody>
                    <a:bodyPr/>
                    <a:lstStyle/>
                    <a:p>
                      <a:pPr algn="ctr"/>
                      <a:r>
                        <a:rPr lang="en-CA" sz="2000" dirty="0"/>
                        <a:t>Suzanne Collins</a:t>
                      </a:r>
                      <a:endParaRPr lang="en-CA" sz="2000" b="0" dirty="0"/>
                    </a:p>
                  </a:txBody>
                  <a:tcPr marT="45735" marB="45735" anchor="ctr"/>
                </a:tc>
                <a:tc>
                  <a:txBody>
                    <a:bodyPr/>
                    <a:lstStyle/>
                    <a:p>
                      <a:pPr algn="ctr"/>
                      <a:r>
                        <a:rPr lang="en-CA" sz="2000" dirty="0"/>
                        <a:t>12345</a:t>
                      </a:r>
                      <a:endParaRPr lang="en-CA" sz="2000" b="0" dirty="0"/>
                    </a:p>
                  </a:txBody>
                  <a:tcPr marT="45735" marB="45735" anchor="ctr"/>
                </a:tc>
                <a:tc>
                  <a:txBody>
                    <a:bodyPr/>
                    <a:lstStyle/>
                    <a:p>
                      <a:pPr algn="ctr"/>
                      <a:r>
                        <a:rPr lang="en-CA" sz="2000" dirty="0"/>
                        <a:t>The</a:t>
                      </a:r>
                      <a:r>
                        <a:rPr lang="en-CA" sz="2000" baseline="0" dirty="0"/>
                        <a:t> Hunger Game</a:t>
                      </a:r>
                      <a:endParaRPr lang="en-CA" sz="2000" b="0" dirty="0"/>
                    </a:p>
                  </a:txBody>
                  <a:tcPr marT="45735" marB="45735" anchor="ctr"/>
                </a:tc>
                <a:extLst>
                  <a:ext uri="{0D108BD9-81ED-4DB2-BD59-A6C34878D82A}">
                    <a16:rowId xmlns:a16="http://schemas.microsoft.com/office/drawing/2014/main" val="10001"/>
                  </a:ext>
                </a:extLst>
              </a:tr>
              <a:tr h="427039">
                <a:tc>
                  <a:txBody>
                    <a:bodyPr/>
                    <a:lstStyle/>
                    <a:p>
                      <a:pPr algn="ctr"/>
                      <a:r>
                        <a:rPr lang="en-CA" sz="2000" dirty="0"/>
                        <a:t>15</a:t>
                      </a:r>
                      <a:endParaRPr lang="en-CA" sz="2000" b="0" dirty="0"/>
                    </a:p>
                  </a:txBody>
                  <a:tcPr marT="45735" marB="45735" anchor="ctr"/>
                </a:tc>
                <a:tc>
                  <a:txBody>
                    <a:bodyPr/>
                    <a:lstStyle/>
                    <a:p>
                      <a:pPr algn="ctr"/>
                      <a:r>
                        <a:rPr lang="en-CA" sz="2000" dirty="0"/>
                        <a:t>Suzanne Collins</a:t>
                      </a:r>
                      <a:endParaRPr lang="en-CA" sz="2000" b="0" dirty="0"/>
                    </a:p>
                  </a:txBody>
                  <a:tcPr marT="45735" marB="45735" anchor="ctr"/>
                </a:tc>
                <a:tc>
                  <a:txBody>
                    <a:bodyPr/>
                    <a:lstStyle/>
                    <a:p>
                      <a:pPr algn="ctr"/>
                      <a:r>
                        <a:rPr lang="en-CA" sz="2000" dirty="0"/>
                        <a:t>34567</a:t>
                      </a:r>
                      <a:endParaRPr lang="en-CA" sz="2000" b="0" dirty="0"/>
                    </a:p>
                  </a:txBody>
                  <a:tcPr marT="45735" marB="45735" anchor="ctr"/>
                </a:tc>
                <a:tc>
                  <a:txBody>
                    <a:bodyPr/>
                    <a:lstStyle/>
                    <a:p>
                      <a:pPr algn="ctr"/>
                      <a:r>
                        <a:rPr lang="en-CA" sz="2000" dirty="0"/>
                        <a:t>Catching</a:t>
                      </a:r>
                      <a:r>
                        <a:rPr lang="en-CA" sz="2000" baseline="0" dirty="0"/>
                        <a:t> Fire</a:t>
                      </a:r>
                      <a:endParaRPr lang="en-CA" sz="2000" b="0" dirty="0"/>
                    </a:p>
                  </a:txBody>
                  <a:tcPr marT="45735" marB="45735" anchor="ctr"/>
                </a:tc>
                <a:extLst>
                  <a:ext uri="{0D108BD9-81ED-4DB2-BD59-A6C34878D82A}">
                    <a16:rowId xmlns:a16="http://schemas.microsoft.com/office/drawing/2014/main" val="10002"/>
                  </a:ext>
                </a:extLst>
              </a:tr>
            </a:tbl>
          </a:graphicData>
        </a:graphic>
      </p:graphicFrame>
    </p:spTree>
  </p:cSld>
  <p:clrMapOvr>
    <a:masterClrMapping/>
  </p:clrMapOvr>
  <p:transition spd="slow" advClick="0"/>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E75108-4EE2-0FCA-B2F1-381489C4D874}"/>
              </a:ext>
            </a:extLst>
          </p:cNvPr>
          <p:cNvSpPr>
            <a:spLocks noGrp="1"/>
          </p:cNvSpPr>
          <p:nvPr>
            <p:ph type="title"/>
          </p:nvPr>
        </p:nvSpPr>
        <p:spPr>
          <a:xfrm>
            <a:off x="457200" y="0"/>
            <a:ext cx="7620000" cy="1143000"/>
          </a:xfrm>
        </p:spPr>
        <p:txBody>
          <a:bodyPr/>
          <a:lstStyle/>
          <a:p>
            <a:pPr algn="ctr">
              <a:defRPr/>
            </a:pPr>
            <a:r>
              <a:rPr lang="en-US" dirty="0"/>
              <a:t>Activity 7</a:t>
            </a:r>
            <a:endParaRPr lang="en-CA" dirty="0"/>
          </a:p>
        </p:txBody>
      </p:sp>
      <p:sp>
        <p:nvSpPr>
          <p:cNvPr id="74" name="Title 1">
            <a:extLst>
              <a:ext uri="{FF2B5EF4-FFF2-40B4-BE49-F238E27FC236}">
                <a16:creationId xmlns:a16="http://schemas.microsoft.com/office/drawing/2014/main" id="{C9A23742-A41E-A3E3-3089-263D0F5B28C2}"/>
              </a:ext>
            </a:extLst>
          </p:cNvPr>
          <p:cNvSpPr txBox="1">
            <a:spLocks/>
          </p:cNvSpPr>
          <p:nvPr/>
        </p:nvSpPr>
        <p:spPr bwMode="auto">
          <a:xfrm>
            <a:off x="0" y="1047750"/>
            <a:ext cx="8172450" cy="323850"/>
          </a:xfrm>
          <a:prstGeom prst="rect">
            <a:avLst/>
          </a:prstGeom>
          <a:noFill/>
          <a:ln w="9525">
            <a:noFill/>
            <a:miter lim="800000"/>
            <a:headEnd/>
            <a:tailEnd/>
          </a:ln>
        </p:spPr>
        <p:txBody>
          <a:bodyPr lIns="72000" tIns="0" rIns="72000" bIns="0"/>
          <a:lstStyle/>
          <a:p>
            <a:pPr marL="0" marR="0" lvl="0" indent="0" algn="l" defTabSz="720000" rtl="0" eaLnBrk="1" fontAlgn="base" latinLnBrk="0" hangingPunct="1">
              <a:lnSpc>
                <a:spcPts val="1800"/>
              </a:lnSpc>
              <a:spcBef>
                <a:spcPts val="0"/>
              </a:spcBef>
              <a:spcAft>
                <a:spcPts val="0"/>
              </a:spcAft>
              <a:buClrTx/>
              <a:buSzTx/>
              <a:buFontTx/>
              <a:buNone/>
              <a:tabLst>
                <a:tab pos="0" algn="l"/>
              </a:tabLst>
              <a:defRPr/>
            </a:pPr>
            <a:r>
              <a:rPr kumimoji="0" lang="en-CA" sz="1800" b="1" i="0" u="none" strike="noStrike" kern="0" cap="none" spc="0" normalizeH="0" baseline="0" noProof="0" dirty="0">
                <a:ln>
                  <a:noFill/>
                </a:ln>
                <a:solidFill>
                  <a:srgbClr val="2F2B20"/>
                </a:solidFill>
                <a:effectLst/>
                <a:uLnTx/>
                <a:uFillTx/>
                <a:latin typeface="Calibri"/>
                <a:ea typeface="+mn-ea"/>
                <a:cs typeface="Calibri" pitchFamily="34" charset="0"/>
              </a:rPr>
              <a:t>CLASS ACTIVITY</a:t>
            </a:r>
            <a:endParaRPr kumimoji="0" lang="en-MY" sz="1800" b="1" i="0" u="none" strike="noStrike" kern="0" cap="none" spc="0" normalizeH="0" baseline="0" noProof="0" dirty="0">
              <a:ln>
                <a:noFill/>
              </a:ln>
              <a:solidFill>
                <a:srgbClr val="2F2B20"/>
              </a:solidFill>
              <a:effectLst/>
              <a:uLnTx/>
              <a:uFillTx/>
              <a:latin typeface="Arial" panose="020B0604020202020204" pitchFamily="34" charset="0"/>
              <a:ea typeface="+mn-ea"/>
              <a:cs typeface="Calibri" pitchFamily="34" charset="0"/>
            </a:endParaRPr>
          </a:p>
          <a:p>
            <a:pPr marL="0" marR="0" lvl="0" indent="0" algn="l" defTabSz="720000" rtl="0" eaLnBrk="1" fontAlgn="base" latinLnBrk="0" hangingPunct="1">
              <a:lnSpc>
                <a:spcPts val="1800"/>
              </a:lnSpc>
              <a:spcBef>
                <a:spcPts val="0"/>
              </a:spcBef>
              <a:spcAft>
                <a:spcPts val="0"/>
              </a:spcAft>
              <a:buClrTx/>
              <a:buSzTx/>
              <a:buFontTx/>
              <a:buNone/>
              <a:tabLst>
                <a:tab pos="0" algn="l"/>
              </a:tabLst>
              <a:defRPr/>
            </a:pPr>
            <a:endParaRPr kumimoji="0" lang="en-MY" sz="1800" b="1" i="0" u="none" strike="noStrike" kern="0" cap="none" spc="0" normalizeH="0" baseline="0" noProof="0" dirty="0">
              <a:ln>
                <a:noFill/>
              </a:ln>
              <a:solidFill>
                <a:srgbClr val="2F2B20"/>
              </a:solidFill>
              <a:effectLst/>
              <a:uLnTx/>
              <a:uFillTx/>
              <a:latin typeface="Calibri"/>
              <a:ea typeface="+mn-ea"/>
              <a:cs typeface="Calibri" pitchFamily="34" charset="0"/>
            </a:endParaRPr>
          </a:p>
        </p:txBody>
      </p:sp>
      <p:sp>
        <p:nvSpPr>
          <p:cNvPr id="18" name="Rounded Rectangle 17">
            <a:extLst>
              <a:ext uri="{FF2B5EF4-FFF2-40B4-BE49-F238E27FC236}">
                <a16:creationId xmlns:a16="http://schemas.microsoft.com/office/drawing/2014/main" id="{81D8A00F-E570-BB92-0E74-8FB0E20CB3C3}"/>
              </a:ext>
            </a:extLst>
          </p:cNvPr>
          <p:cNvSpPr/>
          <p:nvPr/>
        </p:nvSpPr>
        <p:spPr bwMode="auto">
          <a:xfrm>
            <a:off x="3124200" y="1484313"/>
            <a:ext cx="2197100" cy="482600"/>
          </a:xfrm>
          <a:prstGeom prst="roundRect">
            <a:avLst/>
          </a:prstGeom>
          <a:ln>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nchorCtr="1"/>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sz="3200" b="0" i="0" u="none" strike="noStrike" kern="1200" cap="none" spc="0" normalizeH="0" baseline="0" noProof="0" dirty="0">
                <a:ln>
                  <a:noFill/>
                </a:ln>
                <a:solidFill>
                  <a:srgbClr val="FFFFFF"/>
                </a:solidFill>
                <a:effectLst/>
                <a:uLnTx/>
                <a:uFillTx/>
                <a:latin typeface="Arial" charset="0"/>
                <a:ea typeface="+mn-ea"/>
                <a:cs typeface="+mn-cs"/>
              </a:rPr>
              <a:t>Answer</a:t>
            </a:r>
          </a:p>
        </p:txBody>
      </p:sp>
      <p:sp>
        <p:nvSpPr>
          <p:cNvPr id="21509" name="Content Placeholder 2">
            <a:extLst>
              <a:ext uri="{FF2B5EF4-FFF2-40B4-BE49-F238E27FC236}">
                <a16:creationId xmlns:a16="http://schemas.microsoft.com/office/drawing/2014/main" id="{6ACF0013-42EF-76E5-F473-B1E00AC50B29}"/>
              </a:ext>
            </a:extLst>
          </p:cNvPr>
          <p:cNvSpPr txBox="1">
            <a:spLocks/>
          </p:cNvSpPr>
          <p:nvPr/>
        </p:nvSpPr>
        <p:spPr bwMode="auto">
          <a:xfrm>
            <a:off x="250825" y="2205038"/>
            <a:ext cx="8569325"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rPr>
              <a:t>In 2NF</a:t>
            </a: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US" altLang="en-US" sz="10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US" altLang="en-US" sz="40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endParaRPr>
          </a:p>
        </p:txBody>
      </p:sp>
      <p:graphicFrame>
        <p:nvGraphicFramePr>
          <p:cNvPr id="21" name="Table 20">
            <a:extLst>
              <a:ext uri="{FF2B5EF4-FFF2-40B4-BE49-F238E27FC236}">
                <a16:creationId xmlns:a16="http://schemas.microsoft.com/office/drawing/2014/main" id="{4D39FEE8-3173-BCC3-D568-F4B56C3465D8}"/>
              </a:ext>
            </a:extLst>
          </p:cNvPr>
          <p:cNvGraphicFramePr>
            <a:graphicFrameLocks noGrp="1"/>
          </p:cNvGraphicFramePr>
          <p:nvPr/>
        </p:nvGraphicFramePr>
        <p:xfrm>
          <a:off x="311150" y="3140075"/>
          <a:ext cx="2640013" cy="438150"/>
        </p:xfrm>
        <a:graphic>
          <a:graphicData uri="http://schemas.openxmlformats.org/drawingml/2006/table">
            <a:tbl>
              <a:tblPr firstRow="1" bandRow="1">
                <a:tableStyleId>{5940675A-B579-460E-94D1-54222C63F5DA}</a:tableStyleId>
              </a:tblPr>
              <a:tblGrid>
                <a:gridCol w="1560111">
                  <a:extLst>
                    <a:ext uri="{9D8B030D-6E8A-4147-A177-3AD203B41FA5}">
                      <a16:colId xmlns:a16="http://schemas.microsoft.com/office/drawing/2014/main" val="20000"/>
                    </a:ext>
                  </a:extLst>
                </a:gridCol>
                <a:gridCol w="1079902">
                  <a:extLst>
                    <a:ext uri="{9D8B030D-6E8A-4147-A177-3AD203B41FA5}">
                      <a16:colId xmlns:a16="http://schemas.microsoft.com/office/drawing/2014/main" val="20001"/>
                    </a:ext>
                  </a:extLst>
                </a:gridCol>
              </a:tblGrid>
              <a:tr h="438150">
                <a:tc>
                  <a:txBody>
                    <a:bodyPr/>
                    <a:lstStyle/>
                    <a:p>
                      <a:pPr algn="ctr"/>
                      <a:r>
                        <a:rPr lang="en-CA" sz="1800" u="sng" dirty="0"/>
                        <a:t>AUTHOR_ID</a:t>
                      </a:r>
                      <a:endParaRPr lang="en-CA" sz="1800" b="0" u="sng" dirty="0"/>
                    </a:p>
                  </a:txBody>
                  <a:tcPr marL="91422" marR="91422" marT="45760" marB="45760"/>
                </a:tc>
                <a:tc>
                  <a:txBody>
                    <a:bodyPr/>
                    <a:lstStyle/>
                    <a:p>
                      <a:pPr algn="ctr"/>
                      <a:r>
                        <a:rPr lang="en-CA" sz="1800" b="0" dirty="0"/>
                        <a:t>NAME</a:t>
                      </a:r>
                    </a:p>
                  </a:txBody>
                  <a:tcPr marL="91422" marR="91422" marT="45760" marB="45760"/>
                </a:tc>
                <a:extLst>
                  <a:ext uri="{0D108BD9-81ED-4DB2-BD59-A6C34878D82A}">
                    <a16:rowId xmlns:a16="http://schemas.microsoft.com/office/drawing/2014/main" val="10000"/>
                  </a:ext>
                </a:extLst>
              </a:tr>
            </a:tbl>
          </a:graphicData>
        </a:graphic>
      </p:graphicFrame>
      <p:cxnSp>
        <p:nvCxnSpPr>
          <p:cNvPr id="21518" name="Straight Connector 57">
            <a:extLst>
              <a:ext uri="{FF2B5EF4-FFF2-40B4-BE49-F238E27FC236}">
                <a16:creationId xmlns:a16="http://schemas.microsoft.com/office/drawing/2014/main" id="{ECC4B14C-7A08-15F6-5979-71E6D4495DB9}"/>
              </a:ext>
            </a:extLst>
          </p:cNvPr>
          <p:cNvCxnSpPr>
            <a:cxnSpLocks noChangeShapeType="1"/>
          </p:cNvCxnSpPr>
          <p:nvPr/>
        </p:nvCxnSpPr>
        <p:spPr bwMode="auto">
          <a:xfrm flipV="1">
            <a:off x="1100138" y="3590925"/>
            <a:ext cx="0" cy="360363"/>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cxnSp>
        <p:nvCxnSpPr>
          <p:cNvPr id="21519" name="Straight Connector 58">
            <a:extLst>
              <a:ext uri="{FF2B5EF4-FFF2-40B4-BE49-F238E27FC236}">
                <a16:creationId xmlns:a16="http://schemas.microsoft.com/office/drawing/2014/main" id="{DAA48714-685D-ADE7-5535-ED3E66B4E7FF}"/>
              </a:ext>
            </a:extLst>
          </p:cNvPr>
          <p:cNvCxnSpPr>
            <a:cxnSpLocks noChangeShapeType="1"/>
          </p:cNvCxnSpPr>
          <p:nvPr/>
        </p:nvCxnSpPr>
        <p:spPr bwMode="auto">
          <a:xfrm flipV="1">
            <a:off x="1084263" y="3948113"/>
            <a:ext cx="1214437" cy="12700"/>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cxnSp>
        <p:nvCxnSpPr>
          <p:cNvPr id="21520" name="Straight Connector 59">
            <a:extLst>
              <a:ext uri="{FF2B5EF4-FFF2-40B4-BE49-F238E27FC236}">
                <a16:creationId xmlns:a16="http://schemas.microsoft.com/office/drawing/2014/main" id="{E373FF66-DD55-10D1-B310-05593DA0D4EE}"/>
              </a:ext>
            </a:extLst>
          </p:cNvPr>
          <p:cNvCxnSpPr>
            <a:cxnSpLocks noChangeShapeType="1"/>
          </p:cNvCxnSpPr>
          <p:nvPr/>
        </p:nvCxnSpPr>
        <p:spPr bwMode="auto">
          <a:xfrm flipV="1">
            <a:off x="2298700" y="3587750"/>
            <a:ext cx="0" cy="360363"/>
          </a:xfrm>
          <a:prstGeom prst="line">
            <a:avLst/>
          </a:prstGeom>
          <a:noFill/>
          <a:ln w="25400" algn="ctr">
            <a:solidFill>
              <a:schemeClr val="tx1"/>
            </a:solidFill>
            <a:round/>
            <a:headEnd/>
            <a:tailEnd type="triangle" w="med" len="med"/>
          </a:ln>
          <a:extLst>
            <a:ext uri="{909E8E84-426E-40DD-AFC4-6F175D3DCCD1}">
              <a14:hiddenFill xmlns:a14="http://schemas.microsoft.com/office/drawing/2010/main">
                <a:noFill/>
              </a14:hiddenFill>
            </a:ext>
          </a:extLst>
        </p:spPr>
      </p:cxnSp>
      <p:graphicFrame>
        <p:nvGraphicFramePr>
          <p:cNvPr id="69" name="Table 68">
            <a:extLst>
              <a:ext uri="{FF2B5EF4-FFF2-40B4-BE49-F238E27FC236}">
                <a16:creationId xmlns:a16="http://schemas.microsoft.com/office/drawing/2014/main" id="{B4DD4508-1B38-6BC7-03EB-D337577F8F3F}"/>
              </a:ext>
            </a:extLst>
          </p:cNvPr>
          <p:cNvGraphicFramePr>
            <a:graphicFrameLocks noGrp="1"/>
          </p:cNvGraphicFramePr>
          <p:nvPr/>
        </p:nvGraphicFramePr>
        <p:xfrm>
          <a:off x="250825" y="4149725"/>
          <a:ext cx="2786063" cy="1341438"/>
        </p:xfrm>
        <a:graphic>
          <a:graphicData uri="http://schemas.openxmlformats.org/drawingml/2006/table">
            <a:tbl>
              <a:tblPr firstRow="1" bandRow="1">
                <a:tableStyleId>{9D7B26C5-4107-4FEC-AEDC-1716B250A1EF}</a:tableStyleId>
              </a:tblPr>
              <a:tblGrid>
                <a:gridCol w="1155196">
                  <a:extLst>
                    <a:ext uri="{9D8B030D-6E8A-4147-A177-3AD203B41FA5}">
                      <a16:colId xmlns:a16="http://schemas.microsoft.com/office/drawing/2014/main" val="20000"/>
                    </a:ext>
                  </a:extLst>
                </a:gridCol>
                <a:gridCol w="1630867">
                  <a:extLst>
                    <a:ext uri="{9D8B030D-6E8A-4147-A177-3AD203B41FA5}">
                      <a16:colId xmlns:a16="http://schemas.microsoft.com/office/drawing/2014/main" val="20001"/>
                    </a:ext>
                  </a:extLst>
                </a:gridCol>
              </a:tblGrid>
              <a:tr h="640228">
                <a:tc>
                  <a:txBody>
                    <a:bodyPr/>
                    <a:lstStyle/>
                    <a:p>
                      <a:pPr algn="ctr"/>
                      <a:r>
                        <a:rPr lang="en-CA" sz="1800" u="sng" dirty="0"/>
                        <a:t>AUTHOR_ID</a:t>
                      </a:r>
                      <a:endParaRPr lang="en-CA" sz="1800" b="0" u="sng" dirty="0"/>
                    </a:p>
                  </a:txBody>
                  <a:tcPr marL="91453" marR="91453" marT="45694" marB="45694"/>
                </a:tc>
                <a:tc>
                  <a:txBody>
                    <a:bodyPr/>
                    <a:lstStyle/>
                    <a:p>
                      <a:pPr algn="ctr"/>
                      <a:r>
                        <a:rPr lang="en-CA" sz="1800" dirty="0"/>
                        <a:t>NAME</a:t>
                      </a:r>
                      <a:endParaRPr lang="en-CA" sz="1800" b="0" dirty="0"/>
                    </a:p>
                  </a:txBody>
                  <a:tcPr marL="91453" marR="91453" marT="45694" marB="45694"/>
                </a:tc>
                <a:extLst>
                  <a:ext uri="{0D108BD9-81ED-4DB2-BD59-A6C34878D82A}">
                    <a16:rowId xmlns:a16="http://schemas.microsoft.com/office/drawing/2014/main" val="10000"/>
                  </a:ext>
                </a:extLst>
              </a:tr>
              <a:tr h="701210">
                <a:tc>
                  <a:txBody>
                    <a:bodyPr/>
                    <a:lstStyle/>
                    <a:p>
                      <a:pPr algn="ctr"/>
                      <a:r>
                        <a:rPr lang="en-CA" sz="2000" dirty="0"/>
                        <a:t>15</a:t>
                      </a:r>
                      <a:endParaRPr lang="en-CA" sz="2000" b="0" dirty="0"/>
                    </a:p>
                  </a:txBody>
                  <a:tcPr marL="91453" marR="91453" marT="45694" marB="45694" anchor="ctr"/>
                </a:tc>
                <a:tc>
                  <a:txBody>
                    <a:bodyPr/>
                    <a:lstStyle/>
                    <a:p>
                      <a:pPr algn="ctr"/>
                      <a:r>
                        <a:rPr lang="en-CA" sz="2000" dirty="0"/>
                        <a:t>Suzanne Collins</a:t>
                      </a:r>
                      <a:endParaRPr lang="en-CA" sz="2000" b="0" dirty="0"/>
                    </a:p>
                  </a:txBody>
                  <a:tcPr marL="91453" marR="91453" marT="45694" marB="45694" anchor="ctr"/>
                </a:tc>
                <a:extLst>
                  <a:ext uri="{0D108BD9-81ED-4DB2-BD59-A6C34878D82A}">
                    <a16:rowId xmlns:a16="http://schemas.microsoft.com/office/drawing/2014/main" val="10001"/>
                  </a:ext>
                </a:extLst>
              </a:tr>
            </a:tbl>
          </a:graphicData>
        </a:graphic>
      </p:graphicFrame>
      <p:sp>
        <p:nvSpPr>
          <p:cNvPr id="21529" name="TextBox 33">
            <a:extLst>
              <a:ext uri="{FF2B5EF4-FFF2-40B4-BE49-F238E27FC236}">
                <a16:creationId xmlns:a16="http://schemas.microsoft.com/office/drawing/2014/main" id="{A632069C-830F-A2C2-43F6-37E68D302196}"/>
              </a:ext>
            </a:extLst>
          </p:cNvPr>
          <p:cNvSpPr txBox="1">
            <a:spLocks noChangeArrowheads="1"/>
          </p:cNvSpPr>
          <p:nvPr/>
        </p:nvSpPr>
        <p:spPr bwMode="auto">
          <a:xfrm>
            <a:off x="228600" y="2781300"/>
            <a:ext cx="208756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AUTHOR</a:t>
            </a:r>
          </a:p>
        </p:txBody>
      </p:sp>
      <p:graphicFrame>
        <p:nvGraphicFramePr>
          <p:cNvPr id="35" name="Table 34">
            <a:extLst>
              <a:ext uri="{FF2B5EF4-FFF2-40B4-BE49-F238E27FC236}">
                <a16:creationId xmlns:a16="http://schemas.microsoft.com/office/drawing/2014/main" id="{6847E779-3B6D-E780-4D95-9DB39D6781DE}"/>
              </a:ext>
            </a:extLst>
          </p:cNvPr>
          <p:cNvGraphicFramePr>
            <a:graphicFrameLocks noGrp="1"/>
          </p:cNvGraphicFramePr>
          <p:nvPr/>
        </p:nvGraphicFramePr>
        <p:xfrm>
          <a:off x="3108325" y="3141663"/>
          <a:ext cx="2376488" cy="436562"/>
        </p:xfrm>
        <a:graphic>
          <a:graphicData uri="http://schemas.openxmlformats.org/drawingml/2006/table">
            <a:tbl>
              <a:tblPr firstRow="1" bandRow="1">
                <a:tableStyleId>{5940675A-B579-460E-94D1-54222C63F5DA}</a:tableStyleId>
              </a:tblPr>
              <a:tblGrid>
                <a:gridCol w="1152236">
                  <a:extLst>
                    <a:ext uri="{9D8B030D-6E8A-4147-A177-3AD203B41FA5}">
                      <a16:colId xmlns:a16="http://schemas.microsoft.com/office/drawing/2014/main" val="20000"/>
                    </a:ext>
                  </a:extLst>
                </a:gridCol>
                <a:gridCol w="1224252">
                  <a:extLst>
                    <a:ext uri="{9D8B030D-6E8A-4147-A177-3AD203B41FA5}">
                      <a16:colId xmlns:a16="http://schemas.microsoft.com/office/drawing/2014/main" val="20001"/>
                    </a:ext>
                  </a:extLst>
                </a:gridCol>
              </a:tblGrid>
              <a:tr h="436562">
                <a:tc>
                  <a:txBody>
                    <a:bodyPr/>
                    <a:lstStyle/>
                    <a:p>
                      <a:pPr algn="ctr"/>
                      <a:r>
                        <a:rPr lang="en-CA" sz="1800" b="0" u="sng" dirty="0"/>
                        <a:t>ISBN</a:t>
                      </a:r>
                    </a:p>
                  </a:txBody>
                  <a:tcPr marL="91449" marR="91449" marT="45594" marB="45594"/>
                </a:tc>
                <a:tc>
                  <a:txBody>
                    <a:bodyPr/>
                    <a:lstStyle/>
                    <a:p>
                      <a:pPr algn="ctr"/>
                      <a:r>
                        <a:rPr lang="en-CA" sz="1800" b="0" u="none" dirty="0"/>
                        <a:t>TITLE</a:t>
                      </a:r>
                    </a:p>
                  </a:txBody>
                  <a:tcPr marL="91449" marR="91449" marT="45594" marB="45594"/>
                </a:tc>
                <a:extLst>
                  <a:ext uri="{0D108BD9-81ED-4DB2-BD59-A6C34878D82A}">
                    <a16:rowId xmlns:a16="http://schemas.microsoft.com/office/drawing/2014/main" val="10000"/>
                  </a:ext>
                </a:extLst>
              </a:tr>
            </a:tbl>
          </a:graphicData>
        </a:graphic>
      </p:graphicFrame>
      <p:cxnSp>
        <p:nvCxnSpPr>
          <p:cNvPr id="21538" name="Straight Connector 35">
            <a:extLst>
              <a:ext uri="{FF2B5EF4-FFF2-40B4-BE49-F238E27FC236}">
                <a16:creationId xmlns:a16="http://schemas.microsoft.com/office/drawing/2014/main" id="{0DA91A60-B0FF-E7AF-7A3F-BF399FD63302}"/>
              </a:ext>
            </a:extLst>
          </p:cNvPr>
          <p:cNvCxnSpPr>
            <a:cxnSpLocks noChangeShapeType="1"/>
          </p:cNvCxnSpPr>
          <p:nvPr/>
        </p:nvCxnSpPr>
        <p:spPr bwMode="auto">
          <a:xfrm flipV="1">
            <a:off x="4992688" y="3568700"/>
            <a:ext cx="0" cy="379413"/>
          </a:xfrm>
          <a:prstGeom prst="line">
            <a:avLst/>
          </a:prstGeom>
          <a:noFill/>
          <a:ln w="2540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1539" name="Straight Connector 36">
            <a:extLst>
              <a:ext uri="{FF2B5EF4-FFF2-40B4-BE49-F238E27FC236}">
                <a16:creationId xmlns:a16="http://schemas.microsoft.com/office/drawing/2014/main" id="{A326ADBE-CBC0-45FC-7A44-458A738F3CFA}"/>
              </a:ext>
            </a:extLst>
          </p:cNvPr>
          <p:cNvCxnSpPr>
            <a:cxnSpLocks noChangeShapeType="1"/>
          </p:cNvCxnSpPr>
          <p:nvPr/>
        </p:nvCxnSpPr>
        <p:spPr bwMode="auto">
          <a:xfrm>
            <a:off x="3767138" y="3941763"/>
            <a:ext cx="1225550" cy="0"/>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cxnSp>
        <p:nvCxnSpPr>
          <p:cNvPr id="21540" name="Straight Connector 40">
            <a:extLst>
              <a:ext uri="{FF2B5EF4-FFF2-40B4-BE49-F238E27FC236}">
                <a16:creationId xmlns:a16="http://schemas.microsoft.com/office/drawing/2014/main" id="{87FDC992-42F2-7EFF-F067-F1DD0C206AD0}"/>
              </a:ext>
            </a:extLst>
          </p:cNvPr>
          <p:cNvCxnSpPr>
            <a:cxnSpLocks noChangeShapeType="1"/>
          </p:cNvCxnSpPr>
          <p:nvPr/>
        </p:nvCxnSpPr>
        <p:spPr bwMode="auto">
          <a:xfrm flipV="1">
            <a:off x="3767138" y="3581400"/>
            <a:ext cx="0" cy="379413"/>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sp>
        <p:nvSpPr>
          <p:cNvPr id="21541" name="TextBox 41">
            <a:extLst>
              <a:ext uri="{FF2B5EF4-FFF2-40B4-BE49-F238E27FC236}">
                <a16:creationId xmlns:a16="http://schemas.microsoft.com/office/drawing/2014/main" id="{EE740153-2AC6-BD79-FE06-13FE4390F2CF}"/>
              </a:ext>
            </a:extLst>
          </p:cNvPr>
          <p:cNvSpPr txBox="1">
            <a:spLocks noChangeArrowheads="1"/>
          </p:cNvSpPr>
          <p:nvPr/>
        </p:nvSpPr>
        <p:spPr bwMode="auto">
          <a:xfrm>
            <a:off x="3036888" y="2781300"/>
            <a:ext cx="208756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BOOK</a:t>
            </a:r>
          </a:p>
        </p:txBody>
      </p:sp>
      <p:graphicFrame>
        <p:nvGraphicFramePr>
          <p:cNvPr id="47" name="Table 46">
            <a:extLst>
              <a:ext uri="{FF2B5EF4-FFF2-40B4-BE49-F238E27FC236}">
                <a16:creationId xmlns:a16="http://schemas.microsoft.com/office/drawing/2014/main" id="{5D1B6B07-A635-759F-830A-F91074257BFF}"/>
              </a:ext>
            </a:extLst>
          </p:cNvPr>
          <p:cNvGraphicFramePr>
            <a:graphicFrameLocks noGrp="1"/>
          </p:cNvGraphicFramePr>
          <p:nvPr/>
        </p:nvGraphicFramePr>
        <p:xfrm>
          <a:off x="5643563" y="3152775"/>
          <a:ext cx="2641600" cy="438150"/>
        </p:xfrm>
        <a:graphic>
          <a:graphicData uri="http://schemas.openxmlformats.org/drawingml/2006/table">
            <a:tbl>
              <a:tblPr firstRow="1" bandRow="1">
                <a:tableStyleId>{5940675A-B579-460E-94D1-54222C63F5DA}</a:tableStyleId>
              </a:tblPr>
              <a:tblGrid>
                <a:gridCol w="1561048">
                  <a:extLst>
                    <a:ext uri="{9D8B030D-6E8A-4147-A177-3AD203B41FA5}">
                      <a16:colId xmlns:a16="http://schemas.microsoft.com/office/drawing/2014/main" val="20000"/>
                    </a:ext>
                  </a:extLst>
                </a:gridCol>
                <a:gridCol w="1080552">
                  <a:extLst>
                    <a:ext uri="{9D8B030D-6E8A-4147-A177-3AD203B41FA5}">
                      <a16:colId xmlns:a16="http://schemas.microsoft.com/office/drawing/2014/main" val="20001"/>
                    </a:ext>
                  </a:extLst>
                </a:gridCol>
              </a:tblGrid>
              <a:tr h="438150">
                <a:tc>
                  <a:txBody>
                    <a:bodyPr/>
                    <a:lstStyle/>
                    <a:p>
                      <a:pPr algn="ctr"/>
                      <a:r>
                        <a:rPr lang="en-CA" sz="1800" u="none" dirty="0"/>
                        <a:t>AUTHOR_ID</a:t>
                      </a:r>
                      <a:endParaRPr lang="en-CA" sz="1800" b="0" u="none" dirty="0"/>
                    </a:p>
                  </a:txBody>
                  <a:tcPr marL="91477" marR="91477" marT="45760" marB="45760"/>
                </a:tc>
                <a:tc>
                  <a:txBody>
                    <a:bodyPr/>
                    <a:lstStyle/>
                    <a:p>
                      <a:pPr algn="ctr"/>
                      <a:r>
                        <a:rPr lang="en-CA" sz="1800" b="0" u="none" dirty="0"/>
                        <a:t>ISBN</a:t>
                      </a:r>
                    </a:p>
                  </a:txBody>
                  <a:tcPr marL="91477" marR="91477" marT="45760" marB="45760"/>
                </a:tc>
                <a:extLst>
                  <a:ext uri="{0D108BD9-81ED-4DB2-BD59-A6C34878D82A}">
                    <a16:rowId xmlns:a16="http://schemas.microsoft.com/office/drawing/2014/main" val="10000"/>
                  </a:ext>
                </a:extLst>
              </a:tr>
            </a:tbl>
          </a:graphicData>
        </a:graphic>
      </p:graphicFrame>
      <p:sp>
        <p:nvSpPr>
          <p:cNvPr id="21550" name="TextBox 50">
            <a:extLst>
              <a:ext uri="{FF2B5EF4-FFF2-40B4-BE49-F238E27FC236}">
                <a16:creationId xmlns:a16="http://schemas.microsoft.com/office/drawing/2014/main" id="{40F086BA-EAD4-7C57-89FC-C76776A0BE6C}"/>
              </a:ext>
            </a:extLst>
          </p:cNvPr>
          <p:cNvSpPr txBox="1">
            <a:spLocks noChangeArrowheads="1"/>
          </p:cNvSpPr>
          <p:nvPr/>
        </p:nvSpPr>
        <p:spPr bwMode="auto">
          <a:xfrm>
            <a:off x="5561013" y="2794000"/>
            <a:ext cx="20875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WRITES_BOOK</a:t>
            </a:r>
          </a:p>
        </p:txBody>
      </p:sp>
      <p:cxnSp>
        <p:nvCxnSpPr>
          <p:cNvPr id="21551" name="Straight Connector 51">
            <a:extLst>
              <a:ext uri="{FF2B5EF4-FFF2-40B4-BE49-F238E27FC236}">
                <a16:creationId xmlns:a16="http://schemas.microsoft.com/office/drawing/2014/main" id="{CEBDEF29-94D6-602D-AF01-3FCE0B9407C8}"/>
              </a:ext>
            </a:extLst>
          </p:cNvPr>
          <p:cNvCxnSpPr>
            <a:cxnSpLocks noChangeShapeType="1"/>
          </p:cNvCxnSpPr>
          <p:nvPr/>
        </p:nvCxnSpPr>
        <p:spPr bwMode="auto">
          <a:xfrm>
            <a:off x="5754688" y="3465513"/>
            <a:ext cx="2303462" cy="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sp>
        <p:nvSpPr>
          <p:cNvPr id="21552" name="TextBox 52">
            <a:extLst>
              <a:ext uri="{FF2B5EF4-FFF2-40B4-BE49-F238E27FC236}">
                <a16:creationId xmlns:a16="http://schemas.microsoft.com/office/drawing/2014/main" id="{BE89490F-3B72-8BCC-89DC-3002BB2FAAF0}"/>
              </a:ext>
            </a:extLst>
          </p:cNvPr>
          <p:cNvSpPr txBox="1">
            <a:spLocks noChangeArrowheads="1"/>
          </p:cNvSpPr>
          <p:nvPr/>
        </p:nvSpPr>
        <p:spPr bwMode="auto">
          <a:xfrm>
            <a:off x="900113" y="5484813"/>
            <a:ext cx="18002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Author relation</a:t>
            </a:r>
          </a:p>
        </p:txBody>
      </p:sp>
      <p:graphicFrame>
        <p:nvGraphicFramePr>
          <p:cNvPr id="57" name="Table 56">
            <a:extLst>
              <a:ext uri="{FF2B5EF4-FFF2-40B4-BE49-F238E27FC236}">
                <a16:creationId xmlns:a16="http://schemas.microsoft.com/office/drawing/2014/main" id="{89DC0492-5289-0FCC-14E5-C2E4900DBA33}"/>
              </a:ext>
            </a:extLst>
          </p:cNvPr>
          <p:cNvGraphicFramePr>
            <a:graphicFrameLocks noGrp="1"/>
          </p:cNvGraphicFramePr>
          <p:nvPr/>
        </p:nvGraphicFramePr>
        <p:xfrm>
          <a:off x="6019800" y="4137025"/>
          <a:ext cx="2387600" cy="1239838"/>
        </p:xfrm>
        <a:graphic>
          <a:graphicData uri="http://schemas.openxmlformats.org/drawingml/2006/table">
            <a:tbl>
              <a:tblPr firstRow="1" bandRow="1">
                <a:tableStyleId>{9D7B26C5-4107-4FEC-AEDC-1716B250A1EF}</a:tableStyleId>
              </a:tblPr>
              <a:tblGrid>
                <a:gridCol w="1419654">
                  <a:extLst>
                    <a:ext uri="{9D8B030D-6E8A-4147-A177-3AD203B41FA5}">
                      <a16:colId xmlns:a16="http://schemas.microsoft.com/office/drawing/2014/main" val="20000"/>
                    </a:ext>
                  </a:extLst>
                </a:gridCol>
                <a:gridCol w="967946">
                  <a:extLst>
                    <a:ext uri="{9D8B030D-6E8A-4147-A177-3AD203B41FA5}">
                      <a16:colId xmlns:a16="http://schemas.microsoft.com/office/drawing/2014/main" val="20001"/>
                    </a:ext>
                  </a:extLst>
                </a:gridCol>
              </a:tblGrid>
              <a:tr h="365647">
                <a:tc>
                  <a:txBody>
                    <a:bodyPr/>
                    <a:lstStyle/>
                    <a:p>
                      <a:pPr algn="ctr"/>
                      <a:r>
                        <a:rPr lang="en-CA" sz="1800" u="none" dirty="0"/>
                        <a:t>AUTHOR_ID</a:t>
                      </a:r>
                      <a:endParaRPr lang="en-CA" sz="1800" b="0" u="none" dirty="0"/>
                    </a:p>
                  </a:txBody>
                  <a:tcPr marL="91424" marR="91424" marT="45664" marB="45664"/>
                </a:tc>
                <a:tc>
                  <a:txBody>
                    <a:bodyPr/>
                    <a:lstStyle/>
                    <a:p>
                      <a:pPr algn="ctr"/>
                      <a:r>
                        <a:rPr lang="en-CA" sz="1800" u="none" dirty="0"/>
                        <a:t>ISBN</a:t>
                      </a:r>
                      <a:endParaRPr lang="en-CA" sz="1800" b="0" u="none" dirty="0"/>
                    </a:p>
                  </a:txBody>
                  <a:tcPr marL="91424" marR="91424" marT="45664" marB="45664"/>
                </a:tc>
                <a:extLst>
                  <a:ext uri="{0D108BD9-81ED-4DB2-BD59-A6C34878D82A}">
                    <a16:rowId xmlns:a16="http://schemas.microsoft.com/office/drawing/2014/main" val="10000"/>
                  </a:ext>
                </a:extLst>
              </a:tr>
              <a:tr h="447812">
                <a:tc>
                  <a:txBody>
                    <a:bodyPr/>
                    <a:lstStyle/>
                    <a:p>
                      <a:pPr algn="ctr"/>
                      <a:r>
                        <a:rPr lang="en-CA" sz="2000" dirty="0"/>
                        <a:t>15</a:t>
                      </a:r>
                      <a:endParaRPr lang="en-CA" sz="2000" b="0" dirty="0"/>
                    </a:p>
                  </a:txBody>
                  <a:tcPr marL="91424" marR="91424" marT="45664" marB="45664" anchor="ctr"/>
                </a:tc>
                <a:tc>
                  <a:txBody>
                    <a:bodyPr/>
                    <a:lstStyle/>
                    <a:p>
                      <a:pPr algn="ctr"/>
                      <a:r>
                        <a:rPr lang="en-CA" sz="2000" dirty="0"/>
                        <a:t>12345</a:t>
                      </a:r>
                      <a:endParaRPr lang="en-CA" sz="2000" b="0" dirty="0"/>
                    </a:p>
                  </a:txBody>
                  <a:tcPr marL="91424" marR="91424" marT="45664" marB="45664" anchor="ctr"/>
                </a:tc>
                <a:extLst>
                  <a:ext uri="{0D108BD9-81ED-4DB2-BD59-A6C34878D82A}">
                    <a16:rowId xmlns:a16="http://schemas.microsoft.com/office/drawing/2014/main" val="10001"/>
                  </a:ext>
                </a:extLst>
              </a:tr>
              <a:tr h="426378">
                <a:tc>
                  <a:txBody>
                    <a:bodyPr/>
                    <a:lstStyle/>
                    <a:p>
                      <a:pPr algn="ctr"/>
                      <a:r>
                        <a:rPr lang="en-CA" sz="2000" dirty="0"/>
                        <a:t>15</a:t>
                      </a:r>
                      <a:endParaRPr lang="en-CA" sz="2000" b="0" dirty="0"/>
                    </a:p>
                  </a:txBody>
                  <a:tcPr marL="91424" marR="91424" marT="45664" marB="45664" anchor="ctr"/>
                </a:tc>
                <a:tc>
                  <a:txBody>
                    <a:bodyPr/>
                    <a:lstStyle/>
                    <a:p>
                      <a:pPr algn="ctr"/>
                      <a:r>
                        <a:rPr lang="en-CA" sz="2000" dirty="0"/>
                        <a:t>34567</a:t>
                      </a:r>
                      <a:endParaRPr lang="en-CA" sz="2000" b="0" dirty="0"/>
                    </a:p>
                  </a:txBody>
                  <a:tcPr marL="91424" marR="91424" marT="45664" marB="45664" anchor="ctr"/>
                </a:tc>
                <a:extLst>
                  <a:ext uri="{0D108BD9-81ED-4DB2-BD59-A6C34878D82A}">
                    <a16:rowId xmlns:a16="http://schemas.microsoft.com/office/drawing/2014/main" val="10002"/>
                  </a:ext>
                </a:extLst>
              </a:tr>
            </a:tbl>
          </a:graphicData>
        </a:graphic>
      </p:graphicFrame>
      <p:graphicFrame>
        <p:nvGraphicFramePr>
          <p:cNvPr id="67" name="Table 66">
            <a:extLst>
              <a:ext uri="{FF2B5EF4-FFF2-40B4-BE49-F238E27FC236}">
                <a16:creationId xmlns:a16="http://schemas.microsoft.com/office/drawing/2014/main" id="{0FCF7712-F212-F783-65B0-D9AD0E20E152}"/>
              </a:ext>
            </a:extLst>
          </p:cNvPr>
          <p:cNvGraphicFramePr>
            <a:graphicFrameLocks noGrp="1"/>
          </p:cNvGraphicFramePr>
          <p:nvPr/>
        </p:nvGraphicFramePr>
        <p:xfrm>
          <a:off x="3395663" y="4144963"/>
          <a:ext cx="2487612" cy="1768474"/>
        </p:xfrm>
        <a:graphic>
          <a:graphicData uri="http://schemas.openxmlformats.org/drawingml/2006/table">
            <a:tbl>
              <a:tblPr firstRow="1" bandRow="1">
                <a:tableStyleId>{9D7B26C5-4107-4FEC-AEDC-1716B250A1EF}</a:tableStyleId>
              </a:tblPr>
              <a:tblGrid>
                <a:gridCol w="1025900">
                  <a:extLst>
                    <a:ext uri="{9D8B030D-6E8A-4147-A177-3AD203B41FA5}">
                      <a16:colId xmlns:a16="http://schemas.microsoft.com/office/drawing/2014/main" val="20000"/>
                    </a:ext>
                  </a:extLst>
                </a:gridCol>
                <a:gridCol w="1461712">
                  <a:extLst>
                    <a:ext uri="{9D8B030D-6E8A-4147-A177-3AD203B41FA5}">
                      <a16:colId xmlns:a16="http://schemas.microsoft.com/office/drawing/2014/main" val="20001"/>
                    </a:ext>
                  </a:extLst>
                </a:gridCol>
              </a:tblGrid>
              <a:tr h="365903">
                <a:tc>
                  <a:txBody>
                    <a:bodyPr/>
                    <a:lstStyle/>
                    <a:p>
                      <a:pPr algn="ctr"/>
                      <a:r>
                        <a:rPr lang="en-CA" sz="1800" u="sng" dirty="0"/>
                        <a:t>ISBN</a:t>
                      </a:r>
                      <a:endParaRPr lang="en-CA" sz="1800" b="0" u="sng" dirty="0"/>
                    </a:p>
                  </a:txBody>
                  <a:tcPr marL="91431" marR="91431" marT="45738" marB="45738"/>
                </a:tc>
                <a:tc>
                  <a:txBody>
                    <a:bodyPr/>
                    <a:lstStyle/>
                    <a:p>
                      <a:pPr algn="ctr"/>
                      <a:r>
                        <a:rPr lang="en-CA" sz="1800" dirty="0"/>
                        <a:t>TITLE</a:t>
                      </a:r>
                      <a:endParaRPr lang="en-CA" sz="1800" b="0" dirty="0"/>
                    </a:p>
                  </a:txBody>
                  <a:tcPr marL="91431" marR="91431" marT="45738" marB="45738"/>
                </a:tc>
                <a:extLst>
                  <a:ext uri="{0D108BD9-81ED-4DB2-BD59-A6C34878D82A}">
                    <a16:rowId xmlns:a16="http://schemas.microsoft.com/office/drawing/2014/main" val="10000"/>
                  </a:ext>
                </a:extLst>
              </a:tr>
              <a:tr h="701314">
                <a:tc>
                  <a:txBody>
                    <a:bodyPr/>
                    <a:lstStyle/>
                    <a:p>
                      <a:pPr algn="ctr"/>
                      <a:r>
                        <a:rPr lang="en-CA" sz="2000" dirty="0"/>
                        <a:t>12345</a:t>
                      </a:r>
                      <a:endParaRPr lang="en-CA" sz="2000" b="0" dirty="0"/>
                    </a:p>
                  </a:txBody>
                  <a:tcPr marL="91431" marR="91431" marT="45738" marB="45738" anchor="ctr"/>
                </a:tc>
                <a:tc>
                  <a:txBody>
                    <a:bodyPr/>
                    <a:lstStyle/>
                    <a:p>
                      <a:pPr algn="ctr"/>
                      <a:r>
                        <a:rPr lang="en-CA" sz="2000" dirty="0"/>
                        <a:t>The</a:t>
                      </a:r>
                      <a:r>
                        <a:rPr lang="en-CA" sz="2000" baseline="0" dirty="0"/>
                        <a:t> Hunger Game</a:t>
                      </a:r>
                      <a:endParaRPr lang="en-CA" sz="2000" b="0" dirty="0"/>
                    </a:p>
                  </a:txBody>
                  <a:tcPr marL="91431" marR="91431" marT="45738" marB="45738" anchor="ctr"/>
                </a:tc>
                <a:extLst>
                  <a:ext uri="{0D108BD9-81ED-4DB2-BD59-A6C34878D82A}">
                    <a16:rowId xmlns:a16="http://schemas.microsoft.com/office/drawing/2014/main" val="10001"/>
                  </a:ext>
                </a:extLst>
              </a:tr>
              <a:tr h="701257">
                <a:tc>
                  <a:txBody>
                    <a:bodyPr/>
                    <a:lstStyle/>
                    <a:p>
                      <a:pPr algn="ctr"/>
                      <a:r>
                        <a:rPr lang="en-CA" sz="2000" dirty="0"/>
                        <a:t>34567</a:t>
                      </a:r>
                      <a:endParaRPr lang="en-CA" sz="2000" b="0" dirty="0"/>
                    </a:p>
                  </a:txBody>
                  <a:tcPr marL="91431" marR="91431" marT="45738" marB="45738" anchor="ctr"/>
                </a:tc>
                <a:tc>
                  <a:txBody>
                    <a:bodyPr/>
                    <a:lstStyle/>
                    <a:p>
                      <a:pPr algn="ctr"/>
                      <a:r>
                        <a:rPr lang="en-CA" sz="2000" dirty="0"/>
                        <a:t>Catching</a:t>
                      </a:r>
                      <a:r>
                        <a:rPr lang="en-CA" sz="2000" baseline="0" dirty="0"/>
                        <a:t> Fire</a:t>
                      </a:r>
                      <a:endParaRPr lang="en-CA" sz="2000" b="0" dirty="0"/>
                    </a:p>
                  </a:txBody>
                  <a:tcPr marL="91431" marR="91431" marT="45738" marB="45738" anchor="ctr"/>
                </a:tc>
                <a:extLst>
                  <a:ext uri="{0D108BD9-81ED-4DB2-BD59-A6C34878D82A}">
                    <a16:rowId xmlns:a16="http://schemas.microsoft.com/office/drawing/2014/main" val="10002"/>
                  </a:ext>
                </a:extLst>
              </a:tr>
            </a:tbl>
          </a:graphicData>
        </a:graphic>
      </p:graphicFrame>
      <p:sp>
        <p:nvSpPr>
          <p:cNvPr id="21573" name="TextBox 72">
            <a:extLst>
              <a:ext uri="{FF2B5EF4-FFF2-40B4-BE49-F238E27FC236}">
                <a16:creationId xmlns:a16="http://schemas.microsoft.com/office/drawing/2014/main" id="{F49166CB-A823-7B6D-3828-F59922259C2D}"/>
              </a:ext>
            </a:extLst>
          </p:cNvPr>
          <p:cNvSpPr txBox="1">
            <a:spLocks noChangeArrowheads="1"/>
          </p:cNvSpPr>
          <p:nvPr/>
        </p:nvSpPr>
        <p:spPr bwMode="auto">
          <a:xfrm>
            <a:off x="3795713" y="5908675"/>
            <a:ext cx="18002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Book relation</a:t>
            </a:r>
          </a:p>
        </p:txBody>
      </p:sp>
      <p:cxnSp>
        <p:nvCxnSpPr>
          <p:cNvPr id="21574" name="Straight Connector 74">
            <a:extLst>
              <a:ext uri="{FF2B5EF4-FFF2-40B4-BE49-F238E27FC236}">
                <a16:creationId xmlns:a16="http://schemas.microsoft.com/office/drawing/2014/main" id="{855D5073-FC1B-F093-4393-5FBD2A8B1CB0}"/>
              </a:ext>
            </a:extLst>
          </p:cNvPr>
          <p:cNvCxnSpPr>
            <a:cxnSpLocks noChangeShapeType="1"/>
          </p:cNvCxnSpPr>
          <p:nvPr/>
        </p:nvCxnSpPr>
        <p:spPr bwMode="auto">
          <a:xfrm>
            <a:off x="6138863" y="4437063"/>
            <a:ext cx="2268537" cy="0"/>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sp>
        <p:nvSpPr>
          <p:cNvPr id="21575" name="TextBox 75">
            <a:extLst>
              <a:ext uri="{FF2B5EF4-FFF2-40B4-BE49-F238E27FC236}">
                <a16:creationId xmlns:a16="http://schemas.microsoft.com/office/drawing/2014/main" id="{259D1ACA-BEA6-87F9-282D-0EF094676076}"/>
              </a:ext>
            </a:extLst>
          </p:cNvPr>
          <p:cNvSpPr txBox="1">
            <a:spLocks noChangeArrowheads="1"/>
          </p:cNvSpPr>
          <p:nvPr/>
        </p:nvSpPr>
        <p:spPr bwMode="auto">
          <a:xfrm>
            <a:off x="6096000" y="5375275"/>
            <a:ext cx="23828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Writes_Book relation</a:t>
            </a:r>
          </a:p>
        </p:txBody>
      </p:sp>
    </p:spTree>
  </p:cSld>
  <p:clrMapOvr>
    <a:masterClrMapping/>
  </p:clrMapOvr>
  <p:transition spd="slow" advClick="0"/>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73056F-B2A6-7B39-EC4B-334AD2CA3B5F}"/>
              </a:ext>
            </a:extLst>
          </p:cNvPr>
          <p:cNvSpPr>
            <a:spLocks noGrp="1"/>
          </p:cNvSpPr>
          <p:nvPr>
            <p:ph type="title"/>
          </p:nvPr>
        </p:nvSpPr>
        <p:spPr>
          <a:xfrm>
            <a:off x="457200" y="0"/>
            <a:ext cx="7620000" cy="1143000"/>
          </a:xfrm>
        </p:spPr>
        <p:txBody>
          <a:bodyPr/>
          <a:lstStyle/>
          <a:p>
            <a:pPr algn="ctr">
              <a:defRPr/>
            </a:pPr>
            <a:r>
              <a:rPr lang="en-US" dirty="0"/>
              <a:t>Activity 7</a:t>
            </a:r>
            <a:endParaRPr lang="en-CA" dirty="0"/>
          </a:p>
        </p:txBody>
      </p:sp>
      <p:sp>
        <p:nvSpPr>
          <p:cNvPr id="74" name="Title 1">
            <a:extLst>
              <a:ext uri="{FF2B5EF4-FFF2-40B4-BE49-F238E27FC236}">
                <a16:creationId xmlns:a16="http://schemas.microsoft.com/office/drawing/2014/main" id="{535DA1C6-5E6D-C3A7-8760-D6B8CB6B8710}"/>
              </a:ext>
            </a:extLst>
          </p:cNvPr>
          <p:cNvSpPr txBox="1">
            <a:spLocks/>
          </p:cNvSpPr>
          <p:nvPr/>
        </p:nvSpPr>
        <p:spPr bwMode="auto">
          <a:xfrm>
            <a:off x="0" y="1047750"/>
            <a:ext cx="8172450" cy="323850"/>
          </a:xfrm>
          <a:prstGeom prst="rect">
            <a:avLst/>
          </a:prstGeom>
          <a:noFill/>
          <a:ln w="9525">
            <a:noFill/>
            <a:miter lim="800000"/>
            <a:headEnd/>
            <a:tailEnd/>
          </a:ln>
        </p:spPr>
        <p:txBody>
          <a:bodyPr lIns="72000" tIns="0" rIns="72000" bIns="0"/>
          <a:lstStyle/>
          <a:p>
            <a:pPr marL="0" marR="0" lvl="0" indent="0" algn="l" defTabSz="720000" rtl="0" eaLnBrk="1" fontAlgn="base" latinLnBrk="0" hangingPunct="1">
              <a:lnSpc>
                <a:spcPts val="1800"/>
              </a:lnSpc>
              <a:spcBef>
                <a:spcPts val="0"/>
              </a:spcBef>
              <a:spcAft>
                <a:spcPts val="0"/>
              </a:spcAft>
              <a:buClrTx/>
              <a:buSzTx/>
              <a:buFontTx/>
              <a:buNone/>
              <a:tabLst>
                <a:tab pos="0" algn="l"/>
              </a:tabLst>
              <a:defRPr/>
            </a:pPr>
            <a:r>
              <a:rPr kumimoji="0" lang="en-CA" sz="1800" b="1" i="0" u="none" strike="noStrike" kern="0" cap="none" spc="0" normalizeH="0" baseline="0" noProof="0" dirty="0">
                <a:ln>
                  <a:noFill/>
                </a:ln>
                <a:solidFill>
                  <a:srgbClr val="2F2B20"/>
                </a:solidFill>
                <a:effectLst/>
                <a:uLnTx/>
                <a:uFillTx/>
                <a:latin typeface="Calibri"/>
                <a:ea typeface="+mn-ea"/>
                <a:cs typeface="Calibri" pitchFamily="34" charset="0"/>
              </a:rPr>
              <a:t>CLASS ACTIVITY</a:t>
            </a:r>
            <a:endParaRPr kumimoji="0" lang="en-MY" sz="1800" b="1" i="0" u="none" strike="noStrike" kern="0" cap="none" spc="0" normalizeH="0" baseline="0" noProof="0" dirty="0">
              <a:ln>
                <a:noFill/>
              </a:ln>
              <a:solidFill>
                <a:srgbClr val="2F2B20"/>
              </a:solidFill>
              <a:effectLst/>
              <a:uLnTx/>
              <a:uFillTx/>
              <a:latin typeface="Arial" panose="020B0604020202020204" pitchFamily="34" charset="0"/>
              <a:ea typeface="+mn-ea"/>
              <a:cs typeface="Calibri" pitchFamily="34" charset="0"/>
            </a:endParaRPr>
          </a:p>
          <a:p>
            <a:pPr marL="0" marR="0" lvl="0" indent="0" algn="l" defTabSz="720000" rtl="0" eaLnBrk="1" fontAlgn="base" latinLnBrk="0" hangingPunct="1">
              <a:lnSpc>
                <a:spcPts val="1800"/>
              </a:lnSpc>
              <a:spcBef>
                <a:spcPts val="0"/>
              </a:spcBef>
              <a:spcAft>
                <a:spcPts val="0"/>
              </a:spcAft>
              <a:buClrTx/>
              <a:buSzTx/>
              <a:buFontTx/>
              <a:buNone/>
              <a:tabLst>
                <a:tab pos="0" algn="l"/>
              </a:tabLst>
              <a:defRPr/>
            </a:pPr>
            <a:endParaRPr kumimoji="0" lang="en-MY" sz="1800" b="1" i="0" u="none" strike="noStrike" kern="0" cap="none" spc="0" normalizeH="0" baseline="0" noProof="0" dirty="0">
              <a:ln>
                <a:noFill/>
              </a:ln>
              <a:solidFill>
                <a:srgbClr val="2F2B20"/>
              </a:solidFill>
              <a:effectLst/>
              <a:uLnTx/>
              <a:uFillTx/>
              <a:latin typeface="Calibri"/>
              <a:ea typeface="+mn-ea"/>
              <a:cs typeface="Calibri" pitchFamily="34" charset="0"/>
            </a:endParaRPr>
          </a:p>
        </p:txBody>
      </p:sp>
      <p:sp>
        <p:nvSpPr>
          <p:cNvPr id="18" name="Rounded Rectangle 17">
            <a:extLst>
              <a:ext uri="{FF2B5EF4-FFF2-40B4-BE49-F238E27FC236}">
                <a16:creationId xmlns:a16="http://schemas.microsoft.com/office/drawing/2014/main" id="{C6470B65-B8D2-439C-FDFA-2530FF64CD17}"/>
              </a:ext>
            </a:extLst>
          </p:cNvPr>
          <p:cNvSpPr/>
          <p:nvPr/>
        </p:nvSpPr>
        <p:spPr bwMode="auto">
          <a:xfrm>
            <a:off x="3124200" y="1484313"/>
            <a:ext cx="2197100" cy="482600"/>
          </a:xfrm>
          <a:prstGeom prst="roundRect">
            <a:avLst/>
          </a:prstGeom>
          <a:ln>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nchorCtr="1"/>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sz="3200" b="0" i="0" u="none" strike="noStrike" kern="1200" cap="none" spc="0" normalizeH="0" baseline="0" noProof="0" dirty="0">
                <a:ln>
                  <a:noFill/>
                </a:ln>
                <a:solidFill>
                  <a:srgbClr val="FFFFFF"/>
                </a:solidFill>
                <a:effectLst/>
                <a:uLnTx/>
                <a:uFillTx/>
                <a:latin typeface="Arial" charset="0"/>
                <a:ea typeface="+mn-ea"/>
                <a:cs typeface="+mn-cs"/>
              </a:rPr>
              <a:t>Answer</a:t>
            </a:r>
          </a:p>
        </p:txBody>
      </p:sp>
      <p:sp>
        <p:nvSpPr>
          <p:cNvPr id="22533" name="Content Placeholder 2">
            <a:extLst>
              <a:ext uri="{FF2B5EF4-FFF2-40B4-BE49-F238E27FC236}">
                <a16:creationId xmlns:a16="http://schemas.microsoft.com/office/drawing/2014/main" id="{404782D2-769E-E1E8-5DD2-09AE6EBFC32E}"/>
              </a:ext>
            </a:extLst>
          </p:cNvPr>
          <p:cNvSpPr txBox="1">
            <a:spLocks/>
          </p:cNvSpPr>
          <p:nvPr/>
        </p:nvSpPr>
        <p:spPr bwMode="auto">
          <a:xfrm>
            <a:off x="250825" y="2205038"/>
            <a:ext cx="8569325"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rPr>
              <a:t>In 3NF</a:t>
            </a: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US" altLang="en-US" sz="10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US" altLang="en-US" sz="40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endParaRPr>
          </a:p>
        </p:txBody>
      </p:sp>
      <p:graphicFrame>
        <p:nvGraphicFramePr>
          <p:cNvPr id="34" name="Table 33">
            <a:extLst>
              <a:ext uri="{FF2B5EF4-FFF2-40B4-BE49-F238E27FC236}">
                <a16:creationId xmlns:a16="http://schemas.microsoft.com/office/drawing/2014/main" id="{AA0857C3-A9CE-5CBE-51A7-C8771B56B06C}"/>
              </a:ext>
            </a:extLst>
          </p:cNvPr>
          <p:cNvGraphicFramePr>
            <a:graphicFrameLocks noGrp="1"/>
          </p:cNvGraphicFramePr>
          <p:nvPr/>
        </p:nvGraphicFramePr>
        <p:xfrm>
          <a:off x="300038" y="3140075"/>
          <a:ext cx="2640012" cy="438150"/>
        </p:xfrm>
        <a:graphic>
          <a:graphicData uri="http://schemas.openxmlformats.org/drawingml/2006/table">
            <a:tbl>
              <a:tblPr firstRow="1" bandRow="1">
                <a:tableStyleId>{5940675A-B579-460E-94D1-54222C63F5DA}</a:tableStyleId>
              </a:tblPr>
              <a:tblGrid>
                <a:gridCol w="1560110">
                  <a:extLst>
                    <a:ext uri="{9D8B030D-6E8A-4147-A177-3AD203B41FA5}">
                      <a16:colId xmlns:a16="http://schemas.microsoft.com/office/drawing/2014/main" val="20000"/>
                    </a:ext>
                  </a:extLst>
                </a:gridCol>
                <a:gridCol w="1079902">
                  <a:extLst>
                    <a:ext uri="{9D8B030D-6E8A-4147-A177-3AD203B41FA5}">
                      <a16:colId xmlns:a16="http://schemas.microsoft.com/office/drawing/2014/main" val="20001"/>
                    </a:ext>
                  </a:extLst>
                </a:gridCol>
              </a:tblGrid>
              <a:tr h="438150">
                <a:tc>
                  <a:txBody>
                    <a:bodyPr/>
                    <a:lstStyle/>
                    <a:p>
                      <a:pPr algn="ctr"/>
                      <a:r>
                        <a:rPr lang="en-CA" sz="1800" u="sng" dirty="0"/>
                        <a:t>AUTHOR_ID</a:t>
                      </a:r>
                      <a:endParaRPr lang="en-CA" sz="1800" b="0" u="sng" dirty="0"/>
                    </a:p>
                  </a:txBody>
                  <a:tcPr marL="91422" marR="91422" marT="45760" marB="45760"/>
                </a:tc>
                <a:tc>
                  <a:txBody>
                    <a:bodyPr/>
                    <a:lstStyle/>
                    <a:p>
                      <a:pPr algn="ctr"/>
                      <a:r>
                        <a:rPr lang="en-CA" sz="1800" b="0" dirty="0"/>
                        <a:t>NAME</a:t>
                      </a:r>
                    </a:p>
                  </a:txBody>
                  <a:tcPr marL="91422" marR="91422" marT="45760" marB="45760"/>
                </a:tc>
                <a:extLst>
                  <a:ext uri="{0D108BD9-81ED-4DB2-BD59-A6C34878D82A}">
                    <a16:rowId xmlns:a16="http://schemas.microsoft.com/office/drawing/2014/main" val="10000"/>
                  </a:ext>
                </a:extLst>
              </a:tr>
            </a:tbl>
          </a:graphicData>
        </a:graphic>
      </p:graphicFrame>
      <p:cxnSp>
        <p:nvCxnSpPr>
          <p:cNvPr id="22542" name="Straight Connector 34">
            <a:extLst>
              <a:ext uri="{FF2B5EF4-FFF2-40B4-BE49-F238E27FC236}">
                <a16:creationId xmlns:a16="http://schemas.microsoft.com/office/drawing/2014/main" id="{71D99DBB-8381-2A59-4C0C-8B49F6543769}"/>
              </a:ext>
            </a:extLst>
          </p:cNvPr>
          <p:cNvCxnSpPr>
            <a:cxnSpLocks noChangeShapeType="1"/>
          </p:cNvCxnSpPr>
          <p:nvPr/>
        </p:nvCxnSpPr>
        <p:spPr bwMode="auto">
          <a:xfrm flipV="1">
            <a:off x="1089025" y="3590925"/>
            <a:ext cx="0" cy="360363"/>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cxnSp>
        <p:nvCxnSpPr>
          <p:cNvPr id="22543" name="Straight Connector 35">
            <a:extLst>
              <a:ext uri="{FF2B5EF4-FFF2-40B4-BE49-F238E27FC236}">
                <a16:creationId xmlns:a16="http://schemas.microsoft.com/office/drawing/2014/main" id="{5D84A1FB-3F6A-55C1-B206-EF20ACCA7FA7}"/>
              </a:ext>
            </a:extLst>
          </p:cNvPr>
          <p:cNvCxnSpPr>
            <a:cxnSpLocks noChangeShapeType="1"/>
          </p:cNvCxnSpPr>
          <p:nvPr/>
        </p:nvCxnSpPr>
        <p:spPr bwMode="auto">
          <a:xfrm flipV="1">
            <a:off x="1073150" y="3948113"/>
            <a:ext cx="1214438" cy="12700"/>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cxnSp>
        <p:nvCxnSpPr>
          <p:cNvPr id="22544" name="Straight Connector 36">
            <a:extLst>
              <a:ext uri="{FF2B5EF4-FFF2-40B4-BE49-F238E27FC236}">
                <a16:creationId xmlns:a16="http://schemas.microsoft.com/office/drawing/2014/main" id="{9FE692C4-0295-926E-08D6-1FD1179745EB}"/>
              </a:ext>
            </a:extLst>
          </p:cNvPr>
          <p:cNvCxnSpPr>
            <a:cxnSpLocks noChangeShapeType="1"/>
          </p:cNvCxnSpPr>
          <p:nvPr/>
        </p:nvCxnSpPr>
        <p:spPr bwMode="auto">
          <a:xfrm flipV="1">
            <a:off x="2287588" y="3587750"/>
            <a:ext cx="0" cy="360363"/>
          </a:xfrm>
          <a:prstGeom prst="line">
            <a:avLst/>
          </a:prstGeom>
          <a:noFill/>
          <a:ln w="25400" algn="ctr">
            <a:solidFill>
              <a:schemeClr val="tx1"/>
            </a:solidFill>
            <a:round/>
            <a:headEnd/>
            <a:tailEnd type="triangle" w="med" len="med"/>
          </a:ln>
          <a:extLst>
            <a:ext uri="{909E8E84-426E-40DD-AFC4-6F175D3DCCD1}">
              <a14:hiddenFill xmlns:a14="http://schemas.microsoft.com/office/drawing/2010/main">
                <a:noFill/>
              </a14:hiddenFill>
            </a:ext>
          </a:extLst>
        </p:spPr>
      </p:cxnSp>
      <p:graphicFrame>
        <p:nvGraphicFramePr>
          <p:cNvPr id="41" name="Table 40">
            <a:extLst>
              <a:ext uri="{FF2B5EF4-FFF2-40B4-BE49-F238E27FC236}">
                <a16:creationId xmlns:a16="http://schemas.microsoft.com/office/drawing/2014/main" id="{D9052BDA-D06A-5AE4-D418-BBCCE00EBAA5}"/>
              </a:ext>
            </a:extLst>
          </p:cNvPr>
          <p:cNvGraphicFramePr>
            <a:graphicFrameLocks noGrp="1"/>
          </p:cNvGraphicFramePr>
          <p:nvPr/>
        </p:nvGraphicFramePr>
        <p:xfrm>
          <a:off x="26988" y="4149725"/>
          <a:ext cx="2868612" cy="1341438"/>
        </p:xfrm>
        <a:graphic>
          <a:graphicData uri="http://schemas.openxmlformats.org/drawingml/2006/table">
            <a:tbl>
              <a:tblPr firstRow="1" bandRow="1">
                <a:tableStyleId>{9D7B26C5-4107-4FEC-AEDC-1716B250A1EF}</a:tableStyleId>
              </a:tblPr>
              <a:tblGrid>
                <a:gridCol w="1189424">
                  <a:extLst>
                    <a:ext uri="{9D8B030D-6E8A-4147-A177-3AD203B41FA5}">
                      <a16:colId xmlns:a16="http://schemas.microsoft.com/office/drawing/2014/main" val="20000"/>
                    </a:ext>
                  </a:extLst>
                </a:gridCol>
                <a:gridCol w="1679188">
                  <a:extLst>
                    <a:ext uri="{9D8B030D-6E8A-4147-A177-3AD203B41FA5}">
                      <a16:colId xmlns:a16="http://schemas.microsoft.com/office/drawing/2014/main" val="20001"/>
                    </a:ext>
                  </a:extLst>
                </a:gridCol>
              </a:tblGrid>
              <a:tr h="640228">
                <a:tc>
                  <a:txBody>
                    <a:bodyPr/>
                    <a:lstStyle/>
                    <a:p>
                      <a:pPr algn="ctr"/>
                      <a:r>
                        <a:rPr lang="en-CA" sz="1800" u="sng" dirty="0"/>
                        <a:t>AUTHOR_ID</a:t>
                      </a:r>
                      <a:endParaRPr lang="en-CA" sz="1800" b="0" u="sng" dirty="0"/>
                    </a:p>
                  </a:txBody>
                  <a:tcPr marL="91453" marR="91453" marT="45694" marB="45694"/>
                </a:tc>
                <a:tc>
                  <a:txBody>
                    <a:bodyPr/>
                    <a:lstStyle/>
                    <a:p>
                      <a:pPr algn="ctr"/>
                      <a:r>
                        <a:rPr lang="en-CA" sz="1800" dirty="0"/>
                        <a:t>NAME</a:t>
                      </a:r>
                      <a:endParaRPr lang="en-CA" sz="1800" b="0" dirty="0"/>
                    </a:p>
                  </a:txBody>
                  <a:tcPr marL="91453" marR="91453" marT="45694" marB="45694"/>
                </a:tc>
                <a:extLst>
                  <a:ext uri="{0D108BD9-81ED-4DB2-BD59-A6C34878D82A}">
                    <a16:rowId xmlns:a16="http://schemas.microsoft.com/office/drawing/2014/main" val="10000"/>
                  </a:ext>
                </a:extLst>
              </a:tr>
              <a:tr h="701210">
                <a:tc>
                  <a:txBody>
                    <a:bodyPr/>
                    <a:lstStyle/>
                    <a:p>
                      <a:pPr algn="ctr"/>
                      <a:r>
                        <a:rPr lang="en-CA" sz="2000" dirty="0"/>
                        <a:t>15</a:t>
                      </a:r>
                      <a:endParaRPr lang="en-CA" sz="2000" b="0" dirty="0"/>
                    </a:p>
                  </a:txBody>
                  <a:tcPr marL="91453" marR="91453" marT="45694" marB="45694" anchor="ctr"/>
                </a:tc>
                <a:tc>
                  <a:txBody>
                    <a:bodyPr/>
                    <a:lstStyle/>
                    <a:p>
                      <a:pPr algn="ctr"/>
                      <a:r>
                        <a:rPr lang="en-CA" sz="2000" dirty="0"/>
                        <a:t>Suzanne Collins</a:t>
                      </a:r>
                      <a:endParaRPr lang="en-CA" sz="2000" b="0" dirty="0"/>
                    </a:p>
                  </a:txBody>
                  <a:tcPr marL="91453" marR="91453" marT="45694" marB="45694" anchor="ctr"/>
                </a:tc>
                <a:extLst>
                  <a:ext uri="{0D108BD9-81ED-4DB2-BD59-A6C34878D82A}">
                    <a16:rowId xmlns:a16="http://schemas.microsoft.com/office/drawing/2014/main" val="10001"/>
                  </a:ext>
                </a:extLst>
              </a:tr>
            </a:tbl>
          </a:graphicData>
        </a:graphic>
      </p:graphicFrame>
      <p:sp>
        <p:nvSpPr>
          <p:cNvPr id="22553" name="TextBox 41">
            <a:extLst>
              <a:ext uri="{FF2B5EF4-FFF2-40B4-BE49-F238E27FC236}">
                <a16:creationId xmlns:a16="http://schemas.microsoft.com/office/drawing/2014/main" id="{7EC6709B-A382-1D3E-A79A-F672AD60E149}"/>
              </a:ext>
            </a:extLst>
          </p:cNvPr>
          <p:cNvSpPr txBox="1">
            <a:spLocks noChangeArrowheads="1"/>
          </p:cNvSpPr>
          <p:nvPr/>
        </p:nvSpPr>
        <p:spPr bwMode="auto">
          <a:xfrm>
            <a:off x="217488" y="2781300"/>
            <a:ext cx="208756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AUTHOR</a:t>
            </a:r>
          </a:p>
        </p:txBody>
      </p:sp>
      <p:graphicFrame>
        <p:nvGraphicFramePr>
          <p:cNvPr id="43" name="Table 42">
            <a:extLst>
              <a:ext uri="{FF2B5EF4-FFF2-40B4-BE49-F238E27FC236}">
                <a16:creationId xmlns:a16="http://schemas.microsoft.com/office/drawing/2014/main" id="{342C19AD-3132-E5E5-E676-CF9138E374A1}"/>
              </a:ext>
            </a:extLst>
          </p:cNvPr>
          <p:cNvGraphicFramePr>
            <a:graphicFrameLocks noGrp="1"/>
          </p:cNvGraphicFramePr>
          <p:nvPr/>
        </p:nvGraphicFramePr>
        <p:xfrm>
          <a:off x="3097213" y="3141663"/>
          <a:ext cx="2376487" cy="436562"/>
        </p:xfrm>
        <a:graphic>
          <a:graphicData uri="http://schemas.openxmlformats.org/drawingml/2006/table">
            <a:tbl>
              <a:tblPr firstRow="1" bandRow="1">
                <a:tableStyleId>{5940675A-B579-460E-94D1-54222C63F5DA}</a:tableStyleId>
              </a:tblPr>
              <a:tblGrid>
                <a:gridCol w="1152236">
                  <a:extLst>
                    <a:ext uri="{9D8B030D-6E8A-4147-A177-3AD203B41FA5}">
                      <a16:colId xmlns:a16="http://schemas.microsoft.com/office/drawing/2014/main" val="20000"/>
                    </a:ext>
                  </a:extLst>
                </a:gridCol>
                <a:gridCol w="1224251">
                  <a:extLst>
                    <a:ext uri="{9D8B030D-6E8A-4147-A177-3AD203B41FA5}">
                      <a16:colId xmlns:a16="http://schemas.microsoft.com/office/drawing/2014/main" val="20001"/>
                    </a:ext>
                  </a:extLst>
                </a:gridCol>
              </a:tblGrid>
              <a:tr h="436562">
                <a:tc>
                  <a:txBody>
                    <a:bodyPr/>
                    <a:lstStyle/>
                    <a:p>
                      <a:pPr algn="ctr"/>
                      <a:r>
                        <a:rPr lang="en-CA" sz="1800" b="0" u="sng" dirty="0"/>
                        <a:t>ISBN</a:t>
                      </a:r>
                    </a:p>
                  </a:txBody>
                  <a:tcPr marL="91449" marR="91449" marT="45594" marB="45594"/>
                </a:tc>
                <a:tc>
                  <a:txBody>
                    <a:bodyPr/>
                    <a:lstStyle/>
                    <a:p>
                      <a:pPr algn="ctr"/>
                      <a:r>
                        <a:rPr lang="en-CA" sz="1800" b="0" u="none" dirty="0"/>
                        <a:t>TITLE</a:t>
                      </a:r>
                    </a:p>
                  </a:txBody>
                  <a:tcPr marL="91449" marR="91449" marT="45594" marB="45594"/>
                </a:tc>
                <a:extLst>
                  <a:ext uri="{0D108BD9-81ED-4DB2-BD59-A6C34878D82A}">
                    <a16:rowId xmlns:a16="http://schemas.microsoft.com/office/drawing/2014/main" val="10000"/>
                  </a:ext>
                </a:extLst>
              </a:tr>
            </a:tbl>
          </a:graphicData>
        </a:graphic>
      </p:graphicFrame>
      <p:cxnSp>
        <p:nvCxnSpPr>
          <p:cNvPr id="22562" name="Straight Connector 43">
            <a:extLst>
              <a:ext uri="{FF2B5EF4-FFF2-40B4-BE49-F238E27FC236}">
                <a16:creationId xmlns:a16="http://schemas.microsoft.com/office/drawing/2014/main" id="{129D165E-9932-37F4-D190-81B611CE212B}"/>
              </a:ext>
            </a:extLst>
          </p:cNvPr>
          <p:cNvCxnSpPr>
            <a:cxnSpLocks noChangeShapeType="1"/>
          </p:cNvCxnSpPr>
          <p:nvPr/>
        </p:nvCxnSpPr>
        <p:spPr bwMode="auto">
          <a:xfrm flipV="1">
            <a:off x="4981575" y="3568700"/>
            <a:ext cx="0" cy="379413"/>
          </a:xfrm>
          <a:prstGeom prst="line">
            <a:avLst/>
          </a:prstGeom>
          <a:noFill/>
          <a:ln w="2540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2563" name="Straight Connector 44">
            <a:extLst>
              <a:ext uri="{FF2B5EF4-FFF2-40B4-BE49-F238E27FC236}">
                <a16:creationId xmlns:a16="http://schemas.microsoft.com/office/drawing/2014/main" id="{C88D2727-F44E-7040-AF61-C150E126F7D6}"/>
              </a:ext>
            </a:extLst>
          </p:cNvPr>
          <p:cNvCxnSpPr>
            <a:cxnSpLocks noChangeShapeType="1"/>
          </p:cNvCxnSpPr>
          <p:nvPr/>
        </p:nvCxnSpPr>
        <p:spPr bwMode="auto">
          <a:xfrm>
            <a:off x="3756025" y="3941763"/>
            <a:ext cx="1225550" cy="0"/>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cxnSp>
        <p:nvCxnSpPr>
          <p:cNvPr id="22564" name="Straight Connector 45">
            <a:extLst>
              <a:ext uri="{FF2B5EF4-FFF2-40B4-BE49-F238E27FC236}">
                <a16:creationId xmlns:a16="http://schemas.microsoft.com/office/drawing/2014/main" id="{3DA43D24-9A2C-774D-233C-E2225B0AF731}"/>
              </a:ext>
            </a:extLst>
          </p:cNvPr>
          <p:cNvCxnSpPr>
            <a:cxnSpLocks noChangeShapeType="1"/>
          </p:cNvCxnSpPr>
          <p:nvPr/>
        </p:nvCxnSpPr>
        <p:spPr bwMode="auto">
          <a:xfrm flipV="1">
            <a:off x="3756025" y="3581400"/>
            <a:ext cx="0" cy="379413"/>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sp>
        <p:nvSpPr>
          <p:cNvPr id="22565" name="TextBox 46">
            <a:extLst>
              <a:ext uri="{FF2B5EF4-FFF2-40B4-BE49-F238E27FC236}">
                <a16:creationId xmlns:a16="http://schemas.microsoft.com/office/drawing/2014/main" id="{5DAF29CB-E035-9153-FF7A-1743932E0240}"/>
              </a:ext>
            </a:extLst>
          </p:cNvPr>
          <p:cNvSpPr txBox="1">
            <a:spLocks noChangeArrowheads="1"/>
          </p:cNvSpPr>
          <p:nvPr/>
        </p:nvSpPr>
        <p:spPr bwMode="auto">
          <a:xfrm>
            <a:off x="3025775" y="2781300"/>
            <a:ext cx="208756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BOOK</a:t>
            </a:r>
          </a:p>
        </p:txBody>
      </p:sp>
      <p:graphicFrame>
        <p:nvGraphicFramePr>
          <p:cNvPr id="48" name="Table 47">
            <a:extLst>
              <a:ext uri="{FF2B5EF4-FFF2-40B4-BE49-F238E27FC236}">
                <a16:creationId xmlns:a16="http://schemas.microsoft.com/office/drawing/2014/main" id="{C6AAF9AF-6202-7342-5ECC-EF0D2683433B}"/>
              </a:ext>
            </a:extLst>
          </p:cNvPr>
          <p:cNvGraphicFramePr>
            <a:graphicFrameLocks noGrp="1"/>
          </p:cNvGraphicFramePr>
          <p:nvPr/>
        </p:nvGraphicFramePr>
        <p:xfrm>
          <a:off x="5632450" y="3152775"/>
          <a:ext cx="2641600" cy="438150"/>
        </p:xfrm>
        <a:graphic>
          <a:graphicData uri="http://schemas.openxmlformats.org/drawingml/2006/table">
            <a:tbl>
              <a:tblPr firstRow="1" bandRow="1">
                <a:tableStyleId>{5940675A-B579-460E-94D1-54222C63F5DA}</a:tableStyleId>
              </a:tblPr>
              <a:tblGrid>
                <a:gridCol w="1561048">
                  <a:extLst>
                    <a:ext uri="{9D8B030D-6E8A-4147-A177-3AD203B41FA5}">
                      <a16:colId xmlns:a16="http://schemas.microsoft.com/office/drawing/2014/main" val="20000"/>
                    </a:ext>
                  </a:extLst>
                </a:gridCol>
                <a:gridCol w="1080552">
                  <a:extLst>
                    <a:ext uri="{9D8B030D-6E8A-4147-A177-3AD203B41FA5}">
                      <a16:colId xmlns:a16="http://schemas.microsoft.com/office/drawing/2014/main" val="20001"/>
                    </a:ext>
                  </a:extLst>
                </a:gridCol>
              </a:tblGrid>
              <a:tr h="438150">
                <a:tc>
                  <a:txBody>
                    <a:bodyPr/>
                    <a:lstStyle/>
                    <a:p>
                      <a:pPr algn="ctr"/>
                      <a:r>
                        <a:rPr lang="en-CA" sz="1800" u="none" dirty="0"/>
                        <a:t>AUTHOR_ID</a:t>
                      </a:r>
                      <a:endParaRPr lang="en-CA" sz="1800" b="0" u="none" dirty="0"/>
                    </a:p>
                  </a:txBody>
                  <a:tcPr marL="91477" marR="91477" marT="45760" marB="45760"/>
                </a:tc>
                <a:tc>
                  <a:txBody>
                    <a:bodyPr/>
                    <a:lstStyle/>
                    <a:p>
                      <a:pPr algn="ctr"/>
                      <a:r>
                        <a:rPr lang="en-CA" sz="1800" b="0" u="none" dirty="0"/>
                        <a:t>ISBN</a:t>
                      </a:r>
                    </a:p>
                  </a:txBody>
                  <a:tcPr marL="91477" marR="91477" marT="45760" marB="45760"/>
                </a:tc>
                <a:extLst>
                  <a:ext uri="{0D108BD9-81ED-4DB2-BD59-A6C34878D82A}">
                    <a16:rowId xmlns:a16="http://schemas.microsoft.com/office/drawing/2014/main" val="10000"/>
                  </a:ext>
                </a:extLst>
              </a:tr>
            </a:tbl>
          </a:graphicData>
        </a:graphic>
      </p:graphicFrame>
      <p:sp>
        <p:nvSpPr>
          <p:cNvPr id="22574" name="TextBox 48">
            <a:extLst>
              <a:ext uri="{FF2B5EF4-FFF2-40B4-BE49-F238E27FC236}">
                <a16:creationId xmlns:a16="http://schemas.microsoft.com/office/drawing/2014/main" id="{ADA136D2-156E-749C-76B4-D1C873D3B87B}"/>
              </a:ext>
            </a:extLst>
          </p:cNvPr>
          <p:cNvSpPr txBox="1">
            <a:spLocks noChangeArrowheads="1"/>
          </p:cNvSpPr>
          <p:nvPr/>
        </p:nvSpPr>
        <p:spPr bwMode="auto">
          <a:xfrm>
            <a:off x="5549900" y="2794000"/>
            <a:ext cx="20875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WRITES_BOOK</a:t>
            </a:r>
          </a:p>
        </p:txBody>
      </p:sp>
      <p:cxnSp>
        <p:nvCxnSpPr>
          <p:cNvPr id="22575" name="Straight Connector 49">
            <a:extLst>
              <a:ext uri="{FF2B5EF4-FFF2-40B4-BE49-F238E27FC236}">
                <a16:creationId xmlns:a16="http://schemas.microsoft.com/office/drawing/2014/main" id="{0E683322-C9F1-C1E7-8DF3-918259B0F8F3}"/>
              </a:ext>
            </a:extLst>
          </p:cNvPr>
          <p:cNvCxnSpPr>
            <a:cxnSpLocks noChangeShapeType="1"/>
          </p:cNvCxnSpPr>
          <p:nvPr/>
        </p:nvCxnSpPr>
        <p:spPr bwMode="auto">
          <a:xfrm>
            <a:off x="5743575" y="3465513"/>
            <a:ext cx="2303463" cy="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sp>
        <p:nvSpPr>
          <p:cNvPr id="22576" name="TextBox 50">
            <a:extLst>
              <a:ext uri="{FF2B5EF4-FFF2-40B4-BE49-F238E27FC236}">
                <a16:creationId xmlns:a16="http://schemas.microsoft.com/office/drawing/2014/main" id="{29EE2B44-999D-B64C-9F21-212AB4374B43}"/>
              </a:ext>
            </a:extLst>
          </p:cNvPr>
          <p:cNvSpPr txBox="1">
            <a:spLocks noChangeArrowheads="1"/>
          </p:cNvSpPr>
          <p:nvPr/>
        </p:nvSpPr>
        <p:spPr bwMode="auto">
          <a:xfrm>
            <a:off x="649288" y="5484813"/>
            <a:ext cx="18002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Author relation</a:t>
            </a:r>
          </a:p>
        </p:txBody>
      </p:sp>
      <p:graphicFrame>
        <p:nvGraphicFramePr>
          <p:cNvPr id="52" name="Table 51">
            <a:extLst>
              <a:ext uri="{FF2B5EF4-FFF2-40B4-BE49-F238E27FC236}">
                <a16:creationId xmlns:a16="http://schemas.microsoft.com/office/drawing/2014/main" id="{B39D88A6-B8C6-0ECC-883C-1CCF43C59153}"/>
              </a:ext>
            </a:extLst>
          </p:cNvPr>
          <p:cNvGraphicFramePr>
            <a:graphicFrameLocks noGrp="1"/>
          </p:cNvGraphicFramePr>
          <p:nvPr/>
        </p:nvGraphicFramePr>
        <p:xfrm>
          <a:off x="5962650" y="4137025"/>
          <a:ext cx="2387600" cy="1239838"/>
        </p:xfrm>
        <a:graphic>
          <a:graphicData uri="http://schemas.openxmlformats.org/drawingml/2006/table">
            <a:tbl>
              <a:tblPr firstRow="1" bandRow="1">
                <a:tableStyleId>{9D7B26C5-4107-4FEC-AEDC-1716B250A1EF}</a:tableStyleId>
              </a:tblPr>
              <a:tblGrid>
                <a:gridCol w="1419654">
                  <a:extLst>
                    <a:ext uri="{9D8B030D-6E8A-4147-A177-3AD203B41FA5}">
                      <a16:colId xmlns:a16="http://schemas.microsoft.com/office/drawing/2014/main" val="20000"/>
                    </a:ext>
                  </a:extLst>
                </a:gridCol>
                <a:gridCol w="967946">
                  <a:extLst>
                    <a:ext uri="{9D8B030D-6E8A-4147-A177-3AD203B41FA5}">
                      <a16:colId xmlns:a16="http://schemas.microsoft.com/office/drawing/2014/main" val="20001"/>
                    </a:ext>
                  </a:extLst>
                </a:gridCol>
              </a:tblGrid>
              <a:tr h="365647">
                <a:tc>
                  <a:txBody>
                    <a:bodyPr/>
                    <a:lstStyle/>
                    <a:p>
                      <a:pPr algn="ctr"/>
                      <a:r>
                        <a:rPr lang="en-CA" sz="1800" u="none" dirty="0"/>
                        <a:t>AUTHOR_ID</a:t>
                      </a:r>
                      <a:endParaRPr lang="en-CA" sz="1800" b="0" u="none" dirty="0"/>
                    </a:p>
                  </a:txBody>
                  <a:tcPr marL="91424" marR="91424" marT="45664" marB="45664"/>
                </a:tc>
                <a:tc>
                  <a:txBody>
                    <a:bodyPr/>
                    <a:lstStyle/>
                    <a:p>
                      <a:pPr algn="ctr"/>
                      <a:r>
                        <a:rPr lang="en-CA" sz="1800" u="none" dirty="0"/>
                        <a:t>ISBN</a:t>
                      </a:r>
                      <a:endParaRPr lang="en-CA" sz="1800" b="0" u="none" dirty="0"/>
                    </a:p>
                  </a:txBody>
                  <a:tcPr marL="91424" marR="91424" marT="45664" marB="45664"/>
                </a:tc>
                <a:extLst>
                  <a:ext uri="{0D108BD9-81ED-4DB2-BD59-A6C34878D82A}">
                    <a16:rowId xmlns:a16="http://schemas.microsoft.com/office/drawing/2014/main" val="10000"/>
                  </a:ext>
                </a:extLst>
              </a:tr>
              <a:tr h="447812">
                <a:tc>
                  <a:txBody>
                    <a:bodyPr/>
                    <a:lstStyle/>
                    <a:p>
                      <a:pPr algn="ctr"/>
                      <a:r>
                        <a:rPr lang="en-CA" sz="2000" dirty="0"/>
                        <a:t>15</a:t>
                      </a:r>
                      <a:endParaRPr lang="en-CA" sz="2000" b="0" dirty="0"/>
                    </a:p>
                  </a:txBody>
                  <a:tcPr marL="91424" marR="91424" marT="45664" marB="45664" anchor="ctr"/>
                </a:tc>
                <a:tc>
                  <a:txBody>
                    <a:bodyPr/>
                    <a:lstStyle/>
                    <a:p>
                      <a:pPr algn="ctr"/>
                      <a:r>
                        <a:rPr lang="en-CA" sz="2000" dirty="0"/>
                        <a:t>12345</a:t>
                      </a:r>
                      <a:endParaRPr lang="en-CA" sz="2000" b="0" dirty="0"/>
                    </a:p>
                  </a:txBody>
                  <a:tcPr marL="91424" marR="91424" marT="45664" marB="45664" anchor="ctr"/>
                </a:tc>
                <a:extLst>
                  <a:ext uri="{0D108BD9-81ED-4DB2-BD59-A6C34878D82A}">
                    <a16:rowId xmlns:a16="http://schemas.microsoft.com/office/drawing/2014/main" val="10001"/>
                  </a:ext>
                </a:extLst>
              </a:tr>
              <a:tr h="426378">
                <a:tc>
                  <a:txBody>
                    <a:bodyPr/>
                    <a:lstStyle/>
                    <a:p>
                      <a:pPr algn="ctr"/>
                      <a:r>
                        <a:rPr lang="en-CA" sz="2000" dirty="0"/>
                        <a:t>15</a:t>
                      </a:r>
                      <a:endParaRPr lang="en-CA" sz="2000" b="0" dirty="0"/>
                    </a:p>
                  </a:txBody>
                  <a:tcPr marL="91424" marR="91424" marT="45664" marB="45664" anchor="ctr"/>
                </a:tc>
                <a:tc>
                  <a:txBody>
                    <a:bodyPr/>
                    <a:lstStyle/>
                    <a:p>
                      <a:pPr algn="ctr"/>
                      <a:r>
                        <a:rPr lang="en-CA" sz="2000" dirty="0"/>
                        <a:t>34567</a:t>
                      </a:r>
                      <a:endParaRPr lang="en-CA" sz="2000" b="0" dirty="0"/>
                    </a:p>
                  </a:txBody>
                  <a:tcPr marL="91424" marR="91424" marT="45664" marB="45664" anchor="ctr"/>
                </a:tc>
                <a:extLst>
                  <a:ext uri="{0D108BD9-81ED-4DB2-BD59-A6C34878D82A}">
                    <a16:rowId xmlns:a16="http://schemas.microsoft.com/office/drawing/2014/main" val="10002"/>
                  </a:ext>
                </a:extLst>
              </a:tr>
            </a:tbl>
          </a:graphicData>
        </a:graphic>
      </p:graphicFrame>
      <p:graphicFrame>
        <p:nvGraphicFramePr>
          <p:cNvPr id="53" name="Table 52">
            <a:extLst>
              <a:ext uri="{FF2B5EF4-FFF2-40B4-BE49-F238E27FC236}">
                <a16:creationId xmlns:a16="http://schemas.microsoft.com/office/drawing/2014/main" id="{5FA76D22-617E-365B-AB1F-D54D8FB04C9B}"/>
              </a:ext>
            </a:extLst>
          </p:cNvPr>
          <p:cNvGraphicFramePr>
            <a:graphicFrameLocks noGrp="1"/>
          </p:cNvGraphicFramePr>
          <p:nvPr/>
        </p:nvGraphicFramePr>
        <p:xfrm>
          <a:off x="3144838" y="4122738"/>
          <a:ext cx="2398712" cy="1768474"/>
        </p:xfrm>
        <a:graphic>
          <a:graphicData uri="http://schemas.openxmlformats.org/drawingml/2006/table">
            <a:tbl>
              <a:tblPr firstRow="1" bandRow="1">
                <a:tableStyleId>{9D7B26C5-4107-4FEC-AEDC-1716B250A1EF}</a:tableStyleId>
              </a:tblPr>
              <a:tblGrid>
                <a:gridCol w="989237">
                  <a:extLst>
                    <a:ext uri="{9D8B030D-6E8A-4147-A177-3AD203B41FA5}">
                      <a16:colId xmlns:a16="http://schemas.microsoft.com/office/drawing/2014/main" val="20000"/>
                    </a:ext>
                  </a:extLst>
                </a:gridCol>
                <a:gridCol w="1409475">
                  <a:extLst>
                    <a:ext uri="{9D8B030D-6E8A-4147-A177-3AD203B41FA5}">
                      <a16:colId xmlns:a16="http://schemas.microsoft.com/office/drawing/2014/main" val="20001"/>
                    </a:ext>
                  </a:extLst>
                </a:gridCol>
              </a:tblGrid>
              <a:tr h="365903">
                <a:tc>
                  <a:txBody>
                    <a:bodyPr/>
                    <a:lstStyle/>
                    <a:p>
                      <a:pPr algn="ctr"/>
                      <a:r>
                        <a:rPr lang="en-CA" sz="1800" u="sng" dirty="0"/>
                        <a:t>ISBN</a:t>
                      </a:r>
                      <a:endParaRPr lang="en-CA" sz="1800" b="0" u="sng" dirty="0"/>
                    </a:p>
                  </a:txBody>
                  <a:tcPr marL="91431" marR="91431" marT="45738" marB="45738"/>
                </a:tc>
                <a:tc>
                  <a:txBody>
                    <a:bodyPr/>
                    <a:lstStyle/>
                    <a:p>
                      <a:pPr algn="ctr"/>
                      <a:r>
                        <a:rPr lang="en-CA" sz="1800" dirty="0"/>
                        <a:t>TITLE</a:t>
                      </a:r>
                      <a:endParaRPr lang="en-CA" sz="1800" b="0" dirty="0"/>
                    </a:p>
                  </a:txBody>
                  <a:tcPr marL="91431" marR="91431" marT="45738" marB="45738"/>
                </a:tc>
                <a:extLst>
                  <a:ext uri="{0D108BD9-81ED-4DB2-BD59-A6C34878D82A}">
                    <a16:rowId xmlns:a16="http://schemas.microsoft.com/office/drawing/2014/main" val="10000"/>
                  </a:ext>
                </a:extLst>
              </a:tr>
              <a:tr h="701314">
                <a:tc>
                  <a:txBody>
                    <a:bodyPr/>
                    <a:lstStyle/>
                    <a:p>
                      <a:pPr algn="ctr"/>
                      <a:r>
                        <a:rPr lang="en-CA" sz="2000" dirty="0"/>
                        <a:t>12345</a:t>
                      </a:r>
                      <a:endParaRPr lang="en-CA" sz="2000" b="0" dirty="0"/>
                    </a:p>
                  </a:txBody>
                  <a:tcPr marL="91431" marR="91431" marT="45738" marB="45738" anchor="ctr"/>
                </a:tc>
                <a:tc>
                  <a:txBody>
                    <a:bodyPr/>
                    <a:lstStyle/>
                    <a:p>
                      <a:pPr algn="ctr"/>
                      <a:r>
                        <a:rPr lang="en-CA" sz="2000" dirty="0"/>
                        <a:t>The</a:t>
                      </a:r>
                      <a:r>
                        <a:rPr lang="en-CA" sz="2000" baseline="0" dirty="0"/>
                        <a:t> Hunger Game</a:t>
                      </a:r>
                      <a:endParaRPr lang="en-CA" sz="2000" b="0" dirty="0"/>
                    </a:p>
                  </a:txBody>
                  <a:tcPr marL="91431" marR="91431" marT="45738" marB="45738" anchor="ctr"/>
                </a:tc>
                <a:extLst>
                  <a:ext uri="{0D108BD9-81ED-4DB2-BD59-A6C34878D82A}">
                    <a16:rowId xmlns:a16="http://schemas.microsoft.com/office/drawing/2014/main" val="10001"/>
                  </a:ext>
                </a:extLst>
              </a:tr>
              <a:tr h="701257">
                <a:tc>
                  <a:txBody>
                    <a:bodyPr/>
                    <a:lstStyle/>
                    <a:p>
                      <a:pPr algn="ctr"/>
                      <a:r>
                        <a:rPr lang="en-CA" sz="2000" dirty="0"/>
                        <a:t>34567</a:t>
                      </a:r>
                      <a:endParaRPr lang="en-CA" sz="2000" b="0" dirty="0"/>
                    </a:p>
                  </a:txBody>
                  <a:tcPr marL="91431" marR="91431" marT="45738" marB="45738" anchor="ctr"/>
                </a:tc>
                <a:tc>
                  <a:txBody>
                    <a:bodyPr/>
                    <a:lstStyle/>
                    <a:p>
                      <a:pPr algn="ctr"/>
                      <a:r>
                        <a:rPr lang="en-CA" sz="2000" dirty="0"/>
                        <a:t>Catching</a:t>
                      </a:r>
                      <a:r>
                        <a:rPr lang="en-CA" sz="2000" baseline="0" dirty="0"/>
                        <a:t> Fire</a:t>
                      </a:r>
                      <a:endParaRPr lang="en-CA" sz="2000" b="0" dirty="0"/>
                    </a:p>
                  </a:txBody>
                  <a:tcPr marL="91431" marR="91431" marT="45738" marB="45738" anchor="ctr"/>
                </a:tc>
                <a:extLst>
                  <a:ext uri="{0D108BD9-81ED-4DB2-BD59-A6C34878D82A}">
                    <a16:rowId xmlns:a16="http://schemas.microsoft.com/office/drawing/2014/main" val="10002"/>
                  </a:ext>
                </a:extLst>
              </a:tr>
            </a:tbl>
          </a:graphicData>
        </a:graphic>
      </p:graphicFrame>
      <p:sp>
        <p:nvSpPr>
          <p:cNvPr id="22597" name="TextBox 56">
            <a:extLst>
              <a:ext uri="{FF2B5EF4-FFF2-40B4-BE49-F238E27FC236}">
                <a16:creationId xmlns:a16="http://schemas.microsoft.com/office/drawing/2014/main" id="{19D46DCB-E5A6-0851-5051-EBC54007A698}"/>
              </a:ext>
            </a:extLst>
          </p:cNvPr>
          <p:cNvSpPr txBox="1">
            <a:spLocks noChangeArrowheads="1"/>
          </p:cNvSpPr>
          <p:nvPr/>
        </p:nvSpPr>
        <p:spPr bwMode="auto">
          <a:xfrm>
            <a:off x="3544888" y="5908675"/>
            <a:ext cx="18002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Book relation</a:t>
            </a:r>
          </a:p>
        </p:txBody>
      </p:sp>
      <p:cxnSp>
        <p:nvCxnSpPr>
          <p:cNvPr id="22598" name="Straight Connector 66">
            <a:extLst>
              <a:ext uri="{FF2B5EF4-FFF2-40B4-BE49-F238E27FC236}">
                <a16:creationId xmlns:a16="http://schemas.microsoft.com/office/drawing/2014/main" id="{C2AE9205-25A4-1A3E-32D6-97F2F341AF93}"/>
              </a:ext>
            </a:extLst>
          </p:cNvPr>
          <p:cNvCxnSpPr>
            <a:cxnSpLocks noChangeShapeType="1"/>
          </p:cNvCxnSpPr>
          <p:nvPr/>
        </p:nvCxnSpPr>
        <p:spPr bwMode="auto">
          <a:xfrm>
            <a:off x="6081713" y="4437063"/>
            <a:ext cx="2268537" cy="0"/>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sp>
        <p:nvSpPr>
          <p:cNvPr id="22599" name="TextBox 69">
            <a:extLst>
              <a:ext uri="{FF2B5EF4-FFF2-40B4-BE49-F238E27FC236}">
                <a16:creationId xmlns:a16="http://schemas.microsoft.com/office/drawing/2014/main" id="{A060CD87-06F6-3F9F-A6B7-6155ABB1563C}"/>
              </a:ext>
            </a:extLst>
          </p:cNvPr>
          <p:cNvSpPr txBox="1">
            <a:spLocks noChangeArrowheads="1"/>
          </p:cNvSpPr>
          <p:nvPr/>
        </p:nvSpPr>
        <p:spPr bwMode="auto">
          <a:xfrm>
            <a:off x="6102350" y="5375275"/>
            <a:ext cx="23828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Writes_Book relation</a:t>
            </a:r>
          </a:p>
        </p:txBody>
      </p:sp>
    </p:spTree>
  </p:cSld>
  <p:clrMapOvr>
    <a:masterClrMapping/>
  </p:clrMapOvr>
  <p:transition spd="slow" advClick="0"/>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E5629-7654-195C-2ECD-A7DFA264FC9D}"/>
              </a:ext>
            </a:extLst>
          </p:cNvPr>
          <p:cNvSpPr>
            <a:spLocks noGrp="1"/>
          </p:cNvSpPr>
          <p:nvPr>
            <p:ph type="title"/>
          </p:nvPr>
        </p:nvSpPr>
        <p:spPr>
          <a:xfrm>
            <a:off x="457200" y="76200"/>
            <a:ext cx="7620000" cy="1143000"/>
          </a:xfrm>
        </p:spPr>
        <p:txBody>
          <a:bodyPr/>
          <a:lstStyle/>
          <a:p>
            <a:pPr algn="ctr">
              <a:defRPr/>
            </a:pPr>
            <a:r>
              <a:rPr lang="en-US" dirty="0"/>
              <a:t>Relational Database Denormalization</a:t>
            </a:r>
            <a:endParaRPr lang="en-CA" dirty="0"/>
          </a:p>
        </p:txBody>
      </p:sp>
      <p:sp>
        <p:nvSpPr>
          <p:cNvPr id="9" name="Content Placeholder 2">
            <a:extLst>
              <a:ext uri="{FF2B5EF4-FFF2-40B4-BE49-F238E27FC236}">
                <a16:creationId xmlns:a16="http://schemas.microsoft.com/office/drawing/2014/main" id="{459004C5-E038-9896-2078-5B101316464D}"/>
              </a:ext>
            </a:extLst>
          </p:cNvPr>
          <p:cNvSpPr txBox="1">
            <a:spLocks/>
          </p:cNvSpPr>
          <p:nvPr/>
        </p:nvSpPr>
        <p:spPr bwMode="auto">
          <a:xfrm>
            <a:off x="0" y="1411288"/>
            <a:ext cx="8893175"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One of the main disadvantage of normalization is that you end up creating more relations</a:t>
            </a: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20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2400" b="0" i="0" u="sng"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Before normalization</a:t>
            </a: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2400" b="0" i="0" u="sng"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2400" b="0" i="0" u="sng"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2400" b="0" i="0" u="sng"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2400" b="0" i="0" u="sng"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After normalization</a:t>
            </a:r>
          </a:p>
        </p:txBody>
      </p:sp>
      <p:graphicFrame>
        <p:nvGraphicFramePr>
          <p:cNvPr id="10" name="Table 9">
            <a:extLst>
              <a:ext uri="{FF2B5EF4-FFF2-40B4-BE49-F238E27FC236}">
                <a16:creationId xmlns:a16="http://schemas.microsoft.com/office/drawing/2014/main" id="{245FF62C-247E-CCB9-07D6-6C91149FA1C2}"/>
              </a:ext>
            </a:extLst>
          </p:cNvPr>
          <p:cNvGraphicFramePr>
            <a:graphicFrameLocks noGrp="1"/>
          </p:cNvGraphicFramePr>
          <p:nvPr/>
        </p:nvGraphicFramePr>
        <p:xfrm>
          <a:off x="1095375" y="3354388"/>
          <a:ext cx="6702425" cy="1042987"/>
        </p:xfrm>
        <a:graphic>
          <a:graphicData uri="http://schemas.openxmlformats.org/drawingml/2006/table">
            <a:tbl>
              <a:tblPr firstRow="1" bandRow="1">
                <a:tableStyleId>{D27102A9-8310-4765-A935-A1911B00CA55}</a:tableStyleId>
              </a:tblPr>
              <a:tblGrid>
                <a:gridCol w="1824281">
                  <a:extLst>
                    <a:ext uri="{9D8B030D-6E8A-4147-A177-3AD203B41FA5}">
                      <a16:colId xmlns:a16="http://schemas.microsoft.com/office/drawing/2014/main" val="20000"/>
                    </a:ext>
                  </a:extLst>
                </a:gridCol>
                <a:gridCol w="2214112">
                  <a:extLst>
                    <a:ext uri="{9D8B030D-6E8A-4147-A177-3AD203B41FA5}">
                      <a16:colId xmlns:a16="http://schemas.microsoft.com/office/drawing/2014/main" val="20001"/>
                    </a:ext>
                  </a:extLst>
                </a:gridCol>
                <a:gridCol w="2664032">
                  <a:extLst>
                    <a:ext uri="{9D8B030D-6E8A-4147-A177-3AD203B41FA5}">
                      <a16:colId xmlns:a16="http://schemas.microsoft.com/office/drawing/2014/main" val="20002"/>
                    </a:ext>
                  </a:extLst>
                </a:gridCol>
              </a:tblGrid>
              <a:tr h="402496">
                <a:tc>
                  <a:txBody>
                    <a:bodyPr/>
                    <a:lstStyle/>
                    <a:p>
                      <a:pPr algn="ctr"/>
                      <a:r>
                        <a:rPr lang="en-CA" sz="1800" b="1" u="none" dirty="0"/>
                        <a:t>STUDENTID</a:t>
                      </a:r>
                    </a:p>
                  </a:txBody>
                  <a:tcPr marL="91431" marR="91431" marT="45749" marB="45749"/>
                </a:tc>
                <a:tc>
                  <a:txBody>
                    <a:bodyPr/>
                    <a:lstStyle/>
                    <a:p>
                      <a:pPr algn="ctr"/>
                      <a:r>
                        <a:rPr lang="en-CA" sz="1800" dirty="0"/>
                        <a:t>STUDENTNAME</a:t>
                      </a:r>
                    </a:p>
                  </a:txBody>
                  <a:tcPr marL="91431" marR="91431" marT="45749" marB="45749"/>
                </a:tc>
                <a:tc>
                  <a:txBody>
                    <a:bodyPr/>
                    <a:lstStyle/>
                    <a:p>
                      <a:pPr algn="ctr"/>
                      <a:r>
                        <a:rPr lang="en-CA" sz="1800" dirty="0"/>
                        <a:t>CONTACTNUMBER</a:t>
                      </a:r>
                    </a:p>
                  </a:txBody>
                  <a:tcPr marL="91431" marR="91431" marT="45749" marB="45749"/>
                </a:tc>
                <a:extLst>
                  <a:ext uri="{0D108BD9-81ED-4DB2-BD59-A6C34878D82A}">
                    <a16:rowId xmlns:a16="http://schemas.microsoft.com/office/drawing/2014/main" val="10000"/>
                  </a:ext>
                </a:extLst>
              </a:tr>
              <a:tr h="640491">
                <a:tc>
                  <a:txBody>
                    <a:bodyPr/>
                    <a:lstStyle/>
                    <a:p>
                      <a:pPr algn="ctr"/>
                      <a:r>
                        <a:rPr lang="en-CA" sz="1800" dirty="0"/>
                        <a:t>1234567</a:t>
                      </a:r>
                    </a:p>
                  </a:txBody>
                  <a:tcPr marL="91431" marR="91431" marT="45749" marB="45749" anchor="ctr"/>
                </a:tc>
                <a:tc>
                  <a:txBody>
                    <a:bodyPr/>
                    <a:lstStyle/>
                    <a:p>
                      <a:pPr algn="ctr"/>
                      <a:r>
                        <a:rPr lang="en-CA" sz="1800" dirty="0"/>
                        <a:t>Ehsan</a:t>
                      </a:r>
                      <a:r>
                        <a:rPr lang="en-CA" sz="1800" baseline="0" dirty="0"/>
                        <a:t> </a:t>
                      </a:r>
                      <a:r>
                        <a:rPr lang="en-CA" sz="1800" dirty="0"/>
                        <a:t>Adeel</a:t>
                      </a:r>
                    </a:p>
                  </a:txBody>
                  <a:tcPr marL="91431" marR="91431" marT="45749" marB="45749" anchor="ctr"/>
                </a:tc>
                <a:tc>
                  <a:txBody>
                    <a:bodyPr/>
                    <a:lstStyle/>
                    <a:p>
                      <a:pPr algn="ctr"/>
                      <a:r>
                        <a:rPr lang="en-CA" sz="1800" dirty="0"/>
                        <a:t>017-1234567</a:t>
                      </a:r>
                    </a:p>
                    <a:p>
                      <a:pPr algn="ctr"/>
                      <a:r>
                        <a:rPr lang="en-CA" sz="1800" dirty="0"/>
                        <a:t>017-7654321</a:t>
                      </a:r>
                    </a:p>
                  </a:txBody>
                  <a:tcPr marL="91431" marR="91431" marT="45749" marB="45749"/>
                </a:tc>
                <a:extLst>
                  <a:ext uri="{0D108BD9-81ED-4DB2-BD59-A6C34878D82A}">
                    <a16:rowId xmlns:a16="http://schemas.microsoft.com/office/drawing/2014/main" val="10001"/>
                  </a:ext>
                </a:extLst>
              </a:tr>
            </a:tbl>
          </a:graphicData>
        </a:graphic>
      </p:graphicFrame>
      <p:graphicFrame>
        <p:nvGraphicFramePr>
          <p:cNvPr id="7" name="Table 6">
            <a:extLst>
              <a:ext uri="{FF2B5EF4-FFF2-40B4-BE49-F238E27FC236}">
                <a16:creationId xmlns:a16="http://schemas.microsoft.com/office/drawing/2014/main" id="{78FDD272-06E6-0A03-3D66-0476C04F243B}"/>
              </a:ext>
            </a:extLst>
          </p:cNvPr>
          <p:cNvGraphicFramePr>
            <a:graphicFrameLocks noGrp="1"/>
          </p:cNvGraphicFramePr>
          <p:nvPr/>
        </p:nvGraphicFramePr>
        <p:xfrm>
          <a:off x="125413" y="5154613"/>
          <a:ext cx="4040187" cy="768350"/>
        </p:xfrm>
        <a:graphic>
          <a:graphicData uri="http://schemas.openxmlformats.org/drawingml/2006/table">
            <a:tbl>
              <a:tblPr firstRow="1" bandRow="1">
                <a:tableStyleId>{C083E6E3-FA7D-4D7B-A595-EF9225AFEA82}</a:tableStyleId>
              </a:tblPr>
              <a:tblGrid>
                <a:gridCol w="1825092">
                  <a:extLst>
                    <a:ext uri="{9D8B030D-6E8A-4147-A177-3AD203B41FA5}">
                      <a16:colId xmlns:a16="http://schemas.microsoft.com/office/drawing/2014/main" val="20000"/>
                    </a:ext>
                  </a:extLst>
                </a:gridCol>
                <a:gridCol w="2215095">
                  <a:extLst>
                    <a:ext uri="{9D8B030D-6E8A-4147-A177-3AD203B41FA5}">
                      <a16:colId xmlns:a16="http://schemas.microsoft.com/office/drawing/2014/main" val="20001"/>
                    </a:ext>
                  </a:extLst>
                </a:gridCol>
              </a:tblGrid>
              <a:tr h="402422">
                <a:tc>
                  <a:txBody>
                    <a:bodyPr/>
                    <a:lstStyle/>
                    <a:p>
                      <a:pPr algn="ctr"/>
                      <a:r>
                        <a:rPr lang="en-CA" sz="1800" u="none" dirty="0"/>
                        <a:t>STUDENTID</a:t>
                      </a:r>
                      <a:endParaRPr lang="en-CA" sz="1800" b="1" u="none" dirty="0"/>
                    </a:p>
                  </a:txBody>
                  <a:tcPr marL="91472" marR="91472" marT="45741" marB="45741"/>
                </a:tc>
                <a:tc>
                  <a:txBody>
                    <a:bodyPr/>
                    <a:lstStyle/>
                    <a:p>
                      <a:pPr algn="ctr"/>
                      <a:r>
                        <a:rPr lang="en-CA" sz="1800" dirty="0"/>
                        <a:t>STUDENTNAME</a:t>
                      </a:r>
                    </a:p>
                  </a:txBody>
                  <a:tcPr marL="91472" marR="91472" marT="45741" marB="45741"/>
                </a:tc>
                <a:extLst>
                  <a:ext uri="{0D108BD9-81ED-4DB2-BD59-A6C34878D82A}">
                    <a16:rowId xmlns:a16="http://schemas.microsoft.com/office/drawing/2014/main" val="10000"/>
                  </a:ext>
                </a:extLst>
              </a:tr>
              <a:tr h="365928">
                <a:tc>
                  <a:txBody>
                    <a:bodyPr/>
                    <a:lstStyle/>
                    <a:p>
                      <a:pPr algn="ctr"/>
                      <a:r>
                        <a:rPr lang="en-CA" sz="1800" dirty="0"/>
                        <a:t>1234567</a:t>
                      </a:r>
                    </a:p>
                  </a:txBody>
                  <a:tcPr marL="91472" marR="91472" marT="45741" marB="45741" anchor="ctr"/>
                </a:tc>
                <a:tc>
                  <a:txBody>
                    <a:bodyPr/>
                    <a:lstStyle/>
                    <a:p>
                      <a:pPr algn="ctr"/>
                      <a:r>
                        <a:rPr lang="en-CA" sz="1800" dirty="0"/>
                        <a:t>Ehsan</a:t>
                      </a:r>
                      <a:r>
                        <a:rPr lang="en-CA" sz="1800" baseline="0" dirty="0"/>
                        <a:t> </a:t>
                      </a:r>
                      <a:r>
                        <a:rPr lang="en-CA" sz="1800" dirty="0"/>
                        <a:t>Adeel</a:t>
                      </a:r>
                    </a:p>
                  </a:txBody>
                  <a:tcPr marL="91472" marR="91472" marT="45741" marB="45741" anchor="ctr"/>
                </a:tc>
                <a:extLst>
                  <a:ext uri="{0D108BD9-81ED-4DB2-BD59-A6C34878D82A}">
                    <a16:rowId xmlns:a16="http://schemas.microsoft.com/office/drawing/2014/main" val="10001"/>
                  </a:ext>
                </a:extLst>
              </a:tr>
            </a:tbl>
          </a:graphicData>
        </a:graphic>
      </p:graphicFrame>
      <p:cxnSp>
        <p:nvCxnSpPr>
          <p:cNvPr id="8" name="Straight Connector 7">
            <a:extLst>
              <a:ext uri="{FF2B5EF4-FFF2-40B4-BE49-F238E27FC236}">
                <a16:creationId xmlns:a16="http://schemas.microsoft.com/office/drawing/2014/main" id="{E619ABAC-73B8-7A2C-3D2D-B3DB3449A502}"/>
              </a:ext>
            </a:extLst>
          </p:cNvPr>
          <p:cNvCxnSpPr/>
          <p:nvPr/>
        </p:nvCxnSpPr>
        <p:spPr bwMode="auto">
          <a:xfrm flipV="1">
            <a:off x="354013" y="5467350"/>
            <a:ext cx="1382712" cy="0"/>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graphicFrame>
        <p:nvGraphicFramePr>
          <p:cNvPr id="14" name="Table 13">
            <a:extLst>
              <a:ext uri="{FF2B5EF4-FFF2-40B4-BE49-F238E27FC236}">
                <a16:creationId xmlns:a16="http://schemas.microsoft.com/office/drawing/2014/main" id="{37CA3824-4554-93E9-2D5C-581627D0DBFF}"/>
              </a:ext>
            </a:extLst>
          </p:cNvPr>
          <p:cNvGraphicFramePr>
            <a:graphicFrameLocks noGrp="1"/>
          </p:cNvGraphicFramePr>
          <p:nvPr/>
        </p:nvGraphicFramePr>
        <p:xfrm>
          <a:off x="4267200" y="5149850"/>
          <a:ext cx="4114800" cy="1098549"/>
        </p:xfrm>
        <a:graphic>
          <a:graphicData uri="http://schemas.openxmlformats.org/drawingml/2006/table">
            <a:tbl>
              <a:tblPr firstRow="1" bandRow="1">
                <a:tableStyleId>{68D230F3-CF80-4859-8CE7-A43EE81993B5}</a:tableStyleId>
              </a:tblPr>
              <a:tblGrid>
                <a:gridCol w="1672466">
                  <a:extLst>
                    <a:ext uri="{9D8B030D-6E8A-4147-A177-3AD203B41FA5}">
                      <a16:colId xmlns:a16="http://schemas.microsoft.com/office/drawing/2014/main" val="20000"/>
                    </a:ext>
                  </a:extLst>
                </a:gridCol>
                <a:gridCol w="2442334">
                  <a:extLst>
                    <a:ext uri="{9D8B030D-6E8A-4147-A177-3AD203B41FA5}">
                      <a16:colId xmlns:a16="http://schemas.microsoft.com/office/drawing/2014/main" val="20001"/>
                    </a:ext>
                  </a:extLst>
                </a:gridCol>
              </a:tblGrid>
              <a:tr h="366183">
                <a:tc>
                  <a:txBody>
                    <a:bodyPr/>
                    <a:lstStyle/>
                    <a:p>
                      <a:pPr algn="ctr"/>
                      <a:r>
                        <a:rPr lang="en-CA" sz="1800" u="none" dirty="0"/>
                        <a:t>STUDENTID</a:t>
                      </a:r>
                      <a:endParaRPr lang="en-CA" sz="1800" b="1" u="none" dirty="0"/>
                    </a:p>
                  </a:txBody>
                  <a:tcPr marL="91433" marR="91433" marT="45773" marB="45773"/>
                </a:tc>
                <a:tc>
                  <a:txBody>
                    <a:bodyPr/>
                    <a:lstStyle/>
                    <a:p>
                      <a:pPr algn="ctr"/>
                      <a:r>
                        <a:rPr lang="en-CA" sz="1800" dirty="0"/>
                        <a:t>CONTACTNUMBER</a:t>
                      </a:r>
                    </a:p>
                  </a:txBody>
                  <a:tcPr marL="91433" marR="91433" marT="45773" marB="45773"/>
                </a:tc>
                <a:extLst>
                  <a:ext uri="{0D108BD9-81ED-4DB2-BD59-A6C34878D82A}">
                    <a16:rowId xmlns:a16="http://schemas.microsoft.com/office/drawing/2014/main" val="10000"/>
                  </a:ext>
                </a:extLst>
              </a:tr>
              <a:tr h="366183">
                <a:tc>
                  <a:txBody>
                    <a:bodyPr/>
                    <a:lstStyle/>
                    <a:p>
                      <a:pPr algn="ctr"/>
                      <a:r>
                        <a:rPr lang="en-CA" sz="1800" dirty="0"/>
                        <a:t>1234567</a:t>
                      </a:r>
                    </a:p>
                  </a:txBody>
                  <a:tcPr marL="91433" marR="91433" marT="45773" marB="45773" anchor="ctr"/>
                </a:tc>
                <a:tc>
                  <a:txBody>
                    <a:bodyPr/>
                    <a:lstStyle/>
                    <a:p>
                      <a:pPr algn="ctr"/>
                      <a:r>
                        <a:rPr lang="en-CA" sz="1800" dirty="0"/>
                        <a:t>017-1234567</a:t>
                      </a:r>
                    </a:p>
                  </a:txBody>
                  <a:tcPr marL="91433" marR="91433" marT="45773" marB="45773"/>
                </a:tc>
                <a:extLst>
                  <a:ext uri="{0D108BD9-81ED-4DB2-BD59-A6C34878D82A}">
                    <a16:rowId xmlns:a16="http://schemas.microsoft.com/office/drawing/2014/main" val="10001"/>
                  </a:ext>
                </a:extLst>
              </a:tr>
              <a:tr h="366183">
                <a:tc>
                  <a:txBody>
                    <a:bodyPr/>
                    <a:lstStyle/>
                    <a:p>
                      <a:pPr algn="ctr"/>
                      <a:r>
                        <a:rPr lang="en-CA" sz="1800" dirty="0"/>
                        <a:t>1234567</a:t>
                      </a:r>
                    </a:p>
                  </a:txBody>
                  <a:tcPr marL="91433" marR="91433" marT="45773" marB="45773"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CA" sz="1800" dirty="0"/>
                        <a:t>017-7654321</a:t>
                      </a:r>
                    </a:p>
                  </a:txBody>
                  <a:tcPr marL="91433" marR="91433" marT="45773" marB="45773"/>
                </a:tc>
                <a:extLst>
                  <a:ext uri="{0D108BD9-81ED-4DB2-BD59-A6C34878D82A}">
                    <a16:rowId xmlns:a16="http://schemas.microsoft.com/office/drawing/2014/main" val="10002"/>
                  </a:ext>
                </a:extLst>
              </a:tr>
            </a:tbl>
          </a:graphicData>
        </a:graphic>
      </p:graphicFrame>
      <p:cxnSp>
        <p:nvCxnSpPr>
          <p:cNvPr id="15" name="Straight Connector 14">
            <a:extLst>
              <a:ext uri="{FF2B5EF4-FFF2-40B4-BE49-F238E27FC236}">
                <a16:creationId xmlns:a16="http://schemas.microsoft.com/office/drawing/2014/main" id="{008E02D5-67DA-00E6-6436-1594DC216CAC}"/>
              </a:ext>
            </a:extLst>
          </p:cNvPr>
          <p:cNvCxnSpPr/>
          <p:nvPr/>
        </p:nvCxnSpPr>
        <p:spPr bwMode="auto">
          <a:xfrm flipV="1">
            <a:off x="4267200" y="5467350"/>
            <a:ext cx="4032250" cy="0"/>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wipe(left)">
                                      <p:cBhvr>
                                        <p:cTn id="7" dur="500"/>
                                        <p:tgtEl>
                                          <p:spTgt spid="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9">
                                            <p:txEl>
                                              <p:pRg st="2" end="2"/>
                                            </p:txEl>
                                          </p:spTgt>
                                        </p:tgtEl>
                                        <p:attrNameLst>
                                          <p:attrName>style.visibility</p:attrName>
                                        </p:attrNameLst>
                                      </p:cBhvr>
                                      <p:to>
                                        <p:strVal val="visible"/>
                                      </p:to>
                                    </p:set>
                                    <p:animEffect transition="in" filter="wipe(left)">
                                      <p:cBhvr>
                                        <p:cTn id="12" dur="500"/>
                                        <p:tgtEl>
                                          <p:spTgt spid="9">
                                            <p:txEl>
                                              <p:pRg st="2" end="2"/>
                                            </p:txEl>
                                          </p:spTgt>
                                        </p:tgtEl>
                                      </p:cBhvr>
                                    </p:animEffect>
                                  </p:childTnLst>
                                </p:cTn>
                              </p:par>
                            </p:childTnLst>
                          </p:cTn>
                        </p:par>
                        <p:par>
                          <p:cTn id="13" fill="hold" nodeType="afterGroup">
                            <p:stCondLst>
                              <p:cond delay="500"/>
                            </p:stCondLst>
                            <p:childTnLst>
                              <p:par>
                                <p:cTn id="14" presetID="22" presetClass="entr" presetSubtype="1" fill="hold"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wipe(up)">
                                      <p:cBhvr>
                                        <p:cTn id="16" dur="500"/>
                                        <p:tgtEl>
                                          <p:spTgt spid="10"/>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9">
                                            <p:txEl>
                                              <p:pRg st="6" end="6"/>
                                            </p:txEl>
                                          </p:spTgt>
                                        </p:tgtEl>
                                        <p:attrNameLst>
                                          <p:attrName>style.visibility</p:attrName>
                                        </p:attrNameLst>
                                      </p:cBhvr>
                                      <p:to>
                                        <p:strVal val="visible"/>
                                      </p:to>
                                    </p:set>
                                    <p:animEffect transition="in" filter="wipe(left)">
                                      <p:cBhvr>
                                        <p:cTn id="21" dur="500"/>
                                        <p:tgtEl>
                                          <p:spTgt spid="9">
                                            <p:txEl>
                                              <p:pRg st="6" end="6"/>
                                            </p:txEl>
                                          </p:spTgt>
                                        </p:tgtEl>
                                      </p:cBhvr>
                                    </p:animEffect>
                                  </p:childTnLst>
                                </p:cTn>
                              </p:par>
                            </p:childTnLst>
                          </p:cTn>
                        </p:par>
                        <p:par>
                          <p:cTn id="22" fill="hold" nodeType="afterGroup">
                            <p:stCondLst>
                              <p:cond delay="500"/>
                            </p:stCondLst>
                            <p:childTnLst>
                              <p:par>
                                <p:cTn id="23" presetID="22" presetClass="entr" presetSubtype="1" fill="hold" nodeType="after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wipe(up)">
                                      <p:cBhvr>
                                        <p:cTn id="25" dur="500"/>
                                        <p:tgtEl>
                                          <p:spTgt spid="7"/>
                                        </p:tgtEl>
                                      </p:cBhvr>
                                    </p:animEffect>
                                  </p:childTnLst>
                                </p:cTn>
                              </p:par>
                            </p:childTnLst>
                          </p:cTn>
                        </p:par>
                        <p:par>
                          <p:cTn id="26" fill="hold" nodeType="afterGroup">
                            <p:stCondLst>
                              <p:cond delay="1000"/>
                            </p:stCondLst>
                            <p:childTnLst>
                              <p:par>
                                <p:cTn id="27" presetID="22" presetClass="entr" presetSubtype="8" fill="hold" nodeType="after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wipe(left)">
                                      <p:cBhvr>
                                        <p:cTn id="29" dur="500"/>
                                        <p:tgtEl>
                                          <p:spTgt spid="8"/>
                                        </p:tgtEl>
                                      </p:cBhvr>
                                    </p:animEffect>
                                  </p:childTnLst>
                                </p:cTn>
                              </p:par>
                            </p:childTnLst>
                          </p:cTn>
                        </p:par>
                        <p:par>
                          <p:cTn id="30" fill="hold" nodeType="afterGroup">
                            <p:stCondLst>
                              <p:cond delay="1500"/>
                            </p:stCondLst>
                            <p:childTnLst>
                              <p:par>
                                <p:cTn id="31" presetID="22" presetClass="entr" presetSubtype="1" fill="hold" nodeType="after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wipe(up)">
                                      <p:cBhvr>
                                        <p:cTn id="33" dur="500"/>
                                        <p:tgtEl>
                                          <p:spTgt spid="14"/>
                                        </p:tgtEl>
                                      </p:cBhvr>
                                    </p:animEffect>
                                  </p:childTnLst>
                                </p:cTn>
                              </p:par>
                            </p:childTnLst>
                          </p:cTn>
                        </p:par>
                        <p:par>
                          <p:cTn id="34" fill="hold" nodeType="afterGroup">
                            <p:stCondLst>
                              <p:cond delay="2000"/>
                            </p:stCondLst>
                            <p:childTnLst>
                              <p:par>
                                <p:cTn id="35" presetID="22" presetClass="entr" presetSubtype="8" fill="hold" nodeType="after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wipe(left)">
                                      <p:cBhvr>
                                        <p:cTn id="3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7F7421DE-130D-C447-4B1E-9C4406BC7CAC}"/>
              </a:ext>
            </a:extLst>
          </p:cNvPr>
          <p:cNvSpPr txBox="1">
            <a:spLocks/>
          </p:cNvSpPr>
          <p:nvPr/>
        </p:nvSpPr>
        <p:spPr bwMode="auto">
          <a:xfrm>
            <a:off x="125413" y="1511300"/>
            <a:ext cx="8104187"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Although DBMS nowadays are plenty fast, pulling together data from multiple relations could still take some time</a:t>
            </a:r>
          </a:p>
        </p:txBody>
      </p:sp>
      <p:sp>
        <p:nvSpPr>
          <p:cNvPr id="21" name="Rectangle 20">
            <a:extLst>
              <a:ext uri="{FF2B5EF4-FFF2-40B4-BE49-F238E27FC236}">
                <a16:creationId xmlns:a16="http://schemas.microsoft.com/office/drawing/2014/main" id="{91C3BC1A-313E-CB69-D2A1-3010C3571BC5}"/>
              </a:ext>
            </a:extLst>
          </p:cNvPr>
          <p:cNvSpPr>
            <a:spLocks noChangeArrowheads="1"/>
          </p:cNvSpPr>
          <p:nvPr/>
        </p:nvSpPr>
        <p:spPr bwMode="auto">
          <a:xfrm>
            <a:off x="361950" y="4797425"/>
            <a:ext cx="7715250" cy="1079500"/>
          </a:xfrm>
          <a:prstGeom prst="rect">
            <a:avLst/>
          </a:prstGeom>
          <a:solidFill>
            <a:srgbClr val="FFFF00">
              <a:alpha val="30196"/>
            </a:srgbClr>
          </a:solidFill>
          <a:ln w="9525" algn="ctr">
            <a:solidFill>
              <a:srgbClr val="FFC000"/>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800100" indent="-34290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To find the contact numbers of “Ehsan Adeel”</a:t>
            </a:r>
          </a:p>
          <a:p>
            <a:pPr marL="800100" marR="0" lvl="1" indent="-342900" algn="l" defTabSz="914400" rtl="0" eaLnBrk="0" fontAlgn="base" latinLnBrk="0" hangingPunct="0">
              <a:lnSpc>
                <a:spcPct val="100000"/>
              </a:lnSpc>
              <a:spcBef>
                <a:spcPct val="0"/>
              </a:spcBef>
              <a:spcAft>
                <a:spcPct val="0"/>
              </a:spcAft>
              <a:buClrTx/>
              <a:buSzTx/>
              <a:buFont typeface="Cambria" panose="02040503050406030204" pitchFamily="18" charset="0"/>
              <a:buAutoNum type="arabicPeriod"/>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Find the student whose name is “Ehsan Adeel”</a:t>
            </a:r>
          </a:p>
          <a:p>
            <a:pPr marL="800100" marR="0" lvl="1" indent="-342900" algn="l" defTabSz="914400" rtl="0" eaLnBrk="0" fontAlgn="base" latinLnBrk="0" hangingPunct="0">
              <a:lnSpc>
                <a:spcPct val="100000"/>
              </a:lnSpc>
              <a:spcBef>
                <a:spcPct val="0"/>
              </a:spcBef>
              <a:spcAft>
                <a:spcPct val="0"/>
              </a:spcAft>
              <a:buClrTx/>
              <a:buSzTx/>
              <a:buFont typeface="Cambria" panose="02040503050406030204" pitchFamily="18" charset="0"/>
              <a:buAutoNum type="arabicPeriod"/>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Read the contact numbers from the “CONTACTNUMBER” column</a:t>
            </a:r>
          </a:p>
        </p:txBody>
      </p:sp>
      <p:graphicFrame>
        <p:nvGraphicFramePr>
          <p:cNvPr id="23" name="Table 22">
            <a:extLst>
              <a:ext uri="{FF2B5EF4-FFF2-40B4-BE49-F238E27FC236}">
                <a16:creationId xmlns:a16="http://schemas.microsoft.com/office/drawing/2014/main" id="{DEA85722-B1EA-F208-DE40-3C2F57A1E35B}"/>
              </a:ext>
            </a:extLst>
          </p:cNvPr>
          <p:cNvGraphicFramePr>
            <a:graphicFrameLocks noGrp="1"/>
          </p:cNvGraphicFramePr>
          <p:nvPr/>
        </p:nvGraphicFramePr>
        <p:xfrm>
          <a:off x="1220788" y="3251200"/>
          <a:ext cx="6702425" cy="1041401"/>
        </p:xfrm>
        <a:graphic>
          <a:graphicData uri="http://schemas.openxmlformats.org/drawingml/2006/table">
            <a:tbl>
              <a:tblPr firstRow="1" bandRow="1">
                <a:tableStyleId>{D27102A9-8310-4765-A935-A1911B00CA55}</a:tableStyleId>
              </a:tblPr>
              <a:tblGrid>
                <a:gridCol w="1824281">
                  <a:extLst>
                    <a:ext uri="{9D8B030D-6E8A-4147-A177-3AD203B41FA5}">
                      <a16:colId xmlns:a16="http://schemas.microsoft.com/office/drawing/2014/main" val="20000"/>
                    </a:ext>
                  </a:extLst>
                </a:gridCol>
                <a:gridCol w="2214112">
                  <a:extLst>
                    <a:ext uri="{9D8B030D-6E8A-4147-A177-3AD203B41FA5}">
                      <a16:colId xmlns:a16="http://schemas.microsoft.com/office/drawing/2014/main" val="20001"/>
                    </a:ext>
                  </a:extLst>
                </a:gridCol>
                <a:gridCol w="2664032">
                  <a:extLst>
                    <a:ext uri="{9D8B030D-6E8A-4147-A177-3AD203B41FA5}">
                      <a16:colId xmlns:a16="http://schemas.microsoft.com/office/drawing/2014/main" val="20002"/>
                    </a:ext>
                  </a:extLst>
                </a:gridCol>
              </a:tblGrid>
              <a:tr h="401489">
                <a:tc>
                  <a:txBody>
                    <a:bodyPr/>
                    <a:lstStyle/>
                    <a:p>
                      <a:pPr algn="ctr"/>
                      <a:r>
                        <a:rPr lang="en-CA" sz="1800" b="1" u="none" dirty="0"/>
                        <a:t>STUDENTID</a:t>
                      </a:r>
                    </a:p>
                  </a:txBody>
                  <a:tcPr marL="91431" marR="91431" marT="45636" marB="45636"/>
                </a:tc>
                <a:tc>
                  <a:txBody>
                    <a:bodyPr/>
                    <a:lstStyle/>
                    <a:p>
                      <a:pPr algn="ctr"/>
                      <a:r>
                        <a:rPr lang="en-CA" sz="1800" dirty="0"/>
                        <a:t>STUDENTNAME</a:t>
                      </a:r>
                    </a:p>
                  </a:txBody>
                  <a:tcPr marL="91431" marR="91431" marT="45636" marB="45636"/>
                </a:tc>
                <a:tc>
                  <a:txBody>
                    <a:bodyPr/>
                    <a:lstStyle/>
                    <a:p>
                      <a:pPr algn="ctr"/>
                      <a:r>
                        <a:rPr lang="en-CA" sz="1800" dirty="0"/>
                        <a:t>CONTACTNUMBER</a:t>
                      </a:r>
                    </a:p>
                  </a:txBody>
                  <a:tcPr marL="91431" marR="91431" marT="45636" marB="45636"/>
                </a:tc>
                <a:extLst>
                  <a:ext uri="{0D108BD9-81ED-4DB2-BD59-A6C34878D82A}">
                    <a16:rowId xmlns:a16="http://schemas.microsoft.com/office/drawing/2014/main" val="10000"/>
                  </a:ext>
                </a:extLst>
              </a:tr>
              <a:tr h="639911">
                <a:tc>
                  <a:txBody>
                    <a:bodyPr/>
                    <a:lstStyle/>
                    <a:p>
                      <a:pPr algn="ctr"/>
                      <a:r>
                        <a:rPr lang="en-CA" sz="1800" dirty="0"/>
                        <a:t>1234567</a:t>
                      </a:r>
                    </a:p>
                  </a:txBody>
                  <a:tcPr marL="91431" marR="91431" marT="45636" marB="45636" anchor="ctr"/>
                </a:tc>
                <a:tc>
                  <a:txBody>
                    <a:bodyPr/>
                    <a:lstStyle/>
                    <a:p>
                      <a:pPr algn="ctr"/>
                      <a:r>
                        <a:rPr lang="en-CA" sz="1800" dirty="0"/>
                        <a:t>Ehsan</a:t>
                      </a:r>
                      <a:r>
                        <a:rPr lang="en-CA" sz="1800" baseline="0" dirty="0"/>
                        <a:t> </a:t>
                      </a:r>
                      <a:r>
                        <a:rPr lang="en-CA" sz="1800" dirty="0"/>
                        <a:t>Adeel</a:t>
                      </a:r>
                    </a:p>
                  </a:txBody>
                  <a:tcPr marL="91431" marR="91431" marT="45636" marB="45636" anchor="ctr"/>
                </a:tc>
                <a:tc>
                  <a:txBody>
                    <a:bodyPr/>
                    <a:lstStyle/>
                    <a:p>
                      <a:pPr algn="ctr"/>
                      <a:r>
                        <a:rPr lang="en-CA" sz="1800" dirty="0"/>
                        <a:t>017-1234567</a:t>
                      </a:r>
                    </a:p>
                    <a:p>
                      <a:pPr algn="ctr"/>
                      <a:r>
                        <a:rPr lang="en-CA" sz="1800" dirty="0"/>
                        <a:t>017-7654321</a:t>
                      </a:r>
                    </a:p>
                  </a:txBody>
                  <a:tcPr marL="91431" marR="91431" marT="45636" marB="45636"/>
                </a:tc>
                <a:extLst>
                  <a:ext uri="{0D108BD9-81ED-4DB2-BD59-A6C34878D82A}">
                    <a16:rowId xmlns:a16="http://schemas.microsoft.com/office/drawing/2014/main" val="10001"/>
                  </a:ext>
                </a:extLst>
              </a:tr>
            </a:tbl>
          </a:graphicData>
        </a:graphic>
      </p:graphicFrame>
      <p:sp>
        <p:nvSpPr>
          <p:cNvPr id="7" name="Title 1">
            <a:extLst>
              <a:ext uri="{FF2B5EF4-FFF2-40B4-BE49-F238E27FC236}">
                <a16:creationId xmlns:a16="http://schemas.microsoft.com/office/drawing/2014/main" id="{B1D69B53-688B-0D73-B6C6-FCD0311DA15A}"/>
              </a:ext>
            </a:extLst>
          </p:cNvPr>
          <p:cNvSpPr>
            <a:spLocks noGrp="1"/>
          </p:cNvSpPr>
          <p:nvPr>
            <p:ph type="title"/>
          </p:nvPr>
        </p:nvSpPr>
        <p:spPr>
          <a:xfrm>
            <a:off x="457200" y="76200"/>
            <a:ext cx="7620000" cy="1143000"/>
          </a:xfrm>
        </p:spPr>
        <p:txBody>
          <a:bodyPr/>
          <a:lstStyle/>
          <a:p>
            <a:pPr algn="ctr">
              <a:defRPr/>
            </a:pPr>
            <a:r>
              <a:rPr lang="en-US" dirty="0"/>
              <a:t>Relational Database Denormalization</a:t>
            </a:r>
            <a:endParaRPr lang="en-CA"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wipe(up)">
                                      <p:cBhvr>
                                        <p:cTn id="12" dur="500"/>
                                        <p:tgtEl>
                                          <p:spTgt spid="23"/>
                                        </p:tgtEl>
                                      </p:cBhvr>
                                    </p:animEffect>
                                  </p:childTnLst>
                                </p:cTn>
                              </p:par>
                            </p:childTnLst>
                          </p:cTn>
                        </p:par>
                        <p:par>
                          <p:cTn id="13" fill="hold" nodeType="afterGroup">
                            <p:stCondLst>
                              <p:cond delay="500"/>
                            </p:stCondLst>
                            <p:childTnLst>
                              <p:par>
                                <p:cTn id="14" presetID="22" presetClass="entr" presetSubtype="1" fill="hold" grpId="0" nodeType="afterEffect">
                                  <p:stCondLst>
                                    <p:cond delay="0"/>
                                  </p:stCondLst>
                                  <p:childTnLst>
                                    <p:set>
                                      <p:cBhvr>
                                        <p:cTn id="15" dur="1" fill="hold">
                                          <p:stCondLst>
                                            <p:cond delay="0"/>
                                          </p:stCondLst>
                                        </p:cTn>
                                        <p:tgtEl>
                                          <p:spTgt spid="21"/>
                                        </p:tgtEl>
                                        <p:attrNameLst>
                                          <p:attrName>style.visibility</p:attrName>
                                        </p:attrNameLst>
                                      </p:cBhvr>
                                      <p:to>
                                        <p:strVal val="visible"/>
                                      </p:to>
                                    </p:set>
                                    <p:animEffect transition="in" filter="wipe(up)">
                                      <p:cBhvr>
                                        <p:cTn id="16"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1" grpId="0" animBg="1"/>
    </p:bld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6AFF14F9-9BC6-D93F-A8E4-776C248994E6}"/>
              </a:ext>
            </a:extLst>
          </p:cNvPr>
          <p:cNvSpPr txBox="1">
            <a:spLocks/>
          </p:cNvSpPr>
          <p:nvPr/>
        </p:nvSpPr>
        <p:spPr bwMode="auto">
          <a:xfrm>
            <a:off x="125413" y="1341438"/>
            <a:ext cx="8180387"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Although DBMS nowadays are plenty fast, pulling together data from multiple relations could still take some time</a:t>
            </a: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24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Conclusion: Data retrieval from the unnormalized relation is going to be faster</a:t>
            </a: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graphicFrame>
        <p:nvGraphicFramePr>
          <p:cNvPr id="11" name="Table 10">
            <a:extLst>
              <a:ext uri="{FF2B5EF4-FFF2-40B4-BE49-F238E27FC236}">
                <a16:creationId xmlns:a16="http://schemas.microsoft.com/office/drawing/2014/main" id="{F1EAA70D-10CA-0624-C386-DA489500D002}"/>
              </a:ext>
            </a:extLst>
          </p:cNvPr>
          <p:cNvGraphicFramePr>
            <a:graphicFrameLocks noGrp="1"/>
          </p:cNvGraphicFramePr>
          <p:nvPr/>
        </p:nvGraphicFramePr>
        <p:xfrm>
          <a:off x="76200" y="2928938"/>
          <a:ext cx="4040188" cy="768350"/>
        </p:xfrm>
        <a:graphic>
          <a:graphicData uri="http://schemas.openxmlformats.org/drawingml/2006/table">
            <a:tbl>
              <a:tblPr firstRow="1" bandRow="1">
                <a:tableStyleId>{C083E6E3-FA7D-4D7B-A595-EF9225AFEA82}</a:tableStyleId>
              </a:tblPr>
              <a:tblGrid>
                <a:gridCol w="1825092">
                  <a:extLst>
                    <a:ext uri="{9D8B030D-6E8A-4147-A177-3AD203B41FA5}">
                      <a16:colId xmlns:a16="http://schemas.microsoft.com/office/drawing/2014/main" val="20000"/>
                    </a:ext>
                  </a:extLst>
                </a:gridCol>
                <a:gridCol w="2215096">
                  <a:extLst>
                    <a:ext uri="{9D8B030D-6E8A-4147-A177-3AD203B41FA5}">
                      <a16:colId xmlns:a16="http://schemas.microsoft.com/office/drawing/2014/main" val="20001"/>
                    </a:ext>
                  </a:extLst>
                </a:gridCol>
              </a:tblGrid>
              <a:tr h="402422">
                <a:tc>
                  <a:txBody>
                    <a:bodyPr/>
                    <a:lstStyle/>
                    <a:p>
                      <a:pPr algn="ctr"/>
                      <a:r>
                        <a:rPr lang="en-CA" sz="1800" u="none" dirty="0"/>
                        <a:t>STUDENTID</a:t>
                      </a:r>
                      <a:endParaRPr lang="en-CA" sz="1800" b="1" u="none" dirty="0"/>
                    </a:p>
                  </a:txBody>
                  <a:tcPr marL="91472" marR="91472" marT="45741" marB="45741"/>
                </a:tc>
                <a:tc>
                  <a:txBody>
                    <a:bodyPr/>
                    <a:lstStyle/>
                    <a:p>
                      <a:pPr algn="ctr"/>
                      <a:r>
                        <a:rPr lang="en-CA" sz="1800" dirty="0"/>
                        <a:t>STUDENTNAME</a:t>
                      </a:r>
                    </a:p>
                  </a:txBody>
                  <a:tcPr marL="91472" marR="91472" marT="45741" marB="45741"/>
                </a:tc>
                <a:extLst>
                  <a:ext uri="{0D108BD9-81ED-4DB2-BD59-A6C34878D82A}">
                    <a16:rowId xmlns:a16="http://schemas.microsoft.com/office/drawing/2014/main" val="10000"/>
                  </a:ext>
                </a:extLst>
              </a:tr>
              <a:tr h="365928">
                <a:tc>
                  <a:txBody>
                    <a:bodyPr/>
                    <a:lstStyle/>
                    <a:p>
                      <a:pPr algn="ctr"/>
                      <a:r>
                        <a:rPr lang="en-CA" sz="1800" dirty="0"/>
                        <a:t>1234567</a:t>
                      </a:r>
                    </a:p>
                  </a:txBody>
                  <a:tcPr marL="91472" marR="91472" marT="45741" marB="45741" anchor="ctr"/>
                </a:tc>
                <a:tc>
                  <a:txBody>
                    <a:bodyPr/>
                    <a:lstStyle/>
                    <a:p>
                      <a:pPr algn="ctr"/>
                      <a:r>
                        <a:rPr lang="en-CA" sz="1800" dirty="0"/>
                        <a:t>Ehsan</a:t>
                      </a:r>
                      <a:r>
                        <a:rPr lang="en-CA" sz="1800" baseline="0" dirty="0"/>
                        <a:t> </a:t>
                      </a:r>
                      <a:r>
                        <a:rPr lang="en-CA" sz="1800" dirty="0"/>
                        <a:t>Adeel</a:t>
                      </a:r>
                    </a:p>
                  </a:txBody>
                  <a:tcPr marL="91472" marR="91472" marT="45741" marB="45741" anchor="ctr"/>
                </a:tc>
                <a:extLst>
                  <a:ext uri="{0D108BD9-81ED-4DB2-BD59-A6C34878D82A}">
                    <a16:rowId xmlns:a16="http://schemas.microsoft.com/office/drawing/2014/main" val="10001"/>
                  </a:ext>
                </a:extLst>
              </a:tr>
            </a:tbl>
          </a:graphicData>
        </a:graphic>
      </p:graphicFrame>
      <p:cxnSp>
        <p:nvCxnSpPr>
          <p:cNvPr id="12" name="Straight Connector 11">
            <a:extLst>
              <a:ext uri="{FF2B5EF4-FFF2-40B4-BE49-F238E27FC236}">
                <a16:creationId xmlns:a16="http://schemas.microsoft.com/office/drawing/2014/main" id="{09C2E321-90DD-F14E-A221-CCE6CCD7BD9E}"/>
              </a:ext>
            </a:extLst>
          </p:cNvPr>
          <p:cNvCxnSpPr/>
          <p:nvPr/>
        </p:nvCxnSpPr>
        <p:spPr bwMode="auto">
          <a:xfrm flipV="1">
            <a:off x="304800" y="3254375"/>
            <a:ext cx="1382713" cy="0"/>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graphicFrame>
        <p:nvGraphicFramePr>
          <p:cNvPr id="13" name="Table 12">
            <a:extLst>
              <a:ext uri="{FF2B5EF4-FFF2-40B4-BE49-F238E27FC236}">
                <a16:creationId xmlns:a16="http://schemas.microsoft.com/office/drawing/2014/main" id="{206996CD-5EF1-D1AE-C351-29B6CE6F995C}"/>
              </a:ext>
            </a:extLst>
          </p:cNvPr>
          <p:cNvGraphicFramePr>
            <a:graphicFrameLocks noGrp="1"/>
          </p:cNvGraphicFramePr>
          <p:nvPr/>
        </p:nvGraphicFramePr>
        <p:xfrm>
          <a:off x="4397375" y="2895600"/>
          <a:ext cx="3984625" cy="1098549"/>
        </p:xfrm>
        <a:graphic>
          <a:graphicData uri="http://schemas.openxmlformats.org/drawingml/2006/table">
            <a:tbl>
              <a:tblPr firstRow="1" bandRow="1">
                <a:tableStyleId>{68D230F3-CF80-4859-8CE7-A43EE81993B5}</a:tableStyleId>
              </a:tblPr>
              <a:tblGrid>
                <a:gridCol w="1619556">
                  <a:extLst>
                    <a:ext uri="{9D8B030D-6E8A-4147-A177-3AD203B41FA5}">
                      <a16:colId xmlns:a16="http://schemas.microsoft.com/office/drawing/2014/main" val="20000"/>
                    </a:ext>
                  </a:extLst>
                </a:gridCol>
                <a:gridCol w="2365069">
                  <a:extLst>
                    <a:ext uri="{9D8B030D-6E8A-4147-A177-3AD203B41FA5}">
                      <a16:colId xmlns:a16="http://schemas.microsoft.com/office/drawing/2014/main" val="20001"/>
                    </a:ext>
                  </a:extLst>
                </a:gridCol>
              </a:tblGrid>
              <a:tr h="366183">
                <a:tc>
                  <a:txBody>
                    <a:bodyPr/>
                    <a:lstStyle/>
                    <a:p>
                      <a:pPr algn="ctr"/>
                      <a:r>
                        <a:rPr lang="en-CA" sz="1800" u="none" dirty="0"/>
                        <a:t>STUDENTID</a:t>
                      </a:r>
                      <a:endParaRPr lang="en-CA" sz="1800" b="1" u="none" dirty="0"/>
                    </a:p>
                  </a:txBody>
                  <a:tcPr marL="91433" marR="91433" marT="45773" marB="45773"/>
                </a:tc>
                <a:tc>
                  <a:txBody>
                    <a:bodyPr/>
                    <a:lstStyle/>
                    <a:p>
                      <a:pPr algn="ctr"/>
                      <a:r>
                        <a:rPr lang="en-CA" sz="1800" dirty="0"/>
                        <a:t>CONTACTNUMBER</a:t>
                      </a:r>
                    </a:p>
                  </a:txBody>
                  <a:tcPr marL="91433" marR="91433" marT="45773" marB="45773"/>
                </a:tc>
                <a:extLst>
                  <a:ext uri="{0D108BD9-81ED-4DB2-BD59-A6C34878D82A}">
                    <a16:rowId xmlns:a16="http://schemas.microsoft.com/office/drawing/2014/main" val="10000"/>
                  </a:ext>
                </a:extLst>
              </a:tr>
              <a:tr h="366183">
                <a:tc>
                  <a:txBody>
                    <a:bodyPr/>
                    <a:lstStyle/>
                    <a:p>
                      <a:pPr algn="ctr"/>
                      <a:r>
                        <a:rPr lang="en-CA" sz="1800" dirty="0"/>
                        <a:t>1234567</a:t>
                      </a:r>
                    </a:p>
                  </a:txBody>
                  <a:tcPr marL="91433" marR="91433" marT="45773" marB="45773" anchor="ctr"/>
                </a:tc>
                <a:tc>
                  <a:txBody>
                    <a:bodyPr/>
                    <a:lstStyle/>
                    <a:p>
                      <a:pPr algn="ctr"/>
                      <a:r>
                        <a:rPr lang="en-CA" sz="1800" dirty="0"/>
                        <a:t>017-1234567</a:t>
                      </a:r>
                    </a:p>
                  </a:txBody>
                  <a:tcPr marL="91433" marR="91433" marT="45773" marB="45773"/>
                </a:tc>
                <a:extLst>
                  <a:ext uri="{0D108BD9-81ED-4DB2-BD59-A6C34878D82A}">
                    <a16:rowId xmlns:a16="http://schemas.microsoft.com/office/drawing/2014/main" val="10001"/>
                  </a:ext>
                </a:extLst>
              </a:tr>
              <a:tr h="366183">
                <a:tc>
                  <a:txBody>
                    <a:bodyPr/>
                    <a:lstStyle/>
                    <a:p>
                      <a:pPr algn="ctr"/>
                      <a:r>
                        <a:rPr lang="en-CA" sz="1800" dirty="0"/>
                        <a:t>1234567</a:t>
                      </a:r>
                    </a:p>
                  </a:txBody>
                  <a:tcPr marL="91433" marR="91433" marT="45773" marB="45773"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CA" sz="1800" dirty="0"/>
                        <a:t>017-7654321</a:t>
                      </a:r>
                    </a:p>
                  </a:txBody>
                  <a:tcPr marL="91433" marR="91433" marT="45773" marB="45773"/>
                </a:tc>
                <a:extLst>
                  <a:ext uri="{0D108BD9-81ED-4DB2-BD59-A6C34878D82A}">
                    <a16:rowId xmlns:a16="http://schemas.microsoft.com/office/drawing/2014/main" val="10002"/>
                  </a:ext>
                </a:extLst>
              </a:tr>
            </a:tbl>
          </a:graphicData>
        </a:graphic>
      </p:graphicFrame>
      <p:cxnSp>
        <p:nvCxnSpPr>
          <p:cNvPr id="16" name="Straight Connector 15">
            <a:extLst>
              <a:ext uri="{FF2B5EF4-FFF2-40B4-BE49-F238E27FC236}">
                <a16:creationId xmlns:a16="http://schemas.microsoft.com/office/drawing/2014/main" id="{6553E94D-0EC8-8D3A-95A3-3C0EC4450D8D}"/>
              </a:ext>
            </a:extLst>
          </p:cNvPr>
          <p:cNvCxnSpPr/>
          <p:nvPr/>
        </p:nvCxnSpPr>
        <p:spPr bwMode="auto">
          <a:xfrm>
            <a:off x="4572000" y="3241675"/>
            <a:ext cx="3630613" cy="12700"/>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21" name="Rectangle 20">
            <a:extLst>
              <a:ext uri="{FF2B5EF4-FFF2-40B4-BE49-F238E27FC236}">
                <a16:creationId xmlns:a16="http://schemas.microsoft.com/office/drawing/2014/main" id="{FA0A834E-B822-02C5-28E6-1C95D3E4B681}"/>
              </a:ext>
            </a:extLst>
          </p:cNvPr>
          <p:cNvSpPr>
            <a:spLocks noChangeArrowheads="1"/>
          </p:cNvSpPr>
          <p:nvPr/>
        </p:nvSpPr>
        <p:spPr bwMode="auto">
          <a:xfrm>
            <a:off x="304800" y="4149725"/>
            <a:ext cx="7897813" cy="1511300"/>
          </a:xfrm>
          <a:prstGeom prst="rect">
            <a:avLst/>
          </a:prstGeom>
          <a:solidFill>
            <a:srgbClr val="FFFF00">
              <a:alpha val="30196"/>
            </a:srgbClr>
          </a:solidFill>
          <a:ln w="9525" algn="ctr">
            <a:solidFill>
              <a:srgbClr val="FFC000"/>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800100" indent="-34290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16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To find the contact numbers of “Ehsan Adeel”</a:t>
            </a:r>
          </a:p>
          <a:p>
            <a:pPr marL="800100" marR="0" lvl="1" indent="-342900" algn="l" defTabSz="914400" rtl="0" eaLnBrk="0" fontAlgn="base" latinLnBrk="0" hangingPunct="0">
              <a:lnSpc>
                <a:spcPct val="100000"/>
              </a:lnSpc>
              <a:spcBef>
                <a:spcPct val="0"/>
              </a:spcBef>
              <a:spcAft>
                <a:spcPct val="0"/>
              </a:spcAft>
              <a:buClrTx/>
              <a:buSzTx/>
              <a:buFont typeface="Cambria" panose="02040503050406030204" pitchFamily="18" charset="0"/>
              <a:buAutoNum type="arabicPeriod"/>
              <a:tabLst/>
              <a:defRPr/>
            </a:pPr>
            <a:r>
              <a:rPr kumimoji="0" lang="en-CA" altLang="en-US" sz="16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Find the student whose name is “Ehsan Adeel”</a:t>
            </a:r>
          </a:p>
          <a:p>
            <a:pPr marL="800100" marR="0" lvl="1" indent="-342900" algn="l" defTabSz="914400" rtl="0" eaLnBrk="0" fontAlgn="base" latinLnBrk="0" hangingPunct="0">
              <a:lnSpc>
                <a:spcPct val="100000"/>
              </a:lnSpc>
              <a:spcBef>
                <a:spcPct val="0"/>
              </a:spcBef>
              <a:spcAft>
                <a:spcPct val="0"/>
              </a:spcAft>
              <a:buClrTx/>
              <a:buSzTx/>
              <a:buFont typeface="Cambria" panose="02040503050406030204" pitchFamily="18" charset="0"/>
              <a:buAutoNum type="arabicPeriod"/>
              <a:tabLst/>
              <a:defRPr/>
            </a:pPr>
            <a:r>
              <a:rPr kumimoji="0" lang="en-CA" altLang="en-US" sz="16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Read the student Id from the “STUDENTID” column</a:t>
            </a:r>
          </a:p>
          <a:p>
            <a:pPr marL="800100" marR="0" lvl="1" indent="-342900" algn="l" defTabSz="914400" rtl="0" eaLnBrk="0" fontAlgn="base" latinLnBrk="0" hangingPunct="0">
              <a:lnSpc>
                <a:spcPct val="100000"/>
              </a:lnSpc>
              <a:spcBef>
                <a:spcPct val="0"/>
              </a:spcBef>
              <a:spcAft>
                <a:spcPct val="0"/>
              </a:spcAft>
              <a:buClrTx/>
              <a:buSzTx/>
              <a:buFont typeface="Cambria" panose="02040503050406030204" pitchFamily="18" charset="0"/>
              <a:buAutoNum type="arabicPeriod"/>
              <a:tabLst/>
              <a:defRPr/>
            </a:pPr>
            <a:r>
              <a:rPr kumimoji="0" lang="en-CA" altLang="en-US" sz="16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Go to the contact number table and find all the student Ids of “1234567”</a:t>
            </a:r>
          </a:p>
          <a:p>
            <a:pPr marL="800100" marR="0" lvl="1" indent="-342900" algn="l" defTabSz="914400" rtl="0" eaLnBrk="0" fontAlgn="base" latinLnBrk="0" hangingPunct="0">
              <a:lnSpc>
                <a:spcPct val="100000"/>
              </a:lnSpc>
              <a:spcBef>
                <a:spcPct val="0"/>
              </a:spcBef>
              <a:spcAft>
                <a:spcPct val="0"/>
              </a:spcAft>
              <a:buClrTx/>
              <a:buSzTx/>
              <a:buFont typeface="Cambria" panose="02040503050406030204" pitchFamily="18" charset="0"/>
              <a:buAutoNum type="arabicPeriod"/>
              <a:tabLst/>
              <a:defRPr/>
            </a:pPr>
            <a:r>
              <a:rPr kumimoji="0" lang="en-CA" altLang="en-US" sz="16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Read the contact numbers from the “CONTACTNUMBER” column</a:t>
            </a:r>
          </a:p>
        </p:txBody>
      </p:sp>
      <p:sp>
        <p:nvSpPr>
          <p:cNvPr id="10" name="Title 1">
            <a:extLst>
              <a:ext uri="{FF2B5EF4-FFF2-40B4-BE49-F238E27FC236}">
                <a16:creationId xmlns:a16="http://schemas.microsoft.com/office/drawing/2014/main" id="{39585FC4-32D5-4D89-81F4-E2ADFE110557}"/>
              </a:ext>
            </a:extLst>
          </p:cNvPr>
          <p:cNvSpPr>
            <a:spLocks noGrp="1"/>
          </p:cNvSpPr>
          <p:nvPr>
            <p:ph type="title"/>
          </p:nvPr>
        </p:nvSpPr>
        <p:spPr>
          <a:xfrm>
            <a:off x="457200" y="76200"/>
            <a:ext cx="7620000" cy="1143000"/>
          </a:xfrm>
        </p:spPr>
        <p:txBody>
          <a:bodyPr/>
          <a:lstStyle/>
          <a:p>
            <a:pPr algn="ctr">
              <a:defRPr/>
            </a:pPr>
            <a:r>
              <a:rPr lang="en-US" dirty="0"/>
              <a:t>Relational Database Denormalization</a:t>
            </a:r>
            <a:endParaRPr lang="en-CA"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up)">
                                      <p:cBhvr>
                                        <p:cTn id="7" dur="500"/>
                                        <p:tgtEl>
                                          <p:spTgt spid="11"/>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ipe(left)">
                                      <p:cBhvr>
                                        <p:cTn id="11" dur="500"/>
                                        <p:tgtEl>
                                          <p:spTgt spid="12"/>
                                        </p:tgtEl>
                                      </p:cBhvr>
                                    </p:animEffect>
                                  </p:childTnLst>
                                </p:cTn>
                              </p:par>
                            </p:childTnLst>
                          </p:cTn>
                        </p:par>
                        <p:par>
                          <p:cTn id="12" fill="hold" nodeType="afterGroup">
                            <p:stCondLst>
                              <p:cond delay="1000"/>
                            </p:stCondLst>
                            <p:childTnLst>
                              <p:par>
                                <p:cTn id="13" presetID="22" presetClass="entr" presetSubtype="1" fill="hold"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up)">
                                      <p:cBhvr>
                                        <p:cTn id="15" dur="500"/>
                                        <p:tgtEl>
                                          <p:spTgt spid="13"/>
                                        </p:tgtEl>
                                      </p:cBhvr>
                                    </p:animEffect>
                                  </p:childTnLst>
                                </p:cTn>
                              </p:par>
                            </p:childTnLst>
                          </p:cTn>
                        </p:par>
                        <p:par>
                          <p:cTn id="16" fill="hold" nodeType="afterGroup">
                            <p:stCondLst>
                              <p:cond delay="1500"/>
                            </p:stCondLst>
                            <p:childTnLst>
                              <p:par>
                                <p:cTn id="17" presetID="22" presetClass="entr" presetSubtype="8" fill="hold" nodeType="after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wipe(left)">
                                      <p:cBhvr>
                                        <p:cTn id="19" dur="500"/>
                                        <p:tgtEl>
                                          <p:spTgt spid="16"/>
                                        </p:tgtEl>
                                      </p:cBhvr>
                                    </p:animEffect>
                                  </p:childTnLst>
                                </p:cTn>
                              </p:par>
                            </p:childTnLst>
                          </p:cTn>
                        </p:par>
                        <p:par>
                          <p:cTn id="20" fill="hold" nodeType="afterGroup">
                            <p:stCondLst>
                              <p:cond delay="2000"/>
                            </p:stCondLst>
                            <p:childTnLst>
                              <p:par>
                                <p:cTn id="21" presetID="22" presetClass="entr" presetSubtype="1" fill="hold" grpId="0" nodeType="afterEffect">
                                  <p:stCondLst>
                                    <p:cond delay="0"/>
                                  </p:stCondLst>
                                  <p:childTnLst>
                                    <p:set>
                                      <p:cBhvr>
                                        <p:cTn id="22" dur="1" fill="hold">
                                          <p:stCondLst>
                                            <p:cond delay="0"/>
                                          </p:stCondLst>
                                        </p:cTn>
                                        <p:tgtEl>
                                          <p:spTgt spid="21"/>
                                        </p:tgtEl>
                                        <p:attrNameLst>
                                          <p:attrName>style.visibility</p:attrName>
                                        </p:attrNameLst>
                                      </p:cBhvr>
                                      <p:to>
                                        <p:strVal val="visible"/>
                                      </p:to>
                                    </p:set>
                                    <p:animEffect transition="in" filter="wipe(up)">
                                      <p:cBhvr>
                                        <p:cTn id="23" dur="500"/>
                                        <p:tgtEl>
                                          <p:spTgt spid="21"/>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nodeType="clickEffect">
                                  <p:stCondLst>
                                    <p:cond delay="0"/>
                                  </p:stCondLst>
                                  <p:childTnLst>
                                    <p:set>
                                      <p:cBhvr>
                                        <p:cTn id="27" dur="1" fill="hold">
                                          <p:stCondLst>
                                            <p:cond delay="0"/>
                                          </p:stCondLst>
                                        </p:cTn>
                                        <p:tgtEl>
                                          <p:spTgt spid="9">
                                            <p:txEl>
                                              <p:pRg st="6" end="6"/>
                                            </p:txEl>
                                          </p:spTgt>
                                        </p:tgtEl>
                                        <p:attrNameLst>
                                          <p:attrName>style.visibility</p:attrName>
                                        </p:attrNameLst>
                                      </p:cBhvr>
                                      <p:to>
                                        <p:strVal val="visible"/>
                                      </p:to>
                                    </p:set>
                                    <p:animEffect transition="in" filter="wipe(left)">
                                      <p:cBhvr>
                                        <p:cTn id="28" dur="500"/>
                                        <p:tgtEl>
                                          <p:spTgt spid="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3E0B5628-B2DB-76D1-9775-F9FA449DD319}"/>
              </a:ext>
            </a:extLst>
          </p:cNvPr>
          <p:cNvSpPr txBox="1">
            <a:spLocks/>
          </p:cNvSpPr>
          <p:nvPr/>
        </p:nvSpPr>
        <p:spPr bwMode="auto">
          <a:xfrm>
            <a:off x="125413" y="1341438"/>
            <a:ext cx="8180387"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As a result, sometimes to achieve faster data retrieval, we perform denormalization</a:t>
            </a:r>
          </a:p>
        </p:txBody>
      </p:sp>
      <p:grpSp>
        <p:nvGrpSpPr>
          <p:cNvPr id="2" name="Group 2">
            <a:extLst>
              <a:ext uri="{FF2B5EF4-FFF2-40B4-BE49-F238E27FC236}">
                <a16:creationId xmlns:a16="http://schemas.microsoft.com/office/drawing/2014/main" id="{3753EF17-C63A-9709-8AC8-B60B7E37FF47}"/>
              </a:ext>
            </a:extLst>
          </p:cNvPr>
          <p:cNvGrpSpPr>
            <a:grpSpLocks/>
          </p:cNvGrpSpPr>
          <p:nvPr/>
        </p:nvGrpSpPr>
        <p:grpSpPr bwMode="auto">
          <a:xfrm>
            <a:off x="228600" y="2565400"/>
            <a:ext cx="5373688" cy="1625600"/>
            <a:chOff x="3452414" y="2666736"/>
            <a:chExt cx="5374013" cy="1626359"/>
          </a:xfrm>
        </p:grpSpPr>
        <p:sp>
          <p:nvSpPr>
            <p:cNvPr id="13" name="Freeform 12">
              <a:extLst>
                <a:ext uri="{FF2B5EF4-FFF2-40B4-BE49-F238E27FC236}">
                  <a16:creationId xmlns:a16="http://schemas.microsoft.com/office/drawing/2014/main" id="{E3525095-D578-C17D-484D-D06714893BA4}"/>
                </a:ext>
              </a:extLst>
            </p:cNvPr>
            <p:cNvSpPr/>
            <p:nvPr/>
          </p:nvSpPr>
          <p:spPr>
            <a:xfrm>
              <a:off x="3452414" y="2666736"/>
              <a:ext cx="2238510" cy="1626359"/>
            </a:xfrm>
            <a:custGeom>
              <a:avLst/>
              <a:gdLst>
                <a:gd name="connsiteX0" fmla="*/ 0 w 1601390"/>
                <a:gd name="connsiteY0" fmla="*/ 96083 h 960834"/>
                <a:gd name="connsiteX1" fmla="*/ 96083 w 1601390"/>
                <a:gd name="connsiteY1" fmla="*/ 0 h 960834"/>
                <a:gd name="connsiteX2" fmla="*/ 1505307 w 1601390"/>
                <a:gd name="connsiteY2" fmla="*/ 0 h 960834"/>
                <a:gd name="connsiteX3" fmla="*/ 1601390 w 1601390"/>
                <a:gd name="connsiteY3" fmla="*/ 96083 h 960834"/>
                <a:gd name="connsiteX4" fmla="*/ 1601390 w 1601390"/>
                <a:gd name="connsiteY4" fmla="*/ 864751 h 960834"/>
                <a:gd name="connsiteX5" fmla="*/ 1505307 w 1601390"/>
                <a:gd name="connsiteY5" fmla="*/ 960834 h 960834"/>
                <a:gd name="connsiteX6" fmla="*/ 96083 w 1601390"/>
                <a:gd name="connsiteY6" fmla="*/ 960834 h 960834"/>
                <a:gd name="connsiteX7" fmla="*/ 0 w 1601390"/>
                <a:gd name="connsiteY7" fmla="*/ 864751 h 960834"/>
                <a:gd name="connsiteX8" fmla="*/ 0 w 1601390"/>
                <a:gd name="connsiteY8" fmla="*/ 96083 h 960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01390" h="960834">
                  <a:moveTo>
                    <a:pt x="0" y="96083"/>
                  </a:moveTo>
                  <a:cubicBezTo>
                    <a:pt x="0" y="43018"/>
                    <a:pt x="43018" y="0"/>
                    <a:pt x="96083" y="0"/>
                  </a:cubicBezTo>
                  <a:lnTo>
                    <a:pt x="1505307" y="0"/>
                  </a:lnTo>
                  <a:cubicBezTo>
                    <a:pt x="1558372" y="0"/>
                    <a:pt x="1601390" y="43018"/>
                    <a:pt x="1601390" y="96083"/>
                  </a:cubicBezTo>
                  <a:lnTo>
                    <a:pt x="1601390" y="864751"/>
                  </a:lnTo>
                  <a:cubicBezTo>
                    <a:pt x="1601390" y="917816"/>
                    <a:pt x="1558372" y="960834"/>
                    <a:pt x="1505307" y="960834"/>
                  </a:cubicBezTo>
                  <a:lnTo>
                    <a:pt x="96083" y="960834"/>
                  </a:lnTo>
                  <a:cubicBezTo>
                    <a:pt x="43018" y="960834"/>
                    <a:pt x="0" y="917816"/>
                    <a:pt x="0" y="864751"/>
                  </a:cubicBezTo>
                  <a:lnTo>
                    <a:pt x="0" y="96083"/>
                  </a:lnTo>
                  <a:close/>
                </a:path>
              </a:pathLst>
            </a:custGeom>
            <a:solidFill>
              <a:schemeClr val="accent3">
                <a:alpha val="30000"/>
              </a:schemeClr>
            </a:solidFill>
            <a:ln>
              <a:solidFill>
                <a:schemeClr val="accent3"/>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180542" tIns="180542" rIns="180542" bIns="180542" spcCol="1270" anchor="ctr"/>
            <a:lstStyle/>
            <a:p>
              <a:pPr marL="0" marR="0" lvl="0" indent="0" algn="ctr" defTabSz="1778000" rtl="0" eaLnBrk="0" fontAlgn="base" latinLnBrk="0" hangingPunct="0">
                <a:lnSpc>
                  <a:spcPct val="90000"/>
                </a:lnSpc>
                <a:spcBef>
                  <a:spcPct val="0"/>
                </a:spcBef>
                <a:spcAft>
                  <a:spcPct val="35000"/>
                </a:spcAft>
                <a:buClrTx/>
                <a:buSzTx/>
                <a:buFontTx/>
                <a:buNone/>
                <a:tabLst/>
                <a:defRPr/>
              </a:pPr>
              <a:r>
                <a:rPr kumimoji="0" lang="en-CA" sz="2000" b="0" i="0" u="none" strike="noStrike" kern="1200" cap="none" spc="0" normalizeH="0" baseline="0" noProof="0" dirty="0">
                  <a:ln>
                    <a:noFill/>
                  </a:ln>
                  <a:solidFill>
                    <a:srgbClr val="2F2B20"/>
                  </a:solidFill>
                  <a:effectLst/>
                  <a:uLnTx/>
                  <a:uFillTx/>
                  <a:latin typeface="Calibri"/>
                  <a:ea typeface="+mn-ea"/>
                  <a:cs typeface="+mn-cs"/>
                </a:rPr>
                <a:t>Third Normal Form (3NF)</a:t>
              </a:r>
            </a:p>
          </p:txBody>
        </p:sp>
        <p:sp>
          <p:nvSpPr>
            <p:cNvPr id="14" name="Freeform 13">
              <a:extLst>
                <a:ext uri="{FF2B5EF4-FFF2-40B4-BE49-F238E27FC236}">
                  <a16:creationId xmlns:a16="http://schemas.microsoft.com/office/drawing/2014/main" id="{06B06F2B-71DD-E4E9-8C96-AC53531DF74D}"/>
                </a:ext>
              </a:extLst>
            </p:cNvPr>
            <p:cNvSpPr/>
            <p:nvPr/>
          </p:nvSpPr>
          <p:spPr>
            <a:xfrm>
              <a:off x="5914776" y="3143208"/>
              <a:ext cx="474691" cy="673414"/>
            </a:xfrm>
            <a:custGeom>
              <a:avLst/>
              <a:gdLst>
                <a:gd name="connsiteX0" fmla="*/ 0 w 339494"/>
                <a:gd name="connsiteY0" fmla="*/ 79429 h 397144"/>
                <a:gd name="connsiteX1" fmla="*/ 169747 w 339494"/>
                <a:gd name="connsiteY1" fmla="*/ 79429 h 397144"/>
                <a:gd name="connsiteX2" fmla="*/ 169747 w 339494"/>
                <a:gd name="connsiteY2" fmla="*/ 0 h 397144"/>
                <a:gd name="connsiteX3" fmla="*/ 339494 w 339494"/>
                <a:gd name="connsiteY3" fmla="*/ 198572 h 397144"/>
                <a:gd name="connsiteX4" fmla="*/ 169747 w 339494"/>
                <a:gd name="connsiteY4" fmla="*/ 397144 h 397144"/>
                <a:gd name="connsiteX5" fmla="*/ 169747 w 339494"/>
                <a:gd name="connsiteY5" fmla="*/ 317715 h 397144"/>
                <a:gd name="connsiteX6" fmla="*/ 0 w 339494"/>
                <a:gd name="connsiteY6" fmla="*/ 317715 h 397144"/>
                <a:gd name="connsiteX7" fmla="*/ 0 w 339494"/>
                <a:gd name="connsiteY7" fmla="*/ 79429 h 397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9494" h="397144">
                  <a:moveTo>
                    <a:pt x="0" y="79429"/>
                  </a:moveTo>
                  <a:lnTo>
                    <a:pt x="169747" y="79429"/>
                  </a:lnTo>
                  <a:lnTo>
                    <a:pt x="169747" y="0"/>
                  </a:lnTo>
                  <a:lnTo>
                    <a:pt x="339494" y="198572"/>
                  </a:lnTo>
                  <a:lnTo>
                    <a:pt x="169747" y="397144"/>
                  </a:lnTo>
                  <a:lnTo>
                    <a:pt x="169747" y="317715"/>
                  </a:lnTo>
                  <a:lnTo>
                    <a:pt x="0" y="317715"/>
                  </a:lnTo>
                  <a:lnTo>
                    <a:pt x="0" y="79429"/>
                  </a:lnTo>
                  <a:close/>
                </a:path>
              </a:pathLst>
            </a:custGeom>
            <a:solidFill>
              <a:schemeClr val="accent3">
                <a:alpha val="30000"/>
              </a:schemeClr>
            </a:solidFill>
            <a:ln>
              <a:solidFill>
                <a:schemeClr val="accent3"/>
              </a:solidFill>
            </a:ln>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lIns="0" tIns="79429" rIns="101848" bIns="79429" spcCol="1270" anchor="ctr"/>
            <a:lstStyle/>
            <a:p>
              <a:pPr marL="0" marR="0" lvl="0" indent="0" algn="ctr" defTabSz="800100" rtl="0" eaLnBrk="0" fontAlgn="base" latinLnBrk="0" hangingPunct="0">
                <a:lnSpc>
                  <a:spcPct val="90000"/>
                </a:lnSpc>
                <a:spcBef>
                  <a:spcPct val="0"/>
                </a:spcBef>
                <a:spcAft>
                  <a:spcPct val="35000"/>
                </a:spcAft>
                <a:buClrTx/>
                <a:buSzTx/>
                <a:buFontTx/>
                <a:buNone/>
                <a:tabLst/>
                <a:defRPr/>
              </a:pPr>
              <a:endParaRPr kumimoji="0" lang="en-CA" sz="1800" b="0" i="0" u="none" strike="noStrike" kern="1200" cap="none" spc="0" normalizeH="0" baseline="0" noProof="0">
                <a:ln>
                  <a:noFill/>
                </a:ln>
                <a:solidFill>
                  <a:srgbClr val="FFFFFF"/>
                </a:solidFill>
                <a:effectLst/>
                <a:uLnTx/>
                <a:uFillTx/>
                <a:latin typeface="Calibri"/>
                <a:ea typeface="+mn-ea"/>
                <a:cs typeface="+mn-cs"/>
              </a:endParaRPr>
            </a:p>
          </p:txBody>
        </p:sp>
        <p:sp>
          <p:nvSpPr>
            <p:cNvPr id="15" name="Freeform 14">
              <a:extLst>
                <a:ext uri="{FF2B5EF4-FFF2-40B4-BE49-F238E27FC236}">
                  <a16:creationId xmlns:a16="http://schemas.microsoft.com/office/drawing/2014/main" id="{EB6E2D83-3C4B-A2E0-98C4-A896CBD702CA}"/>
                </a:ext>
              </a:extLst>
            </p:cNvPr>
            <p:cNvSpPr/>
            <p:nvPr/>
          </p:nvSpPr>
          <p:spPr>
            <a:xfrm>
              <a:off x="6587917" y="2666736"/>
              <a:ext cx="2238510" cy="1626359"/>
            </a:xfrm>
            <a:custGeom>
              <a:avLst/>
              <a:gdLst>
                <a:gd name="connsiteX0" fmla="*/ 0 w 1601390"/>
                <a:gd name="connsiteY0" fmla="*/ 96083 h 960834"/>
                <a:gd name="connsiteX1" fmla="*/ 96083 w 1601390"/>
                <a:gd name="connsiteY1" fmla="*/ 0 h 960834"/>
                <a:gd name="connsiteX2" fmla="*/ 1505307 w 1601390"/>
                <a:gd name="connsiteY2" fmla="*/ 0 h 960834"/>
                <a:gd name="connsiteX3" fmla="*/ 1601390 w 1601390"/>
                <a:gd name="connsiteY3" fmla="*/ 96083 h 960834"/>
                <a:gd name="connsiteX4" fmla="*/ 1601390 w 1601390"/>
                <a:gd name="connsiteY4" fmla="*/ 864751 h 960834"/>
                <a:gd name="connsiteX5" fmla="*/ 1505307 w 1601390"/>
                <a:gd name="connsiteY5" fmla="*/ 960834 h 960834"/>
                <a:gd name="connsiteX6" fmla="*/ 96083 w 1601390"/>
                <a:gd name="connsiteY6" fmla="*/ 960834 h 960834"/>
                <a:gd name="connsiteX7" fmla="*/ 0 w 1601390"/>
                <a:gd name="connsiteY7" fmla="*/ 864751 h 960834"/>
                <a:gd name="connsiteX8" fmla="*/ 0 w 1601390"/>
                <a:gd name="connsiteY8" fmla="*/ 96083 h 960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01390" h="960834">
                  <a:moveTo>
                    <a:pt x="0" y="96083"/>
                  </a:moveTo>
                  <a:cubicBezTo>
                    <a:pt x="0" y="43018"/>
                    <a:pt x="43018" y="0"/>
                    <a:pt x="96083" y="0"/>
                  </a:cubicBezTo>
                  <a:lnTo>
                    <a:pt x="1505307" y="0"/>
                  </a:lnTo>
                  <a:cubicBezTo>
                    <a:pt x="1558372" y="0"/>
                    <a:pt x="1601390" y="43018"/>
                    <a:pt x="1601390" y="96083"/>
                  </a:cubicBezTo>
                  <a:lnTo>
                    <a:pt x="1601390" y="864751"/>
                  </a:lnTo>
                  <a:cubicBezTo>
                    <a:pt x="1601390" y="917816"/>
                    <a:pt x="1558372" y="960834"/>
                    <a:pt x="1505307" y="960834"/>
                  </a:cubicBezTo>
                  <a:lnTo>
                    <a:pt x="96083" y="960834"/>
                  </a:lnTo>
                  <a:cubicBezTo>
                    <a:pt x="43018" y="960834"/>
                    <a:pt x="0" y="917816"/>
                    <a:pt x="0" y="864751"/>
                  </a:cubicBezTo>
                  <a:lnTo>
                    <a:pt x="0" y="96083"/>
                  </a:lnTo>
                  <a:close/>
                </a:path>
              </a:pathLst>
            </a:custGeom>
            <a:solidFill>
              <a:schemeClr val="accent5">
                <a:alpha val="30000"/>
              </a:schemeClr>
            </a:solidFill>
            <a:ln>
              <a:solidFill>
                <a:schemeClr val="accent5"/>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180542" tIns="180542" rIns="180542" bIns="180542" spcCol="1270" anchor="ctr"/>
            <a:lstStyle/>
            <a:p>
              <a:pPr marL="0" marR="0" lvl="0" indent="0" algn="ctr" defTabSz="1778000" rtl="0" eaLnBrk="0" fontAlgn="base" latinLnBrk="0" hangingPunct="0">
                <a:lnSpc>
                  <a:spcPct val="90000"/>
                </a:lnSpc>
                <a:spcBef>
                  <a:spcPct val="0"/>
                </a:spcBef>
                <a:spcAft>
                  <a:spcPct val="35000"/>
                </a:spcAft>
                <a:buClrTx/>
                <a:buSzTx/>
                <a:buFontTx/>
                <a:buNone/>
                <a:tabLst/>
                <a:defRPr/>
              </a:pPr>
              <a:r>
                <a:rPr kumimoji="0" lang="en-CA" sz="2000" b="0" i="0" u="none" strike="noStrike" kern="1200" cap="none" spc="0" normalizeH="0" baseline="0" noProof="0" dirty="0">
                  <a:ln>
                    <a:noFill/>
                  </a:ln>
                  <a:solidFill>
                    <a:srgbClr val="2F2B20"/>
                  </a:solidFill>
                  <a:effectLst/>
                  <a:uLnTx/>
                  <a:uFillTx/>
                  <a:latin typeface="Calibri"/>
                  <a:ea typeface="+mn-ea"/>
                  <a:cs typeface="+mn-cs"/>
                </a:rPr>
                <a:t>Second Normal Form (2NF)</a:t>
              </a:r>
            </a:p>
          </p:txBody>
        </p:sp>
      </p:grpSp>
      <p:grpSp>
        <p:nvGrpSpPr>
          <p:cNvPr id="3" name="Group 3">
            <a:extLst>
              <a:ext uri="{FF2B5EF4-FFF2-40B4-BE49-F238E27FC236}">
                <a16:creationId xmlns:a16="http://schemas.microsoft.com/office/drawing/2014/main" id="{8BD88BBB-5E7F-6177-8420-97855EF46A33}"/>
              </a:ext>
            </a:extLst>
          </p:cNvPr>
          <p:cNvGrpSpPr>
            <a:grpSpLocks/>
          </p:cNvGrpSpPr>
          <p:nvPr/>
        </p:nvGrpSpPr>
        <p:grpSpPr bwMode="auto">
          <a:xfrm>
            <a:off x="2771775" y="3052763"/>
            <a:ext cx="5364163" cy="3221037"/>
            <a:chOff x="2220869" y="3015778"/>
            <a:chExt cx="5364093" cy="3221534"/>
          </a:xfrm>
        </p:grpSpPr>
        <p:sp>
          <p:nvSpPr>
            <p:cNvPr id="11" name="Freeform 10">
              <a:extLst>
                <a:ext uri="{FF2B5EF4-FFF2-40B4-BE49-F238E27FC236}">
                  <a16:creationId xmlns:a16="http://schemas.microsoft.com/office/drawing/2014/main" id="{122999D9-F817-C0A6-C7FC-D83EC1B1A780}"/>
                </a:ext>
              </a:extLst>
            </p:cNvPr>
            <p:cNvSpPr/>
            <p:nvPr/>
          </p:nvSpPr>
          <p:spPr>
            <a:xfrm>
              <a:off x="5345028" y="4611461"/>
              <a:ext cx="2239934" cy="1625851"/>
            </a:xfrm>
            <a:custGeom>
              <a:avLst/>
              <a:gdLst>
                <a:gd name="connsiteX0" fmla="*/ 0 w 1601390"/>
                <a:gd name="connsiteY0" fmla="*/ 96083 h 960834"/>
                <a:gd name="connsiteX1" fmla="*/ 96083 w 1601390"/>
                <a:gd name="connsiteY1" fmla="*/ 0 h 960834"/>
                <a:gd name="connsiteX2" fmla="*/ 1505307 w 1601390"/>
                <a:gd name="connsiteY2" fmla="*/ 0 h 960834"/>
                <a:gd name="connsiteX3" fmla="*/ 1601390 w 1601390"/>
                <a:gd name="connsiteY3" fmla="*/ 96083 h 960834"/>
                <a:gd name="connsiteX4" fmla="*/ 1601390 w 1601390"/>
                <a:gd name="connsiteY4" fmla="*/ 864751 h 960834"/>
                <a:gd name="connsiteX5" fmla="*/ 1505307 w 1601390"/>
                <a:gd name="connsiteY5" fmla="*/ 960834 h 960834"/>
                <a:gd name="connsiteX6" fmla="*/ 96083 w 1601390"/>
                <a:gd name="connsiteY6" fmla="*/ 960834 h 960834"/>
                <a:gd name="connsiteX7" fmla="*/ 0 w 1601390"/>
                <a:gd name="connsiteY7" fmla="*/ 864751 h 960834"/>
                <a:gd name="connsiteX8" fmla="*/ 0 w 1601390"/>
                <a:gd name="connsiteY8" fmla="*/ 96083 h 960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01390" h="960834">
                  <a:moveTo>
                    <a:pt x="0" y="96083"/>
                  </a:moveTo>
                  <a:cubicBezTo>
                    <a:pt x="0" y="43018"/>
                    <a:pt x="43018" y="0"/>
                    <a:pt x="96083" y="0"/>
                  </a:cubicBezTo>
                  <a:lnTo>
                    <a:pt x="1505307" y="0"/>
                  </a:lnTo>
                  <a:cubicBezTo>
                    <a:pt x="1558372" y="0"/>
                    <a:pt x="1601390" y="43018"/>
                    <a:pt x="1601390" y="96083"/>
                  </a:cubicBezTo>
                  <a:lnTo>
                    <a:pt x="1601390" y="864751"/>
                  </a:lnTo>
                  <a:cubicBezTo>
                    <a:pt x="1601390" y="917816"/>
                    <a:pt x="1558372" y="960834"/>
                    <a:pt x="1505307" y="960834"/>
                  </a:cubicBezTo>
                  <a:lnTo>
                    <a:pt x="96083" y="960834"/>
                  </a:lnTo>
                  <a:cubicBezTo>
                    <a:pt x="43018" y="960834"/>
                    <a:pt x="0" y="917816"/>
                    <a:pt x="0" y="864751"/>
                  </a:cubicBezTo>
                  <a:lnTo>
                    <a:pt x="0" y="96083"/>
                  </a:lnTo>
                  <a:close/>
                </a:path>
              </a:pathLst>
            </a:custGeom>
            <a:no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180542" tIns="180542" rIns="180542" bIns="180542" spcCol="1270" anchor="ctr"/>
            <a:lstStyle/>
            <a:p>
              <a:pPr marL="0" marR="0" lvl="0" indent="0" algn="ctr" defTabSz="1778000" rtl="0" eaLnBrk="0" fontAlgn="base" latinLnBrk="0" hangingPunct="0">
                <a:lnSpc>
                  <a:spcPct val="90000"/>
                </a:lnSpc>
                <a:spcBef>
                  <a:spcPct val="0"/>
                </a:spcBef>
                <a:spcAft>
                  <a:spcPct val="35000"/>
                </a:spcAft>
                <a:buClrTx/>
                <a:buSzTx/>
                <a:buFontTx/>
                <a:buNone/>
                <a:tabLst/>
                <a:defRPr/>
              </a:pPr>
              <a:r>
                <a:rPr kumimoji="0" lang="en-CA" sz="2000" b="0" i="0" u="none" strike="noStrike" kern="1200" cap="none" spc="0" normalizeH="0" baseline="0" noProof="0" dirty="0" err="1">
                  <a:ln>
                    <a:noFill/>
                  </a:ln>
                  <a:solidFill>
                    <a:srgbClr val="2F2B20"/>
                  </a:solidFill>
                  <a:effectLst/>
                  <a:uLnTx/>
                  <a:uFillTx/>
                  <a:latin typeface="Calibri"/>
                  <a:ea typeface="+mn-ea"/>
                  <a:cs typeface="+mn-cs"/>
                </a:rPr>
                <a:t>Unnormalized</a:t>
              </a:r>
              <a:r>
                <a:rPr kumimoji="0" lang="en-CA" sz="2000" b="0" i="0" u="none" strike="noStrike" kern="1200" cap="none" spc="0" normalizeH="0" baseline="0" noProof="0" dirty="0">
                  <a:ln>
                    <a:noFill/>
                  </a:ln>
                  <a:solidFill>
                    <a:srgbClr val="2F2B20"/>
                  </a:solidFill>
                  <a:effectLst/>
                  <a:uLnTx/>
                  <a:uFillTx/>
                  <a:latin typeface="Calibri"/>
                  <a:ea typeface="+mn-ea"/>
                  <a:cs typeface="+mn-cs"/>
                </a:rPr>
                <a:t> Form (UNF)</a:t>
              </a:r>
            </a:p>
          </p:txBody>
        </p:sp>
        <p:sp>
          <p:nvSpPr>
            <p:cNvPr id="17" name="Freeform 16">
              <a:extLst>
                <a:ext uri="{FF2B5EF4-FFF2-40B4-BE49-F238E27FC236}">
                  <a16:creationId xmlns:a16="http://schemas.microsoft.com/office/drawing/2014/main" id="{B14F8D6D-6C12-879A-A0A6-284EF542E669}"/>
                </a:ext>
              </a:extLst>
            </p:cNvPr>
            <p:cNvSpPr/>
            <p:nvPr/>
          </p:nvSpPr>
          <p:spPr>
            <a:xfrm>
              <a:off x="5345028" y="3015778"/>
              <a:ext cx="476244" cy="671616"/>
            </a:xfrm>
            <a:custGeom>
              <a:avLst/>
              <a:gdLst>
                <a:gd name="connsiteX0" fmla="*/ 0 w 339494"/>
                <a:gd name="connsiteY0" fmla="*/ 79429 h 397144"/>
                <a:gd name="connsiteX1" fmla="*/ 169747 w 339494"/>
                <a:gd name="connsiteY1" fmla="*/ 79429 h 397144"/>
                <a:gd name="connsiteX2" fmla="*/ 169747 w 339494"/>
                <a:gd name="connsiteY2" fmla="*/ 0 h 397144"/>
                <a:gd name="connsiteX3" fmla="*/ 339494 w 339494"/>
                <a:gd name="connsiteY3" fmla="*/ 198572 h 397144"/>
                <a:gd name="connsiteX4" fmla="*/ 169747 w 339494"/>
                <a:gd name="connsiteY4" fmla="*/ 397144 h 397144"/>
                <a:gd name="connsiteX5" fmla="*/ 169747 w 339494"/>
                <a:gd name="connsiteY5" fmla="*/ 317715 h 397144"/>
                <a:gd name="connsiteX6" fmla="*/ 0 w 339494"/>
                <a:gd name="connsiteY6" fmla="*/ 317715 h 397144"/>
                <a:gd name="connsiteX7" fmla="*/ 0 w 339494"/>
                <a:gd name="connsiteY7" fmla="*/ 79429 h 397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9494" h="397144">
                  <a:moveTo>
                    <a:pt x="0" y="79429"/>
                  </a:moveTo>
                  <a:lnTo>
                    <a:pt x="169747" y="79429"/>
                  </a:lnTo>
                  <a:lnTo>
                    <a:pt x="169747" y="0"/>
                  </a:lnTo>
                  <a:lnTo>
                    <a:pt x="339494" y="198572"/>
                  </a:lnTo>
                  <a:lnTo>
                    <a:pt x="169747" y="397144"/>
                  </a:lnTo>
                  <a:lnTo>
                    <a:pt x="169747" y="317715"/>
                  </a:lnTo>
                  <a:lnTo>
                    <a:pt x="0" y="317715"/>
                  </a:lnTo>
                  <a:lnTo>
                    <a:pt x="0" y="79429"/>
                  </a:lnTo>
                  <a:close/>
                </a:path>
              </a:pathLst>
            </a:custGeom>
            <a:solidFill>
              <a:schemeClr val="accent5">
                <a:alpha val="30000"/>
              </a:schemeClr>
            </a:solidFill>
            <a:ln>
              <a:solidFill>
                <a:schemeClr val="accent5"/>
              </a:solidFill>
            </a:ln>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lIns="0" tIns="79429" rIns="101848" bIns="79429" spcCol="1270" anchor="ctr"/>
            <a:lstStyle/>
            <a:p>
              <a:pPr marL="0" marR="0" lvl="0" indent="0" algn="ctr" defTabSz="800100" rtl="0" eaLnBrk="0" fontAlgn="base" latinLnBrk="0" hangingPunct="0">
                <a:lnSpc>
                  <a:spcPct val="90000"/>
                </a:lnSpc>
                <a:spcBef>
                  <a:spcPct val="0"/>
                </a:spcBef>
                <a:spcAft>
                  <a:spcPct val="35000"/>
                </a:spcAft>
                <a:buClrTx/>
                <a:buSzTx/>
                <a:buFontTx/>
                <a:buNone/>
                <a:tabLst/>
                <a:defRPr/>
              </a:pPr>
              <a:endParaRPr kumimoji="0" lang="en-CA" sz="1800" b="0" i="0" u="none" strike="noStrike" kern="1200" cap="none" spc="0" normalizeH="0" baseline="0" noProof="0">
                <a:ln>
                  <a:noFill/>
                </a:ln>
                <a:solidFill>
                  <a:srgbClr val="FFFFFF"/>
                </a:solidFill>
                <a:effectLst/>
                <a:uLnTx/>
                <a:uFillTx/>
                <a:latin typeface="Calibri"/>
                <a:ea typeface="+mn-ea"/>
                <a:cs typeface="+mn-cs"/>
              </a:endParaRPr>
            </a:p>
          </p:txBody>
        </p:sp>
        <p:sp>
          <p:nvSpPr>
            <p:cNvPr id="18" name="Freeform 17">
              <a:extLst>
                <a:ext uri="{FF2B5EF4-FFF2-40B4-BE49-F238E27FC236}">
                  <a16:creationId xmlns:a16="http://schemas.microsoft.com/office/drawing/2014/main" id="{9FF5DFF0-6A92-1940-FB77-ADFD7143CF5E}"/>
                </a:ext>
              </a:extLst>
            </p:cNvPr>
            <p:cNvSpPr/>
            <p:nvPr/>
          </p:nvSpPr>
          <p:spPr>
            <a:xfrm>
              <a:off x="2220869" y="4611461"/>
              <a:ext cx="2239934" cy="1625851"/>
            </a:xfrm>
            <a:custGeom>
              <a:avLst/>
              <a:gdLst>
                <a:gd name="connsiteX0" fmla="*/ 0 w 1601390"/>
                <a:gd name="connsiteY0" fmla="*/ 96083 h 960834"/>
                <a:gd name="connsiteX1" fmla="*/ 96083 w 1601390"/>
                <a:gd name="connsiteY1" fmla="*/ 0 h 960834"/>
                <a:gd name="connsiteX2" fmla="*/ 1505307 w 1601390"/>
                <a:gd name="connsiteY2" fmla="*/ 0 h 960834"/>
                <a:gd name="connsiteX3" fmla="*/ 1601390 w 1601390"/>
                <a:gd name="connsiteY3" fmla="*/ 96083 h 960834"/>
                <a:gd name="connsiteX4" fmla="*/ 1601390 w 1601390"/>
                <a:gd name="connsiteY4" fmla="*/ 864751 h 960834"/>
                <a:gd name="connsiteX5" fmla="*/ 1505307 w 1601390"/>
                <a:gd name="connsiteY5" fmla="*/ 960834 h 960834"/>
                <a:gd name="connsiteX6" fmla="*/ 96083 w 1601390"/>
                <a:gd name="connsiteY6" fmla="*/ 960834 h 960834"/>
                <a:gd name="connsiteX7" fmla="*/ 0 w 1601390"/>
                <a:gd name="connsiteY7" fmla="*/ 864751 h 960834"/>
                <a:gd name="connsiteX8" fmla="*/ 0 w 1601390"/>
                <a:gd name="connsiteY8" fmla="*/ 96083 h 960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01390" h="960834">
                  <a:moveTo>
                    <a:pt x="0" y="96083"/>
                  </a:moveTo>
                  <a:cubicBezTo>
                    <a:pt x="0" y="43018"/>
                    <a:pt x="43018" y="0"/>
                    <a:pt x="96083" y="0"/>
                  </a:cubicBezTo>
                  <a:lnTo>
                    <a:pt x="1505307" y="0"/>
                  </a:lnTo>
                  <a:cubicBezTo>
                    <a:pt x="1558372" y="0"/>
                    <a:pt x="1601390" y="43018"/>
                    <a:pt x="1601390" y="96083"/>
                  </a:cubicBezTo>
                  <a:lnTo>
                    <a:pt x="1601390" y="864751"/>
                  </a:lnTo>
                  <a:cubicBezTo>
                    <a:pt x="1601390" y="917816"/>
                    <a:pt x="1558372" y="960834"/>
                    <a:pt x="1505307" y="960834"/>
                  </a:cubicBezTo>
                  <a:lnTo>
                    <a:pt x="96083" y="960834"/>
                  </a:lnTo>
                  <a:cubicBezTo>
                    <a:pt x="43018" y="960834"/>
                    <a:pt x="0" y="917816"/>
                    <a:pt x="0" y="864751"/>
                  </a:cubicBezTo>
                  <a:lnTo>
                    <a:pt x="0" y="96083"/>
                  </a:lnTo>
                  <a:close/>
                </a:path>
              </a:pathLst>
            </a:custGeom>
            <a:solidFill>
              <a:schemeClr val="accent6">
                <a:alpha val="30000"/>
              </a:schemeClr>
            </a:solidFill>
            <a:ln>
              <a:solidFill>
                <a:schemeClr val="accent6"/>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180542" tIns="180542" rIns="180542" bIns="180542" spcCol="1270" anchor="ctr"/>
            <a:lstStyle/>
            <a:p>
              <a:pPr marL="0" marR="0" lvl="0" indent="0" algn="ctr" defTabSz="1778000" rtl="0" eaLnBrk="0" fontAlgn="base" latinLnBrk="0" hangingPunct="0">
                <a:lnSpc>
                  <a:spcPct val="90000"/>
                </a:lnSpc>
                <a:spcBef>
                  <a:spcPct val="0"/>
                </a:spcBef>
                <a:spcAft>
                  <a:spcPct val="35000"/>
                </a:spcAft>
                <a:buClrTx/>
                <a:buSzTx/>
                <a:buFontTx/>
                <a:buNone/>
                <a:tabLst/>
                <a:defRPr/>
              </a:pPr>
              <a:r>
                <a:rPr kumimoji="0" lang="en-CA" sz="2000" b="0" i="0" u="none" strike="noStrike" kern="1200" cap="none" spc="0" normalizeH="0" baseline="0" noProof="0" dirty="0">
                  <a:ln>
                    <a:noFill/>
                  </a:ln>
                  <a:solidFill>
                    <a:srgbClr val="2F2B20"/>
                  </a:solidFill>
                  <a:effectLst/>
                  <a:uLnTx/>
                  <a:uFillTx/>
                  <a:latin typeface="Calibri"/>
                  <a:ea typeface="+mn-ea"/>
                  <a:cs typeface="+mn-cs"/>
                </a:rPr>
                <a:t>First Normal Form (1NF)</a:t>
              </a:r>
            </a:p>
          </p:txBody>
        </p:sp>
        <p:sp>
          <p:nvSpPr>
            <p:cNvPr id="19" name="Freeform 18">
              <a:extLst>
                <a:ext uri="{FF2B5EF4-FFF2-40B4-BE49-F238E27FC236}">
                  <a16:creationId xmlns:a16="http://schemas.microsoft.com/office/drawing/2014/main" id="{783D21CB-A395-657E-9850-86F23E564289}"/>
                </a:ext>
              </a:extLst>
            </p:cNvPr>
            <p:cNvSpPr/>
            <p:nvPr/>
          </p:nvSpPr>
          <p:spPr>
            <a:xfrm>
              <a:off x="4684637" y="5087785"/>
              <a:ext cx="474657" cy="673204"/>
            </a:xfrm>
            <a:custGeom>
              <a:avLst/>
              <a:gdLst>
                <a:gd name="connsiteX0" fmla="*/ 0 w 339494"/>
                <a:gd name="connsiteY0" fmla="*/ 79429 h 397144"/>
                <a:gd name="connsiteX1" fmla="*/ 169747 w 339494"/>
                <a:gd name="connsiteY1" fmla="*/ 79429 h 397144"/>
                <a:gd name="connsiteX2" fmla="*/ 169747 w 339494"/>
                <a:gd name="connsiteY2" fmla="*/ 0 h 397144"/>
                <a:gd name="connsiteX3" fmla="*/ 339494 w 339494"/>
                <a:gd name="connsiteY3" fmla="*/ 198572 h 397144"/>
                <a:gd name="connsiteX4" fmla="*/ 169747 w 339494"/>
                <a:gd name="connsiteY4" fmla="*/ 397144 h 397144"/>
                <a:gd name="connsiteX5" fmla="*/ 169747 w 339494"/>
                <a:gd name="connsiteY5" fmla="*/ 317715 h 397144"/>
                <a:gd name="connsiteX6" fmla="*/ 0 w 339494"/>
                <a:gd name="connsiteY6" fmla="*/ 317715 h 397144"/>
                <a:gd name="connsiteX7" fmla="*/ 0 w 339494"/>
                <a:gd name="connsiteY7" fmla="*/ 79429 h 397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9494" h="397144">
                  <a:moveTo>
                    <a:pt x="0" y="79429"/>
                  </a:moveTo>
                  <a:lnTo>
                    <a:pt x="169747" y="79429"/>
                  </a:lnTo>
                  <a:lnTo>
                    <a:pt x="169747" y="0"/>
                  </a:lnTo>
                  <a:lnTo>
                    <a:pt x="339494" y="198572"/>
                  </a:lnTo>
                  <a:lnTo>
                    <a:pt x="169747" y="397144"/>
                  </a:lnTo>
                  <a:lnTo>
                    <a:pt x="169747" y="317715"/>
                  </a:lnTo>
                  <a:lnTo>
                    <a:pt x="0" y="317715"/>
                  </a:lnTo>
                  <a:lnTo>
                    <a:pt x="0" y="79429"/>
                  </a:lnTo>
                  <a:close/>
                </a:path>
              </a:pathLst>
            </a:custGeom>
            <a:solidFill>
              <a:schemeClr val="accent6">
                <a:alpha val="30000"/>
              </a:schemeClr>
            </a:solidFill>
            <a:ln>
              <a:solidFill>
                <a:schemeClr val="accent6"/>
              </a:solidFill>
            </a:ln>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lIns="0" tIns="79429" rIns="101848" bIns="79429" spcCol="1270" anchor="ctr"/>
            <a:lstStyle/>
            <a:p>
              <a:pPr marL="0" marR="0" lvl="0" indent="0" algn="ctr" defTabSz="800100" rtl="0" eaLnBrk="0" fontAlgn="base" latinLnBrk="0" hangingPunct="0">
                <a:lnSpc>
                  <a:spcPct val="90000"/>
                </a:lnSpc>
                <a:spcBef>
                  <a:spcPct val="0"/>
                </a:spcBef>
                <a:spcAft>
                  <a:spcPct val="35000"/>
                </a:spcAft>
                <a:buClrTx/>
                <a:buSzTx/>
                <a:buFontTx/>
                <a:buNone/>
                <a:tabLst/>
                <a:defRPr/>
              </a:pPr>
              <a:endParaRPr kumimoji="0" lang="en-CA" sz="1800" b="0" i="0" u="none" strike="noStrike" kern="1200" cap="none" spc="0" normalizeH="0" baseline="0" noProof="0">
                <a:ln>
                  <a:noFill/>
                </a:ln>
                <a:solidFill>
                  <a:srgbClr val="FFFFFF"/>
                </a:solidFill>
                <a:effectLst/>
                <a:uLnTx/>
                <a:uFillTx/>
                <a:latin typeface="Calibri"/>
                <a:ea typeface="+mn-ea"/>
                <a:cs typeface="+mn-cs"/>
              </a:endParaRPr>
            </a:p>
          </p:txBody>
        </p:sp>
      </p:grpSp>
      <p:sp>
        <p:nvSpPr>
          <p:cNvPr id="16" name="Title 1">
            <a:extLst>
              <a:ext uri="{FF2B5EF4-FFF2-40B4-BE49-F238E27FC236}">
                <a16:creationId xmlns:a16="http://schemas.microsoft.com/office/drawing/2014/main" id="{56E5CB28-0D4F-065A-A1BE-C0F425438480}"/>
              </a:ext>
            </a:extLst>
          </p:cNvPr>
          <p:cNvSpPr>
            <a:spLocks noGrp="1"/>
          </p:cNvSpPr>
          <p:nvPr>
            <p:ph type="title"/>
          </p:nvPr>
        </p:nvSpPr>
        <p:spPr>
          <a:xfrm>
            <a:off x="457200" y="76200"/>
            <a:ext cx="7620000" cy="1143000"/>
          </a:xfrm>
        </p:spPr>
        <p:txBody>
          <a:bodyPr/>
          <a:lstStyle/>
          <a:p>
            <a:pPr algn="ctr">
              <a:defRPr/>
            </a:pPr>
            <a:r>
              <a:rPr lang="en-US" dirty="0"/>
              <a:t>Relational Database Denormalization</a:t>
            </a:r>
            <a:endParaRPr lang="en-CA"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up)">
                                      <p:cBhvr>
                                        <p:cTn id="7" dur="500"/>
                                        <p:tgtEl>
                                          <p:spTgt spid="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par>
                          <p:cTn id="13" fill="hold" nodeType="afterGroup">
                            <p:stCondLst>
                              <p:cond delay="500"/>
                            </p:stCondLst>
                            <p:childTnLst>
                              <p:par>
                                <p:cTn id="14" presetID="22" presetClass="entr" presetSubtype="8" fill="hold" nodeType="after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wipe(left)">
                                      <p:cBhvr>
                                        <p:cTn id="16"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9B7B9223-71A9-1886-C922-44EF7828B48F}"/>
              </a:ext>
            </a:extLst>
          </p:cNvPr>
          <p:cNvSpPr txBox="1">
            <a:spLocks/>
          </p:cNvSpPr>
          <p:nvPr/>
        </p:nvSpPr>
        <p:spPr bwMode="auto">
          <a:xfrm>
            <a:off x="2109788" y="1704975"/>
            <a:ext cx="6272212"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Only denormalized if there are no other options</a:t>
            </a: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24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pic>
        <p:nvPicPr>
          <p:cNvPr id="5" name="Picture 4">
            <a:extLst>
              <a:ext uri="{FF2B5EF4-FFF2-40B4-BE49-F238E27FC236}">
                <a16:creationId xmlns:a16="http://schemas.microsoft.com/office/drawing/2014/main" id="{8261712A-D311-A5D7-E685-0B558F3969F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6200" y="1271588"/>
            <a:ext cx="1944688" cy="1944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a:extLst>
              <a:ext uri="{FF2B5EF4-FFF2-40B4-BE49-F238E27FC236}">
                <a16:creationId xmlns:a16="http://schemas.microsoft.com/office/drawing/2014/main" id="{20D1B116-F533-ACE8-F3E2-339B5BF20AA6}"/>
              </a:ext>
            </a:extLst>
          </p:cNvPr>
          <p:cNvSpPr>
            <a:spLocks noChangeArrowheads="1"/>
          </p:cNvSpPr>
          <p:nvPr/>
        </p:nvSpPr>
        <p:spPr bwMode="auto">
          <a:xfrm>
            <a:off x="44450" y="5637213"/>
            <a:ext cx="8337550" cy="792162"/>
          </a:xfrm>
          <a:prstGeom prst="rect">
            <a:avLst/>
          </a:prstGeom>
          <a:solidFill>
            <a:srgbClr val="FFFF00">
              <a:alpha val="30196"/>
            </a:srgbClr>
          </a:solidFill>
          <a:ln w="9525" algn="ctr">
            <a:solidFill>
              <a:srgbClr val="FFC000"/>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22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Always perform normalization. Only denormalized if data retrieval is </a:t>
            </a:r>
            <a:r>
              <a:rPr kumimoji="0" lang="en-CA" altLang="en-US" sz="2200" b="0" i="0" u="none" strike="noStrike" kern="1200" cap="none" spc="0" normalizeH="0" baseline="0" noProof="0">
                <a:ln>
                  <a:noFill/>
                </a:ln>
                <a:solidFill>
                  <a:srgbClr val="C00000"/>
                </a:solidFill>
                <a:effectLst/>
                <a:uLnTx/>
                <a:uFillTx/>
                <a:latin typeface="Arial" panose="020B0604020202020204" pitchFamily="34" charset="0"/>
                <a:ea typeface="+mn-ea"/>
                <a:cs typeface="Arial" panose="020B0604020202020204" pitchFamily="34" charset="0"/>
              </a:rPr>
              <a:t>unacceptably slow </a:t>
            </a:r>
            <a:r>
              <a:rPr kumimoji="0" lang="en-CA" altLang="en-US" sz="22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and you have </a:t>
            </a:r>
            <a:r>
              <a:rPr kumimoji="0" lang="en-CA" altLang="en-US" sz="2200" b="0" i="0" u="none" strike="noStrike" kern="1200" cap="none" spc="0" normalizeH="0" baseline="0" noProof="0">
                <a:ln>
                  <a:noFill/>
                </a:ln>
                <a:solidFill>
                  <a:srgbClr val="C00000"/>
                </a:solidFill>
                <a:effectLst/>
                <a:uLnTx/>
                <a:uFillTx/>
                <a:latin typeface="Arial" panose="020B0604020202020204" pitchFamily="34" charset="0"/>
                <a:ea typeface="+mn-ea"/>
                <a:cs typeface="Arial" panose="020B0604020202020204" pitchFamily="34" charset="0"/>
              </a:rPr>
              <a:t>run out of options</a:t>
            </a:r>
          </a:p>
        </p:txBody>
      </p:sp>
      <p:pic>
        <p:nvPicPr>
          <p:cNvPr id="3" name="Picture 2">
            <a:extLst>
              <a:ext uri="{FF2B5EF4-FFF2-40B4-BE49-F238E27FC236}">
                <a16:creationId xmlns:a16="http://schemas.microsoft.com/office/drawing/2014/main" id="{807BF335-C165-45D3-FBAA-56658882A6D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68275" y="3490913"/>
            <a:ext cx="1760538" cy="180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Content Placeholder 2">
            <a:extLst>
              <a:ext uri="{FF2B5EF4-FFF2-40B4-BE49-F238E27FC236}">
                <a16:creationId xmlns:a16="http://schemas.microsoft.com/office/drawing/2014/main" id="{0437BD9A-D1E1-B871-5301-36757B17F68C}"/>
              </a:ext>
            </a:extLst>
          </p:cNvPr>
          <p:cNvSpPr txBox="1">
            <a:spLocks/>
          </p:cNvSpPr>
          <p:nvPr/>
        </p:nvSpPr>
        <p:spPr bwMode="auto">
          <a:xfrm>
            <a:off x="2109788" y="3856038"/>
            <a:ext cx="6272212"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Denormalization could worsen data redundancy and data anomalies</a:t>
            </a:r>
          </a:p>
        </p:txBody>
      </p:sp>
      <p:sp>
        <p:nvSpPr>
          <p:cNvPr id="11" name="Title 1">
            <a:extLst>
              <a:ext uri="{FF2B5EF4-FFF2-40B4-BE49-F238E27FC236}">
                <a16:creationId xmlns:a16="http://schemas.microsoft.com/office/drawing/2014/main" id="{A501CAD5-C492-1071-7605-F519A602C6BF}"/>
              </a:ext>
            </a:extLst>
          </p:cNvPr>
          <p:cNvSpPr>
            <a:spLocks noGrp="1"/>
          </p:cNvSpPr>
          <p:nvPr>
            <p:ph type="title"/>
          </p:nvPr>
        </p:nvSpPr>
        <p:spPr>
          <a:xfrm>
            <a:off x="457200" y="76200"/>
            <a:ext cx="7620000" cy="1143000"/>
          </a:xfrm>
        </p:spPr>
        <p:txBody>
          <a:bodyPr/>
          <a:lstStyle/>
          <a:p>
            <a:pPr algn="ctr">
              <a:defRPr/>
            </a:pPr>
            <a:r>
              <a:rPr lang="en-US" dirty="0"/>
              <a:t>Relational Database Denormalization</a:t>
            </a:r>
            <a:endParaRPr lang="en-CA"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6" presetClass="entr" presetSubtype="21"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left)">
                                      <p:cBhvr>
                                        <p:cTn id="11" dur="500"/>
                                        <p:tgtEl>
                                          <p:spTgt spid="9"/>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6" presetClass="entr" presetSubtype="21" fill="hold" nodeType="click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barn(inVertical)">
                                      <p:cBhvr>
                                        <p:cTn id="16" dur="500"/>
                                        <p:tgtEl>
                                          <p:spTgt spid="3"/>
                                        </p:tgtEl>
                                      </p:cBhvr>
                                    </p:animEffect>
                                  </p:childTnLst>
                                </p:cTn>
                              </p:par>
                            </p:childTnLst>
                          </p:cTn>
                        </p:par>
                        <p:par>
                          <p:cTn id="17" fill="hold" nodeType="afterGroup">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wipe(left)">
                                      <p:cBhvr>
                                        <p:cTn id="20" dur="500"/>
                                        <p:tgtEl>
                                          <p:spTgt spid="10"/>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1"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wipe(up)">
                                      <p:cBhvr>
                                        <p:cTn id="25" dur="500"/>
                                        <p:tgtEl>
                                          <p:spTgt spid="7"/>
                                        </p:tgtEl>
                                      </p:cBhvr>
                                    </p:animEffect>
                                  </p:childTnLst>
                                </p:cTn>
                              </p:par>
                            </p:childTnLst>
                          </p:cTn>
                        </p:par>
                        <p:par>
                          <p:cTn id="26" fill="hold" nodeType="afterGroup">
                            <p:stCondLst>
                              <p:cond delay="500"/>
                            </p:stCondLst>
                            <p:childTnLst>
                              <p:par>
                                <p:cTn id="27" presetID="22" presetClass="entr" presetSubtype="8" fill="hold" nodeType="afterEffect">
                                  <p:stCondLst>
                                    <p:cond delay="0"/>
                                  </p:stCondLst>
                                  <p:childTnLst>
                                    <p:set>
                                      <p:cBhvr>
                                        <p:cTn id="28" dur="1" fill="hold">
                                          <p:stCondLst>
                                            <p:cond delay="0"/>
                                          </p:stCondLst>
                                        </p:cTn>
                                        <p:tgtEl>
                                          <p:spTgt spid="7">
                                            <p:txEl>
                                              <p:pRg st="0" end="0"/>
                                            </p:txEl>
                                          </p:spTgt>
                                        </p:tgtEl>
                                        <p:attrNameLst>
                                          <p:attrName>style.visibility</p:attrName>
                                        </p:attrNameLst>
                                      </p:cBhvr>
                                      <p:to>
                                        <p:strVal val="visible"/>
                                      </p:to>
                                    </p:set>
                                    <p:animEffect transition="in" filter="wipe(left)">
                                      <p:cBhvr>
                                        <p:cTn id="29"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7" grpId="0" animBg="1"/>
      <p:bldP spid="10" grpId="0"/>
    </p:bld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0665F13C-ABC6-40C7-F32A-D179BCBCAACE}"/>
              </a:ext>
            </a:extLst>
          </p:cNvPr>
          <p:cNvSpPr>
            <a:spLocks noGrp="1" noChangeArrowheads="1"/>
          </p:cNvSpPr>
          <p:nvPr>
            <p:ph type="ctrTitle"/>
          </p:nvPr>
        </p:nvSpPr>
        <p:spPr>
          <a:extLst>
            <a:ext uri="{909E8E84-426E-40DD-AFC4-6F175D3DCCD1}">
              <a14:hiddenFill xmlns:a14="http://schemas.microsoft.com/office/drawing/2010/main">
                <a:solidFill>
                  <a:schemeClr val="bg2"/>
                </a:solidFill>
              </a14:hiddenFill>
            </a:ext>
          </a:extLst>
        </p:spPr>
        <p:txBody>
          <a:bodyPr lIns="228600"/>
          <a:lstStyle/>
          <a:p>
            <a:pPr algn="ctr" eaLnBrk="1" hangingPunct="1"/>
            <a:r>
              <a:rPr lang="en-US" altLang="en-US" sz="4800" b="1"/>
              <a:t>NORMALIZATION</a:t>
            </a:r>
          </a:p>
        </p:txBody>
      </p:sp>
      <p:sp>
        <p:nvSpPr>
          <p:cNvPr id="4099" name="Subtitle 1">
            <a:extLst>
              <a:ext uri="{FF2B5EF4-FFF2-40B4-BE49-F238E27FC236}">
                <a16:creationId xmlns:a16="http://schemas.microsoft.com/office/drawing/2014/main" id="{9869CD35-443E-B81C-4227-A0F1BC585A3B}"/>
              </a:ext>
            </a:extLst>
          </p:cNvPr>
          <p:cNvSpPr>
            <a:spLocks noGrp="1"/>
          </p:cNvSpPr>
          <p:nvPr>
            <p:ph type="subTitle" idx="1"/>
          </p:nvPr>
        </p:nvSpPr>
        <p:spPr/>
        <p:txBody>
          <a:bodyPr/>
          <a:lstStyle/>
          <a:p>
            <a:pPr eaLnBrk="1" hangingPunct="1"/>
            <a:endParaRPr lang="en-US" altLang="en-US"/>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5B3A4CF2-2BD7-758F-317F-EE679B451A0C}"/>
              </a:ext>
            </a:extLst>
          </p:cNvPr>
          <p:cNvSpPr>
            <a:spLocks noGrp="1" noChangeArrowheads="1"/>
          </p:cNvSpPr>
          <p:nvPr>
            <p:ph type="title"/>
          </p:nvPr>
        </p:nvSpPr>
        <p:spPr/>
        <p:txBody>
          <a:bodyPr/>
          <a:lstStyle/>
          <a:p>
            <a:pPr eaLnBrk="1" hangingPunct="1"/>
            <a:r>
              <a:rPr lang="en-NZ" altLang="en-US"/>
              <a:t>Normalisation Example</a:t>
            </a:r>
            <a:endParaRPr lang="en-GB" altLang="en-US"/>
          </a:p>
        </p:txBody>
      </p:sp>
      <p:sp>
        <p:nvSpPr>
          <p:cNvPr id="6147" name="Rectangle 3">
            <a:extLst>
              <a:ext uri="{FF2B5EF4-FFF2-40B4-BE49-F238E27FC236}">
                <a16:creationId xmlns:a16="http://schemas.microsoft.com/office/drawing/2014/main" id="{DD84C4DF-E9E5-6083-4BDA-9A51DB534014}"/>
              </a:ext>
            </a:extLst>
          </p:cNvPr>
          <p:cNvSpPr>
            <a:spLocks noGrp="1" noChangeArrowheads="1"/>
          </p:cNvSpPr>
          <p:nvPr>
            <p:ph type="body" sz="half" idx="1"/>
          </p:nvPr>
        </p:nvSpPr>
        <p:spPr>
          <a:xfrm>
            <a:off x="457200" y="1981200"/>
            <a:ext cx="4033838" cy="3886200"/>
          </a:xfrm>
        </p:spPr>
        <p:txBody>
          <a:bodyPr/>
          <a:lstStyle/>
          <a:p>
            <a:pPr eaLnBrk="1" hangingPunct="1"/>
            <a:r>
              <a:rPr lang="en-NZ" altLang="en-US"/>
              <a:t>We have a table representing orders in an online store</a:t>
            </a:r>
          </a:p>
          <a:p>
            <a:pPr eaLnBrk="1" hangingPunct="1"/>
            <a:r>
              <a:rPr lang="en-NZ" altLang="en-US"/>
              <a:t>Each row represents an item on a particular order</a:t>
            </a:r>
          </a:p>
          <a:p>
            <a:pPr eaLnBrk="1" hangingPunct="1"/>
            <a:r>
              <a:rPr lang="en-NZ" altLang="en-US"/>
              <a:t>Primary key is</a:t>
            </a:r>
            <a:br>
              <a:rPr lang="en-NZ" altLang="en-US"/>
            </a:br>
            <a:r>
              <a:rPr lang="en-NZ" altLang="en-US"/>
              <a:t>{Order, Product}</a:t>
            </a:r>
            <a:endParaRPr lang="en-GB" altLang="en-US"/>
          </a:p>
          <a:p>
            <a:pPr eaLnBrk="1" hangingPunct="1"/>
            <a:endParaRPr lang="en-GB" altLang="en-US"/>
          </a:p>
        </p:txBody>
      </p:sp>
      <p:sp>
        <p:nvSpPr>
          <p:cNvPr id="6148" name="Rectangle 4">
            <a:extLst>
              <a:ext uri="{FF2B5EF4-FFF2-40B4-BE49-F238E27FC236}">
                <a16:creationId xmlns:a16="http://schemas.microsoft.com/office/drawing/2014/main" id="{C8FB9FFE-0033-4977-0D04-F36FA3A8064D}"/>
              </a:ext>
            </a:extLst>
          </p:cNvPr>
          <p:cNvSpPr>
            <a:spLocks noGrp="1" noChangeArrowheads="1"/>
          </p:cNvSpPr>
          <p:nvPr>
            <p:ph type="body" sz="half" idx="2"/>
          </p:nvPr>
        </p:nvSpPr>
        <p:spPr>
          <a:xfrm>
            <a:off x="4652963" y="1981200"/>
            <a:ext cx="4033837" cy="3886200"/>
          </a:xfrm>
        </p:spPr>
        <p:txBody>
          <a:bodyPr/>
          <a:lstStyle/>
          <a:p>
            <a:pPr eaLnBrk="1" hangingPunct="1"/>
            <a:r>
              <a:rPr lang="en-NZ" altLang="en-US"/>
              <a:t>Columns</a:t>
            </a:r>
          </a:p>
          <a:p>
            <a:pPr lvl="1" eaLnBrk="1" hangingPunct="1"/>
            <a:r>
              <a:rPr lang="en-NZ" altLang="en-US" u="sng"/>
              <a:t>Order</a:t>
            </a:r>
          </a:p>
          <a:p>
            <a:pPr lvl="1" eaLnBrk="1" hangingPunct="1"/>
            <a:r>
              <a:rPr lang="en-NZ" altLang="en-US" u="sng"/>
              <a:t>Product</a:t>
            </a:r>
          </a:p>
          <a:p>
            <a:pPr lvl="1" eaLnBrk="1" hangingPunct="1"/>
            <a:r>
              <a:rPr lang="en-NZ" altLang="en-US"/>
              <a:t>Quantity</a:t>
            </a:r>
          </a:p>
          <a:p>
            <a:pPr lvl="1" eaLnBrk="1" hangingPunct="1"/>
            <a:r>
              <a:rPr lang="en-NZ" altLang="en-US"/>
              <a:t>UnitPrice</a:t>
            </a:r>
          </a:p>
          <a:p>
            <a:pPr lvl="1" eaLnBrk="1" hangingPunct="1"/>
            <a:r>
              <a:rPr lang="en-NZ" altLang="en-US"/>
              <a:t>Customer</a:t>
            </a:r>
          </a:p>
          <a:p>
            <a:pPr lvl="1" eaLnBrk="1" hangingPunct="1"/>
            <a:r>
              <a:rPr lang="en-NZ" altLang="en-US"/>
              <a:t>Address</a:t>
            </a:r>
          </a:p>
          <a:p>
            <a:pPr lvl="1" eaLnBrk="1" hangingPunct="1"/>
            <a:endParaRPr lang="en-NZ" altLang="en-US"/>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667C8D78-633B-11E8-9CF8-FEA7564E3305}"/>
              </a:ext>
            </a:extLst>
          </p:cNvPr>
          <p:cNvSpPr>
            <a:spLocks noGrp="1" noChangeArrowheads="1"/>
          </p:cNvSpPr>
          <p:nvPr>
            <p:ph type="title"/>
          </p:nvPr>
        </p:nvSpPr>
        <p:spPr/>
        <p:txBody>
          <a:bodyPr/>
          <a:lstStyle/>
          <a:p>
            <a:pPr eaLnBrk="1" hangingPunct="1"/>
            <a:r>
              <a:rPr lang="en-NZ" altLang="en-US"/>
              <a:t>Functional Dependencies</a:t>
            </a:r>
            <a:endParaRPr lang="en-GB" altLang="en-US"/>
          </a:p>
        </p:txBody>
      </p:sp>
      <p:sp>
        <p:nvSpPr>
          <p:cNvPr id="8195" name="Rectangle 3">
            <a:extLst>
              <a:ext uri="{FF2B5EF4-FFF2-40B4-BE49-F238E27FC236}">
                <a16:creationId xmlns:a16="http://schemas.microsoft.com/office/drawing/2014/main" id="{A3C860D6-5EC0-4C62-5E14-601C24A52136}"/>
              </a:ext>
            </a:extLst>
          </p:cNvPr>
          <p:cNvSpPr>
            <a:spLocks noGrp="1" noChangeArrowheads="1"/>
          </p:cNvSpPr>
          <p:nvPr>
            <p:ph type="body" idx="1"/>
          </p:nvPr>
        </p:nvSpPr>
        <p:spPr>
          <a:xfrm>
            <a:off x="457200" y="1981200"/>
            <a:ext cx="8453438" cy="4389438"/>
          </a:xfrm>
        </p:spPr>
        <p:txBody>
          <a:bodyPr/>
          <a:lstStyle/>
          <a:p>
            <a:pPr eaLnBrk="1" hangingPunct="1">
              <a:tabLst>
                <a:tab pos="1431925" algn="l"/>
              </a:tabLst>
            </a:pPr>
            <a:r>
              <a:rPr lang="en-NZ" altLang="en-US"/>
              <a:t>Each order is for a single customer:</a:t>
            </a:r>
          </a:p>
          <a:p>
            <a:pPr lvl="1" eaLnBrk="1" hangingPunct="1">
              <a:tabLst>
                <a:tab pos="1431925" algn="l"/>
              </a:tabLst>
            </a:pPr>
            <a:r>
              <a:rPr lang="en-NZ" altLang="en-US"/>
              <a:t>Order </a:t>
            </a:r>
            <a:r>
              <a:rPr lang="en-NZ" altLang="en-US">
                <a:sym typeface="Symbol" panose="05050102010706020507" pitchFamily="18" charset="2"/>
              </a:rPr>
              <a:t> Customer</a:t>
            </a:r>
            <a:endParaRPr lang="en-NZ" altLang="en-US"/>
          </a:p>
          <a:p>
            <a:pPr eaLnBrk="1" hangingPunct="1">
              <a:tabLst>
                <a:tab pos="1431925" algn="l"/>
              </a:tabLst>
            </a:pPr>
            <a:r>
              <a:rPr lang="en-NZ" altLang="en-US"/>
              <a:t>Each customer has a single address</a:t>
            </a:r>
          </a:p>
          <a:p>
            <a:pPr lvl="1" eaLnBrk="1" hangingPunct="1">
              <a:tabLst>
                <a:tab pos="1431925" algn="l"/>
              </a:tabLst>
            </a:pPr>
            <a:r>
              <a:rPr lang="en-NZ" altLang="en-US">
                <a:sym typeface="Symbol" panose="05050102010706020507" pitchFamily="18" charset="2"/>
              </a:rPr>
              <a:t>Customer  Address</a:t>
            </a:r>
            <a:endParaRPr lang="en-NZ" altLang="en-US"/>
          </a:p>
          <a:p>
            <a:pPr eaLnBrk="1" hangingPunct="1">
              <a:tabLst>
                <a:tab pos="1431925" algn="l"/>
              </a:tabLst>
            </a:pPr>
            <a:r>
              <a:rPr lang="en-NZ" altLang="en-US"/>
              <a:t>Each product has a single price</a:t>
            </a:r>
          </a:p>
          <a:p>
            <a:pPr lvl="1" eaLnBrk="1" hangingPunct="1">
              <a:tabLst>
                <a:tab pos="1431925" algn="l"/>
              </a:tabLst>
            </a:pPr>
            <a:r>
              <a:rPr lang="en-NZ" altLang="en-US">
                <a:sym typeface="Symbol" panose="05050102010706020507" pitchFamily="18" charset="2"/>
              </a:rPr>
              <a:t>Product  UnitPrice</a:t>
            </a:r>
            <a:endParaRPr lang="en-NZ" altLang="en-US"/>
          </a:p>
          <a:p>
            <a:pPr eaLnBrk="1" hangingPunct="1">
              <a:tabLst>
                <a:tab pos="1431925" algn="l"/>
              </a:tabLst>
            </a:pPr>
            <a:r>
              <a:rPr lang="en-NZ" altLang="en-US"/>
              <a:t>As Order </a:t>
            </a:r>
            <a:r>
              <a:rPr lang="en-NZ" altLang="en-US">
                <a:sym typeface="Symbol" panose="05050102010706020507" pitchFamily="18" charset="2"/>
              </a:rPr>
              <a:t> Customer and Customer  Address</a:t>
            </a:r>
          </a:p>
          <a:p>
            <a:pPr lvl="1" eaLnBrk="1" hangingPunct="1">
              <a:tabLst>
                <a:tab pos="1431925" algn="l"/>
              </a:tabLst>
            </a:pPr>
            <a:r>
              <a:rPr lang="en-NZ" altLang="en-US"/>
              <a:t>Order </a:t>
            </a:r>
            <a:r>
              <a:rPr lang="en-NZ" altLang="en-US">
                <a:sym typeface="Symbol" panose="05050102010706020507" pitchFamily="18" charset="2"/>
              </a:rPr>
              <a:t> Address</a:t>
            </a:r>
            <a:endParaRPr lang="en-GB" altLang="en-US"/>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656950E7-6DFB-17A3-CF9D-A1ABF291B747}"/>
              </a:ext>
            </a:extLst>
          </p:cNvPr>
          <p:cNvSpPr>
            <a:spLocks noGrp="1" noChangeArrowheads="1"/>
          </p:cNvSpPr>
          <p:nvPr>
            <p:ph type="title" idx="4294967295"/>
          </p:nvPr>
        </p:nvSpPr>
        <p:spPr>
          <a:xfrm>
            <a:off x="0" y="457200"/>
            <a:ext cx="8229600" cy="1371600"/>
          </a:xfrm>
        </p:spPr>
        <p:txBody>
          <a:bodyPr/>
          <a:lstStyle/>
          <a:p>
            <a:pPr eaLnBrk="1" hangingPunct="1"/>
            <a:r>
              <a:rPr lang="en-US" altLang="en-US"/>
              <a:t> 2NF Solution (I)</a:t>
            </a:r>
          </a:p>
        </p:txBody>
      </p:sp>
      <p:sp>
        <p:nvSpPr>
          <p:cNvPr id="10243" name="Rectangle 3">
            <a:extLst>
              <a:ext uri="{FF2B5EF4-FFF2-40B4-BE49-F238E27FC236}">
                <a16:creationId xmlns:a16="http://schemas.microsoft.com/office/drawing/2014/main" id="{44DC47CD-B50D-6F6E-91A6-CFDA184E35F0}"/>
              </a:ext>
            </a:extLst>
          </p:cNvPr>
          <p:cNvSpPr>
            <a:spLocks noGrp="1" noChangeArrowheads="1"/>
          </p:cNvSpPr>
          <p:nvPr>
            <p:ph type="body" idx="4294967295"/>
          </p:nvPr>
        </p:nvSpPr>
        <p:spPr>
          <a:xfrm>
            <a:off x="0" y="1981200"/>
            <a:ext cx="8229600" cy="3886200"/>
          </a:xfrm>
        </p:spPr>
        <p:txBody>
          <a:bodyPr/>
          <a:lstStyle/>
          <a:p>
            <a:pPr eaLnBrk="1" hangingPunct="1"/>
            <a:r>
              <a:rPr lang="en-US" altLang="en-US" b="1" i="1"/>
              <a:t>First decomposition</a:t>
            </a:r>
          </a:p>
          <a:p>
            <a:pPr lvl="1" eaLnBrk="1" hangingPunct="1"/>
            <a:r>
              <a:rPr lang="en-US" altLang="en-US"/>
              <a:t>First table</a:t>
            </a:r>
          </a:p>
          <a:p>
            <a:pPr lvl="1" eaLnBrk="1" hangingPunct="1"/>
            <a:endParaRPr lang="en-US" altLang="en-US"/>
          </a:p>
          <a:p>
            <a:pPr lvl="1" eaLnBrk="1" hangingPunct="1"/>
            <a:endParaRPr lang="en-US" altLang="en-US"/>
          </a:p>
          <a:p>
            <a:pPr lvl="1" eaLnBrk="1" hangingPunct="1"/>
            <a:r>
              <a:rPr lang="en-US" altLang="en-US"/>
              <a:t>Second table</a:t>
            </a:r>
          </a:p>
        </p:txBody>
      </p:sp>
      <p:graphicFrame>
        <p:nvGraphicFramePr>
          <p:cNvPr id="98381" name="Group 77">
            <a:extLst>
              <a:ext uri="{FF2B5EF4-FFF2-40B4-BE49-F238E27FC236}">
                <a16:creationId xmlns:a16="http://schemas.microsoft.com/office/drawing/2014/main" id="{7528746E-45D8-8842-EEFE-C730B42DAA9A}"/>
              </a:ext>
            </a:extLst>
          </p:cNvPr>
          <p:cNvGraphicFramePr>
            <a:graphicFrameLocks noGrp="1"/>
          </p:cNvGraphicFramePr>
          <p:nvPr>
            <p:ph sz="half" idx="4294967295"/>
          </p:nvPr>
        </p:nvGraphicFramePr>
        <p:xfrm>
          <a:off x="1768475" y="3271838"/>
          <a:ext cx="5607050" cy="517525"/>
        </p:xfrm>
        <a:graphic>
          <a:graphicData uri="http://schemas.openxmlformats.org/drawingml/2006/table">
            <a:tbl>
              <a:tblPr/>
              <a:tblGrid>
                <a:gridCol w="1168400">
                  <a:extLst>
                    <a:ext uri="{9D8B030D-6E8A-4147-A177-3AD203B41FA5}">
                      <a16:colId xmlns:a16="http://schemas.microsoft.com/office/drawing/2014/main" val="4045542496"/>
                    </a:ext>
                  </a:extLst>
                </a:gridCol>
                <a:gridCol w="1431925">
                  <a:extLst>
                    <a:ext uri="{9D8B030D-6E8A-4147-A177-3AD203B41FA5}">
                      <a16:colId xmlns:a16="http://schemas.microsoft.com/office/drawing/2014/main" val="1583822621"/>
                    </a:ext>
                  </a:extLst>
                </a:gridCol>
                <a:gridCol w="1409700">
                  <a:extLst>
                    <a:ext uri="{9D8B030D-6E8A-4147-A177-3AD203B41FA5}">
                      <a16:colId xmlns:a16="http://schemas.microsoft.com/office/drawing/2014/main" val="3250942522"/>
                    </a:ext>
                  </a:extLst>
                </a:gridCol>
                <a:gridCol w="1597025">
                  <a:extLst>
                    <a:ext uri="{9D8B030D-6E8A-4147-A177-3AD203B41FA5}">
                      <a16:colId xmlns:a16="http://schemas.microsoft.com/office/drawing/2014/main" val="1493538684"/>
                    </a:ext>
                  </a:extLst>
                </a:gridCol>
              </a:tblGrid>
              <a:tr h="517525">
                <a:tc>
                  <a:txBody>
                    <a:bodyPr/>
                    <a:lstStyle>
                      <a:lvl1pPr>
                        <a:spcBef>
                          <a:spcPct val="20000"/>
                        </a:spcBef>
                        <a:buClr>
                          <a:schemeClr val="bg2"/>
                        </a:buClr>
                        <a:buSzPct val="7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2pPr>
                      <a:lvl3pPr>
                        <a:spcBef>
                          <a:spcPct val="20000"/>
                        </a:spcBef>
                        <a:buClr>
                          <a:schemeClr val="bg2"/>
                        </a:buClr>
                        <a:buSzPct val="6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3pPr>
                      <a:lvl4pPr>
                        <a:spcBef>
                          <a:spcPct val="20000"/>
                        </a:spcBef>
                        <a:buClr>
                          <a:schemeClr val="accent2"/>
                        </a:buClr>
                        <a:buSzPct val="70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4pPr>
                      <a:lvl5pPr>
                        <a:spcBef>
                          <a:spcPct val="20000"/>
                        </a:spcBef>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2400" b="0" i="0" u="sng" strike="noStrike" cap="none" normalizeH="0" baseline="0">
                          <a:ln>
                            <a:noFill/>
                          </a:ln>
                          <a:solidFill>
                            <a:schemeClr val="tx1"/>
                          </a:solidFill>
                          <a:effectLst/>
                          <a:latin typeface="Arial" panose="020B0604020202020204" pitchFamily="34" charset="0"/>
                          <a:cs typeface="Arial" panose="020B0604020202020204" pitchFamily="34" charset="0"/>
                        </a:rPr>
                        <a:t>Order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2pPr>
                      <a:lvl3pPr>
                        <a:spcBef>
                          <a:spcPct val="20000"/>
                        </a:spcBef>
                        <a:buClr>
                          <a:schemeClr val="bg2"/>
                        </a:buClr>
                        <a:buSzPct val="6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3pPr>
                      <a:lvl4pPr>
                        <a:spcBef>
                          <a:spcPct val="20000"/>
                        </a:spcBef>
                        <a:buClr>
                          <a:schemeClr val="accent2"/>
                        </a:buClr>
                        <a:buSzPct val="70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4pPr>
                      <a:lvl5pPr>
                        <a:spcBef>
                          <a:spcPct val="20000"/>
                        </a:spcBef>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2400" b="0" i="0" u="sng" strike="noStrike" cap="none" normalizeH="0" baseline="0">
                          <a:ln>
                            <a:noFill/>
                          </a:ln>
                          <a:solidFill>
                            <a:schemeClr val="tx1"/>
                          </a:solidFill>
                          <a:effectLst/>
                          <a:latin typeface="Arial" panose="020B0604020202020204" pitchFamily="34" charset="0"/>
                          <a:cs typeface="Arial" panose="020B0604020202020204" pitchFamily="34" charset="0"/>
                        </a:rPr>
                        <a:t>Product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2pPr>
                      <a:lvl3pPr>
                        <a:spcBef>
                          <a:spcPct val="20000"/>
                        </a:spcBef>
                        <a:buClr>
                          <a:schemeClr val="bg2"/>
                        </a:buClr>
                        <a:buSzPct val="6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3pPr>
                      <a:lvl4pPr>
                        <a:spcBef>
                          <a:spcPct val="20000"/>
                        </a:spcBef>
                        <a:buClr>
                          <a:schemeClr val="accent2"/>
                        </a:buClr>
                        <a:buSzPct val="70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4pPr>
                      <a:lvl5pPr>
                        <a:spcBef>
                          <a:spcPct val="20000"/>
                        </a:spcBef>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2400" b="0" i="0" u="none" strike="noStrike" cap="none" normalizeH="0" baseline="0">
                          <a:ln>
                            <a:noFill/>
                          </a:ln>
                          <a:solidFill>
                            <a:schemeClr val="tx1"/>
                          </a:solidFill>
                          <a:effectLst/>
                          <a:latin typeface="Arial" panose="020B0604020202020204" pitchFamily="34" charset="0"/>
                          <a:cs typeface="Arial" panose="020B0604020202020204" pitchFamily="34" charset="0"/>
                        </a:rPr>
                        <a:t>Quantity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2pPr>
                      <a:lvl3pPr>
                        <a:spcBef>
                          <a:spcPct val="20000"/>
                        </a:spcBef>
                        <a:buClr>
                          <a:schemeClr val="bg2"/>
                        </a:buClr>
                        <a:buSzPct val="6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3pPr>
                      <a:lvl4pPr>
                        <a:spcBef>
                          <a:spcPct val="20000"/>
                        </a:spcBef>
                        <a:buClr>
                          <a:schemeClr val="accent2"/>
                        </a:buClr>
                        <a:buSzPct val="70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4pPr>
                      <a:lvl5pPr>
                        <a:spcBef>
                          <a:spcPct val="20000"/>
                        </a:spcBef>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2400" b="0" i="0" u="none" strike="noStrike" cap="none" normalizeH="0" baseline="0">
                          <a:ln>
                            <a:noFill/>
                          </a:ln>
                          <a:solidFill>
                            <a:schemeClr val="tx1"/>
                          </a:solidFill>
                          <a:effectLst/>
                          <a:latin typeface="Arial" panose="020B0604020202020204" pitchFamily="34" charset="0"/>
                          <a:cs typeface="Arial" panose="020B0604020202020204" pitchFamily="34" charset="0"/>
                        </a:rPr>
                        <a:t>UnitPrice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466472747"/>
                  </a:ext>
                </a:extLst>
              </a:tr>
            </a:tbl>
          </a:graphicData>
        </a:graphic>
      </p:graphicFrame>
      <p:graphicFrame>
        <p:nvGraphicFramePr>
          <p:cNvPr id="98378" name="Group 74">
            <a:extLst>
              <a:ext uri="{FF2B5EF4-FFF2-40B4-BE49-F238E27FC236}">
                <a16:creationId xmlns:a16="http://schemas.microsoft.com/office/drawing/2014/main" id="{021B23B1-04C4-CF8F-3E96-E77DF98073ED}"/>
              </a:ext>
            </a:extLst>
          </p:cNvPr>
          <p:cNvGraphicFramePr>
            <a:graphicFrameLocks noGrp="1"/>
          </p:cNvGraphicFramePr>
          <p:nvPr/>
        </p:nvGraphicFramePr>
        <p:xfrm>
          <a:off x="1768475" y="4746625"/>
          <a:ext cx="4291013" cy="476250"/>
        </p:xfrm>
        <a:graphic>
          <a:graphicData uri="http://schemas.openxmlformats.org/drawingml/2006/table">
            <a:tbl>
              <a:tblPr/>
              <a:tblGrid>
                <a:gridCol w="1168400">
                  <a:extLst>
                    <a:ext uri="{9D8B030D-6E8A-4147-A177-3AD203B41FA5}">
                      <a16:colId xmlns:a16="http://schemas.microsoft.com/office/drawing/2014/main" val="3919277976"/>
                    </a:ext>
                  </a:extLst>
                </a:gridCol>
                <a:gridCol w="1525588">
                  <a:extLst>
                    <a:ext uri="{9D8B030D-6E8A-4147-A177-3AD203B41FA5}">
                      <a16:colId xmlns:a16="http://schemas.microsoft.com/office/drawing/2014/main" val="3855498791"/>
                    </a:ext>
                  </a:extLst>
                </a:gridCol>
                <a:gridCol w="1597025">
                  <a:extLst>
                    <a:ext uri="{9D8B030D-6E8A-4147-A177-3AD203B41FA5}">
                      <a16:colId xmlns:a16="http://schemas.microsoft.com/office/drawing/2014/main" val="2536145929"/>
                    </a:ext>
                  </a:extLst>
                </a:gridCol>
              </a:tblGrid>
              <a:tr h="476250">
                <a:tc>
                  <a:txBody>
                    <a:bodyPr/>
                    <a:lstStyle>
                      <a:lvl1pPr>
                        <a:spcBef>
                          <a:spcPct val="20000"/>
                        </a:spcBef>
                        <a:buClr>
                          <a:schemeClr val="bg2"/>
                        </a:buClr>
                        <a:buSzPct val="7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2pPr>
                      <a:lvl3pPr>
                        <a:spcBef>
                          <a:spcPct val="20000"/>
                        </a:spcBef>
                        <a:buClr>
                          <a:schemeClr val="bg2"/>
                        </a:buClr>
                        <a:buSzPct val="6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3pPr>
                      <a:lvl4pPr>
                        <a:spcBef>
                          <a:spcPct val="20000"/>
                        </a:spcBef>
                        <a:buClr>
                          <a:schemeClr val="accent2"/>
                        </a:buClr>
                        <a:buSzPct val="70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4pPr>
                      <a:lvl5pPr>
                        <a:spcBef>
                          <a:spcPct val="20000"/>
                        </a:spcBef>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2400" b="0" i="0" u="sng" strike="noStrike" cap="none" normalizeH="0" baseline="0">
                          <a:ln>
                            <a:noFill/>
                          </a:ln>
                          <a:solidFill>
                            <a:schemeClr val="tx1"/>
                          </a:solidFill>
                          <a:effectLst/>
                          <a:latin typeface="Arial" panose="020B0604020202020204" pitchFamily="34" charset="0"/>
                          <a:cs typeface="Arial" panose="020B0604020202020204" pitchFamily="34" charset="0"/>
                        </a:rPr>
                        <a:t>Order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2pPr>
                      <a:lvl3pPr>
                        <a:spcBef>
                          <a:spcPct val="20000"/>
                        </a:spcBef>
                        <a:buClr>
                          <a:schemeClr val="bg2"/>
                        </a:buClr>
                        <a:buSzPct val="6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3pPr>
                      <a:lvl4pPr>
                        <a:spcBef>
                          <a:spcPct val="20000"/>
                        </a:spcBef>
                        <a:buClr>
                          <a:schemeClr val="accent2"/>
                        </a:buClr>
                        <a:buSzPct val="70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4pPr>
                      <a:lvl5pPr>
                        <a:spcBef>
                          <a:spcPct val="20000"/>
                        </a:spcBef>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2400" b="0" i="0" u="none" strike="noStrike" cap="none" normalizeH="0" baseline="0">
                          <a:ln>
                            <a:noFill/>
                          </a:ln>
                          <a:solidFill>
                            <a:schemeClr val="tx1"/>
                          </a:solidFill>
                          <a:effectLst/>
                          <a:latin typeface="Arial" panose="020B0604020202020204" pitchFamily="34" charset="0"/>
                          <a:cs typeface="Arial" panose="020B0604020202020204" pitchFamily="34" charset="0"/>
                        </a:rPr>
                        <a:t>Customer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2pPr>
                      <a:lvl3pPr>
                        <a:spcBef>
                          <a:spcPct val="20000"/>
                        </a:spcBef>
                        <a:buClr>
                          <a:schemeClr val="bg2"/>
                        </a:buClr>
                        <a:buSzPct val="6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3pPr>
                      <a:lvl4pPr>
                        <a:spcBef>
                          <a:spcPct val="20000"/>
                        </a:spcBef>
                        <a:buClr>
                          <a:schemeClr val="accent2"/>
                        </a:buClr>
                        <a:buSzPct val="70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4pPr>
                      <a:lvl5pPr>
                        <a:spcBef>
                          <a:spcPct val="20000"/>
                        </a:spcBef>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2400" b="0" i="0" u="none" strike="noStrike" cap="none" normalizeH="0" baseline="0">
                          <a:ln>
                            <a:noFill/>
                          </a:ln>
                          <a:solidFill>
                            <a:schemeClr val="tx1"/>
                          </a:solidFill>
                          <a:effectLst/>
                          <a:latin typeface="Arial" panose="020B0604020202020204" pitchFamily="34" charset="0"/>
                          <a:cs typeface="Arial" panose="020B0604020202020204" pitchFamily="34" charset="0"/>
                        </a:rPr>
                        <a:t>Address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976957322"/>
                  </a:ext>
                </a:extLst>
              </a:tr>
            </a:tbl>
          </a:graphicData>
        </a:graphic>
      </p:graphicFrame>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3BBF6701-EAE9-CDE1-681A-16AF04E3D975}"/>
              </a:ext>
            </a:extLst>
          </p:cNvPr>
          <p:cNvSpPr>
            <a:spLocks noGrp="1" noChangeArrowheads="1"/>
          </p:cNvSpPr>
          <p:nvPr>
            <p:ph type="title" idx="4294967295"/>
          </p:nvPr>
        </p:nvSpPr>
        <p:spPr>
          <a:xfrm>
            <a:off x="0" y="457200"/>
            <a:ext cx="8229600" cy="1371600"/>
          </a:xfrm>
        </p:spPr>
        <p:txBody>
          <a:bodyPr/>
          <a:lstStyle/>
          <a:p>
            <a:pPr eaLnBrk="1" hangingPunct="1"/>
            <a:r>
              <a:rPr lang="en-US" altLang="en-US"/>
              <a:t> 2NF Solution (II)</a:t>
            </a:r>
          </a:p>
        </p:txBody>
      </p:sp>
      <p:sp>
        <p:nvSpPr>
          <p:cNvPr id="11267" name="Rectangle 3">
            <a:extLst>
              <a:ext uri="{FF2B5EF4-FFF2-40B4-BE49-F238E27FC236}">
                <a16:creationId xmlns:a16="http://schemas.microsoft.com/office/drawing/2014/main" id="{D6B0FBB5-F6CB-B78B-A760-7AC8DA69E156}"/>
              </a:ext>
            </a:extLst>
          </p:cNvPr>
          <p:cNvSpPr>
            <a:spLocks noGrp="1" noChangeArrowheads="1"/>
          </p:cNvSpPr>
          <p:nvPr>
            <p:ph type="body" idx="4294967295"/>
          </p:nvPr>
        </p:nvSpPr>
        <p:spPr>
          <a:xfrm>
            <a:off x="0" y="1981200"/>
            <a:ext cx="8229600" cy="3886200"/>
          </a:xfrm>
        </p:spPr>
        <p:txBody>
          <a:bodyPr/>
          <a:lstStyle/>
          <a:p>
            <a:pPr eaLnBrk="1" hangingPunct="1"/>
            <a:r>
              <a:rPr lang="en-US" altLang="en-US" b="1" i="1"/>
              <a:t>Second decomposition</a:t>
            </a:r>
          </a:p>
          <a:p>
            <a:pPr lvl="1" eaLnBrk="1" hangingPunct="1"/>
            <a:r>
              <a:rPr lang="en-US" altLang="en-US"/>
              <a:t>First table</a:t>
            </a:r>
          </a:p>
          <a:p>
            <a:pPr lvl="1" eaLnBrk="1" hangingPunct="1">
              <a:spcBef>
                <a:spcPct val="200000"/>
              </a:spcBef>
            </a:pPr>
            <a:r>
              <a:rPr lang="en-US" altLang="en-US"/>
              <a:t>Second table</a:t>
            </a:r>
          </a:p>
          <a:p>
            <a:pPr lvl="1" eaLnBrk="1" hangingPunct="1">
              <a:spcBef>
                <a:spcPct val="200000"/>
              </a:spcBef>
            </a:pPr>
            <a:r>
              <a:rPr lang="en-US" altLang="en-US"/>
              <a:t>Third table</a:t>
            </a:r>
          </a:p>
        </p:txBody>
      </p:sp>
      <p:graphicFrame>
        <p:nvGraphicFramePr>
          <p:cNvPr id="105517" name="Group 45">
            <a:extLst>
              <a:ext uri="{FF2B5EF4-FFF2-40B4-BE49-F238E27FC236}">
                <a16:creationId xmlns:a16="http://schemas.microsoft.com/office/drawing/2014/main" id="{61D8DCBA-C9FC-AD80-66B6-41B25402954D}"/>
              </a:ext>
            </a:extLst>
          </p:cNvPr>
          <p:cNvGraphicFramePr>
            <a:graphicFrameLocks noGrp="1"/>
          </p:cNvGraphicFramePr>
          <p:nvPr>
            <p:ph sz="half" idx="4294967295"/>
          </p:nvPr>
        </p:nvGraphicFramePr>
        <p:xfrm>
          <a:off x="1768475" y="3140075"/>
          <a:ext cx="4197350" cy="517880"/>
        </p:xfrm>
        <a:graphic>
          <a:graphicData uri="http://schemas.openxmlformats.org/drawingml/2006/table">
            <a:tbl>
              <a:tblPr/>
              <a:tblGrid>
                <a:gridCol w="1168400">
                  <a:extLst>
                    <a:ext uri="{9D8B030D-6E8A-4147-A177-3AD203B41FA5}">
                      <a16:colId xmlns:a16="http://schemas.microsoft.com/office/drawing/2014/main" val="1071342560"/>
                    </a:ext>
                  </a:extLst>
                </a:gridCol>
                <a:gridCol w="1431925">
                  <a:extLst>
                    <a:ext uri="{9D8B030D-6E8A-4147-A177-3AD203B41FA5}">
                      <a16:colId xmlns:a16="http://schemas.microsoft.com/office/drawing/2014/main" val="3379090621"/>
                    </a:ext>
                  </a:extLst>
                </a:gridCol>
                <a:gridCol w="1597025">
                  <a:extLst>
                    <a:ext uri="{9D8B030D-6E8A-4147-A177-3AD203B41FA5}">
                      <a16:colId xmlns:a16="http://schemas.microsoft.com/office/drawing/2014/main" val="2535979973"/>
                    </a:ext>
                  </a:extLst>
                </a:gridCol>
              </a:tblGrid>
              <a:tr h="517525">
                <a:tc>
                  <a:txBody>
                    <a:bodyPr/>
                    <a:lstStyle>
                      <a:lvl1pPr>
                        <a:spcBef>
                          <a:spcPct val="20000"/>
                        </a:spcBef>
                        <a:buClr>
                          <a:schemeClr val="bg2"/>
                        </a:buClr>
                        <a:buSzPct val="7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2pPr>
                      <a:lvl3pPr>
                        <a:spcBef>
                          <a:spcPct val="20000"/>
                        </a:spcBef>
                        <a:buClr>
                          <a:schemeClr val="bg2"/>
                        </a:buClr>
                        <a:buSzPct val="6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3pPr>
                      <a:lvl4pPr>
                        <a:spcBef>
                          <a:spcPct val="20000"/>
                        </a:spcBef>
                        <a:buClr>
                          <a:schemeClr val="accent2"/>
                        </a:buClr>
                        <a:buSzPct val="70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4pPr>
                      <a:lvl5pPr>
                        <a:spcBef>
                          <a:spcPct val="20000"/>
                        </a:spcBef>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2800" b="0" i="0" u="sng" strike="noStrike" cap="none" normalizeH="0" baseline="0">
                          <a:ln>
                            <a:noFill/>
                          </a:ln>
                          <a:solidFill>
                            <a:schemeClr val="tx1"/>
                          </a:solidFill>
                          <a:effectLst/>
                          <a:latin typeface="Arial" panose="020B0604020202020204" pitchFamily="34" charset="0"/>
                          <a:cs typeface="Arial" panose="020B0604020202020204" pitchFamily="34" charset="0"/>
                        </a:rPr>
                        <a:t>Order </a:t>
                      </a:r>
                    </a:p>
                  </a:txBody>
                  <a:tcPr marT="45580" marB="4558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2pPr>
                      <a:lvl3pPr>
                        <a:spcBef>
                          <a:spcPct val="20000"/>
                        </a:spcBef>
                        <a:buClr>
                          <a:schemeClr val="bg2"/>
                        </a:buClr>
                        <a:buSzPct val="6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3pPr>
                      <a:lvl4pPr>
                        <a:spcBef>
                          <a:spcPct val="20000"/>
                        </a:spcBef>
                        <a:buClr>
                          <a:schemeClr val="accent2"/>
                        </a:buClr>
                        <a:buSzPct val="70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4pPr>
                      <a:lvl5pPr>
                        <a:spcBef>
                          <a:spcPct val="20000"/>
                        </a:spcBef>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2800" b="0" i="0" u="sng" strike="noStrike" cap="none" normalizeH="0" baseline="0">
                          <a:ln>
                            <a:noFill/>
                          </a:ln>
                          <a:solidFill>
                            <a:schemeClr val="tx1"/>
                          </a:solidFill>
                          <a:effectLst/>
                          <a:latin typeface="Arial" panose="020B0604020202020204" pitchFamily="34" charset="0"/>
                          <a:cs typeface="Arial" panose="020B0604020202020204" pitchFamily="34" charset="0"/>
                        </a:rPr>
                        <a:t>Product</a:t>
                      </a:r>
                    </a:p>
                  </a:txBody>
                  <a:tcPr marT="45580" marB="455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2pPr>
                      <a:lvl3pPr>
                        <a:spcBef>
                          <a:spcPct val="20000"/>
                        </a:spcBef>
                        <a:buClr>
                          <a:schemeClr val="bg2"/>
                        </a:buClr>
                        <a:buSzPct val="6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3pPr>
                      <a:lvl4pPr>
                        <a:spcBef>
                          <a:spcPct val="20000"/>
                        </a:spcBef>
                        <a:buClr>
                          <a:schemeClr val="accent2"/>
                        </a:buClr>
                        <a:buSzPct val="70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4pPr>
                      <a:lvl5pPr>
                        <a:spcBef>
                          <a:spcPct val="20000"/>
                        </a:spcBef>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2800" b="0" i="0" u="none" strike="noStrike" cap="none" normalizeH="0" baseline="0">
                          <a:ln>
                            <a:noFill/>
                          </a:ln>
                          <a:solidFill>
                            <a:schemeClr val="tx1"/>
                          </a:solidFill>
                          <a:effectLst/>
                          <a:latin typeface="Arial" panose="020B0604020202020204" pitchFamily="34" charset="0"/>
                          <a:cs typeface="Arial" panose="020B0604020202020204" pitchFamily="34" charset="0"/>
                        </a:rPr>
                        <a:t>Quantity</a:t>
                      </a:r>
                    </a:p>
                  </a:txBody>
                  <a:tcPr marT="45580" marB="4558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771131982"/>
                  </a:ext>
                </a:extLst>
              </a:tr>
            </a:tbl>
          </a:graphicData>
        </a:graphic>
      </p:graphicFrame>
      <p:graphicFrame>
        <p:nvGraphicFramePr>
          <p:cNvPr id="105519" name="Group 47">
            <a:extLst>
              <a:ext uri="{FF2B5EF4-FFF2-40B4-BE49-F238E27FC236}">
                <a16:creationId xmlns:a16="http://schemas.microsoft.com/office/drawing/2014/main" id="{E0269A43-75E9-FA22-D2F3-4A676FB2B49F}"/>
              </a:ext>
            </a:extLst>
          </p:cNvPr>
          <p:cNvGraphicFramePr>
            <a:graphicFrameLocks noGrp="1"/>
          </p:cNvGraphicFramePr>
          <p:nvPr/>
        </p:nvGraphicFramePr>
        <p:xfrm>
          <a:off x="1768475" y="4500563"/>
          <a:ext cx="4876800" cy="517880"/>
        </p:xfrm>
        <a:graphic>
          <a:graphicData uri="http://schemas.openxmlformats.org/drawingml/2006/table">
            <a:tbl>
              <a:tblPr/>
              <a:tblGrid>
                <a:gridCol w="1168400">
                  <a:extLst>
                    <a:ext uri="{9D8B030D-6E8A-4147-A177-3AD203B41FA5}">
                      <a16:colId xmlns:a16="http://schemas.microsoft.com/office/drawing/2014/main" val="3785031820"/>
                    </a:ext>
                  </a:extLst>
                </a:gridCol>
                <a:gridCol w="1893888">
                  <a:extLst>
                    <a:ext uri="{9D8B030D-6E8A-4147-A177-3AD203B41FA5}">
                      <a16:colId xmlns:a16="http://schemas.microsoft.com/office/drawing/2014/main" val="4101301444"/>
                    </a:ext>
                  </a:extLst>
                </a:gridCol>
                <a:gridCol w="1814512">
                  <a:extLst>
                    <a:ext uri="{9D8B030D-6E8A-4147-A177-3AD203B41FA5}">
                      <a16:colId xmlns:a16="http://schemas.microsoft.com/office/drawing/2014/main" val="655051602"/>
                    </a:ext>
                  </a:extLst>
                </a:gridCol>
              </a:tblGrid>
              <a:tr h="517525">
                <a:tc>
                  <a:txBody>
                    <a:bodyPr/>
                    <a:lstStyle>
                      <a:lvl1pPr>
                        <a:spcBef>
                          <a:spcPct val="20000"/>
                        </a:spcBef>
                        <a:buClr>
                          <a:schemeClr val="bg2"/>
                        </a:buClr>
                        <a:buSzPct val="7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2pPr>
                      <a:lvl3pPr>
                        <a:spcBef>
                          <a:spcPct val="20000"/>
                        </a:spcBef>
                        <a:buClr>
                          <a:schemeClr val="bg2"/>
                        </a:buClr>
                        <a:buSzPct val="6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3pPr>
                      <a:lvl4pPr>
                        <a:spcBef>
                          <a:spcPct val="20000"/>
                        </a:spcBef>
                        <a:buClr>
                          <a:schemeClr val="accent2"/>
                        </a:buClr>
                        <a:buSzPct val="70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4pPr>
                      <a:lvl5pPr>
                        <a:spcBef>
                          <a:spcPct val="20000"/>
                        </a:spcBef>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2800" b="0" i="0" u="sng" strike="noStrike" cap="none" normalizeH="0" baseline="0">
                          <a:ln>
                            <a:noFill/>
                          </a:ln>
                          <a:solidFill>
                            <a:schemeClr val="tx1"/>
                          </a:solidFill>
                          <a:effectLst/>
                          <a:latin typeface="Arial" panose="020B0604020202020204" pitchFamily="34" charset="0"/>
                          <a:cs typeface="Arial" panose="020B0604020202020204" pitchFamily="34" charset="0"/>
                        </a:rPr>
                        <a:t>Order </a:t>
                      </a:r>
                    </a:p>
                  </a:txBody>
                  <a:tcPr marT="45580" marB="4558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2pPr>
                      <a:lvl3pPr>
                        <a:spcBef>
                          <a:spcPct val="20000"/>
                        </a:spcBef>
                        <a:buClr>
                          <a:schemeClr val="bg2"/>
                        </a:buClr>
                        <a:buSzPct val="6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3pPr>
                      <a:lvl4pPr>
                        <a:spcBef>
                          <a:spcPct val="20000"/>
                        </a:spcBef>
                        <a:buClr>
                          <a:schemeClr val="accent2"/>
                        </a:buClr>
                        <a:buSzPct val="70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4pPr>
                      <a:lvl5pPr>
                        <a:spcBef>
                          <a:spcPct val="20000"/>
                        </a:spcBef>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2800" b="0" i="0" u="none" strike="noStrike" cap="none" normalizeH="0" baseline="0">
                          <a:ln>
                            <a:noFill/>
                          </a:ln>
                          <a:solidFill>
                            <a:schemeClr val="tx1"/>
                          </a:solidFill>
                          <a:effectLst/>
                          <a:latin typeface="Arial" panose="020B0604020202020204" pitchFamily="34" charset="0"/>
                          <a:cs typeface="Arial" panose="020B0604020202020204" pitchFamily="34" charset="0"/>
                        </a:rPr>
                        <a:t>Customer</a:t>
                      </a:r>
                    </a:p>
                  </a:txBody>
                  <a:tcPr marT="45580" marB="455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2pPr>
                      <a:lvl3pPr>
                        <a:spcBef>
                          <a:spcPct val="20000"/>
                        </a:spcBef>
                        <a:buClr>
                          <a:schemeClr val="bg2"/>
                        </a:buClr>
                        <a:buSzPct val="6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3pPr>
                      <a:lvl4pPr>
                        <a:spcBef>
                          <a:spcPct val="20000"/>
                        </a:spcBef>
                        <a:buClr>
                          <a:schemeClr val="accent2"/>
                        </a:buClr>
                        <a:buSzPct val="70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4pPr>
                      <a:lvl5pPr>
                        <a:spcBef>
                          <a:spcPct val="20000"/>
                        </a:spcBef>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2800" b="0" i="0" u="none" strike="noStrike" cap="none" normalizeH="0" baseline="0">
                          <a:ln>
                            <a:noFill/>
                          </a:ln>
                          <a:solidFill>
                            <a:schemeClr val="tx1"/>
                          </a:solidFill>
                          <a:effectLst/>
                          <a:latin typeface="Arial" panose="020B0604020202020204" pitchFamily="34" charset="0"/>
                          <a:cs typeface="Arial" panose="020B0604020202020204" pitchFamily="34" charset="0"/>
                        </a:rPr>
                        <a:t>Address</a:t>
                      </a:r>
                    </a:p>
                  </a:txBody>
                  <a:tcPr marT="45580" marB="4558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487380400"/>
                  </a:ext>
                </a:extLst>
              </a:tr>
            </a:tbl>
          </a:graphicData>
        </a:graphic>
      </p:graphicFrame>
      <p:graphicFrame>
        <p:nvGraphicFramePr>
          <p:cNvPr id="105521" name="Group 49">
            <a:extLst>
              <a:ext uri="{FF2B5EF4-FFF2-40B4-BE49-F238E27FC236}">
                <a16:creationId xmlns:a16="http://schemas.microsoft.com/office/drawing/2014/main" id="{88588016-4D6E-4BDF-F351-B3F2C7374FE5}"/>
              </a:ext>
            </a:extLst>
          </p:cNvPr>
          <p:cNvGraphicFramePr>
            <a:graphicFrameLocks noGrp="1"/>
          </p:cNvGraphicFramePr>
          <p:nvPr/>
        </p:nvGraphicFramePr>
        <p:xfrm>
          <a:off x="1768475" y="5770563"/>
          <a:ext cx="3359150" cy="528637"/>
        </p:xfrm>
        <a:graphic>
          <a:graphicData uri="http://schemas.openxmlformats.org/drawingml/2006/table">
            <a:tbl>
              <a:tblPr/>
              <a:tblGrid>
                <a:gridCol w="1587500">
                  <a:extLst>
                    <a:ext uri="{9D8B030D-6E8A-4147-A177-3AD203B41FA5}">
                      <a16:colId xmlns:a16="http://schemas.microsoft.com/office/drawing/2014/main" val="3081191453"/>
                    </a:ext>
                  </a:extLst>
                </a:gridCol>
                <a:gridCol w="1771650">
                  <a:extLst>
                    <a:ext uri="{9D8B030D-6E8A-4147-A177-3AD203B41FA5}">
                      <a16:colId xmlns:a16="http://schemas.microsoft.com/office/drawing/2014/main" val="327185622"/>
                    </a:ext>
                  </a:extLst>
                </a:gridCol>
              </a:tblGrid>
              <a:tr h="528637">
                <a:tc>
                  <a:txBody>
                    <a:bodyPr/>
                    <a:lstStyle>
                      <a:lvl1pPr>
                        <a:spcBef>
                          <a:spcPct val="20000"/>
                        </a:spcBef>
                        <a:buClr>
                          <a:schemeClr val="bg2"/>
                        </a:buClr>
                        <a:buSzPct val="7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2pPr>
                      <a:lvl3pPr>
                        <a:spcBef>
                          <a:spcPct val="20000"/>
                        </a:spcBef>
                        <a:buClr>
                          <a:schemeClr val="bg2"/>
                        </a:buClr>
                        <a:buSzPct val="6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3pPr>
                      <a:lvl4pPr>
                        <a:spcBef>
                          <a:spcPct val="20000"/>
                        </a:spcBef>
                        <a:buClr>
                          <a:schemeClr val="accent2"/>
                        </a:buClr>
                        <a:buSzPct val="70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4pPr>
                      <a:lvl5pPr>
                        <a:spcBef>
                          <a:spcPct val="20000"/>
                        </a:spcBef>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2800" b="0" i="0" u="sng" strike="noStrike" cap="none" normalizeH="0" baseline="0">
                          <a:ln>
                            <a:noFill/>
                          </a:ln>
                          <a:solidFill>
                            <a:schemeClr val="tx1"/>
                          </a:solidFill>
                          <a:effectLst/>
                          <a:latin typeface="Arial" panose="020B0604020202020204" pitchFamily="34" charset="0"/>
                          <a:cs typeface="Arial" panose="020B0604020202020204" pitchFamily="34" charset="0"/>
                        </a:rPr>
                        <a:t>Product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2pPr>
                      <a:lvl3pPr>
                        <a:spcBef>
                          <a:spcPct val="20000"/>
                        </a:spcBef>
                        <a:buClr>
                          <a:schemeClr val="bg2"/>
                        </a:buClr>
                        <a:buSzPct val="6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3pPr>
                      <a:lvl4pPr>
                        <a:spcBef>
                          <a:spcPct val="20000"/>
                        </a:spcBef>
                        <a:buClr>
                          <a:schemeClr val="accent2"/>
                        </a:buClr>
                        <a:buSzPct val="70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4pPr>
                      <a:lvl5pPr>
                        <a:spcBef>
                          <a:spcPct val="20000"/>
                        </a:spcBef>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2800" b="0" i="0" u="none" strike="noStrike" cap="none" normalizeH="0" baseline="0">
                          <a:ln>
                            <a:noFill/>
                          </a:ln>
                          <a:solidFill>
                            <a:schemeClr val="tx1"/>
                          </a:solidFill>
                          <a:effectLst/>
                          <a:latin typeface="Arial" panose="020B0604020202020204" pitchFamily="34" charset="0"/>
                          <a:cs typeface="Arial" panose="020B0604020202020204" pitchFamily="34" charset="0"/>
                        </a:rPr>
                        <a:t>UnitPrice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82487885"/>
                  </a:ext>
                </a:extLst>
              </a:tr>
            </a:tbl>
          </a:graphicData>
        </a:graphic>
      </p:graphicFrame>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3A16EC75-983B-9E14-51AB-D99679041B18}"/>
              </a:ext>
            </a:extLst>
          </p:cNvPr>
          <p:cNvSpPr>
            <a:spLocks noGrp="1" noChangeArrowheads="1"/>
          </p:cNvSpPr>
          <p:nvPr>
            <p:ph type="title"/>
          </p:nvPr>
        </p:nvSpPr>
        <p:spPr/>
        <p:txBody>
          <a:bodyPr/>
          <a:lstStyle/>
          <a:p>
            <a:pPr eaLnBrk="1" hangingPunct="1"/>
            <a:r>
              <a:rPr lang="en-US" altLang="en-US"/>
              <a:t>3NF</a:t>
            </a:r>
          </a:p>
        </p:txBody>
      </p:sp>
      <p:sp>
        <p:nvSpPr>
          <p:cNvPr id="12291" name="Rectangle 3">
            <a:extLst>
              <a:ext uri="{FF2B5EF4-FFF2-40B4-BE49-F238E27FC236}">
                <a16:creationId xmlns:a16="http://schemas.microsoft.com/office/drawing/2014/main" id="{14BB6F9D-8453-0BAB-293B-43669528CB98}"/>
              </a:ext>
            </a:extLst>
          </p:cNvPr>
          <p:cNvSpPr>
            <a:spLocks noGrp="1" noChangeArrowheads="1"/>
          </p:cNvSpPr>
          <p:nvPr>
            <p:ph type="body" idx="1"/>
          </p:nvPr>
        </p:nvSpPr>
        <p:spPr/>
        <p:txBody>
          <a:bodyPr/>
          <a:lstStyle/>
          <a:p>
            <a:pPr eaLnBrk="1" hangingPunct="1">
              <a:spcBef>
                <a:spcPct val="200000"/>
              </a:spcBef>
            </a:pPr>
            <a:r>
              <a:rPr lang="en-US" altLang="en-US"/>
              <a:t>In second table</a:t>
            </a:r>
          </a:p>
          <a:p>
            <a:pPr lvl="1" eaLnBrk="1" hangingPunct="1">
              <a:spcBef>
                <a:spcPct val="250000"/>
              </a:spcBef>
            </a:pPr>
            <a:r>
              <a:rPr lang="en-NZ" altLang="en-US">
                <a:sym typeface="Symbol" panose="05050102010706020507" pitchFamily="18" charset="2"/>
              </a:rPr>
              <a:t>Customer  Address</a:t>
            </a:r>
          </a:p>
          <a:p>
            <a:pPr eaLnBrk="1" hangingPunct="1"/>
            <a:r>
              <a:rPr lang="en-US" altLang="en-US">
                <a:sym typeface="Symbol" panose="05050102010706020507" pitchFamily="18" charset="2"/>
              </a:rPr>
              <a:t>Split second table into</a:t>
            </a:r>
          </a:p>
        </p:txBody>
      </p:sp>
      <p:graphicFrame>
        <p:nvGraphicFramePr>
          <p:cNvPr id="106574" name="Group 78">
            <a:extLst>
              <a:ext uri="{FF2B5EF4-FFF2-40B4-BE49-F238E27FC236}">
                <a16:creationId xmlns:a16="http://schemas.microsoft.com/office/drawing/2014/main" id="{55736F27-9744-8914-3C52-6FAC66B9EB1A}"/>
              </a:ext>
            </a:extLst>
          </p:cNvPr>
          <p:cNvGraphicFramePr>
            <a:graphicFrameLocks noGrp="1"/>
          </p:cNvGraphicFramePr>
          <p:nvPr>
            <p:ph sz="half" idx="4294967295"/>
          </p:nvPr>
        </p:nvGraphicFramePr>
        <p:xfrm>
          <a:off x="1768475" y="2724150"/>
          <a:ext cx="5121275" cy="577850"/>
        </p:xfrm>
        <a:graphic>
          <a:graphicData uri="http://schemas.openxmlformats.org/drawingml/2006/table">
            <a:tbl>
              <a:tblPr/>
              <a:tblGrid>
                <a:gridCol w="1227138">
                  <a:extLst>
                    <a:ext uri="{9D8B030D-6E8A-4147-A177-3AD203B41FA5}">
                      <a16:colId xmlns:a16="http://schemas.microsoft.com/office/drawing/2014/main" val="211586631"/>
                    </a:ext>
                  </a:extLst>
                </a:gridCol>
                <a:gridCol w="1814512">
                  <a:extLst>
                    <a:ext uri="{9D8B030D-6E8A-4147-A177-3AD203B41FA5}">
                      <a16:colId xmlns:a16="http://schemas.microsoft.com/office/drawing/2014/main" val="2498854670"/>
                    </a:ext>
                  </a:extLst>
                </a:gridCol>
                <a:gridCol w="2079625">
                  <a:extLst>
                    <a:ext uri="{9D8B030D-6E8A-4147-A177-3AD203B41FA5}">
                      <a16:colId xmlns:a16="http://schemas.microsoft.com/office/drawing/2014/main" val="2008983907"/>
                    </a:ext>
                  </a:extLst>
                </a:gridCol>
              </a:tblGrid>
              <a:tr h="577850">
                <a:tc>
                  <a:txBody>
                    <a:bodyPr/>
                    <a:lstStyle>
                      <a:lvl1pPr>
                        <a:spcBef>
                          <a:spcPct val="20000"/>
                        </a:spcBef>
                        <a:buClr>
                          <a:schemeClr val="bg2"/>
                        </a:buClr>
                        <a:buSzPct val="7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2pPr>
                      <a:lvl3pPr>
                        <a:spcBef>
                          <a:spcPct val="20000"/>
                        </a:spcBef>
                        <a:buClr>
                          <a:schemeClr val="bg2"/>
                        </a:buClr>
                        <a:buSzPct val="6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3pPr>
                      <a:lvl4pPr>
                        <a:spcBef>
                          <a:spcPct val="20000"/>
                        </a:spcBef>
                        <a:buClr>
                          <a:schemeClr val="accent2"/>
                        </a:buClr>
                        <a:buSzPct val="70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4pPr>
                      <a:lvl5pPr>
                        <a:spcBef>
                          <a:spcPct val="20000"/>
                        </a:spcBef>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2800" b="0" i="0" u="sng" strike="noStrike" cap="none" normalizeH="0" baseline="0">
                          <a:ln>
                            <a:noFill/>
                          </a:ln>
                          <a:solidFill>
                            <a:schemeClr val="tx1"/>
                          </a:solidFill>
                          <a:effectLst/>
                          <a:latin typeface="Arial" panose="020B0604020202020204" pitchFamily="34" charset="0"/>
                          <a:cs typeface="Arial" panose="020B0604020202020204" pitchFamily="34" charset="0"/>
                        </a:rPr>
                        <a:t>Order</a:t>
                      </a:r>
                      <a:r>
                        <a:rPr kumimoji="0" lang="en-US" altLang="en-US" sz="2800" b="0" i="0" u="none" strike="noStrike" cap="none" normalizeH="0" baseline="0">
                          <a:ln>
                            <a:noFill/>
                          </a:ln>
                          <a:solidFill>
                            <a:schemeClr val="tx1"/>
                          </a:solidFill>
                          <a:effectLst/>
                          <a:latin typeface="Arial" panose="020B0604020202020204" pitchFamily="34" charset="0"/>
                          <a:cs typeface="Arial" panose="020B0604020202020204" pitchFamily="34" charset="0"/>
                        </a:rPr>
                        <a:t>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2pPr>
                      <a:lvl3pPr>
                        <a:spcBef>
                          <a:spcPct val="20000"/>
                        </a:spcBef>
                        <a:buClr>
                          <a:schemeClr val="bg2"/>
                        </a:buClr>
                        <a:buSzPct val="6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3pPr>
                      <a:lvl4pPr>
                        <a:spcBef>
                          <a:spcPct val="20000"/>
                        </a:spcBef>
                        <a:buClr>
                          <a:schemeClr val="accent2"/>
                        </a:buClr>
                        <a:buSzPct val="70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4pPr>
                      <a:lvl5pPr>
                        <a:spcBef>
                          <a:spcPct val="20000"/>
                        </a:spcBef>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2800" b="0" i="0" u="none" strike="noStrike" cap="none" normalizeH="0" baseline="0">
                          <a:ln>
                            <a:noFill/>
                          </a:ln>
                          <a:solidFill>
                            <a:schemeClr val="tx1"/>
                          </a:solidFill>
                          <a:effectLst/>
                          <a:latin typeface="Arial" panose="020B0604020202020204" pitchFamily="34" charset="0"/>
                          <a:cs typeface="Arial" panose="020B0604020202020204" pitchFamily="34" charset="0"/>
                        </a:rPr>
                        <a:t>Customer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2pPr>
                      <a:lvl3pPr>
                        <a:spcBef>
                          <a:spcPct val="20000"/>
                        </a:spcBef>
                        <a:buClr>
                          <a:schemeClr val="bg2"/>
                        </a:buClr>
                        <a:buSzPct val="6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3pPr>
                      <a:lvl4pPr>
                        <a:spcBef>
                          <a:spcPct val="20000"/>
                        </a:spcBef>
                        <a:buClr>
                          <a:schemeClr val="accent2"/>
                        </a:buClr>
                        <a:buSzPct val="70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4pPr>
                      <a:lvl5pPr>
                        <a:spcBef>
                          <a:spcPct val="20000"/>
                        </a:spcBef>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2800" b="0" i="0" u="none" strike="noStrike" cap="none" normalizeH="0" baseline="0">
                          <a:ln>
                            <a:noFill/>
                          </a:ln>
                          <a:solidFill>
                            <a:schemeClr val="tx1"/>
                          </a:solidFill>
                          <a:effectLst/>
                          <a:latin typeface="Arial" panose="020B0604020202020204" pitchFamily="34" charset="0"/>
                          <a:cs typeface="Arial" panose="020B0604020202020204" pitchFamily="34" charset="0"/>
                        </a:rPr>
                        <a:t>Address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314688318"/>
                  </a:ext>
                </a:extLst>
              </a:tr>
            </a:tbl>
          </a:graphicData>
        </a:graphic>
      </p:graphicFrame>
      <p:graphicFrame>
        <p:nvGraphicFramePr>
          <p:cNvPr id="106563" name="Group 67">
            <a:extLst>
              <a:ext uri="{FF2B5EF4-FFF2-40B4-BE49-F238E27FC236}">
                <a16:creationId xmlns:a16="http://schemas.microsoft.com/office/drawing/2014/main" id="{204502BD-3FB3-BAE0-C377-C5095E0DEA0E}"/>
              </a:ext>
            </a:extLst>
          </p:cNvPr>
          <p:cNvGraphicFramePr>
            <a:graphicFrameLocks noGrp="1"/>
          </p:cNvGraphicFramePr>
          <p:nvPr>
            <p:ph sz="half" idx="4294967295"/>
          </p:nvPr>
        </p:nvGraphicFramePr>
        <p:xfrm>
          <a:off x="1768475" y="4835525"/>
          <a:ext cx="3084513" cy="547688"/>
        </p:xfrm>
        <a:graphic>
          <a:graphicData uri="http://schemas.openxmlformats.org/drawingml/2006/table">
            <a:tbl>
              <a:tblPr/>
              <a:tblGrid>
                <a:gridCol w="1190625">
                  <a:extLst>
                    <a:ext uri="{9D8B030D-6E8A-4147-A177-3AD203B41FA5}">
                      <a16:colId xmlns:a16="http://schemas.microsoft.com/office/drawing/2014/main" val="2009861068"/>
                    </a:ext>
                  </a:extLst>
                </a:gridCol>
                <a:gridCol w="1893888">
                  <a:extLst>
                    <a:ext uri="{9D8B030D-6E8A-4147-A177-3AD203B41FA5}">
                      <a16:colId xmlns:a16="http://schemas.microsoft.com/office/drawing/2014/main" val="1487749556"/>
                    </a:ext>
                  </a:extLst>
                </a:gridCol>
              </a:tblGrid>
              <a:tr h="547688">
                <a:tc>
                  <a:txBody>
                    <a:bodyPr/>
                    <a:lstStyle>
                      <a:lvl1pPr>
                        <a:spcBef>
                          <a:spcPct val="20000"/>
                        </a:spcBef>
                        <a:buClr>
                          <a:schemeClr val="bg2"/>
                        </a:buClr>
                        <a:buSzPct val="7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2pPr>
                      <a:lvl3pPr>
                        <a:spcBef>
                          <a:spcPct val="20000"/>
                        </a:spcBef>
                        <a:buClr>
                          <a:schemeClr val="bg2"/>
                        </a:buClr>
                        <a:buSzPct val="6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3pPr>
                      <a:lvl4pPr>
                        <a:spcBef>
                          <a:spcPct val="20000"/>
                        </a:spcBef>
                        <a:buClr>
                          <a:schemeClr val="accent2"/>
                        </a:buClr>
                        <a:buSzPct val="70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4pPr>
                      <a:lvl5pPr>
                        <a:spcBef>
                          <a:spcPct val="20000"/>
                        </a:spcBef>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2800" b="0" i="0" u="sng" strike="noStrike" cap="none" normalizeH="0" baseline="0">
                          <a:ln>
                            <a:noFill/>
                          </a:ln>
                          <a:solidFill>
                            <a:schemeClr val="tx1"/>
                          </a:solidFill>
                          <a:effectLst/>
                          <a:latin typeface="Arial" panose="020B0604020202020204" pitchFamily="34" charset="0"/>
                          <a:cs typeface="Arial" panose="020B0604020202020204" pitchFamily="34" charset="0"/>
                        </a:rPr>
                        <a:t>Order</a:t>
                      </a:r>
                      <a:r>
                        <a:rPr kumimoji="0" lang="en-US" altLang="en-US" sz="2800" b="0" i="0" u="none" strike="noStrike" cap="none" normalizeH="0" baseline="0">
                          <a:ln>
                            <a:noFill/>
                          </a:ln>
                          <a:solidFill>
                            <a:schemeClr val="tx1"/>
                          </a:solidFill>
                          <a:effectLst/>
                          <a:latin typeface="Arial" panose="020B0604020202020204" pitchFamily="34" charset="0"/>
                          <a:cs typeface="Arial" panose="020B0604020202020204" pitchFamily="34" charset="0"/>
                        </a:rPr>
                        <a:t>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2pPr>
                      <a:lvl3pPr>
                        <a:spcBef>
                          <a:spcPct val="20000"/>
                        </a:spcBef>
                        <a:buClr>
                          <a:schemeClr val="bg2"/>
                        </a:buClr>
                        <a:buSzPct val="6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3pPr>
                      <a:lvl4pPr>
                        <a:spcBef>
                          <a:spcPct val="20000"/>
                        </a:spcBef>
                        <a:buClr>
                          <a:schemeClr val="accent2"/>
                        </a:buClr>
                        <a:buSzPct val="70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4pPr>
                      <a:lvl5pPr>
                        <a:spcBef>
                          <a:spcPct val="20000"/>
                        </a:spcBef>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2800" b="0" i="0" u="none" strike="noStrike" cap="none" normalizeH="0" baseline="0">
                          <a:ln>
                            <a:noFill/>
                          </a:ln>
                          <a:solidFill>
                            <a:schemeClr val="tx1"/>
                          </a:solidFill>
                          <a:effectLst/>
                          <a:latin typeface="Arial" panose="020B0604020202020204" pitchFamily="34" charset="0"/>
                          <a:cs typeface="Arial" panose="020B0604020202020204" pitchFamily="34" charset="0"/>
                        </a:rPr>
                        <a:t>Customer</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235002358"/>
                  </a:ext>
                </a:extLst>
              </a:tr>
            </a:tbl>
          </a:graphicData>
        </a:graphic>
      </p:graphicFrame>
      <p:graphicFrame>
        <p:nvGraphicFramePr>
          <p:cNvPr id="106589" name="Group 93">
            <a:extLst>
              <a:ext uri="{FF2B5EF4-FFF2-40B4-BE49-F238E27FC236}">
                <a16:creationId xmlns:a16="http://schemas.microsoft.com/office/drawing/2014/main" id="{3C7DC897-0523-9A82-A6ED-15B5A10D0D84}"/>
              </a:ext>
            </a:extLst>
          </p:cNvPr>
          <p:cNvGraphicFramePr>
            <a:graphicFrameLocks noGrp="1"/>
          </p:cNvGraphicFramePr>
          <p:nvPr>
            <p:ph sz="half" idx="4294967295"/>
          </p:nvPr>
        </p:nvGraphicFramePr>
        <p:xfrm>
          <a:off x="1768475" y="5865813"/>
          <a:ext cx="3708400" cy="547687"/>
        </p:xfrm>
        <a:graphic>
          <a:graphicData uri="http://schemas.openxmlformats.org/drawingml/2006/table">
            <a:tbl>
              <a:tblPr/>
              <a:tblGrid>
                <a:gridCol w="1806575">
                  <a:extLst>
                    <a:ext uri="{9D8B030D-6E8A-4147-A177-3AD203B41FA5}">
                      <a16:colId xmlns:a16="http://schemas.microsoft.com/office/drawing/2014/main" val="1811589049"/>
                    </a:ext>
                  </a:extLst>
                </a:gridCol>
                <a:gridCol w="1901825">
                  <a:extLst>
                    <a:ext uri="{9D8B030D-6E8A-4147-A177-3AD203B41FA5}">
                      <a16:colId xmlns:a16="http://schemas.microsoft.com/office/drawing/2014/main" val="1916899435"/>
                    </a:ext>
                  </a:extLst>
                </a:gridCol>
              </a:tblGrid>
              <a:tr h="547687">
                <a:tc>
                  <a:txBody>
                    <a:bodyPr/>
                    <a:lstStyle>
                      <a:lvl1pPr>
                        <a:spcBef>
                          <a:spcPct val="20000"/>
                        </a:spcBef>
                        <a:buClr>
                          <a:schemeClr val="bg2"/>
                        </a:buClr>
                        <a:buSzPct val="7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2pPr>
                      <a:lvl3pPr>
                        <a:spcBef>
                          <a:spcPct val="20000"/>
                        </a:spcBef>
                        <a:buClr>
                          <a:schemeClr val="bg2"/>
                        </a:buClr>
                        <a:buSzPct val="6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3pPr>
                      <a:lvl4pPr>
                        <a:spcBef>
                          <a:spcPct val="20000"/>
                        </a:spcBef>
                        <a:buClr>
                          <a:schemeClr val="accent2"/>
                        </a:buClr>
                        <a:buSzPct val="70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4pPr>
                      <a:lvl5pPr>
                        <a:spcBef>
                          <a:spcPct val="20000"/>
                        </a:spcBef>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2800" b="0" i="0" u="sng" strike="noStrike" cap="none" normalizeH="0" baseline="0">
                          <a:ln>
                            <a:noFill/>
                          </a:ln>
                          <a:solidFill>
                            <a:schemeClr val="tx1"/>
                          </a:solidFill>
                          <a:effectLst/>
                          <a:latin typeface="Arial" panose="020B0604020202020204" pitchFamily="34" charset="0"/>
                          <a:cs typeface="Arial" panose="020B0604020202020204" pitchFamily="34" charset="0"/>
                        </a:rPr>
                        <a:t>Customer</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2pPr>
                      <a:lvl3pPr>
                        <a:spcBef>
                          <a:spcPct val="20000"/>
                        </a:spcBef>
                        <a:buClr>
                          <a:schemeClr val="bg2"/>
                        </a:buClr>
                        <a:buSzPct val="6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3pPr>
                      <a:lvl4pPr>
                        <a:spcBef>
                          <a:spcPct val="20000"/>
                        </a:spcBef>
                        <a:buClr>
                          <a:schemeClr val="accent2"/>
                        </a:buClr>
                        <a:buSzPct val="70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4pPr>
                      <a:lvl5pPr>
                        <a:spcBef>
                          <a:spcPct val="20000"/>
                        </a:spcBef>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2800" b="0" i="0" u="none" strike="noStrike" cap="none" normalizeH="0" baseline="0">
                          <a:ln>
                            <a:noFill/>
                          </a:ln>
                          <a:solidFill>
                            <a:schemeClr val="tx1"/>
                          </a:solidFill>
                          <a:effectLst/>
                          <a:latin typeface="Arial" panose="020B0604020202020204" pitchFamily="34" charset="0"/>
                          <a:cs typeface="Arial" panose="020B0604020202020204" pitchFamily="34" charset="0"/>
                        </a:rPr>
                        <a:t>Address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56753271"/>
                  </a:ext>
                </a:extLst>
              </a:tr>
            </a:tbl>
          </a:graphicData>
        </a:graphic>
      </p:graphicFrame>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7622E72F-CA13-E6E8-ED30-8A583EE2877B}"/>
              </a:ext>
            </a:extLst>
          </p:cNvPr>
          <p:cNvSpPr>
            <a:spLocks noGrp="1" noChangeArrowheads="1"/>
          </p:cNvSpPr>
          <p:nvPr>
            <p:ph type="title"/>
          </p:nvPr>
        </p:nvSpPr>
        <p:spPr/>
        <p:txBody>
          <a:bodyPr/>
          <a:lstStyle/>
          <a:p>
            <a:pPr eaLnBrk="1" hangingPunct="1"/>
            <a:r>
              <a:rPr lang="en-NZ" altLang="en-US"/>
              <a:t>Normalisation to 2NF</a:t>
            </a:r>
            <a:endParaRPr lang="en-GB" altLang="en-US"/>
          </a:p>
        </p:txBody>
      </p:sp>
      <p:sp>
        <p:nvSpPr>
          <p:cNvPr id="13315" name="Rectangle 3">
            <a:extLst>
              <a:ext uri="{FF2B5EF4-FFF2-40B4-BE49-F238E27FC236}">
                <a16:creationId xmlns:a16="http://schemas.microsoft.com/office/drawing/2014/main" id="{A11E97B6-5C34-47CA-CFEB-2BFB316C0C19}"/>
              </a:ext>
            </a:extLst>
          </p:cNvPr>
          <p:cNvSpPr>
            <a:spLocks noGrp="1" noChangeArrowheads="1"/>
          </p:cNvSpPr>
          <p:nvPr>
            <p:ph type="body" sz="half" idx="1"/>
          </p:nvPr>
        </p:nvSpPr>
        <p:spPr>
          <a:xfrm>
            <a:off x="457200" y="1981200"/>
            <a:ext cx="4033838" cy="3886200"/>
          </a:xfrm>
        </p:spPr>
        <p:txBody>
          <a:bodyPr/>
          <a:lstStyle/>
          <a:p>
            <a:pPr eaLnBrk="1" hangingPunct="1"/>
            <a:r>
              <a:rPr lang="en-NZ" altLang="en-US" sz="2400"/>
              <a:t>Second normal form means no partial dependencies on candidate keys</a:t>
            </a:r>
          </a:p>
          <a:p>
            <a:pPr lvl="1" eaLnBrk="1" hangingPunct="1"/>
            <a:r>
              <a:rPr lang="en-NZ" altLang="en-US" sz="2400"/>
              <a:t>{Order} </a:t>
            </a:r>
            <a:r>
              <a:rPr lang="en-NZ" altLang="en-US" sz="2400">
                <a:sym typeface="Symbol" panose="05050102010706020507" pitchFamily="18" charset="2"/>
              </a:rPr>
              <a:t> {Customer, Address}</a:t>
            </a:r>
          </a:p>
          <a:p>
            <a:pPr lvl="1" eaLnBrk="1" hangingPunct="1"/>
            <a:r>
              <a:rPr lang="en-NZ" altLang="en-US" sz="2400">
                <a:sym typeface="Symbol" panose="05050102010706020507" pitchFamily="18" charset="2"/>
              </a:rPr>
              <a:t>{Product}  {UnitPrice}</a:t>
            </a:r>
            <a:endParaRPr lang="en-NZ" altLang="en-US" sz="2400"/>
          </a:p>
          <a:p>
            <a:pPr eaLnBrk="1" hangingPunct="1"/>
            <a:endParaRPr lang="en-GB" altLang="en-US" sz="2400"/>
          </a:p>
        </p:txBody>
      </p:sp>
      <p:sp>
        <p:nvSpPr>
          <p:cNvPr id="13316" name="Rectangle 4">
            <a:extLst>
              <a:ext uri="{FF2B5EF4-FFF2-40B4-BE49-F238E27FC236}">
                <a16:creationId xmlns:a16="http://schemas.microsoft.com/office/drawing/2014/main" id="{6B5360A1-88E5-83FC-6FAD-5238207BF984}"/>
              </a:ext>
            </a:extLst>
          </p:cNvPr>
          <p:cNvSpPr>
            <a:spLocks noGrp="1" noChangeArrowheads="1"/>
          </p:cNvSpPr>
          <p:nvPr>
            <p:ph type="body" sz="half" idx="2"/>
          </p:nvPr>
        </p:nvSpPr>
        <p:spPr>
          <a:xfrm>
            <a:off x="4652963" y="1981200"/>
            <a:ext cx="4033837" cy="3886200"/>
          </a:xfrm>
        </p:spPr>
        <p:txBody>
          <a:bodyPr/>
          <a:lstStyle/>
          <a:p>
            <a:pPr eaLnBrk="1" hangingPunct="1"/>
            <a:r>
              <a:rPr lang="en-NZ" altLang="en-US" sz="2400"/>
              <a:t>To remove the first FD we project over</a:t>
            </a:r>
          </a:p>
          <a:p>
            <a:pPr lvl="1" eaLnBrk="1" hangingPunct="1">
              <a:buFont typeface="Wingdings" panose="05000000000000000000" pitchFamily="2" charset="2"/>
              <a:buNone/>
            </a:pPr>
            <a:r>
              <a:rPr lang="en-NZ" altLang="en-US" sz="2400"/>
              <a:t>{Order, Customer, Address} (R1)</a:t>
            </a:r>
          </a:p>
          <a:p>
            <a:pPr eaLnBrk="1" hangingPunct="1">
              <a:buFont typeface="Wingdings" panose="05000000000000000000" pitchFamily="2" charset="2"/>
              <a:buNone/>
            </a:pPr>
            <a:r>
              <a:rPr lang="en-NZ" altLang="en-US" sz="2400"/>
              <a:t>and</a:t>
            </a:r>
          </a:p>
          <a:p>
            <a:pPr eaLnBrk="1" hangingPunct="1">
              <a:buFont typeface="Wingdings" panose="05000000000000000000" pitchFamily="2" charset="2"/>
              <a:buNone/>
            </a:pPr>
            <a:r>
              <a:rPr lang="en-NZ" altLang="en-US" sz="2000">
                <a:sym typeface="Symbol" panose="05050102010706020507" pitchFamily="18" charset="2"/>
              </a:rPr>
              <a:t>{Order, Product, Quantity, UnitPrice} (R2)</a:t>
            </a:r>
            <a:endParaRPr lang="en-GB" altLang="en-US" sz="2000">
              <a:sym typeface="Symbol" panose="05050102010706020507" pitchFamily="18" charset="2"/>
            </a:endParaRPr>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0B6ED191-2F62-DA4E-EF9B-74B7F542C9CD}"/>
              </a:ext>
            </a:extLst>
          </p:cNvPr>
          <p:cNvSpPr>
            <a:spLocks noGrp="1" noChangeArrowheads="1"/>
          </p:cNvSpPr>
          <p:nvPr>
            <p:ph type="title"/>
          </p:nvPr>
        </p:nvSpPr>
        <p:spPr/>
        <p:txBody>
          <a:bodyPr/>
          <a:lstStyle/>
          <a:p>
            <a:pPr eaLnBrk="1" hangingPunct="1"/>
            <a:r>
              <a:rPr lang="en-GB" altLang="en-US"/>
              <a:t>Normalisation to 2NF</a:t>
            </a:r>
          </a:p>
        </p:txBody>
      </p:sp>
      <p:sp>
        <p:nvSpPr>
          <p:cNvPr id="15363" name="Rectangle 3">
            <a:extLst>
              <a:ext uri="{FF2B5EF4-FFF2-40B4-BE49-F238E27FC236}">
                <a16:creationId xmlns:a16="http://schemas.microsoft.com/office/drawing/2014/main" id="{870624E0-7C4C-AFAF-8505-9E5B1A15D1CF}"/>
              </a:ext>
            </a:extLst>
          </p:cNvPr>
          <p:cNvSpPr>
            <a:spLocks noGrp="1" noChangeArrowheads="1"/>
          </p:cNvSpPr>
          <p:nvPr>
            <p:ph type="body" sz="half" idx="1"/>
          </p:nvPr>
        </p:nvSpPr>
        <p:spPr>
          <a:xfrm>
            <a:off x="457200" y="1981200"/>
            <a:ext cx="4033838" cy="3886200"/>
          </a:xfrm>
        </p:spPr>
        <p:txBody>
          <a:bodyPr/>
          <a:lstStyle/>
          <a:p>
            <a:pPr eaLnBrk="1" hangingPunct="1"/>
            <a:r>
              <a:rPr lang="en-GB" altLang="en-US" sz="2400"/>
              <a:t>R1 is now in 2NF, but there is still a partial FD in R2</a:t>
            </a:r>
          </a:p>
          <a:p>
            <a:pPr lvl="1" eaLnBrk="1" hangingPunct="1">
              <a:buFont typeface="Wingdings" panose="05000000000000000000" pitchFamily="2" charset="2"/>
              <a:buNone/>
            </a:pPr>
            <a:r>
              <a:rPr lang="en-NZ" altLang="en-US" sz="2400">
                <a:sym typeface="Symbol" panose="05050102010706020507" pitchFamily="18" charset="2"/>
              </a:rPr>
              <a:t>{Product}  {UnitPrice}</a:t>
            </a:r>
            <a:endParaRPr lang="en-GB" altLang="en-US" sz="2400"/>
          </a:p>
        </p:txBody>
      </p:sp>
      <p:sp>
        <p:nvSpPr>
          <p:cNvPr id="15364" name="Rectangle 4">
            <a:extLst>
              <a:ext uri="{FF2B5EF4-FFF2-40B4-BE49-F238E27FC236}">
                <a16:creationId xmlns:a16="http://schemas.microsoft.com/office/drawing/2014/main" id="{A18563F0-515B-0B63-C1B1-407F5938C8F6}"/>
              </a:ext>
            </a:extLst>
          </p:cNvPr>
          <p:cNvSpPr>
            <a:spLocks noGrp="1" noChangeArrowheads="1"/>
          </p:cNvSpPr>
          <p:nvPr>
            <p:ph type="body" sz="half" idx="2"/>
          </p:nvPr>
        </p:nvSpPr>
        <p:spPr>
          <a:xfrm>
            <a:off x="4652963" y="1981200"/>
            <a:ext cx="4033837" cy="3886200"/>
          </a:xfrm>
        </p:spPr>
        <p:txBody>
          <a:bodyPr/>
          <a:lstStyle/>
          <a:p>
            <a:pPr eaLnBrk="1" hangingPunct="1"/>
            <a:r>
              <a:rPr lang="en-GB" altLang="en-US" sz="2000"/>
              <a:t>To remove this we project over </a:t>
            </a:r>
          </a:p>
          <a:p>
            <a:pPr eaLnBrk="1" hangingPunct="1">
              <a:buFont typeface="Wingdings" panose="05000000000000000000" pitchFamily="2" charset="2"/>
              <a:buNone/>
            </a:pPr>
            <a:r>
              <a:rPr lang="en-GB" altLang="en-US" sz="2000"/>
              <a:t>{Product, UnitPrice} (R3)</a:t>
            </a:r>
          </a:p>
          <a:p>
            <a:pPr eaLnBrk="1" hangingPunct="1">
              <a:buFont typeface="Wingdings" panose="05000000000000000000" pitchFamily="2" charset="2"/>
              <a:buNone/>
            </a:pPr>
            <a:r>
              <a:rPr lang="en-GB" altLang="en-US" sz="2000"/>
              <a:t>and </a:t>
            </a:r>
          </a:p>
          <a:p>
            <a:pPr eaLnBrk="1" hangingPunct="1">
              <a:buFont typeface="Wingdings" panose="05000000000000000000" pitchFamily="2" charset="2"/>
              <a:buNone/>
            </a:pPr>
            <a:r>
              <a:rPr lang="en-GB" altLang="en-US" sz="2000"/>
              <a:t>{Order, Product,  Quantity} (R4)</a:t>
            </a:r>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67540E8C-1FCF-7E28-DAB3-56B9BEC6AAB6}"/>
              </a:ext>
            </a:extLst>
          </p:cNvPr>
          <p:cNvSpPr>
            <a:spLocks noGrp="1" noChangeArrowheads="1"/>
          </p:cNvSpPr>
          <p:nvPr>
            <p:ph type="title"/>
          </p:nvPr>
        </p:nvSpPr>
        <p:spPr/>
        <p:txBody>
          <a:bodyPr/>
          <a:lstStyle/>
          <a:p>
            <a:pPr eaLnBrk="1" hangingPunct="1"/>
            <a:r>
              <a:rPr lang="en-GB" altLang="en-US"/>
              <a:t>Normalisation to 3NF</a:t>
            </a:r>
          </a:p>
        </p:txBody>
      </p:sp>
      <p:sp>
        <p:nvSpPr>
          <p:cNvPr id="16387" name="Rectangle 3">
            <a:extLst>
              <a:ext uri="{FF2B5EF4-FFF2-40B4-BE49-F238E27FC236}">
                <a16:creationId xmlns:a16="http://schemas.microsoft.com/office/drawing/2014/main" id="{84A40AC5-76CF-3D63-3037-81A8298EAB6C}"/>
              </a:ext>
            </a:extLst>
          </p:cNvPr>
          <p:cNvSpPr>
            <a:spLocks noGrp="1" noChangeArrowheads="1"/>
          </p:cNvSpPr>
          <p:nvPr>
            <p:ph type="body" sz="half" idx="1"/>
          </p:nvPr>
        </p:nvSpPr>
        <p:spPr>
          <a:xfrm>
            <a:off x="457200" y="1981200"/>
            <a:ext cx="4033838" cy="3886200"/>
          </a:xfrm>
        </p:spPr>
        <p:txBody>
          <a:bodyPr/>
          <a:lstStyle/>
          <a:p>
            <a:pPr eaLnBrk="1" hangingPunct="1"/>
            <a:r>
              <a:rPr lang="en-GB" altLang="en-US" sz="2400"/>
              <a:t>R has now been split into 3 relations - R1, R3, and R4</a:t>
            </a:r>
          </a:p>
          <a:p>
            <a:pPr lvl="1" eaLnBrk="1" hangingPunct="1"/>
            <a:r>
              <a:rPr lang="en-GB" altLang="en-US" sz="2400"/>
              <a:t>R3 and R4 are in 3NF</a:t>
            </a:r>
          </a:p>
          <a:p>
            <a:pPr lvl="1" eaLnBrk="1" hangingPunct="1"/>
            <a:r>
              <a:rPr lang="en-GB" altLang="en-US" sz="2400"/>
              <a:t>R1 has a transitive FD on its key</a:t>
            </a:r>
          </a:p>
          <a:p>
            <a:pPr lvl="1" eaLnBrk="1" hangingPunct="1"/>
            <a:endParaRPr lang="en-GB" altLang="en-US" sz="2400"/>
          </a:p>
        </p:txBody>
      </p:sp>
      <p:sp>
        <p:nvSpPr>
          <p:cNvPr id="16388" name="Rectangle 4">
            <a:extLst>
              <a:ext uri="{FF2B5EF4-FFF2-40B4-BE49-F238E27FC236}">
                <a16:creationId xmlns:a16="http://schemas.microsoft.com/office/drawing/2014/main" id="{65D2BF7D-9C6E-59EC-FCC4-32DFB2722C14}"/>
              </a:ext>
            </a:extLst>
          </p:cNvPr>
          <p:cNvSpPr>
            <a:spLocks noGrp="1" noChangeArrowheads="1"/>
          </p:cNvSpPr>
          <p:nvPr>
            <p:ph type="body" sz="half" idx="2"/>
          </p:nvPr>
        </p:nvSpPr>
        <p:spPr>
          <a:xfrm>
            <a:off x="4652963" y="1981200"/>
            <a:ext cx="4033837" cy="3886200"/>
          </a:xfrm>
        </p:spPr>
        <p:txBody>
          <a:bodyPr/>
          <a:lstStyle/>
          <a:p>
            <a:pPr eaLnBrk="1" hangingPunct="1"/>
            <a:r>
              <a:rPr lang="en-GB" altLang="en-US" sz="2400"/>
              <a:t>To remove </a:t>
            </a:r>
          </a:p>
          <a:p>
            <a:pPr lvl="1" eaLnBrk="1" hangingPunct="1">
              <a:buFont typeface="Wingdings" panose="05000000000000000000" pitchFamily="2" charset="2"/>
              <a:buNone/>
            </a:pPr>
            <a:r>
              <a:rPr lang="en-GB" altLang="en-US" sz="2400"/>
              <a:t>{Order} </a:t>
            </a:r>
            <a:r>
              <a:rPr lang="en-NZ" altLang="en-US" sz="2400">
                <a:sym typeface="Symbol" panose="05050102010706020507" pitchFamily="18" charset="2"/>
              </a:rPr>
              <a:t> </a:t>
            </a:r>
            <a:r>
              <a:rPr lang="en-GB" altLang="en-US" sz="2400"/>
              <a:t>{Customer} </a:t>
            </a:r>
            <a:r>
              <a:rPr lang="en-NZ" altLang="en-US" sz="2400">
                <a:sym typeface="Symbol" panose="05050102010706020507" pitchFamily="18" charset="2"/>
              </a:rPr>
              <a:t> </a:t>
            </a:r>
            <a:r>
              <a:rPr lang="en-GB" altLang="en-US" sz="2400"/>
              <a:t>{Address}</a:t>
            </a:r>
          </a:p>
          <a:p>
            <a:pPr eaLnBrk="1" hangingPunct="1"/>
            <a:r>
              <a:rPr lang="en-GB" altLang="en-US" sz="2400"/>
              <a:t>	we project R1 over</a:t>
            </a:r>
          </a:p>
          <a:p>
            <a:pPr lvl="1" eaLnBrk="1" hangingPunct="1"/>
            <a:r>
              <a:rPr lang="en-GB" altLang="en-US" sz="2400"/>
              <a:t>{Order, Customer}</a:t>
            </a:r>
          </a:p>
          <a:p>
            <a:pPr lvl="1" eaLnBrk="1" hangingPunct="1"/>
            <a:r>
              <a:rPr lang="en-GB" altLang="en-US" sz="2400"/>
              <a:t>{Customer, Address}</a:t>
            </a:r>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CD8FD662-9B6E-BE3E-95CF-80A7936A7B6D}"/>
              </a:ext>
            </a:extLst>
          </p:cNvPr>
          <p:cNvSpPr>
            <a:spLocks noGrp="1" noChangeArrowheads="1"/>
          </p:cNvSpPr>
          <p:nvPr>
            <p:ph type="title"/>
          </p:nvPr>
        </p:nvSpPr>
        <p:spPr/>
        <p:txBody>
          <a:bodyPr/>
          <a:lstStyle/>
          <a:p>
            <a:pPr eaLnBrk="1" hangingPunct="1"/>
            <a:r>
              <a:rPr lang="en-GB" altLang="en-US"/>
              <a:t>Normalisation</a:t>
            </a:r>
          </a:p>
        </p:txBody>
      </p:sp>
      <p:sp>
        <p:nvSpPr>
          <p:cNvPr id="17411" name="Rectangle 3">
            <a:extLst>
              <a:ext uri="{FF2B5EF4-FFF2-40B4-BE49-F238E27FC236}">
                <a16:creationId xmlns:a16="http://schemas.microsoft.com/office/drawing/2014/main" id="{7FD1BD32-D03F-C377-23EB-479E270E9B38}"/>
              </a:ext>
            </a:extLst>
          </p:cNvPr>
          <p:cNvSpPr>
            <a:spLocks noGrp="1" noChangeArrowheads="1"/>
          </p:cNvSpPr>
          <p:nvPr>
            <p:ph type="body" idx="1"/>
          </p:nvPr>
        </p:nvSpPr>
        <p:spPr>
          <a:xfrm>
            <a:off x="533400" y="1981200"/>
            <a:ext cx="8077200" cy="4191000"/>
          </a:xfrm>
        </p:spPr>
        <p:txBody>
          <a:bodyPr/>
          <a:lstStyle/>
          <a:p>
            <a:pPr eaLnBrk="1" hangingPunct="1"/>
            <a:r>
              <a:rPr lang="en-GB" altLang="en-US" sz="2400"/>
              <a:t>1NF: </a:t>
            </a:r>
          </a:p>
          <a:p>
            <a:pPr lvl="1" eaLnBrk="1" hangingPunct="1"/>
            <a:r>
              <a:rPr lang="en-GB" altLang="en-US" sz="2400"/>
              <a:t>{</a:t>
            </a:r>
            <a:r>
              <a:rPr lang="en-GB" altLang="en-US" sz="2400" u="sng"/>
              <a:t>Order, Product</a:t>
            </a:r>
            <a:r>
              <a:rPr lang="en-GB" altLang="en-US" sz="2400"/>
              <a:t>, Customer, Address, Quantity, UnitPrice}</a:t>
            </a:r>
            <a:endParaRPr lang="en-GB" altLang="en-US"/>
          </a:p>
          <a:p>
            <a:pPr eaLnBrk="1" hangingPunct="1"/>
            <a:r>
              <a:rPr lang="en-GB" altLang="en-US" sz="2400"/>
              <a:t>2NF:</a:t>
            </a:r>
          </a:p>
          <a:p>
            <a:pPr lvl="1" eaLnBrk="1" hangingPunct="1"/>
            <a:r>
              <a:rPr lang="en-GB" altLang="en-US" sz="2400"/>
              <a:t>{</a:t>
            </a:r>
            <a:r>
              <a:rPr lang="en-GB" altLang="en-US" sz="2400" u="sng"/>
              <a:t>Order</a:t>
            </a:r>
            <a:r>
              <a:rPr lang="en-GB" altLang="en-US" sz="2400"/>
              <a:t>, Customer, Address}, {</a:t>
            </a:r>
            <a:r>
              <a:rPr lang="en-GB" altLang="en-US" sz="2400" u="sng"/>
              <a:t>Product</a:t>
            </a:r>
            <a:r>
              <a:rPr lang="en-GB" altLang="en-US" sz="2400"/>
              <a:t>, UnitPrice}, and {</a:t>
            </a:r>
            <a:r>
              <a:rPr lang="en-GB" altLang="en-US" sz="2400" u="sng"/>
              <a:t>Order, Product</a:t>
            </a:r>
            <a:r>
              <a:rPr lang="en-GB" altLang="en-US" sz="2400"/>
              <a:t>, Quantity}</a:t>
            </a:r>
          </a:p>
          <a:p>
            <a:pPr eaLnBrk="1" hangingPunct="1"/>
            <a:r>
              <a:rPr lang="en-GB" altLang="en-US" sz="2400"/>
              <a:t>3NF:</a:t>
            </a:r>
          </a:p>
          <a:p>
            <a:pPr lvl="1" eaLnBrk="1" hangingPunct="1"/>
            <a:r>
              <a:rPr lang="en-GB" altLang="en-US" sz="2400"/>
              <a:t>{</a:t>
            </a:r>
            <a:r>
              <a:rPr lang="en-GB" altLang="en-US" sz="2400" u="sng"/>
              <a:t>Product</a:t>
            </a:r>
            <a:r>
              <a:rPr lang="en-GB" altLang="en-US" sz="2400"/>
              <a:t>, UnitPrice}, {</a:t>
            </a:r>
            <a:r>
              <a:rPr lang="en-GB" altLang="en-US" sz="2400" u="sng"/>
              <a:t>Order, Product</a:t>
            </a:r>
            <a:r>
              <a:rPr lang="en-GB" altLang="en-US" sz="2400"/>
              <a:t>, Quantity}, </a:t>
            </a:r>
          </a:p>
          <a:p>
            <a:pPr lvl="1" eaLnBrk="1" hangingPunct="1">
              <a:buFont typeface="Wingdings" panose="05000000000000000000" pitchFamily="2" charset="2"/>
              <a:buNone/>
            </a:pPr>
            <a:r>
              <a:rPr lang="en-GB" altLang="en-US" sz="2400"/>
              <a:t>	{</a:t>
            </a:r>
            <a:r>
              <a:rPr lang="en-GB" altLang="en-US" sz="2400" u="sng"/>
              <a:t>Order</a:t>
            </a:r>
            <a:r>
              <a:rPr lang="en-GB" altLang="en-US" sz="2400"/>
              <a:t>, Customer}, and {</a:t>
            </a:r>
            <a:r>
              <a:rPr lang="en-GB" altLang="en-US" sz="2400" u="sng"/>
              <a:t>Customer</a:t>
            </a:r>
            <a:r>
              <a:rPr lang="en-GB" altLang="en-US" sz="2400"/>
              <a:t>, Address}</a:t>
            </a:r>
          </a:p>
        </p:txBody>
      </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4">
            <a:extLst>
              <a:ext uri="{FF2B5EF4-FFF2-40B4-BE49-F238E27FC236}">
                <a16:creationId xmlns:a16="http://schemas.microsoft.com/office/drawing/2014/main" id="{DB3C2E52-5C04-6CBA-4AA5-81C476CF6E29}"/>
              </a:ext>
            </a:extLst>
          </p:cNvPr>
          <p:cNvSpPr>
            <a:spLocks noGrp="1" noChangeArrowheads="1"/>
          </p:cNvSpPr>
          <p:nvPr>
            <p:ph type="ctrTitle"/>
          </p:nvPr>
        </p:nvSpPr>
        <p:spPr/>
        <p:txBody>
          <a:bodyPr/>
          <a:lstStyle/>
          <a:p>
            <a:pPr eaLnBrk="1" hangingPunct="1"/>
            <a:r>
              <a:rPr lang="en-US" altLang="en-US"/>
              <a:t>An Example</a:t>
            </a:r>
          </a:p>
        </p:txBody>
      </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3">
            <a:extLst>
              <a:ext uri="{FF2B5EF4-FFF2-40B4-BE49-F238E27FC236}">
                <a16:creationId xmlns:a16="http://schemas.microsoft.com/office/drawing/2014/main" id="{F5263EFE-50FE-3842-95FE-4A1047B29887}"/>
              </a:ext>
            </a:extLst>
          </p:cNvPr>
          <p:cNvSpPr>
            <a:spLocks noChangeArrowheads="1"/>
          </p:cNvSpPr>
          <p:nvPr/>
        </p:nvSpPr>
        <p:spPr bwMode="auto">
          <a:xfrm>
            <a:off x="1431925" y="357188"/>
            <a:ext cx="6453188"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PK" sz="4000" b="1" i="0" u="none" strike="noStrike" kern="1200" cap="none" spc="0" normalizeH="0" baseline="0" noProof="0">
                <a:ln>
                  <a:noFill/>
                </a:ln>
                <a:solidFill>
                  <a:srgbClr val="1B1B32"/>
                </a:solidFill>
                <a:effectLst/>
                <a:uLnTx/>
                <a:uFillTx/>
                <a:latin typeface="-apple-system"/>
                <a:ea typeface="+mn-ea"/>
                <a:cs typeface="Arial" panose="020B0604020202020204" pitchFamily="34" charset="0"/>
              </a:rPr>
              <a:t>FIRST Normal Form (1NF)</a:t>
            </a:r>
          </a:p>
        </p:txBody>
      </p:sp>
      <p:sp>
        <p:nvSpPr>
          <p:cNvPr id="5" name="Rectangle 4">
            <a:extLst>
              <a:ext uri="{FF2B5EF4-FFF2-40B4-BE49-F238E27FC236}">
                <a16:creationId xmlns:a16="http://schemas.microsoft.com/office/drawing/2014/main" id="{73F6558B-CBA7-C512-ECD4-79B25255B3E9}"/>
              </a:ext>
            </a:extLst>
          </p:cNvPr>
          <p:cNvSpPr/>
          <p:nvPr/>
        </p:nvSpPr>
        <p:spPr>
          <a:xfrm>
            <a:off x="392113" y="1120775"/>
            <a:ext cx="8269287" cy="5262563"/>
          </a:xfrm>
          <a:prstGeom prst="rect">
            <a:avLst/>
          </a:prstGeom>
        </p:spPr>
        <p:txBody>
          <a:bodyPr>
            <a:spAutoFit/>
          </a:bodyPr>
          <a:lstStyle/>
          <a:p>
            <a:pPr marL="0" marR="0" lvl="0" indent="0" algn="just" defTabSz="914400" rtl="0" eaLnBrk="0" fontAlgn="base" latinLnBrk="0" hangingPunct="0">
              <a:lnSpc>
                <a:spcPct val="150000"/>
              </a:lnSpc>
              <a:spcBef>
                <a:spcPct val="0"/>
              </a:spcBef>
              <a:spcAft>
                <a:spcPct val="0"/>
              </a:spcAft>
              <a:buClrTx/>
              <a:buSzTx/>
              <a:buFontTx/>
              <a:buNone/>
              <a:tabLst/>
              <a:defRPr/>
            </a:pPr>
            <a:r>
              <a:rPr kumimoji="0" lang="en-US" sz="2800" b="0" i="0" u="none" strike="noStrike" kern="1200" cap="none" spc="0" normalizeH="0" baseline="0" noProof="0" dirty="0">
                <a:ln>
                  <a:noFill/>
                </a:ln>
                <a:solidFill>
                  <a:srgbClr val="0A0A23"/>
                </a:solidFill>
                <a:effectLst/>
                <a:uLnTx/>
                <a:uFillTx/>
                <a:latin typeface="Lato"/>
                <a:ea typeface="+mn-ea"/>
                <a:cs typeface="Arial" panose="020B0604020202020204" pitchFamily="34" charset="0"/>
              </a:rPr>
              <a:t>For a table to be in the first normal form, it must meet the following criteria:</a:t>
            </a:r>
          </a:p>
          <a:p>
            <a:pPr marL="457200" marR="0" lvl="0" indent="-4572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en-US" sz="2800" b="0" i="1" u="none" strike="noStrike" kern="1200" cap="none" spc="0" normalizeH="0" baseline="0" noProof="0" dirty="0">
                <a:ln>
                  <a:noFill/>
                </a:ln>
                <a:solidFill>
                  <a:srgbClr val="0A0A23"/>
                </a:solidFill>
                <a:effectLst/>
                <a:uLnTx/>
                <a:uFillTx/>
                <a:latin typeface="Lato"/>
                <a:ea typeface="+mn-ea"/>
                <a:cs typeface="Arial" panose="020B0604020202020204" pitchFamily="34" charset="0"/>
              </a:rPr>
              <a:t>a single cell must not hold more than one value (atomicity)</a:t>
            </a:r>
          </a:p>
          <a:p>
            <a:pPr marL="457200" marR="0" lvl="0" indent="-4572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en-US" sz="2800" b="0" i="1" u="none" strike="noStrike" kern="1200" cap="none" spc="0" normalizeH="0" baseline="0" noProof="0" dirty="0">
                <a:ln>
                  <a:noFill/>
                </a:ln>
                <a:solidFill>
                  <a:srgbClr val="0A0A23"/>
                </a:solidFill>
                <a:effectLst/>
                <a:uLnTx/>
                <a:uFillTx/>
                <a:latin typeface="Lato"/>
                <a:ea typeface="+mn-ea"/>
                <a:cs typeface="Arial" panose="020B0604020202020204" pitchFamily="34" charset="0"/>
              </a:rPr>
              <a:t>there must be a primary key for identification</a:t>
            </a:r>
          </a:p>
          <a:p>
            <a:pPr marL="457200" marR="0" lvl="0" indent="-4572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en-US" sz="2800" b="0" i="1" u="none" strike="noStrike" kern="1200" cap="none" spc="0" normalizeH="0" baseline="0" noProof="0" dirty="0">
                <a:ln>
                  <a:noFill/>
                </a:ln>
                <a:solidFill>
                  <a:srgbClr val="0A0A23"/>
                </a:solidFill>
                <a:effectLst/>
                <a:uLnTx/>
                <a:uFillTx/>
                <a:latin typeface="Lato"/>
                <a:ea typeface="+mn-ea"/>
                <a:cs typeface="Arial" panose="020B0604020202020204" pitchFamily="34" charset="0"/>
              </a:rPr>
              <a:t>no duplicated rows or columns</a:t>
            </a:r>
          </a:p>
          <a:p>
            <a:pPr marL="457200" marR="0" lvl="0" indent="-4572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en-US" sz="2800" b="0" i="1" u="none" strike="noStrike" kern="1200" cap="none" spc="0" normalizeH="0" baseline="0" noProof="0" dirty="0">
                <a:ln>
                  <a:noFill/>
                </a:ln>
                <a:solidFill>
                  <a:srgbClr val="0A0A23"/>
                </a:solidFill>
                <a:effectLst/>
                <a:uLnTx/>
                <a:uFillTx/>
                <a:latin typeface="Lato"/>
                <a:ea typeface="+mn-ea"/>
                <a:cs typeface="Arial" panose="020B0604020202020204" pitchFamily="34" charset="0"/>
              </a:rPr>
              <a:t>each column must have only one value for each row in the table</a:t>
            </a:r>
            <a:endParaRPr kumimoji="0" lang="en-US" sz="2800" b="0" i="1" u="none" strike="noStrike" kern="1200" cap="none" spc="0" normalizeH="0" baseline="0" noProof="0" dirty="0">
              <a:ln>
                <a:noFill/>
              </a:ln>
              <a:solidFill>
                <a:srgbClr val="0A0A23"/>
              </a:solidFill>
              <a:effectLst/>
              <a:uLnTx/>
              <a:uFillTx/>
              <a:latin typeface="inherit"/>
              <a:ea typeface="+mn-ea"/>
              <a:cs typeface="Arial" panose="020B0604020202020204" pitchFamily="34" charset="0"/>
            </a:endParaRPr>
          </a:p>
        </p:txBody>
      </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BCDBA736-B2FC-CE28-CAE5-50262DE1B043}"/>
              </a:ext>
            </a:extLst>
          </p:cNvPr>
          <p:cNvGraphicFramePr>
            <a:graphicFrameLocks noGrp="1"/>
          </p:cNvGraphicFramePr>
          <p:nvPr/>
        </p:nvGraphicFramePr>
        <p:xfrm>
          <a:off x="457200" y="544513"/>
          <a:ext cx="8229600" cy="3246438"/>
        </p:xfrm>
        <a:graphic>
          <a:graphicData uri="http://schemas.openxmlformats.org/drawingml/2006/table">
            <a:tbl>
              <a:tblPr/>
              <a:tblGrid>
                <a:gridCol w="1672046">
                  <a:extLst>
                    <a:ext uri="{9D8B030D-6E8A-4147-A177-3AD203B41FA5}">
                      <a16:colId xmlns:a16="http://schemas.microsoft.com/office/drawing/2014/main" val="51658950"/>
                    </a:ext>
                  </a:extLst>
                </a:gridCol>
                <a:gridCol w="1123405">
                  <a:extLst>
                    <a:ext uri="{9D8B030D-6E8A-4147-A177-3AD203B41FA5}">
                      <a16:colId xmlns:a16="http://schemas.microsoft.com/office/drawing/2014/main" val="2168133998"/>
                    </a:ext>
                  </a:extLst>
                </a:gridCol>
                <a:gridCol w="1018903">
                  <a:extLst>
                    <a:ext uri="{9D8B030D-6E8A-4147-A177-3AD203B41FA5}">
                      <a16:colId xmlns:a16="http://schemas.microsoft.com/office/drawing/2014/main" val="9619619"/>
                    </a:ext>
                  </a:extLst>
                </a:gridCol>
                <a:gridCol w="1632857">
                  <a:extLst>
                    <a:ext uri="{9D8B030D-6E8A-4147-A177-3AD203B41FA5}">
                      <a16:colId xmlns:a16="http://schemas.microsoft.com/office/drawing/2014/main" val="4221017817"/>
                    </a:ext>
                  </a:extLst>
                </a:gridCol>
                <a:gridCol w="1214846">
                  <a:extLst>
                    <a:ext uri="{9D8B030D-6E8A-4147-A177-3AD203B41FA5}">
                      <a16:colId xmlns:a16="http://schemas.microsoft.com/office/drawing/2014/main" val="3154938004"/>
                    </a:ext>
                  </a:extLst>
                </a:gridCol>
                <a:gridCol w="1567543">
                  <a:extLst>
                    <a:ext uri="{9D8B030D-6E8A-4147-A177-3AD203B41FA5}">
                      <a16:colId xmlns:a16="http://schemas.microsoft.com/office/drawing/2014/main" val="4136259850"/>
                    </a:ext>
                  </a:extLst>
                </a:gridCol>
              </a:tblGrid>
              <a:tr h="845903">
                <a:tc>
                  <a:txBody>
                    <a:bodyPr/>
                    <a:lstStyle/>
                    <a:p>
                      <a:pPr algn="ctr" fontAlgn="base"/>
                      <a:r>
                        <a:rPr lang="en-US" sz="2400" b="1" dirty="0" err="1">
                          <a:effectLst/>
                          <a:latin typeface="inherit"/>
                        </a:rPr>
                        <a:t>employee_id</a:t>
                      </a:r>
                      <a:endParaRPr lang="en-US" sz="2400" b="1" dirty="0">
                        <a:effectLst/>
                        <a:latin typeface="inherit"/>
                      </a:endParaRPr>
                    </a:p>
                  </a:txBody>
                  <a:tcPr marL="114300" marR="114300" marT="57156" marB="57156">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tc>
                  <a:txBody>
                    <a:bodyPr/>
                    <a:lstStyle/>
                    <a:p>
                      <a:pPr algn="ctr" fontAlgn="base"/>
                      <a:r>
                        <a:rPr lang="en-US" sz="2400" b="1">
                          <a:effectLst/>
                          <a:latin typeface="inherit"/>
                        </a:rPr>
                        <a:t>name</a:t>
                      </a:r>
                    </a:p>
                  </a:txBody>
                  <a:tcPr marL="114300" marR="114300" marT="57156" marB="57156">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tc>
                  <a:txBody>
                    <a:bodyPr/>
                    <a:lstStyle/>
                    <a:p>
                      <a:pPr algn="ctr" fontAlgn="base"/>
                      <a:r>
                        <a:rPr lang="en-US" sz="2400" b="1" dirty="0">
                          <a:effectLst/>
                          <a:latin typeface="inherit"/>
                        </a:rPr>
                        <a:t>job_</a:t>
                      </a:r>
                    </a:p>
                    <a:p>
                      <a:pPr algn="ctr" fontAlgn="base"/>
                      <a:r>
                        <a:rPr lang="en-US" sz="2400" b="1" dirty="0">
                          <a:effectLst/>
                          <a:latin typeface="inherit"/>
                        </a:rPr>
                        <a:t>code</a:t>
                      </a:r>
                    </a:p>
                  </a:txBody>
                  <a:tcPr marL="114300" marR="114300" marT="57156" marB="57156">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tc>
                  <a:txBody>
                    <a:bodyPr/>
                    <a:lstStyle/>
                    <a:p>
                      <a:pPr algn="ctr" fontAlgn="base"/>
                      <a:r>
                        <a:rPr lang="en-US" sz="2400" b="1" dirty="0">
                          <a:effectLst/>
                          <a:latin typeface="inherit"/>
                        </a:rPr>
                        <a:t>job</a:t>
                      </a:r>
                    </a:p>
                  </a:txBody>
                  <a:tcPr marL="114300" marR="114300" marT="57156" marB="57156">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tc>
                  <a:txBody>
                    <a:bodyPr/>
                    <a:lstStyle/>
                    <a:p>
                      <a:pPr algn="ctr" fontAlgn="base"/>
                      <a:r>
                        <a:rPr lang="en-US" sz="2400" b="1" dirty="0">
                          <a:effectLst/>
                          <a:latin typeface="inherit"/>
                        </a:rPr>
                        <a:t>state_</a:t>
                      </a:r>
                    </a:p>
                    <a:p>
                      <a:pPr algn="ctr" fontAlgn="base"/>
                      <a:r>
                        <a:rPr lang="en-US" sz="2400" b="1" dirty="0">
                          <a:effectLst/>
                          <a:latin typeface="inherit"/>
                        </a:rPr>
                        <a:t>code</a:t>
                      </a:r>
                    </a:p>
                  </a:txBody>
                  <a:tcPr marL="114300" marR="114300" marT="57156" marB="57156">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tc>
                  <a:txBody>
                    <a:bodyPr/>
                    <a:lstStyle/>
                    <a:p>
                      <a:pPr algn="ctr" fontAlgn="base"/>
                      <a:r>
                        <a:rPr lang="en-US" sz="2400" b="1" dirty="0">
                          <a:effectLst/>
                          <a:latin typeface="inherit"/>
                        </a:rPr>
                        <a:t>home_</a:t>
                      </a:r>
                    </a:p>
                    <a:p>
                      <a:pPr algn="ctr" fontAlgn="base"/>
                      <a:r>
                        <a:rPr lang="en-US" sz="2400" b="1" dirty="0">
                          <a:effectLst/>
                          <a:latin typeface="inherit"/>
                        </a:rPr>
                        <a:t>state</a:t>
                      </a:r>
                    </a:p>
                  </a:txBody>
                  <a:tcPr marL="114300" marR="114300" marT="57156" marB="57156">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extLst>
                  <a:ext uri="{0D108BD9-81ED-4DB2-BD59-A6C34878D82A}">
                    <a16:rowId xmlns:a16="http://schemas.microsoft.com/office/drawing/2014/main" val="1333976592"/>
                  </a:ext>
                </a:extLst>
              </a:tr>
              <a:tr h="480107">
                <a:tc>
                  <a:txBody>
                    <a:bodyPr/>
                    <a:lstStyle/>
                    <a:p>
                      <a:pPr algn="ctr" fontAlgn="base"/>
                      <a:r>
                        <a:rPr lang="en-US" sz="2400" dirty="0">
                          <a:effectLst/>
                          <a:latin typeface="inherit"/>
                        </a:rPr>
                        <a:t>E001</a:t>
                      </a:r>
                    </a:p>
                  </a:txBody>
                  <a:tcPr marL="114300" marR="114300" marT="57156" marB="57156">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tc>
                  <a:txBody>
                    <a:bodyPr/>
                    <a:lstStyle/>
                    <a:p>
                      <a:pPr algn="ctr" fontAlgn="base"/>
                      <a:r>
                        <a:rPr lang="en-US" sz="2400">
                          <a:effectLst/>
                          <a:latin typeface="inherit"/>
                        </a:rPr>
                        <a:t>Alice</a:t>
                      </a:r>
                    </a:p>
                  </a:txBody>
                  <a:tcPr marL="114300" marR="114300" marT="57156" marB="57156">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tc>
                  <a:txBody>
                    <a:bodyPr/>
                    <a:lstStyle/>
                    <a:p>
                      <a:pPr algn="ctr" fontAlgn="base"/>
                      <a:r>
                        <a:rPr lang="en-US" sz="2400" dirty="0">
                          <a:effectLst/>
                          <a:latin typeface="inherit"/>
                        </a:rPr>
                        <a:t>J01</a:t>
                      </a:r>
                    </a:p>
                  </a:txBody>
                  <a:tcPr marL="114300" marR="114300" marT="57156" marB="57156">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tc>
                  <a:txBody>
                    <a:bodyPr/>
                    <a:lstStyle/>
                    <a:p>
                      <a:pPr algn="ctr" fontAlgn="base"/>
                      <a:r>
                        <a:rPr lang="en-US" sz="2400">
                          <a:effectLst/>
                          <a:latin typeface="inherit"/>
                        </a:rPr>
                        <a:t>Chef</a:t>
                      </a:r>
                    </a:p>
                  </a:txBody>
                  <a:tcPr marL="114300" marR="114300" marT="57156" marB="57156">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tc>
                  <a:txBody>
                    <a:bodyPr/>
                    <a:lstStyle/>
                    <a:p>
                      <a:pPr algn="ctr" fontAlgn="base"/>
                      <a:r>
                        <a:rPr lang="en-US" sz="2400">
                          <a:effectLst/>
                          <a:latin typeface="inherit"/>
                        </a:rPr>
                        <a:t>26</a:t>
                      </a:r>
                    </a:p>
                  </a:txBody>
                  <a:tcPr marL="114300" marR="114300" marT="57156" marB="57156">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tc>
                  <a:txBody>
                    <a:bodyPr/>
                    <a:lstStyle/>
                    <a:p>
                      <a:pPr algn="ctr" fontAlgn="base"/>
                      <a:r>
                        <a:rPr lang="en-US" sz="2400">
                          <a:effectLst/>
                          <a:latin typeface="inherit"/>
                        </a:rPr>
                        <a:t>Michigan</a:t>
                      </a:r>
                    </a:p>
                  </a:txBody>
                  <a:tcPr marL="114300" marR="114300" marT="57156" marB="57156">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extLst>
                  <a:ext uri="{0D108BD9-81ED-4DB2-BD59-A6C34878D82A}">
                    <a16:rowId xmlns:a16="http://schemas.microsoft.com/office/drawing/2014/main" val="1280951319"/>
                  </a:ext>
                </a:extLst>
              </a:tr>
              <a:tr h="480107">
                <a:tc>
                  <a:txBody>
                    <a:bodyPr/>
                    <a:lstStyle/>
                    <a:p>
                      <a:pPr algn="ctr" fontAlgn="base"/>
                      <a:r>
                        <a:rPr lang="en-US" sz="2400">
                          <a:effectLst/>
                          <a:latin typeface="inherit"/>
                        </a:rPr>
                        <a:t>E001</a:t>
                      </a:r>
                    </a:p>
                  </a:txBody>
                  <a:tcPr marL="114300" marR="114300" marT="57156" marB="57156">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tc>
                  <a:txBody>
                    <a:bodyPr/>
                    <a:lstStyle/>
                    <a:p>
                      <a:pPr algn="ctr" fontAlgn="base"/>
                      <a:r>
                        <a:rPr lang="en-US" sz="2400">
                          <a:effectLst/>
                          <a:latin typeface="inherit"/>
                        </a:rPr>
                        <a:t>Alice</a:t>
                      </a:r>
                    </a:p>
                  </a:txBody>
                  <a:tcPr marL="114300" marR="114300" marT="57156" marB="57156">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tc>
                  <a:txBody>
                    <a:bodyPr/>
                    <a:lstStyle/>
                    <a:p>
                      <a:pPr algn="ctr" fontAlgn="base"/>
                      <a:r>
                        <a:rPr lang="en-US" sz="2400">
                          <a:effectLst/>
                          <a:latin typeface="inherit"/>
                        </a:rPr>
                        <a:t>J02</a:t>
                      </a:r>
                    </a:p>
                  </a:txBody>
                  <a:tcPr marL="114300" marR="114300" marT="57156" marB="57156">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tc>
                  <a:txBody>
                    <a:bodyPr/>
                    <a:lstStyle/>
                    <a:p>
                      <a:pPr algn="ctr" fontAlgn="base"/>
                      <a:r>
                        <a:rPr lang="en-US" sz="2400">
                          <a:effectLst/>
                          <a:latin typeface="inherit"/>
                        </a:rPr>
                        <a:t>Waiter</a:t>
                      </a:r>
                    </a:p>
                  </a:txBody>
                  <a:tcPr marL="114300" marR="114300" marT="57156" marB="57156">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tc>
                  <a:txBody>
                    <a:bodyPr/>
                    <a:lstStyle/>
                    <a:p>
                      <a:pPr algn="ctr" fontAlgn="base"/>
                      <a:r>
                        <a:rPr lang="en-US" sz="2400">
                          <a:effectLst/>
                          <a:latin typeface="inherit"/>
                        </a:rPr>
                        <a:t>26</a:t>
                      </a:r>
                    </a:p>
                  </a:txBody>
                  <a:tcPr marL="114300" marR="114300" marT="57156" marB="57156">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tc>
                  <a:txBody>
                    <a:bodyPr/>
                    <a:lstStyle/>
                    <a:p>
                      <a:pPr algn="ctr" fontAlgn="base"/>
                      <a:r>
                        <a:rPr lang="en-US" sz="2400">
                          <a:effectLst/>
                          <a:latin typeface="inherit"/>
                        </a:rPr>
                        <a:t>Michigan</a:t>
                      </a:r>
                    </a:p>
                  </a:txBody>
                  <a:tcPr marL="114300" marR="114300" marT="57156" marB="57156">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extLst>
                  <a:ext uri="{0D108BD9-81ED-4DB2-BD59-A6C34878D82A}">
                    <a16:rowId xmlns:a16="http://schemas.microsoft.com/office/drawing/2014/main" val="15433539"/>
                  </a:ext>
                </a:extLst>
              </a:tr>
              <a:tr h="480107">
                <a:tc>
                  <a:txBody>
                    <a:bodyPr/>
                    <a:lstStyle/>
                    <a:p>
                      <a:pPr algn="ctr" fontAlgn="base"/>
                      <a:r>
                        <a:rPr lang="en-US" sz="2400">
                          <a:effectLst/>
                          <a:latin typeface="inherit"/>
                        </a:rPr>
                        <a:t>E002</a:t>
                      </a:r>
                    </a:p>
                  </a:txBody>
                  <a:tcPr marL="114300" marR="114300" marT="57156" marB="57156">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tc>
                  <a:txBody>
                    <a:bodyPr/>
                    <a:lstStyle/>
                    <a:p>
                      <a:pPr algn="ctr" fontAlgn="base"/>
                      <a:r>
                        <a:rPr lang="en-US" sz="2400">
                          <a:effectLst/>
                          <a:latin typeface="inherit"/>
                        </a:rPr>
                        <a:t>Bob</a:t>
                      </a:r>
                    </a:p>
                  </a:txBody>
                  <a:tcPr marL="114300" marR="114300" marT="57156" marB="57156">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tc>
                  <a:txBody>
                    <a:bodyPr/>
                    <a:lstStyle/>
                    <a:p>
                      <a:pPr algn="ctr" fontAlgn="base"/>
                      <a:r>
                        <a:rPr lang="en-US" sz="2400">
                          <a:effectLst/>
                          <a:latin typeface="inherit"/>
                        </a:rPr>
                        <a:t>J02</a:t>
                      </a:r>
                    </a:p>
                  </a:txBody>
                  <a:tcPr marL="114300" marR="114300" marT="57156" marB="57156">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tc>
                  <a:txBody>
                    <a:bodyPr/>
                    <a:lstStyle/>
                    <a:p>
                      <a:pPr algn="ctr" fontAlgn="base"/>
                      <a:r>
                        <a:rPr lang="en-US" sz="2400">
                          <a:effectLst/>
                          <a:latin typeface="inherit"/>
                        </a:rPr>
                        <a:t>Waiter</a:t>
                      </a:r>
                    </a:p>
                  </a:txBody>
                  <a:tcPr marL="114300" marR="114300" marT="57156" marB="57156">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tc>
                  <a:txBody>
                    <a:bodyPr/>
                    <a:lstStyle/>
                    <a:p>
                      <a:pPr algn="ctr" fontAlgn="base"/>
                      <a:r>
                        <a:rPr lang="en-US" sz="2400">
                          <a:effectLst/>
                          <a:latin typeface="inherit"/>
                        </a:rPr>
                        <a:t>56</a:t>
                      </a:r>
                    </a:p>
                  </a:txBody>
                  <a:tcPr marL="114300" marR="114300" marT="57156" marB="57156">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tc>
                  <a:txBody>
                    <a:bodyPr/>
                    <a:lstStyle/>
                    <a:p>
                      <a:pPr algn="ctr" fontAlgn="base"/>
                      <a:r>
                        <a:rPr lang="en-US" sz="2400">
                          <a:effectLst/>
                          <a:latin typeface="inherit"/>
                        </a:rPr>
                        <a:t>Wyoming</a:t>
                      </a:r>
                    </a:p>
                  </a:txBody>
                  <a:tcPr marL="114300" marR="114300" marT="57156" marB="57156">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extLst>
                  <a:ext uri="{0D108BD9-81ED-4DB2-BD59-A6C34878D82A}">
                    <a16:rowId xmlns:a16="http://schemas.microsoft.com/office/drawing/2014/main" val="3433113682"/>
                  </a:ext>
                </a:extLst>
              </a:tr>
              <a:tr h="480107">
                <a:tc>
                  <a:txBody>
                    <a:bodyPr/>
                    <a:lstStyle/>
                    <a:p>
                      <a:pPr algn="ctr" fontAlgn="base"/>
                      <a:r>
                        <a:rPr lang="en-US" sz="2400">
                          <a:effectLst/>
                          <a:latin typeface="inherit"/>
                        </a:rPr>
                        <a:t>E002</a:t>
                      </a:r>
                    </a:p>
                  </a:txBody>
                  <a:tcPr marL="114300" marR="114300" marT="57156" marB="57156">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tc>
                  <a:txBody>
                    <a:bodyPr/>
                    <a:lstStyle/>
                    <a:p>
                      <a:pPr algn="ctr" fontAlgn="base"/>
                      <a:r>
                        <a:rPr lang="en-US" sz="2400">
                          <a:effectLst/>
                          <a:latin typeface="inherit"/>
                        </a:rPr>
                        <a:t>Bob</a:t>
                      </a:r>
                    </a:p>
                  </a:txBody>
                  <a:tcPr marL="114300" marR="114300" marT="57156" marB="57156">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tc>
                  <a:txBody>
                    <a:bodyPr/>
                    <a:lstStyle/>
                    <a:p>
                      <a:pPr algn="ctr" fontAlgn="base"/>
                      <a:r>
                        <a:rPr lang="en-US" sz="2400">
                          <a:effectLst/>
                          <a:latin typeface="inherit"/>
                        </a:rPr>
                        <a:t>J03</a:t>
                      </a:r>
                    </a:p>
                  </a:txBody>
                  <a:tcPr marL="114300" marR="114300" marT="57156" marB="57156">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tc>
                  <a:txBody>
                    <a:bodyPr/>
                    <a:lstStyle/>
                    <a:p>
                      <a:pPr algn="ctr" fontAlgn="base"/>
                      <a:r>
                        <a:rPr lang="en-US" sz="2400" dirty="0">
                          <a:effectLst/>
                          <a:latin typeface="inherit"/>
                        </a:rPr>
                        <a:t>Bartender</a:t>
                      </a:r>
                    </a:p>
                  </a:txBody>
                  <a:tcPr marL="114300" marR="114300" marT="57156" marB="57156">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tc>
                  <a:txBody>
                    <a:bodyPr/>
                    <a:lstStyle/>
                    <a:p>
                      <a:pPr algn="ctr" fontAlgn="base"/>
                      <a:r>
                        <a:rPr lang="en-US" sz="2400" dirty="0">
                          <a:effectLst/>
                          <a:latin typeface="inherit"/>
                        </a:rPr>
                        <a:t>56</a:t>
                      </a:r>
                    </a:p>
                  </a:txBody>
                  <a:tcPr marL="114300" marR="114300" marT="57156" marB="57156">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tc>
                  <a:txBody>
                    <a:bodyPr/>
                    <a:lstStyle/>
                    <a:p>
                      <a:pPr algn="ctr" fontAlgn="base"/>
                      <a:r>
                        <a:rPr lang="en-US" sz="2400">
                          <a:effectLst/>
                          <a:latin typeface="inherit"/>
                        </a:rPr>
                        <a:t>Wyoming</a:t>
                      </a:r>
                    </a:p>
                  </a:txBody>
                  <a:tcPr marL="114300" marR="114300" marT="57156" marB="57156">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extLst>
                  <a:ext uri="{0D108BD9-81ED-4DB2-BD59-A6C34878D82A}">
                    <a16:rowId xmlns:a16="http://schemas.microsoft.com/office/drawing/2014/main" val="2108685564"/>
                  </a:ext>
                </a:extLst>
              </a:tr>
              <a:tr h="480107">
                <a:tc>
                  <a:txBody>
                    <a:bodyPr/>
                    <a:lstStyle/>
                    <a:p>
                      <a:pPr algn="ctr" fontAlgn="base"/>
                      <a:r>
                        <a:rPr lang="en-US" sz="2400">
                          <a:effectLst/>
                          <a:latin typeface="inherit"/>
                        </a:rPr>
                        <a:t>E003</a:t>
                      </a:r>
                    </a:p>
                  </a:txBody>
                  <a:tcPr marL="114300" marR="114300" marT="57156" marB="57156">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tc>
                  <a:txBody>
                    <a:bodyPr/>
                    <a:lstStyle/>
                    <a:p>
                      <a:pPr algn="ctr" fontAlgn="base"/>
                      <a:r>
                        <a:rPr lang="en-US" sz="2400">
                          <a:effectLst/>
                          <a:latin typeface="inherit"/>
                        </a:rPr>
                        <a:t>Alice</a:t>
                      </a:r>
                    </a:p>
                  </a:txBody>
                  <a:tcPr marL="114300" marR="114300" marT="57156" marB="57156">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tc>
                  <a:txBody>
                    <a:bodyPr/>
                    <a:lstStyle/>
                    <a:p>
                      <a:pPr algn="ctr" fontAlgn="base"/>
                      <a:r>
                        <a:rPr lang="en-US" sz="2400">
                          <a:effectLst/>
                          <a:latin typeface="inherit"/>
                        </a:rPr>
                        <a:t>J01</a:t>
                      </a:r>
                    </a:p>
                  </a:txBody>
                  <a:tcPr marL="114300" marR="114300" marT="57156" marB="57156">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tc>
                  <a:txBody>
                    <a:bodyPr/>
                    <a:lstStyle/>
                    <a:p>
                      <a:pPr algn="ctr" fontAlgn="base"/>
                      <a:r>
                        <a:rPr lang="en-US" sz="2400">
                          <a:effectLst/>
                          <a:latin typeface="inherit"/>
                        </a:rPr>
                        <a:t>Chef</a:t>
                      </a:r>
                    </a:p>
                  </a:txBody>
                  <a:tcPr marL="114300" marR="114300" marT="57156" marB="57156">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tc>
                  <a:txBody>
                    <a:bodyPr/>
                    <a:lstStyle/>
                    <a:p>
                      <a:pPr algn="ctr" fontAlgn="base"/>
                      <a:r>
                        <a:rPr lang="en-US" sz="2400">
                          <a:effectLst/>
                          <a:latin typeface="inherit"/>
                        </a:rPr>
                        <a:t>56</a:t>
                      </a:r>
                    </a:p>
                  </a:txBody>
                  <a:tcPr marL="114300" marR="114300" marT="57156" marB="57156">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tc>
                  <a:txBody>
                    <a:bodyPr/>
                    <a:lstStyle/>
                    <a:p>
                      <a:pPr algn="ctr" fontAlgn="base"/>
                      <a:r>
                        <a:rPr lang="en-US" sz="2400" dirty="0">
                          <a:effectLst/>
                          <a:latin typeface="inherit"/>
                        </a:rPr>
                        <a:t>Wyoming</a:t>
                      </a:r>
                    </a:p>
                  </a:txBody>
                  <a:tcPr marL="114300" marR="114300" marT="57156" marB="57156">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extLst>
                  <a:ext uri="{0D108BD9-81ED-4DB2-BD59-A6C34878D82A}">
                    <a16:rowId xmlns:a16="http://schemas.microsoft.com/office/drawing/2014/main" val="1034593048"/>
                  </a:ext>
                </a:extLst>
              </a:tr>
            </a:tbl>
          </a:graphicData>
        </a:graphic>
      </p:graphicFrame>
      <p:sp>
        <p:nvSpPr>
          <p:cNvPr id="20533" name="Rectangle 4">
            <a:extLst>
              <a:ext uri="{FF2B5EF4-FFF2-40B4-BE49-F238E27FC236}">
                <a16:creationId xmlns:a16="http://schemas.microsoft.com/office/drawing/2014/main" id="{A5406173-58ED-753C-DB13-FBC095FE636B}"/>
              </a:ext>
            </a:extLst>
          </p:cNvPr>
          <p:cNvSpPr>
            <a:spLocks noChangeArrowheads="1"/>
          </p:cNvSpPr>
          <p:nvPr/>
        </p:nvSpPr>
        <p:spPr bwMode="auto">
          <a:xfrm>
            <a:off x="457200" y="4213225"/>
            <a:ext cx="8229600" cy="206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altLang="en-PK" sz="3200" b="0" i="0" u="none" strike="noStrike" kern="1200" cap="none" spc="0" normalizeH="0" baseline="0" noProof="0">
                <a:ln>
                  <a:noFill/>
                </a:ln>
                <a:solidFill>
                  <a:srgbClr val="0A0A23"/>
                </a:solidFill>
                <a:effectLst/>
                <a:uLnTx/>
                <a:uFillTx/>
                <a:latin typeface="Lato" panose="020F0502020204030204" pitchFamily="34" charset="0"/>
                <a:ea typeface="+mn-ea"/>
                <a:cs typeface="Arial" panose="020B0604020202020204" pitchFamily="34" charset="0"/>
              </a:rPr>
              <a:t>All the entries are atomic and there is a composite primary key (employee_id, job_code) so the table is in the </a:t>
            </a:r>
            <a:r>
              <a:rPr kumimoji="0" lang="en-US" altLang="en-PK" sz="3200" b="1" i="0" u="none" strike="noStrike" kern="1200" cap="none" spc="0" normalizeH="0" baseline="0" noProof="0">
                <a:ln>
                  <a:noFill/>
                </a:ln>
                <a:solidFill>
                  <a:srgbClr val="1B1B32"/>
                </a:solidFill>
                <a:effectLst/>
                <a:uLnTx/>
                <a:uFillTx/>
                <a:latin typeface="Lato" panose="020F0502020204030204" pitchFamily="34" charset="0"/>
                <a:ea typeface="+mn-ea"/>
                <a:cs typeface="Arial" panose="020B0604020202020204" pitchFamily="34" charset="0"/>
              </a:rPr>
              <a:t>first normal form (1NF)</a:t>
            </a:r>
            <a:r>
              <a:rPr kumimoji="0" lang="en-US" altLang="en-PK" sz="3200" b="0" i="0" u="none" strike="noStrike" kern="1200" cap="none" spc="0" normalizeH="0" baseline="0" noProof="0">
                <a:ln>
                  <a:noFill/>
                </a:ln>
                <a:solidFill>
                  <a:srgbClr val="0A0A23"/>
                </a:solidFill>
                <a:effectLst/>
                <a:uLnTx/>
                <a:uFillTx/>
                <a:latin typeface="Lato" panose="020F0502020204030204" pitchFamily="34" charset="0"/>
                <a:ea typeface="+mn-ea"/>
                <a:cs typeface="Arial" panose="020B0604020202020204" pitchFamily="34" charset="0"/>
              </a:rPr>
              <a:t>.</a:t>
            </a:r>
            <a:endParaRPr kumimoji="0" lang="en-US" altLang="en-PK" sz="3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3">
            <a:extLst>
              <a:ext uri="{FF2B5EF4-FFF2-40B4-BE49-F238E27FC236}">
                <a16:creationId xmlns:a16="http://schemas.microsoft.com/office/drawing/2014/main" id="{B80AF35A-D1FE-F70E-DB8C-3C001FC34D0B}"/>
              </a:ext>
            </a:extLst>
          </p:cNvPr>
          <p:cNvSpPr>
            <a:spLocks noChangeArrowheads="1"/>
          </p:cNvSpPr>
          <p:nvPr/>
        </p:nvSpPr>
        <p:spPr bwMode="auto">
          <a:xfrm>
            <a:off x="1431925" y="357188"/>
            <a:ext cx="682307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PK" sz="4000" b="1" i="0" u="none" strike="noStrike" kern="1200" cap="none" spc="0" normalizeH="0" baseline="0" noProof="0">
                <a:ln>
                  <a:noFill/>
                </a:ln>
                <a:solidFill>
                  <a:srgbClr val="1B1B32"/>
                </a:solidFill>
                <a:effectLst/>
                <a:uLnTx/>
                <a:uFillTx/>
                <a:latin typeface="-apple-system"/>
                <a:ea typeface="+mn-ea"/>
                <a:cs typeface="Arial" panose="020B0604020202020204" pitchFamily="34" charset="0"/>
              </a:rPr>
              <a:t>Second Normal Form (2NF)</a:t>
            </a:r>
          </a:p>
        </p:txBody>
      </p:sp>
      <p:sp>
        <p:nvSpPr>
          <p:cNvPr id="5" name="Rectangle 4">
            <a:extLst>
              <a:ext uri="{FF2B5EF4-FFF2-40B4-BE49-F238E27FC236}">
                <a16:creationId xmlns:a16="http://schemas.microsoft.com/office/drawing/2014/main" id="{9400EAEF-EE46-4DDD-5472-17C7C5E8C18B}"/>
              </a:ext>
            </a:extLst>
          </p:cNvPr>
          <p:cNvSpPr/>
          <p:nvPr/>
        </p:nvSpPr>
        <p:spPr>
          <a:xfrm>
            <a:off x="392113" y="1120775"/>
            <a:ext cx="8269287" cy="4616450"/>
          </a:xfrm>
          <a:prstGeom prst="rect">
            <a:avLst/>
          </a:prstGeom>
        </p:spPr>
        <p:txBody>
          <a:bodyPr>
            <a:spAutoFit/>
          </a:bodyPr>
          <a:lstStyle/>
          <a:p>
            <a:pPr marL="0" marR="0" lvl="0" indent="0" algn="just" defTabSz="914400" rtl="0" eaLnBrk="0" fontAlgn="base" latinLnBrk="0" hangingPunct="0">
              <a:lnSpc>
                <a:spcPct val="150000"/>
              </a:lnSpc>
              <a:spcBef>
                <a:spcPct val="0"/>
              </a:spcBef>
              <a:spcAft>
                <a:spcPct val="0"/>
              </a:spcAft>
              <a:buClrTx/>
              <a:buSzTx/>
              <a:buFontTx/>
              <a:buNone/>
              <a:tabLst/>
              <a:defRPr/>
            </a:pPr>
            <a:r>
              <a:rPr kumimoji="0" lang="en-US" sz="2800" b="0" i="0" u="none" strike="noStrike" kern="1200" cap="none" spc="0" normalizeH="0" baseline="0" noProof="0" dirty="0">
                <a:ln>
                  <a:noFill/>
                </a:ln>
                <a:solidFill>
                  <a:srgbClr val="0A0A23"/>
                </a:solidFill>
                <a:effectLst/>
                <a:uLnTx/>
                <a:uFillTx/>
                <a:latin typeface="Lato"/>
                <a:ea typeface="+mn-ea"/>
                <a:cs typeface="Arial" panose="020B0604020202020204" pitchFamily="34" charset="0"/>
              </a:rPr>
              <a:t>The 1NF only eliminates repeating groups, not redundancy. That’s why there is 2NF.</a:t>
            </a:r>
          </a:p>
          <a:p>
            <a:pPr marL="0" marR="0" lvl="0" indent="0" algn="just" defTabSz="914400" rtl="0" eaLnBrk="0" fontAlgn="base" latinLnBrk="0" hangingPunct="0">
              <a:lnSpc>
                <a:spcPct val="150000"/>
              </a:lnSpc>
              <a:spcBef>
                <a:spcPct val="0"/>
              </a:spcBef>
              <a:spcAft>
                <a:spcPct val="0"/>
              </a:spcAft>
              <a:buClrTx/>
              <a:buSzTx/>
              <a:buFontTx/>
              <a:buNone/>
              <a:tabLst/>
              <a:defRPr/>
            </a:pPr>
            <a:r>
              <a:rPr kumimoji="0" lang="en-US" sz="2800" b="0" i="0" u="none" strike="noStrike" kern="1200" cap="none" spc="0" normalizeH="0" baseline="0" noProof="0" dirty="0">
                <a:ln>
                  <a:noFill/>
                </a:ln>
                <a:solidFill>
                  <a:srgbClr val="0A0A23"/>
                </a:solidFill>
                <a:effectLst/>
                <a:uLnTx/>
                <a:uFillTx/>
                <a:latin typeface="Lato"/>
                <a:ea typeface="+mn-ea"/>
                <a:cs typeface="Arial" panose="020B0604020202020204" pitchFamily="34" charset="0"/>
              </a:rPr>
              <a:t>A table is said to be in 2NF if it meets the following criteria:</a:t>
            </a:r>
          </a:p>
          <a:p>
            <a:pPr marL="457200" marR="0" lvl="0" indent="-4572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en-US" sz="2800" b="0" i="1" u="none" strike="noStrike" kern="1200" cap="none" spc="0" normalizeH="0" baseline="0" noProof="0" dirty="0">
                <a:ln>
                  <a:noFill/>
                </a:ln>
                <a:solidFill>
                  <a:srgbClr val="0A0A23"/>
                </a:solidFill>
                <a:effectLst/>
                <a:uLnTx/>
                <a:uFillTx/>
                <a:latin typeface="inherit"/>
                <a:ea typeface="+mn-ea"/>
                <a:cs typeface="Arial" panose="020B0604020202020204" pitchFamily="34" charset="0"/>
              </a:rPr>
              <a:t>it’s already in 1NF</a:t>
            </a:r>
          </a:p>
          <a:p>
            <a:pPr marL="457200" marR="0" lvl="0" indent="-4572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en-US" sz="2800" b="0" i="1" u="none" strike="noStrike" kern="1200" cap="none" spc="0" normalizeH="0" baseline="0" noProof="0" dirty="0">
                <a:ln>
                  <a:noFill/>
                </a:ln>
                <a:solidFill>
                  <a:srgbClr val="0A0A23"/>
                </a:solidFill>
                <a:effectLst/>
                <a:uLnTx/>
                <a:uFillTx/>
                <a:latin typeface="inherit"/>
                <a:ea typeface="+mn-ea"/>
                <a:cs typeface="Arial" panose="020B0604020202020204" pitchFamily="34" charset="0"/>
              </a:rPr>
              <a:t>has no partial dependency. That is, all non-key attributes are fully dependent on a primary key.</a:t>
            </a:r>
          </a:p>
        </p:txBody>
      </p:sp>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3">
            <a:extLst>
              <a:ext uri="{FF2B5EF4-FFF2-40B4-BE49-F238E27FC236}">
                <a16:creationId xmlns:a16="http://schemas.microsoft.com/office/drawing/2014/main" id="{C216851C-37F2-C029-D6E1-DE96D46F1B2C}"/>
              </a:ext>
            </a:extLst>
          </p:cNvPr>
          <p:cNvSpPr>
            <a:spLocks noChangeArrowheads="1"/>
          </p:cNvSpPr>
          <p:nvPr/>
        </p:nvSpPr>
        <p:spPr bwMode="auto">
          <a:xfrm>
            <a:off x="1492250" y="96838"/>
            <a:ext cx="61595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PK" sz="3600" b="1" i="0" u="none" strike="noStrike" kern="1200" cap="none" spc="0" normalizeH="0" baseline="0" noProof="0">
                <a:ln>
                  <a:noFill/>
                </a:ln>
                <a:solidFill>
                  <a:srgbClr val="1B1B32"/>
                </a:solidFill>
                <a:effectLst/>
                <a:uLnTx/>
                <a:uFillTx/>
                <a:latin typeface="-apple-system"/>
                <a:ea typeface="+mn-ea"/>
                <a:cs typeface="Arial" panose="020B0604020202020204" pitchFamily="34" charset="0"/>
              </a:rPr>
              <a:t>Second Normal Form (2NF)</a:t>
            </a:r>
          </a:p>
        </p:txBody>
      </p:sp>
      <p:graphicFrame>
        <p:nvGraphicFramePr>
          <p:cNvPr id="6" name="Table 5">
            <a:extLst>
              <a:ext uri="{FF2B5EF4-FFF2-40B4-BE49-F238E27FC236}">
                <a16:creationId xmlns:a16="http://schemas.microsoft.com/office/drawing/2014/main" id="{E2864B1F-7650-818F-EEF5-3CB9F09CA856}"/>
              </a:ext>
            </a:extLst>
          </p:cNvPr>
          <p:cNvGraphicFramePr>
            <a:graphicFrameLocks noGrp="1"/>
          </p:cNvGraphicFramePr>
          <p:nvPr/>
        </p:nvGraphicFramePr>
        <p:xfrm>
          <a:off x="457200" y="1339850"/>
          <a:ext cx="8229600" cy="1920016"/>
        </p:xfrm>
        <a:graphic>
          <a:graphicData uri="http://schemas.openxmlformats.org/drawingml/2006/table">
            <a:tbl>
              <a:tblPr/>
              <a:tblGrid>
                <a:gridCol w="2416629">
                  <a:extLst>
                    <a:ext uri="{9D8B030D-6E8A-4147-A177-3AD203B41FA5}">
                      <a16:colId xmlns:a16="http://schemas.microsoft.com/office/drawing/2014/main" val="1112188034"/>
                    </a:ext>
                  </a:extLst>
                </a:gridCol>
                <a:gridCol w="1384662">
                  <a:extLst>
                    <a:ext uri="{9D8B030D-6E8A-4147-A177-3AD203B41FA5}">
                      <a16:colId xmlns:a16="http://schemas.microsoft.com/office/drawing/2014/main" val="2326778166"/>
                    </a:ext>
                  </a:extLst>
                </a:gridCol>
                <a:gridCol w="2155372">
                  <a:extLst>
                    <a:ext uri="{9D8B030D-6E8A-4147-A177-3AD203B41FA5}">
                      <a16:colId xmlns:a16="http://schemas.microsoft.com/office/drawing/2014/main" val="586821686"/>
                    </a:ext>
                  </a:extLst>
                </a:gridCol>
                <a:gridCol w="2272937">
                  <a:extLst>
                    <a:ext uri="{9D8B030D-6E8A-4147-A177-3AD203B41FA5}">
                      <a16:colId xmlns:a16="http://schemas.microsoft.com/office/drawing/2014/main" val="3007981060"/>
                    </a:ext>
                  </a:extLst>
                </a:gridCol>
              </a:tblGrid>
              <a:tr h="479822">
                <a:tc>
                  <a:txBody>
                    <a:bodyPr/>
                    <a:lstStyle/>
                    <a:p>
                      <a:pPr algn="ctr" fontAlgn="base"/>
                      <a:r>
                        <a:rPr lang="en-US" sz="2400" b="1" dirty="0" err="1">
                          <a:effectLst/>
                          <a:latin typeface="inherit"/>
                        </a:rPr>
                        <a:t>employee_id</a:t>
                      </a:r>
                      <a:endParaRPr lang="en-US" sz="2400" b="1" dirty="0">
                        <a:effectLst/>
                        <a:latin typeface="inherit"/>
                      </a:endParaRPr>
                    </a:p>
                  </a:txBody>
                  <a:tcPr marL="114300" marR="114300" marT="57122" marB="57122">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tc>
                  <a:txBody>
                    <a:bodyPr/>
                    <a:lstStyle/>
                    <a:p>
                      <a:pPr algn="ctr" fontAlgn="base"/>
                      <a:r>
                        <a:rPr lang="en-US" sz="2400" b="1" dirty="0">
                          <a:effectLst/>
                          <a:latin typeface="inherit"/>
                        </a:rPr>
                        <a:t>name</a:t>
                      </a:r>
                    </a:p>
                  </a:txBody>
                  <a:tcPr marL="114300" marR="114300" marT="57122" marB="57122">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tc>
                  <a:txBody>
                    <a:bodyPr/>
                    <a:lstStyle/>
                    <a:p>
                      <a:pPr algn="ctr" fontAlgn="base"/>
                      <a:r>
                        <a:rPr lang="en-US" sz="2400" b="1" dirty="0" err="1">
                          <a:effectLst/>
                          <a:latin typeface="inherit"/>
                        </a:rPr>
                        <a:t>state_code</a:t>
                      </a:r>
                      <a:endParaRPr lang="en-US" sz="2400" b="1" dirty="0">
                        <a:effectLst/>
                        <a:latin typeface="inherit"/>
                      </a:endParaRPr>
                    </a:p>
                  </a:txBody>
                  <a:tcPr marL="114300" marR="114300" marT="57122" marB="57122">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tc>
                  <a:txBody>
                    <a:bodyPr/>
                    <a:lstStyle/>
                    <a:p>
                      <a:pPr algn="ctr" fontAlgn="base"/>
                      <a:r>
                        <a:rPr lang="en-US" sz="2400" b="1" dirty="0" err="1">
                          <a:effectLst/>
                          <a:latin typeface="inherit"/>
                        </a:rPr>
                        <a:t>home_state</a:t>
                      </a:r>
                      <a:endParaRPr lang="en-US" sz="2400" b="1" dirty="0">
                        <a:effectLst/>
                        <a:latin typeface="inherit"/>
                      </a:endParaRPr>
                    </a:p>
                  </a:txBody>
                  <a:tcPr marL="114300" marR="114300" marT="57122" marB="57122">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extLst>
                  <a:ext uri="{0D108BD9-81ED-4DB2-BD59-A6C34878D82A}">
                    <a16:rowId xmlns:a16="http://schemas.microsoft.com/office/drawing/2014/main" val="15226500"/>
                  </a:ext>
                </a:extLst>
              </a:tr>
              <a:tr h="479822">
                <a:tc>
                  <a:txBody>
                    <a:bodyPr/>
                    <a:lstStyle/>
                    <a:p>
                      <a:pPr algn="ctr" fontAlgn="base"/>
                      <a:r>
                        <a:rPr lang="en-US" sz="2400" dirty="0">
                          <a:effectLst/>
                          <a:latin typeface="inherit"/>
                        </a:rPr>
                        <a:t>E001</a:t>
                      </a:r>
                    </a:p>
                  </a:txBody>
                  <a:tcPr marL="114300" marR="114300" marT="57122" marB="57122">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tc>
                  <a:txBody>
                    <a:bodyPr/>
                    <a:lstStyle/>
                    <a:p>
                      <a:pPr algn="ctr" fontAlgn="base"/>
                      <a:r>
                        <a:rPr lang="en-US" sz="2400" dirty="0">
                          <a:effectLst/>
                          <a:latin typeface="inherit"/>
                        </a:rPr>
                        <a:t>Alice</a:t>
                      </a:r>
                    </a:p>
                  </a:txBody>
                  <a:tcPr marL="114300" marR="114300" marT="57122" marB="57122">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tc>
                  <a:txBody>
                    <a:bodyPr/>
                    <a:lstStyle/>
                    <a:p>
                      <a:pPr algn="ctr" fontAlgn="base"/>
                      <a:r>
                        <a:rPr lang="en-US" sz="2400">
                          <a:effectLst/>
                          <a:latin typeface="inherit"/>
                        </a:rPr>
                        <a:t>26</a:t>
                      </a:r>
                    </a:p>
                  </a:txBody>
                  <a:tcPr marL="114300" marR="114300" marT="57122" marB="57122">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tc>
                  <a:txBody>
                    <a:bodyPr/>
                    <a:lstStyle/>
                    <a:p>
                      <a:pPr algn="ctr" fontAlgn="base"/>
                      <a:r>
                        <a:rPr lang="en-US" sz="2400">
                          <a:effectLst/>
                          <a:latin typeface="inherit"/>
                        </a:rPr>
                        <a:t>Michigan</a:t>
                      </a:r>
                    </a:p>
                  </a:txBody>
                  <a:tcPr marL="114300" marR="114300" marT="57122" marB="57122">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extLst>
                  <a:ext uri="{0D108BD9-81ED-4DB2-BD59-A6C34878D82A}">
                    <a16:rowId xmlns:a16="http://schemas.microsoft.com/office/drawing/2014/main" val="2875825350"/>
                  </a:ext>
                </a:extLst>
              </a:tr>
              <a:tr h="479822">
                <a:tc>
                  <a:txBody>
                    <a:bodyPr/>
                    <a:lstStyle/>
                    <a:p>
                      <a:pPr algn="ctr" fontAlgn="base"/>
                      <a:r>
                        <a:rPr lang="en-US" sz="2400">
                          <a:effectLst/>
                          <a:latin typeface="inherit"/>
                        </a:rPr>
                        <a:t>E002</a:t>
                      </a:r>
                    </a:p>
                  </a:txBody>
                  <a:tcPr marL="114300" marR="114300" marT="57122" marB="57122">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tc>
                  <a:txBody>
                    <a:bodyPr/>
                    <a:lstStyle/>
                    <a:p>
                      <a:pPr algn="ctr" fontAlgn="base"/>
                      <a:r>
                        <a:rPr lang="en-US" sz="2400">
                          <a:effectLst/>
                          <a:latin typeface="inherit"/>
                        </a:rPr>
                        <a:t>Bob</a:t>
                      </a:r>
                    </a:p>
                  </a:txBody>
                  <a:tcPr marL="114300" marR="114300" marT="57122" marB="57122">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tc>
                  <a:txBody>
                    <a:bodyPr/>
                    <a:lstStyle/>
                    <a:p>
                      <a:pPr algn="ctr" fontAlgn="base"/>
                      <a:r>
                        <a:rPr lang="en-US" sz="2400" dirty="0">
                          <a:effectLst/>
                          <a:latin typeface="inherit"/>
                        </a:rPr>
                        <a:t>56</a:t>
                      </a:r>
                    </a:p>
                  </a:txBody>
                  <a:tcPr marL="114300" marR="114300" marT="57122" marB="57122">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tc>
                  <a:txBody>
                    <a:bodyPr/>
                    <a:lstStyle/>
                    <a:p>
                      <a:pPr algn="ctr" fontAlgn="base"/>
                      <a:r>
                        <a:rPr lang="en-US" sz="2400" dirty="0">
                          <a:effectLst/>
                          <a:latin typeface="inherit"/>
                        </a:rPr>
                        <a:t>Wyoming</a:t>
                      </a:r>
                    </a:p>
                  </a:txBody>
                  <a:tcPr marL="114300" marR="114300" marT="57122" marB="57122">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extLst>
                  <a:ext uri="{0D108BD9-81ED-4DB2-BD59-A6C34878D82A}">
                    <a16:rowId xmlns:a16="http://schemas.microsoft.com/office/drawing/2014/main" val="1893633102"/>
                  </a:ext>
                </a:extLst>
              </a:tr>
              <a:tr h="479822">
                <a:tc>
                  <a:txBody>
                    <a:bodyPr/>
                    <a:lstStyle/>
                    <a:p>
                      <a:pPr algn="ctr" fontAlgn="base"/>
                      <a:r>
                        <a:rPr lang="en-US" sz="2400">
                          <a:effectLst/>
                          <a:latin typeface="inherit"/>
                        </a:rPr>
                        <a:t>E003</a:t>
                      </a:r>
                    </a:p>
                  </a:txBody>
                  <a:tcPr marL="114300" marR="114300" marT="57122" marB="57122">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tc>
                  <a:txBody>
                    <a:bodyPr/>
                    <a:lstStyle/>
                    <a:p>
                      <a:pPr algn="ctr" fontAlgn="base"/>
                      <a:r>
                        <a:rPr lang="en-US" sz="2400" dirty="0">
                          <a:effectLst/>
                          <a:latin typeface="inherit"/>
                        </a:rPr>
                        <a:t>Alice</a:t>
                      </a:r>
                    </a:p>
                  </a:txBody>
                  <a:tcPr marL="114300" marR="114300" marT="57122" marB="57122">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tc>
                  <a:txBody>
                    <a:bodyPr/>
                    <a:lstStyle/>
                    <a:p>
                      <a:pPr algn="ctr" fontAlgn="base"/>
                      <a:r>
                        <a:rPr lang="en-US" sz="2400">
                          <a:effectLst/>
                          <a:latin typeface="inherit"/>
                        </a:rPr>
                        <a:t>56</a:t>
                      </a:r>
                    </a:p>
                  </a:txBody>
                  <a:tcPr marL="114300" marR="114300" marT="57122" marB="57122">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tc>
                  <a:txBody>
                    <a:bodyPr/>
                    <a:lstStyle/>
                    <a:p>
                      <a:pPr algn="ctr" fontAlgn="base"/>
                      <a:r>
                        <a:rPr lang="en-US" sz="2400" dirty="0">
                          <a:effectLst/>
                          <a:latin typeface="inherit"/>
                        </a:rPr>
                        <a:t>Wyoming</a:t>
                      </a:r>
                    </a:p>
                  </a:txBody>
                  <a:tcPr marL="114300" marR="114300" marT="57122" marB="57122">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extLst>
                  <a:ext uri="{0D108BD9-81ED-4DB2-BD59-A6C34878D82A}">
                    <a16:rowId xmlns:a16="http://schemas.microsoft.com/office/drawing/2014/main" val="2420128531"/>
                  </a:ext>
                </a:extLst>
              </a:tr>
            </a:tbl>
          </a:graphicData>
        </a:graphic>
      </p:graphicFrame>
      <p:sp>
        <p:nvSpPr>
          <p:cNvPr id="9" name="Rectangle 8">
            <a:extLst>
              <a:ext uri="{FF2B5EF4-FFF2-40B4-BE49-F238E27FC236}">
                <a16:creationId xmlns:a16="http://schemas.microsoft.com/office/drawing/2014/main" id="{996B3259-41F4-7BBD-3C3F-26F1AD502692}"/>
              </a:ext>
            </a:extLst>
          </p:cNvPr>
          <p:cNvSpPr>
            <a:spLocks noChangeArrowheads="1"/>
          </p:cNvSpPr>
          <p:nvPr/>
        </p:nvSpPr>
        <p:spPr bwMode="auto">
          <a:xfrm>
            <a:off x="3092450" y="693738"/>
            <a:ext cx="35020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PK" sz="32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Employees Table</a:t>
            </a:r>
          </a:p>
        </p:txBody>
      </p:sp>
      <p:graphicFrame>
        <p:nvGraphicFramePr>
          <p:cNvPr id="10" name="Table 9">
            <a:extLst>
              <a:ext uri="{FF2B5EF4-FFF2-40B4-BE49-F238E27FC236}">
                <a16:creationId xmlns:a16="http://schemas.microsoft.com/office/drawing/2014/main" id="{74247C79-9F27-A895-8CEE-CE661F6F5C40}"/>
              </a:ext>
            </a:extLst>
          </p:cNvPr>
          <p:cNvGraphicFramePr>
            <a:graphicFrameLocks noGrp="1"/>
          </p:cNvGraphicFramePr>
          <p:nvPr/>
        </p:nvGraphicFramePr>
        <p:xfrm>
          <a:off x="457200" y="4545013"/>
          <a:ext cx="3932238" cy="1920016"/>
        </p:xfrm>
        <a:graphic>
          <a:graphicData uri="http://schemas.openxmlformats.org/drawingml/2006/table">
            <a:tbl>
              <a:tblPr/>
              <a:tblGrid>
                <a:gridCol w="1966119">
                  <a:extLst>
                    <a:ext uri="{9D8B030D-6E8A-4147-A177-3AD203B41FA5}">
                      <a16:colId xmlns:a16="http://schemas.microsoft.com/office/drawing/2014/main" val="1633626133"/>
                    </a:ext>
                  </a:extLst>
                </a:gridCol>
                <a:gridCol w="1966119">
                  <a:extLst>
                    <a:ext uri="{9D8B030D-6E8A-4147-A177-3AD203B41FA5}">
                      <a16:colId xmlns:a16="http://schemas.microsoft.com/office/drawing/2014/main" val="3346846461"/>
                    </a:ext>
                  </a:extLst>
                </a:gridCol>
              </a:tblGrid>
              <a:tr h="479822">
                <a:tc>
                  <a:txBody>
                    <a:bodyPr/>
                    <a:lstStyle/>
                    <a:p>
                      <a:pPr algn="ctr" fontAlgn="base"/>
                      <a:r>
                        <a:rPr lang="en-US" sz="2400" b="1" kern="1200" dirty="0" err="1">
                          <a:solidFill>
                            <a:schemeClr val="tx1"/>
                          </a:solidFill>
                          <a:effectLst/>
                          <a:latin typeface="inherit"/>
                          <a:ea typeface="+mn-ea"/>
                          <a:cs typeface="+mn-cs"/>
                        </a:rPr>
                        <a:t>job_code</a:t>
                      </a:r>
                      <a:endParaRPr lang="en-US" sz="2400" b="1" kern="1200" dirty="0">
                        <a:solidFill>
                          <a:schemeClr val="tx1"/>
                        </a:solidFill>
                        <a:effectLst/>
                        <a:latin typeface="inherit"/>
                        <a:ea typeface="+mn-ea"/>
                        <a:cs typeface="+mn-cs"/>
                      </a:endParaRPr>
                    </a:p>
                  </a:txBody>
                  <a:tcPr marL="114309" marR="114309" marT="57122" marB="57122">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tc>
                  <a:txBody>
                    <a:bodyPr/>
                    <a:lstStyle/>
                    <a:p>
                      <a:pPr algn="ctr" fontAlgn="base"/>
                      <a:r>
                        <a:rPr lang="en-US" sz="2400" b="1" kern="1200" dirty="0">
                          <a:solidFill>
                            <a:schemeClr val="tx1"/>
                          </a:solidFill>
                          <a:effectLst/>
                          <a:latin typeface="inherit"/>
                          <a:ea typeface="+mn-ea"/>
                          <a:cs typeface="+mn-cs"/>
                        </a:rPr>
                        <a:t>job</a:t>
                      </a:r>
                    </a:p>
                  </a:txBody>
                  <a:tcPr marL="114309" marR="114309" marT="57122" marB="57122">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extLst>
                  <a:ext uri="{0D108BD9-81ED-4DB2-BD59-A6C34878D82A}">
                    <a16:rowId xmlns:a16="http://schemas.microsoft.com/office/drawing/2014/main" val="3305073372"/>
                  </a:ext>
                </a:extLst>
              </a:tr>
              <a:tr h="479822">
                <a:tc>
                  <a:txBody>
                    <a:bodyPr/>
                    <a:lstStyle/>
                    <a:p>
                      <a:pPr algn="ctr" fontAlgn="base"/>
                      <a:r>
                        <a:rPr lang="en-US" sz="2400" kern="1200" dirty="0">
                          <a:solidFill>
                            <a:schemeClr val="tx1"/>
                          </a:solidFill>
                          <a:effectLst/>
                          <a:latin typeface="inherit"/>
                          <a:ea typeface="+mn-ea"/>
                          <a:cs typeface="+mn-cs"/>
                        </a:rPr>
                        <a:t>J01</a:t>
                      </a:r>
                    </a:p>
                  </a:txBody>
                  <a:tcPr marL="114309" marR="114309" marT="57122" marB="57122">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tc>
                  <a:txBody>
                    <a:bodyPr/>
                    <a:lstStyle/>
                    <a:p>
                      <a:pPr algn="ctr" fontAlgn="base"/>
                      <a:r>
                        <a:rPr lang="en-US" sz="2400" kern="1200" dirty="0">
                          <a:solidFill>
                            <a:schemeClr val="tx1"/>
                          </a:solidFill>
                          <a:effectLst/>
                          <a:latin typeface="inherit"/>
                          <a:ea typeface="+mn-ea"/>
                          <a:cs typeface="+mn-cs"/>
                        </a:rPr>
                        <a:t>Chef</a:t>
                      </a:r>
                    </a:p>
                  </a:txBody>
                  <a:tcPr marL="114309" marR="114309" marT="57122" marB="57122">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extLst>
                  <a:ext uri="{0D108BD9-81ED-4DB2-BD59-A6C34878D82A}">
                    <a16:rowId xmlns:a16="http://schemas.microsoft.com/office/drawing/2014/main" val="424419172"/>
                  </a:ext>
                </a:extLst>
              </a:tr>
              <a:tr h="479822">
                <a:tc>
                  <a:txBody>
                    <a:bodyPr/>
                    <a:lstStyle/>
                    <a:p>
                      <a:pPr algn="ctr" fontAlgn="base"/>
                      <a:r>
                        <a:rPr lang="en-US" sz="2400" kern="1200">
                          <a:solidFill>
                            <a:schemeClr val="tx1"/>
                          </a:solidFill>
                          <a:effectLst/>
                          <a:latin typeface="inherit"/>
                          <a:ea typeface="+mn-ea"/>
                          <a:cs typeface="+mn-cs"/>
                        </a:rPr>
                        <a:t>J02</a:t>
                      </a:r>
                    </a:p>
                  </a:txBody>
                  <a:tcPr marL="114309" marR="114309" marT="57122" marB="57122">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tc>
                  <a:txBody>
                    <a:bodyPr/>
                    <a:lstStyle/>
                    <a:p>
                      <a:pPr algn="ctr" fontAlgn="base"/>
                      <a:r>
                        <a:rPr lang="en-US" sz="2400" kern="1200">
                          <a:solidFill>
                            <a:schemeClr val="tx1"/>
                          </a:solidFill>
                          <a:effectLst/>
                          <a:latin typeface="inherit"/>
                          <a:ea typeface="+mn-ea"/>
                          <a:cs typeface="+mn-cs"/>
                        </a:rPr>
                        <a:t>Waiter</a:t>
                      </a:r>
                    </a:p>
                  </a:txBody>
                  <a:tcPr marL="114309" marR="114309" marT="57122" marB="57122">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extLst>
                  <a:ext uri="{0D108BD9-81ED-4DB2-BD59-A6C34878D82A}">
                    <a16:rowId xmlns:a16="http://schemas.microsoft.com/office/drawing/2014/main" val="4077885910"/>
                  </a:ext>
                </a:extLst>
              </a:tr>
              <a:tr h="479822">
                <a:tc>
                  <a:txBody>
                    <a:bodyPr/>
                    <a:lstStyle/>
                    <a:p>
                      <a:pPr algn="ctr" fontAlgn="base"/>
                      <a:r>
                        <a:rPr lang="en-US" sz="2400" kern="1200">
                          <a:solidFill>
                            <a:schemeClr val="tx1"/>
                          </a:solidFill>
                          <a:effectLst/>
                          <a:latin typeface="inherit"/>
                          <a:ea typeface="+mn-ea"/>
                          <a:cs typeface="+mn-cs"/>
                        </a:rPr>
                        <a:t>J03</a:t>
                      </a:r>
                    </a:p>
                  </a:txBody>
                  <a:tcPr marL="114309" marR="114309" marT="57122" marB="57122">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tc>
                  <a:txBody>
                    <a:bodyPr/>
                    <a:lstStyle/>
                    <a:p>
                      <a:pPr algn="ctr" fontAlgn="base"/>
                      <a:r>
                        <a:rPr lang="en-US" sz="2400" kern="1200" dirty="0">
                          <a:solidFill>
                            <a:schemeClr val="tx1"/>
                          </a:solidFill>
                          <a:effectLst/>
                          <a:latin typeface="inherit"/>
                          <a:ea typeface="+mn-ea"/>
                          <a:cs typeface="+mn-cs"/>
                        </a:rPr>
                        <a:t>Bartender</a:t>
                      </a:r>
                    </a:p>
                  </a:txBody>
                  <a:tcPr marL="114309" marR="114309" marT="57122" marB="57122">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extLst>
                  <a:ext uri="{0D108BD9-81ED-4DB2-BD59-A6C34878D82A}">
                    <a16:rowId xmlns:a16="http://schemas.microsoft.com/office/drawing/2014/main" val="3230705311"/>
                  </a:ext>
                </a:extLst>
              </a:tr>
            </a:tbl>
          </a:graphicData>
        </a:graphic>
      </p:graphicFrame>
      <p:sp>
        <p:nvSpPr>
          <p:cNvPr id="11" name="Rectangle 10">
            <a:extLst>
              <a:ext uri="{FF2B5EF4-FFF2-40B4-BE49-F238E27FC236}">
                <a16:creationId xmlns:a16="http://schemas.microsoft.com/office/drawing/2014/main" id="{F7AF26D4-DA9F-6D75-2EB5-D12676918D20}"/>
              </a:ext>
            </a:extLst>
          </p:cNvPr>
          <p:cNvSpPr>
            <a:spLocks noChangeArrowheads="1"/>
          </p:cNvSpPr>
          <p:nvPr/>
        </p:nvSpPr>
        <p:spPr bwMode="auto">
          <a:xfrm>
            <a:off x="1276350" y="3881438"/>
            <a:ext cx="2292350"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PK" sz="32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Jobs Table</a:t>
            </a:r>
          </a:p>
        </p:txBody>
      </p:sp>
      <p:graphicFrame>
        <p:nvGraphicFramePr>
          <p:cNvPr id="12" name="Table 11">
            <a:extLst>
              <a:ext uri="{FF2B5EF4-FFF2-40B4-BE49-F238E27FC236}">
                <a16:creationId xmlns:a16="http://schemas.microsoft.com/office/drawing/2014/main" id="{2AE7460C-AE58-3CF2-D31B-2D9B288CCC11}"/>
              </a:ext>
            </a:extLst>
          </p:cNvPr>
          <p:cNvGraphicFramePr>
            <a:graphicFrameLocks noGrp="1"/>
          </p:cNvGraphicFramePr>
          <p:nvPr/>
        </p:nvGraphicFramePr>
        <p:xfrm>
          <a:off x="4819650" y="3881438"/>
          <a:ext cx="3867150" cy="2881314"/>
        </p:xfrm>
        <a:graphic>
          <a:graphicData uri="http://schemas.openxmlformats.org/drawingml/2006/table">
            <a:tbl>
              <a:tblPr/>
              <a:tblGrid>
                <a:gridCol w="2142610">
                  <a:extLst>
                    <a:ext uri="{9D8B030D-6E8A-4147-A177-3AD203B41FA5}">
                      <a16:colId xmlns:a16="http://schemas.microsoft.com/office/drawing/2014/main" val="377134177"/>
                    </a:ext>
                  </a:extLst>
                </a:gridCol>
                <a:gridCol w="1724540">
                  <a:extLst>
                    <a:ext uri="{9D8B030D-6E8A-4147-A177-3AD203B41FA5}">
                      <a16:colId xmlns:a16="http://schemas.microsoft.com/office/drawing/2014/main" val="1483878483"/>
                    </a:ext>
                  </a:extLst>
                </a:gridCol>
              </a:tblGrid>
              <a:tr h="480219">
                <a:tc>
                  <a:txBody>
                    <a:bodyPr/>
                    <a:lstStyle/>
                    <a:p>
                      <a:pPr algn="ctr" fontAlgn="base"/>
                      <a:r>
                        <a:rPr lang="en-US" sz="2400" b="1" dirty="0" err="1">
                          <a:effectLst/>
                          <a:latin typeface="inherit"/>
                        </a:rPr>
                        <a:t>employee_id</a:t>
                      </a:r>
                      <a:endParaRPr lang="en-US" sz="2400" b="1" dirty="0">
                        <a:effectLst/>
                        <a:latin typeface="inherit"/>
                      </a:endParaRPr>
                    </a:p>
                  </a:txBody>
                  <a:tcPr marL="114316" marR="114316" marT="57169" marB="57169">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tc>
                  <a:txBody>
                    <a:bodyPr/>
                    <a:lstStyle/>
                    <a:p>
                      <a:pPr algn="ctr" fontAlgn="base"/>
                      <a:r>
                        <a:rPr lang="en-US" sz="2400" b="1" dirty="0" err="1">
                          <a:effectLst/>
                          <a:latin typeface="inherit"/>
                        </a:rPr>
                        <a:t>job_code</a:t>
                      </a:r>
                      <a:endParaRPr lang="en-US" sz="2400" b="1" dirty="0">
                        <a:effectLst/>
                        <a:latin typeface="inherit"/>
                      </a:endParaRPr>
                    </a:p>
                  </a:txBody>
                  <a:tcPr marL="114316" marR="114316" marT="57169" marB="57169">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extLst>
                  <a:ext uri="{0D108BD9-81ED-4DB2-BD59-A6C34878D82A}">
                    <a16:rowId xmlns:a16="http://schemas.microsoft.com/office/drawing/2014/main" val="3427227712"/>
                  </a:ext>
                </a:extLst>
              </a:tr>
              <a:tr h="480219">
                <a:tc>
                  <a:txBody>
                    <a:bodyPr/>
                    <a:lstStyle/>
                    <a:p>
                      <a:pPr algn="ctr" fontAlgn="base"/>
                      <a:r>
                        <a:rPr lang="en-US" sz="2400" dirty="0">
                          <a:effectLst/>
                          <a:latin typeface="inherit"/>
                        </a:rPr>
                        <a:t>E001</a:t>
                      </a:r>
                    </a:p>
                  </a:txBody>
                  <a:tcPr marL="114316" marR="114316" marT="57169" marB="57169">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tc>
                  <a:txBody>
                    <a:bodyPr/>
                    <a:lstStyle/>
                    <a:p>
                      <a:pPr algn="ctr" fontAlgn="base"/>
                      <a:r>
                        <a:rPr lang="en-US" sz="2400">
                          <a:effectLst/>
                          <a:latin typeface="inherit"/>
                        </a:rPr>
                        <a:t>J01</a:t>
                      </a:r>
                    </a:p>
                  </a:txBody>
                  <a:tcPr marL="114316" marR="114316" marT="57169" marB="57169">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extLst>
                  <a:ext uri="{0D108BD9-81ED-4DB2-BD59-A6C34878D82A}">
                    <a16:rowId xmlns:a16="http://schemas.microsoft.com/office/drawing/2014/main" val="2301022088"/>
                  </a:ext>
                </a:extLst>
              </a:tr>
              <a:tr h="480219">
                <a:tc>
                  <a:txBody>
                    <a:bodyPr/>
                    <a:lstStyle/>
                    <a:p>
                      <a:pPr algn="ctr" fontAlgn="base"/>
                      <a:r>
                        <a:rPr lang="en-US" sz="2400" dirty="0">
                          <a:effectLst/>
                          <a:latin typeface="inherit"/>
                        </a:rPr>
                        <a:t>E001</a:t>
                      </a:r>
                    </a:p>
                  </a:txBody>
                  <a:tcPr marL="114316" marR="114316" marT="57169" marB="57169">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tc>
                  <a:txBody>
                    <a:bodyPr/>
                    <a:lstStyle/>
                    <a:p>
                      <a:pPr algn="ctr" fontAlgn="base"/>
                      <a:r>
                        <a:rPr lang="en-US" sz="2400">
                          <a:effectLst/>
                          <a:latin typeface="inherit"/>
                        </a:rPr>
                        <a:t>J02</a:t>
                      </a:r>
                    </a:p>
                  </a:txBody>
                  <a:tcPr marL="114316" marR="114316" marT="57169" marB="57169">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extLst>
                  <a:ext uri="{0D108BD9-81ED-4DB2-BD59-A6C34878D82A}">
                    <a16:rowId xmlns:a16="http://schemas.microsoft.com/office/drawing/2014/main" val="774138775"/>
                  </a:ext>
                </a:extLst>
              </a:tr>
              <a:tr h="480219">
                <a:tc>
                  <a:txBody>
                    <a:bodyPr/>
                    <a:lstStyle/>
                    <a:p>
                      <a:pPr algn="ctr" fontAlgn="base"/>
                      <a:r>
                        <a:rPr lang="en-US" sz="2400" dirty="0">
                          <a:effectLst/>
                          <a:latin typeface="inherit"/>
                        </a:rPr>
                        <a:t>E002</a:t>
                      </a:r>
                    </a:p>
                  </a:txBody>
                  <a:tcPr marL="114316" marR="114316" marT="57169" marB="57169">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tc>
                  <a:txBody>
                    <a:bodyPr/>
                    <a:lstStyle/>
                    <a:p>
                      <a:pPr algn="ctr" fontAlgn="base"/>
                      <a:r>
                        <a:rPr lang="en-US" sz="2400" dirty="0">
                          <a:effectLst/>
                          <a:latin typeface="inherit"/>
                        </a:rPr>
                        <a:t>J02</a:t>
                      </a:r>
                    </a:p>
                  </a:txBody>
                  <a:tcPr marL="114316" marR="114316" marT="57169" marB="57169">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extLst>
                  <a:ext uri="{0D108BD9-81ED-4DB2-BD59-A6C34878D82A}">
                    <a16:rowId xmlns:a16="http://schemas.microsoft.com/office/drawing/2014/main" val="3182557332"/>
                  </a:ext>
                </a:extLst>
              </a:tr>
              <a:tr h="480219">
                <a:tc>
                  <a:txBody>
                    <a:bodyPr/>
                    <a:lstStyle/>
                    <a:p>
                      <a:pPr algn="ctr" fontAlgn="base"/>
                      <a:r>
                        <a:rPr lang="en-US" sz="2400">
                          <a:effectLst/>
                          <a:latin typeface="inherit"/>
                        </a:rPr>
                        <a:t>E002</a:t>
                      </a:r>
                    </a:p>
                  </a:txBody>
                  <a:tcPr marL="114316" marR="114316" marT="57169" marB="57169">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tc>
                  <a:txBody>
                    <a:bodyPr/>
                    <a:lstStyle/>
                    <a:p>
                      <a:pPr algn="ctr" fontAlgn="base"/>
                      <a:r>
                        <a:rPr lang="en-US" sz="2400" dirty="0">
                          <a:effectLst/>
                          <a:latin typeface="inherit"/>
                        </a:rPr>
                        <a:t>J03</a:t>
                      </a:r>
                    </a:p>
                  </a:txBody>
                  <a:tcPr marL="114316" marR="114316" marT="57169" marB="57169">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extLst>
                  <a:ext uri="{0D108BD9-81ED-4DB2-BD59-A6C34878D82A}">
                    <a16:rowId xmlns:a16="http://schemas.microsoft.com/office/drawing/2014/main" val="742779941"/>
                  </a:ext>
                </a:extLst>
              </a:tr>
              <a:tr h="480219">
                <a:tc>
                  <a:txBody>
                    <a:bodyPr/>
                    <a:lstStyle/>
                    <a:p>
                      <a:pPr algn="ctr" fontAlgn="base"/>
                      <a:r>
                        <a:rPr lang="en-US" sz="2400">
                          <a:effectLst/>
                          <a:latin typeface="inherit"/>
                        </a:rPr>
                        <a:t>E003</a:t>
                      </a:r>
                    </a:p>
                  </a:txBody>
                  <a:tcPr marL="114316" marR="114316" marT="57169" marB="57169">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tc>
                  <a:txBody>
                    <a:bodyPr/>
                    <a:lstStyle/>
                    <a:p>
                      <a:pPr algn="ctr" fontAlgn="base"/>
                      <a:r>
                        <a:rPr lang="en-US" sz="2400" dirty="0">
                          <a:effectLst/>
                          <a:latin typeface="inherit"/>
                        </a:rPr>
                        <a:t>J01</a:t>
                      </a:r>
                    </a:p>
                  </a:txBody>
                  <a:tcPr marL="114316" marR="114316" marT="57169" marB="57169">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extLst>
                  <a:ext uri="{0D108BD9-81ED-4DB2-BD59-A6C34878D82A}">
                    <a16:rowId xmlns:a16="http://schemas.microsoft.com/office/drawing/2014/main" val="142435089"/>
                  </a:ext>
                </a:extLst>
              </a:tr>
            </a:tbl>
          </a:graphicData>
        </a:graphic>
      </p:graphicFrame>
      <p:sp>
        <p:nvSpPr>
          <p:cNvPr id="13" name="Rectangle 12">
            <a:extLst>
              <a:ext uri="{FF2B5EF4-FFF2-40B4-BE49-F238E27FC236}">
                <a16:creationId xmlns:a16="http://schemas.microsoft.com/office/drawing/2014/main" id="{6265243A-0D7B-A202-F3E4-90144ABDFBC9}"/>
              </a:ext>
            </a:extLst>
          </p:cNvPr>
          <p:cNvSpPr>
            <a:spLocks noChangeArrowheads="1"/>
          </p:cNvSpPr>
          <p:nvPr/>
        </p:nvSpPr>
        <p:spPr bwMode="auto">
          <a:xfrm>
            <a:off x="5048250" y="3297238"/>
            <a:ext cx="34099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PK" sz="32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EMP_Jobs Table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additive="base">
                                        <p:cTn id="17" dur="500" fill="hold"/>
                                        <p:tgtEl>
                                          <p:spTgt spid="11"/>
                                        </p:tgtEl>
                                        <p:attrNameLst>
                                          <p:attrName>ppt_x</p:attrName>
                                        </p:attrNameLst>
                                      </p:cBhvr>
                                      <p:tavLst>
                                        <p:tav tm="0">
                                          <p:val>
                                            <p:strVal val="#ppt_x"/>
                                          </p:val>
                                        </p:tav>
                                        <p:tav tm="100000">
                                          <p:val>
                                            <p:strVal val="#ppt_x"/>
                                          </p:val>
                                        </p:tav>
                                      </p:tavLst>
                                    </p:anim>
                                    <p:anim calcmode="lin" valueType="num">
                                      <p:cBhvr additive="base">
                                        <p:cTn id="18" dur="500" fill="hold"/>
                                        <p:tgtEl>
                                          <p:spTgt spid="11"/>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anim calcmode="lin" valueType="num">
                                      <p:cBhvr additive="base">
                                        <p:cTn id="21" dur="500" fill="hold"/>
                                        <p:tgtEl>
                                          <p:spTgt spid="10"/>
                                        </p:tgtEl>
                                        <p:attrNameLst>
                                          <p:attrName>ppt_x</p:attrName>
                                        </p:attrNameLst>
                                      </p:cBhvr>
                                      <p:tavLst>
                                        <p:tav tm="0">
                                          <p:val>
                                            <p:strVal val="#ppt_x"/>
                                          </p:val>
                                        </p:tav>
                                        <p:tav tm="100000">
                                          <p:val>
                                            <p:strVal val="#ppt_x"/>
                                          </p:val>
                                        </p:tav>
                                      </p:tavLst>
                                    </p:anim>
                                    <p:anim calcmode="lin" valueType="num">
                                      <p:cBhvr additive="base">
                                        <p:cTn id="2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 calcmode="lin" valueType="num">
                                      <p:cBhvr additive="base">
                                        <p:cTn id="27" dur="500" fill="hold"/>
                                        <p:tgtEl>
                                          <p:spTgt spid="13"/>
                                        </p:tgtEl>
                                        <p:attrNameLst>
                                          <p:attrName>ppt_x</p:attrName>
                                        </p:attrNameLst>
                                      </p:cBhvr>
                                      <p:tavLst>
                                        <p:tav tm="0">
                                          <p:val>
                                            <p:strVal val="#ppt_x"/>
                                          </p:val>
                                        </p:tav>
                                        <p:tav tm="100000">
                                          <p:val>
                                            <p:strVal val="#ppt_x"/>
                                          </p:val>
                                        </p:tav>
                                      </p:tavLst>
                                    </p:anim>
                                    <p:anim calcmode="lin" valueType="num">
                                      <p:cBhvr additive="base">
                                        <p:cTn id="28" dur="500" fill="hold"/>
                                        <p:tgtEl>
                                          <p:spTgt spid="13"/>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anim calcmode="lin" valueType="num">
                                      <p:cBhvr additive="base">
                                        <p:cTn id="31" dur="500" fill="hold"/>
                                        <p:tgtEl>
                                          <p:spTgt spid="12"/>
                                        </p:tgtEl>
                                        <p:attrNameLst>
                                          <p:attrName>ppt_x</p:attrName>
                                        </p:attrNameLst>
                                      </p:cBhvr>
                                      <p:tavLst>
                                        <p:tav tm="0">
                                          <p:val>
                                            <p:strVal val="#ppt_x"/>
                                          </p:val>
                                        </p:tav>
                                        <p:tav tm="100000">
                                          <p:val>
                                            <p:strVal val="#ppt_x"/>
                                          </p:val>
                                        </p:tav>
                                      </p:tavLst>
                                    </p:anim>
                                    <p:anim calcmode="lin" valueType="num">
                                      <p:cBhvr additive="base">
                                        <p:cTn id="3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Lst>
  </p:timing>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3">
            <a:extLst>
              <a:ext uri="{FF2B5EF4-FFF2-40B4-BE49-F238E27FC236}">
                <a16:creationId xmlns:a16="http://schemas.microsoft.com/office/drawing/2014/main" id="{157E44A3-C150-778E-62C6-86272CE0C927}"/>
              </a:ext>
            </a:extLst>
          </p:cNvPr>
          <p:cNvSpPr>
            <a:spLocks noChangeArrowheads="1"/>
          </p:cNvSpPr>
          <p:nvPr/>
        </p:nvSpPr>
        <p:spPr bwMode="auto">
          <a:xfrm>
            <a:off x="1492250" y="96838"/>
            <a:ext cx="61595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PK" sz="3600" b="1" i="0" u="none" strike="noStrike" kern="1200" cap="none" spc="0" normalizeH="0" baseline="0" noProof="0">
                <a:ln>
                  <a:noFill/>
                </a:ln>
                <a:solidFill>
                  <a:srgbClr val="1B1B32"/>
                </a:solidFill>
                <a:effectLst/>
                <a:uLnTx/>
                <a:uFillTx/>
                <a:latin typeface="-apple-system"/>
                <a:ea typeface="+mn-ea"/>
                <a:cs typeface="Arial" panose="020B0604020202020204" pitchFamily="34" charset="0"/>
              </a:rPr>
              <a:t>Second Normal Form (2NF)</a:t>
            </a:r>
          </a:p>
        </p:txBody>
      </p:sp>
      <p:graphicFrame>
        <p:nvGraphicFramePr>
          <p:cNvPr id="6" name="Table 5">
            <a:extLst>
              <a:ext uri="{FF2B5EF4-FFF2-40B4-BE49-F238E27FC236}">
                <a16:creationId xmlns:a16="http://schemas.microsoft.com/office/drawing/2014/main" id="{2B7AF335-1793-05F0-B4FF-588CA2325EBE}"/>
              </a:ext>
            </a:extLst>
          </p:cNvPr>
          <p:cNvGraphicFramePr>
            <a:graphicFrameLocks noGrp="1"/>
          </p:cNvGraphicFramePr>
          <p:nvPr/>
        </p:nvGraphicFramePr>
        <p:xfrm>
          <a:off x="457200" y="1339850"/>
          <a:ext cx="8229600" cy="1920016"/>
        </p:xfrm>
        <a:graphic>
          <a:graphicData uri="http://schemas.openxmlformats.org/drawingml/2006/table">
            <a:tbl>
              <a:tblPr/>
              <a:tblGrid>
                <a:gridCol w="2416629">
                  <a:extLst>
                    <a:ext uri="{9D8B030D-6E8A-4147-A177-3AD203B41FA5}">
                      <a16:colId xmlns:a16="http://schemas.microsoft.com/office/drawing/2014/main" val="1112188034"/>
                    </a:ext>
                  </a:extLst>
                </a:gridCol>
                <a:gridCol w="1384662">
                  <a:extLst>
                    <a:ext uri="{9D8B030D-6E8A-4147-A177-3AD203B41FA5}">
                      <a16:colId xmlns:a16="http://schemas.microsoft.com/office/drawing/2014/main" val="2326778166"/>
                    </a:ext>
                  </a:extLst>
                </a:gridCol>
                <a:gridCol w="2155372">
                  <a:extLst>
                    <a:ext uri="{9D8B030D-6E8A-4147-A177-3AD203B41FA5}">
                      <a16:colId xmlns:a16="http://schemas.microsoft.com/office/drawing/2014/main" val="586821686"/>
                    </a:ext>
                  </a:extLst>
                </a:gridCol>
                <a:gridCol w="2272937">
                  <a:extLst>
                    <a:ext uri="{9D8B030D-6E8A-4147-A177-3AD203B41FA5}">
                      <a16:colId xmlns:a16="http://schemas.microsoft.com/office/drawing/2014/main" val="3007981060"/>
                    </a:ext>
                  </a:extLst>
                </a:gridCol>
              </a:tblGrid>
              <a:tr h="479822">
                <a:tc>
                  <a:txBody>
                    <a:bodyPr/>
                    <a:lstStyle/>
                    <a:p>
                      <a:pPr algn="ctr" fontAlgn="base"/>
                      <a:r>
                        <a:rPr lang="en-US" sz="2400" b="1" dirty="0" err="1">
                          <a:effectLst/>
                          <a:latin typeface="inherit"/>
                        </a:rPr>
                        <a:t>employee_id</a:t>
                      </a:r>
                      <a:endParaRPr lang="en-US" sz="2400" b="1" dirty="0">
                        <a:effectLst/>
                        <a:latin typeface="inherit"/>
                      </a:endParaRPr>
                    </a:p>
                  </a:txBody>
                  <a:tcPr marL="114300" marR="114300" marT="57122" marB="57122">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tc>
                  <a:txBody>
                    <a:bodyPr/>
                    <a:lstStyle/>
                    <a:p>
                      <a:pPr algn="ctr" fontAlgn="base"/>
                      <a:r>
                        <a:rPr lang="en-US" sz="2400" b="1" dirty="0">
                          <a:effectLst/>
                          <a:latin typeface="inherit"/>
                        </a:rPr>
                        <a:t>name</a:t>
                      </a:r>
                    </a:p>
                  </a:txBody>
                  <a:tcPr marL="114300" marR="114300" marT="57122" marB="57122">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tc>
                  <a:txBody>
                    <a:bodyPr/>
                    <a:lstStyle/>
                    <a:p>
                      <a:pPr algn="ctr" fontAlgn="base"/>
                      <a:r>
                        <a:rPr lang="en-US" sz="2400" b="1" dirty="0" err="1">
                          <a:effectLst/>
                          <a:latin typeface="inherit"/>
                        </a:rPr>
                        <a:t>state_code</a:t>
                      </a:r>
                      <a:endParaRPr lang="en-US" sz="2400" b="1" dirty="0">
                        <a:effectLst/>
                        <a:latin typeface="inherit"/>
                      </a:endParaRPr>
                    </a:p>
                  </a:txBody>
                  <a:tcPr marL="114300" marR="114300" marT="57122" marB="57122">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tc>
                  <a:txBody>
                    <a:bodyPr/>
                    <a:lstStyle/>
                    <a:p>
                      <a:pPr algn="ctr" fontAlgn="base"/>
                      <a:r>
                        <a:rPr lang="en-US" sz="2400" b="1" dirty="0" err="1">
                          <a:effectLst/>
                          <a:latin typeface="inherit"/>
                        </a:rPr>
                        <a:t>home_state</a:t>
                      </a:r>
                      <a:endParaRPr lang="en-US" sz="2400" b="1" dirty="0">
                        <a:effectLst/>
                        <a:latin typeface="inherit"/>
                      </a:endParaRPr>
                    </a:p>
                  </a:txBody>
                  <a:tcPr marL="114300" marR="114300" marT="57122" marB="57122">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extLst>
                  <a:ext uri="{0D108BD9-81ED-4DB2-BD59-A6C34878D82A}">
                    <a16:rowId xmlns:a16="http://schemas.microsoft.com/office/drawing/2014/main" val="15226500"/>
                  </a:ext>
                </a:extLst>
              </a:tr>
              <a:tr h="479822">
                <a:tc>
                  <a:txBody>
                    <a:bodyPr/>
                    <a:lstStyle/>
                    <a:p>
                      <a:pPr algn="ctr" fontAlgn="base"/>
                      <a:r>
                        <a:rPr lang="en-US" sz="2400" dirty="0">
                          <a:effectLst/>
                          <a:latin typeface="inherit"/>
                        </a:rPr>
                        <a:t>E001</a:t>
                      </a:r>
                    </a:p>
                  </a:txBody>
                  <a:tcPr marL="114300" marR="114300" marT="57122" marB="57122">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tc>
                  <a:txBody>
                    <a:bodyPr/>
                    <a:lstStyle/>
                    <a:p>
                      <a:pPr algn="ctr" fontAlgn="base"/>
                      <a:r>
                        <a:rPr lang="en-US" sz="2400" dirty="0">
                          <a:effectLst/>
                          <a:latin typeface="inherit"/>
                        </a:rPr>
                        <a:t>Alice</a:t>
                      </a:r>
                    </a:p>
                  </a:txBody>
                  <a:tcPr marL="114300" marR="114300" marT="57122" marB="57122">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tc>
                  <a:txBody>
                    <a:bodyPr/>
                    <a:lstStyle/>
                    <a:p>
                      <a:pPr algn="ctr" fontAlgn="base"/>
                      <a:r>
                        <a:rPr lang="en-US" sz="2400">
                          <a:effectLst/>
                          <a:latin typeface="inherit"/>
                        </a:rPr>
                        <a:t>26</a:t>
                      </a:r>
                    </a:p>
                  </a:txBody>
                  <a:tcPr marL="114300" marR="114300" marT="57122" marB="57122">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tc>
                  <a:txBody>
                    <a:bodyPr/>
                    <a:lstStyle/>
                    <a:p>
                      <a:pPr algn="ctr" fontAlgn="base"/>
                      <a:r>
                        <a:rPr lang="en-US" sz="2400">
                          <a:effectLst/>
                          <a:latin typeface="inherit"/>
                        </a:rPr>
                        <a:t>Michigan</a:t>
                      </a:r>
                    </a:p>
                  </a:txBody>
                  <a:tcPr marL="114300" marR="114300" marT="57122" marB="57122">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extLst>
                  <a:ext uri="{0D108BD9-81ED-4DB2-BD59-A6C34878D82A}">
                    <a16:rowId xmlns:a16="http://schemas.microsoft.com/office/drawing/2014/main" val="2875825350"/>
                  </a:ext>
                </a:extLst>
              </a:tr>
              <a:tr h="479822">
                <a:tc>
                  <a:txBody>
                    <a:bodyPr/>
                    <a:lstStyle/>
                    <a:p>
                      <a:pPr algn="ctr" fontAlgn="base"/>
                      <a:r>
                        <a:rPr lang="en-US" sz="2400">
                          <a:effectLst/>
                          <a:latin typeface="inherit"/>
                        </a:rPr>
                        <a:t>E002</a:t>
                      </a:r>
                    </a:p>
                  </a:txBody>
                  <a:tcPr marL="114300" marR="114300" marT="57122" marB="57122">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tc>
                  <a:txBody>
                    <a:bodyPr/>
                    <a:lstStyle/>
                    <a:p>
                      <a:pPr algn="ctr" fontAlgn="base"/>
                      <a:r>
                        <a:rPr lang="en-US" sz="2400">
                          <a:effectLst/>
                          <a:latin typeface="inherit"/>
                        </a:rPr>
                        <a:t>Bob</a:t>
                      </a:r>
                    </a:p>
                  </a:txBody>
                  <a:tcPr marL="114300" marR="114300" marT="57122" marB="57122">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tc>
                  <a:txBody>
                    <a:bodyPr/>
                    <a:lstStyle/>
                    <a:p>
                      <a:pPr algn="ctr" fontAlgn="base"/>
                      <a:r>
                        <a:rPr lang="en-US" sz="2400" dirty="0">
                          <a:effectLst/>
                          <a:latin typeface="inherit"/>
                        </a:rPr>
                        <a:t>56</a:t>
                      </a:r>
                    </a:p>
                  </a:txBody>
                  <a:tcPr marL="114300" marR="114300" marT="57122" marB="57122">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tc>
                  <a:txBody>
                    <a:bodyPr/>
                    <a:lstStyle/>
                    <a:p>
                      <a:pPr algn="ctr" fontAlgn="base"/>
                      <a:r>
                        <a:rPr lang="en-US" sz="2400" dirty="0">
                          <a:effectLst/>
                          <a:latin typeface="inherit"/>
                        </a:rPr>
                        <a:t>Wyoming</a:t>
                      </a:r>
                    </a:p>
                  </a:txBody>
                  <a:tcPr marL="114300" marR="114300" marT="57122" marB="57122">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extLst>
                  <a:ext uri="{0D108BD9-81ED-4DB2-BD59-A6C34878D82A}">
                    <a16:rowId xmlns:a16="http://schemas.microsoft.com/office/drawing/2014/main" val="1893633102"/>
                  </a:ext>
                </a:extLst>
              </a:tr>
              <a:tr h="479822">
                <a:tc>
                  <a:txBody>
                    <a:bodyPr/>
                    <a:lstStyle/>
                    <a:p>
                      <a:pPr algn="ctr" fontAlgn="base"/>
                      <a:r>
                        <a:rPr lang="en-US" sz="2400">
                          <a:effectLst/>
                          <a:latin typeface="inherit"/>
                        </a:rPr>
                        <a:t>E003</a:t>
                      </a:r>
                    </a:p>
                  </a:txBody>
                  <a:tcPr marL="114300" marR="114300" marT="57122" marB="57122">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tc>
                  <a:txBody>
                    <a:bodyPr/>
                    <a:lstStyle/>
                    <a:p>
                      <a:pPr algn="ctr" fontAlgn="base"/>
                      <a:r>
                        <a:rPr lang="en-US" sz="2400" dirty="0">
                          <a:effectLst/>
                          <a:latin typeface="inherit"/>
                        </a:rPr>
                        <a:t>Alice</a:t>
                      </a:r>
                    </a:p>
                  </a:txBody>
                  <a:tcPr marL="114300" marR="114300" marT="57122" marB="57122">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tc>
                  <a:txBody>
                    <a:bodyPr/>
                    <a:lstStyle/>
                    <a:p>
                      <a:pPr algn="ctr" fontAlgn="base"/>
                      <a:r>
                        <a:rPr lang="en-US" sz="2400">
                          <a:effectLst/>
                          <a:latin typeface="inherit"/>
                        </a:rPr>
                        <a:t>56</a:t>
                      </a:r>
                    </a:p>
                  </a:txBody>
                  <a:tcPr marL="114300" marR="114300" marT="57122" marB="57122">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tc>
                  <a:txBody>
                    <a:bodyPr/>
                    <a:lstStyle/>
                    <a:p>
                      <a:pPr algn="ctr" fontAlgn="base"/>
                      <a:r>
                        <a:rPr lang="en-US" sz="2400" dirty="0">
                          <a:effectLst/>
                          <a:latin typeface="inherit"/>
                        </a:rPr>
                        <a:t>Wyoming</a:t>
                      </a:r>
                    </a:p>
                  </a:txBody>
                  <a:tcPr marL="114300" marR="114300" marT="57122" marB="57122">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extLst>
                  <a:ext uri="{0D108BD9-81ED-4DB2-BD59-A6C34878D82A}">
                    <a16:rowId xmlns:a16="http://schemas.microsoft.com/office/drawing/2014/main" val="2420128531"/>
                  </a:ext>
                </a:extLst>
              </a:tr>
            </a:tbl>
          </a:graphicData>
        </a:graphic>
      </p:graphicFrame>
      <p:sp>
        <p:nvSpPr>
          <p:cNvPr id="9" name="Rectangle 8">
            <a:extLst>
              <a:ext uri="{FF2B5EF4-FFF2-40B4-BE49-F238E27FC236}">
                <a16:creationId xmlns:a16="http://schemas.microsoft.com/office/drawing/2014/main" id="{956B3F2B-808C-0A03-2AC0-B9C4A55EADE6}"/>
              </a:ext>
            </a:extLst>
          </p:cNvPr>
          <p:cNvSpPr>
            <a:spLocks noChangeArrowheads="1"/>
          </p:cNvSpPr>
          <p:nvPr/>
        </p:nvSpPr>
        <p:spPr bwMode="auto">
          <a:xfrm>
            <a:off x="3092450" y="693738"/>
            <a:ext cx="35020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PK" sz="32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Employees Table</a:t>
            </a:r>
          </a:p>
        </p:txBody>
      </p:sp>
      <p:sp>
        <p:nvSpPr>
          <p:cNvPr id="23583" name="Rectangle 2">
            <a:extLst>
              <a:ext uri="{FF2B5EF4-FFF2-40B4-BE49-F238E27FC236}">
                <a16:creationId xmlns:a16="http://schemas.microsoft.com/office/drawing/2014/main" id="{283C4A97-F82B-983E-6BCB-103EE1D9FD94}"/>
              </a:ext>
            </a:extLst>
          </p:cNvPr>
          <p:cNvSpPr>
            <a:spLocks noChangeArrowheads="1"/>
          </p:cNvSpPr>
          <p:nvPr/>
        </p:nvSpPr>
        <p:spPr bwMode="auto">
          <a:xfrm>
            <a:off x="457200" y="3321050"/>
            <a:ext cx="8229600" cy="332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0" fontAlgn="base" latinLnBrk="0" hangingPunct="0">
              <a:lnSpc>
                <a:spcPct val="150000"/>
              </a:lnSpc>
              <a:spcBef>
                <a:spcPct val="0"/>
              </a:spcBef>
              <a:spcAft>
                <a:spcPct val="0"/>
              </a:spcAft>
              <a:buClrTx/>
              <a:buSzTx/>
              <a:buFontTx/>
              <a:buNone/>
              <a:tabLst/>
              <a:defRPr/>
            </a:pPr>
            <a:r>
              <a:rPr kumimoji="0" lang="en-US" altLang="en-PK" sz="28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home_state</a:t>
            </a:r>
            <a:r>
              <a:rPr kumimoji="0" lang="en-US" altLang="en-PK" sz="2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 is now dependent on </a:t>
            </a:r>
            <a:r>
              <a:rPr kumimoji="0" lang="en-US" altLang="en-PK" sz="2800" b="1" i="1"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state_code</a:t>
            </a:r>
            <a:r>
              <a:rPr kumimoji="0" lang="en-US" altLang="en-PK" sz="2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 So, if you know the state_code, then you can find the home_state value.</a:t>
            </a:r>
          </a:p>
          <a:p>
            <a:pPr marL="0" marR="0" lvl="0" indent="0" algn="just" defTabSz="914400" rtl="0" eaLnBrk="0" fontAlgn="base" latinLnBrk="0" hangingPunct="0">
              <a:lnSpc>
                <a:spcPct val="150000"/>
              </a:lnSpc>
              <a:spcBef>
                <a:spcPct val="0"/>
              </a:spcBef>
              <a:spcAft>
                <a:spcPct val="0"/>
              </a:spcAft>
              <a:buClrTx/>
              <a:buSzTx/>
              <a:buFontTx/>
              <a:buNone/>
              <a:tabLst/>
              <a:defRPr/>
            </a:pPr>
            <a:r>
              <a:rPr kumimoji="0" lang="en-US" altLang="en-PK" sz="2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To take this a step further, we should separate them again to a different table to make it </a:t>
            </a:r>
            <a:r>
              <a:rPr kumimoji="0" lang="en-US" altLang="en-PK" sz="28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3NF</a:t>
            </a:r>
            <a:r>
              <a:rPr kumimoji="0" lang="en-US" altLang="en-PK" sz="2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3">
            <a:extLst>
              <a:ext uri="{FF2B5EF4-FFF2-40B4-BE49-F238E27FC236}">
                <a16:creationId xmlns:a16="http://schemas.microsoft.com/office/drawing/2014/main" id="{C3AAE30B-D6E3-1F25-C893-570210163962}"/>
              </a:ext>
            </a:extLst>
          </p:cNvPr>
          <p:cNvSpPr>
            <a:spLocks noChangeArrowheads="1"/>
          </p:cNvSpPr>
          <p:nvPr/>
        </p:nvSpPr>
        <p:spPr bwMode="auto">
          <a:xfrm>
            <a:off x="1747838" y="282575"/>
            <a:ext cx="564832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PK" sz="3600" b="1" i="0" u="none" strike="noStrike" kern="1200" cap="none" spc="0" normalizeH="0" baseline="0" noProof="0">
                <a:ln>
                  <a:noFill/>
                </a:ln>
                <a:solidFill>
                  <a:srgbClr val="1B1B32"/>
                </a:solidFill>
                <a:effectLst/>
                <a:uLnTx/>
                <a:uFillTx/>
                <a:latin typeface="-apple-system"/>
                <a:ea typeface="+mn-ea"/>
                <a:cs typeface="Arial" panose="020B0604020202020204" pitchFamily="34" charset="0"/>
              </a:rPr>
              <a:t>Third Normal Form (3NF)</a:t>
            </a:r>
          </a:p>
        </p:txBody>
      </p:sp>
      <p:graphicFrame>
        <p:nvGraphicFramePr>
          <p:cNvPr id="6" name="Table 5">
            <a:extLst>
              <a:ext uri="{FF2B5EF4-FFF2-40B4-BE49-F238E27FC236}">
                <a16:creationId xmlns:a16="http://schemas.microsoft.com/office/drawing/2014/main" id="{FD3FCDA1-6D8E-238D-94C0-03D1FA65C8C5}"/>
              </a:ext>
            </a:extLst>
          </p:cNvPr>
          <p:cNvGraphicFramePr>
            <a:graphicFrameLocks noGrp="1"/>
          </p:cNvGraphicFramePr>
          <p:nvPr/>
        </p:nvGraphicFramePr>
        <p:xfrm>
          <a:off x="1593850" y="1627188"/>
          <a:ext cx="5956301" cy="1981200"/>
        </p:xfrm>
        <a:graphic>
          <a:graphicData uri="http://schemas.openxmlformats.org/drawingml/2006/table">
            <a:tbl>
              <a:tblPr/>
              <a:tblGrid>
                <a:gridCol w="2416482">
                  <a:extLst>
                    <a:ext uri="{9D8B030D-6E8A-4147-A177-3AD203B41FA5}">
                      <a16:colId xmlns:a16="http://schemas.microsoft.com/office/drawing/2014/main" val="1112188034"/>
                    </a:ext>
                  </a:extLst>
                </a:gridCol>
                <a:gridCol w="1384578">
                  <a:extLst>
                    <a:ext uri="{9D8B030D-6E8A-4147-A177-3AD203B41FA5}">
                      <a16:colId xmlns:a16="http://schemas.microsoft.com/office/drawing/2014/main" val="2326778166"/>
                    </a:ext>
                  </a:extLst>
                </a:gridCol>
                <a:gridCol w="2155241">
                  <a:extLst>
                    <a:ext uri="{9D8B030D-6E8A-4147-A177-3AD203B41FA5}">
                      <a16:colId xmlns:a16="http://schemas.microsoft.com/office/drawing/2014/main" val="586821686"/>
                    </a:ext>
                  </a:extLst>
                </a:gridCol>
              </a:tblGrid>
              <a:tr h="0">
                <a:tc>
                  <a:txBody>
                    <a:bodyPr/>
                    <a:lstStyle/>
                    <a:p>
                      <a:pPr algn="ctr" fontAlgn="base"/>
                      <a:r>
                        <a:rPr lang="en-US" sz="2800" b="1" dirty="0" err="1">
                          <a:effectLst/>
                          <a:latin typeface="inherit"/>
                        </a:rPr>
                        <a:t>employee_id</a:t>
                      </a:r>
                      <a:endParaRPr lang="en-US" sz="2800" b="1" dirty="0">
                        <a:effectLst/>
                        <a:latin typeface="inherit"/>
                      </a:endParaRPr>
                    </a:p>
                  </a:txBody>
                  <a:tcPr marL="114293" marR="114293" marT="57150" marB="57150">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tc>
                  <a:txBody>
                    <a:bodyPr/>
                    <a:lstStyle/>
                    <a:p>
                      <a:pPr algn="ctr" fontAlgn="base"/>
                      <a:r>
                        <a:rPr lang="en-US" sz="2800" b="1" dirty="0">
                          <a:effectLst/>
                          <a:latin typeface="inherit"/>
                        </a:rPr>
                        <a:t>name</a:t>
                      </a:r>
                    </a:p>
                  </a:txBody>
                  <a:tcPr marL="114293" marR="114293" marT="57150" marB="57150">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tc>
                  <a:txBody>
                    <a:bodyPr/>
                    <a:lstStyle/>
                    <a:p>
                      <a:pPr algn="ctr" fontAlgn="base"/>
                      <a:r>
                        <a:rPr lang="en-US" sz="2800" b="1" dirty="0" err="1">
                          <a:effectLst/>
                          <a:latin typeface="inherit"/>
                        </a:rPr>
                        <a:t>state_code</a:t>
                      </a:r>
                      <a:endParaRPr lang="en-US" sz="2800" b="1" dirty="0">
                        <a:effectLst/>
                        <a:latin typeface="inherit"/>
                      </a:endParaRPr>
                    </a:p>
                  </a:txBody>
                  <a:tcPr marL="114293" marR="114293" marT="57150" marB="57150">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extLst>
                  <a:ext uri="{0D108BD9-81ED-4DB2-BD59-A6C34878D82A}">
                    <a16:rowId xmlns:a16="http://schemas.microsoft.com/office/drawing/2014/main" val="15226500"/>
                  </a:ext>
                </a:extLst>
              </a:tr>
              <a:tr h="0">
                <a:tc>
                  <a:txBody>
                    <a:bodyPr/>
                    <a:lstStyle/>
                    <a:p>
                      <a:pPr algn="ctr" fontAlgn="base"/>
                      <a:r>
                        <a:rPr lang="en-US" sz="2400" dirty="0">
                          <a:effectLst/>
                          <a:latin typeface="inherit"/>
                        </a:rPr>
                        <a:t>E001</a:t>
                      </a:r>
                    </a:p>
                  </a:txBody>
                  <a:tcPr marL="114293" marR="114293" marT="57150" marB="57150">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tc>
                  <a:txBody>
                    <a:bodyPr/>
                    <a:lstStyle/>
                    <a:p>
                      <a:pPr algn="ctr" fontAlgn="base"/>
                      <a:r>
                        <a:rPr lang="en-US" sz="2400" dirty="0">
                          <a:effectLst/>
                          <a:latin typeface="inherit"/>
                        </a:rPr>
                        <a:t>Alice</a:t>
                      </a:r>
                    </a:p>
                  </a:txBody>
                  <a:tcPr marL="114293" marR="114293" marT="57150" marB="57150">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tc>
                  <a:txBody>
                    <a:bodyPr/>
                    <a:lstStyle/>
                    <a:p>
                      <a:pPr algn="ctr" fontAlgn="base"/>
                      <a:r>
                        <a:rPr lang="en-US" sz="2400">
                          <a:effectLst/>
                          <a:latin typeface="inherit"/>
                        </a:rPr>
                        <a:t>26</a:t>
                      </a:r>
                    </a:p>
                  </a:txBody>
                  <a:tcPr marL="114293" marR="114293" marT="57150" marB="57150">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extLst>
                  <a:ext uri="{0D108BD9-81ED-4DB2-BD59-A6C34878D82A}">
                    <a16:rowId xmlns:a16="http://schemas.microsoft.com/office/drawing/2014/main" val="2875825350"/>
                  </a:ext>
                </a:extLst>
              </a:tr>
              <a:tr h="0">
                <a:tc>
                  <a:txBody>
                    <a:bodyPr/>
                    <a:lstStyle/>
                    <a:p>
                      <a:pPr algn="ctr" fontAlgn="base"/>
                      <a:r>
                        <a:rPr lang="en-US" sz="2400">
                          <a:effectLst/>
                          <a:latin typeface="inherit"/>
                        </a:rPr>
                        <a:t>E002</a:t>
                      </a:r>
                    </a:p>
                  </a:txBody>
                  <a:tcPr marL="114293" marR="114293" marT="57150" marB="57150">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tc>
                  <a:txBody>
                    <a:bodyPr/>
                    <a:lstStyle/>
                    <a:p>
                      <a:pPr algn="ctr" fontAlgn="base"/>
                      <a:r>
                        <a:rPr lang="en-US" sz="2400">
                          <a:effectLst/>
                          <a:latin typeface="inherit"/>
                        </a:rPr>
                        <a:t>Bob</a:t>
                      </a:r>
                    </a:p>
                  </a:txBody>
                  <a:tcPr marL="114293" marR="114293" marT="57150" marB="57150">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tc>
                  <a:txBody>
                    <a:bodyPr/>
                    <a:lstStyle/>
                    <a:p>
                      <a:pPr algn="ctr" fontAlgn="base"/>
                      <a:r>
                        <a:rPr lang="en-US" sz="2400" dirty="0">
                          <a:effectLst/>
                          <a:latin typeface="inherit"/>
                        </a:rPr>
                        <a:t>56</a:t>
                      </a:r>
                    </a:p>
                  </a:txBody>
                  <a:tcPr marL="114293" marR="114293" marT="57150" marB="57150">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extLst>
                  <a:ext uri="{0D108BD9-81ED-4DB2-BD59-A6C34878D82A}">
                    <a16:rowId xmlns:a16="http://schemas.microsoft.com/office/drawing/2014/main" val="1893633102"/>
                  </a:ext>
                </a:extLst>
              </a:tr>
              <a:tr h="0">
                <a:tc>
                  <a:txBody>
                    <a:bodyPr/>
                    <a:lstStyle/>
                    <a:p>
                      <a:pPr algn="ctr" fontAlgn="base"/>
                      <a:r>
                        <a:rPr lang="en-US" sz="2400">
                          <a:effectLst/>
                          <a:latin typeface="inherit"/>
                        </a:rPr>
                        <a:t>E003</a:t>
                      </a:r>
                    </a:p>
                  </a:txBody>
                  <a:tcPr marL="114293" marR="114293" marT="57150" marB="57150">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tc>
                  <a:txBody>
                    <a:bodyPr/>
                    <a:lstStyle/>
                    <a:p>
                      <a:pPr algn="ctr" fontAlgn="base"/>
                      <a:r>
                        <a:rPr lang="en-US" sz="2400" dirty="0">
                          <a:effectLst/>
                          <a:latin typeface="inherit"/>
                        </a:rPr>
                        <a:t>Alice</a:t>
                      </a:r>
                    </a:p>
                  </a:txBody>
                  <a:tcPr marL="114293" marR="114293" marT="57150" marB="57150">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tc>
                  <a:txBody>
                    <a:bodyPr/>
                    <a:lstStyle/>
                    <a:p>
                      <a:pPr algn="ctr" fontAlgn="base"/>
                      <a:r>
                        <a:rPr lang="en-US" sz="2400" dirty="0">
                          <a:effectLst/>
                          <a:latin typeface="inherit"/>
                        </a:rPr>
                        <a:t>56</a:t>
                      </a:r>
                    </a:p>
                  </a:txBody>
                  <a:tcPr marL="114293" marR="114293" marT="57150" marB="57150">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extLst>
                  <a:ext uri="{0D108BD9-81ED-4DB2-BD59-A6C34878D82A}">
                    <a16:rowId xmlns:a16="http://schemas.microsoft.com/office/drawing/2014/main" val="2420128531"/>
                  </a:ext>
                </a:extLst>
              </a:tr>
            </a:tbl>
          </a:graphicData>
        </a:graphic>
      </p:graphicFrame>
      <p:sp>
        <p:nvSpPr>
          <p:cNvPr id="9" name="Rectangle 8">
            <a:extLst>
              <a:ext uri="{FF2B5EF4-FFF2-40B4-BE49-F238E27FC236}">
                <a16:creationId xmlns:a16="http://schemas.microsoft.com/office/drawing/2014/main" id="{D84E4CED-77F8-7A72-20D9-C55F8075EC1F}"/>
              </a:ext>
            </a:extLst>
          </p:cNvPr>
          <p:cNvSpPr>
            <a:spLocks noChangeArrowheads="1"/>
          </p:cNvSpPr>
          <p:nvPr/>
        </p:nvSpPr>
        <p:spPr bwMode="auto">
          <a:xfrm>
            <a:off x="2820988" y="985838"/>
            <a:ext cx="35020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PK" sz="32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Employees Table</a:t>
            </a:r>
          </a:p>
        </p:txBody>
      </p:sp>
      <p:graphicFrame>
        <p:nvGraphicFramePr>
          <p:cNvPr id="2" name="Table 1">
            <a:extLst>
              <a:ext uri="{FF2B5EF4-FFF2-40B4-BE49-F238E27FC236}">
                <a16:creationId xmlns:a16="http://schemas.microsoft.com/office/drawing/2014/main" id="{4DEBCE4E-0705-8749-D3F7-511CF12EAF06}"/>
              </a:ext>
            </a:extLst>
          </p:cNvPr>
          <p:cNvGraphicFramePr>
            <a:graphicFrameLocks noGrp="1"/>
          </p:cNvGraphicFramePr>
          <p:nvPr/>
        </p:nvGraphicFramePr>
        <p:xfrm>
          <a:off x="1492250" y="4491038"/>
          <a:ext cx="6159500" cy="1624011"/>
        </p:xfrm>
        <a:graphic>
          <a:graphicData uri="http://schemas.openxmlformats.org/drawingml/2006/table">
            <a:tbl>
              <a:tblPr/>
              <a:tblGrid>
                <a:gridCol w="3079750">
                  <a:extLst>
                    <a:ext uri="{9D8B030D-6E8A-4147-A177-3AD203B41FA5}">
                      <a16:colId xmlns:a16="http://schemas.microsoft.com/office/drawing/2014/main" val="3158439499"/>
                    </a:ext>
                  </a:extLst>
                </a:gridCol>
                <a:gridCol w="3079750">
                  <a:extLst>
                    <a:ext uri="{9D8B030D-6E8A-4147-A177-3AD203B41FA5}">
                      <a16:colId xmlns:a16="http://schemas.microsoft.com/office/drawing/2014/main" val="1961287193"/>
                    </a:ext>
                  </a:extLst>
                </a:gridCol>
              </a:tblGrid>
              <a:tr h="541337">
                <a:tc>
                  <a:txBody>
                    <a:bodyPr/>
                    <a:lstStyle/>
                    <a:p>
                      <a:pPr algn="ctr" fontAlgn="base"/>
                      <a:r>
                        <a:rPr lang="en-US" sz="2800" b="1">
                          <a:effectLst/>
                          <a:latin typeface="inherit"/>
                        </a:rPr>
                        <a:t>state_code</a:t>
                      </a:r>
                    </a:p>
                  </a:txBody>
                  <a:tcPr marL="114278" marR="114278" marT="57184" marB="57184">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tc>
                  <a:txBody>
                    <a:bodyPr/>
                    <a:lstStyle/>
                    <a:p>
                      <a:pPr algn="ctr" fontAlgn="base"/>
                      <a:r>
                        <a:rPr lang="en-US" sz="2800" b="1">
                          <a:effectLst/>
                          <a:latin typeface="inherit"/>
                        </a:rPr>
                        <a:t>home_state</a:t>
                      </a:r>
                    </a:p>
                  </a:txBody>
                  <a:tcPr marL="114278" marR="114278" marT="57184" marB="57184">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extLst>
                  <a:ext uri="{0D108BD9-81ED-4DB2-BD59-A6C34878D82A}">
                    <a16:rowId xmlns:a16="http://schemas.microsoft.com/office/drawing/2014/main" val="3914075386"/>
                  </a:ext>
                </a:extLst>
              </a:tr>
              <a:tr h="541337">
                <a:tc>
                  <a:txBody>
                    <a:bodyPr/>
                    <a:lstStyle/>
                    <a:p>
                      <a:pPr algn="ctr" fontAlgn="base"/>
                      <a:r>
                        <a:rPr lang="en-US" sz="2800" b="0">
                          <a:effectLst/>
                          <a:latin typeface="inherit"/>
                        </a:rPr>
                        <a:t>26</a:t>
                      </a:r>
                    </a:p>
                  </a:txBody>
                  <a:tcPr marL="114278" marR="114278" marT="57184" marB="57184">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tc>
                  <a:txBody>
                    <a:bodyPr/>
                    <a:lstStyle/>
                    <a:p>
                      <a:pPr algn="ctr" fontAlgn="base"/>
                      <a:r>
                        <a:rPr lang="en-US" sz="2800" b="0">
                          <a:effectLst/>
                          <a:latin typeface="inherit"/>
                        </a:rPr>
                        <a:t>Michigan</a:t>
                      </a:r>
                    </a:p>
                  </a:txBody>
                  <a:tcPr marL="114278" marR="114278" marT="57184" marB="57184">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extLst>
                  <a:ext uri="{0D108BD9-81ED-4DB2-BD59-A6C34878D82A}">
                    <a16:rowId xmlns:a16="http://schemas.microsoft.com/office/drawing/2014/main" val="2401358838"/>
                  </a:ext>
                </a:extLst>
              </a:tr>
              <a:tr h="541337">
                <a:tc>
                  <a:txBody>
                    <a:bodyPr/>
                    <a:lstStyle/>
                    <a:p>
                      <a:pPr algn="ctr" fontAlgn="base"/>
                      <a:r>
                        <a:rPr lang="en-US" sz="2800" b="0">
                          <a:effectLst/>
                          <a:latin typeface="inherit"/>
                        </a:rPr>
                        <a:t>56</a:t>
                      </a:r>
                    </a:p>
                  </a:txBody>
                  <a:tcPr marL="114278" marR="114278" marT="57184" marB="57184">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tc>
                  <a:txBody>
                    <a:bodyPr/>
                    <a:lstStyle/>
                    <a:p>
                      <a:pPr algn="ctr" fontAlgn="base"/>
                      <a:r>
                        <a:rPr lang="en-US" sz="2800" b="0" dirty="0">
                          <a:effectLst/>
                          <a:latin typeface="inherit"/>
                        </a:rPr>
                        <a:t>Wyoming</a:t>
                      </a:r>
                    </a:p>
                  </a:txBody>
                  <a:tcPr marL="114278" marR="114278" marT="57184" marB="57184">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extLst>
                  <a:ext uri="{0D108BD9-81ED-4DB2-BD59-A6C34878D82A}">
                    <a16:rowId xmlns:a16="http://schemas.microsoft.com/office/drawing/2014/main" val="746092703"/>
                  </a:ext>
                </a:extLst>
              </a:tr>
            </a:tbl>
          </a:graphicData>
        </a:graphic>
      </p:graphicFrame>
      <p:sp>
        <p:nvSpPr>
          <p:cNvPr id="7" name="Rectangle 6">
            <a:extLst>
              <a:ext uri="{FF2B5EF4-FFF2-40B4-BE49-F238E27FC236}">
                <a16:creationId xmlns:a16="http://schemas.microsoft.com/office/drawing/2014/main" id="{B9A90FAD-DFCE-00CB-6880-0F785C943120}"/>
              </a:ext>
            </a:extLst>
          </p:cNvPr>
          <p:cNvSpPr>
            <a:spLocks noChangeArrowheads="1"/>
          </p:cNvSpPr>
          <p:nvPr/>
        </p:nvSpPr>
        <p:spPr bwMode="auto">
          <a:xfrm>
            <a:off x="3289300" y="3757613"/>
            <a:ext cx="25654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PK" sz="32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States Table</a:t>
            </a:r>
          </a:p>
        </p:txBody>
      </p:sp>
      <p:sp>
        <p:nvSpPr>
          <p:cNvPr id="24617" name="Rectangle 4">
            <a:extLst>
              <a:ext uri="{FF2B5EF4-FFF2-40B4-BE49-F238E27FC236}">
                <a16:creationId xmlns:a16="http://schemas.microsoft.com/office/drawing/2014/main" id="{FD68A9B1-388D-50FA-0485-BB6CF98396AC}"/>
              </a:ext>
            </a:extLst>
          </p:cNvPr>
          <p:cNvSpPr>
            <a:spLocks noChangeArrowheads="1"/>
          </p:cNvSpPr>
          <p:nvPr/>
        </p:nvSpPr>
        <p:spPr bwMode="auto">
          <a:xfrm>
            <a:off x="2713038" y="6235700"/>
            <a:ext cx="46831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PK" sz="2800" b="0" i="0" u="none" strike="noStrike" kern="1200" cap="none" spc="0" normalizeH="0" baseline="0" noProof="0">
                <a:ln>
                  <a:noFill/>
                </a:ln>
                <a:solidFill>
                  <a:srgbClr val="0A0A23"/>
                </a:solidFill>
                <a:effectLst/>
                <a:uLnTx/>
                <a:uFillTx/>
                <a:latin typeface="Lato" panose="020F0502020204030204" pitchFamily="34" charset="0"/>
                <a:ea typeface="+mn-ea"/>
                <a:cs typeface="Arial" panose="020B0604020202020204" pitchFamily="34" charset="0"/>
              </a:rPr>
              <a:t>Now our database is in </a:t>
            </a:r>
            <a:r>
              <a:rPr kumimoji="0" lang="en-US" altLang="en-PK" sz="2800" b="1" i="0" u="none" strike="noStrike" kern="1200" cap="none" spc="0" normalizeH="0" baseline="0" noProof="0">
                <a:ln>
                  <a:noFill/>
                </a:ln>
                <a:solidFill>
                  <a:srgbClr val="0A0A23"/>
                </a:solidFill>
                <a:effectLst/>
                <a:uLnTx/>
                <a:uFillTx/>
                <a:latin typeface="Lato" panose="020F0502020204030204" pitchFamily="34" charset="0"/>
                <a:ea typeface="+mn-ea"/>
                <a:cs typeface="Arial" panose="020B0604020202020204" pitchFamily="34" charset="0"/>
              </a:rPr>
              <a:t>3NF.</a:t>
            </a:r>
            <a:endParaRPr kumimoji="0" lang="en-US" altLang="en-PK" sz="28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ppt_x"/>
                                          </p:val>
                                        </p:tav>
                                        <p:tav tm="100000">
                                          <p:val>
                                            <p:strVal val="#ppt_x"/>
                                          </p:val>
                                        </p:tav>
                                      </p:tavLst>
                                    </p:anim>
                                    <p:anim calcmode="lin" valueType="num">
                                      <p:cBhvr additive="base">
                                        <p:cTn id="1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7" grpId="0"/>
    </p:bldLst>
  </p:timing>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3">
            <a:extLst>
              <a:ext uri="{FF2B5EF4-FFF2-40B4-BE49-F238E27FC236}">
                <a16:creationId xmlns:a16="http://schemas.microsoft.com/office/drawing/2014/main" id="{0B02F75B-9FC1-CB67-B4C9-CD10B904AB13}"/>
              </a:ext>
            </a:extLst>
          </p:cNvPr>
          <p:cNvSpPr>
            <a:spLocks noChangeArrowheads="1"/>
          </p:cNvSpPr>
          <p:nvPr/>
        </p:nvSpPr>
        <p:spPr bwMode="auto">
          <a:xfrm>
            <a:off x="1492250" y="292100"/>
            <a:ext cx="5646738"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PK" sz="3600" b="1" i="0" u="none" strike="noStrike" kern="1200" cap="none" spc="0" normalizeH="0" baseline="0" noProof="0">
                <a:ln>
                  <a:noFill/>
                </a:ln>
                <a:solidFill>
                  <a:srgbClr val="1B1B32"/>
                </a:solidFill>
                <a:effectLst/>
                <a:uLnTx/>
                <a:uFillTx/>
                <a:latin typeface="-apple-system"/>
                <a:ea typeface="+mn-ea"/>
                <a:cs typeface="Arial" panose="020B0604020202020204" pitchFamily="34" charset="0"/>
              </a:rPr>
              <a:t>Third Normal Form (3NF)</a:t>
            </a:r>
          </a:p>
        </p:txBody>
      </p:sp>
      <p:graphicFrame>
        <p:nvGraphicFramePr>
          <p:cNvPr id="10" name="Table 9">
            <a:extLst>
              <a:ext uri="{FF2B5EF4-FFF2-40B4-BE49-F238E27FC236}">
                <a16:creationId xmlns:a16="http://schemas.microsoft.com/office/drawing/2014/main" id="{DF2CCE70-798A-0B03-5F73-DD822213537B}"/>
              </a:ext>
            </a:extLst>
          </p:cNvPr>
          <p:cNvGraphicFramePr>
            <a:graphicFrameLocks noGrp="1"/>
          </p:cNvGraphicFramePr>
          <p:nvPr/>
        </p:nvGraphicFramePr>
        <p:xfrm>
          <a:off x="457200" y="2343150"/>
          <a:ext cx="3932238" cy="1920016"/>
        </p:xfrm>
        <a:graphic>
          <a:graphicData uri="http://schemas.openxmlformats.org/drawingml/2006/table">
            <a:tbl>
              <a:tblPr/>
              <a:tblGrid>
                <a:gridCol w="1966119">
                  <a:extLst>
                    <a:ext uri="{9D8B030D-6E8A-4147-A177-3AD203B41FA5}">
                      <a16:colId xmlns:a16="http://schemas.microsoft.com/office/drawing/2014/main" val="1633626133"/>
                    </a:ext>
                  </a:extLst>
                </a:gridCol>
                <a:gridCol w="1966119">
                  <a:extLst>
                    <a:ext uri="{9D8B030D-6E8A-4147-A177-3AD203B41FA5}">
                      <a16:colId xmlns:a16="http://schemas.microsoft.com/office/drawing/2014/main" val="3346846461"/>
                    </a:ext>
                  </a:extLst>
                </a:gridCol>
              </a:tblGrid>
              <a:tr h="479822">
                <a:tc>
                  <a:txBody>
                    <a:bodyPr/>
                    <a:lstStyle/>
                    <a:p>
                      <a:pPr algn="ctr" fontAlgn="base"/>
                      <a:r>
                        <a:rPr lang="en-US" sz="2400" b="1" kern="1200" dirty="0" err="1">
                          <a:solidFill>
                            <a:schemeClr val="tx1"/>
                          </a:solidFill>
                          <a:effectLst/>
                          <a:latin typeface="inherit"/>
                          <a:ea typeface="+mn-ea"/>
                          <a:cs typeface="+mn-cs"/>
                        </a:rPr>
                        <a:t>job_code</a:t>
                      </a:r>
                      <a:endParaRPr lang="en-US" sz="2400" b="1" kern="1200" dirty="0">
                        <a:solidFill>
                          <a:schemeClr val="tx1"/>
                        </a:solidFill>
                        <a:effectLst/>
                        <a:latin typeface="inherit"/>
                        <a:ea typeface="+mn-ea"/>
                        <a:cs typeface="+mn-cs"/>
                      </a:endParaRPr>
                    </a:p>
                  </a:txBody>
                  <a:tcPr marL="114309" marR="114309" marT="57122" marB="57122">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tc>
                  <a:txBody>
                    <a:bodyPr/>
                    <a:lstStyle/>
                    <a:p>
                      <a:pPr algn="ctr" fontAlgn="base"/>
                      <a:r>
                        <a:rPr lang="en-US" sz="2400" b="1" kern="1200" dirty="0">
                          <a:solidFill>
                            <a:schemeClr val="tx1"/>
                          </a:solidFill>
                          <a:effectLst/>
                          <a:latin typeface="inherit"/>
                          <a:ea typeface="+mn-ea"/>
                          <a:cs typeface="+mn-cs"/>
                        </a:rPr>
                        <a:t>job</a:t>
                      </a:r>
                    </a:p>
                  </a:txBody>
                  <a:tcPr marL="114309" marR="114309" marT="57122" marB="57122">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extLst>
                  <a:ext uri="{0D108BD9-81ED-4DB2-BD59-A6C34878D82A}">
                    <a16:rowId xmlns:a16="http://schemas.microsoft.com/office/drawing/2014/main" val="3305073372"/>
                  </a:ext>
                </a:extLst>
              </a:tr>
              <a:tr h="479822">
                <a:tc>
                  <a:txBody>
                    <a:bodyPr/>
                    <a:lstStyle/>
                    <a:p>
                      <a:pPr algn="ctr" fontAlgn="base"/>
                      <a:r>
                        <a:rPr lang="en-US" sz="2400" kern="1200" dirty="0">
                          <a:solidFill>
                            <a:schemeClr val="tx1"/>
                          </a:solidFill>
                          <a:effectLst/>
                          <a:latin typeface="inherit"/>
                          <a:ea typeface="+mn-ea"/>
                          <a:cs typeface="+mn-cs"/>
                        </a:rPr>
                        <a:t>J01</a:t>
                      </a:r>
                    </a:p>
                  </a:txBody>
                  <a:tcPr marL="114309" marR="114309" marT="57122" marB="57122">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tc>
                  <a:txBody>
                    <a:bodyPr/>
                    <a:lstStyle/>
                    <a:p>
                      <a:pPr algn="ctr" fontAlgn="base"/>
                      <a:r>
                        <a:rPr lang="en-US" sz="2400" kern="1200" dirty="0">
                          <a:solidFill>
                            <a:schemeClr val="tx1"/>
                          </a:solidFill>
                          <a:effectLst/>
                          <a:latin typeface="inherit"/>
                          <a:ea typeface="+mn-ea"/>
                          <a:cs typeface="+mn-cs"/>
                        </a:rPr>
                        <a:t>Chef</a:t>
                      </a:r>
                    </a:p>
                  </a:txBody>
                  <a:tcPr marL="114309" marR="114309" marT="57122" marB="57122">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extLst>
                  <a:ext uri="{0D108BD9-81ED-4DB2-BD59-A6C34878D82A}">
                    <a16:rowId xmlns:a16="http://schemas.microsoft.com/office/drawing/2014/main" val="424419172"/>
                  </a:ext>
                </a:extLst>
              </a:tr>
              <a:tr h="479822">
                <a:tc>
                  <a:txBody>
                    <a:bodyPr/>
                    <a:lstStyle/>
                    <a:p>
                      <a:pPr algn="ctr" fontAlgn="base"/>
                      <a:r>
                        <a:rPr lang="en-US" sz="2400" kern="1200">
                          <a:solidFill>
                            <a:schemeClr val="tx1"/>
                          </a:solidFill>
                          <a:effectLst/>
                          <a:latin typeface="inherit"/>
                          <a:ea typeface="+mn-ea"/>
                          <a:cs typeface="+mn-cs"/>
                        </a:rPr>
                        <a:t>J02</a:t>
                      </a:r>
                    </a:p>
                  </a:txBody>
                  <a:tcPr marL="114309" marR="114309" marT="57122" marB="57122">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tc>
                  <a:txBody>
                    <a:bodyPr/>
                    <a:lstStyle/>
                    <a:p>
                      <a:pPr algn="ctr" fontAlgn="base"/>
                      <a:r>
                        <a:rPr lang="en-US" sz="2400" kern="1200">
                          <a:solidFill>
                            <a:schemeClr val="tx1"/>
                          </a:solidFill>
                          <a:effectLst/>
                          <a:latin typeface="inherit"/>
                          <a:ea typeface="+mn-ea"/>
                          <a:cs typeface="+mn-cs"/>
                        </a:rPr>
                        <a:t>Waiter</a:t>
                      </a:r>
                    </a:p>
                  </a:txBody>
                  <a:tcPr marL="114309" marR="114309" marT="57122" marB="57122">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extLst>
                  <a:ext uri="{0D108BD9-81ED-4DB2-BD59-A6C34878D82A}">
                    <a16:rowId xmlns:a16="http://schemas.microsoft.com/office/drawing/2014/main" val="4077885910"/>
                  </a:ext>
                </a:extLst>
              </a:tr>
              <a:tr h="479822">
                <a:tc>
                  <a:txBody>
                    <a:bodyPr/>
                    <a:lstStyle/>
                    <a:p>
                      <a:pPr algn="ctr" fontAlgn="base"/>
                      <a:r>
                        <a:rPr lang="en-US" sz="2400" kern="1200">
                          <a:solidFill>
                            <a:schemeClr val="tx1"/>
                          </a:solidFill>
                          <a:effectLst/>
                          <a:latin typeface="inherit"/>
                          <a:ea typeface="+mn-ea"/>
                          <a:cs typeface="+mn-cs"/>
                        </a:rPr>
                        <a:t>J03</a:t>
                      </a:r>
                    </a:p>
                  </a:txBody>
                  <a:tcPr marL="114309" marR="114309" marT="57122" marB="57122">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tc>
                  <a:txBody>
                    <a:bodyPr/>
                    <a:lstStyle/>
                    <a:p>
                      <a:pPr algn="ctr" fontAlgn="base"/>
                      <a:r>
                        <a:rPr lang="en-US" sz="2400" kern="1200" dirty="0">
                          <a:solidFill>
                            <a:schemeClr val="tx1"/>
                          </a:solidFill>
                          <a:effectLst/>
                          <a:latin typeface="inherit"/>
                          <a:ea typeface="+mn-ea"/>
                          <a:cs typeface="+mn-cs"/>
                        </a:rPr>
                        <a:t>Bartender</a:t>
                      </a:r>
                    </a:p>
                  </a:txBody>
                  <a:tcPr marL="114309" marR="114309" marT="57122" marB="57122">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extLst>
                  <a:ext uri="{0D108BD9-81ED-4DB2-BD59-A6C34878D82A}">
                    <a16:rowId xmlns:a16="http://schemas.microsoft.com/office/drawing/2014/main" val="3230705311"/>
                  </a:ext>
                </a:extLst>
              </a:tr>
            </a:tbl>
          </a:graphicData>
        </a:graphic>
      </p:graphicFrame>
      <p:sp>
        <p:nvSpPr>
          <p:cNvPr id="11" name="Rectangle 10">
            <a:extLst>
              <a:ext uri="{FF2B5EF4-FFF2-40B4-BE49-F238E27FC236}">
                <a16:creationId xmlns:a16="http://schemas.microsoft.com/office/drawing/2014/main" id="{9FD2D02A-99D0-6911-30BC-92435198D930}"/>
              </a:ext>
            </a:extLst>
          </p:cNvPr>
          <p:cNvSpPr>
            <a:spLocks noChangeArrowheads="1"/>
          </p:cNvSpPr>
          <p:nvPr/>
        </p:nvSpPr>
        <p:spPr bwMode="auto">
          <a:xfrm>
            <a:off x="1276350" y="1679575"/>
            <a:ext cx="2292350"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PK" sz="32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Jobs Table</a:t>
            </a:r>
          </a:p>
        </p:txBody>
      </p:sp>
      <p:graphicFrame>
        <p:nvGraphicFramePr>
          <p:cNvPr id="12" name="Table 11">
            <a:extLst>
              <a:ext uri="{FF2B5EF4-FFF2-40B4-BE49-F238E27FC236}">
                <a16:creationId xmlns:a16="http://schemas.microsoft.com/office/drawing/2014/main" id="{AB1BA548-A7C8-266E-D393-8333F96C865B}"/>
              </a:ext>
            </a:extLst>
          </p:cNvPr>
          <p:cNvGraphicFramePr>
            <a:graphicFrameLocks noGrp="1"/>
          </p:cNvGraphicFramePr>
          <p:nvPr/>
        </p:nvGraphicFramePr>
        <p:xfrm>
          <a:off x="4819650" y="1679575"/>
          <a:ext cx="3867150" cy="2881314"/>
        </p:xfrm>
        <a:graphic>
          <a:graphicData uri="http://schemas.openxmlformats.org/drawingml/2006/table">
            <a:tbl>
              <a:tblPr/>
              <a:tblGrid>
                <a:gridCol w="2142610">
                  <a:extLst>
                    <a:ext uri="{9D8B030D-6E8A-4147-A177-3AD203B41FA5}">
                      <a16:colId xmlns:a16="http://schemas.microsoft.com/office/drawing/2014/main" val="377134177"/>
                    </a:ext>
                  </a:extLst>
                </a:gridCol>
                <a:gridCol w="1724540">
                  <a:extLst>
                    <a:ext uri="{9D8B030D-6E8A-4147-A177-3AD203B41FA5}">
                      <a16:colId xmlns:a16="http://schemas.microsoft.com/office/drawing/2014/main" val="1483878483"/>
                    </a:ext>
                  </a:extLst>
                </a:gridCol>
              </a:tblGrid>
              <a:tr h="480219">
                <a:tc>
                  <a:txBody>
                    <a:bodyPr/>
                    <a:lstStyle/>
                    <a:p>
                      <a:pPr algn="ctr" fontAlgn="base"/>
                      <a:r>
                        <a:rPr lang="en-US" sz="2400" b="1" dirty="0" err="1">
                          <a:effectLst/>
                          <a:latin typeface="inherit"/>
                        </a:rPr>
                        <a:t>employee_id</a:t>
                      </a:r>
                      <a:endParaRPr lang="en-US" sz="2400" b="1" dirty="0">
                        <a:effectLst/>
                        <a:latin typeface="inherit"/>
                      </a:endParaRPr>
                    </a:p>
                  </a:txBody>
                  <a:tcPr marL="114316" marR="114316" marT="57169" marB="57169">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tc>
                  <a:txBody>
                    <a:bodyPr/>
                    <a:lstStyle/>
                    <a:p>
                      <a:pPr algn="ctr" fontAlgn="base"/>
                      <a:r>
                        <a:rPr lang="en-US" sz="2400" b="1" dirty="0" err="1">
                          <a:effectLst/>
                          <a:latin typeface="inherit"/>
                        </a:rPr>
                        <a:t>job_code</a:t>
                      </a:r>
                      <a:endParaRPr lang="en-US" sz="2400" b="1" dirty="0">
                        <a:effectLst/>
                        <a:latin typeface="inherit"/>
                      </a:endParaRPr>
                    </a:p>
                  </a:txBody>
                  <a:tcPr marL="114316" marR="114316" marT="57169" marB="57169">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extLst>
                  <a:ext uri="{0D108BD9-81ED-4DB2-BD59-A6C34878D82A}">
                    <a16:rowId xmlns:a16="http://schemas.microsoft.com/office/drawing/2014/main" val="3427227712"/>
                  </a:ext>
                </a:extLst>
              </a:tr>
              <a:tr h="480219">
                <a:tc>
                  <a:txBody>
                    <a:bodyPr/>
                    <a:lstStyle/>
                    <a:p>
                      <a:pPr algn="ctr" fontAlgn="base"/>
                      <a:r>
                        <a:rPr lang="en-US" sz="2400" dirty="0">
                          <a:effectLst/>
                          <a:latin typeface="inherit"/>
                        </a:rPr>
                        <a:t>E001</a:t>
                      </a:r>
                    </a:p>
                  </a:txBody>
                  <a:tcPr marL="114316" marR="114316" marT="57169" marB="57169">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tc>
                  <a:txBody>
                    <a:bodyPr/>
                    <a:lstStyle/>
                    <a:p>
                      <a:pPr algn="ctr" fontAlgn="base"/>
                      <a:r>
                        <a:rPr lang="en-US" sz="2400">
                          <a:effectLst/>
                          <a:latin typeface="inherit"/>
                        </a:rPr>
                        <a:t>J01</a:t>
                      </a:r>
                    </a:p>
                  </a:txBody>
                  <a:tcPr marL="114316" marR="114316" marT="57169" marB="57169">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extLst>
                  <a:ext uri="{0D108BD9-81ED-4DB2-BD59-A6C34878D82A}">
                    <a16:rowId xmlns:a16="http://schemas.microsoft.com/office/drawing/2014/main" val="2301022088"/>
                  </a:ext>
                </a:extLst>
              </a:tr>
              <a:tr h="480219">
                <a:tc>
                  <a:txBody>
                    <a:bodyPr/>
                    <a:lstStyle/>
                    <a:p>
                      <a:pPr algn="ctr" fontAlgn="base"/>
                      <a:r>
                        <a:rPr lang="en-US" sz="2400" dirty="0">
                          <a:effectLst/>
                          <a:latin typeface="inherit"/>
                        </a:rPr>
                        <a:t>E001</a:t>
                      </a:r>
                    </a:p>
                  </a:txBody>
                  <a:tcPr marL="114316" marR="114316" marT="57169" marB="57169">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tc>
                  <a:txBody>
                    <a:bodyPr/>
                    <a:lstStyle/>
                    <a:p>
                      <a:pPr algn="ctr" fontAlgn="base"/>
                      <a:r>
                        <a:rPr lang="en-US" sz="2400">
                          <a:effectLst/>
                          <a:latin typeface="inherit"/>
                        </a:rPr>
                        <a:t>J02</a:t>
                      </a:r>
                    </a:p>
                  </a:txBody>
                  <a:tcPr marL="114316" marR="114316" marT="57169" marB="57169">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extLst>
                  <a:ext uri="{0D108BD9-81ED-4DB2-BD59-A6C34878D82A}">
                    <a16:rowId xmlns:a16="http://schemas.microsoft.com/office/drawing/2014/main" val="774138775"/>
                  </a:ext>
                </a:extLst>
              </a:tr>
              <a:tr h="480219">
                <a:tc>
                  <a:txBody>
                    <a:bodyPr/>
                    <a:lstStyle/>
                    <a:p>
                      <a:pPr algn="ctr" fontAlgn="base"/>
                      <a:r>
                        <a:rPr lang="en-US" sz="2400" dirty="0">
                          <a:effectLst/>
                          <a:latin typeface="inherit"/>
                        </a:rPr>
                        <a:t>E002</a:t>
                      </a:r>
                    </a:p>
                  </a:txBody>
                  <a:tcPr marL="114316" marR="114316" marT="57169" marB="57169">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tc>
                  <a:txBody>
                    <a:bodyPr/>
                    <a:lstStyle/>
                    <a:p>
                      <a:pPr algn="ctr" fontAlgn="base"/>
                      <a:r>
                        <a:rPr lang="en-US" sz="2400" dirty="0">
                          <a:effectLst/>
                          <a:latin typeface="inherit"/>
                        </a:rPr>
                        <a:t>J02</a:t>
                      </a:r>
                    </a:p>
                  </a:txBody>
                  <a:tcPr marL="114316" marR="114316" marT="57169" marB="57169">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extLst>
                  <a:ext uri="{0D108BD9-81ED-4DB2-BD59-A6C34878D82A}">
                    <a16:rowId xmlns:a16="http://schemas.microsoft.com/office/drawing/2014/main" val="3182557332"/>
                  </a:ext>
                </a:extLst>
              </a:tr>
              <a:tr h="480219">
                <a:tc>
                  <a:txBody>
                    <a:bodyPr/>
                    <a:lstStyle/>
                    <a:p>
                      <a:pPr algn="ctr" fontAlgn="base"/>
                      <a:r>
                        <a:rPr lang="en-US" sz="2400">
                          <a:effectLst/>
                          <a:latin typeface="inherit"/>
                        </a:rPr>
                        <a:t>E002</a:t>
                      </a:r>
                    </a:p>
                  </a:txBody>
                  <a:tcPr marL="114316" marR="114316" marT="57169" marB="57169">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tc>
                  <a:txBody>
                    <a:bodyPr/>
                    <a:lstStyle/>
                    <a:p>
                      <a:pPr algn="ctr" fontAlgn="base"/>
                      <a:r>
                        <a:rPr lang="en-US" sz="2400" dirty="0">
                          <a:effectLst/>
                          <a:latin typeface="inherit"/>
                        </a:rPr>
                        <a:t>J03</a:t>
                      </a:r>
                    </a:p>
                  </a:txBody>
                  <a:tcPr marL="114316" marR="114316" marT="57169" marB="57169">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extLst>
                  <a:ext uri="{0D108BD9-81ED-4DB2-BD59-A6C34878D82A}">
                    <a16:rowId xmlns:a16="http://schemas.microsoft.com/office/drawing/2014/main" val="742779941"/>
                  </a:ext>
                </a:extLst>
              </a:tr>
              <a:tr h="480219">
                <a:tc>
                  <a:txBody>
                    <a:bodyPr/>
                    <a:lstStyle/>
                    <a:p>
                      <a:pPr algn="ctr" fontAlgn="base"/>
                      <a:r>
                        <a:rPr lang="en-US" sz="2400">
                          <a:effectLst/>
                          <a:latin typeface="inherit"/>
                        </a:rPr>
                        <a:t>E003</a:t>
                      </a:r>
                    </a:p>
                  </a:txBody>
                  <a:tcPr marL="114316" marR="114316" marT="57169" marB="57169">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tc>
                  <a:txBody>
                    <a:bodyPr/>
                    <a:lstStyle/>
                    <a:p>
                      <a:pPr algn="ctr" fontAlgn="base"/>
                      <a:r>
                        <a:rPr lang="en-US" sz="2400" dirty="0">
                          <a:effectLst/>
                          <a:latin typeface="inherit"/>
                        </a:rPr>
                        <a:t>J01</a:t>
                      </a:r>
                    </a:p>
                  </a:txBody>
                  <a:tcPr marL="114316" marR="114316" marT="57169" marB="57169">
                    <a:lnL w="9525" cap="flat" cmpd="sng" algn="ctr">
                      <a:solidFill>
                        <a:srgbClr val="DFDFE2"/>
                      </a:solidFill>
                      <a:prstDash val="solid"/>
                      <a:round/>
                      <a:headEnd type="none" w="med" len="med"/>
                      <a:tailEnd type="none" w="med" len="med"/>
                    </a:lnL>
                    <a:lnR w="9525" cap="flat" cmpd="sng" algn="ctr">
                      <a:solidFill>
                        <a:srgbClr val="DFDFE2"/>
                      </a:solidFill>
                      <a:prstDash val="solid"/>
                      <a:round/>
                      <a:headEnd type="none" w="med" len="med"/>
                      <a:tailEnd type="none" w="med" len="med"/>
                    </a:lnR>
                    <a:lnT w="9525" cap="flat" cmpd="sng" algn="ctr">
                      <a:solidFill>
                        <a:srgbClr val="DFDFE2"/>
                      </a:solidFill>
                      <a:prstDash val="solid"/>
                      <a:round/>
                      <a:headEnd type="none" w="med" len="med"/>
                      <a:tailEnd type="none" w="med" len="med"/>
                    </a:lnT>
                    <a:lnB w="9525" cap="flat" cmpd="sng" algn="ctr">
                      <a:solidFill>
                        <a:srgbClr val="DFDFE2"/>
                      </a:solidFill>
                      <a:prstDash val="solid"/>
                      <a:round/>
                      <a:headEnd type="none" w="med" len="med"/>
                      <a:tailEnd type="none" w="med" len="med"/>
                    </a:lnB>
                  </a:tcPr>
                </a:tc>
                <a:extLst>
                  <a:ext uri="{0D108BD9-81ED-4DB2-BD59-A6C34878D82A}">
                    <a16:rowId xmlns:a16="http://schemas.microsoft.com/office/drawing/2014/main" val="142435089"/>
                  </a:ext>
                </a:extLst>
              </a:tr>
            </a:tbl>
          </a:graphicData>
        </a:graphic>
      </p:graphicFrame>
      <p:sp>
        <p:nvSpPr>
          <p:cNvPr id="13" name="Rectangle 12">
            <a:extLst>
              <a:ext uri="{FF2B5EF4-FFF2-40B4-BE49-F238E27FC236}">
                <a16:creationId xmlns:a16="http://schemas.microsoft.com/office/drawing/2014/main" id="{FFF890E4-4539-01A9-E8ED-0478188B317F}"/>
              </a:ext>
            </a:extLst>
          </p:cNvPr>
          <p:cNvSpPr>
            <a:spLocks noChangeArrowheads="1"/>
          </p:cNvSpPr>
          <p:nvPr/>
        </p:nvSpPr>
        <p:spPr bwMode="auto">
          <a:xfrm>
            <a:off x="5048250" y="1095375"/>
            <a:ext cx="34099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PK" sz="32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EMP_Jobs Table</a:t>
            </a:r>
          </a:p>
        </p:txBody>
      </p:sp>
      <p:sp>
        <p:nvSpPr>
          <p:cNvPr id="25645" name="Rectangle 13">
            <a:extLst>
              <a:ext uri="{FF2B5EF4-FFF2-40B4-BE49-F238E27FC236}">
                <a16:creationId xmlns:a16="http://schemas.microsoft.com/office/drawing/2014/main" id="{8E4F38A6-2709-B0D2-4CF5-A8ED104F5DBF}"/>
              </a:ext>
            </a:extLst>
          </p:cNvPr>
          <p:cNvSpPr>
            <a:spLocks noChangeArrowheads="1"/>
          </p:cNvSpPr>
          <p:nvPr/>
        </p:nvSpPr>
        <p:spPr bwMode="auto">
          <a:xfrm>
            <a:off x="2422525" y="5757863"/>
            <a:ext cx="4683125"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PK" sz="2800" b="0" i="0" u="none" strike="noStrike" kern="1200" cap="none" spc="0" normalizeH="0" baseline="0" noProof="0">
                <a:ln>
                  <a:noFill/>
                </a:ln>
                <a:solidFill>
                  <a:srgbClr val="0A0A23"/>
                </a:solidFill>
                <a:effectLst/>
                <a:uLnTx/>
                <a:uFillTx/>
                <a:latin typeface="Lato" panose="020F0502020204030204" pitchFamily="34" charset="0"/>
                <a:ea typeface="+mn-ea"/>
                <a:cs typeface="Arial" panose="020B0604020202020204" pitchFamily="34" charset="0"/>
              </a:rPr>
              <a:t>Now our database is in </a:t>
            </a:r>
            <a:r>
              <a:rPr kumimoji="0" lang="en-US" altLang="en-PK" sz="2800" b="1" i="0" u="none" strike="noStrike" kern="1200" cap="none" spc="0" normalizeH="0" baseline="0" noProof="0">
                <a:ln>
                  <a:noFill/>
                </a:ln>
                <a:solidFill>
                  <a:srgbClr val="0A0A23"/>
                </a:solidFill>
                <a:effectLst/>
                <a:uLnTx/>
                <a:uFillTx/>
                <a:latin typeface="Lato" panose="020F0502020204030204" pitchFamily="34" charset="0"/>
                <a:ea typeface="+mn-ea"/>
                <a:cs typeface="Arial" panose="020B0604020202020204" pitchFamily="34" charset="0"/>
              </a:rPr>
              <a:t>3NF.</a:t>
            </a:r>
            <a:endParaRPr kumimoji="0" lang="en-US" altLang="en-PK" sz="28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ppt_x"/>
                                          </p:val>
                                        </p:tav>
                                        <p:tav tm="100000">
                                          <p:val>
                                            <p:strVal val="#ppt_x"/>
                                          </p:val>
                                        </p:tav>
                                      </p:tavLst>
                                    </p:anim>
                                    <p:anim calcmode="lin" valueType="num">
                                      <p:cBhvr additive="base">
                                        <p:cTn id="1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 calcmode="lin" valueType="num">
                                      <p:cBhvr additive="base">
                                        <p:cTn id="17" dur="500" fill="hold"/>
                                        <p:tgtEl>
                                          <p:spTgt spid="13"/>
                                        </p:tgtEl>
                                        <p:attrNameLst>
                                          <p:attrName>ppt_x</p:attrName>
                                        </p:attrNameLst>
                                      </p:cBhvr>
                                      <p:tavLst>
                                        <p:tav tm="0">
                                          <p:val>
                                            <p:strVal val="#ppt_x"/>
                                          </p:val>
                                        </p:tav>
                                        <p:tav tm="100000">
                                          <p:val>
                                            <p:strVal val="#ppt_x"/>
                                          </p:val>
                                        </p:tav>
                                      </p:tavLst>
                                    </p:anim>
                                    <p:anim calcmode="lin" valueType="num">
                                      <p:cBhvr additive="base">
                                        <p:cTn id="18" dur="500" fill="hold"/>
                                        <p:tgtEl>
                                          <p:spTgt spid="13"/>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anim calcmode="lin" valueType="num">
                                      <p:cBhvr additive="base">
                                        <p:cTn id="21" dur="500" fill="hold"/>
                                        <p:tgtEl>
                                          <p:spTgt spid="12"/>
                                        </p:tgtEl>
                                        <p:attrNameLst>
                                          <p:attrName>ppt_x</p:attrName>
                                        </p:attrNameLst>
                                      </p:cBhvr>
                                      <p:tavLst>
                                        <p:tav tm="0">
                                          <p:val>
                                            <p:strVal val="#ppt_x"/>
                                          </p:val>
                                        </p:tav>
                                        <p:tav tm="100000">
                                          <p:val>
                                            <p:strVal val="#ppt_x"/>
                                          </p:val>
                                        </p:tav>
                                      </p:tavLst>
                                    </p:anim>
                                    <p:anim calcmode="lin" valueType="num">
                                      <p:cBhvr additive="base">
                                        <p:cTn id="2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Lst>
  </p:timing>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4">
            <a:extLst>
              <a:ext uri="{FF2B5EF4-FFF2-40B4-BE49-F238E27FC236}">
                <a16:creationId xmlns:a16="http://schemas.microsoft.com/office/drawing/2014/main" id="{92D8A379-0346-6425-F214-F949FF9A4B10}"/>
              </a:ext>
            </a:extLst>
          </p:cNvPr>
          <p:cNvSpPr>
            <a:spLocks noGrp="1" noChangeArrowheads="1"/>
          </p:cNvSpPr>
          <p:nvPr>
            <p:ph type="ctrTitle"/>
          </p:nvPr>
        </p:nvSpPr>
        <p:spPr/>
        <p:txBody>
          <a:bodyPr/>
          <a:lstStyle/>
          <a:p>
            <a:pPr eaLnBrk="1" hangingPunct="1"/>
            <a:r>
              <a:rPr lang="en-US" altLang="en-US"/>
              <a:t>An Example</a:t>
            </a:r>
          </a:p>
        </p:txBody>
      </p:sp>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3">
            <a:extLst>
              <a:ext uri="{FF2B5EF4-FFF2-40B4-BE49-F238E27FC236}">
                <a16:creationId xmlns:a16="http://schemas.microsoft.com/office/drawing/2014/main" id="{219A1F57-7EAF-ECAB-9CDB-5C42BEB4EB5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4775" y="773113"/>
            <a:ext cx="8894763" cy="263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a:extLst>
              <a:ext uri="{FF2B5EF4-FFF2-40B4-BE49-F238E27FC236}">
                <a16:creationId xmlns:a16="http://schemas.microsoft.com/office/drawing/2014/main" id="{34CE19B3-A3F2-00B3-F8F8-37C11E594CCC}"/>
              </a:ext>
            </a:extLst>
          </p:cNvPr>
          <p:cNvSpPr>
            <a:spLocks noChangeArrowheads="1"/>
          </p:cNvSpPr>
          <p:nvPr/>
        </p:nvSpPr>
        <p:spPr bwMode="auto">
          <a:xfrm>
            <a:off x="365125" y="3411538"/>
            <a:ext cx="8634413" cy="30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altLang="en-PK" sz="24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The above table is in the </a:t>
            </a:r>
            <a:r>
              <a:rPr kumimoji="0" lang="en-US" altLang="en-PK" sz="24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first normal form</a:t>
            </a:r>
            <a:r>
              <a:rPr kumimoji="0" lang="en-US" altLang="en-PK" sz="24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 but not in the second normal form. In this table, the concatenation of Con_id and Order_id is the primary key. This table is not in the second normal form, because partial dependencies are present on the primary key. Con_name is only dependent on Con_id and Order_name is only dependent on Order_id. There is no connection between Sale and Con_name. To convert this table into </a:t>
            </a:r>
            <a:r>
              <a:rPr kumimoji="0" lang="en-US" altLang="en-PK" sz="2400" b="1" i="1"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2NF</a:t>
            </a:r>
            <a:r>
              <a:rPr kumimoji="0" lang="en-US" altLang="en-PK" sz="24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 you need to divide this table into three tables.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3">
            <a:extLst>
              <a:ext uri="{FF2B5EF4-FFF2-40B4-BE49-F238E27FC236}">
                <a16:creationId xmlns:a16="http://schemas.microsoft.com/office/drawing/2014/main" id="{D6420995-725F-3737-53A5-5A7C3D24D625}"/>
              </a:ext>
            </a:extLst>
          </p:cNvPr>
          <p:cNvPicPr>
            <a:picLocks noChangeAspect="1"/>
          </p:cNvPicPr>
          <p:nvPr/>
        </p:nvPicPr>
        <p:blipFill>
          <a:blip r:embed="rId2">
            <a:extLst>
              <a:ext uri="{28A0092B-C50C-407E-A947-70E740481C1C}">
                <a14:useLocalDpi xmlns:a14="http://schemas.microsoft.com/office/drawing/2010/main" val="0"/>
              </a:ext>
            </a:extLst>
          </a:blip>
          <a:srcRect l="2682" t="7404" r="2682" b="8472"/>
          <a:stretch>
            <a:fillRect/>
          </a:stretch>
        </p:blipFill>
        <p:spPr bwMode="auto">
          <a:xfrm>
            <a:off x="2351088" y="984250"/>
            <a:ext cx="6165850"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5" name="Rectangle 4">
            <a:extLst>
              <a:ext uri="{FF2B5EF4-FFF2-40B4-BE49-F238E27FC236}">
                <a16:creationId xmlns:a16="http://schemas.microsoft.com/office/drawing/2014/main" id="{313B7D88-3AE5-7E13-ECA1-23C5E2634162}"/>
              </a:ext>
            </a:extLst>
          </p:cNvPr>
          <p:cNvSpPr>
            <a:spLocks noChangeArrowheads="1"/>
          </p:cNvSpPr>
          <p:nvPr/>
        </p:nvSpPr>
        <p:spPr bwMode="auto">
          <a:xfrm>
            <a:off x="293688" y="1577975"/>
            <a:ext cx="20574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PK" sz="1800" b="1" i="0" u="none" strike="noStrike" kern="1200" cap="none" spc="0" normalizeH="0" baseline="0" noProof="0">
                <a:ln>
                  <a:noFill/>
                </a:ln>
                <a:solidFill>
                  <a:srgbClr val="1C1D1F"/>
                </a:solidFill>
                <a:effectLst/>
                <a:uLnTx/>
                <a:uFillTx/>
                <a:latin typeface="Udemy Sans"/>
                <a:ea typeface="+mn-ea"/>
                <a:cs typeface="Arial" panose="020B0604020202020204" pitchFamily="34" charset="0"/>
              </a:rPr>
              <a:t>Consumer_detail</a:t>
            </a:r>
            <a:endParaRPr kumimoji="0" lang="en-US" altLang="en-PK"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pic>
        <p:nvPicPr>
          <p:cNvPr id="28676" name="Picture 2" descr="s6">
            <a:hlinkClick r:id="rId3"/>
            <a:extLst>
              <a:ext uri="{FF2B5EF4-FFF2-40B4-BE49-F238E27FC236}">
                <a16:creationId xmlns:a16="http://schemas.microsoft.com/office/drawing/2014/main" id="{008D4DC1-123A-1BB7-7BD6-63B9F312652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3180" t="4651" r="3532" b="11880"/>
          <a:stretch>
            <a:fillRect/>
          </a:stretch>
        </p:blipFill>
        <p:spPr bwMode="auto">
          <a:xfrm>
            <a:off x="2455863" y="4911725"/>
            <a:ext cx="6061075" cy="184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77" name="Picture 3" descr="S7">
            <a:hlinkClick r:id="rId5"/>
            <a:extLst>
              <a:ext uri="{FF2B5EF4-FFF2-40B4-BE49-F238E27FC236}">
                <a16:creationId xmlns:a16="http://schemas.microsoft.com/office/drawing/2014/main" id="{950CF292-26BB-87FF-7F5C-15E48D44DEA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l="3685" t="2898" r="3284" b="3668"/>
          <a:stretch>
            <a:fillRect/>
          </a:stretch>
        </p:blipFill>
        <p:spPr bwMode="auto">
          <a:xfrm>
            <a:off x="2455863" y="2847975"/>
            <a:ext cx="6061075" cy="171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8" name="Rectangle 8">
            <a:extLst>
              <a:ext uri="{FF2B5EF4-FFF2-40B4-BE49-F238E27FC236}">
                <a16:creationId xmlns:a16="http://schemas.microsoft.com/office/drawing/2014/main" id="{BD48C529-6EFA-575D-6FDA-7B5D246B8B66}"/>
              </a:ext>
            </a:extLst>
          </p:cNvPr>
          <p:cNvSpPr>
            <a:spLocks noChangeArrowheads="1"/>
          </p:cNvSpPr>
          <p:nvPr/>
        </p:nvSpPr>
        <p:spPr bwMode="auto">
          <a:xfrm>
            <a:off x="293688" y="3517900"/>
            <a:ext cx="13652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PK" sz="1800" b="1" i="0" u="none" strike="noStrike" kern="1200" cap="none" spc="0" normalizeH="0" baseline="0" noProof="0">
                <a:ln>
                  <a:noFill/>
                </a:ln>
                <a:solidFill>
                  <a:srgbClr val="1C1D1F"/>
                </a:solidFill>
                <a:effectLst/>
                <a:uLnTx/>
                <a:uFillTx/>
                <a:latin typeface="Udemy Sans"/>
                <a:ea typeface="+mn-ea"/>
                <a:cs typeface="Arial" panose="020B0604020202020204" pitchFamily="34" charset="0"/>
              </a:rPr>
              <a:t>sale_detail</a:t>
            </a:r>
            <a:endParaRPr kumimoji="0" lang="en-US" altLang="en-PK"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28679" name="Rectangle 9">
            <a:extLst>
              <a:ext uri="{FF2B5EF4-FFF2-40B4-BE49-F238E27FC236}">
                <a16:creationId xmlns:a16="http://schemas.microsoft.com/office/drawing/2014/main" id="{C1621A81-0AD3-4517-7B01-B2AFB23DE0C2}"/>
              </a:ext>
            </a:extLst>
          </p:cNvPr>
          <p:cNvSpPr>
            <a:spLocks noChangeArrowheads="1"/>
          </p:cNvSpPr>
          <p:nvPr/>
        </p:nvSpPr>
        <p:spPr bwMode="auto">
          <a:xfrm>
            <a:off x="293688" y="5648325"/>
            <a:ext cx="150653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PK" sz="1800" b="1" i="0" u="none" strike="noStrike" kern="1200" cap="none" spc="0" normalizeH="0" baseline="0" noProof="0">
                <a:ln>
                  <a:noFill/>
                </a:ln>
                <a:solidFill>
                  <a:srgbClr val="1C1D1F"/>
                </a:solidFill>
                <a:effectLst/>
                <a:uLnTx/>
                <a:uFillTx/>
                <a:latin typeface="Udemy Sans"/>
                <a:ea typeface="+mn-ea"/>
                <a:cs typeface="Arial" panose="020B0604020202020204" pitchFamily="34" charset="0"/>
              </a:rPr>
              <a:t>order_detail</a:t>
            </a:r>
            <a:endParaRPr kumimoji="0" lang="en-US" altLang="en-PK"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3">
            <a:extLst>
              <a:ext uri="{FF2B5EF4-FFF2-40B4-BE49-F238E27FC236}">
                <a16:creationId xmlns:a16="http://schemas.microsoft.com/office/drawing/2014/main" id="{DF48E5F5-FAD2-A0CB-178C-91CFF595EC53}"/>
              </a:ext>
            </a:extLst>
          </p:cNvPr>
          <p:cNvPicPr>
            <a:picLocks noChangeAspect="1"/>
          </p:cNvPicPr>
          <p:nvPr/>
        </p:nvPicPr>
        <p:blipFill>
          <a:blip r:embed="rId2">
            <a:extLst>
              <a:ext uri="{28A0092B-C50C-407E-A947-70E740481C1C}">
                <a14:useLocalDpi xmlns:a14="http://schemas.microsoft.com/office/drawing/2010/main" val="0"/>
              </a:ext>
            </a:extLst>
          </a:blip>
          <a:srcRect t="3748" b="1547"/>
          <a:stretch>
            <a:fillRect/>
          </a:stretch>
        </p:blipFill>
        <p:spPr bwMode="auto">
          <a:xfrm>
            <a:off x="114300" y="1296988"/>
            <a:ext cx="8863013" cy="4846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Picture 1">
            <a:extLst>
              <a:ext uri="{FF2B5EF4-FFF2-40B4-BE49-F238E27FC236}">
                <a16:creationId xmlns:a16="http://schemas.microsoft.com/office/drawing/2014/main" id="{88E8C7A0-003A-081D-9015-C8A1AEB5DA8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7163" y="703263"/>
            <a:ext cx="8899525" cy="5792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Picture 2">
            <a:extLst>
              <a:ext uri="{FF2B5EF4-FFF2-40B4-BE49-F238E27FC236}">
                <a16:creationId xmlns:a16="http://schemas.microsoft.com/office/drawing/2014/main" id="{DB97729C-243B-C28A-9C33-319BECF136BC}"/>
              </a:ext>
            </a:extLst>
          </p:cNvPr>
          <p:cNvPicPr>
            <a:picLocks noChangeAspect="1"/>
          </p:cNvPicPr>
          <p:nvPr/>
        </p:nvPicPr>
        <p:blipFill>
          <a:blip r:embed="rId2">
            <a:extLst>
              <a:ext uri="{28A0092B-C50C-407E-A947-70E740481C1C}">
                <a14:useLocalDpi xmlns:a14="http://schemas.microsoft.com/office/drawing/2010/main" val="0"/>
              </a:ext>
            </a:extLst>
          </a:blip>
          <a:srcRect l="2338" t="1820" r="1953" b="1852"/>
          <a:stretch>
            <a:fillRect/>
          </a:stretch>
        </p:blipFill>
        <p:spPr bwMode="auto">
          <a:xfrm>
            <a:off x="409575" y="174625"/>
            <a:ext cx="8212138" cy="308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47" name="Picture 3">
            <a:extLst>
              <a:ext uri="{FF2B5EF4-FFF2-40B4-BE49-F238E27FC236}">
                <a16:creationId xmlns:a16="http://schemas.microsoft.com/office/drawing/2014/main" id="{9F3AE7C9-02FB-89EE-F807-B4883599F1C8}"/>
              </a:ext>
            </a:extLst>
          </p:cNvPr>
          <p:cNvPicPr>
            <a:picLocks noChangeAspect="1"/>
          </p:cNvPicPr>
          <p:nvPr/>
        </p:nvPicPr>
        <p:blipFill>
          <a:blip r:embed="rId3">
            <a:extLst>
              <a:ext uri="{28A0092B-C50C-407E-A947-70E740481C1C}">
                <a14:useLocalDpi xmlns:a14="http://schemas.microsoft.com/office/drawing/2010/main" val="0"/>
              </a:ext>
            </a:extLst>
          </a:blip>
          <a:srcRect l="2631" r="3838"/>
          <a:stretch>
            <a:fillRect/>
          </a:stretch>
        </p:blipFill>
        <p:spPr bwMode="auto">
          <a:xfrm>
            <a:off x="5035550" y="3335338"/>
            <a:ext cx="3586163" cy="338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48" name="Picture 4">
            <a:extLst>
              <a:ext uri="{FF2B5EF4-FFF2-40B4-BE49-F238E27FC236}">
                <a16:creationId xmlns:a16="http://schemas.microsoft.com/office/drawing/2014/main" id="{812C068D-F37C-DCEF-EE39-9EEC3E37855F}"/>
              </a:ext>
            </a:extLst>
          </p:cNvPr>
          <p:cNvPicPr>
            <a:picLocks noChangeAspect="1"/>
          </p:cNvPicPr>
          <p:nvPr/>
        </p:nvPicPr>
        <p:blipFill>
          <a:blip r:embed="rId4">
            <a:extLst>
              <a:ext uri="{28A0092B-C50C-407E-A947-70E740481C1C}">
                <a14:useLocalDpi xmlns:a14="http://schemas.microsoft.com/office/drawing/2010/main" val="0"/>
              </a:ext>
            </a:extLst>
          </a:blip>
          <a:srcRect l="4260" t="1637" r="9239" b="-2"/>
          <a:stretch>
            <a:fillRect/>
          </a:stretch>
        </p:blipFill>
        <p:spPr bwMode="auto">
          <a:xfrm>
            <a:off x="409575" y="3335338"/>
            <a:ext cx="4370388" cy="3475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0" name="Picture 1">
            <a:extLst>
              <a:ext uri="{FF2B5EF4-FFF2-40B4-BE49-F238E27FC236}">
                <a16:creationId xmlns:a16="http://schemas.microsoft.com/office/drawing/2014/main" id="{8B0ABBAE-2E84-BCB9-D2A3-DD986AF2DC5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11163" y="549275"/>
            <a:ext cx="4640262" cy="30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771" name="Picture 5">
            <a:extLst>
              <a:ext uri="{FF2B5EF4-FFF2-40B4-BE49-F238E27FC236}">
                <a16:creationId xmlns:a16="http://schemas.microsoft.com/office/drawing/2014/main" id="{BC32D99B-7D14-57EE-4502-52A01C76020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199063" y="549275"/>
            <a:ext cx="3836987" cy="30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772" name="Picture 6">
            <a:extLst>
              <a:ext uri="{FF2B5EF4-FFF2-40B4-BE49-F238E27FC236}">
                <a16:creationId xmlns:a16="http://schemas.microsoft.com/office/drawing/2014/main" id="{7AC193D7-A816-DC85-E4A4-D943E11F37C7}"/>
              </a:ext>
            </a:extLst>
          </p:cNvPr>
          <p:cNvPicPr>
            <a:picLocks noChangeAspect="1"/>
          </p:cNvPicPr>
          <p:nvPr/>
        </p:nvPicPr>
        <p:blipFill>
          <a:blip r:embed="rId4">
            <a:extLst>
              <a:ext uri="{28A0092B-C50C-407E-A947-70E740481C1C}">
                <a14:useLocalDpi xmlns:a14="http://schemas.microsoft.com/office/drawing/2010/main" val="0"/>
              </a:ext>
            </a:extLst>
          </a:blip>
          <a:srcRect l="2631" r="3838"/>
          <a:stretch>
            <a:fillRect/>
          </a:stretch>
        </p:blipFill>
        <p:spPr bwMode="auto">
          <a:xfrm>
            <a:off x="5199063" y="3656013"/>
            <a:ext cx="3836987" cy="3154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773" name="Picture 7">
            <a:extLst>
              <a:ext uri="{FF2B5EF4-FFF2-40B4-BE49-F238E27FC236}">
                <a16:creationId xmlns:a16="http://schemas.microsoft.com/office/drawing/2014/main" id="{63196DAA-4482-6512-C267-056D57FE6791}"/>
              </a:ext>
            </a:extLst>
          </p:cNvPr>
          <p:cNvPicPr>
            <a:picLocks noChangeAspect="1"/>
          </p:cNvPicPr>
          <p:nvPr/>
        </p:nvPicPr>
        <p:blipFill>
          <a:blip r:embed="rId5">
            <a:extLst>
              <a:ext uri="{28A0092B-C50C-407E-A947-70E740481C1C}">
                <a14:useLocalDpi xmlns:a14="http://schemas.microsoft.com/office/drawing/2010/main" val="0"/>
              </a:ext>
            </a:extLst>
          </a:blip>
          <a:srcRect l="4260" t="1637" r="9239" b="-2"/>
          <a:stretch>
            <a:fillRect/>
          </a:stretch>
        </p:blipFill>
        <p:spPr bwMode="auto">
          <a:xfrm>
            <a:off x="411163" y="3656013"/>
            <a:ext cx="4640262" cy="316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57AA90-1EB4-FE91-822E-CE0470459DEC}"/>
              </a:ext>
            </a:extLst>
          </p:cNvPr>
          <p:cNvSpPr>
            <a:spLocks noGrp="1"/>
          </p:cNvSpPr>
          <p:nvPr>
            <p:ph type="title"/>
          </p:nvPr>
        </p:nvSpPr>
        <p:spPr>
          <a:xfrm>
            <a:off x="457200" y="0"/>
            <a:ext cx="7620000" cy="1143000"/>
          </a:xfrm>
        </p:spPr>
        <p:txBody>
          <a:bodyPr/>
          <a:lstStyle/>
          <a:p>
            <a:pPr algn="ctr">
              <a:defRPr/>
            </a:pPr>
            <a:r>
              <a:rPr lang="en-US" dirty="0"/>
              <a:t>INTRODUCTION</a:t>
            </a:r>
            <a:endParaRPr lang="en-MY" dirty="0"/>
          </a:p>
        </p:txBody>
      </p:sp>
      <p:sp>
        <p:nvSpPr>
          <p:cNvPr id="9" name="Content Placeholder 2">
            <a:extLst>
              <a:ext uri="{FF2B5EF4-FFF2-40B4-BE49-F238E27FC236}">
                <a16:creationId xmlns:a16="http://schemas.microsoft.com/office/drawing/2014/main" id="{AB42695D-872F-C2F5-CC63-78298762867E}"/>
              </a:ext>
            </a:extLst>
          </p:cNvPr>
          <p:cNvSpPr txBox="1">
            <a:spLocks/>
          </p:cNvSpPr>
          <p:nvPr/>
        </p:nvSpPr>
        <p:spPr bwMode="auto">
          <a:xfrm>
            <a:off x="250825" y="1268413"/>
            <a:ext cx="7978775"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In last lecture, we learned how to write simple SQL statements</a:t>
            </a:r>
            <a:endParaRPr kumimoji="0" lang="en-US" altLang="en-US" sz="32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US" altLang="en-US" sz="32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rPr>
              <a:t> </a:t>
            </a: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graphicFrame>
        <p:nvGraphicFramePr>
          <p:cNvPr id="11" name="Diagram 10">
            <a:extLst>
              <a:ext uri="{FF2B5EF4-FFF2-40B4-BE49-F238E27FC236}">
                <a16:creationId xmlns:a16="http://schemas.microsoft.com/office/drawing/2014/main" id="{EF5ECBA1-19C5-76EA-88AD-08A7AFD3CACC}"/>
              </a:ext>
            </a:extLst>
          </p:cNvPr>
          <p:cNvGraphicFramePr/>
          <p:nvPr/>
        </p:nvGraphicFramePr>
        <p:xfrm>
          <a:off x="-152400" y="2348880"/>
          <a:ext cx="8653648"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3" name="Group 11">
            <a:extLst>
              <a:ext uri="{FF2B5EF4-FFF2-40B4-BE49-F238E27FC236}">
                <a16:creationId xmlns:a16="http://schemas.microsoft.com/office/drawing/2014/main" id="{4BF93D1C-8444-8C31-C2F7-A5386F9FDE7D}"/>
              </a:ext>
            </a:extLst>
          </p:cNvPr>
          <p:cNvGrpSpPr>
            <a:grpSpLocks/>
          </p:cNvGrpSpPr>
          <p:nvPr/>
        </p:nvGrpSpPr>
        <p:grpSpPr bwMode="auto">
          <a:xfrm>
            <a:off x="5824538" y="2420938"/>
            <a:ext cx="2532062" cy="1368425"/>
            <a:chOff x="6228184" y="2060848"/>
            <a:chExt cx="2532968" cy="1368152"/>
          </a:xfrm>
        </p:grpSpPr>
        <p:sp>
          <p:nvSpPr>
            <p:cNvPr id="13" name="Rounded Rectangle 12">
              <a:extLst>
                <a:ext uri="{FF2B5EF4-FFF2-40B4-BE49-F238E27FC236}">
                  <a16:creationId xmlns:a16="http://schemas.microsoft.com/office/drawing/2014/main" id="{04FA448F-044A-EC38-993F-385961EFE3C6}"/>
                </a:ext>
              </a:extLst>
            </p:cNvPr>
            <p:cNvSpPr/>
            <p:nvPr/>
          </p:nvSpPr>
          <p:spPr bwMode="auto">
            <a:xfrm>
              <a:off x="6228184" y="2060848"/>
              <a:ext cx="2532968" cy="863428"/>
            </a:xfrm>
            <a:prstGeom prst="roundRect">
              <a:avLst/>
            </a:prstGeom>
            <a:ln>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anchor="ctr" anchorCtr="1"/>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sz="1800" b="0" i="0" u="none" strike="noStrike" kern="1200" cap="none" spc="0" normalizeH="0" baseline="0" noProof="0" dirty="0">
                  <a:ln>
                    <a:noFill/>
                  </a:ln>
                  <a:solidFill>
                    <a:srgbClr val="2F2B20"/>
                  </a:solidFill>
                  <a:effectLst/>
                  <a:uLnTx/>
                  <a:uFillTx/>
                  <a:latin typeface="Calibri"/>
                  <a:ea typeface="+mn-ea"/>
                  <a:cs typeface="+mn-cs"/>
                </a:rPr>
                <a:t>SQL for manipulating  a database</a:t>
              </a:r>
              <a:endParaRPr kumimoji="0" lang="en-CA" sz="1800" b="0" i="0" u="none" strike="noStrike" kern="1200" cap="none" spc="0" normalizeH="0" baseline="0" noProof="0" dirty="0">
                <a:ln>
                  <a:noFill/>
                </a:ln>
                <a:solidFill>
                  <a:srgbClr val="2F2B20"/>
                </a:solidFill>
                <a:effectLst/>
                <a:uLnTx/>
                <a:uFillTx/>
                <a:latin typeface="Arial" charset="0"/>
                <a:ea typeface="+mn-ea"/>
                <a:cs typeface="+mn-cs"/>
              </a:endParaRPr>
            </a:p>
          </p:txBody>
        </p:sp>
        <p:cxnSp>
          <p:nvCxnSpPr>
            <p:cNvPr id="14" name="Straight Arrow Connector 13">
              <a:extLst>
                <a:ext uri="{FF2B5EF4-FFF2-40B4-BE49-F238E27FC236}">
                  <a16:creationId xmlns:a16="http://schemas.microsoft.com/office/drawing/2014/main" id="{575C27E9-AADD-8CFB-77CC-28D4A8EB6692}"/>
                </a:ext>
              </a:extLst>
            </p:cNvPr>
            <p:cNvCxnSpPr/>
            <p:nvPr/>
          </p:nvCxnSpPr>
          <p:spPr bwMode="auto">
            <a:xfrm flipH="1">
              <a:off x="7813076" y="2924276"/>
              <a:ext cx="142926" cy="504724"/>
            </a:xfrm>
            <a:prstGeom prst="straightConnector1">
              <a:avLst/>
            </a:prstGeom>
            <a:ln>
              <a:headEnd type="none" w="med" len="med"/>
              <a:tailEnd type="triangle"/>
            </a:ln>
          </p:spPr>
          <p:style>
            <a:lnRef idx="1">
              <a:schemeClr val="accent4"/>
            </a:lnRef>
            <a:fillRef idx="2">
              <a:schemeClr val="accent4"/>
            </a:fillRef>
            <a:effectRef idx="1">
              <a:schemeClr val="accent4"/>
            </a:effectRef>
            <a:fontRef idx="minor">
              <a:schemeClr val="dk1"/>
            </a:fontRef>
          </p:style>
        </p:cxnSp>
      </p:grpSp>
      <p:grpSp>
        <p:nvGrpSpPr>
          <p:cNvPr id="4" name="Group 14">
            <a:extLst>
              <a:ext uri="{FF2B5EF4-FFF2-40B4-BE49-F238E27FC236}">
                <a16:creationId xmlns:a16="http://schemas.microsoft.com/office/drawing/2014/main" id="{87B3D1A9-C16E-40B8-3ABF-B37BFD252C29}"/>
              </a:ext>
            </a:extLst>
          </p:cNvPr>
          <p:cNvGrpSpPr>
            <a:grpSpLocks/>
          </p:cNvGrpSpPr>
          <p:nvPr/>
        </p:nvGrpSpPr>
        <p:grpSpPr bwMode="auto">
          <a:xfrm>
            <a:off x="63500" y="2420938"/>
            <a:ext cx="2592388" cy="2765425"/>
            <a:chOff x="6372200" y="1779611"/>
            <a:chExt cx="2592288" cy="2765513"/>
          </a:xfrm>
        </p:grpSpPr>
        <p:sp>
          <p:nvSpPr>
            <p:cNvPr id="16" name="Rounded Rectangle 15">
              <a:extLst>
                <a:ext uri="{FF2B5EF4-FFF2-40B4-BE49-F238E27FC236}">
                  <a16:creationId xmlns:a16="http://schemas.microsoft.com/office/drawing/2014/main" id="{A48C9555-A0E8-DD35-E140-7CDEEC451988}"/>
                </a:ext>
              </a:extLst>
            </p:cNvPr>
            <p:cNvSpPr/>
            <p:nvPr/>
          </p:nvSpPr>
          <p:spPr bwMode="auto">
            <a:xfrm>
              <a:off x="6372200" y="1779611"/>
              <a:ext cx="2592288" cy="1116048"/>
            </a:xfrm>
            <a:prstGeom prst="roundRect">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anchor="ctr" anchorCtr="1"/>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sz="1800" b="0" i="0" u="none" strike="noStrike" kern="1200" cap="none" spc="0" normalizeH="0" baseline="0" noProof="0" dirty="0">
                  <a:ln>
                    <a:noFill/>
                  </a:ln>
                  <a:solidFill>
                    <a:srgbClr val="2F2B20"/>
                  </a:solidFill>
                  <a:effectLst/>
                  <a:uLnTx/>
                  <a:uFillTx/>
                  <a:latin typeface="Calibri"/>
                  <a:ea typeface="+mn-ea"/>
                  <a:cs typeface="+mn-cs"/>
                </a:rPr>
                <a:t>SQL for manipulating a table and the data within the table</a:t>
              </a:r>
              <a:endParaRPr kumimoji="0" lang="en-CA" sz="1800" b="0" i="0" u="none" strike="noStrike" kern="1200" cap="none" spc="0" normalizeH="0" baseline="0" noProof="0" dirty="0">
                <a:ln>
                  <a:noFill/>
                </a:ln>
                <a:solidFill>
                  <a:srgbClr val="2F2B20"/>
                </a:solidFill>
                <a:effectLst/>
                <a:uLnTx/>
                <a:uFillTx/>
                <a:latin typeface="Arial" charset="0"/>
                <a:ea typeface="+mn-ea"/>
                <a:cs typeface="+mn-cs"/>
              </a:endParaRPr>
            </a:p>
          </p:txBody>
        </p:sp>
        <p:cxnSp>
          <p:nvCxnSpPr>
            <p:cNvPr id="18" name="Straight Arrow Connector 17">
              <a:extLst>
                <a:ext uri="{FF2B5EF4-FFF2-40B4-BE49-F238E27FC236}">
                  <a16:creationId xmlns:a16="http://schemas.microsoft.com/office/drawing/2014/main" id="{94AA0B9D-AAEA-55D3-0243-790CE61441A6}"/>
                </a:ext>
              </a:extLst>
            </p:cNvPr>
            <p:cNvCxnSpPr/>
            <p:nvPr/>
          </p:nvCxnSpPr>
          <p:spPr bwMode="auto">
            <a:xfrm>
              <a:off x="7308789" y="2895659"/>
              <a:ext cx="0" cy="1649465"/>
            </a:xfrm>
            <a:prstGeom prst="straightConnector1">
              <a:avLst/>
            </a:prstGeom>
            <a:ln>
              <a:headEnd type="none" w="med" len="med"/>
              <a:tailEnd type="triangle"/>
            </a:ln>
          </p:spPr>
          <p:style>
            <a:lnRef idx="1">
              <a:schemeClr val="accent6"/>
            </a:lnRef>
            <a:fillRef idx="2">
              <a:schemeClr val="accent6"/>
            </a:fillRef>
            <a:effectRef idx="1">
              <a:schemeClr val="accent6"/>
            </a:effectRef>
            <a:fontRef idx="minor">
              <a:schemeClr val="dk1"/>
            </a:fontRef>
          </p:style>
        </p:cxnSp>
      </p:gr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wipe(left)">
                                      <p:cBhvr>
                                        <p:cTn id="7" dur="500"/>
                                        <p:tgtEl>
                                          <p:spTgt spid="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up)">
                                      <p:cBhvr>
                                        <p:cTn id="12" dur="500"/>
                                        <p:tgtEl>
                                          <p:spTgt spid="1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2"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additive="base">
                                        <p:cTn id="17" dur="500" fill="hold"/>
                                        <p:tgtEl>
                                          <p:spTgt spid="3"/>
                                        </p:tgtEl>
                                        <p:attrNameLst>
                                          <p:attrName>ppt_x</p:attrName>
                                        </p:attrNameLst>
                                      </p:cBhvr>
                                      <p:tavLst>
                                        <p:tav tm="0">
                                          <p:val>
                                            <p:strVal val="1+#ppt_w/2"/>
                                          </p:val>
                                        </p:tav>
                                        <p:tav tm="100000">
                                          <p:val>
                                            <p:strVal val="#ppt_x"/>
                                          </p:val>
                                        </p:tav>
                                      </p:tavLst>
                                    </p:anim>
                                    <p:anim calcmode="lin" valueType="num">
                                      <p:cBhvr additive="base">
                                        <p:cTn id="1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8"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anim calcmode="lin" valueType="num">
                                      <p:cBhvr additive="base">
                                        <p:cTn id="23" dur="500" fill="hold"/>
                                        <p:tgtEl>
                                          <p:spTgt spid="4"/>
                                        </p:tgtEl>
                                        <p:attrNameLst>
                                          <p:attrName>ppt_x</p:attrName>
                                        </p:attrNameLst>
                                      </p:cBhvr>
                                      <p:tavLst>
                                        <p:tav tm="0">
                                          <p:val>
                                            <p:strVal val="0-#ppt_w/2"/>
                                          </p:val>
                                        </p:tav>
                                        <p:tav tm="100000">
                                          <p:val>
                                            <p:strVal val="#ppt_x"/>
                                          </p:val>
                                        </p:tav>
                                      </p:tavLst>
                                    </p:anim>
                                    <p:anim calcmode="lin" valueType="num">
                                      <p:cBhvr additive="base">
                                        <p:cTn id="24"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Graphic spid="11" grpId="0">
        <p:bldAsOne/>
      </p:bldGraphic>
    </p:bldLst>
  </p:timing>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DB67AF-90A7-61F0-86AB-37C294812B80}"/>
              </a:ext>
            </a:extLst>
          </p:cNvPr>
          <p:cNvSpPr>
            <a:spLocks noGrp="1"/>
          </p:cNvSpPr>
          <p:nvPr>
            <p:ph type="title"/>
          </p:nvPr>
        </p:nvSpPr>
        <p:spPr>
          <a:xfrm>
            <a:off x="457200" y="0"/>
            <a:ext cx="7620000" cy="1143000"/>
          </a:xfrm>
        </p:spPr>
        <p:txBody>
          <a:bodyPr/>
          <a:lstStyle/>
          <a:p>
            <a:pPr algn="ctr">
              <a:defRPr/>
            </a:pPr>
            <a:r>
              <a:rPr lang="en-US" dirty="0"/>
              <a:t>INTRODUCTION</a:t>
            </a:r>
            <a:endParaRPr lang="en-MY" dirty="0"/>
          </a:p>
        </p:txBody>
      </p:sp>
      <p:sp>
        <p:nvSpPr>
          <p:cNvPr id="9" name="Content Placeholder 2">
            <a:extLst>
              <a:ext uri="{FF2B5EF4-FFF2-40B4-BE49-F238E27FC236}">
                <a16:creationId xmlns:a16="http://schemas.microsoft.com/office/drawing/2014/main" id="{0B43FD69-686A-92C6-AC74-C5A4122A301F}"/>
              </a:ext>
            </a:extLst>
          </p:cNvPr>
          <p:cNvSpPr txBox="1">
            <a:spLocks/>
          </p:cNvSpPr>
          <p:nvPr/>
        </p:nvSpPr>
        <p:spPr bwMode="auto">
          <a:xfrm>
            <a:off x="250825" y="1268413"/>
            <a:ext cx="7934325"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What if the data you need is stored in not one table but in multiple tables?</a:t>
            </a: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4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Can we display the following using SQL?</a:t>
            </a:r>
            <a:endParaRPr kumimoji="0" lang="en-CA" altLang="en-US" sz="24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6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graphicFrame>
        <p:nvGraphicFramePr>
          <p:cNvPr id="11" name="Table 10">
            <a:extLst>
              <a:ext uri="{FF2B5EF4-FFF2-40B4-BE49-F238E27FC236}">
                <a16:creationId xmlns:a16="http://schemas.microsoft.com/office/drawing/2014/main" id="{4EA04CC4-815C-7201-FA94-2C016BC496D3}"/>
              </a:ext>
            </a:extLst>
          </p:cNvPr>
          <p:cNvGraphicFramePr>
            <a:graphicFrameLocks noGrp="1"/>
          </p:cNvGraphicFramePr>
          <p:nvPr/>
        </p:nvGraphicFramePr>
        <p:xfrm>
          <a:off x="250825" y="2420938"/>
          <a:ext cx="4321175" cy="1381125"/>
        </p:xfrm>
        <a:graphic>
          <a:graphicData uri="http://schemas.openxmlformats.org/drawingml/2006/table">
            <a:tbl>
              <a:tblPr firstRow="1" bandRow="1">
                <a:tableStyleId>{3B4B98B0-60AC-42C2-AFA5-B58CD77FA1E5}</a:tableStyleId>
              </a:tblPr>
              <a:tblGrid>
                <a:gridCol w="1203536">
                  <a:extLst>
                    <a:ext uri="{9D8B030D-6E8A-4147-A177-3AD203B41FA5}">
                      <a16:colId xmlns:a16="http://schemas.microsoft.com/office/drawing/2014/main" val="20000"/>
                    </a:ext>
                  </a:extLst>
                </a:gridCol>
                <a:gridCol w="1653320">
                  <a:extLst>
                    <a:ext uri="{9D8B030D-6E8A-4147-A177-3AD203B41FA5}">
                      <a16:colId xmlns:a16="http://schemas.microsoft.com/office/drawing/2014/main" val="20001"/>
                    </a:ext>
                  </a:extLst>
                </a:gridCol>
                <a:gridCol w="1464320">
                  <a:extLst>
                    <a:ext uri="{9D8B030D-6E8A-4147-A177-3AD203B41FA5}">
                      <a16:colId xmlns:a16="http://schemas.microsoft.com/office/drawing/2014/main" val="20002"/>
                    </a:ext>
                  </a:extLst>
                </a:gridCol>
              </a:tblGrid>
              <a:tr h="640012">
                <a:tc>
                  <a:txBody>
                    <a:bodyPr/>
                    <a:lstStyle/>
                    <a:p>
                      <a:pPr algn="ctr"/>
                      <a:r>
                        <a:rPr lang="en-CA" sz="1800" dirty="0" err="1"/>
                        <a:t>StudentId</a:t>
                      </a:r>
                      <a:endParaRPr lang="en-CA" sz="1800" dirty="0"/>
                    </a:p>
                  </a:txBody>
                  <a:tcPr marL="91455" marR="91455" marT="45686" marB="45686"/>
                </a:tc>
                <a:tc>
                  <a:txBody>
                    <a:bodyPr/>
                    <a:lstStyle/>
                    <a:p>
                      <a:pPr algn="ctr"/>
                      <a:r>
                        <a:rPr lang="en-CA" sz="1800" dirty="0"/>
                        <a:t>Name</a:t>
                      </a:r>
                    </a:p>
                  </a:txBody>
                  <a:tcPr marL="91455" marR="91455" marT="45686" marB="45686"/>
                </a:tc>
                <a:tc>
                  <a:txBody>
                    <a:bodyPr/>
                    <a:lstStyle/>
                    <a:p>
                      <a:pPr algn="ctr"/>
                      <a:r>
                        <a:rPr lang="en-CA" sz="1800" dirty="0" err="1"/>
                        <a:t>DepartmentNumber</a:t>
                      </a:r>
                      <a:endParaRPr lang="en-CA" sz="1800" dirty="0"/>
                    </a:p>
                  </a:txBody>
                  <a:tcPr marL="91455" marR="91455" marT="45686" marB="45686"/>
                </a:tc>
                <a:extLst>
                  <a:ext uri="{0D108BD9-81ED-4DB2-BD59-A6C34878D82A}">
                    <a16:rowId xmlns:a16="http://schemas.microsoft.com/office/drawing/2014/main" val="10000"/>
                  </a:ext>
                </a:extLst>
              </a:tr>
              <a:tr h="370557">
                <a:tc>
                  <a:txBody>
                    <a:bodyPr/>
                    <a:lstStyle/>
                    <a:p>
                      <a:pPr algn="ctr"/>
                      <a:r>
                        <a:rPr lang="en-CA" sz="1800" dirty="0"/>
                        <a:t>1</a:t>
                      </a:r>
                    </a:p>
                  </a:txBody>
                  <a:tcPr marL="91455" marR="91455" marT="45686" marB="45686"/>
                </a:tc>
                <a:tc>
                  <a:txBody>
                    <a:bodyPr/>
                    <a:lstStyle/>
                    <a:p>
                      <a:pPr algn="ctr"/>
                      <a:r>
                        <a:rPr lang="en-CA" sz="1800" dirty="0"/>
                        <a:t>Aamir</a:t>
                      </a:r>
                      <a:r>
                        <a:rPr lang="en-CA" sz="1800" baseline="0" dirty="0"/>
                        <a:t> Ali</a:t>
                      </a:r>
                      <a:endParaRPr lang="en-CA" sz="1800" dirty="0"/>
                    </a:p>
                  </a:txBody>
                  <a:tcPr marL="91455" marR="91455" marT="45686" marB="45686"/>
                </a:tc>
                <a:tc>
                  <a:txBody>
                    <a:bodyPr/>
                    <a:lstStyle/>
                    <a:p>
                      <a:pPr algn="ctr"/>
                      <a:r>
                        <a:rPr lang="en-CA" sz="1800" dirty="0"/>
                        <a:t>2</a:t>
                      </a:r>
                    </a:p>
                  </a:txBody>
                  <a:tcPr marL="91455" marR="91455" marT="45686" marB="45686"/>
                </a:tc>
                <a:extLst>
                  <a:ext uri="{0D108BD9-81ED-4DB2-BD59-A6C34878D82A}">
                    <a16:rowId xmlns:a16="http://schemas.microsoft.com/office/drawing/2014/main" val="10001"/>
                  </a:ext>
                </a:extLst>
              </a:tr>
              <a:tr h="370557">
                <a:tc>
                  <a:txBody>
                    <a:bodyPr/>
                    <a:lstStyle/>
                    <a:p>
                      <a:pPr algn="ctr"/>
                      <a:r>
                        <a:rPr lang="en-CA" sz="1800" dirty="0"/>
                        <a:t>2</a:t>
                      </a:r>
                    </a:p>
                  </a:txBody>
                  <a:tcPr marL="91455" marR="91455" marT="45686" marB="45686"/>
                </a:tc>
                <a:tc>
                  <a:txBody>
                    <a:bodyPr/>
                    <a:lstStyle/>
                    <a:p>
                      <a:pPr algn="ctr"/>
                      <a:r>
                        <a:rPr lang="en-CA" sz="1800" dirty="0"/>
                        <a:t>Sadia </a:t>
                      </a:r>
                    </a:p>
                  </a:txBody>
                  <a:tcPr marL="91455" marR="91455" marT="45686" marB="45686"/>
                </a:tc>
                <a:tc>
                  <a:txBody>
                    <a:bodyPr/>
                    <a:lstStyle/>
                    <a:p>
                      <a:pPr algn="ctr"/>
                      <a:r>
                        <a:rPr lang="en-CA" sz="1800" dirty="0"/>
                        <a:t>1</a:t>
                      </a:r>
                    </a:p>
                  </a:txBody>
                  <a:tcPr marL="91455" marR="91455" marT="45686" marB="45686"/>
                </a:tc>
                <a:extLst>
                  <a:ext uri="{0D108BD9-81ED-4DB2-BD59-A6C34878D82A}">
                    <a16:rowId xmlns:a16="http://schemas.microsoft.com/office/drawing/2014/main" val="10002"/>
                  </a:ext>
                </a:extLst>
              </a:tr>
            </a:tbl>
          </a:graphicData>
        </a:graphic>
      </p:graphicFrame>
      <p:graphicFrame>
        <p:nvGraphicFramePr>
          <p:cNvPr id="12" name="Table 11">
            <a:extLst>
              <a:ext uri="{FF2B5EF4-FFF2-40B4-BE49-F238E27FC236}">
                <a16:creationId xmlns:a16="http://schemas.microsoft.com/office/drawing/2014/main" id="{A4046807-05C6-AD63-AA42-61F8936D8F04}"/>
              </a:ext>
            </a:extLst>
          </p:cNvPr>
          <p:cNvGraphicFramePr>
            <a:graphicFrameLocks noGrp="1"/>
          </p:cNvGraphicFramePr>
          <p:nvPr/>
        </p:nvGraphicFramePr>
        <p:xfrm>
          <a:off x="4876800" y="2420938"/>
          <a:ext cx="3308350" cy="1381125"/>
        </p:xfrm>
        <a:graphic>
          <a:graphicData uri="http://schemas.openxmlformats.org/drawingml/2006/table">
            <a:tbl>
              <a:tblPr firstRow="1" bandRow="1">
                <a:tableStyleId>{C083E6E3-FA7D-4D7B-A595-EF9225AFEA82}</a:tableStyleId>
              </a:tblPr>
              <a:tblGrid>
                <a:gridCol w="1455674">
                  <a:extLst>
                    <a:ext uri="{9D8B030D-6E8A-4147-A177-3AD203B41FA5}">
                      <a16:colId xmlns:a16="http://schemas.microsoft.com/office/drawing/2014/main" val="20000"/>
                    </a:ext>
                  </a:extLst>
                </a:gridCol>
                <a:gridCol w="1852676">
                  <a:extLst>
                    <a:ext uri="{9D8B030D-6E8A-4147-A177-3AD203B41FA5}">
                      <a16:colId xmlns:a16="http://schemas.microsoft.com/office/drawing/2014/main" val="20001"/>
                    </a:ext>
                  </a:extLst>
                </a:gridCol>
              </a:tblGrid>
              <a:tr h="640012">
                <a:tc>
                  <a:txBody>
                    <a:bodyPr/>
                    <a:lstStyle/>
                    <a:p>
                      <a:pPr algn="ctr"/>
                      <a:r>
                        <a:rPr lang="en-CA" sz="1800" dirty="0" err="1"/>
                        <a:t>DepartmentNumber</a:t>
                      </a:r>
                      <a:endParaRPr lang="en-CA" sz="1800" dirty="0"/>
                    </a:p>
                  </a:txBody>
                  <a:tcPr marL="91445" marR="91445" marT="45686" marB="45686"/>
                </a:tc>
                <a:tc>
                  <a:txBody>
                    <a:bodyPr/>
                    <a:lstStyle/>
                    <a:p>
                      <a:pPr algn="ctr"/>
                      <a:r>
                        <a:rPr lang="en-CA" sz="1800" dirty="0"/>
                        <a:t>Name</a:t>
                      </a:r>
                    </a:p>
                  </a:txBody>
                  <a:tcPr marL="91445" marR="91445" marT="45686" marB="45686"/>
                </a:tc>
                <a:extLst>
                  <a:ext uri="{0D108BD9-81ED-4DB2-BD59-A6C34878D82A}">
                    <a16:rowId xmlns:a16="http://schemas.microsoft.com/office/drawing/2014/main" val="10000"/>
                  </a:ext>
                </a:extLst>
              </a:tr>
              <a:tr h="370557">
                <a:tc>
                  <a:txBody>
                    <a:bodyPr/>
                    <a:lstStyle/>
                    <a:p>
                      <a:pPr algn="ctr"/>
                      <a:r>
                        <a:rPr lang="en-CA" sz="1800" dirty="0"/>
                        <a:t>1</a:t>
                      </a:r>
                    </a:p>
                  </a:txBody>
                  <a:tcPr marL="91445" marR="91445" marT="45686" marB="45686"/>
                </a:tc>
                <a:tc>
                  <a:txBody>
                    <a:bodyPr/>
                    <a:lstStyle/>
                    <a:p>
                      <a:pPr algn="ctr"/>
                      <a:r>
                        <a:rPr lang="en-CA" sz="1800" dirty="0"/>
                        <a:t>Business</a:t>
                      </a:r>
                    </a:p>
                  </a:txBody>
                  <a:tcPr marL="91445" marR="91445" marT="45686" marB="45686"/>
                </a:tc>
                <a:extLst>
                  <a:ext uri="{0D108BD9-81ED-4DB2-BD59-A6C34878D82A}">
                    <a16:rowId xmlns:a16="http://schemas.microsoft.com/office/drawing/2014/main" val="10001"/>
                  </a:ext>
                </a:extLst>
              </a:tr>
              <a:tr h="370557">
                <a:tc>
                  <a:txBody>
                    <a:bodyPr/>
                    <a:lstStyle/>
                    <a:p>
                      <a:pPr algn="ctr"/>
                      <a:r>
                        <a:rPr lang="en-CA" sz="1800" dirty="0"/>
                        <a:t>2</a:t>
                      </a:r>
                    </a:p>
                  </a:txBody>
                  <a:tcPr marL="91445" marR="91445" marT="45686" marB="45686"/>
                </a:tc>
                <a:tc>
                  <a:txBody>
                    <a:bodyPr/>
                    <a:lstStyle/>
                    <a:p>
                      <a:pPr algn="ctr"/>
                      <a:r>
                        <a:rPr lang="en-CA" sz="1800" dirty="0"/>
                        <a:t>IT</a:t>
                      </a:r>
                    </a:p>
                  </a:txBody>
                  <a:tcPr marL="91445" marR="91445" marT="45686" marB="45686"/>
                </a:tc>
                <a:extLst>
                  <a:ext uri="{0D108BD9-81ED-4DB2-BD59-A6C34878D82A}">
                    <a16:rowId xmlns:a16="http://schemas.microsoft.com/office/drawing/2014/main" val="10002"/>
                  </a:ext>
                </a:extLst>
              </a:tr>
            </a:tbl>
          </a:graphicData>
        </a:graphic>
      </p:graphicFrame>
      <p:sp>
        <p:nvSpPr>
          <p:cNvPr id="13" name="TextBox 12">
            <a:extLst>
              <a:ext uri="{FF2B5EF4-FFF2-40B4-BE49-F238E27FC236}">
                <a16:creationId xmlns:a16="http://schemas.microsoft.com/office/drawing/2014/main" id="{2D059537-3D14-8FA6-673F-83A7D0B971E6}"/>
              </a:ext>
            </a:extLst>
          </p:cNvPr>
          <p:cNvSpPr txBox="1">
            <a:spLocks noChangeArrowheads="1"/>
          </p:cNvSpPr>
          <p:nvPr/>
        </p:nvSpPr>
        <p:spPr bwMode="auto">
          <a:xfrm>
            <a:off x="1733550" y="3813175"/>
            <a:ext cx="17272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Student table</a:t>
            </a:r>
          </a:p>
        </p:txBody>
      </p:sp>
      <p:sp>
        <p:nvSpPr>
          <p:cNvPr id="14" name="TextBox 13">
            <a:extLst>
              <a:ext uri="{FF2B5EF4-FFF2-40B4-BE49-F238E27FC236}">
                <a16:creationId xmlns:a16="http://schemas.microsoft.com/office/drawing/2014/main" id="{6125E969-ACED-1ECF-1D3A-3E9A17CF440F}"/>
              </a:ext>
            </a:extLst>
          </p:cNvPr>
          <p:cNvSpPr txBox="1">
            <a:spLocks noChangeArrowheads="1"/>
          </p:cNvSpPr>
          <p:nvPr/>
        </p:nvSpPr>
        <p:spPr bwMode="auto">
          <a:xfrm>
            <a:off x="5486400" y="3800475"/>
            <a:ext cx="23034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Department Table</a:t>
            </a:r>
          </a:p>
        </p:txBody>
      </p:sp>
      <p:graphicFrame>
        <p:nvGraphicFramePr>
          <p:cNvPr id="15" name="Table 14">
            <a:extLst>
              <a:ext uri="{FF2B5EF4-FFF2-40B4-BE49-F238E27FC236}">
                <a16:creationId xmlns:a16="http://schemas.microsoft.com/office/drawing/2014/main" id="{F6737BF0-D844-BBDD-52E7-E0EAD8E80271}"/>
              </a:ext>
            </a:extLst>
          </p:cNvPr>
          <p:cNvGraphicFramePr>
            <a:graphicFrameLocks noGrp="1"/>
          </p:cNvGraphicFramePr>
          <p:nvPr/>
        </p:nvGraphicFramePr>
        <p:xfrm>
          <a:off x="611188" y="4979988"/>
          <a:ext cx="5607050" cy="1112837"/>
        </p:xfrm>
        <a:graphic>
          <a:graphicData uri="http://schemas.openxmlformats.org/drawingml/2006/table">
            <a:tbl>
              <a:tblPr firstRow="1" bandRow="1">
                <a:tableStyleId>{0E3FDE45-AF77-4B5C-9715-49D594BDF05E}</a:tableStyleId>
              </a:tblPr>
              <a:tblGrid>
                <a:gridCol w="1850161">
                  <a:extLst>
                    <a:ext uri="{9D8B030D-6E8A-4147-A177-3AD203B41FA5}">
                      <a16:colId xmlns:a16="http://schemas.microsoft.com/office/drawing/2014/main" val="20000"/>
                    </a:ext>
                  </a:extLst>
                </a:gridCol>
                <a:gridCol w="1606710">
                  <a:extLst>
                    <a:ext uri="{9D8B030D-6E8A-4147-A177-3AD203B41FA5}">
                      <a16:colId xmlns:a16="http://schemas.microsoft.com/office/drawing/2014/main" val="20001"/>
                    </a:ext>
                  </a:extLst>
                </a:gridCol>
                <a:gridCol w="2150179">
                  <a:extLst>
                    <a:ext uri="{9D8B030D-6E8A-4147-A177-3AD203B41FA5}">
                      <a16:colId xmlns:a16="http://schemas.microsoft.com/office/drawing/2014/main" val="20002"/>
                    </a:ext>
                  </a:extLst>
                </a:gridCol>
              </a:tblGrid>
              <a:tr h="370946">
                <a:tc>
                  <a:txBody>
                    <a:bodyPr/>
                    <a:lstStyle/>
                    <a:p>
                      <a:pPr algn="ctr"/>
                      <a:r>
                        <a:rPr lang="en-CA" sz="1800" dirty="0" err="1"/>
                        <a:t>StudentId</a:t>
                      </a:r>
                      <a:endParaRPr lang="en-CA" sz="1800" dirty="0"/>
                    </a:p>
                  </a:txBody>
                  <a:tcPr marL="91453" marR="91453" marT="45733" marB="45733"/>
                </a:tc>
                <a:tc>
                  <a:txBody>
                    <a:bodyPr/>
                    <a:lstStyle/>
                    <a:p>
                      <a:pPr algn="ctr"/>
                      <a:r>
                        <a:rPr lang="en-CA" sz="1800" dirty="0"/>
                        <a:t>Name</a:t>
                      </a:r>
                    </a:p>
                  </a:txBody>
                  <a:tcPr marL="91453" marR="91453" marT="45733" marB="45733"/>
                </a:tc>
                <a:tc>
                  <a:txBody>
                    <a:bodyPr/>
                    <a:lstStyle/>
                    <a:p>
                      <a:pPr algn="ctr"/>
                      <a:r>
                        <a:rPr lang="en-CA" sz="1800" dirty="0" err="1"/>
                        <a:t>DepartmentName</a:t>
                      </a:r>
                      <a:endParaRPr lang="en-CA" sz="1800" dirty="0"/>
                    </a:p>
                  </a:txBody>
                  <a:tcPr marL="91453" marR="91453" marT="45733" marB="45733"/>
                </a:tc>
                <a:extLst>
                  <a:ext uri="{0D108BD9-81ED-4DB2-BD59-A6C34878D82A}">
                    <a16:rowId xmlns:a16="http://schemas.microsoft.com/office/drawing/2014/main" val="10000"/>
                  </a:ext>
                </a:extLst>
              </a:tr>
              <a:tr h="370946">
                <a:tc>
                  <a:txBody>
                    <a:bodyPr/>
                    <a:lstStyle/>
                    <a:p>
                      <a:pPr algn="ctr"/>
                      <a:r>
                        <a:rPr lang="en-CA" sz="1800" dirty="0"/>
                        <a:t>1</a:t>
                      </a:r>
                    </a:p>
                  </a:txBody>
                  <a:tcPr marL="91453" marR="91453" marT="45733" marB="45733"/>
                </a:tc>
                <a:tc>
                  <a:txBody>
                    <a:bodyPr/>
                    <a:lstStyle/>
                    <a:p>
                      <a:pPr algn="ctr"/>
                      <a:r>
                        <a:rPr lang="en-CA" sz="1800" dirty="0"/>
                        <a:t>Aamir</a:t>
                      </a:r>
                      <a:r>
                        <a:rPr lang="en-CA" sz="1800" baseline="0" dirty="0"/>
                        <a:t> Ali</a:t>
                      </a:r>
                      <a:endParaRPr lang="en-CA" sz="1800" dirty="0"/>
                    </a:p>
                  </a:txBody>
                  <a:tcPr marL="91453" marR="91453" marT="45733" marB="45733"/>
                </a:tc>
                <a:tc>
                  <a:txBody>
                    <a:bodyPr/>
                    <a:lstStyle/>
                    <a:p>
                      <a:pPr algn="ctr"/>
                      <a:r>
                        <a:rPr lang="en-CA" sz="1800" dirty="0"/>
                        <a:t>IT</a:t>
                      </a:r>
                    </a:p>
                  </a:txBody>
                  <a:tcPr marL="91453" marR="91453" marT="45733" marB="45733"/>
                </a:tc>
                <a:extLst>
                  <a:ext uri="{0D108BD9-81ED-4DB2-BD59-A6C34878D82A}">
                    <a16:rowId xmlns:a16="http://schemas.microsoft.com/office/drawing/2014/main" val="10001"/>
                  </a:ext>
                </a:extLst>
              </a:tr>
              <a:tr h="370946">
                <a:tc>
                  <a:txBody>
                    <a:bodyPr/>
                    <a:lstStyle/>
                    <a:p>
                      <a:pPr algn="ctr"/>
                      <a:r>
                        <a:rPr lang="en-CA" sz="1800" dirty="0"/>
                        <a:t>2</a:t>
                      </a:r>
                    </a:p>
                  </a:txBody>
                  <a:tcPr marL="91453" marR="91453" marT="45733" marB="45733"/>
                </a:tc>
                <a:tc>
                  <a:txBody>
                    <a:bodyPr/>
                    <a:lstStyle/>
                    <a:p>
                      <a:pPr algn="ctr"/>
                      <a:r>
                        <a:rPr lang="en-CA" sz="1800" dirty="0"/>
                        <a:t>Sadia </a:t>
                      </a:r>
                    </a:p>
                  </a:txBody>
                  <a:tcPr marL="91453" marR="91453" marT="45733" marB="45733"/>
                </a:tc>
                <a:tc>
                  <a:txBody>
                    <a:bodyPr/>
                    <a:lstStyle/>
                    <a:p>
                      <a:pPr algn="ctr"/>
                      <a:r>
                        <a:rPr lang="en-CA" sz="1800" dirty="0"/>
                        <a:t>Business</a:t>
                      </a:r>
                    </a:p>
                  </a:txBody>
                  <a:tcPr marL="91453" marR="91453" marT="45733" marB="45733"/>
                </a:tc>
                <a:extLst>
                  <a:ext uri="{0D108BD9-81ED-4DB2-BD59-A6C34878D82A}">
                    <a16:rowId xmlns:a16="http://schemas.microsoft.com/office/drawing/2014/main" val="10002"/>
                  </a:ext>
                </a:extLst>
              </a:tr>
            </a:tbl>
          </a:graphicData>
        </a:graphic>
      </p:graphicFrame>
      <p:pic>
        <p:nvPicPr>
          <p:cNvPr id="4" name="Picture 3">
            <a:extLst>
              <a:ext uri="{FF2B5EF4-FFF2-40B4-BE49-F238E27FC236}">
                <a16:creationId xmlns:a16="http://schemas.microsoft.com/office/drawing/2014/main" id="{9C490E54-784D-9450-C0ED-BC883A3E30B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875463" y="5035550"/>
            <a:ext cx="1603375" cy="100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wipe(left)">
                                      <p:cBhvr>
                                        <p:cTn id="7" dur="500"/>
                                        <p:tgtEl>
                                          <p:spTgt spid="9">
                                            <p:txEl>
                                              <p:pRg st="0" end="0"/>
                                            </p:txEl>
                                          </p:spTgt>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wipe(up)">
                                      <p:cBhvr>
                                        <p:cTn id="11" dur="500"/>
                                        <p:tgtEl>
                                          <p:spTgt spid="11"/>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left)">
                                      <p:cBhvr>
                                        <p:cTn id="15" dur="500"/>
                                        <p:tgtEl>
                                          <p:spTgt spid="13"/>
                                        </p:tgtEl>
                                      </p:cBhvr>
                                    </p:animEffect>
                                  </p:childTnLst>
                                </p:cTn>
                              </p:par>
                            </p:childTnLst>
                          </p:cTn>
                        </p:par>
                        <p:par>
                          <p:cTn id="16" fill="hold" nodeType="afterGroup">
                            <p:stCondLst>
                              <p:cond delay="1500"/>
                            </p:stCondLst>
                            <p:childTnLst>
                              <p:par>
                                <p:cTn id="17" presetID="22" presetClass="entr" presetSubtype="1" fill="hold" nodeType="after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wipe(up)">
                                      <p:cBhvr>
                                        <p:cTn id="19" dur="500"/>
                                        <p:tgtEl>
                                          <p:spTgt spid="12"/>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wipe(left)">
                                      <p:cBhvr>
                                        <p:cTn id="23" dur="500"/>
                                        <p:tgtEl>
                                          <p:spTgt spid="14"/>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9">
                                            <p:txEl>
                                              <p:pRg st="4" end="4"/>
                                            </p:txEl>
                                          </p:spTgt>
                                        </p:tgtEl>
                                        <p:attrNameLst>
                                          <p:attrName>style.visibility</p:attrName>
                                        </p:attrNameLst>
                                      </p:cBhvr>
                                      <p:to>
                                        <p:strVal val="visible"/>
                                      </p:to>
                                    </p:set>
                                    <p:animEffect transition="in" filter="wipe(left)">
                                      <p:cBhvr>
                                        <p:cTn id="28" dur="500"/>
                                        <p:tgtEl>
                                          <p:spTgt spid="9">
                                            <p:txEl>
                                              <p:pRg st="4" end="4"/>
                                            </p:txEl>
                                          </p:spTgt>
                                        </p:tgtEl>
                                      </p:cBhvr>
                                    </p:animEffect>
                                  </p:childTnLst>
                                </p:cTn>
                              </p:par>
                            </p:childTnLst>
                          </p:cTn>
                        </p:par>
                        <p:par>
                          <p:cTn id="29" fill="hold" nodeType="afterGroup">
                            <p:stCondLst>
                              <p:cond delay="500"/>
                            </p:stCondLst>
                            <p:childTnLst>
                              <p:par>
                                <p:cTn id="30" presetID="22" presetClass="entr" presetSubtype="1" fill="hold" nodeType="after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wipe(up)">
                                      <p:cBhvr>
                                        <p:cTn id="32" dur="500"/>
                                        <p:tgtEl>
                                          <p:spTgt spid="1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2" presetClass="entr" presetSubtype="0" fill="hold" nodeType="click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fade">
                                      <p:cBhvr>
                                        <p:cTn id="37" dur="1000"/>
                                        <p:tgtEl>
                                          <p:spTgt spid="4"/>
                                        </p:tgtEl>
                                      </p:cBhvr>
                                    </p:animEffect>
                                    <p:anim calcmode="lin" valueType="num">
                                      <p:cBhvr>
                                        <p:cTn id="38" dur="1000" fill="hold"/>
                                        <p:tgtEl>
                                          <p:spTgt spid="4"/>
                                        </p:tgtEl>
                                        <p:attrNameLst>
                                          <p:attrName>ppt_x</p:attrName>
                                        </p:attrNameLst>
                                      </p:cBhvr>
                                      <p:tavLst>
                                        <p:tav tm="0">
                                          <p:val>
                                            <p:strVal val="#ppt_x"/>
                                          </p:val>
                                        </p:tav>
                                        <p:tav tm="100000">
                                          <p:val>
                                            <p:strVal val="#ppt_x"/>
                                          </p:val>
                                        </p:tav>
                                      </p:tavLst>
                                    </p:anim>
                                    <p:anim calcmode="lin" valueType="num">
                                      <p:cBhvr>
                                        <p:cTn id="3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P spid="13" grpId="0"/>
      <p:bldP spid="14" grpId="0"/>
    </p:bldLst>
  </p:timing>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1">
            <a:extLst>
              <a:ext uri="{FF2B5EF4-FFF2-40B4-BE49-F238E27FC236}">
                <a16:creationId xmlns:a16="http://schemas.microsoft.com/office/drawing/2014/main" id="{FEBD0517-4825-660D-BF46-A227AF82DDE9}"/>
              </a:ext>
            </a:extLst>
          </p:cNvPr>
          <p:cNvSpPr>
            <a:spLocks noChangeArrowheads="1"/>
          </p:cNvSpPr>
          <p:nvPr/>
        </p:nvSpPr>
        <p:spPr bwMode="auto">
          <a:xfrm>
            <a:off x="2935288" y="76200"/>
            <a:ext cx="256857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altLang="en-US" sz="4000" b="1" i="0" u="none" strike="noStrike" kern="1200" cap="none" spc="0" normalizeH="0" baseline="0" noProof="0">
                <a:ln>
                  <a:noFill/>
                </a:ln>
                <a:solidFill>
                  <a:srgbClr val="610B38"/>
                </a:solidFill>
                <a:effectLst/>
                <a:uLnTx/>
                <a:uFillTx/>
                <a:latin typeface="erdana"/>
                <a:ea typeface="+mn-ea"/>
                <a:cs typeface="Arial" panose="020B0604020202020204" pitchFamily="34" charset="0"/>
              </a:rPr>
              <a:t>SQL JOIN</a:t>
            </a:r>
          </a:p>
        </p:txBody>
      </p:sp>
      <p:sp>
        <p:nvSpPr>
          <p:cNvPr id="3" name="Rectangle 2">
            <a:extLst>
              <a:ext uri="{FF2B5EF4-FFF2-40B4-BE49-F238E27FC236}">
                <a16:creationId xmlns:a16="http://schemas.microsoft.com/office/drawing/2014/main" id="{E5D95036-C37E-ECD6-993D-571B6130836F}"/>
              </a:ext>
            </a:extLst>
          </p:cNvPr>
          <p:cNvSpPr/>
          <p:nvPr/>
        </p:nvSpPr>
        <p:spPr>
          <a:xfrm>
            <a:off x="152400" y="914400"/>
            <a:ext cx="8210550" cy="1292225"/>
          </a:xfrm>
          <a:prstGeom prst="rect">
            <a:avLst/>
          </a:prstGeom>
        </p:spPr>
        <p:txBody>
          <a:bodyPr>
            <a:spAutoFit/>
          </a:body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sz="2600" b="0" i="0" u="none" strike="noStrike" kern="1200" cap="none" spc="0" normalizeH="0" baseline="0" noProof="0" dirty="0">
                <a:ln>
                  <a:noFill/>
                </a:ln>
                <a:solidFill>
                  <a:srgbClr val="333333"/>
                </a:solidFill>
                <a:effectLst/>
                <a:uLnTx/>
                <a:uFillTx/>
                <a:latin typeface="Calibri"/>
                <a:ea typeface="+mn-ea"/>
                <a:cs typeface="Arial" panose="020B0604020202020204" pitchFamily="34" charset="0"/>
              </a:rPr>
              <a:t>As the name shows, JOIN means </a:t>
            </a:r>
            <a:r>
              <a:rPr kumimoji="0" lang="en-US" sz="2600" b="0" i="1" u="none" strike="noStrike" kern="1200" cap="none" spc="0" normalizeH="0" baseline="0" noProof="0" dirty="0">
                <a:ln>
                  <a:noFill/>
                </a:ln>
                <a:solidFill>
                  <a:srgbClr val="333333"/>
                </a:solidFill>
                <a:effectLst/>
                <a:uLnTx/>
                <a:uFillTx/>
                <a:latin typeface="Calibri"/>
                <a:ea typeface="+mn-ea"/>
                <a:cs typeface="Arial" panose="020B0604020202020204" pitchFamily="34" charset="0"/>
              </a:rPr>
              <a:t>to combine something</a:t>
            </a:r>
            <a:r>
              <a:rPr kumimoji="0" lang="en-US" sz="2600" b="0" i="0" u="none" strike="noStrike" kern="1200" cap="none" spc="0" normalizeH="0" baseline="0" noProof="0" dirty="0">
                <a:ln>
                  <a:noFill/>
                </a:ln>
                <a:solidFill>
                  <a:srgbClr val="333333"/>
                </a:solidFill>
                <a:effectLst/>
                <a:uLnTx/>
                <a:uFillTx/>
                <a:latin typeface="Calibri"/>
                <a:ea typeface="+mn-ea"/>
                <a:cs typeface="Arial" panose="020B0604020202020204" pitchFamily="34" charset="0"/>
              </a:rPr>
              <a:t>. </a:t>
            </a: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sz="2600" b="0" i="0" u="none" strike="noStrike" kern="1200" cap="none" spc="0" normalizeH="0" baseline="0" noProof="0" dirty="0">
                <a:ln>
                  <a:noFill/>
                </a:ln>
                <a:solidFill>
                  <a:srgbClr val="333333"/>
                </a:solidFill>
                <a:effectLst/>
                <a:uLnTx/>
                <a:uFillTx/>
                <a:latin typeface="Calibri"/>
                <a:ea typeface="+mn-ea"/>
                <a:cs typeface="Arial" panose="020B0604020202020204" pitchFamily="34" charset="0"/>
              </a:rPr>
              <a:t>In case of SQL, JOIN means </a:t>
            </a:r>
            <a:r>
              <a:rPr kumimoji="0" lang="en-US" sz="2600" b="1" i="0" u="none" strike="noStrike" kern="1200" cap="none" spc="0" normalizeH="0" baseline="0" noProof="0" dirty="0">
                <a:ln>
                  <a:noFill/>
                </a:ln>
                <a:solidFill>
                  <a:srgbClr val="333333"/>
                </a:solidFill>
                <a:effectLst/>
                <a:uLnTx/>
                <a:uFillTx/>
                <a:latin typeface="Calibri"/>
                <a:ea typeface="+mn-ea"/>
                <a:cs typeface="Arial" panose="020B0604020202020204" pitchFamily="34" charset="0"/>
              </a:rPr>
              <a:t>"to combine two or more tables"</a:t>
            </a:r>
            <a:r>
              <a:rPr kumimoji="0" lang="en-US" sz="2600" b="0" i="0" u="none" strike="noStrike" kern="1200" cap="none" spc="0" normalizeH="0" baseline="0" noProof="0" dirty="0">
                <a:ln>
                  <a:noFill/>
                </a:ln>
                <a:solidFill>
                  <a:srgbClr val="333333"/>
                </a:solidFill>
                <a:effectLst/>
                <a:uLnTx/>
                <a:uFillTx/>
                <a:latin typeface="Calibri"/>
                <a:ea typeface="+mn-ea"/>
                <a:cs typeface="Arial" panose="020B0604020202020204" pitchFamily="34" charset="0"/>
              </a:rPr>
              <a:t>.</a:t>
            </a:r>
          </a:p>
        </p:txBody>
      </p:sp>
      <p:sp>
        <p:nvSpPr>
          <p:cNvPr id="4" name="Rectangle 3">
            <a:extLst>
              <a:ext uri="{FF2B5EF4-FFF2-40B4-BE49-F238E27FC236}">
                <a16:creationId xmlns:a16="http://schemas.microsoft.com/office/drawing/2014/main" id="{9AA56FC8-BDFC-BE41-3305-4BDD4C5FC03F}"/>
              </a:ext>
            </a:extLst>
          </p:cNvPr>
          <p:cNvSpPr>
            <a:spLocks noChangeArrowheads="1"/>
          </p:cNvSpPr>
          <p:nvPr/>
        </p:nvSpPr>
        <p:spPr bwMode="auto">
          <a:xfrm>
            <a:off x="152400" y="2206625"/>
            <a:ext cx="36798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altLang="en-US" sz="2400" b="1" i="0" u="none" strike="noStrike" kern="1200" cap="none" spc="0" normalizeH="0" baseline="0" noProof="0">
                <a:ln>
                  <a:noFill/>
                </a:ln>
                <a:solidFill>
                  <a:srgbClr val="610B38"/>
                </a:solidFill>
                <a:effectLst/>
                <a:uLnTx/>
                <a:uFillTx/>
                <a:latin typeface="erdana"/>
                <a:ea typeface="+mn-ea"/>
                <a:cs typeface="Arial" panose="020B0604020202020204" pitchFamily="34" charset="0"/>
              </a:rPr>
              <a:t>Why SQL JOIN is used?</a:t>
            </a:r>
          </a:p>
        </p:txBody>
      </p:sp>
      <p:sp>
        <p:nvSpPr>
          <p:cNvPr id="5" name="Rectangle 4">
            <a:extLst>
              <a:ext uri="{FF2B5EF4-FFF2-40B4-BE49-F238E27FC236}">
                <a16:creationId xmlns:a16="http://schemas.microsoft.com/office/drawing/2014/main" id="{C7A2C2BB-33D7-C857-5811-801EED2C45C3}"/>
              </a:ext>
            </a:extLst>
          </p:cNvPr>
          <p:cNvSpPr/>
          <p:nvPr/>
        </p:nvSpPr>
        <p:spPr>
          <a:xfrm>
            <a:off x="152400" y="2743200"/>
            <a:ext cx="8210550" cy="3786188"/>
          </a:xfrm>
          <a:prstGeom prst="rect">
            <a:avLst/>
          </a:prstGeom>
        </p:spPr>
        <p:txBody>
          <a:bodyPr>
            <a:spAutoFit/>
          </a:bodyPr>
          <a:lstStyle/>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2F2B20"/>
                </a:solidFill>
                <a:effectLst/>
                <a:uLnTx/>
                <a:uFillTx/>
                <a:latin typeface="Calibri"/>
                <a:ea typeface="+mn-ea"/>
                <a:cs typeface="Arial" panose="020B0604020202020204" pitchFamily="34" charset="0"/>
              </a:rPr>
              <a:t>If you want to access more than one table through a select statement.</a:t>
            </a: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2F2B20"/>
                </a:solidFill>
                <a:effectLst/>
                <a:uLnTx/>
                <a:uFillTx/>
                <a:latin typeface="Calibri"/>
                <a:ea typeface="+mn-ea"/>
                <a:cs typeface="Arial" panose="020B0604020202020204" pitchFamily="34" charset="0"/>
              </a:rPr>
              <a:t>If you want to combine two or more tables then SQL JOIN statement is used. It combines rows of those tables in one table and one can retrieve the information by a SELECT statement.</a:t>
            </a: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2F2B20"/>
                </a:solidFill>
                <a:effectLst/>
                <a:uLnTx/>
                <a:uFillTx/>
                <a:latin typeface="Calibri"/>
                <a:ea typeface="+mn-ea"/>
                <a:cs typeface="Arial" panose="020B0604020202020204" pitchFamily="34" charset="0"/>
              </a:rPr>
              <a:t>The joining of two or more tables is based on a common field between them.</a:t>
            </a: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2F2B20"/>
                </a:solidFill>
                <a:effectLst/>
                <a:uLnTx/>
                <a:uFillTx/>
                <a:latin typeface="Calibri"/>
                <a:ea typeface="+mn-ea"/>
                <a:cs typeface="Arial" panose="020B0604020202020204" pitchFamily="34" charset="0"/>
              </a:rPr>
              <a:t>SQL INNER JOIN also known as simple join is the most common type of join.</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down)">
                                      <p:cBhvr>
                                        <p:cTn id="12" dur="500"/>
                                        <p:tgtEl>
                                          <p:spTgt spid="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down)">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Lst>
  </p:timing>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3AFD6-8EC9-05EC-77A2-B1E8EF7A4D47}"/>
              </a:ext>
            </a:extLst>
          </p:cNvPr>
          <p:cNvSpPr>
            <a:spLocks noGrp="1"/>
          </p:cNvSpPr>
          <p:nvPr>
            <p:ph type="title"/>
          </p:nvPr>
        </p:nvSpPr>
        <p:spPr>
          <a:xfrm>
            <a:off x="457200" y="0"/>
            <a:ext cx="7620000" cy="1143000"/>
          </a:xfrm>
        </p:spPr>
        <p:txBody>
          <a:bodyPr/>
          <a:lstStyle/>
          <a:p>
            <a:pPr algn="ctr">
              <a:defRPr/>
            </a:pPr>
            <a:r>
              <a:rPr lang="en-US" dirty="0"/>
              <a:t>JOIN</a:t>
            </a:r>
            <a:endParaRPr lang="en-MY" dirty="0"/>
          </a:p>
        </p:txBody>
      </p:sp>
      <p:sp>
        <p:nvSpPr>
          <p:cNvPr id="5" name="Content Placeholder 2">
            <a:extLst>
              <a:ext uri="{FF2B5EF4-FFF2-40B4-BE49-F238E27FC236}">
                <a16:creationId xmlns:a16="http://schemas.microsoft.com/office/drawing/2014/main" id="{CAD820B4-32FB-C665-A98C-5BFF65307DDE}"/>
              </a:ext>
            </a:extLst>
          </p:cNvPr>
          <p:cNvSpPr txBox="1">
            <a:spLocks/>
          </p:cNvSpPr>
          <p:nvPr/>
        </p:nvSpPr>
        <p:spPr bwMode="auto">
          <a:xfrm>
            <a:off x="250825" y="1268413"/>
            <a:ext cx="7978775"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US"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In SQL, JOIN can be used to combine the </a:t>
            </a:r>
            <a:r>
              <a:rPr kumimoji="0" lang="en-US" altLang="en-US" sz="3200" b="1" i="0" u="none" strike="noStrike" kern="1200" cap="none" spc="0" normalizeH="0" baseline="0" noProof="0">
                <a:ln>
                  <a:noFill/>
                </a:ln>
                <a:solidFill>
                  <a:srgbClr val="C00000"/>
                </a:solidFill>
                <a:effectLst/>
                <a:uLnTx/>
                <a:uFillTx/>
                <a:latin typeface="Calibri" panose="020F0502020204030204" pitchFamily="34" charset="0"/>
                <a:ea typeface="+mn-ea"/>
                <a:cs typeface="Arial" panose="020B0604020202020204" pitchFamily="34" charset="0"/>
              </a:rPr>
              <a:t>rows</a:t>
            </a:r>
            <a:r>
              <a:rPr kumimoji="0" lang="en-US"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 of two or more tables</a:t>
            </a: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US" altLang="en-US" sz="20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US"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Types of JOIN</a:t>
            </a: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US" altLang="en-US" sz="32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sp>
        <p:nvSpPr>
          <p:cNvPr id="6" name="Freeform 5">
            <a:hlinkClick r:id="rId2" action="ppaction://hlinksldjump"/>
            <a:extLst>
              <a:ext uri="{FF2B5EF4-FFF2-40B4-BE49-F238E27FC236}">
                <a16:creationId xmlns:a16="http://schemas.microsoft.com/office/drawing/2014/main" id="{E9F6C3E3-0529-0B4A-3FEE-8293B9F66D8F}"/>
              </a:ext>
            </a:extLst>
          </p:cNvPr>
          <p:cNvSpPr/>
          <p:nvPr/>
        </p:nvSpPr>
        <p:spPr>
          <a:xfrm>
            <a:off x="381000" y="3356992"/>
            <a:ext cx="2236185" cy="1341711"/>
          </a:xfrm>
          <a:custGeom>
            <a:avLst/>
            <a:gdLst>
              <a:gd name="connsiteX0" fmla="*/ 0 w 2236185"/>
              <a:gd name="connsiteY0" fmla="*/ 0 h 1341711"/>
              <a:gd name="connsiteX1" fmla="*/ 2236185 w 2236185"/>
              <a:gd name="connsiteY1" fmla="*/ 0 h 1341711"/>
              <a:gd name="connsiteX2" fmla="*/ 2236185 w 2236185"/>
              <a:gd name="connsiteY2" fmla="*/ 1341711 h 1341711"/>
              <a:gd name="connsiteX3" fmla="*/ 0 w 2236185"/>
              <a:gd name="connsiteY3" fmla="*/ 1341711 h 1341711"/>
              <a:gd name="connsiteX4" fmla="*/ 0 w 2236185"/>
              <a:gd name="connsiteY4" fmla="*/ 0 h 1341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6185" h="1341711">
                <a:moveTo>
                  <a:pt x="0" y="0"/>
                </a:moveTo>
                <a:lnTo>
                  <a:pt x="2236185" y="0"/>
                </a:lnTo>
                <a:lnTo>
                  <a:pt x="2236185" y="1341711"/>
                </a:lnTo>
                <a:lnTo>
                  <a:pt x="0" y="1341711"/>
                </a:lnTo>
                <a:lnTo>
                  <a:pt x="0" y="0"/>
                </a:lnTo>
                <a:close/>
              </a:path>
            </a:pathLst>
          </a:custGeom>
          <a:solidFill>
            <a:schemeClr val="accent2"/>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lIns="83820" tIns="83820" rIns="83820" bIns="83820" spcCol="1270" anchor="ctr"/>
          <a:lstStyle/>
          <a:p>
            <a:pPr marL="0" marR="0" lvl="0" indent="0" algn="ctr" defTabSz="977900" rtl="0" eaLnBrk="0" fontAlgn="base" latinLnBrk="0" hangingPunct="0">
              <a:lnSpc>
                <a:spcPct val="90000"/>
              </a:lnSpc>
              <a:spcBef>
                <a:spcPct val="0"/>
              </a:spcBef>
              <a:spcAft>
                <a:spcPct val="35000"/>
              </a:spcAft>
              <a:buClrTx/>
              <a:buSzTx/>
              <a:buFontTx/>
              <a:buNone/>
              <a:tabLst/>
              <a:defRPr/>
            </a:pPr>
            <a:r>
              <a:rPr kumimoji="0" lang="en-CA" sz="2200" b="0" i="0" u="none" strike="noStrike" kern="1200" cap="none" spc="0" normalizeH="0" baseline="0" noProof="0" dirty="0">
                <a:ln>
                  <a:noFill/>
                </a:ln>
                <a:solidFill>
                  <a:srgbClr val="FFFFFF"/>
                </a:solidFill>
                <a:effectLst/>
                <a:uLnTx/>
                <a:uFillTx/>
                <a:latin typeface="Calibri"/>
                <a:ea typeface="+mn-ea"/>
                <a:cs typeface="+mn-cs"/>
              </a:rPr>
              <a:t>CROSS JOIN</a:t>
            </a:r>
          </a:p>
        </p:txBody>
      </p:sp>
      <p:sp>
        <p:nvSpPr>
          <p:cNvPr id="7" name="Freeform 6">
            <a:hlinkClick r:id="rId3" action="ppaction://hlinksldjump"/>
            <a:extLst>
              <a:ext uri="{FF2B5EF4-FFF2-40B4-BE49-F238E27FC236}">
                <a16:creationId xmlns:a16="http://schemas.microsoft.com/office/drawing/2014/main" id="{4B7FC040-422D-0214-9415-F0D093924EA0}"/>
              </a:ext>
            </a:extLst>
          </p:cNvPr>
          <p:cNvSpPr/>
          <p:nvPr/>
        </p:nvSpPr>
        <p:spPr>
          <a:xfrm>
            <a:off x="3121241" y="3356993"/>
            <a:ext cx="2236185" cy="1341711"/>
          </a:xfrm>
          <a:custGeom>
            <a:avLst/>
            <a:gdLst>
              <a:gd name="connsiteX0" fmla="*/ 0 w 2236185"/>
              <a:gd name="connsiteY0" fmla="*/ 0 h 1341711"/>
              <a:gd name="connsiteX1" fmla="*/ 2236185 w 2236185"/>
              <a:gd name="connsiteY1" fmla="*/ 0 h 1341711"/>
              <a:gd name="connsiteX2" fmla="*/ 2236185 w 2236185"/>
              <a:gd name="connsiteY2" fmla="*/ 1341711 h 1341711"/>
              <a:gd name="connsiteX3" fmla="*/ 0 w 2236185"/>
              <a:gd name="connsiteY3" fmla="*/ 1341711 h 1341711"/>
              <a:gd name="connsiteX4" fmla="*/ 0 w 2236185"/>
              <a:gd name="connsiteY4" fmla="*/ 0 h 1341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6185" h="1341711">
                <a:moveTo>
                  <a:pt x="0" y="0"/>
                </a:moveTo>
                <a:lnTo>
                  <a:pt x="2236185" y="0"/>
                </a:lnTo>
                <a:lnTo>
                  <a:pt x="2236185" y="1341711"/>
                </a:lnTo>
                <a:lnTo>
                  <a:pt x="0" y="1341711"/>
                </a:lnTo>
                <a:lnTo>
                  <a:pt x="0" y="0"/>
                </a:lnTo>
                <a:close/>
              </a:path>
            </a:pathLst>
          </a:custGeom>
          <a:solidFill>
            <a:schemeClr val="accent3"/>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lIns="83820" tIns="83820" rIns="83820" bIns="83820" spcCol="1270" anchor="ctr"/>
          <a:lstStyle/>
          <a:p>
            <a:pPr marL="0" marR="0" lvl="0" indent="0" algn="ctr" defTabSz="977900" rtl="0" eaLnBrk="0" fontAlgn="base" latinLnBrk="0" hangingPunct="0">
              <a:lnSpc>
                <a:spcPct val="90000"/>
              </a:lnSpc>
              <a:spcBef>
                <a:spcPct val="0"/>
              </a:spcBef>
              <a:spcAft>
                <a:spcPct val="35000"/>
              </a:spcAft>
              <a:buClrTx/>
              <a:buSzTx/>
              <a:buFontTx/>
              <a:buNone/>
              <a:tabLst/>
              <a:defRPr/>
            </a:pPr>
            <a:r>
              <a:rPr kumimoji="0" lang="en-CA" sz="2200" b="0" i="0" u="none" strike="noStrike" kern="1200" cap="none" spc="0" normalizeH="0" baseline="0" noProof="0" dirty="0">
                <a:ln>
                  <a:noFill/>
                </a:ln>
                <a:solidFill>
                  <a:srgbClr val="FFFFFF"/>
                </a:solidFill>
                <a:effectLst/>
                <a:uLnTx/>
                <a:uFillTx/>
                <a:latin typeface="Calibri"/>
                <a:ea typeface="+mn-ea"/>
                <a:cs typeface="+mn-cs"/>
              </a:rPr>
              <a:t>INNER JOIN</a:t>
            </a:r>
          </a:p>
        </p:txBody>
      </p:sp>
      <p:sp>
        <p:nvSpPr>
          <p:cNvPr id="8" name="Freeform 7">
            <a:hlinkClick r:id="rId4" action="ppaction://hlinksldjump"/>
            <a:extLst>
              <a:ext uri="{FF2B5EF4-FFF2-40B4-BE49-F238E27FC236}">
                <a16:creationId xmlns:a16="http://schemas.microsoft.com/office/drawing/2014/main" id="{26A3E8B3-838C-1F57-207E-1AC96403D35B}"/>
              </a:ext>
            </a:extLst>
          </p:cNvPr>
          <p:cNvSpPr/>
          <p:nvPr/>
        </p:nvSpPr>
        <p:spPr>
          <a:xfrm>
            <a:off x="5857545" y="3356994"/>
            <a:ext cx="2236185" cy="1341711"/>
          </a:xfrm>
          <a:custGeom>
            <a:avLst/>
            <a:gdLst>
              <a:gd name="connsiteX0" fmla="*/ 0 w 2236185"/>
              <a:gd name="connsiteY0" fmla="*/ 0 h 1341711"/>
              <a:gd name="connsiteX1" fmla="*/ 2236185 w 2236185"/>
              <a:gd name="connsiteY1" fmla="*/ 0 h 1341711"/>
              <a:gd name="connsiteX2" fmla="*/ 2236185 w 2236185"/>
              <a:gd name="connsiteY2" fmla="*/ 1341711 h 1341711"/>
              <a:gd name="connsiteX3" fmla="*/ 0 w 2236185"/>
              <a:gd name="connsiteY3" fmla="*/ 1341711 h 1341711"/>
              <a:gd name="connsiteX4" fmla="*/ 0 w 2236185"/>
              <a:gd name="connsiteY4" fmla="*/ 0 h 1341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6185" h="1341711">
                <a:moveTo>
                  <a:pt x="0" y="0"/>
                </a:moveTo>
                <a:lnTo>
                  <a:pt x="2236185" y="0"/>
                </a:lnTo>
                <a:lnTo>
                  <a:pt x="2236185" y="1341711"/>
                </a:lnTo>
                <a:lnTo>
                  <a:pt x="0" y="1341711"/>
                </a:lnTo>
                <a:lnTo>
                  <a:pt x="0" y="0"/>
                </a:lnTo>
                <a:close/>
              </a:path>
            </a:pathLst>
          </a:custGeom>
          <a:solidFill>
            <a:schemeClr val="tx2"/>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lIns="83820" tIns="83820" rIns="83820" bIns="83820" spcCol="1270" anchor="ctr"/>
          <a:lstStyle/>
          <a:p>
            <a:pPr marL="0" marR="0" lvl="0" indent="0" algn="ctr" defTabSz="977900" rtl="0" eaLnBrk="0" fontAlgn="base" latinLnBrk="0" hangingPunct="0">
              <a:lnSpc>
                <a:spcPct val="90000"/>
              </a:lnSpc>
              <a:spcBef>
                <a:spcPct val="0"/>
              </a:spcBef>
              <a:spcAft>
                <a:spcPct val="35000"/>
              </a:spcAft>
              <a:buClrTx/>
              <a:buSzTx/>
              <a:buFontTx/>
              <a:buNone/>
              <a:tabLst/>
              <a:defRPr/>
            </a:pPr>
            <a:r>
              <a:rPr kumimoji="0" lang="en-CA" sz="2200" b="0" i="0" u="none" strike="noStrike" kern="1200" cap="none" spc="0" normalizeH="0" baseline="0" noProof="0" dirty="0">
                <a:ln>
                  <a:noFill/>
                </a:ln>
                <a:solidFill>
                  <a:srgbClr val="FFFFFF"/>
                </a:solidFill>
                <a:effectLst/>
                <a:uLnTx/>
                <a:uFillTx/>
                <a:latin typeface="Calibri"/>
                <a:ea typeface="+mn-ea"/>
                <a:cs typeface="+mn-cs"/>
              </a:rPr>
              <a:t>OUTER JOIN</a:t>
            </a:r>
          </a:p>
        </p:txBody>
      </p:sp>
      <p:sp>
        <p:nvSpPr>
          <p:cNvPr id="9" name="Freeform 8">
            <a:hlinkClick r:id="rId5" action="ppaction://hlinksldjump"/>
            <a:extLst>
              <a:ext uri="{FF2B5EF4-FFF2-40B4-BE49-F238E27FC236}">
                <a16:creationId xmlns:a16="http://schemas.microsoft.com/office/drawing/2014/main" id="{378A6432-7F95-A46E-A7D5-08BF6C235594}"/>
              </a:ext>
            </a:extLst>
          </p:cNvPr>
          <p:cNvSpPr/>
          <p:nvPr/>
        </p:nvSpPr>
        <p:spPr>
          <a:xfrm>
            <a:off x="384937" y="4941448"/>
            <a:ext cx="2236185" cy="1341711"/>
          </a:xfrm>
          <a:custGeom>
            <a:avLst/>
            <a:gdLst>
              <a:gd name="connsiteX0" fmla="*/ 0 w 2236185"/>
              <a:gd name="connsiteY0" fmla="*/ 0 h 1341711"/>
              <a:gd name="connsiteX1" fmla="*/ 2236185 w 2236185"/>
              <a:gd name="connsiteY1" fmla="*/ 0 h 1341711"/>
              <a:gd name="connsiteX2" fmla="*/ 2236185 w 2236185"/>
              <a:gd name="connsiteY2" fmla="*/ 1341711 h 1341711"/>
              <a:gd name="connsiteX3" fmla="*/ 0 w 2236185"/>
              <a:gd name="connsiteY3" fmla="*/ 1341711 h 1341711"/>
              <a:gd name="connsiteX4" fmla="*/ 0 w 2236185"/>
              <a:gd name="connsiteY4" fmla="*/ 0 h 1341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6185" h="1341711">
                <a:moveTo>
                  <a:pt x="0" y="0"/>
                </a:moveTo>
                <a:lnTo>
                  <a:pt x="2236185" y="0"/>
                </a:lnTo>
                <a:lnTo>
                  <a:pt x="2236185" y="1341711"/>
                </a:lnTo>
                <a:lnTo>
                  <a:pt x="0" y="1341711"/>
                </a:lnTo>
                <a:lnTo>
                  <a:pt x="0" y="0"/>
                </a:lnTo>
                <a:close/>
              </a:path>
            </a:pathLst>
          </a:custGeom>
          <a:solidFill>
            <a:schemeClr val="tx1"/>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lIns="83820" tIns="83820" rIns="83820" bIns="83820" spcCol="1270" anchor="ctr"/>
          <a:lstStyle/>
          <a:p>
            <a:pPr marL="0" marR="0" lvl="0" indent="0" algn="ctr" defTabSz="977900" rtl="0" eaLnBrk="0" fontAlgn="base" latinLnBrk="0" hangingPunct="0">
              <a:lnSpc>
                <a:spcPct val="90000"/>
              </a:lnSpc>
              <a:spcBef>
                <a:spcPct val="0"/>
              </a:spcBef>
              <a:spcAft>
                <a:spcPct val="35000"/>
              </a:spcAft>
              <a:buClrTx/>
              <a:buSzTx/>
              <a:buFontTx/>
              <a:buNone/>
              <a:tabLst/>
              <a:defRPr/>
            </a:pPr>
            <a:r>
              <a:rPr kumimoji="0" lang="en-CA" sz="2200" b="0" i="0" u="none" strike="noStrike" kern="1200" cap="none" spc="0" normalizeH="0" baseline="0" noProof="0" dirty="0">
                <a:ln>
                  <a:noFill/>
                </a:ln>
                <a:solidFill>
                  <a:srgbClr val="FFFFFF"/>
                </a:solidFill>
                <a:effectLst/>
                <a:uLnTx/>
                <a:uFillTx/>
                <a:latin typeface="Calibri"/>
                <a:ea typeface="+mn-ea"/>
                <a:cs typeface="+mn-cs"/>
              </a:rPr>
              <a:t>SELF JOIN</a:t>
            </a:r>
          </a:p>
        </p:txBody>
      </p:sp>
      <p:sp>
        <p:nvSpPr>
          <p:cNvPr id="10" name="Freeform 9">
            <a:hlinkClick r:id="rId6" action="ppaction://hlinksldjump"/>
            <a:extLst>
              <a:ext uri="{FF2B5EF4-FFF2-40B4-BE49-F238E27FC236}">
                <a16:creationId xmlns:a16="http://schemas.microsoft.com/office/drawing/2014/main" id="{8DDA62BB-9897-36D3-43E8-3290A0BD2F2D}"/>
              </a:ext>
            </a:extLst>
          </p:cNvPr>
          <p:cNvSpPr/>
          <p:nvPr/>
        </p:nvSpPr>
        <p:spPr>
          <a:xfrm>
            <a:off x="3121241" y="4941169"/>
            <a:ext cx="2236185" cy="1341711"/>
          </a:xfrm>
          <a:custGeom>
            <a:avLst/>
            <a:gdLst>
              <a:gd name="connsiteX0" fmla="*/ 0 w 2236185"/>
              <a:gd name="connsiteY0" fmla="*/ 0 h 1341711"/>
              <a:gd name="connsiteX1" fmla="*/ 2236185 w 2236185"/>
              <a:gd name="connsiteY1" fmla="*/ 0 h 1341711"/>
              <a:gd name="connsiteX2" fmla="*/ 2236185 w 2236185"/>
              <a:gd name="connsiteY2" fmla="*/ 1341711 h 1341711"/>
              <a:gd name="connsiteX3" fmla="*/ 0 w 2236185"/>
              <a:gd name="connsiteY3" fmla="*/ 1341711 h 1341711"/>
              <a:gd name="connsiteX4" fmla="*/ 0 w 2236185"/>
              <a:gd name="connsiteY4" fmla="*/ 0 h 1341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6185" h="1341711">
                <a:moveTo>
                  <a:pt x="0" y="0"/>
                </a:moveTo>
                <a:lnTo>
                  <a:pt x="2236185" y="0"/>
                </a:lnTo>
                <a:lnTo>
                  <a:pt x="2236185" y="1341711"/>
                </a:lnTo>
                <a:lnTo>
                  <a:pt x="0" y="1341711"/>
                </a:lnTo>
                <a:lnTo>
                  <a:pt x="0" y="0"/>
                </a:lnTo>
                <a:close/>
              </a:path>
            </a:pathLst>
          </a:custGeom>
          <a:solidFill>
            <a:schemeClr val="accent6"/>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lIns="83820" tIns="83820" rIns="83820" bIns="83820" spcCol="1270" anchor="ctr"/>
          <a:lstStyle/>
          <a:p>
            <a:pPr marL="0" marR="0" lvl="0" indent="0" algn="ctr" defTabSz="977900" rtl="0" eaLnBrk="0" fontAlgn="base" latinLnBrk="0" hangingPunct="0">
              <a:lnSpc>
                <a:spcPct val="90000"/>
              </a:lnSpc>
              <a:spcBef>
                <a:spcPct val="0"/>
              </a:spcBef>
              <a:spcAft>
                <a:spcPct val="35000"/>
              </a:spcAft>
              <a:buClrTx/>
              <a:buSzTx/>
              <a:buFontTx/>
              <a:buNone/>
              <a:tabLst/>
              <a:defRPr/>
            </a:pPr>
            <a:r>
              <a:rPr kumimoji="0" lang="en-CA" sz="2200" b="0" i="0" u="none" strike="noStrike" kern="1200" cap="none" spc="0" normalizeH="0" baseline="0" noProof="0" dirty="0">
                <a:ln>
                  <a:noFill/>
                </a:ln>
                <a:solidFill>
                  <a:srgbClr val="FFFFFF"/>
                </a:solidFill>
                <a:effectLst/>
                <a:uLnTx/>
                <a:uFillTx/>
                <a:latin typeface="Calibri"/>
                <a:ea typeface="+mn-ea"/>
                <a:cs typeface="+mn-cs"/>
              </a:rPr>
              <a:t>MULTIPLE JOIN</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wipe(left)">
                                      <p:cBhvr>
                                        <p:cTn id="12" dur="500"/>
                                        <p:tgtEl>
                                          <p:spTgt spid="5">
                                            <p:txEl>
                                              <p:pRg st="2" end="2"/>
                                            </p:txEl>
                                          </p:spTgt>
                                        </p:tgtEl>
                                      </p:cBhvr>
                                    </p:animEffect>
                                  </p:childTnLst>
                                </p:cTn>
                              </p:par>
                            </p:childTnLst>
                          </p:cTn>
                        </p:par>
                        <p:par>
                          <p:cTn id="13" fill="hold" nodeType="afterGroup">
                            <p:stCondLst>
                              <p:cond delay="500"/>
                            </p:stCondLst>
                            <p:childTnLst>
                              <p:par>
                                <p:cTn id="14" presetID="42" presetClass="entr" presetSubtype="0" fill="hold" nodeType="after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1000"/>
                                        <p:tgtEl>
                                          <p:spTgt spid="6"/>
                                        </p:tgtEl>
                                      </p:cBhvr>
                                    </p:animEffect>
                                    <p:anim calcmode="lin" valueType="num">
                                      <p:cBhvr>
                                        <p:cTn id="17" dur="1000" fill="hold"/>
                                        <p:tgtEl>
                                          <p:spTgt spid="6"/>
                                        </p:tgtEl>
                                        <p:attrNameLst>
                                          <p:attrName>ppt_x</p:attrName>
                                        </p:attrNameLst>
                                      </p:cBhvr>
                                      <p:tavLst>
                                        <p:tav tm="0">
                                          <p:val>
                                            <p:strVal val="#ppt_x"/>
                                          </p:val>
                                        </p:tav>
                                        <p:tav tm="100000">
                                          <p:val>
                                            <p:strVal val="#ppt_x"/>
                                          </p:val>
                                        </p:tav>
                                      </p:tavLst>
                                    </p:anim>
                                    <p:anim calcmode="lin" valueType="num">
                                      <p:cBhvr>
                                        <p:cTn id="18" dur="1000" fill="hold"/>
                                        <p:tgtEl>
                                          <p:spTgt spid="6"/>
                                        </p:tgtEl>
                                        <p:attrNameLst>
                                          <p:attrName>ppt_y</p:attrName>
                                        </p:attrNameLst>
                                      </p:cBhvr>
                                      <p:tavLst>
                                        <p:tav tm="0">
                                          <p:val>
                                            <p:strVal val="#ppt_y+.1"/>
                                          </p:val>
                                        </p:tav>
                                        <p:tav tm="100000">
                                          <p:val>
                                            <p:strVal val="#ppt_y"/>
                                          </p:val>
                                        </p:tav>
                                      </p:tavLst>
                                    </p:anim>
                                  </p:childTnLst>
                                </p:cTn>
                              </p:par>
                            </p:childTnLst>
                          </p:cTn>
                        </p:par>
                        <p:par>
                          <p:cTn id="19" fill="hold" nodeType="afterGroup">
                            <p:stCondLst>
                              <p:cond delay="1500"/>
                            </p:stCondLst>
                            <p:childTnLst>
                              <p:par>
                                <p:cTn id="20" presetID="42" presetClass="entr" presetSubtype="0" fill="hold" nodeType="after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1000"/>
                                        <p:tgtEl>
                                          <p:spTgt spid="7"/>
                                        </p:tgtEl>
                                      </p:cBhvr>
                                    </p:animEffect>
                                    <p:anim calcmode="lin" valueType="num">
                                      <p:cBhvr>
                                        <p:cTn id="23" dur="1000" fill="hold"/>
                                        <p:tgtEl>
                                          <p:spTgt spid="7"/>
                                        </p:tgtEl>
                                        <p:attrNameLst>
                                          <p:attrName>ppt_x</p:attrName>
                                        </p:attrNameLst>
                                      </p:cBhvr>
                                      <p:tavLst>
                                        <p:tav tm="0">
                                          <p:val>
                                            <p:strVal val="#ppt_x"/>
                                          </p:val>
                                        </p:tav>
                                        <p:tav tm="100000">
                                          <p:val>
                                            <p:strVal val="#ppt_x"/>
                                          </p:val>
                                        </p:tav>
                                      </p:tavLst>
                                    </p:anim>
                                    <p:anim calcmode="lin" valueType="num">
                                      <p:cBhvr>
                                        <p:cTn id="24" dur="1000" fill="hold"/>
                                        <p:tgtEl>
                                          <p:spTgt spid="7"/>
                                        </p:tgtEl>
                                        <p:attrNameLst>
                                          <p:attrName>ppt_y</p:attrName>
                                        </p:attrNameLst>
                                      </p:cBhvr>
                                      <p:tavLst>
                                        <p:tav tm="0">
                                          <p:val>
                                            <p:strVal val="#ppt_y+.1"/>
                                          </p:val>
                                        </p:tav>
                                        <p:tav tm="100000">
                                          <p:val>
                                            <p:strVal val="#ppt_y"/>
                                          </p:val>
                                        </p:tav>
                                      </p:tavLst>
                                    </p:anim>
                                  </p:childTnLst>
                                </p:cTn>
                              </p:par>
                            </p:childTnLst>
                          </p:cTn>
                        </p:par>
                        <p:par>
                          <p:cTn id="25" fill="hold" nodeType="afterGroup">
                            <p:stCondLst>
                              <p:cond delay="2500"/>
                            </p:stCondLst>
                            <p:childTnLst>
                              <p:par>
                                <p:cTn id="26" presetID="42" presetClass="entr" presetSubtype="0" fill="hold" nodeType="after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1000"/>
                                        <p:tgtEl>
                                          <p:spTgt spid="8"/>
                                        </p:tgtEl>
                                      </p:cBhvr>
                                    </p:animEffect>
                                    <p:anim calcmode="lin" valueType="num">
                                      <p:cBhvr>
                                        <p:cTn id="29" dur="1000" fill="hold"/>
                                        <p:tgtEl>
                                          <p:spTgt spid="8"/>
                                        </p:tgtEl>
                                        <p:attrNameLst>
                                          <p:attrName>ppt_x</p:attrName>
                                        </p:attrNameLst>
                                      </p:cBhvr>
                                      <p:tavLst>
                                        <p:tav tm="0">
                                          <p:val>
                                            <p:strVal val="#ppt_x"/>
                                          </p:val>
                                        </p:tav>
                                        <p:tav tm="100000">
                                          <p:val>
                                            <p:strVal val="#ppt_x"/>
                                          </p:val>
                                        </p:tav>
                                      </p:tavLst>
                                    </p:anim>
                                    <p:anim calcmode="lin" valueType="num">
                                      <p:cBhvr>
                                        <p:cTn id="30" dur="1000" fill="hold"/>
                                        <p:tgtEl>
                                          <p:spTgt spid="8"/>
                                        </p:tgtEl>
                                        <p:attrNameLst>
                                          <p:attrName>ppt_y</p:attrName>
                                        </p:attrNameLst>
                                      </p:cBhvr>
                                      <p:tavLst>
                                        <p:tav tm="0">
                                          <p:val>
                                            <p:strVal val="#ppt_y+.1"/>
                                          </p:val>
                                        </p:tav>
                                        <p:tav tm="100000">
                                          <p:val>
                                            <p:strVal val="#ppt_y"/>
                                          </p:val>
                                        </p:tav>
                                      </p:tavLst>
                                    </p:anim>
                                  </p:childTnLst>
                                </p:cTn>
                              </p:par>
                            </p:childTnLst>
                          </p:cTn>
                        </p:par>
                        <p:par>
                          <p:cTn id="31" fill="hold" nodeType="afterGroup">
                            <p:stCondLst>
                              <p:cond delay="3500"/>
                            </p:stCondLst>
                            <p:childTnLst>
                              <p:par>
                                <p:cTn id="32" presetID="42" presetClass="entr" presetSubtype="0" fill="hold" nodeType="after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1000"/>
                                        <p:tgtEl>
                                          <p:spTgt spid="9"/>
                                        </p:tgtEl>
                                      </p:cBhvr>
                                    </p:animEffect>
                                    <p:anim calcmode="lin" valueType="num">
                                      <p:cBhvr>
                                        <p:cTn id="35" dur="1000" fill="hold"/>
                                        <p:tgtEl>
                                          <p:spTgt spid="9"/>
                                        </p:tgtEl>
                                        <p:attrNameLst>
                                          <p:attrName>ppt_x</p:attrName>
                                        </p:attrNameLst>
                                      </p:cBhvr>
                                      <p:tavLst>
                                        <p:tav tm="0">
                                          <p:val>
                                            <p:strVal val="#ppt_x"/>
                                          </p:val>
                                        </p:tav>
                                        <p:tav tm="100000">
                                          <p:val>
                                            <p:strVal val="#ppt_x"/>
                                          </p:val>
                                        </p:tav>
                                      </p:tavLst>
                                    </p:anim>
                                    <p:anim calcmode="lin" valueType="num">
                                      <p:cBhvr>
                                        <p:cTn id="36" dur="1000" fill="hold"/>
                                        <p:tgtEl>
                                          <p:spTgt spid="9"/>
                                        </p:tgtEl>
                                        <p:attrNameLst>
                                          <p:attrName>ppt_y</p:attrName>
                                        </p:attrNameLst>
                                      </p:cBhvr>
                                      <p:tavLst>
                                        <p:tav tm="0">
                                          <p:val>
                                            <p:strVal val="#ppt_y+.1"/>
                                          </p:val>
                                        </p:tav>
                                        <p:tav tm="100000">
                                          <p:val>
                                            <p:strVal val="#ppt_y"/>
                                          </p:val>
                                        </p:tav>
                                      </p:tavLst>
                                    </p:anim>
                                  </p:childTnLst>
                                </p:cTn>
                              </p:par>
                            </p:childTnLst>
                          </p:cTn>
                        </p:par>
                        <p:par>
                          <p:cTn id="37" fill="hold" nodeType="afterGroup">
                            <p:stCondLst>
                              <p:cond delay="4500"/>
                            </p:stCondLst>
                            <p:childTnLst>
                              <p:par>
                                <p:cTn id="38" presetID="42" presetClass="entr" presetSubtype="0" fill="hold" nodeType="after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fade">
                                      <p:cBhvr>
                                        <p:cTn id="40" dur="1000"/>
                                        <p:tgtEl>
                                          <p:spTgt spid="10"/>
                                        </p:tgtEl>
                                      </p:cBhvr>
                                    </p:animEffect>
                                    <p:anim calcmode="lin" valueType="num">
                                      <p:cBhvr>
                                        <p:cTn id="41" dur="1000" fill="hold"/>
                                        <p:tgtEl>
                                          <p:spTgt spid="10"/>
                                        </p:tgtEl>
                                        <p:attrNameLst>
                                          <p:attrName>ppt_x</p:attrName>
                                        </p:attrNameLst>
                                      </p:cBhvr>
                                      <p:tavLst>
                                        <p:tav tm="0">
                                          <p:val>
                                            <p:strVal val="#ppt_x"/>
                                          </p:val>
                                        </p:tav>
                                        <p:tav tm="100000">
                                          <p:val>
                                            <p:strVal val="#ppt_x"/>
                                          </p:val>
                                        </p:tav>
                                      </p:tavLst>
                                    </p:anim>
                                    <p:anim calcmode="lin" valueType="num">
                                      <p:cBhvr>
                                        <p:cTn id="42"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14F0D-B109-9B0A-2CE6-97132FEF9BDE}"/>
              </a:ext>
            </a:extLst>
          </p:cNvPr>
          <p:cNvSpPr>
            <a:spLocks noGrp="1"/>
          </p:cNvSpPr>
          <p:nvPr>
            <p:ph type="title"/>
          </p:nvPr>
        </p:nvSpPr>
        <p:spPr>
          <a:xfrm>
            <a:off x="457200" y="0"/>
            <a:ext cx="7620000" cy="1143000"/>
          </a:xfrm>
        </p:spPr>
        <p:txBody>
          <a:bodyPr/>
          <a:lstStyle/>
          <a:p>
            <a:pPr algn="ctr">
              <a:defRPr/>
            </a:pPr>
            <a:r>
              <a:rPr lang="en-US" dirty="0"/>
              <a:t>JOIN</a:t>
            </a:r>
            <a:endParaRPr lang="en-MY" dirty="0"/>
          </a:p>
        </p:txBody>
      </p:sp>
      <p:sp>
        <p:nvSpPr>
          <p:cNvPr id="19" name="Snip Single Corner Rectangle 18">
            <a:extLst>
              <a:ext uri="{FF2B5EF4-FFF2-40B4-BE49-F238E27FC236}">
                <a16:creationId xmlns:a16="http://schemas.microsoft.com/office/drawing/2014/main" id="{54EF35D2-BCF6-8B2C-C285-511033E8B06A}"/>
              </a:ext>
            </a:extLst>
          </p:cNvPr>
          <p:cNvSpPr/>
          <p:nvPr/>
        </p:nvSpPr>
        <p:spPr>
          <a:xfrm>
            <a:off x="-36513" y="1125538"/>
            <a:ext cx="1655763" cy="400050"/>
          </a:xfrm>
          <a:prstGeom prst="snip1Rect">
            <a:avLst/>
          </a:prstGeom>
          <a:ln/>
        </p:spPr>
        <p:style>
          <a:lnRef idx="1">
            <a:schemeClr val="accent2"/>
          </a:lnRef>
          <a:fillRef idx="3">
            <a:schemeClr val="accent2"/>
          </a:fillRef>
          <a:effectRef idx="2">
            <a:schemeClr val="accent2"/>
          </a:effectRef>
          <a:fontRef idx="minor">
            <a:schemeClr val="lt1"/>
          </a:fontRef>
        </p:style>
        <p:txBody>
          <a:bodyPr anchor="ctr">
            <a:spAutoFit/>
          </a:bodyPr>
          <a:lstStyle/>
          <a:p>
            <a:pPr marL="342900" marR="0" lvl="0" indent="-342900" algn="just" defTabSz="914400" rtl="0" eaLnBrk="1" fontAlgn="base" latinLnBrk="0" hangingPunct="1">
              <a:lnSpc>
                <a:spcPct val="100000"/>
              </a:lnSpc>
              <a:spcBef>
                <a:spcPct val="20000"/>
              </a:spcBef>
              <a:spcAft>
                <a:spcPct val="0"/>
              </a:spcAft>
              <a:buClr>
                <a:srgbClr val="FF6600"/>
              </a:buClr>
              <a:buSzPct val="100000"/>
              <a:buFontTx/>
              <a:buNone/>
              <a:tabLst/>
              <a:defRPr/>
            </a:pPr>
            <a:r>
              <a:rPr kumimoji="0" lang="en-US" sz="1800" b="0" i="0" u="none" strike="noStrike" kern="1200" cap="none" spc="0" normalizeH="0" baseline="0" noProof="0" dirty="0">
                <a:ln>
                  <a:noFill/>
                </a:ln>
                <a:solidFill>
                  <a:srgbClr val="FFFFFF"/>
                </a:solidFill>
                <a:effectLst/>
                <a:uLnTx/>
                <a:uFillTx/>
                <a:latin typeface="Arial" pitchFamily="34" charset="0"/>
                <a:ea typeface="Times New Roman" pitchFamily="18" charset="0"/>
                <a:cs typeface="Arial" pitchFamily="34" charset="0"/>
              </a:rPr>
              <a:t>CROSS JOIN</a:t>
            </a:r>
            <a:endParaRPr kumimoji="0" lang="en-GB" sz="1800" b="0" i="0" u="none" strike="noStrike" kern="0" cap="none" spc="0" normalizeH="0" baseline="0" noProof="0" dirty="0">
              <a:ln>
                <a:noFill/>
              </a:ln>
              <a:solidFill>
                <a:srgbClr val="2F2B20"/>
              </a:solidFill>
              <a:effectLst/>
              <a:uLnTx/>
              <a:uFillTx/>
              <a:latin typeface="Calibri"/>
              <a:ea typeface="+mn-ea"/>
              <a:cs typeface="+mn-cs"/>
            </a:endParaRPr>
          </a:p>
        </p:txBody>
      </p:sp>
      <p:sp>
        <p:nvSpPr>
          <p:cNvPr id="25" name="Content Placeholder 2">
            <a:extLst>
              <a:ext uri="{FF2B5EF4-FFF2-40B4-BE49-F238E27FC236}">
                <a16:creationId xmlns:a16="http://schemas.microsoft.com/office/drawing/2014/main" id="{D6CE8D52-0A70-1356-33D0-4879151F0278}"/>
              </a:ext>
            </a:extLst>
          </p:cNvPr>
          <p:cNvSpPr txBox="1">
            <a:spLocks/>
          </p:cNvSpPr>
          <p:nvPr/>
        </p:nvSpPr>
        <p:spPr bwMode="auto">
          <a:xfrm>
            <a:off x="250825" y="1773238"/>
            <a:ext cx="8054975"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With cross join, the result is obtained by combining each row from 1</a:t>
            </a:r>
            <a:r>
              <a:rPr kumimoji="0" lang="en-CA" altLang="en-US" sz="2800" b="0" i="0" u="none" strike="noStrike" kern="1200" cap="none" spc="0" normalizeH="0" baseline="30000" noProof="0">
                <a:ln>
                  <a:noFill/>
                </a:ln>
                <a:solidFill>
                  <a:srgbClr val="2F2B20"/>
                </a:solidFill>
                <a:effectLst/>
                <a:uLnTx/>
                <a:uFillTx/>
                <a:latin typeface="Calibri" panose="020F0502020204030204" pitchFamily="34" charset="0"/>
                <a:ea typeface="+mn-ea"/>
                <a:cs typeface="Arial" panose="020B0604020202020204" pitchFamily="34" charset="0"/>
              </a:rPr>
              <a:t>st</a:t>
            </a:r>
            <a:r>
              <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 table with each row from 2</a:t>
            </a:r>
            <a:r>
              <a:rPr kumimoji="0" lang="en-CA" altLang="en-US" sz="2800" b="0" i="0" u="none" strike="noStrike" kern="1200" cap="none" spc="0" normalizeH="0" baseline="30000" noProof="0">
                <a:ln>
                  <a:noFill/>
                </a:ln>
                <a:solidFill>
                  <a:srgbClr val="2F2B20"/>
                </a:solidFill>
                <a:effectLst/>
                <a:uLnTx/>
                <a:uFillTx/>
                <a:latin typeface="Calibri" panose="020F0502020204030204" pitchFamily="34" charset="0"/>
                <a:ea typeface="+mn-ea"/>
                <a:cs typeface="Arial" panose="020B0604020202020204" pitchFamily="34" charset="0"/>
              </a:rPr>
              <a:t>nd</a:t>
            </a:r>
            <a:r>
              <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 table</a:t>
            </a:r>
          </a:p>
        </p:txBody>
      </p:sp>
      <p:graphicFrame>
        <p:nvGraphicFramePr>
          <p:cNvPr id="26" name="Table 25">
            <a:extLst>
              <a:ext uri="{FF2B5EF4-FFF2-40B4-BE49-F238E27FC236}">
                <a16:creationId xmlns:a16="http://schemas.microsoft.com/office/drawing/2014/main" id="{EBCBB0F3-6F2F-5E88-16CB-D99414B0A68B}"/>
              </a:ext>
            </a:extLst>
          </p:cNvPr>
          <p:cNvGraphicFramePr>
            <a:graphicFrameLocks noGrp="1"/>
          </p:cNvGraphicFramePr>
          <p:nvPr/>
        </p:nvGraphicFramePr>
        <p:xfrm>
          <a:off x="88900" y="2781300"/>
          <a:ext cx="3816350" cy="1112838"/>
        </p:xfrm>
        <a:graphic>
          <a:graphicData uri="http://schemas.openxmlformats.org/drawingml/2006/table">
            <a:tbl>
              <a:tblPr firstRow="1" bandRow="1">
                <a:tableStyleId>{5FD0F851-EC5A-4D38-B0AD-8093EC10F338}</a:tableStyleId>
              </a:tblPr>
              <a:tblGrid>
                <a:gridCol w="1908175">
                  <a:extLst>
                    <a:ext uri="{9D8B030D-6E8A-4147-A177-3AD203B41FA5}">
                      <a16:colId xmlns:a16="http://schemas.microsoft.com/office/drawing/2014/main" val="20000"/>
                    </a:ext>
                  </a:extLst>
                </a:gridCol>
                <a:gridCol w="1908175">
                  <a:extLst>
                    <a:ext uri="{9D8B030D-6E8A-4147-A177-3AD203B41FA5}">
                      <a16:colId xmlns:a16="http://schemas.microsoft.com/office/drawing/2014/main" val="20001"/>
                    </a:ext>
                  </a:extLst>
                </a:gridCol>
              </a:tblGrid>
              <a:tr h="370946">
                <a:tc>
                  <a:txBody>
                    <a:bodyPr/>
                    <a:lstStyle/>
                    <a:p>
                      <a:pPr algn="ctr"/>
                      <a:r>
                        <a:rPr lang="en-CA" sz="1800" dirty="0"/>
                        <a:t>Name</a:t>
                      </a:r>
                    </a:p>
                  </a:txBody>
                  <a:tcPr marL="91438" marR="91438" marT="45733" marB="45733"/>
                </a:tc>
                <a:tc>
                  <a:txBody>
                    <a:bodyPr/>
                    <a:lstStyle/>
                    <a:p>
                      <a:pPr algn="ctr"/>
                      <a:r>
                        <a:rPr lang="en-CA" sz="1800" dirty="0" err="1"/>
                        <a:t>DepartmentId</a:t>
                      </a:r>
                      <a:endParaRPr lang="en-CA" sz="1800" dirty="0"/>
                    </a:p>
                  </a:txBody>
                  <a:tcPr marL="91438" marR="91438" marT="45733" marB="45733"/>
                </a:tc>
                <a:extLst>
                  <a:ext uri="{0D108BD9-81ED-4DB2-BD59-A6C34878D82A}">
                    <a16:rowId xmlns:a16="http://schemas.microsoft.com/office/drawing/2014/main" val="10000"/>
                  </a:ext>
                </a:extLst>
              </a:tr>
              <a:tr h="370946">
                <a:tc>
                  <a:txBody>
                    <a:bodyPr/>
                    <a:lstStyle/>
                    <a:p>
                      <a:pPr algn="ctr"/>
                      <a:r>
                        <a:rPr lang="en-CA" sz="1800" dirty="0"/>
                        <a:t>Aamir</a:t>
                      </a:r>
                    </a:p>
                  </a:txBody>
                  <a:tcPr marL="91438" marR="91438" marT="45733" marB="45733"/>
                </a:tc>
                <a:tc>
                  <a:txBody>
                    <a:bodyPr/>
                    <a:lstStyle/>
                    <a:p>
                      <a:pPr algn="ctr"/>
                      <a:r>
                        <a:rPr lang="en-CA" sz="1800" dirty="0"/>
                        <a:t>10</a:t>
                      </a:r>
                    </a:p>
                  </a:txBody>
                  <a:tcPr marL="91438" marR="91438" marT="45733" marB="45733"/>
                </a:tc>
                <a:extLst>
                  <a:ext uri="{0D108BD9-81ED-4DB2-BD59-A6C34878D82A}">
                    <a16:rowId xmlns:a16="http://schemas.microsoft.com/office/drawing/2014/main" val="10001"/>
                  </a:ext>
                </a:extLst>
              </a:tr>
              <a:tr h="370946">
                <a:tc>
                  <a:txBody>
                    <a:bodyPr/>
                    <a:lstStyle/>
                    <a:p>
                      <a:pPr algn="ctr"/>
                      <a:r>
                        <a:rPr lang="en-CA" sz="1800" dirty="0"/>
                        <a:t>Sadaf</a:t>
                      </a:r>
                    </a:p>
                  </a:txBody>
                  <a:tcPr marL="91438" marR="91438" marT="45733" marB="45733"/>
                </a:tc>
                <a:tc>
                  <a:txBody>
                    <a:bodyPr/>
                    <a:lstStyle/>
                    <a:p>
                      <a:pPr algn="ctr"/>
                      <a:r>
                        <a:rPr lang="en-CA" sz="1800" dirty="0"/>
                        <a:t>NULL</a:t>
                      </a:r>
                    </a:p>
                  </a:txBody>
                  <a:tcPr marL="91438" marR="91438" marT="45733" marB="45733"/>
                </a:tc>
                <a:extLst>
                  <a:ext uri="{0D108BD9-81ED-4DB2-BD59-A6C34878D82A}">
                    <a16:rowId xmlns:a16="http://schemas.microsoft.com/office/drawing/2014/main" val="10002"/>
                  </a:ext>
                </a:extLst>
              </a:tr>
            </a:tbl>
          </a:graphicData>
        </a:graphic>
      </p:graphicFrame>
      <p:graphicFrame>
        <p:nvGraphicFramePr>
          <p:cNvPr id="27" name="Table 26">
            <a:extLst>
              <a:ext uri="{FF2B5EF4-FFF2-40B4-BE49-F238E27FC236}">
                <a16:creationId xmlns:a16="http://schemas.microsoft.com/office/drawing/2014/main" id="{A1C59439-34A8-C7E6-C501-B60C6F59EE9C}"/>
              </a:ext>
            </a:extLst>
          </p:cNvPr>
          <p:cNvGraphicFramePr>
            <a:graphicFrameLocks noGrp="1"/>
          </p:cNvGraphicFramePr>
          <p:nvPr/>
        </p:nvGraphicFramePr>
        <p:xfrm>
          <a:off x="4624388" y="2781300"/>
          <a:ext cx="3816350" cy="1112838"/>
        </p:xfrm>
        <a:graphic>
          <a:graphicData uri="http://schemas.openxmlformats.org/drawingml/2006/table">
            <a:tbl>
              <a:tblPr firstRow="1" bandRow="1">
                <a:tableStyleId>{C083E6E3-FA7D-4D7B-A595-EF9225AFEA82}</a:tableStyleId>
              </a:tblPr>
              <a:tblGrid>
                <a:gridCol w="1908175">
                  <a:extLst>
                    <a:ext uri="{9D8B030D-6E8A-4147-A177-3AD203B41FA5}">
                      <a16:colId xmlns:a16="http://schemas.microsoft.com/office/drawing/2014/main" val="20000"/>
                    </a:ext>
                  </a:extLst>
                </a:gridCol>
                <a:gridCol w="1908175">
                  <a:extLst>
                    <a:ext uri="{9D8B030D-6E8A-4147-A177-3AD203B41FA5}">
                      <a16:colId xmlns:a16="http://schemas.microsoft.com/office/drawing/2014/main" val="20001"/>
                    </a:ext>
                  </a:extLst>
                </a:gridCol>
              </a:tblGrid>
              <a:tr h="370946">
                <a:tc>
                  <a:txBody>
                    <a:bodyPr/>
                    <a:lstStyle/>
                    <a:p>
                      <a:pPr algn="ctr"/>
                      <a:r>
                        <a:rPr lang="en-CA" sz="1800" dirty="0" err="1"/>
                        <a:t>DepartmentId</a:t>
                      </a:r>
                      <a:endParaRPr lang="en-CA" sz="1800" dirty="0"/>
                    </a:p>
                  </a:txBody>
                  <a:tcPr marL="91438" marR="91438" marT="45733" marB="45733"/>
                </a:tc>
                <a:tc>
                  <a:txBody>
                    <a:bodyPr/>
                    <a:lstStyle/>
                    <a:p>
                      <a:pPr algn="ctr"/>
                      <a:r>
                        <a:rPr lang="en-CA" sz="1800" dirty="0"/>
                        <a:t>Name</a:t>
                      </a:r>
                    </a:p>
                  </a:txBody>
                  <a:tcPr marL="91438" marR="91438" marT="45733" marB="45733"/>
                </a:tc>
                <a:extLst>
                  <a:ext uri="{0D108BD9-81ED-4DB2-BD59-A6C34878D82A}">
                    <a16:rowId xmlns:a16="http://schemas.microsoft.com/office/drawing/2014/main" val="10000"/>
                  </a:ext>
                </a:extLst>
              </a:tr>
              <a:tr h="370946">
                <a:tc>
                  <a:txBody>
                    <a:bodyPr/>
                    <a:lstStyle/>
                    <a:p>
                      <a:pPr algn="ctr"/>
                      <a:r>
                        <a:rPr lang="en-CA" sz="1800" dirty="0"/>
                        <a:t>10</a:t>
                      </a:r>
                    </a:p>
                  </a:txBody>
                  <a:tcPr marL="91438" marR="91438" marT="45733" marB="45733"/>
                </a:tc>
                <a:tc>
                  <a:txBody>
                    <a:bodyPr/>
                    <a:lstStyle/>
                    <a:p>
                      <a:pPr algn="ctr"/>
                      <a:r>
                        <a:rPr lang="en-CA" sz="1800" dirty="0"/>
                        <a:t>IT</a:t>
                      </a:r>
                    </a:p>
                  </a:txBody>
                  <a:tcPr marL="91438" marR="91438" marT="45733" marB="45733"/>
                </a:tc>
                <a:extLst>
                  <a:ext uri="{0D108BD9-81ED-4DB2-BD59-A6C34878D82A}">
                    <a16:rowId xmlns:a16="http://schemas.microsoft.com/office/drawing/2014/main" val="10001"/>
                  </a:ext>
                </a:extLst>
              </a:tr>
              <a:tr h="370946">
                <a:tc>
                  <a:txBody>
                    <a:bodyPr/>
                    <a:lstStyle/>
                    <a:p>
                      <a:pPr algn="ctr"/>
                      <a:r>
                        <a:rPr lang="en-CA" sz="1800" dirty="0"/>
                        <a:t>15</a:t>
                      </a:r>
                    </a:p>
                  </a:txBody>
                  <a:tcPr marL="91438" marR="91438" marT="45733" marB="45733"/>
                </a:tc>
                <a:tc>
                  <a:txBody>
                    <a:bodyPr/>
                    <a:lstStyle/>
                    <a:p>
                      <a:pPr algn="ctr"/>
                      <a:r>
                        <a:rPr lang="en-CA" sz="1800" dirty="0"/>
                        <a:t>Finance</a:t>
                      </a:r>
                    </a:p>
                  </a:txBody>
                  <a:tcPr marL="91438" marR="91438" marT="45733" marB="45733"/>
                </a:tc>
                <a:extLst>
                  <a:ext uri="{0D108BD9-81ED-4DB2-BD59-A6C34878D82A}">
                    <a16:rowId xmlns:a16="http://schemas.microsoft.com/office/drawing/2014/main" val="10002"/>
                  </a:ext>
                </a:extLst>
              </a:tr>
            </a:tbl>
          </a:graphicData>
        </a:graphic>
      </p:graphicFrame>
      <p:sp>
        <p:nvSpPr>
          <p:cNvPr id="29" name="TextBox 28">
            <a:extLst>
              <a:ext uri="{FF2B5EF4-FFF2-40B4-BE49-F238E27FC236}">
                <a16:creationId xmlns:a16="http://schemas.microsoft.com/office/drawing/2014/main" id="{D30D5380-1BF3-2235-CF61-1DC6412F7E5F}"/>
              </a:ext>
            </a:extLst>
          </p:cNvPr>
          <p:cNvSpPr txBox="1">
            <a:spLocks noChangeArrowheads="1"/>
          </p:cNvSpPr>
          <p:nvPr/>
        </p:nvSpPr>
        <p:spPr bwMode="auto">
          <a:xfrm>
            <a:off x="989013" y="3897313"/>
            <a:ext cx="20161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Employee table</a:t>
            </a:r>
          </a:p>
        </p:txBody>
      </p:sp>
      <p:sp>
        <p:nvSpPr>
          <p:cNvPr id="30" name="TextBox 29">
            <a:extLst>
              <a:ext uri="{FF2B5EF4-FFF2-40B4-BE49-F238E27FC236}">
                <a16:creationId xmlns:a16="http://schemas.microsoft.com/office/drawing/2014/main" id="{D1E42FE8-9164-C1AE-9C32-7A15012F13DA}"/>
              </a:ext>
            </a:extLst>
          </p:cNvPr>
          <p:cNvSpPr txBox="1">
            <a:spLocks noChangeArrowheads="1"/>
          </p:cNvSpPr>
          <p:nvPr/>
        </p:nvSpPr>
        <p:spPr bwMode="auto">
          <a:xfrm>
            <a:off x="5526088" y="3897313"/>
            <a:ext cx="201453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Department table</a:t>
            </a:r>
          </a:p>
        </p:txBody>
      </p:sp>
      <p:graphicFrame>
        <p:nvGraphicFramePr>
          <p:cNvPr id="33" name="Table 32">
            <a:extLst>
              <a:ext uri="{FF2B5EF4-FFF2-40B4-BE49-F238E27FC236}">
                <a16:creationId xmlns:a16="http://schemas.microsoft.com/office/drawing/2014/main" id="{9F132151-17CE-8F95-58F7-ADC1128AE131}"/>
              </a:ext>
            </a:extLst>
          </p:cNvPr>
          <p:cNvGraphicFramePr>
            <a:graphicFrameLocks noGrp="1"/>
          </p:cNvGraphicFramePr>
          <p:nvPr/>
        </p:nvGraphicFramePr>
        <p:xfrm>
          <a:off x="1384300" y="4437063"/>
          <a:ext cx="6624638" cy="1854200"/>
        </p:xfrm>
        <a:graphic>
          <a:graphicData uri="http://schemas.openxmlformats.org/drawingml/2006/table">
            <a:tbl>
              <a:tblPr firstRow="1" bandRow="1">
                <a:tableStyleId>{9D7B26C5-4107-4FEC-AEDC-1716B250A1EF}</a:tableStyleId>
              </a:tblPr>
              <a:tblGrid>
                <a:gridCol w="1368133">
                  <a:extLst>
                    <a:ext uri="{9D8B030D-6E8A-4147-A177-3AD203B41FA5}">
                      <a16:colId xmlns:a16="http://schemas.microsoft.com/office/drawing/2014/main" val="20000"/>
                    </a:ext>
                  </a:extLst>
                </a:gridCol>
                <a:gridCol w="1872180">
                  <a:extLst>
                    <a:ext uri="{9D8B030D-6E8A-4147-A177-3AD203B41FA5}">
                      <a16:colId xmlns:a16="http://schemas.microsoft.com/office/drawing/2014/main" val="20001"/>
                    </a:ext>
                  </a:extLst>
                </a:gridCol>
                <a:gridCol w="2184928">
                  <a:extLst>
                    <a:ext uri="{9D8B030D-6E8A-4147-A177-3AD203B41FA5}">
                      <a16:colId xmlns:a16="http://schemas.microsoft.com/office/drawing/2014/main" val="20002"/>
                    </a:ext>
                  </a:extLst>
                </a:gridCol>
                <a:gridCol w="1199397">
                  <a:extLst>
                    <a:ext uri="{9D8B030D-6E8A-4147-A177-3AD203B41FA5}">
                      <a16:colId xmlns:a16="http://schemas.microsoft.com/office/drawing/2014/main" val="20003"/>
                    </a:ext>
                  </a:extLst>
                </a:gridCol>
              </a:tblGrid>
              <a:tr h="370840">
                <a:tc>
                  <a:txBody>
                    <a:bodyPr/>
                    <a:lstStyle/>
                    <a:p>
                      <a:pPr algn="ctr"/>
                      <a:r>
                        <a:rPr lang="en-CA" dirty="0"/>
                        <a:t>Name</a:t>
                      </a:r>
                    </a:p>
                  </a:txBody>
                  <a:tcPr marL="91439" marR="91439"/>
                </a:tc>
                <a:tc>
                  <a:txBody>
                    <a:bodyPr/>
                    <a:lstStyle/>
                    <a:p>
                      <a:pPr algn="ctr"/>
                      <a:r>
                        <a:rPr lang="en-CA" dirty="0" err="1"/>
                        <a:t>DepartmentId</a:t>
                      </a:r>
                      <a:endParaRPr lang="en-CA" dirty="0"/>
                    </a:p>
                  </a:txBody>
                  <a:tcPr marL="91439" marR="91439"/>
                </a:tc>
                <a:tc>
                  <a:txBody>
                    <a:bodyPr/>
                    <a:lstStyle/>
                    <a:p>
                      <a:pPr algn="ctr"/>
                      <a:r>
                        <a:rPr lang="en-CA" dirty="0" err="1"/>
                        <a:t>DepartmentId</a:t>
                      </a:r>
                      <a:endParaRPr lang="en-CA" dirty="0"/>
                    </a:p>
                  </a:txBody>
                  <a:tcPr marL="91439" marR="91439"/>
                </a:tc>
                <a:tc>
                  <a:txBody>
                    <a:bodyPr/>
                    <a:lstStyle/>
                    <a:p>
                      <a:pPr algn="ctr"/>
                      <a:r>
                        <a:rPr lang="en-CA" dirty="0"/>
                        <a:t>Name</a:t>
                      </a:r>
                    </a:p>
                  </a:txBody>
                  <a:tcPr marL="91439" marR="91439"/>
                </a:tc>
                <a:extLst>
                  <a:ext uri="{0D108BD9-81ED-4DB2-BD59-A6C34878D82A}">
                    <a16:rowId xmlns:a16="http://schemas.microsoft.com/office/drawing/2014/main" val="10000"/>
                  </a:ext>
                </a:extLst>
              </a:tr>
              <a:tr h="370840">
                <a:tc>
                  <a:txBody>
                    <a:bodyPr/>
                    <a:lstStyle/>
                    <a:p>
                      <a:pPr algn="ctr"/>
                      <a:r>
                        <a:rPr lang="en-CA" dirty="0"/>
                        <a:t>Aamir</a:t>
                      </a:r>
                    </a:p>
                  </a:txBody>
                  <a:tcPr marL="91439" marR="91439"/>
                </a:tc>
                <a:tc>
                  <a:txBody>
                    <a:bodyPr/>
                    <a:lstStyle/>
                    <a:p>
                      <a:pPr algn="ctr"/>
                      <a:r>
                        <a:rPr lang="en-CA" dirty="0"/>
                        <a:t>10</a:t>
                      </a:r>
                    </a:p>
                  </a:txBody>
                  <a:tcPr marL="91439" marR="91439"/>
                </a:tc>
                <a:tc>
                  <a:txBody>
                    <a:bodyPr/>
                    <a:lstStyle/>
                    <a:p>
                      <a:pPr algn="ctr"/>
                      <a:r>
                        <a:rPr lang="en-CA" dirty="0"/>
                        <a:t>10</a:t>
                      </a:r>
                    </a:p>
                  </a:txBody>
                  <a:tcPr marL="91439" marR="91439"/>
                </a:tc>
                <a:tc>
                  <a:txBody>
                    <a:bodyPr/>
                    <a:lstStyle/>
                    <a:p>
                      <a:pPr algn="ctr"/>
                      <a:r>
                        <a:rPr lang="en-CA" dirty="0"/>
                        <a:t>IT</a:t>
                      </a:r>
                    </a:p>
                  </a:txBody>
                  <a:tcPr marL="91439" marR="91439"/>
                </a:tc>
                <a:extLst>
                  <a:ext uri="{0D108BD9-81ED-4DB2-BD59-A6C34878D82A}">
                    <a16:rowId xmlns:a16="http://schemas.microsoft.com/office/drawing/2014/main" val="10001"/>
                  </a:ext>
                </a:extLst>
              </a:tr>
              <a:tr h="370840">
                <a:tc>
                  <a:txBody>
                    <a:bodyPr/>
                    <a:lstStyle/>
                    <a:p>
                      <a:pPr algn="ctr"/>
                      <a:r>
                        <a:rPr lang="en-CA" dirty="0"/>
                        <a:t>Sadaf</a:t>
                      </a:r>
                    </a:p>
                  </a:txBody>
                  <a:tcPr marL="91439" marR="91439"/>
                </a:tc>
                <a:tc>
                  <a:txBody>
                    <a:bodyPr/>
                    <a:lstStyle/>
                    <a:p>
                      <a:pPr algn="ctr"/>
                      <a:r>
                        <a:rPr lang="en-CA" dirty="0"/>
                        <a:t>NULL</a:t>
                      </a:r>
                    </a:p>
                  </a:txBody>
                  <a:tcPr marL="91439" marR="91439"/>
                </a:tc>
                <a:tc>
                  <a:txBody>
                    <a:bodyPr/>
                    <a:lstStyle/>
                    <a:p>
                      <a:pPr algn="ctr"/>
                      <a:r>
                        <a:rPr lang="en-CA" dirty="0"/>
                        <a:t>10</a:t>
                      </a:r>
                    </a:p>
                  </a:txBody>
                  <a:tcPr marL="91439" marR="91439"/>
                </a:tc>
                <a:tc>
                  <a:txBody>
                    <a:bodyPr/>
                    <a:lstStyle/>
                    <a:p>
                      <a:pPr algn="ctr"/>
                      <a:r>
                        <a:rPr lang="en-CA" dirty="0"/>
                        <a:t>IT</a:t>
                      </a:r>
                    </a:p>
                  </a:txBody>
                  <a:tcPr marL="91439" marR="91439"/>
                </a:tc>
                <a:extLst>
                  <a:ext uri="{0D108BD9-81ED-4DB2-BD59-A6C34878D82A}">
                    <a16:rowId xmlns:a16="http://schemas.microsoft.com/office/drawing/2014/main" val="10002"/>
                  </a:ext>
                </a:extLst>
              </a:tr>
              <a:tr h="370840">
                <a:tc>
                  <a:txBody>
                    <a:bodyPr/>
                    <a:lstStyle/>
                    <a:p>
                      <a:pPr algn="ctr"/>
                      <a:r>
                        <a:rPr lang="en-CA" dirty="0"/>
                        <a:t>Aamir</a:t>
                      </a:r>
                    </a:p>
                  </a:txBody>
                  <a:tcPr marL="91439" marR="91439"/>
                </a:tc>
                <a:tc>
                  <a:txBody>
                    <a:bodyPr/>
                    <a:lstStyle/>
                    <a:p>
                      <a:pPr algn="ctr"/>
                      <a:r>
                        <a:rPr lang="en-CA" dirty="0"/>
                        <a:t>10</a:t>
                      </a:r>
                    </a:p>
                  </a:txBody>
                  <a:tcPr marL="91439" marR="91439"/>
                </a:tc>
                <a:tc>
                  <a:txBody>
                    <a:bodyPr/>
                    <a:lstStyle/>
                    <a:p>
                      <a:pPr algn="ctr"/>
                      <a:r>
                        <a:rPr lang="en-CA" dirty="0"/>
                        <a:t>15</a:t>
                      </a:r>
                    </a:p>
                  </a:txBody>
                  <a:tcPr marL="91439" marR="91439"/>
                </a:tc>
                <a:tc>
                  <a:txBody>
                    <a:bodyPr/>
                    <a:lstStyle/>
                    <a:p>
                      <a:pPr algn="ctr"/>
                      <a:r>
                        <a:rPr lang="en-CA" dirty="0"/>
                        <a:t>Finance</a:t>
                      </a:r>
                    </a:p>
                  </a:txBody>
                  <a:tcPr marL="91439" marR="91439"/>
                </a:tc>
                <a:extLst>
                  <a:ext uri="{0D108BD9-81ED-4DB2-BD59-A6C34878D82A}">
                    <a16:rowId xmlns:a16="http://schemas.microsoft.com/office/drawing/2014/main" val="10003"/>
                  </a:ext>
                </a:extLst>
              </a:tr>
              <a:tr h="370840">
                <a:tc>
                  <a:txBody>
                    <a:bodyPr/>
                    <a:lstStyle/>
                    <a:p>
                      <a:pPr algn="ctr"/>
                      <a:r>
                        <a:rPr lang="en-CA" dirty="0"/>
                        <a:t>Sadaf</a:t>
                      </a:r>
                    </a:p>
                  </a:txBody>
                  <a:tcPr marL="91439" marR="91439"/>
                </a:tc>
                <a:tc>
                  <a:txBody>
                    <a:bodyPr/>
                    <a:lstStyle/>
                    <a:p>
                      <a:pPr algn="ctr"/>
                      <a:r>
                        <a:rPr lang="en-CA" dirty="0"/>
                        <a:t>NULL</a:t>
                      </a:r>
                    </a:p>
                  </a:txBody>
                  <a:tcPr marL="91439" marR="91439"/>
                </a:tc>
                <a:tc>
                  <a:txBody>
                    <a:bodyPr/>
                    <a:lstStyle/>
                    <a:p>
                      <a:pPr algn="ctr"/>
                      <a:r>
                        <a:rPr lang="en-CA" dirty="0"/>
                        <a:t>15</a:t>
                      </a:r>
                    </a:p>
                  </a:txBody>
                  <a:tcPr marL="91439" marR="91439"/>
                </a:tc>
                <a:tc>
                  <a:txBody>
                    <a:bodyPr/>
                    <a:lstStyle/>
                    <a:p>
                      <a:pPr algn="ctr"/>
                      <a:r>
                        <a:rPr lang="en-CA" dirty="0"/>
                        <a:t>Finance</a:t>
                      </a:r>
                    </a:p>
                  </a:txBody>
                  <a:tcPr marL="91439" marR="91439"/>
                </a:tc>
                <a:extLst>
                  <a:ext uri="{0D108BD9-81ED-4DB2-BD59-A6C34878D82A}">
                    <a16:rowId xmlns:a16="http://schemas.microsoft.com/office/drawing/2014/main" val="10004"/>
                  </a:ext>
                </a:extLst>
              </a:tr>
            </a:tbl>
          </a:graphicData>
        </a:graphic>
      </p:graphicFrame>
      <p:sp>
        <p:nvSpPr>
          <p:cNvPr id="34" name="Snip Single Corner Rectangle 33">
            <a:extLst>
              <a:ext uri="{FF2B5EF4-FFF2-40B4-BE49-F238E27FC236}">
                <a16:creationId xmlns:a16="http://schemas.microsoft.com/office/drawing/2014/main" id="{8B7AA205-3CE9-46DC-2525-6AE337030E27}"/>
              </a:ext>
            </a:extLst>
          </p:cNvPr>
          <p:cNvSpPr/>
          <p:nvPr/>
        </p:nvSpPr>
        <p:spPr bwMode="auto">
          <a:xfrm>
            <a:off x="76200" y="4437063"/>
            <a:ext cx="1092200" cy="431800"/>
          </a:xfrm>
          <a:prstGeom prst="snip1Rect">
            <a:avLst/>
          </a:prstGeom>
          <a:solidFill>
            <a:srgbClr val="FFFF00">
              <a:alpha val="30000"/>
            </a:srgbClr>
          </a:solidFill>
          <a:ln w="9525" cap="flat" cmpd="sng" algn="ctr">
            <a:solidFill>
              <a:srgbClr val="FFC000"/>
            </a:solidFill>
            <a:prstDash val="solid"/>
            <a:round/>
            <a:headEnd type="none" w="med" len="med"/>
            <a:tailEnd type="none" w="med" len="me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sz="2000" b="1"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Result:</a:t>
            </a:r>
          </a:p>
        </p:txBody>
      </p:sp>
      <p:cxnSp>
        <p:nvCxnSpPr>
          <p:cNvPr id="39" name="Straight Arrow Connector 38">
            <a:extLst>
              <a:ext uri="{FF2B5EF4-FFF2-40B4-BE49-F238E27FC236}">
                <a16:creationId xmlns:a16="http://schemas.microsoft.com/office/drawing/2014/main" id="{AC6B4127-375B-461E-B77E-894EDCDC2964}"/>
              </a:ext>
            </a:extLst>
          </p:cNvPr>
          <p:cNvCxnSpPr>
            <a:cxnSpLocks noChangeShapeType="1"/>
          </p:cNvCxnSpPr>
          <p:nvPr/>
        </p:nvCxnSpPr>
        <p:spPr bwMode="auto">
          <a:xfrm>
            <a:off x="3760788" y="3341688"/>
            <a:ext cx="1025525" cy="0"/>
          </a:xfrm>
          <a:prstGeom prst="straightConnector1">
            <a:avLst/>
          </a:prstGeom>
          <a:noFill/>
          <a:ln w="25400"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40" name="Rectangle 39">
            <a:extLst>
              <a:ext uri="{FF2B5EF4-FFF2-40B4-BE49-F238E27FC236}">
                <a16:creationId xmlns:a16="http://schemas.microsoft.com/office/drawing/2014/main" id="{51553563-4A7B-8790-2FCA-D09E488F547A}"/>
              </a:ext>
            </a:extLst>
          </p:cNvPr>
          <p:cNvSpPr/>
          <p:nvPr/>
        </p:nvSpPr>
        <p:spPr bwMode="auto">
          <a:xfrm>
            <a:off x="1384300" y="4800600"/>
            <a:ext cx="282575" cy="392113"/>
          </a:xfrm>
          <a:prstGeom prst="rect">
            <a:avLst/>
          </a:prstGeom>
          <a:solidFill>
            <a:schemeClr val="accent4"/>
          </a:solidFill>
          <a:ln w="9525" cap="flat" cmpd="sng" algn="ctr">
            <a:solidFill>
              <a:schemeClr val="tx1"/>
            </a:solidFill>
            <a:prstDash val="solid"/>
            <a:round/>
            <a:headEnd type="none" w="med" len="med"/>
            <a:tailEnd type="none" w="med" len="me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1800" b="0" i="0" u="none" strike="noStrike" kern="1200" cap="none" spc="0" normalizeH="0" baseline="0" noProof="0" dirty="0">
                <a:ln>
                  <a:noFill/>
                </a:ln>
                <a:solidFill>
                  <a:srgbClr val="FFFFFF"/>
                </a:solidFill>
                <a:effectLst/>
                <a:uLnTx/>
                <a:uFillTx/>
                <a:latin typeface="Arial" charset="0"/>
                <a:ea typeface="+mn-ea"/>
                <a:cs typeface="Arial" panose="020B0604020202020204" pitchFamily="34" charset="0"/>
              </a:rPr>
              <a:t>1</a:t>
            </a:r>
          </a:p>
        </p:txBody>
      </p:sp>
      <p:sp>
        <p:nvSpPr>
          <p:cNvPr id="41" name="Rectangle 40">
            <a:extLst>
              <a:ext uri="{FF2B5EF4-FFF2-40B4-BE49-F238E27FC236}">
                <a16:creationId xmlns:a16="http://schemas.microsoft.com/office/drawing/2014/main" id="{818DC27D-F1C4-AA61-6986-BE844E08B3E4}"/>
              </a:ext>
            </a:extLst>
          </p:cNvPr>
          <p:cNvSpPr/>
          <p:nvPr/>
        </p:nvSpPr>
        <p:spPr bwMode="auto">
          <a:xfrm>
            <a:off x="1385888" y="5540375"/>
            <a:ext cx="284162" cy="392113"/>
          </a:xfrm>
          <a:prstGeom prst="rect">
            <a:avLst/>
          </a:prstGeom>
          <a:solidFill>
            <a:schemeClr val="accent4"/>
          </a:solidFill>
          <a:ln w="9525" cap="flat" cmpd="sng" algn="ctr">
            <a:solidFill>
              <a:schemeClr val="tx1"/>
            </a:solidFill>
            <a:prstDash val="solid"/>
            <a:round/>
            <a:headEnd type="none" w="med" len="med"/>
            <a:tailEnd type="none" w="med" len="me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1800" b="0" i="0" u="none" strike="noStrike" kern="1200" cap="none" spc="0" normalizeH="0" baseline="0" noProof="0" dirty="0">
                <a:ln>
                  <a:noFill/>
                </a:ln>
                <a:solidFill>
                  <a:srgbClr val="FFFFFF"/>
                </a:solidFill>
                <a:effectLst/>
                <a:uLnTx/>
                <a:uFillTx/>
                <a:latin typeface="Arial" charset="0"/>
                <a:ea typeface="+mn-ea"/>
                <a:cs typeface="Arial" panose="020B0604020202020204" pitchFamily="34" charset="0"/>
              </a:rPr>
              <a:t>3</a:t>
            </a:r>
          </a:p>
        </p:txBody>
      </p:sp>
      <p:sp>
        <p:nvSpPr>
          <p:cNvPr id="42" name="Rectangle 41">
            <a:extLst>
              <a:ext uri="{FF2B5EF4-FFF2-40B4-BE49-F238E27FC236}">
                <a16:creationId xmlns:a16="http://schemas.microsoft.com/office/drawing/2014/main" id="{538E229B-7139-5471-2899-4EA3A64FE2F9}"/>
              </a:ext>
            </a:extLst>
          </p:cNvPr>
          <p:cNvSpPr/>
          <p:nvPr/>
        </p:nvSpPr>
        <p:spPr bwMode="auto">
          <a:xfrm>
            <a:off x="1384300" y="5178425"/>
            <a:ext cx="284163" cy="393700"/>
          </a:xfrm>
          <a:prstGeom prst="rect">
            <a:avLst/>
          </a:prstGeom>
          <a:solidFill>
            <a:schemeClr val="accent4"/>
          </a:solidFill>
          <a:ln w="9525" cap="flat" cmpd="sng" algn="ctr">
            <a:solidFill>
              <a:schemeClr val="tx1"/>
            </a:solidFill>
            <a:prstDash val="solid"/>
            <a:round/>
            <a:headEnd type="none" w="med" len="med"/>
            <a:tailEnd type="none" w="med" len="me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1800" b="0" i="0" u="none" strike="noStrike" kern="1200" cap="none" spc="0" normalizeH="0" baseline="0" noProof="0" dirty="0">
                <a:ln>
                  <a:noFill/>
                </a:ln>
                <a:solidFill>
                  <a:srgbClr val="FFFFFF"/>
                </a:solidFill>
                <a:effectLst/>
                <a:uLnTx/>
                <a:uFillTx/>
                <a:latin typeface="Arial" charset="0"/>
                <a:ea typeface="+mn-ea"/>
                <a:cs typeface="Arial" panose="020B0604020202020204" pitchFamily="34" charset="0"/>
              </a:rPr>
              <a:t>2</a:t>
            </a:r>
          </a:p>
        </p:txBody>
      </p:sp>
      <p:sp>
        <p:nvSpPr>
          <p:cNvPr id="43" name="Rectangle 42">
            <a:extLst>
              <a:ext uri="{FF2B5EF4-FFF2-40B4-BE49-F238E27FC236}">
                <a16:creationId xmlns:a16="http://schemas.microsoft.com/office/drawing/2014/main" id="{4F0AEDC4-F5C3-0716-CEE6-56056688872C}"/>
              </a:ext>
            </a:extLst>
          </p:cNvPr>
          <p:cNvSpPr/>
          <p:nvPr/>
        </p:nvSpPr>
        <p:spPr bwMode="auto">
          <a:xfrm>
            <a:off x="1384300" y="5902325"/>
            <a:ext cx="282575" cy="392113"/>
          </a:xfrm>
          <a:prstGeom prst="rect">
            <a:avLst/>
          </a:prstGeom>
          <a:solidFill>
            <a:schemeClr val="accent4"/>
          </a:solidFill>
          <a:ln w="9525" cap="flat" cmpd="sng" algn="ctr">
            <a:solidFill>
              <a:schemeClr val="tx1"/>
            </a:solidFill>
            <a:prstDash val="solid"/>
            <a:round/>
            <a:headEnd type="none" w="med" len="med"/>
            <a:tailEnd type="none" w="med" len="me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1800" b="0" i="0" u="none" strike="noStrike" kern="1200" cap="none" spc="0" normalizeH="0" baseline="0" noProof="0" dirty="0">
                <a:ln>
                  <a:noFill/>
                </a:ln>
                <a:solidFill>
                  <a:srgbClr val="FFFFFF"/>
                </a:solidFill>
                <a:effectLst/>
                <a:uLnTx/>
                <a:uFillTx/>
                <a:latin typeface="Arial" charset="0"/>
                <a:ea typeface="+mn-ea"/>
                <a:cs typeface="Arial" panose="020B0604020202020204" pitchFamily="34" charset="0"/>
              </a:rPr>
              <a:t>4</a:t>
            </a:r>
          </a:p>
        </p:txBody>
      </p:sp>
      <p:cxnSp>
        <p:nvCxnSpPr>
          <p:cNvPr id="46" name="Straight Arrow Connector 45">
            <a:extLst>
              <a:ext uri="{FF2B5EF4-FFF2-40B4-BE49-F238E27FC236}">
                <a16:creationId xmlns:a16="http://schemas.microsoft.com/office/drawing/2014/main" id="{F9A96DF3-F35B-88D4-5C59-BE40EC911F77}"/>
              </a:ext>
            </a:extLst>
          </p:cNvPr>
          <p:cNvCxnSpPr>
            <a:cxnSpLocks noChangeShapeType="1"/>
          </p:cNvCxnSpPr>
          <p:nvPr/>
        </p:nvCxnSpPr>
        <p:spPr bwMode="auto">
          <a:xfrm flipV="1">
            <a:off x="3776663" y="3341688"/>
            <a:ext cx="1009650" cy="374650"/>
          </a:xfrm>
          <a:prstGeom prst="straightConnector1">
            <a:avLst/>
          </a:prstGeom>
          <a:noFill/>
          <a:ln w="2540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7" name="Straight Arrow Connector 46">
            <a:extLst>
              <a:ext uri="{FF2B5EF4-FFF2-40B4-BE49-F238E27FC236}">
                <a16:creationId xmlns:a16="http://schemas.microsoft.com/office/drawing/2014/main" id="{07834E69-EBC9-726E-4299-8CB02640BC76}"/>
              </a:ext>
            </a:extLst>
          </p:cNvPr>
          <p:cNvCxnSpPr>
            <a:cxnSpLocks noChangeShapeType="1"/>
          </p:cNvCxnSpPr>
          <p:nvPr/>
        </p:nvCxnSpPr>
        <p:spPr bwMode="auto">
          <a:xfrm>
            <a:off x="3765550" y="3332163"/>
            <a:ext cx="1020763" cy="384175"/>
          </a:xfrm>
          <a:prstGeom prst="straightConnector1">
            <a:avLst/>
          </a:prstGeom>
          <a:noFill/>
          <a:ln w="2540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8" name="Straight Arrow Connector 47">
            <a:extLst>
              <a:ext uri="{FF2B5EF4-FFF2-40B4-BE49-F238E27FC236}">
                <a16:creationId xmlns:a16="http://schemas.microsoft.com/office/drawing/2014/main" id="{586EACA2-EA09-55D7-F455-038508C8EC34}"/>
              </a:ext>
            </a:extLst>
          </p:cNvPr>
          <p:cNvCxnSpPr>
            <a:cxnSpLocks noChangeShapeType="1"/>
          </p:cNvCxnSpPr>
          <p:nvPr/>
        </p:nvCxnSpPr>
        <p:spPr bwMode="auto">
          <a:xfrm>
            <a:off x="3768725" y="3729038"/>
            <a:ext cx="1025525" cy="0"/>
          </a:xfrm>
          <a:prstGeom prst="straightConnector1">
            <a:avLst/>
          </a:prstGeom>
          <a:noFill/>
          <a:ln w="2540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 name="Straight Arrow Connector 3">
            <a:extLst>
              <a:ext uri="{FF2B5EF4-FFF2-40B4-BE49-F238E27FC236}">
                <a16:creationId xmlns:a16="http://schemas.microsoft.com/office/drawing/2014/main" id="{5D9627F0-B167-63ED-5FDF-65D8F19B3BF5}"/>
              </a:ext>
            </a:extLst>
          </p:cNvPr>
          <p:cNvCxnSpPr/>
          <p:nvPr/>
        </p:nvCxnSpPr>
        <p:spPr bwMode="auto">
          <a:xfrm>
            <a:off x="1211263" y="3111500"/>
            <a:ext cx="684212" cy="1296988"/>
          </a:xfrm>
          <a:prstGeom prst="straightConnector1">
            <a:avLst/>
          </a:prstGeom>
          <a:ln w="19050">
            <a:headEnd type="none" w="med" len="med"/>
            <a:tailEnd type="triangle"/>
          </a:ln>
        </p:spPr>
        <p:style>
          <a:lnRef idx="1">
            <a:schemeClr val="accent6"/>
          </a:lnRef>
          <a:fillRef idx="0">
            <a:schemeClr val="accent6"/>
          </a:fillRef>
          <a:effectRef idx="0">
            <a:schemeClr val="accent6"/>
          </a:effectRef>
          <a:fontRef idx="minor">
            <a:schemeClr val="tx1"/>
          </a:fontRef>
        </p:style>
      </p:cxnSp>
      <p:cxnSp>
        <p:nvCxnSpPr>
          <p:cNvPr id="31" name="Straight Arrow Connector 30">
            <a:extLst>
              <a:ext uri="{FF2B5EF4-FFF2-40B4-BE49-F238E27FC236}">
                <a16:creationId xmlns:a16="http://schemas.microsoft.com/office/drawing/2014/main" id="{577B1689-F081-D841-1786-50D867B6423A}"/>
              </a:ext>
            </a:extLst>
          </p:cNvPr>
          <p:cNvCxnSpPr/>
          <p:nvPr/>
        </p:nvCxnSpPr>
        <p:spPr bwMode="auto">
          <a:xfrm>
            <a:off x="3328988" y="3154363"/>
            <a:ext cx="215900" cy="1254125"/>
          </a:xfrm>
          <a:prstGeom prst="straightConnector1">
            <a:avLst/>
          </a:prstGeom>
          <a:ln w="19050">
            <a:headEnd type="none" w="med" len="med"/>
            <a:tailEnd type="triangle"/>
          </a:ln>
        </p:spPr>
        <p:style>
          <a:lnRef idx="1">
            <a:schemeClr val="accent6"/>
          </a:lnRef>
          <a:fillRef idx="0">
            <a:schemeClr val="accent6"/>
          </a:fillRef>
          <a:effectRef idx="0">
            <a:schemeClr val="accent6"/>
          </a:effectRef>
          <a:fontRef idx="minor">
            <a:schemeClr val="tx1"/>
          </a:fontRef>
        </p:style>
      </p:cxnSp>
      <p:cxnSp>
        <p:nvCxnSpPr>
          <p:cNvPr id="32" name="Straight Arrow Connector 31">
            <a:extLst>
              <a:ext uri="{FF2B5EF4-FFF2-40B4-BE49-F238E27FC236}">
                <a16:creationId xmlns:a16="http://schemas.microsoft.com/office/drawing/2014/main" id="{6DD1DA9C-EF61-897C-E379-730FE25707B5}"/>
              </a:ext>
            </a:extLst>
          </p:cNvPr>
          <p:cNvCxnSpPr/>
          <p:nvPr/>
        </p:nvCxnSpPr>
        <p:spPr bwMode="auto">
          <a:xfrm>
            <a:off x="5200650" y="3182938"/>
            <a:ext cx="215900" cy="1254125"/>
          </a:xfrm>
          <a:prstGeom prst="straightConnector1">
            <a:avLst/>
          </a:prstGeom>
          <a:ln w="19050">
            <a:headEnd type="none" w="med" len="med"/>
            <a:tailEnd type="triangle"/>
          </a:ln>
        </p:spPr>
        <p:style>
          <a:lnRef idx="1">
            <a:schemeClr val="accent6"/>
          </a:lnRef>
          <a:fillRef idx="0">
            <a:schemeClr val="accent6"/>
          </a:fillRef>
          <a:effectRef idx="0">
            <a:schemeClr val="accent6"/>
          </a:effectRef>
          <a:fontRef idx="minor">
            <a:schemeClr val="tx1"/>
          </a:fontRef>
        </p:style>
      </p:cxnSp>
      <p:cxnSp>
        <p:nvCxnSpPr>
          <p:cNvPr id="35" name="Straight Arrow Connector 34">
            <a:extLst>
              <a:ext uri="{FF2B5EF4-FFF2-40B4-BE49-F238E27FC236}">
                <a16:creationId xmlns:a16="http://schemas.microsoft.com/office/drawing/2014/main" id="{DEFB6551-74B1-7310-0DC7-7BEADB5FEBDE}"/>
              </a:ext>
            </a:extLst>
          </p:cNvPr>
          <p:cNvCxnSpPr/>
          <p:nvPr/>
        </p:nvCxnSpPr>
        <p:spPr bwMode="auto">
          <a:xfrm flipH="1">
            <a:off x="7432675" y="3154363"/>
            <a:ext cx="215900" cy="1254125"/>
          </a:xfrm>
          <a:prstGeom prst="straightConnector1">
            <a:avLst/>
          </a:prstGeom>
          <a:ln w="19050">
            <a:headEnd type="none" w="med" len="med"/>
            <a:tailEnd type="triangle"/>
          </a:ln>
        </p:spPr>
        <p:style>
          <a:lnRef idx="1">
            <a:schemeClr val="accent6"/>
          </a:lnRef>
          <a:fillRef idx="0">
            <a:schemeClr val="accent6"/>
          </a:fillRef>
          <a:effectRef idx="0">
            <a:schemeClr val="accent6"/>
          </a:effectRef>
          <a:fontRef idx="minor">
            <a:schemeClr val="tx1"/>
          </a:fontRef>
        </p:style>
      </p:cxn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ipe(left)">
                                      <p:cBhvr>
                                        <p:cTn id="7" dur="500"/>
                                        <p:tgtEl>
                                          <p:spTgt spid="19"/>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25">
                                            <p:txEl>
                                              <p:pRg st="0" end="0"/>
                                            </p:txEl>
                                          </p:spTgt>
                                        </p:tgtEl>
                                        <p:attrNameLst>
                                          <p:attrName>style.visibility</p:attrName>
                                        </p:attrNameLst>
                                      </p:cBhvr>
                                      <p:to>
                                        <p:strVal val="visible"/>
                                      </p:to>
                                    </p:set>
                                    <p:animEffect transition="in" filter="wipe(up)">
                                      <p:cBhvr>
                                        <p:cTn id="11" dur="500"/>
                                        <p:tgtEl>
                                          <p:spTgt spid="25">
                                            <p:txEl>
                                              <p:pRg st="0" end="0"/>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26"/>
                                        </p:tgtEl>
                                        <p:attrNameLst>
                                          <p:attrName>style.visibility</p:attrName>
                                        </p:attrNameLst>
                                      </p:cBhvr>
                                      <p:to>
                                        <p:strVal val="visible"/>
                                      </p:to>
                                    </p:set>
                                    <p:animEffect transition="in" filter="wipe(up)">
                                      <p:cBhvr>
                                        <p:cTn id="16" dur="500"/>
                                        <p:tgtEl>
                                          <p:spTgt spid="26"/>
                                        </p:tgtEl>
                                      </p:cBhvr>
                                    </p:animEffect>
                                  </p:childTnLst>
                                </p:cTn>
                              </p:par>
                            </p:childTnLst>
                          </p:cTn>
                        </p:par>
                        <p:par>
                          <p:cTn id="17" fill="hold" nodeType="afterGroup">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29"/>
                                        </p:tgtEl>
                                        <p:attrNameLst>
                                          <p:attrName>style.visibility</p:attrName>
                                        </p:attrNameLst>
                                      </p:cBhvr>
                                      <p:to>
                                        <p:strVal val="visible"/>
                                      </p:to>
                                    </p:set>
                                    <p:animEffect transition="in" filter="wipe(left)">
                                      <p:cBhvr>
                                        <p:cTn id="20" dur="500"/>
                                        <p:tgtEl>
                                          <p:spTgt spid="29"/>
                                        </p:tgtEl>
                                      </p:cBhvr>
                                    </p:animEffect>
                                  </p:childTnLst>
                                </p:cTn>
                              </p:par>
                            </p:childTnLst>
                          </p:cTn>
                        </p:par>
                        <p:par>
                          <p:cTn id="21" fill="hold" nodeType="afterGroup">
                            <p:stCondLst>
                              <p:cond delay="1000"/>
                            </p:stCondLst>
                            <p:childTnLst>
                              <p:par>
                                <p:cTn id="22" presetID="22" presetClass="entr" presetSubtype="1" fill="hold" nodeType="afterEffect">
                                  <p:stCondLst>
                                    <p:cond delay="0"/>
                                  </p:stCondLst>
                                  <p:childTnLst>
                                    <p:set>
                                      <p:cBhvr>
                                        <p:cTn id="23" dur="1" fill="hold">
                                          <p:stCondLst>
                                            <p:cond delay="0"/>
                                          </p:stCondLst>
                                        </p:cTn>
                                        <p:tgtEl>
                                          <p:spTgt spid="27"/>
                                        </p:tgtEl>
                                        <p:attrNameLst>
                                          <p:attrName>style.visibility</p:attrName>
                                        </p:attrNameLst>
                                      </p:cBhvr>
                                      <p:to>
                                        <p:strVal val="visible"/>
                                      </p:to>
                                    </p:set>
                                    <p:animEffect transition="in" filter="wipe(up)">
                                      <p:cBhvr>
                                        <p:cTn id="24" dur="500"/>
                                        <p:tgtEl>
                                          <p:spTgt spid="27"/>
                                        </p:tgtEl>
                                      </p:cBhvr>
                                    </p:animEffect>
                                  </p:childTnLst>
                                </p:cTn>
                              </p:par>
                            </p:childTnLst>
                          </p:cTn>
                        </p:par>
                        <p:par>
                          <p:cTn id="25" fill="hold" nodeType="afterGroup">
                            <p:stCondLst>
                              <p:cond delay="1500"/>
                            </p:stCondLst>
                            <p:childTnLst>
                              <p:par>
                                <p:cTn id="26" presetID="22" presetClass="entr" presetSubtype="8" fill="hold" grpId="0" nodeType="afterEffect">
                                  <p:stCondLst>
                                    <p:cond delay="0"/>
                                  </p:stCondLst>
                                  <p:childTnLst>
                                    <p:set>
                                      <p:cBhvr>
                                        <p:cTn id="27" dur="1" fill="hold">
                                          <p:stCondLst>
                                            <p:cond delay="0"/>
                                          </p:stCondLst>
                                        </p:cTn>
                                        <p:tgtEl>
                                          <p:spTgt spid="30"/>
                                        </p:tgtEl>
                                        <p:attrNameLst>
                                          <p:attrName>style.visibility</p:attrName>
                                        </p:attrNameLst>
                                      </p:cBhvr>
                                      <p:to>
                                        <p:strVal val="visible"/>
                                      </p:to>
                                    </p:set>
                                    <p:animEffect transition="in" filter="wipe(left)">
                                      <p:cBhvr>
                                        <p:cTn id="28" dur="500"/>
                                        <p:tgtEl>
                                          <p:spTgt spid="30"/>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1" fill="hold" grpId="0" nodeType="clickEffect">
                                  <p:stCondLst>
                                    <p:cond delay="0"/>
                                  </p:stCondLst>
                                  <p:childTnLst>
                                    <p:set>
                                      <p:cBhvr>
                                        <p:cTn id="32" dur="1" fill="hold">
                                          <p:stCondLst>
                                            <p:cond delay="0"/>
                                          </p:stCondLst>
                                        </p:cTn>
                                        <p:tgtEl>
                                          <p:spTgt spid="34"/>
                                        </p:tgtEl>
                                        <p:attrNameLst>
                                          <p:attrName>style.visibility</p:attrName>
                                        </p:attrNameLst>
                                      </p:cBhvr>
                                      <p:to>
                                        <p:strVal val="visible"/>
                                      </p:to>
                                    </p:set>
                                    <p:animEffect transition="in" filter="wipe(up)">
                                      <p:cBhvr>
                                        <p:cTn id="33" dur="500"/>
                                        <p:tgtEl>
                                          <p:spTgt spid="34"/>
                                        </p:tgtEl>
                                      </p:cBhvr>
                                    </p:animEffect>
                                  </p:childTnLst>
                                </p:cTn>
                              </p:par>
                            </p:childTnLst>
                          </p:cTn>
                        </p:par>
                        <p:par>
                          <p:cTn id="34" fill="hold" nodeType="afterGroup">
                            <p:stCondLst>
                              <p:cond delay="500"/>
                            </p:stCondLst>
                            <p:childTnLst>
                              <p:par>
                                <p:cTn id="35" presetID="22" presetClass="entr" presetSubtype="8" fill="hold" nodeType="afterEffect">
                                  <p:stCondLst>
                                    <p:cond delay="0"/>
                                  </p:stCondLst>
                                  <p:childTnLst>
                                    <p:set>
                                      <p:cBhvr>
                                        <p:cTn id="36" dur="1" fill="hold">
                                          <p:stCondLst>
                                            <p:cond delay="0"/>
                                          </p:stCondLst>
                                        </p:cTn>
                                        <p:tgtEl>
                                          <p:spTgt spid="34">
                                            <p:txEl>
                                              <p:pRg st="0" end="0"/>
                                            </p:txEl>
                                          </p:spTgt>
                                        </p:tgtEl>
                                        <p:attrNameLst>
                                          <p:attrName>style.visibility</p:attrName>
                                        </p:attrNameLst>
                                      </p:cBhvr>
                                      <p:to>
                                        <p:strVal val="visible"/>
                                      </p:to>
                                    </p:set>
                                    <p:animEffect transition="in" filter="wipe(left)">
                                      <p:cBhvr>
                                        <p:cTn id="37" dur="500"/>
                                        <p:tgtEl>
                                          <p:spTgt spid="34">
                                            <p:txEl>
                                              <p:pRg st="0" end="0"/>
                                            </p:txEl>
                                          </p:spTgt>
                                        </p:tgtEl>
                                      </p:cBhvr>
                                    </p:animEffect>
                                  </p:childTnLst>
                                </p:cTn>
                              </p:par>
                            </p:childTnLst>
                          </p:cTn>
                        </p:par>
                        <p:par>
                          <p:cTn id="38" fill="hold" nodeType="afterGroup">
                            <p:stCondLst>
                              <p:cond delay="1000"/>
                            </p:stCondLst>
                            <p:childTnLst>
                              <p:par>
                                <p:cTn id="39" presetID="16" presetClass="entr" presetSubtype="21" fill="hold" nodeType="afterEffect">
                                  <p:stCondLst>
                                    <p:cond delay="0"/>
                                  </p:stCondLst>
                                  <p:childTnLst>
                                    <p:set>
                                      <p:cBhvr>
                                        <p:cTn id="40" dur="1" fill="hold">
                                          <p:stCondLst>
                                            <p:cond delay="0"/>
                                          </p:stCondLst>
                                        </p:cTn>
                                        <p:tgtEl>
                                          <p:spTgt spid="33"/>
                                        </p:tgtEl>
                                        <p:attrNameLst>
                                          <p:attrName>style.visibility</p:attrName>
                                        </p:attrNameLst>
                                      </p:cBhvr>
                                      <p:to>
                                        <p:strVal val="visible"/>
                                      </p:to>
                                    </p:set>
                                    <p:animEffect transition="in" filter="barn(inVertical)">
                                      <p:cBhvr>
                                        <p:cTn id="41" dur="500"/>
                                        <p:tgtEl>
                                          <p:spTgt spid="33"/>
                                        </p:tgtEl>
                                      </p:cBhvr>
                                    </p:animEffect>
                                  </p:childTnLst>
                                </p:cTn>
                              </p:par>
                            </p:childTnLst>
                          </p:cTn>
                        </p:par>
                        <p:par>
                          <p:cTn id="42" fill="hold" nodeType="afterGroup">
                            <p:stCondLst>
                              <p:cond delay="1500"/>
                            </p:stCondLst>
                            <p:childTnLst>
                              <p:par>
                                <p:cTn id="43" presetID="42" presetClass="entr" presetSubtype="0" fill="hold" grpId="0" nodeType="afterEffect">
                                  <p:stCondLst>
                                    <p:cond delay="0"/>
                                  </p:stCondLst>
                                  <p:childTnLst>
                                    <p:set>
                                      <p:cBhvr>
                                        <p:cTn id="44" dur="1" fill="hold">
                                          <p:stCondLst>
                                            <p:cond delay="0"/>
                                          </p:stCondLst>
                                        </p:cTn>
                                        <p:tgtEl>
                                          <p:spTgt spid="40"/>
                                        </p:tgtEl>
                                        <p:attrNameLst>
                                          <p:attrName>style.visibility</p:attrName>
                                        </p:attrNameLst>
                                      </p:cBhvr>
                                      <p:to>
                                        <p:strVal val="visible"/>
                                      </p:to>
                                    </p:set>
                                    <p:animEffect transition="in" filter="fade">
                                      <p:cBhvr>
                                        <p:cTn id="45" dur="1000"/>
                                        <p:tgtEl>
                                          <p:spTgt spid="40"/>
                                        </p:tgtEl>
                                      </p:cBhvr>
                                    </p:animEffect>
                                    <p:anim calcmode="lin" valueType="num">
                                      <p:cBhvr>
                                        <p:cTn id="46" dur="1000" fill="hold"/>
                                        <p:tgtEl>
                                          <p:spTgt spid="40"/>
                                        </p:tgtEl>
                                        <p:attrNameLst>
                                          <p:attrName>ppt_x</p:attrName>
                                        </p:attrNameLst>
                                      </p:cBhvr>
                                      <p:tavLst>
                                        <p:tav tm="0">
                                          <p:val>
                                            <p:strVal val="#ppt_x"/>
                                          </p:val>
                                        </p:tav>
                                        <p:tav tm="100000">
                                          <p:val>
                                            <p:strVal val="#ppt_x"/>
                                          </p:val>
                                        </p:tav>
                                      </p:tavLst>
                                    </p:anim>
                                    <p:anim calcmode="lin" valueType="num">
                                      <p:cBhvr>
                                        <p:cTn id="47" dur="1000" fill="hold"/>
                                        <p:tgtEl>
                                          <p:spTgt spid="40"/>
                                        </p:tgtEl>
                                        <p:attrNameLst>
                                          <p:attrName>ppt_y</p:attrName>
                                        </p:attrNameLst>
                                      </p:cBhvr>
                                      <p:tavLst>
                                        <p:tav tm="0">
                                          <p:val>
                                            <p:strVal val="#ppt_y+.1"/>
                                          </p:val>
                                        </p:tav>
                                        <p:tav tm="100000">
                                          <p:val>
                                            <p:strVal val="#ppt_y"/>
                                          </p:val>
                                        </p:tav>
                                      </p:tavLst>
                                    </p:anim>
                                  </p:childTnLst>
                                </p:cTn>
                              </p:par>
                            </p:childTnLst>
                          </p:cTn>
                        </p:par>
                        <p:par>
                          <p:cTn id="48" fill="hold" nodeType="afterGroup">
                            <p:stCondLst>
                              <p:cond delay="2500"/>
                            </p:stCondLst>
                            <p:childTnLst>
                              <p:par>
                                <p:cTn id="49" presetID="42" presetClass="entr" presetSubtype="0" fill="hold" grpId="0" nodeType="afterEffect">
                                  <p:stCondLst>
                                    <p:cond delay="0"/>
                                  </p:stCondLst>
                                  <p:childTnLst>
                                    <p:set>
                                      <p:cBhvr>
                                        <p:cTn id="50" dur="1" fill="hold">
                                          <p:stCondLst>
                                            <p:cond delay="0"/>
                                          </p:stCondLst>
                                        </p:cTn>
                                        <p:tgtEl>
                                          <p:spTgt spid="42"/>
                                        </p:tgtEl>
                                        <p:attrNameLst>
                                          <p:attrName>style.visibility</p:attrName>
                                        </p:attrNameLst>
                                      </p:cBhvr>
                                      <p:to>
                                        <p:strVal val="visible"/>
                                      </p:to>
                                    </p:set>
                                    <p:animEffect transition="in" filter="fade">
                                      <p:cBhvr>
                                        <p:cTn id="51" dur="1000"/>
                                        <p:tgtEl>
                                          <p:spTgt spid="42"/>
                                        </p:tgtEl>
                                      </p:cBhvr>
                                    </p:animEffect>
                                    <p:anim calcmode="lin" valueType="num">
                                      <p:cBhvr>
                                        <p:cTn id="52" dur="1000" fill="hold"/>
                                        <p:tgtEl>
                                          <p:spTgt spid="42"/>
                                        </p:tgtEl>
                                        <p:attrNameLst>
                                          <p:attrName>ppt_x</p:attrName>
                                        </p:attrNameLst>
                                      </p:cBhvr>
                                      <p:tavLst>
                                        <p:tav tm="0">
                                          <p:val>
                                            <p:strVal val="#ppt_x"/>
                                          </p:val>
                                        </p:tav>
                                        <p:tav tm="100000">
                                          <p:val>
                                            <p:strVal val="#ppt_x"/>
                                          </p:val>
                                        </p:tav>
                                      </p:tavLst>
                                    </p:anim>
                                    <p:anim calcmode="lin" valueType="num">
                                      <p:cBhvr>
                                        <p:cTn id="53" dur="1000" fill="hold"/>
                                        <p:tgtEl>
                                          <p:spTgt spid="42"/>
                                        </p:tgtEl>
                                        <p:attrNameLst>
                                          <p:attrName>ppt_y</p:attrName>
                                        </p:attrNameLst>
                                      </p:cBhvr>
                                      <p:tavLst>
                                        <p:tav tm="0">
                                          <p:val>
                                            <p:strVal val="#ppt_y+.1"/>
                                          </p:val>
                                        </p:tav>
                                        <p:tav tm="100000">
                                          <p:val>
                                            <p:strVal val="#ppt_y"/>
                                          </p:val>
                                        </p:tav>
                                      </p:tavLst>
                                    </p:anim>
                                  </p:childTnLst>
                                </p:cTn>
                              </p:par>
                            </p:childTnLst>
                          </p:cTn>
                        </p:par>
                        <p:par>
                          <p:cTn id="54" fill="hold" nodeType="afterGroup">
                            <p:stCondLst>
                              <p:cond delay="3500"/>
                            </p:stCondLst>
                            <p:childTnLst>
                              <p:par>
                                <p:cTn id="55" presetID="42" presetClass="entr" presetSubtype="0" fill="hold" grpId="0" nodeType="afterEffect">
                                  <p:stCondLst>
                                    <p:cond delay="0"/>
                                  </p:stCondLst>
                                  <p:childTnLst>
                                    <p:set>
                                      <p:cBhvr>
                                        <p:cTn id="56" dur="1" fill="hold">
                                          <p:stCondLst>
                                            <p:cond delay="0"/>
                                          </p:stCondLst>
                                        </p:cTn>
                                        <p:tgtEl>
                                          <p:spTgt spid="41"/>
                                        </p:tgtEl>
                                        <p:attrNameLst>
                                          <p:attrName>style.visibility</p:attrName>
                                        </p:attrNameLst>
                                      </p:cBhvr>
                                      <p:to>
                                        <p:strVal val="visible"/>
                                      </p:to>
                                    </p:set>
                                    <p:animEffect transition="in" filter="fade">
                                      <p:cBhvr>
                                        <p:cTn id="57" dur="1000"/>
                                        <p:tgtEl>
                                          <p:spTgt spid="41"/>
                                        </p:tgtEl>
                                      </p:cBhvr>
                                    </p:animEffect>
                                    <p:anim calcmode="lin" valueType="num">
                                      <p:cBhvr>
                                        <p:cTn id="58" dur="1000" fill="hold"/>
                                        <p:tgtEl>
                                          <p:spTgt spid="41"/>
                                        </p:tgtEl>
                                        <p:attrNameLst>
                                          <p:attrName>ppt_x</p:attrName>
                                        </p:attrNameLst>
                                      </p:cBhvr>
                                      <p:tavLst>
                                        <p:tav tm="0">
                                          <p:val>
                                            <p:strVal val="#ppt_x"/>
                                          </p:val>
                                        </p:tav>
                                        <p:tav tm="100000">
                                          <p:val>
                                            <p:strVal val="#ppt_x"/>
                                          </p:val>
                                        </p:tav>
                                      </p:tavLst>
                                    </p:anim>
                                    <p:anim calcmode="lin" valueType="num">
                                      <p:cBhvr>
                                        <p:cTn id="59" dur="1000" fill="hold"/>
                                        <p:tgtEl>
                                          <p:spTgt spid="41"/>
                                        </p:tgtEl>
                                        <p:attrNameLst>
                                          <p:attrName>ppt_y</p:attrName>
                                        </p:attrNameLst>
                                      </p:cBhvr>
                                      <p:tavLst>
                                        <p:tav tm="0">
                                          <p:val>
                                            <p:strVal val="#ppt_y+.1"/>
                                          </p:val>
                                        </p:tav>
                                        <p:tav tm="100000">
                                          <p:val>
                                            <p:strVal val="#ppt_y"/>
                                          </p:val>
                                        </p:tav>
                                      </p:tavLst>
                                    </p:anim>
                                  </p:childTnLst>
                                </p:cTn>
                              </p:par>
                            </p:childTnLst>
                          </p:cTn>
                        </p:par>
                        <p:par>
                          <p:cTn id="60" fill="hold" nodeType="afterGroup">
                            <p:stCondLst>
                              <p:cond delay="4500"/>
                            </p:stCondLst>
                            <p:childTnLst>
                              <p:par>
                                <p:cTn id="61" presetID="42" presetClass="entr" presetSubtype="0" fill="hold" grpId="0" nodeType="afterEffect">
                                  <p:stCondLst>
                                    <p:cond delay="0"/>
                                  </p:stCondLst>
                                  <p:childTnLst>
                                    <p:set>
                                      <p:cBhvr>
                                        <p:cTn id="62" dur="1" fill="hold">
                                          <p:stCondLst>
                                            <p:cond delay="0"/>
                                          </p:stCondLst>
                                        </p:cTn>
                                        <p:tgtEl>
                                          <p:spTgt spid="43"/>
                                        </p:tgtEl>
                                        <p:attrNameLst>
                                          <p:attrName>style.visibility</p:attrName>
                                        </p:attrNameLst>
                                      </p:cBhvr>
                                      <p:to>
                                        <p:strVal val="visible"/>
                                      </p:to>
                                    </p:set>
                                    <p:animEffect transition="in" filter="fade">
                                      <p:cBhvr>
                                        <p:cTn id="63" dur="1000"/>
                                        <p:tgtEl>
                                          <p:spTgt spid="43"/>
                                        </p:tgtEl>
                                      </p:cBhvr>
                                    </p:animEffect>
                                    <p:anim calcmode="lin" valueType="num">
                                      <p:cBhvr>
                                        <p:cTn id="64" dur="1000" fill="hold"/>
                                        <p:tgtEl>
                                          <p:spTgt spid="43"/>
                                        </p:tgtEl>
                                        <p:attrNameLst>
                                          <p:attrName>ppt_x</p:attrName>
                                        </p:attrNameLst>
                                      </p:cBhvr>
                                      <p:tavLst>
                                        <p:tav tm="0">
                                          <p:val>
                                            <p:strVal val="#ppt_x"/>
                                          </p:val>
                                        </p:tav>
                                        <p:tav tm="100000">
                                          <p:val>
                                            <p:strVal val="#ppt_x"/>
                                          </p:val>
                                        </p:tav>
                                      </p:tavLst>
                                    </p:anim>
                                    <p:anim calcmode="lin" valueType="num">
                                      <p:cBhvr>
                                        <p:cTn id="65" dur="1000" fill="hold"/>
                                        <p:tgtEl>
                                          <p:spTgt spid="43"/>
                                        </p:tgtEl>
                                        <p:attrNameLst>
                                          <p:attrName>ppt_y</p:attrName>
                                        </p:attrNameLst>
                                      </p:cBhvr>
                                      <p:tavLst>
                                        <p:tav tm="0">
                                          <p:val>
                                            <p:strVal val="#ppt_y+.1"/>
                                          </p:val>
                                        </p:tav>
                                        <p:tav tm="100000">
                                          <p:val>
                                            <p:strVal val="#ppt_y"/>
                                          </p:val>
                                        </p:tav>
                                      </p:tavLst>
                                    </p:anim>
                                  </p:childTnLst>
                                </p:cTn>
                              </p:par>
                            </p:childTnLst>
                          </p:cTn>
                        </p:par>
                      </p:childTnLst>
                    </p:cTn>
                  </p:par>
                  <p:par>
                    <p:cTn id="66" fill="hold" nodeType="clickPar">
                      <p:stCondLst>
                        <p:cond delay="indefinite"/>
                      </p:stCondLst>
                      <p:childTnLst>
                        <p:par>
                          <p:cTn id="67" fill="hold" nodeType="withGroup">
                            <p:stCondLst>
                              <p:cond delay="0"/>
                            </p:stCondLst>
                            <p:childTnLst>
                              <p:par>
                                <p:cTn id="68" presetID="22" presetClass="entr" presetSubtype="1" fill="hold" nodeType="clickEffect">
                                  <p:stCondLst>
                                    <p:cond delay="0"/>
                                  </p:stCondLst>
                                  <p:childTnLst>
                                    <p:set>
                                      <p:cBhvr>
                                        <p:cTn id="69" dur="1" fill="hold">
                                          <p:stCondLst>
                                            <p:cond delay="0"/>
                                          </p:stCondLst>
                                        </p:cTn>
                                        <p:tgtEl>
                                          <p:spTgt spid="4"/>
                                        </p:tgtEl>
                                        <p:attrNameLst>
                                          <p:attrName>style.visibility</p:attrName>
                                        </p:attrNameLst>
                                      </p:cBhvr>
                                      <p:to>
                                        <p:strVal val="visible"/>
                                      </p:to>
                                    </p:set>
                                    <p:animEffect transition="in" filter="wipe(up)">
                                      <p:cBhvr>
                                        <p:cTn id="70" dur="500"/>
                                        <p:tgtEl>
                                          <p:spTgt spid="4"/>
                                        </p:tgtEl>
                                      </p:cBhvr>
                                    </p:animEffect>
                                  </p:childTnLst>
                                </p:cTn>
                              </p:par>
                            </p:childTnLst>
                          </p:cTn>
                        </p:par>
                        <p:par>
                          <p:cTn id="71" fill="hold" nodeType="afterGroup">
                            <p:stCondLst>
                              <p:cond delay="500"/>
                            </p:stCondLst>
                            <p:childTnLst>
                              <p:par>
                                <p:cTn id="72" presetID="22" presetClass="entr" presetSubtype="1" fill="hold" nodeType="afterEffect">
                                  <p:stCondLst>
                                    <p:cond delay="0"/>
                                  </p:stCondLst>
                                  <p:childTnLst>
                                    <p:set>
                                      <p:cBhvr>
                                        <p:cTn id="73" dur="1" fill="hold">
                                          <p:stCondLst>
                                            <p:cond delay="0"/>
                                          </p:stCondLst>
                                        </p:cTn>
                                        <p:tgtEl>
                                          <p:spTgt spid="31"/>
                                        </p:tgtEl>
                                        <p:attrNameLst>
                                          <p:attrName>style.visibility</p:attrName>
                                        </p:attrNameLst>
                                      </p:cBhvr>
                                      <p:to>
                                        <p:strVal val="visible"/>
                                      </p:to>
                                    </p:set>
                                    <p:animEffect transition="in" filter="wipe(up)">
                                      <p:cBhvr>
                                        <p:cTn id="74" dur="500"/>
                                        <p:tgtEl>
                                          <p:spTgt spid="31"/>
                                        </p:tgtEl>
                                      </p:cBhvr>
                                    </p:animEffect>
                                  </p:childTnLst>
                                </p:cTn>
                              </p:par>
                            </p:childTnLst>
                          </p:cTn>
                        </p:par>
                        <p:par>
                          <p:cTn id="75" fill="hold" nodeType="afterGroup">
                            <p:stCondLst>
                              <p:cond delay="1000"/>
                            </p:stCondLst>
                            <p:childTnLst>
                              <p:par>
                                <p:cTn id="76" presetID="22" presetClass="entr" presetSubtype="1" fill="hold" nodeType="afterEffect">
                                  <p:stCondLst>
                                    <p:cond delay="0"/>
                                  </p:stCondLst>
                                  <p:childTnLst>
                                    <p:set>
                                      <p:cBhvr>
                                        <p:cTn id="77" dur="1" fill="hold">
                                          <p:stCondLst>
                                            <p:cond delay="0"/>
                                          </p:stCondLst>
                                        </p:cTn>
                                        <p:tgtEl>
                                          <p:spTgt spid="32"/>
                                        </p:tgtEl>
                                        <p:attrNameLst>
                                          <p:attrName>style.visibility</p:attrName>
                                        </p:attrNameLst>
                                      </p:cBhvr>
                                      <p:to>
                                        <p:strVal val="visible"/>
                                      </p:to>
                                    </p:set>
                                    <p:animEffect transition="in" filter="wipe(up)">
                                      <p:cBhvr>
                                        <p:cTn id="78" dur="500"/>
                                        <p:tgtEl>
                                          <p:spTgt spid="32"/>
                                        </p:tgtEl>
                                      </p:cBhvr>
                                    </p:animEffect>
                                  </p:childTnLst>
                                </p:cTn>
                              </p:par>
                            </p:childTnLst>
                          </p:cTn>
                        </p:par>
                        <p:par>
                          <p:cTn id="79" fill="hold" nodeType="afterGroup">
                            <p:stCondLst>
                              <p:cond delay="1500"/>
                            </p:stCondLst>
                            <p:childTnLst>
                              <p:par>
                                <p:cTn id="80" presetID="22" presetClass="entr" presetSubtype="1" fill="hold" nodeType="afterEffect">
                                  <p:stCondLst>
                                    <p:cond delay="0"/>
                                  </p:stCondLst>
                                  <p:childTnLst>
                                    <p:set>
                                      <p:cBhvr>
                                        <p:cTn id="81" dur="1" fill="hold">
                                          <p:stCondLst>
                                            <p:cond delay="0"/>
                                          </p:stCondLst>
                                        </p:cTn>
                                        <p:tgtEl>
                                          <p:spTgt spid="35"/>
                                        </p:tgtEl>
                                        <p:attrNameLst>
                                          <p:attrName>style.visibility</p:attrName>
                                        </p:attrNameLst>
                                      </p:cBhvr>
                                      <p:to>
                                        <p:strVal val="visible"/>
                                      </p:to>
                                    </p:set>
                                    <p:animEffect transition="in" filter="wipe(up)">
                                      <p:cBhvr>
                                        <p:cTn id="82"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83" restart="whenNotActive" fill="hold" evtFilter="cancelBubble" nodeType="interactiveSeq">
                <p:stCondLst>
                  <p:cond evt="onClick" delay="0">
                    <p:tgtEl>
                      <p:spTgt spid="40"/>
                    </p:tgtEl>
                  </p:cond>
                </p:stCondLst>
                <p:endSync evt="end" delay="0">
                  <p:rtn val="all"/>
                </p:endSync>
                <p:childTnLst>
                  <p:par>
                    <p:cTn id="84" fill="hold" nodeType="clickPar">
                      <p:stCondLst>
                        <p:cond delay="0"/>
                      </p:stCondLst>
                      <p:childTnLst>
                        <p:par>
                          <p:cTn id="85" fill="hold" nodeType="withGroup">
                            <p:stCondLst>
                              <p:cond delay="0"/>
                            </p:stCondLst>
                            <p:childTnLst>
                              <p:par>
                                <p:cTn id="86" presetID="22" presetClass="entr" presetSubtype="8" fill="hold" nodeType="clickEffect">
                                  <p:stCondLst>
                                    <p:cond delay="0"/>
                                  </p:stCondLst>
                                  <p:childTnLst>
                                    <p:set>
                                      <p:cBhvr>
                                        <p:cTn id="87" dur="1" fill="hold">
                                          <p:stCondLst>
                                            <p:cond delay="0"/>
                                          </p:stCondLst>
                                        </p:cTn>
                                        <p:tgtEl>
                                          <p:spTgt spid="39"/>
                                        </p:tgtEl>
                                        <p:attrNameLst>
                                          <p:attrName>style.visibility</p:attrName>
                                        </p:attrNameLst>
                                      </p:cBhvr>
                                      <p:to>
                                        <p:strVal val="visible"/>
                                      </p:to>
                                    </p:set>
                                    <p:animEffect transition="in" filter="wipe(left)">
                                      <p:cBhvr>
                                        <p:cTn id="88" dur="500"/>
                                        <p:tgtEl>
                                          <p:spTgt spid="39"/>
                                        </p:tgtEl>
                                      </p:cBhvr>
                                    </p:animEffect>
                                  </p:childTnLst>
                                </p:cTn>
                              </p:par>
                            </p:childTnLst>
                          </p:cTn>
                        </p:par>
                      </p:childTnLst>
                    </p:cTn>
                  </p:par>
                </p:childTnLst>
              </p:cTn>
              <p:nextCondLst>
                <p:cond evt="onClick" delay="0">
                  <p:tgtEl>
                    <p:spTgt spid="40"/>
                  </p:tgtEl>
                </p:cond>
              </p:nextCondLst>
            </p:seq>
            <p:seq concurrent="1" nextAc="seek">
              <p:cTn id="89" restart="whenNotActive" fill="hold" evtFilter="cancelBubble" nodeType="interactiveSeq">
                <p:stCondLst>
                  <p:cond evt="onClick" delay="0">
                    <p:tgtEl>
                      <p:spTgt spid="42"/>
                    </p:tgtEl>
                  </p:cond>
                </p:stCondLst>
                <p:endSync evt="end" delay="0">
                  <p:rtn val="all"/>
                </p:endSync>
                <p:childTnLst>
                  <p:par>
                    <p:cTn id="90" fill="hold" nodeType="clickPar">
                      <p:stCondLst>
                        <p:cond delay="0"/>
                      </p:stCondLst>
                      <p:childTnLst>
                        <p:par>
                          <p:cTn id="91" fill="hold" nodeType="withGroup">
                            <p:stCondLst>
                              <p:cond delay="0"/>
                            </p:stCondLst>
                            <p:childTnLst>
                              <p:par>
                                <p:cTn id="92" presetID="22" presetClass="entr" presetSubtype="8" fill="hold" nodeType="clickEffect">
                                  <p:stCondLst>
                                    <p:cond delay="0"/>
                                  </p:stCondLst>
                                  <p:childTnLst>
                                    <p:set>
                                      <p:cBhvr>
                                        <p:cTn id="93" dur="1" fill="hold">
                                          <p:stCondLst>
                                            <p:cond delay="0"/>
                                          </p:stCondLst>
                                        </p:cTn>
                                        <p:tgtEl>
                                          <p:spTgt spid="46"/>
                                        </p:tgtEl>
                                        <p:attrNameLst>
                                          <p:attrName>style.visibility</p:attrName>
                                        </p:attrNameLst>
                                      </p:cBhvr>
                                      <p:to>
                                        <p:strVal val="visible"/>
                                      </p:to>
                                    </p:set>
                                    <p:animEffect transition="in" filter="wipe(left)">
                                      <p:cBhvr>
                                        <p:cTn id="94" dur="500"/>
                                        <p:tgtEl>
                                          <p:spTgt spid="46"/>
                                        </p:tgtEl>
                                      </p:cBhvr>
                                    </p:animEffect>
                                  </p:childTnLst>
                                </p:cTn>
                              </p:par>
                            </p:childTnLst>
                          </p:cTn>
                        </p:par>
                      </p:childTnLst>
                    </p:cTn>
                  </p:par>
                </p:childTnLst>
              </p:cTn>
              <p:nextCondLst>
                <p:cond evt="onClick" delay="0">
                  <p:tgtEl>
                    <p:spTgt spid="42"/>
                  </p:tgtEl>
                </p:cond>
              </p:nextCondLst>
            </p:seq>
            <p:seq concurrent="1" nextAc="seek">
              <p:cTn id="95" restart="whenNotActive" fill="hold" evtFilter="cancelBubble" nodeType="interactiveSeq">
                <p:stCondLst>
                  <p:cond evt="onClick" delay="0">
                    <p:tgtEl>
                      <p:spTgt spid="43"/>
                    </p:tgtEl>
                  </p:cond>
                </p:stCondLst>
                <p:endSync evt="end" delay="0">
                  <p:rtn val="all"/>
                </p:endSync>
                <p:childTnLst>
                  <p:par>
                    <p:cTn id="96" fill="hold" nodeType="clickPar">
                      <p:stCondLst>
                        <p:cond delay="0"/>
                      </p:stCondLst>
                      <p:childTnLst>
                        <p:par>
                          <p:cTn id="97" fill="hold" nodeType="withGroup">
                            <p:stCondLst>
                              <p:cond delay="0"/>
                            </p:stCondLst>
                            <p:childTnLst>
                              <p:par>
                                <p:cTn id="98" presetID="22" presetClass="entr" presetSubtype="8" fill="hold" nodeType="clickEffect">
                                  <p:stCondLst>
                                    <p:cond delay="0"/>
                                  </p:stCondLst>
                                  <p:childTnLst>
                                    <p:set>
                                      <p:cBhvr>
                                        <p:cTn id="99" dur="1" fill="hold">
                                          <p:stCondLst>
                                            <p:cond delay="0"/>
                                          </p:stCondLst>
                                        </p:cTn>
                                        <p:tgtEl>
                                          <p:spTgt spid="48"/>
                                        </p:tgtEl>
                                        <p:attrNameLst>
                                          <p:attrName>style.visibility</p:attrName>
                                        </p:attrNameLst>
                                      </p:cBhvr>
                                      <p:to>
                                        <p:strVal val="visible"/>
                                      </p:to>
                                    </p:set>
                                    <p:animEffect transition="in" filter="wipe(left)">
                                      <p:cBhvr>
                                        <p:cTn id="100" dur="500"/>
                                        <p:tgtEl>
                                          <p:spTgt spid="48"/>
                                        </p:tgtEl>
                                      </p:cBhvr>
                                    </p:animEffect>
                                  </p:childTnLst>
                                </p:cTn>
                              </p:par>
                            </p:childTnLst>
                          </p:cTn>
                        </p:par>
                      </p:childTnLst>
                    </p:cTn>
                  </p:par>
                </p:childTnLst>
              </p:cTn>
              <p:nextCondLst>
                <p:cond evt="onClick" delay="0">
                  <p:tgtEl>
                    <p:spTgt spid="43"/>
                  </p:tgtEl>
                </p:cond>
              </p:nextCondLst>
            </p:seq>
            <p:seq concurrent="1" nextAc="seek">
              <p:cTn id="101" restart="whenNotActive" fill="hold" evtFilter="cancelBubble" nodeType="interactiveSeq">
                <p:stCondLst>
                  <p:cond evt="onClick" delay="0">
                    <p:tgtEl>
                      <p:spTgt spid="41"/>
                    </p:tgtEl>
                  </p:cond>
                </p:stCondLst>
                <p:endSync evt="end" delay="0">
                  <p:rtn val="all"/>
                </p:endSync>
                <p:childTnLst>
                  <p:par>
                    <p:cTn id="102" fill="hold" nodeType="clickPar">
                      <p:stCondLst>
                        <p:cond delay="0"/>
                      </p:stCondLst>
                      <p:childTnLst>
                        <p:par>
                          <p:cTn id="103" fill="hold" nodeType="withGroup">
                            <p:stCondLst>
                              <p:cond delay="0"/>
                            </p:stCondLst>
                            <p:childTnLst>
                              <p:par>
                                <p:cTn id="104" presetID="22" presetClass="entr" presetSubtype="8" fill="hold" nodeType="clickEffect">
                                  <p:stCondLst>
                                    <p:cond delay="0"/>
                                  </p:stCondLst>
                                  <p:childTnLst>
                                    <p:set>
                                      <p:cBhvr>
                                        <p:cTn id="105" dur="1" fill="hold">
                                          <p:stCondLst>
                                            <p:cond delay="0"/>
                                          </p:stCondLst>
                                        </p:cTn>
                                        <p:tgtEl>
                                          <p:spTgt spid="47"/>
                                        </p:tgtEl>
                                        <p:attrNameLst>
                                          <p:attrName>style.visibility</p:attrName>
                                        </p:attrNameLst>
                                      </p:cBhvr>
                                      <p:to>
                                        <p:strVal val="visible"/>
                                      </p:to>
                                    </p:set>
                                    <p:animEffect transition="in" filter="wipe(left)">
                                      <p:cBhvr>
                                        <p:cTn id="106" dur="500"/>
                                        <p:tgtEl>
                                          <p:spTgt spid="47"/>
                                        </p:tgtEl>
                                      </p:cBhvr>
                                    </p:animEffect>
                                  </p:childTnLst>
                                </p:cTn>
                              </p:par>
                            </p:childTnLst>
                          </p:cTn>
                        </p:par>
                      </p:childTnLst>
                    </p:cTn>
                  </p:par>
                </p:childTnLst>
              </p:cTn>
              <p:nextCondLst>
                <p:cond evt="onClick" delay="0">
                  <p:tgtEl>
                    <p:spTgt spid="41"/>
                  </p:tgtEl>
                </p:cond>
              </p:nextCondLst>
            </p:seq>
          </p:childTnLst>
        </p:cTn>
      </p:par>
    </p:tnLst>
    <p:bldLst>
      <p:bldP spid="19" grpId="0" animBg="1"/>
      <p:bldP spid="29" grpId="0"/>
      <p:bldP spid="30" grpId="0"/>
      <p:bldP spid="34" grpId="0" animBg="1"/>
      <p:bldP spid="40" grpId="0" animBg="1"/>
      <p:bldP spid="41" grpId="0" animBg="1"/>
      <p:bldP spid="42" grpId="0" animBg="1"/>
      <p:bldP spid="43" grpId="0" animBg="1"/>
    </p:bldLst>
  </p:timing>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A5D16-B736-968D-259E-863DB47CD352}"/>
              </a:ext>
            </a:extLst>
          </p:cNvPr>
          <p:cNvSpPr>
            <a:spLocks noGrp="1"/>
          </p:cNvSpPr>
          <p:nvPr>
            <p:ph type="title"/>
          </p:nvPr>
        </p:nvSpPr>
        <p:spPr>
          <a:xfrm>
            <a:off x="457200" y="0"/>
            <a:ext cx="7620000" cy="1143000"/>
          </a:xfrm>
        </p:spPr>
        <p:txBody>
          <a:bodyPr/>
          <a:lstStyle/>
          <a:p>
            <a:pPr algn="ctr">
              <a:defRPr/>
            </a:pPr>
            <a:r>
              <a:rPr lang="en-US" dirty="0"/>
              <a:t>JOIN</a:t>
            </a:r>
            <a:endParaRPr lang="en-MY" dirty="0"/>
          </a:p>
        </p:txBody>
      </p:sp>
      <p:sp>
        <p:nvSpPr>
          <p:cNvPr id="19" name="Snip Single Corner Rectangle 18">
            <a:extLst>
              <a:ext uri="{FF2B5EF4-FFF2-40B4-BE49-F238E27FC236}">
                <a16:creationId xmlns:a16="http://schemas.microsoft.com/office/drawing/2014/main" id="{77466DE9-9A6C-3418-3802-5A7B88661F0F}"/>
              </a:ext>
            </a:extLst>
          </p:cNvPr>
          <p:cNvSpPr/>
          <p:nvPr/>
        </p:nvSpPr>
        <p:spPr>
          <a:xfrm>
            <a:off x="-36513" y="1125538"/>
            <a:ext cx="1655763" cy="400050"/>
          </a:xfrm>
          <a:prstGeom prst="snip1Rect">
            <a:avLst/>
          </a:prstGeom>
          <a:ln/>
        </p:spPr>
        <p:style>
          <a:lnRef idx="1">
            <a:schemeClr val="accent2"/>
          </a:lnRef>
          <a:fillRef idx="3">
            <a:schemeClr val="accent2"/>
          </a:fillRef>
          <a:effectRef idx="2">
            <a:schemeClr val="accent2"/>
          </a:effectRef>
          <a:fontRef idx="minor">
            <a:schemeClr val="lt1"/>
          </a:fontRef>
        </p:style>
        <p:txBody>
          <a:bodyPr anchor="ctr">
            <a:spAutoFit/>
          </a:bodyPr>
          <a:lstStyle/>
          <a:p>
            <a:pPr marL="342900" marR="0" lvl="0" indent="-342900" algn="just" defTabSz="914400" rtl="0" eaLnBrk="1" fontAlgn="base" latinLnBrk="0" hangingPunct="1">
              <a:lnSpc>
                <a:spcPct val="100000"/>
              </a:lnSpc>
              <a:spcBef>
                <a:spcPct val="20000"/>
              </a:spcBef>
              <a:spcAft>
                <a:spcPct val="0"/>
              </a:spcAft>
              <a:buClr>
                <a:srgbClr val="FF6600"/>
              </a:buClr>
              <a:buSzPct val="100000"/>
              <a:buFontTx/>
              <a:buNone/>
              <a:tabLst/>
              <a:defRPr/>
            </a:pPr>
            <a:r>
              <a:rPr kumimoji="0" lang="en-US" sz="1800" b="0" i="0" u="none" strike="noStrike" kern="1200" cap="none" spc="0" normalizeH="0" baseline="0" noProof="0" dirty="0">
                <a:ln>
                  <a:noFill/>
                </a:ln>
                <a:solidFill>
                  <a:srgbClr val="FFFFFF"/>
                </a:solidFill>
                <a:effectLst/>
                <a:uLnTx/>
                <a:uFillTx/>
                <a:latin typeface="Arial" pitchFamily="34" charset="0"/>
                <a:ea typeface="Times New Roman" pitchFamily="18" charset="0"/>
                <a:cs typeface="Arial" pitchFamily="34" charset="0"/>
              </a:rPr>
              <a:t>CROSS JOIN</a:t>
            </a:r>
            <a:endParaRPr kumimoji="0" lang="en-GB" sz="1800" b="0" i="0" u="none" strike="noStrike" kern="0" cap="none" spc="0" normalizeH="0" baseline="0" noProof="0" dirty="0">
              <a:ln>
                <a:noFill/>
              </a:ln>
              <a:solidFill>
                <a:srgbClr val="2F2B20"/>
              </a:solidFill>
              <a:effectLst/>
              <a:uLnTx/>
              <a:uFillTx/>
              <a:latin typeface="Calibri"/>
              <a:ea typeface="+mn-ea"/>
              <a:cs typeface="+mn-cs"/>
            </a:endParaRPr>
          </a:p>
        </p:txBody>
      </p:sp>
      <p:sp>
        <p:nvSpPr>
          <p:cNvPr id="25" name="Content Placeholder 2">
            <a:extLst>
              <a:ext uri="{FF2B5EF4-FFF2-40B4-BE49-F238E27FC236}">
                <a16:creationId xmlns:a16="http://schemas.microsoft.com/office/drawing/2014/main" id="{F8722CA4-7806-6648-01BA-F37AD1CC849F}"/>
              </a:ext>
            </a:extLst>
          </p:cNvPr>
          <p:cNvSpPr txBox="1">
            <a:spLocks/>
          </p:cNvSpPr>
          <p:nvPr/>
        </p:nvSpPr>
        <p:spPr bwMode="auto">
          <a:xfrm>
            <a:off x="250825" y="1773238"/>
            <a:ext cx="7978775"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Cross join is often considered the simplest form of JOIN as it simply joins every row of the tables without taking any join condition into account</a:t>
            </a: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24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SQL syntax:</a:t>
            </a:r>
          </a:p>
        </p:txBody>
      </p:sp>
      <p:sp>
        <p:nvSpPr>
          <p:cNvPr id="38" name="Rounded Rectangle 37">
            <a:extLst>
              <a:ext uri="{FF2B5EF4-FFF2-40B4-BE49-F238E27FC236}">
                <a16:creationId xmlns:a16="http://schemas.microsoft.com/office/drawing/2014/main" id="{BF566F68-B6E6-F98B-107A-F9F1A4FF13F4}"/>
              </a:ext>
            </a:extLst>
          </p:cNvPr>
          <p:cNvSpPr>
            <a:spLocks noChangeArrowheads="1"/>
          </p:cNvSpPr>
          <p:nvPr/>
        </p:nvSpPr>
        <p:spPr bwMode="auto">
          <a:xfrm>
            <a:off x="304800" y="4221163"/>
            <a:ext cx="7848600" cy="1295400"/>
          </a:xfrm>
          <a:prstGeom prst="roundRect">
            <a:avLst>
              <a:gd name="adj" fmla="val 16667"/>
            </a:avLst>
          </a:prstGeom>
          <a:solidFill>
            <a:srgbClr val="7F7B00">
              <a:alpha val="30196"/>
            </a:srgbClr>
          </a:solidFill>
          <a:ln w="9525" algn="ctr">
            <a:solidFill>
              <a:srgbClr val="7F7B00"/>
            </a:solidFill>
            <a:round/>
            <a:headEnd/>
            <a:tailEnd/>
          </a:ln>
        </p:spPr>
        <p:txBody>
          <a:bodyPr anchor="ctr" anchorCtr="1"/>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2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SELECT &lt;column_name&gt;, &lt;column_name&gt;… FROM &lt;table_name1&gt;, &lt;table_name2&gt;;</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25">
                                            <p:txEl>
                                              <p:pRg st="0" end="0"/>
                                            </p:txEl>
                                          </p:spTgt>
                                        </p:tgtEl>
                                        <p:attrNameLst>
                                          <p:attrName>style.visibility</p:attrName>
                                        </p:attrNameLst>
                                      </p:cBhvr>
                                      <p:to>
                                        <p:strVal val="visible"/>
                                      </p:to>
                                    </p:set>
                                    <p:animEffect transition="in" filter="wipe(up)">
                                      <p:cBhvr>
                                        <p:cTn id="7" dur="500"/>
                                        <p:tgtEl>
                                          <p:spTgt spid="2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5">
                                            <p:txEl>
                                              <p:pRg st="2" end="2"/>
                                            </p:txEl>
                                          </p:spTgt>
                                        </p:tgtEl>
                                        <p:attrNameLst>
                                          <p:attrName>style.visibility</p:attrName>
                                        </p:attrNameLst>
                                      </p:cBhvr>
                                      <p:to>
                                        <p:strVal val="visible"/>
                                      </p:to>
                                    </p:set>
                                    <p:animEffect transition="in" filter="wipe(left)">
                                      <p:cBhvr>
                                        <p:cTn id="12" dur="500"/>
                                        <p:tgtEl>
                                          <p:spTgt spid="25">
                                            <p:txEl>
                                              <p:pRg st="2" end="2"/>
                                            </p:txEl>
                                          </p:spTgt>
                                        </p:tgtEl>
                                      </p:cBhvr>
                                    </p:animEffect>
                                  </p:childTnLst>
                                </p:cTn>
                              </p:par>
                            </p:childTnLst>
                          </p:cTn>
                        </p:par>
                        <p:par>
                          <p:cTn id="13" fill="hold" nodeType="afterGroup">
                            <p:stCondLst>
                              <p:cond delay="500"/>
                            </p:stCondLst>
                            <p:childTnLst>
                              <p:par>
                                <p:cTn id="14" presetID="16" presetClass="entr" presetSubtype="21" fill="hold" grpId="0" nodeType="afterEffect">
                                  <p:stCondLst>
                                    <p:cond delay="0"/>
                                  </p:stCondLst>
                                  <p:childTnLst>
                                    <p:set>
                                      <p:cBhvr>
                                        <p:cTn id="15" dur="1" fill="hold">
                                          <p:stCondLst>
                                            <p:cond delay="0"/>
                                          </p:stCondLst>
                                        </p:cTn>
                                        <p:tgtEl>
                                          <p:spTgt spid="38"/>
                                        </p:tgtEl>
                                        <p:attrNameLst>
                                          <p:attrName>style.visibility</p:attrName>
                                        </p:attrNameLst>
                                      </p:cBhvr>
                                      <p:to>
                                        <p:strVal val="visible"/>
                                      </p:to>
                                    </p:set>
                                    <p:animEffect transition="in" filter="barn(inVertical)">
                                      <p:cBhvr>
                                        <p:cTn id="16"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Lst>
  </p:timing>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79C1E-AECA-40D1-5144-088BB6E92147}"/>
              </a:ext>
            </a:extLst>
          </p:cNvPr>
          <p:cNvSpPr>
            <a:spLocks noGrp="1"/>
          </p:cNvSpPr>
          <p:nvPr>
            <p:ph type="title"/>
          </p:nvPr>
        </p:nvSpPr>
        <p:spPr>
          <a:xfrm>
            <a:off x="457200" y="0"/>
            <a:ext cx="7620000" cy="1143000"/>
          </a:xfrm>
        </p:spPr>
        <p:txBody>
          <a:bodyPr/>
          <a:lstStyle/>
          <a:p>
            <a:pPr algn="ctr">
              <a:defRPr/>
            </a:pPr>
            <a:r>
              <a:rPr lang="en-US" dirty="0"/>
              <a:t>JOIN</a:t>
            </a:r>
            <a:endParaRPr lang="en-MY" dirty="0"/>
          </a:p>
        </p:txBody>
      </p:sp>
      <p:sp>
        <p:nvSpPr>
          <p:cNvPr id="7" name="Snip Single Corner Rectangle 6">
            <a:extLst>
              <a:ext uri="{FF2B5EF4-FFF2-40B4-BE49-F238E27FC236}">
                <a16:creationId xmlns:a16="http://schemas.microsoft.com/office/drawing/2014/main" id="{8DAB7429-5E98-AF35-501E-5F3C9E7C67CD}"/>
              </a:ext>
            </a:extLst>
          </p:cNvPr>
          <p:cNvSpPr/>
          <p:nvPr/>
        </p:nvSpPr>
        <p:spPr>
          <a:xfrm>
            <a:off x="-36513" y="1125538"/>
            <a:ext cx="1655763" cy="400050"/>
          </a:xfrm>
          <a:prstGeom prst="snip1Rect">
            <a:avLst/>
          </a:prstGeom>
          <a:ln/>
        </p:spPr>
        <p:style>
          <a:lnRef idx="1">
            <a:schemeClr val="accent2"/>
          </a:lnRef>
          <a:fillRef idx="3">
            <a:schemeClr val="accent2"/>
          </a:fillRef>
          <a:effectRef idx="2">
            <a:schemeClr val="accent2"/>
          </a:effectRef>
          <a:fontRef idx="minor">
            <a:schemeClr val="lt1"/>
          </a:fontRef>
        </p:style>
        <p:txBody>
          <a:bodyPr anchor="ctr">
            <a:spAutoFit/>
          </a:bodyPr>
          <a:lstStyle/>
          <a:p>
            <a:pPr marL="342900" marR="0" lvl="0" indent="-342900" algn="just" defTabSz="914400" rtl="0" eaLnBrk="1" fontAlgn="base" latinLnBrk="0" hangingPunct="1">
              <a:lnSpc>
                <a:spcPct val="100000"/>
              </a:lnSpc>
              <a:spcBef>
                <a:spcPct val="20000"/>
              </a:spcBef>
              <a:spcAft>
                <a:spcPct val="0"/>
              </a:spcAft>
              <a:buClr>
                <a:srgbClr val="FF6600"/>
              </a:buClr>
              <a:buSzPct val="100000"/>
              <a:buFontTx/>
              <a:buNone/>
              <a:tabLst/>
              <a:defRPr/>
            </a:pPr>
            <a:r>
              <a:rPr kumimoji="0" lang="en-US" sz="1800" b="0" i="0" u="none" strike="noStrike" kern="1200" cap="none" spc="0" normalizeH="0" baseline="0" noProof="0" dirty="0">
                <a:ln>
                  <a:noFill/>
                </a:ln>
                <a:solidFill>
                  <a:srgbClr val="FFFFFF"/>
                </a:solidFill>
                <a:effectLst/>
                <a:uLnTx/>
                <a:uFillTx/>
                <a:latin typeface="Arial" pitchFamily="34" charset="0"/>
                <a:ea typeface="Times New Roman" pitchFamily="18" charset="0"/>
                <a:cs typeface="Arial" pitchFamily="34" charset="0"/>
              </a:rPr>
              <a:t>CROSS JOIN</a:t>
            </a:r>
            <a:endParaRPr kumimoji="0" lang="en-GB" sz="1800" b="0" i="0" u="none" strike="noStrike" kern="0" cap="none" spc="0" normalizeH="0" baseline="0" noProof="0" dirty="0">
              <a:ln>
                <a:noFill/>
              </a:ln>
              <a:solidFill>
                <a:srgbClr val="2F2B20"/>
              </a:solidFill>
              <a:effectLst/>
              <a:uLnTx/>
              <a:uFillTx/>
              <a:latin typeface="Calibri"/>
              <a:ea typeface="+mn-ea"/>
              <a:cs typeface="+mn-cs"/>
            </a:endParaRPr>
          </a:p>
        </p:txBody>
      </p:sp>
      <p:sp>
        <p:nvSpPr>
          <p:cNvPr id="21" name="Content Placeholder 2">
            <a:extLst>
              <a:ext uri="{FF2B5EF4-FFF2-40B4-BE49-F238E27FC236}">
                <a16:creationId xmlns:a16="http://schemas.microsoft.com/office/drawing/2014/main" id="{A5BE1FFB-F62C-E401-8C92-FF7179ADF9EC}"/>
              </a:ext>
            </a:extLst>
          </p:cNvPr>
          <p:cNvSpPr txBox="1">
            <a:spLocks/>
          </p:cNvSpPr>
          <p:nvPr/>
        </p:nvSpPr>
        <p:spPr bwMode="auto">
          <a:xfrm>
            <a:off x="250825" y="1773238"/>
            <a:ext cx="8655050"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For example</a:t>
            </a: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6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The SQL would be as follows</a:t>
            </a:r>
          </a:p>
        </p:txBody>
      </p:sp>
      <p:graphicFrame>
        <p:nvGraphicFramePr>
          <p:cNvPr id="22" name="Table 21">
            <a:extLst>
              <a:ext uri="{FF2B5EF4-FFF2-40B4-BE49-F238E27FC236}">
                <a16:creationId xmlns:a16="http://schemas.microsoft.com/office/drawing/2014/main" id="{5D51158B-CC28-6E3B-3937-75DE222554D2}"/>
              </a:ext>
            </a:extLst>
          </p:cNvPr>
          <p:cNvGraphicFramePr>
            <a:graphicFrameLocks noGrp="1"/>
          </p:cNvGraphicFramePr>
          <p:nvPr/>
        </p:nvGraphicFramePr>
        <p:xfrm>
          <a:off x="990600" y="2349500"/>
          <a:ext cx="6624638" cy="1854200"/>
        </p:xfrm>
        <a:graphic>
          <a:graphicData uri="http://schemas.openxmlformats.org/drawingml/2006/table">
            <a:tbl>
              <a:tblPr firstRow="1" bandRow="1">
                <a:tableStyleId>{9D7B26C5-4107-4FEC-AEDC-1716B250A1EF}</a:tableStyleId>
              </a:tblPr>
              <a:tblGrid>
                <a:gridCol w="1368133">
                  <a:extLst>
                    <a:ext uri="{9D8B030D-6E8A-4147-A177-3AD203B41FA5}">
                      <a16:colId xmlns:a16="http://schemas.microsoft.com/office/drawing/2014/main" val="20000"/>
                    </a:ext>
                  </a:extLst>
                </a:gridCol>
                <a:gridCol w="1872180">
                  <a:extLst>
                    <a:ext uri="{9D8B030D-6E8A-4147-A177-3AD203B41FA5}">
                      <a16:colId xmlns:a16="http://schemas.microsoft.com/office/drawing/2014/main" val="20001"/>
                    </a:ext>
                  </a:extLst>
                </a:gridCol>
                <a:gridCol w="2184928">
                  <a:extLst>
                    <a:ext uri="{9D8B030D-6E8A-4147-A177-3AD203B41FA5}">
                      <a16:colId xmlns:a16="http://schemas.microsoft.com/office/drawing/2014/main" val="20002"/>
                    </a:ext>
                  </a:extLst>
                </a:gridCol>
                <a:gridCol w="1199397">
                  <a:extLst>
                    <a:ext uri="{9D8B030D-6E8A-4147-A177-3AD203B41FA5}">
                      <a16:colId xmlns:a16="http://schemas.microsoft.com/office/drawing/2014/main" val="20003"/>
                    </a:ext>
                  </a:extLst>
                </a:gridCol>
              </a:tblGrid>
              <a:tr h="370840">
                <a:tc>
                  <a:txBody>
                    <a:bodyPr/>
                    <a:lstStyle/>
                    <a:p>
                      <a:pPr algn="ctr"/>
                      <a:r>
                        <a:rPr lang="en-CA" dirty="0"/>
                        <a:t>Name</a:t>
                      </a:r>
                    </a:p>
                  </a:txBody>
                  <a:tcPr marL="91439" marR="91439"/>
                </a:tc>
                <a:tc>
                  <a:txBody>
                    <a:bodyPr/>
                    <a:lstStyle/>
                    <a:p>
                      <a:pPr algn="ctr"/>
                      <a:r>
                        <a:rPr lang="en-CA" dirty="0" err="1"/>
                        <a:t>DepartmentId</a:t>
                      </a:r>
                      <a:endParaRPr lang="en-CA" dirty="0"/>
                    </a:p>
                  </a:txBody>
                  <a:tcPr marL="91439" marR="91439"/>
                </a:tc>
                <a:tc>
                  <a:txBody>
                    <a:bodyPr/>
                    <a:lstStyle/>
                    <a:p>
                      <a:pPr algn="ctr"/>
                      <a:r>
                        <a:rPr lang="en-CA" dirty="0" err="1"/>
                        <a:t>DepartmentId</a:t>
                      </a:r>
                      <a:endParaRPr lang="en-CA" dirty="0"/>
                    </a:p>
                  </a:txBody>
                  <a:tcPr marL="91439" marR="91439"/>
                </a:tc>
                <a:tc>
                  <a:txBody>
                    <a:bodyPr/>
                    <a:lstStyle/>
                    <a:p>
                      <a:pPr algn="ctr"/>
                      <a:r>
                        <a:rPr lang="en-CA" dirty="0"/>
                        <a:t>Name</a:t>
                      </a:r>
                    </a:p>
                  </a:txBody>
                  <a:tcPr marL="91439" marR="91439"/>
                </a:tc>
                <a:extLst>
                  <a:ext uri="{0D108BD9-81ED-4DB2-BD59-A6C34878D82A}">
                    <a16:rowId xmlns:a16="http://schemas.microsoft.com/office/drawing/2014/main" val="10000"/>
                  </a:ext>
                </a:extLst>
              </a:tr>
              <a:tr h="370840">
                <a:tc>
                  <a:txBody>
                    <a:bodyPr/>
                    <a:lstStyle/>
                    <a:p>
                      <a:pPr algn="ctr"/>
                      <a:r>
                        <a:rPr lang="en-CA" dirty="0"/>
                        <a:t>Aamir</a:t>
                      </a:r>
                    </a:p>
                  </a:txBody>
                  <a:tcPr marL="91439" marR="91439"/>
                </a:tc>
                <a:tc>
                  <a:txBody>
                    <a:bodyPr/>
                    <a:lstStyle/>
                    <a:p>
                      <a:pPr algn="ctr"/>
                      <a:r>
                        <a:rPr lang="en-CA" dirty="0"/>
                        <a:t>10</a:t>
                      </a:r>
                    </a:p>
                  </a:txBody>
                  <a:tcPr marL="91439" marR="91439"/>
                </a:tc>
                <a:tc>
                  <a:txBody>
                    <a:bodyPr/>
                    <a:lstStyle/>
                    <a:p>
                      <a:pPr algn="ctr"/>
                      <a:r>
                        <a:rPr lang="en-CA" dirty="0"/>
                        <a:t>10</a:t>
                      </a:r>
                    </a:p>
                  </a:txBody>
                  <a:tcPr marL="91439" marR="91439"/>
                </a:tc>
                <a:tc>
                  <a:txBody>
                    <a:bodyPr/>
                    <a:lstStyle/>
                    <a:p>
                      <a:pPr algn="ctr"/>
                      <a:r>
                        <a:rPr lang="en-CA" dirty="0"/>
                        <a:t>IT</a:t>
                      </a:r>
                    </a:p>
                  </a:txBody>
                  <a:tcPr marL="91439" marR="91439"/>
                </a:tc>
                <a:extLst>
                  <a:ext uri="{0D108BD9-81ED-4DB2-BD59-A6C34878D82A}">
                    <a16:rowId xmlns:a16="http://schemas.microsoft.com/office/drawing/2014/main" val="10001"/>
                  </a:ext>
                </a:extLst>
              </a:tr>
              <a:tr h="370840">
                <a:tc>
                  <a:txBody>
                    <a:bodyPr/>
                    <a:lstStyle/>
                    <a:p>
                      <a:pPr algn="ctr"/>
                      <a:r>
                        <a:rPr lang="en-CA" dirty="0"/>
                        <a:t>Sadaf</a:t>
                      </a:r>
                    </a:p>
                  </a:txBody>
                  <a:tcPr marL="91439" marR="91439"/>
                </a:tc>
                <a:tc>
                  <a:txBody>
                    <a:bodyPr/>
                    <a:lstStyle/>
                    <a:p>
                      <a:pPr algn="ctr"/>
                      <a:r>
                        <a:rPr lang="en-CA" dirty="0"/>
                        <a:t>NULL</a:t>
                      </a:r>
                    </a:p>
                  </a:txBody>
                  <a:tcPr marL="91439" marR="91439"/>
                </a:tc>
                <a:tc>
                  <a:txBody>
                    <a:bodyPr/>
                    <a:lstStyle/>
                    <a:p>
                      <a:pPr algn="ctr"/>
                      <a:r>
                        <a:rPr lang="en-CA" dirty="0"/>
                        <a:t>10</a:t>
                      </a:r>
                    </a:p>
                  </a:txBody>
                  <a:tcPr marL="91439" marR="91439"/>
                </a:tc>
                <a:tc>
                  <a:txBody>
                    <a:bodyPr/>
                    <a:lstStyle/>
                    <a:p>
                      <a:pPr algn="ctr"/>
                      <a:r>
                        <a:rPr lang="en-CA" dirty="0"/>
                        <a:t>IT</a:t>
                      </a:r>
                    </a:p>
                  </a:txBody>
                  <a:tcPr marL="91439" marR="91439"/>
                </a:tc>
                <a:extLst>
                  <a:ext uri="{0D108BD9-81ED-4DB2-BD59-A6C34878D82A}">
                    <a16:rowId xmlns:a16="http://schemas.microsoft.com/office/drawing/2014/main" val="10002"/>
                  </a:ext>
                </a:extLst>
              </a:tr>
              <a:tr h="370840">
                <a:tc>
                  <a:txBody>
                    <a:bodyPr/>
                    <a:lstStyle/>
                    <a:p>
                      <a:pPr algn="ctr"/>
                      <a:r>
                        <a:rPr lang="en-CA" dirty="0"/>
                        <a:t>Aamir</a:t>
                      </a:r>
                    </a:p>
                  </a:txBody>
                  <a:tcPr marL="91439" marR="91439"/>
                </a:tc>
                <a:tc>
                  <a:txBody>
                    <a:bodyPr/>
                    <a:lstStyle/>
                    <a:p>
                      <a:pPr algn="ctr"/>
                      <a:r>
                        <a:rPr lang="en-CA" dirty="0"/>
                        <a:t>10</a:t>
                      </a:r>
                    </a:p>
                  </a:txBody>
                  <a:tcPr marL="91439" marR="91439"/>
                </a:tc>
                <a:tc>
                  <a:txBody>
                    <a:bodyPr/>
                    <a:lstStyle/>
                    <a:p>
                      <a:pPr algn="ctr"/>
                      <a:r>
                        <a:rPr lang="en-CA" dirty="0"/>
                        <a:t>15</a:t>
                      </a:r>
                    </a:p>
                  </a:txBody>
                  <a:tcPr marL="91439" marR="91439"/>
                </a:tc>
                <a:tc>
                  <a:txBody>
                    <a:bodyPr/>
                    <a:lstStyle/>
                    <a:p>
                      <a:pPr algn="ctr"/>
                      <a:r>
                        <a:rPr lang="en-CA" dirty="0"/>
                        <a:t>Finance</a:t>
                      </a:r>
                    </a:p>
                  </a:txBody>
                  <a:tcPr marL="91439" marR="91439"/>
                </a:tc>
                <a:extLst>
                  <a:ext uri="{0D108BD9-81ED-4DB2-BD59-A6C34878D82A}">
                    <a16:rowId xmlns:a16="http://schemas.microsoft.com/office/drawing/2014/main" val="10003"/>
                  </a:ext>
                </a:extLst>
              </a:tr>
              <a:tr h="370840">
                <a:tc>
                  <a:txBody>
                    <a:bodyPr/>
                    <a:lstStyle/>
                    <a:p>
                      <a:pPr algn="ctr"/>
                      <a:r>
                        <a:rPr lang="en-CA" dirty="0"/>
                        <a:t>Sadaf</a:t>
                      </a:r>
                    </a:p>
                  </a:txBody>
                  <a:tcPr marL="91439" marR="91439"/>
                </a:tc>
                <a:tc>
                  <a:txBody>
                    <a:bodyPr/>
                    <a:lstStyle/>
                    <a:p>
                      <a:pPr algn="ctr"/>
                      <a:r>
                        <a:rPr lang="en-CA" dirty="0"/>
                        <a:t>NULL</a:t>
                      </a:r>
                    </a:p>
                  </a:txBody>
                  <a:tcPr marL="91439" marR="91439"/>
                </a:tc>
                <a:tc>
                  <a:txBody>
                    <a:bodyPr/>
                    <a:lstStyle/>
                    <a:p>
                      <a:pPr algn="ctr"/>
                      <a:r>
                        <a:rPr lang="en-CA" dirty="0"/>
                        <a:t>15</a:t>
                      </a:r>
                    </a:p>
                  </a:txBody>
                  <a:tcPr marL="91439" marR="91439"/>
                </a:tc>
                <a:tc>
                  <a:txBody>
                    <a:bodyPr/>
                    <a:lstStyle/>
                    <a:p>
                      <a:pPr algn="ctr"/>
                      <a:r>
                        <a:rPr lang="en-CA" dirty="0"/>
                        <a:t>Finance</a:t>
                      </a:r>
                    </a:p>
                  </a:txBody>
                  <a:tcPr marL="91439" marR="91439"/>
                </a:tc>
                <a:extLst>
                  <a:ext uri="{0D108BD9-81ED-4DB2-BD59-A6C34878D82A}">
                    <a16:rowId xmlns:a16="http://schemas.microsoft.com/office/drawing/2014/main" val="10004"/>
                  </a:ext>
                </a:extLst>
              </a:tr>
            </a:tbl>
          </a:graphicData>
        </a:graphic>
      </p:graphicFrame>
      <p:sp>
        <p:nvSpPr>
          <p:cNvPr id="23" name="Rounded Rectangle 22">
            <a:extLst>
              <a:ext uri="{FF2B5EF4-FFF2-40B4-BE49-F238E27FC236}">
                <a16:creationId xmlns:a16="http://schemas.microsoft.com/office/drawing/2014/main" id="{AFC68333-DFE5-E4EB-65D8-111A239C2C29}"/>
              </a:ext>
            </a:extLst>
          </p:cNvPr>
          <p:cNvSpPr/>
          <p:nvPr/>
        </p:nvSpPr>
        <p:spPr bwMode="auto">
          <a:xfrm>
            <a:off x="792163" y="5229225"/>
            <a:ext cx="6884987" cy="647700"/>
          </a:xfrm>
          <a:prstGeom prst="roundRect">
            <a:avLst/>
          </a:prstGeom>
          <a:solidFill>
            <a:schemeClr val="accent6">
              <a:alpha val="30000"/>
            </a:schemeClr>
          </a:solidFill>
          <a:ln w="9525" cap="flat" cmpd="sng" algn="ctr">
            <a:solidFill>
              <a:schemeClr val="accent6"/>
            </a:solidFill>
            <a:prstDash val="solid"/>
            <a:round/>
            <a:headEnd type="none" w="med" len="med"/>
            <a:tailEnd type="none" w="med" len="med"/>
          </a:ln>
          <a:effectLst/>
        </p:spPr>
        <p:txBody>
          <a:bodyPr anchor="ctr" anchorCtr="1"/>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2800" b="0" i="0" u="none" strike="noStrike" kern="1200" cap="none" spc="0" normalizeH="0" baseline="0" noProof="0" dirty="0">
                <a:ln>
                  <a:noFill/>
                </a:ln>
                <a:solidFill>
                  <a:srgbClr val="2F2B20"/>
                </a:solidFill>
                <a:effectLst/>
                <a:uLnTx/>
                <a:uFillTx/>
                <a:latin typeface="Arial" charset="0"/>
                <a:ea typeface="+mn-ea"/>
                <a:cs typeface="Arial" panose="020B0604020202020204" pitchFamily="34" charset="0"/>
              </a:rPr>
              <a:t>SELECT * FROM Employee, Department;</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wipe(up)">
                                      <p:cBhvr>
                                        <p:cTn id="7" dur="500"/>
                                        <p:tgtEl>
                                          <p:spTgt spid="21">
                                            <p:txEl>
                                              <p:pRg st="0" end="0"/>
                                            </p:txEl>
                                          </p:spTgt>
                                        </p:tgtEl>
                                      </p:cBhvr>
                                    </p:animEffect>
                                  </p:childTnLst>
                                </p:cTn>
                              </p:par>
                            </p:childTnLst>
                          </p:cTn>
                        </p:par>
                        <p:par>
                          <p:cTn id="8" fill="hold" nodeType="afterGroup">
                            <p:stCondLst>
                              <p:cond delay="500"/>
                            </p:stCondLst>
                            <p:childTnLst>
                              <p:par>
                                <p:cTn id="9" presetID="16" presetClass="entr" presetSubtype="21" fill="hold" nodeType="after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barn(inVertical)">
                                      <p:cBhvr>
                                        <p:cTn id="11" dur="500"/>
                                        <p:tgtEl>
                                          <p:spTgt spid="22"/>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21">
                                            <p:txEl>
                                              <p:pRg st="6" end="6"/>
                                            </p:txEl>
                                          </p:spTgt>
                                        </p:tgtEl>
                                        <p:attrNameLst>
                                          <p:attrName>style.visibility</p:attrName>
                                        </p:attrNameLst>
                                      </p:cBhvr>
                                      <p:to>
                                        <p:strVal val="visible"/>
                                      </p:to>
                                    </p:set>
                                    <p:animEffect transition="in" filter="wipe(left)">
                                      <p:cBhvr>
                                        <p:cTn id="16" dur="500"/>
                                        <p:tgtEl>
                                          <p:spTgt spid="21">
                                            <p:txEl>
                                              <p:pRg st="6" end="6"/>
                                            </p:txEl>
                                          </p:spTgt>
                                        </p:tgtEl>
                                      </p:cBhvr>
                                    </p:animEffect>
                                  </p:childTnLst>
                                </p:cTn>
                              </p:par>
                            </p:childTnLst>
                          </p:cTn>
                        </p:par>
                        <p:par>
                          <p:cTn id="17" fill="hold" nodeType="afterGroup">
                            <p:stCondLst>
                              <p:cond delay="500"/>
                            </p:stCondLst>
                            <p:childTnLst>
                              <p:par>
                                <p:cTn id="18" presetID="16" presetClass="entr" presetSubtype="21" fill="hold" grpId="0" nodeType="afterEffect">
                                  <p:stCondLst>
                                    <p:cond delay="0"/>
                                  </p:stCondLst>
                                  <p:childTnLst>
                                    <p:set>
                                      <p:cBhvr>
                                        <p:cTn id="19" dur="1" fill="hold">
                                          <p:stCondLst>
                                            <p:cond delay="0"/>
                                          </p:stCondLst>
                                        </p:cTn>
                                        <p:tgtEl>
                                          <p:spTgt spid="23"/>
                                        </p:tgtEl>
                                        <p:attrNameLst>
                                          <p:attrName>style.visibility</p:attrName>
                                        </p:attrNameLst>
                                      </p:cBhvr>
                                      <p:to>
                                        <p:strVal val="visible"/>
                                      </p:to>
                                    </p:set>
                                    <p:animEffect transition="in" filter="barn(inVertical)">
                                      <p:cBhvr>
                                        <p:cTn id="20"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Lst>
  </p:timing>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F1FBC9-C993-976F-C4B2-EAB967908775}"/>
              </a:ext>
            </a:extLst>
          </p:cNvPr>
          <p:cNvSpPr>
            <a:spLocks noGrp="1"/>
          </p:cNvSpPr>
          <p:nvPr>
            <p:ph type="title"/>
          </p:nvPr>
        </p:nvSpPr>
        <p:spPr>
          <a:xfrm>
            <a:off x="457200" y="0"/>
            <a:ext cx="7620000" cy="1143000"/>
          </a:xfrm>
        </p:spPr>
        <p:txBody>
          <a:bodyPr/>
          <a:lstStyle/>
          <a:p>
            <a:pPr algn="ctr">
              <a:defRPr/>
            </a:pPr>
            <a:r>
              <a:rPr lang="en-US" dirty="0"/>
              <a:t>JOIN</a:t>
            </a:r>
            <a:endParaRPr lang="en-MY" dirty="0"/>
          </a:p>
        </p:txBody>
      </p:sp>
      <p:sp>
        <p:nvSpPr>
          <p:cNvPr id="7" name="Snip Single Corner Rectangle 6">
            <a:extLst>
              <a:ext uri="{FF2B5EF4-FFF2-40B4-BE49-F238E27FC236}">
                <a16:creationId xmlns:a16="http://schemas.microsoft.com/office/drawing/2014/main" id="{42CB232E-C58B-E3DD-3317-2EC7F46BE40C}"/>
              </a:ext>
            </a:extLst>
          </p:cNvPr>
          <p:cNvSpPr/>
          <p:nvPr/>
        </p:nvSpPr>
        <p:spPr>
          <a:xfrm>
            <a:off x="-36513" y="1125538"/>
            <a:ext cx="1655763" cy="400050"/>
          </a:xfrm>
          <a:prstGeom prst="snip1Rect">
            <a:avLst/>
          </a:prstGeom>
          <a:ln/>
        </p:spPr>
        <p:style>
          <a:lnRef idx="1">
            <a:schemeClr val="accent2"/>
          </a:lnRef>
          <a:fillRef idx="3">
            <a:schemeClr val="accent2"/>
          </a:fillRef>
          <a:effectRef idx="2">
            <a:schemeClr val="accent2"/>
          </a:effectRef>
          <a:fontRef idx="minor">
            <a:schemeClr val="lt1"/>
          </a:fontRef>
        </p:style>
        <p:txBody>
          <a:bodyPr anchor="ctr">
            <a:spAutoFit/>
          </a:bodyPr>
          <a:lstStyle/>
          <a:p>
            <a:pPr marL="342900" marR="0" lvl="0" indent="-342900" algn="just" defTabSz="914400" rtl="0" eaLnBrk="1" fontAlgn="base" latinLnBrk="0" hangingPunct="1">
              <a:lnSpc>
                <a:spcPct val="100000"/>
              </a:lnSpc>
              <a:spcBef>
                <a:spcPct val="20000"/>
              </a:spcBef>
              <a:spcAft>
                <a:spcPct val="0"/>
              </a:spcAft>
              <a:buClr>
                <a:srgbClr val="FF6600"/>
              </a:buClr>
              <a:buSzPct val="100000"/>
              <a:buFontTx/>
              <a:buNone/>
              <a:tabLst/>
              <a:defRPr/>
            </a:pPr>
            <a:r>
              <a:rPr kumimoji="0" lang="en-US" sz="1800" b="0" i="0" u="none" strike="noStrike" kern="1200" cap="none" spc="0" normalizeH="0" baseline="0" noProof="0" dirty="0">
                <a:ln>
                  <a:noFill/>
                </a:ln>
                <a:solidFill>
                  <a:srgbClr val="FFFFFF"/>
                </a:solidFill>
                <a:effectLst/>
                <a:uLnTx/>
                <a:uFillTx/>
                <a:latin typeface="Arial" pitchFamily="34" charset="0"/>
                <a:ea typeface="Times New Roman" pitchFamily="18" charset="0"/>
                <a:cs typeface="Arial" pitchFamily="34" charset="0"/>
              </a:rPr>
              <a:t>CROSS JOIN</a:t>
            </a:r>
            <a:endParaRPr kumimoji="0" lang="en-GB" sz="1800" b="0" i="0" u="none" strike="noStrike" kern="0" cap="none" spc="0" normalizeH="0" baseline="0" noProof="0" dirty="0">
              <a:ln>
                <a:noFill/>
              </a:ln>
              <a:solidFill>
                <a:srgbClr val="2F2B20"/>
              </a:solidFill>
              <a:effectLst/>
              <a:uLnTx/>
              <a:uFillTx/>
              <a:latin typeface="Calibri"/>
              <a:ea typeface="+mn-ea"/>
              <a:cs typeface="+mn-cs"/>
            </a:endParaRPr>
          </a:p>
        </p:txBody>
      </p:sp>
      <p:sp>
        <p:nvSpPr>
          <p:cNvPr id="21" name="Content Placeholder 2">
            <a:extLst>
              <a:ext uri="{FF2B5EF4-FFF2-40B4-BE49-F238E27FC236}">
                <a16:creationId xmlns:a16="http://schemas.microsoft.com/office/drawing/2014/main" id="{3D07C5B8-0182-7BBE-4393-64805A1CD31A}"/>
              </a:ext>
            </a:extLst>
          </p:cNvPr>
          <p:cNvSpPr txBox="1">
            <a:spLocks/>
          </p:cNvSpPr>
          <p:nvPr/>
        </p:nvSpPr>
        <p:spPr bwMode="auto">
          <a:xfrm>
            <a:off x="250825" y="1773238"/>
            <a:ext cx="8655050"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An alternative SQL syntax </a:t>
            </a: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For example</a:t>
            </a:r>
          </a:p>
        </p:txBody>
      </p:sp>
      <p:sp>
        <p:nvSpPr>
          <p:cNvPr id="23" name="Rounded Rectangle 22">
            <a:extLst>
              <a:ext uri="{FF2B5EF4-FFF2-40B4-BE49-F238E27FC236}">
                <a16:creationId xmlns:a16="http://schemas.microsoft.com/office/drawing/2014/main" id="{0AEE9EEC-063F-53C0-7AFB-95C17CCB19D6}"/>
              </a:ext>
            </a:extLst>
          </p:cNvPr>
          <p:cNvSpPr/>
          <p:nvPr/>
        </p:nvSpPr>
        <p:spPr bwMode="auto">
          <a:xfrm>
            <a:off x="76200" y="4403725"/>
            <a:ext cx="3630613" cy="1366838"/>
          </a:xfrm>
          <a:prstGeom prst="roundRect">
            <a:avLst/>
          </a:prstGeom>
          <a:solidFill>
            <a:schemeClr val="accent6">
              <a:alpha val="30000"/>
            </a:schemeClr>
          </a:solidFill>
          <a:ln w="9525" cap="flat" cmpd="sng" algn="ctr">
            <a:solidFill>
              <a:schemeClr val="accent6"/>
            </a:solidFill>
            <a:prstDash val="solid"/>
            <a:round/>
            <a:headEnd type="none" w="med" len="med"/>
            <a:tailEnd type="none" w="med" len="med"/>
          </a:ln>
          <a:effectLst/>
        </p:spPr>
        <p:txBody>
          <a:bodyPr anchor="ctr" anchorCtr="1"/>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2400" b="0" i="0" u="none" strike="noStrike" kern="1200" cap="none" spc="0" normalizeH="0" baseline="0" noProof="0" dirty="0">
                <a:ln>
                  <a:noFill/>
                </a:ln>
                <a:solidFill>
                  <a:srgbClr val="2F2B20"/>
                </a:solidFill>
                <a:effectLst/>
                <a:uLnTx/>
                <a:uFillTx/>
                <a:latin typeface="Arial" charset="0"/>
                <a:ea typeface="+mn-ea"/>
                <a:cs typeface="Arial" panose="020B0604020202020204" pitchFamily="34" charset="0"/>
              </a:rPr>
              <a:t>SELECT * FROM Employee CROSS JOIN Department;</a:t>
            </a:r>
          </a:p>
        </p:txBody>
      </p:sp>
      <p:sp>
        <p:nvSpPr>
          <p:cNvPr id="16" name="Rounded Rectangle 15">
            <a:extLst>
              <a:ext uri="{FF2B5EF4-FFF2-40B4-BE49-F238E27FC236}">
                <a16:creationId xmlns:a16="http://schemas.microsoft.com/office/drawing/2014/main" id="{8C8902BF-7135-D215-BE24-63D0A0066032}"/>
              </a:ext>
            </a:extLst>
          </p:cNvPr>
          <p:cNvSpPr>
            <a:spLocks noChangeArrowheads="1"/>
          </p:cNvSpPr>
          <p:nvPr/>
        </p:nvSpPr>
        <p:spPr bwMode="auto">
          <a:xfrm>
            <a:off x="287338" y="2349500"/>
            <a:ext cx="7848600" cy="1439863"/>
          </a:xfrm>
          <a:prstGeom prst="roundRect">
            <a:avLst>
              <a:gd name="adj" fmla="val 16667"/>
            </a:avLst>
          </a:prstGeom>
          <a:solidFill>
            <a:srgbClr val="7F7B00">
              <a:alpha val="30196"/>
            </a:srgbClr>
          </a:solidFill>
          <a:ln w="9525" algn="ctr">
            <a:solidFill>
              <a:srgbClr val="7F7B00"/>
            </a:solidFill>
            <a:round/>
            <a:headEnd/>
            <a:tailEnd/>
          </a:ln>
        </p:spPr>
        <p:txBody>
          <a:bodyPr anchor="ctr" anchorCtr="1"/>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2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SELECT &lt;column_name&gt;, &lt;column_name&gt;… FROM &lt;table_name1&gt; CROSS JOIN &lt;table_name2&gt;;</a:t>
            </a:r>
          </a:p>
        </p:txBody>
      </p:sp>
      <p:sp>
        <p:nvSpPr>
          <p:cNvPr id="24" name="Rounded Rectangle 23">
            <a:extLst>
              <a:ext uri="{FF2B5EF4-FFF2-40B4-BE49-F238E27FC236}">
                <a16:creationId xmlns:a16="http://schemas.microsoft.com/office/drawing/2014/main" id="{785EED6F-ED90-11F7-5420-A329D8BE3C16}"/>
              </a:ext>
            </a:extLst>
          </p:cNvPr>
          <p:cNvSpPr/>
          <p:nvPr/>
        </p:nvSpPr>
        <p:spPr bwMode="auto">
          <a:xfrm>
            <a:off x="4684713" y="4403725"/>
            <a:ext cx="3630612" cy="1366838"/>
          </a:xfrm>
          <a:prstGeom prst="roundRect">
            <a:avLst/>
          </a:prstGeom>
          <a:solidFill>
            <a:schemeClr val="accent5">
              <a:alpha val="30000"/>
            </a:schemeClr>
          </a:solidFill>
          <a:ln w="9525" cap="flat" cmpd="sng" algn="ctr">
            <a:solidFill>
              <a:schemeClr val="accent5"/>
            </a:solidFill>
            <a:prstDash val="solid"/>
            <a:round/>
            <a:headEnd type="none" w="med" len="med"/>
            <a:tailEnd type="none" w="med" len="med"/>
          </a:ln>
          <a:effectLst/>
        </p:spPr>
        <p:txBody>
          <a:bodyPr anchor="ctr" anchorCtr="1"/>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2400" b="0"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SELECT * FROM Employee, Department;</a:t>
            </a:r>
          </a:p>
        </p:txBody>
      </p:sp>
      <p:sp>
        <p:nvSpPr>
          <p:cNvPr id="3" name="Equal 2">
            <a:extLst>
              <a:ext uri="{FF2B5EF4-FFF2-40B4-BE49-F238E27FC236}">
                <a16:creationId xmlns:a16="http://schemas.microsoft.com/office/drawing/2014/main" id="{467B8722-E8C6-3E60-AC58-558F22B64942}"/>
              </a:ext>
            </a:extLst>
          </p:cNvPr>
          <p:cNvSpPr/>
          <p:nvPr/>
        </p:nvSpPr>
        <p:spPr bwMode="auto">
          <a:xfrm>
            <a:off x="3800475" y="4654550"/>
            <a:ext cx="830263" cy="865188"/>
          </a:xfrm>
          <a:prstGeom prst="mathEqual">
            <a:avLst/>
          </a:prstGeom>
          <a:solidFill>
            <a:schemeClr val="tx1"/>
          </a:solidFill>
          <a:ln w="9525" cap="flat" cmpd="sng" algn="ctr">
            <a:solidFill>
              <a:schemeClr val="tx1"/>
            </a:solidFill>
            <a:prstDash val="solid"/>
            <a:round/>
            <a:headEnd type="none" w="med" len="med"/>
            <a:tailEnd type="none" w="med" len="me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CA" sz="1800" b="0" i="0" u="none" strike="noStrike" kern="1200" cap="none" spc="0" normalizeH="0" baseline="0" noProof="0">
              <a:ln>
                <a:noFill/>
              </a:ln>
              <a:solidFill>
                <a:srgbClr val="2F2B20"/>
              </a:solidFill>
              <a:effectLst/>
              <a:uLnTx/>
              <a:uFillTx/>
              <a:latin typeface="Arial" charset="0"/>
              <a:ea typeface="+mn-ea"/>
              <a:cs typeface="Arial" panose="020B0604020202020204" pitchFamily="3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wipe(up)">
                                      <p:cBhvr>
                                        <p:cTn id="7" dur="500"/>
                                        <p:tgtEl>
                                          <p:spTgt spid="21">
                                            <p:txEl>
                                              <p:pRg st="0" end="0"/>
                                            </p:txEl>
                                          </p:spTgt>
                                        </p:tgtEl>
                                      </p:cBhvr>
                                    </p:animEffect>
                                  </p:childTnLst>
                                </p:cTn>
                              </p:par>
                            </p:childTnLst>
                          </p:cTn>
                        </p:par>
                        <p:par>
                          <p:cTn id="8" fill="hold" nodeType="afterGroup">
                            <p:stCondLst>
                              <p:cond delay="500"/>
                            </p:stCondLst>
                            <p:childTnLst>
                              <p:par>
                                <p:cTn id="9" presetID="16" presetClass="entr" presetSubtype="21" fill="hold" grpId="0"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barn(inVertical)">
                                      <p:cBhvr>
                                        <p:cTn id="11" dur="500"/>
                                        <p:tgtEl>
                                          <p:spTgt spid="16"/>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21">
                                            <p:txEl>
                                              <p:pRg st="4" end="4"/>
                                            </p:txEl>
                                          </p:spTgt>
                                        </p:tgtEl>
                                        <p:attrNameLst>
                                          <p:attrName>style.visibility</p:attrName>
                                        </p:attrNameLst>
                                      </p:cBhvr>
                                      <p:to>
                                        <p:strVal val="visible"/>
                                      </p:to>
                                    </p:set>
                                    <p:animEffect transition="in" filter="wipe(left)">
                                      <p:cBhvr>
                                        <p:cTn id="16" dur="500"/>
                                        <p:tgtEl>
                                          <p:spTgt spid="21">
                                            <p:txEl>
                                              <p:pRg st="4" end="4"/>
                                            </p:txEl>
                                          </p:spTgt>
                                        </p:tgtEl>
                                      </p:cBhvr>
                                    </p:animEffect>
                                  </p:childTnLst>
                                </p:cTn>
                              </p:par>
                            </p:childTnLst>
                          </p:cTn>
                        </p:par>
                        <p:par>
                          <p:cTn id="17" fill="hold" nodeType="afterGroup">
                            <p:stCondLst>
                              <p:cond delay="500"/>
                            </p:stCondLst>
                            <p:childTnLst>
                              <p:par>
                                <p:cTn id="18" presetID="16" presetClass="entr" presetSubtype="21" fill="hold" grpId="0" nodeType="afterEffect">
                                  <p:stCondLst>
                                    <p:cond delay="0"/>
                                  </p:stCondLst>
                                  <p:childTnLst>
                                    <p:set>
                                      <p:cBhvr>
                                        <p:cTn id="19" dur="1" fill="hold">
                                          <p:stCondLst>
                                            <p:cond delay="0"/>
                                          </p:stCondLst>
                                        </p:cTn>
                                        <p:tgtEl>
                                          <p:spTgt spid="23"/>
                                        </p:tgtEl>
                                        <p:attrNameLst>
                                          <p:attrName>style.visibility</p:attrName>
                                        </p:attrNameLst>
                                      </p:cBhvr>
                                      <p:to>
                                        <p:strVal val="visible"/>
                                      </p:to>
                                    </p:set>
                                    <p:animEffect transition="in" filter="barn(inVertical)">
                                      <p:cBhvr>
                                        <p:cTn id="20" dur="500"/>
                                        <p:tgtEl>
                                          <p:spTgt spid="23"/>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6" presetClass="entr" presetSubtype="21" fill="hold" grpId="0" nodeType="click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barn(inVertical)">
                                      <p:cBhvr>
                                        <p:cTn id="25" dur="500"/>
                                        <p:tgtEl>
                                          <p:spTgt spid="24"/>
                                        </p:tgtEl>
                                      </p:cBhvr>
                                    </p:animEffect>
                                  </p:childTnLst>
                                </p:cTn>
                              </p:par>
                            </p:childTnLst>
                          </p:cTn>
                        </p:par>
                        <p:par>
                          <p:cTn id="26" fill="hold" nodeType="afterGroup">
                            <p:stCondLst>
                              <p:cond delay="500"/>
                            </p:stCondLst>
                            <p:childTnLst>
                              <p:par>
                                <p:cTn id="27" presetID="42" presetClass="entr" presetSubtype="0" fill="hold" nodeType="afterEffect">
                                  <p:stCondLst>
                                    <p:cond delay="0"/>
                                  </p:stCondLst>
                                  <p:childTnLst>
                                    <p:set>
                                      <p:cBhvr>
                                        <p:cTn id="28" dur="1" fill="hold">
                                          <p:stCondLst>
                                            <p:cond delay="0"/>
                                          </p:stCondLst>
                                        </p:cTn>
                                        <p:tgtEl>
                                          <p:spTgt spid="3"/>
                                        </p:tgtEl>
                                        <p:attrNameLst>
                                          <p:attrName>style.visibility</p:attrName>
                                        </p:attrNameLst>
                                      </p:cBhvr>
                                      <p:to>
                                        <p:strVal val="visible"/>
                                      </p:to>
                                    </p:set>
                                    <p:animEffect transition="in" filter="fade">
                                      <p:cBhvr>
                                        <p:cTn id="29" dur="1000"/>
                                        <p:tgtEl>
                                          <p:spTgt spid="3"/>
                                        </p:tgtEl>
                                      </p:cBhvr>
                                    </p:animEffect>
                                    <p:anim calcmode="lin" valueType="num">
                                      <p:cBhvr>
                                        <p:cTn id="30" dur="1000" fill="hold"/>
                                        <p:tgtEl>
                                          <p:spTgt spid="3"/>
                                        </p:tgtEl>
                                        <p:attrNameLst>
                                          <p:attrName>ppt_x</p:attrName>
                                        </p:attrNameLst>
                                      </p:cBhvr>
                                      <p:tavLst>
                                        <p:tav tm="0">
                                          <p:val>
                                            <p:strVal val="#ppt_x"/>
                                          </p:val>
                                        </p:tav>
                                        <p:tav tm="100000">
                                          <p:val>
                                            <p:strVal val="#ppt_x"/>
                                          </p:val>
                                        </p:tav>
                                      </p:tavLst>
                                    </p:anim>
                                    <p:anim calcmode="lin" valueType="num">
                                      <p:cBhvr>
                                        <p:cTn id="31"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16" grpId="0" animBg="1"/>
      <p:bldP spid="24" grpId="0" animBg="1"/>
    </p:bldLst>
  </p:timing>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478F17-571C-049B-C273-6872559FBA88}"/>
              </a:ext>
            </a:extLst>
          </p:cNvPr>
          <p:cNvSpPr>
            <a:spLocks noGrp="1"/>
          </p:cNvSpPr>
          <p:nvPr>
            <p:ph type="title"/>
          </p:nvPr>
        </p:nvSpPr>
        <p:spPr>
          <a:xfrm>
            <a:off x="457200" y="0"/>
            <a:ext cx="7620000" cy="1143000"/>
          </a:xfrm>
        </p:spPr>
        <p:txBody>
          <a:bodyPr/>
          <a:lstStyle/>
          <a:p>
            <a:pPr algn="ctr">
              <a:defRPr/>
            </a:pPr>
            <a:r>
              <a:rPr lang="en-US" dirty="0"/>
              <a:t>JOIN</a:t>
            </a:r>
            <a:endParaRPr lang="en-MY" dirty="0"/>
          </a:p>
        </p:txBody>
      </p:sp>
      <p:sp>
        <p:nvSpPr>
          <p:cNvPr id="7" name="Snip Single Corner Rectangle 6">
            <a:extLst>
              <a:ext uri="{FF2B5EF4-FFF2-40B4-BE49-F238E27FC236}">
                <a16:creationId xmlns:a16="http://schemas.microsoft.com/office/drawing/2014/main" id="{F30A4E07-B929-2B5A-CFC6-4A033544E931}"/>
              </a:ext>
            </a:extLst>
          </p:cNvPr>
          <p:cNvSpPr/>
          <p:nvPr/>
        </p:nvSpPr>
        <p:spPr>
          <a:xfrm>
            <a:off x="-36513" y="1125538"/>
            <a:ext cx="1655763" cy="400050"/>
          </a:xfrm>
          <a:prstGeom prst="snip1Rect">
            <a:avLst/>
          </a:prstGeom>
          <a:ln/>
        </p:spPr>
        <p:style>
          <a:lnRef idx="1">
            <a:schemeClr val="accent2"/>
          </a:lnRef>
          <a:fillRef idx="3">
            <a:schemeClr val="accent2"/>
          </a:fillRef>
          <a:effectRef idx="2">
            <a:schemeClr val="accent2"/>
          </a:effectRef>
          <a:fontRef idx="minor">
            <a:schemeClr val="lt1"/>
          </a:fontRef>
        </p:style>
        <p:txBody>
          <a:bodyPr anchor="ctr">
            <a:spAutoFit/>
          </a:bodyPr>
          <a:lstStyle/>
          <a:p>
            <a:pPr marL="342900" marR="0" lvl="0" indent="-342900" algn="just" defTabSz="914400" rtl="0" eaLnBrk="1" fontAlgn="base" latinLnBrk="0" hangingPunct="1">
              <a:lnSpc>
                <a:spcPct val="100000"/>
              </a:lnSpc>
              <a:spcBef>
                <a:spcPct val="20000"/>
              </a:spcBef>
              <a:spcAft>
                <a:spcPct val="0"/>
              </a:spcAft>
              <a:buClr>
                <a:srgbClr val="FF6600"/>
              </a:buClr>
              <a:buSzPct val="100000"/>
              <a:buFontTx/>
              <a:buNone/>
              <a:tabLst/>
              <a:defRPr/>
            </a:pPr>
            <a:r>
              <a:rPr kumimoji="0" lang="en-US" sz="1800" b="0" i="0" u="none" strike="noStrike" kern="1200" cap="none" spc="0" normalizeH="0" baseline="0" noProof="0" dirty="0">
                <a:ln>
                  <a:noFill/>
                </a:ln>
                <a:solidFill>
                  <a:srgbClr val="FFFFFF"/>
                </a:solidFill>
                <a:effectLst/>
                <a:uLnTx/>
                <a:uFillTx/>
                <a:latin typeface="Arial" pitchFamily="34" charset="0"/>
                <a:ea typeface="Times New Roman" pitchFamily="18" charset="0"/>
                <a:cs typeface="Arial" pitchFamily="34" charset="0"/>
              </a:rPr>
              <a:t>CROSS JOIN</a:t>
            </a:r>
            <a:endParaRPr kumimoji="0" lang="en-GB" sz="1800" b="0" i="0" u="none" strike="noStrike" kern="0" cap="none" spc="0" normalizeH="0" baseline="0" noProof="0" dirty="0">
              <a:ln>
                <a:noFill/>
              </a:ln>
              <a:solidFill>
                <a:srgbClr val="2F2B20"/>
              </a:solidFill>
              <a:effectLst/>
              <a:uLnTx/>
              <a:uFillTx/>
              <a:latin typeface="Calibri"/>
              <a:ea typeface="+mn-ea"/>
              <a:cs typeface="+mn-cs"/>
            </a:endParaRPr>
          </a:p>
        </p:txBody>
      </p:sp>
      <p:sp>
        <p:nvSpPr>
          <p:cNvPr id="21" name="Content Placeholder 2">
            <a:extLst>
              <a:ext uri="{FF2B5EF4-FFF2-40B4-BE49-F238E27FC236}">
                <a16:creationId xmlns:a16="http://schemas.microsoft.com/office/drawing/2014/main" id="{D40CB757-01B2-2872-6D49-59F1DF1812F2}"/>
              </a:ext>
            </a:extLst>
          </p:cNvPr>
          <p:cNvSpPr txBox="1">
            <a:spLocks/>
          </p:cNvSpPr>
          <p:nvPr/>
        </p:nvSpPr>
        <p:spPr bwMode="auto">
          <a:xfrm>
            <a:off x="250825" y="1773238"/>
            <a:ext cx="7978775"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When performing a JOIN, the resulting table columns can have the same column names</a:t>
            </a:r>
          </a:p>
        </p:txBody>
      </p:sp>
      <p:graphicFrame>
        <p:nvGraphicFramePr>
          <p:cNvPr id="22" name="Table 21">
            <a:extLst>
              <a:ext uri="{FF2B5EF4-FFF2-40B4-BE49-F238E27FC236}">
                <a16:creationId xmlns:a16="http://schemas.microsoft.com/office/drawing/2014/main" id="{E44680CC-4F4A-7C11-6688-25D915C2860D}"/>
              </a:ext>
            </a:extLst>
          </p:cNvPr>
          <p:cNvGraphicFramePr>
            <a:graphicFrameLocks noGrp="1"/>
          </p:cNvGraphicFramePr>
          <p:nvPr/>
        </p:nvGraphicFramePr>
        <p:xfrm>
          <a:off x="1214438" y="3344863"/>
          <a:ext cx="6624637" cy="1854200"/>
        </p:xfrm>
        <a:graphic>
          <a:graphicData uri="http://schemas.openxmlformats.org/drawingml/2006/table">
            <a:tbl>
              <a:tblPr firstRow="1" bandRow="1">
                <a:tableStyleId>{9D7B26C5-4107-4FEC-AEDC-1716B250A1EF}</a:tableStyleId>
              </a:tblPr>
              <a:tblGrid>
                <a:gridCol w="1368132">
                  <a:extLst>
                    <a:ext uri="{9D8B030D-6E8A-4147-A177-3AD203B41FA5}">
                      <a16:colId xmlns:a16="http://schemas.microsoft.com/office/drawing/2014/main" val="20000"/>
                    </a:ext>
                  </a:extLst>
                </a:gridCol>
                <a:gridCol w="1872180">
                  <a:extLst>
                    <a:ext uri="{9D8B030D-6E8A-4147-A177-3AD203B41FA5}">
                      <a16:colId xmlns:a16="http://schemas.microsoft.com/office/drawing/2014/main" val="20001"/>
                    </a:ext>
                  </a:extLst>
                </a:gridCol>
                <a:gridCol w="2184928">
                  <a:extLst>
                    <a:ext uri="{9D8B030D-6E8A-4147-A177-3AD203B41FA5}">
                      <a16:colId xmlns:a16="http://schemas.microsoft.com/office/drawing/2014/main" val="20002"/>
                    </a:ext>
                  </a:extLst>
                </a:gridCol>
                <a:gridCol w="1199397">
                  <a:extLst>
                    <a:ext uri="{9D8B030D-6E8A-4147-A177-3AD203B41FA5}">
                      <a16:colId xmlns:a16="http://schemas.microsoft.com/office/drawing/2014/main" val="20003"/>
                    </a:ext>
                  </a:extLst>
                </a:gridCol>
              </a:tblGrid>
              <a:tr h="370840">
                <a:tc>
                  <a:txBody>
                    <a:bodyPr/>
                    <a:lstStyle/>
                    <a:p>
                      <a:pPr algn="ctr"/>
                      <a:r>
                        <a:rPr lang="en-CA" dirty="0"/>
                        <a:t>Name</a:t>
                      </a:r>
                    </a:p>
                  </a:txBody>
                  <a:tcPr marL="91439" marR="91439"/>
                </a:tc>
                <a:tc>
                  <a:txBody>
                    <a:bodyPr/>
                    <a:lstStyle/>
                    <a:p>
                      <a:pPr algn="ctr"/>
                      <a:r>
                        <a:rPr lang="en-CA" dirty="0" err="1"/>
                        <a:t>DepartmentId</a:t>
                      </a:r>
                      <a:endParaRPr lang="en-CA" dirty="0"/>
                    </a:p>
                  </a:txBody>
                  <a:tcPr marL="91439" marR="91439"/>
                </a:tc>
                <a:tc>
                  <a:txBody>
                    <a:bodyPr/>
                    <a:lstStyle/>
                    <a:p>
                      <a:pPr algn="ctr"/>
                      <a:r>
                        <a:rPr lang="en-CA" dirty="0" err="1"/>
                        <a:t>DepartmentId</a:t>
                      </a:r>
                      <a:endParaRPr lang="en-CA" dirty="0"/>
                    </a:p>
                  </a:txBody>
                  <a:tcPr marL="91439" marR="91439"/>
                </a:tc>
                <a:tc>
                  <a:txBody>
                    <a:bodyPr/>
                    <a:lstStyle/>
                    <a:p>
                      <a:pPr algn="ctr"/>
                      <a:r>
                        <a:rPr lang="en-CA" dirty="0"/>
                        <a:t>Name</a:t>
                      </a:r>
                    </a:p>
                  </a:txBody>
                  <a:tcPr marL="91439" marR="91439"/>
                </a:tc>
                <a:extLst>
                  <a:ext uri="{0D108BD9-81ED-4DB2-BD59-A6C34878D82A}">
                    <a16:rowId xmlns:a16="http://schemas.microsoft.com/office/drawing/2014/main" val="10000"/>
                  </a:ext>
                </a:extLst>
              </a:tr>
              <a:tr h="370840">
                <a:tc>
                  <a:txBody>
                    <a:bodyPr/>
                    <a:lstStyle/>
                    <a:p>
                      <a:pPr algn="ctr"/>
                      <a:r>
                        <a:rPr lang="en-CA" dirty="0"/>
                        <a:t>Aamir</a:t>
                      </a:r>
                    </a:p>
                  </a:txBody>
                  <a:tcPr marL="91439" marR="91439"/>
                </a:tc>
                <a:tc>
                  <a:txBody>
                    <a:bodyPr/>
                    <a:lstStyle/>
                    <a:p>
                      <a:pPr algn="ctr"/>
                      <a:r>
                        <a:rPr lang="en-CA" dirty="0"/>
                        <a:t>10</a:t>
                      </a:r>
                    </a:p>
                  </a:txBody>
                  <a:tcPr marL="91439" marR="91439"/>
                </a:tc>
                <a:tc>
                  <a:txBody>
                    <a:bodyPr/>
                    <a:lstStyle/>
                    <a:p>
                      <a:pPr algn="ctr"/>
                      <a:r>
                        <a:rPr lang="en-CA" dirty="0"/>
                        <a:t>10</a:t>
                      </a:r>
                    </a:p>
                  </a:txBody>
                  <a:tcPr marL="91439" marR="91439"/>
                </a:tc>
                <a:tc>
                  <a:txBody>
                    <a:bodyPr/>
                    <a:lstStyle/>
                    <a:p>
                      <a:pPr algn="ctr"/>
                      <a:r>
                        <a:rPr lang="en-CA" dirty="0"/>
                        <a:t>IT</a:t>
                      </a:r>
                    </a:p>
                  </a:txBody>
                  <a:tcPr marL="91439" marR="91439"/>
                </a:tc>
                <a:extLst>
                  <a:ext uri="{0D108BD9-81ED-4DB2-BD59-A6C34878D82A}">
                    <a16:rowId xmlns:a16="http://schemas.microsoft.com/office/drawing/2014/main" val="10001"/>
                  </a:ext>
                </a:extLst>
              </a:tr>
              <a:tr h="370840">
                <a:tc>
                  <a:txBody>
                    <a:bodyPr/>
                    <a:lstStyle/>
                    <a:p>
                      <a:pPr algn="ctr"/>
                      <a:r>
                        <a:rPr lang="en-CA" dirty="0"/>
                        <a:t>Sadaf</a:t>
                      </a:r>
                    </a:p>
                  </a:txBody>
                  <a:tcPr marL="91439" marR="91439"/>
                </a:tc>
                <a:tc>
                  <a:txBody>
                    <a:bodyPr/>
                    <a:lstStyle/>
                    <a:p>
                      <a:pPr algn="ctr"/>
                      <a:r>
                        <a:rPr lang="en-CA" dirty="0"/>
                        <a:t>NULL</a:t>
                      </a:r>
                    </a:p>
                  </a:txBody>
                  <a:tcPr marL="91439" marR="91439"/>
                </a:tc>
                <a:tc>
                  <a:txBody>
                    <a:bodyPr/>
                    <a:lstStyle/>
                    <a:p>
                      <a:pPr algn="ctr"/>
                      <a:r>
                        <a:rPr lang="en-CA" dirty="0"/>
                        <a:t>10</a:t>
                      </a:r>
                    </a:p>
                  </a:txBody>
                  <a:tcPr marL="91439" marR="91439"/>
                </a:tc>
                <a:tc>
                  <a:txBody>
                    <a:bodyPr/>
                    <a:lstStyle/>
                    <a:p>
                      <a:pPr algn="ctr"/>
                      <a:r>
                        <a:rPr lang="en-CA" dirty="0"/>
                        <a:t>IT</a:t>
                      </a:r>
                    </a:p>
                  </a:txBody>
                  <a:tcPr marL="91439" marR="91439"/>
                </a:tc>
                <a:extLst>
                  <a:ext uri="{0D108BD9-81ED-4DB2-BD59-A6C34878D82A}">
                    <a16:rowId xmlns:a16="http://schemas.microsoft.com/office/drawing/2014/main" val="10002"/>
                  </a:ext>
                </a:extLst>
              </a:tr>
              <a:tr h="370840">
                <a:tc>
                  <a:txBody>
                    <a:bodyPr/>
                    <a:lstStyle/>
                    <a:p>
                      <a:pPr algn="ctr"/>
                      <a:r>
                        <a:rPr lang="en-CA" dirty="0"/>
                        <a:t>Aamir</a:t>
                      </a:r>
                    </a:p>
                  </a:txBody>
                  <a:tcPr marL="91439" marR="91439"/>
                </a:tc>
                <a:tc>
                  <a:txBody>
                    <a:bodyPr/>
                    <a:lstStyle/>
                    <a:p>
                      <a:pPr algn="ctr"/>
                      <a:r>
                        <a:rPr lang="en-CA" dirty="0"/>
                        <a:t>10</a:t>
                      </a:r>
                    </a:p>
                  </a:txBody>
                  <a:tcPr marL="91439" marR="91439"/>
                </a:tc>
                <a:tc>
                  <a:txBody>
                    <a:bodyPr/>
                    <a:lstStyle/>
                    <a:p>
                      <a:pPr algn="ctr"/>
                      <a:r>
                        <a:rPr lang="en-CA" dirty="0"/>
                        <a:t>15</a:t>
                      </a:r>
                    </a:p>
                  </a:txBody>
                  <a:tcPr marL="91439" marR="91439"/>
                </a:tc>
                <a:tc>
                  <a:txBody>
                    <a:bodyPr/>
                    <a:lstStyle/>
                    <a:p>
                      <a:pPr algn="ctr"/>
                      <a:r>
                        <a:rPr lang="en-CA" dirty="0"/>
                        <a:t>Finance</a:t>
                      </a:r>
                    </a:p>
                  </a:txBody>
                  <a:tcPr marL="91439" marR="91439"/>
                </a:tc>
                <a:extLst>
                  <a:ext uri="{0D108BD9-81ED-4DB2-BD59-A6C34878D82A}">
                    <a16:rowId xmlns:a16="http://schemas.microsoft.com/office/drawing/2014/main" val="10003"/>
                  </a:ext>
                </a:extLst>
              </a:tr>
              <a:tr h="370840">
                <a:tc>
                  <a:txBody>
                    <a:bodyPr/>
                    <a:lstStyle/>
                    <a:p>
                      <a:pPr algn="ctr"/>
                      <a:r>
                        <a:rPr lang="en-CA" dirty="0"/>
                        <a:t>Sadaf</a:t>
                      </a:r>
                    </a:p>
                  </a:txBody>
                  <a:tcPr marL="91439" marR="91439"/>
                </a:tc>
                <a:tc>
                  <a:txBody>
                    <a:bodyPr/>
                    <a:lstStyle/>
                    <a:p>
                      <a:pPr algn="ctr"/>
                      <a:r>
                        <a:rPr lang="en-CA" dirty="0"/>
                        <a:t>NULL</a:t>
                      </a:r>
                    </a:p>
                  </a:txBody>
                  <a:tcPr marL="91439" marR="91439"/>
                </a:tc>
                <a:tc>
                  <a:txBody>
                    <a:bodyPr/>
                    <a:lstStyle/>
                    <a:p>
                      <a:pPr algn="ctr"/>
                      <a:r>
                        <a:rPr lang="en-CA" dirty="0"/>
                        <a:t>15</a:t>
                      </a:r>
                    </a:p>
                  </a:txBody>
                  <a:tcPr marL="91439" marR="91439"/>
                </a:tc>
                <a:tc>
                  <a:txBody>
                    <a:bodyPr/>
                    <a:lstStyle/>
                    <a:p>
                      <a:pPr algn="ctr"/>
                      <a:r>
                        <a:rPr lang="en-CA" dirty="0"/>
                        <a:t>Finance</a:t>
                      </a:r>
                    </a:p>
                  </a:txBody>
                  <a:tcPr marL="91439" marR="91439"/>
                </a:tc>
                <a:extLst>
                  <a:ext uri="{0D108BD9-81ED-4DB2-BD59-A6C34878D82A}">
                    <a16:rowId xmlns:a16="http://schemas.microsoft.com/office/drawing/2014/main" val="10004"/>
                  </a:ext>
                </a:extLst>
              </a:tr>
            </a:tbl>
          </a:graphicData>
        </a:graphic>
      </p:graphicFrame>
      <p:grpSp>
        <p:nvGrpSpPr>
          <p:cNvPr id="3" name="Group 16">
            <a:extLst>
              <a:ext uri="{FF2B5EF4-FFF2-40B4-BE49-F238E27FC236}">
                <a16:creationId xmlns:a16="http://schemas.microsoft.com/office/drawing/2014/main" id="{E443F6E9-3E5E-8B08-3054-9E89FD04E93D}"/>
              </a:ext>
            </a:extLst>
          </p:cNvPr>
          <p:cNvGrpSpPr>
            <a:grpSpLocks/>
          </p:cNvGrpSpPr>
          <p:nvPr/>
        </p:nvGrpSpPr>
        <p:grpSpPr bwMode="auto">
          <a:xfrm>
            <a:off x="2528888" y="2708275"/>
            <a:ext cx="3995737" cy="546100"/>
            <a:chOff x="2573776" y="2975785"/>
            <a:chExt cx="3996446" cy="545361"/>
          </a:xfrm>
        </p:grpSpPr>
        <p:sp>
          <p:nvSpPr>
            <p:cNvPr id="48164" name="Left Brace 3">
              <a:extLst>
                <a:ext uri="{FF2B5EF4-FFF2-40B4-BE49-F238E27FC236}">
                  <a16:creationId xmlns:a16="http://schemas.microsoft.com/office/drawing/2014/main" id="{B7448ABA-5168-F4BB-90CC-B2BB0C7EA795}"/>
                </a:ext>
              </a:extLst>
            </p:cNvPr>
            <p:cNvSpPr>
              <a:spLocks/>
            </p:cNvSpPr>
            <p:nvPr/>
          </p:nvSpPr>
          <p:spPr bwMode="auto">
            <a:xfrm rot="5400000">
              <a:off x="4463988" y="1612935"/>
              <a:ext cx="216023" cy="3600400"/>
            </a:xfrm>
            <a:prstGeom prst="leftBrace">
              <a:avLst>
                <a:gd name="adj1" fmla="val 8333"/>
                <a:gd name="adj2" fmla="val 50000"/>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endParaRPr>
            </a:p>
          </p:txBody>
        </p:sp>
        <p:sp>
          <p:nvSpPr>
            <p:cNvPr id="48165" name="TextBox 4">
              <a:extLst>
                <a:ext uri="{FF2B5EF4-FFF2-40B4-BE49-F238E27FC236}">
                  <a16:creationId xmlns:a16="http://schemas.microsoft.com/office/drawing/2014/main" id="{C51683A7-FDD8-4316-F813-057F61989A2A}"/>
                </a:ext>
              </a:extLst>
            </p:cNvPr>
            <p:cNvSpPr txBox="1">
              <a:spLocks noChangeArrowheads="1"/>
            </p:cNvSpPr>
            <p:nvPr/>
          </p:nvSpPr>
          <p:spPr bwMode="auto">
            <a:xfrm>
              <a:off x="2573776" y="2975785"/>
              <a:ext cx="399644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Both columns have the same name</a:t>
              </a:r>
            </a:p>
          </p:txBody>
        </p:sp>
      </p:grpSp>
      <p:grpSp>
        <p:nvGrpSpPr>
          <p:cNvPr id="4" name="Group 24">
            <a:extLst>
              <a:ext uri="{FF2B5EF4-FFF2-40B4-BE49-F238E27FC236}">
                <a16:creationId xmlns:a16="http://schemas.microsoft.com/office/drawing/2014/main" id="{EEDCA4B4-6172-60EC-B02F-7F1CD4F4D6BA}"/>
              </a:ext>
            </a:extLst>
          </p:cNvPr>
          <p:cNvGrpSpPr>
            <a:grpSpLocks/>
          </p:cNvGrpSpPr>
          <p:nvPr/>
        </p:nvGrpSpPr>
        <p:grpSpPr bwMode="auto">
          <a:xfrm>
            <a:off x="533400" y="3716338"/>
            <a:ext cx="4570413" cy="2562225"/>
            <a:chOff x="4003172" y="6553735"/>
            <a:chExt cx="4569709" cy="2561220"/>
          </a:xfrm>
        </p:grpSpPr>
        <p:sp>
          <p:nvSpPr>
            <p:cNvPr id="26" name="TextBox 25">
              <a:extLst>
                <a:ext uri="{FF2B5EF4-FFF2-40B4-BE49-F238E27FC236}">
                  <a16:creationId xmlns:a16="http://schemas.microsoft.com/office/drawing/2014/main" id="{C8199AD3-C961-CE71-8F5B-FB28FC0ED53D}"/>
                </a:ext>
              </a:extLst>
            </p:cNvPr>
            <p:cNvSpPr txBox="1"/>
            <p:nvPr/>
          </p:nvSpPr>
          <p:spPr>
            <a:xfrm>
              <a:off x="4003172" y="8745212"/>
              <a:ext cx="4569709" cy="369743"/>
            </a:xfrm>
            <a:prstGeom prst="rect">
              <a:avLst/>
            </a:prstGeom>
            <a:ln/>
          </p:spPr>
          <p:style>
            <a:lnRef idx="1">
              <a:schemeClr val="accent1"/>
            </a:lnRef>
            <a:fillRef idx="2">
              <a:schemeClr val="accent1"/>
            </a:fillRef>
            <a:effectRef idx="1">
              <a:schemeClr val="accent1"/>
            </a:effectRef>
            <a:fontRef idx="minor">
              <a:schemeClr val="dk1"/>
            </a:fontRef>
          </p:style>
          <p:txBody>
            <a:bodyP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sz="1800" b="0" i="0" u="none" strike="noStrike" kern="1200" cap="none" spc="0" normalizeH="0" baseline="0" noProof="0" dirty="0" err="1">
                  <a:ln>
                    <a:noFill/>
                  </a:ln>
                  <a:solidFill>
                    <a:srgbClr val="2F2B20"/>
                  </a:solidFill>
                  <a:effectLst/>
                  <a:uLnTx/>
                  <a:uFillTx/>
                  <a:latin typeface="Calibri"/>
                  <a:ea typeface="+mn-ea"/>
                  <a:cs typeface="+mn-cs"/>
                </a:rPr>
                <a:t>Employee.DepartmentId</a:t>
              </a:r>
              <a:r>
                <a:rPr kumimoji="0" lang="en-CA" sz="1800" b="0" i="0" u="none" strike="noStrike" kern="1200" cap="none" spc="0" normalizeH="0" baseline="0" noProof="0" dirty="0">
                  <a:ln>
                    <a:noFill/>
                  </a:ln>
                  <a:solidFill>
                    <a:srgbClr val="2F2B20"/>
                  </a:solidFill>
                  <a:effectLst/>
                  <a:uLnTx/>
                  <a:uFillTx/>
                  <a:latin typeface="Calibri"/>
                  <a:ea typeface="+mn-ea"/>
                  <a:cs typeface="+mn-cs"/>
                </a:rPr>
                <a:t> (Employee table)</a:t>
              </a:r>
            </a:p>
          </p:txBody>
        </p:sp>
        <p:cxnSp>
          <p:nvCxnSpPr>
            <p:cNvPr id="27" name="Straight Arrow Connector 26">
              <a:extLst>
                <a:ext uri="{FF2B5EF4-FFF2-40B4-BE49-F238E27FC236}">
                  <a16:creationId xmlns:a16="http://schemas.microsoft.com/office/drawing/2014/main" id="{B6C75CC5-2C1D-8C13-8A66-81B506DCE80E}"/>
                </a:ext>
              </a:extLst>
            </p:cNvPr>
            <p:cNvCxnSpPr/>
            <p:nvPr/>
          </p:nvCxnSpPr>
          <p:spPr bwMode="auto">
            <a:xfrm flipV="1">
              <a:off x="5549159" y="6553735"/>
              <a:ext cx="974575" cy="2191477"/>
            </a:xfrm>
            <a:prstGeom prst="straightConnector1">
              <a:avLst/>
            </a:prstGeom>
            <a:ln>
              <a:headEnd type="none" w="med" len="med"/>
              <a:tailEnd type="triangle"/>
            </a:ln>
          </p:spPr>
          <p:style>
            <a:lnRef idx="1">
              <a:schemeClr val="accent1"/>
            </a:lnRef>
            <a:fillRef idx="2">
              <a:schemeClr val="accent1"/>
            </a:fillRef>
            <a:effectRef idx="1">
              <a:schemeClr val="accent1"/>
            </a:effectRef>
            <a:fontRef idx="minor">
              <a:schemeClr val="dk1"/>
            </a:fontRef>
          </p:style>
        </p:cxnSp>
      </p:grpSp>
      <p:grpSp>
        <p:nvGrpSpPr>
          <p:cNvPr id="5" name="Group 28">
            <a:extLst>
              <a:ext uri="{FF2B5EF4-FFF2-40B4-BE49-F238E27FC236}">
                <a16:creationId xmlns:a16="http://schemas.microsoft.com/office/drawing/2014/main" id="{0D801961-6D1D-EE50-57B1-BAD77B8679B7}"/>
              </a:ext>
            </a:extLst>
          </p:cNvPr>
          <p:cNvGrpSpPr>
            <a:grpSpLocks/>
          </p:cNvGrpSpPr>
          <p:nvPr/>
        </p:nvGrpSpPr>
        <p:grpSpPr bwMode="auto">
          <a:xfrm>
            <a:off x="2727325" y="3716338"/>
            <a:ext cx="4854575" cy="2038350"/>
            <a:chOff x="2818941" y="6553735"/>
            <a:chExt cx="4854939" cy="2038290"/>
          </a:xfrm>
        </p:grpSpPr>
        <p:sp>
          <p:nvSpPr>
            <p:cNvPr id="30" name="TextBox 29">
              <a:extLst>
                <a:ext uri="{FF2B5EF4-FFF2-40B4-BE49-F238E27FC236}">
                  <a16:creationId xmlns:a16="http://schemas.microsoft.com/office/drawing/2014/main" id="{91EBD048-46A5-6471-6A78-F097E767A9E5}"/>
                </a:ext>
              </a:extLst>
            </p:cNvPr>
            <p:cNvSpPr txBox="1"/>
            <p:nvPr/>
          </p:nvSpPr>
          <p:spPr>
            <a:xfrm>
              <a:off x="2818941" y="8222148"/>
              <a:ext cx="4854939" cy="369877"/>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sz="1800" b="0" i="0" u="none" strike="noStrike" kern="1200" cap="none" spc="0" normalizeH="0" baseline="0" noProof="0" dirty="0" err="1">
                  <a:ln>
                    <a:noFill/>
                  </a:ln>
                  <a:solidFill>
                    <a:srgbClr val="2F2B20"/>
                  </a:solidFill>
                  <a:effectLst/>
                  <a:uLnTx/>
                  <a:uFillTx/>
                  <a:latin typeface="Calibri"/>
                  <a:ea typeface="+mn-ea"/>
                  <a:cs typeface="+mn-cs"/>
                </a:rPr>
                <a:t>Department.DepartmentId</a:t>
              </a:r>
              <a:r>
                <a:rPr kumimoji="0" lang="en-CA" sz="1800" b="0" i="0" u="none" strike="noStrike" kern="1200" cap="none" spc="0" normalizeH="0" baseline="0" noProof="0" dirty="0">
                  <a:ln>
                    <a:noFill/>
                  </a:ln>
                  <a:solidFill>
                    <a:srgbClr val="2F2B20"/>
                  </a:solidFill>
                  <a:effectLst/>
                  <a:uLnTx/>
                  <a:uFillTx/>
                  <a:latin typeface="Calibri"/>
                  <a:ea typeface="+mn-ea"/>
                  <a:cs typeface="+mn-cs"/>
                </a:rPr>
                <a:t> (Department table)</a:t>
              </a:r>
            </a:p>
          </p:txBody>
        </p:sp>
        <p:cxnSp>
          <p:nvCxnSpPr>
            <p:cNvPr id="31" name="Straight Arrow Connector 30">
              <a:extLst>
                <a:ext uri="{FF2B5EF4-FFF2-40B4-BE49-F238E27FC236}">
                  <a16:creationId xmlns:a16="http://schemas.microsoft.com/office/drawing/2014/main" id="{069E7D3D-9594-BA62-CF1E-2FAEE2F65882}"/>
                </a:ext>
              </a:extLst>
            </p:cNvPr>
            <p:cNvCxnSpPr/>
            <p:nvPr/>
          </p:nvCxnSpPr>
          <p:spPr bwMode="auto">
            <a:xfrm flipH="1" flipV="1">
              <a:off x="6203745" y="6553735"/>
              <a:ext cx="414369" cy="1668413"/>
            </a:xfrm>
            <a:prstGeom prst="straightConnector1">
              <a:avLst/>
            </a:prstGeom>
            <a:ln>
              <a:headEnd type="none" w="med" len="med"/>
              <a:tailEnd type="triangle"/>
            </a:ln>
          </p:spPr>
          <p:style>
            <a:lnRef idx="1">
              <a:schemeClr val="accent3"/>
            </a:lnRef>
            <a:fillRef idx="2">
              <a:schemeClr val="accent3"/>
            </a:fillRef>
            <a:effectRef idx="1">
              <a:schemeClr val="accent3"/>
            </a:effectRef>
            <a:fontRef idx="minor">
              <a:schemeClr val="dk1"/>
            </a:fontRef>
          </p:style>
        </p:cxnSp>
      </p:gr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wipe(left)">
                                      <p:cBhvr>
                                        <p:cTn id="7" dur="500"/>
                                        <p:tgtEl>
                                          <p:spTgt spid="21">
                                            <p:txEl>
                                              <p:pRg st="0" end="0"/>
                                            </p:txEl>
                                          </p:spTgt>
                                        </p:tgtEl>
                                      </p:cBhvr>
                                    </p:animEffect>
                                  </p:childTnLst>
                                </p:cTn>
                              </p:par>
                            </p:childTnLst>
                          </p:cTn>
                        </p:par>
                        <p:par>
                          <p:cTn id="8" fill="hold" nodeType="afterGroup">
                            <p:stCondLst>
                              <p:cond delay="500"/>
                            </p:stCondLst>
                            <p:childTnLst>
                              <p:par>
                                <p:cTn id="9" presetID="16" presetClass="entr" presetSubtype="21" fill="hold" nodeType="after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barn(inVertical)">
                                      <p:cBhvr>
                                        <p:cTn id="11" dur="500"/>
                                        <p:tgtEl>
                                          <p:spTgt spid="22"/>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 presetClass="entr" presetSubtype="2" fill="hold" nodeType="clickEffect">
                                  <p:stCondLst>
                                    <p:cond delay="0"/>
                                  </p:stCondLst>
                                  <p:childTnLst>
                                    <p:set>
                                      <p:cBhvr>
                                        <p:cTn id="15" dur="1" fill="hold">
                                          <p:stCondLst>
                                            <p:cond delay="0"/>
                                          </p:stCondLst>
                                        </p:cTn>
                                        <p:tgtEl>
                                          <p:spTgt spid="3"/>
                                        </p:tgtEl>
                                        <p:attrNameLst>
                                          <p:attrName>style.visibility</p:attrName>
                                        </p:attrNameLst>
                                      </p:cBhvr>
                                      <p:to>
                                        <p:strVal val="visible"/>
                                      </p:to>
                                    </p:set>
                                    <p:anim calcmode="lin" valueType="num">
                                      <p:cBhvr additive="base">
                                        <p:cTn id="16" dur="500" fill="hold"/>
                                        <p:tgtEl>
                                          <p:spTgt spid="3"/>
                                        </p:tgtEl>
                                        <p:attrNameLst>
                                          <p:attrName>ppt_x</p:attrName>
                                        </p:attrNameLst>
                                      </p:cBhvr>
                                      <p:tavLst>
                                        <p:tav tm="0">
                                          <p:val>
                                            <p:strVal val="1+#ppt_w/2"/>
                                          </p:val>
                                        </p:tav>
                                        <p:tav tm="100000">
                                          <p:val>
                                            <p:strVal val="#ppt_x"/>
                                          </p:val>
                                        </p:tav>
                                      </p:tavLst>
                                    </p:anim>
                                    <p:anim calcmode="lin" valueType="num">
                                      <p:cBhvr additive="base">
                                        <p:cTn id="17"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18" fill="hold" nodeType="clickPar">
                      <p:stCondLst>
                        <p:cond delay="indefinite"/>
                      </p:stCondLst>
                      <p:childTnLst>
                        <p:par>
                          <p:cTn id="19" fill="hold" nodeType="withGroup">
                            <p:stCondLst>
                              <p:cond delay="0"/>
                            </p:stCondLst>
                            <p:childTnLst>
                              <p:par>
                                <p:cTn id="20" presetID="2" presetClass="entr" presetSubtype="8"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 calcmode="lin" valueType="num">
                                      <p:cBhvr additive="base">
                                        <p:cTn id="22" dur="500" fill="hold"/>
                                        <p:tgtEl>
                                          <p:spTgt spid="4"/>
                                        </p:tgtEl>
                                        <p:attrNameLst>
                                          <p:attrName>ppt_x</p:attrName>
                                        </p:attrNameLst>
                                      </p:cBhvr>
                                      <p:tavLst>
                                        <p:tav tm="0">
                                          <p:val>
                                            <p:strVal val="0-#ppt_w/2"/>
                                          </p:val>
                                        </p:tav>
                                        <p:tav tm="100000">
                                          <p:val>
                                            <p:strVal val="#ppt_x"/>
                                          </p:val>
                                        </p:tav>
                                      </p:tavLst>
                                    </p:anim>
                                    <p:anim calcmode="lin" valueType="num">
                                      <p:cBhvr additive="base">
                                        <p:cTn id="23"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2" presetClass="entr" presetSubtype="2" fill="hold" nodeType="clickEffect">
                                  <p:stCondLst>
                                    <p:cond delay="0"/>
                                  </p:stCondLst>
                                  <p:childTnLst>
                                    <p:set>
                                      <p:cBhvr>
                                        <p:cTn id="27" dur="1" fill="hold">
                                          <p:stCondLst>
                                            <p:cond delay="0"/>
                                          </p:stCondLst>
                                        </p:cTn>
                                        <p:tgtEl>
                                          <p:spTgt spid="5"/>
                                        </p:tgtEl>
                                        <p:attrNameLst>
                                          <p:attrName>style.visibility</p:attrName>
                                        </p:attrNameLst>
                                      </p:cBhvr>
                                      <p:to>
                                        <p:strVal val="visible"/>
                                      </p:to>
                                    </p:set>
                                    <p:anim calcmode="lin" valueType="num">
                                      <p:cBhvr additive="base">
                                        <p:cTn id="28" dur="500" fill="hold"/>
                                        <p:tgtEl>
                                          <p:spTgt spid="5"/>
                                        </p:tgtEl>
                                        <p:attrNameLst>
                                          <p:attrName>ppt_x</p:attrName>
                                        </p:attrNameLst>
                                      </p:cBhvr>
                                      <p:tavLst>
                                        <p:tav tm="0">
                                          <p:val>
                                            <p:strVal val="1+#ppt_w/2"/>
                                          </p:val>
                                        </p:tav>
                                        <p:tav tm="100000">
                                          <p:val>
                                            <p:strVal val="#ppt_x"/>
                                          </p:val>
                                        </p:tav>
                                      </p:tavLst>
                                    </p:anim>
                                    <p:anim calcmode="lin" valueType="num">
                                      <p:cBhvr additive="base">
                                        <p:cTn id="29"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79E076-458E-D225-DA46-FC2695718443}"/>
              </a:ext>
            </a:extLst>
          </p:cNvPr>
          <p:cNvSpPr>
            <a:spLocks noGrp="1"/>
          </p:cNvSpPr>
          <p:nvPr>
            <p:ph type="title"/>
          </p:nvPr>
        </p:nvSpPr>
        <p:spPr>
          <a:xfrm>
            <a:off x="457200" y="0"/>
            <a:ext cx="7620000" cy="1143000"/>
          </a:xfrm>
        </p:spPr>
        <p:txBody>
          <a:bodyPr/>
          <a:lstStyle/>
          <a:p>
            <a:pPr algn="ctr">
              <a:defRPr/>
            </a:pPr>
            <a:r>
              <a:rPr lang="en-US" dirty="0"/>
              <a:t>JOIN</a:t>
            </a:r>
            <a:endParaRPr lang="en-MY" dirty="0"/>
          </a:p>
        </p:txBody>
      </p:sp>
      <p:sp>
        <p:nvSpPr>
          <p:cNvPr id="7" name="Snip Single Corner Rectangle 6">
            <a:extLst>
              <a:ext uri="{FF2B5EF4-FFF2-40B4-BE49-F238E27FC236}">
                <a16:creationId xmlns:a16="http://schemas.microsoft.com/office/drawing/2014/main" id="{5B80E92B-F69C-D0F3-EC06-5188D5DF0C16}"/>
              </a:ext>
            </a:extLst>
          </p:cNvPr>
          <p:cNvSpPr/>
          <p:nvPr/>
        </p:nvSpPr>
        <p:spPr>
          <a:xfrm>
            <a:off x="-36513" y="1125538"/>
            <a:ext cx="1655763" cy="400050"/>
          </a:xfrm>
          <a:prstGeom prst="snip1Rect">
            <a:avLst/>
          </a:prstGeom>
          <a:ln/>
        </p:spPr>
        <p:style>
          <a:lnRef idx="1">
            <a:schemeClr val="accent2"/>
          </a:lnRef>
          <a:fillRef idx="3">
            <a:schemeClr val="accent2"/>
          </a:fillRef>
          <a:effectRef idx="2">
            <a:schemeClr val="accent2"/>
          </a:effectRef>
          <a:fontRef idx="minor">
            <a:schemeClr val="lt1"/>
          </a:fontRef>
        </p:style>
        <p:txBody>
          <a:bodyPr anchor="ctr">
            <a:spAutoFit/>
          </a:bodyPr>
          <a:lstStyle/>
          <a:p>
            <a:pPr marL="342900" marR="0" lvl="0" indent="-342900" algn="just" defTabSz="914400" rtl="0" eaLnBrk="1" fontAlgn="base" latinLnBrk="0" hangingPunct="1">
              <a:lnSpc>
                <a:spcPct val="100000"/>
              </a:lnSpc>
              <a:spcBef>
                <a:spcPct val="20000"/>
              </a:spcBef>
              <a:spcAft>
                <a:spcPct val="0"/>
              </a:spcAft>
              <a:buClr>
                <a:srgbClr val="FF6600"/>
              </a:buClr>
              <a:buSzPct val="100000"/>
              <a:buFontTx/>
              <a:buNone/>
              <a:tabLst/>
              <a:defRPr/>
            </a:pPr>
            <a:r>
              <a:rPr kumimoji="0" lang="en-US" sz="1800" b="0" i="0" u="none" strike="noStrike" kern="1200" cap="none" spc="0" normalizeH="0" baseline="0" noProof="0" dirty="0">
                <a:ln>
                  <a:noFill/>
                </a:ln>
                <a:solidFill>
                  <a:srgbClr val="FFFFFF"/>
                </a:solidFill>
                <a:effectLst/>
                <a:uLnTx/>
                <a:uFillTx/>
                <a:latin typeface="Arial" pitchFamily="34" charset="0"/>
                <a:ea typeface="Times New Roman" pitchFamily="18" charset="0"/>
                <a:cs typeface="Arial" pitchFamily="34" charset="0"/>
              </a:rPr>
              <a:t>CROSS JOIN</a:t>
            </a:r>
            <a:endParaRPr kumimoji="0" lang="en-GB" sz="1800" b="0" i="0" u="none" strike="noStrike" kern="0" cap="none" spc="0" normalizeH="0" baseline="0" noProof="0" dirty="0">
              <a:ln>
                <a:noFill/>
              </a:ln>
              <a:solidFill>
                <a:srgbClr val="2F2B20"/>
              </a:solidFill>
              <a:effectLst/>
              <a:uLnTx/>
              <a:uFillTx/>
              <a:latin typeface="Calibri"/>
              <a:ea typeface="+mn-ea"/>
              <a:cs typeface="+mn-cs"/>
            </a:endParaRPr>
          </a:p>
        </p:txBody>
      </p:sp>
      <p:sp>
        <p:nvSpPr>
          <p:cNvPr id="21" name="Content Placeholder 2">
            <a:extLst>
              <a:ext uri="{FF2B5EF4-FFF2-40B4-BE49-F238E27FC236}">
                <a16:creationId xmlns:a16="http://schemas.microsoft.com/office/drawing/2014/main" id="{37D2D8A1-5F60-E8DA-3551-9CC5643F33E1}"/>
              </a:ext>
            </a:extLst>
          </p:cNvPr>
          <p:cNvSpPr txBox="1">
            <a:spLocks/>
          </p:cNvSpPr>
          <p:nvPr/>
        </p:nvSpPr>
        <p:spPr bwMode="auto">
          <a:xfrm>
            <a:off x="250825" y="1773238"/>
            <a:ext cx="7978775"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For example, to display only the first two columns of the resulting cross join</a:t>
            </a:r>
          </a:p>
        </p:txBody>
      </p:sp>
      <p:sp>
        <p:nvSpPr>
          <p:cNvPr id="24" name="Rounded Rectangle 23">
            <a:extLst>
              <a:ext uri="{FF2B5EF4-FFF2-40B4-BE49-F238E27FC236}">
                <a16:creationId xmlns:a16="http://schemas.microsoft.com/office/drawing/2014/main" id="{B4BBB79F-A7EB-2CC1-F481-39EB4EBCB045}"/>
              </a:ext>
            </a:extLst>
          </p:cNvPr>
          <p:cNvSpPr/>
          <p:nvPr/>
        </p:nvSpPr>
        <p:spPr bwMode="auto">
          <a:xfrm>
            <a:off x="76200" y="2781300"/>
            <a:ext cx="8305800" cy="1008063"/>
          </a:xfrm>
          <a:prstGeom prst="roundRect">
            <a:avLst/>
          </a:prstGeom>
          <a:solidFill>
            <a:schemeClr val="accent6">
              <a:alpha val="30000"/>
            </a:schemeClr>
          </a:solidFill>
          <a:ln w="9525" cap="flat" cmpd="sng" algn="ctr">
            <a:solidFill>
              <a:schemeClr val="accent6"/>
            </a:solidFill>
            <a:prstDash val="solid"/>
            <a:round/>
            <a:headEnd type="none" w="med" len="med"/>
            <a:tailEnd type="none" w="med" len="med"/>
          </a:ln>
          <a:effectLst/>
        </p:spPr>
        <p:txBody>
          <a:bodyPr anchor="ctr" anchorCtr="1"/>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2600" b="0" i="0" u="none" strike="noStrike" kern="1200" cap="none" spc="0" normalizeH="0" baseline="0" noProof="0" dirty="0">
                <a:ln>
                  <a:noFill/>
                </a:ln>
                <a:solidFill>
                  <a:srgbClr val="2F2B20"/>
                </a:solidFill>
                <a:effectLst/>
                <a:uLnTx/>
                <a:uFillTx/>
                <a:latin typeface="Arial" charset="0"/>
                <a:ea typeface="+mn-ea"/>
                <a:cs typeface="Arial" panose="020B0604020202020204" pitchFamily="34" charset="0"/>
              </a:rPr>
              <a:t>SELECT </a:t>
            </a:r>
            <a:r>
              <a:rPr kumimoji="0" lang="en-CA" sz="2600" b="0" i="0" u="none" strike="noStrike" kern="1200" cap="none" spc="0" normalizeH="0" baseline="0" noProof="0" dirty="0" err="1">
                <a:ln>
                  <a:noFill/>
                </a:ln>
                <a:solidFill>
                  <a:srgbClr val="2F2B20"/>
                </a:solidFill>
                <a:effectLst/>
                <a:uLnTx/>
                <a:uFillTx/>
                <a:latin typeface="Arial" charset="0"/>
                <a:ea typeface="+mn-ea"/>
                <a:cs typeface="Arial" panose="020B0604020202020204" pitchFamily="34" charset="0"/>
              </a:rPr>
              <a:t>Employee.Name</a:t>
            </a:r>
            <a:r>
              <a:rPr kumimoji="0" lang="en-CA" sz="2600" b="0" i="0" u="none" strike="noStrike" kern="1200" cap="none" spc="0" normalizeH="0" baseline="0" noProof="0" dirty="0">
                <a:ln>
                  <a:noFill/>
                </a:ln>
                <a:solidFill>
                  <a:srgbClr val="2F2B20"/>
                </a:solidFill>
                <a:effectLst/>
                <a:uLnTx/>
                <a:uFillTx/>
                <a:latin typeface="Arial" charset="0"/>
                <a:ea typeface="+mn-ea"/>
                <a:cs typeface="Arial" panose="020B0604020202020204" pitchFamily="34" charset="0"/>
              </a:rPr>
              <a:t>, </a:t>
            </a:r>
            <a:r>
              <a:rPr kumimoji="0" lang="en-CA" sz="2600" b="0" i="0" u="none" strike="noStrike" kern="1200" cap="none" spc="0" normalizeH="0" baseline="0" noProof="0" dirty="0" err="1">
                <a:ln>
                  <a:noFill/>
                </a:ln>
                <a:solidFill>
                  <a:srgbClr val="2F2B20"/>
                </a:solidFill>
                <a:effectLst/>
                <a:uLnTx/>
                <a:uFillTx/>
                <a:latin typeface="Arial" charset="0"/>
                <a:ea typeface="+mn-ea"/>
                <a:cs typeface="Arial" panose="020B0604020202020204" pitchFamily="34" charset="0"/>
              </a:rPr>
              <a:t>Employee.DepartmentId</a:t>
            </a:r>
            <a:r>
              <a:rPr kumimoji="0" lang="en-CA" sz="2600" b="0" i="0" u="none" strike="noStrike" kern="1200" cap="none" spc="0" normalizeH="0" baseline="0" noProof="0" dirty="0">
                <a:ln>
                  <a:noFill/>
                </a:ln>
                <a:solidFill>
                  <a:srgbClr val="2F2B20"/>
                </a:solidFill>
                <a:effectLst/>
                <a:uLnTx/>
                <a:uFillTx/>
                <a:latin typeface="Arial" charset="0"/>
                <a:ea typeface="+mn-ea"/>
                <a:cs typeface="Arial" panose="020B0604020202020204" pitchFamily="34" charset="0"/>
              </a:rPr>
              <a:t> FROM Employee, Department;</a:t>
            </a:r>
          </a:p>
        </p:txBody>
      </p:sp>
      <p:sp>
        <p:nvSpPr>
          <p:cNvPr id="28" name="Snip Single Corner Rectangle 27">
            <a:extLst>
              <a:ext uri="{FF2B5EF4-FFF2-40B4-BE49-F238E27FC236}">
                <a16:creationId xmlns:a16="http://schemas.microsoft.com/office/drawing/2014/main" id="{0E97ED37-3D92-35F5-41DC-BBDEDFE6B15D}"/>
              </a:ext>
            </a:extLst>
          </p:cNvPr>
          <p:cNvSpPr/>
          <p:nvPr/>
        </p:nvSpPr>
        <p:spPr bwMode="auto">
          <a:xfrm>
            <a:off x="122238" y="4149725"/>
            <a:ext cx="1092200" cy="431800"/>
          </a:xfrm>
          <a:prstGeom prst="snip1Rect">
            <a:avLst/>
          </a:prstGeom>
          <a:solidFill>
            <a:srgbClr val="FFFF00">
              <a:alpha val="30000"/>
            </a:srgbClr>
          </a:solidFill>
          <a:ln w="9525" cap="flat" cmpd="sng" algn="ctr">
            <a:solidFill>
              <a:srgbClr val="FFC000"/>
            </a:solidFill>
            <a:prstDash val="solid"/>
            <a:round/>
            <a:headEnd type="none" w="med" len="med"/>
            <a:tailEnd type="none" w="med" len="me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sz="2000" b="1"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Result:</a:t>
            </a:r>
          </a:p>
        </p:txBody>
      </p:sp>
      <p:graphicFrame>
        <p:nvGraphicFramePr>
          <p:cNvPr id="32" name="Table 31">
            <a:extLst>
              <a:ext uri="{FF2B5EF4-FFF2-40B4-BE49-F238E27FC236}">
                <a16:creationId xmlns:a16="http://schemas.microsoft.com/office/drawing/2014/main" id="{BB40F5CE-6C6B-6435-99DE-C73D746DBB1E}"/>
              </a:ext>
            </a:extLst>
          </p:cNvPr>
          <p:cNvGraphicFramePr>
            <a:graphicFrameLocks noGrp="1"/>
          </p:cNvGraphicFramePr>
          <p:nvPr/>
        </p:nvGraphicFramePr>
        <p:xfrm>
          <a:off x="1503363" y="4149725"/>
          <a:ext cx="4175126" cy="1854200"/>
        </p:xfrm>
        <a:graphic>
          <a:graphicData uri="http://schemas.openxmlformats.org/drawingml/2006/table">
            <a:tbl>
              <a:tblPr firstRow="1" bandRow="1">
                <a:tableStyleId>{9D7B26C5-4107-4FEC-AEDC-1716B250A1EF}</a:tableStyleId>
              </a:tblPr>
              <a:tblGrid>
                <a:gridCol w="2087563">
                  <a:extLst>
                    <a:ext uri="{9D8B030D-6E8A-4147-A177-3AD203B41FA5}">
                      <a16:colId xmlns:a16="http://schemas.microsoft.com/office/drawing/2014/main" val="20000"/>
                    </a:ext>
                  </a:extLst>
                </a:gridCol>
                <a:gridCol w="2087563">
                  <a:extLst>
                    <a:ext uri="{9D8B030D-6E8A-4147-A177-3AD203B41FA5}">
                      <a16:colId xmlns:a16="http://schemas.microsoft.com/office/drawing/2014/main" val="20001"/>
                    </a:ext>
                  </a:extLst>
                </a:gridCol>
              </a:tblGrid>
              <a:tr h="370840">
                <a:tc>
                  <a:txBody>
                    <a:bodyPr/>
                    <a:lstStyle/>
                    <a:p>
                      <a:pPr algn="ctr"/>
                      <a:r>
                        <a:rPr lang="en-CA" dirty="0"/>
                        <a:t>Name</a:t>
                      </a:r>
                    </a:p>
                  </a:txBody>
                  <a:tcPr marL="91419" marR="91419"/>
                </a:tc>
                <a:tc>
                  <a:txBody>
                    <a:bodyPr/>
                    <a:lstStyle/>
                    <a:p>
                      <a:pPr algn="ctr"/>
                      <a:r>
                        <a:rPr lang="en-CA" dirty="0" err="1"/>
                        <a:t>DepartmentId</a:t>
                      </a:r>
                      <a:endParaRPr lang="en-CA" dirty="0"/>
                    </a:p>
                  </a:txBody>
                  <a:tcPr marL="91419" marR="91419"/>
                </a:tc>
                <a:extLst>
                  <a:ext uri="{0D108BD9-81ED-4DB2-BD59-A6C34878D82A}">
                    <a16:rowId xmlns:a16="http://schemas.microsoft.com/office/drawing/2014/main" val="10000"/>
                  </a:ext>
                </a:extLst>
              </a:tr>
              <a:tr h="370840">
                <a:tc>
                  <a:txBody>
                    <a:bodyPr/>
                    <a:lstStyle/>
                    <a:p>
                      <a:pPr algn="ctr"/>
                      <a:r>
                        <a:rPr lang="en-CA" dirty="0"/>
                        <a:t>Aamir</a:t>
                      </a:r>
                    </a:p>
                  </a:txBody>
                  <a:tcPr marL="91419" marR="91419"/>
                </a:tc>
                <a:tc>
                  <a:txBody>
                    <a:bodyPr/>
                    <a:lstStyle/>
                    <a:p>
                      <a:pPr algn="ctr"/>
                      <a:r>
                        <a:rPr lang="en-CA" dirty="0"/>
                        <a:t>10</a:t>
                      </a:r>
                    </a:p>
                  </a:txBody>
                  <a:tcPr marL="91419" marR="91419"/>
                </a:tc>
                <a:extLst>
                  <a:ext uri="{0D108BD9-81ED-4DB2-BD59-A6C34878D82A}">
                    <a16:rowId xmlns:a16="http://schemas.microsoft.com/office/drawing/2014/main" val="10001"/>
                  </a:ext>
                </a:extLst>
              </a:tr>
              <a:tr h="370840">
                <a:tc>
                  <a:txBody>
                    <a:bodyPr/>
                    <a:lstStyle/>
                    <a:p>
                      <a:pPr algn="ctr"/>
                      <a:r>
                        <a:rPr lang="en-CA" dirty="0"/>
                        <a:t>Sadaf</a:t>
                      </a:r>
                    </a:p>
                  </a:txBody>
                  <a:tcPr marL="91419" marR="91419"/>
                </a:tc>
                <a:tc>
                  <a:txBody>
                    <a:bodyPr/>
                    <a:lstStyle/>
                    <a:p>
                      <a:pPr algn="ctr"/>
                      <a:r>
                        <a:rPr lang="en-CA" dirty="0"/>
                        <a:t>NULL</a:t>
                      </a:r>
                    </a:p>
                  </a:txBody>
                  <a:tcPr marL="91419" marR="91419"/>
                </a:tc>
                <a:extLst>
                  <a:ext uri="{0D108BD9-81ED-4DB2-BD59-A6C34878D82A}">
                    <a16:rowId xmlns:a16="http://schemas.microsoft.com/office/drawing/2014/main" val="10002"/>
                  </a:ext>
                </a:extLst>
              </a:tr>
              <a:tr h="370840">
                <a:tc>
                  <a:txBody>
                    <a:bodyPr/>
                    <a:lstStyle/>
                    <a:p>
                      <a:pPr algn="ctr"/>
                      <a:r>
                        <a:rPr lang="en-CA" dirty="0"/>
                        <a:t>Aamir</a:t>
                      </a:r>
                    </a:p>
                  </a:txBody>
                  <a:tcPr marL="91419" marR="91419"/>
                </a:tc>
                <a:tc>
                  <a:txBody>
                    <a:bodyPr/>
                    <a:lstStyle/>
                    <a:p>
                      <a:pPr algn="ctr"/>
                      <a:r>
                        <a:rPr lang="en-CA" dirty="0"/>
                        <a:t>10</a:t>
                      </a:r>
                    </a:p>
                  </a:txBody>
                  <a:tcPr marL="91419" marR="91419"/>
                </a:tc>
                <a:extLst>
                  <a:ext uri="{0D108BD9-81ED-4DB2-BD59-A6C34878D82A}">
                    <a16:rowId xmlns:a16="http://schemas.microsoft.com/office/drawing/2014/main" val="10003"/>
                  </a:ext>
                </a:extLst>
              </a:tr>
              <a:tr h="370840">
                <a:tc>
                  <a:txBody>
                    <a:bodyPr/>
                    <a:lstStyle/>
                    <a:p>
                      <a:pPr algn="ctr"/>
                      <a:r>
                        <a:rPr lang="en-CA" dirty="0"/>
                        <a:t>Sadaf</a:t>
                      </a:r>
                    </a:p>
                  </a:txBody>
                  <a:tcPr marL="91419" marR="91419"/>
                </a:tc>
                <a:tc>
                  <a:txBody>
                    <a:bodyPr/>
                    <a:lstStyle/>
                    <a:p>
                      <a:pPr algn="ctr"/>
                      <a:r>
                        <a:rPr lang="en-CA" dirty="0"/>
                        <a:t>NULL</a:t>
                      </a:r>
                    </a:p>
                  </a:txBody>
                  <a:tcPr marL="91419" marR="91419"/>
                </a:tc>
                <a:extLst>
                  <a:ext uri="{0D108BD9-81ED-4DB2-BD59-A6C34878D82A}">
                    <a16:rowId xmlns:a16="http://schemas.microsoft.com/office/drawing/2014/main" val="10004"/>
                  </a:ext>
                </a:extLst>
              </a:tr>
            </a:tbl>
          </a:graphicData>
        </a:graphic>
      </p:graphicFrame>
      <p:grpSp>
        <p:nvGrpSpPr>
          <p:cNvPr id="3" name="Group 5">
            <a:extLst>
              <a:ext uri="{FF2B5EF4-FFF2-40B4-BE49-F238E27FC236}">
                <a16:creationId xmlns:a16="http://schemas.microsoft.com/office/drawing/2014/main" id="{22A237DF-6CCC-BA75-A41B-5C16CE84E592}"/>
              </a:ext>
            </a:extLst>
          </p:cNvPr>
          <p:cNvGrpSpPr>
            <a:grpSpLocks/>
          </p:cNvGrpSpPr>
          <p:nvPr/>
        </p:nvGrpSpPr>
        <p:grpSpPr bwMode="auto">
          <a:xfrm>
            <a:off x="3505200" y="3284538"/>
            <a:ext cx="4919663" cy="2317750"/>
            <a:chOff x="3923928" y="3284984"/>
            <a:chExt cx="4919504" cy="2316625"/>
          </a:xfrm>
        </p:grpSpPr>
        <p:grpSp>
          <p:nvGrpSpPr>
            <p:cNvPr id="49174" name="Group 32">
              <a:extLst>
                <a:ext uri="{FF2B5EF4-FFF2-40B4-BE49-F238E27FC236}">
                  <a16:creationId xmlns:a16="http://schemas.microsoft.com/office/drawing/2014/main" id="{3B705FC9-80AA-8D0F-4990-B95D76DFCEC5}"/>
                </a:ext>
              </a:extLst>
            </p:cNvPr>
            <p:cNvGrpSpPr>
              <a:grpSpLocks/>
            </p:cNvGrpSpPr>
            <p:nvPr/>
          </p:nvGrpSpPr>
          <p:grpSpPr bwMode="auto">
            <a:xfrm>
              <a:off x="6211872" y="3284984"/>
              <a:ext cx="2631560" cy="2316625"/>
              <a:chOff x="5446359" y="6491019"/>
              <a:chExt cx="2631560" cy="2316625"/>
            </a:xfrm>
          </p:grpSpPr>
          <p:sp>
            <p:nvSpPr>
              <p:cNvPr id="34" name="TextBox 33">
                <a:extLst>
                  <a:ext uri="{FF2B5EF4-FFF2-40B4-BE49-F238E27FC236}">
                    <a16:creationId xmlns:a16="http://schemas.microsoft.com/office/drawing/2014/main" id="{46EF7BF9-A141-E63D-3B23-6F55FE1A3858}"/>
                  </a:ext>
                </a:extLst>
              </p:cNvPr>
              <p:cNvSpPr txBox="1"/>
              <p:nvPr/>
            </p:nvSpPr>
            <p:spPr>
              <a:xfrm>
                <a:off x="5445929" y="7608077"/>
                <a:ext cx="2631990" cy="1199567"/>
              </a:xfrm>
              <a:prstGeom prst="rect">
                <a:avLst/>
              </a:prstGeom>
              <a:ln/>
            </p:spPr>
            <p:style>
              <a:lnRef idx="1">
                <a:schemeClr val="accent4"/>
              </a:lnRef>
              <a:fillRef idx="2">
                <a:schemeClr val="accent4"/>
              </a:fillRef>
              <a:effectRef idx="1">
                <a:schemeClr val="accent4"/>
              </a:effectRef>
              <a:fontRef idx="minor">
                <a:schemeClr val="dk1"/>
              </a:fontRef>
            </p:style>
            <p:txBody>
              <a:bodyP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sz="1800" b="0" i="0" u="none" strike="noStrike" kern="1200" cap="none" spc="0" normalizeH="0" baseline="0" noProof="0" dirty="0">
                    <a:ln>
                      <a:noFill/>
                    </a:ln>
                    <a:solidFill>
                      <a:srgbClr val="2F2B20"/>
                    </a:solidFill>
                    <a:effectLst/>
                    <a:uLnTx/>
                    <a:uFillTx/>
                    <a:latin typeface="Calibri"/>
                    <a:ea typeface="+mn-ea"/>
                    <a:cs typeface="+mn-cs"/>
                  </a:rPr>
                  <a:t>You cannot use Name and </a:t>
                </a:r>
                <a:r>
                  <a:rPr kumimoji="0" lang="en-CA" sz="1800" b="0" i="0" u="none" strike="noStrike" kern="1200" cap="none" spc="0" normalizeH="0" baseline="0" noProof="0" dirty="0" err="1">
                    <a:ln>
                      <a:noFill/>
                    </a:ln>
                    <a:solidFill>
                      <a:srgbClr val="2F2B20"/>
                    </a:solidFill>
                    <a:effectLst/>
                    <a:uLnTx/>
                    <a:uFillTx/>
                    <a:latin typeface="Calibri"/>
                    <a:ea typeface="+mn-ea"/>
                    <a:cs typeface="+mn-cs"/>
                  </a:rPr>
                  <a:t>DepartmentId</a:t>
                </a:r>
                <a:r>
                  <a:rPr kumimoji="0" lang="en-CA" sz="1800" b="0" i="0" u="none" strike="noStrike" kern="1200" cap="none" spc="0" normalizeH="0" baseline="0" noProof="0" dirty="0">
                    <a:ln>
                      <a:noFill/>
                    </a:ln>
                    <a:solidFill>
                      <a:srgbClr val="2F2B20"/>
                    </a:solidFill>
                    <a:effectLst/>
                    <a:uLnTx/>
                    <a:uFillTx/>
                    <a:latin typeface="Calibri"/>
                    <a:ea typeface="+mn-ea"/>
                    <a:cs typeface="+mn-cs"/>
                  </a:rPr>
                  <a:t> here as the columns have the same name</a:t>
                </a:r>
              </a:p>
            </p:txBody>
          </p:sp>
          <p:cxnSp>
            <p:nvCxnSpPr>
              <p:cNvPr id="35" name="Straight Arrow Connector 34">
                <a:extLst>
                  <a:ext uri="{FF2B5EF4-FFF2-40B4-BE49-F238E27FC236}">
                    <a16:creationId xmlns:a16="http://schemas.microsoft.com/office/drawing/2014/main" id="{B7F63719-5FBC-1BAC-8798-0739BF37C51C}"/>
                  </a:ext>
                </a:extLst>
              </p:cNvPr>
              <p:cNvCxnSpPr>
                <a:stCxn id="34" idx="0"/>
              </p:cNvCxnSpPr>
              <p:nvPr/>
            </p:nvCxnSpPr>
            <p:spPr bwMode="auto">
              <a:xfrm flipH="1" flipV="1">
                <a:off x="6253940" y="6491019"/>
                <a:ext cx="507984" cy="1117058"/>
              </a:xfrm>
              <a:prstGeom prst="straightConnector1">
                <a:avLst/>
              </a:prstGeom>
              <a:ln>
                <a:headEnd type="none" w="med" len="med"/>
                <a:tailEnd type="triangle"/>
              </a:ln>
            </p:spPr>
            <p:style>
              <a:lnRef idx="1">
                <a:schemeClr val="accent4"/>
              </a:lnRef>
              <a:fillRef idx="2">
                <a:schemeClr val="accent4"/>
              </a:fillRef>
              <a:effectRef idx="1">
                <a:schemeClr val="accent4"/>
              </a:effectRef>
              <a:fontRef idx="minor">
                <a:schemeClr val="dk1"/>
              </a:fontRef>
            </p:style>
          </p:cxnSp>
        </p:grpSp>
        <p:cxnSp>
          <p:nvCxnSpPr>
            <p:cNvPr id="22" name="Straight Arrow Connector 21">
              <a:extLst>
                <a:ext uri="{FF2B5EF4-FFF2-40B4-BE49-F238E27FC236}">
                  <a16:creationId xmlns:a16="http://schemas.microsoft.com/office/drawing/2014/main" id="{06990DF3-7BED-270B-983F-D40B7E8284CB}"/>
                </a:ext>
              </a:extLst>
            </p:cNvPr>
            <p:cNvCxnSpPr>
              <a:stCxn id="34" idx="0"/>
            </p:cNvCxnSpPr>
            <p:nvPr/>
          </p:nvCxnSpPr>
          <p:spPr bwMode="auto">
            <a:xfrm flipH="1" flipV="1">
              <a:off x="3923928" y="3284984"/>
              <a:ext cx="3603509" cy="1117058"/>
            </a:xfrm>
            <a:prstGeom prst="straightConnector1">
              <a:avLst/>
            </a:prstGeom>
            <a:ln>
              <a:headEnd type="none" w="med" len="med"/>
              <a:tailEnd type="triangle"/>
            </a:ln>
          </p:spPr>
          <p:style>
            <a:lnRef idx="1">
              <a:schemeClr val="accent4"/>
            </a:lnRef>
            <a:fillRef idx="2">
              <a:schemeClr val="accent4"/>
            </a:fillRef>
            <a:effectRef idx="1">
              <a:schemeClr val="accent4"/>
            </a:effectRef>
            <a:fontRef idx="minor">
              <a:schemeClr val="dk1"/>
            </a:fontRef>
          </p:style>
        </p:cxnSp>
      </p:gr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wipe(left)">
                                      <p:cBhvr>
                                        <p:cTn id="7" dur="500"/>
                                        <p:tgtEl>
                                          <p:spTgt spid="21">
                                            <p:txEl>
                                              <p:pRg st="0" end="0"/>
                                            </p:txEl>
                                          </p:spTgt>
                                        </p:tgtEl>
                                      </p:cBhvr>
                                    </p:animEffect>
                                  </p:childTnLst>
                                </p:cTn>
                              </p:par>
                            </p:childTnLst>
                          </p:cTn>
                        </p:par>
                        <p:par>
                          <p:cTn id="8" fill="hold" nodeType="afterGroup">
                            <p:stCondLst>
                              <p:cond delay="500"/>
                            </p:stCondLst>
                            <p:childTnLst>
                              <p:par>
                                <p:cTn id="9" presetID="16" presetClass="entr" presetSubtype="21" fill="hold" grpId="0"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barn(inVertical)">
                                      <p:cBhvr>
                                        <p:cTn id="11" dur="500"/>
                                        <p:tgtEl>
                                          <p:spTgt spid="24"/>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28"/>
                                        </p:tgtEl>
                                        <p:attrNameLst>
                                          <p:attrName>style.visibility</p:attrName>
                                        </p:attrNameLst>
                                      </p:cBhvr>
                                      <p:to>
                                        <p:strVal val="visible"/>
                                      </p:to>
                                    </p:set>
                                    <p:animEffect transition="in" filter="wipe(up)">
                                      <p:cBhvr>
                                        <p:cTn id="16" dur="500"/>
                                        <p:tgtEl>
                                          <p:spTgt spid="28"/>
                                        </p:tgtEl>
                                      </p:cBhvr>
                                    </p:animEffect>
                                  </p:childTnLst>
                                </p:cTn>
                              </p:par>
                            </p:childTnLst>
                          </p:cTn>
                        </p:par>
                        <p:par>
                          <p:cTn id="17" fill="hold" nodeType="afterGroup">
                            <p:stCondLst>
                              <p:cond delay="500"/>
                            </p:stCondLst>
                            <p:childTnLst>
                              <p:par>
                                <p:cTn id="18" presetID="22" presetClass="entr" presetSubtype="8" fill="hold" nodeType="afterEffect">
                                  <p:stCondLst>
                                    <p:cond delay="0"/>
                                  </p:stCondLst>
                                  <p:childTnLst>
                                    <p:set>
                                      <p:cBhvr>
                                        <p:cTn id="19" dur="1" fill="hold">
                                          <p:stCondLst>
                                            <p:cond delay="0"/>
                                          </p:stCondLst>
                                        </p:cTn>
                                        <p:tgtEl>
                                          <p:spTgt spid="28">
                                            <p:txEl>
                                              <p:pRg st="0" end="0"/>
                                            </p:txEl>
                                          </p:spTgt>
                                        </p:tgtEl>
                                        <p:attrNameLst>
                                          <p:attrName>style.visibility</p:attrName>
                                        </p:attrNameLst>
                                      </p:cBhvr>
                                      <p:to>
                                        <p:strVal val="visible"/>
                                      </p:to>
                                    </p:set>
                                    <p:animEffect transition="in" filter="wipe(left)">
                                      <p:cBhvr>
                                        <p:cTn id="20" dur="500"/>
                                        <p:tgtEl>
                                          <p:spTgt spid="28">
                                            <p:txEl>
                                              <p:pRg st="0" end="0"/>
                                            </p:txEl>
                                          </p:spTgt>
                                        </p:tgtEl>
                                      </p:cBhvr>
                                    </p:animEffect>
                                  </p:childTnLst>
                                </p:cTn>
                              </p:par>
                            </p:childTnLst>
                          </p:cTn>
                        </p:par>
                        <p:par>
                          <p:cTn id="21" fill="hold" nodeType="afterGroup">
                            <p:stCondLst>
                              <p:cond delay="1000"/>
                            </p:stCondLst>
                            <p:childTnLst>
                              <p:par>
                                <p:cTn id="22" presetID="22" presetClass="entr" presetSubtype="1" fill="hold" nodeType="afterEffect">
                                  <p:stCondLst>
                                    <p:cond delay="0"/>
                                  </p:stCondLst>
                                  <p:childTnLst>
                                    <p:set>
                                      <p:cBhvr>
                                        <p:cTn id="23" dur="1" fill="hold">
                                          <p:stCondLst>
                                            <p:cond delay="0"/>
                                          </p:stCondLst>
                                        </p:cTn>
                                        <p:tgtEl>
                                          <p:spTgt spid="32"/>
                                        </p:tgtEl>
                                        <p:attrNameLst>
                                          <p:attrName>style.visibility</p:attrName>
                                        </p:attrNameLst>
                                      </p:cBhvr>
                                      <p:to>
                                        <p:strVal val="visible"/>
                                      </p:to>
                                    </p:set>
                                    <p:animEffect transition="in" filter="wipe(up)">
                                      <p:cBhvr>
                                        <p:cTn id="24" dur="500"/>
                                        <p:tgtEl>
                                          <p:spTgt spid="32"/>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2" fill="hold" nodeType="clickEffect">
                                  <p:stCondLst>
                                    <p:cond delay="0"/>
                                  </p:stCondLst>
                                  <p:childTnLst>
                                    <p:set>
                                      <p:cBhvr>
                                        <p:cTn id="28" dur="1" fill="hold">
                                          <p:stCondLst>
                                            <p:cond delay="0"/>
                                          </p:stCondLst>
                                        </p:cTn>
                                        <p:tgtEl>
                                          <p:spTgt spid="3"/>
                                        </p:tgtEl>
                                        <p:attrNameLst>
                                          <p:attrName>style.visibility</p:attrName>
                                        </p:attrNameLst>
                                      </p:cBhvr>
                                      <p:to>
                                        <p:strVal val="visible"/>
                                      </p:to>
                                    </p:set>
                                    <p:anim calcmode="lin" valueType="num">
                                      <p:cBhvr additive="base">
                                        <p:cTn id="29" dur="500" fill="hold"/>
                                        <p:tgtEl>
                                          <p:spTgt spid="3"/>
                                        </p:tgtEl>
                                        <p:attrNameLst>
                                          <p:attrName>ppt_x</p:attrName>
                                        </p:attrNameLst>
                                      </p:cBhvr>
                                      <p:tavLst>
                                        <p:tav tm="0">
                                          <p:val>
                                            <p:strVal val="1+#ppt_w/2"/>
                                          </p:val>
                                        </p:tav>
                                        <p:tav tm="100000">
                                          <p:val>
                                            <p:strVal val="#ppt_x"/>
                                          </p:val>
                                        </p:tav>
                                      </p:tavLst>
                                    </p:anim>
                                    <p:anim calcmode="lin" valueType="num">
                                      <p:cBhvr additive="base">
                                        <p:cTn id="30"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8" grpId="0" animBg="1"/>
    </p:bldLst>
  </p:timing>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A7036-CD5C-D7D9-5657-81AEABEAF8FD}"/>
              </a:ext>
            </a:extLst>
          </p:cNvPr>
          <p:cNvSpPr>
            <a:spLocks noGrp="1"/>
          </p:cNvSpPr>
          <p:nvPr>
            <p:ph type="title"/>
          </p:nvPr>
        </p:nvSpPr>
        <p:spPr>
          <a:xfrm>
            <a:off x="457200" y="0"/>
            <a:ext cx="7620000" cy="1143000"/>
          </a:xfrm>
        </p:spPr>
        <p:txBody>
          <a:bodyPr/>
          <a:lstStyle/>
          <a:p>
            <a:pPr algn="ctr">
              <a:defRPr/>
            </a:pPr>
            <a:r>
              <a:rPr lang="en-US" dirty="0"/>
              <a:t>JOIN</a:t>
            </a:r>
            <a:endParaRPr lang="en-MY" dirty="0"/>
          </a:p>
        </p:txBody>
      </p:sp>
      <p:sp>
        <p:nvSpPr>
          <p:cNvPr id="7" name="Snip Single Corner Rectangle 6">
            <a:extLst>
              <a:ext uri="{FF2B5EF4-FFF2-40B4-BE49-F238E27FC236}">
                <a16:creationId xmlns:a16="http://schemas.microsoft.com/office/drawing/2014/main" id="{70DED776-76E2-333E-39A1-584B68BEECE0}"/>
              </a:ext>
            </a:extLst>
          </p:cNvPr>
          <p:cNvSpPr/>
          <p:nvPr/>
        </p:nvSpPr>
        <p:spPr>
          <a:xfrm>
            <a:off x="-36513" y="1125538"/>
            <a:ext cx="1655763" cy="400050"/>
          </a:xfrm>
          <a:prstGeom prst="snip1Rect">
            <a:avLst/>
          </a:prstGeom>
          <a:ln/>
        </p:spPr>
        <p:style>
          <a:lnRef idx="1">
            <a:schemeClr val="accent2"/>
          </a:lnRef>
          <a:fillRef idx="3">
            <a:schemeClr val="accent2"/>
          </a:fillRef>
          <a:effectRef idx="2">
            <a:schemeClr val="accent2"/>
          </a:effectRef>
          <a:fontRef idx="minor">
            <a:schemeClr val="lt1"/>
          </a:fontRef>
        </p:style>
        <p:txBody>
          <a:bodyPr anchor="ctr">
            <a:spAutoFit/>
          </a:bodyPr>
          <a:lstStyle/>
          <a:p>
            <a:pPr marL="342900" marR="0" lvl="0" indent="-342900" algn="just" defTabSz="914400" rtl="0" eaLnBrk="1" fontAlgn="base" latinLnBrk="0" hangingPunct="1">
              <a:lnSpc>
                <a:spcPct val="100000"/>
              </a:lnSpc>
              <a:spcBef>
                <a:spcPct val="20000"/>
              </a:spcBef>
              <a:spcAft>
                <a:spcPct val="0"/>
              </a:spcAft>
              <a:buClr>
                <a:srgbClr val="FF6600"/>
              </a:buClr>
              <a:buSzPct val="100000"/>
              <a:buFontTx/>
              <a:buNone/>
              <a:tabLst/>
              <a:defRPr/>
            </a:pPr>
            <a:r>
              <a:rPr kumimoji="0" lang="en-US" sz="1800" b="0" i="0" u="none" strike="noStrike" kern="1200" cap="none" spc="0" normalizeH="0" baseline="0" noProof="0" dirty="0">
                <a:ln>
                  <a:noFill/>
                </a:ln>
                <a:solidFill>
                  <a:srgbClr val="FFFFFF"/>
                </a:solidFill>
                <a:effectLst/>
                <a:uLnTx/>
                <a:uFillTx/>
                <a:latin typeface="Arial" pitchFamily="34" charset="0"/>
                <a:ea typeface="Times New Roman" pitchFamily="18" charset="0"/>
                <a:cs typeface="Arial" pitchFamily="34" charset="0"/>
              </a:rPr>
              <a:t>CROSS JOIN</a:t>
            </a:r>
            <a:endParaRPr kumimoji="0" lang="en-GB" sz="1800" b="0" i="0" u="none" strike="noStrike" kern="0" cap="none" spc="0" normalizeH="0" baseline="0" noProof="0" dirty="0">
              <a:ln>
                <a:noFill/>
              </a:ln>
              <a:solidFill>
                <a:srgbClr val="2F2B20"/>
              </a:solidFill>
              <a:effectLst/>
              <a:uLnTx/>
              <a:uFillTx/>
              <a:latin typeface="Calibri"/>
              <a:ea typeface="+mn-ea"/>
              <a:cs typeface="+mn-cs"/>
            </a:endParaRPr>
          </a:p>
        </p:txBody>
      </p:sp>
      <p:sp>
        <p:nvSpPr>
          <p:cNvPr id="21" name="Content Placeholder 2">
            <a:extLst>
              <a:ext uri="{FF2B5EF4-FFF2-40B4-BE49-F238E27FC236}">
                <a16:creationId xmlns:a16="http://schemas.microsoft.com/office/drawing/2014/main" id="{28C0E515-E57C-B64C-070B-DE4B3B7113D3}"/>
              </a:ext>
            </a:extLst>
          </p:cNvPr>
          <p:cNvSpPr txBox="1">
            <a:spLocks/>
          </p:cNvSpPr>
          <p:nvPr/>
        </p:nvSpPr>
        <p:spPr bwMode="auto">
          <a:xfrm>
            <a:off x="250825" y="1773238"/>
            <a:ext cx="7978775"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For example, to display the first and third column of the resulting cross join</a:t>
            </a:r>
          </a:p>
        </p:txBody>
      </p:sp>
      <p:sp>
        <p:nvSpPr>
          <p:cNvPr id="24" name="Rounded Rectangle 23">
            <a:extLst>
              <a:ext uri="{FF2B5EF4-FFF2-40B4-BE49-F238E27FC236}">
                <a16:creationId xmlns:a16="http://schemas.microsoft.com/office/drawing/2014/main" id="{1917EF1B-A8D9-C11F-61F1-2536A11B2A19}"/>
              </a:ext>
            </a:extLst>
          </p:cNvPr>
          <p:cNvSpPr/>
          <p:nvPr/>
        </p:nvSpPr>
        <p:spPr bwMode="auto">
          <a:xfrm>
            <a:off x="161925" y="2781300"/>
            <a:ext cx="8143875" cy="1008063"/>
          </a:xfrm>
          <a:prstGeom prst="roundRect">
            <a:avLst/>
          </a:prstGeom>
          <a:solidFill>
            <a:schemeClr val="accent6">
              <a:alpha val="30000"/>
            </a:schemeClr>
          </a:solidFill>
          <a:ln w="9525" cap="flat" cmpd="sng" algn="ctr">
            <a:solidFill>
              <a:schemeClr val="accent6"/>
            </a:solidFill>
            <a:prstDash val="solid"/>
            <a:round/>
            <a:headEnd type="none" w="med" len="med"/>
            <a:tailEnd type="none" w="med" len="med"/>
          </a:ln>
          <a:effectLst/>
        </p:spPr>
        <p:txBody>
          <a:bodyPr anchor="ctr" anchorCtr="1"/>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2600" b="0" i="0" u="none" strike="noStrike" kern="1200" cap="none" spc="0" normalizeH="0" baseline="0" noProof="0" dirty="0">
                <a:ln>
                  <a:noFill/>
                </a:ln>
                <a:solidFill>
                  <a:srgbClr val="2F2B20"/>
                </a:solidFill>
                <a:effectLst/>
                <a:uLnTx/>
                <a:uFillTx/>
                <a:latin typeface="Arial" charset="0"/>
                <a:ea typeface="+mn-ea"/>
                <a:cs typeface="Arial" panose="020B0604020202020204" pitchFamily="34" charset="0"/>
              </a:rPr>
              <a:t>SELECT </a:t>
            </a:r>
            <a:r>
              <a:rPr kumimoji="0" lang="en-CA" sz="2600" b="0" i="0" u="none" strike="noStrike" kern="1200" cap="none" spc="0" normalizeH="0" baseline="0" noProof="0" dirty="0" err="1">
                <a:ln>
                  <a:noFill/>
                </a:ln>
                <a:solidFill>
                  <a:srgbClr val="2F2B20"/>
                </a:solidFill>
                <a:effectLst/>
                <a:uLnTx/>
                <a:uFillTx/>
                <a:latin typeface="Arial" panose="020B0604020202020204" pitchFamily="34" charset="0"/>
                <a:ea typeface="+mn-ea"/>
                <a:cs typeface="Arial" panose="020B0604020202020204" pitchFamily="34" charset="0"/>
              </a:rPr>
              <a:t>Employee.Name</a:t>
            </a:r>
            <a:r>
              <a:rPr kumimoji="0" lang="en-CA" sz="2600" b="0" i="0" u="none" strike="noStrike" kern="1200" cap="none" spc="0" normalizeH="0" baseline="0" noProof="0" dirty="0">
                <a:ln>
                  <a:noFill/>
                </a:ln>
                <a:solidFill>
                  <a:srgbClr val="2F2B20"/>
                </a:solidFill>
                <a:effectLst/>
                <a:uLnTx/>
                <a:uFillTx/>
                <a:latin typeface="Arial" charset="0"/>
                <a:ea typeface="+mn-ea"/>
                <a:cs typeface="Arial" panose="020B0604020202020204" pitchFamily="34" charset="0"/>
              </a:rPr>
              <a:t>, </a:t>
            </a:r>
            <a:r>
              <a:rPr kumimoji="0" lang="en-CA" sz="2600" b="0" i="0" u="none" strike="noStrike" kern="1200" cap="none" spc="0" normalizeH="0" baseline="0" noProof="0" dirty="0" err="1">
                <a:ln>
                  <a:noFill/>
                </a:ln>
                <a:solidFill>
                  <a:srgbClr val="2F2B20"/>
                </a:solidFill>
                <a:effectLst/>
                <a:uLnTx/>
                <a:uFillTx/>
                <a:latin typeface="Arial" charset="0"/>
                <a:ea typeface="+mn-ea"/>
                <a:cs typeface="Arial" panose="020B0604020202020204" pitchFamily="34" charset="0"/>
              </a:rPr>
              <a:t>Department.DepartmentId</a:t>
            </a:r>
            <a:r>
              <a:rPr kumimoji="0" lang="en-CA" sz="2600" b="0" i="0" u="none" strike="noStrike" kern="1200" cap="none" spc="0" normalizeH="0" baseline="0" noProof="0" dirty="0">
                <a:ln>
                  <a:noFill/>
                </a:ln>
                <a:solidFill>
                  <a:srgbClr val="2F2B20"/>
                </a:solidFill>
                <a:effectLst/>
                <a:uLnTx/>
                <a:uFillTx/>
                <a:latin typeface="Arial" charset="0"/>
                <a:ea typeface="+mn-ea"/>
                <a:cs typeface="Arial" panose="020B0604020202020204" pitchFamily="34" charset="0"/>
              </a:rPr>
              <a:t> FROM Employee, Department;</a:t>
            </a:r>
          </a:p>
        </p:txBody>
      </p:sp>
      <p:sp>
        <p:nvSpPr>
          <p:cNvPr id="28" name="Snip Single Corner Rectangle 27">
            <a:extLst>
              <a:ext uri="{FF2B5EF4-FFF2-40B4-BE49-F238E27FC236}">
                <a16:creationId xmlns:a16="http://schemas.microsoft.com/office/drawing/2014/main" id="{5BA022F6-0849-40F2-7B23-08CB523F6ADE}"/>
              </a:ext>
            </a:extLst>
          </p:cNvPr>
          <p:cNvSpPr/>
          <p:nvPr/>
        </p:nvSpPr>
        <p:spPr bwMode="auto">
          <a:xfrm>
            <a:off x="152400" y="4149725"/>
            <a:ext cx="1092200" cy="431800"/>
          </a:xfrm>
          <a:prstGeom prst="snip1Rect">
            <a:avLst/>
          </a:prstGeom>
          <a:solidFill>
            <a:srgbClr val="FFFF00">
              <a:alpha val="30000"/>
            </a:srgbClr>
          </a:solidFill>
          <a:ln w="9525" cap="flat" cmpd="sng" algn="ctr">
            <a:solidFill>
              <a:srgbClr val="FFC000"/>
            </a:solidFill>
            <a:prstDash val="solid"/>
            <a:round/>
            <a:headEnd type="none" w="med" len="med"/>
            <a:tailEnd type="none" w="med" len="me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sz="2000" b="1"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Result:</a:t>
            </a:r>
          </a:p>
        </p:txBody>
      </p:sp>
      <p:graphicFrame>
        <p:nvGraphicFramePr>
          <p:cNvPr id="32" name="Table 31">
            <a:extLst>
              <a:ext uri="{FF2B5EF4-FFF2-40B4-BE49-F238E27FC236}">
                <a16:creationId xmlns:a16="http://schemas.microsoft.com/office/drawing/2014/main" id="{33C6E378-E481-9C53-FA70-355AE904D71B}"/>
              </a:ext>
            </a:extLst>
          </p:cNvPr>
          <p:cNvGraphicFramePr>
            <a:graphicFrameLocks noGrp="1"/>
          </p:cNvGraphicFramePr>
          <p:nvPr/>
        </p:nvGraphicFramePr>
        <p:xfrm>
          <a:off x="1533525" y="4149725"/>
          <a:ext cx="4175126" cy="1854200"/>
        </p:xfrm>
        <a:graphic>
          <a:graphicData uri="http://schemas.openxmlformats.org/drawingml/2006/table">
            <a:tbl>
              <a:tblPr firstRow="1" bandRow="1">
                <a:tableStyleId>{9D7B26C5-4107-4FEC-AEDC-1716B250A1EF}</a:tableStyleId>
              </a:tblPr>
              <a:tblGrid>
                <a:gridCol w="2087563">
                  <a:extLst>
                    <a:ext uri="{9D8B030D-6E8A-4147-A177-3AD203B41FA5}">
                      <a16:colId xmlns:a16="http://schemas.microsoft.com/office/drawing/2014/main" val="20000"/>
                    </a:ext>
                  </a:extLst>
                </a:gridCol>
                <a:gridCol w="2087563">
                  <a:extLst>
                    <a:ext uri="{9D8B030D-6E8A-4147-A177-3AD203B41FA5}">
                      <a16:colId xmlns:a16="http://schemas.microsoft.com/office/drawing/2014/main" val="20001"/>
                    </a:ext>
                  </a:extLst>
                </a:gridCol>
              </a:tblGrid>
              <a:tr h="370840">
                <a:tc>
                  <a:txBody>
                    <a:bodyPr/>
                    <a:lstStyle/>
                    <a:p>
                      <a:pPr algn="ctr"/>
                      <a:r>
                        <a:rPr lang="en-CA" dirty="0"/>
                        <a:t>Name</a:t>
                      </a:r>
                    </a:p>
                  </a:txBody>
                  <a:tcPr marL="91419" marR="91419"/>
                </a:tc>
                <a:tc>
                  <a:txBody>
                    <a:bodyPr/>
                    <a:lstStyle/>
                    <a:p>
                      <a:pPr algn="ctr"/>
                      <a:r>
                        <a:rPr lang="en-CA" dirty="0" err="1"/>
                        <a:t>DepartmentId</a:t>
                      </a:r>
                      <a:endParaRPr lang="en-CA" dirty="0"/>
                    </a:p>
                  </a:txBody>
                  <a:tcPr marL="91419" marR="91419"/>
                </a:tc>
                <a:extLst>
                  <a:ext uri="{0D108BD9-81ED-4DB2-BD59-A6C34878D82A}">
                    <a16:rowId xmlns:a16="http://schemas.microsoft.com/office/drawing/2014/main" val="10000"/>
                  </a:ext>
                </a:extLst>
              </a:tr>
              <a:tr h="370840">
                <a:tc>
                  <a:txBody>
                    <a:bodyPr/>
                    <a:lstStyle/>
                    <a:p>
                      <a:pPr algn="ctr"/>
                      <a:r>
                        <a:rPr lang="en-CA" dirty="0"/>
                        <a:t>Aamir</a:t>
                      </a:r>
                    </a:p>
                  </a:txBody>
                  <a:tcPr marL="91419" marR="91419"/>
                </a:tc>
                <a:tc>
                  <a:txBody>
                    <a:bodyPr/>
                    <a:lstStyle/>
                    <a:p>
                      <a:pPr algn="ctr"/>
                      <a:r>
                        <a:rPr lang="en-CA" dirty="0"/>
                        <a:t>10</a:t>
                      </a:r>
                    </a:p>
                  </a:txBody>
                  <a:tcPr marL="91419" marR="91419"/>
                </a:tc>
                <a:extLst>
                  <a:ext uri="{0D108BD9-81ED-4DB2-BD59-A6C34878D82A}">
                    <a16:rowId xmlns:a16="http://schemas.microsoft.com/office/drawing/2014/main" val="10001"/>
                  </a:ext>
                </a:extLst>
              </a:tr>
              <a:tr h="370840">
                <a:tc>
                  <a:txBody>
                    <a:bodyPr/>
                    <a:lstStyle/>
                    <a:p>
                      <a:pPr algn="ctr"/>
                      <a:r>
                        <a:rPr lang="en-CA" dirty="0"/>
                        <a:t>Sadaf</a:t>
                      </a:r>
                    </a:p>
                  </a:txBody>
                  <a:tcPr marL="91419" marR="91419"/>
                </a:tc>
                <a:tc>
                  <a:txBody>
                    <a:bodyPr/>
                    <a:lstStyle/>
                    <a:p>
                      <a:pPr algn="ctr"/>
                      <a:r>
                        <a:rPr lang="en-CA" dirty="0"/>
                        <a:t>10</a:t>
                      </a:r>
                    </a:p>
                  </a:txBody>
                  <a:tcPr marL="91419" marR="91419"/>
                </a:tc>
                <a:extLst>
                  <a:ext uri="{0D108BD9-81ED-4DB2-BD59-A6C34878D82A}">
                    <a16:rowId xmlns:a16="http://schemas.microsoft.com/office/drawing/2014/main" val="10002"/>
                  </a:ext>
                </a:extLst>
              </a:tr>
              <a:tr h="370840">
                <a:tc>
                  <a:txBody>
                    <a:bodyPr/>
                    <a:lstStyle/>
                    <a:p>
                      <a:pPr algn="ctr"/>
                      <a:r>
                        <a:rPr lang="en-CA" dirty="0"/>
                        <a:t>Aamir</a:t>
                      </a:r>
                    </a:p>
                  </a:txBody>
                  <a:tcPr marL="91419" marR="91419"/>
                </a:tc>
                <a:tc>
                  <a:txBody>
                    <a:bodyPr/>
                    <a:lstStyle/>
                    <a:p>
                      <a:pPr algn="ctr"/>
                      <a:r>
                        <a:rPr lang="en-CA" dirty="0"/>
                        <a:t>10</a:t>
                      </a:r>
                    </a:p>
                  </a:txBody>
                  <a:tcPr marL="91419" marR="91419"/>
                </a:tc>
                <a:extLst>
                  <a:ext uri="{0D108BD9-81ED-4DB2-BD59-A6C34878D82A}">
                    <a16:rowId xmlns:a16="http://schemas.microsoft.com/office/drawing/2014/main" val="10003"/>
                  </a:ext>
                </a:extLst>
              </a:tr>
              <a:tr h="370840">
                <a:tc>
                  <a:txBody>
                    <a:bodyPr/>
                    <a:lstStyle/>
                    <a:p>
                      <a:pPr algn="ctr"/>
                      <a:r>
                        <a:rPr lang="en-CA" dirty="0"/>
                        <a:t>Sadaf</a:t>
                      </a:r>
                    </a:p>
                  </a:txBody>
                  <a:tcPr marL="91419" marR="91419"/>
                </a:tc>
                <a:tc>
                  <a:txBody>
                    <a:bodyPr/>
                    <a:lstStyle/>
                    <a:p>
                      <a:pPr algn="ctr"/>
                      <a:r>
                        <a:rPr lang="en-CA" dirty="0"/>
                        <a:t>15</a:t>
                      </a:r>
                    </a:p>
                  </a:txBody>
                  <a:tcPr marL="91419" marR="91419"/>
                </a:tc>
                <a:extLst>
                  <a:ext uri="{0D108BD9-81ED-4DB2-BD59-A6C34878D82A}">
                    <a16:rowId xmlns:a16="http://schemas.microsoft.com/office/drawing/2014/main" val="10004"/>
                  </a:ext>
                </a:extLst>
              </a:tr>
            </a:tbl>
          </a:graphicData>
        </a:graphic>
      </p:graphicFrame>
      <p:grpSp>
        <p:nvGrpSpPr>
          <p:cNvPr id="3" name="Group 16">
            <a:extLst>
              <a:ext uri="{FF2B5EF4-FFF2-40B4-BE49-F238E27FC236}">
                <a16:creationId xmlns:a16="http://schemas.microsoft.com/office/drawing/2014/main" id="{B4973E91-18C4-8EF5-2A4C-45662973CD8D}"/>
              </a:ext>
            </a:extLst>
          </p:cNvPr>
          <p:cNvGrpSpPr>
            <a:grpSpLocks/>
          </p:cNvGrpSpPr>
          <p:nvPr/>
        </p:nvGrpSpPr>
        <p:grpSpPr bwMode="auto">
          <a:xfrm>
            <a:off x="3505200" y="3284538"/>
            <a:ext cx="4919663" cy="2317750"/>
            <a:chOff x="3923928" y="3284984"/>
            <a:chExt cx="4919504" cy="2316625"/>
          </a:xfrm>
        </p:grpSpPr>
        <p:grpSp>
          <p:nvGrpSpPr>
            <p:cNvPr id="50198" name="Group 25">
              <a:extLst>
                <a:ext uri="{FF2B5EF4-FFF2-40B4-BE49-F238E27FC236}">
                  <a16:creationId xmlns:a16="http://schemas.microsoft.com/office/drawing/2014/main" id="{44A6F75F-B046-E856-3268-8799995A186E}"/>
                </a:ext>
              </a:extLst>
            </p:cNvPr>
            <p:cNvGrpSpPr>
              <a:grpSpLocks/>
            </p:cNvGrpSpPr>
            <p:nvPr/>
          </p:nvGrpSpPr>
          <p:grpSpPr bwMode="auto">
            <a:xfrm>
              <a:off x="6211872" y="3284984"/>
              <a:ext cx="2631560" cy="2316625"/>
              <a:chOff x="5446359" y="6491019"/>
              <a:chExt cx="2631560" cy="2316625"/>
            </a:xfrm>
          </p:grpSpPr>
          <p:sp>
            <p:nvSpPr>
              <p:cNvPr id="29" name="TextBox 28">
                <a:extLst>
                  <a:ext uri="{FF2B5EF4-FFF2-40B4-BE49-F238E27FC236}">
                    <a16:creationId xmlns:a16="http://schemas.microsoft.com/office/drawing/2014/main" id="{1845CE24-9B89-B87B-4820-3184ECC13CCE}"/>
                  </a:ext>
                </a:extLst>
              </p:cNvPr>
              <p:cNvSpPr txBox="1"/>
              <p:nvPr/>
            </p:nvSpPr>
            <p:spPr>
              <a:xfrm>
                <a:off x="5445929" y="7608077"/>
                <a:ext cx="2631990" cy="1199567"/>
              </a:xfrm>
              <a:prstGeom prst="rect">
                <a:avLst/>
              </a:prstGeom>
              <a:ln/>
            </p:spPr>
            <p:style>
              <a:lnRef idx="1">
                <a:schemeClr val="accent4"/>
              </a:lnRef>
              <a:fillRef idx="2">
                <a:schemeClr val="accent4"/>
              </a:fillRef>
              <a:effectRef idx="1">
                <a:schemeClr val="accent4"/>
              </a:effectRef>
              <a:fontRef idx="minor">
                <a:schemeClr val="dk1"/>
              </a:fontRef>
            </p:style>
            <p:txBody>
              <a:bodyP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sz="1800" b="0" i="0" u="none" strike="noStrike" kern="1200" cap="none" spc="0" normalizeH="0" baseline="0" noProof="0" dirty="0">
                    <a:ln>
                      <a:noFill/>
                    </a:ln>
                    <a:solidFill>
                      <a:srgbClr val="2F2B20"/>
                    </a:solidFill>
                    <a:effectLst/>
                    <a:uLnTx/>
                    <a:uFillTx/>
                    <a:latin typeface="Calibri"/>
                    <a:ea typeface="+mn-ea"/>
                    <a:cs typeface="+mn-cs"/>
                  </a:rPr>
                  <a:t>You cannot use Name and </a:t>
                </a:r>
                <a:r>
                  <a:rPr kumimoji="0" lang="en-CA" sz="1800" b="0" i="0" u="none" strike="noStrike" kern="1200" cap="none" spc="0" normalizeH="0" baseline="0" noProof="0" dirty="0" err="1">
                    <a:ln>
                      <a:noFill/>
                    </a:ln>
                    <a:solidFill>
                      <a:srgbClr val="2F2B20"/>
                    </a:solidFill>
                    <a:effectLst/>
                    <a:uLnTx/>
                    <a:uFillTx/>
                    <a:latin typeface="Calibri"/>
                    <a:ea typeface="+mn-ea"/>
                    <a:cs typeface="+mn-cs"/>
                  </a:rPr>
                  <a:t>DepartmentId</a:t>
                </a:r>
                <a:r>
                  <a:rPr kumimoji="0" lang="en-CA" sz="1800" b="0" i="0" u="none" strike="noStrike" kern="1200" cap="none" spc="0" normalizeH="0" baseline="0" noProof="0" dirty="0">
                    <a:ln>
                      <a:noFill/>
                    </a:ln>
                    <a:solidFill>
                      <a:srgbClr val="2F2B20"/>
                    </a:solidFill>
                    <a:effectLst/>
                    <a:uLnTx/>
                    <a:uFillTx/>
                    <a:latin typeface="Calibri"/>
                    <a:ea typeface="+mn-ea"/>
                    <a:cs typeface="+mn-cs"/>
                  </a:rPr>
                  <a:t> here as the columns have the same name</a:t>
                </a:r>
              </a:p>
            </p:txBody>
          </p:sp>
          <p:cxnSp>
            <p:nvCxnSpPr>
              <p:cNvPr id="30" name="Straight Arrow Connector 29">
                <a:extLst>
                  <a:ext uri="{FF2B5EF4-FFF2-40B4-BE49-F238E27FC236}">
                    <a16:creationId xmlns:a16="http://schemas.microsoft.com/office/drawing/2014/main" id="{1A8A09EA-A2D2-C6B7-F1EA-DFB63622C405}"/>
                  </a:ext>
                </a:extLst>
              </p:cNvPr>
              <p:cNvCxnSpPr>
                <a:stCxn id="29" idx="0"/>
              </p:cNvCxnSpPr>
              <p:nvPr/>
            </p:nvCxnSpPr>
            <p:spPr bwMode="auto">
              <a:xfrm flipH="1" flipV="1">
                <a:off x="6253940" y="6491019"/>
                <a:ext cx="507984" cy="1117058"/>
              </a:xfrm>
              <a:prstGeom prst="straightConnector1">
                <a:avLst/>
              </a:prstGeom>
              <a:ln>
                <a:headEnd type="none" w="med" len="med"/>
                <a:tailEnd type="triangle"/>
              </a:ln>
            </p:spPr>
            <p:style>
              <a:lnRef idx="1">
                <a:schemeClr val="accent4"/>
              </a:lnRef>
              <a:fillRef idx="2">
                <a:schemeClr val="accent4"/>
              </a:fillRef>
              <a:effectRef idx="1">
                <a:schemeClr val="accent4"/>
              </a:effectRef>
              <a:fontRef idx="minor">
                <a:schemeClr val="dk1"/>
              </a:fontRef>
            </p:style>
          </p:cxnSp>
        </p:grpSp>
        <p:cxnSp>
          <p:nvCxnSpPr>
            <p:cNvPr id="27" name="Straight Arrow Connector 26">
              <a:extLst>
                <a:ext uri="{FF2B5EF4-FFF2-40B4-BE49-F238E27FC236}">
                  <a16:creationId xmlns:a16="http://schemas.microsoft.com/office/drawing/2014/main" id="{88BCA788-8E1F-AEEC-66C3-79F9F753C899}"/>
                </a:ext>
              </a:extLst>
            </p:cNvPr>
            <p:cNvCxnSpPr>
              <a:stCxn id="29" idx="0"/>
            </p:cNvCxnSpPr>
            <p:nvPr/>
          </p:nvCxnSpPr>
          <p:spPr bwMode="auto">
            <a:xfrm flipH="1" flipV="1">
              <a:off x="3923928" y="3284984"/>
              <a:ext cx="3603509" cy="1117058"/>
            </a:xfrm>
            <a:prstGeom prst="straightConnector1">
              <a:avLst/>
            </a:prstGeom>
            <a:ln>
              <a:headEnd type="none" w="med" len="med"/>
              <a:tailEnd type="triangle"/>
            </a:ln>
          </p:spPr>
          <p:style>
            <a:lnRef idx="1">
              <a:schemeClr val="accent4"/>
            </a:lnRef>
            <a:fillRef idx="2">
              <a:schemeClr val="accent4"/>
            </a:fillRef>
            <a:effectRef idx="1">
              <a:schemeClr val="accent4"/>
            </a:effectRef>
            <a:fontRef idx="minor">
              <a:schemeClr val="dk1"/>
            </a:fontRef>
          </p:style>
        </p:cxnSp>
      </p:gr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wipe(left)">
                                      <p:cBhvr>
                                        <p:cTn id="7" dur="500"/>
                                        <p:tgtEl>
                                          <p:spTgt spid="21">
                                            <p:txEl>
                                              <p:pRg st="0" end="0"/>
                                            </p:txEl>
                                          </p:spTgt>
                                        </p:tgtEl>
                                      </p:cBhvr>
                                    </p:animEffect>
                                  </p:childTnLst>
                                </p:cTn>
                              </p:par>
                            </p:childTnLst>
                          </p:cTn>
                        </p:par>
                        <p:par>
                          <p:cTn id="8" fill="hold" nodeType="afterGroup">
                            <p:stCondLst>
                              <p:cond delay="500"/>
                            </p:stCondLst>
                            <p:childTnLst>
                              <p:par>
                                <p:cTn id="9" presetID="16" presetClass="entr" presetSubtype="21" fill="hold" grpId="0"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barn(inVertical)">
                                      <p:cBhvr>
                                        <p:cTn id="11" dur="500"/>
                                        <p:tgtEl>
                                          <p:spTgt spid="24"/>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28"/>
                                        </p:tgtEl>
                                        <p:attrNameLst>
                                          <p:attrName>style.visibility</p:attrName>
                                        </p:attrNameLst>
                                      </p:cBhvr>
                                      <p:to>
                                        <p:strVal val="visible"/>
                                      </p:to>
                                    </p:set>
                                    <p:animEffect transition="in" filter="wipe(up)">
                                      <p:cBhvr>
                                        <p:cTn id="16" dur="500"/>
                                        <p:tgtEl>
                                          <p:spTgt spid="28"/>
                                        </p:tgtEl>
                                      </p:cBhvr>
                                    </p:animEffect>
                                  </p:childTnLst>
                                </p:cTn>
                              </p:par>
                            </p:childTnLst>
                          </p:cTn>
                        </p:par>
                        <p:par>
                          <p:cTn id="17" fill="hold" nodeType="afterGroup">
                            <p:stCondLst>
                              <p:cond delay="500"/>
                            </p:stCondLst>
                            <p:childTnLst>
                              <p:par>
                                <p:cTn id="18" presetID="22" presetClass="entr" presetSubtype="8" fill="hold" nodeType="afterEffect">
                                  <p:stCondLst>
                                    <p:cond delay="0"/>
                                  </p:stCondLst>
                                  <p:childTnLst>
                                    <p:set>
                                      <p:cBhvr>
                                        <p:cTn id="19" dur="1" fill="hold">
                                          <p:stCondLst>
                                            <p:cond delay="0"/>
                                          </p:stCondLst>
                                        </p:cTn>
                                        <p:tgtEl>
                                          <p:spTgt spid="28">
                                            <p:txEl>
                                              <p:pRg st="0" end="0"/>
                                            </p:txEl>
                                          </p:spTgt>
                                        </p:tgtEl>
                                        <p:attrNameLst>
                                          <p:attrName>style.visibility</p:attrName>
                                        </p:attrNameLst>
                                      </p:cBhvr>
                                      <p:to>
                                        <p:strVal val="visible"/>
                                      </p:to>
                                    </p:set>
                                    <p:animEffect transition="in" filter="wipe(left)">
                                      <p:cBhvr>
                                        <p:cTn id="20" dur="500"/>
                                        <p:tgtEl>
                                          <p:spTgt spid="28">
                                            <p:txEl>
                                              <p:pRg st="0" end="0"/>
                                            </p:txEl>
                                          </p:spTgt>
                                        </p:tgtEl>
                                      </p:cBhvr>
                                    </p:animEffect>
                                  </p:childTnLst>
                                </p:cTn>
                              </p:par>
                            </p:childTnLst>
                          </p:cTn>
                        </p:par>
                        <p:par>
                          <p:cTn id="21" fill="hold" nodeType="afterGroup">
                            <p:stCondLst>
                              <p:cond delay="1000"/>
                            </p:stCondLst>
                            <p:childTnLst>
                              <p:par>
                                <p:cTn id="22" presetID="22" presetClass="entr" presetSubtype="1" fill="hold" nodeType="afterEffect">
                                  <p:stCondLst>
                                    <p:cond delay="0"/>
                                  </p:stCondLst>
                                  <p:childTnLst>
                                    <p:set>
                                      <p:cBhvr>
                                        <p:cTn id="23" dur="1" fill="hold">
                                          <p:stCondLst>
                                            <p:cond delay="0"/>
                                          </p:stCondLst>
                                        </p:cTn>
                                        <p:tgtEl>
                                          <p:spTgt spid="32"/>
                                        </p:tgtEl>
                                        <p:attrNameLst>
                                          <p:attrName>style.visibility</p:attrName>
                                        </p:attrNameLst>
                                      </p:cBhvr>
                                      <p:to>
                                        <p:strVal val="visible"/>
                                      </p:to>
                                    </p:set>
                                    <p:animEffect transition="in" filter="wipe(up)">
                                      <p:cBhvr>
                                        <p:cTn id="24" dur="500"/>
                                        <p:tgtEl>
                                          <p:spTgt spid="32"/>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2" fill="hold" nodeType="clickEffect">
                                  <p:stCondLst>
                                    <p:cond delay="0"/>
                                  </p:stCondLst>
                                  <p:childTnLst>
                                    <p:set>
                                      <p:cBhvr>
                                        <p:cTn id="28" dur="1" fill="hold">
                                          <p:stCondLst>
                                            <p:cond delay="0"/>
                                          </p:stCondLst>
                                        </p:cTn>
                                        <p:tgtEl>
                                          <p:spTgt spid="3"/>
                                        </p:tgtEl>
                                        <p:attrNameLst>
                                          <p:attrName>style.visibility</p:attrName>
                                        </p:attrNameLst>
                                      </p:cBhvr>
                                      <p:to>
                                        <p:strVal val="visible"/>
                                      </p:to>
                                    </p:set>
                                    <p:anim calcmode="lin" valueType="num">
                                      <p:cBhvr additive="base">
                                        <p:cTn id="29" dur="500" fill="hold"/>
                                        <p:tgtEl>
                                          <p:spTgt spid="3"/>
                                        </p:tgtEl>
                                        <p:attrNameLst>
                                          <p:attrName>ppt_x</p:attrName>
                                        </p:attrNameLst>
                                      </p:cBhvr>
                                      <p:tavLst>
                                        <p:tav tm="0">
                                          <p:val>
                                            <p:strVal val="1+#ppt_w/2"/>
                                          </p:val>
                                        </p:tav>
                                        <p:tav tm="100000">
                                          <p:val>
                                            <p:strVal val="#ppt_x"/>
                                          </p:val>
                                        </p:tav>
                                      </p:tavLst>
                                    </p:anim>
                                    <p:anim calcmode="lin" valueType="num">
                                      <p:cBhvr additive="base">
                                        <p:cTn id="30"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8" grpId="0" animBg="1"/>
    </p:bldLst>
  </p:timing>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47073D-94CA-F3F9-4A34-C6987B18D5EA}"/>
              </a:ext>
            </a:extLst>
          </p:cNvPr>
          <p:cNvSpPr>
            <a:spLocks noGrp="1"/>
          </p:cNvSpPr>
          <p:nvPr>
            <p:ph type="title"/>
          </p:nvPr>
        </p:nvSpPr>
        <p:spPr>
          <a:xfrm>
            <a:off x="457200" y="0"/>
            <a:ext cx="7620000" cy="1143000"/>
          </a:xfrm>
        </p:spPr>
        <p:txBody>
          <a:bodyPr/>
          <a:lstStyle/>
          <a:p>
            <a:pPr algn="ctr">
              <a:defRPr/>
            </a:pPr>
            <a:r>
              <a:rPr lang="en-US" dirty="0"/>
              <a:t>JOIN</a:t>
            </a:r>
            <a:endParaRPr lang="en-MY" dirty="0"/>
          </a:p>
        </p:txBody>
      </p:sp>
      <p:sp>
        <p:nvSpPr>
          <p:cNvPr id="9" name="Snip Single Corner Rectangle 8">
            <a:extLst>
              <a:ext uri="{FF2B5EF4-FFF2-40B4-BE49-F238E27FC236}">
                <a16:creationId xmlns:a16="http://schemas.microsoft.com/office/drawing/2014/main" id="{A8519569-B947-B1A1-2D60-C9A347DA57B2}"/>
              </a:ext>
            </a:extLst>
          </p:cNvPr>
          <p:cNvSpPr/>
          <p:nvPr/>
        </p:nvSpPr>
        <p:spPr>
          <a:xfrm>
            <a:off x="-36513" y="1125538"/>
            <a:ext cx="1512888" cy="400050"/>
          </a:xfrm>
          <a:prstGeom prst="snip1Rect">
            <a:avLst/>
          </a:prstGeom>
          <a:ln/>
        </p:spPr>
        <p:style>
          <a:lnRef idx="1">
            <a:schemeClr val="accent3"/>
          </a:lnRef>
          <a:fillRef idx="3">
            <a:schemeClr val="accent3"/>
          </a:fillRef>
          <a:effectRef idx="2">
            <a:schemeClr val="accent3"/>
          </a:effectRef>
          <a:fontRef idx="minor">
            <a:schemeClr val="lt1"/>
          </a:fontRef>
        </p:style>
        <p:txBody>
          <a:bodyPr anchor="ctr">
            <a:spAutoFit/>
          </a:bodyPr>
          <a:lstStyle/>
          <a:p>
            <a:pPr marL="342900" marR="0" lvl="0" indent="-342900" algn="just" defTabSz="914400" rtl="0" eaLnBrk="1" fontAlgn="base" latinLnBrk="0" hangingPunct="1">
              <a:lnSpc>
                <a:spcPct val="100000"/>
              </a:lnSpc>
              <a:spcBef>
                <a:spcPct val="20000"/>
              </a:spcBef>
              <a:spcAft>
                <a:spcPct val="0"/>
              </a:spcAft>
              <a:buClr>
                <a:srgbClr val="FF6600"/>
              </a:buClr>
              <a:buSzPct val="100000"/>
              <a:buFontTx/>
              <a:buNone/>
              <a:tabLst/>
              <a:defRPr/>
            </a:pPr>
            <a:r>
              <a:rPr kumimoji="0" lang="en-US" sz="1800" b="0" i="0" u="none" strike="noStrike" kern="1200" cap="none" spc="0" normalizeH="0" baseline="0" noProof="0" dirty="0">
                <a:ln>
                  <a:noFill/>
                </a:ln>
                <a:solidFill>
                  <a:srgbClr val="FFFFFF"/>
                </a:solidFill>
                <a:effectLst/>
                <a:uLnTx/>
                <a:uFillTx/>
                <a:latin typeface="Arial" pitchFamily="34" charset="0"/>
                <a:ea typeface="Times New Roman" pitchFamily="18" charset="0"/>
                <a:cs typeface="Arial" pitchFamily="34" charset="0"/>
              </a:rPr>
              <a:t>INNER JOIN</a:t>
            </a:r>
            <a:endParaRPr kumimoji="0" lang="en-GB" sz="1800" b="0" i="0" u="none" strike="noStrike" kern="0" cap="none" spc="0" normalizeH="0" baseline="0" noProof="0" dirty="0">
              <a:ln>
                <a:noFill/>
              </a:ln>
              <a:solidFill>
                <a:srgbClr val="2F2B20"/>
              </a:solidFill>
              <a:effectLst/>
              <a:uLnTx/>
              <a:uFillTx/>
              <a:latin typeface="Calibri"/>
              <a:ea typeface="+mn-ea"/>
              <a:cs typeface="+mn-cs"/>
            </a:endParaRPr>
          </a:p>
        </p:txBody>
      </p:sp>
      <p:sp>
        <p:nvSpPr>
          <p:cNvPr id="12" name="Content Placeholder 2">
            <a:extLst>
              <a:ext uri="{FF2B5EF4-FFF2-40B4-BE49-F238E27FC236}">
                <a16:creationId xmlns:a16="http://schemas.microsoft.com/office/drawing/2014/main" id="{AE5040CD-19F2-97D4-E22B-E438A80B369E}"/>
              </a:ext>
            </a:extLst>
          </p:cNvPr>
          <p:cNvSpPr txBox="1">
            <a:spLocks/>
          </p:cNvSpPr>
          <p:nvPr/>
        </p:nvSpPr>
        <p:spPr bwMode="auto">
          <a:xfrm>
            <a:off x="250825" y="1773238"/>
            <a:ext cx="7978775" cy="1350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Inner join is the most common type of JOIN. With inner join, the result will only combine the rows of the tables if the </a:t>
            </a:r>
            <a:r>
              <a:rPr kumimoji="0" lang="en-CA" altLang="en-US" sz="2800" b="1" i="0" u="none" strike="noStrike" kern="1200" cap="none" spc="0" normalizeH="0" baseline="0" noProof="0">
                <a:ln>
                  <a:noFill/>
                </a:ln>
                <a:solidFill>
                  <a:srgbClr val="FF0000"/>
                </a:solidFill>
                <a:effectLst/>
                <a:uLnTx/>
                <a:uFillTx/>
                <a:latin typeface="Calibri" panose="020F0502020204030204" pitchFamily="34" charset="0"/>
                <a:ea typeface="+mn-ea"/>
                <a:cs typeface="Arial" panose="020B0604020202020204" pitchFamily="34" charset="0"/>
              </a:rPr>
              <a:t>join conditions</a:t>
            </a:r>
            <a:r>
              <a:rPr kumimoji="0" lang="en-CA" altLang="en-US" sz="2800" b="0" i="0" u="none" strike="noStrike" kern="1200" cap="none" spc="0" normalizeH="0" baseline="0" noProof="0">
                <a:ln>
                  <a:noFill/>
                </a:ln>
                <a:solidFill>
                  <a:srgbClr val="FF0000"/>
                </a:solidFill>
                <a:effectLst/>
                <a:uLnTx/>
                <a:uFillTx/>
                <a:latin typeface="Calibri" panose="020F0502020204030204" pitchFamily="34" charset="0"/>
                <a:ea typeface="+mn-ea"/>
                <a:cs typeface="Arial" panose="020B0604020202020204" pitchFamily="34" charset="0"/>
              </a:rPr>
              <a:t> </a:t>
            </a:r>
            <a:r>
              <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are satisfied</a:t>
            </a: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SQL Syntax:</a:t>
            </a: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sp>
        <p:nvSpPr>
          <p:cNvPr id="20" name="Rounded Rectangle 19">
            <a:extLst>
              <a:ext uri="{FF2B5EF4-FFF2-40B4-BE49-F238E27FC236}">
                <a16:creationId xmlns:a16="http://schemas.microsoft.com/office/drawing/2014/main" id="{8F5C739C-4C38-07DC-A783-78D4C117321B}"/>
              </a:ext>
            </a:extLst>
          </p:cNvPr>
          <p:cNvSpPr>
            <a:spLocks noChangeArrowheads="1"/>
          </p:cNvSpPr>
          <p:nvPr/>
        </p:nvSpPr>
        <p:spPr bwMode="auto">
          <a:xfrm>
            <a:off x="647700" y="4221163"/>
            <a:ext cx="7200900" cy="1511300"/>
          </a:xfrm>
          <a:prstGeom prst="roundRect">
            <a:avLst>
              <a:gd name="adj" fmla="val 16667"/>
            </a:avLst>
          </a:prstGeom>
          <a:solidFill>
            <a:srgbClr val="7F7B00">
              <a:alpha val="30196"/>
            </a:srgbClr>
          </a:solidFill>
          <a:ln w="9525" algn="ctr">
            <a:solidFill>
              <a:srgbClr val="7F7B00"/>
            </a:solidFill>
            <a:round/>
            <a:headEnd/>
            <a:tailEnd/>
          </a:ln>
        </p:spPr>
        <p:txBody>
          <a:bodyPr anchor="ctr" anchorCtr="1"/>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2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SELECT &lt;column_name&gt;, &lt;column_name&gt;… FROM &lt;table_name1&gt;, &lt;table_name2&gt; WHERE &lt;conditions&gt;;</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animEffect transition="in" filter="wipe(up)">
                                      <p:cBhvr>
                                        <p:cTn id="11" dur="500"/>
                                        <p:tgtEl>
                                          <p:spTgt spid="12">
                                            <p:txEl>
                                              <p:pRg st="0" end="0"/>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12">
                                            <p:txEl>
                                              <p:pRg st="2" end="2"/>
                                            </p:txEl>
                                          </p:spTgt>
                                        </p:tgtEl>
                                        <p:attrNameLst>
                                          <p:attrName>style.visibility</p:attrName>
                                        </p:attrNameLst>
                                      </p:cBhvr>
                                      <p:to>
                                        <p:strVal val="visible"/>
                                      </p:to>
                                    </p:set>
                                    <p:animEffect transition="in" filter="wipe(up)">
                                      <p:cBhvr>
                                        <p:cTn id="16" dur="500"/>
                                        <p:tgtEl>
                                          <p:spTgt spid="12">
                                            <p:txEl>
                                              <p:pRg st="2" end="2"/>
                                            </p:txEl>
                                          </p:spTgt>
                                        </p:tgtEl>
                                      </p:cBhvr>
                                    </p:animEffect>
                                  </p:childTnLst>
                                </p:cTn>
                              </p:par>
                            </p:childTnLst>
                          </p:cTn>
                        </p:par>
                        <p:par>
                          <p:cTn id="17" fill="hold" nodeType="afterGroup">
                            <p:stCondLst>
                              <p:cond delay="500"/>
                            </p:stCondLst>
                            <p:childTnLst>
                              <p:par>
                                <p:cTn id="18" presetID="16" presetClass="entr" presetSubtype="21" fill="hold" grpId="0" nodeType="afterEffect">
                                  <p:stCondLst>
                                    <p:cond delay="0"/>
                                  </p:stCondLst>
                                  <p:childTnLst>
                                    <p:set>
                                      <p:cBhvr>
                                        <p:cTn id="19" dur="1" fill="hold">
                                          <p:stCondLst>
                                            <p:cond delay="0"/>
                                          </p:stCondLst>
                                        </p:cTn>
                                        <p:tgtEl>
                                          <p:spTgt spid="20"/>
                                        </p:tgtEl>
                                        <p:attrNameLst>
                                          <p:attrName>style.visibility</p:attrName>
                                        </p:attrNameLst>
                                      </p:cBhvr>
                                      <p:to>
                                        <p:strVal val="visible"/>
                                      </p:to>
                                    </p:set>
                                    <p:animEffect transition="in" filter="barn(inVertical)">
                                      <p:cBhvr>
                                        <p:cTn id="20"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20" grpId="0" animBg="1"/>
    </p:bldLst>
  </p:timing>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DA5D55-5573-48AC-900F-187B3ED5E1A7}"/>
              </a:ext>
            </a:extLst>
          </p:cNvPr>
          <p:cNvSpPr>
            <a:spLocks noGrp="1"/>
          </p:cNvSpPr>
          <p:nvPr>
            <p:ph type="title"/>
          </p:nvPr>
        </p:nvSpPr>
        <p:spPr>
          <a:xfrm>
            <a:off x="457200" y="0"/>
            <a:ext cx="7620000" cy="1143000"/>
          </a:xfrm>
        </p:spPr>
        <p:txBody>
          <a:bodyPr/>
          <a:lstStyle/>
          <a:p>
            <a:pPr algn="ctr">
              <a:defRPr/>
            </a:pPr>
            <a:r>
              <a:rPr lang="en-US" dirty="0"/>
              <a:t>JOIN</a:t>
            </a:r>
            <a:endParaRPr lang="en-MY" dirty="0"/>
          </a:p>
        </p:txBody>
      </p:sp>
      <p:sp>
        <p:nvSpPr>
          <p:cNvPr id="9" name="Snip Single Corner Rectangle 8">
            <a:extLst>
              <a:ext uri="{FF2B5EF4-FFF2-40B4-BE49-F238E27FC236}">
                <a16:creationId xmlns:a16="http://schemas.microsoft.com/office/drawing/2014/main" id="{E6B44A34-263F-8174-F851-87C45B8C1EC5}"/>
              </a:ext>
            </a:extLst>
          </p:cNvPr>
          <p:cNvSpPr/>
          <p:nvPr/>
        </p:nvSpPr>
        <p:spPr>
          <a:xfrm>
            <a:off x="-36513" y="1125538"/>
            <a:ext cx="1512888" cy="400050"/>
          </a:xfrm>
          <a:prstGeom prst="snip1Rect">
            <a:avLst/>
          </a:prstGeom>
          <a:ln/>
        </p:spPr>
        <p:style>
          <a:lnRef idx="1">
            <a:schemeClr val="accent3"/>
          </a:lnRef>
          <a:fillRef idx="3">
            <a:schemeClr val="accent3"/>
          </a:fillRef>
          <a:effectRef idx="2">
            <a:schemeClr val="accent3"/>
          </a:effectRef>
          <a:fontRef idx="minor">
            <a:schemeClr val="lt1"/>
          </a:fontRef>
        </p:style>
        <p:txBody>
          <a:bodyPr anchor="ctr">
            <a:spAutoFit/>
          </a:bodyPr>
          <a:lstStyle/>
          <a:p>
            <a:pPr marL="342900" marR="0" lvl="0" indent="-342900" algn="just" defTabSz="914400" rtl="0" eaLnBrk="1" fontAlgn="base" latinLnBrk="0" hangingPunct="1">
              <a:lnSpc>
                <a:spcPct val="100000"/>
              </a:lnSpc>
              <a:spcBef>
                <a:spcPct val="20000"/>
              </a:spcBef>
              <a:spcAft>
                <a:spcPct val="0"/>
              </a:spcAft>
              <a:buClr>
                <a:srgbClr val="FF6600"/>
              </a:buClr>
              <a:buSzPct val="100000"/>
              <a:buFontTx/>
              <a:buNone/>
              <a:tabLst/>
              <a:defRPr/>
            </a:pPr>
            <a:r>
              <a:rPr kumimoji="0" lang="en-US" sz="1800" b="0" i="0" u="none" strike="noStrike" kern="1200" cap="none" spc="0" normalizeH="0" baseline="0" noProof="0" dirty="0">
                <a:ln>
                  <a:noFill/>
                </a:ln>
                <a:solidFill>
                  <a:srgbClr val="FFFFFF"/>
                </a:solidFill>
                <a:effectLst/>
                <a:uLnTx/>
                <a:uFillTx/>
                <a:latin typeface="Arial" pitchFamily="34" charset="0"/>
                <a:ea typeface="Times New Roman" pitchFamily="18" charset="0"/>
                <a:cs typeface="Arial" pitchFamily="34" charset="0"/>
              </a:rPr>
              <a:t>INNER JOIN</a:t>
            </a:r>
            <a:endParaRPr kumimoji="0" lang="en-GB" sz="1800" b="0" i="0" u="none" strike="noStrike" kern="0" cap="none" spc="0" normalizeH="0" baseline="0" noProof="0" dirty="0">
              <a:ln>
                <a:noFill/>
              </a:ln>
              <a:solidFill>
                <a:srgbClr val="2F2B20"/>
              </a:solidFill>
              <a:effectLst/>
              <a:uLnTx/>
              <a:uFillTx/>
              <a:latin typeface="Calibri"/>
              <a:ea typeface="+mn-ea"/>
              <a:cs typeface="+mn-cs"/>
            </a:endParaRPr>
          </a:p>
        </p:txBody>
      </p:sp>
      <p:sp>
        <p:nvSpPr>
          <p:cNvPr id="12" name="Content Placeholder 2">
            <a:extLst>
              <a:ext uri="{FF2B5EF4-FFF2-40B4-BE49-F238E27FC236}">
                <a16:creationId xmlns:a16="http://schemas.microsoft.com/office/drawing/2014/main" id="{59E97491-DEED-4DBE-294D-D6D9163AF1DB}"/>
              </a:ext>
            </a:extLst>
          </p:cNvPr>
          <p:cNvSpPr txBox="1">
            <a:spLocks/>
          </p:cNvSpPr>
          <p:nvPr/>
        </p:nvSpPr>
        <p:spPr bwMode="auto">
          <a:xfrm>
            <a:off x="250825" y="1773238"/>
            <a:ext cx="8655050"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For example</a:t>
            </a: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sp>
        <p:nvSpPr>
          <p:cNvPr id="26" name="Rounded Rectangle 25">
            <a:extLst>
              <a:ext uri="{FF2B5EF4-FFF2-40B4-BE49-F238E27FC236}">
                <a16:creationId xmlns:a16="http://schemas.microsoft.com/office/drawing/2014/main" id="{FC388D9A-EDCC-F84F-B46C-9B3B3FA71D84}"/>
              </a:ext>
            </a:extLst>
          </p:cNvPr>
          <p:cNvSpPr/>
          <p:nvPr/>
        </p:nvSpPr>
        <p:spPr bwMode="auto">
          <a:xfrm>
            <a:off x="1282700" y="3860800"/>
            <a:ext cx="7023100" cy="1512888"/>
          </a:xfrm>
          <a:prstGeom prst="roundRect">
            <a:avLst/>
          </a:prstGeom>
          <a:solidFill>
            <a:schemeClr val="accent6">
              <a:alpha val="30000"/>
            </a:schemeClr>
          </a:solidFill>
          <a:ln w="9525" cap="flat" cmpd="sng" algn="ctr">
            <a:solidFill>
              <a:schemeClr val="accent6"/>
            </a:solidFill>
            <a:prstDash val="solid"/>
            <a:round/>
            <a:headEnd type="none" w="med" len="med"/>
            <a:tailEnd type="none" w="med" len="med"/>
          </a:ln>
          <a:effectLst/>
        </p:spPr>
        <p:txBody>
          <a:bodyPr anchor="ctr" anchorCtr="1"/>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2800" b="0" i="0" u="none" strike="noStrike" kern="1200" cap="none" spc="0" normalizeH="0" baseline="0" noProof="0" dirty="0">
                <a:ln>
                  <a:noFill/>
                </a:ln>
                <a:solidFill>
                  <a:srgbClr val="2F2B20"/>
                </a:solidFill>
                <a:effectLst/>
                <a:uLnTx/>
                <a:uFillTx/>
                <a:latin typeface="Arial" charset="0"/>
                <a:ea typeface="+mn-ea"/>
                <a:cs typeface="Arial" panose="020B0604020202020204" pitchFamily="34" charset="0"/>
              </a:rPr>
              <a:t>SELECT * FROM Employee, Department WHERE </a:t>
            </a:r>
            <a:r>
              <a:rPr kumimoji="0" lang="en-CA" sz="2800" b="0" i="0" u="none" strike="noStrike" kern="1200" cap="none" spc="0" normalizeH="0" baseline="0" noProof="0" dirty="0" err="1">
                <a:ln>
                  <a:noFill/>
                </a:ln>
                <a:solidFill>
                  <a:srgbClr val="2F2B20"/>
                </a:solidFill>
                <a:effectLst/>
                <a:uLnTx/>
                <a:uFillTx/>
                <a:latin typeface="Arial" charset="0"/>
                <a:ea typeface="+mn-ea"/>
                <a:cs typeface="Arial" panose="020B0604020202020204" pitchFamily="34" charset="0"/>
              </a:rPr>
              <a:t>Employee.DepartmentId</a:t>
            </a:r>
            <a:r>
              <a:rPr kumimoji="0" lang="en-CA" sz="2800" b="0" i="0" u="none" strike="noStrike" kern="1200" cap="none" spc="0" normalizeH="0" baseline="0" noProof="0" dirty="0">
                <a:ln>
                  <a:noFill/>
                </a:ln>
                <a:solidFill>
                  <a:srgbClr val="2F2B20"/>
                </a:solidFill>
                <a:effectLst/>
                <a:uLnTx/>
                <a:uFillTx/>
                <a:latin typeface="Arial" charset="0"/>
                <a:ea typeface="+mn-ea"/>
                <a:cs typeface="Arial" panose="020B0604020202020204" pitchFamily="34" charset="0"/>
              </a:rPr>
              <a:t> = </a:t>
            </a:r>
            <a:r>
              <a:rPr kumimoji="0" lang="en-CA" sz="2800" b="0" i="0" u="none" strike="noStrike" kern="1200" cap="none" spc="0" normalizeH="0" baseline="0" noProof="0" dirty="0" err="1">
                <a:ln>
                  <a:noFill/>
                </a:ln>
                <a:solidFill>
                  <a:srgbClr val="2F2B20"/>
                </a:solidFill>
                <a:effectLst/>
                <a:uLnTx/>
                <a:uFillTx/>
                <a:latin typeface="Arial" charset="0"/>
                <a:ea typeface="+mn-ea"/>
                <a:cs typeface="Arial" panose="020B0604020202020204" pitchFamily="34" charset="0"/>
              </a:rPr>
              <a:t>Department.DepartmentId</a:t>
            </a:r>
            <a:r>
              <a:rPr kumimoji="0" lang="en-CA" sz="2800" b="0" i="0" u="none" strike="noStrike" kern="1200" cap="none" spc="0" normalizeH="0" baseline="0" noProof="0" dirty="0">
                <a:ln>
                  <a:noFill/>
                </a:ln>
                <a:solidFill>
                  <a:srgbClr val="2F2B20"/>
                </a:solidFill>
                <a:effectLst/>
                <a:uLnTx/>
                <a:uFillTx/>
                <a:latin typeface="Arial" charset="0"/>
                <a:ea typeface="+mn-ea"/>
                <a:cs typeface="Arial" panose="020B0604020202020204" pitchFamily="34" charset="0"/>
              </a:rPr>
              <a:t>;</a:t>
            </a:r>
          </a:p>
        </p:txBody>
      </p:sp>
      <p:graphicFrame>
        <p:nvGraphicFramePr>
          <p:cNvPr id="27" name="Table 26">
            <a:extLst>
              <a:ext uri="{FF2B5EF4-FFF2-40B4-BE49-F238E27FC236}">
                <a16:creationId xmlns:a16="http://schemas.microsoft.com/office/drawing/2014/main" id="{AAF8AEA4-8065-0D0C-8828-72BA0FBBB31A}"/>
              </a:ext>
            </a:extLst>
          </p:cNvPr>
          <p:cNvGraphicFramePr>
            <a:graphicFrameLocks noGrp="1"/>
          </p:cNvGraphicFramePr>
          <p:nvPr/>
        </p:nvGraphicFramePr>
        <p:xfrm>
          <a:off x="190500" y="2303463"/>
          <a:ext cx="3816350" cy="1112837"/>
        </p:xfrm>
        <a:graphic>
          <a:graphicData uri="http://schemas.openxmlformats.org/drawingml/2006/table">
            <a:tbl>
              <a:tblPr firstRow="1" bandRow="1">
                <a:tableStyleId>{5FD0F851-EC5A-4D38-B0AD-8093EC10F338}</a:tableStyleId>
              </a:tblPr>
              <a:tblGrid>
                <a:gridCol w="1908175">
                  <a:extLst>
                    <a:ext uri="{9D8B030D-6E8A-4147-A177-3AD203B41FA5}">
                      <a16:colId xmlns:a16="http://schemas.microsoft.com/office/drawing/2014/main" val="20000"/>
                    </a:ext>
                  </a:extLst>
                </a:gridCol>
                <a:gridCol w="1908175">
                  <a:extLst>
                    <a:ext uri="{9D8B030D-6E8A-4147-A177-3AD203B41FA5}">
                      <a16:colId xmlns:a16="http://schemas.microsoft.com/office/drawing/2014/main" val="20001"/>
                    </a:ext>
                  </a:extLst>
                </a:gridCol>
              </a:tblGrid>
              <a:tr h="370946">
                <a:tc>
                  <a:txBody>
                    <a:bodyPr/>
                    <a:lstStyle/>
                    <a:p>
                      <a:pPr algn="ctr"/>
                      <a:r>
                        <a:rPr lang="en-CA" sz="1800" dirty="0"/>
                        <a:t>Name</a:t>
                      </a:r>
                    </a:p>
                  </a:txBody>
                  <a:tcPr marL="91438" marR="91438" marT="45733" marB="45733"/>
                </a:tc>
                <a:tc>
                  <a:txBody>
                    <a:bodyPr/>
                    <a:lstStyle/>
                    <a:p>
                      <a:pPr algn="ctr"/>
                      <a:r>
                        <a:rPr lang="en-CA" sz="1800" dirty="0" err="1"/>
                        <a:t>DepartmentId</a:t>
                      </a:r>
                      <a:endParaRPr lang="en-CA" sz="1800" dirty="0"/>
                    </a:p>
                  </a:txBody>
                  <a:tcPr marL="91438" marR="91438" marT="45733" marB="45733"/>
                </a:tc>
                <a:extLst>
                  <a:ext uri="{0D108BD9-81ED-4DB2-BD59-A6C34878D82A}">
                    <a16:rowId xmlns:a16="http://schemas.microsoft.com/office/drawing/2014/main" val="10000"/>
                  </a:ext>
                </a:extLst>
              </a:tr>
              <a:tr h="370946">
                <a:tc>
                  <a:txBody>
                    <a:bodyPr/>
                    <a:lstStyle/>
                    <a:p>
                      <a:pPr algn="ctr"/>
                      <a:r>
                        <a:rPr lang="en-CA" sz="1800" dirty="0"/>
                        <a:t>Aamir</a:t>
                      </a:r>
                    </a:p>
                  </a:txBody>
                  <a:tcPr marL="91438" marR="91438" marT="45733" marB="45733"/>
                </a:tc>
                <a:tc>
                  <a:txBody>
                    <a:bodyPr/>
                    <a:lstStyle/>
                    <a:p>
                      <a:pPr algn="ctr"/>
                      <a:r>
                        <a:rPr lang="en-CA" sz="1800" dirty="0"/>
                        <a:t>10</a:t>
                      </a:r>
                    </a:p>
                  </a:txBody>
                  <a:tcPr marL="91438" marR="91438" marT="45733" marB="45733"/>
                </a:tc>
                <a:extLst>
                  <a:ext uri="{0D108BD9-81ED-4DB2-BD59-A6C34878D82A}">
                    <a16:rowId xmlns:a16="http://schemas.microsoft.com/office/drawing/2014/main" val="10001"/>
                  </a:ext>
                </a:extLst>
              </a:tr>
              <a:tr h="370946">
                <a:tc>
                  <a:txBody>
                    <a:bodyPr/>
                    <a:lstStyle/>
                    <a:p>
                      <a:pPr algn="ctr"/>
                      <a:r>
                        <a:rPr lang="en-CA" sz="1800" dirty="0"/>
                        <a:t>Sadaf</a:t>
                      </a:r>
                    </a:p>
                  </a:txBody>
                  <a:tcPr marL="91438" marR="91438" marT="45733" marB="45733"/>
                </a:tc>
                <a:tc>
                  <a:txBody>
                    <a:bodyPr/>
                    <a:lstStyle/>
                    <a:p>
                      <a:pPr algn="ctr"/>
                      <a:r>
                        <a:rPr lang="en-CA" sz="1800" dirty="0"/>
                        <a:t>NULL</a:t>
                      </a:r>
                    </a:p>
                  </a:txBody>
                  <a:tcPr marL="91438" marR="91438" marT="45733" marB="45733"/>
                </a:tc>
                <a:extLst>
                  <a:ext uri="{0D108BD9-81ED-4DB2-BD59-A6C34878D82A}">
                    <a16:rowId xmlns:a16="http://schemas.microsoft.com/office/drawing/2014/main" val="10002"/>
                  </a:ext>
                </a:extLst>
              </a:tr>
            </a:tbl>
          </a:graphicData>
        </a:graphic>
      </p:graphicFrame>
      <p:graphicFrame>
        <p:nvGraphicFramePr>
          <p:cNvPr id="28" name="Table 27">
            <a:extLst>
              <a:ext uri="{FF2B5EF4-FFF2-40B4-BE49-F238E27FC236}">
                <a16:creationId xmlns:a16="http://schemas.microsoft.com/office/drawing/2014/main" id="{BB4D7097-DDF2-E14A-E3CD-BAFC9EEEFA8A}"/>
              </a:ext>
            </a:extLst>
          </p:cNvPr>
          <p:cNvGraphicFramePr>
            <a:graphicFrameLocks noGrp="1"/>
          </p:cNvGraphicFramePr>
          <p:nvPr/>
        </p:nvGraphicFramePr>
        <p:xfrm>
          <a:off x="4725988" y="2303463"/>
          <a:ext cx="3656012" cy="1112837"/>
        </p:xfrm>
        <a:graphic>
          <a:graphicData uri="http://schemas.openxmlformats.org/drawingml/2006/table">
            <a:tbl>
              <a:tblPr firstRow="1" bandRow="1">
                <a:tableStyleId>{C083E6E3-FA7D-4D7B-A595-EF9225AFEA82}</a:tableStyleId>
              </a:tblPr>
              <a:tblGrid>
                <a:gridCol w="1828006">
                  <a:extLst>
                    <a:ext uri="{9D8B030D-6E8A-4147-A177-3AD203B41FA5}">
                      <a16:colId xmlns:a16="http://schemas.microsoft.com/office/drawing/2014/main" val="20000"/>
                    </a:ext>
                  </a:extLst>
                </a:gridCol>
                <a:gridCol w="1828006">
                  <a:extLst>
                    <a:ext uri="{9D8B030D-6E8A-4147-A177-3AD203B41FA5}">
                      <a16:colId xmlns:a16="http://schemas.microsoft.com/office/drawing/2014/main" val="20001"/>
                    </a:ext>
                  </a:extLst>
                </a:gridCol>
              </a:tblGrid>
              <a:tr h="370946">
                <a:tc>
                  <a:txBody>
                    <a:bodyPr/>
                    <a:lstStyle/>
                    <a:p>
                      <a:pPr algn="ctr"/>
                      <a:r>
                        <a:rPr lang="en-CA" sz="1800" dirty="0" err="1"/>
                        <a:t>DepartmentId</a:t>
                      </a:r>
                      <a:endParaRPr lang="en-CA" sz="1800" dirty="0"/>
                    </a:p>
                  </a:txBody>
                  <a:tcPr marL="91449" marR="91449" marT="45733" marB="45733"/>
                </a:tc>
                <a:tc>
                  <a:txBody>
                    <a:bodyPr/>
                    <a:lstStyle/>
                    <a:p>
                      <a:pPr algn="ctr"/>
                      <a:r>
                        <a:rPr lang="en-CA" sz="1800" dirty="0"/>
                        <a:t>Name</a:t>
                      </a:r>
                    </a:p>
                  </a:txBody>
                  <a:tcPr marL="91449" marR="91449" marT="45733" marB="45733"/>
                </a:tc>
                <a:extLst>
                  <a:ext uri="{0D108BD9-81ED-4DB2-BD59-A6C34878D82A}">
                    <a16:rowId xmlns:a16="http://schemas.microsoft.com/office/drawing/2014/main" val="10000"/>
                  </a:ext>
                </a:extLst>
              </a:tr>
              <a:tr h="370946">
                <a:tc>
                  <a:txBody>
                    <a:bodyPr/>
                    <a:lstStyle/>
                    <a:p>
                      <a:pPr algn="ctr"/>
                      <a:r>
                        <a:rPr lang="en-CA" sz="1800" dirty="0"/>
                        <a:t>10</a:t>
                      </a:r>
                    </a:p>
                  </a:txBody>
                  <a:tcPr marL="91449" marR="91449" marT="45733" marB="45733"/>
                </a:tc>
                <a:tc>
                  <a:txBody>
                    <a:bodyPr/>
                    <a:lstStyle/>
                    <a:p>
                      <a:pPr algn="ctr"/>
                      <a:r>
                        <a:rPr lang="en-CA" sz="1800" dirty="0"/>
                        <a:t>IT</a:t>
                      </a:r>
                    </a:p>
                  </a:txBody>
                  <a:tcPr marL="91449" marR="91449" marT="45733" marB="45733"/>
                </a:tc>
                <a:extLst>
                  <a:ext uri="{0D108BD9-81ED-4DB2-BD59-A6C34878D82A}">
                    <a16:rowId xmlns:a16="http://schemas.microsoft.com/office/drawing/2014/main" val="10001"/>
                  </a:ext>
                </a:extLst>
              </a:tr>
              <a:tr h="370946">
                <a:tc>
                  <a:txBody>
                    <a:bodyPr/>
                    <a:lstStyle/>
                    <a:p>
                      <a:pPr algn="ctr"/>
                      <a:r>
                        <a:rPr lang="en-CA" sz="1800" dirty="0"/>
                        <a:t>15</a:t>
                      </a:r>
                    </a:p>
                  </a:txBody>
                  <a:tcPr marL="91449" marR="91449" marT="45733" marB="45733"/>
                </a:tc>
                <a:tc>
                  <a:txBody>
                    <a:bodyPr/>
                    <a:lstStyle/>
                    <a:p>
                      <a:pPr algn="ctr"/>
                      <a:r>
                        <a:rPr lang="en-CA" sz="1800" dirty="0"/>
                        <a:t>Finance</a:t>
                      </a:r>
                    </a:p>
                  </a:txBody>
                  <a:tcPr marL="91449" marR="91449" marT="45733" marB="45733"/>
                </a:tc>
                <a:extLst>
                  <a:ext uri="{0D108BD9-81ED-4DB2-BD59-A6C34878D82A}">
                    <a16:rowId xmlns:a16="http://schemas.microsoft.com/office/drawing/2014/main" val="10002"/>
                  </a:ext>
                </a:extLst>
              </a:tr>
            </a:tbl>
          </a:graphicData>
        </a:graphic>
      </p:graphicFrame>
      <p:sp>
        <p:nvSpPr>
          <p:cNvPr id="29" name="TextBox 28">
            <a:extLst>
              <a:ext uri="{FF2B5EF4-FFF2-40B4-BE49-F238E27FC236}">
                <a16:creationId xmlns:a16="http://schemas.microsoft.com/office/drawing/2014/main" id="{66C76E89-3EE3-00BF-B911-5022C0A592EC}"/>
              </a:ext>
            </a:extLst>
          </p:cNvPr>
          <p:cNvSpPr txBox="1">
            <a:spLocks noChangeArrowheads="1"/>
          </p:cNvSpPr>
          <p:nvPr/>
        </p:nvSpPr>
        <p:spPr bwMode="auto">
          <a:xfrm>
            <a:off x="1090613" y="3419475"/>
            <a:ext cx="20145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Employee table</a:t>
            </a:r>
          </a:p>
        </p:txBody>
      </p:sp>
      <p:sp>
        <p:nvSpPr>
          <p:cNvPr id="30" name="TextBox 29">
            <a:extLst>
              <a:ext uri="{FF2B5EF4-FFF2-40B4-BE49-F238E27FC236}">
                <a16:creationId xmlns:a16="http://schemas.microsoft.com/office/drawing/2014/main" id="{DDB9AD2A-513E-CCCF-49DC-4F9019913CEA}"/>
              </a:ext>
            </a:extLst>
          </p:cNvPr>
          <p:cNvSpPr txBox="1">
            <a:spLocks noChangeArrowheads="1"/>
          </p:cNvSpPr>
          <p:nvPr/>
        </p:nvSpPr>
        <p:spPr bwMode="auto">
          <a:xfrm>
            <a:off x="5626100" y="3419475"/>
            <a:ext cx="20161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Department table</a:t>
            </a:r>
          </a:p>
        </p:txBody>
      </p:sp>
      <p:graphicFrame>
        <p:nvGraphicFramePr>
          <p:cNvPr id="31" name="Table 30">
            <a:extLst>
              <a:ext uri="{FF2B5EF4-FFF2-40B4-BE49-F238E27FC236}">
                <a16:creationId xmlns:a16="http://schemas.microsoft.com/office/drawing/2014/main" id="{85D9FEE8-1FF6-FE59-BE48-05CD1130D6E1}"/>
              </a:ext>
            </a:extLst>
          </p:cNvPr>
          <p:cNvGraphicFramePr>
            <a:graphicFrameLocks noGrp="1"/>
          </p:cNvGraphicFramePr>
          <p:nvPr/>
        </p:nvGraphicFramePr>
        <p:xfrm>
          <a:off x="1414463" y="5576888"/>
          <a:ext cx="6048375" cy="736600"/>
        </p:xfrm>
        <a:graphic>
          <a:graphicData uri="http://schemas.openxmlformats.org/drawingml/2006/table">
            <a:tbl>
              <a:tblPr firstRow="1" bandRow="1">
                <a:tableStyleId>{9D7B26C5-4107-4FEC-AEDC-1716B250A1EF}</a:tableStyleId>
              </a:tblPr>
              <a:tblGrid>
                <a:gridCol w="1224076">
                  <a:extLst>
                    <a:ext uri="{9D8B030D-6E8A-4147-A177-3AD203B41FA5}">
                      <a16:colId xmlns:a16="http://schemas.microsoft.com/office/drawing/2014/main" val="20000"/>
                    </a:ext>
                  </a:extLst>
                </a:gridCol>
                <a:gridCol w="1800112">
                  <a:extLst>
                    <a:ext uri="{9D8B030D-6E8A-4147-A177-3AD203B41FA5}">
                      <a16:colId xmlns:a16="http://schemas.microsoft.com/office/drawing/2014/main" val="20001"/>
                    </a:ext>
                  </a:extLst>
                </a:gridCol>
                <a:gridCol w="1800112">
                  <a:extLst>
                    <a:ext uri="{9D8B030D-6E8A-4147-A177-3AD203B41FA5}">
                      <a16:colId xmlns:a16="http://schemas.microsoft.com/office/drawing/2014/main" val="20002"/>
                    </a:ext>
                  </a:extLst>
                </a:gridCol>
                <a:gridCol w="1224076">
                  <a:extLst>
                    <a:ext uri="{9D8B030D-6E8A-4147-A177-3AD203B41FA5}">
                      <a16:colId xmlns:a16="http://schemas.microsoft.com/office/drawing/2014/main" val="20003"/>
                    </a:ext>
                  </a:extLst>
                </a:gridCol>
              </a:tblGrid>
              <a:tr h="260564">
                <a:tc>
                  <a:txBody>
                    <a:bodyPr/>
                    <a:lstStyle/>
                    <a:p>
                      <a:pPr algn="ctr"/>
                      <a:r>
                        <a:rPr lang="en-CA" dirty="0"/>
                        <a:t>Name</a:t>
                      </a:r>
                    </a:p>
                  </a:txBody>
                  <a:tcPr marL="91436" marR="91436"/>
                </a:tc>
                <a:tc>
                  <a:txBody>
                    <a:bodyPr/>
                    <a:lstStyle/>
                    <a:p>
                      <a:pPr algn="ctr"/>
                      <a:r>
                        <a:rPr lang="en-CA" dirty="0" err="1"/>
                        <a:t>DepartmentId</a:t>
                      </a:r>
                      <a:endParaRPr lang="en-CA" dirty="0"/>
                    </a:p>
                  </a:txBody>
                  <a:tcPr marL="91436" marR="91436"/>
                </a:tc>
                <a:tc>
                  <a:txBody>
                    <a:bodyPr/>
                    <a:lstStyle/>
                    <a:p>
                      <a:pPr algn="ctr"/>
                      <a:r>
                        <a:rPr lang="en-CA" dirty="0" err="1"/>
                        <a:t>DepartmentId</a:t>
                      </a:r>
                      <a:endParaRPr lang="en-CA" dirty="0"/>
                    </a:p>
                  </a:txBody>
                  <a:tcPr marL="91436" marR="91436"/>
                </a:tc>
                <a:tc>
                  <a:txBody>
                    <a:bodyPr/>
                    <a:lstStyle/>
                    <a:p>
                      <a:pPr algn="ctr"/>
                      <a:r>
                        <a:rPr lang="en-CA" dirty="0"/>
                        <a:t>Name</a:t>
                      </a:r>
                    </a:p>
                  </a:txBody>
                  <a:tcPr marL="91436" marR="91436"/>
                </a:tc>
                <a:extLst>
                  <a:ext uri="{0D108BD9-81ED-4DB2-BD59-A6C34878D82A}">
                    <a16:rowId xmlns:a16="http://schemas.microsoft.com/office/drawing/2014/main" val="10000"/>
                  </a:ext>
                </a:extLst>
              </a:tr>
              <a:tr h="370840">
                <a:tc>
                  <a:txBody>
                    <a:bodyPr/>
                    <a:lstStyle/>
                    <a:p>
                      <a:pPr algn="ctr"/>
                      <a:r>
                        <a:rPr lang="en-CA" dirty="0"/>
                        <a:t>Aamir</a:t>
                      </a:r>
                    </a:p>
                  </a:txBody>
                  <a:tcPr marL="91436" marR="91436"/>
                </a:tc>
                <a:tc>
                  <a:txBody>
                    <a:bodyPr/>
                    <a:lstStyle/>
                    <a:p>
                      <a:pPr algn="ctr"/>
                      <a:r>
                        <a:rPr lang="en-CA" dirty="0"/>
                        <a:t>10</a:t>
                      </a:r>
                    </a:p>
                  </a:txBody>
                  <a:tcPr marL="91436" marR="91436"/>
                </a:tc>
                <a:tc>
                  <a:txBody>
                    <a:bodyPr/>
                    <a:lstStyle/>
                    <a:p>
                      <a:pPr algn="ctr"/>
                      <a:r>
                        <a:rPr lang="en-CA" dirty="0"/>
                        <a:t>10</a:t>
                      </a:r>
                    </a:p>
                  </a:txBody>
                  <a:tcPr marL="91436" marR="91436"/>
                </a:tc>
                <a:tc>
                  <a:txBody>
                    <a:bodyPr/>
                    <a:lstStyle/>
                    <a:p>
                      <a:pPr algn="ctr"/>
                      <a:r>
                        <a:rPr lang="en-CA" dirty="0"/>
                        <a:t>IT</a:t>
                      </a:r>
                    </a:p>
                  </a:txBody>
                  <a:tcPr marL="91436" marR="91436"/>
                </a:tc>
                <a:extLst>
                  <a:ext uri="{0D108BD9-81ED-4DB2-BD59-A6C34878D82A}">
                    <a16:rowId xmlns:a16="http://schemas.microsoft.com/office/drawing/2014/main" val="10001"/>
                  </a:ext>
                </a:extLst>
              </a:tr>
            </a:tbl>
          </a:graphicData>
        </a:graphic>
      </p:graphicFrame>
      <p:sp>
        <p:nvSpPr>
          <p:cNvPr id="32" name="Snip Single Corner Rectangle 31">
            <a:extLst>
              <a:ext uri="{FF2B5EF4-FFF2-40B4-BE49-F238E27FC236}">
                <a16:creationId xmlns:a16="http://schemas.microsoft.com/office/drawing/2014/main" id="{94E593C0-A8BA-71FF-98A1-D6EF773B8293}"/>
              </a:ext>
            </a:extLst>
          </p:cNvPr>
          <p:cNvSpPr/>
          <p:nvPr/>
        </p:nvSpPr>
        <p:spPr bwMode="auto">
          <a:xfrm>
            <a:off x="22225" y="5584825"/>
            <a:ext cx="1092200" cy="433388"/>
          </a:xfrm>
          <a:prstGeom prst="snip1Rect">
            <a:avLst/>
          </a:prstGeom>
          <a:solidFill>
            <a:srgbClr val="FFFF00">
              <a:alpha val="30000"/>
            </a:srgbClr>
          </a:solidFill>
          <a:ln w="9525" cap="flat" cmpd="sng" algn="ctr">
            <a:solidFill>
              <a:srgbClr val="FFC000"/>
            </a:solidFill>
            <a:prstDash val="solid"/>
            <a:round/>
            <a:headEnd type="none" w="med" len="med"/>
            <a:tailEnd type="none" w="med" len="me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sz="2000" b="1"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Result:</a:t>
            </a:r>
          </a:p>
        </p:txBody>
      </p:sp>
      <p:sp>
        <p:nvSpPr>
          <p:cNvPr id="33" name="Snip Single Corner Rectangle 32">
            <a:extLst>
              <a:ext uri="{FF2B5EF4-FFF2-40B4-BE49-F238E27FC236}">
                <a16:creationId xmlns:a16="http://schemas.microsoft.com/office/drawing/2014/main" id="{215D7833-3105-6DE6-076B-8B4555A03910}"/>
              </a:ext>
            </a:extLst>
          </p:cNvPr>
          <p:cNvSpPr/>
          <p:nvPr/>
        </p:nvSpPr>
        <p:spPr bwMode="auto">
          <a:xfrm>
            <a:off x="46038" y="3860800"/>
            <a:ext cx="828675" cy="431800"/>
          </a:xfrm>
          <a:prstGeom prst="snip1Rect">
            <a:avLst/>
          </a:prstGeom>
          <a:solidFill>
            <a:srgbClr val="FFFF00">
              <a:alpha val="30000"/>
            </a:srgbClr>
          </a:solidFill>
          <a:ln w="9525" cap="flat" cmpd="sng" algn="ctr">
            <a:solidFill>
              <a:srgbClr val="FFC000"/>
            </a:solidFill>
            <a:prstDash val="solid"/>
            <a:round/>
            <a:headEnd type="none" w="med" len="med"/>
            <a:tailEnd type="none" w="med" len="med"/>
          </a:ln>
          <a:effec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2000" b="1"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Run:</a:t>
            </a:r>
          </a:p>
        </p:txBody>
      </p:sp>
      <p:cxnSp>
        <p:nvCxnSpPr>
          <p:cNvPr id="34" name="Straight Arrow Connector 33">
            <a:extLst>
              <a:ext uri="{FF2B5EF4-FFF2-40B4-BE49-F238E27FC236}">
                <a16:creationId xmlns:a16="http://schemas.microsoft.com/office/drawing/2014/main" id="{F4EBCC6F-3E5C-9F39-D2D3-E237BC304A8D}"/>
              </a:ext>
            </a:extLst>
          </p:cNvPr>
          <p:cNvCxnSpPr>
            <a:cxnSpLocks noChangeShapeType="1"/>
          </p:cNvCxnSpPr>
          <p:nvPr/>
        </p:nvCxnSpPr>
        <p:spPr bwMode="auto">
          <a:xfrm>
            <a:off x="3862388" y="2857500"/>
            <a:ext cx="1023937" cy="0"/>
          </a:xfrm>
          <a:prstGeom prst="straightConnector1">
            <a:avLst/>
          </a:prstGeom>
          <a:noFill/>
          <a:ln w="25400"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5" name="Rectangle 34">
            <a:extLst>
              <a:ext uri="{FF2B5EF4-FFF2-40B4-BE49-F238E27FC236}">
                <a16:creationId xmlns:a16="http://schemas.microsoft.com/office/drawing/2014/main" id="{70150F82-88AC-30D0-01A6-5CC153CAEB30}"/>
              </a:ext>
            </a:extLst>
          </p:cNvPr>
          <p:cNvSpPr/>
          <p:nvPr/>
        </p:nvSpPr>
        <p:spPr bwMode="auto">
          <a:xfrm>
            <a:off x="1414463" y="5949950"/>
            <a:ext cx="288925" cy="360363"/>
          </a:xfrm>
          <a:prstGeom prst="rect">
            <a:avLst/>
          </a:prstGeom>
          <a:solidFill>
            <a:schemeClr val="accent4"/>
          </a:solidFill>
          <a:ln w="9525" cap="flat" cmpd="sng" algn="ctr">
            <a:solidFill>
              <a:schemeClr val="tx1"/>
            </a:solidFill>
            <a:prstDash val="solid"/>
            <a:round/>
            <a:headEnd type="none" w="med" len="med"/>
            <a:tailEnd type="none" w="med" len="me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1800" b="0" i="0" u="none" strike="noStrike" kern="1200" cap="none" spc="0" normalizeH="0" baseline="0" noProof="0" dirty="0">
                <a:ln>
                  <a:noFill/>
                </a:ln>
                <a:solidFill>
                  <a:srgbClr val="FFFFFF"/>
                </a:solidFill>
                <a:effectLst/>
                <a:uLnTx/>
                <a:uFillTx/>
                <a:latin typeface="Arial" charset="0"/>
                <a:ea typeface="+mn-ea"/>
                <a:cs typeface="Arial" panose="020B0604020202020204" pitchFamily="34" charset="0"/>
              </a:rPr>
              <a:t>1</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wipe(up)">
                                      <p:cBhvr>
                                        <p:cTn id="7" dur="500"/>
                                        <p:tgtEl>
                                          <p:spTgt spid="12">
                                            <p:txEl>
                                              <p:pRg st="0" end="0"/>
                                            </p:txEl>
                                          </p:spTgt>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27"/>
                                        </p:tgtEl>
                                        <p:attrNameLst>
                                          <p:attrName>style.visibility</p:attrName>
                                        </p:attrNameLst>
                                      </p:cBhvr>
                                      <p:to>
                                        <p:strVal val="visible"/>
                                      </p:to>
                                    </p:set>
                                    <p:animEffect transition="in" filter="wipe(up)">
                                      <p:cBhvr>
                                        <p:cTn id="11" dur="500"/>
                                        <p:tgtEl>
                                          <p:spTgt spid="27"/>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29"/>
                                        </p:tgtEl>
                                        <p:attrNameLst>
                                          <p:attrName>style.visibility</p:attrName>
                                        </p:attrNameLst>
                                      </p:cBhvr>
                                      <p:to>
                                        <p:strVal val="visible"/>
                                      </p:to>
                                    </p:set>
                                    <p:animEffect transition="in" filter="wipe(left)">
                                      <p:cBhvr>
                                        <p:cTn id="15" dur="500"/>
                                        <p:tgtEl>
                                          <p:spTgt spid="29"/>
                                        </p:tgtEl>
                                      </p:cBhvr>
                                    </p:animEffect>
                                  </p:childTnLst>
                                </p:cTn>
                              </p:par>
                            </p:childTnLst>
                          </p:cTn>
                        </p:par>
                        <p:par>
                          <p:cTn id="16" fill="hold" nodeType="afterGroup">
                            <p:stCondLst>
                              <p:cond delay="1500"/>
                            </p:stCondLst>
                            <p:childTnLst>
                              <p:par>
                                <p:cTn id="17" presetID="22" presetClass="entr" presetSubtype="1" fill="hold" nodeType="after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wipe(up)">
                                      <p:cBhvr>
                                        <p:cTn id="19" dur="500"/>
                                        <p:tgtEl>
                                          <p:spTgt spid="28"/>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0"/>
                                        </p:tgtEl>
                                        <p:attrNameLst>
                                          <p:attrName>style.visibility</p:attrName>
                                        </p:attrNameLst>
                                      </p:cBhvr>
                                      <p:to>
                                        <p:strVal val="visible"/>
                                      </p:to>
                                    </p:set>
                                    <p:animEffect transition="in" filter="wipe(left)">
                                      <p:cBhvr>
                                        <p:cTn id="23" dur="500"/>
                                        <p:tgtEl>
                                          <p:spTgt spid="30"/>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1" fill="hold" grpId="0" nodeType="clickEffect">
                                  <p:stCondLst>
                                    <p:cond delay="0"/>
                                  </p:stCondLst>
                                  <p:childTnLst>
                                    <p:set>
                                      <p:cBhvr>
                                        <p:cTn id="27" dur="1" fill="hold">
                                          <p:stCondLst>
                                            <p:cond delay="0"/>
                                          </p:stCondLst>
                                        </p:cTn>
                                        <p:tgtEl>
                                          <p:spTgt spid="33"/>
                                        </p:tgtEl>
                                        <p:attrNameLst>
                                          <p:attrName>style.visibility</p:attrName>
                                        </p:attrNameLst>
                                      </p:cBhvr>
                                      <p:to>
                                        <p:strVal val="visible"/>
                                      </p:to>
                                    </p:set>
                                    <p:animEffect transition="in" filter="wipe(up)">
                                      <p:cBhvr>
                                        <p:cTn id="28" dur="500"/>
                                        <p:tgtEl>
                                          <p:spTgt spid="33"/>
                                        </p:tgtEl>
                                      </p:cBhvr>
                                    </p:animEffect>
                                  </p:childTnLst>
                                </p:cTn>
                              </p:par>
                            </p:childTnLst>
                          </p:cTn>
                        </p:par>
                        <p:par>
                          <p:cTn id="29" fill="hold" nodeType="afterGroup">
                            <p:stCondLst>
                              <p:cond delay="500"/>
                            </p:stCondLst>
                            <p:childTnLst>
                              <p:par>
                                <p:cTn id="30" presetID="22" presetClass="entr" presetSubtype="8" fill="hold" nodeType="afterEffect">
                                  <p:stCondLst>
                                    <p:cond delay="0"/>
                                  </p:stCondLst>
                                  <p:childTnLst>
                                    <p:set>
                                      <p:cBhvr>
                                        <p:cTn id="31" dur="1" fill="hold">
                                          <p:stCondLst>
                                            <p:cond delay="0"/>
                                          </p:stCondLst>
                                        </p:cTn>
                                        <p:tgtEl>
                                          <p:spTgt spid="33">
                                            <p:txEl>
                                              <p:pRg st="0" end="0"/>
                                            </p:txEl>
                                          </p:spTgt>
                                        </p:tgtEl>
                                        <p:attrNameLst>
                                          <p:attrName>style.visibility</p:attrName>
                                        </p:attrNameLst>
                                      </p:cBhvr>
                                      <p:to>
                                        <p:strVal val="visible"/>
                                      </p:to>
                                    </p:set>
                                    <p:animEffect transition="in" filter="wipe(left)">
                                      <p:cBhvr>
                                        <p:cTn id="32" dur="500"/>
                                        <p:tgtEl>
                                          <p:spTgt spid="33">
                                            <p:txEl>
                                              <p:pRg st="0" end="0"/>
                                            </p:txEl>
                                          </p:spTgt>
                                        </p:tgtEl>
                                      </p:cBhvr>
                                    </p:animEffect>
                                  </p:childTnLst>
                                </p:cTn>
                              </p:par>
                            </p:childTnLst>
                          </p:cTn>
                        </p:par>
                        <p:par>
                          <p:cTn id="33" fill="hold" nodeType="afterGroup">
                            <p:stCondLst>
                              <p:cond delay="1000"/>
                            </p:stCondLst>
                            <p:childTnLst>
                              <p:par>
                                <p:cTn id="34" presetID="16" presetClass="entr" presetSubtype="21" fill="hold" grpId="0" nodeType="afterEffect">
                                  <p:stCondLst>
                                    <p:cond delay="0"/>
                                  </p:stCondLst>
                                  <p:childTnLst>
                                    <p:set>
                                      <p:cBhvr>
                                        <p:cTn id="35" dur="1" fill="hold">
                                          <p:stCondLst>
                                            <p:cond delay="0"/>
                                          </p:stCondLst>
                                        </p:cTn>
                                        <p:tgtEl>
                                          <p:spTgt spid="26"/>
                                        </p:tgtEl>
                                        <p:attrNameLst>
                                          <p:attrName>style.visibility</p:attrName>
                                        </p:attrNameLst>
                                      </p:cBhvr>
                                      <p:to>
                                        <p:strVal val="visible"/>
                                      </p:to>
                                    </p:set>
                                    <p:animEffect transition="in" filter="barn(inVertical)">
                                      <p:cBhvr>
                                        <p:cTn id="36" dur="500"/>
                                        <p:tgtEl>
                                          <p:spTgt spid="26"/>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1" fill="hold" grpId="0" nodeType="clickEffect">
                                  <p:stCondLst>
                                    <p:cond delay="0"/>
                                  </p:stCondLst>
                                  <p:childTnLst>
                                    <p:set>
                                      <p:cBhvr>
                                        <p:cTn id="40" dur="1" fill="hold">
                                          <p:stCondLst>
                                            <p:cond delay="0"/>
                                          </p:stCondLst>
                                        </p:cTn>
                                        <p:tgtEl>
                                          <p:spTgt spid="32"/>
                                        </p:tgtEl>
                                        <p:attrNameLst>
                                          <p:attrName>style.visibility</p:attrName>
                                        </p:attrNameLst>
                                      </p:cBhvr>
                                      <p:to>
                                        <p:strVal val="visible"/>
                                      </p:to>
                                    </p:set>
                                    <p:animEffect transition="in" filter="wipe(up)">
                                      <p:cBhvr>
                                        <p:cTn id="41" dur="500"/>
                                        <p:tgtEl>
                                          <p:spTgt spid="32"/>
                                        </p:tgtEl>
                                      </p:cBhvr>
                                    </p:animEffect>
                                  </p:childTnLst>
                                </p:cTn>
                              </p:par>
                            </p:childTnLst>
                          </p:cTn>
                        </p:par>
                        <p:par>
                          <p:cTn id="42" fill="hold" nodeType="afterGroup">
                            <p:stCondLst>
                              <p:cond delay="500"/>
                            </p:stCondLst>
                            <p:childTnLst>
                              <p:par>
                                <p:cTn id="43" presetID="22" presetClass="entr" presetSubtype="8" fill="hold" nodeType="afterEffect">
                                  <p:stCondLst>
                                    <p:cond delay="0"/>
                                  </p:stCondLst>
                                  <p:childTnLst>
                                    <p:set>
                                      <p:cBhvr>
                                        <p:cTn id="44" dur="1" fill="hold">
                                          <p:stCondLst>
                                            <p:cond delay="0"/>
                                          </p:stCondLst>
                                        </p:cTn>
                                        <p:tgtEl>
                                          <p:spTgt spid="32">
                                            <p:txEl>
                                              <p:pRg st="0" end="0"/>
                                            </p:txEl>
                                          </p:spTgt>
                                        </p:tgtEl>
                                        <p:attrNameLst>
                                          <p:attrName>style.visibility</p:attrName>
                                        </p:attrNameLst>
                                      </p:cBhvr>
                                      <p:to>
                                        <p:strVal val="visible"/>
                                      </p:to>
                                    </p:set>
                                    <p:animEffect transition="in" filter="wipe(left)">
                                      <p:cBhvr>
                                        <p:cTn id="45" dur="500"/>
                                        <p:tgtEl>
                                          <p:spTgt spid="32">
                                            <p:txEl>
                                              <p:pRg st="0" end="0"/>
                                            </p:txEl>
                                          </p:spTgt>
                                        </p:tgtEl>
                                      </p:cBhvr>
                                    </p:animEffect>
                                  </p:childTnLst>
                                </p:cTn>
                              </p:par>
                            </p:childTnLst>
                          </p:cTn>
                        </p:par>
                        <p:par>
                          <p:cTn id="46" fill="hold" nodeType="afterGroup">
                            <p:stCondLst>
                              <p:cond delay="1000"/>
                            </p:stCondLst>
                            <p:childTnLst>
                              <p:par>
                                <p:cTn id="47" presetID="16" presetClass="entr" presetSubtype="21" fill="hold" nodeType="after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barn(inVertical)">
                                      <p:cBhvr>
                                        <p:cTn id="49" dur="500"/>
                                        <p:tgtEl>
                                          <p:spTgt spid="31"/>
                                        </p:tgtEl>
                                      </p:cBhvr>
                                    </p:animEffect>
                                  </p:childTnLst>
                                </p:cTn>
                              </p:par>
                            </p:childTnLst>
                          </p:cTn>
                        </p:par>
                        <p:par>
                          <p:cTn id="50" fill="hold" nodeType="afterGroup">
                            <p:stCondLst>
                              <p:cond delay="1500"/>
                            </p:stCondLst>
                            <p:childTnLst>
                              <p:par>
                                <p:cTn id="51" presetID="42" presetClass="entr" presetSubtype="0" fill="hold" grpId="0" nodeType="afterEffect">
                                  <p:stCondLst>
                                    <p:cond delay="0"/>
                                  </p:stCondLst>
                                  <p:childTnLst>
                                    <p:set>
                                      <p:cBhvr>
                                        <p:cTn id="52" dur="1" fill="hold">
                                          <p:stCondLst>
                                            <p:cond delay="0"/>
                                          </p:stCondLst>
                                        </p:cTn>
                                        <p:tgtEl>
                                          <p:spTgt spid="35"/>
                                        </p:tgtEl>
                                        <p:attrNameLst>
                                          <p:attrName>style.visibility</p:attrName>
                                        </p:attrNameLst>
                                      </p:cBhvr>
                                      <p:to>
                                        <p:strVal val="visible"/>
                                      </p:to>
                                    </p:set>
                                    <p:animEffect transition="in" filter="fade">
                                      <p:cBhvr>
                                        <p:cTn id="53" dur="1000"/>
                                        <p:tgtEl>
                                          <p:spTgt spid="35"/>
                                        </p:tgtEl>
                                      </p:cBhvr>
                                    </p:animEffect>
                                    <p:anim calcmode="lin" valueType="num">
                                      <p:cBhvr>
                                        <p:cTn id="54" dur="1000" fill="hold"/>
                                        <p:tgtEl>
                                          <p:spTgt spid="35"/>
                                        </p:tgtEl>
                                        <p:attrNameLst>
                                          <p:attrName>ppt_x</p:attrName>
                                        </p:attrNameLst>
                                      </p:cBhvr>
                                      <p:tavLst>
                                        <p:tav tm="0">
                                          <p:val>
                                            <p:strVal val="#ppt_x"/>
                                          </p:val>
                                        </p:tav>
                                        <p:tav tm="100000">
                                          <p:val>
                                            <p:strVal val="#ppt_x"/>
                                          </p:val>
                                        </p:tav>
                                      </p:tavLst>
                                    </p:anim>
                                    <p:anim calcmode="lin" valueType="num">
                                      <p:cBhvr>
                                        <p:cTn id="55" dur="1000" fill="hold"/>
                                        <p:tgtEl>
                                          <p:spTgt spid="3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seq concurrent="1" nextAc="seek">
              <p:cTn id="56" restart="whenNotActive" fill="hold" evtFilter="cancelBubble" nodeType="interactiveSeq">
                <p:stCondLst>
                  <p:cond evt="onClick" delay="0">
                    <p:tgtEl>
                      <p:spTgt spid="35"/>
                    </p:tgtEl>
                  </p:cond>
                </p:stCondLst>
                <p:endSync evt="end" delay="0">
                  <p:rtn val="all"/>
                </p:endSync>
                <p:childTnLst>
                  <p:par>
                    <p:cTn id="57" fill="hold" nodeType="clickPar">
                      <p:stCondLst>
                        <p:cond delay="0"/>
                      </p:stCondLst>
                      <p:childTnLst>
                        <p:par>
                          <p:cTn id="58" fill="hold" nodeType="withGroup">
                            <p:stCondLst>
                              <p:cond delay="0"/>
                            </p:stCondLst>
                            <p:childTnLst>
                              <p:par>
                                <p:cTn id="59" presetID="22" presetClass="entr" presetSubtype="8" fill="hold" nodeType="clickEffect">
                                  <p:stCondLst>
                                    <p:cond delay="0"/>
                                  </p:stCondLst>
                                  <p:childTnLst>
                                    <p:set>
                                      <p:cBhvr>
                                        <p:cTn id="60" dur="1" fill="hold">
                                          <p:stCondLst>
                                            <p:cond delay="0"/>
                                          </p:stCondLst>
                                        </p:cTn>
                                        <p:tgtEl>
                                          <p:spTgt spid="34"/>
                                        </p:tgtEl>
                                        <p:attrNameLst>
                                          <p:attrName>style.visibility</p:attrName>
                                        </p:attrNameLst>
                                      </p:cBhvr>
                                      <p:to>
                                        <p:strVal val="visible"/>
                                      </p:to>
                                    </p:set>
                                    <p:animEffect transition="in" filter="wipe(left)">
                                      <p:cBhvr>
                                        <p:cTn id="61" dur="500"/>
                                        <p:tgtEl>
                                          <p:spTgt spid="34"/>
                                        </p:tgtEl>
                                      </p:cBhvr>
                                    </p:animEffect>
                                  </p:childTnLst>
                                </p:cTn>
                              </p:par>
                            </p:childTnLst>
                          </p:cTn>
                        </p:par>
                      </p:childTnLst>
                    </p:cTn>
                  </p:par>
                </p:childTnLst>
              </p:cTn>
              <p:nextCondLst>
                <p:cond evt="onClick" delay="0">
                  <p:tgtEl>
                    <p:spTgt spid="35"/>
                  </p:tgtEl>
                </p:cond>
              </p:nextCondLst>
            </p:seq>
          </p:childTnLst>
        </p:cTn>
      </p:par>
    </p:tnLst>
    <p:bldLst>
      <p:bldP spid="26" grpId="0" animBg="1"/>
      <p:bldP spid="29" grpId="0"/>
      <p:bldP spid="30" grpId="0"/>
      <p:bldP spid="32" grpId="0" animBg="1"/>
      <p:bldP spid="33" grpId="0" animBg="1"/>
      <p:bldP spid="35" grpId="0" animBg="1"/>
    </p:bldLst>
  </p:timing>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98C47B-FF28-3923-2903-1C19D64B7632}"/>
              </a:ext>
            </a:extLst>
          </p:cNvPr>
          <p:cNvSpPr>
            <a:spLocks noGrp="1"/>
          </p:cNvSpPr>
          <p:nvPr>
            <p:ph type="title"/>
          </p:nvPr>
        </p:nvSpPr>
        <p:spPr>
          <a:xfrm>
            <a:off x="457200" y="0"/>
            <a:ext cx="7620000" cy="1143000"/>
          </a:xfrm>
        </p:spPr>
        <p:txBody>
          <a:bodyPr/>
          <a:lstStyle/>
          <a:p>
            <a:pPr algn="ctr">
              <a:defRPr/>
            </a:pPr>
            <a:r>
              <a:rPr lang="en-US" dirty="0"/>
              <a:t>JOIN</a:t>
            </a:r>
            <a:endParaRPr lang="en-MY" dirty="0"/>
          </a:p>
        </p:txBody>
      </p:sp>
      <p:sp>
        <p:nvSpPr>
          <p:cNvPr id="9" name="Snip Single Corner Rectangle 8">
            <a:extLst>
              <a:ext uri="{FF2B5EF4-FFF2-40B4-BE49-F238E27FC236}">
                <a16:creationId xmlns:a16="http://schemas.microsoft.com/office/drawing/2014/main" id="{40B315AD-AEFD-CA2E-1DAC-C2789858B7E1}"/>
              </a:ext>
            </a:extLst>
          </p:cNvPr>
          <p:cNvSpPr/>
          <p:nvPr/>
        </p:nvSpPr>
        <p:spPr>
          <a:xfrm>
            <a:off x="-36513" y="1125538"/>
            <a:ext cx="1512888" cy="400050"/>
          </a:xfrm>
          <a:prstGeom prst="snip1Rect">
            <a:avLst/>
          </a:prstGeom>
          <a:ln/>
        </p:spPr>
        <p:style>
          <a:lnRef idx="1">
            <a:schemeClr val="accent3"/>
          </a:lnRef>
          <a:fillRef idx="3">
            <a:schemeClr val="accent3"/>
          </a:fillRef>
          <a:effectRef idx="2">
            <a:schemeClr val="accent3"/>
          </a:effectRef>
          <a:fontRef idx="minor">
            <a:schemeClr val="lt1"/>
          </a:fontRef>
        </p:style>
        <p:txBody>
          <a:bodyPr anchor="ctr">
            <a:spAutoFit/>
          </a:bodyPr>
          <a:lstStyle/>
          <a:p>
            <a:pPr marL="342900" marR="0" lvl="0" indent="-342900" algn="just" defTabSz="914400" rtl="0" eaLnBrk="1" fontAlgn="base" latinLnBrk="0" hangingPunct="1">
              <a:lnSpc>
                <a:spcPct val="100000"/>
              </a:lnSpc>
              <a:spcBef>
                <a:spcPct val="20000"/>
              </a:spcBef>
              <a:spcAft>
                <a:spcPct val="0"/>
              </a:spcAft>
              <a:buClr>
                <a:srgbClr val="FF6600"/>
              </a:buClr>
              <a:buSzPct val="100000"/>
              <a:buFontTx/>
              <a:buNone/>
              <a:tabLst/>
              <a:defRPr/>
            </a:pPr>
            <a:r>
              <a:rPr kumimoji="0" lang="en-US" sz="1800" b="0" i="0" u="none" strike="noStrike" kern="1200" cap="none" spc="0" normalizeH="0" baseline="0" noProof="0" dirty="0">
                <a:ln>
                  <a:noFill/>
                </a:ln>
                <a:solidFill>
                  <a:srgbClr val="FFFFFF"/>
                </a:solidFill>
                <a:effectLst/>
                <a:uLnTx/>
                <a:uFillTx/>
                <a:latin typeface="Arial" pitchFamily="34" charset="0"/>
                <a:ea typeface="Times New Roman" pitchFamily="18" charset="0"/>
                <a:cs typeface="Arial" pitchFamily="34" charset="0"/>
              </a:rPr>
              <a:t>INNER JOIN</a:t>
            </a:r>
            <a:endParaRPr kumimoji="0" lang="en-GB" sz="1800" b="0" i="0" u="none" strike="noStrike" kern="0" cap="none" spc="0" normalizeH="0" baseline="0" noProof="0" dirty="0">
              <a:ln>
                <a:noFill/>
              </a:ln>
              <a:solidFill>
                <a:srgbClr val="2F2B20"/>
              </a:solidFill>
              <a:effectLst/>
              <a:uLnTx/>
              <a:uFillTx/>
              <a:latin typeface="Calibri"/>
              <a:ea typeface="+mn-ea"/>
              <a:cs typeface="+mn-cs"/>
            </a:endParaRPr>
          </a:p>
        </p:txBody>
      </p:sp>
      <p:sp>
        <p:nvSpPr>
          <p:cNvPr id="36" name="Content Placeholder 2">
            <a:extLst>
              <a:ext uri="{FF2B5EF4-FFF2-40B4-BE49-F238E27FC236}">
                <a16:creationId xmlns:a16="http://schemas.microsoft.com/office/drawing/2014/main" id="{25C80834-96DD-2A0C-CAC2-B32B2DCBB172}"/>
              </a:ext>
            </a:extLst>
          </p:cNvPr>
          <p:cNvSpPr txBox="1">
            <a:spLocks/>
          </p:cNvSpPr>
          <p:nvPr/>
        </p:nvSpPr>
        <p:spPr bwMode="auto">
          <a:xfrm>
            <a:off x="250825" y="1773238"/>
            <a:ext cx="8655050"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An alternative SQL syntax </a:t>
            </a: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6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For example</a:t>
            </a:r>
          </a:p>
        </p:txBody>
      </p:sp>
      <p:sp>
        <p:nvSpPr>
          <p:cNvPr id="38" name="Rounded Rectangle 37">
            <a:extLst>
              <a:ext uri="{FF2B5EF4-FFF2-40B4-BE49-F238E27FC236}">
                <a16:creationId xmlns:a16="http://schemas.microsoft.com/office/drawing/2014/main" id="{FF2C5620-151F-D934-A190-22B27456EF78}"/>
              </a:ext>
            </a:extLst>
          </p:cNvPr>
          <p:cNvSpPr>
            <a:spLocks noChangeArrowheads="1"/>
          </p:cNvSpPr>
          <p:nvPr/>
        </p:nvSpPr>
        <p:spPr bwMode="auto">
          <a:xfrm>
            <a:off x="647700" y="2325688"/>
            <a:ext cx="7200900" cy="1366837"/>
          </a:xfrm>
          <a:prstGeom prst="roundRect">
            <a:avLst>
              <a:gd name="adj" fmla="val 16667"/>
            </a:avLst>
          </a:prstGeom>
          <a:solidFill>
            <a:srgbClr val="7F7B00">
              <a:alpha val="30196"/>
            </a:srgbClr>
          </a:solidFill>
          <a:ln w="9525" algn="ctr">
            <a:solidFill>
              <a:srgbClr val="7F7B00"/>
            </a:solidFill>
            <a:round/>
            <a:headEnd/>
            <a:tailEnd/>
          </a:ln>
        </p:spPr>
        <p:txBody>
          <a:bodyPr anchor="ctr" anchorCtr="1"/>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26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SELECT &lt;column_name&gt;, &lt;column_name&gt;… FROM &lt;table_name1&gt; INNER JOIN &lt;table_name2&gt; ON &lt;conditions&gt;;</a:t>
            </a:r>
          </a:p>
        </p:txBody>
      </p:sp>
      <p:sp>
        <p:nvSpPr>
          <p:cNvPr id="40" name="Rounded Rectangle 39">
            <a:extLst>
              <a:ext uri="{FF2B5EF4-FFF2-40B4-BE49-F238E27FC236}">
                <a16:creationId xmlns:a16="http://schemas.microsoft.com/office/drawing/2014/main" id="{13BF3EE4-B733-6EB6-88C3-8E862D5DF4FB}"/>
              </a:ext>
            </a:extLst>
          </p:cNvPr>
          <p:cNvSpPr/>
          <p:nvPr/>
        </p:nvSpPr>
        <p:spPr bwMode="auto">
          <a:xfrm>
            <a:off x="647700" y="4508500"/>
            <a:ext cx="7200900" cy="1512888"/>
          </a:xfrm>
          <a:prstGeom prst="roundRect">
            <a:avLst/>
          </a:prstGeom>
          <a:solidFill>
            <a:schemeClr val="accent6">
              <a:alpha val="30000"/>
            </a:schemeClr>
          </a:solidFill>
          <a:ln w="9525" cap="flat" cmpd="sng" algn="ctr">
            <a:solidFill>
              <a:schemeClr val="accent6"/>
            </a:solidFill>
            <a:prstDash val="solid"/>
            <a:round/>
            <a:headEnd type="none" w="med" len="med"/>
            <a:tailEnd type="none" w="med" len="med"/>
          </a:ln>
          <a:effectLst/>
        </p:spPr>
        <p:txBody>
          <a:bodyPr anchor="ctr" anchorCtr="1"/>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2800" b="0" i="0" u="none" strike="noStrike" kern="1200" cap="none" spc="0" normalizeH="0" baseline="0" noProof="0" dirty="0">
                <a:ln>
                  <a:noFill/>
                </a:ln>
                <a:solidFill>
                  <a:srgbClr val="2F2B20"/>
                </a:solidFill>
                <a:effectLst/>
                <a:uLnTx/>
                <a:uFillTx/>
                <a:latin typeface="Arial" charset="0"/>
                <a:ea typeface="+mn-ea"/>
                <a:cs typeface="Arial" panose="020B0604020202020204" pitchFamily="34" charset="0"/>
              </a:rPr>
              <a:t>SELECT * FROM Employee INNER JOIN Department </a:t>
            </a:r>
            <a:r>
              <a:rPr kumimoji="0" lang="en-CA" sz="2800" b="0"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ON</a:t>
            </a:r>
            <a:r>
              <a:rPr kumimoji="0" lang="en-CA" sz="2800" b="0" i="0" u="none" strike="noStrike" kern="1200" cap="none" spc="0" normalizeH="0" baseline="0" noProof="0" dirty="0">
                <a:ln>
                  <a:noFill/>
                </a:ln>
                <a:solidFill>
                  <a:srgbClr val="2F2B20"/>
                </a:solidFill>
                <a:effectLst/>
                <a:uLnTx/>
                <a:uFillTx/>
                <a:latin typeface="Arial" charset="0"/>
                <a:ea typeface="+mn-ea"/>
                <a:cs typeface="Arial" panose="020B0604020202020204" pitchFamily="34" charset="0"/>
              </a:rPr>
              <a:t> </a:t>
            </a:r>
            <a:r>
              <a:rPr kumimoji="0" lang="en-CA" sz="2800" b="0" i="0" u="none" strike="noStrike" kern="1200" cap="none" spc="0" normalizeH="0" baseline="0" noProof="0" dirty="0" err="1">
                <a:ln>
                  <a:noFill/>
                </a:ln>
                <a:solidFill>
                  <a:srgbClr val="2F2B20"/>
                </a:solidFill>
                <a:effectLst/>
                <a:uLnTx/>
                <a:uFillTx/>
                <a:latin typeface="Arial" charset="0"/>
                <a:ea typeface="+mn-ea"/>
                <a:cs typeface="Arial" panose="020B0604020202020204" pitchFamily="34" charset="0"/>
              </a:rPr>
              <a:t>Employee.DepartmentID</a:t>
            </a:r>
            <a:r>
              <a:rPr kumimoji="0" lang="en-CA" sz="2800" b="0"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 = </a:t>
            </a:r>
            <a:r>
              <a:rPr kumimoji="0" lang="en-CA" sz="2800" b="0" i="0" u="none" strike="noStrike" kern="1200" cap="none" spc="0" normalizeH="0" baseline="0" noProof="0" dirty="0" err="1">
                <a:ln>
                  <a:noFill/>
                </a:ln>
                <a:solidFill>
                  <a:srgbClr val="2F2B20"/>
                </a:solidFill>
                <a:effectLst/>
                <a:uLnTx/>
                <a:uFillTx/>
                <a:latin typeface="Arial" panose="020B0604020202020204" pitchFamily="34" charset="0"/>
                <a:ea typeface="+mn-ea"/>
                <a:cs typeface="Arial" panose="020B0604020202020204" pitchFamily="34" charset="0"/>
              </a:rPr>
              <a:t>Department.DepartmentID</a:t>
            </a:r>
            <a:r>
              <a:rPr kumimoji="0" lang="en-CA" sz="2800" b="0"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a:t>
            </a:r>
            <a:endParaRPr kumimoji="0" lang="en-CA" sz="2800" b="0" i="0" u="none" strike="noStrike" kern="1200" cap="none" spc="0" normalizeH="0" baseline="0" noProof="0" dirty="0">
              <a:ln>
                <a:noFill/>
              </a:ln>
              <a:solidFill>
                <a:srgbClr val="2F2B20"/>
              </a:solidFill>
              <a:effectLst/>
              <a:uLnTx/>
              <a:uFillTx/>
              <a:latin typeface="Arial" charset="0"/>
              <a:ea typeface="+mn-ea"/>
              <a:cs typeface="Arial" panose="020B0604020202020204" pitchFamily="3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36">
                                            <p:txEl>
                                              <p:pRg st="0" end="0"/>
                                            </p:txEl>
                                          </p:spTgt>
                                        </p:tgtEl>
                                        <p:attrNameLst>
                                          <p:attrName>style.visibility</p:attrName>
                                        </p:attrNameLst>
                                      </p:cBhvr>
                                      <p:to>
                                        <p:strVal val="visible"/>
                                      </p:to>
                                    </p:set>
                                    <p:animEffect transition="in" filter="wipe(up)">
                                      <p:cBhvr>
                                        <p:cTn id="7" dur="500"/>
                                        <p:tgtEl>
                                          <p:spTgt spid="36">
                                            <p:txEl>
                                              <p:pRg st="0" end="0"/>
                                            </p:txEl>
                                          </p:spTgt>
                                        </p:tgtEl>
                                      </p:cBhvr>
                                    </p:animEffect>
                                  </p:childTnLst>
                                </p:cTn>
                              </p:par>
                            </p:childTnLst>
                          </p:cTn>
                        </p:par>
                        <p:par>
                          <p:cTn id="8" fill="hold" nodeType="afterGroup">
                            <p:stCondLst>
                              <p:cond delay="500"/>
                            </p:stCondLst>
                            <p:childTnLst>
                              <p:par>
                                <p:cTn id="9" presetID="16" presetClass="entr" presetSubtype="21" fill="hold" grpId="0" nodeType="afterEffect">
                                  <p:stCondLst>
                                    <p:cond delay="0"/>
                                  </p:stCondLst>
                                  <p:childTnLst>
                                    <p:set>
                                      <p:cBhvr>
                                        <p:cTn id="10" dur="1" fill="hold">
                                          <p:stCondLst>
                                            <p:cond delay="0"/>
                                          </p:stCondLst>
                                        </p:cTn>
                                        <p:tgtEl>
                                          <p:spTgt spid="38"/>
                                        </p:tgtEl>
                                        <p:attrNameLst>
                                          <p:attrName>style.visibility</p:attrName>
                                        </p:attrNameLst>
                                      </p:cBhvr>
                                      <p:to>
                                        <p:strVal val="visible"/>
                                      </p:to>
                                    </p:set>
                                    <p:animEffect transition="in" filter="barn(inVertical)">
                                      <p:cBhvr>
                                        <p:cTn id="11" dur="500"/>
                                        <p:tgtEl>
                                          <p:spTgt spid="38"/>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36">
                                            <p:txEl>
                                              <p:pRg st="4" end="4"/>
                                            </p:txEl>
                                          </p:spTgt>
                                        </p:tgtEl>
                                        <p:attrNameLst>
                                          <p:attrName>style.visibility</p:attrName>
                                        </p:attrNameLst>
                                      </p:cBhvr>
                                      <p:to>
                                        <p:strVal val="visible"/>
                                      </p:to>
                                    </p:set>
                                    <p:animEffect transition="in" filter="wipe(left)">
                                      <p:cBhvr>
                                        <p:cTn id="16" dur="500"/>
                                        <p:tgtEl>
                                          <p:spTgt spid="36">
                                            <p:txEl>
                                              <p:pRg st="4" end="4"/>
                                            </p:txEl>
                                          </p:spTgt>
                                        </p:tgtEl>
                                      </p:cBhvr>
                                    </p:animEffect>
                                  </p:childTnLst>
                                </p:cTn>
                              </p:par>
                            </p:childTnLst>
                          </p:cTn>
                        </p:par>
                        <p:par>
                          <p:cTn id="17" fill="hold" nodeType="afterGroup">
                            <p:stCondLst>
                              <p:cond delay="500"/>
                            </p:stCondLst>
                            <p:childTnLst>
                              <p:par>
                                <p:cTn id="18" presetID="16" presetClass="entr" presetSubtype="21" fill="hold" grpId="0" nodeType="afterEffect">
                                  <p:stCondLst>
                                    <p:cond delay="0"/>
                                  </p:stCondLst>
                                  <p:childTnLst>
                                    <p:set>
                                      <p:cBhvr>
                                        <p:cTn id="19" dur="1" fill="hold">
                                          <p:stCondLst>
                                            <p:cond delay="0"/>
                                          </p:stCondLst>
                                        </p:cTn>
                                        <p:tgtEl>
                                          <p:spTgt spid="40"/>
                                        </p:tgtEl>
                                        <p:attrNameLst>
                                          <p:attrName>style.visibility</p:attrName>
                                        </p:attrNameLst>
                                      </p:cBhvr>
                                      <p:to>
                                        <p:strVal val="visible"/>
                                      </p:to>
                                    </p:set>
                                    <p:animEffect transition="in" filter="barn(inVertical)">
                                      <p:cBhvr>
                                        <p:cTn id="20"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40" grpId="0" animBg="1"/>
    </p:bldLst>
  </p:timing>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A6FD37-7B89-EE8D-7F65-93772251904B}"/>
              </a:ext>
            </a:extLst>
          </p:cNvPr>
          <p:cNvSpPr>
            <a:spLocks noGrp="1"/>
          </p:cNvSpPr>
          <p:nvPr>
            <p:ph type="title"/>
          </p:nvPr>
        </p:nvSpPr>
        <p:spPr>
          <a:xfrm>
            <a:off x="457200" y="0"/>
            <a:ext cx="7620000" cy="1143000"/>
          </a:xfrm>
        </p:spPr>
        <p:txBody>
          <a:bodyPr/>
          <a:lstStyle/>
          <a:p>
            <a:pPr algn="ctr">
              <a:defRPr/>
            </a:pPr>
            <a:r>
              <a:rPr lang="en-US" dirty="0"/>
              <a:t>JOIN</a:t>
            </a:r>
            <a:endParaRPr lang="en-MY" dirty="0"/>
          </a:p>
        </p:txBody>
      </p:sp>
      <p:sp>
        <p:nvSpPr>
          <p:cNvPr id="9" name="Snip Single Corner Rectangle 8">
            <a:extLst>
              <a:ext uri="{FF2B5EF4-FFF2-40B4-BE49-F238E27FC236}">
                <a16:creationId xmlns:a16="http://schemas.microsoft.com/office/drawing/2014/main" id="{BE8D2533-6932-8EF1-5845-E2DDF3803A17}"/>
              </a:ext>
            </a:extLst>
          </p:cNvPr>
          <p:cNvSpPr/>
          <p:nvPr/>
        </p:nvSpPr>
        <p:spPr>
          <a:xfrm>
            <a:off x="-36513" y="1125538"/>
            <a:ext cx="1512888" cy="400050"/>
          </a:xfrm>
          <a:prstGeom prst="snip1Rect">
            <a:avLst/>
          </a:prstGeom>
          <a:ln/>
        </p:spPr>
        <p:style>
          <a:lnRef idx="1">
            <a:schemeClr val="accent3"/>
          </a:lnRef>
          <a:fillRef idx="3">
            <a:schemeClr val="accent3"/>
          </a:fillRef>
          <a:effectRef idx="2">
            <a:schemeClr val="accent3"/>
          </a:effectRef>
          <a:fontRef idx="minor">
            <a:schemeClr val="lt1"/>
          </a:fontRef>
        </p:style>
        <p:txBody>
          <a:bodyPr anchor="ctr">
            <a:spAutoFit/>
          </a:bodyPr>
          <a:lstStyle/>
          <a:p>
            <a:pPr marL="342900" marR="0" lvl="0" indent="-342900" algn="just" defTabSz="914400" rtl="0" eaLnBrk="1" fontAlgn="base" latinLnBrk="0" hangingPunct="1">
              <a:lnSpc>
                <a:spcPct val="100000"/>
              </a:lnSpc>
              <a:spcBef>
                <a:spcPct val="20000"/>
              </a:spcBef>
              <a:spcAft>
                <a:spcPct val="0"/>
              </a:spcAft>
              <a:buClr>
                <a:srgbClr val="FF6600"/>
              </a:buClr>
              <a:buSzPct val="100000"/>
              <a:buFontTx/>
              <a:buNone/>
              <a:tabLst/>
              <a:defRPr/>
            </a:pPr>
            <a:r>
              <a:rPr kumimoji="0" lang="en-US" sz="1800" b="0" i="0" u="none" strike="noStrike" kern="1200" cap="none" spc="0" normalizeH="0" baseline="0" noProof="0" dirty="0">
                <a:ln>
                  <a:noFill/>
                </a:ln>
                <a:solidFill>
                  <a:srgbClr val="FFFFFF"/>
                </a:solidFill>
                <a:effectLst/>
                <a:uLnTx/>
                <a:uFillTx/>
                <a:latin typeface="Arial" pitchFamily="34" charset="0"/>
                <a:ea typeface="Times New Roman" pitchFamily="18" charset="0"/>
                <a:cs typeface="Arial" pitchFamily="34" charset="0"/>
              </a:rPr>
              <a:t>INNER JOIN</a:t>
            </a:r>
            <a:endParaRPr kumimoji="0" lang="en-GB" sz="1800" b="0" i="0" u="none" strike="noStrike" kern="0" cap="none" spc="0" normalizeH="0" baseline="0" noProof="0" dirty="0">
              <a:ln>
                <a:noFill/>
              </a:ln>
              <a:solidFill>
                <a:srgbClr val="2F2B20"/>
              </a:solidFill>
              <a:effectLst/>
              <a:uLnTx/>
              <a:uFillTx/>
              <a:latin typeface="Calibri"/>
              <a:ea typeface="+mn-ea"/>
              <a:cs typeface="+mn-cs"/>
            </a:endParaRPr>
          </a:p>
        </p:txBody>
      </p:sp>
      <p:sp>
        <p:nvSpPr>
          <p:cNvPr id="17" name="Content Placeholder 2">
            <a:extLst>
              <a:ext uri="{FF2B5EF4-FFF2-40B4-BE49-F238E27FC236}">
                <a16:creationId xmlns:a16="http://schemas.microsoft.com/office/drawing/2014/main" id="{414D1EC0-DDB5-5850-AE1D-DB745A744C34}"/>
              </a:ext>
            </a:extLst>
          </p:cNvPr>
          <p:cNvSpPr txBox="1">
            <a:spLocks/>
          </p:cNvSpPr>
          <p:nvPr/>
        </p:nvSpPr>
        <p:spPr bwMode="auto">
          <a:xfrm>
            <a:off x="250825" y="1773238"/>
            <a:ext cx="7978775"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With inner join, if the join conditions are all based on the equal (=) operator, this type of inner join is also known as Equi-join </a:t>
            </a: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For example</a:t>
            </a: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sp>
        <p:nvSpPr>
          <p:cNvPr id="18" name="Rounded Rectangle 17">
            <a:extLst>
              <a:ext uri="{FF2B5EF4-FFF2-40B4-BE49-F238E27FC236}">
                <a16:creationId xmlns:a16="http://schemas.microsoft.com/office/drawing/2014/main" id="{44AABABC-C274-CADE-0919-19615AA3DDAB}"/>
              </a:ext>
            </a:extLst>
          </p:cNvPr>
          <p:cNvSpPr/>
          <p:nvPr/>
        </p:nvSpPr>
        <p:spPr bwMode="auto">
          <a:xfrm>
            <a:off x="107950" y="4197350"/>
            <a:ext cx="6734175" cy="1511300"/>
          </a:xfrm>
          <a:prstGeom prst="roundRect">
            <a:avLst/>
          </a:prstGeom>
          <a:solidFill>
            <a:schemeClr val="accent6">
              <a:alpha val="30000"/>
            </a:schemeClr>
          </a:solidFill>
          <a:ln w="9525" cap="flat" cmpd="sng" algn="ctr">
            <a:solidFill>
              <a:schemeClr val="accent6"/>
            </a:solidFill>
            <a:prstDash val="solid"/>
            <a:round/>
            <a:headEnd type="none" w="med" len="med"/>
            <a:tailEnd type="none" w="med" len="med"/>
          </a:ln>
          <a:effectLst/>
        </p:spPr>
        <p:txBody>
          <a:bodyPr anchor="ctr" anchorCtr="1"/>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2600" b="0" i="0" u="none" strike="noStrike" kern="1200" cap="none" spc="0" normalizeH="0" baseline="0" noProof="0" dirty="0">
                <a:ln>
                  <a:noFill/>
                </a:ln>
                <a:solidFill>
                  <a:srgbClr val="2F2B20"/>
                </a:solidFill>
                <a:effectLst/>
                <a:uLnTx/>
                <a:uFillTx/>
                <a:latin typeface="Arial" charset="0"/>
                <a:ea typeface="+mn-ea"/>
                <a:cs typeface="Arial" panose="020B0604020202020204" pitchFamily="34" charset="0"/>
              </a:rPr>
              <a:t>SELECT * FROM Employee, Department WHERE </a:t>
            </a:r>
            <a:r>
              <a:rPr kumimoji="0" lang="en-CA" sz="2600" b="0" i="0" u="none" strike="noStrike" kern="1200" cap="none" spc="0" normalizeH="0" baseline="0" noProof="0" dirty="0" err="1">
                <a:ln>
                  <a:noFill/>
                </a:ln>
                <a:solidFill>
                  <a:srgbClr val="2F2B20"/>
                </a:solidFill>
                <a:effectLst/>
                <a:uLnTx/>
                <a:uFillTx/>
                <a:latin typeface="Arial" charset="0"/>
                <a:ea typeface="+mn-ea"/>
                <a:cs typeface="Arial" panose="020B0604020202020204" pitchFamily="34" charset="0"/>
              </a:rPr>
              <a:t>Employee.DepartmentID</a:t>
            </a:r>
            <a:r>
              <a:rPr kumimoji="0" lang="en-CA" sz="2600" b="0"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 = </a:t>
            </a:r>
            <a:r>
              <a:rPr kumimoji="0" lang="en-CA" sz="2600" b="0" i="0" u="none" strike="noStrike" kern="1200" cap="none" spc="0" normalizeH="0" baseline="0" noProof="0" dirty="0" err="1">
                <a:ln>
                  <a:noFill/>
                </a:ln>
                <a:solidFill>
                  <a:srgbClr val="2F2B20"/>
                </a:solidFill>
                <a:effectLst/>
                <a:uLnTx/>
                <a:uFillTx/>
                <a:latin typeface="Arial" panose="020B0604020202020204" pitchFamily="34" charset="0"/>
                <a:ea typeface="+mn-ea"/>
                <a:cs typeface="Arial" panose="020B0604020202020204" pitchFamily="34" charset="0"/>
              </a:rPr>
              <a:t>Department.DepartmentID</a:t>
            </a:r>
            <a:r>
              <a:rPr kumimoji="0" lang="en-CA" sz="2600" b="0"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a:t>
            </a:r>
            <a:endParaRPr kumimoji="0" lang="en-CA" sz="2600" b="0" i="0" u="none" strike="noStrike" kern="1200" cap="none" spc="0" normalizeH="0" baseline="0" noProof="0" dirty="0">
              <a:ln>
                <a:noFill/>
              </a:ln>
              <a:solidFill>
                <a:srgbClr val="2F2B20"/>
              </a:solidFill>
              <a:effectLst/>
              <a:uLnTx/>
              <a:uFillTx/>
              <a:latin typeface="Arial" charset="0"/>
              <a:ea typeface="+mn-ea"/>
              <a:cs typeface="Arial" panose="020B0604020202020204" pitchFamily="34" charset="0"/>
            </a:endParaRPr>
          </a:p>
        </p:txBody>
      </p:sp>
      <p:grpSp>
        <p:nvGrpSpPr>
          <p:cNvPr id="3" name="Group 18">
            <a:extLst>
              <a:ext uri="{FF2B5EF4-FFF2-40B4-BE49-F238E27FC236}">
                <a16:creationId xmlns:a16="http://schemas.microsoft.com/office/drawing/2014/main" id="{F58C3DF3-9F69-3F9F-0117-5DF463D8051D}"/>
              </a:ext>
            </a:extLst>
          </p:cNvPr>
          <p:cNvGrpSpPr>
            <a:grpSpLocks/>
          </p:cNvGrpSpPr>
          <p:nvPr/>
        </p:nvGrpSpPr>
        <p:grpSpPr bwMode="auto">
          <a:xfrm>
            <a:off x="6878638" y="4197350"/>
            <a:ext cx="1655762" cy="1511300"/>
            <a:chOff x="6732240" y="4568354"/>
            <a:chExt cx="1656184" cy="1512168"/>
          </a:xfrm>
        </p:grpSpPr>
        <p:sp>
          <p:nvSpPr>
            <p:cNvPr id="54279" name="Right Brace 19">
              <a:extLst>
                <a:ext uri="{FF2B5EF4-FFF2-40B4-BE49-F238E27FC236}">
                  <a16:creationId xmlns:a16="http://schemas.microsoft.com/office/drawing/2014/main" id="{1F41F0CC-8EE8-9505-310E-69F97CF018F5}"/>
                </a:ext>
              </a:extLst>
            </p:cNvPr>
            <p:cNvSpPr>
              <a:spLocks/>
            </p:cNvSpPr>
            <p:nvPr/>
          </p:nvSpPr>
          <p:spPr bwMode="auto">
            <a:xfrm>
              <a:off x="6732240" y="4568354"/>
              <a:ext cx="288032" cy="1512168"/>
            </a:xfrm>
            <a:prstGeom prst="rightBrace">
              <a:avLst>
                <a:gd name="adj1" fmla="val 8337"/>
                <a:gd name="adj2" fmla="val 50000"/>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endParaRPr>
            </a:p>
          </p:txBody>
        </p:sp>
        <p:sp>
          <p:nvSpPr>
            <p:cNvPr id="54280" name="TextBox 25">
              <a:extLst>
                <a:ext uri="{FF2B5EF4-FFF2-40B4-BE49-F238E27FC236}">
                  <a16:creationId xmlns:a16="http://schemas.microsoft.com/office/drawing/2014/main" id="{1145932A-20CE-7FAC-18AB-EE6BF8AD01BC}"/>
                </a:ext>
              </a:extLst>
            </p:cNvPr>
            <p:cNvSpPr txBox="1">
              <a:spLocks noChangeArrowheads="1"/>
            </p:cNvSpPr>
            <p:nvPr/>
          </p:nvSpPr>
          <p:spPr bwMode="auto">
            <a:xfrm>
              <a:off x="7092280" y="4875547"/>
              <a:ext cx="1296144"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Both inner join and equi-join</a:t>
              </a:r>
            </a:p>
          </p:txBody>
        </p:sp>
      </p:gr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Effect transition="in" filter="wipe(up)">
                                      <p:cBhvr>
                                        <p:cTn id="7" dur="500"/>
                                        <p:tgtEl>
                                          <p:spTgt spid="1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17">
                                            <p:txEl>
                                              <p:pRg st="2" end="2"/>
                                            </p:txEl>
                                          </p:spTgt>
                                        </p:tgtEl>
                                        <p:attrNameLst>
                                          <p:attrName>style.visibility</p:attrName>
                                        </p:attrNameLst>
                                      </p:cBhvr>
                                      <p:to>
                                        <p:strVal val="visible"/>
                                      </p:to>
                                    </p:set>
                                    <p:animEffect transition="in" filter="wipe(up)">
                                      <p:cBhvr>
                                        <p:cTn id="12" dur="500"/>
                                        <p:tgtEl>
                                          <p:spTgt spid="17">
                                            <p:txEl>
                                              <p:pRg st="2" end="2"/>
                                            </p:txEl>
                                          </p:spTgt>
                                        </p:tgtEl>
                                      </p:cBhvr>
                                    </p:animEffect>
                                  </p:childTnLst>
                                </p:cTn>
                              </p:par>
                            </p:childTnLst>
                          </p:cTn>
                        </p:par>
                        <p:par>
                          <p:cTn id="13" fill="hold" nodeType="afterGroup">
                            <p:stCondLst>
                              <p:cond delay="500"/>
                            </p:stCondLst>
                            <p:childTnLst>
                              <p:par>
                                <p:cTn id="14" presetID="16" presetClass="entr" presetSubtype="21" fill="hold" grpId="0" nodeType="after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barn(inVertical)">
                                      <p:cBhvr>
                                        <p:cTn id="16" dur="500"/>
                                        <p:tgtEl>
                                          <p:spTgt spid="18"/>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4"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anim calcmode="lin" valueType="num">
                                      <p:cBhvr additive="base">
                                        <p:cTn id="21" dur="500" fill="hold"/>
                                        <p:tgtEl>
                                          <p:spTgt spid="3"/>
                                        </p:tgtEl>
                                        <p:attrNameLst>
                                          <p:attrName>ppt_x</p:attrName>
                                        </p:attrNameLst>
                                      </p:cBhvr>
                                      <p:tavLst>
                                        <p:tav tm="0">
                                          <p:val>
                                            <p:strVal val="#ppt_x"/>
                                          </p:val>
                                        </p:tav>
                                        <p:tav tm="100000">
                                          <p:val>
                                            <p:strVal val="#ppt_x"/>
                                          </p:val>
                                        </p:tav>
                                      </p:tavLst>
                                    </p:anim>
                                    <p:anim calcmode="lin" valueType="num">
                                      <p:cBhvr additive="base">
                                        <p:cTn id="2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2AF40D-7B20-EEAC-B543-DE154AE1C8F1}"/>
              </a:ext>
            </a:extLst>
          </p:cNvPr>
          <p:cNvSpPr>
            <a:spLocks noGrp="1"/>
          </p:cNvSpPr>
          <p:nvPr>
            <p:ph type="title"/>
          </p:nvPr>
        </p:nvSpPr>
        <p:spPr>
          <a:xfrm>
            <a:off x="457200" y="0"/>
            <a:ext cx="7620000" cy="1143000"/>
          </a:xfrm>
        </p:spPr>
        <p:txBody>
          <a:bodyPr/>
          <a:lstStyle/>
          <a:p>
            <a:pPr algn="ctr">
              <a:defRPr/>
            </a:pPr>
            <a:r>
              <a:rPr lang="en-US" dirty="0"/>
              <a:t>Activity 1</a:t>
            </a:r>
            <a:endParaRPr lang="en-MY" dirty="0"/>
          </a:p>
        </p:txBody>
      </p:sp>
      <p:sp>
        <p:nvSpPr>
          <p:cNvPr id="10" name="Title 1">
            <a:extLst>
              <a:ext uri="{FF2B5EF4-FFF2-40B4-BE49-F238E27FC236}">
                <a16:creationId xmlns:a16="http://schemas.microsoft.com/office/drawing/2014/main" id="{E9A558F0-E4B0-6EF1-AAC5-9A7556985DFE}"/>
              </a:ext>
            </a:extLst>
          </p:cNvPr>
          <p:cNvSpPr txBox="1">
            <a:spLocks/>
          </p:cNvSpPr>
          <p:nvPr/>
        </p:nvSpPr>
        <p:spPr bwMode="auto">
          <a:xfrm>
            <a:off x="0" y="836613"/>
            <a:ext cx="8172450" cy="323850"/>
          </a:xfrm>
          <a:prstGeom prst="rect">
            <a:avLst/>
          </a:prstGeom>
          <a:noFill/>
          <a:ln w="9525">
            <a:noFill/>
            <a:miter lim="800000"/>
            <a:headEnd/>
            <a:tailEnd/>
          </a:ln>
        </p:spPr>
        <p:txBody>
          <a:bodyPr lIns="72000" tIns="0" rIns="72000" bIns="0"/>
          <a:lstStyle/>
          <a:p>
            <a:pPr marL="0" marR="0" lvl="0" indent="0" algn="l" defTabSz="720000" rtl="0" eaLnBrk="1" fontAlgn="base" latinLnBrk="0" hangingPunct="1">
              <a:lnSpc>
                <a:spcPts val="1800"/>
              </a:lnSpc>
              <a:spcBef>
                <a:spcPts val="0"/>
              </a:spcBef>
              <a:spcAft>
                <a:spcPts val="0"/>
              </a:spcAft>
              <a:buClrTx/>
              <a:buSzTx/>
              <a:buFontTx/>
              <a:buNone/>
              <a:tabLst>
                <a:tab pos="0" algn="l"/>
              </a:tabLst>
              <a:defRPr/>
            </a:pPr>
            <a:r>
              <a:rPr kumimoji="0" lang="en-US" sz="1800" b="1" i="0" u="none" strike="noStrike" kern="0" cap="none" spc="0" normalizeH="0" baseline="0" noProof="0" dirty="0">
                <a:ln>
                  <a:noFill/>
                </a:ln>
                <a:solidFill>
                  <a:srgbClr val="2F2B20"/>
                </a:solidFill>
                <a:effectLst/>
                <a:uLnTx/>
                <a:uFillTx/>
                <a:latin typeface="Calibri"/>
                <a:ea typeface="+mn-ea"/>
                <a:cs typeface="Calibri" pitchFamily="34" charset="0"/>
              </a:rPr>
              <a:t>CLASS ACTIVITY</a:t>
            </a:r>
            <a:endParaRPr kumimoji="0" lang="en-MY" sz="1800" b="1" i="0" u="none" strike="noStrike" kern="0" cap="none" spc="0" normalizeH="0" baseline="0" noProof="0" dirty="0">
              <a:ln>
                <a:noFill/>
              </a:ln>
              <a:solidFill>
                <a:srgbClr val="2F2B20"/>
              </a:solidFill>
              <a:effectLst/>
              <a:uLnTx/>
              <a:uFillTx/>
              <a:latin typeface="Calibri"/>
              <a:ea typeface="+mn-ea"/>
              <a:cs typeface="Calibri" pitchFamily="34" charset="0"/>
            </a:endParaRPr>
          </a:p>
        </p:txBody>
      </p:sp>
      <p:sp>
        <p:nvSpPr>
          <p:cNvPr id="11" name="Content Placeholder 3">
            <a:extLst>
              <a:ext uri="{FF2B5EF4-FFF2-40B4-BE49-F238E27FC236}">
                <a16:creationId xmlns:a16="http://schemas.microsoft.com/office/drawing/2014/main" id="{810A8B70-7682-5B43-BF8C-A3AB5EB3491B}"/>
              </a:ext>
            </a:extLst>
          </p:cNvPr>
          <p:cNvSpPr txBox="1">
            <a:spLocks/>
          </p:cNvSpPr>
          <p:nvPr/>
        </p:nvSpPr>
        <p:spPr bwMode="auto">
          <a:xfrm>
            <a:off x="250825" y="1341438"/>
            <a:ext cx="8032750" cy="489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Write down the SQL for displaying the employees along with the contact number of each employee. Draw the resulting table as well</a:t>
            </a:r>
          </a:p>
        </p:txBody>
      </p:sp>
      <p:graphicFrame>
        <p:nvGraphicFramePr>
          <p:cNvPr id="9" name="Table 8">
            <a:extLst>
              <a:ext uri="{FF2B5EF4-FFF2-40B4-BE49-F238E27FC236}">
                <a16:creationId xmlns:a16="http://schemas.microsoft.com/office/drawing/2014/main" id="{F4EAFDD5-8EE8-44B9-65A1-CEE49F3FFBFC}"/>
              </a:ext>
            </a:extLst>
          </p:cNvPr>
          <p:cNvGraphicFramePr>
            <a:graphicFrameLocks noGrp="1"/>
          </p:cNvGraphicFramePr>
          <p:nvPr/>
        </p:nvGraphicFramePr>
        <p:xfrm>
          <a:off x="2211388" y="2924175"/>
          <a:ext cx="3960812" cy="1112838"/>
        </p:xfrm>
        <a:graphic>
          <a:graphicData uri="http://schemas.openxmlformats.org/drawingml/2006/table">
            <a:tbl>
              <a:tblPr firstRow="1" bandRow="1">
                <a:tableStyleId>{D27102A9-8310-4765-A935-A1911B00CA55}</a:tableStyleId>
              </a:tblPr>
              <a:tblGrid>
                <a:gridCol w="1800369">
                  <a:extLst>
                    <a:ext uri="{9D8B030D-6E8A-4147-A177-3AD203B41FA5}">
                      <a16:colId xmlns:a16="http://schemas.microsoft.com/office/drawing/2014/main" val="20000"/>
                    </a:ext>
                  </a:extLst>
                </a:gridCol>
                <a:gridCol w="2160443">
                  <a:extLst>
                    <a:ext uri="{9D8B030D-6E8A-4147-A177-3AD203B41FA5}">
                      <a16:colId xmlns:a16="http://schemas.microsoft.com/office/drawing/2014/main" val="20001"/>
                    </a:ext>
                  </a:extLst>
                </a:gridCol>
              </a:tblGrid>
              <a:tr h="370946">
                <a:tc>
                  <a:txBody>
                    <a:bodyPr/>
                    <a:lstStyle/>
                    <a:p>
                      <a:pPr algn="ctr"/>
                      <a:r>
                        <a:rPr lang="en-CA" sz="1800" dirty="0"/>
                        <a:t>EmployeeId</a:t>
                      </a:r>
                    </a:p>
                  </a:txBody>
                  <a:tcPr marL="91449" marR="91449" marT="45733" marB="45733"/>
                </a:tc>
                <a:tc>
                  <a:txBody>
                    <a:bodyPr/>
                    <a:lstStyle/>
                    <a:p>
                      <a:pPr algn="ctr"/>
                      <a:r>
                        <a:rPr lang="en-CA" sz="1800" dirty="0"/>
                        <a:t>Name</a:t>
                      </a:r>
                    </a:p>
                  </a:txBody>
                  <a:tcPr marL="91449" marR="91449" marT="45733" marB="45733"/>
                </a:tc>
                <a:extLst>
                  <a:ext uri="{0D108BD9-81ED-4DB2-BD59-A6C34878D82A}">
                    <a16:rowId xmlns:a16="http://schemas.microsoft.com/office/drawing/2014/main" val="10000"/>
                  </a:ext>
                </a:extLst>
              </a:tr>
              <a:tr h="370946">
                <a:tc>
                  <a:txBody>
                    <a:bodyPr/>
                    <a:lstStyle/>
                    <a:p>
                      <a:pPr algn="ctr"/>
                      <a:r>
                        <a:rPr lang="en-CA" sz="1800" dirty="0"/>
                        <a:t>1</a:t>
                      </a:r>
                    </a:p>
                  </a:txBody>
                  <a:tcPr marL="91449" marR="91449" marT="45733" marB="45733"/>
                </a:tc>
                <a:tc>
                  <a:txBody>
                    <a:bodyPr/>
                    <a:lstStyle/>
                    <a:p>
                      <a:pPr algn="ctr"/>
                      <a:r>
                        <a:rPr lang="en-CA" sz="1800" dirty="0"/>
                        <a:t>Aamir Ali</a:t>
                      </a:r>
                    </a:p>
                  </a:txBody>
                  <a:tcPr marL="91449" marR="91449" marT="45733" marB="45733"/>
                </a:tc>
                <a:extLst>
                  <a:ext uri="{0D108BD9-81ED-4DB2-BD59-A6C34878D82A}">
                    <a16:rowId xmlns:a16="http://schemas.microsoft.com/office/drawing/2014/main" val="10001"/>
                  </a:ext>
                </a:extLst>
              </a:tr>
              <a:tr h="370946">
                <a:tc>
                  <a:txBody>
                    <a:bodyPr/>
                    <a:lstStyle/>
                    <a:p>
                      <a:pPr algn="ctr"/>
                      <a:r>
                        <a:rPr lang="en-CA" sz="1800" dirty="0"/>
                        <a:t>2</a:t>
                      </a:r>
                    </a:p>
                  </a:txBody>
                  <a:tcPr marL="91449" marR="91449" marT="45733" marB="45733"/>
                </a:tc>
                <a:tc>
                  <a:txBody>
                    <a:bodyPr/>
                    <a:lstStyle/>
                    <a:p>
                      <a:pPr algn="ctr"/>
                      <a:r>
                        <a:rPr lang="en-CA" sz="1800" dirty="0"/>
                        <a:t>Sadia</a:t>
                      </a:r>
                      <a:r>
                        <a:rPr lang="en-CA" sz="1800" baseline="0" dirty="0"/>
                        <a:t> Asim</a:t>
                      </a:r>
                      <a:endParaRPr lang="en-CA" sz="1800" dirty="0"/>
                    </a:p>
                  </a:txBody>
                  <a:tcPr marL="91449" marR="91449" marT="45733" marB="45733"/>
                </a:tc>
                <a:extLst>
                  <a:ext uri="{0D108BD9-81ED-4DB2-BD59-A6C34878D82A}">
                    <a16:rowId xmlns:a16="http://schemas.microsoft.com/office/drawing/2014/main" val="10002"/>
                  </a:ext>
                </a:extLst>
              </a:tr>
            </a:tbl>
          </a:graphicData>
        </a:graphic>
      </p:graphicFrame>
      <p:graphicFrame>
        <p:nvGraphicFramePr>
          <p:cNvPr id="15" name="Table 14">
            <a:extLst>
              <a:ext uri="{FF2B5EF4-FFF2-40B4-BE49-F238E27FC236}">
                <a16:creationId xmlns:a16="http://schemas.microsoft.com/office/drawing/2014/main" id="{4E40922B-6053-7F0B-91FF-EEBD49906BB2}"/>
              </a:ext>
            </a:extLst>
          </p:cNvPr>
          <p:cNvGraphicFramePr>
            <a:graphicFrameLocks noGrp="1"/>
          </p:cNvGraphicFramePr>
          <p:nvPr/>
        </p:nvGraphicFramePr>
        <p:xfrm>
          <a:off x="2211388" y="4611688"/>
          <a:ext cx="3960812" cy="1112837"/>
        </p:xfrm>
        <a:graphic>
          <a:graphicData uri="http://schemas.openxmlformats.org/drawingml/2006/table">
            <a:tbl>
              <a:tblPr firstRow="1" bandRow="1">
                <a:tableStyleId>{0E3FDE45-AF77-4B5C-9715-49D594BDF05E}</a:tableStyleId>
              </a:tblPr>
              <a:tblGrid>
                <a:gridCol w="1800369">
                  <a:extLst>
                    <a:ext uri="{9D8B030D-6E8A-4147-A177-3AD203B41FA5}">
                      <a16:colId xmlns:a16="http://schemas.microsoft.com/office/drawing/2014/main" val="20000"/>
                    </a:ext>
                  </a:extLst>
                </a:gridCol>
                <a:gridCol w="2160443">
                  <a:extLst>
                    <a:ext uri="{9D8B030D-6E8A-4147-A177-3AD203B41FA5}">
                      <a16:colId xmlns:a16="http://schemas.microsoft.com/office/drawing/2014/main" val="20001"/>
                    </a:ext>
                  </a:extLst>
                </a:gridCol>
              </a:tblGrid>
              <a:tr h="370946">
                <a:tc>
                  <a:txBody>
                    <a:bodyPr/>
                    <a:lstStyle/>
                    <a:p>
                      <a:pPr algn="ctr"/>
                      <a:r>
                        <a:rPr lang="en-CA" sz="1800" dirty="0"/>
                        <a:t>EmployeeId</a:t>
                      </a:r>
                    </a:p>
                  </a:txBody>
                  <a:tcPr marL="91449" marR="91449" marT="45733" marB="45733"/>
                </a:tc>
                <a:tc>
                  <a:txBody>
                    <a:bodyPr/>
                    <a:lstStyle/>
                    <a:p>
                      <a:pPr algn="ctr"/>
                      <a:r>
                        <a:rPr lang="en-CA" sz="1800" dirty="0"/>
                        <a:t>ContactNumber</a:t>
                      </a:r>
                    </a:p>
                  </a:txBody>
                  <a:tcPr marL="91449" marR="91449" marT="45733" marB="45733"/>
                </a:tc>
                <a:extLst>
                  <a:ext uri="{0D108BD9-81ED-4DB2-BD59-A6C34878D82A}">
                    <a16:rowId xmlns:a16="http://schemas.microsoft.com/office/drawing/2014/main" val="10000"/>
                  </a:ext>
                </a:extLst>
              </a:tr>
              <a:tr h="370946">
                <a:tc>
                  <a:txBody>
                    <a:bodyPr/>
                    <a:lstStyle/>
                    <a:p>
                      <a:pPr algn="ctr"/>
                      <a:r>
                        <a:rPr lang="en-CA" sz="1800" dirty="0"/>
                        <a:t>1</a:t>
                      </a:r>
                    </a:p>
                  </a:txBody>
                  <a:tcPr marL="91449" marR="91449" marT="45733" marB="45733"/>
                </a:tc>
                <a:tc>
                  <a:txBody>
                    <a:bodyPr/>
                    <a:lstStyle/>
                    <a:p>
                      <a:pPr algn="ctr"/>
                      <a:r>
                        <a:rPr lang="en-CA" sz="1800" dirty="0"/>
                        <a:t>111-1111</a:t>
                      </a:r>
                    </a:p>
                  </a:txBody>
                  <a:tcPr marL="91449" marR="91449" marT="45733" marB="45733"/>
                </a:tc>
                <a:extLst>
                  <a:ext uri="{0D108BD9-81ED-4DB2-BD59-A6C34878D82A}">
                    <a16:rowId xmlns:a16="http://schemas.microsoft.com/office/drawing/2014/main" val="10001"/>
                  </a:ext>
                </a:extLst>
              </a:tr>
              <a:tr h="370946">
                <a:tc>
                  <a:txBody>
                    <a:bodyPr/>
                    <a:lstStyle/>
                    <a:p>
                      <a:pPr algn="ctr"/>
                      <a:r>
                        <a:rPr lang="en-CA" sz="1800" dirty="0"/>
                        <a:t>1</a:t>
                      </a:r>
                    </a:p>
                  </a:txBody>
                  <a:tcPr marL="91449" marR="91449" marT="45733" marB="45733"/>
                </a:tc>
                <a:tc>
                  <a:txBody>
                    <a:bodyPr/>
                    <a:lstStyle/>
                    <a:p>
                      <a:pPr algn="ctr"/>
                      <a:r>
                        <a:rPr lang="en-CA" sz="1800" dirty="0"/>
                        <a:t>222-2222</a:t>
                      </a:r>
                    </a:p>
                  </a:txBody>
                  <a:tcPr marL="91449" marR="91449" marT="45733" marB="45733"/>
                </a:tc>
                <a:extLst>
                  <a:ext uri="{0D108BD9-81ED-4DB2-BD59-A6C34878D82A}">
                    <a16:rowId xmlns:a16="http://schemas.microsoft.com/office/drawing/2014/main" val="10002"/>
                  </a:ext>
                </a:extLst>
              </a:tr>
            </a:tbl>
          </a:graphicData>
        </a:graphic>
      </p:graphicFrame>
      <p:sp>
        <p:nvSpPr>
          <p:cNvPr id="12" name="TextBox 11">
            <a:extLst>
              <a:ext uri="{FF2B5EF4-FFF2-40B4-BE49-F238E27FC236}">
                <a16:creationId xmlns:a16="http://schemas.microsoft.com/office/drawing/2014/main" id="{904B1564-6818-B346-B227-7C5B4640A57B}"/>
              </a:ext>
            </a:extLst>
          </p:cNvPr>
          <p:cNvSpPr txBox="1">
            <a:spLocks noChangeArrowheads="1"/>
          </p:cNvSpPr>
          <p:nvPr/>
        </p:nvSpPr>
        <p:spPr bwMode="auto">
          <a:xfrm>
            <a:off x="3219450" y="4035425"/>
            <a:ext cx="19446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Employee table</a:t>
            </a:r>
          </a:p>
        </p:txBody>
      </p:sp>
      <p:sp>
        <p:nvSpPr>
          <p:cNvPr id="16" name="TextBox 15">
            <a:extLst>
              <a:ext uri="{FF2B5EF4-FFF2-40B4-BE49-F238E27FC236}">
                <a16:creationId xmlns:a16="http://schemas.microsoft.com/office/drawing/2014/main" id="{A88C17CF-A033-7860-EC79-537701914AFD}"/>
              </a:ext>
            </a:extLst>
          </p:cNvPr>
          <p:cNvSpPr txBox="1">
            <a:spLocks noChangeArrowheads="1"/>
          </p:cNvSpPr>
          <p:nvPr/>
        </p:nvSpPr>
        <p:spPr bwMode="auto">
          <a:xfrm>
            <a:off x="3219450" y="5724525"/>
            <a:ext cx="194468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Contact table</a:t>
            </a:r>
          </a:p>
        </p:txBody>
      </p:sp>
      <p:sp>
        <p:nvSpPr>
          <p:cNvPr id="13" name="Rounded Rectangle 12">
            <a:hlinkClick r:id="rId2" action="ppaction://hlinksldjump"/>
            <a:extLst>
              <a:ext uri="{FF2B5EF4-FFF2-40B4-BE49-F238E27FC236}">
                <a16:creationId xmlns:a16="http://schemas.microsoft.com/office/drawing/2014/main" id="{AF327C1C-78E7-28F5-D659-31D86A052DFF}"/>
              </a:ext>
            </a:extLst>
          </p:cNvPr>
          <p:cNvSpPr/>
          <p:nvPr/>
        </p:nvSpPr>
        <p:spPr bwMode="auto">
          <a:xfrm>
            <a:off x="3094038" y="6092825"/>
            <a:ext cx="2195512" cy="482600"/>
          </a:xfrm>
          <a:prstGeom prst="roundRect">
            <a:avLst/>
          </a:prstGeom>
          <a:ln>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nchorCtr="1"/>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sz="3200" b="0" i="0" u="none" strike="noStrike" kern="1200" cap="none" spc="0" normalizeH="0" baseline="0" noProof="0" dirty="0">
                <a:ln>
                  <a:noFill/>
                </a:ln>
                <a:solidFill>
                  <a:srgbClr val="FFFFFF"/>
                </a:solidFill>
                <a:effectLst/>
                <a:uLnTx/>
                <a:uFillTx/>
                <a:latin typeface="Arial" charset="0"/>
                <a:ea typeface="+mn-ea"/>
                <a:cs typeface="+mn-cs"/>
              </a:rPr>
              <a:t>Answer</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wipe(left)">
                                      <p:cBhvr>
                                        <p:cTn id="7" dur="500"/>
                                        <p:tgtEl>
                                          <p:spTgt spid="11">
                                            <p:txEl>
                                              <p:pRg st="0" end="0"/>
                                            </p:txEl>
                                          </p:spTgt>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up)">
                                      <p:cBhvr>
                                        <p:cTn id="11" dur="500"/>
                                        <p:tgtEl>
                                          <p:spTgt spid="9"/>
                                        </p:tgtEl>
                                      </p:cBhvr>
                                    </p:animEffect>
                                  </p:childTnLst>
                                </p:cTn>
                              </p:par>
                            </p:childTnLst>
                          </p:cTn>
                        </p:par>
                        <p:par>
                          <p:cTn id="12" fill="hold" nodeType="afterGroup">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wipe(up)">
                                      <p:cBhvr>
                                        <p:cTn id="15" dur="500"/>
                                        <p:tgtEl>
                                          <p:spTgt spid="12"/>
                                        </p:tgtEl>
                                      </p:cBhvr>
                                    </p:animEffect>
                                  </p:childTnLst>
                                </p:cTn>
                              </p:par>
                            </p:childTnLst>
                          </p:cTn>
                        </p:par>
                        <p:par>
                          <p:cTn id="16" fill="hold" nodeType="afterGroup">
                            <p:stCondLst>
                              <p:cond delay="1500"/>
                            </p:stCondLst>
                            <p:childTnLst>
                              <p:par>
                                <p:cTn id="17" presetID="22" presetClass="entr" presetSubtype="1" fill="hold" nodeType="after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wipe(up)">
                                      <p:cBhvr>
                                        <p:cTn id="19" dur="500"/>
                                        <p:tgtEl>
                                          <p:spTgt spid="15"/>
                                        </p:tgtEl>
                                      </p:cBhvr>
                                    </p:animEffect>
                                  </p:childTnLst>
                                </p:cTn>
                              </p:par>
                            </p:childTnLst>
                          </p:cTn>
                        </p:par>
                        <p:par>
                          <p:cTn id="20" fill="hold" nodeType="afterGroup">
                            <p:stCondLst>
                              <p:cond delay="2000"/>
                            </p:stCondLst>
                            <p:childTnLst>
                              <p:par>
                                <p:cTn id="21" presetID="22" presetClass="entr" presetSubtype="1" fill="hold" grpId="0" nodeType="after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wipe(up)">
                                      <p:cBhvr>
                                        <p:cTn id="23" dur="500"/>
                                        <p:tgtEl>
                                          <p:spTgt spid="16"/>
                                        </p:tgtEl>
                                      </p:cBhvr>
                                    </p:animEffect>
                                  </p:childTnLst>
                                </p:cTn>
                              </p:par>
                            </p:childTnLst>
                          </p:cTn>
                        </p:par>
                        <p:par>
                          <p:cTn id="24" fill="hold" nodeType="afterGroup">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wipe(left)">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P spid="12" grpId="0"/>
      <p:bldP spid="16" grpId="0"/>
      <p:bldP spid="13" grpId="0" animBg="1"/>
    </p:bldLst>
  </p:timing>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84BA6A-2453-8BC5-2A24-A35E7EF7DAC6}"/>
              </a:ext>
            </a:extLst>
          </p:cNvPr>
          <p:cNvSpPr>
            <a:spLocks noGrp="1"/>
          </p:cNvSpPr>
          <p:nvPr>
            <p:ph type="title"/>
          </p:nvPr>
        </p:nvSpPr>
        <p:spPr>
          <a:xfrm>
            <a:off x="457200" y="0"/>
            <a:ext cx="7620000" cy="1143000"/>
          </a:xfrm>
        </p:spPr>
        <p:txBody>
          <a:bodyPr/>
          <a:lstStyle/>
          <a:p>
            <a:pPr algn="ctr">
              <a:defRPr/>
            </a:pPr>
            <a:r>
              <a:rPr lang="en-US" dirty="0"/>
              <a:t>Activity 1</a:t>
            </a:r>
            <a:endParaRPr lang="en-MY" dirty="0"/>
          </a:p>
        </p:txBody>
      </p:sp>
      <p:sp>
        <p:nvSpPr>
          <p:cNvPr id="10" name="Title 1">
            <a:extLst>
              <a:ext uri="{FF2B5EF4-FFF2-40B4-BE49-F238E27FC236}">
                <a16:creationId xmlns:a16="http://schemas.microsoft.com/office/drawing/2014/main" id="{5DEE552F-A238-B2AD-48FD-FA9F86F55E27}"/>
              </a:ext>
            </a:extLst>
          </p:cNvPr>
          <p:cNvSpPr txBox="1">
            <a:spLocks/>
          </p:cNvSpPr>
          <p:nvPr/>
        </p:nvSpPr>
        <p:spPr bwMode="auto">
          <a:xfrm>
            <a:off x="0" y="836613"/>
            <a:ext cx="8172450" cy="323850"/>
          </a:xfrm>
          <a:prstGeom prst="rect">
            <a:avLst/>
          </a:prstGeom>
          <a:noFill/>
          <a:ln w="9525">
            <a:noFill/>
            <a:miter lim="800000"/>
            <a:headEnd/>
            <a:tailEnd/>
          </a:ln>
        </p:spPr>
        <p:txBody>
          <a:bodyPr lIns="72000" tIns="0" rIns="72000" bIns="0"/>
          <a:lstStyle/>
          <a:p>
            <a:pPr marL="0" marR="0" lvl="0" indent="0" algn="l" defTabSz="720000" rtl="0" eaLnBrk="1" fontAlgn="base" latinLnBrk="0" hangingPunct="1">
              <a:lnSpc>
                <a:spcPts val="1800"/>
              </a:lnSpc>
              <a:spcBef>
                <a:spcPts val="0"/>
              </a:spcBef>
              <a:spcAft>
                <a:spcPts val="0"/>
              </a:spcAft>
              <a:buClrTx/>
              <a:buSzTx/>
              <a:buFontTx/>
              <a:buNone/>
              <a:tabLst>
                <a:tab pos="0" algn="l"/>
              </a:tabLst>
              <a:defRPr/>
            </a:pPr>
            <a:r>
              <a:rPr kumimoji="0" lang="en-US" sz="1800" b="1" i="0" u="none" strike="noStrike" kern="0" cap="none" spc="0" normalizeH="0" baseline="0" noProof="0" dirty="0">
                <a:ln>
                  <a:noFill/>
                </a:ln>
                <a:solidFill>
                  <a:srgbClr val="2F2B20"/>
                </a:solidFill>
                <a:effectLst/>
                <a:uLnTx/>
                <a:uFillTx/>
                <a:latin typeface="Calibri"/>
                <a:ea typeface="+mn-ea"/>
                <a:cs typeface="Calibri" pitchFamily="34" charset="0"/>
              </a:rPr>
              <a:t>CLASS ACTIVITY</a:t>
            </a:r>
            <a:endParaRPr kumimoji="0" lang="en-MY" sz="1800" b="1" i="0" u="none" strike="noStrike" kern="0" cap="none" spc="0" normalizeH="0" baseline="0" noProof="0" dirty="0">
              <a:ln>
                <a:noFill/>
              </a:ln>
              <a:solidFill>
                <a:srgbClr val="2F2B20"/>
              </a:solidFill>
              <a:effectLst/>
              <a:uLnTx/>
              <a:uFillTx/>
              <a:latin typeface="Calibri"/>
              <a:ea typeface="+mn-ea"/>
              <a:cs typeface="Calibri" pitchFamily="34" charset="0"/>
            </a:endParaRPr>
          </a:p>
        </p:txBody>
      </p:sp>
      <p:sp>
        <p:nvSpPr>
          <p:cNvPr id="20" name="Rounded Rectangle 19">
            <a:extLst>
              <a:ext uri="{FF2B5EF4-FFF2-40B4-BE49-F238E27FC236}">
                <a16:creationId xmlns:a16="http://schemas.microsoft.com/office/drawing/2014/main" id="{53025B52-21CC-A05D-4976-0A69B5FF45BF}"/>
              </a:ext>
            </a:extLst>
          </p:cNvPr>
          <p:cNvSpPr/>
          <p:nvPr/>
        </p:nvSpPr>
        <p:spPr bwMode="auto">
          <a:xfrm>
            <a:off x="841375" y="2311400"/>
            <a:ext cx="7007225" cy="1549400"/>
          </a:xfrm>
          <a:prstGeom prst="roundRect">
            <a:avLst/>
          </a:prstGeom>
          <a:solidFill>
            <a:schemeClr val="accent6">
              <a:alpha val="30000"/>
            </a:schemeClr>
          </a:solidFill>
          <a:ln w="9525" cap="flat" cmpd="sng" algn="ctr">
            <a:solidFill>
              <a:schemeClr val="accent6"/>
            </a:solidFill>
            <a:prstDash val="solid"/>
            <a:round/>
            <a:headEnd type="none" w="med" len="med"/>
            <a:tailEnd type="none" w="med" len="med"/>
          </a:ln>
          <a:effectLst/>
        </p:spPr>
        <p:txBody>
          <a:bodyPr anchor="ctr" anchorCtr="1"/>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2800" b="0"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SELECT * FROM Employee, Contact WHERE </a:t>
            </a:r>
            <a:r>
              <a:rPr kumimoji="0" lang="en-CA" sz="2800" b="0" i="0" u="none" strike="noStrike" kern="1200" cap="none" spc="0" normalizeH="0" baseline="0" noProof="0" dirty="0" err="1">
                <a:ln>
                  <a:noFill/>
                </a:ln>
                <a:solidFill>
                  <a:srgbClr val="2F2B20"/>
                </a:solidFill>
                <a:effectLst/>
                <a:uLnTx/>
                <a:uFillTx/>
                <a:latin typeface="Arial" panose="020B0604020202020204" pitchFamily="34" charset="0"/>
                <a:ea typeface="+mn-ea"/>
                <a:cs typeface="Arial" panose="020B0604020202020204" pitchFamily="34" charset="0"/>
              </a:rPr>
              <a:t>Employee.EmployeeID</a:t>
            </a:r>
            <a:r>
              <a:rPr kumimoji="0" lang="en-CA" sz="2800" b="0"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 = </a:t>
            </a:r>
            <a:r>
              <a:rPr kumimoji="0" lang="en-CA" sz="2800" b="0" i="0" u="none" strike="noStrike" kern="1200" cap="none" spc="0" normalizeH="0" baseline="0" noProof="0" dirty="0" err="1">
                <a:ln>
                  <a:noFill/>
                </a:ln>
                <a:solidFill>
                  <a:srgbClr val="2F2B20"/>
                </a:solidFill>
                <a:effectLst/>
                <a:uLnTx/>
                <a:uFillTx/>
                <a:latin typeface="Arial" panose="020B0604020202020204" pitchFamily="34" charset="0"/>
                <a:ea typeface="+mn-ea"/>
                <a:cs typeface="Arial" panose="020B0604020202020204" pitchFamily="34" charset="0"/>
              </a:rPr>
              <a:t>Contact.EmployeeID</a:t>
            </a:r>
            <a:r>
              <a:rPr kumimoji="0" lang="en-CA" sz="2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a:t>
            </a:r>
            <a:endParaRPr kumimoji="0" lang="en-CA" sz="2800" b="0"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endParaRPr>
          </a:p>
        </p:txBody>
      </p:sp>
      <p:graphicFrame>
        <p:nvGraphicFramePr>
          <p:cNvPr id="3" name="Table 2">
            <a:extLst>
              <a:ext uri="{FF2B5EF4-FFF2-40B4-BE49-F238E27FC236}">
                <a16:creationId xmlns:a16="http://schemas.microsoft.com/office/drawing/2014/main" id="{25D8D394-70F2-99C3-CF19-0975207F977B}"/>
              </a:ext>
            </a:extLst>
          </p:cNvPr>
          <p:cNvGraphicFramePr>
            <a:graphicFrameLocks noGrp="1"/>
          </p:cNvGraphicFramePr>
          <p:nvPr/>
        </p:nvGraphicFramePr>
        <p:xfrm>
          <a:off x="336550" y="4797425"/>
          <a:ext cx="7740652" cy="1112838"/>
        </p:xfrm>
        <a:graphic>
          <a:graphicData uri="http://schemas.openxmlformats.org/drawingml/2006/table">
            <a:tbl>
              <a:tblPr firstRow="1" bandRow="1">
                <a:tableStyleId>{9D7B26C5-4107-4FEC-AEDC-1716B250A1EF}</a:tableStyleId>
              </a:tblPr>
              <a:tblGrid>
                <a:gridCol w="1935163">
                  <a:extLst>
                    <a:ext uri="{9D8B030D-6E8A-4147-A177-3AD203B41FA5}">
                      <a16:colId xmlns:a16="http://schemas.microsoft.com/office/drawing/2014/main" val="20000"/>
                    </a:ext>
                  </a:extLst>
                </a:gridCol>
                <a:gridCol w="1935163">
                  <a:extLst>
                    <a:ext uri="{9D8B030D-6E8A-4147-A177-3AD203B41FA5}">
                      <a16:colId xmlns:a16="http://schemas.microsoft.com/office/drawing/2014/main" val="20001"/>
                    </a:ext>
                  </a:extLst>
                </a:gridCol>
                <a:gridCol w="1935163">
                  <a:extLst>
                    <a:ext uri="{9D8B030D-6E8A-4147-A177-3AD203B41FA5}">
                      <a16:colId xmlns:a16="http://schemas.microsoft.com/office/drawing/2014/main" val="20002"/>
                    </a:ext>
                  </a:extLst>
                </a:gridCol>
                <a:gridCol w="1935163">
                  <a:extLst>
                    <a:ext uri="{9D8B030D-6E8A-4147-A177-3AD203B41FA5}">
                      <a16:colId xmlns:a16="http://schemas.microsoft.com/office/drawing/2014/main" val="20003"/>
                    </a:ext>
                  </a:extLst>
                </a:gridCol>
              </a:tblGrid>
              <a:tr h="370946">
                <a:tc>
                  <a:txBody>
                    <a:bodyPr/>
                    <a:lstStyle/>
                    <a:p>
                      <a:pPr algn="ctr"/>
                      <a:r>
                        <a:rPr lang="en-CA" sz="1800" dirty="0"/>
                        <a:t>EmployeeId</a:t>
                      </a:r>
                    </a:p>
                  </a:txBody>
                  <a:tcPr marL="91444" marR="91444" marT="45733" marB="45733"/>
                </a:tc>
                <a:tc>
                  <a:txBody>
                    <a:bodyPr/>
                    <a:lstStyle/>
                    <a:p>
                      <a:pPr algn="ctr"/>
                      <a:r>
                        <a:rPr lang="en-CA" sz="1800" dirty="0"/>
                        <a:t>Name</a:t>
                      </a:r>
                    </a:p>
                  </a:txBody>
                  <a:tcPr marL="91444" marR="91444" marT="45733" marB="45733"/>
                </a:tc>
                <a:tc>
                  <a:txBody>
                    <a:bodyPr/>
                    <a:lstStyle/>
                    <a:p>
                      <a:pPr algn="ctr"/>
                      <a:r>
                        <a:rPr lang="en-CA" sz="1800" dirty="0"/>
                        <a:t>EmployeeId</a:t>
                      </a:r>
                    </a:p>
                  </a:txBody>
                  <a:tcPr marL="91444" marR="91444" marT="45733" marB="45733"/>
                </a:tc>
                <a:tc>
                  <a:txBody>
                    <a:bodyPr/>
                    <a:lstStyle/>
                    <a:p>
                      <a:pPr algn="ctr"/>
                      <a:r>
                        <a:rPr lang="en-CA" sz="1800" dirty="0"/>
                        <a:t>ContactNumber</a:t>
                      </a:r>
                    </a:p>
                  </a:txBody>
                  <a:tcPr marL="91444" marR="91444" marT="45733" marB="45733"/>
                </a:tc>
                <a:extLst>
                  <a:ext uri="{0D108BD9-81ED-4DB2-BD59-A6C34878D82A}">
                    <a16:rowId xmlns:a16="http://schemas.microsoft.com/office/drawing/2014/main" val="10000"/>
                  </a:ext>
                </a:extLst>
              </a:tr>
              <a:tr h="370946">
                <a:tc>
                  <a:txBody>
                    <a:bodyPr/>
                    <a:lstStyle/>
                    <a:p>
                      <a:pPr algn="ctr"/>
                      <a:r>
                        <a:rPr lang="en-CA" sz="1800" dirty="0"/>
                        <a:t>1</a:t>
                      </a:r>
                    </a:p>
                  </a:txBody>
                  <a:tcPr marL="91444" marR="91444" marT="45733" marB="45733"/>
                </a:tc>
                <a:tc>
                  <a:txBody>
                    <a:bodyPr/>
                    <a:lstStyle/>
                    <a:p>
                      <a:pPr algn="ctr"/>
                      <a:r>
                        <a:rPr lang="en-CA" sz="1800" dirty="0"/>
                        <a:t>Aamir Ali</a:t>
                      </a:r>
                    </a:p>
                  </a:txBody>
                  <a:tcPr marL="91444" marR="91444" marT="45733" marB="45733"/>
                </a:tc>
                <a:tc>
                  <a:txBody>
                    <a:bodyPr/>
                    <a:lstStyle/>
                    <a:p>
                      <a:pPr algn="ctr"/>
                      <a:r>
                        <a:rPr lang="en-CA" sz="1800" dirty="0"/>
                        <a:t>1</a:t>
                      </a:r>
                    </a:p>
                  </a:txBody>
                  <a:tcPr marL="91444" marR="91444" marT="45733" marB="45733"/>
                </a:tc>
                <a:tc>
                  <a:txBody>
                    <a:bodyPr/>
                    <a:lstStyle/>
                    <a:p>
                      <a:pPr algn="ctr"/>
                      <a:r>
                        <a:rPr lang="en-CA" sz="1800" dirty="0"/>
                        <a:t>111-1111</a:t>
                      </a:r>
                    </a:p>
                  </a:txBody>
                  <a:tcPr marL="91444" marR="91444" marT="45733" marB="45733"/>
                </a:tc>
                <a:extLst>
                  <a:ext uri="{0D108BD9-81ED-4DB2-BD59-A6C34878D82A}">
                    <a16:rowId xmlns:a16="http://schemas.microsoft.com/office/drawing/2014/main" val="10001"/>
                  </a:ext>
                </a:extLst>
              </a:tr>
              <a:tr h="370946">
                <a:tc>
                  <a:txBody>
                    <a:bodyPr/>
                    <a:lstStyle/>
                    <a:p>
                      <a:pPr algn="ctr"/>
                      <a:r>
                        <a:rPr lang="en-CA" sz="1800" dirty="0"/>
                        <a:t>1</a:t>
                      </a:r>
                    </a:p>
                  </a:txBody>
                  <a:tcPr marL="91444" marR="91444" marT="45733" marB="45733"/>
                </a:tc>
                <a:tc>
                  <a:txBody>
                    <a:bodyPr/>
                    <a:lstStyle/>
                    <a:p>
                      <a:pPr algn="ctr"/>
                      <a:r>
                        <a:rPr lang="en-CA" sz="1800" dirty="0"/>
                        <a:t>Aamir Ali</a:t>
                      </a:r>
                    </a:p>
                  </a:txBody>
                  <a:tcPr marL="91444" marR="91444" marT="45733" marB="45733"/>
                </a:tc>
                <a:tc>
                  <a:txBody>
                    <a:bodyPr/>
                    <a:lstStyle/>
                    <a:p>
                      <a:pPr algn="ctr"/>
                      <a:r>
                        <a:rPr lang="en-CA" sz="1800" dirty="0"/>
                        <a:t>1</a:t>
                      </a:r>
                    </a:p>
                  </a:txBody>
                  <a:tcPr marL="91444" marR="91444" marT="45733" marB="45733"/>
                </a:tc>
                <a:tc>
                  <a:txBody>
                    <a:bodyPr/>
                    <a:lstStyle/>
                    <a:p>
                      <a:pPr algn="ctr"/>
                      <a:r>
                        <a:rPr lang="en-CA" sz="1800" dirty="0"/>
                        <a:t>222-2222</a:t>
                      </a:r>
                    </a:p>
                  </a:txBody>
                  <a:tcPr marL="91444" marR="91444" marT="45733" marB="45733"/>
                </a:tc>
                <a:extLst>
                  <a:ext uri="{0D108BD9-81ED-4DB2-BD59-A6C34878D82A}">
                    <a16:rowId xmlns:a16="http://schemas.microsoft.com/office/drawing/2014/main" val="10002"/>
                  </a:ext>
                </a:extLst>
              </a:tr>
            </a:tbl>
          </a:graphicData>
        </a:graphic>
      </p:graphicFrame>
      <p:sp>
        <p:nvSpPr>
          <p:cNvPr id="12" name="Rounded Rectangle 11">
            <a:extLst>
              <a:ext uri="{FF2B5EF4-FFF2-40B4-BE49-F238E27FC236}">
                <a16:creationId xmlns:a16="http://schemas.microsoft.com/office/drawing/2014/main" id="{0F3E5C04-32F7-B2FA-0F6A-6BC38F2E0139}"/>
              </a:ext>
            </a:extLst>
          </p:cNvPr>
          <p:cNvSpPr/>
          <p:nvPr/>
        </p:nvSpPr>
        <p:spPr bwMode="auto">
          <a:xfrm>
            <a:off x="3168650" y="1503363"/>
            <a:ext cx="2197100" cy="482600"/>
          </a:xfrm>
          <a:prstGeom prst="roundRect">
            <a:avLst/>
          </a:prstGeom>
          <a:ln>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nchorCtr="1"/>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sz="3200" b="0" i="0" u="none" strike="noStrike" kern="1200" cap="none" spc="0" normalizeH="0" baseline="0" noProof="0" dirty="0">
                <a:ln>
                  <a:noFill/>
                </a:ln>
                <a:solidFill>
                  <a:srgbClr val="FFFFFF"/>
                </a:solidFill>
                <a:effectLst/>
                <a:uLnTx/>
                <a:uFillTx/>
                <a:latin typeface="Arial" charset="0"/>
                <a:ea typeface="+mn-ea"/>
                <a:cs typeface="+mn-cs"/>
              </a:rPr>
              <a:t>Answer</a:t>
            </a:r>
          </a:p>
        </p:txBody>
      </p:sp>
      <p:sp>
        <p:nvSpPr>
          <p:cNvPr id="56342" name="Content Placeholder 3">
            <a:extLst>
              <a:ext uri="{FF2B5EF4-FFF2-40B4-BE49-F238E27FC236}">
                <a16:creationId xmlns:a16="http://schemas.microsoft.com/office/drawing/2014/main" id="{D47A1DA5-B222-F309-CED5-DDCF023FD85A}"/>
              </a:ext>
            </a:extLst>
          </p:cNvPr>
          <p:cNvSpPr txBox="1">
            <a:spLocks/>
          </p:cNvSpPr>
          <p:nvPr/>
        </p:nvSpPr>
        <p:spPr bwMode="auto">
          <a:xfrm>
            <a:off x="250825" y="4221163"/>
            <a:ext cx="8642350" cy="187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Resulting table:</a:t>
            </a:r>
          </a:p>
        </p:txBody>
      </p:sp>
    </p:spTree>
  </p:cSld>
  <p:clrMapOvr>
    <a:masterClrMapping/>
  </p:clrMapOvr>
  <p:transition spd="slow" advClick="0"/>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F7BC42-8C49-D599-D4B6-5D65744EF5A9}"/>
              </a:ext>
            </a:extLst>
          </p:cNvPr>
          <p:cNvSpPr>
            <a:spLocks noGrp="1"/>
          </p:cNvSpPr>
          <p:nvPr>
            <p:ph type="title"/>
          </p:nvPr>
        </p:nvSpPr>
        <p:spPr>
          <a:xfrm>
            <a:off x="457200" y="0"/>
            <a:ext cx="7620000" cy="1143000"/>
          </a:xfrm>
        </p:spPr>
        <p:txBody>
          <a:bodyPr/>
          <a:lstStyle/>
          <a:p>
            <a:pPr algn="ctr">
              <a:defRPr/>
            </a:pPr>
            <a:r>
              <a:rPr lang="en-US" dirty="0"/>
              <a:t>JOIN</a:t>
            </a:r>
            <a:endParaRPr lang="en-MY" dirty="0"/>
          </a:p>
        </p:txBody>
      </p:sp>
      <p:sp>
        <p:nvSpPr>
          <p:cNvPr id="22" name="Snip Single Corner Rectangle 21">
            <a:extLst>
              <a:ext uri="{FF2B5EF4-FFF2-40B4-BE49-F238E27FC236}">
                <a16:creationId xmlns:a16="http://schemas.microsoft.com/office/drawing/2014/main" id="{FEAB51F8-D100-0A60-1CC3-F771B6D1FEAA}"/>
              </a:ext>
            </a:extLst>
          </p:cNvPr>
          <p:cNvSpPr/>
          <p:nvPr/>
        </p:nvSpPr>
        <p:spPr>
          <a:xfrm>
            <a:off x="-36513" y="1125538"/>
            <a:ext cx="1655763" cy="400050"/>
          </a:xfrm>
          <a:prstGeom prst="snip1Rect">
            <a:avLst/>
          </a:prstGeom>
          <a:ln/>
        </p:spPr>
        <p:style>
          <a:lnRef idx="1">
            <a:schemeClr val="accent1"/>
          </a:lnRef>
          <a:fillRef idx="3">
            <a:schemeClr val="accent1"/>
          </a:fillRef>
          <a:effectRef idx="2">
            <a:schemeClr val="accent1"/>
          </a:effectRef>
          <a:fontRef idx="minor">
            <a:schemeClr val="lt1"/>
          </a:fontRef>
        </p:style>
        <p:txBody>
          <a:bodyPr anchor="ctr">
            <a:spAutoFit/>
          </a:bodyPr>
          <a:lstStyle/>
          <a:p>
            <a:pPr marL="342900" marR="0" lvl="0" indent="-342900" algn="just" defTabSz="914400" rtl="0" eaLnBrk="1" fontAlgn="base" latinLnBrk="0" hangingPunct="1">
              <a:lnSpc>
                <a:spcPct val="100000"/>
              </a:lnSpc>
              <a:spcBef>
                <a:spcPct val="20000"/>
              </a:spcBef>
              <a:spcAft>
                <a:spcPct val="0"/>
              </a:spcAft>
              <a:buClr>
                <a:srgbClr val="FF6600"/>
              </a:buClr>
              <a:buSzPct val="100000"/>
              <a:buFontTx/>
              <a:buNone/>
              <a:tabLst/>
              <a:defRPr/>
            </a:pPr>
            <a:r>
              <a:rPr kumimoji="0" lang="en-US" sz="1800" b="0" i="0" u="none" strike="noStrike" kern="1200" cap="none" spc="0" normalizeH="0" baseline="0" noProof="0" dirty="0">
                <a:ln>
                  <a:noFill/>
                </a:ln>
                <a:solidFill>
                  <a:srgbClr val="FFFFFF"/>
                </a:solidFill>
                <a:effectLst/>
                <a:uLnTx/>
                <a:uFillTx/>
                <a:latin typeface="Arial" pitchFamily="34" charset="0"/>
                <a:ea typeface="Times New Roman" pitchFamily="18" charset="0"/>
                <a:cs typeface="Arial" pitchFamily="34" charset="0"/>
              </a:rPr>
              <a:t>OUTER JOIN</a:t>
            </a:r>
            <a:endParaRPr kumimoji="0" lang="en-GB" sz="1800" b="0" i="0" u="none" strike="noStrike" kern="0" cap="none" spc="0" normalizeH="0" baseline="0" noProof="0" dirty="0">
              <a:ln>
                <a:noFill/>
              </a:ln>
              <a:solidFill>
                <a:srgbClr val="2F2B20"/>
              </a:solidFill>
              <a:effectLst/>
              <a:uLnTx/>
              <a:uFillTx/>
              <a:latin typeface="Calibri"/>
              <a:ea typeface="+mn-ea"/>
              <a:cs typeface="+mn-cs"/>
            </a:endParaRPr>
          </a:p>
        </p:txBody>
      </p:sp>
      <p:sp>
        <p:nvSpPr>
          <p:cNvPr id="23" name="Content Placeholder 2">
            <a:extLst>
              <a:ext uri="{FF2B5EF4-FFF2-40B4-BE49-F238E27FC236}">
                <a16:creationId xmlns:a16="http://schemas.microsoft.com/office/drawing/2014/main" id="{BBB14216-8F23-6886-F473-8366E60A1B09}"/>
              </a:ext>
            </a:extLst>
          </p:cNvPr>
          <p:cNvSpPr txBox="1">
            <a:spLocks/>
          </p:cNvSpPr>
          <p:nvPr/>
        </p:nvSpPr>
        <p:spPr bwMode="auto">
          <a:xfrm>
            <a:off x="250825" y="1773238"/>
            <a:ext cx="7910513"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Outer join is a variation of inner join where in some cases, the rows will be displayed in the result even if the join conditions are not satisfied</a:t>
            </a: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Types of outer join</a:t>
            </a: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sp>
        <p:nvSpPr>
          <p:cNvPr id="37" name="Rectangle 36">
            <a:hlinkClick r:id="rId2" action="ppaction://hlinksldjump"/>
            <a:extLst>
              <a:ext uri="{FF2B5EF4-FFF2-40B4-BE49-F238E27FC236}">
                <a16:creationId xmlns:a16="http://schemas.microsoft.com/office/drawing/2014/main" id="{BCC659E2-F032-27DD-4452-97B98BC7E078}"/>
              </a:ext>
            </a:extLst>
          </p:cNvPr>
          <p:cNvSpPr/>
          <p:nvPr/>
        </p:nvSpPr>
        <p:spPr>
          <a:xfrm>
            <a:off x="304800" y="4293096"/>
            <a:ext cx="2236185" cy="1341711"/>
          </a:xfrm>
          <a:prstGeom prst="rect">
            <a:avLst/>
          </a:prstGeom>
          <a:solidFill>
            <a:schemeClr val="bg1">
              <a:lumMod val="5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lIns="83820" tIns="83820" rIns="83820" bIns="83820" spcCol="1270" anchor="ctr"/>
          <a:lstStyle/>
          <a:p>
            <a:pPr marL="0" marR="0" lvl="0" indent="0" algn="ctr" defTabSz="977900" rtl="0" eaLnBrk="0" fontAlgn="base" latinLnBrk="0" hangingPunct="0">
              <a:lnSpc>
                <a:spcPct val="90000"/>
              </a:lnSpc>
              <a:spcBef>
                <a:spcPct val="0"/>
              </a:spcBef>
              <a:spcAft>
                <a:spcPct val="35000"/>
              </a:spcAft>
              <a:buClrTx/>
              <a:buSzTx/>
              <a:buFontTx/>
              <a:buNone/>
              <a:tabLst/>
              <a:defRPr/>
            </a:pPr>
            <a:r>
              <a:rPr kumimoji="0" lang="en-CA" sz="2200" b="0" i="0" u="none" strike="noStrike" kern="1200" cap="none" spc="0" normalizeH="0" baseline="0" noProof="0" dirty="0">
                <a:ln>
                  <a:noFill/>
                </a:ln>
                <a:solidFill>
                  <a:srgbClr val="FFFFFF"/>
                </a:solidFill>
                <a:effectLst/>
                <a:uLnTx/>
                <a:uFillTx/>
                <a:latin typeface="Calibri"/>
                <a:ea typeface="+mn-ea"/>
                <a:cs typeface="+mn-cs"/>
              </a:rPr>
              <a:t>LEFT OUTER JOIN</a:t>
            </a:r>
          </a:p>
        </p:txBody>
      </p:sp>
      <p:sp>
        <p:nvSpPr>
          <p:cNvPr id="38" name="Rectangle 37">
            <a:hlinkClick r:id="rId3" action="ppaction://hlinksldjump"/>
            <a:extLst>
              <a:ext uri="{FF2B5EF4-FFF2-40B4-BE49-F238E27FC236}">
                <a16:creationId xmlns:a16="http://schemas.microsoft.com/office/drawing/2014/main" id="{61C2DFCD-46DB-3D76-73EB-95F13C06BFA0}"/>
              </a:ext>
            </a:extLst>
          </p:cNvPr>
          <p:cNvSpPr/>
          <p:nvPr/>
        </p:nvSpPr>
        <p:spPr>
          <a:xfrm>
            <a:off x="5925361" y="4293095"/>
            <a:ext cx="2236185" cy="1341711"/>
          </a:xfrm>
          <a:prstGeom prst="rect">
            <a:avLst/>
          </a:prstGeom>
          <a:solidFill>
            <a:schemeClr val="accent3">
              <a:lumMod val="7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lIns="83820" tIns="83820" rIns="83820" bIns="83820" spcCol="1270" anchor="ctr"/>
          <a:lstStyle/>
          <a:p>
            <a:pPr marL="0" marR="0" lvl="0" indent="0" algn="ctr" defTabSz="977900" rtl="0" eaLnBrk="0" fontAlgn="base" latinLnBrk="0" hangingPunct="0">
              <a:lnSpc>
                <a:spcPct val="90000"/>
              </a:lnSpc>
              <a:spcBef>
                <a:spcPct val="0"/>
              </a:spcBef>
              <a:spcAft>
                <a:spcPct val="35000"/>
              </a:spcAft>
              <a:buClrTx/>
              <a:buSzTx/>
              <a:buFontTx/>
              <a:buNone/>
              <a:tabLst/>
              <a:defRPr/>
            </a:pPr>
            <a:r>
              <a:rPr kumimoji="0" lang="en-CA" sz="2200" b="0" i="0" u="none" strike="noStrike" kern="1200" cap="none" spc="0" normalizeH="0" baseline="0" noProof="0" dirty="0">
                <a:ln>
                  <a:noFill/>
                </a:ln>
                <a:solidFill>
                  <a:srgbClr val="FFFFFF"/>
                </a:solidFill>
                <a:effectLst/>
                <a:uLnTx/>
                <a:uFillTx/>
                <a:latin typeface="Calibri"/>
                <a:ea typeface="+mn-ea"/>
                <a:cs typeface="+mn-cs"/>
              </a:rPr>
              <a:t>FULL OUTER JOIN</a:t>
            </a:r>
          </a:p>
        </p:txBody>
      </p:sp>
      <p:sp>
        <p:nvSpPr>
          <p:cNvPr id="39" name="Rectangle 38">
            <a:hlinkClick r:id="rId4" action="ppaction://hlinksldjump"/>
            <a:extLst>
              <a:ext uri="{FF2B5EF4-FFF2-40B4-BE49-F238E27FC236}">
                <a16:creationId xmlns:a16="http://schemas.microsoft.com/office/drawing/2014/main" id="{78645D07-FA44-835C-FD7D-65CF6810F594}"/>
              </a:ext>
            </a:extLst>
          </p:cNvPr>
          <p:cNvSpPr/>
          <p:nvPr/>
        </p:nvSpPr>
        <p:spPr>
          <a:xfrm>
            <a:off x="3048001" y="4293096"/>
            <a:ext cx="2322252" cy="1341711"/>
          </a:xfrm>
          <a:prstGeom prst="rect">
            <a:avLst/>
          </a:prstGeom>
          <a:solidFill>
            <a:schemeClr val="bg2">
              <a:lumMod val="5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lIns="83820" tIns="83820" rIns="83820" bIns="83820" spcCol="1270" anchor="ctr"/>
          <a:lstStyle/>
          <a:p>
            <a:pPr marL="0" marR="0" lvl="0" indent="0" algn="ctr" defTabSz="977900" rtl="0" eaLnBrk="0" fontAlgn="base" latinLnBrk="0" hangingPunct="0">
              <a:lnSpc>
                <a:spcPct val="90000"/>
              </a:lnSpc>
              <a:spcBef>
                <a:spcPct val="0"/>
              </a:spcBef>
              <a:spcAft>
                <a:spcPct val="35000"/>
              </a:spcAft>
              <a:buClrTx/>
              <a:buSzTx/>
              <a:buFontTx/>
              <a:buNone/>
              <a:tabLst/>
              <a:defRPr/>
            </a:pPr>
            <a:r>
              <a:rPr kumimoji="0" lang="en-CA" sz="2200" b="0" i="0" u="none" strike="noStrike" kern="1200" cap="none" spc="0" normalizeH="0" baseline="0" noProof="0" dirty="0">
                <a:ln>
                  <a:noFill/>
                </a:ln>
                <a:solidFill>
                  <a:srgbClr val="FFFFFF"/>
                </a:solidFill>
                <a:effectLst/>
                <a:uLnTx/>
                <a:uFillTx/>
                <a:latin typeface="Calibri"/>
                <a:ea typeface="+mn-ea"/>
                <a:cs typeface="+mn-cs"/>
              </a:rPr>
              <a:t>RIGHT OUTER JOIN</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left)">
                                      <p:cBhvr>
                                        <p:cTn id="7" dur="500"/>
                                        <p:tgtEl>
                                          <p:spTgt spid="22"/>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23">
                                            <p:txEl>
                                              <p:pRg st="0" end="0"/>
                                            </p:txEl>
                                          </p:spTgt>
                                        </p:tgtEl>
                                        <p:attrNameLst>
                                          <p:attrName>style.visibility</p:attrName>
                                        </p:attrNameLst>
                                      </p:cBhvr>
                                      <p:to>
                                        <p:strVal val="visible"/>
                                      </p:to>
                                    </p:set>
                                    <p:animEffect transition="in" filter="wipe(left)">
                                      <p:cBhvr>
                                        <p:cTn id="11" dur="500"/>
                                        <p:tgtEl>
                                          <p:spTgt spid="23">
                                            <p:txEl>
                                              <p:pRg st="0" end="0"/>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23">
                                            <p:txEl>
                                              <p:pRg st="2" end="2"/>
                                            </p:txEl>
                                          </p:spTgt>
                                        </p:tgtEl>
                                        <p:attrNameLst>
                                          <p:attrName>style.visibility</p:attrName>
                                        </p:attrNameLst>
                                      </p:cBhvr>
                                      <p:to>
                                        <p:strVal val="visible"/>
                                      </p:to>
                                    </p:set>
                                    <p:animEffect transition="in" filter="wipe(left)">
                                      <p:cBhvr>
                                        <p:cTn id="16" dur="500"/>
                                        <p:tgtEl>
                                          <p:spTgt spid="23">
                                            <p:txEl>
                                              <p:pRg st="2" end="2"/>
                                            </p:txEl>
                                          </p:spTgt>
                                        </p:tgtEl>
                                      </p:cBhvr>
                                    </p:animEffect>
                                  </p:childTnLst>
                                </p:cTn>
                              </p:par>
                            </p:childTnLst>
                          </p:cTn>
                        </p:par>
                        <p:par>
                          <p:cTn id="17" fill="hold" nodeType="afterGroup">
                            <p:stCondLst>
                              <p:cond delay="500"/>
                            </p:stCondLst>
                            <p:childTnLst>
                              <p:par>
                                <p:cTn id="18" presetID="42" presetClass="entr" presetSubtype="0" fill="hold" nodeType="afterEffect">
                                  <p:stCondLst>
                                    <p:cond delay="0"/>
                                  </p:stCondLst>
                                  <p:childTnLst>
                                    <p:set>
                                      <p:cBhvr>
                                        <p:cTn id="19" dur="1" fill="hold">
                                          <p:stCondLst>
                                            <p:cond delay="0"/>
                                          </p:stCondLst>
                                        </p:cTn>
                                        <p:tgtEl>
                                          <p:spTgt spid="37"/>
                                        </p:tgtEl>
                                        <p:attrNameLst>
                                          <p:attrName>style.visibility</p:attrName>
                                        </p:attrNameLst>
                                      </p:cBhvr>
                                      <p:to>
                                        <p:strVal val="visible"/>
                                      </p:to>
                                    </p:set>
                                    <p:animEffect transition="in" filter="fade">
                                      <p:cBhvr>
                                        <p:cTn id="20" dur="1000"/>
                                        <p:tgtEl>
                                          <p:spTgt spid="37"/>
                                        </p:tgtEl>
                                      </p:cBhvr>
                                    </p:animEffect>
                                    <p:anim calcmode="lin" valueType="num">
                                      <p:cBhvr>
                                        <p:cTn id="21" dur="1000" fill="hold"/>
                                        <p:tgtEl>
                                          <p:spTgt spid="37"/>
                                        </p:tgtEl>
                                        <p:attrNameLst>
                                          <p:attrName>ppt_x</p:attrName>
                                        </p:attrNameLst>
                                      </p:cBhvr>
                                      <p:tavLst>
                                        <p:tav tm="0">
                                          <p:val>
                                            <p:strVal val="#ppt_x"/>
                                          </p:val>
                                        </p:tav>
                                        <p:tav tm="100000">
                                          <p:val>
                                            <p:strVal val="#ppt_x"/>
                                          </p:val>
                                        </p:tav>
                                      </p:tavLst>
                                    </p:anim>
                                    <p:anim calcmode="lin" valueType="num">
                                      <p:cBhvr>
                                        <p:cTn id="22" dur="1000" fill="hold"/>
                                        <p:tgtEl>
                                          <p:spTgt spid="37"/>
                                        </p:tgtEl>
                                        <p:attrNameLst>
                                          <p:attrName>ppt_y</p:attrName>
                                        </p:attrNameLst>
                                      </p:cBhvr>
                                      <p:tavLst>
                                        <p:tav tm="0">
                                          <p:val>
                                            <p:strVal val="#ppt_y+.1"/>
                                          </p:val>
                                        </p:tav>
                                        <p:tav tm="100000">
                                          <p:val>
                                            <p:strVal val="#ppt_y"/>
                                          </p:val>
                                        </p:tav>
                                      </p:tavLst>
                                    </p:anim>
                                  </p:childTnLst>
                                </p:cTn>
                              </p:par>
                            </p:childTnLst>
                          </p:cTn>
                        </p:par>
                        <p:par>
                          <p:cTn id="23" fill="hold" nodeType="afterGroup">
                            <p:stCondLst>
                              <p:cond delay="1500"/>
                            </p:stCondLst>
                            <p:childTnLst>
                              <p:par>
                                <p:cTn id="24" presetID="42" presetClass="entr" presetSubtype="0" fill="hold" nodeType="afterEffect">
                                  <p:stCondLst>
                                    <p:cond delay="0"/>
                                  </p:stCondLst>
                                  <p:childTnLst>
                                    <p:set>
                                      <p:cBhvr>
                                        <p:cTn id="25" dur="1" fill="hold">
                                          <p:stCondLst>
                                            <p:cond delay="0"/>
                                          </p:stCondLst>
                                        </p:cTn>
                                        <p:tgtEl>
                                          <p:spTgt spid="39"/>
                                        </p:tgtEl>
                                        <p:attrNameLst>
                                          <p:attrName>style.visibility</p:attrName>
                                        </p:attrNameLst>
                                      </p:cBhvr>
                                      <p:to>
                                        <p:strVal val="visible"/>
                                      </p:to>
                                    </p:set>
                                    <p:animEffect transition="in" filter="fade">
                                      <p:cBhvr>
                                        <p:cTn id="26" dur="1000"/>
                                        <p:tgtEl>
                                          <p:spTgt spid="39"/>
                                        </p:tgtEl>
                                      </p:cBhvr>
                                    </p:animEffect>
                                    <p:anim calcmode="lin" valueType="num">
                                      <p:cBhvr>
                                        <p:cTn id="27" dur="1000" fill="hold"/>
                                        <p:tgtEl>
                                          <p:spTgt spid="39"/>
                                        </p:tgtEl>
                                        <p:attrNameLst>
                                          <p:attrName>ppt_x</p:attrName>
                                        </p:attrNameLst>
                                      </p:cBhvr>
                                      <p:tavLst>
                                        <p:tav tm="0">
                                          <p:val>
                                            <p:strVal val="#ppt_x"/>
                                          </p:val>
                                        </p:tav>
                                        <p:tav tm="100000">
                                          <p:val>
                                            <p:strVal val="#ppt_x"/>
                                          </p:val>
                                        </p:tav>
                                      </p:tavLst>
                                    </p:anim>
                                    <p:anim calcmode="lin" valueType="num">
                                      <p:cBhvr>
                                        <p:cTn id="28" dur="1000" fill="hold"/>
                                        <p:tgtEl>
                                          <p:spTgt spid="39"/>
                                        </p:tgtEl>
                                        <p:attrNameLst>
                                          <p:attrName>ppt_y</p:attrName>
                                        </p:attrNameLst>
                                      </p:cBhvr>
                                      <p:tavLst>
                                        <p:tav tm="0">
                                          <p:val>
                                            <p:strVal val="#ppt_y+.1"/>
                                          </p:val>
                                        </p:tav>
                                        <p:tav tm="100000">
                                          <p:val>
                                            <p:strVal val="#ppt_y"/>
                                          </p:val>
                                        </p:tav>
                                      </p:tavLst>
                                    </p:anim>
                                  </p:childTnLst>
                                </p:cTn>
                              </p:par>
                            </p:childTnLst>
                          </p:cTn>
                        </p:par>
                        <p:par>
                          <p:cTn id="29" fill="hold" nodeType="afterGroup">
                            <p:stCondLst>
                              <p:cond delay="2500"/>
                            </p:stCondLst>
                            <p:childTnLst>
                              <p:par>
                                <p:cTn id="30" presetID="42" presetClass="entr" presetSubtype="0" fill="hold" nodeType="afterEffect">
                                  <p:stCondLst>
                                    <p:cond delay="0"/>
                                  </p:stCondLst>
                                  <p:childTnLst>
                                    <p:set>
                                      <p:cBhvr>
                                        <p:cTn id="31" dur="1" fill="hold">
                                          <p:stCondLst>
                                            <p:cond delay="0"/>
                                          </p:stCondLst>
                                        </p:cTn>
                                        <p:tgtEl>
                                          <p:spTgt spid="38"/>
                                        </p:tgtEl>
                                        <p:attrNameLst>
                                          <p:attrName>style.visibility</p:attrName>
                                        </p:attrNameLst>
                                      </p:cBhvr>
                                      <p:to>
                                        <p:strVal val="visible"/>
                                      </p:to>
                                    </p:set>
                                    <p:animEffect transition="in" filter="fade">
                                      <p:cBhvr>
                                        <p:cTn id="32" dur="1000"/>
                                        <p:tgtEl>
                                          <p:spTgt spid="38"/>
                                        </p:tgtEl>
                                      </p:cBhvr>
                                    </p:animEffect>
                                    <p:anim calcmode="lin" valueType="num">
                                      <p:cBhvr>
                                        <p:cTn id="33" dur="1000" fill="hold"/>
                                        <p:tgtEl>
                                          <p:spTgt spid="38"/>
                                        </p:tgtEl>
                                        <p:attrNameLst>
                                          <p:attrName>ppt_x</p:attrName>
                                        </p:attrNameLst>
                                      </p:cBhvr>
                                      <p:tavLst>
                                        <p:tav tm="0">
                                          <p:val>
                                            <p:strVal val="#ppt_x"/>
                                          </p:val>
                                        </p:tav>
                                        <p:tav tm="100000">
                                          <p:val>
                                            <p:strVal val="#ppt_x"/>
                                          </p:val>
                                        </p:tav>
                                      </p:tavLst>
                                    </p:anim>
                                    <p:anim calcmode="lin" valueType="num">
                                      <p:cBhvr>
                                        <p:cTn id="34" dur="1000" fill="hold"/>
                                        <p:tgtEl>
                                          <p:spTgt spid="3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Lst>
  </p:timing>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E8ACBC8A-D718-23E5-9892-9D96314815C8}"/>
              </a:ext>
            </a:extLst>
          </p:cNvPr>
          <p:cNvSpPr txBox="1">
            <a:spLocks/>
          </p:cNvSpPr>
          <p:nvPr/>
        </p:nvSpPr>
        <p:spPr bwMode="auto">
          <a:xfrm>
            <a:off x="250825" y="1773238"/>
            <a:ext cx="7902575"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Left outer join is like inner join except all the rows in the left table are always returned in the result even if the rows do not satisfy the join conditions</a:t>
            </a: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SQL Syntax:</a:t>
            </a: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sp>
        <p:nvSpPr>
          <p:cNvPr id="2" name="Title 1">
            <a:extLst>
              <a:ext uri="{FF2B5EF4-FFF2-40B4-BE49-F238E27FC236}">
                <a16:creationId xmlns:a16="http://schemas.microsoft.com/office/drawing/2014/main" id="{B103370C-CBBC-BB0C-5128-08C0B58C1163}"/>
              </a:ext>
            </a:extLst>
          </p:cNvPr>
          <p:cNvSpPr>
            <a:spLocks noGrp="1"/>
          </p:cNvSpPr>
          <p:nvPr>
            <p:ph type="title"/>
          </p:nvPr>
        </p:nvSpPr>
        <p:spPr>
          <a:xfrm>
            <a:off x="457200" y="0"/>
            <a:ext cx="7620000" cy="1143000"/>
          </a:xfrm>
        </p:spPr>
        <p:txBody>
          <a:bodyPr/>
          <a:lstStyle/>
          <a:p>
            <a:pPr algn="ctr">
              <a:defRPr/>
            </a:pPr>
            <a:r>
              <a:rPr lang="en-US" dirty="0"/>
              <a:t>JOIN</a:t>
            </a:r>
            <a:endParaRPr lang="en-MY" dirty="0"/>
          </a:p>
        </p:txBody>
      </p:sp>
      <p:sp>
        <p:nvSpPr>
          <p:cNvPr id="30" name="Rounded Rectangle 29">
            <a:extLst>
              <a:ext uri="{FF2B5EF4-FFF2-40B4-BE49-F238E27FC236}">
                <a16:creationId xmlns:a16="http://schemas.microsoft.com/office/drawing/2014/main" id="{7C250CFD-C4C9-345F-FC68-34ED786C0DB6}"/>
              </a:ext>
            </a:extLst>
          </p:cNvPr>
          <p:cNvSpPr>
            <a:spLocks noChangeArrowheads="1"/>
          </p:cNvSpPr>
          <p:nvPr/>
        </p:nvSpPr>
        <p:spPr bwMode="auto">
          <a:xfrm>
            <a:off x="304800" y="4221163"/>
            <a:ext cx="7848600" cy="1511300"/>
          </a:xfrm>
          <a:prstGeom prst="roundRect">
            <a:avLst>
              <a:gd name="adj" fmla="val 16667"/>
            </a:avLst>
          </a:prstGeom>
          <a:solidFill>
            <a:srgbClr val="7F7B00">
              <a:alpha val="30196"/>
            </a:srgbClr>
          </a:solidFill>
          <a:ln w="9525" algn="ctr">
            <a:solidFill>
              <a:srgbClr val="7F7B00"/>
            </a:solidFill>
            <a:round/>
            <a:headEnd/>
            <a:tailEnd/>
          </a:ln>
        </p:spPr>
        <p:txBody>
          <a:bodyPr anchor="ctr" anchorCtr="1"/>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2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SELECT &lt;column_name&gt;, &lt;column_name&gt;… FROM &lt;left_table_name&gt; LEFT JOIN &lt;right_table_name&gt; ON &lt;conditions&gt;;</a:t>
            </a:r>
          </a:p>
        </p:txBody>
      </p:sp>
      <p:sp>
        <p:nvSpPr>
          <p:cNvPr id="13" name="Snip Single Corner Rectangle 12">
            <a:extLst>
              <a:ext uri="{FF2B5EF4-FFF2-40B4-BE49-F238E27FC236}">
                <a16:creationId xmlns:a16="http://schemas.microsoft.com/office/drawing/2014/main" id="{FABCDF5C-95A6-05BA-B0AF-5B3A16C85BA7}"/>
              </a:ext>
            </a:extLst>
          </p:cNvPr>
          <p:cNvSpPr/>
          <p:nvPr/>
        </p:nvSpPr>
        <p:spPr>
          <a:xfrm>
            <a:off x="-36513" y="1125538"/>
            <a:ext cx="2305051" cy="400050"/>
          </a:xfrm>
          <a:prstGeom prst="snip1Rect">
            <a:avLst/>
          </a:prstGeom>
          <a:solidFill>
            <a:schemeClr val="bg1">
              <a:lumMod val="50000"/>
            </a:schemeClr>
          </a:solidFill>
          <a:ln>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anchor="ctr">
            <a:spAutoFit/>
          </a:bodyPr>
          <a:lstStyle/>
          <a:p>
            <a:pPr marL="342900" marR="0" lvl="0" indent="-342900" algn="just" defTabSz="914400" rtl="0" eaLnBrk="1" fontAlgn="base" latinLnBrk="0" hangingPunct="1">
              <a:lnSpc>
                <a:spcPct val="100000"/>
              </a:lnSpc>
              <a:spcBef>
                <a:spcPct val="20000"/>
              </a:spcBef>
              <a:spcAft>
                <a:spcPct val="0"/>
              </a:spcAft>
              <a:buClr>
                <a:srgbClr val="FF6600"/>
              </a:buClr>
              <a:buSzPct val="100000"/>
              <a:buFontTx/>
              <a:buNone/>
              <a:tabLst/>
              <a:defRPr/>
            </a:pPr>
            <a:r>
              <a:rPr kumimoji="0" lang="en-US" sz="1800" b="0" i="0" u="none" strike="noStrike" kern="1200" cap="none" spc="0" normalizeH="0" baseline="0" noProof="0" dirty="0">
                <a:ln>
                  <a:noFill/>
                </a:ln>
                <a:solidFill>
                  <a:srgbClr val="FFFFFF"/>
                </a:solidFill>
                <a:effectLst/>
                <a:uLnTx/>
                <a:uFillTx/>
                <a:latin typeface="Arial" pitchFamily="34" charset="0"/>
                <a:ea typeface="Times New Roman" pitchFamily="18" charset="0"/>
                <a:cs typeface="Arial" pitchFamily="34" charset="0"/>
              </a:rPr>
              <a:t>LEFT OUTER JOIN</a:t>
            </a:r>
            <a:endParaRPr kumimoji="0" lang="en-GB" sz="1800" b="0" i="0" u="none" strike="noStrike" kern="0" cap="none" spc="0" normalizeH="0" baseline="0" noProof="0" dirty="0">
              <a:ln>
                <a:noFill/>
              </a:ln>
              <a:solidFill>
                <a:srgbClr val="2F2B20"/>
              </a:solidFill>
              <a:effectLst/>
              <a:uLnTx/>
              <a:uFillTx/>
              <a:latin typeface="Calibri"/>
              <a:ea typeface="+mn-ea"/>
              <a:cs typeface="+mn-cs"/>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animEffect transition="in" filter="wipe(left)">
                                      <p:cBhvr>
                                        <p:cTn id="11" dur="500"/>
                                        <p:tgtEl>
                                          <p:spTgt spid="12">
                                            <p:txEl>
                                              <p:pRg st="0" end="0"/>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12">
                                            <p:txEl>
                                              <p:pRg st="2" end="2"/>
                                            </p:txEl>
                                          </p:spTgt>
                                        </p:tgtEl>
                                        <p:attrNameLst>
                                          <p:attrName>style.visibility</p:attrName>
                                        </p:attrNameLst>
                                      </p:cBhvr>
                                      <p:to>
                                        <p:strVal val="visible"/>
                                      </p:to>
                                    </p:set>
                                    <p:animEffect transition="in" filter="wipe(left)">
                                      <p:cBhvr>
                                        <p:cTn id="16" dur="500"/>
                                        <p:tgtEl>
                                          <p:spTgt spid="12">
                                            <p:txEl>
                                              <p:pRg st="2" end="2"/>
                                            </p:txEl>
                                          </p:spTgt>
                                        </p:tgtEl>
                                      </p:cBhvr>
                                    </p:animEffect>
                                  </p:childTnLst>
                                </p:cTn>
                              </p:par>
                            </p:childTnLst>
                          </p:cTn>
                        </p:par>
                        <p:par>
                          <p:cTn id="17" fill="hold" nodeType="afterGroup">
                            <p:stCondLst>
                              <p:cond delay="500"/>
                            </p:stCondLst>
                            <p:childTnLst>
                              <p:par>
                                <p:cTn id="18" presetID="16" presetClass="entr" presetSubtype="21" fill="hold" grpId="0" nodeType="afterEffect">
                                  <p:stCondLst>
                                    <p:cond delay="0"/>
                                  </p:stCondLst>
                                  <p:childTnLst>
                                    <p:set>
                                      <p:cBhvr>
                                        <p:cTn id="19" dur="1" fill="hold">
                                          <p:stCondLst>
                                            <p:cond delay="0"/>
                                          </p:stCondLst>
                                        </p:cTn>
                                        <p:tgtEl>
                                          <p:spTgt spid="30"/>
                                        </p:tgtEl>
                                        <p:attrNameLst>
                                          <p:attrName>style.visibility</p:attrName>
                                        </p:attrNameLst>
                                      </p:cBhvr>
                                      <p:to>
                                        <p:strVal val="visible"/>
                                      </p:to>
                                    </p:set>
                                    <p:animEffect transition="in" filter="barn(inVertical)">
                                      <p:cBhvr>
                                        <p:cTn id="20"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13" grpId="0" animBg="1"/>
    </p:bldLst>
  </p:timing>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CF86D-3A7E-D1AA-F49B-4EA05CDA1D58}"/>
              </a:ext>
            </a:extLst>
          </p:cNvPr>
          <p:cNvSpPr>
            <a:spLocks noGrp="1"/>
          </p:cNvSpPr>
          <p:nvPr>
            <p:ph type="title"/>
          </p:nvPr>
        </p:nvSpPr>
        <p:spPr>
          <a:xfrm>
            <a:off x="457200" y="0"/>
            <a:ext cx="7620000" cy="1143000"/>
          </a:xfrm>
        </p:spPr>
        <p:txBody>
          <a:bodyPr/>
          <a:lstStyle/>
          <a:p>
            <a:pPr algn="ctr">
              <a:defRPr/>
            </a:pPr>
            <a:r>
              <a:rPr lang="en-US" dirty="0"/>
              <a:t>JOIN</a:t>
            </a:r>
            <a:endParaRPr lang="en-MY" dirty="0"/>
          </a:p>
        </p:txBody>
      </p:sp>
      <p:sp>
        <p:nvSpPr>
          <p:cNvPr id="29" name="Snip Single Corner Rectangle 28">
            <a:extLst>
              <a:ext uri="{FF2B5EF4-FFF2-40B4-BE49-F238E27FC236}">
                <a16:creationId xmlns:a16="http://schemas.microsoft.com/office/drawing/2014/main" id="{E3E09EE2-30AC-F2AF-52E8-DA65FDF09012}"/>
              </a:ext>
            </a:extLst>
          </p:cNvPr>
          <p:cNvSpPr/>
          <p:nvPr/>
        </p:nvSpPr>
        <p:spPr>
          <a:xfrm>
            <a:off x="-36513" y="1125538"/>
            <a:ext cx="2305051" cy="400050"/>
          </a:xfrm>
          <a:prstGeom prst="snip1Rect">
            <a:avLst/>
          </a:prstGeom>
          <a:solidFill>
            <a:schemeClr val="bg1">
              <a:lumMod val="50000"/>
            </a:schemeClr>
          </a:solidFill>
          <a:ln>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anchor="ctr">
            <a:spAutoFit/>
          </a:bodyPr>
          <a:lstStyle/>
          <a:p>
            <a:pPr marL="342900" marR="0" lvl="0" indent="-342900" algn="just" defTabSz="914400" rtl="0" eaLnBrk="1" fontAlgn="base" latinLnBrk="0" hangingPunct="1">
              <a:lnSpc>
                <a:spcPct val="100000"/>
              </a:lnSpc>
              <a:spcBef>
                <a:spcPct val="20000"/>
              </a:spcBef>
              <a:spcAft>
                <a:spcPct val="0"/>
              </a:spcAft>
              <a:buClr>
                <a:srgbClr val="FF6600"/>
              </a:buClr>
              <a:buSzPct val="100000"/>
              <a:buFontTx/>
              <a:buNone/>
              <a:tabLst/>
              <a:defRPr/>
            </a:pPr>
            <a:r>
              <a:rPr kumimoji="0" lang="en-US" sz="1800" b="0" i="0" u="none" strike="noStrike" kern="1200" cap="none" spc="0" normalizeH="0" baseline="0" noProof="0" dirty="0">
                <a:ln>
                  <a:noFill/>
                </a:ln>
                <a:solidFill>
                  <a:srgbClr val="FFFFFF"/>
                </a:solidFill>
                <a:effectLst/>
                <a:uLnTx/>
                <a:uFillTx/>
                <a:latin typeface="Arial" pitchFamily="34" charset="0"/>
                <a:ea typeface="Times New Roman" pitchFamily="18" charset="0"/>
                <a:cs typeface="Arial" pitchFamily="34" charset="0"/>
              </a:rPr>
              <a:t>LEFT OUTER JOIN</a:t>
            </a:r>
            <a:endParaRPr kumimoji="0" lang="en-GB" sz="1800" b="0" i="0" u="none" strike="noStrike" kern="0" cap="none" spc="0" normalizeH="0" baseline="0" noProof="0" dirty="0">
              <a:ln>
                <a:noFill/>
              </a:ln>
              <a:solidFill>
                <a:srgbClr val="2F2B20"/>
              </a:solidFill>
              <a:effectLst/>
              <a:uLnTx/>
              <a:uFillTx/>
              <a:latin typeface="Calibri"/>
              <a:ea typeface="+mn-ea"/>
              <a:cs typeface="+mn-cs"/>
            </a:endParaRPr>
          </a:p>
        </p:txBody>
      </p:sp>
      <p:sp>
        <p:nvSpPr>
          <p:cNvPr id="30" name="Rounded Rectangle 29">
            <a:extLst>
              <a:ext uri="{FF2B5EF4-FFF2-40B4-BE49-F238E27FC236}">
                <a16:creationId xmlns:a16="http://schemas.microsoft.com/office/drawing/2014/main" id="{8821C8B6-5973-D447-DD81-FC0A080D8226}"/>
              </a:ext>
            </a:extLst>
          </p:cNvPr>
          <p:cNvSpPr/>
          <p:nvPr/>
        </p:nvSpPr>
        <p:spPr bwMode="auto">
          <a:xfrm>
            <a:off x="1219200" y="3486150"/>
            <a:ext cx="7162800" cy="1511300"/>
          </a:xfrm>
          <a:prstGeom prst="roundRect">
            <a:avLst/>
          </a:prstGeom>
          <a:solidFill>
            <a:schemeClr val="accent6">
              <a:alpha val="30000"/>
            </a:schemeClr>
          </a:solidFill>
          <a:ln w="9525" cap="flat" cmpd="sng" algn="ctr">
            <a:solidFill>
              <a:schemeClr val="accent6"/>
            </a:solidFill>
            <a:prstDash val="solid"/>
            <a:round/>
            <a:headEnd type="none" w="med" len="med"/>
            <a:tailEnd type="none" w="med" len="med"/>
          </a:ln>
          <a:effectLst/>
        </p:spPr>
        <p:txBody>
          <a:bodyPr anchor="ctr" anchorCtr="1"/>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2800" b="0"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SELECT * FROM Employee LEFT JOIN Department ON </a:t>
            </a:r>
            <a:r>
              <a:rPr kumimoji="0" lang="en-CA" sz="2800" b="0" i="0" u="none" strike="noStrike" kern="1200" cap="none" spc="0" normalizeH="0" baseline="0" noProof="0" dirty="0" err="1">
                <a:ln>
                  <a:noFill/>
                </a:ln>
                <a:solidFill>
                  <a:srgbClr val="2F2B20"/>
                </a:solidFill>
                <a:effectLst/>
                <a:uLnTx/>
                <a:uFillTx/>
                <a:latin typeface="Arial" panose="020B0604020202020204" pitchFamily="34" charset="0"/>
                <a:ea typeface="+mn-ea"/>
                <a:cs typeface="Arial" panose="020B0604020202020204" pitchFamily="34" charset="0"/>
              </a:rPr>
              <a:t>Employee.DepartmentId</a:t>
            </a:r>
            <a:r>
              <a:rPr kumimoji="0" lang="en-CA" sz="2800" b="0"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 = </a:t>
            </a:r>
            <a:r>
              <a:rPr kumimoji="0" lang="en-CA" sz="2800" b="0" i="0" u="none" strike="noStrike" kern="1200" cap="none" spc="0" normalizeH="0" baseline="0" noProof="0" dirty="0" err="1">
                <a:ln>
                  <a:noFill/>
                </a:ln>
                <a:solidFill>
                  <a:srgbClr val="2F2B20"/>
                </a:solidFill>
                <a:effectLst/>
                <a:uLnTx/>
                <a:uFillTx/>
                <a:latin typeface="Arial" panose="020B0604020202020204" pitchFamily="34" charset="0"/>
                <a:ea typeface="+mn-ea"/>
                <a:cs typeface="Arial" panose="020B0604020202020204" pitchFamily="34" charset="0"/>
              </a:rPr>
              <a:t>Department.DepartmentId</a:t>
            </a:r>
            <a:r>
              <a:rPr kumimoji="0" lang="en-CA" sz="2800" b="0"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a:t>
            </a:r>
          </a:p>
        </p:txBody>
      </p:sp>
      <p:graphicFrame>
        <p:nvGraphicFramePr>
          <p:cNvPr id="32" name="Table 31">
            <a:extLst>
              <a:ext uri="{FF2B5EF4-FFF2-40B4-BE49-F238E27FC236}">
                <a16:creationId xmlns:a16="http://schemas.microsoft.com/office/drawing/2014/main" id="{32611F4D-4B31-C8CD-32F5-A479429971CA}"/>
              </a:ext>
            </a:extLst>
          </p:cNvPr>
          <p:cNvGraphicFramePr>
            <a:graphicFrameLocks noGrp="1"/>
          </p:cNvGraphicFramePr>
          <p:nvPr/>
        </p:nvGraphicFramePr>
        <p:xfrm>
          <a:off x="76200" y="1908175"/>
          <a:ext cx="3816350" cy="1112838"/>
        </p:xfrm>
        <a:graphic>
          <a:graphicData uri="http://schemas.openxmlformats.org/drawingml/2006/table">
            <a:tbl>
              <a:tblPr firstRow="1" bandRow="1">
                <a:tableStyleId>{5FD0F851-EC5A-4D38-B0AD-8093EC10F338}</a:tableStyleId>
              </a:tblPr>
              <a:tblGrid>
                <a:gridCol w="1908175">
                  <a:extLst>
                    <a:ext uri="{9D8B030D-6E8A-4147-A177-3AD203B41FA5}">
                      <a16:colId xmlns:a16="http://schemas.microsoft.com/office/drawing/2014/main" val="20000"/>
                    </a:ext>
                  </a:extLst>
                </a:gridCol>
                <a:gridCol w="1908175">
                  <a:extLst>
                    <a:ext uri="{9D8B030D-6E8A-4147-A177-3AD203B41FA5}">
                      <a16:colId xmlns:a16="http://schemas.microsoft.com/office/drawing/2014/main" val="20001"/>
                    </a:ext>
                  </a:extLst>
                </a:gridCol>
              </a:tblGrid>
              <a:tr h="370946">
                <a:tc>
                  <a:txBody>
                    <a:bodyPr/>
                    <a:lstStyle/>
                    <a:p>
                      <a:pPr algn="ctr"/>
                      <a:r>
                        <a:rPr lang="en-CA" sz="1800" dirty="0"/>
                        <a:t>Name</a:t>
                      </a:r>
                    </a:p>
                  </a:txBody>
                  <a:tcPr marL="91438" marR="91438" marT="45733" marB="45733"/>
                </a:tc>
                <a:tc>
                  <a:txBody>
                    <a:bodyPr/>
                    <a:lstStyle/>
                    <a:p>
                      <a:pPr algn="ctr"/>
                      <a:r>
                        <a:rPr lang="en-CA" sz="1800" dirty="0" err="1"/>
                        <a:t>DepartmentId</a:t>
                      </a:r>
                      <a:endParaRPr lang="en-CA" sz="1800" dirty="0"/>
                    </a:p>
                  </a:txBody>
                  <a:tcPr marL="91438" marR="91438" marT="45733" marB="45733"/>
                </a:tc>
                <a:extLst>
                  <a:ext uri="{0D108BD9-81ED-4DB2-BD59-A6C34878D82A}">
                    <a16:rowId xmlns:a16="http://schemas.microsoft.com/office/drawing/2014/main" val="10000"/>
                  </a:ext>
                </a:extLst>
              </a:tr>
              <a:tr h="370946">
                <a:tc>
                  <a:txBody>
                    <a:bodyPr/>
                    <a:lstStyle/>
                    <a:p>
                      <a:pPr algn="ctr"/>
                      <a:r>
                        <a:rPr lang="en-CA" sz="1800" dirty="0"/>
                        <a:t>Aamir</a:t>
                      </a:r>
                    </a:p>
                  </a:txBody>
                  <a:tcPr marL="91438" marR="91438" marT="45733" marB="45733"/>
                </a:tc>
                <a:tc>
                  <a:txBody>
                    <a:bodyPr/>
                    <a:lstStyle/>
                    <a:p>
                      <a:pPr algn="ctr"/>
                      <a:r>
                        <a:rPr lang="en-CA" sz="1800" dirty="0"/>
                        <a:t>10</a:t>
                      </a:r>
                    </a:p>
                  </a:txBody>
                  <a:tcPr marL="91438" marR="91438" marT="45733" marB="45733"/>
                </a:tc>
                <a:extLst>
                  <a:ext uri="{0D108BD9-81ED-4DB2-BD59-A6C34878D82A}">
                    <a16:rowId xmlns:a16="http://schemas.microsoft.com/office/drawing/2014/main" val="10001"/>
                  </a:ext>
                </a:extLst>
              </a:tr>
              <a:tr h="370946">
                <a:tc>
                  <a:txBody>
                    <a:bodyPr/>
                    <a:lstStyle/>
                    <a:p>
                      <a:pPr algn="ctr"/>
                      <a:r>
                        <a:rPr lang="en-CA" sz="1800" dirty="0"/>
                        <a:t>Sadaf</a:t>
                      </a:r>
                    </a:p>
                  </a:txBody>
                  <a:tcPr marL="91438" marR="91438" marT="45733" marB="45733"/>
                </a:tc>
                <a:tc>
                  <a:txBody>
                    <a:bodyPr/>
                    <a:lstStyle/>
                    <a:p>
                      <a:pPr algn="ctr"/>
                      <a:r>
                        <a:rPr lang="en-CA" sz="1800" dirty="0"/>
                        <a:t>NULL</a:t>
                      </a:r>
                    </a:p>
                  </a:txBody>
                  <a:tcPr marL="91438" marR="91438" marT="45733" marB="45733"/>
                </a:tc>
                <a:extLst>
                  <a:ext uri="{0D108BD9-81ED-4DB2-BD59-A6C34878D82A}">
                    <a16:rowId xmlns:a16="http://schemas.microsoft.com/office/drawing/2014/main" val="10002"/>
                  </a:ext>
                </a:extLst>
              </a:tr>
            </a:tbl>
          </a:graphicData>
        </a:graphic>
      </p:graphicFrame>
      <p:sp>
        <p:nvSpPr>
          <p:cNvPr id="33" name="TextBox 32">
            <a:extLst>
              <a:ext uri="{FF2B5EF4-FFF2-40B4-BE49-F238E27FC236}">
                <a16:creationId xmlns:a16="http://schemas.microsoft.com/office/drawing/2014/main" id="{03428D9C-67B0-0E0E-89B4-5E2DE0AF18EE}"/>
              </a:ext>
            </a:extLst>
          </p:cNvPr>
          <p:cNvSpPr txBox="1">
            <a:spLocks noChangeArrowheads="1"/>
          </p:cNvSpPr>
          <p:nvPr/>
        </p:nvSpPr>
        <p:spPr bwMode="auto">
          <a:xfrm>
            <a:off x="1295400" y="3024188"/>
            <a:ext cx="20161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Employee table</a:t>
            </a:r>
          </a:p>
        </p:txBody>
      </p:sp>
      <p:sp>
        <p:nvSpPr>
          <p:cNvPr id="34" name="TextBox 33">
            <a:extLst>
              <a:ext uri="{FF2B5EF4-FFF2-40B4-BE49-F238E27FC236}">
                <a16:creationId xmlns:a16="http://schemas.microsoft.com/office/drawing/2014/main" id="{82905BCE-9538-1444-0A19-5A4350045D10}"/>
              </a:ext>
            </a:extLst>
          </p:cNvPr>
          <p:cNvSpPr txBox="1">
            <a:spLocks noChangeArrowheads="1"/>
          </p:cNvSpPr>
          <p:nvPr/>
        </p:nvSpPr>
        <p:spPr bwMode="auto">
          <a:xfrm>
            <a:off x="5832475" y="3024188"/>
            <a:ext cx="20161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Department table</a:t>
            </a:r>
          </a:p>
        </p:txBody>
      </p:sp>
      <p:graphicFrame>
        <p:nvGraphicFramePr>
          <p:cNvPr id="35" name="Table 34">
            <a:extLst>
              <a:ext uri="{FF2B5EF4-FFF2-40B4-BE49-F238E27FC236}">
                <a16:creationId xmlns:a16="http://schemas.microsoft.com/office/drawing/2014/main" id="{2FB19138-D98D-CD05-6973-DCDC91DCDC2B}"/>
              </a:ext>
            </a:extLst>
          </p:cNvPr>
          <p:cNvGraphicFramePr>
            <a:graphicFrameLocks noGrp="1"/>
          </p:cNvGraphicFramePr>
          <p:nvPr/>
        </p:nvGraphicFramePr>
        <p:xfrm>
          <a:off x="1524000" y="5202238"/>
          <a:ext cx="6048376" cy="1106488"/>
        </p:xfrm>
        <a:graphic>
          <a:graphicData uri="http://schemas.openxmlformats.org/drawingml/2006/table">
            <a:tbl>
              <a:tblPr firstRow="1" bandRow="1">
                <a:tableStyleId>{9D7B26C5-4107-4FEC-AEDC-1716B250A1EF}</a:tableStyleId>
              </a:tblPr>
              <a:tblGrid>
                <a:gridCol w="1224076">
                  <a:extLst>
                    <a:ext uri="{9D8B030D-6E8A-4147-A177-3AD203B41FA5}">
                      <a16:colId xmlns:a16="http://schemas.microsoft.com/office/drawing/2014/main" val="20000"/>
                    </a:ext>
                  </a:extLst>
                </a:gridCol>
                <a:gridCol w="1800112">
                  <a:extLst>
                    <a:ext uri="{9D8B030D-6E8A-4147-A177-3AD203B41FA5}">
                      <a16:colId xmlns:a16="http://schemas.microsoft.com/office/drawing/2014/main" val="20001"/>
                    </a:ext>
                  </a:extLst>
                </a:gridCol>
                <a:gridCol w="1800112">
                  <a:extLst>
                    <a:ext uri="{9D8B030D-6E8A-4147-A177-3AD203B41FA5}">
                      <a16:colId xmlns:a16="http://schemas.microsoft.com/office/drawing/2014/main" val="20002"/>
                    </a:ext>
                  </a:extLst>
                </a:gridCol>
                <a:gridCol w="1224076">
                  <a:extLst>
                    <a:ext uri="{9D8B030D-6E8A-4147-A177-3AD203B41FA5}">
                      <a16:colId xmlns:a16="http://schemas.microsoft.com/office/drawing/2014/main" val="20003"/>
                    </a:ext>
                  </a:extLst>
                </a:gridCol>
              </a:tblGrid>
              <a:tr h="365656">
                <a:tc>
                  <a:txBody>
                    <a:bodyPr/>
                    <a:lstStyle/>
                    <a:p>
                      <a:pPr algn="ctr"/>
                      <a:r>
                        <a:rPr lang="en-CA" sz="1800" dirty="0"/>
                        <a:t>Name</a:t>
                      </a:r>
                    </a:p>
                  </a:txBody>
                  <a:tcPr marL="91436" marR="91436" marT="45668" marB="45668"/>
                </a:tc>
                <a:tc>
                  <a:txBody>
                    <a:bodyPr/>
                    <a:lstStyle/>
                    <a:p>
                      <a:pPr algn="ctr"/>
                      <a:r>
                        <a:rPr lang="en-CA" sz="1800" dirty="0" err="1"/>
                        <a:t>DepartmentId</a:t>
                      </a:r>
                      <a:endParaRPr lang="en-CA" sz="1800" dirty="0"/>
                    </a:p>
                  </a:txBody>
                  <a:tcPr marL="91436" marR="91436" marT="45668" marB="45668"/>
                </a:tc>
                <a:tc>
                  <a:txBody>
                    <a:bodyPr/>
                    <a:lstStyle/>
                    <a:p>
                      <a:pPr algn="ctr"/>
                      <a:r>
                        <a:rPr lang="en-CA" sz="1800" dirty="0" err="1"/>
                        <a:t>DepartmentId</a:t>
                      </a:r>
                      <a:endParaRPr lang="en-CA" sz="1800" dirty="0"/>
                    </a:p>
                  </a:txBody>
                  <a:tcPr marL="91436" marR="91436" marT="45668" marB="45668"/>
                </a:tc>
                <a:tc>
                  <a:txBody>
                    <a:bodyPr/>
                    <a:lstStyle/>
                    <a:p>
                      <a:pPr algn="ctr"/>
                      <a:r>
                        <a:rPr lang="en-CA" sz="1800" dirty="0"/>
                        <a:t>Name</a:t>
                      </a:r>
                    </a:p>
                  </a:txBody>
                  <a:tcPr marL="91436" marR="91436" marT="45668" marB="45668"/>
                </a:tc>
                <a:extLst>
                  <a:ext uri="{0D108BD9-81ED-4DB2-BD59-A6C34878D82A}">
                    <a16:rowId xmlns:a16="http://schemas.microsoft.com/office/drawing/2014/main" val="10000"/>
                  </a:ext>
                </a:extLst>
              </a:tr>
              <a:tr h="370416">
                <a:tc>
                  <a:txBody>
                    <a:bodyPr/>
                    <a:lstStyle/>
                    <a:p>
                      <a:pPr algn="ctr"/>
                      <a:r>
                        <a:rPr lang="en-CA" sz="1800" dirty="0"/>
                        <a:t>Aamir</a:t>
                      </a:r>
                    </a:p>
                  </a:txBody>
                  <a:tcPr marL="91436" marR="91436" marT="45668" marB="45668"/>
                </a:tc>
                <a:tc>
                  <a:txBody>
                    <a:bodyPr/>
                    <a:lstStyle/>
                    <a:p>
                      <a:pPr algn="ctr"/>
                      <a:r>
                        <a:rPr lang="en-CA" sz="1800" dirty="0"/>
                        <a:t>10</a:t>
                      </a:r>
                    </a:p>
                  </a:txBody>
                  <a:tcPr marL="91436" marR="91436" marT="45668" marB="45668"/>
                </a:tc>
                <a:tc>
                  <a:txBody>
                    <a:bodyPr/>
                    <a:lstStyle/>
                    <a:p>
                      <a:pPr algn="ctr"/>
                      <a:r>
                        <a:rPr lang="en-CA" sz="1800" dirty="0"/>
                        <a:t>10</a:t>
                      </a:r>
                    </a:p>
                  </a:txBody>
                  <a:tcPr marL="91436" marR="91436" marT="45668" marB="45668"/>
                </a:tc>
                <a:tc>
                  <a:txBody>
                    <a:bodyPr/>
                    <a:lstStyle/>
                    <a:p>
                      <a:pPr algn="ctr"/>
                      <a:r>
                        <a:rPr lang="en-CA" sz="1800" dirty="0"/>
                        <a:t>IT</a:t>
                      </a:r>
                    </a:p>
                  </a:txBody>
                  <a:tcPr marL="91436" marR="91436" marT="45668" marB="45668"/>
                </a:tc>
                <a:extLst>
                  <a:ext uri="{0D108BD9-81ED-4DB2-BD59-A6C34878D82A}">
                    <a16:rowId xmlns:a16="http://schemas.microsoft.com/office/drawing/2014/main" val="10001"/>
                  </a:ext>
                </a:extLst>
              </a:tr>
              <a:tr h="370416">
                <a:tc>
                  <a:txBody>
                    <a:bodyPr/>
                    <a:lstStyle/>
                    <a:p>
                      <a:pPr algn="ctr"/>
                      <a:r>
                        <a:rPr lang="en-CA" sz="1800" dirty="0"/>
                        <a:t>Sadaf</a:t>
                      </a:r>
                    </a:p>
                  </a:txBody>
                  <a:tcPr marL="91436" marR="91436" marT="45668" marB="45668"/>
                </a:tc>
                <a:tc>
                  <a:txBody>
                    <a:bodyPr/>
                    <a:lstStyle/>
                    <a:p>
                      <a:pPr algn="ctr"/>
                      <a:r>
                        <a:rPr lang="en-CA" sz="1800" dirty="0"/>
                        <a:t>NULL</a:t>
                      </a:r>
                    </a:p>
                  </a:txBody>
                  <a:tcPr marL="91436" marR="91436" marT="45668" marB="45668"/>
                </a:tc>
                <a:tc>
                  <a:txBody>
                    <a:bodyPr/>
                    <a:lstStyle/>
                    <a:p>
                      <a:pPr algn="ctr"/>
                      <a:r>
                        <a:rPr lang="en-CA" sz="1800" dirty="0"/>
                        <a:t>NULL</a:t>
                      </a:r>
                    </a:p>
                  </a:txBody>
                  <a:tcPr marL="91436" marR="91436" marT="45668" marB="45668"/>
                </a:tc>
                <a:tc>
                  <a:txBody>
                    <a:bodyPr/>
                    <a:lstStyle/>
                    <a:p>
                      <a:pPr algn="ctr"/>
                      <a:r>
                        <a:rPr lang="en-CA" sz="1800" dirty="0"/>
                        <a:t>NULL</a:t>
                      </a:r>
                    </a:p>
                  </a:txBody>
                  <a:tcPr marL="91436" marR="91436" marT="45668" marB="45668"/>
                </a:tc>
                <a:extLst>
                  <a:ext uri="{0D108BD9-81ED-4DB2-BD59-A6C34878D82A}">
                    <a16:rowId xmlns:a16="http://schemas.microsoft.com/office/drawing/2014/main" val="10002"/>
                  </a:ext>
                </a:extLst>
              </a:tr>
            </a:tbl>
          </a:graphicData>
        </a:graphic>
      </p:graphicFrame>
      <p:sp>
        <p:nvSpPr>
          <p:cNvPr id="36" name="Snip Single Corner Rectangle 35">
            <a:extLst>
              <a:ext uri="{FF2B5EF4-FFF2-40B4-BE49-F238E27FC236}">
                <a16:creationId xmlns:a16="http://schemas.microsoft.com/office/drawing/2014/main" id="{E38F2C93-4AD8-8156-822B-160A9C53DD5E}"/>
              </a:ext>
            </a:extLst>
          </p:cNvPr>
          <p:cNvSpPr/>
          <p:nvPr/>
        </p:nvSpPr>
        <p:spPr bwMode="auto">
          <a:xfrm>
            <a:off x="227013" y="5210175"/>
            <a:ext cx="1092200" cy="431800"/>
          </a:xfrm>
          <a:prstGeom prst="snip1Rect">
            <a:avLst/>
          </a:prstGeom>
          <a:solidFill>
            <a:srgbClr val="FFFF00">
              <a:alpha val="30000"/>
            </a:srgbClr>
          </a:solidFill>
          <a:ln w="9525" cap="flat" cmpd="sng" algn="ctr">
            <a:solidFill>
              <a:srgbClr val="FFC000"/>
            </a:solidFill>
            <a:prstDash val="solid"/>
            <a:round/>
            <a:headEnd type="none" w="med" len="med"/>
            <a:tailEnd type="none" w="med" len="me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sz="2000" b="1"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Result:</a:t>
            </a:r>
          </a:p>
        </p:txBody>
      </p:sp>
      <p:sp>
        <p:nvSpPr>
          <p:cNvPr id="37" name="Snip Single Corner Rectangle 36">
            <a:extLst>
              <a:ext uri="{FF2B5EF4-FFF2-40B4-BE49-F238E27FC236}">
                <a16:creationId xmlns:a16="http://schemas.microsoft.com/office/drawing/2014/main" id="{C2D9497B-6FEF-9BEA-A3E1-FDB841FD5932}"/>
              </a:ext>
            </a:extLst>
          </p:cNvPr>
          <p:cNvSpPr/>
          <p:nvPr/>
        </p:nvSpPr>
        <p:spPr bwMode="auto">
          <a:xfrm>
            <a:off x="250825" y="3486150"/>
            <a:ext cx="830263" cy="431800"/>
          </a:xfrm>
          <a:prstGeom prst="snip1Rect">
            <a:avLst/>
          </a:prstGeom>
          <a:solidFill>
            <a:srgbClr val="FFFF00">
              <a:alpha val="30000"/>
            </a:srgbClr>
          </a:solidFill>
          <a:ln w="9525" cap="flat" cmpd="sng" algn="ctr">
            <a:solidFill>
              <a:srgbClr val="FFC000"/>
            </a:solidFill>
            <a:prstDash val="solid"/>
            <a:round/>
            <a:headEnd type="none" w="med" len="med"/>
            <a:tailEnd type="none" w="med" len="med"/>
          </a:ln>
          <a:effec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2000" b="1"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Run:</a:t>
            </a:r>
          </a:p>
        </p:txBody>
      </p:sp>
      <p:cxnSp>
        <p:nvCxnSpPr>
          <p:cNvPr id="38" name="Straight Arrow Connector 37">
            <a:extLst>
              <a:ext uri="{FF2B5EF4-FFF2-40B4-BE49-F238E27FC236}">
                <a16:creationId xmlns:a16="http://schemas.microsoft.com/office/drawing/2014/main" id="{C5F6A721-FCC0-EF02-8E8D-C7904116FB16}"/>
              </a:ext>
            </a:extLst>
          </p:cNvPr>
          <p:cNvCxnSpPr>
            <a:cxnSpLocks noChangeShapeType="1"/>
          </p:cNvCxnSpPr>
          <p:nvPr/>
        </p:nvCxnSpPr>
        <p:spPr bwMode="auto">
          <a:xfrm>
            <a:off x="3748088" y="2462213"/>
            <a:ext cx="1025525" cy="0"/>
          </a:xfrm>
          <a:prstGeom prst="straightConnector1">
            <a:avLst/>
          </a:prstGeom>
          <a:noFill/>
          <a:ln w="25400"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9" name="Rectangle 38">
            <a:extLst>
              <a:ext uri="{FF2B5EF4-FFF2-40B4-BE49-F238E27FC236}">
                <a16:creationId xmlns:a16="http://schemas.microsoft.com/office/drawing/2014/main" id="{560697D2-310A-1451-19A3-7ED273319FCA}"/>
              </a:ext>
            </a:extLst>
          </p:cNvPr>
          <p:cNvSpPr/>
          <p:nvPr/>
        </p:nvSpPr>
        <p:spPr bwMode="auto">
          <a:xfrm>
            <a:off x="1524000" y="5562600"/>
            <a:ext cx="288925" cy="360363"/>
          </a:xfrm>
          <a:prstGeom prst="rect">
            <a:avLst/>
          </a:prstGeom>
          <a:solidFill>
            <a:schemeClr val="accent4"/>
          </a:solidFill>
          <a:ln w="9525" cap="flat" cmpd="sng" algn="ctr">
            <a:solidFill>
              <a:schemeClr val="tx1"/>
            </a:solidFill>
            <a:prstDash val="solid"/>
            <a:round/>
            <a:headEnd type="none" w="med" len="med"/>
            <a:tailEnd type="none" w="med" len="me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1800" b="0" i="0" u="none" strike="noStrike" kern="1200" cap="none" spc="0" normalizeH="0" baseline="0" noProof="0" dirty="0">
                <a:ln>
                  <a:noFill/>
                </a:ln>
                <a:solidFill>
                  <a:srgbClr val="FFFFFF"/>
                </a:solidFill>
                <a:effectLst/>
                <a:uLnTx/>
                <a:uFillTx/>
                <a:latin typeface="Arial" charset="0"/>
                <a:ea typeface="+mn-ea"/>
                <a:cs typeface="Arial" panose="020B0604020202020204" pitchFamily="34" charset="0"/>
              </a:rPr>
              <a:t>1</a:t>
            </a:r>
          </a:p>
        </p:txBody>
      </p:sp>
      <p:graphicFrame>
        <p:nvGraphicFramePr>
          <p:cNvPr id="41" name="Table 40">
            <a:extLst>
              <a:ext uri="{FF2B5EF4-FFF2-40B4-BE49-F238E27FC236}">
                <a16:creationId xmlns:a16="http://schemas.microsoft.com/office/drawing/2014/main" id="{D29FA1EC-5F64-D8A6-C2D3-36EBDF5DDEDA}"/>
              </a:ext>
            </a:extLst>
          </p:cNvPr>
          <p:cNvGraphicFramePr>
            <a:graphicFrameLocks noGrp="1"/>
          </p:cNvGraphicFramePr>
          <p:nvPr/>
        </p:nvGraphicFramePr>
        <p:xfrm>
          <a:off x="4600575" y="1916113"/>
          <a:ext cx="3816350" cy="1112838"/>
        </p:xfrm>
        <a:graphic>
          <a:graphicData uri="http://schemas.openxmlformats.org/drawingml/2006/table">
            <a:tbl>
              <a:tblPr firstRow="1" bandRow="1">
                <a:tableStyleId>{C083E6E3-FA7D-4D7B-A595-EF9225AFEA82}</a:tableStyleId>
              </a:tblPr>
              <a:tblGrid>
                <a:gridCol w="1908175">
                  <a:extLst>
                    <a:ext uri="{9D8B030D-6E8A-4147-A177-3AD203B41FA5}">
                      <a16:colId xmlns:a16="http://schemas.microsoft.com/office/drawing/2014/main" val="20000"/>
                    </a:ext>
                  </a:extLst>
                </a:gridCol>
                <a:gridCol w="1908175">
                  <a:extLst>
                    <a:ext uri="{9D8B030D-6E8A-4147-A177-3AD203B41FA5}">
                      <a16:colId xmlns:a16="http://schemas.microsoft.com/office/drawing/2014/main" val="20001"/>
                    </a:ext>
                  </a:extLst>
                </a:gridCol>
              </a:tblGrid>
              <a:tr h="370946">
                <a:tc>
                  <a:txBody>
                    <a:bodyPr/>
                    <a:lstStyle/>
                    <a:p>
                      <a:pPr algn="ctr"/>
                      <a:r>
                        <a:rPr lang="en-CA" sz="1800" dirty="0" err="1"/>
                        <a:t>DepartmentId</a:t>
                      </a:r>
                      <a:endParaRPr lang="en-CA" sz="1800" dirty="0"/>
                    </a:p>
                  </a:txBody>
                  <a:tcPr marL="91438" marR="91438" marT="45733" marB="45733"/>
                </a:tc>
                <a:tc>
                  <a:txBody>
                    <a:bodyPr/>
                    <a:lstStyle/>
                    <a:p>
                      <a:pPr algn="ctr"/>
                      <a:r>
                        <a:rPr lang="en-CA" sz="1800" dirty="0"/>
                        <a:t>Name</a:t>
                      </a:r>
                    </a:p>
                  </a:txBody>
                  <a:tcPr marL="91438" marR="91438" marT="45733" marB="45733"/>
                </a:tc>
                <a:extLst>
                  <a:ext uri="{0D108BD9-81ED-4DB2-BD59-A6C34878D82A}">
                    <a16:rowId xmlns:a16="http://schemas.microsoft.com/office/drawing/2014/main" val="10000"/>
                  </a:ext>
                </a:extLst>
              </a:tr>
              <a:tr h="370946">
                <a:tc>
                  <a:txBody>
                    <a:bodyPr/>
                    <a:lstStyle/>
                    <a:p>
                      <a:pPr algn="ctr"/>
                      <a:r>
                        <a:rPr lang="en-CA" sz="1800" dirty="0"/>
                        <a:t>10</a:t>
                      </a:r>
                    </a:p>
                  </a:txBody>
                  <a:tcPr marL="91438" marR="91438" marT="45733" marB="45733"/>
                </a:tc>
                <a:tc>
                  <a:txBody>
                    <a:bodyPr/>
                    <a:lstStyle/>
                    <a:p>
                      <a:pPr algn="ctr"/>
                      <a:r>
                        <a:rPr lang="en-CA" sz="1800" dirty="0"/>
                        <a:t>IT</a:t>
                      </a:r>
                    </a:p>
                  </a:txBody>
                  <a:tcPr marL="91438" marR="91438" marT="45733" marB="45733"/>
                </a:tc>
                <a:extLst>
                  <a:ext uri="{0D108BD9-81ED-4DB2-BD59-A6C34878D82A}">
                    <a16:rowId xmlns:a16="http://schemas.microsoft.com/office/drawing/2014/main" val="10001"/>
                  </a:ext>
                </a:extLst>
              </a:tr>
              <a:tr h="370946">
                <a:tc>
                  <a:txBody>
                    <a:bodyPr/>
                    <a:lstStyle/>
                    <a:p>
                      <a:pPr algn="ctr"/>
                      <a:r>
                        <a:rPr lang="en-CA" sz="1800" dirty="0"/>
                        <a:t>15</a:t>
                      </a:r>
                    </a:p>
                  </a:txBody>
                  <a:tcPr marL="91438" marR="91438" marT="45733" marB="45733"/>
                </a:tc>
                <a:tc>
                  <a:txBody>
                    <a:bodyPr/>
                    <a:lstStyle/>
                    <a:p>
                      <a:pPr algn="ctr"/>
                      <a:r>
                        <a:rPr lang="en-CA" sz="1800" dirty="0"/>
                        <a:t>Finance</a:t>
                      </a:r>
                    </a:p>
                  </a:txBody>
                  <a:tcPr marL="91438" marR="91438" marT="45733" marB="45733"/>
                </a:tc>
                <a:extLst>
                  <a:ext uri="{0D108BD9-81ED-4DB2-BD59-A6C34878D82A}">
                    <a16:rowId xmlns:a16="http://schemas.microsoft.com/office/drawing/2014/main" val="10002"/>
                  </a:ext>
                </a:extLst>
              </a:tr>
            </a:tbl>
          </a:graphicData>
        </a:graphic>
      </p:graphicFrame>
      <p:sp>
        <p:nvSpPr>
          <p:cNvPr id="25" name="Rectangle 24">
            <a:extLst>
              <a:ext uri="{FF2B5EF4-FFF2-40B4-BE49-F238E27FC236}">
                <a16:creationId xmlns:a16="http://schemas.microsoft.com/office/drawing/2014/main" id="{786B897D-9B57-F0E3-197B-C693F07B6B13}"/>
              </a:ext>
            </a:extLst>
          </p:cNvPr>
          <p:cNvSpPr/>
          <p:nvPr/>
        </p:nvSpPr>
        <p:spPr bwMode="auto">
          <a:xfrm>
            <a:off x="1524000" y="5943600"/>
            <a:ext cx="288925" cy="360363"/>
          </a:xfrm>
          <a:prstGeom prst="rect">
            <a:avLst/>
          </a:prstGeom>
          <a:solidFill>
            <a:schemeClr val="accent4"/>
          </a:solidFill>
          <a:ln w="9525" cap="flat" cmpd="sng" algn="ctr">
            <a:solidFill>
              <a:schemeClr val="tx1"/>
            </a:solidFill>
            <a:prstDash val="solid"/>
            <a:round/>
            <a:headEnd type="none" w="med" len="med"/>
            <a:tailEnd type="none" w="med" len="me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1800" b="0" i="0" u="none" strike="noStrike" kern="1200" cap="none" spc="0" normalizeH="0" baseline="0" noProof="0" dirty="0">
                <a:ln>
                  <a:noFill/>
                </a:ln>
                <a:solidFill>
                  <a:srgbClr val="FFFFFF"/>
                </a:solidFill>
                <a:effectLst/>
                <a:uLnTx/>
                <a:uFillTx/>
                <a:latin typeface="Arial" charset="0"/>
                <a:ea typeface="+mn-ea"/>
                <a:cs typeface="Arial" panose="020B0604020202020204" pitchFamily="34" charset="0"/>
              </a:rPr>
              <a:t>2</a:t>
            </a:r>
          </a:p>
        </p:txBody>
      </p:sp>
      <p:sp>
        <p:nvSpPr>
          <p:cNvPr id="3" name="Oval 2">
            <a:extLst>
              <a:ext uri="{FF2B5EF4-FFF2-40B4-BE49-F238E27FC236}">
                <a16:creationId xmlns:a16="http://schemas.microsoft.com/office/drawing/2014/main" id="{FB679D17-B1AE-C085-E51D-7603D7C7482F}"/>
              </a:ext>
            </a:extLst>
          </p:cNvPr>
          <p:cNvSpPr>
            <a:spLocks noChangeArrowheads="1"/>
          </p:cNvSpPr>
          <p:nvPr/>
        </p:nvSpPr>
        <p:spPr bwMode="auto">
          <a:xfrm>
            <a:off x="533400" y="2601913"/>
            <a:ext cx="2879725" cy="454025"/>
          </a:xfrm>
          <a:prstGeom prst="ellipse">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CA" altLang="en-US" sz="18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wipe(up)">
                                      <p:cBhvr>
                                        <p:cTn id="7" dur="500"/>
                                        <p:tgtEl>
                                          <p:spTgt spid="32"/>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3"/>
                                        </p:tgtEl>
                                        <p:attrNameLst>
                                          <p:attrName>style.visibility</p:attrName>
                                        </p:attrNameLst>
                                      </p:cBhvr>
                                      <p:to>
                                        <p:strVal val="visible"/>
                                      </p:to>
                                    </p:set>
                                    <p:animEffect transition="in" filter="wipe(left)">
                                      <p:cBhvr>
                                        <p:cTn id="11" dur="500"/>
                                        <p:tgtEl>
                                          <p:spTgt spid="33"/>
                                        </p:tgtEl>
                                      </p:cBhvr>
                                    </p:animEffect>
                                  </p:childTnLst>
                                </p:cTn>
                              </p:par>
                            </p:childTnLst>
                          </p:cTn>
                        </p:par>
                        <p:par>
                          <p:cTn id="12" fill="hold" nodeType="afterGroup">
                            <p:stCondLst>
                              <p:cond delay="1000"/>
                            </p:stCondLst>
                            <p:childTnLst>
                              <p:par>
                                <p:cTn id="13" presetID="22" presetClass="entr" presetSubtype="1" fill="hold" nodeType="afterEffect">
                                  <p:stCondLst>
                                    <p:cond delay="0"/>
                                  </p:stCondLst>
                                  <p:childTnLst>
                                    <p:set>
                                      <p:cBhvr>
                                        <p:cTn id="14" dur="1" fill="hold">
                                          <p:stCondLst>
                                            <p:cond delay="0"/>
                                          </p:stCondLst>
                                        </p:cTn>
                                        <p:tgtEl>
                                          <p:spTgt spid="41"/>
                                        </p:tgtEl>
                                        <p:attrNameLst>
                                          <p:attrName>style.visibility</p:attrName>
                                        </p:attrNameLst>
                                      </p:cBhvr>
                                      <p:to>
                                        <p:strVal val="visible"/>
                                      </p:to>
                                    </p:set>
                                    <p:animEffect transition="in" filter="wipe(up)">
                                      <p:cBhvr>
                                        <p:cTn id="15" dur="500"/>
                                        <p:tgtEl>
                                          <p:spTgt spid="41"/>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4"/>
                                        </p:tgtEl>
                                        <p:attrNameLst>
                                          <p:attrName>style.visibility</p:attrName>
                                        </p:attrNameLst>
                                      </p:cBhvr>
                                      <p:to>
                                        <p:strVal val="visible"/>
                                      </p:to>
                                    </p:set>
                                    <p:animEffect transition="in" filter="wipe(left)">
                                      <p:cBhvr>
                                        <p:cTn id="19" dur="500"/>
                                        <p:tgtEl>
                                          <p:spTgt spid="34"/>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37"/>
                                        </p:tgtEl>
                                        <p:attrNameLst>
                                          <p:attrName>style.visibility</p:attrName>
                                        </p:attrNameLst>
                                      </p:cBhvr>
                                      <p:to>
                                        <p:strVal val="visible"/>
                                      </p:to>
                                    </p:set>
                                    <p:animEffect transition="in" filter="wipe(up)">
                                      <p:cBhvr>
                                        <p:cTn id="24" dur="500"/>
                                        <p:tgtEl>
                                          <p:spTgt spid="37"/>
                                        </p:tgtEl>
                                      </p:cBhvr>
                                    </p:animEffect>
                                  </p:childTnLst>
                                </p:cTn>
                              </p:par>
                            </p:childTnLst>
                          </p:cTn>
                        </p:par>
                        <p:par>
                          <p:cTn id="25" fill="hold" nodeType="afterGroup">
                            <p:stCondLst>
                              <p:cond delay="500"/>
                            </p:stCondLst>
                            <p:childTnLst>
                              <p:par>
                                <p:cTn id="26" presetID="22" presetClass="entr" presetSubtype="8" fill="hold" nodeType="afterEffect">
                                  <p:stCondLst>
                                    <p:cond delay="0"/>
                                  </p:stCondLst>
                                  <p:childTnLst>
                                    <p:set>
                                      <p:cBhvr>
                                        <p:cTn id="27" dur="1" fill="hold">
                                          <p:stCondLst>
                                            <p:cond delay="0"/>
                                          </p:stCondLst>
                                        </p:cTn>
                                        <p:tgtEl>
                                          <p:spTgt spid="37">
                                            <p:txEl>
                                              <p:pRg st="0" end="0"/>
                                            </p:txEl>
                                          </p:spTgt>
                                        </p:tgtEl>
                                        <p:attrNameLst>
                                          <p:attrName>style.visibility</p:attrName>
                                        </p:attrNameLst>
                                      </p:cBhvr>
                                      <p:to>
                                        <p:strVal val="visible"/>
                                      </p:to>
                                    </p:set>
                                    <p:animEffect transition="in" filter="wipe(left)">
                                      <p:cBhvr>
                                        <p:cTn id="28" dur="500"/>
                                        <p:tgtEl>
                                          <p:spTgt spid="37">
                                            <p:txEl>
                                              <p:pRg st="0" end="0"/>
                                            </p:txEl>
                                          </p:spTgt>
                                        </p:tgtEl>
                                      </p:cBhvr>
                                    </p:animEffect>
                                  </p:childTnLst>
                                </p:cTn>
                              </p:par>
                            </p:childTnLst>
                          </p:cTn>
                        </p:par>
                        <p:par>
                          <p:cTn id="29" fill="hold" nodeType="afterGroup">
                            <p:stCondLst>
                              <p:cond delay="1000"/>
                            </p:stCondLst>
                            <p:childTnLst>
                              <p:par>
                                <p:cTn id="30" presetID="16" presetClass="entr" presetSubtype="21" fill="hold" grpId="0" nodeType="afterEffect">
                                  <p:stCondLst>
                                    <p:cond delay="0"/>
                                  </p:stCondLst>
                                  <p:childTnLst>
                                    <p:set>
                                      <p:cBhvr>
                                        <p:cTn id="31" dur="1" fill="hold">
                                          <p:stCondLst>
                                            <p:cond delay="0"/>
                                          </p:stCondLst>
                                        </p:cTn>
                                        <p:tgtEl>
                                          <p:spTgt spid="30"/>
                                        </p:tgtEl>
                                        <p:attrNameLst>
                                          <p:attrName>style.visibility</p:attrName>
                                        </p:attrNameLst>
                                      </p:cBhvr>
                                      <p:to>
                                        <p:strVal val="visible"/>
                                      </p:to>
                                    </p:set>
                                    <p:animEffect transition="in" filter="barn(inVertical)">
                                      <p:cBhvr>
                                        <p:cTn id="32" dur="500"/>
                                        <p:tgtEl>
                                          <p:spTgt spid="3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36"/>
                                        </p:tgtEl>
                                        <p:attrNameLst>
                                          <p:attrName>style.visibility</p:attrName>
                                        </p:attrNameLst>
                                      </p:cBhvr>
                                      <p:to>
                                        <p:strVal val="visible"/>
                                      </p:to>
                                    </p:set>
                                    <p:animEffect transition="in" filter="wipe(up)">
                                      <p:cBhvr>
                                        <p:cTn id="37" dur="500"/>
                                        <p:tgtEl>
                                          <p:spTgt spid="36"/>
                                        </p:tgtEl>
                                      </p:cBhvr>
                                    </p:animEffect>
                                  </p:childTnLst>
                                </p:cTn>
                              </p:par>
                            </p:childTnLst>
                          </p:cTn>
                        </p:par>
                        <p:par>
                          <p:cTn id="38" fill="hold" nodeType="afterGroup">
                            <p:stCondLst>
                              <p:cond delay="500"/>
                            </p:stCondLst>
                            <p:childTnLst>
                              <p:par>
                                <p:cTn id="39" presetID="22" presetClass="entr" presetSubtype="8" fill="hold" nodeType="afterEffect">
                                  <p:stCondLst>
                                    <p:cond delay="0"/>
                                  </p:stCondLst>
                                  <p:childTnLst>
                                    <p:set>
                                      <p:cBhvr>
                                        <p:cTn id="40" dur="1" fill="hold">
                                          <p:stCondLst>
                                            <p:cond delay="0"/>
                                          </p:stCondLst>
                                        </p:cTn>
                                        <p:tgtEl>
                                          <p:spTgt spid="36">
                                            <p:txEl>
                                              <p:pRg st="0" end="0"/>
                                            </p:txEl>
                                          </p:spTgt>
                                        </p:tgtEl>
                                        <p:attrNameLst>
                                          <p:attrName>style.visibility</p:attrName>
                                        </p:attrNameLst>
                                      </p:cBhvr>
                                      <p:to>
                                        <p:strVal val="visible"/>
                                      </p:to>
                                    </p:set>
                                    <p:animEffect transition="in" filter="wipe(left)">
                                      <p:cBhvr>
                                        <p:cTn id="41" dur="500"/>
                                        <p:tgtEl>
                                          <p:spTgt spid="36">
                                            <p:txEl>
                                              <p:pRg st="0" end="0"/>
                                            </p:txEl>
                                          </p:spTgt>
                                        </p:tgtEl>
                                      </p:cBhvr>
                                    </p:animEffect>
                                  </p:childTnLst>
                                </p:cTn>
                              </p:par>
                            </p:childTnLst>
                          </p:cTn>
                        </p:par>
                        <p:par>
                          <p:cTn id="42" fill="hold" nodeType="afterGroup">
                            <p:stCondLst>
                              <p:cond delay="1000"/>
                            </p:stCondLst>
                            <p:childTnLst>
                              <p:par>
                                <p:cTn id="43" presetID="16" presetClass="entr" presetSubtype="21" fill="hold" nodeType="afterEffect">
                                  <p:stCondLst>
                                    <p:cond delay="0"/>
                                  </p:stCondLst>
                                  <p:childTnLst>
                                    <p:set>
                                      <p:cBhvr>
                                        <p:cTn id="44" dur="1" fill="hold">
                                          <p:stCondLst>
                                            <p:cond delay="0"/>
                                          </p:stCondLst>
                                        </p:cTn>
                                        <p:tgtEl>
                                          <p:spTgt spid="35"/>
                                        </p:tgtEl>
                                        <p:attrNameLst>
                                          <p:attrName>style.visibility</p:attrName>
                                        </p:attrNameLst>
                                      </p:cBhvr>
                                      <p:to>
                                        <p:strVal val="visible"/>
                                      </p:to>
                                    </p:set>
                                    <p:animEffect transition="in" filter="barn(inVertical)">
                                      <p:cBhvr>
                                        <p:cTn id="45" dur="500"/>
                                        <p:tgtEl>
                                          <p:spTgt spid="35"/>
                                        </p:tgtEl>
                                      </p:cBhvr>
                                    </p:animEffect>
                                  </p:childTnLst>
                                </p:cTn>
                              </p:par>
                            </p:childTnLst>
                          </p:cTn>
                        </p:par>
                        <p:par>
                          <p:cTn id="46" fill="hold" nodeType="afterGroup">
                            <p:stCondLst>
                              <p:cond delay="1500"/>
                            </p:stCondLst>
                            <p:childTnLst>
                              <p:par>
                                <p:cTn id="47" presetID="42" presetClass="entr" presetSubtype="0" fill="hold" grpId="0" nodeType="afterEffect">
                                  <p:stCondLst>
                                    <p:cond delay="0"/>
                                  </p:stCondLst>
                                  <p:childTnLst>
                                    <p:set>
                                      <p:cBhvr>
                                        <p:cTn id="48" dur="1" fill="hold">
                                          <p:stCondLst>
                                            <p:cond delay="0"/>
                                          </p:stCondLst>
                                        </p:cTn>
                                        <p:tgtEl>
                                          <p:spTgt spid="39"/>
                                        </p:tgtEl>
                                        <p:attrNameLst>
                                          <p:attrName>style.visibility</p:attrName>
                                        </p:attrNameLst>
                                      </p:cBhvr>
                                      <p:to>
                                        <p:strVal val="visible"/>
                                      </p:to>
                                    </p:set>
                                    <p:animEffect transition="in" filter="fade">
                                      <p:cBhvr>
                                        <p:cTn id="49" dur="1000"/>
                                        <p:tgtEl>
                                          <p:spTgt spid="39"/>
                                        </p:tgtEl>
                                      </p:cBhvr>
                                    </p:animEffect>
                                    <p:anim calcmode="lin" valueType="num">
                                      <p:cBhvr>
                                        <p:cTn id="50" dur="1000" fill="hold"/>
                                        <p:tgtEl>
                                          <p:spTgt spid="39"/>
                                        </p:tgtEl>
                                        <p:attrNameLst>
                                          <p:attrName>ppt_x</p:attrName>
                                        </p:attrNameLst>
                                      </p:cBhvr>
                                      <p:tavLst>
                                        <p:tav tm="0">
                                          <p:val>
                                            <p:strVal val="#ppt_x"/>
                                          </p:val>
                                        </p:tav>
                                        <p:tav tm="100000">
                                          <p:val>
                                            <p:strVal val="#ppt_x"/>
                                          </p:val>
                                        </p:tav>
                                      </p:tavLst>
                                    </p:anim>
                                    <p:anim calcmode="lin" valueType="num">
                                      <p:cBhvr>
                                        <p:cTn id="51" dur="1000" fill="hold"/>
                                        <p:tgtEl>
                                          <p:spTgt spid="39"/>
                                        </p:tgtEl>
                                        <p:attrNameLst>
                                          <p:attrName>ppt_y</p:attrName>
                                        </p:attrNameLst>
                                      </p:cBhvr>
                                      <p:tavLst>
                                        <p:tav tm="0">
                                          <p:val>
                                            <p:strVal val="#ppt_y+.1"/>
                                          </p:val>
                                        </p:tav>
                                        <p:tav tm="100000">
                                          <p:val>
                                            <p:strVal val="#ppt_y"/>
                                          </p:val>
                                        </p:tav>
                                      </p:tavLst>
                                    </p:anim>
                                  </p:childTnLst>
                                </p:cTn>
                              </p:par>
                            </p:childTnLst>
                          </p:cTn>
                        </p:par>
                        <p:par>
                          <p:cTn id="52" fill="hold" nodeType="afterGroup">
                            <p:stCondLst>
                              <p:cond delay="2500"/>
                            </p:stCondLst>
                            <p:childTnLst>
                              <p:par>
                                <p:cTn id="53" presetID="42" presetClass="entr" presetSubtype="0" fill="hold" grpId="0" nodeType="afterEffect">
                                  <p:stCondLst>
                                    <p:cond delay="0"/>
                                  </p:stCondLst>
                                  <p:childTnLst>
                                    <p:set>
                                      <p:cBhvr>
                                        <p:cTn id="54" dur="1" fill="hold">
                                          <p:stCondLst>
                                            <p:cond delay="0"/>
                                          </p:stCondLst>
                                        </p:cTn>
                                        <p:tgtEl>
                                          <p:spTgt spid="25"/>
                                        </p:tgtEl>
                                        <p:attrNameLst>
                                          <p:attrName>style.visibility</p:attrName>
                                        </p:attrNameLst>
                                      </p:cBhvr>
                                      <p:to>
                                        <p:strVal val="visible"/>
                                      </p:to>
                                    </p:set>
                                    <p:animEffect transition="in" filter="fade">
                                      <p:cBhvr>
                                        <p:cTn id="55" dur="1000"/>
                                        <p:tgtEl>
                                          <p:spTgt spid="25"/>
                                        </p:tgtEl>
                                      </p:cBhvr>
                                    </p:animEffect>
                                    <p:anim calcmode="lin" valueType="num">
                                      <p:cBhvr>
                                        <p:cTn id="56" dur="1000" fill="hold"/>
                                        <p:tgtEl>
                                          <p:spTgt spid="25"/>
                                        </p:tgtEl>
                                        <p:attrNameLst>
                                          <p:attrName>ppt_x</p:attrName>
                                        </p:attrNameLst>
                                      </p:cBhvr>
                                      <p:tavLst>
                                        <p:tav tm="0">
                                          <p:val>
                                            <p:strVal val="#ppt_x"/>
                                          </p:val>
                                        </p:tav>
                                        <p:tav tm="100000">
                                          <p:val>
                                            <p:strVal val="#ppt_x"/>
                                          </p:val>
                                        </p:tav>
                                      </p:tavLst>
                                    </p:anim>
                                    <p:anim calcmode="lin" valueType="num">
                                      <p:cBhvr>
                                        <p:cTn id="57"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seq concurrent="1" nextAc="seek">
              <p:cTn id="58" restart="whenNotActive" fill="hold" evtFilter="cancelBubble" nodeType="interactiveSeq">
                <p:stCondLst>
                  <p:cond evt="onClick" delay="0">
                    <p:tgtEl>
                      <p:spTgt spid="39"/>
                    </p:tgtEl>
                  </p:cond>
                </p:stCondLst>
                <p:endSync evt="end" delay="0">
                  <p:rtn val="all"/>
                </p:endSync>
                <p:childTnLst>
                  <p:par>
                    <p:cTn id="59" fill="hold" nodeType="clickPar">
                      <p:stCondLst>
                        <p:cond delay="0"/>
                      </p:stCondLst>
                      <p:childTnLst>
                        <p:par>
                          <p:cTn id="60" fill="hold" nodeType="withGroup">
                            <p:stCondLst>
                              <p:cond delay="0"/>
                            </p:stCondLst>
                            <p:childTnLst>
                              <p:par>
                                <p:cTn id="61" presetID="22" presetClass="entr" presetSubtype="8" fill="hold" nodeType="clickEffect">
                                  <p:stCondLst>
                                    <p:cond delay="0"/>
                                  </p:stCondLst>
                                  <p:childTnLst>
                                    <p:set>
                                      <p:cBhvr>
                                        <p:cTn id="62" dur="1" fill="hold">
                                          <p:stCondLst>
                                            <p:cond delay="0"/>
                                          </p:stCondLst>
                                        </p:cTn>
                                        <p:tgtEl>
                                          <p:spTgt spid="38"/>
                                        </p:tgtEl>
                                        <p:attrNameLst>
                                          <p:attrName>style.visibility</p:attrName>
                                        </p:attrNameLst>
                                      </p:cBhvr>
                                      <p:to>
                                        <p:strVal val="visible"/>
                                      </p:to>
                                    </p:set>
                                    <p:animEffect transition="in" filter="wipe(left)">
                                      <p:cBhvr>
                                        <p:cTn id="63" dur="500"/>
                                        <p:tgtEl>
                                          <p:spTgt spid="38"/>
                                        </p:tgtEl>
                                      </p:cBhvr>
                                    </p:animEffect>
                                  </p:childTnLst>
                                </p:cTn>
                              </p:par>
                            </p:childTnLst>
                          </p:cTn>
                        </p:par>
                      </p:childTnLst>
                    </p:cTn>
                  </p:par>
                </p:childTnLst>
              </p:cTn>
              <p:nextCondLst>
                <p:cond evt="onClick" delay="0">
                  <p:tgtEl>
                    <p:spTgt spid="39"/>
                  </p:tgtEl>
                </p:cond>
              </p:nextCondLst>
            </p:seq>
            <p:seq concurrent="1" nextAc="seek">
              <p:cTn id="64" restart="whenNotActive" fill="hold" evtFilter="cancelBubble" nodeType="interactiveSeq">
                <p:stCondLst>
                  <p:cond evt="onClick" delay="0">
                    <p:tgtEl>
                      <p:spTgt spid="25"/>
                    </p:tgtEl>
                  </p:cond>
                </p:stCondLst>
                <p:endSync evt="end" delay="0">
                  <p:rtn val="all"/>
                </p:endSync>
                <p:childTnLst>
                  <p:par>
                    <p:cTn id="65" fill="hold" nodeType="clickPar">
                      <p:stCondLst>
                        <p:cond delay="0"/>
                      </p:stCondLst>
                      <p:childTnLst>
                        <p:par>
                          <p:cTn id="66" fill="hold" nodeType="withGroup">
                            <p:stCondLst>
                              <p:cond delay="0"/>
                            </p:stCondLst>
                            <p:childTnLst>
                              <p:par>
                                <p:cTn id="67" presetID="21" presetClass="entr" presetSubtype="1" fill="hold" grpId="0" nodeType="clickEffect">
                                  <p:stCondLst>
                                    <p:cond delay="0"/>
                                  </p:stCondLst>
                                  <p:childTnLst>
                                    <p:set>
                                      <p:cBhvr>
                                        <p:cTn id="68" dur="1" fill="hold">
                                          <p:stCondLst>
                                            <p:cond delay="0"/>
                                          </p:stCondLst>
                                        </p:cTn>
                                        <p:tgtEl>
                                          <p:spTgt spid="3"/>
                                        </p:tgtEl>
                                        <p:attrNameLst>
                                          <p:attrName>style.visibility</p:attrName>
                                        </p:attrNameLst>
                                      </p:cBhvr>
                                      <p:to>
                                        <p:strVal val="visible"/>
                                      </p:to>
                                    </p:set>
                                    <p:animEffect transition="in" filter="wheel(1)">
                                      <p:cBhvr>
                                        <p:cTn id="69" dur="1000"/>
                                        <p:tgtEl>
                                          <p:spTgt spid="3"/>
                                        </p:tgtEl>
                                      </p:cBhvr>
                                    </p:animEffect>
                                  </p:childTnLst>
                                </p:cTn>
                              </p:par>
                            </p:childTnLst>
                          </p:cTn>
                        </p:par>
                      </p:childTnLst>
                    </p:cTn>
                  </p:par>
                </p:childTnLst>
              </p:cTn>
              <p:nextCondLst>
                <p:cond evt="onClick" delay="0">
                  <p:tgtEl>
                    <p:spTgt spid="25"/>
                  </p:tgtEl>
                </p:cond>
              </p:nextCondLst>
            </p:seq>
          </p:childTnLst>
        </p:cTn>
      </p:par>
    </p:tnLst>
    <p:bldLst>
      <p:bldP spid="30" grpId="0" animBg="1"/>
      <p:bldP spid="33" grpId="0"/>
      <p:bldP spid="34" grpId="0"/>
      <p:bldP spid="36" grpId="0" animBg="1"/>
      <p:bldP spid="37" grpId="0" animBg="1"/>
      <p:bldP spid="39" grpId="0" animBg="1"/>
      <p:bldP spid="25" grpId="0" animBg="1"/>
      <p:bldP spid="3" grpId="0" animBg="1"/>
    </p:bldLst>
  </p:timing>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6A1B7A89-9EF7-C64F-F64B-0B32115460F7}"/>
              </a:ext>
            </a:extLst>
          </p:cNvPr>
          <p:cNvSpPr txBox="1">
            <a:spLocks/>
          </p:cNvSpPr>
          <p:nvPr/>
        </p:nvSpPr>
        <p:spPr bwMode="auto">
          <a:xfrm>
            <a:off x="250825" y="1773238"/>
            <a:ext cx="7902575"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Right outer join is like inner join except all the rows in the right table are always returned in the result even if the rows do not satisfy the join conditions</a:t>
            </a: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SQL Syntax:</a:t>
            </a: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sp>
        <p:nvSpPr>
          <p:cNvPr id="2" name="Title 1">
            <a:extLst>
              <a:ext uri="{FF2B5EF4-FFF2-40B4-BE49-F238E27FC236}">
                <a16:creationId xmlns:a16="http://schemas.microsoft.com/office/drawing/2014/main" id="{11F5ADA1-4555-82A6-FDF2-A381DE263FBB}"/>
              </a:ext>
            </a:extLst>
          </p:cNvPr>
          <p:cNvSpPr>
            <a:spLocks noGrp="1"/>
          </p:cNvSpPr>
          <p:nvPr>
            <p:ph type="title"/>
          </p:nvPr>
        </p:nvSpPr>
        <p:spPr>
          <a:xfrm>
            <a:off x="457200" y="0"/>
            <a:ext cx="7620000" cy="1143000"/>
          </a:xfrm>
        </p:spPr>
        <p:txBody>
          <a:bodyPr/>
          <a:lstStyle/>
          <a:p>
            <a:pPr algn="ctr">
              <a:defRPr/>
            </a:pPr>
            <a:r>
              <a:rPr lang="en-US" dirty="0"/>
              <a:t>JOIN</a:t>
            </a:r>
            <a:endParaRPr lang="en-MY" dirty="0"/>
          </a:p>
        </p:txBody>
      </p:sp>
      <p:sp>
        <p:nvSpPr>
          <p:cNvPr id="30" name="Rounded Rectangle 29">
            <a:extLst>
              <a:ext uri="{FF2B5EF4-FFF2-40B4-BE49-F238E27FC236}">
                <a16:creationId xmlns:a16="http://schemas.microsoft.com/office/drawing/2014/main" id="{36D1DFE5-3C5E-B5EA-817E-8057F101863A}"/>
              </a:ext>
            </a:extLst>
          </p:cNvPr>
          <p:cNvSpPr>
            <a:spLocks noChangeArrowheads="1"/>
          </p:cNvSpPr>
          <p:nvPr/>
        </p:nvSpPr>
        <p:spPr bwMode="auto">
          <a:xfrm>
            <a:off x="304800" y="4221163"/>
            <a:ext cx="7848600" cy="1511300"/>
          </a:xfrm>
          <a:prstGeom prst="roundRect">
            <a:avLst>
              <a:gd name="adj" fmla="val 16667"/>
            </a:avLst>
          </a:prstGeom>
          <a:solidFill>
            <a:srgbClr val="7F7B00">
              <a:alpha val="30196"/>
            </a:srgbClr>
          </a:solidFill>
          <a:ln w="9525" algn="ctr">
            <a:solidFill>
              <a:srgbClr val="7F7B00"/>
            </a:solidFill>
            <a:round/>
            <a:headEnd/>
            <a:tailEnd/>
          </a:ln>
        </p:spPr>
        <p:txBody>
          <a:bodyPr anchor="ctr" anchorCtr="1"/>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2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SELECT &lt;column_name&gt;, &lt;column_name&gt;… FROM &lt;left_table_name&gt; RIGHT JOIN &lt;right_table_name&gt; ON &lt;conditions&gt;;</a:t>
            </a:r>
          </a:p>
        </p:txBody>
      </p:sp>
      <p:sp>
        <p:nvSpPr>
          <p:cNvPr id="13" name="Snip Single Corner Rectangle 12">
            <a:extLst>
              <a:ext uri="{FF2B5EF4-FFF2-40B4-BE49-F238E27FC236}">
                <a16:creationId xmlns:a16="http://schemas.microsoft.com/office/drawing/2014/main" id="{3EE910AC-77B4-B8A7-393E-FD2B80C4E011}"/>
              </a:ext>
            </a:extLst>
          </p:cNvPr>
          <p:cNvSpPr/>
          <p:nvPr/>
        </p:nvSpPr>
        <p:spPr>
          <a:xfrm>
            <a:off x="-36513" y="1125538"/>
            <a:ext cx="2376488" cy="400050"/>
          </a:xfrm>
          <a:prstGeom prst="snip1Rect">
            <a:avLst/>
          </a:prstGeom>
          <a:solidFill>
            <a:schemeClr val="bg2">
              <a:lumMod val="50000"/>
            </a:schemeClr>
          </a:solidFill>
          <a:ln>
            <a:solidFill>
              <a:schemeClr val="bg2">
                <a:lumMod val="50000"/>
              </a:schemeClr>
            </a:solidFill>
          </a:ln>
        </p:spPr>
        <p:style>
          <a:lnRef idx="1">
            <a:schemeClr val="accent1"/>
          </a:lnRef>
          <a:fillRef idx="3">
            <a:schemeClr val="accent1"/>
          </a:fillRef>
          <a:effectRef idx="2">
            <a:schemeClr val="accent1"/>
          </a:effectRef>
          <a:fontRef idx="minor">
            <a:schemeClr val="lt1"/>
          </a:fontRef>
        </p:style>
        <p:txBody>
          <a:bodyPr anchor="ctr">
            <a:spAutoFit/>
          </a:bodyPr>
          <a:lstStyle/>
          <a:p>
            <a:pPr marL="342900" marR="0" lvl="0" indent="-342900" algn="just" defTabSz="914400" rtl="0" eaLnBrk="1" fontAlgn="base" latinLnBrk="0" hangingPunct="1">
              <a:lnSpc>
                <a:spcPct val="100000"/>
              </a:lnSpc>
              <a:spcBef>
                <a:spcPct val="20000"/>
              </a:spcBef>
              <a:spcAft>
                <a:spcPct val="0"/>
              </a:spcAft>
              <a:buClr>
                <a:srgbClr val="FF6600"/>
              </a:buClr>
              <a:buSzPct val="100000"/>
              <a:buFontTx/>
              <a:buNone/>
              <a:tabLst/>
              <a:defRPr/>
            </a:pPr>
            <a:r>
              <a:rPr kumimoji="0" lang="en-US" sz="1800" b="0" i="0" u="none" strike="noStrike" kern="1200" cap="none" spc="0" normalizeH="0" baseline="0" noProof="0" dirty="0">
                <a:ln>
                  <a:noFill/>
                </a:ln>
                <a:solidFill>
                  <a:srgbClr val="FFFFFF"/>
                </a:solidFill>
                <a:effectLst/>
                <a:uLnTx/>
                <a:uFillTx/>
                <a:latin typeface="Arial" pitchFamily="34" charset="0"/>
                <a:ea typeface="Times New Roman" pitchFamily="18" charset="0"/>
                <a:cs typeface="Arial" pitchFamily="34" charset="0"/>
              </a:rPr>
              <a:t>RIGHT OUTER JOIN</a:t>
            </a:r>
            <a:endParaRPr kumimoji="0" lang="en-GB" sz="1800" b="0" i="0" u="none" strike="noStrike" kern="0" cap="none" spc="0" normalizeH="0" baseline="0" noProof="0" dirty="0">
              <a:ln>
                <a:noFill/>
              </a:ln>
              <a:solidFill>
                <a:srgbClr val="2F2B20"/>
              </a:solidFill>
              <a:effectLst/>
              <a:uLnTx/>
              <a:uFillTx/>
              <a:latin typeface="Calibri"/>
              <a:ea typeface="+mn-ea"/>
              <a:cs typeface="+mn-cs"/>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animEffect transition="in" filter="wipe(left)">
                                      <p:cBhvr>
                                        <p:cTn id="11" dur="500"/>
                                        <p:tgtEl>
                                          <p:spTgt spid="12">
                                            <p:txEl>
                                              <p:pRg st="0" end="0"/>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12">
                                            <p:txEl>
                                              <p:pRg st="2" end="2"/>
                                            </p:txEl>
                                          </p:spTgt>
                                        </p:tgtEl>
                                        <p:attrNameLst>
                                          <p:attrName>style.visibility</p:attrName>
                                        </p:attrNameLst>
                                      </p:cBhvr>
                                      <p:to>
                                        <p:strVal val="visible"/>
                                      </p:to>
                                    </p:set>
                                    <p:animEffect transition="in" filter="wipe(left)">
                                      <p:cBhvr>
                                        <p:cTn id="16" dur="500"/>
                                        <p:tgtEl>
                                          <p:spTgt spid="12">
                                            <p:txEl>
                                              <p:pRg st="2" end="2"/>
                                            </p:txEl>
                                          </p:spTgt>
                                        </p:tgtEl>
                                      </p:cBhvr>
                                    </p:animEffect>
                                  </p:childTnLst>
                                </p:cTn>
                              </p:par>
                            </p:childTnLst>
                          </p:cTn>
                        </p:par>
                        <p:par>
                          <p:cTn id="17" fill="hold" nodeType="afterGroup">
                            <p:stCondLst>
                              <p:cond delay="500"/>
                            </p:stCondLst>
                            <p:childTnLst>
                              <p:par>
                                <p:cTn id="18" presetID="16" presetClass="entr" presetSubtype="21" fill="hold" grpId="0" nodeType="afterEffect">
                                  <p:stCondLst>
                                    <p:cond delay="0"/>
                                  </p:stCondLst>
                                  <p:childTnLst>
                                    <p:set>
                                      <p:cBhvr>
                                        <p:cTn id="19" dur="1" fill="hold">
                                          <p:stCondLst>
                                            <p:cond delay="0"/>
                                          </p:stCondLst>
                                        </p:cTn>
                                        <p:tgtEl>
                                          <p:spTgt spid="30"/>
                                        </p:tgtEl>
                                        <p:attrNameLst>
                                          <p:attrName>style.visibility</p:attrName>
                                        </p:attrNameLst>
                                      </p:cBhvr>
                                      <p:to>
                                        <p:strVal val="visible"/>
                                      </p:to>
                                    </p:set>
                                    <p:animEffect transition="in" filter="barn(inVertical)">
                                      <p:cBhvr>
                                        <p:cTn id="20"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13" grpId="0" animBg="1"/>
    </p:bldLst>
  </p:timing>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64A204-BFF4-873B-D20B-FAE97089B57E}"/>
              </a:ext>
            </a:extLst>
          </p:cNvPr>
          <p:cNvSpPr>
            <a:spLocks noGrp="1"/>
          </p:cNvSpPr>
          <p:nvPr>
            <p:ph type="title"/>
          </p:nvPr>
        </p:nvSpPr>
        <p:spPr>
          <a:xfrm>
            <a:off x="457200" y="0"/>
            <a:ext cx="7620000" cy="1143000"/>
          </a:xfrm>
        </p:spPr>
        <p:txBody>
          <a:bodyPr/>
          <a:lstStyle/>
          <a:p>
            <a:pPr algn="ctr">
              <a:defRPr/>
            </a:pPr>
            <a:r>
              <a:rPr lang="en-US" dirty="0"/>
              <a:t>JOIN</a:t>
            </a:r>
            <a:endParaRPr lang="en-MY" dirty="0"/>
          </a:p>
        </p:txBody>
      </p:sp>
      <p:sp>
        <p:nvSpPr>
          <p:cNvPr id="30" name="Rounded Rectangle 29">
            <a:extLst>
              <a:ext uri="{FF2B5EF4-FFF2-40B4-BE49-F238E27FC236}">
                <a16:creationId xmlns:a16="http://schemas.microsoft.com/office/drawing/2014/main" id="{8FA54CC4-2A3F-B897-345F-D9250A1E6FD8}"/>
              </a:ext>
            </a:extLst>
          </p:cNvPr>
          <p:cNvSpPr/>
          <p:nvPr/>
        </p:nvSpPr>
        <p:spPr bwMode="auto">
          <a:xfrm>
            <a:off x="1219200" y="3486150"/>
            <a:ext cx="7127875" cy="1511300"/>
          </a:xfrm>
          <a:prstGeom prst="roundRect">
            <a:avLst/>
          </a:prstGeom>
          <a:solidFill>
            <a:schemeClr val="accent6">
              <a:alpha val="30000"/>
            </a:schemeClr>
          </a:solidFill>
          <a:ln w="9525" cap="flat" cmpd="sng" algn="ctr">
            <a:solidFill>
              <a:schemeClr val="accent6"/>
            </a:solidFill>
            <a:prstDash val="solid"/>
            <a:round/>
            <a:headEnd type="none" w="med" len="med"/>
            <a:tailEnd type="none" w="med" len="med"/>
          </a:ln>
          <a:effectLst/>
        </p:spPr>
        <p:txBody>
          <a:bodyPr anchor="ctr" anchorCtr="1"/>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2800" b="0"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SELECT * FROM Employee RIGHT JOIN Department ON </a:t>
            </a:r>
            <a:r>
              <a:rPr kumimoji="0" lang="en-CA" sz="2800" b="0" i="0" u="none" strike="noStrike" kern="1200" cap="none" spc="0" normalizeH="0" baseline="0" noProof="0" dirty="0" err="1">
                <a:ln>
                  <a:noFill/>
                </a:ln>
                <a:solidFill>
                  <a:srgbClr val="2F2B20"/>
                </a:solidFill>
                <a:effectLst/>
                <a:uLnTx/>
                <a:uFillTx/>
                <a:latin typeface="Arial" panose="020B0604020202020204" pitchFamily="34" charset="0"/>
                <a:ea typeface="+mn-ea"/>
                <a:cs typeface="Arial" panose="020B0604020202020204" pitchFamily="34" charset="0"/>
              </a:rPr>
              <a:t>Employee.DepartmentId</a:t>
            </a:r>
            <a:r>
              <a:rPr kumimoji="0" lang="en-CA" sz="2800" b="0"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 = </a:t>
            </a:r>
            <a:r>
              <a:rPr kumimoji="0" lang="en-CA" sz="2800" b="0" i="0" u="none" strike="noStrike" kern="1200" cap="none" spc="0" normalizeH="0" baseline="0" noProof="0" dirty="0" err="1">
                <a:ln>
                  <a:noFill/>
                </a:ln>
                <a:solidFill>
                  <a:srgbClr val="2F2B20"/>
                </a:solidFill>
                <a:effectLst/>
                <a:uLnTx/>
                <a:uFillTx/>
                <a:latin typeface="Arial" panose="020B0604020202020204" pitchFamily="34" charset="0"/>
                <a:ea typeface="+mn-ea"/>
                <a:cs typeface="Arial" panose="020B0604020202020204" pitchFamily="34" charset="0"/>
              </a:rPr>
              <a:t>Department.DepartmentId</a:t>
            </a:r>
            <a:r>
              <a:rPr kumimoji="0" lang="en-CA" sz="2800" b="0"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a:t>
            </a:r>
          </a:p>
        </p:txBody>
      </p:sp>
      <p:graphicFrame>
        <p:nvGraphicFramePr>
          <p:cNvPr id="32" name="Table 31">
            <a:extLst>
              <a:ext uri="{FF2B5EF4-FFF2-40B4-BE49-F238E27FC236}">
                <a16:creationId xmlns:a16="http://schemas.microsoft.com/office/drawing/2014/main" id="{D3BCE67A-AEEB-DCD4-2D54-64027C31895B}"/>
              </a:ext>
            </a:extLst>
          </p:cNvPr>
          <p:cNvGraphicFramePr>
            <a:graphicFrameLocks noGrp="1"/>
          </p:cNvGraphicFramePr>
          <p:nvPr/>
        </p:nvGraphicFramePr>
        <p:xfrm>
          <a:off x="41275" y="1908175"/>
          <a:ext cx="3816350" cy="1112838"/>
        </p:xfrm>
        <a:graphic>
          <a:graphicData uri="http://schemas.openxmlformats.org/drawingml/2006/table">
            <a:tbl>
              <a:tblPr firstRow="1" bandRow="1">
                <a:tableStyleId>{5FD0F851-EC5A-4D38-B0AD-8093EC10F338}</a:tableStyleId>
              </a:tblPr>
              <a:tblGrid>
                <a:gridCol w="1908175">
                  <a:extLst>
                    <a:ext uri="{9D8B030D-6E8A-4147-A177-3AD203B41FA5}">
                      <a16:colId xmlns:a16="http://schemas.microsoft.com/office/drawing/2014/main" val="20000"/>
                    </a:ext>
                  </a:extLst>
                </a:gridCol>
                <a:gridCol w="1908175">
                  <a:extLst>
                    <a:ext uri="{9D8B030D-6E8A-4147-A177-3AD203B41FA5}">
                      <a16:colId xmlns:a16="http://schemas.microsoft.com/office/drawing/2014/main" val="20001"/>
                    </a:ext>
                  </a:extLst>
                </a:gridCol>
              </a:tblGrid>
              <a:tr h="370946">
                <a:tc>
                  <a:txBody>
                    <a:bodyPr/>
                    <a:lstStyle/>
                    <a:p>
                      <a:pPr algn="ctr"/>
                      <a:r>
                        <a:rPr lang="en-CA" sz="1800" dirty="0"/>
                        <a:t>Name</a:t>
                      </a:r>
                    </a:p>
                  </a:txBody>
                  <a:tcPr marL="91438" marR="91438" marT="45733" marB="45733"/>
                </a:tc>
                <a:tc>
                  <a:txBody>
                    <a:bodyPr/>
                    <a:lstStyle/>
                    <a:p>
                      <a:pPr algn="ctr"/>
                      <a:r>
                        <a:rPr lang="en-CA" sz="1800" dirty="0" err="1"/>
                        <a:t>DepartmentId</a:t>
                      </a:r>
                      <a:endParaRPr lang="en-CA" sz="1800" dirty="0"/>
                    </a:p>
                  </a:txBody>
                  <a:tcPr marL="91438" marR="91438" marT="45733" marB="45733"/>
                </a:tc>
                <a:extLst>
                  <a:ext uri="{0D108BD9-81ED-4DB2-BD59-A6C34878D82A}">
                    <a16:rowId xmlns:a16="http://schemas.microsoft.com/office/drawing/2014/main" val="10000"/>
                  </a:ext>
                </a:extLst>
              </a:tr>
              <a:tr h="370946">
                <a:tc>
                  <a:txBody>
                    <a:bodyPr/>
                    <a:lstStyle/>
                    <a:p>
                      <a:pPr algn="ctr"/>
                      <a:r>
                        <a:rPr lang="en-CA" sz="1800" dirty="0"/>
                        <a:t>Aamir</a:t>
                      </a:r>
                    </a:p>
                  </a:txBody>
                  <a:tcPr marL="91438" marR="91438" marT="45733" marB="45733"/>
                </a:tc>
                <a:tc>
                  <a:txBody>
                    <a:bodyPr/>
                    <a:lstStyle/>
                    <a:p>
                      <a:pPr algn="ctr"/>
                      <a:r>
                        <a:rPr lang="en-CA" sz="1800" dirty="0"/>
                        <a:t>10</a:t>
                      </a:r>
                    </a:p>
                  </a:txBody>
                  <a:tcPr marL="91438" marR="91438" marT="45733" marB="45733"/>
                </a:tc>
                <a:extLst>
                  <a:ext uri="{0D108BD9-81ED-4DB2-BD59-A6C34878D82A}">
                    <a16:rowId xmlns:a16="http://schemas.microsoft.com/office/drawing/2014/main" val="10001"/>
                  </a:ext>
                </a:extLst>
              </a:tr>
              <a:tr h="370946">
                <a:tc>
                  <a:txBody>
                    <a:bodyPr/>
                    <a:lstStyle/>
                    <a:p>
                      <a:pPr algn="ctr"/>
                      <a:r>
                        <a:rPr lang="en-CA" sz="1800" dirty="0"/>
                        <a:t>Sadaf</a:t>
                      </a:r>
                    </a:p>
                  </a:txBody>
                  <a:tcPr marL="91438" marR="91438" marT="45733" marB="45733"/>
                </a:tc>
                <a:tc>
                  <a:txBody>
                    <a:bodyPr/>
                    <a:lstStyle/>
                    <a:p>
                      <a:pPr algn="ctr"/>
                      <a:r>
                        <a:rPr lang="en-CA" sz="1800" dirty="0"/>
                        <a:t>NULL</a:t>
                      </a:r>
                    </a:p>
                  </a:txBody>
                  <a:tcPr marL="91438" marR="91438" marT="45733" marB="45733"/>
                </a:tc>
                <a:extLst>
                  <a:ext uri="{0D108BD9-81ED-4DB2-BD59-A6C34878D82A}">
                    <a16:rowId xmlns:a16="http://schemas.microsoft.com/office/drawing/2014/main" val="10002"/>
                  </a:ext>
                </a:extLst>
              </a:tr>
            </a:tbl>
          </a:graphicData>
        </a:graphic>
      </p:graphicFrame>
      <p:sp>
        <p:nvSpPr>
          <p:cNvPr id="33" name="TextBox 32">
            <a:extLst>
              <a:ext uri="{FF2B5EF4-FFF2-40B4-BE49-F238E27FC236}">
                <a16:creationId xmlns:a16="http://schemas.microsoft.com/office/drawing/2014/main" id="{B5F4A4CD-C02C-3B7F-A44C-BAA1042CE8D2}"/>
              </a:ext>
            </a:extLst>
          </p:cNvPr>
          <p:cNvSpPr txBox="1">
            <a:spLocks noChangeArrowheads="1"/>
          </p:cNvSpPr>
          <p:nvPr/>
        </p:nvSpPr>
        <p:spPr bwMode="auto">
          <a:xfrm>
            <a:off x="1295400" y="3024188"/>
            <a:ext cx="20161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Employee table</a:t>
            </a:r>
          </a:p>
        </p:txBody>
      </p:sp>
      <p:sp>
        <p:nvSpPr>
          <p:cNvPr id="34" name="TextBox 33">
            <a:extLst>
              <a:ext uri="{FF2B5EF4-FFF2-40B4-BE49-F238E27FC236}">
                <a16:creationId xmlns:a16="http://schemas.microsoft.com/office/drawing/2014/main" id="{3FCFD0D8-AE3D-E77D-14FE-03081CA4BB5B}"/>
              </a:ext>
            </a:extLst>
          </p:cNvPr>
          <p:cNvSpPr txBox="1">
            <a:spLocks noChangeArrowheads="1"/>
          </p:cNvSpPr>
          <p:nvPr/>
        </p:nvSpPr>
        <p:spPr bwMode="auto">
          <a:xfrm>
            <a:off x="5832475" y="3024188"/>
            <a:ext cx="20161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Department table</a:t>
            </a:r>
          </a:p>
        </p:txBody>
      </p:sp>
      <p:graphicFrame>
        <p:nvGraphicFramePr>
          <p:cNvPr id="35" name="Table 34">
            <a:extLst>
              <a:ext uri="{FF2B5EF4-FFF2-40B4-BE49-F238E27FC236}">
                <a16:creationId xmlns:a16="http://schemas.microsoft.com/office/drawing/2014/main" id="{D2AB081A-B86D-FDD3-B6C3-5342B9FC7C57}"/>
              </a:ext>
            </a:extLst>
          </p:cNvPr>
          <p:cNvGraphicFramePr>
            <a:graphicFrameLocks noGrp="1"/>
          </p:cNvGraphicFramePr>
          <p:nvPr/>
        </p:nvGraphicFramePr>
        <p:xfrm>
          <a:off x="1619250" y="5202238"/>
          <a:ext cx="6048376" cy="1106488"/>
        </p:xfrm>
        <a:graphic>
          <a:graphicData uri="http://schemas.openxmlformats.org/drawingml/2006/table">
            <a:tbl>
              <a:tblPr firstRow="1" bandRow="1">
                <a:tableStyleId>{9D7B26C5-4107-4FEC-AEDC-1716B250A1EF}</a:tableStyleId>
              </a:tblPr>
              <a:tblGrid>
                <a:gridCol w="1224076">
                  <a:extLst>
                    <a:ext uri="{9D8B030D-6E8A-4147-A177-3AD203B41FA5}">
                      <a16:colId xmlns:a16="http://schemas.microsoft.com/office/drawing/2014/main" val="20000"/>
                    </a:ext>
                  </a:extLst>
                </a:gridCol>
                <a:gridCol w="1800112">
                  <a:extLst>
                    <a:ext uri="{9D8B030D-6E8A-4147-A177-3AD203B41FA5}">
                      <a16:colId xmlns:a16="http://schemas.microsoft.com/office/drawing/2014/main" val="20001"/>
                    </a:ext>
                  </a:extLst>
                </a:gridCol>
                <a:gridCol w="1800112">
                  <a:extLst>
                    <a:ext uri="{9D8B030D-6E8A-4147-A177-3AD203B41FA5}">
                      <a16:colId xmlns:a16="http://schemas.microsoft.com/office/drawing/2014/main" val="20002"/>
                    </a:ext>
                  </a:extLst>
                </a:gridCol>
                <a:gridCol w="1224076">
                  <a:extLst>
                    <a:ext uri="{9D8B030D-6E8A-4147-A177-3AD203B41FA5}">
                      <a16:colId xmlns:a16="http://schemas.microsoft.com/office/drawing/2014/main" val="20003"/>
                    </a:ext>
                  </a:extLst>
                </a:gridCol>
              </a:tblGrid>
              <a:tr h="365656">
                <a:tc>
                  <a:txBody>
                    <a:bodyPr/>
                    <a:lstStyle/>
                    <a:p>
                      <a:pPr algn="ctr"/>
                      <a:r>
                        <a:rPr lang="en-CA" sz="1800" dirty="0"/>
                        <a:t>Name</a:t>
                      </a:r>
                    </a:p>
                  </a:txBody>
                  <a:tcPr marL="91436" marR="91436" marT="45668" marB="45668"/>
                </a:tc>
                <a:tc>
                  <a:txBody>
                    <a:bodyPr/>
                    <a:lstStyle/>
                    <a:p>
                      <a:pPr algn="ctr"/>
                      <a:r>
                        <a:rPr lang="en-CA" sz="1800" dirty="0" err="1"/>
                        <a:t>DepartmentId</a:t>
                      </a:r>
                      <a:endParaRPr lang="en-CA" sz="1800" dirty="0"/>
                    </a:p>
                  </a:txBody>
                  <a:tcPr marL="91436" marR="91436" marT="45668" marB="45668"/>
                </a:tc>
                <a:tc>
                  <a:txBody>
                    <a:bodyPr/>
                    <a:lstStyle/>
                    <a:p>
                      <a:pPr algn="ctr"/>
                      <a:r>
                        <a:rPr lang="en-CA" sz="1800" dirty="0" err="1"/>
                        <a:t>DepartmentId</a:t>
                      </a:r>
                      <a:endParaRPr lang="en-CA" sz="1800" dirty="0"/>
                    </a:p>
                  </a:txBody>
                  <a:tcPr marL="91436" marR="91436" marT="45668" marB="45668"/>
                </a:tc>
                <a:tc>
                  <a:txBody>
                    <a:bodyPr/>
                    <a:lstStyle/>
                    <a:p>
                      <a:pPr algn="ctr"/>
                      <a:r>
                        <a:rPr lang="en-CA" sz="1800" dirty="0"/>
                        <a:t>Name</a:t>
                      </a:r>
                    </a:p>
                  </a:txBody>
                  <a:tcPr marL="91436" marR="91436" marT="45668" marB="45668"/>
                </a:tc>
                <a:extLst>
                  <a:ext uri="{0D108BD9-81ED-4DB2-BD59-A6C34878D82A}">
                    <a16:rowId xmlns:a16="http://schemas.microsoft.com/office/drawing/2014/main" val="10000"/>
                  </a:ext>
                </a:extLst>
              </a:tr>
              <a:tr h="370416">
                <a:tc>
                  <a:txBody>
                    <a:bodyPr/>
                    <a:lstStyle/>
                    <a:p>
                      <a:pPr algn="ctr"/>
                      <a:r>
                        <a:rPr lang="en-CA" sz="1800" dirty="0"/>
                        <a:t>Aamir</a:t>
                      </a:r>
                    </a:p>
                  </a:txBody>
                  <a:tcPr marL="91436" marR="91436" marT="45668" marB="45668"/>
                </a:tc>
                <a:tc>
                  <a:txBody>
                    <a:bodyPr/>
                    <a:lstStyle/>
                    <a:p>
                      <a:pPr algn="ctr"/>
                      <a:r>
                        <a:rPr lang="en-CA" sz="1800" dirty="0"/>
                        <a:t>10</a:t>
                      </a:r>
                    </a:p>
                  </a:txBody>
                  <a:tcPr marL="91436" marR="91436" marT="45668" marB="45668"/>
                </a:tc>
                <a:tc>
                  <a:txBody>
                    <a:bodyPr/>
                    <a:lstStyle/>
                    <a:p>
                      <a:pPr algn="ctr"/>
                      <a:r>
                        <a:rPr lang="en-CA" sz="1800" dirty="0"/>
                        <a:t>10</a:t>
                      </a:r>
                    </a:p>
                  </a:txBody>
                  <a:tcPr marL="91436" marR="91436" marT="45668" marB="45668"/>
                </a:tc>
                <a:tc>
                  <a:txBody>
                    <a:bodyPr/>
                    <a:lstStyle/>
                    <a:p>
                      <a:pPr algn="ctr"/>
                      <a:r>
                        <a:rPr lang="en-CA" sz="1800" dirty="0"/>
                        <a:t>IT</a:t>
                      </a:r>
                    </a:p>
                  </a:txBody>
                  <a:tcPr marL="91436" marR="91436" marT="45668" marB="45668"/>
                </a:tc>
                <a:extLst>
                  <a:ext uri="{0D108BD9-81ED-4DB2-BD59-A6C34878D82A}">
                    <a16:rowId xmlns:a16="http://schemas.microsoft.com/office/drawing/2014/main" val="10001"/>
                  </a:ext>
                </a:extLst>
              </a:tr>
              <a:tr h="370416">
                <a:tc>
                  <a:txBody>
                    <a:bodyPr/>
                    <a:lstStyle/>
                    <a:p>
                      <a:pPr algn="ctr"/>
                      <a:r>
                        <a:rPr lang="en-CA" sz="1800"/>
                        <a:t>NULL</a:t>
                      </a:r>
                      <a:endParaRPr lang="en-CA" sz="1800" dirty="0"/>
                    </a:p>
                  </a:txBody>
                  <a:tcPr marL="91436" marR="91436" marT="45668" marB="45668"/>
                </a:tc>
                <a:tc>
                  <a:txBody>
                    <a:bodyPr/>
                    <a:lstStyle/>
                    <a:p>
                      <a:pPr algn="ctr"/>
                      <a:r>
                        <a:rPr lang="en-CA" sz="1800" dirty="0"/>
                        <a:t>NULL</a:t>
                      </a:r>
                    </a:p>
                  </a:txBody>
                  <a:tcPr marL="91436" marR="91436" marT="45668" marB="45668"/>
                </a:tc>
                <a:tc>
                  <a:txBody>
                    <a:bodyPr/>
                    <a:lstStyle/>
                    <a:p>
                      <a:pPr algn="ctr"/>
                      <a:r>
                        <a:rPr lang="en-CA" sz="1800" dirty="0"/>
                        <a:t>15</a:t>
                      </a:r>
                    </a:p>
                  </a:txBody>
                  <a:tcPr marL="91436" marR="91436" marT="45668" marB="45668"/>
                </a:tc>
                <a:tc>
                  <a:txBody>
                    <a:bodyPr/>
                    <a:lstStyle/>
                    <a:p>
                      <a:pPr algn="ctr"/>
                      <a:r>
                        <a:rPr lang="en-CA" sz="1800" dirty="0"/>
                        <a:t>Finance</a:t>
                      </a:r>
                    </a:p>
                  </a:txBody>
                  <a:tcPr marL="91436" marR="91436" marT="45668" marB="45668"/>
                </a:tc>
                <a:extLst>
                  <a:ext uri="{0D108BD9-81ED-4DB2-BD59-A6C34878D82A}">
                    <a16:rowId xmlns:a16="http://schemas.microsoft.com/office/drawing/2014/main" val="10002"/>
                  </a:ext>
                </a:extLst>
              </a:tr>
            </a:tbl>
          </a:graphicData>
        </a:graphic>
      </p:graphicFrame>
      <p:sp>
        <p:nvSpPr>
          <p:cNvPr id="36" name="Snip Single Corner Rectangle 35">
            <a:extLst>
              <a:ext uri="{FF2B5EF4-FFF2-40B4-BE49-F238E27FC236}">
                <a16:creationId xmlns:a16="http://schemas.microsoft.com/office/drawing/2014/main" id="{1CCA75BB-DDA9-5E92-159D-6FDBE63F55DC}"/>
              </a:ext>
            </a:extLst>
          </p:cNvPr>
          <p:cNvSpPr/>
          <p:nvPr/>
        </p:nvSpPr>
        <p:spPr bwMode="auto">
          <a:xfrm>
            <a:off x="227013" y="5210175"/>
            <a:ext cx="1092200" cy="431800"/>
          </a:xfrm>
          <a:prstGeom prst="snip1Rect">
            <a:avLst/>
          </a:prstGeom>
          <a:solidFill>
            <a:srgbClr val="FFFF00">
              <a:alpha val="30000"/>
            </a:srgbClr>
          </a:solidFill>
          <a:ln w="9525" cap="flat" cmpd="sng" algn="ctr">
            <a:solidFill>
              <a:srgbClr val="FFC000"/>
            </a:solidFill>
            <a:prstDash val="solid"/>
            <a:round/>
            <a:headEnd type="none" w="med" len="med"/>
            <a:tailEnd type="none" w="med" len="me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sz="2000" b="1"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Result:</a:t>
            </a:r>
          </a:p>
        </p:txBody>
      </p:sp>
      <p:sp>
        <p:nvSpPr>
          <p:cNvPr id="37" name="Snip Single Corner Rectangle 36">
            <a:extLst>
              <a:ext uri="{FF2B5EF4-FFF2-40B4-BE49-F238E27FC236}">
                <a16:creationId xmlns:a16="http://schemas.microsoft.com/office/drawing/2014/main" id="{842CC60B-9A2A-6689-6603-92435F98B552}"/>
              </a:ext>
            </a:extLst>
          </p:cNvPr>
          <p:cNvSpPr/>
          <p:nvPr/>
        </p:nvSpPr>
        <p:spPr bwMode="auto">
          <a:xfrm>
            <a:off x="250825" y="3486150"/>
            <a:ext cx="830263" cy="431800"/>
          </a:xfrm>
          <a:prstGeom prst="snip1Rect">
            <a:avLst/>
          </a:prstGeom>
          <a:solidFill>
            <a:srgbClr val="FFFF00">
              <a:alpha val="30000"/>
            </a:srgbClr>
          </a:solidFill>
          <a:ln w="9525" cap="flat" cmpd="sng" algn="ctr">
            <a:solidFill>
              <a:srgbClr val="FFC000"/>
            </a:solidFill>
            <a:prstDash val="solid"/>
            <a:round/>
            <a:headEnd type="none" w="med" len="med"/>
            <a:tailEnd type="none" w="med" len="med"/>
          </a:ln>
          <a:effec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2000" b="1"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Run:</a:t>
            </a:r>
          </a:p>
        </p:txBody>
      </p:sp>
      <p:cxnSp>
        <p:nvCxnSpPr>
          <p:cNvPr id="38" name="Straight Arrow Connector 37">
            <a:extLst>
              <a:ext uri="{FF2B5EF4-FFF2-40B4-BE49-F238E27FC236}">
                <a16:creationId xmlns:a16="http://schemas.microsoft.com/office/drawing/2014/main" id="{164D4D89-CD42-8CDA-B974-673AC5E3F556}"/>
              </a:ext>
            </a:extLst>
          </p:cNvPr>
          <p:cNvCxnSpPr>
            <a:cxnSpLocks noChangeShapeType="1"/>
          </p:cNvCxnSpPr>
          <p:nvPr/>
        </p:nvCxnSpPr>
        <p:spPr bwMode="auto">
          <a:xfrm>
            <a:off x="3713163" y="2462213"/>
            <a:ext cx="1025525" cy="0"/>
          </a:xfrm>
          <a:prstGeom prst="straightConnector1">
            <a:avLst/>
          </a:prstGeom>
          <a:noFill/>
          <a:ln w="25400"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9" name="Rectangle 38">
            <a:extLst>
              <a:ext uri="{FF2B5EF4-FFF2-40B4-BE49-F238E27FC236}">
                <a16:creationId xmlns:a16="http://schemas.microsoft.com/office/drawing/2014/main" id="{6F91DD29-A425-B023-E158-CDA6F9B5B74F}"/>
              </a:ext>
            </a:extLst>
          </p:cNvPr>
          <p:cNvSpPr/>
          <p:nvPr/>
        </p:nvSpPr>
        <p:spPr bwMode="auto">
          <a:xfrm>
            <a:off x="1619250" y="5576888"/>
            <a:ext cx="288925" cy="360362"/>
          </a:xfrm>
          <a:prstGeom prst="rect">
            <a:avLst/>
          </a:prstGeom>
          <a:solidFill>
            <a:schemeClr val="accent4"/>
          </a:solidFill>
          <a:ln w="9525" cap="flat" cmpd="sng" algn="ctr">
            <a:solidFill>
              <a:schemeClr val="tx1"/>
            </a:solidFill>
            <a:prstDash val="solid"/>
            <a:round/>
            <a:headEnd type="none" w="med" len="med"/>
            <a:tailEnd type="none" w="med" len="me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1800" b="0" i="0" u="none" strike="noStrike" kern="1200" cap="none" spc="0" normalizeH="0" baseline="0" noProof="0" dirty="0">
                <a:ln>
                  <a:noFill/>
                </a:ln>
                <a:solidFill>
                  <a:srgbClr val="FFFFFF"/>
                </a:solidFill>
                <a:effectLst/>
                <a:uLnTx/>
                <a:uFillTx/>
                <a:latin typeface="Arial" charset="0"/>
                <a:ea typeface="+mn-ea"/>
                <a:cs typeface="Arial" panose="020B0604020202020204" pitchFamily="34" charset="0"/>
              </a:rPr>
              <a:t>1</a:t>
            </a:r>
          </a:p>
        </p:txBody>
      </p:sp>
      <p:graphicFrame>
        <p:nvGraphicFramePr>
          <p:cNvPr id="41" name="Table 40">
            <a:extLst>
              <a:ext uri="{FF2B5EF4-FFF2-40B4-BE49-F238E27FC236}">
                <a16:creationId xmlns:a16="http://schemas.microsoft.com/office/drawing/2014/main" id="{C022E603-4FFE-F4D1-8312-A9A8846308CE}"/>
              </a:ext>
            </a:extLst>
          </p:cNvPr>
          <p:cNvGraphicFramePr>
            <a:graphicFrameLocks noGrp="1"/>
          </p:cNvGraphicFramePr>
          <p:nvPr/>
        </p:nvGraphicFramePr>
        <p:xfrm>
          <a:off x="4565650" y="1916113"/>
          <a:ext cx="3816350" cy="1112838"/>
        </p:xfrm>
        <a:graphic>
          <a:graphicData uri="http://schemas.openxmlformats.org/drawingml/2006/table">
            <a:tbl>
              <a:tblPr firstRow="1" bandRow="1">
                <a:tableStyleId>{C083E6E3-FA7D-4D7B-A595-EF9225AFEA82}</a:tableStyleId>
              </a:tblPr>
              <a:tblGrid>
                <a:gridCol w="1908175">
                  <a:extLst>
                    <a:ext uri="{9D8B030D-6E8A-4147-A177-3AD203B41FA5}">
                      <a16:colId xmlns:a16="http://schemas.microsoft.com/office/drawing/2014/main" val="20000"/>
                    </a:ext>
                  </a:extLst>
                </a:gridCol>
                <a:gridCol w="1908175">
                  <a:extLst>
                    <a:ext uri="{9D8B030D-6E8A-4147-A177-3AD203B41FA5}">
                      <a16:colId xmlns:a16="http://schemas.microsoft.com/office/drawing/2014/main" val="20001"/>
                    </a:ext>
                  </a:extLst>
                </a:gridCol>
              </a:tblGrid>
              <a:tr h="370946">
                <a:tc>
                  <a:txBody>
                    <a:bodyPr/>
                    <a:lstStyle/>
                    <a:p>
                      <a:pPr algn="ctr"/>
                      <a:r>
                        <a:rPr lang="en-CA" sz="1800" dirty="0" err="1"/>
                        <a:t>DepartmentId</a:t>
                      </a:r>
                      <a:endParaRPr lang="en-CA" sz="1800" dirty="0"/>
                    </a:p>
                  </a:txBody>
                  <a:tcPr marL="91438" marR="91438" marT="45733" marB="45733"/>
                </a:tc>
                <a:tc>
                  <a:txBody>
                    <a:bodyPr/>
                    <a:lstStyle/>
                    <a:p>
                      <a:pPr algn="ctr"/>
                      <a:r>
                        <a:rPr lang="en-CA" sz="1800" dirty="0"/>
                        <a:t>Name</a:t>
                      </a:r>
                    </a:p>
                  </a:txBody>
                  <a:tcPr marL="91438" marR="91438" marT="45733" marB="45733"/>
                </a:tc>
                <a:extLst>
                  <a:ext uri="{0D108BD9-81ED-4DB2-BD59-A6C34878D82A}">
                    <a16:rowId xmlns:a16="http://schemas.microsoft.com/office/drawing/2014/main" val="10000"/>
                  </a:ext>
                </a:extLst>
              </a:tr>
              <a:tr h="370946">
                <a:tc>
                  <a:txBody>
                    <a:bodyPr/>
                    <a:lstStyle/>
                    <a:p>
                      <a:pPr algn="ctr"/>
                      <a:r>
                        <a:rPr lang="en-CA" sz="1800" dirty="0"/>
                        <a:t>10</a:t>
                      </a:r>
                    </a:p>
                  </a:txBody>
                  <a:tcPr marL="91438" marR="91438" marT="45733" marB="45733"/>
                </a:tc>
                <a:tc>
                  <a:txBody>
                    <a:bodyPr/>
                    <a:lstStyle/>
                    <a:p>
                      <a:pPr algn="ctr"/>
                      <a:r>
                        <a:rPr lang="en-CA" sz="1800" dirty="0"/>
                        <a:t>IT</a:t>
                      </a:r>
                    </a:p>
                  </a:txBody>
                  <a:tcPr marL="91438" marR="91438" marT="45733" marB="45733"/>
                </a:tc>
                <a:extLst>
                  <a:ext uri="{0D108BD9-81ED-4DB2-BD59-A6C34878D82A}">
                    <a16:rowId xmlns:a16="http://schemas.microsoft.com/office/drawing/2014/main" val="10001"/>
                  </a:ext>
                </a:extLst>
              </a:tr>
              <a:tr h="370946">
                <a:tc>
                  <a:txBody>
                    <a:bodyPr/>
                    <a:lstStyle/>
                    <a:p>
                      <a:pPr algn="ctr"/>
                      <a:r>
                        <a:rPr lang="en-CA" sz="1800" dirty="0"/>
                        <a:t>15</a:t>
                      </a:r>
                    </a:p>
                  </a:txBody>
                  <a:tcPr marL="91438" marR="91438" marT="45733" marB="45733"/>
                </a:tc>
                <a:tc>
                  <a:txBody>
                    <a:bodyPr/>
                    <a:lstStyle/>
                    <a:p>
                      <a:pPr algn="ctr"/>
                      <a:r>
                        <a:rPr lang="en-CA" sz="1800" dirty="0"/>
                        <a:t>Finance</a:t>
                      </a:r>
                    </a:p>
                  </a:txBody>
                  <a:tcPr marL="91438" marR="91438" marT="45733" marB="45733"/>
                </a:tc>
                <a:extLst>
                  <a:ext uri="{0D108BD9-81ED-4DB2-BD59-A6C34878D82A}">
                    <a16:rowId xmlns:a16="http://schemas.microsoft.com/office/drawing/2014/main" val="10002"/>
                  </a:ext>
                </a:extLst>
              </a:tr>
            </a:tbl>
          </a:graphicData>
        </a:graphic>
      </p:graphicFrame>
      <p:sp>
        <p:nvSpPr>
          <p:cNvPr id="25" name="Snip Single Corner Rectangle 24">
            <a:extLst>
              <a:ext uri="{FF2B5EF4-FFF2-40B4-BE49-F238E27FC236}">
                <a16:creationId xmlns:a16="http://schemas.microsoft.com/office/drawing/2014/main" id="{96C72C5E-1822-FE3E-B353-47DAFD2A68C4}"/>
              </a:ext>
            </a:extLst>
          </p:cNvPr>
          <p:cNvSpPr/>
          <p:nvPr/>
        </p:nvSpPr>
        <p:spPr>
          <a:xfrm>
            <a:off x="-36513" y="1125538"/>
            <a:ext cx="2376488" cy="400050"/>
          </a:xfrm>
          <a:prstGeom prst="snip1Rect">
            <a:avLst/>
          </a:prstGeom>
          <a:solidFill>
            <a:schemeClr val="bg2">
              <a:lumMod val="50000"/>
            </a:schemeClr>
          </a:solidFill>
          <a:ln>
            <a:solidFill>
              <a:schemeClr val="bg2">
                <a:lumMod val="50000"/>
              </a:schemeClr>
            </a:solidFill>
          </a:ln>
        </p:spPr>
        <p:style>
          <a:lnRef idx="1">
            <a:schemeClr val="accent1"/>
          </a:lnRef>
          <a:fillRef idx="3">
            <a:schemeClr val="accent1"/>
          </a:fillRef>
          <a:effectRef idx="2">
            <a:schemeClr val="accent1"/>
          </a:effectRef>
          <a:fontRef idx="minor">
            <a:schemeClr val="lt1"/>
          </a:fontRef>
        </p:style>
        <p:txBody>
          <a:bodyPr anchor="ctr">
            <a:spAutoFit/>
          </a:bodyPr>
          <a:lstStyle/>
          <a:p>
            <a:pPr marL="342900" marR="0" lvl="0" indent="-342900" algn="just" defTabSz="914400" rtl="0" eaLnBrk="1" fontAlgn="base" latinLnBrk="0" hangingPunct="1">
              <a:lnSpc>
                <a:spcPct val="100000"/>
              </a:lnSpc>
              <a:spcBef>
                <a:spcPct val="20000"/>
              </a:spcBef>
              <a:spcAft>
                <a:spcPct val="0"/>
              </a:spcAft>
              <a:buClr>
                <a:srgbClr val="FF6600"/>
              </a:buClr>
              <a:buSzPct val="100000"/>
              <a:buFontTx/>
              <a:buNone/>
              <a:tabLst/>
              <a:defRPr/>
            </a:pPr>
            <a:r>
              <a:rPr kumimoji="0" lang="en-US" sz="1800" b="0" i="0" u="none" strike="noStrike" kern="1200" cap="none" spc="0" normalizeH="0" baseline="0" noProof="0" dirty="0">
                <a:ln>
                  <a:noFill/>
                </a:ln>
                <a:solidFill>
                  <a:srgbClr val="FFFFFF"/>
                </a:solidFill>
                <a:effectLst/>
                <a:uLnTx/>
                <a:uFillTx/>
                <a:latin typeface="Arial" pitchFamily="34" charset="0"/>
                <a:ea typeface="Times New Roman" pitchFamily="18" charset="0"/>
                <a:cs typeface="Arial" pitchFamily="34" charset="0"/>
              </a:rPr>
              <a:t>RIGHT OUTER JOIN</a:t>
            </a:r>
            <a:endParaRPr kumimoji="0" lang="en-GB" sz="1800" b="0" i="0" u="none" strike="noStrike" kern="0" cap="none" spc="0" normalizeH="0" baseline="0" noProof="0" dirty="0">
              <a:ln>
                <a:noFill/>
              </a:ln>
              <a:solidFill>
                <a:srgbClr val="2F2B20"/>
              </a:solidFill>
              <a:effectLst/>
              <a:uLnTx/>
              <a:uFillTx/>
              <a:latin typeface="Calibri"/>
              <a:ea typeface="+mn-ea"/>
              <a:cs typeface="+mn-cs"/>
            </a:endParaRPr>
          </a:p>
        </p:txBody>
      </p:sp>
      <p:sp>
        <p:nvSpPr>
          <p:cNvPr id="26" name="Rectangle 25">
            <a:extLst>
              <a:ext uri="{FF2B5EF4-FFF2-40B4-BE49-F238E27FC236}">
                <a16:creationId xmlns:a16="http://schemas.microsoft.com/office/drawing/2014/main" id="{1CBE7EAE-BB77-1B7E-1B4C-82E3AF4E615C}"/>
              </a:ext>
            </a:extLst>
          </p:cNvPr>
          <p:cNvSpPr/>
          <p:nvPr/>
        </p:nvSpPr>
        <p:spPr bwMode="auto">
          <a:xfrm>
            <a:off x="1619250" y="5937250"/>
            <a:ext cx="288925" cy="360363"/>
          </a:xfrm>
          <a:prstGeom prst="rect">
            <a:avLst/>
          </a:prstGeom>
          <a:solidFill>
            <a:schemeClr val="accent4"/>
          </a:solidFill>
          <a:ln w="9525" cap="flat" cmpd="sng" algn="ctr">
            <a:solidFill>
              <a:schemeClr val="tx1"/>
            </a:solidFill>
            <a:prstDash val="solid"/>
            <a:round/>
            <a:headEnd type="none" w="med" len="med"/>
            <a:tailEnd type="none" w="med" len="me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1800" b="0" i="0" u="none" strike="noStrike" kern="1200" cap="none" spc="0" normalizeH="0" baseline="0" noProof="0" dirty="0">
                <a:ln>
                  <a:noFill/>
                </a:ln>
                <a:solidFill>
                  <a:srgbClr val="FFFFFF"/>
                </a:solidFill>
                <a:effectLst/>
                <a:uLnTx/>
                <a:uFillTx/>
                <a:latin typeface="Arial" charset="0"/>
                <a:ea typeface="+mn-ea"/>
                <a:cs typeface="Arial" panose="020B0604020202020204" pitchFamily="34" charset="0"/>
              </a:rPr>
              <a:t>2</a:t>
            </a:r>
          </a:p>
        </p:txBody>
      </p:sp>
      <p:sp>
        <p:nvSpPr>
          <p:cNvPr id="27" name="Oval 26">
            <a:extLst>
              <a:ext uri="{FF2B5EF4-FFF2-40B4-BE49-F238E27FC236}">
                <a16:creationId xmlns:a16="http://schemas.microsoft.com/office/drawing/2014/main" id="{284B4196-6693-658F-D74D-A700A8B62C85}"/>
              </a:ext>
            </a:extLst>
          </p:cNvPr>
          <p:cNvSpPr>
            <a:spLocks noChangeArrowheads="1"/>
          </p:cNvSpPr>
          <p:nvPr/>
        </p:nvSpPr>
        <p:spPr bwMode="auto">
          <a:xfrm>
            <a:off x="5105400" y="2627313"/>
            <a:ext cx="2879725" cy="454025"/>
          </a:xfrm>
          <a:prstGeom prst="ellipse">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CA" altLang="en-US" sz="18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wipe(up)">
                                      <p:cBhvr>
                                        <p:cTn id="7" dur="500"/>
                                        <p:tgtEl>
                                          <p:spTgt spid="32"/>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3"/>
                                        </p:tgtEl>
                                        <p:attrNameLst>
                                          <p:attrName>style.visibility</p:attrName>
                                        </p:attrNameLst>
                                      </p:cBhvr>
                                      <p:to>
                                        <p:strVal val="visible"/>
                                      </p:to>
                                    </p:set>
                                    <p:animEffect transition="in" filter="wipe(left)">
                                      <p:cBhvr>
                                        <p:cTn id="11" dur="500"/>
                                        <p:tgtEl>
                                          <p:spTgt spid="33"/>
                                        </p:tgtEl>
                                      </p:cBhvr>
                                    </p:animEffect>
                                  </p:childTnLst>
                                </p:cTn>
                              </p:par>
                            </p:childTnLst>
                          </p:cTn>
                        </p:par>
                        <p:par>
                          <p:cTn id="12" fill="hold" nodeType="afterGroup">
                            <p:stCondLst>
                              <p:cond delay="1000"/>
                            </p:stCondLst>
                            <p:childTnLst>
                              <p:par>
                                <p:cTn id="13" presetID="22" presetClass="entr" presetSubtype="1" fill="hold" nodeType="afterEffect">
                                  <p:stCondLst>
                                    <p:cond delay="0"/>
                                  </p:stCondLst>
                                  <p:childTnLst>
                                    <p:set>
                                      <p:cBhvr>
                                        <p:cTn id="14" dur="1" fill="hold">
                                          <p:stCondLst>
                                            <p:cond delay="0"/>
                                          </p:stCondLst>
                                        </p:cTn>
                                        <p:tgtEl>
                                          <p:spTgt spid="41"/>
                                        </p:tgtEl>
                                        <p:attrNameLst>
                                          <p:attrName>style.visibility</p:attrName>
                                        </p:attrNameLst>
                                      </p:cBhvr>
                                      <p:to>
                                        <p:strVal val="visible"/>
                                      </p:to>
                                    </p:set>
                                    <p:animEffect transition="in" filter="wipe(up)">
                                      <p:cBhvr>
                                        <p:cTn id="15" dur="500"/>
                                        <p:tgtEl>
                                          <p:spTgt spid="41"/>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4"/>
                                        </p:tgtEl>
                                        <p:attrNameLst>
                                          <p:attrName>style.visibility</p:attrName>
                                        </p:attrNameLst>
                                      </p:cBhvr>
                                      <p:to>
                                        <p:strVal val="visible"/>
                                      </p:to>
                                    </p:set>
                                    <p:animEffect transition="in" filter="wipe(left)">
                                      <p:cBhvr>
                                        <p:cTn id="19" dur="500"/>
                                        <p:tgtEl>
                                          <p:spTgt spid="34"/>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37"/>
                                        </p:tgtEl>
                                        <p:attrNameLst>
                                          <p:attrName>style.visibility</p:attrName>
                                        </p:attrNameLst>
                                      </p:cBhvr>
                                      <p:to>
                                        <p:strVal val="visible"/>
                                      </p:to>
                                    </p:set>
                                    <p:animEffect transition="in" filter="wipe(up)">
                                      <p:cBhvr>
                                        <p:cTn id="24" dur="500"/>
                                        <p:tgtEl>
                                          <p:spTgt spid="37"/>
                                        </p:tgtEl>
                                      </p:cBhvr>
                                    </p:animEffect>
                                  </p:childTnLst>
                                </p:cTn>
                              </p:par>
                            </p:childTnLst>
                          </p:cTn>
                        </p:par>
                        <p:par>
                          <p:cTn id="25" fill="hold" nodeType="afterGroup">
                            <p:stCondLst>
                              <p:cond delay="500"/>
                            </p:stCondLst>
                            <p:childTnLst>
                              <p:par>
                                <p:cTn id="26" presetID="22" presetClass="entr" presetSubtype="8" fill="hold" nodeType="afterEffect">
                                  <p:stCondLst>
                                    <p:cond delay="0"/>
                                  </p:stCondLst>
                                  <p:childTnLst>
                                    <p:set>
                                      <p:cBhvr>
                                        <p:cTn id="27" dur="1" fill="hold">
                                          <p:stCondLst>
                                            <p:cond delay="0"/>
                                          </p:stCondLst>
                                        </p:cTn>
                                        <p:tgtEl>
                                          <p:spTgt spid="37">
                                            <p:txEl>
                                              <p:pRg st="0" end="0"/>
                                            </p:txEl>
                                          </p:spTgt>
                                        </p:tgtEl>
                                        <p:attrNameLst>
                                          <p:attrName>style.visibility</p:attrName>
                                        </p:attrNameLst>
                                      </p:cBhvr>
                                      <p:to>
                                        <p:strVal val="visible"/>
                                      </p:to>
                                    </p:set>
                                    <p:animEffect transition="in" filter="wipe(left)">
                                      <p:cBhvr>
                                        <p:cTn id="28" dur="500"/>
                                        <p:tgtEl>
                                          <p:spTgt spid="37">
                                            <p:txEl>
                                              <p:pRg st="0" end="0"/>
                                            </p:txEl>
                                          </p:spTgt>
                                        </p:tgtEl>
                                      </p:cBhvr>
                                    </p:animEffect>
                                  </p:childTnLst>
                                </p:cTn>
                              </p:par>
                            </p:childTnLst>
                          </p:cTn>
                        </p:par>
                        <p:par>
                          <p:cTn id="29" fill="hold" nodeType="afterGroup">
                            <p:stCondLst>
                              <p:cond delay="1000"/>
                            </p:stCondLst>
                            <p:childTnLst>
                              <p:par>
                                <p:cTn id="30" presetID="16" presetClass="entr" presetSubtype="21" fill="hold" grpId="0" nodeType="afterEffect">
                                  <p:stCondLst>
                                    <p:cond delay="0"/>
                                  </p:stCondLst>
                                  <p:childTnLst>
                                    <p:set>
                                      <p:cBhvr>
                                        <p:cTn id="31" dur="1" fill="hold">
                                          <p:stCondLst>
                                            <p:cond delay="0"/>
                                          </p:stCondLst>
                                        </p:cTn>
                                        <p:tgtEl>
                                          <p:spTgt spid="30"/>
                                        </p:tgtEl>
                                        <p:attrNameLst>
                                          <p:attrName>style.visibility</p:attrName>
                                        </p:attrNameLst>
                                      </p:cBhvr>
                                      <p:to>
                                        <p:strVal val="visible"/>
                                      </p:to>
                                    </p:set>
                                    <p:animEffect transition="in" filter="barn(inVertical)">
                                      <p:cBhvr>
                                        <p:cTn id="32" dur="500"/>
                                        <p:tgtEl>
                                          <p:spTgt spid="3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36"/>
                                        </p:tgtEl>
                                        <p:attrNameLst>
                                          <p:attrName>style.visibility</p:attrName>
                                        </p:attrNameLst>
                                      </p:cBhvr>
                                      <p:to>
                                        <p:strVal val="visible"/>
                                      </p:to>
                                    </p:set>
                                    <p:animEffect transition="in" filter="wipe(up)">
                                      <p:cBhvr>
                                        <p:cTn id="37" dur="500"/>
                                        <p:tgtEl>
                                          <p:spTgt spid="36"/>
                                        </p:tgtEl>
                                      </p:cBhvr>
                                    </p:animEffect>
                                  </p:childTnLst>
                                </p:cTn>
                              </p:par>
                            </p:childTnLst>
                          </p:cTn>
                        </p:par>
                        <p:par>
                          <p:cTn id="38" fill="hold" nodeType="afterGroup">
                            <p:stCondLst>
                              <p:cond delay="500"/>
                            </p:stCondLst>
                            <p:childTnLst>
                              <p:par>
                                <p:cTn id="39" presetID="22" presetClass="entr" presetSubtype="8" fill="hold" nodeType="afterEffect">
                                  <p:stCondLst>
                                    <p:cond delay="0"/>
                                  </p:stCondLst>
                                  <p:childTnLst>
                                    <p:set>
                                      <p:cBhvr>
                                        <p:cTn id="40" dur="1" fill="hold">
                                          <p:stCondLst>
                                            <p:cond delay="0"/>
                                          </p:stCondLst>
                                        </p:cTn>
                                        <p:tgtEl>
                                          <p:spTgt spid="36">
                                            <p:txEl>
                                              <p:pRg st="0" end="0"/>
                                            </p:txEl>
                                          </p:spTgt>
                                        </p:tgtEl>
                                        <p:attrNameLst>
                                          <p:attrName>style.visibility</p:attrName>
                                        </p:attrNameLst>
                                      </p:cBhvr>
                                      <p:to>
                                        <p:strVal val="visible"/>
                                      </p:to>
                                    </p:set>
                                    <p:animEffect transition="in" filter="wipe(left)">
                                      <p:cBhvr>
                                        <p:cTn id="41" dur="500"/>
                                        <p:tgtEl>
                                          <p:spTgt spid="36">
                                            <p:txEl>
                                              <p:pRg st="0" end="0"/>
                                            </p:txEl>
                                          </p:spTgt>
                                        </p:tgtEl>
                                      </p:cBhvr>
                                    </p:animEffect>
                                  </p:childTnLst>
                                </p:cTn>
                              </p:par>
                            </p:childTnLst>
                          </p:cTn>
                        </p:par>
                        <p:par>
                          <p:cTn id="42" fill="hold" nodeType="afterGroup">
                            <p:stCondLst>
                              <p:cond delay="1000"/>
                            </p:stCondLst>
                            <p:childTnLst>
                              <p:par>
                                <p:cTn id="43" presetID="16" presetClass="entr" presetSubtype="21" fill="hold" nodeType="afterEffect">
                                  <p:stCondLst>
                                    <p:cond delay="0"/>
                                  </p:stCondLst>
                                  <p:childTnLst>
                                    <p:set>
                                      <p:cBhvr>
                                        <p:cTn id="44" dur="1" fill="hold">
                                          <p:stCondLst>
                                            <p:cond delay="0"/>
                                          </p:stCondLst>
                                        </p:cTn>
                                        <p:tgtEl>
                                          <p:spTgt spid="35"/>
                                        </p:tgtEl>
                                        <p:attrNameLst>
                                          <p:attrName>style.visibility</p:attrName>
                                        </p:attrNameLst>
                                      </p:cBhvr>
                                      <p:to>
                                        <p:strVal val="visible"/>
                                      </p:to>
                                    </p:set>
                                    <p:animEffect transition="in" filter="barn(inVertical)">
                                      <p:cBhvr>
                                        <p:cTn id="45" dur="500"/>
                                        <p:tgtEl>
                                          <p:spTgt spid="35"/>
                                        </p:tgtEl>
                                      </p:cBhvr>
                                    </p:animEffect>
                                  </p:childTnLst>
                                </p:cTn>
                              </p:par>
                            </p:childTnLst>
                          </p:cTn>
                        </p:par>
                        <p:par>
                          <p:cTn id="46" fill="hold" nodeType="afterGroup">
                            <p:stCondLst>
                              <p:cond delay="1500"/>
                            </p:stCondLst>
                            <p:childTnLst>
                              <p:par>
                                <p:cTn id="47" presetID="42" presetClass="entr" presetSubtype="0" fill="hold" grpId="0" nodeType="afterEffect">
                                  <p:stCondLst>
                                    <p:cond delay="0"/>
                                  </p:stCondLst>
                                  <p:childTnLst>
                                    <p:set>
                                      <p:cBhvr>
                                        <p:cTn id="48" dur="1" fill="hold">
                                          <p:stCondLst>
                                            <p:cond delay="0"/>
                                          </p:stCondLst>
                                        </p:cTn>
                                        <p:tgtEl>
                                          <p:spTgt spid="39"/>
                                        </p:tgtEl>
                                        <p:attrNameLst>
                                          <p:attrName>style.visibility</p:attrName>
                                        </p:attrNameLst>
                                      </p:cBhvr>
                                      <p:to>
                                        <p:strVal val="visible"/>
                                      </p:to>
                                    </p:set>
                                    <p:animEffect transition="in" filter="fade">
                                      <p:cBhvr>
                                        <p:cTn id="49" dur="1000"/>
                                        <p:tgtEl>
                                          <p:spTgt spid="39"/>
                                        </p:tgtEl>
                                      </p:cBhvr>
                                    </p:animEffect>
                                    <p:anim calcmode="lin" valueType="num">
                                      <p:cBhvr>
                                        <p:cTn id="50" dur="1000" fill="hold"/>
                                        <p:tgtEl>
                                          <p:spTgt spid="39"/>
                                        </p:tgtEl>
                                        <p:attrNameLst>
                                          <p:attrName>ppt_x</p:attrName>
                                        </p:attrNameLst>
                                      </p:cBhvr>
                                      <p:tavLst>
                                        <p:tav tm="0">
                                          <p:val>
                                            <p:strVal val="#ppt_x"/>
                                          </p:val>
                                        </p:tav>
                                        <p:tav tm="100000">
                                          <p:val>
                                            <p:strVal val="#ppt_x"/>
                                          </p:val>
                                        </p:tav>
                                      </p:tavLst>
                                    </p:anim>
                                    <p:anim calcmode="lin" valueType="num">
                                      <p:cBhvr>
                                        <p:cTn id="51" dur="1000" fill="hold"/>
                                        <p:tgtEl>
                                          <p:spTgt spid="39"/>
                                        </p:tgtEl>
                                        <p:attrNameLst>
                                          <p:attrName>ppt_y</p:attrName>
                                        </p:attrNameLst>
                                      </p:cBhvr>
                                      <p:tavLst>
                                        <p:tav tm="0">
                                          <p:val>
                                            <p:strVal val="#ppt_y+.1"/>
                                          </p:val>
                                        </p:tav>
                                        <p:tav tm="100000">
                                          <p:val>
                                            <p:strVal val="#ppt_y"/>
                                          </p:val>
                                        </p:tav>
                                      </p:tavLst>
                                    </p:anim>
                                  </p:childTnLst>
                                </p:cTn>
                              </p:par>
                            </p:childTnLst>
                          </p:cTn>
                        </p:par>
                        <p:par>
                          <p:cTn id="52" fill="hold" nodeType="afterGroup">
                            <p:stCondLst>
                              <p:cond delay="2500"/>
                            </p:stCondLst>
                            <p:childTnLst>
                              <p:par>
                                <p:cTn id="53" presetID="42" presetClass="entr" presetSubtype="0" fill="hold" grpId="0" nodeType="afterEffect">
                                  <p:stCondLst>
                                    <p:cond delay="0"/>
                                  </p:stCondLst>
                                  <p:childTnLst>
                                    <p:set>
                                      <p:cBhvr>
                                        <p:cTn id="54" dur="1" fill="hold">
                                          <p:stCondLst>
                                            <p:cond delay="0"/>
                                          </p:stCondLst>
                                        </p:cTn>
                                        <p:tgtEl>
                                          <p:spTgt spid="26"/>
                                        </p:tgtEl>
                                        <p:attrNameLst>
                                          <p:attrName>style.visibility</p:attrName>
                                        </p:attrNameLst>
                                      </p:cBhvr>
                                      <p:to>
                                        <p:strVal val="visible"/>
                                      </p:to>
                                    </p:set>
                                    <p:animEffect transition="in" filter="fade">
                                      <p:cBhvr>
                                        <p:cTn id="55" dur="1000"/>
                                        <p:tgtEl>
                                          <p:spTgt spid="26"/>
                                        </p:tgtEl>
                                      </p:cBhvr>
                                    </p:animEffect>
                                    <p:anim calcmode="lin" valueType="num">
                                      <p:cBhvr>
                                        <p:cTn id="56" dur="1000" fill="hold"/>
                                        <p:tgtEl>
                                          <p:spTgt spid="26"/>
                                        </p:tgtEl>
                                        <p:attrNameLst>
                                          <p:attrName>ppt_x</p:attrName>
                                        </p:attrNameLst>
                                      </p:cBhvr>
                                      <p:tavLst>
                                        <p:tav tm="0">
                                          <p:val>
                                            <p:strVal val="#ppt_x"/>
                                          </p:val>
                                        </p:tav>
                                        <p:tav tm="100000">
                                          <p:val>
                                            <p:strVal val="#ppt_x"/>
                                          </p:val>
                                        </p:tav>
                                      </p:tavLst>
                                    </p:anim>
                                    <p:anim calcmode="lin" valueType="num">
                                      <p:cBhvr>
                                        <p:cTn id="57"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seq concurrent="1" nextAc="seek">
              <p:cTn id="58" restart="whenNotActive" fill="hold" evtFilter="cancelBubble" nodeType="interactiveSeq">
                <p:stCondLst>
                  <p:cond evt="onClick" delay="0">
                    <p:tgtEl>
                      <p:spTgt spid="39"/>
                    </p:tgtEl>
                  </p:cond>
                </p:stCondLst>
                <p:endSync evt="end" delay="0">
                  <p:rtn val="all"/>
                </p:endSync>
                <p:childTnLst>
                  <p:par>
                    <p:cTn id="59" fill="hold" nodeType="clickPar">
                      <p:stCondLst>
                        <p:cond delay="0"/>
                      </p:stCondLst>
                      <p:childTnLst>
                        <p:par>
                          <p:cTn id="60" fill="hold" nodeType="withGroup">
                            <p:stCondLst>
                              <p:cond delay="0"/>
                            </p:stCondLst>
                            <p:childTnLst>
                              <p:par>
                                <p:cTn id="61" presetID="22" presetClass="entr" presetSubtype="8" fill="hold" nodeType="clickEffect">
                                  <p:stCondLst>
                                    <p:cond delay="0"/>
                                  </p:stCondLst>
                                  <p:childTnLst>
                                    <p:set>
                                      <p:cBhvr>
                                        <p:cTn id="62" dur="1" fill="hold">
                                          <p:stCondLst>
                                            <p:cond delay="0"/>
                                          </p:stCondLst>
                                        </p:cTn>
                                        <p:tgtEl>
                                          <p:spTgt spid="38"/>
                                        </p:tgtEl>
                                        <p:attrNameLst>
                                          <p:attrName>style.visibility</p:attrName>
                                        </p:attrNameLst>
                                      </p:cBhvr>
                                      <p:to>
                                        <p:strVal val="visible"/>
                                      </p:to>
                                    </p:set>
                                    <p:animEffect transition="in" filter="wipe(left)">
                                      <p:cBhvr>
                                        <p:cTn id="63" dur="500"/>
                                        <p:tgtEl>
                                          <p:spTgt spid="38"/>
                                        </p:tgtEl>
                                      </p:cBhvr>
                                    </p:animEffect>
                                  </p:childTnLst>
                                </p:cTn>
                              </p:par>
                            </p:childTnLst>
                          </p:cTn>
                        </p:par>
                      </p:childTnLst>
                    </p:cTn>
                  </p:par>
                </p:childTnLst>
              </p:cTn>
              <p:nextCondLst>
                <p:cond evt="onClick" delay="0">
                  <p:tgtEl>
                    <p:spTgt spid="39"/>
                  </p:tgtEl>
                </p:cond>
              </p:nextCondLst>
            </p:seq>
            <p:seq concurrent="1" nextAc="seek">
              <p:cTn id="64" restart="whenNotActive" fill="hold" evtFilter="cancelBubble" nodeType="interactiveSeq">
                <p:stCondLst>
                  <p:cond evt="onClick" delay="0">
                    <p:tgtEl>
                      <p:spTgt spid="26"/>
                    </p:tgtEl>
                  </p:cond>
                </p:stCondLst>
                <p:endSync evt="end" delay="0">
                  <p:rtn val="all"/>
                </p:endSync>
                <p:childTnLst>
                  <p:par>
                    <p:cTn id="65" fill="hold" nodeType="clickPar">
                      <p:stCondLst>
                        <p:cond delay="0"/>
                      </p:stCondLst>
                      <p:childTnLst>
                        <p:par>
                          <p:cTn id="66" fill="hold" nodeType="withGroup">
                            <p:stCondLst>
                              <p:cond delay="0"/>
                            </p:stCondLst>
                            <p:childTnLst>
                              <p:par>
                                <p:cTn id="67" presetID="21" presetClass="entr" presetSubtype="1" fill="hold" grpId="0" nodeType="clickEffect">
                                  <p:stCondLst>
                                    <p:cond delay="0"/>
                                  </p:stCondLst>
                                  <p:childTnLst>
                                    <p:set>
                                      <p:cBhvr>
                                        <p:cTn id="68" dur="1" fill="hold">
                                          <p:stCondLst>
                                            <p:cond delay="0"/>
                                          </p:stCondLst>
                                        </p:cTn>
                                        <p:tgtEl>
                                          <p:spTgt spid="27"/>
                                        </p:tgtEl>
                                        <p:attrNameLst>
                                          <p:attrName>style.visibility</p:attrName>
                                        </p:attrNameLst>
                                      </p:cBhvr>
                                      <p:to>
                                        <p:strVal val="visible"/>
                                      </p:to>
                                    </p:set>
                                    <p:animEffect transition="in" filter="wheel(1)">
                                      <p:cBhvr>
                                        <p:cTn id="69" dur="1000"/>
                                        <p:tgtEl>
                                          <p:spTgt spid="27"/>
                                        </p:tgtEl>
                                      </p:cBhvr>
                                    </p:animEffect>
                                  </p:childTnLst>
                                </p:cTn>
                              </p:par>
                            </p:childTnLst>
                          </p:cTn>
                        </p:par>
                      </p:childTnLst>
                    </p:cTn>
                  </p:par>
                </p:childTnLst>
              </p:cTn>
              <p:nextCondLst>
                <p:cond evt="onClick" delay="0">
                  <p:tgtEl>
                    <p:spTgt spid="26"/>
                  </p:tgtEl>
                </p:cond>
              </p:nextCondLst>
            </p:seq>
          </p:childTnLst>
        </p:cTn>
      </p:par>
    </p:tnLst>
    <p:bldLst>
      <p:bldP spid="30" grpId="0" animBg="1"/>
      <p:bldP spid="33" grpId="0"/>
      <p:bldP spid="34" grpId="0"/>
      <p:bldP spid="36" grpId="0" animBg="1"/>
      <p:bldP spid="37" grpId="0" animBg="1"/>
      <p:bldP spid="39" grpId="0" animBg="1"/>
      <p:bldP spid="26" grpId="0" animBg="1"/>
      <p:bldP spid="27" grpId="0" animBg="1"/>
    </p:bldLst>
  </p:timing>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FF45ED7C-866C-25E1-6693-17BCDA4139A0}"/>
              </a:ext>
            </a:extLst>
          </p:cNvPr>
          <p:cNvSpPr txBox="1">
            <a:spLocks/>
          </p:cNvSpPr>
          <p:nvPr/>
        </p:nvSpPr>
        <p:spPr bwMode="auto">
          <a:xfrm>
            <a:off x="250825" y="1773238"/>
            <a:ext cx="7978775"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Full outer join is like inner join except all the rows in the left and right table are always returned even if the rows do not satisfy the join conditions</a:t>
            </a: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SQL Syntax:</a:t>
            </a: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sp>
        <p:nvSpPr>
          <p:cNvPr id="2" name="Title 1">
            <a:extLst>
              <a:ext uri="{FF2B5EF4-FFF2-40B4-BE49-F238E27FC236}">
                <a16:creationId xmlns:a16="http://schemas.microsoft.com/office/drawing/2014/main" id="{F3265F35-94F9-FF9C-57A7-B827465EFCBE}"/>
              </a:ext>
            </a:extLst>
          </p:cNvPr>
          <p:cNvSpPr>
            <a:spLocks noGrp="1"/>
          </p:cNvSpPr>
          <p:nvPr>
            <p:ph type="title"/>
          </p:nvPr>
        </p:nvSpPr>
        <p:spPr>
          <a:xfrm>
            <a:off x="457200" y="0"/>
            <a:ext cx="7620000" cy="1143000"/>
          </a:xfrm>
        </p:spPr>
        <p:txBody>
          <a:bodyPr/>
          <a:lstStyle/>
          <a:p>
            <a:pPr algn="ctr">
              <a:defRPr/>
            </a:pPr>
            <a:r>
              <a:rPr lang="en-US" dirty="0"/>
              <a:t>JOIN</a:t>
            </a:r>
            <a:endParaRPr lang="en-MY" dirty="0"/>
          </a:p>
        </p:txBody>
      </p:sp>
      <p:sp>
        <p:nvSpPr>
          <p:cNvPr id="30" name="Rounded Rectangle 29">
            <a:extLst>
              <a:ext uri="{FF2B5EF4-FFF2-40B4-BE49-F238E27FC236}">
                <a16:creationId xmlns:a16="http://schemas.microsoft.com/office/drawing/2014/main" id="{8BF43678-D2E5-7A3C-93D6-D8F9F1449240}"/>
              </a:ext>
            </a:extLst>
          </p:cNvPr>
          <p:cNvSpPr>
            <a:spLocks noChangeArrowheads="1"/>
          </p:cNvSpPr>
          <p:nvPr/>
        </p:nvSpPr>
        <p:spPr bwMode="auto">
          <a:xfrm>
            <a:off x="304800" y="4221163"/>
            <a:ext cx="7848600" cy="1511300"/>
          </a:xfrm>
          <a:prstGeom prst="roundRect">
            <a:avLst>
              <a:gd name="adj" fmla="val 16667"/>
            </a:avLst>
          </a:prstGeom>
          <a:solidFill>
            <a:srgbClr val="7F7B00">
              <a:alpha val="30196"/>
            </a:srgbClr>
          </a:solidFill>
          <a:ln w="9525" algn="ctr">
            <a:solidFill>
              <a:srgbClr val="7F7B00"/>
            </a:solidFill>
            <a:round/>
            <a:headEnd/>
            <a:tailEnd/>
          </a:ln>
        </p:spPr>
        <p:txBody>
          <a:bodyPr anchor="ctr" anchorCtr="1"/>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2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SELECT &lt;column_name&gt;, &lt;column_name&gt;… FROM &lt;left_table_name&gt; FULL OUTER JOIN &lt;right_table_name&gt; ON &lt;conditions&gt;;</a:t>
            </a:r>
          </a:p>
        </p:txBody>
      </p:sp>
      <p:sp>
        <p:nvSpPr>
          <p:cNvPr id="13" name="Snip Single Corner Rectangle 12">
            <a:extLst>
              <a:ext uri="{FF2B5EF4-FFF2-40B4-BE49-F238E27FC236}">
                <a16:creationId xmlns:a16="http://schemas.microsoft.com/office/drawing/2014/main" id="{2715AE88-93D6-25C6-B207-855623D99240}"/>
              </a:ext>
            </a:extLst>
          </p:cNvPr>
          <p:cNvSpPr/>
          <p:nvPr/>
        </p:nvSpPr>
        <p:spPr>
          <a:xfrm>
            <a:off x="-36513" y="1125538"/>
            <a:ext cx="2232026" cy="400050"/>
          </a:xfrm>
          <a:prstGeom prst="snip1Rect">
            <a:avLst/>
          </a:prstGeom>
          <a:solidFill>
            <a:schemeClr val="accent3">
              <a:lumMod val="75000"/>
            </a:schemeClr>
          </a:solidFill>
          <a:ln>
            <a:solidFill>
              <a:schemeClr val="accent3">
                <a:lumMod val="75000"/>
              </a:schemeClr>
            </a:solidFill>
          </a:ln>
        </p:spPr>
        <p:style>
          <a:lnRef idx="1">
            <a:schemeClr val="accent1"/>
          </a:lnRef>
          <a:fillRef idx="3">
            <a:schemeClr val="accent1"/>
          </a:fillRef>
          <a:effectRef idx="2">
            <a:schemeClr val="accent1"/>
          </a:effectRef>
          <a:fontRef idx="minor">
            <a:schemeClr val="lt1"/>
          </a:fontRef>
        </p:style>
        <p:txBody>
          <a:bodyPr anchor="ctr">
            <a:spAutoFit/>
          </a:bodyPr>
          <a:lstStyle/>
          <a:p>
            <a:pPr marL="342900" marR="0" lvl="0" indent="-342900" algn="just" defTabSz="914400" rtl="0" eaLnBrk="1" fontAlgn="base" latinLnBrk="0" hangingPunct="1">
              <a:lnSpc>
                <a:spcPct val="100000"/>
              </a:lnSpc>
              <a:spcBef>
                <a:spcPct val="20000"/>
              </a:spcBef>
              <a:spcAft>
                <a:spcPct val="0"/>
              </a:spcAft>
              <a:buClr>
                <a:srgbClr val="FF6600"/>
              </a:buClr>
              <a:buSzPct val="100000"/>
              <a:buFontTx/>
              <a:buNone/>
              <a:tabLst/>
              <a:defRPr/>
            </a:pPr>
            <a:r>
              <a:rPr kumimoji="0" lang="en-US" sz="1800" b="0" i="0" u="none" strike="noStrike" kern="1200" cap="none" spc="0" normalizeH="0" baseline="0" noProof="0" dirty="0">
                <a:ln>
                  <a:noFill/>
                </a:ln>
                <a:solidFill>
                  <a:srgbClr val="FFFFFF"/>
                </a:solidFill>
                <a:effectLst/>
                <a:uLnTx/>
                <a:uFillTx/>
                <a:latin typeface="Arial" pitchFamily="34" charset="0"/>
                <a:ea typeface="Times New Roman" pitchFamily="18" charset="0"/>
                <a:cs typeface="Arial" pitchFamily="34" charset="0"/>
              </a:rPr>
              <a:t>FULL OUTER JOIN</a:t>
            </a:r>
            <a:endParaRPr kumimoji="0" lang="en-GB" sz="1800" b="0" i="0" u="none" strike="noStrike" kern="0" cap="none" spc="0" normalizeH="0" baseline="0" noProof="0" dirty="0">
              <a:ln>
                <a:noFill/>
              </a:ln>
              <a:solidFill>
                <a:srgbClr val="2F2B20"/>
              </a:solidFill>
              <a:effectLst/>
              <a:uLnTx/>
              <a:uFillTx/>
              <a:latin typeface="Calibri"/>
              <a:ea typeface="+mn-ea"/>
              <a:cs typeface="+mn-cs"/>
            </a:endParaRPr>
          </a:p>
        </p:txBody>
      </p:sp>
      <p:grpSp>
        <p:nvGrpSpPr>
          <p:cNvPr id="3" name="Group 13">
            <a:extLst>
              <a:ext uri="{FF2B5EF4-FFF2-40B4-BE49-F238E27FC236}">
                <a16:creationId xmlns:a16="http://schemas.microsoft.com/office/drawing/2014/main" id="{AF193BB5-5E0C-06B3-7DF3-1361C4FF484D}"/>
              </a:ext>
            </a:extLst>
          </p:cNvPr>
          <p:cNvGrpSpPr>
            <a:grpSpLocks/>
          </p:cNvGrpSpPr>
          <p:nvPr/>
        </p:nvGrpSpPr>
        <p:grpSpPr bwMode="auto">
          <a:xfrm>
            <a:off x="5381625" y="3284538"/>
            <a:ext cx="2632075" cy="1512887"/>
            <a:chOff x="4958615" y="6491019"/>
            <a:chExt cx="2631560" cy="1512168"/>
          </a:xfrm>
        </p:grpSpPr>
        <p:sp>
          <p:nvSpPr>
            <p:cNvPr id="15" name="TextBox 14">
              <a:extLst>
                <a:ext uri="{FF2B5EF4-FFF2-40B4-BE49-F238E27FC236}">
                  <a16:creationId xmlns:a16="http://schemas.microsoft.com/office/drawing/2014/main" id="{D5EEEA64-87B1-CAD5-5216-7262F00FACA2}"/>
                </a:ext>
              </a:extLst>
            </p:cNvPr>
            <p:cNvSpPr txBox="1"/>
            <p:nvPr/>
          </p:nvSpPr>
          <p:spPr>
            <a:xfrm>
              <a:off x="4958615" y="6491019"/>
              <a:ext cx="2631560" cy="645805"/>
            </a:xfrm>
            <a:prstGeom prst="rect">
              <a:avLst/>
            </a:prstGeom>
            <a:ln/>
          </p:spPr>
          <p:style>
            <a:lnRef idx="1">
              <a:schemeClr val="accent2"/>
            </a:lnRef>
            <a:fillRef idx="2">
              <a:schemeClr val="accent2"/>
            </a:fillRef>
            <a:effectRef idx="1">
              <a:schemeClr val="accent2"/>
            </a:effectRef>
            <a:fontRef idx="minor">
              <a:schemeClr val="dk1"/>
            </a:fontRef>
          </p:style>
          <p:txBody>
            <a:bodyP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sz="1800" b="0" i="0" u="none" strike="noStrike" kern="1200" cap="none" spc="0" normalizeH="0" baseline="0" noProof="0" dirty="0">
                  <a:ln>
                    <a:noFill/>
                  </a:ln>
                  <a:solidFill>
                    <a:srgbClr val="2F2B20"/>
                  </a:solidFill>
                  <a:effectLst/>
                  <a:uLnTx/>
                  <a:uFillTx/>
                  <a:latin typeface="Calibri"/>
                  <a:ea typeface="+mn-ea"/>
                  <a:cs typeface="+mn-cs"/>
                </a:rPr>
                <a:t>MySQL does not support full outer join</a:t>
              </a:r>
            </a:p>
          </p:txBody>
        </p:sp>
        <p:cxnSp>
          <p:nvCxnSpPr>
            <p:cNvPr id="16" name="Straight Arrow Connector 15">
              <a:extLst>
                <a:ext uri="{FF2B5EF4-FFF2-40B4-BE49-F238E27FC236}">
                  <a16:creationId xmlns:a16="http://schemas.microsoft.com/office/drawing/2014/main" id="{508BED75-A5FE-21C4-FADA-A5CE6F605053}"/>
                </a:ext>
              </a:extLst>
            </p:cNvPr>
            <p:cNvCxnSpPr>
              <a:stCxn id="15" idx="2"/>
            </p:cNvCxnSpPr>
            <p:nvPr/>
          </p:nvCxnSpPr>
          <p:spPr bwMode="auto">
            <a:xfrm flipH="1">
              <a:off x="5976004" y="7136824"/>
              <a:ext cx="298392" cy="866363"/>
            </a:xfrm>
            <a:prstGeom prst="straightConnector1">
              <a:avLst/>
            </a:prstGeom>
            <a:ln>
              <a:headEnd type="none" w="med" len="med"/>
              <a:tailEnd type="triangle"/>
            </a:ln>
          </p:spPr>
          <p:style>
            <a:lnRef idx="1">
              <a:schemeClr val="accent2"/>
            </a:lnRef>
            <a:fillRef idx="2">
              <a:schemeClr val="accent2"/>
            </a:fillRef>
            <a:effectRef idx="1">
              <a:schemeClr val="accent2"/>
            </a:effectRef>
            <a:fontRef idx="minor">
              <a:schemeClr val="dk1"/>
            </a:fontRef>
          </p:style>
        </p:cxnSp>
      </p:gr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animEffect transition="in" filter="wipe(left)">
                                      <p:cBhvr>
                                        <p:cTn id="11" dur="500"/>
                                        <p:tgtEl>
                                          <p:spTgt spid="12">
                                            <p:txEl>
                                              <p:pRg st="0" end="0"/>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12">
                                            <p:txEl>
                                              <p:pRg st="2" end="2"/>
                                            </p:txEl>
                                          </p:spTgt>
                                        </p:tgtEl>
                                        <p:attrNameLst>
                                          <p:attrName>style.visibility</p:attrName>
                                        </p:attrNameLst>
                                      </p:cBhvr>
                                      <p:to>
                                        <p:strVal val="visible"/>
                                      </p:to>
                                    </p:set>
                                    <p:animEffect transition="in" filter="wipe(left)">
                                      <p:cBhvr>
                                        <p:cTn id="16" dur="500"/>
                                        <p:tgtEl>
                                          <p:spTgt spid="12">
                                            <p:txEl>
                                              <p:pRg st="2" end="2"/>
                                            </p:txEl>
                                          </p:spTgt>
                                        </p:tgtEl>
                                      </p:cBhvr>
                                    </p:animEffect>
                                  </p:childTnLst>
                                </p:cTn>
                              </p:par>
                            </p:childTnLst>
                          </p:cTn>
                        </p:par>
                        <p:par>
                          <p:cTn id="17" fill="hold" nodeType="afterGroup">
                            <p:stCondLst>
                              <p:cond delay="500"/>
                            </p:stCondLst>
                            <p:childTnLst>
                              <p:par>
                                <p:cTn id="18" presetID="16" presetClass="entr" presetSubtype="21" fill="hold" grpId="0" nodeType="afterEffect">
                                  <p:stCondLst>
                                    <p:cond delay="0"/>
                                  </p:stCondLst>
                                  <p:childTnLst>
                                    <p:set>
                                      <p:cBhvr>
                                        <p:cTn id="19" dur="1" fill="hold">
                                          <p:stCondLst>
                                            <p:cond delay="0"/>
                                          </p:stCondLst>
                                        </p:cTn>
                                        <p:tgtEl>
                                          <p:spTgt spid="30"/>
                                        </p:tgtEl>
                                        <p:attrNameLst>
                                          <p:attrName>style.visibility</p:attrName>
                                        </p:attrNameLst>
                                      </p:cBhvr>
                                      <p:to>
                                        <p:strVal val="visible"/>
                                      </p:to>
                                    </p:set>
                                    <p:animEffect transition="in" filter="barn(inVertical)">
                                      <p:cBhvr>
                                        <p:cTn id="20" dur="500"/>
                                        <p:tgtEl>
                                          <p:spTgt spid="30"/>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nodeType="clickEffect">
                                  <p:stCondLst>
                                    <p:cond delay="0"/>
                                  </p:stCondLst>
                                  <p:childTnLst>
                                    <p:set>
                                      <p:cBhvr>
                                        <p:cTn id="24" dur="1" fill="hold">
                                          <p:stCondLst>
                                            <p:cond delay="0"/>
                                          </p:stCondLst>
                                        </p:cTn>
                                        <p:tgtEl>
                                          <p:spTgt spid="3"/>
                                        </p:tgtEl>
                                        <p:attrNameLst>
                                          <p:attrName>style.visibility</p:attrName>
                                        </p:attrNameLst>
                                      </p:cBhvr>
                                      <p:to>
                                        <p:strVal val="visible"/>
                                      </p:to>
                                    </p:set>
                                    <p:anim calcmode="lin" valueType="num">
                                      <p:cBhvr additive="base">
                                        <p:cTn id="25" dur="500" fill="hold"/>
                                        <p:tgtEl>
                                          <p:spTgt spid="3"/>
                                        </p:tgtEl>
                                        <p:attrNameLst>
                                          <p:attrName>ppt_x</p:attrName>
                                        </p:attrNameLst>
                                      </p:cBhvr>
                                      <p:tavLst>
                                        <p:tav tm="0">
                                          <p:val>
                                            <p:strVal val="1+#ppt_w/2"/>
                                          </p:val>
                                        </p:tav>
                                        <p:tav tm="100000">
                                          <p:val>
                                            <p:strVal val="#ppt_x"/>
                                          </p:val>
                                        </p:tav>
                                      </p:tavLst>
                                    </p:anim>
                                    <p:anim calcmode="lin" valueType="num">
                                      <p:cBhvr additive="base">
                                        <p:cTn id="26"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13" grpId="0" animBg="1"/>
    </p:bldLst>
  </p:timing>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BC5502-2B2D-C05F-0520-2F37B659E328}"/>
              </a:ext>
            </a:extLst>
          </p:cNvPr>
          <p:cNvSpPr>
            <a:spLocks noGrp="1"/>
          </p:cNvSpPr>
          <p:nvPr>
            <p:ph type="title"/>
          </p:nvPr>
        </p:nvSpPr>
        <p:spPr>
          <a:xfrm>
            <a:off x="457200" y="0"/>
            <a:ext cx="7620000" cy="1143000"/>
          </a:xfrm>
        </p:spPr>
        <p:txBody>
          <a:bodyPr/>
          <a:lstStyle/>
          <a:p>
            <a:pPr algn="ctr">
              <a:defRPr/>
            </a:pPr>
            <a:r>
              <a:rPr lang="en-US" dirty="0"/>
              <a:t>JOIN</a:t>
            </a:r>
            <a:endParaRPr lang="en-MY" dirty="0"/>
          </a:p>
        </p:txBody>
      </p:sp>
      <p:sp>
        <p:nvSpPr>
          <p:cNvPr id="30" name="Rounded Rectangle 29">
            <a:extLst>
              <a:ext uri="{FF2B5EF4-FFF2-40B4-BE49-F238E27FC236}">
                <a16:creationId xmlns:a16="http://schemas.microsoft.com/office/drawing/2014/main" id="{D7B0F9BF-1B1D-6D89-5910-0F8123C1ED4E}"/>
              </a:ext>
            </a:extLst>
          </p:cNvPr>
          <p:cNvSpPr/>
          <p:nvPr/>
        </p:nvSpPr>
        <p:spPr bwMode="auto">
          <a:xfrm>
            <a:off x="1187450" y="3429000"/>
            <a:ext cx="7159625" cy="1392238"/>
          </a:xfrm>
          <a:prstGeom prst="roundRect">
            <a:avLst/>
          </a:prstGeom>
          <a:solidFill>
            <a:schemeClr val="accent6">
              <a:alpha val="30000"/>
            </a:schemeClr>
          </a:solidFill>
          <a:ln w="9525" cap="flat" cmpd="sng" algn="ctr">
            <a:solidFill>
              <a:schemeClr val="accent6"/>
            </a:solidFill>
            <a:prstDash val="solid"/>
            <a:round/>
            <a:headEnd type="none" w="med" len="med"/>
            <a:tailEnd type="none" w="med" len="med"/>
          </a:ln>
          <a:effectLst/>
        </p:spPr>
        <p:txBody>
          <a:bodyPr anchor="ctr" anchorCtr="1"/>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2600" b="0"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SELECT * FROM Employee FULL OUTER JOIN Department ON </a:t>
            </a:r>
            <a:r>
              <a:rPr kumimoji="0" lang="en-CA" sz="2600" b="0" i="0" u="none" strike="noStrike" kern="1200" cap="none" spc="0" normalizeH="0" baseline="0" noProof="0" dirty="0" err="1">
                <a:ln>
                  <a:noFill/>
                </a:ln>
                <a:solidFill>
                  <a:srgbClr val="2F2B20"/>
                </a:solidFill>
                <a:effectLst/>
                <a:uLnTx/>
                <a:uFillTx/>
                <a:latin typeface="Arial" panose="020B0604020202020204" pitchFamily="34" charset="0"/>
                <a:ea typeface="+mn-ea"/>
                <a:cs typeface="Arial" panose="020B0604020202020204" pitchFamily="34" charset="0"/>
              </a:rPr>
              <a:t>Employee.DepartmentId</a:t>
            </a:r>
            <a:r>
              <a:rPr kumimoji="0" lang="en-CA" sz="2600" b="0"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 = </a:t>
            </a:r>
            <a:r>
              <a:rPr kumimoji="0" lang="en-CA" sz="2600" b="0" i="0" u="none" strike="noStrike" kern="1200" cap="none" spc="0" normalizeH="0" baseline="0" noProof="0" dirty="0" err="1">
                <a:ln>
                  <a:noFill/>
                </a:ln>
                <a:solidFill>
                  <a:srgbClr val="2F2B20"/>
                </a:solidFill>
                <a:effectLst/>
                <a:uLnTx/>
                <a:uFillTx/>
                <a:latin typeface="Arial" panose="020B0604020202020204" pitchFamily="34" charset="0"/>
                <a:ea typeface="+mn-ea"/>
                <a:cs typeface="Arial" panose="020B0604020202020204" pitchFamily="34" charset="0"/>
              </a:rPr>
              <a:t>Department.DepartmentId</a:t>
            </a:r>
            <a:r>
              <a:rPr kumimoji="0" lang="en-CA" sz="2600" b="0"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a:t>
            </a:r>
          </a:p>
        </p:txBody>
      </p:sp>
      <p:graphicFrame>
        <p:nvGraphicFramePr>
          <p:cNvPr id="32" name="Table 31">
            <a:extLst>
              <a:ext uri="{FF2B5EF4-FFF2-40B4-BE49-F238E27FC236}">
                <a16:creationId xmlns:a16="http://schemas.microsoft.com/office/drawing/2014/main" id="{17358F38-6B0C-AA77-1FA4-4944294BBBF9}"/>
              </a:ext>
            </a:extLst>
          </p:cNvPr>
          <p:cNvGraphicFramePr>
            <a:graphicFrameLocks noGrp="1"/>
          </p:cNvGraphicFramePr>
          <p:nvPr/>
        </p:nvGraphicFramePr>
        <p:xfrm>
          <a:off x="76200" y="1908175"/>
          <a:ext cx="3816350" cy="1112838"/>
        </p:xfrm>
        <a:graphic>
          <a:graphicData uri="http://schemas.openxmlformats.org/drawingml/2006/table">
            <a:tbl>
              <a:tblPr firstRow="1" bandRow="1">
                <a:tableStyleId>{5FD0F851-EC5A-4D38-B0AD-8093EC10F338}</a:tableStyleId>
              </a:tblPr>
              <a:tblGrid>
                <a:gridCol w="1908175">
                  <a:extLst>
                    <a:ext uri="{9D8B030D-6E8A-4147-A177-3AD203B41FA5}">
                      <a16:colId xmlns:a16="http://schemas.microsoft.com/office/drawing/2014/main" val="20000"/>
                    </a:ext>
                  </a:extLst>
                </a:gridCol>
                <a:gridCol w="1908175">
                  <a:extLst>
                    <a:ext uri="{9D8B030D-6E8A-4147-A177-3AD203B41FA5}">
                      <a16:colId xmlns:a16="http://schemas.microsoft.com/office/drawing/2014/main" val="20001"/>
                    </a:ext>
                  </a:extLst>
                </a:gridCol>
              </a:tblGrid>
              <a:tr h="370946">
                <a:tc>
                  <a:txBody>
                    <a:bodyPr/>
                    <a:lstStyle/>
                    <a:p>
                      <a:pPr algn="ctr"/>
                      <a:r>
                        <a:rPr lang="en-CA" sz="1800" dirty="0"/>
                        <a:t>Name</a:t>
                      </a:r>
                    </a:p>
                  </a:txBody>
                  <a:tcPr marL="91438" marR="91438" marT="45733" marB="45733"/>
                </a:tc>
                <a:tc>
                  <a:txBody>
                    <a:bodyPr/>
                    <a:lstStyle/>
                    <a:p>
                      <a:pPr algn="ctr"/>
                      <a:r>
                        <a:rPr lang="en-CA" sz="1800" dirty="0" err="1"/>
                        <a:t>DepartmentId</a:t>
                      </a:r>
                      <a:endParaRPr lang="en-CA" sz="1800" dirty="0"/>
                    </a:p>
                  </a:txBody>
                  <a:tcPr marL="91438" marR="91438" marT="45733" marB="45733"/>
                </a:tc>
                <a:extLst>
                  <a:ext uri="{0D108BD9-81ED-4DB2-BD59-A6C34878D82A}">
                    <a16:rowId xmlns:a16="http://schemas.microsoft.com/office/drawing/2014/main" val="10000"/>
                  </a:ext>
                </a:extLst>
              </a:tr>
              <a:tr h="370946">
                <a:tc>
                  <a:txBody>
                    <a:bodyPr/>
                    <a:lstStyle/>
                    <a:p>
                      <a:pPr algn="ctr"/>
                      <a:r>
                        <a:rPr lang="en-CA" sz="1800" dirty="0"/>
                        <a:t>Aamir</a:t>
                      </a:r>
                    </a:p>
                  </a:txBody>
                  <a:tcPr marL="91438" marR="91438" marT="45733" marB="45733"/>
                </a:tc>
                <a:tc>
                  <a:txBody>
                    <a:bodyPr/>
                    <a:lstStyle/>
                    <a:p>
                      <a:pPr algn="ctr"/>
                      <a:r>
                        <a:rPr lang="en-CA" sz="1800" dirty="0"/>
                        <a:t>10</a:t>
                      </a:r>
                    </a:p>
                  </a:txBody>
                  <a:tcPr marL="91438" marR="91438" marT="45733" marB="45733"/>
                </a:tc>
                <a:extLst>
                  <a:ext uri="{0D108BD9-81ED-4DB2-BD59-A6C34878D82A}">
                    <a16:rowId xmlns:a16="http://schemas.microsoft.com/office/drawing/2014/main" val="10001"/>
                  </a:ext>
                </a:extLst>
              </a:tr>
              <a:tr h="370946">
                <a:tc>
                  <a:txBody>
                    <a:bodyPr/>
                    <a:lstStyle/>
                    <a:p>
                      <a:pPr algn="ctr"/>
                      <a:r>
                        <a:rPr lang="en-CA" sz="1800" dirty="0"/>
                        <a:t>Sadaf</a:t>
                      </a:r>
                    </a:p>
                  </a:txBody>
                  <a:tcPr marL="91438" marR="91438" marT="45733" marB="45733"/>
                </a:tc>
                <a:tc>
                  <a:txBody>
                    <a:bodyPr/>
                    <a:lstStyle/>
                    <a:p>
                      <a:pPr algn="ctr"/>
                      <a:r>
                        <a:rPr lang="en-CA" sz="1800" dirty="0"/>
                        <a:t>NULL</a:t>
                      </a:r>
                    </a:p>
                  </a:txBody>
                  <a:tcPr marL="91438" marR="91438" marT="45733" marB="45733"/>
                </a:tc>
                <a:extLst>
                  <a:ext uri="{0D108BD9-81ED-4DB2-BD59-A6C34878D82A}">
                    <a16:rowId xmlns:a16="http://schemas.microsoft.com/office/drawing/2014/main" val="10002"/>
                  </a:ext>
                </a:extLst>
              </a:tr>
            </a:tbl>
          </a:graphicData>
        </a:graphic>
      </p:graphicFrame>
      <p:sp>
        <p:nvSpPr>
          <p:cNvPr id="33" name="TextBox 32">
            <a:extLst>
              <a:ext uri="{FF2B5EF4-FFF2-40B4-BE49-F238E27FC236}">
                <a16:creationId xmlns:a16="http://schemas.microsoft.com/office/drawing/2014/main" id="{CDEA364F-E511-B881-0F58-ABA8C05176CB}"/>
              </a:ext>
            </a:extLst>
          </p:cNvPr>
          <p:cNvSpPr txBox="1">
            <a:spLocks noChangeArrowheads="1"/>
          </p:cNvSpPr>
          <p:nvPr/>
        </p:nvSpPr>
        <p:spPr bwMode="auto">
          <a:xfrm>
            <a:off x="1295400" y="3024188"/>
            <a:ext cx="20161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Employee table</a:t>
            </a:r>
          </a:p>
        </p:txBody>
      </p:sp>
      <p:sp>
        <p:nvSpPr>
          <p:cNvPr id="34" name="TextBox 33">
            <a:extLst>
              <a:ext uri="{FF2B5EF4-FFF2-40B4-BE49-F238E27FC236}">
                <a16:creationId xmlns:a16="http://schemas.microsoft.com/office/drawing/2014/main" id="{CABFE76C-B929-72F6-E7E9-733D457CA808}"/>
              </a:ext>
            </a:extLst>
          </p:cNvPr>
          <p:cNvSpPr txBox="1">
            <a:spLocks noChangeArrowheads="1"/>
          </p:cNvSpPr>
          <p:nvPr/>
        </p:nvSpPr>
        <p:spPr bwMode="auto">
          <a:xfrm>
            <a:off x="5832475" y="3024188"/>
            <a:ext cx="20161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Department table</a:t>
            </a:r>
          </a:p>
        </p:txBody>
      </p:sp>
      <p:graphicFrame>
        <p:nvGraphicFramePr>
          <p:cNvPr id="35" name="Table 34">
            <a:extLst>
              <a:ext uri="{FF2B5EF4-FFF2-40B4-BE49-F238E27FC236}">
                <a16:creationId xmlns:a16="http://schemas.microsoft.com/office/drawing/2014/main" id="{515BE915-2FF7-5B0E-D4AC-5CAA0E9190F9}"/>
              </a:ext>
            </a:extLst>
          </p:cNvPr>
          <p:cNvGraphicFramePr>
            <a:graphicFrameLocks noGrp="1"/>
          </p:cNvGraphicFramePr>
          <p:nvPr/>
        </p:nvGraphicFramePr>
        <p:xfrm>
          <a:off x="1619250" y="4989513"/>
          <a:ext cx="6048376" cy="1477962"/>
        </p:xfrm>
        <a:graphic>
          <a:graphicData uri="http://schemas.openxmlformats.org/drawingml/2006/table">
            <a:tbl>
              <a:tblPr firstRow="1" bandRow="1">
                <a:tableStyleId>{9D7B26C5-4107-4FEC-AEDC-1716B250A1EF}</a:tableStyleId>
              </a:tblPr>
              <a:tblGrid>
                <a:gridCol w="1224076">
                  <a:extLst>
                    <a:ext uri="{9D8B030D-6E8A-4147-A177-3AD203B41FA5}">
                      <a16:colId xmlns:a16="http://schemas.microsoft.com/office/drawing/2014/main" val="20000"/>
                    </a:ext>
                  </a:extLst>
                </a:gridCol>
                <a:gridCol w="1800112">
                  <a:extLst>
                    <a:ext uri="{9D8B030D-6E8A-4147-A177-3AD203B41FA5}">
                      <a16:colId xmlns:a16="http://schemas.microsoft.com/office/drawing/2014/main" val="20001"/>
                    </a:ext>
                  </a:extLst>
                </a:gridCol>
                <a:gridCol w="1800112">
                  <a:extLst>
                    <a:ext uri="{9D8B030D-6E8A-4147-A177-3AD203B41FA5}">
                      <a16:colId xmlns:a16="http://schemas.microsoft.com/office/drawing/2014/main" val="20002"/>
                    </a:ext>
                  </a:extLst>
                </a:gridCol>
                <a:gridCol w="1224076">
                  <a:extLst>
                    <a:ext uri="{9D8B030D-6E8A-4147-A177-3AD203B41FA5}">
                      <a16:colId xmlns:a16="http://schemas.microsoft.com/office/drawing/2014/main" val="20003"/>
                    </a:ext>
                  </a:extLst>
                </a:gridCol>
              </a:tblGrid>
              <a:tr h="365735">
                <a:tc>
                  <a:txBody>
                    <a:bodyPr/>
                    <a:lstStyle/>
                    <a:p>
                      <a:pPr algn="ctr"/>
                      <a:r>
                        <a:rPr lang="en-CA" sz="1800" dirty="0"/>
                        <a:t>Name</a:t>
                      </a:r>
                    </a:p>
                  </a:txBody>
                  <a:tcPr marL="91436" marR="91436" marT="45708" marB="45708"/>
                </a:tc>
                <a:tc>
                  <a:txBody>
                    <a:bodyPr/>
                    <a:lstStyle/>
                    <a:p>
                      <a:pPr algn="ctr"/>
                      <a:r>
                        <a:rPr lang="en-CA" sz="1800" dirty="0" err="1"/>
                        <a:t>DepartmentId</a:t>
                      </a:r>
                      <a:endParaRPr lang="en-CA" sz="1800" dirty="0"/>
                    </a:p>
                  </a:txBody>
                  <a:tcPr marL="91436" marR="91436" marT="45708" marB="45708"/>
                </a:tc>
                <a:tc>
                  <a:txBody>
                    <a:bodyPr/>
                    <a:lstStyle/>
                    <a:p>
                      <a:pPr algn="ctr"/>
                      <a:r>
                        <a:rPr lang="en-CA" sz="1800" dirty="0" err="1"/>
                        <a:t>DepartmentId</a:t>
                      </a:r>
                      <a:endParaRPr lang="en-CA" sz="1800" dirty="0"/>
                    </a:p>
                  </a:txBody>
                  <a:tcPr marL="91436" marR="91436" marT="45708" marB="45708"/>
                </a:tc>
                <a:tc>
                  <a:txBody>
                    <a:bodyPr/>
                    <a:lstStyle/>
                    <a:p>
                      <a:pPr algn="ctr"/>
                      <a:r>
                        <a:rPr lang="en-CA" sz="1800" dirty="0"/>
                        <a:t>Name</a:t>
                      </a:r>
                    </a:p>
                  </a:txBody>
                  <a:tcPr marL="91436" marR="91436" marT="45708" marB="45708"/>
                </a:tc>
                <a:extLst>
                  <a:ext uri="{0D108BD9-81ED-4DB2-BD59-A6C34878D82A}">
                    <a16:rowId xmlns:a16="http://schemas.microsoft.com/office/drawing/2014/main" val="10000"/>
                  </a:ext>
                </a:extLst>
              </a:tr>
              <a:tr h="370742">
                <a:tc>
                  <a:txBody>
                    <a:bodyPr/>
                    <a:lstStyle/>
                    <a:p>
                      <a:pPr algn="ctr"/>
                      <a:r>
                        <a:rPr lang="en-CA" sz="1800" dirty="0"/>
                        <a:t>Aamir</a:t>
                      </a:r>
                    </a:p>
                  </a:txBody>
                  <a:tcPr marL="91436" marR="91436" marT="45708" marB="45708"/>
                </a:tc>
                <a:tc>
                  <a:txBody>
                    <a:bodyPr/>
                    <a:lstStyle/>
                    <a:p>
                      <a:pPr algn="ctr"/>
                      <a:r>
                        <a:rPr lang="en-CA" sz="1800" dirty="0"/>
                        <a:t>10</a:t>
                      </a:r>
                    </a:p>
                  </a:txBody>
                  <a:tcPr marL="91436" marR="91436" marT="45708" marB="45708"/>
                </a:tc>
                <a:tc>
                  <a:txBody>
                    <a:bodyPr/>
                    <a:lstStyle/>
                    <a:p>
                      <a:pPr algn="ctr"/>
                      <a:r>
                        <a:rPr lang="en-CA" sz="1800" dirty="0"/>
                        <a:t>10</a:t>
                      </a:r>
                    </a:p>
                  </a:txBody>
                  <a:tcPr marL="91436" marR="91436" marT="45708" marB="45708"/>
                </a:tc>
                <a:tc>
                  <a:txBody>
                    <a:bodyPr/>
                    <a:lstStyle/>
                    <a:p>
                      <a:pPr algn="ctr"/>
                      <a:r>
                        <a:rPr lang="en-CA" sz="1800" dirty="0"/>
                        <a:t>IT</a:t>
                      </a:r>
                    </a:p>
                  </a:txBody>
                  <a:tcPr marL="91436" marR="91436" marT="45708" marB="45708"/>
                </a:tc>
                <a:extLst>
                  <a:ext uri="{0D108BD9-81ED-4DB2-BD59-A6C34878D82A}">
                    <a16:rowId xmlns:a16="http://schemas.microsoft.com/office/drawing/2014/main" val="10001"/>
                  </a:ext>
                </a:extLst>
              </a:tr>
              <a:tr h="370742">
                <a:tc>
                  <a:txBody>
                    <a:bodyPr/>
                    <a:lstStyle/>
                    <a:p>
                      <a:pPr algn="ctr"/>
                      <a:r>
                        <a:rPr lang="en-CA" sz="1800" dirty="0"/>
                        <a:t>Sadaf</a:t>
                      </a:r>
                    </a:p>
                  </a:txBody>
                  <a:tcPr marL="91436" marR="91436" marT="45708" marB="45708"/>
                </a:tc>
                <a:tc>
                  <a:txBody>
                    <a:bodyPr/>
                    <a:lstStyle/>
                    <a:p>
                      <a:pPr algn="ctr"/>
                      <a:r>
                        <a:rPr lang="en-CA" sz="1800" dirty="0"/>
                        <a:t>NULL</a:t>
                      </a:r>
                    </a:p>
                  </a:txBody>
                  <a:tcPr marL="91436" marR="91436" marT="45708" marB="45708"/>
                </a:tc>
                <a:tc>
                  <a:txBody>
                    <a:bodyPr/>
                    <a:lstStyle/>
                    <a:p>
                      <a:pPr algn="ctr"/>
                      <a:r>
                        <a:rPr lang="en-CA" sz="1800" dirty="0"/>
                        <a:t>NULL</a:t>
                      </a:r>
                    </a:p>
                  </a:txBody>
                  <a:tcPr marL="91436" marR="91436" marT="45708" marB="45708"/>
                </a:tc>
                <a:tc>
                  <a:txBody>
                    <a:bodyPr/>
                    <a:lstStyle/>
                    <a:p>
                      <a:pPr algn="ctr"/>
                      <a:r>
                        <a:rPr lang="en-CA" sz="1800" dirty="0"/>
                        <a:t>NULL</a:t>
                      </a:r>
                    </a:p>
                  </a:txBody>
                  <a:tcPr marL="91436" marR="91436" marT="45708" marB="45708"/>
                </a:tc>
                <a:extLst>
                  <a:ext uri="{0D108BD9-81ED-4DB2-BD59-A6C34878D82A}">
                    <a16:rowId xmlns:a16="http://schemas.microsoft.com/office/drawing/2014/main" val="10002"/>
                  </a:ext>
                </a:extLst>
              </a:tr>
              <a:tr h="370742">
                <a:tc>
                  <a:txBody>
                    <a:bodyPr/>
                    <a:lstStyle/>
                    <a:p>
                      <a:pPr algn="ctr"/>
                      <a:r>
                        <a:rPr lang="en-CA" sz="1800" dirty="0"/>
                        <a:t>NULL</a:t>
                      </a:r>
                    </a:p>
                  </a:txBody>
                  <a:tcPr marL="91436" marR="91436" marT="45708" marB="45708"/>
                </a:tc>
                <a:tc>
                  <a:txBody>
                    <a:bodyPr/>
                    <a:lstStyle/>
                    <a:p>
                      <a:pPr algn="ctr"/>
                      <a:r>
                        <a:rPr lang="en-CA" sz="1800" dirty="0"/>
                        <a:t>NULL</a:t>
                      </a:r>
                    </a:p>
                  </a:txBody>
                  <a:tcPr marL="91436" marR="91436" marT="45708" marB="45708"/>
                </a:tc>
                <a:tc>
                  <a:txBody>
                    <a:bodyPr/>
                    <a:lstStyle/>
                    <a:p>
                      <a:pPr algn="ctr"/>
                      <a:r>
                        <a:rPr lang="en-CA" sz="1800" dirty="0"/>
                        <a:t>15</a:t>
                      </a:r>
                    </a:p>
                  </a:txBody>
                  <a:tcPr marL="91436" marR="91436" marT="45708" marB="45708"/>
                </a:tc>
                <a:tc>
                  <a:txBody>
                    <a:bodyPr/>
                    <a:lstStyle/>
                    <a:p>
                      <a:pPr algn="ctr"/>
                      <a:r>
                        <a:rPr lang="en-CA" sz="1800" dirty="0"/>
                        <a:t>Finance</a:t>
                      </a:r>
                    </a:p>
                  </a:txBody>
                  <a:tcPr marL="91436" marR="91436" marT="45708" marB="45708"/>
                </a:tc>
                <a:extLst>
                  <a:ext uri="{0D108BD9-81ED-4DB2-BD59-A6C34878D82A}">
                    <a16:rowId xmlns:a16="http://schemas.microsoft.com/office/drawing/2014/main" val="10003"/>
                  </a:ext>
                </a:extLst>
              </a:tr>
            </a:tbl>
          </a:graphicData>
        </a:graphic>
      </p:graphicFrame>
      <p:sp>
        <p:nvSpPr>
          <p:cNvPr id="36" name="Snip Single Corner Rectangle 35">
            <a:extLst>
              <a:ext uri="{FF2B5EF4-FFF2-40B4-BE49-F238E27FC236}">
                <a16:creationId xmlns:a16="http://schemas.microsoft.com/office/drawing/2014/main" id="{EA9889B0-1F46-F4C7-1D89-F0932CEC8E32}"/>
              </a:ext>
            </a:extLst>
          </p:cNvPr>
          <p:cNvSpPr/>
          <p:nvPr/>
        </p:nvSpPr>
        <p:spPr bwMode="auto">
          <a:xfrm>
            <a:off x="227013" y="4997450"/>
            <a:ext cx="1092200" cy="431800"/>
          </a:xfrm>
          <a:prstGeom prst="snip1Rect">
            <a:avLst/>
          </a:prstGeom>
          <a:solidFill>
            <a:srgbClr val="FFFF00">
              <a:alpha val="30000"/>
            </a:srgbClr>
          </a:solidFill>
          <a:ln w="9525" cap="flat" cmpd="sng" algn="ctr">
            <a:solidFill>
              <a:srgbClr val="FFC000"/>
            </a:solidFill>
            <a:prstDash val="solid"/>
            <a:round/>
            <a:headEnd type="none" w="med" len="med"/>
            <a:tailEnd type="none" w="med" len="me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sz="2000" b="1"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Result:</a:t>
            </a:r>
          </a:p>
        </p:txBody>
      </p:sp>
      <p:sp>
        <p:nvSpPr>
          <p:cNvPr id="37" name="Snip Single Corner Rectangle 36">
            <a:extLst>
              <a:ext uri="{FF2B5EF4-FFF2-40B4-BE49-F238E27FC236}">
                <a16:creationId xmlns:a16="http://schemas.microsoft.com/office/drawing/2014/main" id="{5A278548-974F-CCBE-160F-39781DA99291}"/>
              </a:ext>
            </a:extLst>
          </p:cNvPr>
          <p:cNvSpPr/>
          <p:nvPr/>
        </p:nvSpPr>
        <p:spPr bwMode="auto">
          <a:xfrm>
            <a:off x="250825" y="3429000"/>
            <a:ext cx="830263" cy="431800"/>
          </a:xfrm>
          <a:prstGeom prst="snip1Rect">
            <a:avLst/>
          </a:prstGeom>
          <a:solidFill>
            <a:srgbClr val="FFFF00">
              <a:alpha val="30000"/>
            </a:srgbClr>
          </a:solidFill>
          <a:ln w="9525" cap="flat" cmpd="sng" algn="ctr">
            <a:solidFill>
              <a:srgbClr val="FFC000"/>
            </a:solidFill>
            <a:prstDash val="solid"/>
            <a:round/>
            <a:headEnd type="none" w="med" len="med"/>
            <a:tailEnd type="none" w="med" len="med"/>
          </a:ln>
          <a:effec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2000" b="1"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Run:</a:t>
            </a:r>
          </a:p>
        </p:txBody>
      </p:sp>
      <p:cxnSp>
        <p:nvCxnSpPr>
          <p:cNvPr id="38" name="Straight Arrow Connector 37">
            <a:extLst>
              <a:ext uri="{FF2B5EF4-FFF2-40B4-BE49-F238E27FC236}">
                <a16:creationId xmlns:a16="http://schemas.microsoft.com/office/drawing/2014/main" id="{6A72CE9D-F325-B43F-3BD5-AE27C9B4D3A2}"/>
              </a:ext>
            </a:extLst>
          </p:cNvPr>
          <p:cNvCxnSpPr>
            <a:cxnSpLocks noChangeShapeType="1"/>
          </p:cNvCxnSpPr>
          <p:nvPr/>
        </p:nvCxnSpPr>
        <p:spPr bwMode="auto">
          <a:xfrm>
            <a:off x="3748088" y="2462213"/>
            <a:ext cx="1025525" cy="0"/>
          </a:xfrm>
          <a:prstGeom prst="straightConnector1">
            <a:avLst/>
          </a:prstGeom>
          <a:noFill/>
          <a:ln w="25400"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9" name="Rectangle 38">
            <a:extLst>
              <a:ext uri="{FF2B5EF4-FFF2-40B4-BE49-F238E27FC236}">
                <a16:creationId xmlns:a16="http://schemas.microsoft.com/office/drawing/2014/main" id="{E8928CB6-70C6-EC9D-7415-2DF528A0DD12}"/>
              </a:ext>
            </a:extLst>
          </p:cNvPr>
          <p:cNvSpPr/>
          <p:nvPr/>
        </p:nvSpPr>
        <p:spPr bwMode="auto">
          <a:xfrm>
            <a:off x="1619250" y="5353050"/>
            <a:ext cx="288925" cy="360363"/>
          </a:xfrm>
          <a:prstGeom prst="rect">
            <a:avLst/>
          </a:prstGeom>
          <a:solidFill>
            <a:schemeClr val="accent4"/>
          </a:solidFill>
          <a:ln w="9525" cap="flat" cmpd="sng" algn="ctr">
            <a:solidFill>
              <a:schemeClr val="tx1"/>
            </a:solidFill>
            <a:prstDash val="solid"/>
            <a:round/>
            <a:headEnd type="none" w="med" len="med"/>
            <a:tailEnd type="none" w="med" len="me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1800" b="0" i="0" u="none" strike="noStrike" kern="1200" cap="none" spc="0" normalizeH="0" baseline="0" noProof="0" dirty="0">
                <a:ln>
                  <a:noFill/>
                </a:ln>
                <a:solidFill>
                  <a:srgbClr val="FFFFFF"/>
                </a:solidFill>
                <a:effectLst/>
                <a:uLnTx/>
                <a:uFillTx/>
                <a:latin typeface="Arial" charset="0"/>
                <a:ea typeface="+mn-ea"/>
                <a:cs typeface="Arial" panose="020B0604020202020204" pitchFamily="34" charset="0"/>
              </a:rPr>
              <a:t>1</a:t>
            </a:r>
          </a:p>
        </p:txBody>
      </p:sp>
      <p:graphicFrame>
        <p:nvGraphicFramePr>
          <p:cNvPr id="41" name="Table 40">
            <a:extLst>
              <a:ext uri="{FF2B5EF4-FFF2-40B4-BE49-F238E27FC236}">
                <a16:creationId xmlns:a16="http://schemas.microsoft.com/office/drawing/2014/main" id="{10915359-1261-93D3-CCAC-B33570C0360F}"/>
              </a:ext>
            </a:extLst>
          </p:cNvPr>
          <p:cNvGraphicFramePr>
            <a:graphicFrameLocks noGrp="1"/>
          </p:cNvGraphicFramePr>
          <p:nvPr/>
        </p:nvGraphicFramePr>
        <p:xfrm>
          <a:off x="4600575" y="1916113"/>
          <a:ext cx="3816350" cy="1112838"/>
        </p:xfrm>
        <a:graphic>
          <a:graphicData uri="http://schemas.openxmlformats.org/drawingml/2006/table">
            <a:tbl>
              <a:tblPr firstRow="1" bandRow="1">
                <a:tableStyleId>{C083E6E3-FA7D-4D7B-A595-EF9225AFEA82}</a:tableStyleId>
              </a:tblPr>
              <a:tblGrid>
                <a:gridCol w="1908175">
                  <a:extLst>
                    <a:ext uri="{9D8B030D-6E8A-4147-A177-3AD203B41FA5}">
                      <a16:colId xmlns:a16="http://schemas.microsoft.com/office/drawing/2014/main" val="20000"/>
                    </a:ext>
                  </a:extLst>
                </a:gridCol>
                <a:gridCol w="1908175">
                  <a:extLst>
                    <a:ext uri="{9D8B030D-6E8A-4147-A177-3AD203B41FA5}">
                      <a16:colId xmlns:a16="http://schemas.microsoft.com/office/drawing/2014/main" val="20001"/>
                    </a:ext>
                  </a:extLst>
                </a:gridCol>
              </a:tblGrid>
              <a:tr h="370946">
                <a:tc>
                  <a:txBody>
                    <a:bodyPr/>
                    <a:lstStyle/>
                    <a:p>
                      <a:pPr algn="ctr"/>
                      <a:r>
                        <a:rPr lang="en-CA" sz="1800" dirty="0" err="1"/>
                        <a:t>DepartmentId</a:t>
                      </a:r>
                      <a:endParaRPr lang="en-CA" sz="1800" dirty="0"/>
                    </a:p>
                  </a:txBody>
                  <a:tcPr marL="91438" marR="91438" marT="45733" marB="45733"/>
                </a:tc>
                <a:tc>
                  <a:txBody>
                    <a:bodyPr/>
                    <a:lstStyle/>
                    <a:p>
                      <a:pPr algn="ctr"/>
                      <a:r>
                        <a:rPr lang="en-CA" sz="1800" dirty="0"/>
                        <a:t>Name</a:t>
                      </a:r>
                    </a:p>
                  </a:txBody>
                  <a:tcPr marL="91438" marR="91438" marT="45733" marB="45733"/>
                </a:tc>
                <a:extLst>
                  <a:ext uri="{0D108BD9-81ED-4DB2-BD59-A6C34878D82A}">
                    <a16:rowId xmlns:a16="http://schemas.microsoft.com/office/drawing/2014/main" val="10000"/>
                  </a:ext>
                </a:extLst>
              </a:tr>
              <a:tr h="370946">
                <a:tc>
                  <a:txBody>
                    <a:bodyPr/>
                    <a:lstStyle/>
                    <a:p>
                      <a:pPr algn="ctr"/>
                      <a:r>
                        <a:rPr lang="en-CA" sz="1800" dirty="0"/>
                        <a:t>10</a:t>
                      </a:r>
                    </a:p>
                  </a:txBody>
                  <a:tcPr marL="91438" marR="91438" marT="45733" marB="45733"/>
                </a:tc>
                <a:tc>
                  <a:txBody>
                    <a:bodyPr/>
                    <a:lstStyle/>
                    <a:p>
                      <a:pPr algn="ctr"/>
                      <a:r>
                        <a:rPr lang="en-CA" sz="1800" dirty="0"/>
                        <a:t>IT</a:t>
                      </a:r>
                    </a:p>
                  </a:txBody>
                  <a:tcPr marL="91438" marR="91438" marT="45733" marB="45733"/>
                </a:tc>
                <a:extLst>
                  <a:ext uri="{0D108BD9-81ED-4DB2-BD59-A6C34878D82A}">
                    <a16:rowId xmlns:a16="http://schemas.microsoft.com/office/drawing/2014/main" val="10001"/>
                  </a:ext>
                </a:extLst>
              </a:tr>
              <a:tr h="370946">
                <a:tc>
                  <a:txBody>
                    <a:bodyPr/>
                    <a:lstStyle/>
                    <a:p>
                      <a:pPr algn="ctr"/>
                      <a:r>
                        <a:rPr lang="en-CA" sz="1800" dirty="0"/>
                        <a:t>15</a:t>
                      </a:r>
                    </a:p>
                  </a:txBody>
                  <a:tcPr marL="91438" marR="91438" marT="45733" marB="45733"/>
                </a:tc>
                <a:tc>
                  <a:txBody>
                    <a:bodyPr/>
                    <a:lstStyle/>
                    <a:p>
                      <a:pPr algn="ctr"/>
                      <a:r>
                        <a:rPr lang="en-CA" sz="1800" dirty="0"/>
                        <a:t>Finance</a:t>
                      </a:r>
                    </a:p>
                  </a:txBody>
                  <a:tcPr marL="91438" marR="91438" marT="45733" marB="45733"/>
                </a:tc>
                <a:extLst>
                  <a:ext uri="{0D108BD9-81ED-4DB2-BD59-A6C34878D82A}">
                    <a16:rowId xmlns:a16="http://schemas.microsoft.com/office/drawing/2014/main" val="10002"/>
                  </a:ext>
                </a:extLst>
              </a:tr>
            </a:tbl>
          </a:graphicData>
        </a:graphic>
      </p:graphicFrame>
      <p:sp>
        <p:nvSpPr>
          <p:cNvPr id="26" name="Snip Single Corner Rectangle 25">
            <a:extLst>
              <a:ext uri="{FF2B5EF4-FFF2-40B4-BE49-F238E27FC236}">
                <a16:creationId xmlns:a16="http://schemas.microsoft.com/office/drawing/2014/main" id="{DBD2C3F9-1E14-594F-F975-B63002F6FC2C}"/>
              </a:ext>
            </a:extLst>
          </p:cNvPr>
          <p:cNvSpPr/>
          <p:nvPr/>
        </p:nvSpPr>
        <p:spPr>
          <a:xfrm>
            <a:off x="-36513" y="1125538"/>
            <a:ext cx="2232026" cy="400050"/>
          </a:xfrm>
          <a:prstGeom prst="snip1Rect">
            <a:avLst/>
          </a:prstGeom>
          <a:solidFill>
            <a:schemeClr val="accent3">
              <a:lumMod val="75000"/>
            </a:schemeClr>
          </a:solidFill>
          <a:ln>
            <a:solidFill>
              <a:schemeClr val="accent3">
                <a:lumMod val="75000"/>
              </a:schemeClr>
            </a:solidFill>
          </a:ln>
        </p:spPr>
        <p:style>
          <a:lnRef idx="1">
            <a:schemeClr val="accent1"/>
          </a:lnRef>
          <a:fillRef idx="3">
            <a:schemeClr val="accent1"/>
          </a:fillRef>
          <a:effectRef idx="2">
            <a:schemeClr val="accent1"/>
          </a:effectRef>
          <a:fontRef idx="minor">
            <a:schemeClr val="lt1"/>
          </a:fontRef>
        </p:style>
        <p:txBody>
          <a:bodyPr anchor="ctr">
            <a:spAutoFit/>
          </a:bodyPr>
          <a:lstStyle/>
          <a:p>
            <a:pPr marL="342900" marR="0" lvl="0" indent="-342900" algn="just" defTabSz="914400" rtl="0" eaLnBrk="1" fontAlgn="base" latinLnBrk="0" hangingPunct="1">
              <a:lnSpc>
                <a:spcPct val="100000"/>
              </a:lnSpc>
              <a:spcBef>
                <a:spcPct val="20000"/>
              </a:spcBef>
              <a:spcAft>
                <a:spcPct val="0"/>
              </a:spcAft>
              <a:buClr>
                <a:srgbClr val="FF6600"/>
              </a:buClr>
              <a:buSzPct val="100000"/>
              <a:buFontTx/>
              <a:buNone/>
              <a:tabLst/>
              <a:defRPr/>
            </a:pPr>
            <a:r>
              <a:rPr kumimoji="0" lang="en-US" sz="1800" b="0" i="0" u="none" strike="noStrike" kern="1200" cap="none" spc="0" normalizeH="0" baseline="0" noProof="0" dirty="0">
                <a:ln>
                  <a:noFill/>
                </a:ln>
                <a:solidFill>
                  <a:srgbClr val="FFFFFF"/>
                </a:solidFill>
                <a:effectLst/>
                <a:uLnTx/>
                <a:uFillTx/>
                <a:latin typeface="Arial" pitchFamily="34" charset="0"/>
                <a:ea typeface="Times New Roman" pitchFamily="18" charset="0"/>
                <a:cs typeface="Arial" pitchFamily="34" charset="0"/>
              </a:rPr>
              <a:t>FULL OUTER JOIN</a:t>
            </a:r>
            <a:endParaRPr kumimoji="0" lang="en-GB" sz="1800" b="0" i="0" u="none" strike="noStrike" kern="0" cap="none" spc="0" normalizeH="0" baseline="0" noProof="0" dirty="0">
              <a:ln>
                <a:noFill/>
              </a:ln>
              <a:solidFill>
                <a:srgbClr val="2F2B20"/>
              </a:solidFill>
              <a:effectLst/>
              <a:uLnTx/>
              <a:uFillTx/>
              <a:latin typeface="Calibri"/>
              <a:ea typeface="+mn-ea"/>
              <a:cs typeface="+mn-cs"/>
            </a:endParaRPr>
          </a:p>
        </p:txBody>
      </p:sp>
      <p:sp>
        <p:nvSpPr>
          <p:cNvPr id="25" name="Rectangle 24">
            <a:extLst>
              <a:ext uri="{FF2B5EF4-FFF2-40B4-BE49-F238E27FC236}">
                <a16:creationId xmlns:a16="http://schemas.microsoft.com/office/drawing/2014/main" id="{F2AEB941-D518-FCD8-B9AB-1115E6025148}"/>
              </a:ext>
            </a:extLst>
          </p:cNvPr>
          <p:cNvSpPr/>
          <p:nvPr/>
        </p:nvSpPr>
        <p:spPr bwMode="auto">
          <a:xfrm>
            <a:off x="1619250" y="5719763"/>
            <a:ext cx="288925" cy="360362"/>
          </a:xfrm>
          <a:prstGeom prst="rect">
            <a:avLst/>
          </a:prstGeom>
          <a:solidFill>
            <a:schemeClr val="accent4"/>
          </a:solidFill>
          <a:ln w="9525" cap="flat" cmpd="sng" algn="ctr">
            <a:solidFill>
              <a:schemeClr val="tx1"/>
            </a:solidFill>
            <a:prstDash val="solid"/>
            <a:round/>
            <a:headEnd type="none" w="med" len="med"/>
            <a:tailEnd type="none" w="med" len="me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1800" b="0" i="0" u="none" strike="noStrike" kern="1200" cap="none" spc="0" normalizeH="0" baseline="0" noProof="0" dirty="0">
                <a:ln>
                  <a:noFill/>
                </a:ln>
                <a:solidFill>
                  <a:srgbClr val="FFFFFF"/>
                </a:solidFill>
                <a:effectLst/>
                <a:uLnTx/>
                <a:uFillTx/>
                <a:latin typeface="Arial" charset="0"/>
                <a:ea typeface="+mn-ea"/>
                <a:cs typeface="Arial" panose="020B0604020202020204" pitchFamily="34" charset="0"/>
              </a:rPr>
              <a:t>2</a:t>
            </a:r>
          </a:p>
        </p:txBody>
      </p:sp>
      <p:sp>
        <p:nvSpPr>
          <p:cNvPr id="27" name="Oval 26">
            <a:extLst>
              <a:ext uri="{FF2B5EF4-FFF2-40B4-BE49-F238E27FC236}">
                <a16:creationId xmlns:a16="http://schemas.microsoft.com/office/drawing/2014/main" id="{0543F5BE-12DC-3B32-8E53-F8E96827E841}"/>
              </a:ext>
            </a:extLst>
          </p:cNvPr>
          <p:cNvSpPr>
            <a:spLocks noChangeArrowheads="1"/>
          </p:cNvSpPr>
          <p:nvPr/>
        </p:nvSpPr>
        <p:spPr bwMode="auto">
          <a:xfrm>
            <a:off x="581025" y="2601913"/>
            <a:ext cx="2879725" cy="454025"/>
          </a:xfrm>
          <a:prstGeom prst="ellipse">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CA" altLang="en-US" sz="18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endParaRPr>
          </a:p>
        </p:txBody>
      </p:sp>
      <p:sp>
        <p:nvSpPr>
          <p:cNvPr id="28" name="Rectangle 27">
            <a:extLst>
              <a:ext uri="{FF2B5EF4-FFF2-40B4-BE49-F238E27FC236}">
                <a16:creationId xmlns:a16="http://schemas.microsoft.com/office/drawing/2014/main" id="{038014CA-8DEB-8617-94E9-6DBB324914D7}"/>
              </a:ext>
            </a:extLst>
          </p:cNvPr>
          <p:cNvSpPr/>
          <p:nvPr/>
        </p:nvSpPr>
        <p:spPr bwMode="auto">
          <a:xfrm>
            <a:off x="1619250" y="6080125"/>
            <a:ext cx="288925" cy="360363"/>
          </a:xfrm>
          <a:prstGeom prst="rect">
            <a:avLst/>
          </a:prstGeom>
          <a:solidFill>
            <a:schemeClr val="accent4"/>
          </a:solidFill>
          <a:ln w="9525" cap="flat" cmpd="sng" algn="ctr">
            <a:solidFill>
              <a:schemeClr val="tx1"/>
            </a:solidFill>
            <a:prstDash val="solid"/>
            <a:round/>
            <a:headEnd type="none" w="med" len="med"/>
            <a:tailEnd type="none" w="med" len="me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1800" b="0" i="0" u="none" strike="noStrike" kern="1200" cap="none" spc="0" normalizeH="0" baseline="0" noProof="0" dirty="0">
                <a:ln>
                  <a:noFill/>
                </a:ln>
                <a:solidFill>
                  <a:srgbClr val="FFFFFF"/>
                </a:solidFill>
                <a:effectLst/>
                <a:uLnTx/>
                <a:uFillTx/>
                <a:latin typeface="Arial" charset="0"/>
                <a:ea typeface="+mn-ea"/>
                <a:cs typeface="Arial" panose="020B0604020202020204" pitchFamily="34" charset="0"/>
              </a:rPr>
              <a:t>3</a:t>
            </a:r>
          </a:p>
        </p:txBody>
      </p:sp>
      <p:sp>
        <p:nvSpPr>
          <p:cNvPr id="29" name="Oval 28">
            <a:extLst>
              <a:ext uri="{FF2B5EF4-FFF2-40B4-BE49-F238E27FC236}">
                <a16:creationId xmlns:a16="http://schemas.microsoft.com/office/drawing/2014/main" id="{656E4FA8-481C-C867-1567-BB982F9AA678}"/>
              </a:ext>
            </a:extLst>
          </p:cNvPr>
          <p:cNvSpPr>
            <a:spLocks noChangeArrowheads="1"/>
          </p:cNvSpPr>
          <p:nvPr/>
        </p:nvSpPr>
        <p:spPr bwMode="auto">
          <a:xfrm>
            <a:off x="5146675" y="2627313"/>
            <a:ext cx="2879725" cy="454025"/>
          </a:xfrm>
          <a:prstGeom prst="ellipse">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CA" altLang="en-US" sz="18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wipe(up)">
                                      <p:cBhvr>
                                        <p:cTn id="7" dur="500"/>
                                        <p:tgtEl>
                                          <p:spTgt spid="32"/>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3"/>
                                        </p:tgtEl>
                                        <p:attrNameLst>
                                          <p:attrName>style.visibility</p:attrName>
                                        </p:attrNameLst>
                                      </p:cBhvr>
                                      <p:to>
                                        <p:strVal val="visible"/>
                                      </p:to>
                                    </p:set>
                                    <p:animEffect transition="in" filter="wipe(left)">
                                      <p:cBhvr>
                                        <p:cTn id="11" dur="500"/>
                                        <p:tgtEl>
                                          <p:spTgt spid="33"/>
                                        </p:tgtEl>
                                      </p:cBhvr>
                                    </p:animEffect>
                                  </p:childTnLst>
                                </p:cTn>
                              </p:par>
                            </p:childTnLst>
                          </p:cTn>
                        </p:par>
                        <p:par>
                          <p:cTn id="12" fill="hold" nodeType="afterGroup">
                            <p:stCondLst>
                              <p:cond delay="1000"/>
                            </p:stCondLst>
                            <p:childTnLst>
                              <p:par>
                                <p:cTn id="13" presetID="22" presetClass="entr" presetSubtype="1" fill="hold" nodeType="afterEffect">
                                  <p:stCondLst>
                                    <p:cond delay="0"/>
                                  </p:stCondLst>
                                  <p:childTnLst>
                                    <p:set>
                                      <p:cBhvr>
                                        <p:cTn id="14" dur="1" fill="hold">
                                          <p:stCondLst>
                                            <p:cond delay="0"/>
                                          </p:stCondLst>
                                        </p:cTn>
                                        <p:tgtEl>
                                          <p:spTgt spid="41"/>
                                        </p:tgtEl>
                                        <p:attrNameLst>
                                          <p:attrName>style.visibility</p:attrName>
                                        </p:attrNameLst>
                                      </p:cBhvr>
                                      <p:to>
                                        <p:strVal val="visible"/>
                                      </p:to>
                                    </p:set>
                                    <p:animEffect transition="in" filter="wipe(up)">
                                      <p:cBhvr>
                                        <p:cTn id="15" dur="500"/>
                                        <p:tgtEl>
                                          <p:spTgt spid="41"/>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4"/>
                                        </p:tgtEl>
                                        <p:attrNameLst>
                                          <p:attrName>style.visibility</p:attrName>
                                        </p:attrNameLst>
                                      </p:cBhvr>
                                      <p:to>
                                        <p:strVal val="visible"/>
                                      </p:to>
                                    </p:set>
                                    <p:animEffect transition="in" filter="wipe(left)">
                                      <p:cBhvr>
                                        <p:cTn id="19" dur="500"/>
                                        <p:tgtEl>
                                          <p:spTgt spid="34"/>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37"/>
                                        </p:tgtEl>
                                        <p:attrNameLst>
                                          <p:attrName>style.visibility</p:attrName>
                                        </p:attrNameLst>
                                      </p:cBhvr>
                                      <p:to>
                                        <p:strVal val="visible"/>
                                      </p:to>
                                    </p:set>
                                    <p:animEffect transition="in" filter="wipe(up)">
                                      <p:cBhvr>
                                        <p:cTn id="24" dur="500"/>
                                        <p:tgtEl>
                                          <p:spTgt spid="37"/>
                                        </p:tgtEl>
                                      </p:cBhvr>
                                    </p:animEffect>
                                  </p:childTnLst>
                                </p:cTn>
                              </p:par>
                            </p:childTnLst>
                          </p:cTn>
                        </p:par>
                        <p:par>
                          <p:cTn id="25" fill="hold" nodeType="afterGroup">
                            <p:stCondLst>
                              <p:cond delay="500"/>
                            </p:stCondLst>
                            <p:childTnLst>
                              <p:par>
                                <p:cTn id="26" presetID="22" presetClass="entr" presetSubtype="8" fill="hold" nodeType="afterEffect">
                                  <p:stCondLst>
                                    <p:cond delay="0"/>
                                  </p:stCondLst>
                                  <p:childTnLst>
                                    <p:set>
                                      <p:cBhvr>
                                        <p:cTn id="27" dur="1" fill="hold">
                                          <p:stCondLst>
                                            <p:cond delay="0"/>
                                          </p:stCondLst>
                                        </p:cTn>
                                        <p:tgtEl>
                                          <p:spTgt spid="37">
                                            <p:txEl>
                                              <p:pRg st="0" end="0"/>
                                            </p:txEl>
                                          </p:spTgt>
                                        </p:tgtEl>
                                        <p:attrNameLst>
                                          <p:attrName>style.visibility</p:attrName>
                                        </p:attrNameLst>
                                      </p:cBhvr>
                                      <p:to>
                                        <p:strVal val="visible"/>
                                      </p:to>
                                    </p:set>
                                    <p:animEffect transition="in" filter="wipe(left)">
                                      <p:cBhvr>
                                        <p:cTn id="28" dur="500"/>
                                        <p:tgtEl>
                                          <p:spTgt spid="37">
                                            <p:txEl>
                                              <p:pRg st="0" end="0"/>
                                            </p:txEl>
                                          </p:spTgt>
                                        </p:tgtEl>
                                      </p:cBhvr>
                                    </p:animEffect>
                                  </p:childTnLst>
                                </p:cTn>
                              </p:par>
                            </p:childTnLst>
                          </p:cTn>
                        </p:par>
                        <p:par>
                          <p:cTn id="29" fill="hold" nodeType="afterGroup">
                            <p:stCondLst>
                              <p:cond delay="1000"/>
                            </p:stCondLst>
                            <p:childTnLst>
                              <p:par>
                                <p:cTn id="30" presetID="16" presetClass="entr" presetSubtype="21" fill="hold" grpId="0" nodeType="afterEffect">
                                  <p:stCondLst>
                                    <p:cond delay="0"/>
                                  </p:stCondLst>
                                  <p:childTnLst>
                                    <p:set>
                                      <p:cBhvr>
                                        <p:cTn id="31" dur="1" fill="hold">
                                          <p:stCondLst>
                                            <p:cond delay="0"/>
                                          </p:stCondLst>
                                        </p:cTn>
                                        <p:tgtEl>
                                          <p:spTgt spid="30"/>
                                        </p:tgtEl>
                                        <p:attrNameLst>
                                          <p:attrName>style.visibility</p:attrName>
                                        </p:attrNameLst>
                                      </p:cBhvr>
                                      <p:to>
                                        <p:strVal val="visible"/>
                                      </p:to>
                                    </p:set>
                                    <p:animEffect transition="in" filter="barn(inVertical)">
                                      <p:cBhvr>
                                        <p:cTn id="32" dur="500"/>
                                        <p:tgtEl>
                                          <p:spTgt spid="3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36"/>
                                        </p:tgtEl>
                                        <p:attrNameLst>
                                          <p:attrName>style.visibility</p:attrName>
                                        </p:attrNameLst>
                                      </p:cBhvr>
                                      <p:to>
                                        <p:strVal val="visible"/>
                                      </p:to>
                                    </p:set>
                                    <p:animEffect transition="in" filter="wipe(up)">
                                      <p:cBhvr>
                                        <p:cTn id="37" dur="500"/>
                                        <p:tgtEl>
                                          <p:spTgt spid="36"/>
                                        </p:tgtEl>
                                      </p:cBhvr>
                                    </p:animEffect>
                                  </p:childTnLst>
                                </p:cTn>
                              </p:par>
                            </p:childTnLst>
                          </p:cTn>
                        </p:par>
                        <p:par>
                          <p:cTn id="38" fill="hold" nodeType="afterGroup">
                            <p:stCondLst>
                              <p:cond delay="500"/>
                            </p:stCondLst>
                            <p:childTnLst>
                              <p:par>
                                <p:cTn id="39" presetID="22" presetClass="entr" presetSubtype="8" fill="hold" nodeType="afterEffect">
                                  <p:stCondLst>
                                    <p:cond delay="0"/>
                                  </p:stCondLst>
                                  <p:childTnLst>
                                    <p:set>
                                      <p:cBhvr>
                                        <p:cTn id="40" dur="1" fill="hold">
                                          <p:stCondLst>
                                            <p:cond delay="0"/>
                                          </p:stCondLst>
                                        </p:cTn>
                                        <p:tgtEl>
                                          <p:spTgt spid="36">
                                            <p:txEl>
                                              <p:pRg st="0" end="0"/>
                                            </p:txEl>
                                          </p:spTgt>
                                        </p:tgtEl>
                                        <p:attrNameLst>
                                          <p:attrName>style.visibility</p:attrName>
                                        </p:attrNameLst>
                                      </p:cBhvr>
                                      <p:to>
                                        <p:strVal val="visible"/>
                                      </p:to>
                                    </p:set>
                                    <p:animEffect transition="in" filter="wipe(left)">
                                      <p:cBhvr>
                                        <p:cTn id="41" dur="500"/>
                                        <p:tgtEl>
                                          <p:spTgt spid="36">
                                            <p:txEl>
                                              <p:pRg st="0" end="0"/>
                                            </p:txEl>
                                          </p:spTgt>
                                        </p:tgtEl>
                                      </p:cBhvr>
                                    </p:animEffect>
                                  </p:childTnLst>
                                </p:cTn>
                              </p:par>
                            </p:childTnLst>
                          </p:cTn>
                        </p:par>
                        <p:par>
                          <p:cTn id="42" fill="hold" nodeType="afterGroup">
                            <p:stCondLst>
                              <p:cond delay="1000"/>
                            </p:stCondLst>
                            <p:childTnLst>
                              <p:par>
                                <p:cTn id="43" presetID="16" presetClass="entr" presetSubtype="21" fill="hold" nodeType="afterEffect">
                                  <p:stCondLst>
                                    <p:cond delay="0"/>
                                  </p:stCondLst>
                                  <p:childTnLst>
                                    <p:set>
                                      <p:cBhvr>
                                        <p:cTn id="44" dur="1" fill="hold">
                                          <p:stCondLst>
                                            <p:cond delay="0"/>
                                          </p:stCondLst>
                                        </p:cTn>
                                        <p:tgtEl>
                                          <p:spTgt spid="35"/>
                                        </p:tgtEl>
                                        <p:attrNameLst>
                                          <p:attrName>style.visibility</p:attrName>
                                        </p:attrNameLst>
                                      </p:cBhvr>
                                      <p:to>
                                        <p:strVal val="visible"/>
                                      </p:to>
                                    </p:set>
                                    <p:animEffect transition="in" filter="barn(inVertical)">
                                      <p:cBhvr>
                                        <p:cTn id="45" dur="500"/>
                                        <p:tgtEl>
                                          <p:spTgt spid="35"/>
                                        </p:tgtEl>
                                      </p:cBhvr>
                                    </p:animEffect>
                                  </p:childTnLst>
                                </p:cTn>
                              </p:par>
                            </p:childTnLst>
                          </p:cTn>
                        </p:par>
                        <p:par>
                          <p:cTn id="46" fill="hold" nodeType="afterGroup">
                            <p:stCondLst>
                              <p:cond delay="1500"/>
                            </p:stCondLst>
                            <p:childTnLst>
                              <p:par>
                                <p:cTn id="47" presetID="42" presetClass="entr" presetSubtype="0" fill="hold" grpId="0" nodeType="afterEffect">
                                  <p:stCondLst>
                                    <p:cond delay="0"/>
                                  </p:stCondLst>
                                  <p:childTnLst>
                                    <p:set>
                                      <p:cBhvr>
                                        <p:cTn id="48" dur="1" fill="hold">
                                          <p:stCondLst>
                                            <p:cond delay="0"/>
                                          </p:stCondLst>
                                        </p:cTn>
                                        <p:tgtEl>
                                          <p:spTgt spid="39"/>
                                        </p:tgtEl>
                                        <p:attrNameLst>
                                          <p:attrName>style.visibility</p:attrName>
                                        </p:attrNameLst>
                                      </p:cBhvr>
                                      <p:to>
                                        <p:strVal val="visible"/>
                                      </p:to>
                                    </p:set>
                                    <p:animEffect transition="in" filter="fade">
                                      <p:cBhvr>
                                        <p:cTn id="49" dur="1000"/>
                                        <p:tgtEl>
                                          <p:spTgt spid="39"/>
                                        </p:tgtEl>
                                      </p:cBhvr>
                                    </p:animEffect>
                                    <p:anim calcmode="lin" valueType="num">
                                      <p:cBhvr>
                                        <p:cTn id="50" dur="1000" fill="hold"/>
                                        <p:tgtEl>
                                          <p:spTgt spid="39"/>
                                        </p:tgtEl>
                                        <p:attrNameLst>
                                          <p:attrName>ppt_x</p:attrName>
                                        </p:attrNameLst>
                                      </p:cBhvr>
                                      <p:tavLst>
                                        <p:tav tm="0">
                                          <p:val>
                                            <p:strVal val="#ppt_x"/>
                                          </p:val>
                                        </p:tav>
                                        <p:tav tm="100000">
                                          <p:val>
                                            <p:strVal val="#ppt_x"/>
                                          </p:val>
                                        </p:tav>
                                      </p:tavLst>
                                    </p:anim>
                                    <p:anim calcmode="lin" valueType="num">
                                      <p:cBhvr>
                                        <p:cTn id="51" dur="1000" fill="hold"/>
                                        <p:tgtEl>
                                          <p:spTgt spid="39"/>
                                        </p:tgtEl>
                                        <p:attrNameLst>
                                          <p:attrName>ppt_y</p:attrName>
                                        </p:attrNameLst>
                                      </p:cBhvr>
                                      <p:tavLst>
                                        <p:tav tm="0">
                                          <p:val>
                                            <p:strVal val="#ppt_y+.1"/>
                                          </p:val>
                                        </p:tav>
                                        <p:tav tm="100000">
                                          <p:val>
                                            <p:strVal val="#ppt_y"/>
                                          </p:val>
                                        </p:tav>
                                      </p:tavLst>
                                    </p:anim>
                                  </p:childTnLst>
                                </p:cTn>
                              </p:par>
                            </p:childTnLst>
                          </p:cTn>
                        </p:par>
                        <p:par>
                          <p:cTn id="52" fill="hold" nodeType="afterGroup">
                            <p:stCondLst>
                              <p:cond delay="2500"/>
                            </p:stCondLst>
                            <p:childTnLst>
                              <p:par>
                                <p:cTn id="53" presetID="42" presetClass="entr" presetSubtype="0" fill="hold" grpId="0" nodeType="afterEffect">
                                  <p:stCondLst>
                                    <p:cond delay="0"/>
                                  </p:stCondLst>
                                  <p:childTnLst>
                                    <p:set>
                                      <p:cBhvr>
                                        <p:cTn id="54" dur="1" fill="hold">
                                          <p:stCondLst>
                                            <p:cond delay="0"/>
                                          </p:stCondLst>
                                        </p:cTn>
                                        <p:tgtEl>
                                          <p:spTgt spid="25"/>
                                        </p:tgtEl>
                                        <p:attrNameLst>
                                          <p:attrName>style.visibility</p:attrName>
                                        </p:attrNameLst>
                                      </p:cBhvr>
                                      <p:to>
                                        <p:strVal val="visible"/>
                                      </p:to>
                                    </p:set>
                                    <p:animEffect transition="in" filter="fade">
                                      <p:cBhvr>
                                        <p:cTn id="55" dur="1000"/>
                                        <p:tgtEl>
                                          <p:spTgt spid="25"/>
                                        </p:tgtEl>
                                      </p:cBhvr>
                                    </p:animEffect>
                                    <p:anim calcmode="lin" valueType="num">
                                      <p:cBhvr>
                                        <p:cTn id="56" dur="1000" fill="hold"/>
                                        <p:tgtEl>
                                          <p:spTgt spid="25"/>
                                        </p:tgtEl>
                                        <p:attrNameLst>
                                          <p:attrName>ppt_x</p:attrName>
                                        </p:attrNameLst>
                                      </p:cBhvr>
                                      <p:tavLst>
                                        <p:tav tm="0">
                                          <p:val>
                                            <p:strVal val="#ppt_x"/>
                                          </p:val>
                                        </p:tav>
                                        <p:tav tm="100000">
                                          <p:val>
                                            <p:strVal val="#ppt_x"/>
                                          </p:val>
                                        </p:tav>
                                      </p:tavLst>
                                    </p:anim>
                                    <p:anim calcmode="lin" valueType="num">
                                      <p:cBhvr>
                                        <p:cTn id="57" dur="1000" fill="hold"/>
                                        <p:tgtEl>
                                          <p:spTgt spid="25"/>
                                        </p:tgtEl>
                                        <p:attrNameLst>
                                          <p:attrName>ppt_y</p:attrName>
                                        </p:attrNameLst>
                                      </p:cBhvr>
                                      <p:tavLst>
                                        <p:tav tm="0">
                                          <p:val>
                                            <p:strVal val="#ppt_y+.1"/>
                                          </p:val>
                                        </p:tav>
                                        <p:tav tm="100000">
                                          <p:val>
                                            <p:strVal val="#ppt_y"/>
                                          </p:val>
                                        </p:tav>
                                      </p:tavLst>
                                    </p:anim>
                                  </p:childTnLst>
                                </p:cTn>
                              </p:par>
                            </p:childTnLst>
                          </p:cTn>
                        </p:par>
                        <p:par>
                          <p:cTn id="58" fill="hold" nodeType="afterGroup">
                            <p:stCondLst>
                              <p:cond delay="3500"/>
                            </p:stCondLst>
                            <p:childTnLst>
                              <p:par>
                                <p:cTn id="59" presetID="42" presetClass="entr" presetSubtype="0" fill="hold" grpId="0" nodeType="afterEffect">
                                  <p:stCondLst>
                                    <p:cond delay="0"/>
                                  </p:stCondLst>
                                  <p:childTnLst>
                                    <p:set>
                                      <p:cBhvr>
                                        <p:cTn id="60" dur="1" fill="hold">
                                          <p:stCondLst>
                                            <p:cond delay="0"/>
                                          </p:stCondLst>
                                        </p:cTn>
                                        <p:tgtEl>
                                          <p:spTgt spid="28"/>
                                        </p:tgtEl>
                                        <p:attrNameLst>
                                          <p:attrName>style.visibility</p:attrName>
                                        </p:attrNameLst>
                                      </p:cBhvr>
                                      <p:to>
                                        <p:strVal val="visible"/>
                                      </p:to>
                                    </p:set>
                                    <p:animEffect transition="in" filter="fade">
                                      <p:cBhvr>
                                        <p:cTn id="61" dur="1000"/>
                                        <p:tgtEl>
                                          <p:spTgt spid="28"/>
                                        </p:tgtEl>
                                      </p:cBhvr>
                                    </p:animEffect>
                                    <p:anim calcmode="lin" valueType="num">
                                      <p:cBhvr>
                                        <p:cTn id="62" dur="1000" fill="hold"/>
                                        <p:tgtEl>
                                          <p:spTgt spid="28"/>
                                        </p:tgtEl>
                                        <p:attrNameLst>
                                          <p:attrName>ppt_x</p:attrName>
                                        </p:attrNameLst>
                                      </p:cBhvr>
                                      <p:tavLst>
                                        <p:tav tm="0">
                                          <p:val>
                                            <p:strVal val="#ppt_x"/>
                                          </p:val>
                                        </p:tav>
                                        <p:tav tm="100000">
                                          <p:val>
                                            <p:strVal val="#ppt_x"/>
                                          </p:val>
                                        </p:tav>
                                      </p:tavLst>
                                    </p:anim>
                                    <p:anim calcmode="lin" valueType="num">
                                      <p:cBhvr>
                                        <p:cTn id="63"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seq concurrent="1" nextAc="seek">
              <p:cTn id="64" restart="whenNotActive" fill="hold" evtFilter="cancelBubble" nodeType="interactiveSeq">
                <p:stCondLst>
                  <p:cond evt="onClick" delay="0">
                    <p:tgtEl>
                      <p:spTgt spid="39"/>
                    </p:tgtEl>
                  </p:cond>
                </p:stCondLst>
                <p:endSync evt="end" delay="0">
                  <p:rtn val="all"/>
                </p:endSync>
                <p:childTnLst>
                  <p:par>
                    <p:cTn id="65" fill="hold" nodeType="clickPar">
                      <p:stCondLst>
                        <p:cond delay="0"/>
                      </p:stCondLst>
                      <p:childTnLst>
                        <p:par>
                          <p:cTn id="66" fill="hold" nodeType="withGroup">
                            <p:stCondLst>
                              <p:cond delay="0"/>
                            </p:stCondLst>
                            <p:childTnLst>
                              <p:par>
                                <p:cTn id="67" presetID="22" presetClass="entr" presetSubtype="8" fill="hold" nodeType="clickEffect">
                                  <p:stCondLst>
                                    <p:cond delay="0"/>
                                  </p:stCondLst>
                                  <p:childTnLst>
                                    <p:set>
                                      <p:cBhvr>
                                        <p:cTn id="68" dur="1" fill="hold">
                                          <p:stCondLst>
                                            <p:cond delay="0"/>
                                          </p:stCondLst>
                                        </p:cTn>
                                        <p:tgtEl>
                                          <p:spTgt spid="38"/>
                                        </p:tgtEl>
                                        <p:attrNameLst>
                                          <p:attrName>style.visibility</p:attrName>
                                        </p:attrNameLst>
                                      </p:cBhvr>
                                      <p:to>
                                        <p:strVal val="visible"/>
                                      </p:to>
                                    </p:set>
                                    <p:animEffect transition="in" filter="wipe(left)">
                                      <p:cBhvr>
                                        <p:cTn id="69" dur="500"/>
                                        <p:tgtEl>
                                          <p:spTgt spid="38"/>
                                        </p:tgtEl>
                                      </p:cBhvr>
                                    </p:animEffect>
                                  </p:childTnLst>
                                </p:cTn>
                              </p:par>
                            </p:childTnLst>
                          </p:cTn>
                        </p:par>
                      </p:childTnLst>
                    </p:cTn>
                  </p:par>
                </p:childTnLst>
              </p:cTn>
              <p:nextCondLst>
                <p:cond evt="onClick" delay="0">
                  <p:tgtEl>
                    <p:spTgt spid="39"/>
                  </p:tgtEl>
                </p:cond>
              </p:nextCondLst>
            </p:seq>
            <p:seq concurrent="1" nextAc="seek">
              <p:cTn id="70" restart="whenNotActive" fill="hold" evtFilter="cancelBubble" nodeType="interactiveSeq">
                <p:stCondLst>
                  <p:cond evt="onClick" delay="0">
                    <p:tgtEl>
                      <p:spTgt spid="25"/>
                    </p:tgtEl>
                  </p:cond>
                </p:stCondLst>
                <p:endSync evt="end" delay="0">
                  <p:rtn val="all"/>
                </p:endSync>
                <p:childTnLst>
                  <p:par>
                    <p:cTn id="71" fill="hold" nodeType="clickPar">
                      <p:stCondLst>
                        <p:cond delay="0"/>
                      </p:stCondLst>
                      <p:childTnLst>
                        <p:par>
                          <p:cTn id="72" fill="hold" nodeType="withGroup">
                            <p:stCondLst>
                              <p:cond delay="0"/>
                            </p:stCondLst>
                            <p:childTnLst>
                              <p:par>
                                <p:cTn id="73" presetID="21" presetClass="entr" presetSubtype="1" fill="hold" grpId="0" nodeType="clickEffect">
                                  <p:stCondLst>
                                    <p:cond delay="0"/>
                                  </p:stCondLst>
                                  <p:childTnLst>
                                    <p:set>
                                      <p:cBhvr>
                                        <p:cTn id="74" dur="1" fill="hold">
                                          <p:stCondLst>
                                            <p:cond delay="0"/>
                                          </p:stCondLst>
                                        </p:cTn>
                                        <p:tgtEl>
                                          <p:spTgt spid="27"/>
                                        </p:tgtEl>
                                        <p:attrNameLst>
                                          <p:attrName>style.visibility</p:attrName>
                                        </p:attrNameLst>
                                      </p:cBhvr>
                                      <p:to>
                                        <p:strVal val="visible"/>
                                      </p:to>
                                    </p:set>
                                    <p:animEffect transition="in" filter="wheel(1)">
                                      <p:cBhvr>
                                        <p:cTn id="75" dur="1000"/>
                                        <p:tgtEl>
                                          <p:spTgt spid="27"/>
                                        </p:tgtEl>
                                      </p:cBhvr>
                                    </p:animEffect>
                                  </p:childTnLst>
                                </p:cTn>
                              </p:par>
                            </p:childTnLst>
                          </p:cTn>
                        </p:par>
                      </p:childTnLst>
                    </p:cTn>
                  </p:par>
                </p:childTnLst>
              </p:cTn>
              <p:nextCondLst>
                <p:cond evt="onClick" delay="0">
                  <p:tgtEl>
                    <p:spTgt spid="25"/>
                  </p:tgtEl>
                </p:cond>
              </p:nextCondLst>
            </p:seq>
            <p:seq concurrent="1" nextAc="seek">
              <p:cTn id="76" restart="whenNotActive" fill="hold" evtFilter="cancelBubble" nodeType="interactiveSeq">
                <p:stCondLst>
                  <p:cond evt="onClick" delay="0">
                    <p:tgtEl>
                      <p:spTgt spid="28"/>
                    </p:tgtEl>
                  </p:cond>
                </p:stCondLst>
                <p:endSync evt="end" delay="0">
                  <p:rtn val="all"/>
                </p:endSync>
                <p:childTnLst>
                  <p:par>
                    <p:cTn id="77" fill="hold" nodeType="clickPar">
                      <p:stCondLst>
                        <p:cond delay="0"/>
                      </p:stCondLst>
                      <p:childTnLst>
                        <p:par>
                          <p:cTn id="78" fill="hold" nodeType="withGroup">
                            <p:stCondLst>
                              <p:cond delay="0"/>
                            </p:stCondLst>
                            <p:childTnLst>
                              <p:par>
                                <p:cTn id="79" presetID="21" presetClass="entr" presetSubtype="1" fill="hold" grpId="0" nodeType="clickEffect">
                                  <p:stCondLst>
                                    <p:cond delay="0"/>
                                  </p:stCondLst>
                                  <p:childTnLst>
                                    <p:set>
                                      <p:cBhvr>
                                        <p:cTn id="80" dur="1" fill="hold">
                                          <p:stCondLst>
                                            <p:cond delay="0"/>
                                          </p:stCondLst>
                                        </p:cTn>
                                        <p:tgtEl>
                                          <p:spTgt spid="29"/>
                                        </p:tgtEl>
                                        <p:attrNameLst>
                                          <p:attrName>style.visibility</p:attrName>
                                        </p:attrNameLst>
                                      </p:cBhvr>
                                      <p:to>
                                        <p:strVal val="visible"/>
                                      </p:to>
                                    </p:set>
                                    <p:animEffect transition="in" filter="wheel(1)">
                                      <p:cBhvr>
                                        <p:cTn id="81" dur="1000"/>
                                        <p:tgtEl>
                                          <p:spTgt spid="29"/>
                                        </p:tgtEl>
                                      </p:cBhvr>
                                    </p:animEffect>
                                  </p:childTnLst>
                                </p:cTn>
                              </p:par>
                            </p:childTnLst>
                          </p:cTn>
                        </p:par>
                      </p:childTnLst>
                    </p:cTn>
                  </p:par>
                </p:childTnLst>
              </p:cTn>
              <p:nextCondLst>
                <p:cond evt="onClick" delay="0">
                  <p:tgtEl>
                    <p:spTgt spid="28"/>
                  </p:tgtEl>
                </p:cond>
              </p:nextCondLst>
            </p:seq>
          </p:childTnLst>
        </p:cTn>
      </p:par>
    </p:tnLst>
    <p:bldLst>
      <p:bldP spid="30" grpId="0" animBg="1"/>
      <p:bldP spid="33" grpId="0"/>
      <p:bldP spid="34" grpId="0"/>
      <p:bldP spid="36" grpId="0" animBg="1"/>
      <p:bldP spid="37" grpId="0" animBg="1"/>
      <p:bldP spid="39" grpId="0" animBg="1"/>
      <p:bldP spid="25" grpId="0" animBg="1"/>
      <p:bldP spid="27" grpId="0" animBg="1"/>
      <p:bldP spid="28" grpId="0" animBg="1"/>
      <p:bldP spid="29" grpId="0" animBg="1"/>
    </p:bldLst>
  </p:timing>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503C3-30A3-0C01-4051-DA32338507E5}"/>
              </a:ext>
            </a:extLst>
          </p:cNvPr>
          <p:cNvSpPr>
            <a:spLocks noGrp="1"/>
          </p:cNvSpPr>
          <p:nvPr>
            <p:ph type="title"/>
          </p:nvPr>
        </p:nvSpPr>
        <p:spPr>
          <a:xfrm>
            <a:off x="457200" y="0"/>
            <a:ext cx="7620000" cy="1143000"/>
          </a:xfrm>
        </p:spPr>
        <p:txBody>
          <a:bodyPr/>
          <a:lstStyle/>
          <a:p>
            <a:pPr algn="ctr">
              <a:defRPr/>
            </a:pPr>
            <a:r>
              <a:rPr lang="en-US" dirty="0"/>
              <a:t>JOIN</a:t>
            </a:r>
            <a:endParaRPr lang="en-MY" dirty="0"/>
          </a:p>
        </p:txBody>
      </p:sp>
      <p:sp>
        <p:nvSpPr>
          <p:cNvPr id="8" name="Snip Single Corner Rectangle 7">
            <a:extLst>
              <a:ext uri="{FF2B5EF4-FFF2-40B4-BE49-F238E27FC236}">
                <a16:creationId xmlns:a16="http://schemas.microsoft.com/office/drawing/2014/main" id="{15A371D7-07C9-9D3A-7180-3B6F427A4AB6}"/>
              </a:ext>
            </a:extLst>
          </p:cNvPr>
          <p:cNvSpPr/>
          <p:nvPr/>
        </p:nvSpPr>
        <p:spPr>
          <a:xfrm>
            <a:off x="-36513" y="1125538"/>
            <a:ext cx="1439863" cy="400050"/>
          </a:xfrm>
          <a:prstGeom prst="snip1Rect">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anchor="ctr">
            <a:spAutoFit/>
          </a:bodyPr>
          <a:lstStyle/>
          <a:p>
            <a:pPr marL="342900" marR="0" lvl="0" indent="-342900" algn="just" defTabSz="914400" rtl="0" eaLnBrk="1" fontAlgn="base" latinLnBrk="0" hangingPunct="1">
              <a:lnSpc>
                <a:spcPct val="100000"/>
              </a:lnSpc>
              <a:spcBef>
                <a:spcPct val="20000"/>
              </a:spcBef>
              <a:spcAft>
                <a:spcPct val="0"/>
              </a:spcAft>
              <a:buClr>
                <a:srgbClr val="FF6600"/>
              </a:buClr>
              <a:buSzPct val="100000"/>
              <a:buFontTx/>
              <a:buNone/>
              <a:tabLst/>
              <a:defRPr/>
            </a:pPr>
            <a:r>
              <a:rPr kumimoji="0" lang="en-US" sz="1800" b="0" i="0" u="none" strike="noStrike" kern="1200" cap="none" spc="0" normalizeH="0" baseline="0" noProof="0" dirty="0">
                <a:ln>
                  <a:noFill/>
                </a:ln>
                <a:solidFill>
                  <a:srgbClr val="FFFFFF"/>
                </a:solidFill>
                <a:effectLst/>
                <a:uLnTx/>
                <a:uFillTx/>
                <a:latin typeface="Arial" pitchFamily="34" charset="0"/>
                <a:ea typeface="Times New Roman" pitchFamily="18" charset="0"/>
                <a:cs typeface="Arial" pitchFamily="34" charset="0"/>
              </a:rPr>
              <a:t>SELF JOIN</a:t>
            </a:r>
            <a:endParaRPr kumimoji="0" lang="en-GB" sz="1800" b="0" i="0" u="none" strike="noStrike" kern="0" cap="none" spc="0" normalizeH="0" baseline="0" noProof="0" dirty="0">
              <a:ln>
                <a:noFill/>
              </a:ln>
              <a:solidFill>
                <a:srgbClr val="2F2B20"/>
              </a:solidFill>
              <a:effectLst/>
              <a:uLnTx/>
              <a:uFillTx/>
              <a:latin typeface="Calibri"/>
              <a:ea typeface="+mn-ea"/>
              <a:cs typeface="+mn-cs"/>
            </a:endParaRPr>
          </a:p>
        </p:txBody>
      </p:sp>
      <p:sp>
        <p:nvSpPr>
          <p:cNvPr id="9" name="Content Placeholder 2">
            <a:extLst>
              <a:ext uri="{FF2B5EF4-FFF2-40B4-BE49-F238E27FC236}">
                <a16:creationId xmlns:a16="http://schemas.microsoft.com/office/drawing/2014/main" id="{C594AE9A-F104-C10F-968E-ADEE173C98CE}"/>
              </a:ext>
            </a:extLst>
          </p:cNvPr>
          <p:cNvSpPr txBox="1">
            <a:spLocks/>
          </p:cNvSpPr>
          <p:nvPr/>
        </p:nvSpPr>
        <p:spPr bwMode="auto">
          <a:xfrm>
            <a:off x="250825" y="1773238"/>
            <a:ext cx="8131175"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Self join is when a table is joined with itself</a:t>
            </a: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24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Since both tables have the same name, we need a way to distinguish between the two tables. The solution is to give each table an alias in SQL:</a:t>
            </a: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sp>
        <p:nvSpPr>
          <p:cNvPr id="15" name="Rounded Rectangle 14">
            <a:extLst>
              <a:ext uri="{FF2B5EF4-FFF2-40B4-BE49-F238E27FC236}">
                <a16:creationId xmlns:a16="http://schemas.microsoft.com/office/drawing/2014/main" id="{0B25A587-5EC7-B16B-E676-68015B1A1077}"/>
              </a:ext>
            </a:extLst>
          </p:cNvPr>
          <p:cNvSpPr>
            <a:spLocks noChangeArrowheads="1"/>
          </p:cNvSpPr>
          <p:nvPr/>
        </p:nvSpPr>
        <p:spPr bwMode="auto">
          <a:xfrm>
            <a:off x="152400" y="4149725"/>
            <a:ext cx="8101013" cy="1366838"/>
          </a:xfrm>
          <a:prstGeom prst="roundRect">
            <a:avLst>
              <a:gd name="adj" fmla="val 16667"/>
            </a:avLst>
          </a:prstGeom>
          <a:solidFill>
            <a:srgbClr val="7F7B00">
              <a:alpha val="30196"/>
            </a:srgbClr>
          </a:solidFill>
          <a:ln w="9525" algn="ctr">
            <a:solidFill>
              <a:srgbClr val="7F7B00"/>
            </a:solidFill>
            <a:round/>
            <a:headEnd/>
            <a:tailEnd/>
          </a:ln>
        </p:spPr>
        <p:txBody>
          <a:bodyPr anchor="ctr" anchorCtr="1"/>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2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SELECT &lt;column_name&gt;, &lt;column_name&gt;… FROM &lt;table_name&gt; &lt;alias_1&gt;, &lt;table_name&gt; &lt;alias_2&gt; WHERE &lt;conditions&gt;;</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9">
                                            <p:txEl>
                                              <p:pRg st="0" end="0"/>
                                            </p:txEl>
                                          </p:spTgt>
                                        </p:tgtEl>
                                        <p:attrNameLst>
                                          <p:attrName>style.visibility</p:attrName>
                                        </p:attrNameLst>
                                      </p:cBhvr>
                                      <p:to>
                                        <p:strVal val="visible"/>
                                      </p:to>
                                    </p:set>
                                    <p:animEffect transition="in" filter="wipe(left)">
                                      <p:cBhvr>
                                        <p:cTn id="11" dur="500"/>
                                        <p:tgtEl>
                                          <p:spTgt spid="9">
                                            <p:txEl>
                                              <p:pRg st="0" end="0"/>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9">
                                            <p:txEl>
                                              <p:pRg st="2" end="2"/>
                                            </p:txEl>
                                          </p:spTgt>
                                        </p:tgtEl>
                                        <p:attrNameLst>
                                          <p:attrName>style.visibility</p:attrName>
                                        </p:attrNameLst>
                                      </p:cBhvr>
                                      <p:to>
                                        <p:strVal val="visible"/>
                                      </p:to>
                                    </p:set>
                                    <p:animEffect transition="in" filter="wipe(left)">
                                      <p:cBhvr>
                                        <p:cTn id="16" dur="500"/>
                                        <p:tgtEl>
                                          <p:spTgt spid="9">
                                            <p:txEl>
                                              <p:pRg st="2" end="2"/>
                                            </p:txEl>
                                          </p:spTgt>
                                        </p:tgtEl>
                                      </p:cBhvr>
                                    </p:animEffect>
                                  </p:childTnLst>
                                </p:cTn>
                              </p:par>
                            </p:childTnLst>
                          </p:cTn>
                        </p:par>
                        <p:par>
                          <p:cTn id="17" fill="hold" nodeType="afterGroup">
                            <p:stCondLst>
                              <p:cond delay="500"/>
                            </p:stCondLst>
                            <p:childTnLst>
                              <p:par>
                                <p:cTn id="18" presetID="16" presetClass="entr" presetSubtype="21" fill="hold" grpId="0" nodeType="after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barn(inVertical)">
                                      <p:cBhvr>
                                        <p:cTn id="20"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5" grpId="0" animBg="1"/>
    </p:bldLst>
  </p:timing>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985A24-5323-3BD7-AC32-A283C6353F6F}"/>
              </a:ext>
            </a:extLst>
          </p:cNvPr>
          <p:cNvSpPr>
            <a:spLocks noGrp="1"/>
          </p:cNvSpPr>
          <p:nvPr>
            <p:ph type="title"/>
          </p:nvPr>
        </p:nvSpPr>
        <p:spPr>
          <a:xfrm>
            <a:off x="457200" y="0"/>
            <a:ext cx="7620000" cy="1143000"/>
          </a:xfrm>
        </p:spPr>
        <p:txBody>
          <a:bodyPr/>
          <a:lstStyle/>
          <a:p>
            <a:pPr algn="ctr">
              <a:defRPr/>
            </a:pPr>
            <a:r>
              <a:rPr lang="en-US" dirty="0"/>
              <a:t>JOIN</a:t>
            </a:r>
            <a:endParaRPr lang="en-MY" dirty="0"/>
          </a:p>
        </p:txBody>
      </p:sp>
      <p:graphicFrame>
        <p:nvGraphicFramePr>
          <p:cNvPr id="32" name="Table 31">
            <a:extLst>
              <a:ext uri="{FF2B5EF4-FFF2-40B4-BE49-F238E27FC236}">
                <a16:creationId xmlns:a16="http://schemas.microsoft.com/office/drawing/2014/main" id="{914548EB-9C22-4BBC-2A74-6D1685DD77BF}"/>
              </a:ext>
            </a:extLst>
          </p:cNvPr>
          <p:cNvGraphicFramePr>
            <a:graphicFrameLocks noGrp="1"/>
          </p:cNvGraphicFramePr>
          <p:nvPr/>
        </p:nvGraphicFramePr>
        <p:xfrm>
          <a:off x="76200" y="1908175"/>
          <a:ext cx="3816350" cy="1112838"/>
        </p:xfrm>
        <a:graphic>
          <a:graphicData uri="http://schemas.openxmlformats.org/drawingml/2006/table">
            <a:tbl>
              <a:tblPr firstRow="1" bandRow="1">
                <a:tableStyleId>{5FD0F851-EC5A-4D38-B0AD-8093EC10F338}</a:tableStyleId>
              </a:tblPr>
              <a:tblGrid>
                <a:gridCol w="1908175">
                  <a:extLst>
                    <a:ext uri="{9D8B030D-6E8A-4147-A177-3AD203B41FA5}">
                      <a16:colId xmlns:a16="http://schemas.microsoft.com/office/drawing/2014/main" val="20000"/>
                    </a:ext>
                  </a:extLst>
                </a:gridCol>
                <a:gridCol w="1908175">
                  <a:extLst>
                    <a:ext uri="{9D8B030D-6E8A-4147-A177-3AD203B41FA5}">
                      <a16:colId xmlns:a16="http://schemas.microsoft.com/office/drawing/2014/main" val="20001"/>
                    </a:ext>
                  </a:extLst>
                </a:gridCol>
              </a:tblGrid>
              <a:tr h="370946">
                <a:tc>
                  <a:txBody>
                    <a:bodyPr/>
                    <a:lstStyle/>
                    <a:p>
                      <a:pPr algn="ctr"/>
                      <a:r>
                        <a:rPr lang="en-CA" sz="1800" dirty="0" err="1"/>
                        <a:t>DepartmentId</a:t>
                      </a:r>
                      <a:endParaRPr lang="en-CA" sz="1800" dirty="0"/>
                    </a:p>
                  </a:txBody>
                  <a:tcPr marL="91438" marR="91438" marT="45733" marB="45733"/>
                </a:tc>
                <a:tc>
                  <a:txBody>
                    <a:bodyPr/>
                    <a:lstStyle/>
                    <a:p>
                      <a:pPr algn="ctr"/>
                      <a:r>
                        <a:rPr lang="en-CA" sz="1800" dirty="0"/>
                        <a:t>Name</a:t>
                      </a:r>
                    </a:p>
                  </a:txBody>
                  <a:tcPr marL="91438" marR="91438" marT="45733" marB="45733"/>
                </a:tc>
                <a:extLst>
                  <a:ext uri="{0D108BD9-81ED-4DB2-BD59-A6C34878D82A}">
                    <a16:rowId xmlns:a16="http://schemas.microsoft.com/office/drawing/2014/main" val="10000"/>
                  </a:ext>
                </a:extLst>
              </a:tr>
              <a:tr h="370946">
                <a:tc>
                  <a:txBody>
                    <a:bodyPr/>
                    <a:lstStyle/>
                    <a:p>
                      <a:pPr algn="ctr"/>
                      <a:r>
                        <a:rPr lang="en-CA" sz="1800" dirty="0"/>
                        <a:t>10</a:t>
                      </a:r>
                    </a:p>
                  </a:txBody>
                  <a:tcPr marL="91438" marR="91438" marT="45733" marB="45733"/>
                </a:tc>
                <a:tc>
                  <a:txBody>
                    <a:bodyPr/>
                    <a:lstStyle/>
                    <a:p>
                      <a:pPr algn="ctr"/>
                      <a:r>
                        <a:rPr lang="en-CA" sz="1800" dirty="0"/>
                        <a:t>IT</a:t>
                      </a:r>
                    </a:p>
                  </a:txBody>
                  <a:tcPr marL="91438" marR="91438" marT="45733" marB="45733"/>
                </a:tc>
                <a:extLst>
                  <a:ext uri="{0D108BD9-81ED-4DB2-BD59-A6C34878D82A}">
                    <a16:rowId xmlns:a16="http://schemas.microsoft.com/office/drawing/2014/main" val="10001"/>
                  </a:ext>
                </a:extLst>
              </a:tr>
              <a:tr h="370946">
                <a:tc>
                  <a:txBody>
                    <a:bodyPr/>
                    <a:lstStyle/>
                    <a:p>
                      <a:pPr algn="ctr"/>
                      <a:r>
                        <a:rPr lang="en-CA" sz="1800" dirty="0"/>
                        <a:t>15</a:t>
                      </a:r>
                    </a:p>
                  </a:txBody>
                  <a:tcPr marL="91438" marR="91438" marT="45733" marB="45733"/>
                </a:tc>
                <a:tc>
                  <a:txBody>
                    <a:bodyPr/>
                    <a:lstStyle/>
                    <a:p>
                      <a:pPr algn="ctr"/>
                      <a:r>
                        <a:rPr lang="en-CA" sz="1800" dirty="0"/>
                        <a:t>Finance</a:t>
                      </a:r>
                    </a:p>
                  </a:txBody>
                  <a:tcPr marL="91438" marR="91438" marT="45733" marB="45733"/>
                </a:tc>
                <a:extLst>
                  <a:ext uri="{0D108BD9-81ED-4DB2-BD59-A6C34878D82A}">
                    <a16:rowId xmlns:a16="http://schemas.microsoft.com/office/drawing/2014/main" val="10002"/>
                  </a:ext>
                </a:extLst>
              </a:tr>
            </a:tbl>
          </a:graphicData>
        </a:graphic>
      </p:graphicFrame>
      <p:sp>
        <p:nvSpPr>
          <p:cNvPr id="33" name="TextBox 32">
            <a:extLst>
              <a:ext uri="{FF2B5EF4-FFF2-40B4-BE49-F238E27FC236}">
                <a16:creationId xmlns:a16="http://schemas.microsoft.com/office/drawing/2014/main" id="{F16E07EE-61E6-82CB-5580-2D74FCCF4DE9}"/>
              </a:ext>
            </a:extLst>
          </p:cNvPr>
          <p:cNvSpPr txBox="1">
            <a:spLocks noChangeArrowheads="1"/>
          </p:cNvSpPr>
          <p:nvPr/>
        </p:nvSpPr>
        <p:spPr bwMode="auto">
          <a:xfrm>
            <a:off x="976313" y="3024188"/>
            <a:ext cx="20161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Department table</a:t>
            </a:r>
          </a:p>
        </p:txBody>
      </p:sp>
      <p:sp>
        <p:nvSpPr>
          <p:cNvPr id="34" name="TextBox 33">
            <a:extLst>
              <a:ext uri="{FF2B5EF4-FFF2-40B4-BE49-F238E27FC236}">
                <a16:creationId xmlns:a16="http://schemas.microsoft.com/office/drawing/2014/main" id="{BD774FB3-50AA-12B7-2A56-B34AA1802292}"/>
              </a:ext>
            </a:extLst>
          </p:cNvPr>
          <p:cNvSpPr txBox="1">
            <a:spLocks noChangeArrowheads="1"/>
          </p:cNvSpPr>
          <p:nvPr/>
        </p:nvSpPr>
        <p:spPr bwMode="auto">
          <a:xfrm>
            <a:off x="5513388" y="3024188"/>
            <a:ext cx="20145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Department table</a:t>
            </a:r>
          </a:p>
        </p:txBody>
      </p:sp>
      <p:graphicFrame>
        <p:nvGraphicFramePr>
          <p:cNvPr id="35" name="Table 34">
            <a:extLst>
              <a:ext uri="{FF2B5EF4-FFF2-40B4-BE49-F238E27FC236}">
                <a16:creationId xmlns:a16="http://schemas.microsoft.com/office/drawing/2014/main" id="{6D2FA999-D836-4A0D-C04A-30D55150B058}"/>
              </a:ext>
            </a:extLst>
          </p:cNvPr>
          <p:cNvGraphicFramePr>
            <a:graphicFrameLocks noGrp="1"/>
          </p:cNvGraphicFramePr>
          <p:nvPr/>
        </p:nvGraphicFramePr>
        <p:xfrm>
          <a:off x="1619250" y="5548313"/>
          <a:ext cx="6048376" cy="736600"/>
        </p:xfrm>
        <a:graphic>
          <a:graphicData uri="http://schemas.openxmlformats.org/drawingml/2006/table">
            <a:tbl>
              <a:tblPr firstRow="1" bandRow="1">
                <a:tableStyleId>{9D7B26C5-4107-4FEC-AEDC-1716B250A1EF}</a:tableStyleId>
              </a:tblPr>
              <a:tblGrid>
                <a:gridCol w="1800112">
                  <a:extLst>
                    <a:ext uri="{9D8B030D-6E8A-4147-A177-3AD203B41FA5}">
                      <a16:colId xmlns:a16="http://schemas.microsoft.com/office/drawing/2014/main" val="20000"/>
                    </a:ext>
                  </a:extLst>
                </a:gridCol>
                <a:gridCol w="1224076">
                  <a:extLst>
                    <a:ext uri="{9D8B030D-6E8A-4147-A177-3AD203B41FA5}">
                      <a16:colId xmlns:a16="http://schemas.microsoft.com/office/drawing/2014/main" val="20001"/>
                    </a:ext>
                  </a:extLst>
                </a:gridCol>
                <a:gridCol w="1800112">
                  <a:extLst>
                    <a:ext uri="{9D8B030D-6E8A-4147-A177-3AD203B41FA5}">
                      <a16:colId xmlns:a16="http://schemas.microsoft.com/office/drawing/2014/main" val="20002"/>
                    </a:ext>
                  </a:extLst>
                </a:gridCol>
                <a:gridCol w="1224076">
                  <a:extLst>
                    <a:ext uri="{9D8B030D-6E8A-4147-A177-3AD203B41FA5}">
                      <a16:colId xmlns:a16="http://schemas.microsoft.com/office/drawing/2014/main" val="20003"/>
                    </a:ext>
                  </a:extLst>
                </a:gridCol>
              </a:tblGrid>
              <a:tr h="260564">
                <a:tc>
                  <a:txBody>
                    <a:bodyPr/>
                    <a:lstStyle/>
                    <a:p>
                      <a:pPr algn="ctr"/>
                      <a:r>
                        <a:rPr lang="en-CA" dirty="0" err="1"/>
                        <a:t>DepartmentId</a:t>
                      </a:r>
                      <a:endParaRPr lang="en-CA" dirty="0"/>
                    </a:p>
                  </a:txBody>
                  <a:tcPr marL="91436" marR="91436"/>
                </a:tc>
                <a:tc>
                  <a:txBody>
                    <a:bodyPr/>
                    <a:lstStyle/>
                    <a:p>
                      <a:pPr algn="ctr"/>
                      <a:r>
                        <a:rPr lang="en-CA" dirty="0"/>
                        <a:t>Name</a:t>
                      </a:r>
                    </a:p>
                  </a:txBody>
                  <a:tcPr marL="91436" marR="91436"/>
                </a:tc>
                <a:tc>
                  <a:txBody>
                    <a:bodyPr/>
                    <a:lstStyle/>
                    <a:p>
                      <a:pPr algn="ctr"/>
                      <a:r>
                        <a:rPr lang="en-CA" dirty="0" err="1"/>
                        <a:t>DepartmentId</a:t>
                      </a:r>
                      <a:endParaRPr lang="en-CA" dirty="0"/>
                    </a:p>
                  </a:txBody>
                  <a:tcPr marL="91436" marR="91436"/>
                </a:tc>
                <a:tc>
                  <a:txBody>
                    <a:bodyPr/>
                    <a:lstStyle/>
                    <a:p>
                      <a:pPr algn="ctr"/>
                      <a:r>
                        <a:rPr lang="en-CA" dirty="0"/>
                        <a:t>Name</a:t>
                      </a:r>
                    </a:p>
                  </a:txBody>
                  <a:tcPr marL="91436" marR="91436"/>
                </a:tc>
                <a:extLst>
                  <a:ext uri="{0D108BD9-81ED-4DB2-BD59-A6C34878D82A}">
                    <a16:rowId xmlns:a16="http://schemas.microsoft.com/office/drawing/2014/main" val="10000"/>
                  </a:ext>
                </a:extLst>
              </a:tr>
              <a:tr h="370840">
                <a:tc>
                  <a:txBody>
                    <a:bodyPr/>
                    <a:lstStyle/>
                    <a:p>
                      <a:pPr algn="ctr"/>
                      <a:r>
                        <a:rPr lang="en-CA" dirty="0"/>
                        <a:t>15</a:t>
                      </a:r>
                    </a:p>
                  </a:txBody>
                  <a:tcPr marL="91436" marR="91436"/>
                </a:tc>
                <a:tc>
                  <a:txBody>
                    <a:bodyPr/>
                    <a:lstStyle/>
                    <a:p>
                      <a:pPr algn="ctr"/>
                      <a:r>
                        <a:rPr lang="en-CA" dirty="0"/>
                        <a:t>Finance</a:t>
                      </a:r>
                    </a:p>
                  </a:txBody>
                  <a:tcPr marL="91436" marR="91436"/>
                </a:tc>
                <a:tc>
                  <a:txBody>
                    <a:bodyPr/>
                    <a:lstStyle/>
                    <a:p>
                      <a:pPr algn="ctr"/>
                      <a:r>
                        <a:rPr lang="en-CA" dirty="0"/>
                        <a:t>10</a:t>
                      </a:r>
                    </a:p>
                  </a:txBody>
                  <a:tcPr marL="91436" marR="91436"/>
                </a:tc>
                <a:tc>
                  <a:txBody>
                    <a:bodyPr/>
                    <a:lstStyle/>
                    <a:p>
                      <a:pPr algn="ctr"/>
                      <a:r>
                        <a:rPr lang="en-CA" dirty="0"/>
                        <a:t>IT</a:t>
                      </a:r>
                    </a:p>
                  </a:txBody>
                  <a:tcPr marL="91436" marR="91436"/>
                </a:tc>
                <a:extLst>
                  <a:ext uri="{0D108BD9-81ED-4DB2-BD59-A6C34878D82A}">
                    <a16:rowId xmlns:a16="http://schemas.microsoft.com/office/drawing/2014/main" val="10001"/>
                  </a:ext>
                </a:extLst>
              </a:tr>
            </a:tbl>
          </a:graphicData>
        </a:graphic>
      </p:graphicFrame>
      <p:sp>
        <p:nvSpPr>
          <p:cNvPr id="36" name="Snip Single Corner Rectangle 35">
            <a:extLst>
              <a:ext uri="{FF2B5EF4-FFF2-40B4-BE49-F238E27FC236}">
                <a16:creationId xmlns:a16="http://schemas.microsoft.com/office/drawing/2014/main" id="{DD738323-BDAF-FB52-F4F4-04A92547605B}"/>
              </a:ext>
            </a:extLst>
          </p:cNvPr>
          <p:cNvSpPr/>
          <p:nvPr/>
        </p:nvSpPr>
        <p:spPr bwMode="auto">
          <a:xfrm>
            <a:off x="227013" y="5557838"/>
            <a:ext cx="1092200" cy="431800"/>
          </a:xfrm>
          <a:prstGeom prst="snip1Rect">
            <a:avLst/>
          </a:prstGeom>
          <a:solidFill>
            <a:srgbClr val="FFFF00">
              <a:alpha val="30000"/>
            </a:srgbClr>
          </a:solidFill>
          <a:ln w="9525" cap="flat" cmpd="sng" algn="ctr">
            <a:solidFill>
              <a:srgbClr val="FFC000"/>
            </a:solidFill>
            <a:prstDash val="solid"/>
            <a:round/>
            <a:headEnd type="none" w="med" len="med"/>
            <a:tailEnd type="none" w="med" len="me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sz="2000" b="1"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Result:</a:t>
            </a:r>
          </a:p>
        </p:txBody>
      </p:sp>
      <p:sp>
        <p:nvSpPr>
          <p:cNvPr id="37" name="Snip Single Corner Rectangle 36">
            <a:extLst>
              <a:ext uri="{FF2B5EF4-FFF2-40B4-BE49-F238E27FC236}">
                <a16:creationId xmlns:a16="http://schemas.microsoft.com/office/drawing/2014/main" id="{BDA26E6A-1513-E722-67F0-1A06010E13D7}"/>
              </a:ext>
            </a:extLst>
          </p:cNvPr>
          <p:cNvSpPr/>
          <p:nvPr/>
        </p:nvSpPr>
        <p:spPr bwMode="auto">
          <a:xfrm>
            <a:off x="250825" y="3486150"/>
            <a:ext cx="830263" cy="431800"/>
          </a:xfrm>
          <a:prstGeom prst="snip1Rect">
            <a:avLst/>
          </a:prstGeom>
          <a:solidFill>
            <a:srgbClr val="FFFF00">
              <a:alpha val="30000"/>
            </a:srgbClr>
          </a:solidFill>
          <a:ln w="9525" cap="flat" cmpd="sng" algn="ctr">
            <a:solidFill>
              <a:srgbClr val="FFC000"/>
            </a:solidFill>
            <a:prstDash val="solid"/>
            <a:round/>
            <a:headEnd type="none" w="med" len="med"/>
            <a:tailEnd type="none" w="med" len="med"/>
          </a:ln>
          <a:effec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2000" b="1"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Run:</a:t>
            </a:r>
          </a:p>
        </p:txBody>
      </p:sp>
      <p:cxnSp>
        <p:nvCxnSpPr>
          <p:cNvPr id="38" name="Straight Arrow Connector 37">
            <a:extLst>
              <a:ext uri="{FF2B5EF4-FFF2-40B4-BE49-F238E27FC236}">
                <a16:creationId xmlns:a16="http://schemas.microsoft.com/office/drawing/2014/main" id="{E135C781-64A8-D3BE-EDDE-3DAEFEC0FAD0}"/>
              </a:ext>
            </a:extLst>
          </p:cNvPr>
          <p:cNvCxnSpPr>
            <a:cxnSpLocks noChangeShapeType="1"/>
          </p:cNvCxnSpPr>
          <p:nvPr/>
        </p:nvCxnSpPr>
        <p:spPr bwMode="auto">
          <a:xfrm flipV="1">
            <a:off x="3748088" y="2462213"/>
            <a:ext cx="1025525" cy="390525"/>
          </a:xfrm>
          <a:prstGeom prst="straightConnector1">
            <a:avLst/>
          </a:prstGeom>
          <a:noFill/>
          <a:ln w="25400"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9" name="Rectangle 38">
            <a:extLst>
              <a:ext uri="{FF2B5EF4-FFF2-40B4-BE49-F238E27FC236}">
                <a16:creationId xmlns:a16="http://schemas.microsoft.com/office/drawing/2014/main" id="{CD4E776C-4A5D-6160-F185-B8C3AD9EACED}"/>
              </a:ext>
            </a:extLst>
          </p:cNvPr>
          <p:cNvSpPr/>
          <p:nvPr/>
        </p:nvSpPr>
        <p:spPr bwMode="auto">
          <a:xfrm>
            <a:off x="1619250" y="5911850"/>
            <a:ext cx="288925" cy="360363"/>
          </a:xfrm>
          <a:prstGeom prst="rect">
            <a:avLst/>
          </a:prstGeom>
          <a:solidFill>
            <a:schemeClr val="accent4"/>
          </a:solidFill>
          <a:ln w="9525" cap="flat" cmpd="sng" algn="ctr">
            <a:solidFill>
              <a:schemeClr val="tx1"/>
            </a:solidFill>
            <a:prstDash val="solid"/>
            <a:round/>
            <a:headEnd type="none" w="med" len="med"/>
            <a:tailEnd type="none" w="med" len="me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1800" b="0" i="0" u="none" strike="noStrike" kern="1200" cap="none" spc="0" normalizeH="0" baseline="0" noProof="0" dirty="0">
                <a:ln>
                  <a:noFill/>
                </a:ln>
                <a:solidFill>
                  <a:srgbClr val="FFFFFF"/>
                </a:solidFill>
                <a:effectLst/>
                <a:uLnTx/>
                <a:uFillTx/>
                <a:latin typeface="Arial" charset="0"/>
                <a:ea typeface="+mn-ea"/>
                <a:cs typeface="Arial" panose="020B0604020202020204" pitchFamily="34" charset="0"/>
              </a:rPr>
              <a:t>1</a:t>
            </a:r>
          </a:p>
        </p:txBody>
      </p:sp>
      <p:graphicFrame>
        <p:nvGraphicFramePr>
          <p:cNvPr id="41" name="Table 40">
            <a:extLst>
              <a:ext uri="{FF2B5EF4-FFF2-40B4-BE49-F238E27FC236}">
                <a16:creationId xmlns:a16="http://schemas.microsoft.com/office/drawing/2014/main" id="{3F118497-095A-B234-F0AC-EA3C50381038}"/>
              </a:ext>
            </a:extLst>
          </p:cNvPr>
          <p:cNvGraphicFramePr>
            <a:graphicFrameLocks noGrp="1"/>
          </p:cNvGraphicFramePr>
          <p:nvPr/>
        </p:nvGraphicFramePr>
        <p:xfrm>
          <a:off x="4600575" y="1916113"/>
          <a:ext cx="3816350" cy="1112838"/>
        </p:xfrm>
        <a:graphic>
          <a:graphicData uri="http://schemas.openxmlformats.org/drawingml/2006/table">
            <a:tbl>
              <a:tblPr firstRow="1" bandRow="1">
                <a:tableStyleId>{C083E6E3-FA7D-4D7B-A595-EF9225AFEA82}</a:tableStyleId>
              </a:tblPr>
              <a:tblGrid>
                <a:gridCol w="1908175">
                  <a:extLst>
                    <a:ext uri="{9D8B030D-6E8A-4147-A177-3AD203B41FA5}">
                      <a16:colId xmlns:a16="http://schemas.microsoft.com/office/drawing/2014/main" val="20000"/>
                    </a:ext>
                  </a:extLst>
                </a:gridCol>
                <a:gridCol w="1908175">
                  <a:extLst>
                    <a:ext uri="{9D8B030D-6E8A-4147-A177-3AD203B41FA5}">
                      <a16:colId xmlns:a16="http://schemas.microsoft.com/office/drawing/2014/main" val="20001"/>
                    </a:ext>
                  </a:extLst>
                </a:gridCol>
              </a:tblGrid>
              <a:tr h="370946">
                <a:tc>
                  <a:txBody>
                    <a:bodyPr/>
                    <a:lstStyle/>
                    <a:p>
                      <a:pPr algn="ctr"/>
                      <a:r>
                        <a:rPr lang="en-CA" sz="1800" dirty="0" err="1"/>
                        <a:t>DepartmentId</a:t>
                      </a:r>
                      <a:endParaRPr lang="en-CA" sz="1800" dirty="0"/>
                    </a:p>
                  </a:txBody>
                  <a:tcPr marL="91438" marR="91438" marT="45733" marB="45733"/>
                </a:tc>
                <a:tc>
                  <a:txBody>
                    <a:bodyPr/>
                    <a:lstStyle/>
                    <a:p>
                      <a:pPr algn="ctr"/>
                      <a:r>
                        <a:rPr lang="en-CA" sz="1800" dirty="0"/>
                        <a:t>Name</a:t>
                      </a:r>
                    </a:p>
                  </a:txBody>
                  <a:tcPr marL="91438" marR="91438" marT="45733" marB="45733"/>
                </a:tc>
                <a:extLst>
                  <a:ext uri="{0D108BD9-81ED-4DB2-BD59-A6C34878D82A}">
                    <a16:rowId xmlns:a16="http://schemas.microsoft.com/office/drawing/2014/main" val="10000"/>
                  </a:ext>
                </a:extLst>
              </a:tr>
              <a:tr h="370946">
                <a:tc>
                  <a:txBody>
                    <a:bodyPr/>
                    <a:lstStyle/>
                    <a:p>
                      <a:pPr algn="ctr"/>
                      <a:r>
                        <a:rPr lang="en-CA" sz="1800" dirty="0"/>
                        <a:t>10</a:t>
                      </a:r>
                    </a:p>
                  </a:txBody>
                  <a:tcPr marL="91438" marR="91438" marT="45733" marB="45733"/>
                </a:tc>
                <a:tc>
                  <a:txBody>
                    <a:bodyPr/>
                    <a:lstStyle/>
                    <a:p>
                      <a:pPr algn="ctr"/>
                      <a:r>
                        <a:rPr lang="en-CA" sz="1800" dirty="0"/>
                        <a:t>IT</a:t>
                      </a:r>
                    </a:p>
                  </a:txBody>
                  <a:tcPr marL="91438" marR="91438" marT="45733" marB="45733"/>
                </a:tc>
                <a:extLst>
                  <a:ext uri="{0D108BD9-81ED-4DB2-BD59-A6C34878D82A}">
                    <a16:rowId xmlns:a16="http://schemas.microsoft.com/office/drawing/2014/main" val="10001"/>
                  </a:ext>
                </a:extLst>
              </a:tr>
              <a:tr h="370946">
                <a:tc>
                  <a:txBody>
                    <a:bodyPr/>
                    <a:lstStyle/>
                    <a:p>
                      <a:pPr algn="ctr"/>
                      <a:r>
                        <a:rPr lang="en-CA" sz="1800" dirty="0"/>
                        <a:t>15</a:t>
                      </a:r>
                    </a:p>
                  </a:txBody>
                  <a:tcPr marL="91438" marR="91438" marT="45733" marB="45733"/>
                </a:tc>
                <a:tc>
                  <a:txBody>
                    <a:bodyPr/>
                    <a:lstStyle/>
                    <a:p>
                      <a:pPr algn="ctr"/>
                      <a:r>
                        <a:rPr lang="en-CA" sz="1800" dirty="0"/>
                        <a:t>Finance</a:t>
                      </a:r>
                    </a:p>
                  </a:txBody>
                  <a:tcPr marL="91438" marR="91438" marT="45733" marB="45733"/>
                </a:tc>
                <a:extLst>
                  <a:ext uri="{0D108BD9-81ED-4DB2-BD59-A6C34878D82A}">
                    <a16:rowId xmlns:a16="http://schemas.microsoft.com/office/drawing/2014/main" val="10002"/>
                  </a:ext>
                </a:extLst>
              </a:tr>
            </a:tbl>
          </a:graphicData>
        </a:graphic>
      </p:graphicFrame>
      <p:sp>
        <p:nvSpPr>
          <p:cNvPr id="25" name="Snip Single Corner Rectangle 24">
            <a:extLst>
              <a:ext uri="{FF2B5EF4-FFF2-40B4-BE49-F238E27FC236}">
                <a16:creationId xmlns:a16="http://schemas.microsoft.com/office/drawing/2014/main" id="{1CB0F8F4-CDEC-5E83-BE1A-5073AB425C9C}"/>
              </a:ext>
            </a:extLst>
          </p:cNvPr>
          <p:cNvSpPr/>
          <p:nvPr/>
        </p:nvSpPr>
        <p:spPr>
          <a:xfrm>
            <a:off x="-36513" y="1125538"/>
            <a:ext cx="1439863" cy="400050"/>
          </a:xfrm>
          <a:prstGeom prst="snip1Rect">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anchor="ctr">
            <a:spAutoFit/>
          </a:bodyPr>
          <a:lstStyle/>
          <a:p>
            <a:pPr marL="342900" marR="0" lvl="0" indent="-342900" algn="just" defTabSz="914400" rtl="0" eaLnBrk="1" fontAlgn="base" latinLnBrk="0" hangingPunct="1">
              <a:lnSpc>
                <a:spcPct val="100000"/>
              </a:lnSpc>
              <a:spcBef>
                <a:spcPct val="20000"/>
              </a:spcBef>
              <a:spcAft>
                <a:spcPct val="0"/>
              </a:spcAft>
              <a:buClr>
                <a:srgbClr val="FF6600"/>
              </a:buClr>
              <a:buSzPct val="100000"/>
              <a:buFontTx/>
              <a:buNone/>
              <a:tabLst/>
              <a:defRPr/>
            </a:pPr>
            <a:r>
              <a:rPr kumimoji="0" lang="en-US" sz="1800" b="0" i="0" u="none" strike="noStrike" kern="1200" cap="none" spc="0" normalizeH="0" baseline="0" noProof="0" dirty="0">
                <a:ln>
                  <a:noFill/>
                </a:ln>
                <a:solidFill>
                  <a:srgbClr val="FFFFFF"/>
                </a:solidFill>
                <a:effectLst/>
                <a:uLnTx/>
                <a:uFillTx/>
                <a:latin typeface="Arial" pitchFamily="34" charset="0"/>
                <a:ea typeface="Times New Roman" pitchFamily="18" charset="0"/>
                <a:cs typeface="Arial" pitchFamily="34" charset="0"/>
              </a:rPr>
              <a:t>SELF JOIN</a:t>
            </a:r>
            <a:endParaRPr kumimoji="0" lang="en-GB" sz="1800" b="0" i="0" u="none" strike="noStrike" kern="0" cap="none" spc="0" normalizeH="0" baseline="0" noProof="0" dirty="0">
              <a:ln>
                <a:noFill/>
              </a:ln>
              <a:solidFill>
                <a:srgbClr val="2F2B20"/>
              </a:solidFill>
              <a:effectLst/>
              <a:uLnTx/>
              <a:uFillTx/>
              <a:latin typeface="Calibri"/>
              <a:ea typeface="+mn-ea"/>
              <a:cs typeface="+mn-cs"/>
            </a:endParaRPr>
          </a:p>
        </p:txBody>
      </p:sp>
      <p:sp>
        <p:nvSpPr>
          <p:cNvPr id="40" name="Rounded Rectangle 39">
            <a:extLst>
              <a:ext uri="{FF2B5EF4-FFF2-40B4-BE49-F238E27FC236}">
                <a16:creationId xmlns:a16="http://schemas.microsoft.com/office/drawing/2014/main" id="{6715FF96-34AE-96CA-F7FE-068FE9CDF4BB}"/>
              </a:ext>
            </a:extLst>
          </p:cNvPr>
          <p:cNvSpPr/>
          <p:nvPr/>
        </p:nvSpPr>
        <p:spPr bwMode="auto">
          <a:xfrm>
            <a:off x="1919288" y="3486150"/>
            <a:ext cx="6310312" cy="1814513"/>
          </a:xfrm>
          <a:prstGeom prst="roundRect">
            <a:avLst/>
          </a:prstGeom>
          <a:solidFill>
            <a:schemeClr val="accent6">
              <a:alpha val="30000"/>
            </a:schemeClr>
          </a:solidFill>
          <a:ln w="9525" cap="flat" cmpd="sng" algn="ctr">
            <a:solidFill>
              <a:schemeClr val="accent6"/>
            </a:solidFill>
            <a:prstDash val="solid"/>
            <a:round/>
            <a:headEnd type="none" w="med" len="med"/>
            <a:tailEnd type="none" w="med" len="med"/>
          </a:ln>
          <a:effectLst/>
        </p:spPr>
        <p:txBody>
          <a:bodyPr anchor="ctr" anchorCtr="1"/>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2600" b="0"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SELECT </a:t>
            </a:r>
            <a:r>
              <a:rPr kumimoji="0" lang="en-CA" sz="2600" b="0" i="0" u="none" strike="noStrike" kern="1200" cap="none" spc="0" normalizeH="0" baseline="0" noProof="0" dirty="0" err="1">
                <a:ln>
                  <a:noFill/>
                </a:ln>
                <a:solidFill>
                  <a:srgbClr val="2F2B20"/>
                </a:solidFill>
                <a:effectLst/>
                <a:uLnTx/>
                <a:uFillTx/>
                <a:latin typeface="Arial" panose="020B0604020202020204" pitchFamily="34" charset="0"/>
                <a:ea typeface="+mn-ea"/>
                <a:cs typeface="Arial" panose="020B0604020202020204" pitchFamily="34" charset="0"/>
              </a:rPr>
              <a:t>D.DepartmentId</a:t>
            </a:r>
            <a:r>
              <a:rPr kumimoji="0" lang="en-CA" sz="2600" b="0"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 </a:t>
            </a:r>
            <a:r>
              <a:rPr kumimoji="0" lang="en-CA" sz="2600" b="0" i="0" u="none" strike="noStrike" kern="1200" cap="none" spc="0" normalizeH="0" baseline="0" noProof="0" dirty="0" err="1">
                <a:ln>
                  <a:noFill/>
                </a:ln>
                <a:solidFill>
                  <a:srgbClr val="2F2B20"/>
                </a:solidFill>
                <a:effectLst/>
                <a:uLnTx/>
                <a:uFillTx/>
                <a:latin typeface="Arial" panose="020B0604020202020204" pitchFamily="34" charset="0"/>
                <a:ea typeface="+mn-ea"/>
                <a:cs typeface="Arial" panose="020B0604020202020204" pitchFamily="34" charset="0"/>
              </a:rPr>
              <a:t>D.Name</a:t>
            </a:r>
            <a:r>
              <a:rPr kumimoji="0" lang="en-CA" sz="2600" b="0"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 </a:t>
            </a:r>
            <a:r>
              <a:rPr kumimoji="0" lang="en-CA" sz="2600" b="0" i="0" u="none" strike="noStrike" kern="1200" cap="none" spc="0" normalizeH="0" baseline="0" noProof="0" dirty="0" err="1">
                <a:ln>
                  <a:noFill/>
                </a:ln>
                <a:solidFill>
                  <a:srgbClr val="2F2B20"/>
                </a:solidFill>
                <a:effectLst/>
                <a:uLnTx/>
                <a:uFillTx/>
                <a:latin typeface="Arial" panose="020B0604020202020204" pitchFamily="34" charset="0"/>
                <a:ea typeface="+mn-ea"/>
                <a:cs typeface="Arial" panose="020B0604020202020204" pitchFamily="34" charset="0"/>
              </a:rPr>
              <a:t>E.DepartmentId</a:t>
            </a:r>
            <a:r>
              <a:rPr kumimoji="0" lang="en-CA" sz="2600" b="0"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 </a:t>
            </a:r>
            <a:r>
              <a:rPr kumimoji="0" lang="en-CA" sz="2600" b="0" i="0" u="none" strike="noStrike" kern="1200" cap="none" spc="0" normalizeH="0" baseline="0" noProof="0" dirty="0" err="1">
                <a:ln>
                  <a:noFill/>
                </a:ln>
                <a:solidFill>
                  <a:srgbClr val="2F2B20"/>
                </a:solidFill>
                <a:effectLst/>
                <a:uLnTx/>
                <a:uFillTx/>
                <a:latin typeface="Arial" panose="020B0604020202020204" pitchFamily="34" charset="0"/>
                <a:ea typeface="+mn-ea"/>
                <a:cs typeface="Arial" panose="020B0604020202020204" pitchFamily="34" charset="0"/>
              </a:rPr>
              <a:t>E.Name</a:t>
            </a:r>
            <a:r>
              <a:rPr kumimoji="0" lang="en-CA" sz="2600" b="0"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 FROM Department D, Department E WHERE </a:t>
            </a:r>
            <a:r>
              <a:rPr kumimoji="0" lang="en-CA" sz="2600" b="0" i="0" u="none" strike="noStrike" kern="1200" cap="none" spc="0" normalizeH="0" baseline="0" noProof="0" dirty="0" err="1">
                <a:ln>
                  <a:noFill/>
                </a:ln>
                <a:solidFill>
                  <a:srgbClr val="2F2B20"/>
                </a:solidFill>
                <a:effectLst/>
                <a:uLnTx/>
                <a:uFillTx/>
                <a:latin typeface="Arial" panose="020B0604020202020204" pitchFamily="34" charset="0"/>
                <a:ea typeface="+mn-ea"/>
                <a:cs typeface="Arial" panose="020B0604020202020204" pitchFamily="34" charset="0"/>
              </a:rPr>
              <a:t>D.DepartmentId</a:t>
            </a:r>
            <a:r>
              <a:rPr kumimoji="0" lang="en-CA" sz="2600" b="0"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 &gt; </a:t>
            </a:r>
            <a:r>
              <a:rPr kumimoji="0" lang="en-CA" sz="2600" b="0" i="0" u="none" strike="noStrike" kern="1200" cap="none" spc="0" normalizeH="0" baseline="0" noProof="0" dirty="0" err="1">
                <a:ln>
                  <a:noFill/>
                </a:ln>
                <a:solidFill>
                  <a:srgbClr val="2F2B20"/>
                </a:solidFill>
                <a:effectLst/>
                <a:uLnTx/>
                <a:uFillTx/>
                <a:latin typeface="Arial" panose="020B0604020202020204" pitchFamily="34" charset="0"/>
                <a:ea typeface="+mn-ea"/>
                <a:cs typeface="Arial" panose="020B0604020202020204" pitchFamily="34" charset="0"/>
              </a:rPr>
              <a:t>E.DepartmentId</a:t>
            </a:r>
            <a:r>
              <a:rPr kumimoji="0" lang="en-CA" sz="2600" b="0"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a:t>
            </a:r>
          </a:p>
        </p:txBody>
      </p:sp>
      <p:grpSp>
        <p:nvGrpSpPr>
          <p:cNvPr id="3" name="Group 12">
            <a:extLst>
              <a:ext uri="{FF2B5EF4-FFF2-40B4-BE49-F238E27FC236}">
                <a16:creationId xmlns:a16="http://schemas.microsoft.com/office/drawing/2014/main" id="{13F484E2-E41F-3C3B-8D33-EE413014EE56}"/>
              </a:ext>
            </a:extLst>
          </p:cNvPr>
          <p:cNvGrpSpPr>
            <a:grpSpLocks/>
          </p:cNvGrpSpPr>
          <p:nvPr/>
        </p:nvGrpSpPr>
        <p:grpSpPr bwMode="auto">
          <a:xfrm>
            <a:off x="381000" y="4191000"/>
            <a:ext cx="5943600" cy="1200150"/>
            <a:chOff x="251520" y="4149080"/>
            <a:chExt cx="6480720" cy="1200329"/>
          </a:xfrm>
        </p:grpSpPr>
        <p:grpSp>
          <p:nvGrpSpPr>
            <p:cNvPr id="65580" name="Group 21">
              <a:extLst>
                <a:ext uri="{FF2B5EF4-FFF2-40B4-BE49-F238E27FC236}">
                  <a16:creationId xmlns:a16="http://schemas.microsoft.com/office/drawing/2014/main" id="{D483E018-D914-159B-23CA-635F0683EF82}"/>
                </a:ext>
              </a:extLst>
            </p:cNvPr>
            <p:cNvGrpSpPr>
              <a:grpSpLocks/>
            </p:cNvGrpSpPr>
            <p:nvPr/>
          </p:nvGrpSpPr>
          <p:grpSpPr bwMode="auto">
            <a:xfrm>
              <a:off x="251520" y="4149080"/>
              <a:ext cx="4066480" cy="1200329"/>
              <a:chOff x="4958614" y="6491019"/>
              <a:chExt cx="4066480" cy="1200329"/>
            </a:xfrm>
          </p:grpSpPr>
          <p:sp>
            <p:nvSpPr>
              <p:cNvPr id="23" name="TextBox 22">
                <a:extLst>
                  <a:ext uri="{FF2B5EF4-FFF2-40B4-BE49-F238E27FC236}">
                    <a16:creationId xmlns:a16="http://schemas.microsoft.com/office/drawing/2014/main" id="{E269D10E-C250-7F37-8EFA-84D577B5867F}"/>
                  </a:ext>
                </a:extLst>
              </p:cNvPr>
              <p:cNvSpPr txBox="1"/>
              <p:nvPr/>
            </p:nvSpPr>
            <p:spPr>
              <a:xfrm>
                <a:off x="4958614" y="6491019"/>
                <a:ext cx="1459201" cy="1200329"/>
              </a:xfrm>
              <a:prstGeom prst="rect">
                <a:avLst/>
              </a:prstGeom>
              <a:ln/>
            </p:spPr>
            <p:style>
              <a:lnRef idx="1">
                <a:schemeClr val="accent5"/>
              </a:lnRef>
              <a:fillRef idx="2">
                <a:schemeClr val="accent5"/>
              </a:fillRef>
              <a:effectRef idx="1">
                <a:schemeClr val="accent5"/>
              </a:effectRef>
              <a:fontRef idx="minor">
                <a:schemeClr val="dk1"/>
              </a:fontRef>
            </p:style>
            <p:txBody>
              <a:bodyP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sz="1800" b="0" i="0" u="none" strike="noStrike" kern="1200" cap="none" spc="0" normalizeH="0" baseline="0" noProof="0" dirty="0">
                    <a:ln>
                      <a:noFill/>
                    </a:ln>
                    <a:solidFill>
                      <a:srgbClr val="2F2B20"/>
                    </a:solidFill>
                    <a:effectLst/>
                    <a:uLnTx/>
                    <a:uFillTx/>
                    <a:latin typeface="Calibri"/>
                    <a:ea typeface="+mn-ea"/>
                    <a:cs typeface="+mn-cs"/>
                  </a:rPr>
                  <a:t>Left table is called D, right table is called E</a:t>
                </a:r>
              </a:p>
            </p:txBody>
          </p:sp>
          <p:cxnSp>
            <p:nvCxnSpPr>
              <p:cNvPr id="24" name="Straight Arrow Connector 23">
                <a:extLst>
                  <a:ext uri="{FF2B5EF4-FFF2-40B4-BE49-F238E27FC236}">
                    <a16:creationId xmlns:a16="http://schemas.microsoft.com/office/drawing/2014/main" id="{6379F853-B052-8100-E995-03B9A5DEA33F}"/>
                  </a:ext>
                </a:extLst>
              </p:cNvPr>
              <p:cNvCxnSpPr>
                <a:stCxn id="23" idx="3"/>
              </p:cNvCxnSpPr>
              <p:nvPr/>
            </p:nvCxnSpPr>
            <p:spPr bwMode="auto">
              <a:xfrm flipV="1">
                <a:off x="6417815" y="6964165"/>
                <a:ext cx="2606828" cy="127019"/>
              </a:xfrm>
              <a:prstGeom prst="straightConnector1">
                <a:avLst/>
              </a:prstGeom>
              <a:ln>
                <a:headEnd type="none" w="med" len="med"/>
                <a:tailEnd type="triangle"/>
              </a:ln>
            </p:spPr>
            <p:style>
              <a:lnRef idx="1">
                <a:schemeClr val="accent5"/>
              </a:lnRef>
              <a:fillRef idx="2">
                <a:schemeClr val="accent5"/>
              </a:fillRef>
              <a:effectRef idx="1">
                <a:schemeClr val="accent5"/>
              </a:effectRef>
              <a:fontRef idx="minor">
                <a:schemeClr val="dk1"/>
              </a:fontRef>
            </p:style>
          </p:cxnSp>
        </p:grpSp>
        <p:cxnSp>
          <p:nvCxnSpPr>
            <p:cNvPr id="29" name="Straight Arrow Connector 28">
              <a:extLst>
                <a:ext uri="{FF2B5EF4-FFF2-40B4-BE49-F238E27FC236}">
                  <a16:creationId xmlns:a16="http://schemas.microsoft.com/office/drawing/2014/main" id="{74EC429A-AFFA-7A09-80DD-709A5C802D85}"/>
                </a:ext>
              </a:extLst>
            </p:cNvPr>
            <p:cNvCxnSpPr/>
            <p:nvPr/>
          </p:nvCxnSpPr>
          <p:spPr bwMode="auto">
            <a:xfrm flipV="1">
              <a:off x="1764380" y="4665095"/>
              <a:ext cx="4967860" cy="84150"/>
            </a:xfrm>
            <a:prstGeom prst="straightConnector1">
              <a:avLst/>
            </a:prstGeom>
            <a:ln>
              <a:headEnd type="none" w="med" len="med"/>
              <a:tailEnd type="triangle"/>
            </a:ln>
          </p:spPr>
          <p:style>
            <a:lnRef idx="1">
              <a:schemeClr val="accent5"/>
            </a:lnRef>
            <a:fillRef idx="2">
              <a:schemeClr val="accent5"/>
            </a:fillRef>
            <a:effectRef idx="1">
              <a:schemeClr val="accent5"/>
            </a:effectRef>
            <a:fontRef idx="minor">
              <a:schemeClr val="dk1"/>
            </a:fontRef>
          </p:style>
        </p:cxnSp>
      </p:gr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wipe(up)">
                                      <p:cBhvr>
                                        <p:cTn id="7" dur="500"/>
                                        <p:tgtEl>
                                          <p:spTgt spid="32"/>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3"/>
                                        </p:tgtEl>
                                        <p:attrNameLst>
                                          <p:attrName>style.visibility</p:attrName>
                                        </p:attrNameLst>
                                      </p:cBhvr>
                                      <p:to>
                                        <p:strVal val="visible"/>
                                      </p:to>
                                    </p:set>
                                    <p:animEffect transition="in" filter="wipe(left)">
                                      <p:cBhvr>
                                        <p:cTn id="11" dur="500"/>
                                        <p:tgtEl>
                                          <p:spTgt spid="33"/>
                                        </p:tgtEl>
                                      </p:cBhvr>
                                    </p:animEffect>
                                  </p:childTnLst>
                                </p:cTn>
                              </p:par>
                            </p:childTnLst>
                          </p:cTn>
                        </p:par>
                        <p:par>
                          <p:cTn id="12" fill="hold" nodeType="afterGroup">
                            <p:stCondLst>
                              <p:cond delay="1000"/>
                            </p:stCondLst>
                            <p:childTnLst>
                              <p:par>
                                <p:cTn id="13" presetID="22" presetClass="entr" presetSubtype="1" fill="hold" nodeType="afterEffect">
                                  <p:stCondLst>
                                    <p:cond delay="0"/>
                                  </p:stCondLst>
                                  <p:childTnLst>
                                    <p:set>
                                      <p:cBhvr>
                                        <p:cTn id="14" dur="1" fill="hold">
                                          <p:stCondLst>
                                            <p:cond delay="0"/>
                                          </p:stCondLst>
                                        </p:cTn>
                                        <p:tgtEl>
                                          <p:spTgt spid="41"/>
                                        </p:tgtEl>
                                        <p:attrNameLst>
                                          <p:attrName>style.visibility</p:attrName>
                                        </p:attrNameLst>
                                      </p:cBhvr>
                                      <p:to>
                                        <p:strVal val="visible"/>
                                      </p:to>
                                    </p:set>
                                    <p:animEffect transition="in" filter="wipe(up)">
                                      <p:cBhvr>
                                        <p:cTn id="15" dur="500"/>
                                        <p:tgtEl>
                                          <p:spTgt spid="41"/>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4"/>
                                        </p:tgtEl>
                                        <p:attrNameLst>
                                          <p:attrName>style.visibility</p:attrName>
                                        </p:attrNameLst>
                                      </p:cBhvr>
                                      <p:to>
                                        <p:strVal val="visible"/>
                                      </p:to>
                                    </p:set>
                                    <p:animEffect transition="in" filter="wipe(left)">
                                      <p:cBhvr>
                                        <p:cTn id="19" dur="500"/>
                                        <p:tgtEl>
                                          <p:spTgt spid="34"/>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37"/>
                                        </p:tgtEl>
                                        <p:attrNameLst>
                                          <p:attrName>style.visibility</p:attrName>
                                        </p:attrNameLst>
                                      </p:cBhvr>
                                      <p:to>
                                        <p:strVal val="visible"/>
                                      </p:to>
                                    </p:set>
                                    <p:animEffect transition="in" filter="wipe(up)">
                                      <p:cBhvr>
                                        <p:cTn id="24" dur="500"/>
                                        <p:tgtEl>
                                          <p:spTgt spid="37"/>
                                        </p:tgtEl>
                                      </p:cBhvr>
                                    </p:animEffect>
                                  </p:childTnLst>
                                </p:cTn>
                              </p:par>
                            </p:childTnLst>
                          </p:cTn>
                        </p:par>
                        <p:par>
                          <p:cTn id="25" fill="hold" nodeType="afterGroup">
                            <p:stCondLst>
                              <p:cond delay="500"/>
                            </p:stCondLst>
                            <p:childTnLst>
                              <p:par>
                                <p:cTn id="26" presetID="22" presetClass="entr" presetSubtype="8" fill="hold" nodeType="afterEffect">
                                  <p:stCondLst>
                                    <p:cond delay="0"/>
                                  </p:stCondLst>
                                  <p:childTnLst>
                                    <p:set>
                                      <p:cBhvr>
                                        <p:cTn id="27" dur="1" fill="hold">
                                          <p:stCondLst>
                                            <p:cond delay="0"/>
                                          </p:stCondLst>
                                        </p:cTn>
                                        <p:tgtEl>
                                          <p:spTgt spid="37">
                                            <p:txEl>
                                              <p:pRg st="0" end="0"/>
                                            </p:txEl>
                                          </p:spTgt>
                                        </p:tgtEl>
                                        <p:attrNameLst>
                                          <p:attrName>style.visibility</p:attrName>
                                        </p:attrNameLst>
                                      </p:cBhvr>
                                      <p:to>
                                        <p:strVal val="visible"/>
                                      </p:to>
                                    </p:set>
                                    <p:animEffect transition="in" filter="wipe(left)">
                                      <p:cBhvr>
                                        <p:cTn id="28" dur="500"/>
                                        <p:tgtEl>
                                          <p:spTgt spid="37">
                                            <p:txEl>
                                              <p:pRg st="0" end="0"/>
                                            </p:txEl>
                                          </p:spTgt>
                                        </p:tgtEl>
                                      </p:cBhvr>
                                    </p:animEffect>
                                  </p:childTnLst>
                                </p:cTn>
                              </p:par>
                            </p:childTnLst>
                          </p:cTn>
                        </p:par>
                        <p:par>
                          <p:cTn id="29" fill="hold" nodeType="afterGroup">
                            <p:stCondLst>
                              <p:cond delay="1000"/>
                            </p:stCondLst>
                            <p:childTnLst>
                              <p:par>
                                <p:cTn id="30" presetID="16" presetClass="entr" presetSubtype="21" fill="hold" grpId="0" nodeType="afterEffect">
                                  <p:stCondLst>
                                    <p:cond delay="0"/>
                                  </p:stCondLst>
                                  <p:childTnLst>
                                    <p:set>
                                      <p:cBhvr>
                                        <p:cTn id="31" dur="1" fill="hold">
                                          <p:stCondLst>
                                            <p:cond delay="0"/>
                                          </p:stCondLst>
                                        </p:cTn>
                                        <p:tgtEl>
                                          <p:spTgt spid="40"/>
                                        </p:tgtEl>
                                        <p:attrNameLst>
                                          <p:attrName>style.visibility</p:attrName>
                                        </p:attrNameLst>
                                      </p:cBhvr>
                                      <p:to>
                                        <p:strVal val="visible"/>
                                      </p:to>
                                    </p:set>
                                    <p:animEffect transition="in" filter="barn(inVertical)">
                                      <p:cBhvr>
                                        <p:cTn id="32" dur="500"/>
                                        <p:tgtEl>
                                          <p:spTgt spid="4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nodeType="clickEffect">
                                  <p:stCondLst>
                                    <p:cond delay="0"/>
                                  </p:stCondLst>
                                  <p:childTnLst>
                                    <p:set>
                                      <p:cBhvr>
                                        <p:cTn id="36" dur="1" fill="hold">
                                          <p:stCondLst>
                                            <p:cond delay="0"/>
                                          </p:stCondLst>
                                        </p:cTn>
                                        <p:tgtEl>
                                          <p:spTgt spid="3"/>
                                        </p:tgtEl>
                                        <p:attrNameLst>
                                          <p:attrName>style.visibility</p:attrName>
                                        </p:attrNameLst>
                                      </p:cBhvr>
                                      <p:to>
                                        <p:strVal val="visible"/>
                                      </p:to>
                                    </p:set>
                                    <p:anim calcmode="lin" valueType="num">
                                      <p:cBhvr additive="base">
                                        <p:cTn id="37" dur="500" fill="hold"/>
                                        <p:tgtEl>
                                          <p:spTgt spid="3"/>
                                        </p:tgtEl>
                                        <p:attrNameLst>
                                          <p:attrName>ppt_x</p:attrName>
                                        </p:attrNameLst>
                                      </p:cBhvr>
                                      <p:tavLst>
                                        <p:tav tm="0">
                                          <p:val>
                                            <p:strVal val="#ppt_x"/>
                                          </p:val>
                                        </p:tav>
                                        <p:tav tm="100000">
                                          <p:val>
                                            <p:strVal val="#ppt_x"/>
                                          </p:val>
                                        </p:tav>
                                      </p:tavLst>
                                    </p:anim>
                                    <p:anim calcmode="lin" valueType="num">
                                      <p:cBhvr additive="base">
                                        <p:cTn id="3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1" fill="hold" grpId="0" nodeType="clickEffect">
                                  <p:stCondLst>
                                    <p:cond delay="0"/>
                                  </p:stCondLst>
                                  <p:childTnLst>
                                    <p:set>
                                      <p:cBhvr>
                                        <p:cTn id="42" dur="1" fill="hold">
                                          <p:stCondLst>
                                            <p:cond delay="0"/>
                                          </p:stCondLst>
                                        </p:cTn>
                                        <p:tgtEl>
                                          <p:spTgt spid="36"/>
                                        </p:tgtEl>
                                        <p:attrNameLst>
                                          <p:attrName>style.visibility</p:attrName>
                                        </p:attrNameLst>
                                      </p:cBhvr>
                                      <p:to>
                                        <p:strVal val="visible"/>
                                      </p:to>
                                    </p:set>
                                    <p:animEffect transition="in" filter="wipe(up)">
                                      <p:cBhvr>
                                        <p:cTn id="43" dur="500"/>
                                        <p:tgtEl>
                                          <p:spTgt spid="36"/>
                                        </p:tgtEl>
                                      </p:cBhvr>
                                    </p:animEffect>
                                  </p:childTnLst>
                                </p:cTn>
                              </p:par>
                            </p:childTnLst>
                          </p:cTn>
                        </p:par>
                        <p:par>
                          <p:cTn id="44" fill="hold" nodeType="afterGroup">
                            <p:stCondLst>
                              <p:cond delay="500"/>
                            </p:stCondLst>
                            <p:childTnLst>
                              <p:par>
                                <p:cTn id="45" presetID="22" presetClass="entr" presetSubtype="8" fill="hold" nodeType="afterEffect">
                                  <p:stCondLst>
                                    <p:cond delay="0"/>
                                  </p:stCondLst>
                                  <p:childTnLst>
                                    <p:set>
                                      <p:cBhvr>
                                        <p:cTn id="46" dur="1" fill="hold">
                                          <p:stCondLst>
                                            <p:cond delay="0"/>
                                          </p:stCondLst>
                                        </p:cTn>
                                        <p:tgtEl>
                                          <p:spTgt spid="36">
                                            <p:txEl>
                                              <p:pRg st="0" end="0"/>
                                            </p:txEl>
                                          </p:spTgt>
                                        </p:tgtEl>
                                        <p:attrNameLst>
                                          <p:attrName>style.visibility</p:attrName>
                                        </p:attrNameLst>
                                      </p:cBhvr>
                                      <p:to>
                                        <p:strVal val="visible"/>
                                      </p:to>
                                    </p:set>
                                    <p:animEffect transition="in" filter="wipe(left)">
                                      <p:cBhvr>
                                        <p:cTn id="47" dur="500"/>
                                        <p:tgtEl>
                                          <p:spTgt spid="36">
                                            <p:txEl>
                                              <p:pRg st="0" end="0"/>
                                            </p:txEl>
                                          </p:spTgt>
                                        </p:tgtEl>
                                      </p:cBhvr>
                                    </p:animEffect>
                                  </p:childTnLst>
                                </p:cTn>
                              </p:par>
                            </p:childTnLst>
                          </p:cTn>
                        </p:par>
                        <p:par>
                          <p:cTn id="48" fill="hold" nodeType="afterGroup">
                            <p:stCondLst>
                              <p:cond delay="1000"/>
                            </p:stCondLst>
                            <p:childTnLst>
                              <p:par>
                                <p:cTn id="49" presetID="16" presetClass="entr" presetSubtype="21" fill="hold" nodeType="afterEffect">
                                  <p:stCondLst>
                                    <p:cond delay="0"/>
                                  </p:stCondLst>
                                  <p:childTnLst>
                                    <p:set>
                                      <p:cBhvr>
                                        <p:cTn id="50" dur="1" fill="hold">
                                          <p:stCondLst>
                                            <p:cond delay="0"/>
                                          </p:stCondLst>
                                        </p:cTn>
                                        <p:tgtEl>
                                          <p:spTgt spid="35"/>
                                        </p:tgtEl>
                                        <p:attrNameLst>
                                          <p:attrName>style.visibility</p:attrName>
                                        </p:attrNameLst>
                                      </p:cBhvr>
                                      <p:to>
                                        <p:strVal val="visible"/>
                                      </p:to>
                                    </p:set>
                                    <p:animEffect transition="in" filter="barn(inVertical)">
                                      <p:cBhvr>
                                        <p:cTn id="51" dur="500"/>
                                        <p:tgtEl>
                                          <p:spTgt spid="35"/>
                                        </p:tgtEl>
                                      </p:cBhvr>
                                    </p:animEffect>
                                  </p:childTnLst>
                                </p:cTn>
                              </p:par>
                            </p:childTnLst>
                          </p:cTn>
                        </p:par>
                        <p:par>
                          <p:cTn id="52" fill="hold" nodeType="afterGroup">
                            <p:stCondLst>
                              <p:cond delay="1500"/>
                            </p:stCondLst>
                            <p:childTnLst>
                              <p:par>
                                <p:cTn id="53" presetID="42" presetClass="entr" presetSubtype="0" fill="hold" grpId="0" nodeType="afterEffect">
                                  <p:stCondLst>
                                    <p:cond delay="0"/>
                                  </p:stCondLst>
                                  <p:childTnLst>
                                    <p:set>
                                      <p:cBhvr>
                                        <p:cTn id="54" dur="1" fill="hold">
                                          <p:stCondLst>
                                            <p:cond delay="0"/>
                                          </p:stCondLst>
                                        </p:cTn>
                                        <p:tgtEl>
                                          <p:spTgt spid="39"/>
                                        </p:tgtEl>
                                        <p:attrNameLst>
                                          <p:attrName>style.visibility</p:attrName>
                                        </p:attrNameLst>
                                      </p:cBhvr>
                                      <p:to>
                                        <p:strVal val="visible"/>
                                      </p:to>
                                    </p:set>
                                    <p:animEffect transition="in" filter="fade">
                                      <p:cBhvr>
                                        <p:cTn id="55" dur="1000"/>
                                        <p:tgtEl>
                                          <p:spTgt spid="39"/>
                                        </p:tgtEl>
                                      </p:cBhvr>
                                    </p:animEffect>
                                    <p:anim calcmode="lin" valueType="num">
                                      <p:cBhvr>
                                        <p:cTn id="56" dur="1000" fill="hold"/>
                                        <p:tgtEl>
                                          <p:spTgt spid="39"/>
                                        </p:tgtEl>
                                        <p:attrNameLst>
                                          <p:attrName>ppt_x</p:attrName>
                                        </p:attrNameLst>
                                      </p:cBhvr>
                                      <p:tavLst>
                                        <p:tav tm="0">
                                          <p:val>
                                            <p:strVal val="#ppt_x"/>
                                          </p:val>
                                        </p:tav>
                                        <p:tav tm="100000">
                                          <p:val>
                                            <p:strVal val="#ppt_x"/>
                                          </p:val>
                                        </p:tav>
                                      </p:tavLst>
                                    </p:anim>
                                    <p:anim calcmode="lin" valueType="num">
                                      <p:cBhvr>
                                        <p:cTn id="57" dur="1000" fill="hold"/>
                                        <p:tgtEl>
                                          <p:spTgt spid="3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seq concurrent="1" nextAc="seek">
              <p:cTn id="58" restart="whenNotActive" fill="hold" evtFilter="cancelBubble" nodeType="interactiveSeq">
                <p:stCondLst>
                  <p:cond evt="onClick" delay="0">
                    <p:tgtEl>
                      <p:spTgt spid="39"/>
                    </p:tgtEl>
                  </p:cond>
                </p:stCondLst>
                <p:endSync evt="end" delay="0">
                  <p:rtn val="all"/>
                </p:endSync>
                <p:childTnLst>
                  <p:par>
                    <p:cTn id="59" fill="hold" nodeType="clickPar">
                      <p:stCondLst>
                        <p:cond delay="0"/>
                      </p:stCondLst>
                      <p:childTnLst>
                        <p:par>
                          <p:cTn id="60" fill="hold" nodeType="withGroup">
                            <p:stCondLst>
                              <p:cond delay="0"/>
                            </p:stCondLst>
                            <p:childTnLst>
                              <p:par>
                                <p:cTn id="61" presetID="22" presetClass="entr" presetSubtype="8" fill="hold" nodeType="clickEffect">
                                  <p:stCondLst>
                                    <p:cond delay="0"/>
                                  </p:stCondLst>
                                  <p:childTnLst>
                                    <p:set>
                                      <p:cBhvr>
                                        <p:cTn id="62" dur="1" fill="hold">
                                          <p:stCondLst>
                                            <p:cond delay="0"/>
                                          </p:stCondLst>
                                        </p:cTn>
                                        <p:tgtEl>
                                          <p:spTgt spid="38"/>
                                        </p:tgtEl>
                                        <p:attrNameLst>
                                          <p:attrName>style.visibility</p:attrName>
                                        </p:attrNameLst>
                                      </p:cBhvr>
                                      <p:to>
                                        <p:strVal val="visible"/>
                                      </p:to>
                                    </p:set>
                                    <p:animEffect transition="in" filter="wipe(left)">
                                      <p:cBhvr>
                                        <p:cTn id="63" dur="500"/>
                                        <p:tgtEl>
                                          <p:spTgt spid="38"/>
                                        </p:tgtEl>
                                      </p:cBhvr>
                                    </p:animEffect>
                                  </p:childTnLst>
                                </p:cTn>
                              </p:par>
                            </p:childTnLst>
                          </p:cTn>
                        </p:par>
                      </p:childTnLst>
                    </p:cTn>
                  </p:par>
                </p:childTnLst>
              </p:cTn>
              <p:nextCondLst>
                <p:cond evt="onClick" delay="0">
                  <p:tgtEl>
                    <p:spTgt spid="39"/>
                  </p:tgtEl>
                </p:cond>
              </p:nextCondLst>
            </p:seq>
          </p:childTnLst>
        </p:cTn>
      </p:par>
    </p:tnLst>
    <p:bldLst>
      <p:bldP spid="33" grpId="0"/>
      <p:bldP spid="34" grpId="0"/>
      <p:bldP spid="36" grpId="0" animBg="1"/>
      <p:bldP spid="37" grpId="0" animBg="1"/>
      <p:bldP spid="39" grpId="0" animBg="1"/>
      <p:bldP spid="40" grpId="0" animBg="1"/>
    </p:bldLst>
  </p:timing>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2E2D40-4373-709A-CEA8-278AB8F55302}"/>
              </a:ext>
            </a:extLst>
          </p:cNvPr>
          <p:cNvSpPr>
            <a:spLocks noGrp="1"/>
          </p:cNvSpPr>
          <p:nvPr>
            <p:ph type="title"/>
          </p:nvPr>
        </p:nvSpPr>
        <p:spPr>
          <a:xfrm>
            <a:off x="457200" y="0"/>
            <a:ext cx="7620000" cy="1143000"/>
          </a:xfrm>
        </p:spPr>
        <p:txBody>
          <a:bodyPr/>
          <a:lstStyle/>
          <a:p>
            <a:pPr algn="ctr">
              <a:defRPr/>
            </a:pPr>
            <a:r>
              <a:rPr lang="en-US" dirty="0"/>
              <a:t>JOIN</a:t>
            </a:r>
            <a:endParaRPr lang="en-MY" dirty="0"/>
          </a:p>
        </p:txBody>
      </p:sp>
      <p:sp>
        <p:nvSpPr>
          <p:cNvPr id="14" name="Snip Single Corner Rectangle 13">
            <a:extLst>
              <a:ext uri="{FF2B5EF4-FFF2-40B4-BE49-F238E27FC236}">
                <a16:creationId xmlns:a16="http://schemas.microsoft.com/office/drawing/2014/main" id="{1DED0C21-E117-AC92-F0DA-BDF59FB2101C}"/>
              </a:ext>
            </a:extLst>
          </p:cNvPr>
          <p:cNvSpPr/>
          <p:nvPr/>
        </p:nvSpPr>
        <p:spPr>
          <a:xfrm>
            <a:off x="-36513" y="1125538"/>
            <a:ext cx="1944688" cy="400050"/>
          </a:xfrm>
          <a:prstGeom prst="snip1Rect">
            <a:avLst/>
          </a:prstGeom>
          <a:solidFill>
            <a:schemeClr val="accent6"/>
          </a:solidFill>
          <a:ln>
            <a:solidFill>
              <a:schemeClr val="accent6"/>
            </a:solidFill>
          </a:ln>
        </p:spPr>
        <p:style>
          <a:lnRef idx="1">
            <a:schemeClr val="accent1"/>
          </a:lnRef>
          <a:fillRef idx="3">
            <a:schemeClr val="accent1"/>
          </a:fillRef>
          <a:effectRef idx="2">
            <a:schemeClr val="accent1"/>
          </a:effectRef>
          <a:fontRef idx="minor">
            <a:schemeClr val="lt1"/>
          </a:fontRef>
        </p:style>
        <p:txBody>
          <a:bodyPr anchor="ctr">
            <a:spAutoFit/>
          </a:bodyPr>
          <a:lstStyle/>
          <a:p>
            <a:pPr marL="342900" marR="0" lvl="0" indent="-342900" algn="just" defTabSz="914400" rtl="0" eaLnBrk="1" fontAlgn="base" latinLnBrk="0" hangingPunct="1">
              <a:lnSpc>
                <a:spcPct val="100000"/>
              </a:lnSpc>
              <a:spcBef>
                <a:spcPct val="20000"/>
              </a:spcBef>
              <a:spcAft>
                <a:spcPct val="0"/>
              </a:spcAft>
              <a:buClr>
                <a:srgbClr val="FF6600"/>
              </a:buClr>
              <a:buSzPct val="100000"/>
              <a:buFontTx/>
              <a:buNone/>
              <a:tabLst/>
              <a:defRPr/>
            </a:pPr>
            <a:r>
              <a:rPr kumimoji="0" lang="en-US" sz="1800" b="0" i="0" u="none" strike="noStrike" kern="1200" cap="none" spc="0" normalizeH="0" baseline="0" noProof="0" dirty="0">
                <a:ln>
                  <a:noFill/>
                </a:ln>
                <a:solidFill>
                  <a:srgbClr val="FFFFFF"/>
                </a:solidFill>
                <a:effectLst/>
                <a:uLnTx/>
                <a:uFillTx/>
                <a:latin typeface="Arial" pitchFamily="34" charset="0"/>
                <a:ea typeface="Times New Roman" pitchFamily="18" charset="0"/>
                <a:cs typeface="Arial" pitchFamily="34" charset="0"/>
              </a:rPr>
              <a:t>MULTIPLE JOIN</a:t>
            </a:r>
            <a:endParaRPr kumimoji="0" lang="en-GB" sz="1800" b="0" i="0" u="none" strike="noStrike" kern="0" cap="none" spc="0" normalizeH="0" baseline="0" noProof="0" dirty="0">
              <a:ln>
                <a:noFill/>
              </a:ln>
              <a:solidFill>
                <a:srgbClr val="2F2B20"/>
              </a:solidFill>
              <a:effectLst/>
              <a:uLnTx/>
              <a:uFillTx/>
              <a:latin typeface="Calibri"/>
              <a:ea typeface="+mn-ea"/>
              <a:cs typeface="+mn-cs"/>
            </a:endParaRPr>
          </a:p>
        </p:txBody>
      </p:sp>
      <p:sp>
        <p:nvSpPr>
          <p:cNvPr id="15" name="Content Placeholder 2">
            <a:extLst>
              <a:ext uri="{FF2B5EF4-FFF2-40B4-BE49-F238E27FC236}">
                <a16:creationId xmlns:a16="http://schemas.microsoft.com/office/drawing/2014/main" id="{336CD34D-1DBE-7C1B-E575-2971B25E8E06}"/>
              </a:ext>
            </a:extLst>
          </p:cNvPr>
          <p:cNvSpPr txBox="1">
            <a:spLocks/>
          </p:cNvSpPr>
          <p:nvPr/>
        </p:nvSpPr>
        <p:spPr bwMode="auto">
          <a:xfrm>
            <a:off x="250825" y="1773238"/>
            <a:ext cx="8655050"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Multiple join is when we join more than two tables</a:t>
            </a: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24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For example</a:t>
            </a: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graphicFrame>
        <p:nvGraphicFramePr>
          <p:cNvPr id="22" name="Table 21">
            <a:extLst>
              <a:ext uri="{FF2B5EF4-FFF2-40B4-BE49-F238E27FC236}">
                <a16:creationId xmlns:a16="http://schemas.microsoft.com/office/drawing/2014/main" id="{DAA0ADA7-3B70-266A-E7B8-ED68DBD34E47}"/>
              </a:ext>
            </a:extLst>
          </p:cNvPr>
          <p:cNvGraphicFramePr>
            <a:graphicFrameLocks noGrp="1"/>
          </p:cNvGraphicFramePr>
          <p:nvPr/>
        </p:nvGraphicFramePr>
        <p:xfrm>
          <a:off x="76200" y="3275013"/>
          <a:ext cx="3816350" cy="1112838"/>
        </p:xfrm>
        <a:graphic>
          <a:graphicData uri="http://schemas.openxmlformats.org/drawingml/2006/table">
            <a:tbl>
              <a:tblPr firstRow="1" bandRow="1">
                <a:tableStyleId>{3B4B98B0-60AC-42C2-AFA5-B58CD77FA1E5}</a:tableStyleId>
              </a:tblPr>
              <a:tblGrid>
                <a:gridCol w="1908175">
                  <a:extLst>
                    <a:ext uri="{9D8B030D-6E8A-4147-A177-3AD203B41FA5}">
                      <a16:colId xmlns:a16="http://schemas.microsoft.com/office/drawing/2014/main" val="20000"/>
                    </a:ext>
                  </a:extLst>
                </a:gridCol>
                <a:gridCol w="1908175">
                  <a:extLst>
                    <a:ext uri="{9D8B030D-6E8A-4147-A177-3AD203B41FA5}">
                      <a16:colId xmlns:a16="http://schemas.microsoft.com/office/drawing/2014/main" val="20001"/>
                    </a:ext>
                  </a:extLst>
                </a:gridCol>
              </a:tblGrid>
              <a:tr h="370946">
                <a:tc>
                  <a:txBody>
                    <a:bodyPr/>
                    <a:lstStyle/>
                    <a:p>
                      <a:pPr algn="ctr"/>
                      <a:r>
                        <a:rPr lang="en-CA" sz="1800" dirty="0" err="1"/>
                        <a:t>ICNumber</a:t>
                      </a:r>
                      <a:endParaRPr lang="en-CA" sz="1800" dirty="0"/>
                    </a:p>
                  </a:txBody>
                  <a:tcPr marL="91438" marR="91438" marT="45733" marB="45733"/>
                </a:tc>
                <a:tc>
                  <a:txBody>
                    <a:bodyPr/>
                    <a:lstStyle/>
                    <a:p>
                      <a:pPr algn="ctr"/>
                      <a:r>
                        <a:rPr lang="en-CA" sz="1800" dirty="0" err="1"/>
                        <a:t>DepartmentId</a:t>
                      </a:r>
                      <a:endParaRPr lang="en-CA" sz="1800" dirty="0"/>
                    </a:p>
                  </a:txBody>
                  <a:tcPr marL="91438" marR="91438" marT="45733" marB="45733"/>
                </a:tc>
                <a:extLst>
                  <a:ext uri="{0D108BD9-81ED-4DB2-BD59-A6C34878D82A}">
                    <a16:rowId xmlns:a16="http://schemas.microsoft.com/office/drawing/2014/main" val="10000"/>
                  </a:ext>
                </a:extLst>
              </a:tr>
              <a:tr h="370946">
                <a:tc>
                  <a:txBody>
                    <a:bodyPr/>
                    <a:lstStyle/>
                    <a:p>
                      <a:pPr algn="ctr"/>
                      <a:r>
                        <a:rPr lang="en-CA" sz="1800" dirty="0"/>
                        <a:t>12345</a:t>
                      </a:r>
                    </a:p>
                  </a:txBody>
                  <a:tcPr marL="91438" marR="91438" marT="45733" marB="45733"/>
                </a:tc>
                <a:tc>
                  <a:txBody>
                    <a:bodyPr/>
                    <a:lstStyle/>
                    <a:p>
                      <a:pPr algn="ctr"/>
                      <a:r>
                        <a:rPr lang="en-CA" sz="1800" dirty="0"/>
                        <a:t>10</a:t>
                      </a:r>
                    </a:p>
                  </a:txBody>
                  <a:tcPr marL="91438" marR="91438" marT="45733" marB="45733"/>
                </a:tc>
                <a:extLst>
                  <a:ext uri="{0D108BD9-81ED-4DB2-BD59-A6C34878D82A}">
                    <a16:rowId xmlns:a16="http://schemas.microsoft.com/office/drawing/2014/main" val="10001"/>
                  </a:ext>
                </a:extLst>
              </a:tr>
              <a:tr h="370946">
                <a:tc>
                  <a:txBody>
                    <a:bodyPr/>
                    <a:lstStyle/>
                    <a:p>
                      <a:pPr algn="ctr"/>
                      <a:r>
                        <a:rPr lang="en-CA" sz="1800" dirty="0"/>
                        <a:t>54321</a:t>
                      </a:r>
                    </a:p>
                  </a:txBody>
                  <a:tcPr marL="91438" marR="91438" marT="45733" marB="45733"/>
                </a:tc>
                <a:tc>
                  <a:txBody>
                    <a:bodyPr/>
                    <a:lstStyle/>
                    <a:p>
                      <a:pPr algn="ctr"/>
                      <a:r>
                        <a:rPr lang="en-CA" sz="1800" dirty="0"/>
                        <a:t>NULL</a:t>
                      </a:r>
                    </a:p>
                  </a:txBody>
                  <a:tcPr marL="91438" marR="91438" marT="45733" marB="45733"/>
                </a:tc>
                <a:extLst>
                  <a:ext uri="{0D108BD9-81ED-4DB2-BD59-A6C34878D82A}">
                    <a16:rowId xmlns:a16="http://schemas.microsoft.com/office/drawing/2014/main" val="10002"/>
                  </a:ext>
                </a:extLst>
              </a:tr>
            </a:tbl>
          </a:graphicData>
        </a:graphic>
      </p:graphicFrame>
      <p:graphicFrame>
        <p:nvGraphicFramePr>
          <p:cNvPr id="23" name="Table 22">
            <a:extLst>
              <a:ext uri="{FF2B5EF4-FFF2-40B4-BE49-F238E27FC236}">
                <a16:creationId xmlns:a16="http://schemas.microsoft.com/office/drawing/2014/main" id="{373A0E42-39C3-D90A-A4DD-BF2457A4E6FB}"/>
              </a:ext>
            </a:extLst>
          </p:cNvPr>
          <p:cNvGraphicFramePr>
            <a:graphicFrameLocks noGrp="1"/>
          </p:cNvGraphicFramePr>
          <p:nvPr/>
        </p:nvGraphicFramePr>
        <p:xfrm>
          <a:off x="4613275" y="3275013"/>
          <a:ext cx="3816350" cy="1112838"/>
        </p:xfrm>
        <a:graphic>
          <a:graphicData uri="http://schemas.openxmlformats.org/drawingml/2006/table">
            <a:tbl>
              <a:tblPr firstRow="1" bandRow="1">
                <a:tableStyleId>{C083E6E3-FA7D-4D7B-A595-EF9225AFEA82}</a:tableStyleId>
              </a:tblPr>
              <a:tblGrid>
                <a:gridCol w="1908175">
                  <a:extLst>
                    <a:ext uri="{9D8B030D-6E8A-4147-A177-3AD203B41FA5}">
                      <a16:colId xmlns:a16="http://schemas.microsoft.com/office/drawing/2014/main" val="20000"/>
                    </a:ext>
                  </a:extLst>
                </a:gridCol>
                <a:gridCol w="1908175">
                  <a:extLst>
                    <a:ext uri="{9D8B030D-6E8A-4147-A177-3AD203B41FA5}">
                      <a16:colId xmlns:a16="http://schemas.microsoft.com/office/drawing/2014/main" val="20001"/>
                    </a:ext>
                  </a:extLst>
                </a:gridCol>
              </a:tblGrid>
              <a:tr h="370946">
                <a:tc>
                  <a:txBody>
                    <a:bodyPr/>
                    <a:lstStyle/>
                    <a:p>
                      <a:pPr algn="ctr"/>
                      <a:r>
                        <a:rPr lang="en-CA" sz="1800" dirty="0" err="1"/>
                        <a:t>DepartmentId</a:t>
                      </a:r>
                      <a:endParaRPr lang="en-CA" sz="1800" dirty="0"/>
                    </a:p>
                  </a:txBody>
                  <a:tcPr marL="91438" marR="91438" marT="45733" marB="45733"/>
                </a:tc>
                <a:tc>
                  <a:txBody>
                    <a:bodyPr/>
                    <a:lstStyle/>
                    <a:p>
                      <a:pPr algn="ctr"/>
                      <a:r>
                        <a:rPr lang="en-CA" sz="1800" dirty="0"/>
                        <a:t>Name</a:t>
                      </a:r>
                    </a:p>
                  </a:txBody>
                  <a:tcPr marL="91438" marR="91438" marT="45733" marB="45733"/>
                </a:tc>
                <a:extLst>
                  <a:ext uri="{0D108BD9-81ED-4DB2-BD59-A6C34878D82A}">
                    <a16:rowId xmlns:a16="http://schemas.microsoft.com/office/drawing/2014/main" val="10000"/>
                  </a:ext>
                </a:extLst>
              </a:tr>
              <a:tr h="370946">
                <a:tc>
                  <a:txBody>
                    <a:bodyPr/>
                    <a:lstStyle/>
                    <a:p>
                      <a:pPr algn="ctr"/>
                      <a:r>
                        <a:rPr lang="en-CA" sz="1800" dirty="0"/>
                        <a:t>10</a:t>
                      </a:r>
                    </a:p>
                  </a:txBody>
                  <a:tcPr marL="91438" marR="91438" marT="45733" marB="45733"/>
                </a:tc>
                <a:tc>
                  <a:txBody>
                    <a:bodyPr/>
                    <a:lstStyle/>
                    <a:p>
                      <a:pPr algn="ctr"/>
                      <a:r>
                        <a:rPr lang="en-CA" sz="1800" dirty="0"/>
                        <a:t>IT</a:t>
                      </a:r>
                    </a:p>
                  </a:txBody>
                  <a:tcPr marL="91438" marR="91438" marT="45733" marB="45733"/>
                </a:tc>
                <a:extLst>
                  <a:ext uri="{0D108BD9-81ED-4DB2-BD59-A6C34878D82A}">
                    <a16:rowId xmlns:a16="http://schemas.microsoft.com/office/drawing/2014/main" val="10001"/>
                  </a:ext>
                </a:extLst>
              </a:tr>
              <a:tr h="370946">
                <a:tc>
                  <a:txBody>
                    <a:bodyPr/>
                    <a:lstStyle/>
                    <a:p>
                      <a:pPr algn="ctr"/>
                      <a:r>
                        <a:rPr lang="en-CA" sz="1800" dirty="0"/>
                        <a:t>15</a:t>
                      </a:r>
                    </a:p>
                  </a:txBody>
                  <a:tcPr marL="91438" marR="91438" marT="45733" marB="45733"/>
                </a:tc>
                <a:tc>
                  <a:txBody>
                    <a:bodyPr/>
                    <a:lstStyle/>
                    <a:p>
                      <a:pPr algn="ctr"/>
                      <a:r>
                        <a:rPr lang="en-CA" sz="1800" dirty="0"/>
                        <a:t>Finance</a:t>
                      </a:r>
                    </a:p>
                  </a:txBody>
                  <a:tcPr marL="91438" marR="91438" marT="45733" marB="45733"/>
                </a:tc>
                <a:extLst>
                  <a:ext uri="{0D108BD9-81ED-4DB2-BD59-A6C34878D82A}">
                    <a16:rowId xmlns:a16="http://schemas.microsoft.com/office/drawing/2014/main" val="10002"/>
                  </a:ext>
                </a:extLst>
              </a:tr>
            </a:tbl>
          </a:graphicData>
        </a:graphic>
      </p:graphicFrame>
      <p:sp>
        <p:nvSpPr>
          <p:cNvPr id="24" name="TextBox 23">
            <a:extLst>
              <a:ext uri="{FF2B5EF4-FFF2-40B4-BE49-F238E27FC236}">
                <a16:creationId xmlns:a16="http://schemas.microsoft.com/office/drawing/2014/main" id="{00E1C88B-6277-0C21-4B6B-8E5E547F40A3}"/>
              </a:ext>
            </a:extLst>
          </p:cNvPr>
          <p:cNvSpPr txBox="1">
            <a:spLocks noChangeArrowheads="1"/>
          </p:cNvSpPr>
          <p:nvPr/>
        </p:nvSpPr>
        <p:spPr bwMode="auto">
          <a:xfrm>
            <a:off x="976313" y="4391025"/>
            <a:ext cx="20161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Employee table</a:t>
            </a:r>
          </a:p>
        </p:txBody>
      </p:sp>
      <p:sp>
        <p:nvSpPr>
          <p:cNvPr id="25" name="TextBox 24">
            <a:extLst>
              <a:ext uri="{FF2B5EF4-FFF2-40B4-BE49-F238E27FC236}">
                <a16:creationId xmlns:a16="http://schemas.microsoft.com/office/drawing/2014/main" id="{F418F43A-6FDF-8410-FC94-3AE0FF09C413}"/>
              </a:ext>
            </a:extLst>
          </p:cNvPr>
          <p:cNvSpPr txBox="1">
            <a:spLocks noChangeArrowheads="1"/>
          </p:cNvSpPr>
          <p:nvPr/>
        </p:nvSpPr>
        <p:spPr bwMode="auto">
          <a:xfrm>
            <a:off x="5513388" y="4391025"/>
            <a:ext cx="20145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Department Table</a:t>
            </a:r>
          </a:p>
        </p:txBody>
      </p:sp>
      <p:graphicFrame>
        <p:nvGraphicFramePr>
          <p:cNvPr id="26" name="Table 25">
            <a:extLst>
              <a:ext uri="{FF2B5EF4-FFF2-40B4-BE49-F238E27FC236}">
                <a16:creationId xmlns:a16="http://schemas.microsoft.com/office/drawing/2014/main" id="{71C60075-EDBA-AADB-A6A3-5BFB5C60877D}"/>
              </a:ext>
            </a:extLst>
          </p:cNvPr>
          <p:cNvGraphicFramePr>
            <a:graphicFrameLocks noGrp="1"/>
          </p:cNvGraphicFramePr>
          <p:nvPr/>
        </p:nvGraphicFramePr>
        <p:xfrm>
          <a:off x="2597150" y="4872038"/>
          <a:ext cx="3311526" cy="1112838"/>
        </p:xfrm>
        <a:graphic>
          <a:graphicData uri="http://schemas.openxmlformats.org/drawingml/2006/table">
            <a:tbl>
              <a:tblPr firstRow="1" bandRow="1">
                <a:tableStyleId>{0E3FDE45-AF77-4B5C-9715-49D594BDF05E}</a:tableStyleId>
              </a:tblPr>
              <a:tblGrid>
                <a:gridCol w="1655763">
                  <a:extLst>
                    <a:ext uri="{9D8B030D-6E8A-4147-A177-3AD203B41FA5}">
                      <a16:colId xmlns:a16="http://schemas.microsoft.com/office/drawing/2014/main" val="20000"/>
                    </a:ext>
                  </a:extLst>
                </a:gridCol>
                <a:gridCol w="1655763">
                  <a:extLst>
                    <a:ext uri="{9D8B030D-6E8A-4147-A177-3AD203B41FA5}">
                      <a16:colId xmlns:a16="http://schemas.microsoft.com/office/drawing/2014/main" val="20001"/>
                    </a:ext>
                  </a:extLst>
                </a:gridCol>
              </a:tblGrid>
              <a:tr h="370946">
                <a:tc>
                  <a:txBody>
                    <a:bodyPr/>
                    <a:lstStyle/>
                    <a:p>
                      <a:pPr algn="ctr"/>
                      <a:r>
                        <a:rPr lang="en-CA" sz="1800" dirty="0" err="1"/>
                        <a:t>ICNumber</a:t>
                      </a:r>
                      <a:endParaRPr lang="en-CA" sz="1800" dirty="0"/>
                    </a:p>
                  </a:txBody>
                  <a:tcPr marL="91424" marR="91424" marT="45733" marB="45733"/>
                </a:tc>
                <a:tc>
                  <a:txBody>
                    <a:bodyPr/>
                    <a:lstStyle/>
                    <a:p>
                      <a:pPr algn="ctr"/>
                      <a:r>
                        <a:rPr lang="en-CA" sz="1800" dirty="0"/>
                        <a:t>Salary</a:t>
                      </a:r>
                    </a:p>
                  </a:txBody>
                  <a:tcPr marL="91424" marR="91424" marT="45733" marB="45733"/>
                </a:tc>
                <a:extLst>
                  <a:ext uri="{0D108BD9-81ED-4DB2-BD59-A6C34878D82A}">
                    <a16:rowId xmlns:a16="http://schemas.microsoft.com/office/drawing/2014/main" val="10000"/>
                  </a:ext>
                </a:extLst>
              </a:tr>
              <a:tr h="370946">
                <a:tc>
                  <a:txBody>
                    <a:bodyPr/>
                    <a:lstStyle/>
                    <a:p>
                      <a:pPr algn="ctr"/>
                      <a:r>
                        <a:rPr lang="en-CA" sz="1800" dirty="0"/>
                        <a:t>12345</a:t>
                      </a:r>
                    </a:p>
                  </a:txBody>
                  <a:tcPr marL="91424" marR="91424" marT="45733" marB="45733"/>
                </a:tc>
                <a:tc>
                  <a:txBody>
                    <a:bodyPr/>
                    <a:lstStyle/>
                    <a:p>
                      <a:pPr algn="ctr"/>
                      <a:r>
                        <a:rPr lang="en-CA" sz="1800" dirty="0"/>
                        <a:t>3000</a:t>
                      </a:r>
                    </a:p>
                  </a:txBody>
                  <a:tcPr marL="91424" marR="91424" marT="45733" marB="45733"/>
                </a:tc>
                <a:extLst>
                  <a:ext uri="{0D108BD9-81ED-4DB2-BD59-A6C34878D82A}">
                    <a16:rowId xmlns:a16="http://schemas.microsoft.com/office/drawing/2014/main" val="10001"/>
                  </a:ext>
                </a:extLst>
              </a:tr>
              <a:tr h="370946">
                <a:tc>
                  <a:txBody>
                    <a:bodyPr/>
                    <a:lstStyle/>
                    <a:p>
                      <a:pPr algn="ctr"/>
                      <a:r>
                        <a:rPr lang="en-CA" sz="1800" dirty="0"/>
                        <a:t>54321</a:t>
                      </a:r>
                    </a:p>
                  </a:txBody>
                  <a:tcPr marL="91424" marR="91424" marT="45733" marB="45733"/>
                </a:tc>
                <a:tc>
                  <a:txBody>
                    <a:bodyPr/>
                    <a:lstStyle/>
                    <a:p>
                      <a:pPr algn="ctr"/>
                      <a:r>
                        <a:rPr lang="en-CA" sz="1800" dirty="0"/>
                        <a:t>3500</a:t>
                      </a:r>
                    </a:p>
                  </a:txBody>
                  <a:tcPr marL="91424" marR="91424" marT="45733" marB="45733"/>
                </a:tc>
                <a:extLst>
                  <a:ext uri="{0D108BD9-81ED-4DB2-BD59-A6C34878D82A}">
                    <a16:rowId xmlns:a16="http://schemas.microsoft.com/office/drawing/2014/main" val="10002"/>
                  </a:ext>
                </a:extLst>
              </a:tr>
            </a:tbl>
          </a:graphicData>
        </a:graphic>
      </p:graphicFrame>
      <p:sp>
        <p:nvSpPr>
          <p:cNvPr id="27" name="TextBox 26">
            <a:extLst>
              <a:ext uri="{FF2B5EF4-FFF2-40B4-BE49-F238E27FC236}">
                <a16:creationId xmlns:a16="http://schemas.microsoft.com/office/drawing/2014/main" id="{B6C9FC66-E1C0-F6D3-4E2B-1AE7A7666EE0}"/>
              </a:ext>
            </a:extLst>
          </p:cNvPr>
          <p:cNvSpPr txBox="1">
            <a:spLocks noChangeArrowheads="1"/>
          </p:cNvSpPr>
          <p:nvPr/>
        </p:nvSpPr>
        <p:spPr bwMode="auto">
          <a:xfrm>
            <a:off x="3244850" y="6000750"/>
            <a:ext cx="20161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Salary Table</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15">
                                            <p:txEl>
                                              <p:pRg st="0" end="0"/>
                                            </p:txEl>
                                          </p:spTgt>
                                        </p:tgtEl>
                                        <p:attrNameLst>
                                          <p:attrName>style.visibility</p:attrName>
                                        </p:attrNameLst>
                                      </p:cBhvr>
                                      <p:to>
                                        <p:strVal val="visible"/>
                                      </p:to>
                                    </p:set>
                                    <p:animEffect transition="in" filter="wipe(left)">
                                      <p:cBhvr>
                                        <p:cTn id="11" dur="500"/>
                                        <p:tgtEl>
                                          <p:spTgt spid="15">
                                            <p:txEl>
                                              <p:pRg st="0" end="0"/>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15">
                                            <p:txEl>
                                              <p:pRg st="2" end="2"/>
                                            </p:txEl>
                                          </p:spTgt>
                                        </p:tgtEl>
                                        <p:attrNameLst>
                                          <p:attrName>style.visibility</p:attrName>
                                        </p:attrNameLst>
                                      </p:cBhvr>
                                      <p:to>
                                        <p:strVal val="visible"/>
                                      </p:to>
                                    </p:set>
                                    <p:animEffect transition="in" filter="wipe(left)">
                                      <p:cBhvr>
                                        <p:cTn id="16" dur="500"/>
                                        <p:tgtEl>
                                          <p:spTgt spid="15">
                                            <p:txEl>
                                              <p:pRg st="2" end="2"/>
                                            </p:txEl>
                                          </p:spTgt>
                                        </p:tgtEl>
                                      </p:cBhvr>
                                    </p:animEffect>
                                  </p:childTnLst>
                                </p:cTn>
                              </p:par>
                            </p:childTnLst>
                          </p:cTn>
                        </p:par>
                        <p:par>
                          <p:cTn id="17" fill="hold" nodeType="afterGroup">
                            <p:stCondLst>
                              <p:cond delay="500"/>
                            </p:stCondLst>
                            <p:childTnLst>
                              <p:par>
                                <p:cTn id="18" presetID="22" presetClass="entr" presetSubtype="1" fill="hold" nodeType="afterEffect">
                                  <p:stCondLst>
                                    <p:cond delay="0"/>
                                  </p:stCondLst>
                                  <p:childTnLst>
                                    <p:set>
                                      <p:cBhvr>
                                        <p:cTn id="19" dur="1" fill="hold">
                                          <p:stCondLst>
                                            <p:cond delay="0"/>
                                          </p:stCondLst>
                                        </p:cTn>
                                        <p:tgtEl>
                                          <p:spTgt spid="22"/>
                                        </p:tgtEl>
                                        <p:attrNameLst>
                                          <p:attrName>style.visibility</p:attrName>
                                        </p:attrNameLst>
                                      </p:cBhvr>
                                      <p:to>
                                        <p:strVal val="visible"/>
                                      </p:to>
                                    </p:set>
                                    <p:animEffect transition="in" filter="wipe(up)">
                                      <p:cBhvr>
                                        <p:cTn id="20" dur="500"/>
                                        <p:tgtEl>
                                          <p:spTgt spid="22"/>
                                        </p:tgtEl>
                                      </p:cBhvr>
                                    </p:animEffect>
                                  </p:childTnLst>
                                </p:cTn>
                              </p:par>
                            </p:childTnLst>
                          </p:cTn>
                        </p:par>
                        <p:par>
                          <p:cTn id="21" fill="hold" nodeType="afterGroup">
                            <p:stCondLst>
                              <p:cond delay="1000"/>
                            </p:stCondLst>
                            <p:childTnLst>
                              <p:par>
                                <p:cTn id="22" presetID="22" presetClass="entr" presetSubtype="8" fill="hold" grpId="0" nodeType="afterEffect">
                                  <p:stCondLst>
                                    <p:cond delay="0"/>
                                  </p:stCondLst>
                                  <p:childTnLst>
                                    <p:set>
                                      <p:cBhvr>
                                        <p:cTn id="23" dur="1" fill="hold">
                                          <p:stCondLst>
                                            <p:cond delay="0"/>
                                          </p:stCondLst>
                                        </p:cTn>
                                        <p:tgtEl>
                                          <p:spTgt spid="24"/>
                                        </p:tgtEl>
                                        <p:attrNameLst>
                                          <p:attrName>style.visibility</p:attrName>
                                        </p:attrNameLst>
                                      </p:cBhvr>
                                      <p:to>
                                        <p:strVal val="visible"/>
                                      </p:to>
                                    </p:set>
                                    <p:animEffect transition="in" filter="wipe(left)">
                                      <p:cBhvr>
                                        <p:cTn id="24" dur="500"/>
                                        <p:tgtEl>
                                          <p:spTgt spid="24"/>
                                        </p:tgtEl>
                                      </p:cBhvr>
                                    </p:animEffect>
                                  </p:childTnLst>
                                </p:cTn>
                              </p:par>
                            </p:childTnLst>
                          </p:cTn>
                        </p:par>
                        <p:par>
                          <p:cTn id="25" fill="hold" nodeType="afterGroup">
                            <p:stCondLst>
                              <p:cond delay="1500"/>
                            </p:stCondLst>
                            <p:childTnLst>
                              <p:par>
                                <p:cTn id="26" presetID="22" presetClass="entr" presetSubtype="1" fill="hold" nodeType="afterEffect">
                                  <p:stCondLst>
                                    <p:cond delay="0"/>
                                  </p:stCondLst>
                                  <p:childTnLst>
                                    <p:set>
                                      <p:cBhvr>
                                        <p:cTn id="27" dur="1" fill="hold">
                                          <p:stCondLst>
                                            <p:cond delay="0"/>
                                          </p:stCondLst>
                                        </p:cTn>
                                        <p:tgtEl>
                                          <p:spTgt spid="23"/>
                                        </p:tgtEl>
                                        <p:attrNameLst>
                                          <p:attrName>style.visibility</p:attrName>
                                        </p:attrNameLst>
                                      </p:cBhvr>
                                      <p:to>
                                        <p:strVal val="visible"/>
                                      </p:to>
                                    </p:set>
                                    <p:animEffect transition="in" filter="wipe(up)">
                                      <p:cBhvr>
                                        <p:cTn id="28" dur="500"/>
                                        <p:tgtEl>
                                          <p:spTgt spid="23"/>
                                        </p:tgtEl>
                                      </p:cBhvr>
                                    </p:animEffect>
                                  </p:childTnLst>
                                </p:cTn>
                              </p:par>
                            </p:childTnLst>
                          </p:cTn>
                        </p:par>
                        <p:par>
                          <p:cTn id="29" fill="hold" nodeType="afterGroup">
                            <p:stCondLst>
                              <p:cond delay="2000"/>
                            </p:stCondLst>
                            <p:childTnLst>
                              <p:par>
                                <p:cTn id="30" presetID="22" presetClass="entr" presetSubtype="8" fill="hold" grpId="0" nodeType="after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wipe(left)">
                                      <p:cBhvr>
                                        <p:cTn id="32" dur="500"/>
                                        <p:tgtEl>
                                          <p:spTgt spid="25"/>
                                        </p:tgtEl>
                                      </p:cBhvr>
                                    </p:animEffect>
                                  </p:childTnLst>
                                </p:cTn>
                              </p:par>
                            </p:childTnLst>
                          </p:cTn>
                        </p:par>
                        <p:par>
                          <p:cTn id="33" fill="hold" nodeType="afterGroup">
                            <p:stCondLst>
                              <p:cond delay="2500"/>
                            </p:stCondLst>
                            <p:childTnLst>
                              <p:par>
                                <p:cTn id="34" presetID="22" presetClass="entr" presetSubtype="1" fill="hold" nodeType="afterEffect">
                                  <p:stCondLst>
                                    <p:cond delay="0"/>
                                  </p:stCondLst>
                                  <p:childTnLst>
                                    <p:set>
                                      <p:cBhvr>
                                        <p:cTn id="35" dur="1" fill="hold">
                                          <p:stCondLst>
                                            <p:cond delay="0"/>
                                          </p:stCondLst>
                                        </p:cTn>
                                        <p:tgtEl>
                                          <p:spTgt spid="26"/>
                                        </p:tgtEl>
                                        <p:attrNameLst>
                                          <p:attrName>style.visibility</p:attrName>
                                        </p:attrNameLst>
                                      </p:cBhvr>
                                      <p:to>
                                        <p:strVal val="visible"/>
                                      </p:to>
                                    </p:set>
                                    <p:animEffect transition="in" filter="wipe(up)">
                                      <p:cBhvr>
                                        <p:cTn id="36" dur="500"/>
                                        <p:tgtEl>
                                          <p:spTgt spid="26"/>
                                        </p:tgtEl>
                                      </p:cBhvr>
                                    </p:animEffect>
                                  </p:childTnLst>
                                </p:cTn>
                              </p:par>
                            </p:childTnLst>
                          </p:cTn>
                        </p:par>
                        <p:par>
                          <p:cTn id="37" fill="hold" nodeType="afterGroup">
                            <p:stCondLst>
                              <p:cond delay="3000"/>
                            </p:stCondLst>
                            <p:childTnLst>
                              <p:par>
                                <p:cTn id="38" presetID="22" presetClass="entr" presetSubtype="8" fill="hold" grpId="0" nodeType="afterEffect">
                                  <p:stCondLst>
                                    <p:cond delay="0"/>
                                  </p:stCondLst>
                                  <p:childTnLst>
                                    <p:set>
                                      <p:cBhvr>
                                        <p:cTn id="39" dur="1" fill="hold">
                                          <p:stCondLst>
                                            <p:cond delay="0"/>
                                          </p:stCondLst>
                                        </p:cTn>
                                        <p:tgtEl>
                                          <p:spTgt spid="27"/>
                                        </p:tgtEl>
                                        <p:attrNameLst>
                                          <p:attrName>style.visibility</p:attrName>
                                        </p:attrNameLst>
                                      </p:cBhvr>
                                      <p:to>
                                        <p:strVal val="visible"/>
                                      </p:to>
                                    </p:set>
                                    <p:animEffect transition="in" filter="wipe(left)">
                                      <p:cBhvr>
                                        <p:cTn id="4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24" grpId="0"/>
      <p:bldP spid="25" grpId="0"/>
      <p:bldP spid="27" grpId="0"/>
    </p:bldLst>
  </p:timing>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CCB844-3EE2-8371-98F9-0B76ACAFCFE7}"/>
              </a:ext>
            </a:extLst>
          </p:cNvPr>
          <p:cNvSpPr>
            <a:spLocks noGrp="1"/>
          </p:cNvSpPr>
          <p:nvPr>
            <p:ph type="title"/>
          </p:nvPr>
        </p:nvSpPr>
        <p:spPr>
          <a:xfrm>
            <a:off x="457200" y="0"/>
            <a:ext cx="7620000" cy="1143000"/>
          </a:xfrm>
        </p:spPr>
        <p:txBody>
          <a:bodyPr/>
          <a:lstStyle/>
          <a:p>
            <a:pPr algn="ctr">
              <a:defRPr/>
            </a:pPr>
            <a:r>
              <a:rPr lang="en-US" dirty="0"/>
              <a:t>JOIN</a:t>
            </a:r>
            <a:endParaRPr lang="en-MY" dirty="0"/>
          </a:p>
        </p:txBody>
      </p:sp>
      <p:graphicFrame>
        <p:nvGraphicFramePr>
          <p:cNvPr id="35" name="Table 34">
            <a:extLst>
              <a:ext uri="{FF2B5EF4-FFF2-40B4-BE49-F238E27FC236}">
                <a16:creationId xmlns:a16="http://schemas.microsoft.com/office/drawing/2014/main" id="{39C3EE08-7052-2873-C361-8FEC7B15E101}"/>
              </a:ext>
            </a:extLst>
          </p:cNvPr>
          <p:cNvGraphicFramePr>
            <a:graphicFrameLocks noGrp="1"/>
          </p:cNvGraphicFramePr>
          <p:nvPr/>
        </p:nvGraphicFramePr>
        <p:xfrm>
          <a:off x="1619250" y="5157788"/>
          <a:ext cx="5976938" cy="736600"/>
        </p:xfrm>
        <a:graphic>
          <a:graphicData uri="http://schemas.openxmlformats.org/drawingml/2006/table">
            <a:tbl>
              <a:tblPr firstRow="1" bandRow="1">
                <a:tableStyleId>{9D7B26C5-4107-4FEC-AEDC-1716B250A1EF}</a:tableStyleId>
              </a:tblPr>
              <a:tblGrid>
                <a:gridCol w="1992313">
                  <a:extLst>
                    <a:ext uri="{9D8B030D-6E8A-4147-A177-3AD203B41FA5}">
                      <a16:colId xmlns:a16="http://schemas.microsoft.com/office/drawing/2014/main" val="20000"/>
                    </a:ext>
                  </a:extLst>
                </a:gridCol>
                <a:gridCol w="1992313">
                  <a:extLst>
                    <a:ext uri="{9D8B030D-6E8A-4147-A177-3AD203B41FA5}">
                      <a16:colId xmlns:a16="http://schemas.microsoft.com/office/drawing/2014/main" val="20001"/>
                    </a:ext>
                  </a:extLst>
                </a:gridCol>
                <a:gridCol w="1992313">
                  <a:extLst>
                    <a:ext uri="{9D8B030D-6E8A-4147-A177-3AD203B41FA5}">
                      <a16:colId xmlns:a16="http://schemas.microsoft.com/office/drawing/2014/main" val="20002"/>
                    </a:ext>
                  </a:extLst>
                </a:gridCol>
              </a:tblGrid>
              <a:tr h="260564">
                <a:tc>
                  <a:txBody>
                    <a:bodyPr/>
                    <a:lstStyle/>
                    <a:p>
                      <a:pPr algn="ctr"/>
                      <a:r>
                        <a:rPr lang="en-CA" dirty="0" err="1"/>
                        <a:t>ICNumber</a:t>
                      </a:r>
                      <a:endParaRPr lang="en-CA" dirty="0"/>
                    </a:p>
                  </a:txBody>
                  <a:tcPr marL="91444" marR="91444"/>
                </a:tc>
                <a:tc>
                  <a:txBody>
                    <a:bodyPr/>
                    <a:lstStyle/>
                    <a:p>
                      <a:pPr algn="ctr"/>
                      <a:r>
                        <a:rPr lang="en-CA" dirty="0"/>
                        <a:t>Name</a:t>
                      </a:r>
                    </a:p>
                  </a:txBody>
                  <a:tcPr marL="91444" marR="91444"/>
                </a:tc>
                <a:tc>
                  <a:txBody>
                    <a:bodyPr/>
                    <a:lstStyle/>
                    <a:p>
                      <a:pPr algn="ctr"/>
                      <a:r>
                        <a:rPr lang="en-CA" dirty="0"/>
                        <a:t>Salary</a:t>
                      </a:r>
                    </a:p>
                  </a:txBody>
                  <a:tcPr marL="91444" marR="91444"/>
                </a:tc>
                <a:extLst>
                  <a:ext uri="{0D108BD9-81ED-4DB2-BD59-A6C34878D82A}">
                    <a16:rowId xmlns:a16="http://schemas.microsoft.com/office/drawing/2014/main" val="10000"/>
                  </a:ext>
                </a:extLst>
              </a:tr>
              <a:tr h="370840">
                <a:tc>
                  <a:txBody>
                    <a:bodyPr/>
                    <a:lstStyle/>
                    <a:p>
                      <a:pPr algn="ctr"/>
                      <a:r>
                        <a:rPr lang="en-CA" dirty="0"/>
                        <a:t>12345</a:t>
                      </a:r>
                    </a:p>
                  </a:txBody>
                  <a:tcPr marL="91444" marR="91444"/>
                </a:tc>
                <a:tc>
                  <a:txBody>
                    <a:bodyPr/>
                    <a:lstStyle/>
                    <a:p>
                      <a:pPr algn="ctr"/>
                      <a:r>
                        <a:rPr lang="en-CA" dirty="0"/>
                        <a:t>IT</a:t>
                      </a:r>
                    </a:p>
                  </a:txBody>
                  <a:tcPr marL="91444" marR="91444"/>
                </a:tc>
                <a:tc>
                  <a:txBody>
                    <a:bodyPr/>
                    <a:lstStyle/>
                    <a:p>
                      <a:pPr algn="ctr"/>
                      <a:r>
                        <a:rPr lang="en-CA" dirty="0"/>
                        <a:t>3000</a:t>
                      </a:r>
                    </a:p>
                  </a:txBody>
                  <a:tcPr marL="91444" marR="91444"/>
                </a:tc>
                <a:extLst>
                  <a:ext uri="{0D108BD9-81ED-4DB2-BD59-A6C34878D82A}">
                    <a16:rowId xmlns:a16="http://schemas.microsoft.com/office/drawing/2014/main" val="10001"/>
                  </a:ext>
                </a:extLst>
              </a:tr>
            </a:tbl>
          </a:graphicData>
        </a:graphic>
      </p:graphicFrame>
      <p:sp>
        <p:nvSpPr>
          <p:cNvPr id="36" name="Snip Single Corner Rectangle 35">
            <a:extLst>
              <a:ext uri="{FF2B5EF4-FFF2-40B4-BE49-F238E27FC236}">
                <a16:creationId xmlns:a16="http://schemas.microsoft.com/office/drawing/2014/main" id="{5A74D0F7-40D3-8A7F-4272-E38107D91188}"/>
              </a:ext>
            </a:extLst>
          </p:cNvPr>
          <p:cNvSpPr/>
          <p:nvPr/>
        </p:nvSpPr>
        <p:spPr bwMode="auto">
          <a:xfrm>
            <a:off x="227013" y="5165725"/>
            <a:ext cx="1092200" cy="431800"/>
          </a:xfrm>
          <a:prstGeom prst="snip1Rect">
            <a:avLst/>
          </a:prstGeom>
          <a:solidFill>
            <a:srgbClr val="FFFF00">
              <a:alpha val="30000"/>
            </a:srgbClr>
          </a:solidFill>
          <a:ln w="9525" cap="flat" cmpd="sng" algn="ctr">
            <a:solidFill>
              <a:srgbClr val="FFC000"/>
            </a:solidFill>
            <a:prstDash val="solid"/>
            <a:round/>
            <a:headEnd type="none" w="med" len="med"/>
            <a:tailEnd type="none" w="med" len="me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sz="2000" b="1"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Result:</a:t>
            </a:r>
          </a:p>
        </p:txBody>
      </p:sp>
      <p:sp>
        <p:nvSpPr>
          <p:cNvPr id="37" name="Snip Single Corner Rectangle 36">
            <a:extLst>
              <a:ext uri="{FF2B5EF4-FFF2-40B4-BE49-F238E27FC236}">
                <a16:creationId xmlns:a16="http://schemas.microsoft.com/office/drawing/2014/main" id="{9528391F-8CE5-E972-68BC-4DDD760D455D}"/>
              </a:ext>
            </a:extLst>
          </p:cNvPr>
          <p:cNvSpPr/>
          <p:nvPr/>
        </p:nvSpPr>
        <p:spPr bwMode="auto">
          <a:xfrm>
            <a:off x="250825" y="1916113"/>
            <a:ext cx="830263" cy="433387"/>
          </a:xfrm>
          <a:prstGeom prst="snip1Rect">
            <a:avLst/>
          </a:prstGeom>
          <a:solidFill>
            <a:srgbClr val="FFFF00">
              <a:alpha val="30000"/>
            </a:srgbClr>
          </a:solidFill>
          <a:ln w="9525" cap="flat" cmpd="sng" algn="ctr">
            <a:solidFill>
              <a:srgbClr val="FFC000"/>
            </a:solidFill>
            <a:prstDash val="solid"/>
            <a:round/>
            <a:headEnd type="none" w="med" len="med"/>
            <a:tailEnd type="none" w="med" len="med"/>
          </a:ln>
          <a:effec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2000" b="1"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Run:</a:t>
            </a:r>
          </a:p>
        </p:txBody>
      </p:sp>
      <p:sp>
        <p:nvSpPr>
          <p:cNvPr id="40" name="Rounded Rectangle 39">
            <a:extLst>
              <a:ext uri="{FF2B5EF4-FFF2-40B4-BE49-F238E27FC236}">
                <a16:creationId xmlns:a16="http://schemas.microsoft.com/office/drawing/2014/main" id="{386C09AB-800F-E1BE-C062-0796EC74A197}"/>
              </a:ext>
            </a:extLst>
          </p:cNvPr>
          <p:cNvSpPr/>
          <p:nvPr/>
        </p:nvSpPr>
        <p:spPr bwMode="auto">
          <a:xfrm>
            <a:off x="1143000" y="1916113"/>
            <a:ext cx="7173913" cy="2881312"/>
          </a:xfrm>
          <a:prstGeom prst="roundRect">
            <a:avLst/>
          </a:prstGeom>
          <a:solidFill>
            <a:schemeClr val="accent6">
              <a:alpha val="30000"/>
            </a:schemeClr>
          </a:solidFill>
          <a:ln w="9525" cap="flat" cmpd="sng" algn="ctr">
            <a:solidFill>
              <a:schemeClr val="accent6"/>
            </a:solidFill>
            <a:prstDash val="solid"/>
            <a:round/>
            <a:headEnd type="none" w="med" len="med"/>
            <a:tailEnd type="none" w="med" len="med"/>
          </a:ln>
          <a:effectLst/>
        </p:spPr>
        <p:txBody>
          <a:bodyPr anchor="ctr" anchorCtr="1"/>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2800" b="0"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SELECT </a:t>
            </a:r>
            <a:r>
              <a:rPr kumimoji="0" lang="en-CA" sz="2800" b="0" i="0" u="none" strike="noStrike" kern="1200" cap="none" spc="0" normalizeH="0" baseline="0" noProof="0" dirty="0" err="1">
                <a:ln>
                  <a:noFill/>
                </a:ln>
                <a:solidFill>
                  <a:srgbClr val="2F2B20"/>
                </a:solidFill>
                <a:effectLst/>
                <a:uLnTx/>
                <a:uFillTx/>
                <a:latin typeface="Arial" panose="020B0604020202020204" pitchFamily="34" charset="0"/>
                <a:ea typeface="+mn-ea"/>
                <a:cs typeface="Arial" panose="020B0604020202020204" pitchFamily="34" charset="0"/>
              </a:rPr>
              <a:t>Employee.ICNumber</a:t>
            </a:r>
            <a:r>
              <a:rPr kumimoji="0" lang="en-CA" sz="2800" b="0"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 </a:t>
            </a:r>
            <a:r>
              <a:rPr kumimoji="0" lang="en-CA" sz="2800" b="0" i="0" u="none" strike="noStrike" kern="1200" cap="none" spc="0" normalizeH="0" baseline="0" noProof="0" dirty="0" err="1">
                <a:ln>
                  <a:noFill/>
                </a:ln>
                <a:solidFill>
                  <a:srgbClr val="2F2B20"/>
                </a:solidFill>
                <a:effectLst/>
                <a:uLnTx/>
                <a:uFillTx/>
                <a:latin typeface="Arial" panose="020B0604020202020204" pitchFamily="34" charset="0"/>
                <a:ea typeface="+mn-ea"/>
                <a:cs typeface="Arial" panose="020B0604020202020204" pitchFamily="34" charset="0"/>
              </a:rPr>
              <a:t>Department.Name</a:t>
            </a:r>
            <a:r>
              <a:rPr kumimoji="0" lang="en-CA" sz="2800" b="0"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 </a:t>
            </a:r>
            <a:r>
              <a:rPr kumimoji="0" lang="en-CA" sz="2800" b="0" i="0" u="none" strike="noStrike" kern="1200" cap="none" spc="0" normalizeH="0" baseline="0" noProof="0" dirty="0" err="1">
                <a:ln>
                  <a:noFill/>
                </a:ln>
                <a:solidFill>
                  <a:srgbClr val="2F2B20"/>
                </a:solidFill>
                <a:effectLst/>
                <a:uLnTx/>
                <a:uFillTx/>
                <a:latin typeface="Arial" panose="020B0604020202020204" pitchFamily="34" charset="0"/>
                <a:ea typeface="+mn-ea"/>
                <a:cs typeface="Arial" panose="020B0604020202020204" pitchFamily="34" charset="0"/>
              </a:rPr>
              <a:t>Salary.Salary</a:t>
            </a:r>
            <a:r>
              <a:rPr kumimoji="0" lang="en-CA" sz="2800" b="0"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 FROM Employee, Department, Salary WHERE </a:t>
            </a:r>
            <a:r>
              <a:rPr kumimoji="0" lang="en-CA" sz="2800" b="0" i="0" u="none" strike="noStrike" kern="1200" cap="none" spc="0" normalizeH="0" baseline="0" noProof="0" dirty="0" err="1">
                <a:ln>
                  <a:noFill/>
                </a:ln>
                <a:solidFill>
                  <a:srgbClr val="2F2B20"/>
                </a:solidFill>
                <a:effectLst/>
                <a:uLnTx/>
                <a:uFillTx/>
                <a:latin typeface="Arial" panose="020B0604020202020204" pitchFamily="34" charset="0"/>
                <a:ea typeface="+mn-ea"/>
                <a:cs typeface="Arial" panose="020B0604020202020204" pitchFamily="34" charset="0"/>
              </a:rPr>
              <a:t>Employee.DepartmentId</a:t>
            </a:r>
            <a:r>
              <a:rPr kumimoji="0" lang="en-CA" sz="2800" b="0"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 = </a:t>
            </a:r>
            <a:r>
              <a:rPr kumimoji="0" lang="en-CA" sz="2800" b="0" i="0" u="none" strike="noStrike" kern="1200" cap="none" spc="0" normalizeH="0" baseline="0" noProof="0" dirty="0" err="1">
                <a:ln>
                  <a:noFill/>
                </a:ln>
                <a:solidFill>
                  <a:srgbClr val="2F2B20"/>
                </a:solidFill>
                <a:effectLst/>
                <a:uLnTx/>
                <a:uFillTx/>
                <a:latin typeface="Arial" panose="020B0604020202020204" pitchFamily="34" charset="0"/>
                <a:ea typeface="+mn-ea"/>
                <a:cs typeface="Arial" panose="020B0604020202020204" pitchFamily="34" charset="0"/>
              </a:rPr>
              <a:t>Department.DepartmentId</a:t>
            </a:r>
            <a:r>
              <a:rPr kumimoji="0" lang="en-CA" sz="2800" b="0"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 AND </a:t>
            </a:r>
            <a:r>
              <a:rPr kumimoji="0" lang="en-CA" sz="2800" b="0" i="0" u="none" strike="noStrike" kern="1200" cap="none" spc="0" normalizeH="0" baseline="0" noProof="0" dirty="0" err="1">
                <a:ln>
                  <a:noFill/>
                </a:ln>
                <a:solidFill>
                  <a:srgbClr val="2F2B20"/>
                </a:solidFill>
                <a:effectLst/>
                <a:uLnTx/>
                <a:uFillTx/>
                <a:latin typeface="Arial" panose="020B0604020202020204" pitchFamily="34" charset="0"/>
                <a:ea typeface="+mn-ea"/>
                <a:cs typeface="Arial" panose="020B0604020202020204" pitchFamily="34" charset="0"/>
              </a:rPr>
              <a:t>Employee.ICNumber</a:t>
            </a:r>
            <a:r>
              <a:rPr kumimoji="0" lang="en-CA" sz="2800" b="0"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 = </a:t>
            </a:r>
            <a:r>
              <a:rPr kumimoji="0" lang="en-CA" sz="2800" b="0" i="0" u="none" strike="noStrike" kern="1200" cap="none" spc="0" normalizeH="0" baseline="0" noProof="0" dirty="0" err="1">
                <a:ln>
                  <a:noFill/>
                </a:ln>
                <a:solidFill>
                  <a:srgbClr val="2F2B20"/>
                </a:solidFill>
                <a:effectLst/>
                <a:uLnTx/>
                <a:uFillTx/>
                <a:latin typeface="Arial" panose="020B0604020202020204" pitchFamily="34" charset="0"/>
                <a:ea typeface="+mn-ea"/>
                <a:cs typeface="Arial" panose="020B0604020202020204" pitchFamily="34" charset="0"/>
              </a:rPr>
              <a:t>Salary.ICNumber</a:t>
            </a:r>
            <a:r>
              <a:rPr kumimoji="0" lang="en-CA" sz="2800" b="0"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a:t>
            </a:r>
          </a:p>
        </p:txBody>
      </p:sp>
      <p:sp>
        <p:nvSpPr>
          <p:cNvPr id="22" name="Snip Single Corner Rectangle 21">
            <a:extLst>
              <a:ext uri="{FF2B5EF4-FFF2-40B4-BE49-F238E27FC236}">
                <a16:creationId xmlns:a16="http://schemas.microsoft.com/office/drawing/2014/main" id="{1639E996-4FD8-5447-2E5C-45E9B8D0EE77}"/>
              </a:ext>
            </a:extLst>
          </p:cNvPr>
          <p:cNvSpPr/>
          <p:nvPr/>
        </p:nvSpPr>
        <p:spPr>
          <a:xfrm>
            <a:off x="-36513" y="1125538"/>
            <a:ext cx="1944688" cy="400050"/>
          </a:xfrm>
          <a:prstGeom prst="snip1Rect">
            <a:avLst/>
          </a:prstGeom>
          <a:solidFill>
            <a:schemeClr val="accent6"/>
          </a:solidFill>
          <a:ln>
            <a:solidFill>
              <a:schemeClr val="accent6"/>
            </a:solidFill>
          </a:ln>
        </p:spPr>
        <p:style>
          <a:lnRef idx="1">
            <a:schemeClr val="accent1"/>
          </a:lnRef>
          <a:fillRef idx="3">
            <a:schemeClr val="accent1"/>
          </a:fillRef>
          <a:effectRef idx="2">
            <a:schemeClr val="accent1"/>
          </a:effectRef>
          <a:fontRef idx="minor">
            <a:schemeClr val="lt1"/>
          </a:fontRef>
        </p:style>
        <p:txBody>
          <a:bodyPr anchor="ctr">
            <a:spAutoFit/>
          </a:bodyPr>
          <a:lstStyle/>
          <a:p>
            <a:pPr marL="342900" marR="0" lvl="0" indent="-342900" algn="just" defTabSz="914400" rtl="0" eaLnBrk="1" fontAlgn="base" latinLnBrk="0" hangingPunct="1">
              <a:lnSpc>
                <a:spcPct val="100000"/>
              </a:lnSpc>
              <a:spcBef>
                <a:spcPct val="20000"/>
              </a:spcBef>
              <a:spcAft>
                <a:spcPct val="0"/>
              </a:spcAft>
              <a:buClr>
                <a:srgbClr val="FF6600"/>
              </a:buClr>
              <a:buSzPct val="100000"/>
              <a:buFontTx/>
              <a:buNone/>
              <a:tabLst/>
              <a:defRPr/>
            </a:pPr>
            <a:r>
              <a:rPr kumimoji="0" lang="en-US" sz="1800" b="0" i="0" u="none" strike="noStrike" kern="1200" cap="none" spc="0" normalizeH="0" baseline="0" noProof="0" dirty="0">
                <a:ln>
                  <a:noFill/>
                </a:ln>
                <a:solidFill>
                  <a:srgbClr val="FFFFFF"/>
                </a:solidFill>
                <a:effectLst/>
                <a:uLnTx/>
                <a:uFillTx/>
                <a:latin typeface="Arial" pitchFamily="34" charset="0"/>
                <a:ea typeface="Times New Roman" pitchFamily="18" charset="0"/>
                <a:cs typeface="Arial" pitchFamily="34" charset="0"/>
              </a:rPr>
              <a:t>MULTIPLE JOIN</a:t>
            </a:r>
            <a:endParaRPr kumimoji="0" lang="en-GB" sz="1800" b="0" i="0" u="none" strike="noStrike" kern="0" cap="none" spc="0" normalizeH="0" baseline="0" noProof="0" dirty="0">
              <a:ln>
                <a:noFill/>
              </a:ln>
              <a:solidFill>
                <a:srgbClr val="2F2B20"/>
              </a:solidFill>
              <a:effectLst/>
              <a:uLnTx/>
              <a:uFillTx/>
              <a:latin typeface="Calibri"/>
              <a:ea typeface="+mn-ea"/>
              <a:cs typeface="+mn-cs"/>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wipe(up)">
                                      <p:cBhvr>
                                        <p:cTn id="7" dur="500"/>
                                        <p:tgtEl>
                                          <p:spTgt spid="37"/>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37">
                                            <p:txEl>
                                              <p:pRg st="0" end="0"/>
                                            </p:txEl>
                                          </p:spTgt>
                                        </p:tgtEl>
                                        <p:attrNameLst>
                                          <p:attrName>style.visibility</p:attrName>
                                        </p:attrNameLst>
                                      </p:cBhvr>
                                      <p:to>
                                        <p:strVal val="visible"/>
                                      </p:to>
                                    </p:set>
                                    <p:animEffect transition="in" filter="wipe(left)">
                                      <p:cBhvr>
                                        <p:cTn id="11" dur="500"/>
                                        <p:tgtEl>
                                          <p:spTgt spid="37">
                                            <p:txEl>
                                              <p:pRg st="0" end="0"/>
                                            </p:txEl>
                                          </p:spTgt>
                                        </p:tgtEl>
                                      </p:cBhvr>
                                    </p:animEffect>
                                  </p:childTnLst>
                                </p:cTn>
                              </p:par>
                            </p:childTnLst>
                          </p:cTn>
                        </p:par>
                        <p:par>
                          <p:cTn id="12" fill="hold" nodeType="afterGroup">
                            <p:stCondLst>
                              <p:cond delay="1000"/>
                            </p:stCondLst>
                            <p:childTnLst>
                              <p:par>
                                <p:cTn id="13" presetID="16" presetClass="entr" presetSubtype="21" fill="hold" grpId="0" nodeType="afterEffect">
                                  <p:stCondLst>
                                    <p:cond delay="0"/>
                                  </p:stCondLst>
                                  <p:childTnLst>
                                    <p:set>
                                      <p:cBhvr>
                                        <p:cTn id="14" dur="1" fill="hold">
                                          <p:stCondLst>
                                            <p:cond delay="0"/>
                                          </p:stCondLst>
                                        </p:cTn>
                                        <p:tgtEl>
                                          <p:spTgt spid="40"/>
                                        </p:tgtEl>
                                        <p:attrNameLst>
                                          <p:attrName>style.visibility</p:attrName>
                                        </p:attrNameLst>
                                      </p:cBhvr>
                                      <p:to>
                                        <p:strVal val="visible"/>
                                      </p:to>
                                    </p:set>
                                    <p:animEffect transition="in" filter="barn(inVertical)">
                                      <p:cBhvr>
                                        <p:cTn id="15" dur="500"/>
                                        <p:tgtEl>
                                          <p:spTgt spid="40"/>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1" fill="hold" grpId="0" nodeType="clickEffect">
                                  <p:stCondLst>
                                    <p:cond delay="0"/>
                                  </p:stCondLst>
                                  <p:childTnLst>
                                    <p:set>
                                      <p:cBhvr>
                                        <p:cTn id="19" dur="1" fill="hold">
                                          <p:stCondLst>
                                            <p:cond delay="0"/>
                                          </p:stCondLst>
                                        </p:cTn>
                                        <p:tgtEl>
                                          <p:spTgt spid="36"/>
                                        </p:tgtEl>
                                        <p:attrNameLst>
                                          <p:attrName>style.visibility</p:attrName>
                                        </p:attrNameLst>
                                      </p:cBhvr>
                                      <p:to>
                                        <p:strVal val="visible"/>
                                      </p:to>
                                    </p:set>
                                    <p:animEffect transition="in" filter="wipe(up)">
                                      <p:cBhvr>
                                        <p:cTn id="20" dur="500"/>
                                        <p:tgtEl>
                                          <p:spTgt spid="36"/>
                                        </p:tgtEl>
                                      </p:cBhvr>
                                    </p:animEffect>
                                  </p:childTnLst>
                                </p:cTn>
                              </p:par>
                            </p:childTnLst>
                          </p:cTn>
                        </p:par>
                        <p:par>
                          <p:cTn id="21" fill="hold" nodeType="afterGroup">
                            <p:stCondLst>
                              <p:cond delay="500"/>
                            </p:stCondLst>
                            <p:childTnLst>
                              <p:par>
                                <p:cTn id="22" presetID="22" presetClass="entr" presetSubtype="8" fill="hold" nodeType="afterEffect">
                                  <p:stCondLst>
                                    <p:cond delay="0"/>
                                  </p:stCondLst>
                                  <p:childTnLst>
                                    <p:set>
                                      <p:cBhvr>
                                        <p:cTn id="23" dur="1" fill="hold">
                                          <p:stCondLst>
                                            <p:cond delay="0"/>
                                          </p:stCondLst>
                                        </p:cTn>
                                        <p:tgtEl>
                                          <p:spTgt spid="36">
                                            <p:txEl>
                                              <p:pRg st="0" end="0"/>
                                            </p:txEl>
                                          </p:spTgt>
                                        </p:tgtEl>
                                        <p:attrNameLst>
                                          <p:attrName>style.visibility</p:attrName>
                                        </p:attrNameLst>
                                      </p:cBhvr>
                                      <p:to>
                                        <p:strVal val="visible"/>
                                      </p:to>
                                    </p:set>
                                    <p:animEffect transition="in" filter="wipe(left)">
                                      <p:cBhvr>
                                        <p:cTn id="24" dur="500"/>
                                        <p:tgtEl>
                                          <p:spTgt spid="36">
                                            <p:txEl>
                                              <p:pRg st="0" end="0"/>
                                            </p:txEl>
                                          </p:spTgt>
                                        </p:tgtEl>
                                      </p:cBhvr>
                                    </p:animEffect>
                                  </p:childTnLst>
                                </p:cTn>
                              </p:par>
                            </p:childTnLst>
                          </p:cTn>
                        </p:par>
                        <p:par>
                          <p:cTn id="25" fill="hold" nodeType="afterGroup">
                            <p:stCondLst>
                              <p:cond delay="1000"/>
                            </p:stCondLst>
                            <p:childTnLst>
                              <p:par>
                                <p:cTn id="26" presetID="16" presetClass="entr" presetSubtype="21" fill="hold" nodeType="afterEffect">
                                  <p:stCondLst>
                                    <p:cond delay="0"/>
                                  </p:stCondLst>
                                  <p:childTnLst>
                                    <p:set>
                                      <p:cBhvr>
                                        <p:cTn id="27" dur="1" fill="hold">
                                          <p:stCondLst>
                                            <p:cond delay="0"/>
                                          </p:stCondLst>
                                        </p:cTn>
                                        <p:tgtEl>
                                          <p:spTgt spid="35"/>
                                        </p:tgtEl>
                                        <p:attrNameLst>
                                          <p:attrName>style.visibility</p:attrName>
                                        </p:attrNameLst>
                                      </p:cBhvr>
                                      <p:to>
                                        <p:strVal val="visible"/>
                                      </p:to>
                                    </p:set>
                                    <p:animEffect transition="in" filter="barn(inVertical)">
                                      <p:cBhvr>
                                        <p:cTn id="28"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7" grpId="0" animBg="1"/>
      <p:bldP spid="40" grpId="0" animBg="1"/>
    </p:bldLst>
  </p:timing>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733FF-FE72-9E40-DA05-7363A318873C}"/>
              </a:ext>
            </a:extLst>
          </p:cNvPr>
          <p:cNvSpPr>
            <a:spLocks noGrp="1"/>
          </p:cNvSpPr>
          <p:nvPr>
            <p:ph type="title"/>
          </p:nvPr>
        </p:nvSpPr>
        <p:spPr>
          <a:xfrm>
            <a:off x="457200" y="0"/>
            <a:ext cx="7620000" cy="1143000"/>
          </a:xfrm>
        </p:spPr>
        <p:txBody>
          <a:bodyPr/>
          <a:lstStyle/>
          <a:p>
            <a:pPr algn="ctr">
              <a:defRPr/>
            </a:pPr>
            <a:r>
              <a:rPr lang="en-US" dirty="0"/>
              <a:t>UNION</a:t>
            </a:r>
            <a:endParaRPr lang="en-MY" dirty="0"/>
          </a:p>
        </p:txBody>
      </p:sp>
      <p:sp>
        <p:nvSpPr>
          <p:cNvPr id="5" name="Content Placeholder 2">
            <a:extLst>
              <a:ext uri="{FF2B5EF4-FFF2-40B4-BE49-F238E27FC236}">
                <a16:creationId xmlns:a16="http://schemas.microsoft.com/office/drawing/2014/main" id="{06863C5C-8905-380F-CD7F-B1E15154E558}"/>
              </a:ext>
            </a:extLst>
          </p:cNvPr>
          <p:cNvSpPr txBox="1">
            <a:spLocks/>
          </p:cNvSpPr>
          <p:nvPr/>
        </p:nvSpPr>
        <p:spPr bwMode="auto">
          <a:xfrm>
            <a:off x="250825" y="1268413"/>
            <a:ext cx="7902575"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US"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In SQL, UNION can be used to combine the </a:t>
            </a:r>
            <a:r>
              <a:rPr kumimoji="0" lang="en-US" altLang="en-US" sz="3200" b="1" i="0" u="none" strike="noStrike" kern="1200" cap="none" spc="0" normalizeH="0" baseline="0" noProof="0">
                <a:ln>
                  <a:noFill/>
                </a:ln>
                <a:solidFill>
                  <a:srgbClr val="FF0000"/>
                </a:solidFill>
                <a:effectLst/>
                <a:uLnTx/>
                <a:uFillTx/>
                <a:latin typeface="Calibri" panose="020F0502020204030204" pitchFamily="34" charset="0"/>
                <a:ea typeface="+mn-ea"/>
                <a:cs typeface="Arial" panose="020B0604020202020204" pitchFamily="34" charset="0"/>
              </a:rPr>
              <a:t>results of two or more SELECT statements </a:t>
            </a:r>
            <a:r>
              <a:rPr kumimoji="0" lang="en-US"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under the condition that the statements</a:t>
            </a:r>
          </a:p>
          <a:p>
            <a:pPr marL="742950" marR="0" lvl="1" indent="-28575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Char char=""/>
              <a:tabLst/>
              <a:defRPr/>
            </a:pPr>
            <a:r>
              <a:rPr kumimoji="0" lang="en-US"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Have the same number of columns</a:t>
            </a:r>
          </a:p>
          <a:p>
            <a:pPr marL="742950" marR="0" lvl="1" indent="-28575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Char char=""/>
              <a:tabLst/>
              <a:defRPr/>
            </a:pPr>
            <a:r>
              <a:rPr kumimoji="0" lang="en-US"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Have similar data type</a:t>
            </a: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US"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SQL Syntax:</a:t>
            </a: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US" altLang="en-US" sz="32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sp>
        <p:nvSpPr>
          <p:cNvPr id="11" name="Rounded Rectangle 10">
            <a:extLst>
              <a:ext uri="{FF2B5EF4-FFF2-40B4-BE49-F238E27FC236}">
                <a16:creationId xmlns:a16="http://schemas.microsoft.com/office/drawing/2014/main" id="{5FAC10E2-3C38-9446-3CFD-DCFC2D17A1EC}"/>
              </a:ext>
            </a:extLst>
          </p:cNvPr>
          <p:cNvSpPr>
            <a:spLocks noChangeArrowheads="1"/>
          </p:cNvSpPr>
          <p:nvPr/>
        </p:nvSpPr>
        <p:spPr bwMode="auto">
          <a:xfrm>
            <a:off x="304800" y="5157788"/>
            <a:ext cx="7848600" cy="1079500"/>
          </a:xfrm>
          <a:prstGeom prst="roundRect">
            <a:avLst>
              <a:gd name="adj" fmla="val 16667"/>
            </a:avLst>
          </a:prstGeom>
          <a:solidFill>
            <a:srgbClr val="7F7B00">
              <a:alpha val="30196"/>
            </a:srgbClr>
          </a:solidFill>
          <a:ln w="9525" algn="ctr">
            <a:solidFill>
              <a:srgbClr val="7F7B00"/>
            </a:solidFill>
            <a:round/>
            <a:headEnd/>
            <a:tailEnd/>
          </a:ln>
        </p:spPr>
        <p:txBody>
          <a:bodyPr anchor="ctr" anchorCtr="1"/>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2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&lt;select statement&gt; UNION &lt;select statement&gt; UNION &lt;select statement&gt;…;</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animEffect transition="in" filter="wipe(left)">
                                      <p:cBhvr>
                                        <p:cTn id="11" dur="500"/>
                                        <p:tgtEl>
                                          <p:spTgt spid="5">
                                            <p:txEl>
                                              <p:pRg st="1" end="1"/>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Effect transition="in" filter="wipe(left)">
                                      <p:cBhvr>
                                        <p:cTn id="15" dur="500"/>
                                        <p:tgtEl>
                                          <p:spTgt spid="5">
                                            <p:txEl>
                                              <p:pRg st="2" end="2"/>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5">
                                            <p:txEl>
                                              <p:pRg st="4" end="4"/>
                                            </p:txEl>
                                          </p:spTgt>
                                        </p:tgtEl>
                                        <p:attrNameLst>
                                          <p:attrName>style.visibility</p:attrName>
                                        </p:attrNameLst>
                                      </p:cBhvr>
                                      <p:to>
                                        <p:strVal val="visible"/>
                                      </p:to>
                                    </p:set>
                                    <p:animEffect transition="in" filter="wipe(left)">
                                      <p:cBhvr>
                                        <p:cTn id="20" dur="500"/>
                                        <p:tgtEl>
                                          <p:spTgt spid="5">
                                            <p:txEl>
                                              <p:pRg st="4" end="4"/>
                                            </p:txEl>
                                          </p:spTgt>
                                        </p:tgtEl>
                                      </p:cBhvr>
                                    </p:animEffect>
                                  </p:childTnLst>
                                </p:cTn>
                              </p:par>
                            </p:childTnLst>
                          </p:cTn>
                        </p:par>
                        <p:par>
                          <p:cTn id="21" fill="hold" nodeType="afterGroup">
                            <p:stCondLst>
                              <p:cond delay="500"/>
                            </p:stCondLst>
                            <p:childTnLst>
                              <p:par>
                                <p:cTn id="22" presetID="16" presetClass="entr" presetSubtype="21"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barn(inVertical)">
                                      <p:cBhvr>
                                        <p:cTn id="24"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11" grpId="0" animBg="1"/>
    </p:bldLst>
  </p:timing>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D8A38-FE98-BE9E-7CA7-60D0218C7EFA}"/>
              </a:ext>
            </a:extLst>
          </p:cNvPr>
          <p:cNvSpPr>
            <a:spLocks noGrp="1"/>
          </p:cNvSpPr>
          <p:nvPr>
            <p:ph type="title"/>
          </p:nvPr>
        </p:nvSpPr>
        <p:spPr>
          <a:xfrm>
            <a:off x="457200" y="0"/>
            <a:ext cx="7620000" cy="1143000"/>
          </a:xfrm>
        </p:spPr>
        <p:txBody>
          <a:bodyPr/>
          <a:lstStyle/>
          <a:p>
            <a:pPr algn="ctr">
              <a:defRPr/>
            </a:pPr>
            <a:r>
              <a:rPr lang="en-US" dirty="0"/>
              <a:t>UNION</a:t>
            </a:r>
            <a:endParaRPr lang="en-MY" dirty="0"/>
          </a:p>
        </p:txBody>
      </p:sp>
      <p:sp>
        <p:nvSpPr>
          <p:cNvPr id="20" name="Rounded Rectangle 19">
            <a:extLst>
              <a:ext uri="{FF2B5EF4-FFF2-40B4-BE49-F238E27FC236}">
                <a16:creationId xmlns:a16="http://schemas.microsoft.com/office/drawing/2014/main" id="{C8CEAFBC-914A-DE71-7929-F7BE01E22306}"/>
              </a:ext>
            </a:extLst>
          </p:cNvPr>
          <p:cNvSpPr/>
          <p:nvPr/>
        </p:nvSpPr>
        <p:spPr bwMode="auto">
          <a:xfrm>
            <a:off x="1168400" y="3133725"/>
            <a:ext cx="7199313" cy="1374775"/>
          </a:xfrm>
          <a:prstGeom prst="roundRect">
            <a:avLst/>
          </a:prstGeom>
          <a:solidFill>
            <a:schemeClr val="accent6">
              <a:alpha val="30000"/>
            </a:schemeClr>
          </a:solidFill>
          <a:ln w="9525" cap="flat" cmpd="sng" algn="ctr">
            <a:solidFill>
              <a:schemeClr val="accent6"/>
            </a:solidFill>
            <a:prstDash val="solid"/>
            <a:round/>
            <a:headEnd type="none" w="med" len="med"/>
            <a:tailEnd type="none" w="med" len="med"/>
          </a:ln>
          <a:effectLst/>
        </p:spPr>
        <p:txBody>
          <a:bodyPr anchor="ctr" anchorCtr="1"/>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2800" b="0" i="0" u="none" strike="noStrike" kern="1200" cap="none" spc="0" normalizeH="0" baseline="0" noProof="0" dirty="0">
                <a:ln>
                  <a:noFill/>
                </a:ln>
                <a:solidFill>
                  <a:srgbClr val="2F2B20"/>
                </a:solidFill>
                <a:effectLst/>
                <a:uLnTx/>
                <a:uFillTx/>
                <a:latin typeface="Arial" charset="0"/>
                <a:ea typeface="+mn-ea"/>
                <a:cs typeface="Arial" panose="020B0604020202020204" pitchFamily="34" charset="0"/>
              </a:rPr>
              <a:t>SELECT Name FROM </a:t>
            </a:r>
            <a:r>
              <a:rPr kumimoji="0" lang="en-CA" sz="2800" b="0" i="0" u="none" strike="noStrike" kern="1200" cap="none" spc="0" normalizeH="0" baseline="0" noProof="0" dirty="0" err="1">
                <a:ln>
                  <a:noFill/>
                </a:ln>
                <a:solidFill>
                  <a:srgbClr val="2F2B20"/>
                </a:solidFill>
                <a:effectLst/>
                <a:uLnTx/>
                <a:uFillTx/>
                <a:latin typeface="Arial" charset="0"/>
                <a:ea typeface="+mn-ea"/>
                <a:cs typeface="Arial" panose="020B0604020202020204" pitchFamily="34" charset="0"/>
              </a:rPr>
              <a:t>Employee_HEC</a:t>
            </a:r>
            <a:r>
              <a:rPr kumimoji="0" lang="en-CA" sz="2800" b="0" i="0" u="none" strike="noStrike" kern="1200" cap="none" spc="0" normalizeH="0" baseline="0" noProof="0" dirty="0">
                <a:ln>
                  <a:noFill/>
                </a:ln>
                <a:solidFill>
                  <a:srgbClr val="2F2B20"/>
                </a:solidFill>
                <a:effectLst/>
                <a:uLnTx/>
                <a:uFillTx/>
                <a:latin typeface="Arial" charset="0"/>
                <a:ea typeface="+mn-ea"/>
                <a:cs typeface="Arial" panose="020B0604020202020204" pitchFamily="34" charset="0"/>
              </a:rPr>
              <a:t> UNION SELECT Name FROM </a:t>
            </a:r>
            <a:r>
              <a:rPr kumimoji="0" lang="en-CA" sz="2800" b="0" i="0" u="none" strike="noStrike" kern="1200" cap="none" spc="0" normalizeH="0" baseline="0" noProof="0" dirty="0" err="1">
                <a:ln>
                  <a:noFill/>
                </a:ln>
                <a:solidFill>
                  <a:srgbClr val="2F2B20"/>
                </a:solidFill>
                <a:effectLst/>
                <a:uLnTx/>
                <a:uFillTx/>
                <a:latin typeface="Arial" charset="0"/>
                <a:ea typeface="+mn-ea"/>
                <a:cs typeface="Arial" panose="020B0604020202020204" pitchFamily="34" charset="0"/>
              </a:rPr>
              <a:t>Employee_ApComs</a:t>
            </a:r>
            <a:r>
              <a:rPr kumimoji="0" lang="en-CA" sz="2800" b="0" i="0" u="none" strike="noStrike" kern="1200" cap="none" spc="0" normalizeH="0" baseline="0" noProof="0" dirty="0">
                <a:ln>
                  <a:noFill/>
                </a:ln>
                <a:solidFill>
                  <a:srgbClr val="2F2B20"/>
                </a:solidFill>
                <a:effectLst/>
                <a:uLnTx/>
                <a:uFillTx/>
                <a:latin typeface="Arial" charset="0"/>
                <a:ea typeface="+mn-ea"/>
                <a:cs typeface="Arial" panose="020B0604020202020204" pitchFamily="34" charset="0"/>
              </a:rPr>
              <a:t>;</a:t>
            </a:r>
          </a:p>
        </p:txBody>
      </p:sp>
      <p:graphicFrame>
        <p:nvGraphicFramePr>
          <p:cNvPr id="21" name="Table 20">
            <a:extLst>
              <a:ext uri="{FF2B5EF4-FFF2-40B4-BE49-F238E27FC236}">
                <a16:creationId xmlns:a16="http://schemas.microsoft.com/office/drawing/2014/main" id="{0FC80BBE-7F1C-6A4F-CED6-9B774474DF9F}"/>
              </a:ext>
            </a:extLst>
          </p:cNvPr>
          <p:cNvGraphicFramePr>
            <a:graphicFrameLocks noGrp="1"/>
          </p:cNvGraphicFramePr>
          <p:nvPr/>
        </p:nvGraphicFramePr>
        <p:xfrm>
          <a:off x="76200" y="1436688"/>
          <a:ext cx="3816350" cy="1112838"/>
        </p:xfrm>
        <a:graphic>
          <a:graphicData uri="http://schemas.openxmlformats.org/drawingml/2006/table">
            <a:tbl>
              <a:tblPr firstRow="1" bandRow="1">
                <a:tableStyleId>{3B4B98B0-60AC-42C2-AFA5-B58CD77FA1E5}</a:tableStyleId>
              </a:tblPr>
              <a:tblGrid>
                <a:gridCol w="1908175">
                  <a:extLst>
                    <a:ext uri="{9D8B030D-6E8A-4147-A177-3AD203B41FA5}">
                      <a16:colId xmlns:a16="http://schemas.microsoft.com/office/drawing/2014/main" val="20000"/>
                    </a:ext>
                  </a:extLst>
                </a:gridCol>
                <a:gridCol w="1908175">
                  <a:extLst>
                    <a:ext uri="{9D8B030D-6E8A-4147-A177-3AD203B41FA5}">
                      <a16:colId xmlns:a16="http://schemas.microsoft.com/office/drawing/2014/main" val="20001"/>
                    </a:ext>
                  </a:extLst>
                </a:gridCol>
              </a:tblGrid>
              <a:tr h="370946">
                <a:tc>
                  <a:txBody>
                    <a:bodyPr/>
                    <a:lstStyle/>
                    <a:p>
                      <a:pPr algn="ctr"/>
                      <a:r>
                        <a:rPr lang="en-CA" sz="1800" dirty="0" err="1"/>
                        <a:t>ICNumber</a:t>
                      </a:r>
                      <a:endParaRPr lang="en-CA" sz="1800" dirty="0"/>
                    </a:p>
                  </a:txBody>
                  <a:tcPr marL="91438" marR="91438" marT="45733" marB="45733"/>
                </a:tc>
                <a:tc>
                  <a:txBody>
                    <a:bodyPr/>
                    <a:lstStyle/>
                    <a:p>
                      <a:pPr algn="ctr"/>
                      <a:r>
                        <a:rPr lang="en-CA" sz="1800" dirty="0"/>
                        <a:t>Name</a:t>
                      </a:r>
                    </a:p>
                  </a:txBody>
                  <a:tcPr marL="91438" marR="91438" marT="45733" marB="45733"/>
                </a:tc>
                <a:extLst>
                  <a:ext uri="{0D108BD9-81ED-4DB2-BD59-A6C34878D82A}">
                    <a16:rowId xmlns:a16="http://schemas.microsoft.com/office/drawing/2014/main" val="10000"/>
                  </a:ext>
                </a:extLst>
              </a:tr>
              <a:tr h="370946">
                <a:tc>
                  <a:txBody>
                    <a:bodyPr/>
                    <a:lstStyle/>
                    <a:p>
                      <a:pPr algn="ctr"/>
                      <a:r>
                        <a:rPr lang="en-CA" sz="1800" dirty="0"/>
                        <a:t>12345</a:t>
                      </a:r>
                    </a:p>
                  </a:txBody>
                  <a:tcPr marL="91438" marR="91438" marT="45733" marB="45733"/>
                </a:tc>
                <a:tc>
                  <a:txBody>
                    <a:bodyPr/>
                    <a:lstStyle/>
                    <a:p>
                      <a:pPr algn="ctr"/>
                      <a:r>
                        <a:rPr lang="en-CA" sz="1800" dirty="0"/>
                        <a:t>Aamir Ali</a:t>
                      </a:r>
                    </a:p>
                  </a:txBody>
                  <a:tcPr marL="91438" marR="91438" marT="45733" marB="45733"/>
                </a:tc>
                <a:extLst>
                  <a:ext uri="{0D108BD9-81ED-4DB2-BD59-A6C34878D82A}">
                    <a16:rowId xmlns:a16="http://schemas.microsoft.com/office/drawing/2014/main" val="10001"/>
                  </a:ext>
                </a:extLst>
              </a:tr>
              <a:tr h="370946">
                <a:tc>
                  <a:txBody>
                    <a:bodyPr/>
                    <a:lstStyle/>
                    <a:p>
                      <a:pPr algn="ctr"/>
                      <a:r>
                        <a:rPr lang="en-CA" sz="1800" dirty="0"/>
                        <a:t>54321</a:t>
                      </a:r>
                    </a:p>
                  </a:txBody>
                  <a:tcPr marL="91438" marR="91438" marT="45733" marB="45733"/>
                </a:tc>
                <a:tc>
                  <a:txBody>
                    <a:bodyPr/>
                    <a:lstStyle/>
                    <a:p>
                      <a:pPr algn="ctr"/>
                      <a:r>
                        <a:rPr lang="en-CA" sz="1800" dirty="0"/>
                        <a:t>Sadaf</a:t>
                      </a:r>
                      <a:r>
                        <a:rPr lang="en-CA" sz="1800" baseline="0" dirty="0"/>
                        <a:t> Amin</a:t>
                      </a:r>
                      <a:endParaRPr lang="en-CA" sz="1800" dirty="0"/>
                    </a:p>
                  </a:txBody>
                  <a:tcPr marL="91438" marR="91438" marT="45733" marB="45733"/>
                </a:tc>
                <a:extLst>
                  <a:ext uri="{0D108BD9-81ED-4DB2-BD59-A6C34878D82A}">
                    <a16:rowId xmlns:a16="http://schemas.microsoft.com/office/drawing/2014/main" val="10002"/>
                  </a:ext>
                </a:extLst>
              </a:tr>
            </a:tbl>
          </a:graphicData>
        </a:graphic>
      </p:graphicFrame>
      <p:sp>
        <p:nvSpPr>
          <p:cNvPr id="22" name="TextBox 21">
            <a:extLst>
              <a:ext uri="{FF2B5EF4-FFF2-40B4-BE49-F238E27FC236}">
                <a16:creationId xmlns:a16="http://schemas.microsoft.com/office/drawing/2014/main" id="{C1A499B6-8E7E-B1EC-837E-4F37809A62E3}"/>
              </a:ext>
            </a:extLst>
          </p:cNvPr>
          <p:cNvSpPr txBox="1">
            <a:spLocks noChangeArrowheads="1"/>
          </p:cNvSpPr>
          <p:nvPr/>
        </p:nvSpPr>
        <p:spPr bwMode="auto">
          <a:xfrm>
            <a:off x="544513" y="2552700"/>
            <a:ext cx="28797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Employee_HEC table</a:t>
            </a:r>
          </a:p>
        </p:txBody>
      </p:sp>
      <p:graphicFrame>
        <p:nvGraphicFramePr>
          <p:cNvPr id="23" name="Table 22">
            <a:extLst>
              <a:ext uri="{FF2B5EF4-FFF2-40B4-BE49-F238E27FC236}">
                <a16:creationId xmlns:a16="http://schemas.microsoft.com/office/drawing/2014/main" id="{72E7841D-D790-A68A-EDF7-15678E88FBF1}"/>
              </a:ext>
            </a:extLst>
          </p:cNvPr>
          <p:cNvGraphicFramePr>
            <a:graphicFrameLocks noGrp="1"/>
          </p:cNvGraphicFramePr>
          <p:nvPr/>
        </p:nvGraphicFramePr>
        <p:xfrm>
          <a:off x="4540250" y="1436688"/>
          <a:ext cx="3827463" cy="1112838"/>
        </p:xfrm>
        <a:graphic>
          <a:graphicData uri="http://schemas.openxmlformats.org/drawingml/2006/table">
            <a:tbl>
              <a:tblPr firstRow="1" bandRow="1">
                <a:tableStyleId>{C083E6E3-FA7D-4D7B-A595-EF9225AFEA82}</a:tableStyleId>
              </a:tblPr>
              <a:tblGrid>
                <a:gridCol w="1908559">
                  <a:extLst>
                    <a:ext uri="{9D8B030D-6E8A-4147-A177-3AD203B41FA5}">
                      <a16:colId xmlns:a16="http://schemas.microsoft.com/office/drawing/2014/main" val="20000"/>
                    </a:ext>
                  </a:extLst>
                </a:gridCol>
                <a:gridCol w="1918904">
                  <a:extLst>
                    <a:ext uri="{9D8B030D-6E8A-4147-A177-3AD203B41FA5}">
                      <a16:colId xmlns:a16="http://schemas.microsoft.com/office/drawing/2014/main" val="20001"/>
                    </a:ext>
                  </a:extLst>
                </a:gridCol>
              </a:tblGrid>
              <a:tr h="370946">
                <a:tc>
                  <a:txBody>
                    <a:bodyPr/>
                    <a:lstStyle/>
                    <a:p>
                      <a:pPr algn="ctr"/>
                      <a:r>
                        <a:rPr lang="en-CA" sz="1800" dirty="0" err="1"/>
                        <a:t>ICNumber</a:t>
                      </a:r>
                      <a:endParaRPr lang="en-CA" sz="1800" dirty="0"/>
                    </a:p>
                  </a:txBody>
                  <a:tcPr marL="91457" marR="91457" marT="45733" marB="45733"/>
                </a:tc>
                <a:tc>
                  <a:txBody>
                    <a:bodyPr/>
                    <a:lstStyle/>
                    <a:p>
                      <a:pPr algn="ctr"/>
                      <a:r>
                        <a:rPr lang="en-CA" sz="1800" dirty="0"/>
                        <a:t>Name</a:t>
                      </a:r>
                    </a:p>
                  </a:txBody>
                  <a:tcPr marL="91457" marR="91457" marT="45733" marB="45733"/>
                </a:tc>
                <a:extLst>
                  <a:ext uri="{0D108BD9-81ED-4DB2-BD59-A6C34878D82A}">
                    <a16:rowId xmlns:a16="http://schemas.microsoft.com/office/drawing/2014/main" val="10000"/>
                  </a:ext>
                </a:extLst>
              </a:tr>
              <a:tr h="370946">
                <a:tc>
                  <a:txBody>
                    <a:bodyPr/>
                    <a:lstStyle/>
                    <a:p>
                      <a:pPr algn="ctr"/>
                      <a:r>
                        <a:rPr lang="en-CA" sz="1800" dirty="0"/>
                        <a:t>12345</a:t>
                      </a:r>
                    </a:p>
                  </a:txBody>
                  <a:tcPr marL="91457" marR="91457" marT="45733" marB="45733"/>
                </a:tc>
                <a:tc>
                  <a:txBody>
                    <a:bodyPr/>
                    <a:lstStyle/>
                    <a:p>
                      <a:pPr algn="ctr"/>
                      <a:r>
                        <a:rPr lang="en-CA" sz="1800" dirty="0"/>
                        <a:t>Aamir Ali</a:t>
                      </a:r>
                    </a:p>
                  </a:txBody>
                  <a:tcPr marL="91457" marR="91457" marT="45733" marB="45733"/>
                </a:tc>
                <a:extLst>
                  <a:ext uri="{0D108BD9-81ED-4DB2-BD59-A6C34878D82A}">
                    <a16:rowId xmlns:a16="http://schemas.microsoft.com/office/drawing/2014/main" val="10001"/>
                  </a:ext>
                </a:extLst>
              </a:tr>
              <a:tr h="370946">
                <a:tc>
                  <a:txBody>
                    <a:bodyPr/>
                    <a:lstStyle/>
                    <a:p>
                      <a:pPr algn="ctr"/>
                      <a:r>
                        <a:rPr lang="en-CA" sz="1800" dirty="0"/>
                        <a:t>32145</a:t>
                      </a:r>
                    </a:p>
                  </a:txBody>
                  <a:tcPr marL="91457" marR="91457" marT="45733" marB="45733"/>
                </a:tc>
                <a:tc>
                  <a:txBody>
                    <a:bodyPr/>
                    <a:lstStyle/>
                    <a:p>
                      <a:pPr algn="ctr"/>
                      <a:r>
                        <a:rPr lang="en-CA" sz="1800" dirty="0"/>
                        <a:t>Imran Anwer</a:t>
                      </a:r>
                    </a:p>
                  </a:txBody>
                  <a:tcPr marL="91457" marR="91457" marT="45733" marB="45733"/>
                </a:tc>
                <a:extLst>
                  <a:ext uri="{0D108BD9-81ED-4DB2-BD59-A6C34878D82A}">
                    <a16:rowId xmlns:a16="http://schemas.microsoft.com/office/drawing/2014/main" val="10002"/>
                  </a:ext>
                </a:extLst>
              </a:tr>
            </a:tbl>
          </a:graphicData>
        </a:graphic>
      </p:graphicFrame>
      <p:sp>
        <p:nvSpPr>
          <p:cNvPr id="24" name="TextBox 23">
            <a:extLst>
              <a:ext uri="{FF2B5EF4-FFF2-40B4-BE49-F238E27FC236}">
                <a16:creationId xmlns:a16="http://schemas.microsoft.com/office/drawing/2014/main" id="{054F6514-561D-2907-2716-776D7C8AC53C}"/>
              </a:ext>
            </a:extLst>
          </p:cNvPr>
          <p:cNvSpPr txBox="1">
            <a:spLocks noChangeArrowheads="1"/>
          </p:cNvSpPr>
          <p:nvPr/>
        </p:nvSpPr>
        <p:spPr bwMode="auto">
          <a:xfrm>
            <a:off x="4900613" y="2552700"/>
            <a:ext cx="30956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Employee_ApComs table</a:t>
            </a:r>
          </a:p>
        </p:txBody>
      </p:sp>
      <p:graphicFrame>
        <p:nvGraphicFramePr>
          <p:cNvPr id="3" name="Table 2">
            <a:extLst>
              <a:ext uri="{FF2B5EF4-FFF2-40B4-BE49-F238E27FC236}">
                <a16:creationId xmlns:a16="http://schemas.microsoft.com/office/drawing/2014/main" id="{E4B45329-F86A-AA24-67CF-3979A8FC6084}"/>
              </a:ext>
            </a:extLst>
          </p:cNvPr>
          <p:cNvGraphicFramePr>
            <a:graphicFrameLocks noGrp="1"/>
          </p:cNvGraphicFramePr>
          <p:nvPr/>
        </p:nvGraphicFramePr>
        <p:xfrm>
          <a:off x="1612900" y="4797425"/>
          <a:ext cx="3263900" cy="1482724"/>
        </p:xfrm>
        <a:graphic>
          <a:graphicData uri="http://schemas.openxmlformats.org/drawingml/2006/table">
            <a:tbl>
              <a:tblPr firstRow="1" bandRow="1">
                <a:tableStyleId>{9D7B26C5-4107-4FEC-AEDC-1716B250A1EF}</a:tableStyleId>
              </a:tblPr>
              <a:tblGrid>
                <a:gridCol w="3263900">
                  <a:extLst>
                    <a:ext uri="{9D8B030D-6E8A-4147-A177-3AD203B41FA5}">
                      <a16:colId xmlns:a16="http://schemas.microsoft.com/office/drawing/2014/main" val="20000"/>
                    </a:ext>
                  </a:extLst>
                </a:gridCol>
              </a:tblGrid>
              <a:tr h="370681">
                <a:tc>
                  <a:txBody>
                    <a:bodyPr/>
                    <a:lstStyle/>
                    <a:p>
                      <a:pPr algn="ctr"/>
                      <a:r>
                        <a:rPr lang="en-CA" sz="1800" dirty="0"/>
                        <a:t>Name</a:t>
                      </a:r>
                    </a:p>
                  </a:txBody>
                  <a:tcPr marL="91437" marR="91437" marT="45700" marB="45700"/>
                </a:tc>
                <a:extLst>
                  <a:ext uri="{0D108BD9-81ED-4DB2-BD59-A6C34878D82A}">
                    <a16:rowId xmlns:a16="http://schemas.microsoft.com/office/drawing/2014/main" val="10000"/>
                  </a:ext>
                </a:extLst>
              </a:tr>
              <a:tr h="370681">
                <a:tc>
                  <a:txBody>
                    <a:bodyPr/>
                    <a:lstStyle/>
                    <a:p>
                      <a:pPr algn="ctr"/>
                      <a:r>
                        <a:rPr lang="en-CA" sz="1800" dirty="0"/>
                        <a:t>Aamir Ali</a:t>
                      </a:r>
                    </a:p>
                  </a:txBody>
                  <a:tcPr marL="91437" marR="91437" marT="45700" marB="45700"/>
                </a:tc>
                <a:extLst>
                  <a:ext uri="{0D108BD9-81ED-4DB2-BD59-A6C34878D82A}">
                    <a16:rowId xmlns:a16="http://schemas.microsoft.com/office/drawing/2014/main" val="10001"/>
                  </a:ext>
                </a:extLst>
              </a:tr>
              <a:tr h="370681">
                <a:tc>
                  <a:txBody>
                    <a:bodyPr/>
                    <a:lstStyle/>
                    <a:p>
                      <a:pPr algn="ctr"/>
                      <a:r>
                        <a:rPr lang="en-CA" sz="1800" dirty="0"/>
                        <a:t>Sadaf</a:t>
                      </a:r>
                      <a:r>
                        <a:rPr lang="en-CA" sz="1800" baseline="0" dirty="0"/>
                        <a:t> Amin</a:t>
                      </a:r>
                      <a:endParaRPr lang="en-CA" sz="1800" dirty="0"/>
                    </a:p>
                  </a:txBody>
                  <a:tcPr marL="91437" marR="91437" marT="45700" marB="45700"/>
                </a:tc>
                <a:extLst>
                  <a:ext uri="{0D108BD9-81ED-4DB2-BD59-A6C34878D82A}">
                    <a16:rowId xmlns:a16="http://schemas.microsoft.com/office/drawing/2014/main" val="10002"/>
                  </a:ext>
                </a:extLst>
              </a:tr>
              <a:tr h="370681">
                <a:tc>
                  <a:txBody>
                    <a:bodyPr/>
                    <a:lstStyle/>
                    <a:p>
                      <a:pPr algn="ctr"/>
                      <a:r>
                        <a:rPr lang="en-CA" sz="1800" dirty="0"/>
                        <a:t>Imran Anwer</a:t>
                      </a:r>
                    </a:p>
                  </a:txBody>
                  <a:tcPr marL="91437" marR="91437" marT="45700" marB="45700"/>
                </a:tc>
                <a:extLst>
                  <a:ext uri="{0D108BD9-81ED-4DB2-BD59-A6C34878D82A}">
                    <a16:rowId xmlns:a16="http://schemas.microsoft.com/office/drawing/2014/main" val="10003"/>
                  </a:ext>
                </a:extLst>
              </a:tr>
            </a:tbl>
          </a:graphicData>
        </a:graphic>
      </p:graphicFrame>
      <p:grpSp>
        <p:nvGrpSpPr>
          <p:cNvPr id="4" name="Group 6">
            <a:extLst>
              <a:ext uri="{FF2B5EF4-FFF2-40B4-BE49-F238E27FC236}">
                <a16:creationId xmlns:a16="http://schemas.microsoft.com/office/drawing/2014/main" id="{154747B0-9D09-0A66-21A5-F4BACE4B8040}"/>
              </a:ext>
            </a:extLst>
          </p:cNvPr>
          <p:cNvGrpSpPr>
            <a:grpSpLocks/>
          </p:cNvGrpSpPr>
          <p:nvPr/>
        </p:nvGrpSpPr>
        <p:grpSpPr bwMode="auto">
          <a:xfrm>
            <a:off x="4151313" y="5410200"/>
            <a:ext cx="4216400" cy="1295400"/>
            <a:chOff x="4283968" y="5792453"/>
            <a:chExt cx="4248472" cy="942307"/>
          </a:xfrm>
        </p:grpSpPr>
        <p:sp>
          <p:nvSpPr>
            <p:cNvPr id="69670" name="Rectangle 3">
              <a:extLst>
                <a:ext uri="{FF2B5EF4-FFF2-40B4-BE49-F238E27FC236}">
                  <a16:creationId xmlns:a16="http://schemas.microsoft.com/office/drawing/2014/main" id="{E7D9327E-4FF7-03CB-8474-7CAD669E916F}"/>
                </a:ext>
              </a:extLst>
            </p:cNvPr>
            <p:cNvSpPr>
              <a:spLocks noChangeArrowheads="1"/>
            </p:cNvSpPr>
            <p:nvPr/>
          </p:nvSpPr>
          <p:spPr bwMode="auto">
            <a:xfrm>
              <a:off x="5544108" y="5792453"/>
              <a:ext cx="2988332" cy="942307"/>
            </a:xfrm>
            <a:prstGeom prst="rect">
              <a:avLst/>
            </a:prstGeom>
            <a:solidFill>
              <a:srgbClr val="7F7B00">
                <a:alpha val="30196"/>
              </a:srgbClr>
            </a:solidFill>
            <a:ln w="9525" algn="ctr">
              <a:solidFill>
                <a:srgbClr val="7F7B00"/>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Aamir Ali</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is listed only once as UNION does not list duplicates rows</a:t>
              </a:r>
            </a:p>
          </p:txBody>
        </p:sp>
        <p:cxnSp>
          <p:nvCxnSpPr>
            <p:cNvPr id="69671" name="Straight Arrow Connector 5">
              <a:extLst>
                <a:ext uri="{FF2B5EF4-FFF2-40B4-BE49-F238E27FC236}">
                  <a16:creationId xmlns:a16="http://schemas.microsoft.com/office/drawing/2014/main" id="{0D9843BB-C2D3-3235-9369-70BE6C73B12B}"/>
                </a:ext>
              </a:extLst>
            </p:cNvPr>
            <p:cNvCxnSpPr>
              <a:cxnSpLocks noChangeShapeType="1"/>
              <a:stCxn id="69670" idx="1"/>
            </p:cNvCxnSpPr>
            <p:nvPr/>
          </p:nvCxnSpPr>
          <p:spPr bwMode="auto">
            <a:xfrm flipH="1" flipV="1">
              <a:off x="4283968" y="5792453"/>
              <a:ext cx="1260140" cy="471154"/>
            </a:xfrm>
            <a:prstGeom prst="straightConnector1">
              <a:avLst/>
            </a:prstGeom>
            <a:noFill/>
            <a:ln w="25400" algn="ctr">
              <a:solidFill>
                <a:srgbClr val="7F7B00"/>
              </a:solidFill>
              <a:round/>
              <a:headEnd/>
              <a:tailEnd type="triangle" w="med" len="med"/>
            </a:ln>
            <a:extLst>
              <a:ext uri="{909E8E84-426E-40DD-AFC4-6F175D3DCCD1}">
                <a14:hiddenFill xmlns:a14="http://schemas.microsoft.com/office/drawing/2010/main">
                  <a:noFill/>
                </a14:hiddenFill>
              </a:ext>
            </a:extLst>
          </p:spPr>
        </p:cxnSp>
      </p:grpSp>
      <p:sp>
        <p:nvSpPr>
          <p:cNvPr id="14" name="Snip Single Corner Rectangle 13">
            <a:extLst>
              <a:ext uri="{FF2B5EF4-FFF2-40B4-BE49-F238E27FC236}">
                <a16:creationId xmlns:a16="http://schemas.microsoft.com/office/drawing/2014/main" id="{F790A28A-A5B8-C2CD-D01F-75A7C67A199B}"/>
              </a:ext>
            </a:extLst>
          </p:cNvPr>
          <p:cNvSpPr/>
          <p:nvPr/>
        </p:nvSpPr>
        <p:spPr bwMode="auto">
          <a:xfrm>
            <a:off x="76200" y="4797425"/>
            <a:ext cx="1092200" cy="431800"/>
          </a:xfrm>
          <a:prstGeom prst="snip1Rect">
            <a:avLst/>
          </a:prstGeom>
          <a:solidFill>
            <a:srgbClr val="FFFF00">
              <a:alpha val="30000"/>
            </a:srgbClr>
          </a:solidFill>
          <a:ln w="9525" cap="flat" cmpd="sng" algn="ctr">
            <a:solidFill>
              <a:srgbClr val="FFC000"/>
            </a:solidFill>
            <a:prstDash val="solid"/>
            <a:round/>
            <a:headEnd type="none" w="med" len="med"/>
            <a:tailEnd type="none" w="med" len="me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sz="2000" b="1"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Result:</a:t>
            </a:r>
          </a:p>
        </p:txBody>
      </p:sp>
      <p:sp>
        <p:nvSpPr>
          <p:cNvPr id="15" name="Snip Single Corner Rectangle 14">
            <a:extLst>
              <a:ext uri="{FF2B5EF4-FFF2-40B4-BE49-F238E27FC236}">
                <a16:creationId xmlns:a16="http://schemas.microsoft.com/office/drawing/2014/main" id="{F4775DBF-5AA6-0DEA-9810-165C31149E31}"/>
              </a:ext>
            </a:extLst>
          </p:cNvPr>
          <p:cNvSpPr/>
          <p:nvPr/>
        </p:nvSpPr>
        <p:spPr bwMode="auto">
          <a:xfrm>
            <a:off x="100013" y="3125788"/>
            <a:ext cx="828675" cy="431800"/>
          </a:xfrm>
          <a:prstGeom prst="snip1Rect">
            <a:avLst/>
          </a:prstGeom>
          <a:solidFill>
            <a:srgbClr val="FFFF00">
              <a:alpha val="30000"/>
            </a:srgbClr>
          </a:solidFill>
          <a:ln w="9525" cap="flat" cmpd="sng" algn="ctr">
            <a:solidFill>
              <a:srgbClr val="FFC000"/>
            </a:solidFill>
            <a:prstDash val="solid"/>
            <a:round/>
            <a:headEnd type="none" w="med" len="med"/>
            <a:tailEnd type="none" w="med" len="med"/>
          </a:ln>
          <a:effec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2000" b="1"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Run:</a:t>
            </a:r>
          </a:p>
        </p:txBody>
      </p:sp>
      <p:sp>
        <p:nvSpPr>
          <p:cNvPr id="17" name="Rectangle 16">
            <a:extLst>
              <a:ext uri="{FF2B5EF4-FFF2-40B4-BE49-F238E27FC236}">
                <a16:creationId xmlns:a16="http://schemas.microsoft.com/office/drawing/2014/main" id="{626EBFAF-CEB0-124A-A8FB-35C3161318EC}"/>
              </a:ext>
            </a:extLst>
          </p:cNvPr>
          <p:cNvSpPr/>
          <p:nvPr/>
        </p:nvSpPr>
        <p:spPr bwMode="auto">
          <a:xfrm>
            <a:off x="5000625" y="4086225"/>
            <a:ext cx="3367088" cy="1225550"/>
          </a:xfrm>
          <a:prstGeom prst="rect">
            <a:avLst/>
          </a:prstGeom>
          <a:ln>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sz="1600" b="0" i="0" u="none" strike="noStrike" kern="1200" cap="none" spc="0" normalizeH="0" baseline="0" noProof="0" dirty="0">
                <a:ln>
                  <a:noFill/>
                </a:ln>
                <a:solidFill>
                  <a:srgbClr val="FFFFFF"/>
                </a:solidFill>
                <a:effectLst/>
                <a:uLnTx/>
                <a:uFillTx/>
                <a:latin typeface="Arial" charset="0"/>
                <a:ea typeface="+mn-ea"/>
                <a:cs typeface="+mn-cs"/>
              </a:rPr>
              <a:t>This is a valid UNION. Both SELECT produce same number of columns (1 column) and same data type (VARCHAR)</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up)">
                                      <p:cBhvr>
                                        <p:cTn id="7" dur="500"/>
                                        <p:tgtEl>
                                          <p:spTgt spid="21"/>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wipe(left)">
                                      <p:cBhvr>
                                        <p:cTn id="11" dur="500"/>
                                        <p:tgtEl>
                                          <p:spTgt spid="22"/>
                                        </p:tgtEl>
                                      </p:cBhvr>
                                    </p:animEffect>
                                  </p:childTnLst>
                                </p:cTn>
                              </p:par>
                            </p:childTnLst>
                          </p:cTn>
                        </p:par>
                        <p:par>
                          <p:cTn id="12" fill="hold" nodeType="afterGroup">
                            <p:stCondLst>
                              <p:cond delay="1000"/>
                            </p:stCondLst>
                            <p:childTnLst>
                              <p:par>
                                <p:cTn id="13" presetID="22" presetClass="entr" presetSubtype="1" fill="hold" nodeType="after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wipe(up)">
                                      <p:cBhvr>
                                        <p:cTn id="15" dur="500"/>
                                        <p:tgtEl>
                                          <p:spTgt spid="23"/>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wipe(left)">
                                      <p:cBhvr>
                                        <p:cTn id="19" dur="500"/>
                                        <p:tgtEl>
                                          <p:spTgt spid="24"/>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wipe(up)">
                                      <p:cBhvr>
                                        <p:cTn id="24" dur="500"/>
                                        <p:tgtEl>
                                          <p:spTgt spid="15"/>
                                        </p:tgtEl>
                                      </p:cBhvr>
                                    </p:animEffect>
                                  </p:childTnLst>
                                </p:cTn>
                              </p:par>
                            </p:childTnLst>
                          </p:cTn>
                        </p:par>
                        <p:par>
                          <p:cTn id="25" fill="hold" nodeType="afterGroup">
                            <p:stCondLst>
                              <p:cond delay="500"/>
                            </p:stCondLst>
                            <p:childTnLst>
                              <p:par>
                                <p:cTn id="26" presetID="22" presetClass="entr" presetSubtype="8" fill="hold" nodeType="afterEffect">
                                  <p:stCondLst>
                                    <p:cond delay="0"/>
                                  </p:stCondLst>
                                  <p:childTnLst>
                                    <p:set>
                                      <p:cBhvr>
                                        <p:cTn id="27" dur="1" fill="hold">
                                          <p:stCondLst>
                                            <p:cond delay="0"/>
                                          </p:stCondLst>
                                        </p:cTn>
                                        <p:tgtEl>
                                          <p:spTgt spid="15">
                                            <p:txEl>
                                              <p:pRg st="0" end="0"/>
                                            </p:txEl>
                                          </p:spTgt>
                                        </p:tgtEl>
                                        <p:attrNameLst>
                                          <p:attrName>style.visibility</p:attrName>
                                        </p:attrNameLst>
                                      </p:cBhvr>
                                      <p:to>
                                        <p:strVal val="visible"/>
                                      </p:to>
                                    </p:set>
                                    <p:animEffect transition="in" filter="wipe(left)">
                                      <p:cBhvr>
                                        <p:cTn id="28" dur="500"/>
                                        <p:tgtEl>
                                          <p:spTgt spid="15">
                                            <p:txEl>
                                              <p:pRg st="0" end="0"/>
                                            </p:txEl>
                                          </p:spTgt>
                                        </p:tgtEl>
                                      </p:cBhvr>
                                    </p:animEffect>
                                  </p:childTnLst>
                                </p:cTn>
                              </p:par>
                            </p:childTnLst>
                          </p:cTn>
                        </p:par>
                        <p:par>
                          <p:cTn id="29" fill="hold" nodeType="afterGroup">
                            <p:stCondLst>
                              <p:cond delay="1000"/>
                            </p:stCondLst>
                            <p:childTnLst>
                              <p:par>
                                <p:cTn id="30" presetID="16" presetClass="entr" presetSubtype="21" fill="hold" grpId="0" nodeType="after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barn(inVertical)">
                                      <p:cBhvr>
                                        <p:cTn id="32" dur="500"/>
                                        <p:tgtEl>
                                          <p:spTgt spid="2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2" presetClass="entr" presetSubtype="0" fill="hold" grpId="0" nodeType="click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1000"/>
                                        <p:tgtEl>
                                          <p:spTgt spid="17"/>
                                        </p:tgtEl>
                                      </p:cBhvr>
                                    </p:animEffect>
                                    <p:anim calcmode="lin" valueType="num">
                                      <p:cBhvr>
                                        <p:cTn id="38" dur="1000" fill="hold"/>
                                        <p:tgtEl>
                                          <p:spTgt spid="17"/>
                                        </p:tgtEl>
                                        <p:attrNameLst>
                                          <p:attrName>ppt_x</p:attrName>
                                        </p:attrNameLst>
                                      </p:cBhvr>
                                      <p:tavLst>
                                        <p:tav tm="0">
                                          <p:val>
                                            <p:strVal val="#ppt_x"/>
                                          </p:val>
                                        </p:tav>
                                        <p:tav tm="100000">
                                          <p:val>
                                            <p:strVal val="#ppt_x"/>
                                          </p:val>
                                        </p:tav>
                                      </p:tavLst>
                                    </p:anim>
                                    <p:anim calcmode="lin" valueType="num">
                                      <p:cBhvr>
                                        <p:cTn id="39"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1" fill="hold" grpId="0" nodeType="click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wipe(up)">
                                      <p:cBhvr>
                                        <p:cTn id="44" dur="500"/>
                                        <p:tgtEl>
                                          <p:spTgt spid="14"/>
                                        </p:tgtEl>
                                      </p:cBhvr>
                                    </p:animEffect>
                                  </p:childTnLst>
                                </p:cTn>
                              </p:par>
                            </p:childTnLst>
                          </p:cTn>
                        </p:par>
                        <p:par>
                          <p:cTn id="45" fill="hold" nodeType="afterGroup">
                            <p:stCondLst>
                              <p:cond delay="500"/>
                            </p:stCondLst>
                            <p:childTnLst>
                              <p:par>
                                <p:cTn id="46" presetID="22" presetClass="entr" presetSubtype="8" fill="hold" nodeType="afterEffect">
                                  <p:stCondLst>
                                    <p:cond delay="0"/>
                                  </p:stCondLst>
                                  <p:childTnLst>
                                    <p:set>
                                      <p:cBhvr>
                                        <p:cTn id="47" dur="1" fill="hold">
                                          <p:stCondLst>
                                            <p:cond delay="0"/>
                                          </p:stCondLst>
                                        </p:cTn>
                                        <p:tgtEl>
                                          <p:spTgt spid="14">
                                            <p:txEl>
                                              <p:pRg st="0" end="0"/>
                                            </p:txEl>
                                          </p:spTgt>
                                        </p:tgtEl>
                                        <p:attrNameLst>
                                          <p:attrName>style.visibility</p:attrName>
                                        </p:attrNameLst>
                                      </p:cBhvr>
                                      <p:to>
                                        <p:strVal val="visible"/>
                                      </p:to>
                                    </p:set>
                                    <p:animEffect transition="in" filter="wipe(left)">
                                      <p:cBhvr>
                                        <p:cTn id="48" dur="500"/>
                                        <p:tgtEl>
                                          <p:spTgt spid="14">
                                            <p:txEl>
                                              <p:pRg st="0" end="0"/>
                                            </p:txEl>
                                          </p:spTgt>
                                        </p:tgtEl>
                                      </p:cBhvr>
                                    </p:animEffect>
                                  </p:childTnLst>
                                </p:cTn>
                              </p:par>
                            </p:childTnLst>
                          </p:cTn>
                        </p:par>
                        <p:par>
                          <p:cTn id="49" fill="hold" nodeType="afterGroup">
                            <p:stCondLst>
                              <p:cond delay="1000"/>
                            </p:stCondLst>
                            <p:childTnLst>
                              <p:par>
                                <p:cTn id="50" presetID="22" presetClass="entr" presetSubtype="1" fill="hold" nodeType="afterEffect">
                                  <p:stCondLst>
                                    <p:cond delay="0"/>
                                  </p:stCondLst>
                                  <p:childTnLst>
                                    <p:set>
                                      <p:cBhvr>
                                        <p:cTn id="51" dur="1" fill="hold">
                                          <p:stCondLst>
                                            <p:cond delay="0"/>
                                          </p:stCondLst>
                                        </p:cTn>
                                        <p:tgtEl>
                                          <p:spTgt spid="3"/>
                                        </p:tgtEl>
                                        <p:attrNameLst>
                                          <p:attrName>style.visibility</p:attrName>
                                        </p:attrNameLst>
                                      </p:cBhvr>
                                      <p:to>
                                        <p:strVal val="visible"/>
                                      </p:to>
                                    </p:set>
                                    <p:animEffect transition="in" filter="wipe(up)">
                                      <p:cBhvr>
                                        <p:cTn id="52" dur="500"/>
                                        <p:tgtEl>
                                          <p:spTgt spid="3"/>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 presetClass="entr" presetSubtype="4" fill="hold" nodeType="clickEffect">
                                  <p:stCondLst>
                                    <p:cond delay="0"/>
                                  </p:stCondLst>
                                  <p:childTnLst>
                                    <p:set>
                                      <p:cBhvr>
                                        <p:cTn id="56" dur="1" fill="hold">
                                          <p:stCondLst>
                                            <p:cond delay="0"/>
                                          </p:stCondLst>
                                        </p:cTn>
                                        <p:tgtEl>
                                          <p:spTgt spid="4"/>
                                        </p:tgtEl>
                                        <p:attrNameLst>
                                          <p:attrName>style.visibility</p:attrName>
                                        </p:attrNameLst>
                                      </p:cBhvr>
                                      <p:to>
                                        <p:strVal val="visible"/>
                                      </p:to>
                                    </p:set>
                                    <p:anim calcmode="lin" valueType="num">
                                      <p:cBhvr additive="base">
                                        <p:cTn id="57" dur="500" fill="hold"/>
                                        <p:tgtEl>
                                          <p:spTgt spid="4"/>
                                        </p:tgtEl>
                                        <p:attrNameLst>
                                          <p:attrName>ppt_x</p:attrName>
                                        </p:attrNameLst>
                                      </p:cBhvr>
                                      <p:tavLst>
                                        <p:tav tm="0">
                                          <p:val>
                                            <p:strVal val="#ppt_x"/>
                                          </p:val>
                                        </p:tav>
                                        <p:tav tm="100000">
                                          <p:val>
                                            <p:strVal val="#ppt_x"/>
                                          </p:val>
                                        </p:tav>
                                      </p:tavLst>
                                    </p:anim>
                                    <p:anim calcmode="lin" valueType="num">
                                      <p:cBhvr additive="base">
                                        <p:cTn id="5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2" grpId="0"/>
      <p:bldP spid="24" grpId="0"/>
      <p:bldP spid="14" grpId="0" animBg="1"/>
      <p:bldP spid="15" grpId="0" animBg="1"/>
      <p:bldP spid="17" grpId="0" animBg="1"/>
    </p:bldLst>
  </p:timing>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CA0B5-97C4-5678-AEEC-15E4476267DC}"/>
              </a:ext>
            </a:extLst>
          </p:cNvPr>
          <p:cNvSpPr>
            <a:spLocks noGrp="1"/>
          </p:cNvSpPr>
          <p:nvPr>
            <p:ph type="title"/>
          </p:nvPr>
        </p:nvSpPr>
        <p:spPr>
          <a:xfrm>
            <a:off x="457200" y="0"/>
            <a:ext cx="7620000" cy="1143000"/>
          </a:xfrm>
        </p:spPr>
        <p:txBody>
          <a:bodyPr/>
          <a:lstStyle/>
          <a:p>
            <a:pPr algn="ctr">
              <a:defRPr/>
            </a:pPr>
            <a:r>
              <a:rPr lang="en-US" dirty="0"/>
              <a:t>UNION</a:t>
            </a:r>
            <a:endParaRPr lang="en-MY" dirty="0"/>
          </a:p>
        </p:txBody>
      </p:sp>
      <p:sp>
        <p:nvSpPr>
          <p:cNvPr id="20" name="Rounded Rectangle 19">
            <a:extLst>
              <a:ext uri="{FF2B5EF4-FFF2-40B4-BE49-F238E27FC236}">
                <a16:creationId xmlns:a16="http://schemas.microsoft.com/office/drawing/2014/main" id="{0CFB85FC-66CB-3CAE-E776-B6FB5B62FDEB}"/>
              </a:ext>
            </a:extLst>
          </p:cNvPr>
          <p:cNvSpPr/>
          <p:nvPr/>
        </p:nvSpPr>
        <p:spPr bwMode="auto">
          <a:xfrm>
            <a:off x="1319213" y="3133725"/>
            <a:ext cx="7037387" cy="1374775"/>
          </a:xfrm>
          <a:prstGeom prst="roundRect">
            <a:avLst/>
          </a:prstGeom>
          <a:solidFill>
            <a:schemeClr val="accent6">
              <a:alpha val="30000"/>
            </a:schemeClr>
          </a:solidFill>
          <a:ln w="9525" cap="flat" cmpd="sng" algn="ctr">
            <a:solidFill>
              <a:schemeClr val="accent6"/>
            </a:solidFill>
            <a:prstDash val="solid"/>
            <a:round/>
            <a:headEnd type="none" w="med" len="med"/>
            <a:tailEnd type="none" w="med" len="med"/>
          </a:ln>
          <a:effectLst/>
        </p:spPr>
        <p:txBody>
          <a:bodyPr anchor="ctr" anchorCtr="1"/>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2800" b="0" i="0" u="none" strike="noStrike" kern="1200" cap="none" spc="0" normalizeH="0" baseline="0" noProof="0" dirty="0">
                <a:ln>
                  <a:noFill/>
                </a:ln>
                <a:solidFill>
                  <a:srgbClr val="2F2B20"/>
                </a:solidFill>
                <a:effectLst/>
                <a:uLnTx/>
                <a:uFillTx/>
                <a:latin typeface="Arial" charset="0"/>
                <a:ea typeface="+mn-ea"/>
                <a:cs typeface="Arial" panose="020B0604020202020204" pitchFamily="34" charset="0"/>
              </a:rPr>
              <a:t>SELECT Name FROM </a:t>
            </a:r>
            <a:r>
              <a:rPr kumimoji="0" lang="en-CA" sz="2800" b="0" i="0" u="none" strike="noStrike" kern="1200" cap="none" spc="0" normalizeH="0" baseline="0" noProof="0" dirty="0" err="1">
                <a:ln>
                  <a:noFill/>
                </a:ln>
                <a:solidFill>
                  <a:srgbClr val="2F2B20"/>
                </a:solidFill>
                <a:effectLst/>
                <a:uLnTx/>
                <a:uFillTx/>
                <a:latin typeface="Arial" charset="0"/>
                <a:ea typeface="+mn-ea"/>
                <a:cs typeface="Arial" panose="020B0604020202020204" pitchFamily="34" charset="0"/>
              </a:rPr>
              <a:t>Employee_HEC</a:t>
            </a:r>
            <a:r>
              <a:rPr kumimoji="0" lang="en-CA" sz="2800" b="0" i="0" u="none" strike="noStrike" kern="1200" cap="none" spc="0" normalizeH="0" baseline="0" noProof="0" dirty="0">
                <a:ln>
                  <a:noFill/>
                </a:ln>
                <a:solidFill>
                  <a:srgbClr val="2F2B20"/>
                </a:solidFill>
                <a:effectLst/>
                <a:uLnTx/>
                <a:uFillTx/>
                <a:latin typeface="Arial" charset="0"/>
                <a:ea typeface="+mn-ea"/>
                <a:cs typeface="Arial" panose="020B0604020202020204" pitchFamily="34" charset="0"/>
              </a:rPr>
              <a:t> UNION ALL SELECT Name FROM </a:t>
            </a:r>
            <a:r>
              <a:rPr kumimoji="0" lang="en-CA" sz="2800" b="0" i="0" u="none" strike="noStrike" kern="1200" cap="none" spc="0" normalizeH="0" baseline="0" noProof="0" dirty="0" err="1">
                <a:ln>
                  <a:noFill/>
                </a:ln>
                <a:solidFill>
                  <a:srgbClr val="2F2B20"/>
                </a:solidFill>
                <a:effectLst/>
                <a:uLnTx/>
                <a:uFillTx/>
                <a:latin typeface="Arial" charset="0"/>
                <a:ea typeface="+mn-ea"/>
                <a:cs typeface="Arial" panose="020B0604020202020204" pitchFamily="34" charset="0"/>
              </a:rPr>
              <a:t>Employee_ApComs</a:t>
            </a:r>
            <a:r>
              <a:rPr kumimoji="0" lang="en-CA" sz="2800" b="0" i="0" u="none" strike="noStrike" kern="1200" cap="none" spc="0" normalizeH="0" baseline="0" noProof="0" dirty="0">
                <a:ln>
                  <a:noFill/>
                </a:ln>
                <a:solidFill>
                  <a:srgbClr val="2F2B20"/>
                </a:solidFill>
                <a:effectLst/>
                <a:uLnTx/>
                <a:uFillTx/>
                <a:latin typeface="Arial" charset="0"/>
                <a:ea typeface="+mn-ea"/>
                <a:cs typeface="Arial" panose="020B0604020202020204" pitchFamily="34" charset="0"/>
              </a:rPr>
              <a:t>;</a:t>
            </a:r>
          </a:p>
        </p:txBody>
      </p:sp>
      <p:graphicFrame>
        <p:nvGraphicFramePr>
          <p:cNvPr id="21" name="Table 20">
            <a:extLst>
              <a:ext uri="{FF2B5EF4-FFF2-40B4-BE49-F238E27FC236}">
                <a16:creationId xmlns:a16="http://schemas.microsoft.com/office/drawing/2014/main" id="{A1B41CDA-6FCC-F917-FB85-54189CA5B084}"/>
              </a:ext>
            </a:extLst>
          </p:cNvPr>
          <p:cNvGraphicFramePr>
            <a:graphicFrameLocks noGrp="1"/>
          </p:cNvGraphicFramePr>
          <p:nvPr/>
        </p:nvGraphicFramePr>
        <p:xfrm>
          <a:off x="76200" y="1436688"/>
          <a:ext cx="3816350" cy="1112838"/>
        </p:xfrm>
        <a:graphic>
          <a:graphicData uri="http://schemas.openxmlformats.org/drawingml/2006/table">
            <a:tbl>
              <a:tblPr firstRow="1" bandRow="1">
                <a:tableStyleId>{3B4B98B0-60AC-42C2-AFA5-B58CD77FA1E5}</a:tableStyleId>
              </a:tblPr>
              <a:tblGrid>
                <a:gridCol w="1908175">
                  <a:extLst>
                    <a:ext uri="{9D8B030D-6E8A-4147-A177-3AD203B41FA5}">
                      <a16:colId xmlns:a16="http://schemas.microsoft.com/office/drawing/2014/main" val="20000"/>
                    </a:ext>
                  </a:extLst>
                </a:gridCol>
                <a:gridCol w="1908175">
                  <a:extLst>
                    <a:ext uri="{9D8B030D-6E8A-4147-A177-3AD203B41FA5}">
                      <a16:colId xmlns:a16="http://schemas.microsoft.com/office/drawing/2014/main" val="20001"/>
                    </a:ext>
                  </a:extLst>
                </a:gridCol>
              </a:tblGrid>
              <a:tr h="370946">
                <a:tc>
                  <a:txBody>
                    <a:bodyPr/>
                    <a:lstStyle/>
                    <a:p>
                      <a:pPr algn="ctr"/>
                      <a:r>
                        <a:rPr lang="en-CA" sz="1800" dirty="0" err="1"/>
                        <a:t>ICNumber</a:t>
                      </a:r>
                      <a:endParaRPr lang="en-CA" sz="1800" dirty="0"/>
                    </a:p>
                  </a:txBody>
                  <a:tcPr marL="91438" marR="91438" marT="45733" marB="45733"/>
                </a:tc>
                <a:tc>
                  <a:txBody>
                    <a:bodyPr/>
                    <a:lstStyle/>
                    <a:p>
                      <a:pPr algn="ctr"/>
                      <a:r>
                        <a:rPr lang="en-CA" sz="1800" dirty="0"/>
                        <a:t>Name</a:t>
                      </a:r>
                    </a:p>
                  </a:txBody>
                  <a:tcPr marL="91438" marR="91438" marT="45733" marB="45733"/>
                </a:tc>
                <a:extLst>
                  <a:ext uri="{0D108BD9-81ED-4DB2-BD59-A6C34878D82A}">
                    <a16:rowId xmlns:a16="http://schemas.microsoft.com/office/drawing/2014/main" val="10000"/>
                  </a:ext>
                </a:extLst>
              </a:tr>
              <a:tr h="370946">
                <a:tc>
                  <a:txBody>
                    <a:bodyPr/>
                    <a:lstStyle/>
                    <a:p>
                      <a:pPr algn="ctr"/>
                      <a:r>
                        <a:rPr lang="en-CA" sz="1800" dirty="0"/>
                        <a:t>12345</a:t>
                      </a:r>
                    </a:p>
                  </a:txBody>
                  <a:tcPr marL="91438" marR="91438" marT="45733" marB="45733"/>
                </a:tc>
                <a:tc>
                  <a:txBody>
                    <a:bodyPr/>
                    <a:lstStyle/>
                    <a:p>
                      <a:pPr algn="ctr"/>
                      <a:r>
                        <a:rPr lang="en-CA" sz="1800" dirty="0"/>
                        <a:t>Aamir Ali</a:t>
                      </a:r>
                    </a:p>
                  </a:txBody>
                  <a:tcPr marL="91438" marR="91438" marT="45733" marB="45733"/>
                </a:tc>
                <a:extLst>
                  <a:ext uri="{0D108BD9-81ED-4DB2-BD59-A6C34878D82A}">
                    <a16:rowId xmlns:a16="http://schemas.microsoft.com/office/drawing/2014/main" val="10001"/>
                  </a:ext>
                </a:extLst>
              </a:tr>
              <a:tr h="370946">
                <a:tc>
                  <a:txBody>
                    <a:bodyPr/>
                    <a:lstStyle/>
                    <a:p>
                      <a:pPr algn="ctr"/>
                      <a:r>
                        <a:rPr lang="en-CA" sz="1800" dirty="0"/>
                        <a:t>54321</a:t>
                      </a:r>
                    </a:p>
                  </a:txBody>
                  <a:tcPr marL="91438" marR="91438" marT="45733" marB="45733"/>
                </a:tc>
                <a:tc>
                  <a:txBody>
                    <a:bodyPr/>
                    <a:lstStyle/>
                    <a:p>
                      <a:pPr algn="ctr"/>
                      <a:r>
                        <a:rPr lang="en-CA" sz="1800" dirty="0"/>
                        <a:t>Sadaf</a:t>
                      </a:r>
                      <a:r>
                        <a:rPr lang="en-CA" sz="1800" baseline="0" dirty="0"/>
                        <a:t> Amin</a:t>
                      </a:r>
                      <a:endParaRPr lang="en-CA" sz="1800" dirty="0"/>
                    </a:p>
                  </a:txBody>
                  <a:tcPr marL="91438" marR="91438" marT="45733" marB="45733"/>
                </a:tc>
                <a:extLst>
                  <a:ext uri="{0D108BD9-81ED-4DB2-BD59-A6C34878D82A}">
                    <a16:rowId xmlns:a16="http://schemas.microsoft.com/office/drawing/2014/main" val="10002"/>
                  </a:ext>
                </a:extLst>
              </a:tr>
            </a:tbl>
          </a:graphicData>
        </a:graphic>
      </p:graphicFrame>
      <p:sp>
        <p:nvSpPr>
          <p:cNvPr id="70670" name="TextBox 21">
            <a:extLst>
              <a:ext uri="{FF2B5EF4-FFF2-40B4-BE49-F238E27FC236}">
                <a16:creationId xmlns:a16="http://schemas.microsoft.com/office/drawing/2014/main" id="{C09484B5-1B16-396B-32F6-8DA7DAFEE015}"/>
              </a:ext>
            </a:extLst>
          </p:cNvPr>
          <p:cNvSpPr txBox="1">
            <a:spLocks noChangeArrowheads="1"/>
          </p:cNvSpPr>
          <p:nvPr/>
        </p:nvSpPr>
        <p:spPr bwMode="auto">
          <a:xfrm>
            <a:off x="544513" y="2552700"/>
            <a:ext cx="28797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Employee_HEC table</a:t>
            </a:r>
          </a:p>
        </p:txBody>
      </p:sp>
      <p:graphicFrame>
        <p:nvGraphicFramePr>
          <p:cNvPr id="23" name="Table 22">
            <a:extLst>
              <a:ext uri="{FF2B5EF4-FFF2-40B4-BE49-F238E27FC236}">
                <a16:creationId xmlns:a16="http://schemas.microsoft.com/office/drawing/2014/main" id="{6E65357B-FB6B-49D5-5DE7-1269C2AE9233}"/>
              </a:ext>
            </a:extLst>
          </p:cNvPr>
          <p:cNvGraphicFramePr>
            <a:graphicFrameLocks noGrp="1"/>
          </p:cNvGraphicFramePr>
          <p:nvPr/>
        </p:nvGraphicFramePr>
        <p:xfrm>
          <a:off x="4540250" y="1436688"/>
          <a:ext cx="3816350" cy="1112838"/>
        </p:xfrm>
        <a:graphic>
          <a:graphicData uri="http://schemas.openxmlformats.org/drawingml/2006/table">
            <a:tbl>
              <a:tblPr firstRow="1" bandRow="1">
                <a:tableStyleId>{C083E6E3-FA7D-4D7B-A595-EF9225AFEA82}</a:tableStyleId>
              </a:tblPr>
              <a:tblGrid>
                <a:gridCol w="1908175">
                  <a:extLst>
                    <a:ext uri="{9D8B030D-6E8A-4147-A177-3AD203B41FA5}">
                      <a16:colId xmlns:a16="http://schemas.microsoft.com/office/drawing/2014/main" val="20000"/>
                    </a:ext>
                  </a:extLst>
                </a:gridCol>
                <a:gridCol w="1908175">
                  <a:extLst>
                    <a:ext uri="{9D8B030D-6E8A-4147-A177-3AD203B41FA5}">
                      <a16:colId xmlns:a16="http://schemas.microsoft.com/office/drawing/2014/main" val="20001"/>
                    </a:ext>
                  </a:extLst>
                </a:gridCol>
              </a:tblGrid>
              <a:tr h="370946">
                <a:tc>
                  <a:txBody>
                    <a:bodyPr/>
                    <a:lstStyle/>
                    <a:p>
                      <a:pPr algn="ctr"/>
                      <a:r>
                        <a:rPr lang="en-CA" sz="1800" dirty="0" err="1"/>
                        <a:t>ICNumber</a:t>
                      </a:r>
                      <a:endParaRPr lang="en-CA" sz="1800" dirty="0"/>
                    </a:p>
                  </a:txBody>
                  <a:tcPr marL="91438" marR="91438" marT="45733" marB="45733"/>
                </a:tc>
                <a:tc>
                  <a:txBody>
                    <a:bodyPr/>
                    <a:lstStyle/>
                    <a:p>
                      <a:pPr algn="ctr"/>
                      <a:r>
                        <a:rPr lang="en-CA" sz="1800" dirty="0"/>
                        <a:t>Name</a:t>
                      </a:r>
                    </a:p>
                  </a:txBody>
                  <a:tcPr marL="91438" marR="91438" marT="45733" marB="45733"/>
                </a:tc>
                <a:extLst>
                  <a:ext uri="{0D108BD9-81ED-4DB2-BD59-A6C34878D82A}">
                    <a16:rowId xmlns:a16="http://schemas.microsoft.com/office/drawing/2014/main" val="10000"/>
                  </a:ext>
                </a:extLst>
              </a:tr>
              <a:tr h="370946">
                <a:tc>
                  <a:txBody>
                    <a:bodyPr/>
                    <a:lstStyle/>
                    <a:p>
                      <a:pPr algn="ctr"/>
                      <a:r>
                        <a:rPr lang="en-CA" sz="1800" dirty="0"/>
                        <a:t>12345</a:t>
                      </a:r>
                    </a:p>
                  </a:txBody>
                  <a:tcPr marL="91438" marR="91438" marT="45733" marB="45733"/>
                </a:tc>
                <a:tc>
                  <a:txBody>
                    <a:bodyPr/>
                    <a:lstStyle/>
                    <a:p>
                      <a:pPr algn="ctr"/>
                      <a:r>
                        <a:rPr lang="en-CA" sz="1800" dirty="0"/>
                        <a:t>Aamir Ali</a:t>
                      </a:r>
                    </a:p>
                  </a:txBody>
                  <a:tcPr marL="91438" marR="91438" marT="45733" marB="45733"/>
                </a:tc>
                <a:extLst>
                  <a:ext uri="{0D108BD9-81ED-4DB2-BD59-A6C34878D82A}">
                    <a16:rowId xmlns:a16="http://schemas.microsoft.com/office/drawing/2014/main" val="10001"/>
                  </a:ext>
                </a:extLst>
              </a:tr>
              <a:tr h="370946">
                <a:tc>
                  <a:txBody>
                    <a:bodyPr/>
                    <a:lstStyle/>
                    <a:p>
                      <a:pPr algn="ctr"/>
                      <a:r>
                        <a:rPr lang="en-CA" sz="1800" dirty="0"/>
                        <a:t>32145</a:t>
                      </a:r>
                    </a:p>
                  </a:txBody>
                  <a:tcPr marL="91438" marR="91438" marT="45733" marB="45733"/>
                </a:tc>
                <a:tc>
                  <a:txBody>
                    <a:bodyPr/>
                    <a:lstStyle/>
                    <a:p>
                      <a:pPr algn="ctr"/>
                      <a:r>
                        <a:rPr lang="en-CA" sz="1800" dirty="0"/>
                        <a:t>Imran Anwer</a:t>
                      </a:r>
                    </a:p>
                  </a:txBody>
                  <a:tcPr marL="91438" marR="91438" marT="45733" marB="45733"/>
                </a:tc>
                <a:extLst>
                  <a:ext uri="{0D108BD9-81ED-4DB2-BD59-A6C34878D82A}">
                    <a16:rowId xmlns:a16="http://schemas.microsoft.com/office/drawing/2014/main" val="10002"/>
                  </a:ext>
                </a:extLst>
              </a:tr>
            </a:tbl>
          </a:graphicData>
        </a:graphic>
      </p:graphicFrame>
      <p:sp>
        <p:nvSpPr>
          <p:cNvPr id="70681" name="TextBox 23">
            <a:extLst>
              <a:ext uri="{FF2B5EF4-FFF2-40B4-BE49-F238E27FC236}">
                <a16:creationId xmlns:a16="http://schemas.microsoft.com/office/drawing/2014/main" id="{AF27C680-A576-2013-7114-D263A1A52FB1}"/>
              </a:ext>
            </a:extLst>
          </p:cNvPr>
          <p:cNvSpPr txBox="1">
            <a:spLocks noChangeArrowheads="1"/>
          </p:cNvSpPr>
          <p:nvPr/>
        </p:nvSpPr>
        <p:spPr bwMode="auto">
          <a:xfrm>
            <a:off x="4900613" y="2552700"/>
            <a:ext cx="30956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Employee_ApComs table</a:t>
            </a:r>
          </a:p>
        </p:txBody>
      </p:sp>
      <p:graphicFrame>
        <p:nvGraphicFramePr>
          <p:cNvPr id="3" name="Table 2">
            <a:extLst>
              <a:ext uri="{FF2B5EF4-FFF2-40B4-BE49-F238E27FC236}">
                <a16:creationId xmlns:a16="http://schemas.microsoft.com/office/drawing/2014/main" id="{B6393E20-FE19-D94C-5B38-7847F707D933}"/>
              </a:ext>
            </a:extLst>
          </p:cNvPr>
          <p:cNvGraphicFramePr>
            <a:graphicFrameLocks noGrp="1"/>
          </p:cNvGraphicFramePr>
          <p:nvPr/>
        </p:nvGraphicFramePr>
        <p:xfrm>
          <a:off x="1763713" y="4670425"/>
          <a:ext cx="3263900" cy="1854200"/>
        </p:xfrm>
        <a:graphic>
          <a:graphicData uri="http://schemas.openxmlformats.org/drawingml/2006/table">
            <a:tbl>
              <a:tblPr firstRow="1" bandRow="1">
                <a:tableStyleId>{9D7B26C5-4107-4FEC-AEDC-1716B250A1EF}</a:tableStyleId>
              </a:tblPr>
              <a:tblGrid>
                <a:gridCol w="3263900">
                  <a:extLst>
                    <a:ext uri="{9D8B030D-6E8A-4147-A177-3AD203B41FA5}">
                      <a16:colId xmlns:a16="http://schemas.microsoft.com/office/drawing/2014/main" val="20000"/>
                    </a:ext>
                  </a:extLst>
                </a:gridCol>
              </a:tblGrid>
              <a:tr h="370840">
                <a:tc>
                  <a:txBody>
                    <a:bodyPr/>
                    <a:lstStyle/>
                    <a:p>
                      <a:pPr algn="ctr"/>
                      <a:r>
                        <a:rPr lang="en-CA" dirty="0"/>
                        <a:t>Name</a:t>
                      </a:r>
                    </a:p>
                  </a:txBody>
                  <a:tcPr marL="91437" marR="91437"/>
                </a:tc>
                <a:extLst>
                  <a:ext uri="{0D108BD9-81ED-4DB2-BD59-A6C34878D82A}">
                    <a16:rowId xmlns:a16="http://schemas.microsoft.com/office/drawing/2014/main" val="10000"/>
                  </a:ext>
                </a:extLst>
              </a:tr>
              <a:tr h="370840">
                <a:tc>
                  <a:txBody>
                    <a:bodyPr/>
                    <a:lstStyle/>
                    <a:p>
                      <a:pPr algn="ctr"/>
                      <a:r>
                        <a:rPr lang="en-CA" dirty="0"/>
                        <a:t>Aamir Ali</a:t>
                      </a:r>
                    </a:p>
                  </a:txBody>
                  <a:tcPr marL="91437" marR="91437"/>
                </a:tc>
                <a:extLst>
                  <a:ext uri="{0D108BD9-81ED-4DB2-BD59-A6C34878D82A}">
                    <a16:rowId xmlns:a16="http://schemas.microsoft.com/office/drawing/2014/main" val="10001"/>
                  </a:ext>
                </a:extLst>
              </a:tr>
              <a:tr h="370840">
                <a:tc>
                  <a:txBody>
                    <a:bodyPr/>
                    <a:lstStyle/>
                    <a:p>
                      <a:pPr algn="ctr"/>
                      <a:r>
                        <a:rPr lang="en-CA" dirty="0"/>
                        <a:t>Sadaf</a:t>
                      </a:r>
                      <a:r>
                        <a:rPr lang="en-CA" baseline="0" dirty="0"/>
                        <a:t> Amin</a:t>
                      </a:r>
                      <a:endParaRPr lang="en-CA" dirty="0"/>
                    </a:p>
                  </a:txBody>
                  <a:tcPr marL="91437" marR="91437"/>
                </a:tc>
                <a:extLst>
                  <a:ext uri="{0D108BD9-81ED-4DB2-BD59-A6C34878D82A}">
                    <a16:rowId xmlns:a16="http://schemas.microsoft.com/office/drawing/2014/main" val="10002"/>
                  </a:ext>
                </a:extLst>
              </a:tr>
              <a:tr h="370840">
                <a:tc>
                  <a:txBody>
                    <a:bodyPr/>
                    <a:lstStyle/>
                    <a:p>
                      <a:pPr algn="ctr"/>
                      <a:r>
                        <a:rPr lang="en-CA" dirty="0"/>
                        <a:t>Aamir Ali</a:t>
                      </a:r>
                    </a:p>
                  </a:txBody>
                  <a:tcPr marL="91437" marR="91437"/>
                </a:tc>
                <a:extLst>
                  <a:ext uri="{0D108BD9-81ED-4DB2-BD59-A6C34878D82A}">
                    <a16:rowId xmlns:a16="http://schemas.microsoft.com/office/drawing/2014/main" val="10003"/>
                  </a:ext>
                </a:extLst>
              </a:tr>
              <a:tr h="370840">
                <a:tc>
                  <a:txBody>
                    <a:bodyPr/>
                    <a:lstStyle/>
                    <a:p>
                      <a:pPr algn="ctr"/>
                      <a:r>
                        <a:rPr lang="en-CA" dirty="0"/>
                        <a:t>Imran Anwer</a:t>
                      </a:r>
                    </a:p>
                  </a:txBody>
                  <a:tcPr marL="91437" marR="91437"/>
                </a:tc>
                <a:extLst>
                  <a:ext uri="{0D108BD9-81ED-4DB2-BD59-A6C34878D82A}">
                    <a16:rowId xmlns:a16="http://schemas.microsoft.com/office/drawing/2014/main" val="10004"/>
                  </a:ext>
                </a:extLst>
              </a:tr>
            </a:tbl>
          </a:graphicData>
        </a:graphic>
      </p:graphicFrame>
      <p:sp>
        <p:nvSpPr>
          <p:cNvPr id="14" name="Snip Single Corner Rectangle 13">
            <a:extLst>
              <a:ext uri="{FF2B5EF4-FFF2-40B4-BE49-F238E27FC236}">
                <a16:creationId xmlns:a16="http://schemas.microsoft.com/office/drawing/2014/main" id="{92370CBB-58D4-0EF4-8B6E-DE50BF98CC94}"/>
              </a:ext>
            </a:extLst>
          </p:cNvPr>
          <p:cNvSpPr/>
          <p:nvPr/>
        </p:nvSpPr>
        <p:spPr bwMode="auto">
          <a:xfrm>
            <a:off x="227013" y="4695825"/>
            <a:ext cx="1092200" cy="433388"/>
          </a:xfrm>
          <a:prstGeom prst="snip1Rect">
            <a:avLst/>
          </a:prstGeom>
          <a:solidFill>
            <a:srgbClr val="FFFF00">
              <a:alpha val="30000"/>
            </a:srgbClr>
          </a:solidFill>
          <a:ln w="9525" cap="flat" cmpd="sng" algn="ctr">
            <a:solidFill>
              <a:srgbClr val="FFC000"/>
            </a:solidFill>
            <a:prstDash val="solid"/>
            <a:round/>
            <a:headEnd type="none" w="med" len="med"/>
            <a:tailEnd type="none" w="med" len="me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sz="2000" b="1"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Result:</a:t>
            </a:r>
          </a:p>
        </p:txBody>
      </p:sp>
      <p:sp>
        <p:nvSpPr>
          <p:cNvPr id="15" name="Snip Single Corner Rectangle 14">
            <a:extLst>
              <a:ext uri="{FF2B5EF4-FFF2-40B4-BE49-F238E27FC236}">
                <a16:creationId xmlns:a16="http://schemas.microsoft.com/office/drawing/2014/main" id="{80C412F2-22B4-8521-1353-AA2CD39439CB}"/>
              </a:ext>
            </a:extLst>
          </p:cNvPr>
          <p:cNvSpPr/>
          <p:nvPr/>
        </p:nvSpPr>
        <p:spPr bwMode="auto">
          <a:xfrm>
            <a:off x="250825" y="3125788"/>
            <a:ext cx="830263" cy="431800"/>
          </a:xfrm>
          <a:prstGeom prst="snip1Rect">
            <a:avLst/>
          </a:prstGeom>
          <a:solidFill>
            <a:srgbClr val="FFFF00">
              <a:alpha val="30000"/>
            </a:srgbClr>
          </a:solidFill>
          <a:ln w="9525" cap="flat" cmpd="sng" algn="ctr">
            <a:solidFill>
              <a:srgbClr val="FFC000"/>
            </a:solidFill>
            <a:prstDash val="solid"/>
            <a:round/>
            <a:headEnd type="none" w="med" len="med"/>
            <a:tailEnd type="none" w="med" len="med"/>
          </a:ln>
          <a:effec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2000" b="1"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Run:</a:t>
            </a:r>
          </a:p>
        </p:txBody>
      </p:sp>
      <p:grpSp>
        <p:nvGrpSpPr>
          <p:cNvPr id="4" name="Group 9">
            <a:extLst>
              <a:ext uri="{FF2B5EF4-FFF2-40B4-BE49-F238E27FC236}">
                <a16:creationId xmlns:a16="http://schemas.microsoft.com/office/drawing/2014/main" id="{513DD0B7-140A-C563-A3E1-7BF58982D3C4}"/>
              </a:ext>
            </a:extLst>
          </p:cNvPr>
          <p:cNvGrpSpPr>
            <a:grpSpLocks/>
          </p:cNvGrpSpPr>
          <p:nvPr/>
        </p:nvGrpSpPr>
        <p:grpSpPr bwMode="auto">
          <a:xfrm>
            <a:off x="4284663" y="4984750"/>
            <a:ext cx="4071937" cy="941388"/>
            <a:chOff x="4283968" y="5085184"/>
            <a:chExt cx="4248472" cy="942307"/>
          </a:xfrm>
        </p:grpSpPr>
        <p:grpSp>
          <p:nvGrpSpPr>
            <p:cNvPr id="70694" name="Group 6">
              <a:extLst>
                <a:ext uri="{FF2B5EF4-FFF2-40B4-BE49-F238E27FC236}">
                  <a16:creationId xmlns:a16="http://schemas.microsoft.com/office/drawing/2014/main" id="{EF3886FA-5917-B067-FD63-D59087DDE38E}"/>
                </a:ext>
              </a:extLst>
            </p:cNvPr>
            <p:cNvGrpSpPr>
              <a:grpSpLocks/>
            </p:cNvGrpSpPr>
            <p:nvPr/>
          </p:nvGrpSpPr>
          <p:grpSpPr bwMode="auto">
            <a:xfrm>
              <a:off x="4283968" y="5085184"/>
              <a:ext cx="4248472" cy="942307"/>
              <a:chOff x="4283968" y="4961259"/>
              <a:chExt cx="4248472" cy="942307"/>
            </a:xfrm>
          </p:grpSpPr>
          <p:sp>
            <p:nvSpPr>
              <p:cNvPr id="70696" name="Rectangle 3">
                <a:extLst>
                  <a:ext uri="{FF2B5EF4-FFF2-40B4-BE49-F238E27FC236}">
                    <a16:creationId xmlns:a16="http://schemas.microsoft.com/office/drawing/2014/main" id="{0677301C-23B7-8D0C-06C1-A2302E6D8625}"/>
                  </a:ext>
                </a:extLst>
              </p:cNvPr>
              <p:cNvSpPr>
                <a:spLocks noChangeArrowheads="1"/>
              </p:cNvSpPr>
              <p:nvPr/>
            </p:nvSpPr>
            <p:spPr bwMode="auto">
              <a:xfrm>
                <a:off x="5544108" y="4961259"/>
                <a:ext cx="2988332" cy="942307"/>
              </a:xfrm>
              <a:prstGeom prst="rect">
                <a:avLst/>
              </a:prstGeom>
              <a:solidFill>
                <a:srgbClr val="7F7B00">
                  <a:alpha val="30196"/>
                </a:srgbClr>
              </a:solidFill>
              <a:ln w="9525" algn="ctr">
                <a:solidFill>
                  <a:srgbClr val="7F7B00"/>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Aamir Ali is listed twice as UNION ALL allows duplicated rows </a:t>
                </a:r>
              </a:p>
            </p:txBody>
          </p:sp>
          <p:cxnSp>
            <p:nvCxnSpPr>
              <p:cNvPr id="70697" name="Straight Arrow Connector 5">
                <a:extLst>
                  <a:ext uri="{FF2B5EF4-FFF2-40B4-BE49-F238E27FC236}">
                    <a16:creationId xmlns:a16="http://schemas.microsoft.com/office/drawing/2014/main" id="{C18A5186-F3D0-FBC8-8D81-708B9EC91A19}"/>
                  </a:ext>
                </a:extLst>
              </p:cNvPr>
              <p:cNvCxnSpPr>
                <a:cxnSpLocks noChangeShapeType="1"/>
                <a:stCxn id="70696" idx="1"/>
              </p:cNvCxnSpPr>
              <p:nvPr/>
            </p:nvCxnSpPr>
            <p:spPr bwMode="auto">
              <a:xfrm flipH="1" flipV="1">
                <a:off x="4283968" y="5249291"/>
                <a:ext cx="1260140" cy="183122"/>
              </a:xfrm>
              <a:prstGeom prst="straightConnector1">
                <a:avLst/>
              </a:prstGeom>
              <a:noFill/>
              <a:ln w="25400" algn="ctr">
                <a:solidFill>
                  <a:srgbClr val="7F7B00"/>
                </a:solidFill>
                <a:round/>
                <a:headEnd/>
                <a:tailEnd type="triangle" w="med" len="med"/>
              </a:ln>
              <a:extLst>
                <a:ext uri="{909E8E84-426E-40DD-AFC4-6F175D3DCCD1}">
                  <a14:hiddenFill xmlns:a14="http://schemas.microsoft.com/office/drawing/2010/main">
                    <a:noFill/>
                  </a14:hiddenFill>
                </a:ext>
              </a:extLst>
            </p:spPr>
          </p:cxnSp>
        </p:grpSp>
        <p:cxnSp>
          <p:nvCxnSpPr>
            <p:cNvPr id="70695" name="Straight Arrow Connector 15">
              <a:extLst>
                <a:ext uri="{FF2B5EF4-FFF2-40B4-BE49-F238E27FC236}">
                  <a16:creationId xmlns:a16="http://schemas.microsoft.com/office/drawing/2014/main" id="{06CC6858-00DC-6EEF-52A7-EE7D7D6391EB}"/>
                </a:ext>
              </a:extLst>
            </p:cNvPr>
            <p:cNvCxnSpPr>
              <a:cxnSpLocks noChangeShapeType="1"/>
              <a:stCxn id="70696" idx="1"/>
            </p:cNvCxnSpPr>
            <p:nvPr/>
          </p:nvCxnSpPr>
          <p:spPr bwMode="auto">
            <a:xfrm flipH="1">
              <a:off x="4283968" y="5556338"/>
              <a:ext cx="1260140" cy="471153"/>
            </a:xfrm>
            <a:prstGeom prst="straightConnector1">
              <a:avLst/>
            </a:prstGeom>
            <a:noFill/>
            <a:ln w="25400" algn="ctr">
              <a:solidFill>
                <a:srgbClr val="7F7B00"/>
              </a:solidFill>
              <a:round/>
              <a:headEnd/>
              <a:tailEnd type="triangle" w="med" len="med"/>
            </a:ln>
            <a:extLst>
              <a:ext uri="{909E8E84-426E-40DD-AFC4-6F175D3DCCD1}">
                <a14:hiddenFill xmlns:a14="http://schemas.microsoft.com/office/drawing/2010/main">
                  <a:noFill/>
                </a14:hiddenFill>
              </a:ext>
            </a:extLst>
          </p:spPr>
        </p:cxnSp>
      </p:gr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up)">
                                      <p:cBhvr>
                                        <p:cTn id="7" dur="500"/>
                                        <p:tgtEl>
                                          <p:spTgt spid="15"/>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15">
                                            <p:txEl>
                                              <p:pRg st="0" end="0"/>
                                            </p:txEl>
                                          </p:spTgt>
                                        </p:tgtEl>
                                        <p:attrNameLst>
                                          <p:attrName>style.visibility</p:attrName>
                                        </p:attrNameLst>
                                      </p:cBhvr>
                                      <p:to>
                                        <p:strVal val="visible"/>
                                      </p:to>
                                    </p:set>
                                    <p:animEffect transition="in" filter="wipe(left)">
                                      <p:cBhvr>
                                        <p:cTn id="11" dur="500"/>
                                        <p:tgtEl>
                                          <p:spTgt spid="15">
                                            <p:txEl>
                                              <p:pRg st="0" end="0"/>
                                            </p:txEl>
                                          </p:spTgt>
                                        </p:tgtEl>
                                      </p:cBhvr>
                                    </p:animEffect>
                                  </p:childTnLst>
                                </p:cTn>
                              </p:par>
                            </p:childTnLst>
                          </p:cTn>
                        </p:par>
                        <p:par>
                          <p:cTn id="12" fill="hold" nodeType="afterGroup">
                            <p:stCondLst>
                              <p:cond delay="1000"/>
                            </p:stCondLst>
                            <p:childTnLst>
                              <p:par>
                                <p:cTn id="13" presetID="16" presetClass="entr" presetSubtype="21" fill="hold" grpId="0" nodeType="after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barn(inVertical)">
                                      <p:cBhvr>
                                        <p:cTn id="15" dur="500"/>
                                        <p:tgtEl>
                                          <p:spTgt spid="20"/>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1" fill="hold" grpId="0" nodeType="click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wipe(up)">
                                      <p:cBhvr>
                                        <p:cTn id="20" dur="500"/>
                                        <p:tgtEl>
                                          <p:spTgt spid="14"/>
                                        </p:tgtEl>
                                      </p:cBhvr>
                                    </p:animEffect>
                                  </p:childTnLst>
                                </p:cTn>
                              </p:par>
                            </p:childTnLst>
                          </p:cTn>
                        </p:par>
                        <p:par>
                          <p:cTn id="21" fill="hold" nodeType="afterGroup">
                            <p:stCondLst>
                              <p:cond delay="500"/>
                            </p:stCondLst>
                            <p:childTnLst>
                              <p:par>
                                <p:cTn id="22" presetID="22" presetClass="entr" presetSubtype="8" fill="hold" nodeType="afterEffect">
                                  <p:stCondLst>
                                    <p:cond delay="0"/>
                                  </p:stCondLst>
                                  <p:childTnLst>
                                    <p:set>
                                      <p:cBhvr>
                                        <p:cTn id="23" dur="1" fill="hold">
                                          <p:stCondLst>
                                            <p:cond delay="0"/>
                                          </p:stCondLst>
                                        </p:cTn>
                                        <p:tgtEl>
                                          <p:spTgt spid="14">
                                            <p:txEl>
                                              <p:pRg st="0" end="0"/>
                                            </p:txEl>
                                          </p:spTgt>
                                        </p:tgtEl>
                                        <p:attrNameLst>
                                          <p:attrName>style.visibility</p:attrName>
                                        </p:attrNameLst>
                                      </p:cBhvr>
                                      <p:to>
                                        <p:strVal val="visible"/>
                                      </p:to>
                                    </p:set>
                                    <p:animEffect transition="in" filter="wipe(left)">
                                      <p:cBhvr>
                                        <p:cTn id="24" dur="500"/>
                                        <p:tgtEl>
                                          <p:spTgt spid="14">
                                            <p:txEl>
                                              <p:pRg st="0" end="0"/>
                                            </p:txEl>
                                          </p:spTgt>
                                        </p:tgtEl>
                                      </p:cBhvr>
                                    </p:animEffect>
                                  </p:childTnLst>
                                </p:cTn>
                              </p:par>
                            </p:childTnLst>
                          </p:cTn>
                        </p:par>
                        <p:par>
                          <p:cTn id="25" fill="hold" nodeType="afterGroup">
                            <p:stCondLst>
                              <p:cond delay="1000"/>
                            </p:stCondLst>
                            <p:childTnLst>
                              <p:par>
                                <p:cTn id="26" presetID="22" presetClass="entr" presetSubtype="1" fill="hold" nodeType="after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wipe(up)">
                                      <p:cBhvr>
                                        <p:cTn id="28" dur="500"/>
                                        <p:tgtEl>
                                          <p:spTgt spid="3"/>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4" fill="hold" nodeType="clickEffect">
                                  <p:stCondLst>
                                    <p:cond delay="0"/>
                                  </p:stCondLst>
                                  <p:childTnLst>
                                    <p:set>
                                      <p:cBhvr>
                                        <p:cTn id="32" dur="1" fill="hold">
                                          <p:stCondLst>
                                            <p:cond delay="0"/>
                                          </p:stCondLst>
                                        </p:cTn>
                                        <p:tgtEl>
                                          <p:spTgt spid="4"/>
                                        </p:tgtEl>
                                        <p:attrNameLst>
                                          <p:attrName>style.visibility</p:attrName>
                                        </p:attrNameLst>
                                      </p:cBhvr>
                                      <p:to>
                                        <p:strVal val="visible"/>
                                      </p:to>
                                    </p:set>
                                    <p:anim calcmode="lin" valueType="num">
                                      <p:cBhvr additive="base">
                                        <p:cTn id="33" dur="500" fill="hold"/>
                                        <p:tgtEl>
                                          <p:spTgt spid="4"/>
                                        </p:tgtEl>
                                        <p:attrNameLst>
                                          <p:attrName>ppt_x</p:attrName>
                                        </p:attrNameLst>
                                      </p:cBhvr>
                                      <p:tavLst>
                                        <p:tav tm="0">
                                          <p:val>
                                            <p:strVal val="#ppt_x"/>
                                          </p:val>
                                        </p:tav>
                                        <p:tav tm="100000">
                                          <p:val>
                                            <p:strVal val="#ppt_x"/>
                                          </p:val>
                                        </p:tav>
                                      </p:tavLst>
                                    </p:anim>
                                    <p:anim calcmode="lin" valueType="num">
                                      <p:cBhvr additive="base">
                                        <p:cTn id="3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4" grpId="0" animBg="1"/>
      <p:bldP spid="15" grpId="0" animBg="1"/>
    </p:bldLst>
  </p:timing>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1F7ED-2F06-201B-D2A5-56053AF5D0D1}"/>
              </a:ext>
            </a:extLst>
          </p:cNvPr>
          <p:cNvSpPr>
            <a:spLocks noGrp="1"/>
          </p:cNvSpPr>
          <p:nvPr>
            <p:ph type="title"/>
          </p:nvPr>
        </p:nvSpPr>
        <p:spPr>
          <a:xfrm>
            <a:off x="457200" y="0"/>
            <a:ext cx="7620000" cy="1143000"/>
          </a:xfrm>
        </p:spPr>
        <p:txBody>
          <a:bodyPr/>
          <a:lstStyle/>
          <a:p>
            <a:pPr algn="ctr">
              <a:defRPr/>
            </a:pPr>
            <a:r>
              <a:rPr lang="en-US" dirty="0"/>
              <a:t>INTRODUCTION</a:t>
            </a:r>
            <a:endParaRPr lang="en-MY" dirty="0"/>
          </a:p>
        </p:txBody>
      </p:sp>
      <p:sp>
        <p:nvSpPr>
          <p:cNvPr id="11" name="Rounded Rectangle 10">
            <a:extLst>
              <a:ext uri="{FF2B5EF4-FFF2-40B4-BE49-F238E27FC236}">
                <a16:creationId xmlns:a16="http://schemas.microsoft.com/office/drawing/2014/main" id="{C1808E6F-E6DA-8679-98CA-35EBF8C50DF1}"/>
              </a:ext>
            </a:extLst>
          </p:cNvPr>
          <p:cNvSpPr>
            <a:spLocks noChangeArrowheads="1"/>
          </p:cNvSpPr>
          <p:nvPr/>
        </p:nvSpPr>
        <p:spPr bwMode="auto">
          <a:xfrm>
            <a:off x="304800" y="1484313"/>
            <a:ext cx="7926388" cy="1296987"/>
          </a:xfrm>
          <a:prstGeom prst="roundRect">
            <a:avLst>
              <a:gd name="adj" fmla="val 16667"/>
            </a:avLst>
          </a:prstGeom>
          <a:solidFill>
            <a:srgbClr val="7F7B00">
              <a:alpha val="30196"/>
            </a:srgbClr>
          </a:solidFill>
          <a:ln w="9525" algn="ctr">
            <a:solidFill>
              <a:srgbClr val="7F7B00"/>
            </a:solidFill>
            <a:round/>
            <a:headEnd/>
            <a:tailEnd/>
          </a:ln>
        </p:spPr>
        <p:txBody>
          <a:bodyPr anchor="ctr" anchorCtr="1"/>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
                <a:srgbClr val="FF6600"/>
              </a:buClr>
              <a:buSzTx/>
              <a:buFontTx/>
              <a:buNone/>
              <a:tabLst/>
              <a:defRPr/>
            </a:pPr>
            <a:r>
              <a:rPr kumimoji="0" lang="en-CA" altLang="en-US" sz="3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A function is a part of a larger program that performs a specific task</a:t>
            </a:r>
            <a:endParaRPr kumimoji="0" lang="en-US" altLang="en-US" sz="3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16" name="Content Placeholder 2">
            <a:extLst>
              <a:ext uri="{FF2B5EF4-FFF2-40B4-BE49-F238E27FC236}">
                <a16:creationId xmlns:a16="http://schemas.microsoft.com/office/drawing/2014/main" id="{8CDB81BF-866C-CE2D-2A57-A92B0004BFB6}"/>
              </a:ext>
            </a:extLst>
          </p:cNvPr>
          <p:cNvSpPr txBox="1">
            <a:spLocks/>
          </p:cNvSpPr>
          <p:nvPr/>
        </p:nvSpPr>
        <p:spPr bwMode="auto">
          <a:xfrm>
            <a:off x="250825" y="3213100"/>
            <a:ext cx="8569325"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For example in Microsoft Word</a:t>
            </a:r>
            <a:endParaRPr kumimoji="0" lang="en-US" altLang="en-US" sz="32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US" altLang="en-US" sz="32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US" altLang="en-US" sz="32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rPr>
              <a:t> </a:t>
            </a: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pic>
        <p:nvPicPr>
          <p:cNvPr id="1027" name="Picture 3">
            <a:extLst>
              <a:ext uri="{FF2B5EF4-FFF2-40B4-BE49-F238E27FC236}">
                <a16:creationId xmlns:a16="http://schemas.microsoft.com/office/drawing/2014/main" id="{2B1B2EF9-9A78-AE23-231C-A1FC35DE8B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71643" b="76060"/>
          <a:stretch>
            <a:fillRect/>
          </a:stretch>
        </p:blipFill>
        <p:spPr bwMode="auto">
          <a:xfrm>
            <a:off x="152400" y="3863975"/>
            <a:ext cx="4762500" cy="2332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 name="Group 24">
            <a:extLst>
              <a:ext uri="{FF2B5EF4-FFF2-40B4-BE49-F238E27FC236}">
                <a16:creationId xmlns:a16="http://schemas.microsoft.com/office/drawing/2014/main" id="{6E49741A-FADE-B230-5F5F-744462A5C428}"/>
              </a:ext>
            </a:extLst>
          </p:cNvPr>
          <p:cNvGrpSpPr>
            <a:grpSpLocks/>
          </p:cNvGrpSpPr>
          <p:nvPr/>
        </p:nvGrpSpPr>
        <p:grpSpPr bwMode="auto">
          <a:xfrm>
            <a:off x="2457450" y="3863975"/>
            <a:ext cx="5930900" cy="1166813"/>
            <a:chOff x="635737" y="8143295"/>
            <a:chExt cx="6120679" cy="1166561"/>
          </a:xfrm>
        </p:grpSpPr>
        <p:sp>
          <p:nvSpPr>
            <p:cNvPr id="26" name="TextBox 25">
              <a:extLst>
                <a:ext uri="{FF2B5EF4-FFF2-40B4-BE49-F238E27FC236}">
                  <a16:creationId xmlns:a16="http://schemas.microsoft.com/office/drawing/2014/main" id="{E582E1AE-46AF-AA9B-425D-CC0C34B262D0}"/>
                </a:ext>
              </a:extLst>
            </p:cNvPr>
            <p:cNvSpPr txBox="1"/>
            <p:nvPr/>
          </p:nvSpPr>
          <p:spPr>
            <a:xfrm>
              <a:off x="3660034" y="8143295"/>
              <a:ext cx="3096382" cy="407900"/>
            </a:xfrm>
            <a:prstGeom prst="roundRect">
              <a:avLst/>
            </a:prstGeom>
            <a:ln/>
          </p:spPr>
          <p:style>
            <a:lnRef idx="1">
              <a:schemeClr val="accent4"/>
            </a:lnRef>
            <a:fillRef idx="2">
              <a:schemeClr val="accent4"/>
            </a:fillRef>
            <a:effectRef idx="1">
              <a:schemeClr val="accent4"/>
            </a:effectRef>
            <a:fontRef idx="minor">
              <a:schemeClr val="dk1"/>
            </a:fontRef>
          </p:style>
          <p:txBody>
            <a:bodyP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sz="1800" b="0" i="0" u="none" strike="noStrike" kern="1200" cap="none" spc="0" normalizeH="0" baseline="0" noProof="0" dirty="0">
                  <a:ln>
                    <a:noFill/>
                  </a:ln>
                  <a:solidFill>
                    <a:srgbClr val="2F2B20"/>
                  </a:solidFill>
                  <a:effectLst/>
                  <a:uLnTx/>
                  <a:uFillTx/>
                  <a:latin typeface="Calibri"/>
                  <a:ea typeface="+mn-ea"/>
                  <a:cs typeface="+mn-cs"/>
                </a:rPr>
                <a:t>Function that bolded words</a:t>
              </a:r>
            </a:p>
          </p:txBody>
        </p:sp>
        <p:cxnSp>
          <p:nvCxnSpPr>
            <p:cNvPr id="27" name="Straight Arrow Connector 26">
              <a:extLst>
                <a:ext uri="{FF2B5EF4-FFF2-40B4-BE49-F238E27FC236}">
                  <a16:creationId xmlns:a16="http://schemas.microsoft.com/office/drawing/2014/main" id="{F6F33C07-436A-972A-E534-B18D8EB424A4}"/>
                </a:ext>
              </a:extLst>
            </p:cNvPr>
            <p:cNvCxnSpPr>
              <a:stCxn id="26" idx="1"/>
            </p:cNvCxnSpPr>
            <p:nvPr/>
          </p:nvCxnSpPr>
          <p:spPr bwMode="auto">
            <a:xfrm flipH="1">
              <a:off x="635737" y="8348039"/>
              <a:ext cx="3024297" cy="961817"/>
            </a:xfrm>
            <a:prstGeom prst="straightConnector1">
              <a:avLst/>
            </a:prstGeom>
            <a:ln>
              <a:headEnd type="none" w="med" len="med"/>
              <a:tailEnd type="triangle"/>
            </a:ln>
          </p:spPr>
          <p:style>
            <a:lnRef idx="1">
              <a:schemeClr val="accent4"/>
            </a:lnRef>
            <a:fillRef idx="2">
              <a:schemeClr val="accent4"/>
            </a:fillRef>
            <a:effectRef idx="1">
              <a:schemeClr val="accent4"/>
            </a:effectRef>
            <a:fontRef idx="minor">
              <a:schemeClr val="dk1"/>
            </a:fontRef>
          </p:style>
        </p:cxnSp>
      </p:grpSp>
      <p:grpSp>
        <p:nvGrpSpPr>
          <p:cNvPr id="4" name="Group 27">
            <a:extLst>
              <a:ext uri="{FF2B5EF4-FFF2-40B4-BE49-F238E27FC236}">
                <a16:creationId xmlns:a16="http://schemas.microsoft.com/office/drawing/2014/main" id="{8610486C-DC6E-CEC0-73D8-1B7A904FA94E}"/>
              </a:ext>
            </a:extLst>
          </p:cNvPr>
          <p:cNvGrpSpPr>
            <a:grpSpLocks/>
          </p:cNvGrpSpPr>
          <p:nvPr/>
        </p:nvGrpSpPr>
        <p:grpSpPr bwMode="auto">
          <a:xfrm>
            <a:off x="3644900" y="4581525"/>
            <a:ext cx="4743450" cy="714375"/>
            <a:chOff x="1859873" y="8143295"/>
            <a:chExt cx="4896543" cy="715089"/>
          </a:xfrm>
        </p:grpSpPr>
        <p:sp>
          <p:nvSpPr>
            <p:cNvPr id="29" name="TextBox 28">
              <a:extLst>
                <a:ext uri="{FF2B5EF4-FFF2-40B4-BE49-F238E27FC236}">
                  <a16:creationId xmlns:a16="http://schemas.microsoft.com/office/drawing/2014/main" id="{37FC51A3-C7CD-5C33-C9BA-5233362BABCE}"/>
                </a:ext>
              </a:extLst>
            </p:cNvPr>
            <p:cNvSpPr txBox="1"/>
            <p:nvPr/>
          </p:nvSpPr>
          <p:spPr>
            <a:xfrm>
              <a:off x="3659205" y="8143295"/>
              <a:ext cx="3097211" cy="715089"/>
            </a:xfrm>
            <a:prstGeom prst="roundRect">
              <a:avLst/>
            </a:prstGeom>
            <a:ln/>
          </p:spPr>
          <p:style>
            <a:lnRef idx="1">
              <a:schemeClr val="accent2"/>
            </a:lnRef>
            <a:fillRef idx="2">
              <a:schemeClr val="accent2"/>
            </a:fillRef>
            <a:effectRef idx="1">
              <a:schemeClr val="accent2"/>
            </a:effectRef>
            <a:fontRef idx="minor">
              <a:schemeClr val="dk1"/>
            </a:fontRef>
          </p:style>
          <p:txBody>
            <a:bodyP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sz="1800" b="0" i="0" u="none" strike="noStrike" kern="1200" cap="none" spc="0" normalizeH="0" baseline="0" noProof="0" dirty="0">
                  <a:ln>
                    <a:noFill/>
                  </a:ln>
                  <a:solidFill>
                    <a:srgbClr val="2F2B20"/>
                  </a:solidFill>
                  <a:effectLst/>
                  <a:uLnTx/>
                  <a:uFillTx/>
                  <a:latin typeface="Calibri"/>
                  <a:ea typeface="+mn-ea"/>
                  <a:cs typeface="+mn-cs"/>
                </a:rPr>
                <a:t>Function that changes font size</a:t>
              </a:r>
            </a:p>
          </p:txBody>
        </p:sp>
        <p:cxnSp>
          <p:nvCxnSpPr>
            <p:cNvPr id="30" name="Straight Arrow Connector 29">
              <a:extLst>
                <a:ext uri="{FF2B5EF4-FFF2-40B4-BE49-F238E27FC236}">
                  <a16:creationId xmlns:a16="http://schemas.microsoft.com/office/drawing/2014/main" id="{484DB05F-9AC8-6559-B6DD-93E7706ACBA4}"/>
                </a:ext>
              </a:extLst>
            </p:cNvPr>
            <p:cNvCxnSpPr>
              <a:stCxn id="29" idx="1"/>
            </p:cNvCxnSpPr>
            <p:nvPr/>
          </p:nvCxnSpPr>
          <p:spPr bwMode="auto">
            <a:xfrm flipH="1" flipV="1">
              <a:off x="1859873" y="8321273"/>
              <a:ext cx="1799332" cy="179567"/>
            </a:xfrm>
            <a:prstGeom prst="straightConnector1">
              <a:avLst/>
            </a:prstGeom>
            <a:ln>
              <a:headEnd type="none" w="med" len="med"/>
              <a:tailEnd type="triangle"/>
            </a:ln>
          </p:spPr>
          <p:style>
            <a:lnRef idx="1">
              <a:schemeClr val="accent2"/>
            </a:lnRef>
            <a:fillRef idx="2">
              <a:schemeClr val="accent2"/>
            </a:fillRef>
            <a:effectRef idx="1">
              <a:schemeClr val="accent2"/>
            </a:effectRef>
            <a:fontRef idx="minor">
              <a:schemeClr val="dk1"/>
            </a:fontRef>
          </p:style>
        </p:cxnSp>
      </p:grpSp>
      <p:grpSp>
        <p:nvGrpSpPr>
          <p:cNvPr id="5" name="Group 30">
            <a:extLst>
              <a:ext uri="{FF2B5EF4-FFF2-40B4-BE49-F238E27FC236}">
                <a16:creationId xmlns:a16="http://schemas.microsoft.com/office/drawing/2014/main" id="{D4C942F6-290A-7610-B5F1-7E4FC39FEE6A}"/>
              </a:ext>
            </a:extLst>
          </p:cNvPr>
          <p:cNvGrpSpPr>
            <a:grpSpLocks/>
          </p:cNvGrpSpPr>
          <p:nvPr/>
        </p:nvGrpSpPr>
        <p:grpSpPr bwMode="auto">
          <a:xfrm>
            <a:off x="4760913" y="5295900"/>
            <a:ext cx="3627437" cy="982663"/>
            <a:chOff x="3012001" y="7826139"/>
            <a:chExt cx="3744416" cy="982927"/>
          </a:xfrm>
        </p:grpSpPr>
        <p:sp>
          <p:nvSpPr>
            <p:cNvPr id="32" name="TextBox 31">
              <a:extLst>
                <a:ext uri="{FF2B5EF4-FFF2-40B4-BE49-F238E27FC236}">
                  <a16:creationId xmlns:a16="http://schemas.microsoft.com/office/drawing/2014/main" id="{4DFCDAA8-0D56-1816-20DB-25D716FBF3BE}"/>
                </a:ext>
              </a:extLst>
            </p:cNvPr>
            <p:cNvSpPr txBox="1"/>
            <p:nvPr/>
          </p:nvSpPr>
          <p:spPr>
            <a:xfrm>
              <a:off x="3659285" y="8094499"/>
              <a:ext cx="3097132" cy="714567"/>
            </a:xfrm>
            <a:prstGeom prst="roundRect">
              <a:avLst/>
            </a:prstGeom>
            <a:ln/>
          </p:spPr>
          <p:style>
            <a:lnRef idx="1">
              <a:schemeClr val="accent5"/>
            </a:lnRef>
            <a:fillRef idx="2">
              <a:schemeClr val="accent5"/>
            </a:fillRef>
            <a:effectRef idx="1">
              <a:schemeClr val="accent5"/>
            </a:effectRef>
            <a:fontRef idx="minor">
              <a:schemeClr val="dk1"/>
            </a:fontRef>
          </p:style>
          <p:txBody>
            <a:bodyP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sz="1800" b="0" i="0" u="none" strike="noStrike" kern="1200" cap="none" spc="0" normalizeH="0" baseline="0" noProof="0" dirty="0">
                  <a:ln>
                    <a:noFill/>
                  </a:ln>
                  <a:solidFill>
                    <a:srgbClr val="2F2B20"/>
                  </a:solidFill>
                  <a:effectLst/>
                  <a:uLnTx/>
                  <a:uFillTx/>
                  <a:latin typeface="Calibri"/>
                  <a:ea typeface="+mn-ea"/>
                  <a:cs typeface="+mn-cs"/>
                </a:rPr>
                <a:t>Function that highlight words</a:t>
              </a:r>
            </a:p>
          </p:txBody>
        </p:sp>
        <p:cxnSp>
          <p:nvCxnSpPr>
            <p:cNvPr id="33" name="Straight Arrow Connector 32">
              <a:extLst>
                <a:ext uri="{FF2B5EF4-FFF2-40B4-BE49-F238E27FC236}">
                  <a16:creationId xmlns:a16="http://schemas.microsoft.com/office/drawing/2014/main" id="{9DA7E02E-0167-A6A1-B7DB-A58247EDA86F}"/>
                </a:ext>
              </a:extLst>
            </p:cNvPr>
            <p:cNvCxnSpPr>
              <a:stCxn id="32" idx="1"/>
            </p:cNvCxnSpPr>
            <p:nvPr/>
          </p:nvCxnSpPr>
          <p:spPr bwMode="auto">
            <a:xfrm flipH="1" flipV="1">
              <a:off x="3012001" y="7826139"/>
              <a:ext cx="647284" cy="625643"/>
            </a:xfrm>
            <a:prstGeom prst="straightConnector1">
              <a:avLst/>
            </a:prstGeom>
            <a:ln>
              <a:headEnd type="none" w="med" len="med"/>
              <a:tailEnd type="triangle"/>
            </a:ln>
          </p:spPr>
          <p:style>
            <a:lnRef idx="1">
              <a:schemeClr val="accent5"/>
            </a:lnRef>
            <a:fillRef idx="2">
              <a:schemeClr val="accent5"/>
            </a:fillRef>
            <a:effectRef idx="1">
              <a:schemeClr val="accent5"/>
            </a:effectRef>
            <a:fontRef idx="minor">
              <a:schemeClr val="dk1"/>
            </a:fontRef>
          </p:style>
        </p:cxnSp>
      </p:gr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up)">
                                      <p:cBhvr>
                                        <p:cTn id="7" dur="500"/>
                                        <p:tgtEl>
                                          <p:spTgt spid="1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6">
                                            <p:txEl>
                                              <p:pRg st="0" end="0"/>
                                            </p:txEl>
                                          </p:spTgt>
                                        </p:tgtEl>
                                        <p:attrNameLst>
                                          <p:attrName>style.visibility</p:attrName>
                                        </p:attrNameLst>
                                      </p:cBhvr>
                                      <p:to>
                                        <p:strVal val="visible"/>
                                      </p:to>
                                    </p:set>
                                    <p:animEffect transition="in" filter="wipe(left)">
                                      <p:cBhvr>
                                        <p:cTn id="12" dur="500"/>
                                        <p:tgtEl>
                                          <p:spTgt spid="16">
                                            <p:txEl>
                                              <p:pRg st="0" end="0"/>
                                            </p:txEl>
                                          </p:spTgt>
                                        </p:tgtEl>
                                      </p:cBhvr>
                                    </p:animEffect>
                                  </p:childTnLst>
                                </p:cTn>
                              </p:par>
                            </p:childTnLst>
                          </p:cTn>
                        </p:par>
                        <p:par>
                          <p:cTn id="13" fill="hold" nodeType="afterGroup">
                            <p:stCondLst>
                              <p:cond delay="500"/>
                            </p:stCondLst>
                            <p:childTnLst>
                              <p:par>
                                <p:cTn id="14" presetID="22" presetClass="entr" presetSubtype="1" fill="hold" nodeType="afterEffect">
                                  <p:stCondLst>
                                    <p:cond delay="0"/>
                                  </p:stCondLst>
                                  <p:childTnLst>
                                    <p:set>
                                      <p:cBhvr>
                                        <p:cTn id="15" dur="1" fill="hold">
                                          <p:stCondLst>
                                            <p:cond delay="0"/>
                                          </p:stCondLst>
                                        </p:cTn>
                                        <p:tgtEl>
                                          <p:spTgt spid="1027"/>
                                        </p:tgtEl>
                                        <p:attrNameLst>
                                          <p:attrName>style.visibility</p:attrName>
                                        </p:attrNameLst>
                                      </p:cBhvr>
                                      <p:to>
                                        <p:strVal val="visible"/>
                                      </p:to>
                                    </p:set>
                                    <p:animEffect transition="in" filter="wipe(up)">
                                      <p:cBhvr>
                                        <p:cTn id="16" dur="500"/>
                                        <p:tgtEl>
                                          <p:spTgt spid="1027"/>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fade">
                                      <p:cBhvr>
                                        <p:cTn id="21" dur="1000"/>
                                        <p:tgtEl>
                                          <p:spTgt spid="3"/>
                                        </p:tgtEl>
                                      </p:cBhvr>
                                    </p:animEffect>
                                    <p:anim calcmode="lin" valueType="num">
                                      <p:cBhvr>
                                        <p:cTn id="22" dur="1000" fill="hold"/>
                                        <p:tgtEl>
                                          <p:spTgt spid="3"/>
                                        </p:tgtEl>
                                        <p:attrNameLst>
                                          <p:attrName>ppt_x</p:attrName>
                                        </p:attrNameLst>
                                      </p:cBhvr>
                                      <p:tavLst>
                                        <p:tav tm="0">
                                          <p:val>
                                            <p:strVal val="#ppt_x"/>
                                          </p:val>
                                        </p:tav>
                                        <p:tav tm="100000">
                                          <p:val>
                                            <p:strVal val="#ppt_x"/>
                                          </p:val>
                                        </p:tav>
                                      </p:tavLst>
                                    </p:anim>
                                    <p:anim calcmode="lin" valueType="num">
                                      <p:cBhvr>
                                        <p:cTn id="23"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2" presetClass="entr" presetSubtype="0" fill="hold" nodeType="click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fade">
                                      <p:cBhvr>
                                        <p:cTn id="28" dur="1000"/>
                                        <p:tgtEl>
                                          <p:spTgt spid="4"/>
                                        </p:tgtEl>
                                      </p:cBhvr>
                                    </p:animEffect>
                                    <p:anim calcmode="lin" valueType="num">
                                      <p:cBhvr>
                                        <p:cTn id="29" dur="1000" fill="hold"/>
                                        <p:tgtEl>
                                          <p:spTgt spid="4"/>
                                        </p:tgtEl>
                                        <p:attrNameLst>
                                          <p:attrName>ppt_x</p:attrName>
                                        </p:attrNameLst>
                                      </p:cBhvr>
                                      <p:tavLst>
                                        <p:tav tm="0">
                                          <p:val>
                                            <p:strVal val="#ppt_x"/>
                                          </p:val>
                                        </p:tav>
                                        <p:tav tm="100000">
                                          <p:val>
                                            <p:strVal val="#ppt_x"/>
                                          </p:val>
                                        </p:tav>
                                      </p:tavLst>
                                    </p:anim>
                                    <p:anim calcmode="lin" valueType="num">
                                      <p:cBhvr>
                                        <p:cTn id="30"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42" presetClass="entr" presetSubtype="0" fill="hold" nodeType="click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fade">
                                      <p:cBhvr>
                                        <p:cTn id="35" dur="1000"/>
                                        <p:tgtEl>
                                          <p:spTgt spid="5"/>
                                        </p:tgtEl>
                                      </p:cBhvr>
                                    </p:animEffect>
                                    <p:anim calcmode="lin" valueType="num">
                                      <p:cBhvr>
                                        <p:cTn id="36" dur="1000" fill="hold"/>
                                        <p:tgtEl>
                                          <p:spTgt spid="5"/>
                                        </p:tgtEl>
                                        <p:attrNameLst>
                                          <p:attrName>ppt_x</p:attrName>
                                        </p:attrNameLst>
                                      </p:cBhvr>
                                      <p:tavLst>
                                        <p:tav tm="0">
                                          <p:val>
                                            <p:strVal val="#ppt_x"/>
                                          </p:val>
                                        </p:tav>
                                        <p:tav tm="100000">
                                          <p:val>
                                            <p:strVal val="#ppt_x"/>
                                          </p:val>
                                        </p:tav>
                                      </p:tavLst>
                                    </p:anim>
                                    <p:anim calcmode="lin" valueType="num">
                                      <p:cBhvr>
                                        <p:cTn id="37"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6715E-09F6-EBD0-7719-2A0D89938760}"/>
              </a:ext>
            </a:extLst>
          </p:cNvPr>
          <p:cNvSpPr>
            <a:spLocks noGrp="1"/>
          </p:cNvSpPr>
          <p:nvPr>
            <p:ph type="title"/>
          </p:nvPr>
        </p:nvSpPr>
        <p:spPr>
          <a:xfrm>
            <a:off x="457200" y="0"/>
            <a:ext cx="7620000" cy="1143000"/>
          </a:xfrm>
        </p:spPr>
        <p:txBody>
          <a:bodyPr/>
          <a:lstStyle/>
          <a:p>
            <a:pPr algn="ctr">
              <a:defRPr/>
            </a:pPr>
            <a:r>
              <a:rPr lang="en-US" dirty="0"/>
              <a:t>INTRODUCTION</a:t>
            </a:r>
            <a:endParaRPr lang="en-MY" dirty="0"/>
          </a:p>
        </p:txBody>
      </p:sp>
      <p:sp>
        <p:nvSpPr>
          <p:cNvPr id="16" name="Content Placeholder 2">
            <a:extLst>
              <a:ext uri="{FF2B5EF4-FFF2-40B4-BE49-F238E27FC236}">
                <a16:creationId xmlns:a16="http://schemas.microsoft.com/office/drawing/2014/main" id="{87A6B1F6-1096-564B-1BA6-3352A7A42FF8}"/>
              </a:ext>
            </a:extLst>
          </p:cNvPr>
          <p:cNvSpPr txBox="1">
            <a:spLocks/>
          </p:cNvSpPr>
          <p:nvPr/>
        </p:nvSpPr>
        <p:spPr bwMode="auto">
          <a:xfrm>
            <a:off x="250825" y="1268413"/>
            <a:ext cx="7978775"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The SQL standard has defined a number of standard functions to perform common data manipulation tasks</a:t>
            </a: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20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28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rPr>
              <a:t>For example, there is a SQL function that changes all the letters to upper case</a:t>
            </a:r>
            <a:endPar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US" altLang="en-US" sz="32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rPr>
              <a:t>There is a SQL function to extract the year from a date  </a:t>
            </a: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grpSp>
        <p:nvGrpSpPr>
          <p:cNvPr id="3" name="Group 8">
            <a:extLst>
              <a:ext uri="{FF2B5EF4-FFF2-40B4-BE49-F238E27FC236}">
                <a16:creationId xmlns:a16="http://schemas.microsoft.com/office/drawing/2014/main" id="{B0E5010F-7460-A07B-844F-B411C45B13EC}"/>
              </a:ext>
            </a:extLst>
          </p:cNvPr>
          <p:cNvGrpSpPr>
            <a:grpSpLocks/>
          </p:cNvGrpSpPr>
          <p:nvPr/>
        </p:nvGrpSpPr>
        <p:grpSpPr bwMode="auto">
          <a:xfrm>
            <a:off x="1676400" y="3989388"/>
            <a:ext cx="5184775" cy="831850"/>
            <a:chOff x="1691680" y="4365104"/>
            <a:chExt cx="5184576" cy="830997"/>
          </a:xfrm>
        </p:grpSpPr>
        <p:sp>
          <p:nvSpPr>
            <p:cNvPr id="18" name="TextBox 17">
              <a:extLst>
                <a:ext uri="{FF2B5EF4-FFF2-40B4-BE49-F238E27FC236}">
                  <a16:creationId xmlns:a16="http://schemas.microsoft.com/office/drawing/2014/main" id="{E68ABB35-D1B4-440E-A5AB-65A70826D4D4}"/>
                </a:ext>
              </a:extLst>
            </p:cNvPr>
            <p:cNvSpPr txBox="1"/>
            <p:nvPr/>
          </p:nvSpPr>
          <p:spPr>
            <a:xfrm>
              <a:off x="1691680" y="4365104"/>
              <a:ext cx="2087483" cy="830997"/>
            </a:xfrm>
            <a:prstGeom prst="rect">
              <a:avLst/>
            </a:prstGeom>
            <a:noFill/>
          </p:spPr>
          <p:txBody>
            <a:bodyP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sz="4800" b="1" i="0" u="none" strike="noStrike" kern="1200" cap="none" spc="0" normalizeH="0" baseline="0" noProof="0" dirty="0">
                  <a:ln>
                    <a:noFill/>
                  </a:ln>
                  <a:solidFill>
                    <a:srgbClr val="675E47">
                      <a:lumMod val="60000"/>
                      <a:lumOff val="40000"/>
                    </a:srgbClr>
                  </a:solidFill>
                  <a:effectLst/>
                  <a:uLnTx/>
                  <a:uFillTx/>
                  <a:latin typeface="Arial" panose="020B0604020202020204" pitchFamily="34" charset="0"/>
                  <a:ea typeface="+mn-ea"/>
                  <a:cs typeface="Arial" panose="020B0604020202020204" pitchFamily="34" charset="0"/>
                </a:rPr>
                <a:t>Hello</a:t>
              </a:r>
            </a:p>
          </p:txBody>
        </p:sp>
        <p:sp>
          <p:nvSpPr>
            <p:cNvPr id="25" name="TextBox 24">
              <a:extLst>
                <a:ext uri="{FF2B5EF4-FFF2-40B4-BE49-F238E27FC236}">
                  <a16:creationId xmlns:a16="http://schemas.microsoft.com/office/drawing/2014/main" id="{0C063BF5-23F5-1492-5529-C0883FF1B606}"/>
                </a:ext>
              </a:extLst>
            </p:cNvPr>
            <p:cNvSpPr txBox="1"/>
            <p:nvPr/>
          </p:nvSpPr>
          <p:spPr>
            <a:xfrm>
              <a:off x="4571294" y="4365104"/>
              <a:ext cx="2304962" cy="830997"/>
            </a:xfrm>
            <a:prstGeom prst="rect">
              <a:avLst/>
            </a:prstGeom>
            <a:noFill/>
          </p:spPr>
          <p:txBody>
            <a:bodyP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sz="4800" b="1" i="0" u="none" strike="noStrike" kern="1200" cap="none" spc="0" normalizeH="0" baseline="0" noProof="0" dirty="0">
                  <a:ln>
                    <a:noFill/>
                  </a:ln>
                  <a:solidFill>
                    <a:srgbClr val="675E47">
                      <a:lumMod val="50000"/>
                    </a:srgbClr>
                  </a:solidFill>
                  <a:effectLst/>
                  <a:uLnTx/>
                  <a:uFillTx/>
                  <a:latin typeface="Arial" panose="020B0604020202020204" pitchFamily="34" charset="0"/>
                  <a:ea typeface="+mn-ea"/>
                  <a:cs typeface="Arial" panose="020B0604020202020204" pitchFamily="34" charset="0"/>
                </a:rPr>
                <a:t>HELLO</a:t>
              </a:r>
            </a:p>
          </p:txBody>
        </p:sp>
        <p:cxnSp>
          <p:nvCxnSpPr>
            <p:cNvPr id="21515" name="Straight Arrow Connector 4">
              <a:extLst>
                <a:ext uri="{FF2B5EF4-FFF2-40B4-BE49-F238E27FC236}">
                  <a16:creationId xmlns:a16="http://schemas.microsoft.com/office/drawing/2014/main" id="{32401726-90E8-32A8-C991-956936AC0BE7}"/>
                </a:ext>
              </a:extLst>
            </p:cNvPr>
            <p:cNvCxnSpPr>
              <a:cxnSpLocks noChangeShapeType="1"/>
              <a:endCxn id="25" idx="1"/>
            </p:cNvCxnSpPr>
            <p:nvPr/>
          </p:nvCxnSpPr>
          <p:spPr bwMode="auto">
            <a:xfrm>
              <a:off x="3563888" y="4780603"/>
              <a:ext cx="1008112" cy="0"/>
            </a:xfrm>
            <a:prstGeom prst="straightConnector1">
              <a:avLst/>
            </a:prstGeom>
            <a:noFill/>
            <a:ln w="25400" algn="ctr">
              <a:solidFill>
                <a:schemeClr val="tx1"/>
              </a:solidFill>
              <a:round/>
              <a:headEnd/>
              <a:tailEnd type="triangle" w="med" len="med"/>
            </a:ln>
            <a:extLst>
              <a:ext uri="{909E8E84-426E-40DD-AFC4-6F175D3DCCD1}">
                <a14:hiddenFill xmlns:a14="http://schemas.microsoft.com/office/drawing/2010/main">
                  <a:noFill/>
                </a14:hiddenFill>
              </a:ext>
            </a:extLst>
          </p:spPr>
        </p:cxnSp>
      </p:grpSp>
      <p:grpSp>
        <p:nvGrpSpPr>
          <p:cNvPr id="4" name="Group 25">
            <a:extLst>
              <a:ext uri="{FF2B5EF4-FFF2-40B4-BE49-F238E27FC236}">
                <a16:creationId xmlns:a16="http://schemas.microsoft.com/office/drawing/2014/main" id="{EE336436-A57B-9152-6362-53484E606194}"/>
              </a:ext>
            </a:extLst>
          </p:cNvPr>
          <p:cNvGrpSpPr>
            <a:grpSpLocks/>
          </p:cNvGrpSpPr>
          <p:nvPr/>
        </p:nvGrpSpPr>
        <p:grpSpPr bwMode="auto">
          <a:xfrm>
            <a:off x="990600" y="5445125"/>
            <a:ext cx="6337300" cy="831850"/>
            <a:chOff x="-36512" y="4365104"/>
            <a:chExt cx="6336704" cy="830997"/>
          </a:xfrm>
        </p:grpSpPr>
        <p:sp>
          <p:nvSpPr>
            <p:cNvPr id="27" name="TextBox 26">
              <a:extLst>
                <a:ext uri="{FF2B5EF4-FFF2-40B4-BE49-F238E27FC236}">
                  <a16:creationId xmlns:a16="http://schemas.microsoft.com/office/drawing/2014/main" id="{F6F5EB50-E067-D952-7C1E-6D75C546975E}"/>
                </a:ext>
              </a:extLst>
            </p:cNvPr>
            <p:cNvSpPr txBox="1"/>
            <p:nvPr/>
          </p:nvSpPr>
          <p:spPr>
            <a:xfrm>
              <a:off x="-36512" y="4365104"/>
              <a:ext cx="3815991" cy="830997"/>
            </a:xfrm>
            <a:prstGeom prst="rect">
              <a:avLst/>
            </a:prstGeom>
            <a:noFill/>
          </p:spPr>
          <p:txBody>
            <a:bodyP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sz="4800" b="1" i="0" u="none" strike="noStrike" kern="1200" cap="none" spc="0" normalizeH="0" baseline="0" noProof="0" dirty="0">
                  <a:ln>
                    <a:noFill/>
                  </a:ln>
                  <a:solidFill>
                    <a:srgbClr val="95A39D">
                      <a:lumMod val="60000"/>
                      <a:lumOff val="40000"/>
                    </a:srgbClr>
                  </a:solidFill>
                  <a:effectLst/>
                  <a:uLnTx/>
                  <a:uFillTx/>
                  <a:latin typeface="Arial" panose="020B0604020202020204" pitchFamily="34" charset="0"/>
                  <a:ea typeface="+mn-ea"/>
                  <a:cs typeface="Arial" panose="020B0604020202020204" pitchFamily="34" charset="0"/>
                </a:rPr>
                <a:t>2012-04-26</a:t>
              </a:r>
            </a:p>
          </p:txBody>
        </p:sp>
        <p:sp>
          <p:nvSpPr>
            <p:cNvPr id="28" name="TextBox 27">
              <a:extLst>
                <a:ext uri="{FF2B5EF4-FFF2-40B4-BE49-F238E27FC236}">
                  <a16:creationId xmlns:a16="http://schemas.microsoft.com/office/drawing/2014/main" id="{667A6BEB-0A10-2573-6404-F035923FCCB5}"/>
                </a:ext>
              </a:extLst>
            </p:cNvPr>
            <p:cNvSpPr txBox="1"/>
            <p:nvPr/>
          </p:nvSpPr>
          <p:spPr>
            <a:xfrm>
              <a:off x="4571568" y="4365104"/>
              <a:ext cx="1728624" cy="830997"/>
            </a:xfrm>
            <a:prstGeom prst="rect">
              <a:avLst/>
            </a:prstGeom>
            <a:noFill/>
          </p:spPr>
          <p:txBody>
            <a:bodyP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sz="4800" b="1" i="0" u="none" strike="noStrike" kern="1200" cap="none" spc="0" normalizeH="0" baseline="0" noProof="0" dirty="0">
                  <a:ln>
                    <a:noFill/>
                  </a:ln>
                  <a:solidFill>
                    <a:srgbClr val="95A39D">
                      <a:lumMod val="50000"/>
                    </a:srgbClr>
                  </a:solidFill>
                  <a:effectLst/>
                  <a:uLnTx/>
                  <a:uFillTx/>
                  <a:latin typeface="Arial" panose="020B0604020202020204" pitchFamily="34" charset="0"/>
                  <a:ea typeface="+mn-ea"/>
                  <a:cs typeface="Arial" panose="020B0604020202020204" pitchFamily="34" charset="0"/>
                </a:rPr>
                <a:t>2012</a:t>
              </a:r>
            </a:p>
          </p:txBody>
        </p:sp>
        <p:cxnSp>
          <p:nvCxnSpPr>
            <p:cNvPr id="21512" name="Straight Arrow Connector 28">
              <a:extLst>
                <a:ext uri="{FF2B5EF4-FFF2-40B4-BE49-F238E27FC236}">
                  <a16:creationId xmlns:a16="http://schemas.microsoft.com/office/drawing/2014/main" id="{64DF9636-F3D5-621F-6B3C-9AE35C4C8A31}"/>
                </a:ext>
              </a:extLst>
            </p:cNvPr>
            <p:cNvCxnSpPr>
              <a:cxnSpLocks noChangeShapeType="1"/>
              <a:endCxn id="28" idx="1"/>
            </p:cNvCxnSpPr>
            <p:nvPr/>
          </p:nvCxnSpPr>
          <p:spPr bwMode="auto">
            <a:xfrm>
              <a:off x="3563888" y="4780603"/>
              <a:ext cx="1008112" cy="0"/>
            </a:xfrm>
            <a:prstGeom prst="straightConnector1">
              <a:avLst/>
            </a:prstGeom>
            <a:noFill/>
            <a:ln w="25400" algn="ctr">
              <a:solidFill>
                <a:schemeClr val="tx1"/>
              </a:solidFill>
              <a:round/>
              <a:headEnd/>
              <a:tailEnd type="triangle" w="med" len="med"/>
            </a:ln>
            <a:extLst>
              <a:ext uri="{909E8E84-426E-40DD-AFC4-6F175D3DCCD1}">
                <a14:hiddenFill xmlns:a14="http://schemas.microsoft.com/office/drawing/2010/main">
                  <a:noFill/>
                </a14:hiddenFill>
              </a:ext>
            </a:extLst>
          </p:spPr>
        </p:cxnSp>
      </p:gr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wipe(left)">
                                      <p:cBhvr>
                                        <p:cTn id="7" dur="500"/>
                                        <p:tgtEl>
                                          <p:spTgt spid="1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6">
                                            <p:txEl>
                                              <p:pRg st="2" end="2"/>
                                            </p:txEl>
                                          </p:spTgt>
                                        </p:tgtEl>
                                        <p:attrNameLst>
                                          <p:attrName>style.visibility</p:attrName>
                                        </p:attrNameLst>
                                      </p:cBhvr>
                                      <p:to>
                                        <p:strVal val="visible"/>
                                      </p:to>
                                    </p:set>
                                    <p:animEffect transition="in" filter="wipe(up)">
                                      <p:cBhvr>
                                        <p:cTn id="12" dur="500"/>
                                        <p:tgtEl>
                                          <p:spTgt spid="16">
                                            <p:txEl>
                                              <p:pRg st="2" end="2"/>
                                            </p:txEl>
                                          </p:spTgt>
                                        </p:tgtEl>
                                      </p:cBhvr>
                                    </p:animEffect>
                                  </p:childTnLst>
                                </p:cTn>
                              </p:par>
                            </p:childTnLst>
                          </p:cTn>
                        </p:par>
                        <p:par>
                          <p:cTn id="13" fill="hold" nodeType="afterGroup">
                            <p:stCondLst>
                              <p:cond delay="500"/>
                            </p:stCondLst>
                            <p:childTnLst>
                              <p:par>
                                <p:cTn id="14" presetID="22" presetClass="entr" presetSubtype="8" fill="hold" nodeType="after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wipe(left)">
                                      <p:cBhvr>
                                        <p:cTn id="16" dur="500"/>
                                        <p:tgtEl>
                                          <p:spTgt spid="3"/>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nodeType="clickEffect">
                                  <p:stCondLst>
                                    <p:cond delay="0"/>
                                  </p:stCondLst>
                                  <p:childTnLst>
                                    <p:set>
                                      <p:cBhvr>
                                        <p:cTn id="20" dur="1" fill="hold">
                                          <p:stCondLst>
                                            <p:cond delay="0"/>
                                          </p:stCondLst>
                                        </p:cTn>
                                        <p:tgtEl>
                                          <p:spTgt spid="16">
                                            <p:txEl>
                                              <p:pRg st="4" end="4"/>
                                            </p:txEl>
                                          </p:spTgt>
                                        </p:tgtEl>
                                        <p:attrNameLst>
                                          <p:attrName>style.visibility</p:attrName>
                                        </p:attrNameLst>
                                      </p:cBhvr>
                                      <p:to>
                                        <p:strVal val="visible"/>
                                      </p:to>
                                    </p:set>
                                    <p:animEffect transition="in" filter="wipe(up)">
                                      <p:cBhvr>
                                        <p:cTn id="21" dur="500"/>
                                        <p:tgtEl>
                                          <p:spTgt spid="16">
                                            <p:txEl>
                                              <p:pRg st="4" end="4"/>
                                            </p:txEl>
                                          </p:spTgt>
                                        </p:tgtEl>
                                      </p:cBhvr>
                                    </p:animEffect>
                                  </p:childTnLst>
                                </p:cTn>
                              </p:par>
                            </p:childTnLst>
                          </p:cTn>
                        </p:par>
                        <p:par>
                          <p:cTn id="22" fill="hold" nodeType="afterGroup">
                            <p:stCondLst>
                              <p:cond delay="500"/>
                            </p:stCondLst>
                            <p:childTnLst>
                              <p:par>
                                <p:cTn id="23" presetID="22" presetClass="entr" presetSubtype="8" fill="hold" nodeType="after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wipe(left)">
                                      <p:cBhvr>
                                        <p:cTn id="2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uild="p"/>
    </p:bldLst>
  </p:timing>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41F643-8433-9A19-43B1-88CAC40E9324}"/>
              </a:ext>
            </a:extLst>
          </p:cNvPr>
          <p:cNvSpPr>
            <a:spLocks noGrp="1"/>
          </p:cNvSpPr>
          <p:nvPr>
            <p:ph type="title"/>
          </p:nvPr>
        </p:nvSpPr>
        <p:spPr>
          <a:xfrm>
            <a:off x="457200" y="0"/>
            <a:ext cx="7620000" cy="1143000"/>
          </a:xfrm>
        </p:spPr>
        <p:txBody>
          <a:bodyPr/>
          <a:lstStyle/>
          <a:p>
            <a:pPr algn="ctr">
              <a:defRPr/>
            </a:pPr>
            <a:r>
              <a:rPr lang="en-US" dirty="0"/>
              <a:t>INTRODUCTION</a:t>
            </a:r>
            <a:endParaRPr lang="en-MY" dirty="0"/>
          </a:p>
        </p:txBody>
      </p:sp>
      <p:sp>
        <p:nvSpPr>
          <p:cNvPr id="5" name="Content Placeholder 2">
            <a:extLst>
              <a:ext uri="{FF2B5EF4-FFF2-40B4-BE49-F238E27FC236}">
                <a16:creationId xmlns:a16="http://schemas.microsoft.com/office/drawing/2014/main" id="{CF56236E-6FE3-3CF6-81FA-1B8AA09737AB}"/>
              </a:ext>
            </a:extLst>
          </p:cNvPr>
          <p:cNvSpPr txBox="1">
            <a:spLocks/>
          </p:cNvSpPr>
          <p:nvPr/>
        </p:nvSpPr>
        <p:spPr bwMode="auto">
          <a:xfrm>
            <a:off x="250825" y="1268413"/>
            <a:ext cx="7826375"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US"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These SQL functions are grouped into four categories</a:t>
            </a: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US" altLang="en-US" sz="30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sp>
        <p:nvSpPr>
          <p:cNvPr id="6" name="Freeform 5">
            <a:extLst>
              <a:ext uri="{FF2B5EF4-FFF2-40B4-BE49-F238E27FC236}">
                <a16:creationId xmlns:a16="http://schemas.microsoft.com/office/drawing/2014/main" id="{A400F8EB-B784-9341-5129-53375D59C91E}"/>
              </a:ext>
            </a:extLst>
          </p:cNvPr>
          <p:cNvSpPr/>
          <p:nvPr/>
        </p:nvSpPr>
        <p:spPr>
          <a:xfrm>
            <a:off x="1295400" y="2500667"/>
            <a:ext cx="2736305" cy="1656183"/>
          </a:xfrm>
          <a:custGeom>
            <a:avLst/>
            <a:gdLst>
              <a:gd name="connsiteX0" fmla="*/ 0 w 2236185"/>
              <a:gd name="connsiteY0" fmla="*/ 0 h 1341711"/>
              <a:gd name="connsiteX1" fmla="*/ 2236185 w 2236185"/>
              <a:gd name="connsiteY1" fmla="*/ 0 h 1341711"/>
              <a:gd name="connsiteX2" fmla="*/ 2236185 w 2236185"/>
              <a:gd name="connsiteY2" fmla="*/ 1341711 h 1341711"/>
              <a:gd name="connsiteX3" fmla="*/ 0 w 2236185"/>
              <a:gd name="connsiteY3" fmla="*/ 1341711 h 1341711"/>
              <a:gd name="connsiteX4" fmla="*/ 0 w 2236185"/>
              <a:gd name="connsiteY4" fmla="*/ 0 h 1341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6185" h="1341711">
                <a:moveTo>
                  <a:pt x="0" y="0"/>
                </a:moveTo>
                <a:lnTo>
                  <a:pt x="2236185" y="0"/>
                </a:lnTo>
                <a:lnTo>
                  <a:pt x="2236185" y="1341711"/>
                </a:lnTo>
                <a:lnTo>
                  <a:pt x="0" y="1341711"/>
                </a:lnTo>
                <a:lnTo>
                  <a:pt x="0" y="0"/>
                </a:lnTo>
                <a:close/>
              </a:path>
            </a:pathLst>
          </a:custGeom>
          <a:solidFill>
            <a:srgbClr val="7F7B0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lIns="83820" tIns="83820" rIns="83820" bIns="83820" spcCol="1270" anchor="ctr"/>
          <a:lstStyle/>
          <a:p>
            <a:pPr marL="0" marR="0" lvl="0" indent="0" algn="ctr" defTabSz="977900" rtl="0" eaLnBrk="0" fontAlgn="base" latinLnBrk="0" hangingPunct="0">
              <a:lnSpc>
                <a:spcPct val="90000"/>
              </a:lnSpc>
              <a:spcBef>
                <a:spcPct val="0"/>
              </a:spcBef>
              <a:spcAft>
                <a:spcPct val="35000"/>
              </a:spcAft>
              <a:buClrTx/>
              <a:buSzTx/>
              <a:buFontTx/>
              <a:buNone/>
              <a:tabLst/>
              <a:defRPr/>
            </a:pPr>
            <a:r>
              <a:rPr kumimoji="0" lang="en-CA" sz="2800" b="0" i="0" u="none" strike="noStrike" kern="1200" cap="none" spc="0" normalizeH="0" baseline="0" noProof="0" dirty="0">
                <a:ln>
                  <a:noFill/>
                </a:ln>
                <a:solidFill>
                  <a:srgbClr val="FFFFFF"/>
                </a:solidFill>
                <a:effectLst/>
                <a:uLnTx/>
                <a:uFillTx/>
                <a:latin typeface="Calibri"/>
                <a:ea typeface="+mn-ea"/>
                <a:cs typeface="+mn-cs"/>
              </a:rPr>
              <a:t>Math Functions</a:t>
            </a:r>
          </a:p>
        </p:txBody>
      </p:sp>
      <p:sp>
        <p:nvSpPr>
          <p:cNvPr id="7" name="Freeform 6">
            <a:extLst>
              <a:ext uri="{FF2B5EF4-FFF2-40B4-BE49-F238E27FC236}">
                <a16:creationId xmlns:a16="http://schemas.microsoft.com/office/drawing/2014/main" id="{EBC722AD-8195-D8B7-3608-AC0C1851905D}"/>
              </a:ext>
            </a:extLst>
          </p:cNvPr>
          <p:cNvSpPr/>
          <p:nvPr/>
        </p:nvSpPr>
        <p:spPr>
          <a:xfrm>
            <a:off x="4463753" y="2492896"/>
            <a:ext cx="2736305" cy="1656183"/>
          </a:xfrm>
          <a:custGeom>
            <a:avLst/>
            <a:gdLst>
              <a:gd name="connsiteX0" fmla="*/ 0 w 2236185"/>
              <a:gd name="connsiteY0" fmla="*/ 0 h 1341711"/>
              <a:gd name="connsiteX1" fmla="*/ 2236185 w 2236185"/>
              <a:gd name="connsiteY1" fmla="*/ 0 h 1341711"/>
              <a:gd name="connsiteX2" fmla="*/ 2236185 w 2236185"/>
              <a:gd name="connsiteY2" fmla="*/ 1341711 h 1341711"/>
              <a:gd name="connsiteX3" fmla="*/ 0 w 2236185"/>
              <a:gd name="connsiteY3" fmla="*/ 1341711 h 1341711"/>
              <a:gd name="connsiteX4" fmla="*/ 0 w 2236185"/>
              <a:gd name="connsiteY4" fmla="*/ 0 h 1341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6185" h="1341711">
                <a:moveTo>
                  <a:pt x="0" y="0"/>
                </a:moveTo>
                <a:lnTo>
                  <a:pt x="2236185" y="0"/>
                </a:lnTo>
                <a:lnTo>
                  <a:pt x="2236185" y="1341711"/>
                </a:lnTo>
                <a:lnTo>
                  <a:pt x="0" y="1341711"/>
                </a:lnTo>
                <a:lnTo>
                  <a:pt x="0" y="0"/>
                </a:lnTo>
                <a:close/>
              </a:path>
            </a:pathLst>
          </a:custGeom>
          <a:solidFill>
            <a:srgbClr val="120B7C"/>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lIns="83820" tIns="83820" rIns="83820" bIns="83820" spcCol="1270" anchor="ctr"/>
          <a:lstStyle/>
          <a:p>
            <a:pPr marL="0" marR="0" lvl="0" indent="0" algn="ctr" defTabSz="977900" rtl="0" eaLnBrk="0" fontAlgn="base" latinLnBrk="0" hangingPunct="0">
              <a:lnSpc>
                <a:spcPct val="90000"/>
              </a:lnSpc>
              <a:spcBef>
                <a:spcPct val="0"/>
              </a:spcBef>
              <a:spcAft>
                <a:spcPct val="35000"/>
              </a:spcAft>
              <a:buClrTx/>
              <a:buSzTx/>
              <a:buFontTx/>
              <a:buNone/>
              <a:tabLst/>
              <a:defRPr/>
            </a:pPr>
            <a:r>
              <a:rPr kumimoji="0" lang="en-CA" sz="2800" b="0" i="0" u="none" strike="noStrike" kern="1200" cap="none" spc="0" normalizeH="0" baseline="0" noProof="0" dirty="0">
                <a:ln>
                  <a:noFill/>
                </a:ln>
                <a:solidFill>
                  <a:srgbClr val="FFFFFF"/>
                </a:solidFill>
                <a:effectLst/>
                <a:uLnTx/>
                <a:uFillTx/>
                <a:latin typeface="Calibri"/>
                <a:ea typeface="+mn-ea"/>
                <a:cs typeface="+mn-cs"/>
              </a:rPr>
              <a:t>String Functions</a:t>
            </a:r>
          </a:p>
        </p:txBody>
      </p:sp>
      <p:sp>
        <p:nvSpPr>
          <p:cNvPr id="8" name="Freeform 7">
            <a:extLst>
              <a:ext uri="{FF2B5EF4-FFF2-40B4-BE49-F238E27FC236}">
                <a16:creationId xmlns:a16="http://schemas.microsoft.com/office/drawing/2014/main" id="{D1BE7886-5242-020D-CF74-DD75A8B6FB58}"/>
              </a:ext>
            </a:extLst>
          </p:cNvPr>
          <p:cNvSpPr/>
          <p:nvPr/>
        </p:nvSpPr>
        <p:spPr>
          <a:xfrm>
            <a:off x="1295400" y="4437113"/>
            <a:ext cx="2736305" cy="1656183"/>
          </a:xfrm>
          <a:custGeom>
            <a:avLst/>
            <a:gdLst>
              <a:gd name="connsiteX0" fmla="*/ 0 w 2236185"/>
              <a:gd name="connsiteY0" fmla="*/ 0 h 1341711"/>
              <a:gd name="connsiteX1" fmla="*/ 2236185 w 2236185"/>
              <a:gd name="connsiteY1" fmla="*/ 0 h 1341711"/>
              <a:gd name="connsiteX2" fmla="*/ 2236185 w 2236185"/>
              <a:gd name="connsiteY2" fmla="*/ 1341711 h 1341711"/>
              <a:gd name="connsiteX3" fmla="*/ 0 w 2236185"/>
              <a:gd name="connsiteY3" fmla="*/ 1341711 h 1341711"/>
              <a:gd name="connsiteX4" fmla="*/ 0 w 2236185"/>
              <a:gd name="connsiteY4" fmla="*/ 0 h 1341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6185" h="1341711">
                <a:moveTo>
                  <a:pt x="0" y="0"/>
                </a:moveTo>
                <a:lnTo>
                  <a:pt x="2236185" y="0"/>
                </a:lnTo>
                <a:lnTo>
                  <a:pt x="2236185" y="1341711"/>
                </a:lnTo>
                <a:lnTo>
                  <a:pt x="0" y="1341711"/>
                </a:lnTo>
                <a:lnTo>
                  <a:pt x="0" y="0"/>
                </a:lnTo>
                <a:close/>
              </a:path>
            </a:pathLst>
          </a:custGeom>
          <a:solidFill>
            <a:srgbClr val="B50C0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lIns="83820" tIns="83820" rIns="83820" bIns="83820" spcCol="1270" anchor="ctr"/>
          <a:lstStyle/>
          <a:p>
            <a:pPr marL="0" marR="0" lvl="0" indent="0" algn="ctr" defTabSz="977900" rtl="0" eaLnBrk="0" fontAlgn="base" latinLnBrk="0" hangingPunct="0">
              <a:lnSpc>
                <a:spcPct val="90000"/>
              </a:lnSpc>
              <a:spcBef>
                <a:spcPct val="0"/>
              </a:spcBef>
              <a:spcAft>
                <a:spcPct val="35000"/>
              </a:spcAft>
              <a:buClrTx/>
              <a:buSzTx/>
              <a:buFontTx/>
              <a:buNone/>
              <a:tabLst/>
              <a:defRPr/>
            </a:pPr>
            <a:r>
              <a:rPr kumimoji="0" lang="en-CA" sz="2800" b="0" i="0" u="none" strike="noStrike" kern="1200" cap="none" spc="0" normalizeH="0" baseline="0" noProof="0" dirty="0">
                <a:ln>
                  <a:noFill/>
                </a:ln>
                <a:solidFill>
                  <a:srgbClr val="FFFFFF"/>
                </a:solidFill>
                <a:effectLst/>
                <a:uLnTx/>
                <a:uFillTx/>
                <a:latin typeface="Calibri"/>
                <a:ea typeface="+mn-ea"/>
                <a:cs typeface="+mn-cs"/>
              </a:rPr>
              <a:t>Date Functions</a:t>
            </a:r>
          </a:p>
        </p:txBody>
      </p:sp>
      <p:sp>
        <p:nvSpPr>
          <p:cNvPr id="10" name="Freeform 9">
            <a:extLst>
              <a:ext uri="{FF2B5EF4-FFF2-40B4-BE49-F238E27FC236}">
                <a16:creationId xmlns:a16="http://schemas.microsoft.com/office/drawing/2014/main" id="{52F717C3-B850-703B-2BAE-331BE36538CE}"/>
              </a:ext>
            </a:extLst>
          </p:cNvPr>
          <p:cNvSpPr/>
          <p:nvPr/>
        </p:nvSpPr>
        <p:spPr>
          <a:xfrm>
            <a:off x="4463752" y="4437113"/>
            <a:ext cx="2736305" cy="1656183"/>
          </a:xfrm>
          <a:custGeom>
            <a:avLst/>
            <a:gdLst>
              <a:gd name="connsiteX0" fmla="*/ 0 w 2236185"/>
              <a:gd name="connsiteY0" fmla="*/ 0 h 1341711"/>
              <a:gd name="connsiteX1" fmla="*/ 2236185 w 2236185"/>
              <a:gd name="connsiteY1" fmla="*/ 0 h 1341711"/>
              <a:gd name="connsiteX2" fmla="*/ 2236185 w 2236185"/>
              <a:gd name="connsiteY2" fmla="*/ 1341711 h 1341711"/>
              <a:gd name="connsiteX3" fmla="*/ 0 w 2236185"/>
              <a:gd name="connsiteY3" fmla="*/ 1341711 h 1341711"/>
              <a:gd name="connsiteX4" fmla="*/ 0 w 2236185"/>
              <a:gd name="connsiteY4" fmla="*/ 0 h 1341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6185" h="1341711">
                <a:moveTo>
                  <a:pt x="0" y="0"/>
                </a:moveTo>
                <a:lnTo>
                  <a:pt x="2236185" y="0"/>
                </a:lnTo>
                <a:lnTo>
                  <a:pt x="2236185" y="1341711"/>
                </a:lnTo>
                <a:lnTo>
                  <a:pt x="0" y="1341711"/>
                </a:lnTo>
                <a:lnTo>
                  <a:pt x="0" y="0"/>
                </a:lnTo>
                <a:close/>
              </a:path>
            </a:pathLst>
          </a:custGeom>
          <a:solidFill>
            <a:srgbClr val="525759"/>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lIns="83820" tIns="83820" rIns="83820" bIns="83820" spcCol="1270" anchor="ctr"/>
          <a:lstStyle/>
          <a:p>
            <a:pPr marL="0" marR="0" lvl="0" indent="0" algn="ctr" defTabSz="977900" rtl="0" eaLnBrk="0" fontAlgn="base" latinLnBrk="0" hangingPunct="0">
              <a:lnSpc>
                <a:spcPct val="90000"/>
              </a:lnSpc>
              <a:spcBef>
                <a:spcPct val="0"/>
              </a:spcBef>
              <a:spcAft>
                <a:spcPct val="35000"/>
              </a:spcAft>
              <a:buClrTx/>
              <a:buSzTx/>
              <a:buFontTx/>
              <a:buNone/>
              <a:tabLst/>
              <a:defRPr/>
            </a:pPr>
            <a:r>
              <a:rPr kumimoji="0" lang="en-CA" sz="2800" b="0" i="0" u="none" strike="noStrike" kern="1200" cap="none" spc="0" normalizeH="0" baseline="0" noProof="0" dirty="0">
                <a:ln>
                  <a:noFill/>
                </a:ln>
                <a:solidFill>
                  <a:srgbClr val="FFFFFF"/>
                </a:solidFill>
                <a:effectLst/>
                <a:uLnTx/>
                <a:uFillTx/>
                <a:latin typeface="Calibri"/>
                <a:ea typeface="+mn-ea"/>
                <a:cs typeface="+mn-cs"/>
              </a:rPr>
              <a:t>Aggregate Functions</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par>
                          <p:cTn id="8" fill="hold" nodeType="afterGroup">
                            <p:stCondLst>
                              <p:cond delay="500"/>
                            </p:stCondLst>
                            <p:childTnLst>
                              <p:par>
                                <p:cTn id="9" presetID="42" presetClass="entr" presetSubtype="0"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1000"/>
                                        <p:tgtEl>
                                          <p:spTgt spid="6"/>
                                        </p:tgtEl>
                                      </p:cBhvr>
                                    </p:animEffect>
                                    <p:anim calcmode="lin" valueType="num">
                                      <p:cBhvr>
                                        <p:cTn id="12" dur="1000" fill="hold"/>
                                        <p:tgtEl>
                                          <p:spTgt spid="6"/>
                                        </p:tgtEl>
                                        <p:attrNameLst>
                                          <p:attrName>ppt_x</p:attrName>
                                        </p:attrNameLst>
                                      </p:cBhvr>
                                      <p:tavLst>
                                        <p:tav tm="0">
                                          <p:val>
                                            <p:strVal val="#ppt_x"/>
                                          </p:val>
                                        </p:tav>
                                        <p:tav tm="100000">
                                          <p:val>
                                            <p:strVal val="#ppt_x"/>
                                          </p:val>
                                        </p:tav>
                                      </p:tavLst>
                                    </p:anim>
                                    <p:anim calcmode="lin" valueType="num">
                                      <p:cBhvr>
                                        <p:cTn id="13" dur="1000" fill="hold"/>
                                        <p:tgtEl>
                                          <p:spTgt spid="6"/>
                                        </p:tgtEl>
                                        <p:attrNameLst>
                                          <p:attrName>ppt_y</p:attrName>
                                        </p:attrNameLst>
                                      </p:cBhvr>
                                      <p:tavLst>
                                        <p:tav tm="0">
                                          <p:val>
                                            <p:strVal val="#ppt_y+.1"/>
                                          </p:val>
                                        </p:tav>
                                        <p:tav tm="100000">
                                          <p:val>
                                            <p:strVal val="#ppt_y"/>
                                          </p:val>
                                        </p:tav>
                                      </p:tavLst>
                                    </p:anim>
                                  </p:childTnLst>
                                </p:cTn>
                              </p:par>
                            </p:childTnLst>
                          </p:cTn>
                        </p:par>
                        <p:par>
                          <p:cTn id="14" fill="hold" nodeType="afterGroup">
                            <p:stCondLst>
                              <p:cond delay="1500"/>
                            </p:stCondLst>
                            <p:childTnLst>
                              <p:par>
                                <p:cTn id="15" presetID="42" presetClass="entr" presetSubtype="0" fill="hold" nodeType="after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1000"/>
                                        <p:tgtEl>
                                          <p:spTgt spid="7"/>
                                        </p:tgtEl>
                                      </p:cBhvr>
                                    </p:animEffect>
                                    <p:anim calcmode="lin" valueType="num">
                                      <p:cBhvr>
                                        <p:cTn id="18" dur="1000" fill="hold"/>
                                        <p:tgtEl>
                                          <p:spTgt spid="7"/>
                                        </p:tgtEl>
                                        <p:attrNameLst>
                                          <p:attrName>ppt_x</p:attrName>
                                        </p:attrNameLst>
                                      </p:cBhvr>
                                      <p:tavLst>
                                        <p:tav tm="0">
                                          <p:val>
                                            <p:strVal val="#ppt_x"/>
                                          </p:val>
                                        </p:tav>
                                        <p:tav tm="100000">
                                          <p:val>
                                            <p:strVal val="#ppt_x"/>
                                          </p:val>
                                        </p:tav>
                                      </p:tavLst>
                                    </p:anim>
                                    <p:anim calcmode="lin" valueType="num">
                                      <p:cBhvr>
                                        <p:cTn id="19" dur="1000" fill="hold"/>
                                        <p:tgtEl>
                                          <p:spTgt spid="7"/>
                                        </p:tgtEl>
                                        <p:attrNameLst>
                                          <p:attrName>ppt_y</p:attrName>
                                        </p:attrNameLst>
                                      </p:cBhvr>
                                      <p:tavLst>
                                        <p:tav tm="0">
                                          <p:val>
                                            <p:strVal val="#ppt_y+.1"/>
                                          </p:val>
                                        </p:tav>
                                        <p:tav tm="100000">
                                          <p:val>
                                            <p:strVal val="#ppt_y"/>
                                          </p:val>
                                        </p:tav>
                                      </p:tavLst>
                                    </p:anim>
                                  </p:childTnLst>
                                </p:cTn>
                              </p:par>
                            </p:childTnLst>
                          </p:cTn>
                        </p:par>
                        <p:par>
                          <p:cTn id="20" fill="hold" nodeType="afterGroup">
                            <p:stCondLst>
                              <p:cond delay="2500"/>
                            </p:stCondLst>
                            <p:childTnLst>
                              <p:par>
                                <p:cTn id="21" presetID="42" presetClass="entr" presetSubtype="0" fill="hold" nodeType="after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1000"/>
                                        <p:tgtEl>
                                          <p:spTgt spid="8"/>
                                        </p:tgtEl>
                                      </p:cBhvr>
                                    </p:animEffect>
                                    <p:anim calcmode="lin" valueType="num">
                                      <p:cBhvr>
                                        <p:cTn id="24" dur="1000" fill="hold"/>
                                        <p:tgtEl>
                                          <p:spTgt spid="8"/>
                                        </p:tgtEl>
                                        <p:attrNameLst>
                                          <p:attrName>ppt_x</p:attrName>
                                        </p:attrNameLst>
                                      </p:cBhvr>
                                      <p:tavLst>
                                        <p:tav tm="0">
                                          <p:val>
                                            <p:strVal val="#ppt_x"/>
                                          </p:val>
                                        </p:tav>
                                        <p:tav tm="100000">
                                          <p:val>
                                            <p:strVal val="#ppt_x"/>
                                          </p:val>
                                        </p:tav>
                                      </p:tavLst>
                                    </p:anim>
                                    <p:anim calcmode="lin" valueType="num">
                                      <p:cBhvr>
                                        <p:cTn id="25" dur="1000" fill="hold"/>
                                        <p:tgtEl>
                                          <p:spTgt spid="8"/>
                                        </p:tgtEl>
                                        <p:attrNameLst>
                                          <p:attrName>ppt_y</p:attrName>
                                        </p:attrNameLst>
                                      </p:cBhvr>
                                      <p:tavLst>
                                        <p:tav tm="0">
                                          <p:val>
                                            <p:strVal val="#ppt_y+.1"/>
                                          </p:val>
                                        </p:tav>
                                        <p:tav tm="100000">
                                          <p:val>
                                            <p:strVal val="#ppt_y"/>
                                          </p:val>
                                        </p:tav>
                                      </p:tavLst>
                                    </p:anim>
                                  </p:childTnLst>
                                </p:cTn>
                              </p:par>
                            </p:childTnLst>
                          </p:cTn>
                        </p:par>
                        <p:par>
                          <p:cTn id="26" fill="hold" nodeType="afterGroup">
                            <p:stCondLst>
                              <p:cond delay="3500"/>
                            </p:stCondLst>
                            <p:childTnLst>
                              <p:par>
                                <p:cTn id="27" presetID="42" presetClass="entr" presetSubtype="0" fill="hold" nodeType="after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1000"/>
                                        <p:tgtEl>
                                          <p:spTgt spid="10"/>
                                        </p:tgtEl>
                                      </p:cBhvr>
                                    </p:animEffect>
                                    <p:anim calcmode="lin" valueType="num">
                                      <p:cBhvr>
                                        <p:cTn id="30" dur="1000" fill="hold"/>
                                        <p:tgtEl>
                                          <p:spTgt spid="10"/>
                                        </p:tgtEl>
                                        <p:attrNameLst>
                                          <p:attrName>ppt_x</p:attrName>
                                        </p:attrNameLst>
                                      </p:cBhvr>
                                      <p:tavLst>
                                        <p:tav tm="0">
                                          <p:val>
                                            <p:strVal val="#ppt_x"/>
                                          </p:val>
                                        </p:tav>
                                        <p:tav tm="100000">
                                          <p:val>
                                            <p:strVal val="#ppt_x"/>
                                          </p:val>
                                        </p:tav>
                                      </p:tavLst>
                                    </p:anim>
                                    <p:anim calcmode="lin" valueType="num">
                                      <p:cBhvr>
                                        <p:cTn id="31"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A38CA-BFE2-9D65-7274-EC05D1D1E032}"/>
              </a:ext>
            </a:extLst>
          </p:cNvPr>
          <p:cNvSpPr>
            <a:spLocks noGrp="1"/>
          </p:cNvSpPr>
          <p:nvPr>
            <p:ph type="title"/>
          </p:nvPr>
        </p:nvSpPr>
        <p:spPr>
          <a:xfrm>
            <a:off x="457200" y="0"/>
            <a:ext cx="7620000" cy="1143000"/>
          </a:xfrm>
        </p:spPr>
        <p:txBody>
          <a:bodyPr/>
          <a:lstStyle/>
          <a:p>
            <a:pPr algn="ctr">
              <a:defRPr/>
            </a:pPr>
            <a:r>
              <a:rPr lang="en-US" dirty="0"/>
              <a:t>Math Functions</a:t>
            </a:r>
            <a:endParaRPr lang="en-MY" dirty="0"/>
          </a:p>
        </p:txBody>
      </p:sp>
      <p:sp>
        <p:nvSpPr>
          <p:cNvPr id="5" name="Content Placeholder 2">
            <a:extLst>
              <a:ext uri="{FF2B5EF4-FFF2-40B4-BE49-F238E27FC236}">
                <a16:creationId xmlns:a16="http://schemas.microsoft.com/office/drawing/2014/main" id="{871FBA0B-BA51-0CED-630B-11292BFC97C0}"/>
              </a:ext>
            </a:extLst>
          </p:cNvPr>
          <p:cNvSpPr txBox="1">
            <a:spLocks/>
          </p:cNvSpPr>
          <p:nvPr/>
        </p:nvSpPr>
        <p:spPr bwMode="auto">
          <a:xfrm>
            <a:off x="250825" y="1268413"/>
            <a:ext cx="8008938"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US"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SQL supports the use of basic math operators in SQL statements</a:t>
            </a: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graphicFrame>
        <p:nvGraphicFramePr>
          <p:cNvPr id="3" name="Table 2">
            <a:extLst>
              <a:ext uri="{FF2B5EF4-FFF2-40B4-BE49-F238E27FC236}">
                <a16:creationId xmlns:a16="http://schemas.microsoft.com/office/drawing/2014/main" id="{DAF81C04-9DC9-896A-AFDC-60EF29310795}"/>
              </a:ext>
            </a:extLst>
          </p:cNvPr>
          <p:cNvGraphicFramePr>
            <a:graphicFrameLocks noGrp="1"/>
          </p:cNvGraphicFramePr>
          <p:nvPr/>
        </p:nvGraphicFramePr>
        <p:xfrm>
          <a:off x="533400" y="2420938"/>
          <a:ext cx="7375525" cy="3455987"/>
        </p:xfrm>
        <a:graphic>
          <a:graphicData uri="http://schemas.openxmlformats.org/drawingml/2006/table">
            <a:tbl>
              <a:tblPr firstRow="1" bandRow="1">
                <a:tableStyleId>{3B4B98B0-60AC-42C2-AFA5-B58CD77FA1E5}</a:tableStyleId>
              </a:tblPr>
              <a:tblGrid>
                <a:gridCol w="3687763">
                  <a:extLst>
                    <a:ext uri="{9D8B030D-6E8A-4147-A177-3AD203B41FA5}">
                      <a16:colId xmlns:a16="http://schemas.microsoft.com/office/drawing/2014/main" val="20000"/>
                    </a:ext>
                  </a:extLst>
                </a:gridCol>
                <a:gridCol w="3687763">
                  <a:extLst>
                    <a:ext uri="{9D8B030D-6E8A-4147-A177-3AD203B41FA5}">
                      <a16:colId xmlns:a16="http://schemas.microsoft.com/office/drawing/2014/main" val="20001"/>
                    </a:ext>
                  </a:extLst>
                </a:gridCol>
              </a:tblGrid>
              <a:tr h="691197">
                <a:tc>
                  <a:txBody>
                    <a:bodyPr/>
                    <a:lstStyle/>
                    <a:p>
                      <a:pPr algn="ctr"/>
                      <a:r>
                        <a:rPr lang="en-CA" sz="2800" dirty="0"/>
                        <a:t>Function</a:t>
                      </a:r>
                    </a:p>
                  </a:txBody>
                  <a:tcPr marL="91449" marR="91449" marT="45715" marB="45715" anchor="ctr"/>
                </a:tc>
                <a:tc>
                  <a:txBody>
                    <a:bodyPr/>
                    <a:lstStyle/>
                    <a:p>
                      <a:pPr algn="ctr"/>
                      <a:r>
                        <a:rPr lang="en-CA" sz="2800" dirty="0"/>
                        <a:t>Operator</a:t>
                      </a:r>
                    </a:p>
                  </a:txBody>
                  <a:tcPr marL="91449" marR="91449" marT="45715" marB="45715" anchor="ctr"/>
                </a:tc>
                <a:extLst>
                  <a:ext uri="{0D108BD9-81ED-4DB2-BD59-A6C34878D82A}">
                    <a16:rowId xmlns:a16="http://schemas.microsoft.com/office/drawing/2014/main" val="10000"/>
                  </a:ext>
                </a:extLst>
              </a:tr>
              <a:tr h="691197">
                <a:tc>
                  <a:txBody>
                    <a:bodyPr/>
                    <a:lstStyle/>
                    <a:p>
                      <a:pPr algn="ctr"/>
                      <a:r>
                        <a:rPr lang="en-CA" sz="2800" dirty="0"/>
                        <a:t>Add</a:t>
                      </a:r>
                    </a:p>
                  </a:txBody>
                  <a:tcPr marL="91449" marR="91449" marT="45715" marB="45715" anchor="ctr"/>
                </a:tc>
                <a:tc>
                  <a:txBody>
                    <a:bodyPr/>
                    <a:lstStyle/>
                    <a:p>
                      <a:pPr algn="ctr"/>
                      <a:r>
                        <a:rPr lang="en-CA" sz="2800" dirty="0"/>
                        <a:t>+</a:t>
                      </a:r>
                    </a:p>
                  </a:txBody>
                  <a:tcPr marL="91449" marR="91449" marT="45715" marB="45715" anchor="ctr"/>
                </a:tc>
                <a:extLst>
                  <a:ext uri="{0D108BD9-81ED-4DB2-BD59-A6C34878D82A}">
                    <a16:rowId xmlns:a16="http://schemas.microsoft.com/office/drawing/2014/main" val="10001"/>
                  </a:ext>
                </a:extLst>
              </a:tr>
              <a:tr h="691197">
                <a:tc>
                  <a:txBody>
                    <a:bodyPr/>
                    <a:lstStyle/>
                    <a:p>
                      <a:pPr algn="ctr"/>
                      <a:r>
                        <a:rPr lang="en-CA" sz="2800" dirty="0"/>
                        <a:t>Subtract</a:t>
                      </a:r>
                    </a:p>
                  </a:txBody>
                  <a:tcPr marL="91449" marR="91449" marT="45715" marB="45715" anchor="ctr"/>
                </a:tc>
                <a:tc>
                  <a:txBody>
                    <a:bodyPr/>
                    <a:lstStyle/>
                    <a:p>
                      <a:pPr algn="ctr"/>
                      <a:r>
                        <a:rPr lang="en-CA" sz="2800" dirty="0"/>
                        <a:t>-</a:t>
                      </a:r>
                    </a:p>
                  </a:txBody>
                  <a:tcPr marL="91449" marR="91449" marT="45715" marB="45715" anchor="ctr"/>
                </a:tc>
                <a:extLst>
                  <a:ext uri="{0D108BD9-81ED-4DB2-BD59-A6C34878D82A}">
                    <a16:rowId xmlns:a16="http://schemas.microsoft.com/office/drawing/2014/main" val="10002"/>
                  </a:ext>
                </a:extLst>
              </a:tr>
              <a:tr h="691197">
                <a:tc>
                  <a:txBody>
                    <a:bodyPr/>
                    <a:lstStyle/>
                    <a:p>
                      <a:pPr algn="ctr"/>
                      <a:r>
                        <a:rPr lang="en-CA" sz="2800" dirty="0"/>
                        <a:t>Multiply</a:t>
                      </a:r>
                    </a:p>
                  </a:txBody>
                  <a:tcPr marL="91449" marR="91449" marT="45715" marB="45715" anchor="ctr"/>
                </a:tc>
                <a:tc>
                  <a:txBody>
                    <a:bodyPr/>
                    <a:lstStyle/>
                    <a:p>
                      <a:pPr algn="ctr"/>
                      <a:r>
                        <a:rPr lang="en-CA" sz="2800" dirty="0"/>
                        <a:t>*</a:t>
                      </a:r>
                    </a:p>
                  </a:txBody>
                  <a:tcPr marL="91449" marR="91449" marT="45715" marB="45715" anchor="ctr"/>
                </a:tc>
                <a:extLst>
                  <a:ext uri="{0D108BD9-81ED-4DB2-BD59-A6C34878D82A}">
                    <a16:rowId xmlns:a16="http://schemas.microsoft.com/office/drawing/2014/main" val="10003"/>
                  </a:ext>
                </a:extLst>
              </a:tr>
              <a:tr h="691197">
                <a:tc>
                  <a:txBody>
                    <a:bodyPr/>
                    <a:lstStyle/>
                    <a:p>
                      <a:pPr algn="ctr"/>
                      <a:r>
                        <a:rPr lang="en-CA" sz="2800" dirty="0"/>
                        <a:t>Divide</a:t>
                      </a:r>
                    </a:p>
                  </a:txBody>
                  <a:tcPr marL="91449" marR="91449" marT="45715" marB="45715" anchor="ctr"/>
                </a:tc>
                <a:tc>
                  <a:txBody>
                    <a:bodyPr/>
                    <a:lstStyle/>
                    <a:p>
                      <a:pPr algn="ctr"/>
                      <a:r>
                        <a:rPr lang="en-CA" sz="2800" dirty="0"/>
                        <a:t>/</a:t>
                      </a:r>
                    </a:p>
                  </a:txBody>
                  <a:tcPr marL="91449" marR="91449" marT="45715" marB="45715" anchor="ctr"/>
                </a:tc>
                <a:extLst>
                  <a:ext uri="{0D108BD9-81ED-4DB2-BD59-A6C34878D82A}">
                    <a16:rowId xmlns:a16="http://schemas.microsoft.com/office/drawing/2014/main" val="10004"/>
                  </a:ext>
                </a:extLst>
              </a:tr>
            </a:tbl>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up)">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AE844F-D4A1-0ACE-5119-1A74C760AFE6}"/>
              </a:ext>
            </a:extLst>
          </p:cNvPr>
          <p:cNvSpPr>
            <a:spLocks noGrp="1"/>
          </p:cNvSpPr>
          <p:nvPr>
            <p:ph type="title"/>
          </p:nvPr>
        </p:nvSpPr>
        <p:spPr>
          <a:xfrm>
            <a:off x="457200" y="0"/>
            <a:ext cx="7620000" cy="1143000"/>
          </a:xfrm>
        </p:spPr>
        <p:txBody>
          <a:bodyPr/>
          <a:lstStyle/>
          <a:p>
            <a:pPr algn="ctr">
              <a:defRPr/>
            </a:pPr>
            <a:r>
              <a:rPr lang="en-US" dirty="0"/>
              <a:t>Math Functions</a:t>
            </a:r>
            <a:endParaRPr lang="en-MY" dirty="0"/>
          </a:p>
        </p:txBody>
      </p:sp>
      <p:sp>
        <p:nvSpPr>
          <p:cNvPr id="5" name="Content Placeholder 2">
            <a:extLst>
              <a:ext uri="{FF2B5EF4-FFF2-40B4-BE49-F238E27FC236}">
                <a16:creationId xmlns:a16="http://schemas.microsoft.com/office/drawing/2014/main" id="{27A47FAA-13D9-91DA-3F8B-EDA467D29C55}"/>
              </a:ext>
            </a:extLst>
          </p:cNvPr>
          <p:cNvSpPr txBox="1">
            <a:spLocks/>
          </p:cNvSpPr>
          <p:nvPr/>
        </p:nvSpPr>
        <p:spPr bwMode="auto">
          <a:xfrm>
            <a:off x="250825" y="1268413"/>
            <a:ext cx="865505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US"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For example</a:t>
            </a: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sp>
        <p:nvSpPr>
          <p:cNvPr id="6" name="Rounded Rectangle 5">
            <a:extLst>
              <a:ext uri="{FF2B5EF4-FFF2-40B4-BE49-F238E27FC236}">
                <a16:creationId xmlns:a16="http://schemas.microsoft.com/office/drawing/2014/main" id="{BD8CC7E1-7403-4A24-2507-F1FA6B9D37DF}"/>
              </a:ext>
            </a:extLst>
          </p:cNvPr>
          <p:cNvSpPr/>
          <p:nvPr/>
        </p:nvSpPr>
        <p:spPr bwMode="auto">
          <a:xfrm>
            <a:off x="1143000" y="3559175"/>
            <a:ext cx="6911975" cy="1117600"/>
          </a:xfrm>
          <a:prstGeom prst="roundRect">
            <a:avLst/>
          </a:prstGeom>
          <a:solidFill>
            <a:schemeClr val="accent6">
              <a:alpha val="30000"/>
            </a:schemeClr>
          </a:solidFill>
          <a:ln w="9525" cap="flat" cmpd="sng" algn="ctr">
            <a:solidFill>
              <a:schemeClr val="accent6"/>
            </a:solidFill>
            <a:prstDash val="solid"/>
            <a:round/>
            <a:headEnd type="none" w="med" len="med"/>
            <a:tailEnd type="none" w="med" len="med"/>
          </a:ln>
          <a:effectLst/>
        </p:spPr>
        <p:txBody>
          <a:bodyPr anchor="ctr" anchorCtr="1"/>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2800" b="0" i="0" u="none" strike="noStrike" kern="1200" cap="none" spc="0" normalizeH="0" baseline="0" noProof="0" dirty="0">
                <a:ln>
                  <a:noFill/>
                </a:ln>
                <a:solidFill>
                  <a:srgbClr val="2F2B20"/>
                </a:solidFill>
                <a:effectLst/>
                <a:uLnTx/>
                <a:uFillTx/>
                <a:latin typeface="Arial" charset="0"/>
                <a:ea typeface="+mn-ea"/>
                <a:cs typeface="Arial" panose="020B0604020202020204" pitchFamily="34" charset="0"/>
              </a:rPr>
              <a:t>SELECT ISBN, Title, (Quantity + 3) * 2 FROM Book;</a:t>
            </a:r>
          </a:p>
        </p:txBody>
      </p:sp>
      <p:graphicFrame>
        <p:nvGraphicFramePr>
          <p:cNvPr id="4" name="Table 3">
            <a:extLst>
              <a:ext uri="{FF2B5EF4-FFF2-40B4-BE49-F238E27FC236}">
                <a16:creationId xmlns:a16="http://schemas.microsoft.com/office/drawing/2014/main" id="{D7BFB3B1-B79D-D16A-D6B8-4946A6DF3472}"/>
              </a:ext>
            </a:extLst>
          </p:cNvPr>
          <p:cNvGraphicFramePr>
            <a:graphicFrameLocks noGrp="1"/>
          </p:cNvGraphicFramePr>
          <p:nvPr/>
        </p:nvGraphicFramePr>
        <p:xfrm>
          <a:off x="1379538" y="1916113"/>
          <a:ext cx="6096000" cy="1112837"/>
        </p:xfrm>
        <a:graphic>
          <a:graphicData uri="http://schemas.openxmlformats.org/drawingml/2006/table">
            <a:tbl>
              <a:tblPr firstRow="1" bandRow="1">
                <a:tableStyleId>{D27102A9-8310-4765-A935-A1911B00CA55}</a:tableStyleId>
              </a:tblPr>
              <a:tblGrid>
                <a:gridCol w="1463824">
                  <a:extLst>
                    <a:ext uri="{9D8B030D-6E8A-4147-A177-3AD203B41FA5}">
                      <a16:colId xmlns:a16="http://schemas.microsoft.com/office/drawing/2014/main" val="20000"/>
                    </a:ext>
                  </a:extLst>
                </a:gridCol>
                <a:gridCol w="2736304">
                  <a:extLst>
                    <a:ext uri="{9D8B030D-6E8A-4147-A177-3AD203B41FA5}">
                      <a16:colId xmlns:a16="http://schemas.microsoft.com/office/drawing/2014/main" val="20001"/>
                    </a:ext>
                  </a:extLst>
                </a:gridCol>
                <a:gridCol w="1895872">
                  <a:extLst>
                    <a:ext uri="{9D8B030D-6E8A-4147-A177-3AD203B41FA5}">
                      <a16:colId xmlns:a16="http://schemas.microsoft.com/office/drawing/2014/main" val="20002"/>
                    </a:ext>
                  </a:extLst>
                </a:gridCol>
              </a:tblGrid>
              <a:tr h="370946">
                <a:tc>
                  <a:txBody>
                    <a:bodyPr/>
                    <a:lstStyle/>
                    <a:p>
                      <a:pPr algn="ctr"/>
                      <a:r>
                        <a:rPr lang="en-CA" sz="1800" dirty="0"/>
                        <a:t>ISBN</a:t>
                      </a:r>
                    </a:p>
                  </a:txBody>
                  <a:tcPr marT="45733" marB="45733"/>
                </a:tc>
                <a:tc>
                  <a:txBody>
                    <a:bodyPr/>
                    <a:lstStyle/>
                    <a:p>
                      <a:pPr algn="ctr"/>
                      <a:r>
                        <a:rPr lang="en-CA" sz="1800" dirty="0"/>
                        <a:t>Title</a:t>
                      </a:r>
                    </a:p>
                  </a:txBody>
                  <a:tcPr marT="45733" marB="45733"/>
                </a:tc>
                <a:tc>
                  <a:txBody>
                    <a:bodyPr/>
                    <a:lstStyle/>
                    <a:p>
                      <a:pPr algn="ctr"/>
                      <a:r>
                        <a:rPr lang="en-CA" sz="1800" dirty="0"/>
                        <a:t>Quantity</a:t>
                      </a:r>
                    </a:p>
                  </a:txBody>
                  <a:tcPr marT="45733" marB="45733"/>
                </a:tc>
                <a:extLst>
                  <a:ext uri="{0D108BD9-81ED-4DB2-BD59-A6C34878D82A}">
                    <a16:rowId xmlns:a16="http://schemas.microsoft.com/office/drawing/2014/main" val="10000"/>
                  </a:ext>
                </a:extLst>
              </a:tr>
              <a:tr h="370946">
                <a:tc>
                  <a:txBody>
                    <a:bodyPr/>
                    <a:lstStyle/>
                    <a:p>
                      <a:pPr algn="ctr"/>
                      <a:r>
                        <a:rPr lang="en-CA" sz="1800" dirty="0"/>
                        <a:t>12345</a:t>
                      </a:r>
                    </a:p>
                  </a:txBody>
                  <a:tcPr marT="45733" marB="45733"/>
                </a:tc>
                <a:tc>
                  <a:txBody>
                    <a:bodyPr/>
                    <a:lstStyle/>
                    <a:p>
                      <a:pPr algn="ctr"/>
                      <a:r>
                        <a:rPr lang="en-CA" sz="1800" dirty="0"/>
                        <a:t>The Hunger</a:t>
                      </a:r>
                      <a:r>
                        <a:rPr lang="en-CA" sz="1800" baseline="0" dirty="0"/>
                        <a:t> Game</a:t>
                      </a:r>
                      <a:endParaRPr lang="en-CA" sz="1800" dirty="0"/>
                    </a:p>
                  </a:txBody>
                  <a:tcPr marT="45733" marB="45733"/>
                </a:tc>
                <a:tc>
                  <a:txBody>
                    <a:bodyPr/>
                    <a:lstStyle/>
                    <a:p>
                      <a:pPr algn="ctr"/>
                      <a:r>
                        <a:rPr lang="en-CA" sz="1800" dirty="0"/>
                        <a:t>10</a:t>
                      </a:r>
                    </a:p>
                  </a:txBody>
                  <a:tcPr marT="45733" marB="45733"/>
                </a:tc>
                <a:extLst>
                  <a:ext uri="{0D108BD9-81ED-4DB2-BD59-A6C34878D82A}">
                    <a16:rowId xmlns:a16="http://schemas.microsoft.com/office/drawing/2014/main" val="10001"/>
                  </a:ext>
                </a:extLst>
              </a:tr>
              <a:tr h="370946">
                <a:tc>
                  <a:txBody>
                    <a:bodyPr/>
                    <a:lstStyle/>
                    <a:p>
                      <a:pPr algn="ctr"/>
                      <a:r>
                        <a:rPr lang="en-CA" sz="1800" dirty="0"/>
                        <a:t>54321</a:t>
                      </a:r>
                    </a:p>
                  </a:txBody>
                  <a:tcPr marT="45733" marB="45733"/>
                </a:tc>
                <a:tc>
                  <a:txBody>
                    <a:bodyPr/>
                    <a:lstStyle/>
                    <a:p>
                      <a:pPr algn="ctr"/>
                      <a:r>
                        <a:rPr lang="en-CA" sz="1800" dirty="0"/>
                        <a:t>A Song of Ice and Fire</a:t>
                      </a:r>
                    </a:p>
                  </a:txBody>
                  <a:tcPr marT="45733" marB="45733"/>
                </a:tc>
                <a:tc>
                  <a:txBody>
                    <a:bodyPr/>
                    <a:lstStyle/>
                    <a:p>
                      <a:pPr algn="ctr"/>
                      <a:r>
                        <a:rPr lang="en-CA" sz="1800" dirty="0"/>
                        <a:t>15</a:t>
                      </a:r>
                    </a:p>
                  </a:txBody>
                  <a:tcPr marT="45733" marB="45733"/>
                </a:tc>
                <a:extLst>
                  <a:ext uri="{0D108BD9-81ED-4DB2-BD59-A6C34878D82A}">
                    <a16:rowId xmlns:a16="http://schemas.microsoft.com/office/drawing/2014/main" val="10002"/>
                  </a:ext>
                </a:extLst>
              </a:tr>
            </a:tbl>
          </a:graphicData>
        </a:graphic>
      </p:graphicFrame>
      <p:graphicFrame>
        <p:nvGraphicFramePr>
          <p:cNvPr id="8" name="Table 7">
            <a:extLst>
              <a:ext uri="{FF2B5EF4-FFF2-40B4-BE49-F238E27FC236}">
                <a16:creationId xmlns:a16="http://schemas.microsoft.com/office/drawing/2014/main" id="{DBE5EB78-3A1C-58F2-1DA2-C1BCF02116A2}"/>
              </a:ext>
            </a:extLst>
          </p:cNvPr>
          <p:cNvGraphicFramePr>
            <a:graphicFrameLocks noGrp="1"/>
          </p:cNvGraphicFramePr>
          <p:nvPr/>
        </p:nvGraphicFramePr>
        <p:xfrm>
          <a:off x="1300163" y="4953000"/>
          <a:ext cx="6408737" cy="1112838"/>
        </p:xfrm>
        <a:graphic>
          <a:graphicData uri="http://schemas.openxmlformats.org/drawingml/2006/table">
            <a:tbl>
              <a:tblPr firstRow="1" bandRow="1">
                <a:tableStyleId>{C083E6E3-FA7D-4D7B-A595-EF9225AFEA82}</a:tableStyleId>
              </a:tblPr>
              <a:tblGrid>
                <a:gridCol w="1368157">
                  <a:extLst>
                    <a:ext uri="{9D8B030D-6E8A-4147-A177-3AD203B41FA5}">
                      <a16:colId xmlns:a16="http://schemas.microsoft.com/office/drawing/2014/main" val="20000"/>
                    </a:ext>
                  </a:extLst>
                </a:gridCol>
                <a:gridCol w="2592298">
                  <a:extLst>
                    <a:ext uri="{9D8B030D-6E8A-4147-A177-3AD203B41FA5}">
                      <a16:colId xmlns:a16="http://schemas.microsoft.com/office/drawing/2014/main" val="20001"/>
                    </a:ext>
                  </a:extLst>
                </a:gridCol>
                <a:gridCol w="2448282">
                  <a:extLst>
                    <a:ext uri="{9D8B030D-6E8A-4147-A177-3AD203B41FA5}">
                      <a16:colId xmlns:a16="http://schemas.microsoft.com/office/drawing/2014/main" val="20002"/>
                    </a:ext>
                  </a:extLst>
                </a:gridCol>
              </a:tblGrid>
              <a:tr h="370946">
                <a:tc>
                  <a:txBody>
                    <a:bodyPr/>
                    <a:lstStyle/>
                    <a:p>
                      <a:pPr algn="ctr"/>
                      <a:r>
                        <a:rPr lang="en-CA" sz="1800" dirty="0"/>
                        <a:t>ISBN</a:t>
                      </a:r>
                    </a:p>
                  </a:txBody>
                  <a:tcPr marT="45733" marB="45733"/>
                </a:tc>
                <a:tc>
                  <a:txBody>
                    <a:bodyPr/>
                    <a:lstStyle/>
                    <a:p>
                      <a:pPr algn="ctr"/>
                      <a:r>
                        <a:rPr lang="en-CA" sz="1800" dirty="0"/>
                        <a:t>Title</a:t>
                      </a:r>
                    </a:p>
                  </a:txBody>
                  <a:tcPr marT="45733" marB="45733"/>
                </a:tc>
                <a:tc>
                  <a:txBody>
                    <a:bodyPr/>
                    <a:lstStyle/>
                    <a:p>
                      <a:pPr algn="ctr"/>
                      <a:r>
                        <a:rPr lang="en-CA" sz="1800" dirty="0"/>
                        <a:t>(Quantity + 3) * 2</a:t>
                      </a:r>
                    </a:p>
                  </a:txBody>
                  <a:tcPr marT="45733" marB="45733"/>
                </a:tc>
                <a:extLst>
                  <a:ext uri="{0D108BD9-81ED-4DB2-BD59-A6C34878D82A}">
                    <a16:rowId xmlns:a16="http://schemas.microsoft.com/office/drawing/2014/main" val="10000"/>
                  </a:ext>
                </a:extLst>
              </a:tr>
              <a:tr h="370946">
                <a:tc>
                  <a:txBody>
                    <a:bodyPr/>
                    <a:lstStyle/>
                    <a:p>
                      <a:pPr algn="ctr"/>
                      <a:r>
                        <a:rPr lang="en-CA" sz="1800" dirty="0"/>
                        <a:t>12345</a:t>
                      </a:r>
                    </a:p>
                  </a:txBody>
                  <a:tcPr marT="45733" marB="45733"/>
                </a:tc>
                <a:tc>
                  <a:txBody>
                    <a:bodyPr/>
                    <a:lstStyle/>
                    <a:p>
                      <a:pPr algn="ctr"/>
                      <a:r>
                        <a:rPr lang="en-CA" sz="1800" dirty="0"/>
                        <a:t>The Hunger</a:t>
                      </a:r>
                      <a:r>
                        <a:rPr lang="en-CA" sz="1800" baseline="0" dirty="0"/>
                        <a:t> Game</a:t>
                      </a:r>
                      <a:endParaRPr lang="en-CA" sz="1800" dirty="0"/>
                    </a:p>
                  </a:txBody>
                  <a:tcPr marT="45733" marB="45733"/>
                </a:tc>
                <a:tc>
                  <a:txBody>
                    <a:bodyPr/>
                    <a:lstStyle/>
                    <a:p>
                      <a:pPr algn="ctr"/>
                      <a:r>
                        <a:rPr lang="en-CA" sz="1800" dirty="0"/>
                        <a:t>26</a:t>
                      </a:r>
                    </a:p>
                  </a:txBody>
                  <a:tcPr marT="45733" marB="45733"/>
                </a:tc>
                <a:extLst>
                  <a:ext uri="{0D108BD9-81ED-4DB2-BD59-A6C34878D82A}">
                    <a16:rowId xmlns:a16="http://schemas.microsoft.com/office/drawing/2014/main" val="10001"/>
                  </a:ext>
                </a:extLst>
              </a:tr>
              <a:tr h="370946">
                <a:tc>
                  <a:txBody>
                    <a:bodyPr/>
                    <a:lstStyle/>
                    <a:p>
                      <a:pPr algn="ctr"/>
                      <a:r>
                        <a:rPr lang="en-CA" sz="1800" dirty="0"/>
                        <a:t>54321</a:t>
                      </a:r>
                    </a:p>
                  </a:txBody>
                  <a:tcPr marT="45733" marB="45733"/>
                </a:tc>
                <a:tc>
                  <a:txBody>
                    <a:bodyPr/>
                    <a:lstStyle/>
                    <a:p>
                      <a:pPr algn="ctr"/>
                      <a:r>
                        <a:rPr lang="en-CA" sz="1800" dirty="0"/>
                        <a:t>A Song of Ice and Fire</a:t>
                      </a:r>
                    </a:p>
                  </a:txBody>
                  <a:tcPr marT="45733" marB="45733"/>
                </a:tc>
                <a:tc>
                  <a:txBody>
                    <a:bodyPr/>
                    <a:lstStyle/>
                    <a:p>
                      <a:pPr algn="ctr"/>
                      <a:r>
                        <a:rPr lang="en-CA" sz="1800" dirty="0"/>
                        <a:t>36</a:t>
                      </a:r>
                    </a:p>
                  </a:txBody>
                  <a:tcPr marT="45733" marB="45733"/>
                </a:tc>
                <a:extLst>
                  <a:ext uri="{0D108BD9-81ED-4DB2-BD59-A6C34878D82A}">
                    <a16:rowId xmlns:a16="http://schemas.microsoft.com/office/drawing/2014/main" val="10002"/>
                  </a:ext>
                </a:extLst>
              </a:tr>
            </a:tbl>
          </a:graphicData>
        </a:graphic>
      </p:graphicFrame>
      <p:sp>
        <p:nvSpPr>
          <p:cNvPr id="13" name="TextBox 12">
            <a:extLst>
              <a:ext uri="{FF2B5EF4-FFF2-40B4-BE49-F238E27FC236}">
                <a16:creationId xmlns:a16="http://schemas.microsoft.com/office/drawing/2014/main" id="{FD337ED8-1924-7733-C405-3A65F20D0826}"/>
              </a:ext>
            </a:extLst>
          </p:cNvPr>
          <p:cNvSpPr txBox="1">
            <a:spLocks noChangeArrowheads="1"/>
          </p:cNvSpPr>
          <p:nvPr/>
        </p:nvSpPr>
        <p:spPr bwMode="auto">
          <a:xfrm>
            <a:off x="3419475" y="3044825"/>
            <a:ext cx="20161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Book table</a:t>
            </a:r>
          </a:p>
        </p:txBody>
      </p:sp>
      <p:sp>
        <p:nvSpPr>
          <p:cNvPr id="14" name="Snip Single Corner Rectangle 13">
            <a:extLst>
              <a:ext uri="{FF2B5EF4-FFF2-40B4-BE49-F238E27FC236}">
                <a16:creationId xmlns:a16="http://schemas.microsoft.com/office/drawing/2014/main" id="{F87B452C-C860-3DBA-3680-6FE2DB733C8E}"/>
              </a:ext>
            </a:extLst>
          </p:cNvPr>
          <p:cNvSpPr/>
          <p:nvPr/>
        </p:nvSpPr>
        <p:spPr bwMode="auto">
          <a:xfrm>
            <a:off x="76200" y="4954588"/>
            <a:ext cx="1092200" cy="431800"/>
          </a:xfrm>
          <a:prstGeom prst="snip1Rect">
            <a:avLst/>
          </a:prstGeom>
          <a:solidFill>
            <a:srgbClr val="FFFF00">
              <a:alpha val="30000"/>
            </a:srgbClr>
          </a:solidFill>
          <a:ln w="9525" cap="flat" cmpd="sng" algn="ctr">
            <a:solidFill>
              <a:srgbClr val="FFC000"/>
            </a:solidFill>
            <a:prstDash val="solid"/>
            <a:round/>
            <a:headEnd type="none" w="med" len="med"/>
            <a:tailEnd type="none" w="med" len="me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sz="2000" b="1"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Result:</a:t>
            </a:r>
          </a:p>
        </p:txBody>
      </p:sp>
      <p:sp>
        <p:nvSpPr>
          <p:cNvPr id="15" name="Snip Single Corner Rectangle 14">
            <a:extLst>
              <a:ext uri="{FF2B5EF4-FFF2-40B4-BE49-F238E27FC236}">
                <a16:creationId xmlns:a16="http://schemas.microsoft.com/office/drawing/2014/main" id="{7CC31929-0D12-622A-4FFD-461B42551C3A}"/>
              </a:ext>
            </a:extLst>
          </p:cNvPr>
          <p:cNvSpPr/>
          <p:nvPr/>
        </p:nvSpPr>
        <p:spPr bwMode="auto">
          <a:xfrm>
            <a:off x="100013" y="3559175"/>
            <a:ext cx="828675" cy="431800"/>
          </a:xfrm>
          <a:prstGeom prst="snip1Rect">
            <a:avLst/>
          </a:prstGeom>
          <a:solidFill>
            <a:srgbClr val="FFFF00">
              <a:alpha val="30000"/>
            </a:srgbClr>
          </a:solidFill>
          <a:ln w="9525" cap="flat" cmpd="sng" algn="ctr">
            <a:solidFill>
              <a:srgbClr val="FFC000"/>
            </a:solidFill>
            <a:prstDash val="solid"/>
            <a:round/>
            <a:headEnd type="none" w="med" len="med"/>
            <a:tailEnd type="none" w="med" len="med"/>
          </a:ln>
          <a:effec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2000" b="1"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Run:</a:t>
            </a:r>
          </a:p>
        </p:txBody>
      </p:sp>
      <p:grpSp>
        <p:nvGrpSpPr>
          <p:cNvPr id="3" name="Group 16">
            <a:extLst>
              <a:ext uri="{FF2B5EF4-FFF2-40B4-BE49-F238E27FC236}">
                <a16:creationId xmlns:a16="http://schemas.microsoft.com/office/drawing/2014/main" id="{D4F3327B-7FAB-F60D-5CA8-3BC8F76A2353}"/>
              </a:ext>
            </a:extLst>
          </p:cNvPr>
          <p:cNvGrpSpPr>
            <a:grpSpLocks/>
          </p:cNvGrpSpPr>
          <p:nvPr/>
        </p:nvGrpSpPr>
        <p:grpSpPr bwMode="auto">
          <a:xfrm>
            <a:off x="6807200" y="5292725"/>
            <a:ext cx="1574800" cy="1011238"/>
            <a:chOff x="5067500" y="9571959"/>
            <a:chExt cx="1760925" cy="1011979"/>
          </a:xfrm>
        </p:grpSpPr>
        <p:sp>
          <p:nvSpPr>
            <p:cNvPr id="18" name="TextBox 17">
              <a:extLst>
                <a:ext uri="{FF2B5EF4-FFF2-40B4-BE49-F238E27FC236}">
                  <a16:creationId xmlns:a16="http://schemas.microsoft.com/office/drawing/2014/main" id="{B064CABE-2319-9C90-3582-192E27595661}"/>
                </a:ext>
              </a:extLst>
            </p:cNvPr>
            <p:cNvSpPr txBox="1"/>
            <p:nvPr/>
          </p:nvSpPr>
          <p:spPr>
            <a:xfrm>
              <a:off x="5067500" y="9869040"/>
              <a:ext cx="1760925" cy="714898"/>
            </a:xfrm>
            <a:prstGeom prst="roundRect">
              <a:avLst/>
            </a:prstGeom>
            <a:ln/>
          </p:spPr>
          <p:style>
            <a:lnRef idx="1">
              <a:schemeClr val="accent5"/>
            </a:lnRef>
            <a:fillRef idx="2">
              <a:schemeClr val="accent5"/>
            </a:fillRef>
            <a:effectRef idx="1">
              <a:schemeClr val="accent5"/>
            </a:effectRef>
            <a:fontRef idx="minor">
              <a:schemeClr val="dk1"/>
            </a:fontRef>
          </p:style>
          <p:txBody>
            <a:bodyP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sz="1800" b="0" i="0" u="none" strike="noStrike" kern="1200" cap="none" spc="0" normalizeH="0" baseline="0" noProof="0" dirty="0">
                  <a:ln>
                    <a:noFill/>
                  </a:ln>
                  <a:solidFill>
                    <a:srgbClr val="2F2B20"/>
                  </a:solidFill>
                  <a:effectLst/>
                  <a:uLnTx/>
                  <a:uFillTx/>
                  <a:latin typeface="Calibri"/>
                  <a:ea typeface="+mn-ea"/>
                  <a:cs typeface="+mn-cs"/>
                </a:rPr>
                <a:t>Column name has changed</a:t>
              </a:r>
            </a:p>
          </p:txBody>
        </p:sp>
        <p:cxnSp>
          <p:nvCxnSpPr>
            <p:cNvPr id="19" name="Straight Arrow Connector 18">
              <a:extLst>
                <a:ext uri="{FF2B5EF4-FFF2-40B4-BE49-F238E27FC236}">
                  <a16:creationId xmlns:a16="http://schemas.microsoft.com/office/drawing/2014/main" id="{7945709E-45D7-F32B-35BF-B2F389240C93}"/>
                </a:ext>
              </a:extLst>
            </p:cNvPr>
            <p:cNvCxnSpPr>
              <a:stCxn id="18" idx="0"/>
            </p:cNvCxnSpPr>
            <p:nvPr/>
          </p:nvCxnSpPr>
          <p:spPr bwMode="auto">
            <a:xfrm flipH="1" flipV="1">
              <a:off x="5316018" y="9571959"/>
              <a:ext cx="631945" cy="297081"/>
            </a:xfrm>
            <a:prstGeom prst="straightConnector1">
              <a:avLst/>
            </a:prstGeom>
            <a:ln>
              <a:headEnd type="none" w="med" len="med"/>
              <a:tailEnd type="triangle"/>
            </a:ln>
          </p:spPr>
          <p:style>
            <a:lnRef idx="1">
              <a:schemeClr val="accent5"/>
            </a:lnRef>
            <a:fillRef idx="2">
              <a:schemeClr val="accent5"/>
            </a:fillRef>
            <a:effectRef idx="1">
              <a:schemeClr val="accent5"/>
            </a:effectRef>
            <a:fontRef idx="minor">
              <a:schemeClr val="dk1"/>
            </a:fontRef>
          </p:style>
        </p:cxnSp>
      </p:gr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par>
                          <p:cTn id="8" fill="hold" nodeType="afterGroup">
                            <p:stCondLst>
                              <p:cond delay="500"/>
                            </p:stCondLst>
                            <p:childTnLst>
                              <p:par>
                                <p:cTn id="9" presetID="16" presetClass="entr" presetSubtype="21"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barn(inVertical)">
                                      <p:cBhvr>
                                        <p:cTn id="11" dur="500"/>
                                        <p:tgtEl>
                                          <p:spTgt spid="4"/>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left)">
                                      <p:cBhvr>
                                        <p:cTn id="15" dur="500"/>
                                        <p:tgtEl>
                                          <p:spTgt spid="13"/>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1" fill="hold" grpId="0" nodeType="click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wipe(up)">
                                      <p:cBhvr>
                                        <p:cTn id="20" dur="500"/>
                                        <p:tgtEl>
                                          <p:spTgt spid="15"/>
                                        </p:tgtEl>
                                      </p:cBhvr>
                                    </p:animEffect>
                                  </p:childTnLst>
                                </p:cTn>
                              </p:par>
                            </p:childTnLst>
                          </p:cTn>
                        </p:par>
                        <p:par>
                          <p:cTn id="21" fill="hold" nodeType="afterGroup">
                            <p:stCondLst>
                              <p:cond delay="500"/>
                            </p:stCondLst>
                            <p:childTnLst>
                              <p:par>
                                <p:cTn id="22" presetID="22" presetClass="entr" presetSubtype="8" fill="hold" nodeType="afterEffect">
                                  <p:stCondLst>
                                    <p:cond delay="0"/>
                                  </p:stCondLst>
                                  <p:childTnLst>
                                    <p:set>
                                      <p:cBhvr>
                                        <p:cTn id="23" dur="1" fill="hold">
                                          <p:stCondLst>
                                            <p:cond delay="0"/>
                                          </p:stCondLst>
                                        </p:cTn>
                                        <p:tgtEl>
                                          <p:spTgt spid="15">
                                            <p:txEl>
                                              <p:pRg st="0" end="0"/>
                                            </p:txEl>
                                          </p:spTgt>
                                        </p:tgtEl>
                                        <p:attrNameLst>
                                          <p:attrName>style.visibility</p:attrName>
                                        </p:attrNameLst>
                                      </p:cBhvr>
                                      <p:to>
                                        <p:strVal val="visible"/>
                                      </p:to>
                                    </p:set>
                                    <p:animEffect transition="in" filter="wipe(left)">
                                      <p:cBhvr>
                                        <p:cTn id="24" dur="500"/>
                                        <p:tgtEl>
                                          <p:spTgt spid="15">
                                            <p:txEl>
                                              <p:pRg st="0" end="0"/>
                                            </p:txEl>
                                          </p:spTgt>
                                        </p:tgtEl>
                                      </p:cBhvr>
                                    </p:animEffect>
                                  </p:childTnLst>
                                </p:cTn>
                              </p:par>
                            </p:childTnLst>
                          </p:cTn>
                        </p:par>
                        <p:par>
                          <p:cTn id="25" fill="hold" nodeType="afterGroup">
                            <p:stCondLst>
                              <p:cond delay="1000"/>
                            </p:stCondLst>
                            <p:childTnLst>
                              <p:par>
                                <p:cTn id="26" presetID="16" presetClass="entr" presetSubtype="21" fill="hold" grpId="0" nodeType="after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barn(inVertical)">
                                      <p:cBhvr>
                                        <p:cTn id="28" dur="500"/>
                                        <p:tgtEl>
                                          <p:spTgt spid="6"/>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1" fill="hold" grpId="0" nodeType="click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wipe(up)">
                                      <p:cBhvr>
                                        <p:cTn id="33" dur="500"/>
                                        <p:tgtEl>
                                          <p:spTgt spid="14"/>
                                        </p:tgtEl>
                                      </p:cBhvr>
                                    </p:animEffect>
                                  </p:childTnLst>
                                </p:cTn>
                              </p:par>
                            </p:childTnLst>
                          </p:cTn>
                        </p:par>
                        <p:par>
                          <p:cTn id="34" fill="hold" nodeType="afterGroup">
                            <p:stCondLst>
                              <p:cond delay="500"/>
                            </p:stCondLst>
                            <p:childTnLst>
                              <p:par>
                                <p:cTn id="35" presetID="22" presetClass="entr" presetSubtype="8" fill="hold" nodeType="afterEffect">
                                  <p:stCondLst>
                                    <p:cond delay="0"/>
                                  </p:stCondLst>
                                  <p:childTnLst>
                                    <p:set>
                                      <p:cBhvr>
                                        <p:cTn id="36" dur="1" fill="hold">
                                          <p:stCondLst>
                                            <p:cond delay="0"/>
                                          </p:stCondLst>
                                        </p:cTn>
                                        <p:tgtEl>
                                          <p:spTgt spid="14">
                                            <p:txEl>
                                              <p:pRg st="0" end="0"/>
                                            </p:txEl>
                                          </p:spTgt>
                                        </p:tgtEl>
                                        <p:attrNameLst>
                                          <p:attrName>style.visibility</p:attrName>
                                        </p:attrNameLst>
                                      </p:cBhvr>
                                      <p:to>
                                        <p:strVal val="visible"/>
                                      </p:to>
                                    </p:set>
                                    <p:animEffect transition="in" filter="wipe(left)">
                                      <p:cBhvr>
                                        <p:cTn id="37" dur="500"/>
                                        <p:tgtEl>
                                          <p:spTgt spid="14">
                                            <p:txEl>
                                              <p:pRg st="0" end="0"/>
                                            </p:txEl>
                                          </p:spTgt>
                                        </p:tgtEl>
                                      </p:cBhvr>
                                    </p:animEffect>
                                  </p:childTnLst>
                                </p:cTn>
                              </p:par>
                            </p:childTnLst>
                          </p:cTn>
                        </p:par>
                        <p:par>
                          <p:cTn id="38" fill="hold" nodeType="afterGroup">
                            <p:stCondLst>
                              <p:cond delay="1000"/>
                            </p:stCondLst>
                            <p:childTnLst>
                              <p:par>
                                <p:cTn id="39" presetID="16" presetClass="entr" presetSubtype="21" fill="hold" nodeType="afterEffect">
                                  <p:stCondLst>
                                    <p:cond delay="0"/>
                                  </p:stCondLst>
                                  <p:childTnLst>
                                    <p:set>
                                      <p:cBhvr>
                                        <p:cTn id="40" dur="1" fill="hold">
                                          <p:stCondLst>
                                            <p:cond delay="0"/>
                                          </p:stCondLst>
                                        </p:cTn>
                                        <p:tgtEl>
                                          <p:spTgt spid="8"/>
                                        </p:tgtEl>
                                        <p:attrNameLst>
                                          <p:attrName>style.visibility</p:attrName>
                                        </p:attrNameLst>
                                      </p:cBhvr>
                                      <p:to>
                                        <p:strVal val="visible"/>
                                      </p:to>
                                    </p:set>
                                    <p:animEffect transition="in" filter="barn(inVertical)">
                                      <p:cBhvr>
                                        <p:cTn id="41" dur="500"/>
                                        <p:tgtEl>
                                          <p:spTgt spid="8"/>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 presetClass="entr" presetSubtype="2"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anim calcmode="lin" valueType="num">
                                      <p:cBhvr additive="base">
                                        <p:cTn id="46" dur="500" fill="hold"/>
                                        <p:tgtEl>
                                          <p:spTgt spid="3"/>
                                        </p:tgtEl>
                                        <p:attrNameLst>
                                          <p:attrName>ppt_x</p:attrName>
                                        </p:attrNameLst>
                                      </p:cBhvr>
                                      <p:tavLst>
                                        <p:tav tm="0">
                                          <p:val>
                                            <p:strVal val="1+#ppt_w/2"/>
                                          </p:val>
                                        </p:tav>
                                        <p:tav tm="100000">
                                          <p:val>
                                            <p:strVal val="#ppt_x"/>
                                          </p:val>
                                        </p:tav>
                                      </p:tavLst>
                                    </p:anim>
                                    <p:anim calcmode="lin" valueType="num">
                                      <p:cBhvr additive="base">
                                        <p:cTn id="47"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animBg="1"/>
      <p:bldP spid="13" grpId="0"/>
      <p:bldP spid="14" grpId="0" animBg="1"/>
      <p:bldP spid="15" grpId="0" animBg="1"/>
    </p:bldLst>
  </p:timing>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E797CD-1E7A-9269-E416-AC6DBF76FF79}"/>
              </a:ext>
            </a:extLst>
          </p:cNvPr>
          <p:cNvSpPr>
            <a:spLocks noGrp="1"/>
          </p:cNvSpPr>
          <p:nvPr>
            <p:ph type="title"/>
          </p:nvPr>
        </p:nvSpPr>
        <p:spPr>
          <a:xfrm>
            <a:off x="457200" y="0"/>
            <a:ext cx="7620000" cy="1143000"/>
          </a:xfrm>
        </p:spPr>
        <p:txBody>
          <a:bodyPr/>
          <a:lstStyle/>
          <a:p>
            <a:pPr algn="ctr">
              <a:defRPr/>
            </a:pPr>
            <a:r>
              <a:rPr lang="en-US" dirty="0"/>
              <a:t>Math Functions</a:t>
            </a:r>
            <a:endParaRPr lang="en-MY" dirty="0"/>
          </a:p>
        </p:txBody>
      </p:sp>
      <p:sp>
        <p:nvSpPr>
          <p:cNvPr id="25603" name="Content Placeholder 2">
            <a:extLst>
              <a:ext uri="{FF2B5EF4-FFF2-40B4-BE49-F238E27FC236}">
                <a16:creationId xmlns:a16="http://schemas.microsoft.com/office/drawing/2014/main" id="{0695F17A-983C-3020-8705-C24ECA50FBAE}"/>
              </a:ext>
            </a:extLst>
          </p:cNvPr>
          <p:cNvSpPr txBox="1">
            <a:spLocks/>
          </p:cNvSpPr>
          <p:nvPr/>
        </p:nvSpPr>
        <p:spPr bwMode="auto">
          <a:xfrm>
            <a:off x="250825" y="1268413"/>
            <a:ext cx="865505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US"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For example</a:t>
            </a: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sp>
        <p:nvSpPr>
          <p:cNvPr id="6" name="Rounded Rectangle 5">
            <a:extLst>
              <a:ext uri="{FF2B5EF4-FFF2-40B4-BE49-F238E27FC236}">
                <a16:creationId xmlns:a16="http://schemas.microsoft.com/office/drawing/2014/main" id="{CBFEFE08-7FDC-C983-49BA-14370382BE5B}"/>
              </a:ext>
            </a:extLst>
          </p:cNvPr>
          <p:cNvSpPr/>
          <p:nvPr/>
        </p:nvSpPr>
        <p:spPr bwMode="auto">
          <a:xfrm>
            <a:off x="1295400" y="3559175"/>
            <a:ext cx="6911975" cy="1117600"/>
          </a:xfrm>
          <a:prstGeom prst="roundRect">
            <a:avLst/>
          </a:prstGeom>
          <a:solidFill>
            <a:schemeClr val="accent6">
              <a:alpha val="30000"/>
            </a:schemeClr>
          </a:solidFill>
          <a:ln w="9525" cap="flat" cmpd="sng" algn="ctr">
            <a:solidFill>
              <a:schemeClr val="accent6"/>
            </a:solidFill>
            <a:prstDash val="solid"/>
            <a:round/>
            <a:headEnd type="none" w="med" len="med"/>
            <a:tailEnd type="none" w="med" len="med"/>
          </a:ln>
          <a:effectLst/>
        </p:spPr>
        <p:txBody>
          <a:bodyPr anchor="ctr" anchorCtr="1"/>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2800" b="0" i="0" u="none" strike="noStrike" kern="1200" cap="none" spc="0" normalizeH="0" baseline="0" noProof="0" dirty="0">
                <a:ln>
                  <a:noFill/>
                </a:ln>
                <a:solidFill>
                  <a:srgbClr val="2F2B20"/>
                </a:solidFill>
                <a:effectLst/>
                <a:uLnTx/>
                <a:uFillTx/>
                <a:latin typeface="Arial" charset="0"/>
                <a:ea typeface="+mn-ea"/>
                <a:cs typeface="Arial" panose="020B0604020202020204" pitchFamily="34" charset="0"/>
              </a:rPr>
              <a:t>SELECT ISBN, Title, (Quantity + 3) * </a:t>
            </a:r>
            <a:r>
              <a:rPr kumimoji="0" lang="en-CA" sz="2800" b="0"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2 AS Quantity </a:t>
            </a:r>
            <a:r>
              <a:rPr kumimoji="0" lang="en-CA" sz="2800" b="0" i="0" u="none" strike="noStrike" kern="1200" cap="none" spc="0" normalizeH="0" baseline="0" noProof="0" dirty="0">
                <a:ln>
                  <a:noFill/>
                </a:ln>
                <a:solidFill>
                  <a:srgbClr val="2F2B20"/>
                </a:solidFill>
                <a:effectLst/>
                <a:uLnTx/>
                <a:uFillTx/>
                <a:latin typeface="Arial" charset="0"/>
                <a:ea typeface="+mn-ea"/>
                <a:cs typeface="Arial" panose="020B0604020202020204" pitchFamily="34" charset="0"/>
              </a:rPr>
              <a:t>FROM Book; </a:t>
            </a:r>
          </a:p>
        </p:txBody>
      </p:sp>
      <p:graphicFrame>
        <p:nvGraphicFramePr>
          <p:cNvPr id="4" name="Table 3">
            <a:extLst>
              <a:ext uri="{FF2B5EF4-FFF2-40B4-BE49-F238E27FC236}">
                <a16:creationId xmlns:a16="http://schemas.microsoft.com/office/drawing/2014/main" id="{52765EBB-20DC-11AD-7265-5956E688698A}"/>
              </a:ext>
            </a:extLst>
          </p:cNvPr>
          <p:cNvGraphicFramePr>
            <a:graphicFrameLocks noGrp="1"/>
          </p:cNvGraphicFramePr>
          <p:nvPr/>
        </p:nvGraphicFramePr>
        <p:xfrm>
          <a:off x="1379538" y="1916113"/>
          <a:ext cx="6096000" cy="1112837"/>
        </p:xfrm>
        <a:graphic>
          <a:graphicData uri="http://schemas.openxmlformats.org/drawingml/2006/table">
            <a:tbl>
              <a:tblPr firstRow="1" bandRow="1">
                <a:tableStyleId>{D27102A9-8310-4765-A935-A1911B00CA55}</a:tableStyleId>
              </a:tblPr>
              <a:tblGrid>
                <a:gridCol w="1463824">
                  <a:extLst>
                    <a:ext uri="{9D8B030D-6E8A-4147-A177-3AD203B41FA5}">
                      <a16:colId xmlns:a16="http://schemas.microsoft.com/office/drawing/2014/main" val="20000"/>
                    </a:ext>
                  </a:extLst>
                </a:gridCol>
                <a:gridCol w="2736304">
                  <a:extLst>
                    <a:ext uri="{9D8B030D-6E8A-4147-A177-3AD203B41FA5}">
                      <a16:colId xmlns:a16="http://schemas.microsoft.com/office/drawing/2014/main" val="20001"/>
                    </a:ext>
                  </a:extLst>
                </a:gridCol>
                <a:gridCol w="1895872">
                  <a:extLst>
                    <a:ext uri="{9D8B030D-6E8A-4147-A177-3AD203B41FA5}">
                      <a16:colId xmlns:a16="http://schemas.microsoft.com/office/drawing/2014/main" val="20002"/>
                    </a:ext>
                  </a:extLst>
                </a:gridCol>
              </a:tblGrid>
              <a:tr h="370946">
                <a:tc>
                  <a:txBody>
                    <a:bodyPr/>
                    <a:lstStyle/>
                    <a:p>
                      <a:pPr algn="ctr"/>
                      <a:r>
                        <a:rPr lang="en-CA" sz="1800" dirty="0"/>
                        <a:t>ISBN</a:t>
                      </a:r>
                    </a:p>
                  </a:txBody>
                  <a:tcPr marT="45733" marB="45733"/>
                </a:tc>
                <a:tc>
                  <a:txBody>
                    <a:bodyPr/>
                    <a:lstStyle/>
                    <a:p>
                      <a:pPr algn="ctr"/>
                      <a:r>
                        <a:rPr lang="en-CA" sz="1800" dirty="0"/>
                        <a:t>Title</a:t>
                      </a:r>
                    </a:p>
                  </a:txBody>
                  <a:tcPr marT="45733" marB="45733"/>
                </a:tc>
                <a:tc>
                  <a:txBody>
                    <a:bodyPr/>
                    <a:lstStyle/>
                    <a:p>
                      <a:pPr algn="ctr"/>
                      <a:r>
                        <a:rPr lang="en-CA" sz="1800" dirty="0"/>
                        <a:t>Quantity</a:t>
                      </a:r>
                    </a:p>
                  </a:txBody>
                  <a:tcPr marT="45733" marB="45733"/>
                </a:tc>
                <a:extLst>
                  <a:ext uri="{0D108BD9-81ED-4DB2-BD59-A6C34878D82A}">
                    <a16:rowId xmlns:a16="http://schemas.microsoft.com/office/drawing/2014/main" val="10000"/>
                  </a:ext>
                </a:extLst>
              </a:tr>
              <a:tr h="370946">
                <a:tc>
                  <a:txBody>
                    <a:bodyPr/>
                    <a:lstStyle/>
                    <a:p>
                      <a:pPr algn="ctr"/>
                      <a:r>
                        <a:rPr lang="en-CA" sz="1800" dirty="0"/>
                        <a:t>12345</a:t>
                      </a:r>
                    </a:p>
                  </a:txBody>
                  <a:tcPr marT="45733" marB="45733"/>
                </a:tc>
                <a:tc>
                  <a:txBody>
                    <a:bodyPr/>
                    <a:lstStyle/>
                    <a:p>
                      <a:pPr algn="ctr"/>
                      <a:r>
                        <a:rPr lang="en-CA" sz="1800" dirty="0"/>
                        <a:t>The Hunger</a:t>
                      </a:r>
                      <a:r>
                        <a:rPr lang="en-CA" sz="1800" baseline="0" dirty="0"/>
                        <a:t> Game</a:t>
                      </a:r>
                      <a:endParaRPr lang="en-CA" sz="1800" dirty="0"/>
                    </a:p>
                  </a:txBody>
                  <a:tcPr marT="45733" marB="45733"/>
                </a:tc>
                <a:tc>
                  <a:txBody>
                    <a:bodyPr/>
                    <a:lstStyle/>
                    <a:p>
                      <a:pPr algn="ctr"/>
                      <a:r>
                        <a:rPr lang="en-CA" sz="1800" dirty="0"/>
                        <a:t>10</a:t>
                      </a:r>
                    </a:p>
                  </a:txBody>
                  <a:tcPr marT="45733" marB="45733"/>
                </a:tc>
                <a:extLst>
                  <a:ext uri="{0D108BD9-81ED-4DB2-BD59-A6C34878D82A}">
                    <a16:rowId xmlns:a16="http://schemas.microsoft.com/office/drawing/2014/main" val="10001"/>
                  </a:ext>
                </a:extLst>
              </a:tr>
              <a:tr h="370946">
                <a:tc>
                  <a:txBody>
                    <a:bodyPr/>
                    <a:lstStyle/>
                    <a:p>
                      <a:pPr algn="ctr"/>
                      <a:r>
                        <a:rPr lang="en-CA" sz="1800" dirty="0"/>
                        <a:t>54321</a:t>
                      </a:r>
                    </a:p>
                  </a:txBody>
                  <a:tcPr marT="45733" marB="45733"/>
                </a:tc>
                <a:tc>
                  <a:txBody>
                    <a:bodyPr/>
                    <a:lstStyle/>
                    <a:p>
                      <a:pPr algn="ctr"/>
                      <a:r>
                        <a:rPr lang="en-CA" sz="1800" dirty="0"/>
                        <a:t>A Song of Ice and Fire</a:t>
                      </a:r>
                    </a:p>
                  </a:txBody>
                  <a:tcPr marT="45733" marB="45733"/>
                </a:tc>
                <a:tc>
                  <a:txBody>
                    <a:bodyPr/>
                    <a:lstStyle/>
                    <a:p>
                      <a:pPr algn="ctr"/>
                      <a:r>
                        <a:rPr lang="en-CA" sz="1800" dirty="0"/>
                        <a:t>15</a:t>
                      </a:r>
                    </a:p>
                  </a:txBody>
                  <a:tcPr marT="45733" marB="45733"/>
                </a:tc>
                <a:extLst>
                  <a:ext uri="{0D108BD9-81ED-4DB2-BD59-A6C34878D82A}">
                    <a16:rowId xmlns:a16="http://schemas.microsoft.com/office/drawing/2014/main" val="10002"/>
                  </a:ext>
                </a:extLst>
              </a:tr>
            </a:tbl>
          </a:graphicData>
        </a:graphic>
      </p:graphicFrame>
      <p:graphicFrame>
        <p:nvGraphicFramePr>
          <p:cNvPr id="8" name="Table 7">
            <a:extLst>
              <a:ext uri="{FF2B5EF4-FFF2-40B4-BE49-F238E27FC236}">
                <a16:creationId xmlns:a16="http://schemas.microsoft.com/office/drawing/2014/main" id="{3F5F95F5-0158-1619-2954-FD9AC6238464}"/>
              </a:ext>
            </a:extLst>
          </p:cNvPr>
          <p:cNvGraphicFramePr>
            <a:graphicFrameLocks noGrp="1"/>
          </p:cNvGraphicFramePr>
          <p:nvPr/>
        </p:nvGraphicFramePr>
        <p:xfrm>
          <a:off x="1300163" y="4953000"/>
          <a:ext cx="6408737" cy="1112838"/>
        </p:xfrm>
        <a:graphic>
          <a:graphicData uri="http://schemas.openxmlformats.org/drawingml/2006/table">
            <a:tbl>
              <a:tblPr firstRow="1" bandRow="1">
                <a:tableStyleId>{C083E6E3-FA7D-4D7B-A595-EF9225AFEA82}</a:tableStyleId>
              </a:tblPr>
              <a:tblGrid>
                <a:gridCol w="1368157">
                  <a:extLst>
                    <a:ext uri="{9D8B030D-6E8A-4147-A177-3AD203B41FA5}">
                      <a16:colId xmlns:a16="http://schemas.microsoft.com/office/drawing/2014/main" val="20000"/>
                    </a:ext>
                  </a:extLst>
                </a:gridCol>
                <a:gridCol w="2592298">
                  <a:extLst>
                    <a:ext uri="{9D8B030D-6E8A-4147-A177-3AD203B41FA5}">
                      <a16:colId xmlns:a16="http://schemas.microsoft.com/office/drawing/2014/main" val="20001"/>
                    </a:ext>
                  </a:extLst>
                </a:gridCol>
                <a:gridCol w="2448282">
                  <a:extLst>
                    <a:ext uri="{9D8B030D-6E8A-4147-A177-3AD203B41FA5}">
                      <a16:colId xmlns:a16="http://schemas.microsoft.com/office/drawing/2014/main" val="20002"/>
                    </a:ext>
                  </a:extLst>
                </a:gridCol>
              </a:tblGrid>
              <a:tr h="370946">
                <a:tc>
                  <a:txBody>
                    <a:bodyPr/>
                    <a:lstStyle/>
                    <a:p>
                      <a:pPr algn="ctr"/>
                      <a:r>
                        <a:rPr lang="en-CA" sz="1800" dirty="0"/>
                        <a:t>ISBN</a:t>
                      </a:r>
                    </a:p>
                  </a:txBody>
                  <a:tcPr marT="45733" marB="45733"/>
                </a:tc>
                <a:tc>
                  <a:txBody>
                    <a:bodyPr/>
                    <a:lstStyle/>
                    <a:p>
                      <a:pPr algn="ctr"/>
                      <a:r>
                        <a:rPr lang="en-CA" sz="1800" dirty="0"/>
                        <a:t>Title</a:t>
                      </a:r>
                    </a:p>
                  </a:txBody>
                  <a:tcPr marT="45733" marB="45733"/>
                </a:tc>
                <a:tc>
                  <a:txBody>
                    <a:bodyPr/>
                    <a:lstStyle/>
                    <a:p>
                      <a:pPr algn="ctr"/>
                      <a:r>
                        <a:rPr lang="en-CA" sz="1800" dirty="0"/>
                        <a:t>Quantity</a:t>
                      </a:r>
                    </a:p>
                  </a:txBody>
                  <a:tcPr marT="45733" marB="45733"/>
                </a:tc>
                <a:extLst>
                  <a:ext uri="{0D108BD9-81ED-4DB2-BD59-A6C34878D82A}">
                    <a16:rowId xmlns:a16="http://schemas.microsoft.com/office/drawing/2014/main" val="10000"/>
                  </a:ext>
                </a:extLst>
              </a:tr>
              <a:tr h="370946">
                <a:tc>
                  <a:txBody>
                    <a:bodyPr/>
                    <a:lstStyle/>
                    <a:p>
                      <a:pPr algn="ctr"/>
                      <a:r>
                        <a:rPr lang="en-CA" sz="1800" dirty="0"/>
                        <a:t>12345</a:t>
                      </a:r>
                    </a:p>
                  </a:txBody>
                  <a:tcPr marT="45733" marB="45733"/>
                </a:tc>
                <a:tc>
                  <a:txBody>
                    <a:bodyPr/>
                    <a:lstStyle/>
                    <a:p>
                      <a:pPr algn="ctr"/>
                      <a:r>
                        <a:rPr lang="en-CA" sz="1800" dirty="0"/>
                        <a:t>The Hunger</a:t>
                      </a:r>
                      <a:r>
                        <a:rPr lang="en-CA" sz="1800" baseline="0" dirty="0"/>
                        <a:t> Game</a:t>
                      </a:r>
                      <a:endParaRPr lang="en-CA" sz="1800" dirty="0"/>
                    </a:p>
                  </a:txBody>
                  <a:tcPr marT="45733" marB="45733"/>
                </a:tc>
                <a:tc>
                  <a:txBody>
                    <a:bodyPr/>
                    <a:lstStyle/>
                    <a:p>
                      <a:pPr algn="ctr"/>
                      <a:r>
                        <a:rPr lang="en-CA" sz="1800" dirty="0"/>
                        <a:t>26</a:t>
                      </a:r>
                    </a:p>
                  </a:txBody>
                  <a:tcPr marT="45733" marB="45733"/>
                </a:tc>
                <a:extLst>
                  <a:ext uri="{0D108BD9-81ED-4DB2-BD59-A6C34878D82A}">
                    <a16:rowId xmlns:a16="http://schemas.microsoft.com/office/drawing/2014/main" val="10001"/>
                  </a:ext>
                </a:extLst>
              </a:tr>
              <a:tr h="370946">
                <a:tc>
                  <a:txBody>
                    <a:bodyPr/>
                    <a:lstStyle/>
                    <a:p>
                      <a:pPr algn="ctr"/>
                      <a:r>
                        <a:rPr lang="en-CA" sz="1800" dirty="0"/>
                        <a:t>54321</a:t>
                      </a:r>
                    </a:p>
                  </a:txBody>
                  <a:tcPr marT="45733" marB="45733"/>
                </a:tc>
                <a:tc>
                  <a:txBody>
                    <a:bodyPr/>
                    <a:lstStyle/>
                    <a:p>
                      <a:pPr algn="ctr"/>
                      <a:r>
                        <a:rPr lang="en-CA" sz="1800" dirty="0"/>
                        <a:t>A Song of Ice and Fire</a:t>
                      </a:r>
                    </a:p>
                  </a:txBody>
                  <a:tcPr marT="45733" marB="45733"/>
                </a:tc>
                <a:tc>
                  <a:txBody>
                    <a:bodyPr/>
                    <a:lstStyle/>
                    <a:p>
                      <a:pPr algn="ctr"/>
                      <a:r>
                        <a:rPr lang="en-CA" sz="1800" dirty="0"/>
                        <a:t>36</a:t>
                      </a:r>
                    </a:p>
                  </a:txBody>
                  <a:tcPr marT="45733" marB="45733"/>
                </a:tc>
                <a:extLst>
                  <a:ext uri="{0D108BD9-81ED-4DB2-BD59-A6C34878D82A}">
                    <a16:rowId xmlns:a16="http://schemas.microsoft.com/office/drawing/2014/main" val="10002"/>
                  </a:ext>
                </a:extLst>
              </a:tr>
            </a:tbl>
          </a:graphicData>
        </a:graphic>
      </p:graphicFrame>
      <p:sp>
        <p:nvSpPr>
          <p:cNvPr id="25631" name="TextBox 12">
            <a:extLst>
              <a:ext uri="{FF2B5EF4-FFF2-40B4-BE49-F238E27FC236}">
                <a16:creationId xmlns:a16="http://schemas.microsoft.com/office/drawing/2014/main" id="{0F00EC25-A424-238B-7F05-BB129B15888B}"/>
              </a:ext>
            </a:extLst>
          </p:cNvPr>
          <p:cNvSpPr txBox="1">
            <a:spLocks noChangeArrowheads="1"/>
          </p:cNvSpPr>
          <p:nvPr/>
        </p:nvSpPr>
        <p:spPr bwMode="auto">
          <a:xfrm>
            <a:off x="3419475" y="3044825"/>
            <a:ext cx="20161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Book table</a:t>
            </a:r>
          </a:p>
        </p:txBody>
      </p:sp>
      <p:sp>
        <p:nvSpPr>
          <p:cNvPr id="14" name="Snip Single Corner Rectangle 13">
            <a:extLst>
              <a:ext uri="{FF2B5EF4-FFF2-40B4-BE49-F238E27FC236}">
                <a16:creationId xmlns:a16="http://schemas.microsoft.com/office/drawing/2014/main" id="{C4B295E2-FA77-ACF4-DF81-8EDF43C129D0}"/>
              </a:ext>
            </a:extLst>
          </p:cNvPr>
          <p:cNvSpPr/>
          <p:nvPr/>
        </p:nvSpPr>
        <p:spPr bwMode="auto">
          <a:xfrm>
            <a:off x="76200" y="4954588"/>
            <a:ext cx="1092200" cy="431800"/>
          </a:xfrm>
          <a:prstGeom prst="snip1Rect">
            <a:avLst/>
          </a:prstGeom>
          <a:solidFill>
            <a:srgbClr val="FFFF00">
              <a:alpha val="30000"/>
            </a:srgbClr>
          </a:solidFill>
          <a:ln w="9525" cap="flat" cmpd="sng" algn="ctr">
            <a:solidFill>
              <a:srgbClr val="FFC000"/>
            </a:solidFill>
            <a:prstDash val="solid"/>
            <a:round/>
            <a:headEnd type="none" w="med" len="med"/>
            <a:tailEnd type="none" w="med" len="me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sz="2000" b="1"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Result:</a:t>
            </a:r>
          </a:p>
        </p:txBody>
      </p:sp>
      <p:sp>
        <p:nvSpPr>
          <p:cNvPr id="15" name="Snip Single Corner Rectangle 14">
            <a:extLst>
              <a:ext uri="{FF2B5EF4-FFF2-40B4-BE49-F238E27FC236}">
                <a16:creationId xmlns:a16="http://schemas.microsoft.com/office/drawing/2014/main" id="{694D506F-8FF9-E7A9-A9BF-03BACEBB4073}"/>
              </a:ext>
            </a:extLst>
          </p:cNvPr>
          <p:cNvSpPr/>
          <p:nvPr/>
        </p:nvSpPr>
        <p:spPr bwMode="auto">
          <a:xfrm>
            <a:off x="100013" y="3559175"/>
            <a:ext cx="828675" cy="431800"/>
          </a:xfrm>
          <a:prstGeom prst="snip1Rect">
            <a:avLst/>
          </a:prstGeom>
          <a:solidFill>
            <a:srgbClr val="FFFF00">
              <a:alpha val="30000"/>
            </a:srgbClr>
          </a:solidFill>
          <a:ln w="9525" cap="flat" cmpd="sng" algn="ctr">
            <a:solidFill>
              <a:srgbClr val="FFC000"/>
            </a:solidFill>
            <a:prstDash val="solid"/>
            <a:round/>
            <a:headEnd type="none" w="med" len="med"/>
            <a:tailEnd type="none" w="med" len="med"/>
          </a:ln>
          <a:effec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2000" b="1"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Run:</a:t>
            </a:r>
          </a:p>
        </p:txBody>
      </p:sp>
      <p:grpSp>
        <p:nvGrpSpPr>
          <p:cNvPr id="3" name="Group 9">
            <a:extLst>
              <a:ext uri="{FF2B5EF4-FFF2-40B4-BE49-F238E27FC236}">
                <a16:creationId xmlns:a16="http://schemas.microsoft.com/office/drawing/2014/main" id="{762CCF76-7A78-921A-F49F-83F852654FFB}"/>
              </a:ext>
            </a:extLst>
          </p:cNvPr>
          <p:cNvGrpSpPr>
            <a:grpSpLocks/>
          </p:cNvGrpSpPr>
          <p:nvPr/>
        </p:nvGrpSpPr>
        <p:grpSpPr bwMode="auto">
          <a:xfrm>
            <a:off x="5111750" y="4102100"/>
            <a:ext cx="3313113" cy="946150"/>
            <a:chOff x="2934240" y="11171068"/>
            <a:chExt cx="3312369" cy="945010"/>
          </a:xfrm>
        </p:grpSpPr>
        <p:sp>
          <p:nvSpPr>
            <p:cNvPr id="11" name="TextBox 10">
              <a:extLst>
                <a:ext uri="{FF2B5EF4-FFF2-40B4-BE49-F238E27FC236}">
                  <a16:creationId xmlns:a16="http://schemas.microsoft.com/office/drawing/2014/main" id="{A1184EFE-9F9A-9F09-FC62-8E9E75079C62}"/>
                </a:ext>
              </a:extLst>
            </p:cNvPr>
            <p:cNvSpPr txBox="1"/>
            <p:nvPr/>
          </p:nvSpPr>
          <p:spPr>
            <a:xfrm>
              <a:off x="2934240" y="11171068"/>
              <a:ext cx="3312369" cy="715100"/>
            </a:xfrm>
            <a:prstGeom prst="roundRect">
              <a:avLst/>
            </a:prstGeom>
            <a:ln/>
          </p:spPr>
          <p:style>
            <a:lnRef idx="1">
              <a:schemeClr val="accent4"/>
            </a:lnRef>
            <a:fillRef idx="2">
              <a:schemeClr val="accent4"/>
            </a:fillRef>
            <a:effectRef idx="1">
              <a:schemeClr val="accent4"/>
            </a:effectRef>
            <a:fontRef idx="minor">
              <a:schemeClr val="dk1"/>
            </a:fontRef>
          </p:style>
          <p:txBody>
            <a:bodyP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sz="1800" b="0" i="0" u="none" strike="noStrike" kern="1200" cap="none" spc="0" normalizeH="0" baseline="0" noProof="0" dirty="0">
                  <a:ln>
                    <a:noFill/>
                  </a:ln>
                  <a:solidFill>
                    <a:srgbClr val="2F2B20"/>
                  </a:solidFill>
                  <a:effectLst/>
                  <a:uLnTx/>
                  <a:uFillTx/>
                  <a:latin typeface="Calibri"/>
                  <a:ea typeface="+mn-ea"/>
                  <a:cs typeface="+mn-cs"/>
                </a:rPr>
                <a:t>Column has been renamed by using AS in SQL statement</a:t>
              </a:r>
            </a:p>
          </p:txBody>
        </p:sp>
        <p:cxnSp>
          <p:nvCxnSpPr>
            <p:cNvPr id="12" name="Straight Arrow Connector 11">
              <a:extLst>
                <a:ext uri="{FF2B5EF4-FFF2-40B4-BE49-F238E27FC236}">
                  <a16:creationId xmlns:a16="http://schemas.microsoft.com/office/drawing/2014/main" id="{01922DBB-A596-A507-B545-7E134EBE34C9}"/>
                </a:ext>
              </a:extLst>
            </p:cNvPr>
            <p:cNvCxnSpPr>
              <a:stCxn id="11" idx="2"/>
            </p:cNvCxnSpPr>
            <p:nvPr/>
          </p:nvCxnSpPr>
          <p:spPr bwMode="auto">
            <a:xfrm flipH="1">
              <a:off x="4297597" y="11886168"/>
              <a:ext cx="293621" cy="229910"/>
            </a:xfrm>
            <a:prstGeom prst="straightConnector1">
              <a:avLst/>
            </a:prstGeom>
            <a:ln>
              <a:headEnd type="none" w="med" len="med"/>
              <a:tailEnd type="triangle"/>
            </a:ln>
          </p:spPr>
          <p:style>
            <a:lnRef idx="1">
              <a:schemeClr val="accent4"/>
            </a:lnRef>
            <a:fillRef idx="2">
              <a:schemeClr val="accent4"/>
            </a:fillRef>
            <a:effectRef idx="1">
              <a:schemeClr val="accent4"/>
            </a:effectRef>
            <a:fontRef idx="minor">
              <a:schemeClr val="dk1"/>
            </a:fontRef>
          </p:style>
        </p:cxnSp>
      </p:gr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up)">
                                      <p:cBhvr>
                                        <p:cTn id="7" dur="500"/>
                                        <p:tgtEl>
                                          <p:spTgt spid="15"/>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15">
                                            <p:txEl>
                                              <p:pRg st="0" end="0"/>
                                            </p:txEl>
                                          </p:spTgt>
                                        </p:tgtEl>
                                        <p:attrNameLst>
                                          <p:attrName>style.visibility</p:attrName>
                                        </p:attrNameLst>
                                      </p:cBhvr>
                                      <p:to>
                                        <p:strVal val="visible"/>
                                      </p:to>
                                    </p:set>
                                    <p:animEffect transition="in" filter="wipe(left)">
                                      <p:cBhvr>
                                        <p:cTn id="11" dur="500"/>
                                        <p:tgtEl>
                                          <p:spTgt spid="15">
                                            <p:txEl>
                                              <p:pRg st="0" end="0"/>
                                            </p:txEl>
                                          </p:spTgt>
                                        </p:tgtEl>
                                      </p:cBhvr>
                                    </p:animEffect>
                                  </p:childTnLst>
                                </p:cTn>
                              </p:par>
                            </p:childTnLst>
                          </p:cTn>
                        </p:par>
                        <p:par>
                          <p:cTn id="12" fill="hold" nodeType="afterGroup">
                            <p:stCondLst>
                              <p:cond delay="1000"/>
                            </p:stCondLst>
                            <p:childTnLst>
                              <p:par>
                                <p:cTn id="13" presetID="16" presetClass="entr" presetSubtype="21"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barn(inVertical)">
                                      <p:cBhvr>
                                        <p:cTn id="15" dur="500"/>
                                        <p:tgtEl>
                                          <p:spTgt spid="6"/>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1" fill="hold" grpId="0" nodeType="click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wipe(up)">
                                      <p:cBhvr>
                                        <p:cTn id="20" dur="500"/>
                                        <p:tgtEl>
                                          <p:spTgt spid="14"/>
                                        </p:tgtEl>
                                      </p:cBhvr>
                                    </p:animEffect>
                                  </p:childTnLst>
                                </p:cTn>
                              </p:par>
                            </p:childTnLst>
                          </p:cTn>
                        </p:par>
                        <p:par>
                          <p:cTn id="21" fill="hold" nodeType="afterGroup">
                            <p:stCondLst>
                              <p:cond delay="500"/>
                            </p:stCondLst>
                            <p:childTnLst>
                              <p:par>
                                <p:cTn id="22" presetID="22" presetClass="entr" presetSubtype="8" fill="hold" nodeType="afterEffect">
                                  <p:stCondLst>
                                    <p:cond delay="0"/>
                                  </p:stCondLst>
                                  <p:childTnLst>
                                    <p:set>
                                      <p:cBhvr>
                                        <p:cTn id="23" dur="1" fill="hold">
                                          <p:stCondLst>
                                            <p:cond delay="0"/>
                                          </p:stCondLst>
                                        </p:cTn>
                                        <p:tgtEl>
                                          <p:spTgt spid="14">
                                            <p:txEl>
                                              <p:pRg st="0" end="0"/>
                                            </p:txEl>
                                          </p:spTgt>
                                        </p:tgtEl>
                                        <p:attrNameLst>
                                          <p:attrName>style.visibility</p:attrName>
                                        </p:attrNameLst>
                                      </p:cBhvr>
                                      <p:to>
                                        <p:strVal val="visible"/>
                                      </p:to>
                                    </p:set>
                                    <p:animEffect transition="in" filter="wipe(left)">
                                      <p:cBhvr>
                                        <p:cTn id="24" dur="500"/>
                                        <p:tgtEl>
                                          <p:spTgt spid="14">
                                            <p:txEl>
                                              <p:pRg st="0" end="0"/>
                                            </p:txEl>
                                          </p:spTgt>
                                        </p:tgtEl>
                                      </p:cBhvr>
                                    </p:animEffect>
                                  </p:childTnLst>
                                </p:cTn>
                              </p:par>
                            </p:childTnLst>
                          </p:cTn>
                        </p:par>
                        <p:par>
                          <p:cTn id="25" fill="hold" nodeType="afterGroup">
                            <p:stCondLst>
                              <p:cond delay="1000"/>
                            </p:stCondLst>
                            <p:childTnLst>
                              <p:par>
                                <p:cTn id="26" presetID="16" presetClass="entr" presetSubtype="21" fill="hold" nodeType="after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barn(inVertical)">
                                      <p:cBhvr>
                                        <p:cTn id="28" dur="500"/>
                                        <p:tgtEl>
                                          <p:spTgt spid="8"/>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2" fill="hold" nodeType="clickEffect">
                                  <p:stCondLst>
                                    <p:cond delay="0"/>
                                  </p:stCondLst>
                                  <p:childTnLst>
                                    <p:set>
                                      <p:cBhvr>
                                        <p:cTn id="32" dur="1" fill="hold">
                                          <p:stCondLst>
                                            <p:cond delay="0"/>
                                          </p:stCondLst>
                                        </p:cTn>
                                        <p:tgtEl>
                                          <p:spTgt spid="3"/>
                                        </p:tgtEl>
                                        <p:attrNameLst>
                                          <p:attrName>style.visibility</p:attrName>
                                        </p:attrNameLst>
                                      </p:cBhvr>
                                      <p:to>
                                        <p:strVal val="visible"/>
                                      </p:to>
                                    </p:set>
                                    <p:anim calcmode="lin" valueType="num">
                                      <p:cBhvr additive="base">
                                        <p:cTn id="33" dur="500" fill="hold"/>
                                        <p:tgtEl>
                                          <p:spTgt spid="3"/>
                                        </p:tgtEl>
                                        <p:attrNameLst>
                                          <p:attrName>ppt_x</p:attrName>
                                        </p:attrNameLst>
                                      </p:cBhvr>
                                      <p:tavLst>
                                        <p:tav tm="0">
                                          <p:val>
                                            <p:strVal val="1+#ppt_w/2"/>
                                          </p:val>
                                        </p:tav>
                                        <p:tav tm="100000">
                                          <p:val>
                                            <p:strVal val="#ppt_x"/>
                                          </p:val>
                                        </p:tav>
                                      </p:tavLst>
                                    </p:anim>
                                    <p:anim calcmode="lin" valueType="num">
                                      <p:cBhvr additive="base">
                                        <p:cTn id="34"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4" grpId="0" animBg="1"/>
      <p:bldP spid="15" grpId="0" animBg="1"/>
    </p:bldLst>
  </p:timing>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F34FD1-B4B2-9B95-EC23-97D6D37D3B24}"/>
              </a:ext>
            </a:extLst>
          </p:cNvPr>
          <p:cNvSpPr>
            <a:spLocks noGrp="1"/>
          </p:cNvSpPr>
          <p:nvPr>
            <p:ph type="title"/>
          </p:nvPr>
        </p:nvSpPr>
        <p:spPr>
          <a:xfrm>
            <a:off x="457200" y="0"/>
            <a:ext cx="7620000" cy="1143000"/>
          </a:xfrm>
        </p:spPr>
        <p:txBody>
          <a:bodyPr/>
          <a:lstStyle/>
          <a:p>
            <a:pPr algn="ctr">
              <a:defRPr/>
            </a:pPr>
            <a:r>
              <a:rPr lang="en-US" dirty="0"/>
              <a:t>Math Functions</a:t>
            </a:r>
            <a:endParaRPr lang="en-MY" dirty="0"/>
          </a:p>
        </p:txBody>
      </p:sp>
      <p:sp>
        <p:nvSpPr>
          <p:cNvPr id="5" name="Content Placeholder 2">
            <a:extLst>
              <a:ext uri="{FF2B5EF4-FFF2-40B4-BE49-F238E27FC236}">
                <a16:creationId xmlns:a16="http://schemas.microsoft.com/office/drawing/2014/main" id="{1308EB8A-3B6E-8F38-3ADF-0020D4AE495F}"/>
              </a:ext>
            </a:extLst>
          </p:cNvPr>
          <p:cNvSpPr txBox="1">
            <a:spLocks/>
          </p:cNvSpPr>
          <p:nvPr/>
        </p:nvSpPr>
        <p:spPr bwMode="auto">
          <a:xfrm>
            <a:off x="250825" y="1268413"/>
            <a:ext cx="7978775"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US"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In this chapter, we will examine the following math functions</a:t>
            </a: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sp>
        <p:nvSpPr>
          <p:cNvPr id="6" name="Freeform 5">
            <a:hlinkClick r:id="rId2" action="ppaction://hlinksldjump"/>
            <a:extLst>
              <a:ext uri="{FF2B5EF4-FFF2-40B4-BE49-F238E27FC236}">
                <a16:creationId xmlns:a16="http://schemas.microsoft.com/office/drawing/2014/main" id="{A62F02D6-6C4D-9DFD-2FDF-BA6A80B3F890}"/>
              </a:ext>
            </a:extLst>
          </p:cNvPr>
          <p:cNvSpPr/>
          <p:nvPr/>
        </p:nvSpPr>
        <p:spPr>
          <a:xfrm>
            <a:off x="609600" y="2507513"/>
            <a:ext cx="2236185" cy="1341711"/>
          </a:xfrm>
          <a:custGeom>
            <a:avLst/>
            <a:gdLst>
              <a:gd name="connsiteX0" fmla="*/ 0 w 2236185"/>
              <a:gd name="connsiteY0" fmla="*/ 0 h 1341711"/>
              <a:gd name="connsiteX1" fmla="*/ 2236185 w 2236185"/>
              <a:gd name="connsiteY1" fmla="*/ 0 h 1341711"/>
              <a:gd name="connsiteX2" fmla="*/ 2236185 w 2236185"/>
              <a:gd name="connsiteY2" fmla="*/ 1341711 h 1341711"/>
              <a:gd name="connsiteX3" fmla="*/ 0 w 2236185"/>
              <a:gd name="connsiteY3" fmla="*/ 1341711 h 1341711"/>
              <a:gd name="connsiteX4" fmla="*/ 0 w 2236185"/>
              <a:gd name="connsiteY4" fmla="*/ 0 h 1341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6185" h="1341711">
                <a:moveTo>
                  <a:pt x="0" y="0"/>
                </a:moveTo>
                <a:lnTo>
                  <a:pt x="2236185" y="0"/>
                </a:lnTo>
                <a:lnTo>
                  <a:pt x="2236185" y="1341711"/>
                </a:lnTo>
                <a:lnTo>
                  <a:pt x="0" y="1341711"/>
                </a:lnTo>
                <a:lnTo>
                  <a:pt x="0" y="0"/>
                </a:lnTo>
                <a:close/>
              </a:path>
            </a:pathLst>
          </a:custGeom>
          <a:solidFill>
            <a:schemeClr val="accent2"/>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lIns="83820" tIns="83820" rIns="83820" bIns="83820" spcCol="1270" anchor="ctr"/>
          <a:lstStyle/>
          <a:p>
            <a:pPr marL="0" marR="0" lvl="0" indent="0" algn="ctr" defTabSz="977900" rtl="0" eaLnBrk="0" fontAlgn="base" latinLnBrk="0" hangingPunct="0">
              <a:lnSpc>
                <a:spcPct val="90000"/>
              </a:lnSpc>
              <a:spcBef>
                <a:spcPct val="0"/>
              </a:spcBef>
              <a:spcAft>
                <a:spcPct val="35000"/>
              </a:spcAft>
              <a:buClrTx/>
              <a:buSzTx/>
              <a:buFontTx/>
              <a:buNone/>
              <a:tabLst/>
              <a:defRPr/>
            </a:pPr>
            <a:r>
              <a:rPr kumimoji="0" lang="en-CA" sz="2200" b="0" i="0" u="none" strike="noStrike" kern="1200" cap="none" spc="0" normalizeH="0" baseline="0" noProof="0" dirty="0">
                <a:ln>
                  <a:noFill/>
                </a:ln>
                <a:solidFill>
                  <a:srgbClr val="FFFFFF"/>
                </a:solidFill>
                <a:effectLst/>
                <a:uLnTx/>
                <a:uFillTx/>
                <a:latin typeface="Calibri"/>
                <a:ea typeface="+mn-ea"/>
                <a:cs typeface="+mn-cs"/>
              </a:rPr>
              <a:t>ABS()</a:t>
            </a:r>
          </a:p>
        </p:txBody>
      </p:sp>
      <p:sp>
        <p:nvSpPr>
          <p:cNvPr id="7" name="Freeform 6">
            <a:hlinkClick r:id="rId3" action="ppaction://hlinksldjump"/>
            <a:extLst>
              <a:ext uri="{FF2B5EF4-FFF2-40B4-BE49-F238E27FC236}">
                <a16:creationId xmlns:a16="http://schemas.microsoft.com/office/drawing/2014/main" id="{AA24DDC9-AD6C-B0A2-2409-A317158DD42A}"/>
              </a:ext>
            </a:extLst>
          </p:cNvPr>
          <p:cNvSpPr/>
          <p:nvPr/>
        </p:nvSpPr>
        <p:spPr>
          <a:xfrm>
            <a:off x="3069405" y="2507513"/>
            <a:ext cx="2236185" cy="1341711"/>
          </a:xfrm>
          <a:custGeom>
            <a:avLst/>
            <a:gdLst>
              <a:gd name="connsiteX0" fmla="*/ 0 w 2236185"/>
              <a:gd name="connsiteY0" fmla="*/ 0 h 1341711"/>
              <a:gd name="connsiteX1" fmla="*/ 2236185 w 2236185"/>
              <a:gd name="connsiteY1" fmla="*/ 0 h 1341711"/>
              <a:gd name="connsiteX2" fmla="*/ 2236185 w 2236185"/>
              <a:gd name="connsiteY2" fmla="*/ 1341711 h 1341711"/>
              <a:gd name="connsiteX3" fmla="*/ 0 w 2236185"/>
              <a:gd name="connsiteY3" fmla="*/ 1341711 h 1341711"/>
              <a:gd name="connsiteX4" fmla="*/ 0 w 2236185"/>
              <a:gd name="connsiteY4" fmla="*/ 0 h 1341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6185" h="1341711">
                <a:moveTo>
                  <a:pt x="0" y="0"/>
                </a:moveTo>
                <a:lnTo>
                  <a:pt x="2236185" y="0"/>
                </a:lnTo>
                <a:lnTo>
                  <a:pt x="2236185" y="1341711"/>
                </a:lnTo>
                <a:lnTo>
                  <a:pt x="0" y="1341711"/>
                </a:lnTo>
                <a:lnTo>
                  <a:pt x="0" y="0"/>
                </a:lnTo>
                <a:close/>
              </a:path>
            </a:pathLst>
          </a:custGeom>
          <a:solidFill>
            <a:schemeClr val="accent3"/>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lIns="83820" tIns="83820" rIns="83820" bIns="83820" spcCol="1270" anchor="ctr"/>
          <a:lstStyle/>
          <a:p>
            <a:pPr marL="0" marR="0" lvl="0" indent="0" algn="ctr" defTabSz="977900" rtl="0" eaLnBrk="0" fontAlgn="base" latinLnBrk="0" hangingPunct="0">
              <a:lnSpc>
                <a:spcPct val="90000"/>
              </a:lnSpc>
              <a:spcBef>
                <a:spcPct val="0"/>
              </a:spcBef>
              <a:spcAft>
                <a:spcPct val="35000"/>
              </a:spcAft>
              <a:buClrTx/>
              <a:buSzTx/>
              <a:buFontTx/>
              <a:buNone/>
              <a:tabLst/>
              <a:defRPr/>
            </a:pPr>
            <a:r>
              <a:rPr kumimoji="0" lang="en-CA" sz="2200" b="0" i="0" u="none" strike="noStrike" kern="1200" cap="none" spc="0" normalizeH="0" baseline="0" noProof="0" dirty="0">
                <a:ln>
                  <a:noFill/>
                </a:ln>
                <a:solidFill>
                  <a:srgbClr val="FFFFFF"/>
                </a:solidFill>
                <a:effectLst/>
                <a:uLnTx/>
                <a:uFillTx/>
                <a:latin typeface="Calibri"/>
                <a:ea typeface="+mn-ea"/>
                <a:cs typeface="+mn-cs"/>
              </a:rPr>
              <a:t>POWER()</a:t>
            </a:r>
          </a:p>
        </p:txBody>
      </p:sp>
      <p:sp>
        <p:nvSpPr>
          <p:cNvPr id="8" name="Freeform 7">
            <a:hlinkClick r:id="rId4" action="ppaction://hlinksldjump"/>
            <a:extLst>
              <a:ext uri="{FF2B5EF4-FFF2-40B4-BE49-F238E27FC236}">
                <a16:creationId xmlns:a16="http://schemas.microsoft.com/office/drawing/2014/main" id="{8A882A36-0DF6-40A4-ADD5-B85827DB5B87}"/>
              </a:ext>
            </a:extLst>
          </p:cNvPr>
          <p:cNvSpPr/>
          <p:nvPr/>
        </p:nvSpPr>
        <p:spPr>
          <a:xfrm>
            <a:off x="5529209" y="2507513"/>
            <a:ext cx="2236185" cy="1341711"/>
          </a:xfrm>
          <a:custGeom>
            <a:avLst/>
            <a:gdLst>
              <a:gd name="connsiteX0" fmla="*/ 0 w 2236185"/>
              <a:gd name="connsiteY0" fmla="*/ 0 h 1341711"/>
              <a:gd name="connsiteX1" fmla="*/ 2236185 w 2236185"/>
              <a:gd name="connsiteY1" fmla="*/ 0 h 1341711"/>
              <a:gd name="connsiteX2" fmla="*/ 2236185 w 2236185"/>
              <a:gd name="connsiteY2" fmla="*/ 1341711 h 1341711"/>
              <a:gd name="connsiteX3" fmla="*/ 0 w 2236185"/>
              <a:gd name="connsiteY3" fmla="*/ 1341711 h 1341711"/>
              <a:gd name="connsiteX4" fmla="*/ 0 w 2236185"/>
              <a:gd name="connsiteY4" fmla="*/ 0 h 1341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6185" h="1341711">
                <a:moveTo>
                  <a:pt x="0" y="0"/>
                </a:moveTo>
                <a:lnTo>
                  <a:pt x="2236185" y="0"/>
                </a:lnTo>
                <a:lnTo>
                  <a:pt x="2236185" y="1341711"/>
                </a:lnTo>
                <a:lnTo>
                  <a:pt x="0" y="1341711"/>
                </a:lnTo>
                <a:lnTo>
                  <a:pt x="0" y="0"/>
                </a:lnTo>
                <a:close/>
              </a:path>
            </a:pathLst>
          </a:custGeom>
          <a:solidFill>
            <a:schemeClr val="accent5"/>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lIns="83820" tIns="83820" rIns="83820" bIns="83820" spcCol="1270" anchor="ctr"/>
          <a:lstStyle/>
          <a:p>
            <a:pPr marL="0" marR="0" lvl="0" indent="0" algn="ctr" defTabSz="977900" rtl="0" eaLnBrk="0" fontAlgn="base" latinLnBrk="0" hangingPunct="0">
              <a:lnSpc>
                <a:spcPct val="90000"/>
              </a:lnSpc>
              <a:spcBef>
                <a:spcPct val="0"/>
              </a:spcBef>
              <a:spcAft>
                <a:spcPct val="35000"/>
              </a:spcAft>
              <a:buClrTx/>
              <a:buSzTx/>
              <a:buFontTx/>
              <a:buNone/>
              <a:tabLst/>
              <a:defRPr/>
            </a:pPr>
            <a:r>
              <a:rPr kumimoji="0" lang="en-CA" sz="2200" b="0" i="0" u="none" strike="noStrike" kern="1200" cap="none" spc="0" normalizeH="0" baseline="0" noProof="0" dirty="0">
                <a:ln>
                  <a:noFill/>
                </a:ln>
                <a:solidFill>
                  <a:srgbClr val="FFFFFF"/>
                </a:solidFill>
                <a:effectLst/>
                <a:uLnTx/>
                <a:uFillTx/>
                <a:latin typeface="Calibri"/>
                <a:ea typeface="+mn-ea"/>
                <a:cs typeface="+mn-cs"/>
              </a:rPr>
              <a:t>SQRT()</a:t>
            </a:r>
          </a:p>
        </p:txBody>
      </p:sp>
      <p:sp>
        <p:nvSpPr>
          <p:cNvPr id="9" name="Freeform 8">
            <a:hlinkClick r:id="rId5" action="ppaction://hlinksldjump"/>
            <a:extLst>
              <a:ext uri="{FF2B5EF4-FFF2-40B4-BE49-F238E27FC236}">
                <a16:creationId xmlns:a16="http://schemas.microsoft.com/office/drawing/2014/main" id="{122BB87F-0C04-9845-9F75-E0FE688BD577}"/>
              </a:ext>
            </a:extLst>
          </p:cNvPr>
          <p:cNvSpPr/>
          <p:nvPr/>
        </p:nvSpPr>
        <p:spPr>
          <a:xfrm>
            <a:off x="609600" y="4031505"/>
            <a:ext cx="2236185" cy="1341711"/>
          </a:xfrm>
          <a:custGeom>
            <a:avLst/>
            <a:gdLst>
              <a:gd name="connsiteX0" fmla="*/ 0 w 2236185"/>
              <a:gd name="connsiteY0" fmla="*/ 0 h 1341711"/>
              <a:gd name="connsiteX1" fmla="*/ 2236185 w 2236185"/>
              <a:gd name="connsiteY1" fmla="*/ 0 h 1341711"/>
              <a:gd name="connsiteX2" fmla="*/ 2236185 w 2236185"/>
              <a:gd name="connsiteY2" fmla="*/ 1341711 h 1341711"/>
              <a:gd name="connsiteX3" fmla="*/ 0 w 2236185"/>
              <a:gd name="connsiteY3" fmla="*/ 1341711 h 1341711"/>
              <a:gd name="connsiteX4" fmla="*/ 0 w 2236185"/>
              <a:gd name="connsiteY4" fmla="*/ 0 h 1341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6185" h="1341711">
                <a:moveTo>
                  <a:pt x="0" y="0"/>
                </a:moveTo>
                <a:lnTo>
                  <a:pt x="2236185" y="0"/>
                </a:lnTo>
                <a:lnTo>
                  <a:pt x="2236185" y="1341711"/>
                </a:lnTo>
                <a:lnTo>
                  <a:pt x="0" y="1341711"/>
                </a:lnTo>
                <a:lnTo>
                  <a:pt x="0" y="0"/>
                </a:lnTo>
                <a:close/>
              </a:path>
            </a:pathLst>
          </a:custGeom>
          <a:solidFill>
            <a:srgbClr val="00B05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lIns="83820" tIns="83820" rIns="83820" bIns="83820" spcCol="1270" anchor="ctr"/>
          <a:lstStyle/>
          <a:p>
            <a:pPr marL="0" marR="0" lvl="0" indent="0" algn="ctr" defTabSz="977900" rtl="0" eaLnBrk="0" fontAlgn="base" latinLnBrk="0" hangingPunct="0">
              <a:lnSpc>
                <a:spcPct val="90000"/>
              </a:lnSpc>
              <a:spcBef>
                <a:spcPct val="0"/>
              </a:spcBef>
              <a:spcAft>
                <a:spcPct val="35000"/>
              </a:spcAft>
              <a:buClrTx/>
              <a:buSzTx/>
              <a:buFontTx/>
              <a:buNone/>
              <a:tabLst/>
              <a:defRPr/>
            </a:pPr>
            <a:r>
              <a:rPr kumimoji="0" lang="en-CA" sz="2200" b="0" i="0" u="none" strike="noStrike" kern="1200" cap="none" spc="0" normalizeH="0" baseline="0" noProof="0" dirty="0">
                <a:ln>
                  <a:noFill/>
                </a:ln>
                <a:solidFill>
                  <a:srgbClr val="FFFFFF"/>
                </a:solidFill>
                <a:effectLst/>
                <a:uLnTx/>
                <a:uFillTx/>
                <a:latin typeface="Calibri"/>
                <a:ea typeface="+mn-ea"/>
                <a:cs typeface="+mn-cs"/>
              </a:rPr>
              <a:t>ROUND()</a:t>
            </a:r>
          </a:p>
        </p:txBody>
      </p:sp>
      <p:sp>
        <p:nvSpPr>
          <p:cNvPr id="10" name="Freeform 9">
            <a:hlinkClick r:id="rId6" action="ppaction://hlinksldjump"/>
            <a:extLst>
              <a:ext uri="{FF2B5EF4-FFF2-40B4-BE49-F238E27FC236}">
                <a16:creationId xmlns:a16="http://schemas.microsoft.com/office/drawing/2014/main" id="{8ECDED0F-A40E-DDAE-2819-8524C94FC13D}"/>
              </a:ext>
            </a:extLst>
          </p:cNvPr>
          <p:cNvSpPr/>
          <p:nvPr/>
        </p:nvSpPr>
        <p:spPr>
          <a:xfrm>
            <a:off x="3069405" y="4031505"/>
            <a:ext cx="2236185" cy="1341711"/>
          </a:xfrm>
          <a:custGeom>
            <a:avLst/>
            <a:gdLst>
              <a:gd name="connsiteX0" fmla="*/ 0 w 2236185"/>
              <a:gd name="connsiteY0" fmla="*/ 0 h 1341711"/>
              <a:gd name="connsiteX1" fmla="*/ 2236185 w 2236185"/>
              <a:gd name="connsiteY1" fmla="*/ 0 h 1341711"/>
              <a:gd name="connsiteX2" fmla="*/ 2236185 w 2236185"/>
              <a:gd name="connsiteY2" fmla="*/ 1341711 h 1341711"/>
              <a:gd name="connsiteX3" fmla="*/ 0 w 2236185"/>
              <a:gd name="connsiteY3" fmla="*/ 1341711 h 1341711"/>
              <a:gd name="connsiteX4" fmla="*/ 0 w 2236185"/>
              <a:gd name="connsiteY4" fmla="*/ 0 h 1341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6185" h="1341711">
                <a:moveTo>
                  <a:pt x="0" y="0"/>
                </a:moveTo>
                <a:lnTo>
                  <a:pt x="2236185" y="0"/>
                </a:lnTo>
                <a:lnTo>
                  <a:pt x="2236185" y="1341711"/>
                </a:lnTo>
                <a:lnTo>
                  <a:pt x="0" y="1341711"/>
                </a:lnTo>
                <a:lnTo>
                  <a:pt x="0" y="0"/>
                </a:lnTo>
                <a:close/>
              </a:path>
            </a:pathLst>
          </a:custGeom>
          <a:solidFill>
            <a:schemeClr val="tx2"/>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lIns="83820" tIns="83820" rIns="83820" bIns="83820" spcCol="1270" anchor="ctr"/>
          <a:lstStyle/>
          <a:p>
            <a:pPr marL="0" marR="0" lvl="0" indent="0" algn="ctr" defTabSz="977900" rtl="0" eaLnBrk="0" fontAlgn="base" latinLnBrk="0" hangingPunct="0">
              <a:lnSpc>
                <a:spcPct val="90000"/>
              </a:lnSpc>
              <a:spcBef>
                <a:spcPct val="0"/>
              </a:spcBef>
              <a:spcAft>
                <a:spcPct val="35000"/>
              </a:spcAft>
              <a:buClrTx/>
              <a:buSzTx/>
              <a:buFontTx/>
              <a:buNone/>
              <a:tabLst/>
              <a:defRPr/>
            </a:pPr>
            <a:r>
              <a:rPr kumimoji="0" lang="en-CA" sz="2200" b="0" i="0" u="none" strike="noStrike" kern="1200" cap="none" spc="0" normalizeH="0" baseline="0" noProof="0" dirty="0">
                <a:ln>
                  <a:noFill/>
                </a:ln>
                <a:solidFill>
                  <a:srgbClr val="FFFFFF"/>
                </a:solidFill>
                <a:effectLst/>
                <a:uLnTx/>
                <a:uFillTx/>
                <a:latin typeface="Calibri"/>
                <a:ea typeface="+mn-ea"/>
                <a:cs typeface="+mn-cs"/>
              </a:rPr>
              <a:t>CEILING()</a:t>
            </a:r>
          </a:p>
        </p:txBody>
      </p:sp>
      <p:sp>
        <p:nvSpPr>
          <p:cNvPr id="12" name="Freeform 11">
            <a:hlinkClick r:id="rId7" action="ppaction://hlinksldjump"/>
            <a:extLst>
              <a:ext uri="{FF2B5EF4-FFF2-40B4-BE49-F238E27FC236}">
                <a16:creationId xmlns:a16="http://schemas.microsoft.com/office/drawing/2014/main" id="{6F9FA19F-3A7C-85DB-2379-492E4AD2681F}"/>
              </a:ext>
            </a:extLst>
          </p:cNvPr>
          <p:cNvSpPr/>
          <p:nvPr/>
        </p:nvSpPr>
        <p:spPr>
          <a:xfrm>
            <a:off x="5529209" y="4031505"/>
            <a:ext cx="2236185" cy="1341711"/>
          </a:xfrm>
          <a:custGeom>
            <a:avLst/>
            <a:gdLst>
              <a:gd name="connsiteX0" fmla="*/ 0 w 2236185"/>
              <a:gd name="connsiteY0" fmla="*/ 0 h 1341711"/>
              <a:gd name="connsiteX1" fmla="*/ 2236185 w 2236185"/>
              <a:gd name="connsiteY1" fmla="*/ 0 h 1341711"/>
              <a:gd name="connsiteX2" fmla="*/ 2236185 w 2236185"/>
              <a:gd name="connsiteY2" fmla="*/ 1341711 h 1341711"/>
              <a:gd name="connsiteX3" fmla="*/ 0 w 2236185"/>
              <a:gd name="connsiteY3" fmla="*/ 1341711 h 1341711"/>
              <a:gd name="connsiteX4" fmla="*/ 0 w 2236185"/>
              <a:gd name="connsiteY4" fmla="*/ 0 h 1341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6185" h="1341711">
                <a:moveTo>
                  <a:pt x="0" y="0"/>
                </a:moveTo>
                <a:lnTo>
                  <a:pt x="2236185" y="0"/>
                </a:lnTo>
                <a:lnTo>
                  <a:pt x="2236185" y="1341711"/>
                </a:lnTo>
                <a:lnTo>
                  <a:pt x="0" y="1341711"/>
                </a:lnTo>
                <a:lnTo>
                  <a:pt x="0" y="0"/>
                </a:lnTo>
                <a:close/>
              </a:path>
            </a:pathLst>
          </a:custGeom>
          <a:solidFill>
            <a:schemeClr val="tx1"/>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lIns="83820" tIns="83820" rIns="83820" bIns="83820" spcCol="1270" anchor="ctr"/>
          <a:lstStyle/>
          <a:p>
            <a:pPr marL="0" marR="0" lvl="0" indent="0" algn="ctr" defTabSz="977900" rtl="0" eaLnBrk="0" fontAlgn="base" latinLnBrk="0" hangingPunct="0">
              <a:lnSpc>
                <a:spcPct val="90000"/>
              </a:lnSpc>
              <a:spcBef>
                <a:spcPct val="0"/>
              </a:spcBef>
              <a:spcAft>
                <a:spcPct val="35000"/>
              </a:spcAft>
              <a:buClrTx/>
              <a:buSzTx/>
              <a:buFontTx/>
              <a:buNone/>
              <a:tabLst/>
              <a:defRPr/>
            </a:pPr>
            <a:r>
              <a:rPr kumimoji="0" lang="en-CA" sz="2200" b="0" i="0" u="none" strike="noStrike" kern="1200" cap="none" spc="0" normalizeH="0" baseline="0" noProof="0" dirty="0">
                <a:ln>
                  <a:noFill/>
                </a:ln>
                <a:solidFill>
                  <a:srgbClr val="FFFFFF"/>
                </a:solidFill>
                <a:effectLst/>
                <a:uLnTx/>
                <a:uFillTx/>
                <a:latin typeface="Calibri"/>
                <a:ea typeface="+mn-ea"/>
                <a:cs typeface="+mn-cs"/>
              </a:rPr>
              <a:t>FLOOR()</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par>
                          <p:cTn id="8" fill="hold" nodeType="afterGroup">
                            <p:stCondLst>
                              <p:cond delay="500"/>
                            </p:stCondLst>
                            <p:childTnLst>
                              <p:par>
                                <p:cTn id="9" presetID="42" presetClass="entr" presetSubtype="0"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1000"/>
                                        <p:tgtEl>
                                          <p:spTgt spid="6"/>
                                        </p:tgtEl>
                                      </p:cBhvr>
                                    </p:animEffect>
                                    <p:anim calcmode="lin" valueType="num">
                                      <p:cBhvr>
                                        <p:cTn id="12" dur="1000" fill="hold"/>
                                        <p:tgtEl>
                                          <p:spTgt spid="6"/>
                                        </p:tgtEl>
                                        <p:attrNameLst>
                                          <p:attrName>ppt_x</p:attrName>
                                        </p:attrNameLst>
                                      </p:cBhvr>
                                      <p:tavLst>
                                        <p:tav tm="0">
                                          <p:val>
                                            <p:strVal val="#ppt_x"/>
                                          </p:val>
                                        </p:tav>
                                        <p:tav tm="100000">
                                          <p:val>
                                            <p:strVal val="#ppt_x"/>
                                          </p:val>
                                        </p:tav>
                                      </p:tavLst>
                                    </p:anim>
                                    <p:anim calcmode="lin" valueType="num">
                                      <p:cBhvr>
                                        <p:cTn id="13" dur="1000" fill="hold"/>
                                        <p:tgtEl>
                                          <p:spTgt spid="6"/>
                                        </p:tgtEl>
                                        <p:attrNameLst>
                                          <p:attrName>ppt_y</p:attrName>
                                        </p:attrNameLst>
                                      </p:cBhvr>
                                      <p:tavLst>
                                        <p:tav tm="0">
                                          <p:val>
                                            <p:strVal val="#ppt_y+.1"/>
                                          </p:val>
                                        </p:tav>
                                        <p:tav tm="100000">
                                          <p:val>
                                            <p:strVal val="#ppt_y"/>
                                          </p:val>
                                        </p:tav>
                                      </p:tavLst>
                                    </p:anim>
                                  </p:childTnLst>
                                </p:cTn>
                              </p:par>
                            </p:childTnLst>
                          </p:cTn>
                        </p:par>
                        <p:par>
                          <p:cTn id="14" fill="hold" nodeType="afterGroup">
                            <p:stCondLst>
                              <p:cond delay="1500"/>
                            </p:stCondLst>
                            <p:childTnLst>
                              <p:par>
                                <p:cTn id="15" presetID="42" presetClass="entr" presetSubtype="0" fill="hold" nodeType="after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1000"/>
                                        <p:tgtEl>
                                          <p:spTgt spid="7"/>
                                        </p:tgtEl>
                                      </p:cBhvr>
                                    </p:animEffect>
                                    <p:anim calcmode="lin" valueType="num">
                                      <p:cBhvr>
                                        <p:cTn id="18" dur="1000" fill="hold"/>
                                        <p:tgtEl>
                                          <p:spTgt spid="7"/>
                                        </p:tgtEl>
                                        <p:attrNameLst>
                                          <p:attrName>ppt_x</p:attrName>
                                        </p:attrNameLst>
                                      </p:cBhvr>
                                      <p:tavLst>
                                        <p:tav tm="0">
                                          <p:val>
                                            <p:strVal val="#ppt_x"/>
                                          </p:val>
                                        </p:tav>
                                        <p:tav tm="100000">
                                          <p:val>
                                            <p:strVal val="#ppt_x"/>
                                          </p:val>
                                        </p:tav>
                                      </p:tavLst>
                                    </p:anim>
                                    <p:anim calcmode="lin" valueType="num">
                                      <p:cBhvr>
                                        <p:cTn id="19" dur="1000" fill="hold"/>
                                        <p:tgtEl>
                                          <p:spTgt spid="7"/>
                                        </p:tgtEl>
                                        <p:attrNameLst>
                                          <p:attrName>ppt_y</p:attrName>
                                        </p:attrNameLst>
                                      </p:cBhvr>
                                      <p:tavLst>
                                        <p:tav tm="0">
                                          <p:val>
                                            <p:strVal val="#ppt_y+.1"/>
                                          </p:val>
                                        </p:tav>
                                        <p:tav tm="100000">
                                          <p:val>
                                            <p:strVal val="#ppt_y"/>
                                          </p:val>
                                        </p:tav>
                                      </p:tavLst>
                                    </p:anim>
                                  </p:childTnLst>
                                </p:cTn>
                              </p:par>
                            </p:childTnLst>
                          </p:cTn>
                        </p:par>
                        <p:par>
                          <p:cTn id="20" fill="hold" nodeType="afterGroup">
                            <p:stCondLst>
                              <p:cond delay="2500"/>
                            </p:stCondLst>
                            <p:childTnLst>
                              <p:par>
                                <p:cTn id="21" presetID="42" presetClass="entr" presetSubtype="0" fill="hold" nodeType="after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1000"/>
                                        <p:tgtEl>
                                          <p:spTgt spid="8"/>
                                        </p:tgtEl>
                                      </p:cBhvr>
                                    </p:animEffect>
                                    <p:anim calcmode="lin" valueType="num">
                                      <p:cBhvr>
                                        <p:cTn id="24" dur="1000" fill="hold"/>
                                        <p:tgtEl>
                                          <p:spTgt spid="8"/>
                                        </p:tgtEl>
                                        <p:attrNameLst>
                                          <p:attrName>ppt_x</p:attrName>
                                        </p:attrNameLst>
                                      </p:cBhvr>
                                      <p:tavLst>
                                        <p:tav tm="0">
                                          <p:val>
                                            <p:strVal val="#ppt_x"/>
                                          </p:val>
                                        </p:tav>
                                        <p:tav tm="100000">
                                          <p:val>
                                            <p:strVal val="#ppt_x"/>
                                          </p:val>
                                        </p:tav>
                                      </p:tavLst>
                                    </p:anim>
                                    <p:anim calcmode="lin" valueType="num">
                                      <p:cBhvr>
                                        <p:cTn id="25" dur="1000" fill="hold"/>
                                        <p:tgtEl>
                                          <p:spTgt spid="8"/>
                                        </p:tgtEl>
                                        <p:attrNameLst>
                                          <p:attrName>ppt_y</p:attrName>
                                        </p:attrNameLst>
                                      </p:cBhvr>
                                      <p:tavLst>
                                        <p:tav tm="0">
                                          <p:val>
                                            <p:strVal val="#ppt_y+.1"/>
                                          </p:val>
                                        </p:tav>
                                        <p:tav tm="100000">
                                          <p:val>
                                            <p:strVal val="#ppt_y"/>
                                          </p:val>
                                        </p:tav>
                                      </p:tavLst>
                                    </p:anim>
                                  </p:childTnLst>
                                </p:cTn>
                              </p:par>
                            </p:childTnLst>
                          </p:cTn>
                        </p:par>
                        <p:par>
                          <p:cTn id="26" fill="hold" nodeType="afterGroup">
                            <p:stCondLst>
                              <p:cond delay="3500"/>
                            </p:stCondLst>
                            <p:childTnLst>
                              <p:par>
                                <p:cTn id="27" presetID="42" presetClass="entr" presetSubtype="0" fill="hold" nodeType="after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1000"/>
                                        <p:tgtEl>
                                          <p:spTgt spid="9"/>
                                        </p:tgtEl>
                                      </p:cBhvr>
                                    </p:animEffect>
                                    <p:anim calcmode="lin" valueType="num">
                                      <p:cBhvr>
                                        <p:cTn id="30" dur="1000" fill="hold"/>
                                        <p:tgtEl>
                                          <p:spTgt spid="9"/>
                                        </p:tgtEl>
                                        <p:attrNameLst>
                                          <p:attrName>ppt_x</p:attrName>
                                        </p:attrNameLst>
                                      </p:cBhvr>
                                      <p:tavLst>
                                        <p:tav tm="0">
                                          <p:val>
                                            <p:strVal val="#ppt_x"/>
                                          </p:val>
                                        </p:tav>
                                        <p:tav tm="100000">
                                          <p:val>
                                            <p:strVal val="#ppt_x"/>
                                          </p:val>
                                        </p:tav>
                                      </p:tavLst>
                                    </p:anim>
                                    <p:anim calcmode="lin" valueType="num">
                                      <p:cBhvr>
                                        <p:cTn id="31" dur="1000" fill="hold"/>
                                        <p:tgtEl>
                                          <p:spTgt spid="9"/>
                                        </p:tgtEl>
                                        <p:attrNameLst>
                                          <p:attrName>ppt_y</p:attrName>
                                        </p:attrNameLst>
                                      </p:cBhvr>
                                      <p:tavLst>
                                        <p:tav tm="0">
                                          <p:val>
                                            <p:strVal val="#ppt_y+.1"/>
                                          </p:val>
                                        </p:tav>
                                        <p:tav tm="100000">
                                          <p:val>
                                            <p:strVal val="#ppt_y"/>
                                          </p:val>
                                        </p:tav>
                                      </p:tavLst>
                                    </p:anim>
                                  </p:childTnLst>
                                </p:cTn>
                              </p:par>
                            </p:childTnLst>
                          </p:cTn>
                        </p:par>
                        <p:par>
                          <p:cTn id="32" fill="hold" nodeType="afterGroup">
                            <p:stCondLst>
                              <p:cond delay="4500"/>
                            </p:stCondLst>
                            <p:childTnLst>
                              <p:par>
                                <p:cTn id="33" presetID="42" presetClass="entr" presetSubtype="0" fill="hold" nodeType="after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1000"/>
                                        <p:tgtEl>
                                          <p:spTgt spid="10"/>
                                        </p:tgtEl>
                                      </p:cBhvr>
                                    </p:animEffect>
                                    <p:anim calcmode="lin" valueType="num">
                                      <p:cBhvr>
                                        <p:cTn id="36" dur="1000" fill="hold"/>
                                        <p:tgtEl>
                                          <p:spTgt spid="10"/>
                                        </p:tgtEl>
                                        <p:attrNameLst>
                                          <p:attrName>ppt_x</p:attrName>
                                        </p:attrNameLst>
                                      </p:cBhvr>
                                      <p:tavLst>
                                        <p:tav tm="0">
                                          <p:val>
                                            <p:strVal val="#ppt_x"/>
                                          </p:val>
                                        </p:tav>
                                        <p:tav tm="100000">
                                          <p:val>
                                            <p:strVal val="#ppt_x"/>
                                          </p:val>
                                        </p:tav>
                                      </p:tavLst>
                                    </p:anim>
                                    <p:anim calcmode="lin" valueType="num">
                                      <p:cBhvr>
                                        <p:cTn id="37" dur="1000" fill="hold"/>
                                        <p:tgtEl>
                                          <p:spTgt spid="10"/>
                                        </p:tgtEl>
                                        <p:attrNameLst>
                                          <p:attrName>ppt_y</p:attrName>
                                        </p:attrNameLst>
                                      </p:cBhvr>
                                      <p:tavLst>
                                        <p:tav tm="0">
                                          <p:val>
                                            <p:strVal val="#ppt_y+.1"/>
                                          </p:val>
                                        </p:tav>
                                        <p:tav tm="100000">
                                          <p:val>
                                            <p:strVal val="#ppt_y"/>
                                          </p:val>
                                        </p:tav>
                                      </p:tavLst>
                                    </p:anim>
                                  </p:childTnLst>
                                </p:cTn>
                              </p:par>
                            </p:childTnLst>
                          </p:cTn>
                        </p:par>
                        <p:par>
                          <p:cTn id="38" fill="hold" nodeType="afterGroup">
                            <p:stCondLst>
                              <p:cond delay="5500"/>
                            </p:stCondLst>
                            <p:childTnLst>
                              <p:par>
                                <p:cTn id="39" presetID="42" presetClass="entr" presetSubtype="0" fill="hold" nodeType="after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1000"/>
                                        <p:tgtEl>
                                          <p:spTgt spid="12"/>
                                        </p:tgtEl>
                                      </p:cBhvr>
                                    </p:animEffect>
                                    <p:anim calcmode="lin" valueType="num">
                                      <p:cBhvr>
                                        <p:cTn id="42" dur="1000" fill="hold"/>
                                        <p:tgtEl>
                                          <p:spTgt spid="12"/>
                                        </p:tgtEl>
                                        <p:attrNameLst>
                                          <p:attrName>ppt_x</p:attrName>
                                        </p:attrNameLst>
                                      </p:cBhvr>
                                      <p:tavLst>
                                        <p:tav tm="0">
                                          <p:val>
                                            <p:strVal val="#ppt_x"/>
                                          </p:val>
                                        </p:tav>
                                        <p:tav tm="100000">
                                          <p:val>
                                            <p:strVal val="#ppt_x"/>
                                          </p:val>
                                        </p:tav>
                                      </p:tavLst>
                                    </p:anim>
                                    <p:anim calcmode="lin" valueType="num">
                                      <p:cBhvr>
                                        <p:cTn id="43"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AF8A7-E2CD-CCB8-1B10-3744FC2BD5C4}"/>
              </a:ext>
            </a:extLst>
          </p:cNvPr>
          <p:cNvSpPr>
            <a:spLocks noGrp="1"/>
          </p:cNvSpPr>
          <p:nvPr>
            <p:ph type="title"/>
          </p:nvPr>
        </p:nvSpPr>
        <p:spPr>
          <a:xfrm>
            <a:off x="457200" y="0"/>
            <a:ext cx="7620000" cy="1143000"/>
          </a:xfrm>
        </p:spPr>
        <p:txBody>
          <a:bodyPr/>
          <a:lstStyle/>
          <a:p>
            <a:pPr algn="ctr">
              <a:defRPr/>
            </a:pPr>
            <a:r>
              <a:rPr lang="en-US" dirty="0"/>
              <a:t>Math Functions</a:t>
            </a:r>
            <a:endParaRPr lang="en-MY" dirty="0"/>
          </a:p>
        </p:txBody>
      </p:sp>
      <p:sp>
        <p:nvSpPr>
          <p:cNvPr id="9" name="Snip Single Corner Rectangle 8">
            <a:extLst>
              <a:ext uri="{FF2B5EF4-FFF2-40B4-BE49-F238E27FC236}">
                <a16:creationId xmlns:a16="http://schemas.microsoft.com/office/drawing/2014/main" id="{875967DB-28DF-956B-9B5F-4B82B0114777}"/>
              </a:ext>
            </a:extLst>
          </p:cNvPr>
          <p:cNvSpPr/>
          <p:nvPr/>
        </p:nvSpPr>
        <p:spPr>
          <a:xfrm>
            <a:off x="-36513" y="1125538"/>
            <a:ext cx="863601" cy="400050"/>
          </a:xfrm>
          <a:prstGeom prst="snip1Rect">
            <a:avLst/>
          </a:prstGeom>
          <a:solidFill>
            <a:schemeClr val="accent2"/>
          </a:solidFill>
          <a:ln>
            <a:solidFill>
              <a:schemeClr val="accent2"/>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marR="0" lvl="0" indent="-342900" algn="just" defTabSz="914400" rtl="0" eaLnBrk="1" fontAlgn="base" latinLnBrk="0" hangingPunct="1">
              <a:lnSpc>
                <a:spcPct val="100000"/>
              </a:lnSpc>
              <a:spcBef>
                <a:spcPct val="20000"/>
              </a:spcBef>
              <a:spcAft>
                <a:spcPct val="0"/>
              </a:spcAft>
              <a:buClr>
                <a:srgbClr val="FF6600"/>
              </a:buClr>
              <a:buSzPct val="100000"/>
              <a:buFontTx/>
              <a:buNone/>
              <a:tabLst/>
              <a:defRPr/>
            </a:pPr>
            <a:r>
              <a:rPr kumimoji="0" lang="en-GB" sz="1800" b="0" i="0" u="none" strike="noStrike" kern="0" cap="none" spc="0" normalizeH="0" baseline="0" noProof="0" dirty="0">
                <a:ln>
                  <a:noFill/>
                </a:ln>
                <a:solidFill>
                  <a:srgbClr val="FFFFFF"/>
                </a:solidFill>
                <a:effectLst/>
                <a:uLnTx/>
                <a:uFillTx/>
                <a:latin typeface="Calibri"/>
                <a:ea typeface="+mn-ea"/>
                <a:cs typeface="+mn-cs"/>
              </a:rPr>
              <a:t>ABS()</a:t>
            </a:r>
          </a:p>
        </p:txBody>
      </p:sp>
      <p:sp>
        <p:nvSpPr>
          <p:cNvPr id="10" name="Content Placeholder 2">
            <a:extLst>
              <a:ext uri="{FF2B5EF4-FFF2-40B4-BE49-F238E27FC236}">
                <a16:creationId xmlns:a16="http://schemas.microsoft.com/office/drawing/2014/main" id="{2637A1B3-3F48-1192-D71A-0B0EE3ABBFD2}"/>
              </a:ext>
            </a:extLst>
          </p:cNvPr>
          <p:cNvSpPr txBox="1">
            <a:spLocks/>
          </p:cNvSpPr>
          <p:nvPr/>
        </p:nvSpPr>
        <p:spPr bwMode="auto">
          <a:xfrm>
            <a:off x="250825" y="1773238"/>
            <a:ext cx="8655050"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ABS() – Display the absolute value of number</a:t>
            </a: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sp>
        <p:nvSpPr>
          <p:cNvPr id="12" name="Rounded Rectangle 11">
            <a:extLst>
              <a:ext uri="{FF2B5EF4-FFF2-40B4-BE49-F238E27FC236}">
                <a16:creationId xmlns:a16="http://schemas.microsoft.com/office/drawing/2014/main" id="{9EFC2F63-7CA2-A93B-B710-C4BDCEC66287}"/>
              </a:ext>
            </a:extLst>
          </p:cNvPr>
          <p:cNvSpPr/>
          <p:nvPr/>
        </p:nvSpPr>
        <p:spPr bwMode="auto">
          <a:xfrm>
            <a:off x="1447800" y="3968750"/>
            <a:ext cx="6200775" cy="1116013"/>
          </a:xfrm>
          <a:prstGeom prst="roundRect">
            <a:avLst/>
          </a:prstGeom>
          <a:solidFill>
            <a:schemeClr val="accent6">
              <a:alpha val="30000"/>
            </a:schemeClr>
          </a:solidFill>
          <a:ln w="9525" cap="flat" cmpd="sng" algn="ctr">
            <a:solidFill>
              <a:schemeClr val="accent6"/>
            </a:solidFill>
            <a:prstDash val="solid"/>
            <a:round/>
            <a:headEnd type="none" w="med" len="med"/>
            <a:tailEnd type="none" w="med" len="med"/>
          </a:ln>
          <a:effectLst/>
        </p:spPr>
        <p:txBody>
          <a:bodyPr anchor="ctr" anchorCtr="1"/>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2400" b="0" i="0" u="none" strike="noStrike" kern="1200" cap="none" spc="0" normalizeH="0" baseline="0" noProof="0" dirty="0">
                <a:ln>
                  <a:noFill/>
                </a:ln>
                <a:solidFill>
                  <a:srgbClr val="2F2B20"/>
                </a:solidFill>
                <a:effectLst/>
                <a:uLnTx/>
                <a:uFillTx/>
                <a:latin typeface="Arial" charset="0"/>
                <a:ea typeface="+mn-ea"/>
                <a:cs typeface="Arial" panose="020B0604020202020204" pitchFamily="34" charset="0"/>
              </a:rPr>
              <a:t>SELECT ISBN, Quantity - 13, ABS(Quantity - 13) FROM Book;</a:t>
            </a:r>
          </a:p>
        </p:txBody>
      </p:sp>
      <p:graphicFrame>
        <p:nvGraphicFramePr>
          <p:cNvPr id="16" name="Table 15">
            <a:extLst>
              <a:ext uri="{FF2B5EF4-FFF2-40B4-BE49-F238E27FC236}">
                <a16:creationId xmlns:a16="http://schemas.microsoft.com/office/drawing/2014/main" id="{DA477327-46B9-81B2-29BF-E7976C48405C}"/>
              </a:ext>
            </a:extLst>
          </p:cNvPr>
          <p:cNvGraphicFramePr>
            <a:graphicFrameLocks noGrp="1"/>
          </p:cNvGraphicFramePr>
          <p:nvPr/>
        </p:nvGraphicFramePr>
        <p:xfrm>
          <a:off x="1631950" y="5264150"/>
          <a:ext cx="6035675" cy="1106488"/>
        </p:xfrm>
        <a:graphic>
          <a:graphicData uri="http://schemas.openxmlformats.org/drawingml/2006/table">
            <a:tbl>
              <a:tblPr firstRow="1" bandRow="1">
                <a:tableStyleId>{C083E6E3-FA7D-4D7B-A595-EF9225AFEA82}</a:tableStyleId>
              </a:tblPr>
              <a:tblGrid>
                <a:gridCol w="1332551">
                  <a:extLst>
                    <a:ext uri="{9D8B030D-6E8A-4147-A177-3AD203B41FA5}">
                      <a16:colId xmlns:a16="http://schemas.microsoft.com/office/drawing/2014/main" val="20000"/>
                    </a:ext>
                  </a:extLst>
                </a:gridCol>
                <a:gridCol w="1959635">
                  <a:extLst>
                    <a:ext uri="{9D8B030D-6E8A-4147-A177-3AD203B41FA5}">
                      <a16:colId xmlns:a16="http://schemas.microsoft.com/office/drawing/2014/main" val="20001"/>
                    </a:ext>
                  </a:extLst>
                </a:gridCol>
                <a:gridCol w="2743489">
                  <a:extLst>
                    <a:ext uri="{9D8B030D-6E8A-4147-A177-3AD203B41FA5}">
                      <a16:colId xmlns:a16="http://schemas.microsoft.com/office/drawing/2014/main" val="20002"/>
                    </a:ext>
                  </a:extLst>
                </a:gridCol>
              </a:tblGrid>
              <a:tr h="365655">
                <a:tc>
                  <a:txBody>
                    <a:bodyPr/>
                    <a:lstStyle/>
                    <a:p>
                      <a:pPr algn="ctr"/>
                      <a:r>
                        <a:rPr lang="en-CA" sz="1800" dirty="0"/>
                        <a:t>ISBN</a:t>
                      </a:r>
                    </a:p>
                  </a:txBody>
                  <a:tcPr marL="91425" marR="91425" marT="45668" marB="45668"/>
                </a:tc>
                <a:tc>
                  <a:txBody>
                    <a:bodyPr/>
                    <a:lstStyle/>
                    <a:p>
                      <a:pPr algn="ctr"/>
                      <a:r>
                        <a:rPr lang="en-CA" sz="1800" dirty="0"/>
                        <a:t>Quantity - 13</a:t>
                      </a:r>
                    </a:p>
                  </a:txBody>
                  <a:tcPr marL="91425" marR="91425" marT="45668" marB="45668"/>
                </a:tc>
                <a:tc>
                  <a:txBody>
                    <a:bodyPr/>
                    <a:lstStyle/>
                    <a:p>
                      <a:pPr algn="ctr"/>
                      <a:r>
                        <a:rPr lang="en-CA" sz="1800" dirty="0"/>
                        <a:t>ABS(Quantity – 13)</a:t>
                      </a:r>
                    </a:p>
                  </a:txBody>
                  <a:tcPr marL="91425" marR="91425" marT="45668" marB="45668"/>
                </a:tc>
                <a:extLst>
                  <a:ext uri="{0D108BD9-81ED-4DB2-BD59-A6C34878D82A}">
                    <a16:rowId xmlns:a16="http://schemas.microsoft.com/office/drawing/2014/main" val="10000"/>
                  </a:ext>
                </a:extLst>
              </a:tr>
              <a:tr h="370416">
                <a:tc>
                  <a:txBody>
                    <a:bodyPr/>
                    <a:lstStyle/>
                    <a:p>
                      <a:pPr algn="ctr"/>
                      <a:r>
                        <a:rPr lang="en-CA" sz="1800" dirty="0"/>
                        <a:t>12345</a:t>
                      </a:r>
                    </a:p>
                  </a:txBody>
                  <a:tcPr marL="91425" marR="91425" marT="45668" marB="45668"/>
                </a:tc>
                <a:tc>
                  <a:txBody>
                    <a:bodyPr/>
                    <a:lstStyle/>
                    <a:p>
                      <a:pPr algn="ctr"/>
                      <a:r>
                        <a:rPr lang="en-CA" sz="1800" dirty="0"/>
                        <a:t>-3</a:t>
                      </a:r>
                    </a:p>
                  </a:txBody>
                  <a:tcPr marL="91425" marR="91425" marT="45668" marB="45668"/>
                </a:tc>
                <a:tc>
                  <a:txBody>
                    <a:bodyPr/>
                    <a:lstStyle/>
                    <a:p>
                      <a:pPr algn="ctr"/>
                      <a:r>
                        <a:rPr lang="en-CA" sz="1800" dirty="0"/>
                        <a:t>3</a:t>
                      </a:r>
                    </a:p>
                  </a:txBody>
                  <a:tcPr marL="91425" marR="91425" marT="45668" marB="45668"/>
                </a:tc>
                <a:extLst>
                  <a:ext uri="{0D108BD9-81ED-4DB2-BD59-A6C34878D82A}">
                    <a16:rowId xmlns:a16="http://schemas.microsoft.com/office/drawing/2014/main" val="10001"/>
                  </a:ext>
                </a:extLst>
              </a:tr>
              <a:tr h="370416">
                <a:tc>
                  <a:txBody>
                    <a:bodyPr/>
                    <a:lstStyle/>
                    <a:p>
                      <a:pPr algn="ctr"/>
                      <a:r>
                        <a:rPr lang="en-CA" sz="1800" dirty="0"/>
                        <a:t>54321</a:t>
                      </a:r>
                    </a:p>
                  </a:txBody>
                  <a:tcPr marL="91425" marR="91425" marT="45668" marB="45668"/>
                </a:tc>
                <a:tc>
                  <a:txBody>
                    <a:bodyPr/>
                    <a:lstStyle/>
                    <a:p>
                      <a:pPr algn="ctr"/>
                      <a:r>
                        <a:rPr lang="en-CA" sz="1800" dirty="0"/>
                        <a:t>2</a:t>
                      </a:r>
                    </a:p>
                  </a:txBody>
                  <a:tcPr marL="91425" marR="91425" marT="45668" marB="45668"/>
                </a:tc>
                <a:tc>
                  <a:txBody>
                    <a:bodyPr/>
                    <a:lstStyle/>
                    <a:p>
                      <a:pPr algn="ctr"/>
                      <a:r>
                        <a:rPr lang="en-CA" sz="1800" dirty="0"/>
                        <a:t>2</a:t>
                      </a:r>
                    </a:p>
                  </a:txBody>
                  <a:tcPr marL="91425" marR="91425" marT="45668" marB="45668"/>
                </a:tc>
                <a:extLst>
                  <a:ext uri="{0D108BD9-81ED-4DB2-BD59-A6C34878D82A}">
                    <a16:rowId xmlns:a16="http://schemas.microsoft.com/office/drawing/2014/main" val="10002"/>
                  </a:ext>
                </a:extLst>
              </a:tr>
            </a:tbl>
          </a:graphicData>
        </a:graphic>
      </p:graphicFrame>
      <p:graphicFrame>
        <p:nvGraphicFramePr>
          <p:cNvPr id="14" name="Table 13">
            <a:extLst>
              <a:ext uri="{FF2B5EF4-FFF2-40B4-BE49-F238E27FC236}">
                <a16:creationId xmlns:a16="http://schemas.microsoft.com/office/drawing/2014/main" id="{2CFCF1E4-86A1-3AD2-7B2A-B5E3B0270AB0}"/>
              </a:ext>
            </a:extLst>
          </p:cNvPr>
          <p:cNvGraphicFramePr>
            <a:graphicFrameLocks noGrp="1"/>
          </p:cNvGraphicFramePr>
          <p:nvPr/>
        </p:nvGraphicFramePr>
        <p:xfrm>
          <a:off x="1530350" y="2411413"/>
          <a:ext cx="6096000" cy="1112837"/>
        </p:xfrm>
        <a:graphic>
          <a:graphicData uri="http://schemas.openxmlformats.org/drawingml/2006/table">
            <a:tbl>
              <a:tblPr firstRow="1" bandRow="1">
                <a:tableStyleId>{D27102A9-8310-4765-A935-A1911B00CA55}</a:tableStyleId>
              </a:tblPr>
              <a:tblGrid>
                <a:gridCol w="1463824">
                  <a:extLst>
                    <a:ext uri="{9D8B030D-6E8A-4147-A177-3AD203B41FA5}">
                      <a16:colId xmlns:a16="http://schemas.microsoft.com/office/drawing/2014/main" val="20000"/>
                    </a:ext>
                  </a:extLst>
                </a:gridCol>
                <a:gridCol w="2736304">
                  <a:extLst>
                    <a:ext uri="{9D8B030D-6E8A-4147-A177-3AD203B41FA5}">
                      <a16:colId xmlns:a16="http://schemas.microsoft.com/office/drawing/2014/main" val="20001"/>
                    </a:ext>
                  </a:extLst>
                </a:gridCol>
                <a:gridCol w="1895872">
                  <a:extLst>
                    <a:ext uri="{9D8B030D-6E8A-4147-A177-3AD203B41FA5}">
                      <a16:colId xmlns:a16="http://schemas.microsoft.com/office/drawing/2014/main" val="20002"/>
                    </a:ext>
                  </a:extLst>
                </a:gridCol>
              </a:tblGrid>
              <a:tr h="370946">
                <a:tc>
                  <a:txBody>
                    <a:bodyPr/>
                    <a:lstStyle/>
                    <a:p>
                      <a:pPr algn="ctr"/>
                      <a:r>
                        <a:rPr lang="en-CA" sz="1800" dirty="0"/>
                        <a:t>ISBN</a:t>
                      </a:r>
                    </a:p>
                  </a:txBody>
                  <a:tcPr marT="45733" marB="45733"/>
                </a:tc>
                <a:tc>
                  <a:txBody>
                    <a:bodyPr/>
                    <a:lstStyle/>
                    <a:p>
                      <a:pPr algn="ctr"/>
                      <a:r>
                        <a:rPr lang="en-CA" sz="1800" dirty="0"/>
                        <a:t>Title</a:t>
                      </a:r>
                    </a:p>
                  </a:txBody>
                  <a:tcPr marT="45733" marB="45733"/>
                </a:tc>
                <a:tc>
                  <a:txBody>
                    <a:bodyPr/>
                    <a:lstStyle/>
                    <a:p>
                      <a:pPr algn="ctr"/>
                      <a:r>
                        <a:rPr lang="en-CA" sz="1800" dirty="0"/>
                        <a:t>Quantity</a:t>
                      </a:r>
                    </a:p>
                  </a:txBody>
                  <a:tcPr marT="45733" marB="45733"/>
                </a:tc>
                <a:extLst>
                  <a:ext uri="{0D108BD9-81ED-4DB2-BD59-A6C34878D82A}">
                    <a16:rowId xmlns:a16="http://schemas.microsoft.com/office/drawing/2014/main" val="10000"/>
                  </a:ext>
                </a:extLst>
              </a:tr>
              <a:tr h="370946">
                <a:tc>
                  <a:txBody>
                    <a:bodyPr/>
                    <a:lstStyle/>
                    <a:p>
                      <a:pPr algn="ctr"/>
                      <a:r>
                        <a:rPr lang="en-CA" sz="1800" dirty="0"/>
                        <a:t>12345</a:t>
                      </a:r>
                    </a:p>
                  </a:txBody>
                  <a:tcPr marT="45733" marB="45733"/>
                </a:tc>
                <a:tc>
                  <a:txBody>
                    <a:bodyPr/>
                    <a:lstStyle/>
                    <a:p>
                      <a:pPr algn="ctr"/>
                      <a:r>
                        <a:rPr lang="en-CA" sz="1800" dirty="0"/>
                        <a:t>The Hunger</a:t>
                      </a:r>
                      <a:r>
                        <a:rPr lang="en-CA" sz="1800" baseline="0" dirty="0"/>
                        <a:t> Game</a:t>
                      </a:r>
                      <a:endParaRPr lang="en-CA" sz="1800" dirty="0"/>
                    </a:p>
                  </a:txBody>
                  <a:tcPr marT="45733" marB="45733"/>
                </a:tc>
                <a:tc>
                  <a:txBody>
                    <a:bodyPr/>
                    <a:lstStyle/>
                    <a:p>
                      <a:pPr algn="ctr"/>
                      <a:r>
                        <a:rPr lang="en-CA" sz="1800" dirty="0"/>
                        <a:t>10</a:t>
                      </a:r>
                    </a:p>
                  </a:txBody>
                  <a:tcPr marT="45733" marB="45733"/>
                </a:tc>
                <a:extLst>
                  <a:ext uri="{0D108BD9-81ED-4DB2-BD59-A6C34878D82A}">
                    <a16:rowId xmlns:a16="http://schemas.microsoft.com/office/drawing/2014/main" val="10001"/>
                  </a:ext>
                </a:extLst>
              </a:tr>
              <a:tr h="370946">
                <a:tc>
                  <a:txBody>
                    <a:bodyPr/>
                    <a:lstStyle/>
                    <a:p>
                      <a:pPr algn="ctr"/>
                      <a:r>
                        <a:rPr lang="en-CA" sz="1800" dirty="0"/>
                        <a:t>54321</a:t>
                      </a:r>
                    </a:p>
                  </a:txBody>
                  <a:tcPr marT="45733" marB="45733"/>
                </a:tc>
                <a:tc>
                  <a:txBody>
                    <a:bodyPr/>
                    <a:lstStyle/>
                    <a:p>
                      <a:pPr algn="ctr"/>
                      <a:r>
                        <a:rPr lang="en-CA" sz="1800" dirty="0"/>
                        <a:t>A Song of Ice and Fire</a:t>
                      </a:r>
                    </a:p>
                  </a:txBody>
                  <a:tcPr marT="45733" marB="45733"/>
                </a:tc>
                <a:tc>
                  <a:txBody>
                    <a:bodyPr/>
                    <a:lstStyle/>
                    <a:p>
                      <a:pPr algn="ctr"/>
                      <a:r>
                        <a:rPr lang="en-CA" sz="1800" dirty="0"/>
                        <a:t>15</a:t>
                      </a:r>
                    </a:p>
                  </a:txBody>
                  <a:tcPr marT="45733" marB="45733"/>
                </a:tc>
                <a:extLst>
                  <a:ext uri="{0D108BD9-81ED-4DB2-BD59-A6C34878D82A}">
                    <a16:rowId xmlns:a16="http://schemas.microsoft.com/office/drawing/2014/main" val="10002"/>
                  </a:ext>
                </a:extLst>
              </a:tr>
            </a:tbl>
          </a:graphicData>
        </a:graphic>
      </p:graphicFrame>
      <p:sp>
        <p:nvSpPr>
          <p:cNvPr id="17" name="TextBox 16">
            <a:extLst>
              <a:ext uri="{FF2B5EF4-FFF2-40B4-BE49-F238E27FC236}">
                <a16:creationId xmlns:a16="http://schemas.microsoft.com/office/drawing/2014/main" id="{F495DE1B-F3D1-2EA9-FF87-E20BBDAC71A5}"/>
              </a:ext>
            </a:extLst>
          </p:cNvPr>
          <p:cNvSpPr txBox="1">
            <a:spLocks noChangeArrowheads="1"/>
          </p:cNvSpPr>
          <p:nvPr/>
        </p:nvSpPr>
        <p:spPr bwMode="auto">
          <a:xfrm>
            <a:off x="3570288" y="3540125"/>
            <a:ext cx="20161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Book table</a:t>
            </a:r>
          </a:p>
        </p:txBody>
      </p:sp>
      <p:sp>
        <p:nvSpPr>
          <p:cNvPr id="18" name="Snip Single Corner Rectangle 17">
            <a:extLst>
              <a:ext uri="{FF2B5EF4-FFF2-40B4-BE49-F238E27FC236}">
                <a16:creationId xmlns:a16="http://schemas.microsoft.com/office/drawing/2014/main" id="{3F3E32E7-8B82-5911-13F3-CED53012C14E}"/>
              </a:ext>
            </a:extLst>
          </p:cNvPr>
          <p:cNvSpPr/>
          <p:nvPr/>
        </p:nvSpPr>
        <p:spPr bwMode="auto">
          <a:xfrm>
            <a:off x="227013" y="5300663"/>
            <a:ext cx="1092200" cy="431800"/>
          </a:xfrm>
          <a:prstGeom prst="snip1Rect">
            <a:avLst/>
          </a:prstGeom>
          <a:solidFill>
            <a:srgbClr val="FFFF00">
              <a:alpha val="30000"/>
            </a:srgbClr>
          </a:solidFill>
          <a:ln w="9525" cap="flat" cmpd="sng" algn="ctr">
            <a:solidFill>
              <a:srgbClr val="FFC000"/>
            </a:solidFill>
            <a:prstDash val="solid"/>
            <a:round/>
            <a:headEnd type="none" w="med" len="med"/>
            <a:tailEnd type="none" w="med" len="me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sz="2000" b="1"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Result:</a:t>
            </a:r>
          </a:p>
        </p:txBody>
      </p:sp>
      <p:sp>
        <p:nvSpPr>
          <p:cNvPr id="19" name="Snip Single Corner Rectangle 18">
            <a:extLst>
              <a:ext uri="{FF2B5EF4-FFF2-40B4-BE49-F238E27FC236}">
                <a16:creationId xmlns:a16="http://schemas.microsoft.com/office/drawing/2014/main" id="{AED4FEF5-DABF-E332-17E4-3E97B158B57C}"/>
              </a:ext>
            </a:extLst>
          </p:cNvPr>
          <p:cNvSpPr/>
          <p:nvPr/>
        </p:nvSpPr>
        <p:spPr bwMode="auto">
          <a:xfrm>
            <a:off x="250825" y="3978275"/>
            <a:ext cx="830263" cy="431800"/>
          </a:xfrm>
          <a:prstGeom prst="snip1Rect">
            <a:avLst/>
          </a:prstGeom>
          <a:solidFill>
            <a:srgbClr val="FFFF00">
              <a:alpha val="30000"/>
            </a:srgbClr>
          </a:solidFill>
          <a:ln w="9525" cap="flat" cmpd="sng" algn="ctr">
            <a:solidFill>
              <a:srgbClr val="FFC000"/>
            </a:solidFill>
            <a:prstDash val="solid"/>
            <a:round/>
            <a:headEnd type="none" w="med" len="med"/>
            <a:tailEnd type="none" w="med" len="med"/>
          </a:ln>
          <a:effec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2000" b="1"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Run:</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0">
                                            <p:txEl>
                                              <p:pRg st="0" end="0"/>
                                            </p:txEl>
                                          </p:spTgt>
                                        </p:tgtEl>
                                        <p:attrNameLst>
                                          <p:attrName>style.visibility</p:attrName>
                                        </p:attrNameLst>
                                      </p:cBhvr>
                                      <p:to>
                                        <p:strVal val="visible"/>
                                      </p:to>
                                    </p:set>
                                    <p:animEffect transition="in" filter="wipe(left)">
                                      <p:cBhvr>
                                        <p:cTn id="11" dur="500"/>
                                        <p:tgtEl>
                                          <p:spTgt spid="10">
                                            <p:txEl>
                                              <p:pRg st="0" end="0"/>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6" presetClass="entr" presetSubtype="21" fill="hold" nodeType="click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barn(inVertical)">
                                      <p:cBhvr>
                                        <p:cTn id="16" dur="500"/>
                                        <p:tgtEl>
                                          <p:spTgt spid="14"/>
                                        </p:tgtEl>
                                      </p:cBhvr>
                                    </p:animEffect>
                                  </p:childTnLst>
                                </p:cTn>
                              </p:par>
                            </p:childTnLst>
                          </p:cTn>
                        </p:par>
                        <p:par>
                          <p:cTn id="17" fill="hold" nodeType="afterGroup">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wipe(left)">
                                      <p:cBhvr>
                                        <p:cTn id="20" dur="500"/>
                                        <p:tgtEl>
                                          <p:spTgt spid="17"/>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1" fill="hold" grpId="0" nodeType="click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wipe(up)">
                                      <p:cBhvr>
                                        <p:cTn id="25" dur="500"/>
                                        <p:tgtEl>
                                          <p:spTgt spid="19"/>
                                        </p:tgtEl>
                                      </p:cBhvr>
                                    </p:animEffect>
                                  </p:childTnLst>
                                </p:cTn>
                              </p:par>
                            </p:childTnLst>
                          </p:cTn>
                        </p:par>
                        <p:par>
                          <p:cTn id="26" fill="hold" nodeType="afterGroup">
                            <p:stCondLst>
                              <p:cond delay="500"/>
                            </p:stCondLst>
                            <p:childTnLst>
                              <p:par>
                                <p:cTn id="27" presetID="22" presetClass="entr" presetSubtype="8" fill="hold" nodeType="afterEffect">
                                  <p:stCondLst>
                                    <p:cond delay="0"/>
                                  </p:stCondLst>
                                  <p:childTnLst>
                                    <p:set>
                                      <p:cBhvr>
                                        <p:cTn id="28" dur="1" fill="hold">
                                          <p:stCondLst>
                                            <p:cond delay="0"/>
                                          </p:stCondLst>
                                        </p:cTn>
                                        <p:tgtEl>
                                          <p:spTgt spid="19">
                                            <p:txEl>
                                              <p:pRg st="0" end="0"/>
                                            </p:txEl>
                                          </p:spTgt>
                                        </p:tgtEl>
                                        <p:attrNameLst>
                                          <p:attrName>style.visibility</p:attrName>
                                        </p:attrNameLst>
                                      </p:cBhvr>
                                      <p:to>
                                        <p:strVal val="visible"/>
                                      </p:to>
                                    </p:set>
                                    <p:animEffect transition="in" filter="wipe(left)">
                                      <p:cBhvr>
                                        <p:cTn id="29" dur="500"/>
                                        <p:tgtEl>
                                          <p:spTgt spid="19">
                                            <p:txEl>
                                              <p:pRg st="0" end="0"/>
                                            </p:txEl>
                                          </p:spTgt>
                                        </p:tgtEl>
                                      </p:cBhvr>
                                    </p:animEffect>
                                  </p:childTnLst>
                                </p:cTn>
                              </p:par>
                            </p:childTnLst>
                          </p:cTn>
                        </p:par>
                        <p:par>
                          <p:cTn id="30" fill="hold" nodeType="afterGroup">
                            <p:stCondLst>
                              <p:cond delay="1000"/>
                            </p:stCondLst>
                            <p:childTnLst>
                              <p:par>
                                <p:cTn id="31" presetID="16" presetClass="entr" presetSubtype="21" fill="hold" grpId="0" nodeType="after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barn(inVertical)">
                                      <p:cBhvr>
                                        <p:cTn id="33" dur="500"/>
                                        <p:tgtEl>
                                          <p:spTgt spid="12"/>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1" fill="hold" grpId="0" nodeType="click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wipe(up)">
                                      <p:cBhvr>
                                        <p:cTn id="38" dur="500"/>
                                        <p:tgtEl>
                                          <p:spTgt spid="18"/>
                                        </p:tgtEl>
                                      </p:cBhvr>
                                    </p:animEffect>
                                  </p:childTnLst>
                                </p:cTn>
                              </p:par>
                            </p:childTnLst>
                          </p:cTn>
                        </p:par>
                        <p:par>
                          <p:cTn id="39" fill="hold" nodeType="afterGroup">
                            <p:stCondLst>
                              <p:cond delay="500"/>
                            </p:stCondLst>
                            <p:childTnLst>
                              <p:par>
                                <p:cTn id="40" presetID="22" presetClass="entr" presetSubtype="8" fill="hold" nodeType="afterEffect">
                                  <p:stCondLst>
                                    <p:cond delay="0"/>
                                  </p:stCondLst>
                                  <p:childTnLst>
                                    <p:set>
                                      <p:cBhvr>
                                        <p:cTn id="41" dur="1" fill="hold">
                                          <p:stCondLst>
                                            <p:cond delay="0"/>
                                          </p:stCondLst>
                                        </p:cTn>
                                        <p:tgtEl>
                                          <p:spTgt spid="18">
                                            <p:txEl>
                                              <p:pRg st="0" end="0"/>
                                            </p:txEl>
                                          </p:spTgt>
                                        </p:tgtEl>
                                        <p:attrNameLst>
                                          <p:attrName>style.visibility</p:attrName>
                                        </p:attrNameLst>
                                      </p:cBhvr>
                                      <p:to>
                                        <p:strVal val="visible"/>
                                      </p:to>
                                    </p:set>
                                    <p:animEffect transition="in" filter="wipe(left)">
                                      <p:cBhvr>
                                        <p:cTn id="42" dur="500"/>
                                        <p:tgtEl>
                                          <p:spTgt spid="18">
                                            <p:txEl>
                                              <p:pRg st="0" end="0"/>
                                            </p:txEl>
                                          </p:spTgt>
                                        </p:tgtEl>
                                      </p:cBhvr>
                                    </p:animEffect>
                                  </p:childTnLst>
                                </p:cTn>
                              </p:par>
                            </p:childTnLst>
                          </p:cTn>
                        </p:par>
                        <p:par>
                          <p:cTn id="43" fill="hold" nodeType="afterGroup">
                            <p:stCondLst>
                              <p:cond delay="1000"/>
                            </p:stCondLst>
                            <p:childTnLst>
                              <p:par>
                                <p:cTn id="44" presetID="22" presetClass="entr" presetSubtype="8" fill="hold" nodeType="after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wipe(left)">
                                      <p:cBhvr>
                                        <p:cTn id="46"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build="p"/>
      <p:bldP spid="12" grpId="0" animBg="1"/>
      <p:bldP spid="17" grpId="0"/>
      <p:bldP spid="18" grpId="0" animBg="1"/>
      <p:bldP spid="19" grpId="0" animBg="1"/>
    </p:bldLst>
  </p:timing>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EBF32C-B7CC-E5FF-EE98-97C4D292AC58}"/>
              </a:ext>
            </a:extLst>
          </p:cNvPr>
          <p:cNvSpPr>
            <a:spLocks noGrp="1"/>
          </p:cNvSpPr>
          <p:nvPr>
            <p:ph type="title"/>
          </p:nvPr>
        </p:nvSpPr>
        <p:spPr>
          <a:xfrm>
            <a:off x="457200" y="0"/>
            <a:ext cx="7620000" cy="1143000"/>
          </a:xfrm>
        </p:spPr>
        <p:txBody>
          <a:bodyPr/>
          <a:lstStyle/>
          <a:p>
            <a:pPr algn="ctr">
              <a:defRPr/>
            </a:pPr>
            <a:r>
              <a:rPr lang="en-US" dirty="0"/>
              <a:t>Math Functions</a:t>
            </a:r>
            <a:endParaRPr lang="en-MY" dirty="0"/>
          </a:p>
        </p:txBody>
      </p:sp>
      <p:sp>
        <p:nvSpPr>
          <p:cNvPr id="9" name="Snip Single Corner Rectangle 8">
            <a:extLst>
              <a:ext uri="{FF2B5EF4-FFF2-40B4-BE49-F238E27FC236}">
                <a16:creationId xmlns:a16="http://schemas.microsoft.com/office/drawing/2014/main" id="{3F6A4E3A-C59A-6BDB-3F5F-AF0D111CDC3F}"/>
              </a:ext>
            </a:extLst>
          </p:cNvPr>
          <p:cNvSpPr/>
          <p:nvPr/>
        </p:nvSpPr>
        <p:spPr>
          <a:xfrm>
            <a:off x="-36513" y="1125538"/>
            <a:ext cx="1258888" cy="400050"/>
          </a:xfrm>
          <a:prstGeom prst="snip1Rect">
            <a:avLst/>
          </a:prstGeom>
          <a:solidFill>
            <a:schemeClr val="accent3"/>
          </a:solidFill>
          <a:ln>
            <a:solidFill>
              <a:schemeClr val="accent3"/>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marR="0" lvl="0" indent="-342900" algn="just" defTabSz="914400" rtl="0" eaLnBrk="1" fontAlgn="base" latinLnBrk="0" hangingPunct="1">
              <a:lnSpc>
                <a:spcPct val="100000"/>
              </a:lnSpc>
              <a:spcBef>
                <a:spcPct val="20000"/>
              </a:spcBef>
              <a:spcAft>
                <a:spcPct val="0"/>
              </a:spcAft>
              <a:buClr>
                <a:srgbClr val="FF6600"/>
              </a:buClr>
              <a:buSzPct val="100000"/>
              <a:buFontTx/>
              <a:buNone/>
              <a:tabLst/>
              <a:defRPr/>
            </a:pPr>
            <a:r>
              <a:rPr kumimoji="0" lang="en-GB" sz="1800" b="0" i="0" u="none" strike="noStrike" kern="0" cap="none" spc="0" normalizeH="0" baseline="0" noProof="0" dirty="0">
                <a:ln>
                  <a:noFill/>
                </a:ln>
                <a:solidFill>
                  <a:srgbClr val="FFFFFF"/>
                </a:solidFill>
                <a:effectLst/>
                <a:uLnTx/>
                <a:uFillTx/>
                <a:latin typeface="Calibri"/>
                <a:ea typeface="+mn-ea"/>
                <a:cs typeface="+mn-cs"/>
              </a:rPr>
              <a:t>POWER()</a:t>
            </a:r>
          </a:p>
        </p:txBody>
      </p:sp>
      <p:sp>
        <p:nvSpPr>
          <p:cNvPr id="10" name="Content Placeholder 2">
            <a:extLst>
              <a:ext uri="{FF2B5EF4-FFF2-40B4-BE49-F238E27FC236}">
                <a16:creationId xmlns:a16="http://schemas.microsoft.com/office/drawing/2014/main" id="{3725E0BE-8329-5EFF-4570-6CCF570D0C52}"/>
              </a:ext>
            </a:extLst>
          </p:cNvPr>
          <p:cNvSpPr txBox="1">
            <a:spLocks/>
          </p:cNvSpPr>
          <p:nvPr/>
        </p:nvSpPr>
        <p:spPr bwMode="auto">
          <a:xfrm>
            <a:off x="250825" y="1773238"/>
            <a:ext cx="8753475"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POWER() – Raise number to specific power</a:t>
            </a: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sp>
        <p:nvSpPr>
          <p:cNvPr id="12" name="Rounded Rectangle 11">
            <a:extLst>
              <a:ext uri="{FF2B5EF4-FFF2-40B4-BE49-F238E27FC236}">
                <a16:creationId xmlns:a16="http://schemas.microsoft.com/office/drawing/2014/main" id="{D7B3CE35-1DE0-D823-AE7B-38E1F743674C}"/>
              </a:ext>
            </a:extLst>
          </p:cNvPr>
          <p:cNvSpPr/>
          <p:nvPr/>
        </p:nvSpPr>
        <p:spPr bwMode="auto">
          <a:xfrm>
            <a:off x="1447800" y="3968750"/>
            <a:ext cx="6629400" cy="1116013"/>
          </a:xfrm>
          <a:prstGeom prst="roundRect">
            <a:avLst/>
          </a:prstGeom>
          <a:solidFill>
            <a:schemeClr val="accent6">
              <a:alpha val="30000"/>
            </a:schemeClr>
          </a:solidFill>
          <a:ln w="9525" cap="flat" cmpd="sng" algn="ctr">
            <a:solidFill>
              <a:schemeClr val="accent6"/>
            </a:solidFill>
            <a:prstDash val="solid"/>
            <a:round/>
            <a:headEnd type="none" w="med" len="med"/>
            <a:tailEnd type="none" w="med" len="med"/>
          </a:ln>
          <a:effectLst/>
        </p:spPr>
        <p:txBody>
          <a:bodyPr anchor="ctr" anchorCtr="1"/>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2800" b="0"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SELECT ISBN, POWER(Quantity, 2), POWER(Quantity, 3) FROM Book;</a:t>
            </a:r>
          </a:p>
        </p:txBody>
      </p:sp>
      <p:graphicFrame>
        <p:nvGraphicFramePr>
          <p:cNvPr id="16" name="Table 15">
            <a:extLst>
              <a:ext uri="{FF2B5EF4-FFF2-40B4-BE49-F238E27FC236}">
                <a16:creationId xmlns:a16="http://schemas.microsoft.com/office/drawing/2014/main" id="{13302FE5-B9B6-F9A7-7BD7-BA356AFB872F}"/>
              </a:ext>
            </a:extLst>
          </p:cNvPr>
          <p:cNvGraphicFramePr>
            <a:graphicFrameLocks noGrp="1"/>
          </p:cNvGraphicFramePr>
          <p:nvPr/>
        </p:nvGraphicFramePr>
        <p:xfrm>
          <a:off x="1631950" y="5264150"/>
          <a:ext cx="6469063" cy="1106488"/>
        </p:xfrm>
        <a:graphic>
          <a:graphicData uri="http://schemas.openxmlformats.org/drawingml/2006/table">
            <a:tbl>
              <a:tblPr firstRow="1" bandRow="1">
                <a:tableStyleId>{C083E6E3-FA7D-4D7B-A595-EF9225AFEA82}</a:tableStyleId>
              </a:tblPr>
              <a:tblGrid>
                <a:gridCol w="1284181">
                  <a:extLst>
                    <a:ext uri="{9D8B030D-6E8A-4147-A177-3AD203B41FA5}">
                      <a16:colId xmlns:a16="http://schemas.microsoft.com/office/drawing/2014/main" val="20000"/>
                    </a:ext>
                  </a:extLst>
                </a:gridCol>
                <a:gridCol w="2736465">
                  <a:extLst>
                    <a:ext uri="{9D8B030D-6E8A-4147-A177-3AD203B41FA5}">
                      <a16:colId xmlns:a16="http://schemas.microsoft.com/office/drawing/2014/main" val="20001"/>
                    </a:ext>
                  </a:extLst>
                </a:gridCol>
                <a:gridCol w="2448417">
                  <a:extLst>
                    <a:ext uri="{9D8B030D-6E8A-4147-A177-3AD203B41FA5}">
                      <a16:colId xmlns:a16="http://schemas.microsoft.com/office/drawing/2014/main" val="20002"/>
                    </a:ext>
                  </a:extLst>
                </a:gridCol>
              </a:tblGrid>
              <a:tr h="365655">
                <a:tc>
                  <a:txBody>
                    <a:bodyPr/>
                    <a:lstStyle/>
                    <a:p>
                      <a:pPr algn="ctr"/>
                      <a:r>
                        <a:rPr lang="en-CA" sz="1800" dirty="0"/>
                        <a:t>ISBN</a:t>
                      </a:r>
                    </a:p>
                  </a:txBody>
                  <a:tcPr marL="91445" marR="91445" marT="45668" marB="45668"/>
                </a:tc>
                <a:tc>
                  <a:txBody>
                    <a:bodyPr/>
                    <a:lstStyle/>
                    <a:p>
                      <a:pPr algn="ctr"/>
                      <a:r>
                        <a:rPr lang="en-CA" sz="1800" dirty="0"/>
                        <a:t>POWER(Quantity, 2)</a:t>
                      </a:r>
                    </a:p>
                  </a:txBody>
                  <a:tcPr marL="91445" marR="91445" marT="45668" marB="45668"/>
                </a:tc>
                <a:tc>
                  <a:txBody>
                    <a:bodyPr/>
                    <a:lstStyle/>
                    <a:p>
                      <a:pPr algn="ctr"/>
                      <a:r>
                        <a:rPr lang="en-CA" sz="1800" dirty="0"/>
                        <a:t>POWER(Quantity, 3)</a:t>
                      </a:r>
                    </a:p>
                  </a:txBody>
                  <a:tcPr marL="91445" marR="91445" marT="45668" marB="45668"/>
                </a:tc>
                <a:extLst>
                  <a:ext uri="{0D108BD9-81ED-4DB2-BD59-A6C34878D82A}">
                    <a16:rowId xmlns:a16="http://schemas.microsoft.com/office/drawing/2014/main" val="10000"/>
                  </a:ext>
                </a:extLst>
              </a:tr>
              <a:tr h="370416">
                <a:tc>
                  <a:txBody>
                    <a:bodyPr/>
                    <a:lstStyle/>
                    <a:p>
                      <a:pPr algn="ctr"/>
                      <a:r>
                        <a:rPr lang="en-CA" sz="1800" dirty="0"/>
                        <a:t>12345</a:t>
                      </a:r>
                    </a:p>
                  </a:txBody>
                  <a:tcPr marL="91445" marR="91445" marT="45668" marB="45668"/>
                </a:tc>
                <a:tc>
                  <a:txBody>
                    <a:bodyPr/>
                    <a:lstStyle/>
                    <a:p>
                      <a:pPr algn="ctr"/>
                      <a:r>
                        <a:rPr lang="en-CA" sz="1800" dirty="0"/>
                        <a:t>100</a:t>
                      </a:r>
                    </a:p>
                  </a:txBody>
                  <a:tcPr marL="91445" marR="91445" marT="45668" marB="45668"/>
                </a:tc>
                <a:tc>
                  <a:txBody>
                    <a:bodyPr/>
                    <a:lstStyle/>
                    <a:p>
                      <a:pPr algn="ctr"/>
                      <a:r>
                        <a:rPr lang="en-CA" sz="1800" dirty="0"/>
                        <a:t>1000</a:t>
                      </a:r>
                    </a:p>
                  </a:txBody>
                  <a:tcPr marL="91445" marR="91445" marT="45668" marB="45668"/>
                </a:tc>
                <a:extLst>
                  <a:ext uri="{0D108BD9-81ED-4DB2-BD59-A6C34878D82A}">
                    <a16:rowId xmlns:a16="http://schemas.microsoft.com/office/drawing/2014/main" val="10001"/>
                  </a:ext>
                </a:extLst>
              </a:tr>
              <a:tr h="370416">
                <a:tc>
                  <a:txBody>
                    <a:bodyPr/>
                    <a:lstStyle/>
                    <a:p>
                      <a:pPr algn="ctr"/>
                      <a:r>
                        <a:rPr lang="en-CA" sz="1800" dirty="0"/>
                        <a:t>54321</a:t>
                      </a:r>
                    </a:p>
                  </a:txBody>
                  <a:tcPr marL="91445" marR="91445" marT="45668" marB="45668"/>
                </a:tc>
                <a:tc>
                  <a:txBody>
                    <a:bodyPr/>
                    <a:lstStyle/>
                    <a:p>
                      <a:pPr algn="ctr"/>
                      <a:r>
                        <a:rPr lang="en-CA" sz="1800" dirty="0"/>
                        <a:t>255</a:t>
                      </a:r>
                    </a:p>
                  </a:txBody>
                  <a:tcPr marL="91445" marR="91445" marT="45668" marB="45668"/>
                </a:tc>
                <a:tc>
                  <a:txBody>
                    <a:bodyPr/>
                    <a:lstStyle/>
                    <a:p>
                      <a:pPr algn="ctr"/>
                      <a:r>
                        <a:rPr lang="en-CA" sz="1800" dirty="0"/>
                        <a:t>3375</a:t>
                      </a:r>
                    </a:p>
                  </a:txBody>
                  <a:tcPr marL="91445" marR="91445" marT="45668" marB="45668"/>
                </a:tc>
                <a:extLst>
                  <a:ext uri="{0D108BD9-81ED-4DB2-BD59-A6C34878D82A}">
                    <a16:rowId xmlns:a16="http://schemas.microsoft.com/office/drawing/2014/main" val="10002"/>
                  </a:ext>
                </a:extLst>
              </a:tr>
            </a:tbl>
          </a:graphicData>
        </a:graphic>
      </p:graphicFrame>
      <p:graphicFrame>
        <p:nvGraphicFramePr>
          <p:cNvPr id="14" name="Table 13">
            <a:extLst>
              <a:ext uri="{FF2B5EF4-FFF2-40B4-BE49-F238E27FC236}">
                <a16:creationId xmlns:a16="http://schemas.microsoft.com/office/drawing/2014/main" id="{0214A102-BA38-BB40-985A-10AFE83D8EF6}"/>
              </a:ext>
            </a:extLst>
          </p:cNvPr>
          <p:cNvGraphicFramePr>
            <a:graphicFrameLocks noGrp="1"/>
          </p:cNvGraphicFramePr>
          <p:nvPr/>
        </p:nvGraphicFramePr>
        <p:xfrm>
          <a:off x="1530350" y="2411413"/>
          <a:ext cx="6096000" cy="1112837"/>
        </p:xfrm>
        <a:graphic>
          <a:graphicData uri="http://schemas.openxmlformats.org/drawingml/2006/table">
            <a:tbl>
              <a:tblPr firstRow="1" bandRow="1">
                <a:tableStyleId>{D27102A9-8310-4765-A935-A1911B00CA55}</a:tableStyleId>
              </a:tblPr>
              <a:tblGrid>
                <a:gridCol w="1463824">
                  <a:extLst>
                    <a:ext uri="{9D8B030D-6E8A-4147-A177-3AD203B41FA5}">
                      <a16:colId xmlns:a16="http://schemas.microsoft.com/office/drawing/2014/main" val="20000"/>
                    </a:ext>
                  </a:extLst>
                </a:gridCol>
                <a:gridCol w="2736304">
                  <a:extLst>
                    <a:ext uri="{9D8B030D-6E8A-4147-A177-3AD203B41FA5}">
                      <a16:colId xmlns:a16="http://schemas.microsoft.com/office/drawing/2014/main" val="20001"/>
                    </a:ext>
                  </a:extLst>
                </a:gridCol>
                <a:gridCol w="1895872">
                  <a:extLst>
                    <a:ext uri="{9D8B030D-6E8A-4147-A177-3AD203B41FA5}">
                      <a16:colId xmlns:a16="http://schemas.microsoft.com/office/drawing/2014/main" val="20002"/>
                    </a:ext>
                  </a:extLst>
                </a:gridCol>
              </a:tblGrid>
              <a:tr h="370946">
                <a:tc>
                  <a:txBody>
                    <a:bodyPr/>
                    <a:lstStyle/>
                    <a:p>
                      <a:pPr algn="ctr"/>
                      <a:r>
                        <a:rPr lang="en-CA" sz="1800" dirty="0"/>
                        <a:t>ISBN</a:t>
                      </a:r>
                    </a:p>
                  </a:txBody>
                  <a:tcPr marT="45733" marB="45733"/>
                </a:tc>
                <a:tc>
                  <a:txBody>
                    <a:bodyPr/>
                    <a:lstStyle/>
                    <a:p>
                      <a:pPr algn="ctr"/>
                      <a:r>
                        <a:rPr lang="en-CA" sz="1800" dirty="0"/>
                        <a:t>Title</a:t>
                      </a:r>
                    </a:p>
                  </a:txBody>
                  <a:tcPr marT="45733" marB="45733"/>
                </a:tc>
                <a:tc>
                  <a:txBody>
                    <a:bodyPr/>
                    <a:lstStyle/>
                    <a:p>
                      <a:pPr algn="ctr"/>
                      <a:r>
                        <a:rPr lang="en-CA" sz="1800" dirty="0"/>
                        <a:t>Quantity</a:t>
                      </a:r>
                    </a:p>
                  </a:txBody>
                  <a:tcPr marT="45733" marB="45733"/>
                </a:tc>
                <a:extLst>
                  <a:ext uri="{0D108BD9-81ED-4DB2-BD59-A6C34878D82A}">
                    <a16:rowId xmlns:a16="http://schemas.microsoft.com/office/drawing/2014/main" val="10000"/>
                  </a:ext>
                </a:extLst>
              </a:tr>
              <a:tr h="370946">
                <a:tc>
                  <a:txBody>
                    <a:bodyPr/>
                    <a:lstStyle/>
                    <a:p>
                      <a:pPr algn="ctr"/>
                      <a:r>
                        <a:rPr lang="en-CA" sz="1800" dirty="0"/>
                        <a:t>12345</a:t>
                      </a:r>
                    </a:p>
                  </a:txBody>
                  <a:tcPr marT="45733" marB="45733"/>
                </a:tc>
                <a:tc>
                  <a:txBody>
                    <a:bodyPr/>
                    <a:lstStyle/>
                    <a:p>
                      <a:pPr algn="ctr"/>
                      <a:r>
                        <a:rPr lang="en-CA" sz="1800" dirty="0"/>
                        <a:t>The Hunger</a:t>
                      </a:r>
                      <a:r>
                        <a:rPr lang="en-CA" sz="1800" baseline="0" dirty="0"/>
                        <a:t> Game</a:t>
                      </a:r>
                      <a:endParaRPr lang="en-CA" sz="1800" dirty="0"/>
                    </a:p>
                  </a:txBody>
                  <a:tcPr marT="45733" marB="45733"/>
                </a:tc>
                <a:tc>
                  <a:txBody>
                    <a:bodyPr/>
                    <a:lstStyle/>
                    <a:p>
                      <a:pPr algn="ctr"/>
                      <a:r>
                        <a:rPr lang="en-CA" sz="1800" dirty="0"/>
                        <a:t>10</a:t>
                      </a:r>
                    </a:p>
                  </a:txBody>
                  <a:tcPr marT="45733" marB="45733"/>
                </a:tc>
                <a:extLst>
                  <a:ext uri="{0D108BD9-81ED-4DB2-BD59-A6C34878D82A}">
                    <a16:rowId xmlns:a16="http://schemas.microsoft.com/office/drawing/2014/main" val="10001"/>
                  </a:ext>
                </a:extLst>
              </a:tr>
              <a:tr h="370946">
                <a:tc>
                  <a:txBody>
                    <a:bodyPr/>
                    <a:lstStyle/>
                    <a:p>
                      <a:pPr algn="ctr"/>
                      <a:r>
                        <a:rPr lang="en-CA" sz="1800" dirty="0"/>
                        <a:t>54321</a:t>
                      </a:r>
                    </a:p>
                  </a:txBody>
                  <a:tcPr marT="45733" marB="45733"/>
                </a:tc>
                <a:tc>
                  <a:txBody>
                    <a:bodyPr/>
                    <a:lstStyle/>
                    <a:p>
                      <a:pPr algn="ctr"/>
                      <a:r>
                        <a:rPr lang="en-CA" sz="1800" dirty="0"/>
                        <a:t>A Song of Ice and Fire</a:t>
                      </a:r>
                    </a:p>
                  </a:txBody>
                  <a:tcPr marT="45733" marB="45733"/>
                </a:tc>
                <a:tc>
                  <a:txBody>
                    <a:bodyPr/>
                    <a:lstStyle/>
                    <a:p>
                      <a:pPr algn="ctr"/>
                      <a:r>
                        <a:rPr lang="en-CA" sz="1800" dirty="0"/>
                        <a:t>15</a:t>
                      </a:r>
                    </a:p>
                  </a:txBody>
                  <a:tcPr marT="45733" marB="45733"/>
                </a:tc>
                <a:extLst>
                  <a:ext uri="{0D108BD9-81ED-4DB2-BD59-A6C34878D82A}">
                    <a16:rowId xmlns:a16="http://schemas.microsoft.com/office/drawing/2014/main" val="10002"/>
                  </a:ext>
                </a:extLst>
              </a:tr>
            </a:tbl>
          </a:graphicData>
        </a:graphic>
      </p:graphicFrame>
      <p:sp>
        <p:nvSpPr>
          <p:cNvPr id="17" name="TextBox 16">
            <a:extLst>
              <a:ext uri="{FF2B5EF4-FFF2-40B4-BE49-F238E27FC236}">
                <a16:creationId xmlns:a16="http://schemas.microsoft.com/office/drawing/2014/main" id="{07FEA704-1D7F-2E22-EBFE-D209DE006CC7}"/>
              </a:ext>
            </a:extLst>
          </p:cNvPr>
          <p:cNvSpPr txBox="1">
            <a:spLocks noChangeArrowheads="1"/>
          </p:cNvSpPr>
          <p:nvPr/>
        </p:nvSpPr>
        <p:spPr bwMode="auto">
          <a:xfrm>
            <a:off x="3570288" y="3540125"/>
            <a:ext cx="20161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Book table</a:t>
            </a:r>
          </a:p>
        </p:txBody>
      </p:sp>
      <p:sp>
        <p:nvSpPr>
          <p:cNvPr id="18" name="Snip Single Corner Rectangle 17">
            <a:extLst>
              <a:ext uri="{FF2B5EF4-FFF2-40B4-BE49-F238E27FC236}">
                <a16:creationId xmlns:a16="http://schemas.microsoft.com/office/drawing/2014/main" id="{181FD7E7-C069-9F71-899E-381796956B1E}"/>
              </a:ext>
            </a:extLst>
          </p:cNvPr>
          <p:cNvSpPr/>
          <p:nvPr/>
        </p:nvSpPr>
        <p:spPr bwMode="auto">
          <a:xfrm>
            <a:off x="227013" y="5300663"/>
            <a:ext cx="1092200" cy="431800"/>
          </a:xfrm>
          <a:prstGeom prst="snip1Rect">
            <a:avLst/>
          </a:prstGeom>
          <a:solidFill>
            <a:srgbClr val="FFFF00">
              <a:alpha val="30000"/>
            </a:srgbClr>
          </a:solidFill>
          <a:ln w="9525" cap="flat" cmpd="sng" algn="ctr">
            <a:solidFill>
              <a:srgbClr val="FFC000"/>
            </a:solidFill>
            <a:prstDash val="solid"/>
            <a:round/>
            <a:headEnd type="none" w="med" len="med"/>
            <a:tailEnd type="none" w="med" len="me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sz="2000" b="1"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Result:</a:t>
            </a:r>
          </a:p>
        </p:txBody>
      </p:sp>
      <p:sp>
        <p:nvSpPr>
          <p:cNvPr id="19" name="Snip Single Corner Rectangle 18">
            <a:extLst>
              <a:ext uri="{FF2B5EF4-FFF2-40B4-BE49-F238E27FC236}">
                <a16:creationId xmlns:a16="http://schemas.microsoft.com/office/drawing/2014/main" id="{AA80BF9B-698D-5DDD-B37B-254469242368}"/>
              </a:ext>
            </a:extLst>
          </p:cNvPr>
          <p:cNvSpPr/>
          <p:nvPr/>
        </p:nvSpPr>
        <p:spPr bwMode="auto">
          <a:xfrm>
            <a:off x="250825" y="3978275"/>
            <a:ext cx="830263" cy="431800"/>
          </a:xfrm>
          <a:prstGeom prst="snip1Rect">
            <a:avLst/>
          </a:prstGeom>
          <a:solidFill>
            <a:srgbClr val="FFFF00">
              <a:alpha val="30000"/>
            </a:srgbClr>
          </a:solidFill>
          <a:ln w="9525" cap="flat" cmpd="sng" algn="ctr">
            <a:solidFill>
              <a:srgbClr val="FFC000"/>
            </a:solidFill>
            <a:prstDash val="solid"/>
            <a:round/>
            <a:headEnd type="none" w="med" len="med"/>
            <a:tailEnd type="none" w="med" len="med"/>
          </a:ln>
          <a:effec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2000" b="1"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Run:</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left)">
                                      <p:cBhvr>
                                        <p:cTn id="11" dur="500"/>
                                        <p:tgtEl>
                                          <p:spTgt spid="10"/>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6" presetClass="entr" presetSubtype="21" fill="hold" nodeType="click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barn(inVertical)">
                                      <p:cBhvr>
                                        <p:cTn id="16" dur="500"/>
                                        <p:tgtEl>
                                          <p:spTgt spid="14"/>
                                        </p:tgtEl>
                                      </p:cBhvr>
                                    </p:animEffect>
                                  </p:childTnLst>
                                </p:cTn>
                              </p:par>
                            </p:childTnLst>
                          </p:cTn>
                        </p:par>
                        <p:par>
                          <p:cTn id="17" fill="hold" nodeType="afterGroup">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wipe(left)">
                                      <p:cBhvr>
                                        <p:cTn id="20" dur="500"/>
                                        <p:tgtEl>
                                          <p:spTgt spid="17"/>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1" fill="hold" grpId="0" nodeType="click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wipe(up)">
                                      <p:cBhvr>
                                        <p:cTn id="25" dur="500"/>
                                        <p:tgtEl>
                                          <p:spTgt spid="19"/>
                                        </p:tgtEl>
                                      </p:cBhvr>
                                    </p:animEffect>
                                  </p:childTnLst>
                                </p:cTn>
                              </p:par>
                            </p:childTnLst>
                          </p:cTn>
                        </p:par>
                        <p:par>
                          <p:cTn id="26" fill="hold" nodeType="afterGroup">
                            <p:stCondLst>
                              <p:cond delay="500"/>
                            </p:stCondLst>
                            <p:childTnLst>
                              <p:par>
                                <p:cTn id="27" presetID="22" presetClass="entr" presetSubtype="8" fill="hold" nodeType="afterEffect">
                                  <p:stCondLst>
                                    <p:cond delay="0"/>
                                  </p:stCondLst>
                                  <p:childTnLst>
                                    <p:set>
                                      <p:cBhvr>
                                        <p:cTn id="28" dur="1" fill="hold">
                                          <p:stCondLst>
                                            <p:cond delay="0"/>
                                          </p:stCondLst>
                                        </p:cTn>
                                        <p:tgtEl>
                                          <p:spTgt spid="19">
                                            <p:txEl>
                                              <p:pRg st="0" end="0"/>
                                            </p:txEl>
                                          </p:spTgt>
                                        </p:tgtEl>
                                        <p:attrNameLst>
                                          <p:attrName>style.visibility</p:attrName>
                                        </p:attrNameLst>
                                      </p:cBhvr>
                                      <p:to>
                                        <p:strVal val="visible"/>
                                      </p:to>
                                    </p:set>
                                    <p:animEffect transition="in" filter="wipe(left)">
                                      <p:cBhvr>
                                        <p:cTn id="29" dur="500"/>
                                        <p:tgtEl>
                                          <p:spTgt spid="19">
                                            <p:txEl>
                                              <p:pRg st="0" end="0"/>
                                            </p:txEl>
                                          </p:spTgt>
                                        </p:tgtEl>
                                      </p:cBhvr>
                                    </p:animEffect>
                                  </p:childTnLst>
                                </p:cTn>
                              </p:par>
                            </p:childTnLst>
                          </p:cTn>
                        </p:par>
                        <p:par>
                          <p:cTn id="30" fill="hold" nodeType="afterGroup">
                            <p:stCondLst>
                              <p:cond delay="1000"/>
                            </p:stCondLst>
                            <p:childTnLst>
                              <p:par>
                                <p:cTn id="31" presetID="16" presetClass="entr" presetSubtype="21" fill="hold" grpId="0" nodeType="after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barn(inVertical)">
                                      <p:cBhvr>
                                        <p:cTn id="33" dur="500"/>
                                        <p:tgtEl>
                                          <p:spTgt spid="12"/>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1" fill="hold" grpId="0" nodeType="click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wipe(up)">
                                      <p:cBhvr>
                                        <p:cTn id="38" dur="500"/>
                                        <p:tgtEl>
                                          <p:spTgt spid="18"/>
                                        </p:tgtEl>
                                      </p:cBhvr>
                                    </p:animEffect>
                                  </p:childTnLst>
                                </p:cTn>
                              </p:par>
                            </p:childTnLst>
                          </p:cTn>
                        </p:par>
                        <p:par>
                          <p:cTn id="39" fill="hold" nodeType="afterGroup">
                            <p:stCondLst>
                              <p:cond delay="500"/>
                            </p:stCondLst>
                            <p:childTnLst>
                              <p:par>
                                <p:cTn id="40" presetID="22" presetClass="entr" presetSubtype="8" fill="hold" nodeType="afterEffect">
                                  <p:stCondLst>
                                    <p:cond delay="0"/>
                                  </p:stCondLst>
                                  <p:childTnLst>
                                    <p:set>
                                      <p:cBhvr>
                                        <p:cTn id="41" dur="1" fill="hold">
                                          <p:stCondLst>
                                            <p:cond delay="0"/>
                                          </p:stCondLst>
                                        </p:cTn>
                                        <p:tgtEl>
                                          <p:spTgt spid="18">
                                            <p:txEl>
                                              <p:pRg st="0" end="0"/>
                                            </p:txEl>
                                          </p:spTgt>
                                        </p:tgtEl>
                                        <p:attrNameLst>
                                          <p:attrName>style.visibility</p:attrName>
                                        </p:attrNameLst>
                                      </p:cBhvr>
                                      <p:to>
                                        <p:strVal val="visible"/>
                                      </p:to>
                                    </p:set>
                                    <p:animEffect transition="in" filter="wipe(left)">
                                      <p:cBhvr>
                                        <p:cTn id="42" dur="500"/>
                                        <p:tgtEl>
                                          <p:spTgt spid="18">
                                            <p:txEl>
                                              <p:pRg st="0" end="0"/>
                                            </p:txEl>
                                          </p:spTgt>
                                        </p:tgtEl>
                                      </p:cBhvr>
                                    </p:animEffect>
                                  </p:childTnLst>
                                </p:cTn>
                              </p:par>
                            </p:childTnLst>
                          </p:cTn>
                        </p:par>
                        <p:par>
                          <p:cTn id="43" fill="hold" nodeType="afterGroup">
                            <p:stCondLst>
                              <p:cond delay="1000"/>
                            </p:stCondLst>
                            <p:childTnLst>
                              <p:par>
                                <p:cTn id="44" presetID="22" presetClass="entr" presetSubtype="8" fill="hold" nodeType="after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wipe(left)">
                                      <p:cBhvr>
                                        <p:cTn id="46"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p:bldP spid="12" grpId="0" animBg="1"/>
      <p:bldP spid="17" grpId="0"/>
      <p:bldP spid="18" grpId="0" animBg="1"/>
      <p:bldP spid="19" grpId="0" animBg="1"/>
    </p:bldLst>
  </p:timing>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39635-4908-C4E3-97EF-316AC04180EB}"/>
              </a:ext>
            </a:extLst>
          </p:cNvPr>
          <p:cNvSpPr>
            <a:spLocks noGrp="1"/>
          </p:cNvSpPr>
          <p:nvPr>
            <p:ph type="title"/>
          </p:nvPr>
        </p:nvSpPr>
        <p:spPr>
          <a:xfrm>
            <a:off x="457200" y="0"/>
            <a:ext cx="7620000" cy="1143000"/>
          </a:xfrm>
        </p:spPr>
        <p:txBody>
          <a:bodyPr/>
          <a:lstStyle/>
          <a:p>
            <a:pPr algn="ctr">
              <a:defRPr/>
            </a:pPr>
            <a:r>
              <a:rPr lang="en-US" dirty="0"/>
              <a:t>Math Functions</a:t>
            </a:r>
            <a:endParaRPr lang="en-MY" dirty="0"/>
          </a:p>
        </p:txBody>
      </p:sp>
      <p:sp>
        <p:nvSpPr>
          <p:cNvPr id="9" name="Snip Single Corner Rectangle 8">
            <a:extLst>
              <a:ext uri="{FF2B5EF4-FFF2-40B4-BE49-F238E27FC236}">
                <a16:creationId xmlns:a16="http://schemas.microsoft.com/office/drawing/2014/main" id="{C1413F23-9CBA-4D2F-BE43-541E60DEADDA}"/>
              </a:ext>
            </a:extLst>
          </p:cNvPr>
          <p:cNvSpPr/>
          <p:nvPr/>
        </p:nvSpPr>
        <p:spPr>
          <a:xfrm>
            <a:off x="-36513" y="1125538"/>
            <a:ext cx="1008063" cy="400050"/>
          </a:xfrm>
          <a:prstGeom prst="snip1Rect">
            <a:avLst/>
          </a:prstGeom>
          <a:solidFill>
            <a:schemeClr val="accent1"/>
          </a:solidFill>
          <a:ln>
            <a:solidFill>
              <a:schemeClr val="accent1"/>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marR="0" lvl="0" indent="-342900" algn="just" defTabSz="914400" rtl="0" eaLnBrk="1" fontAlgn="base" latinLnBrk="0" hangingPunct="1">
              <a:lnSpc>
                <a:spcPct val="100000"/>
              </a:lnSpc>
              <a:spcBef>
                <a:spcPct val="20000"/>
              </a:spcBef>
              <a:spcAft>
                <a:spcPct val="0"/>
              </a:spcAft>
              <a:buClr>
                <a:srgbClr val="FF6600"/>
              </a:buClr>
              <a:buSzPct val="100000"/>
              <a:buFontTx/>
              <a:buNone/>
              <a:tabLst/>
              <a:defRPr/>
            </a:pPr>
            <a:r>
              <a:rPr kumimoji="0" lang="en-GB" sz="1800" b="0" i="0" u="none" strike="noStrike" kern="0" cap="none" spc="0" normalizeH="0" baseline="0" noProof="0" dirty="0">
                <a:ln>
                  <a:noFill/>
                </a:ln>
                <a:solidFill>
                  <a:srgbClr val="FFFFFF"/>
                </a:solidFill>
                <a:effectLst/>
                <a:uLnTx/>
                <a:uFillTx/>
                <a:latin typeface="Calibri"/>
                <a:ea typeface="+mn-ea"/>
                <a:cs typeface="+mn-cs"/>
              </a:rPr>
              <a:t>SQRT()</a:t>
            </a:r>
          </a:p>
        </p:txBody>
      </p:sp>
      <p:sp>
        <p:nvSpPr>
          <p:cNvPr id="10" name="Content Placeholder 2">
            <a:extLst>
              <a:ext uri="{FF2B5EF4-FFF2-40B4-BE49-F238E27FC236}">
                <a16:creationId xmlns:a16="http://schemas.microsoft.com/office/drawing/2014/main" id="{30E5C536-1494-DE64-CCDC-F279D03CF4F4}"/>
              </a:ext>
            </a:extLst>
          </p:cNvPr>
          <p:cNvSpPr txBox="1">
            <a:spLocks/>
          </p:cNvSpPr>
          <p:nvPr/>
        </p:nvSpPr>
        <p:spPr bwMode="auto">
          <a:xfrm>
            <a:off x="250825" y="1773238"/>
            <a:ext cx="8753475"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SQRT() – Display the square root of number</a:t>
            </a: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sp>
        <p:nvSpPr>
          <p:cNvPr id="12" name="Rounded Rectangle 11">
            <a:extLst>
              <a:ext uri="{FF2B5EF4-FFF2-40B4-BE49-F238E27FC236}">
                <a16:creationId xmlns:a16="http://schemas.microsoft.com/office/drawing/2014/main" id="{3A2A1290-E4D0-3465-CB2C-35AA3D4EB720}"/>
              </a:ext>
            </a:extLst>
          </p:cNvPr>
          <p:cNvSpPr/>
          <p:nvPr/>
        </p:nvSpPr>
        <p:spPr bwMode="auto">
          <a:xfrm>
            <a:off x="1371600" y="3968750"/>
            <a:ext cx="6705600" cy="1116013"/>
          </a:xfrm>
          <a:prstGeom prst="roundRect">
            <a:avLst/>
          </a:prstGeom>
          <a:solidFill>
            <a:schemeClr val="accent6">
              <a:alpha val="30000"/>
            </a:schemeClr>
          </a:solidFill>
          <a:ln w="9525" cap="flat" cmpd="sng" algn="ctr">
            <a:solidFill>
              <a:schemeClr val="accent6"/>
            </a:solidFill>
            <a:prstDash val="solid"/>
            <a:round/>
            <a:headEnd type="none" w="med" len="med"/>
            <a:tailEnd type="none" w="med" len="med"/>
          </a:ln>
          <a:effectLst/>
        </p:spPr>
        <p:txBody>
          <a:bodyPr anchor="ctr" anchorCtr="1"/>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2600" b="0"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SELECT ISBN, Quantity, SQRT(Quantity) FROM Book;</a:t>
            </a:r>
          </a:p>
        </p:txBody>
      </p:sp>
      <p:graphicFrame>
        <p:nvGraphicFramePr>
          <p:cNvPr id="16" name="Table 15">
            <a:extLst>
              <a:ext uri="{FF2B5EF4-FFF2-40B4-BE49-F238E27FC236}">
                <a16:creationId xmlns:a16="http://schemas.microsoft.com/office/drawing/2014/main" id="{7DD646F2-E08D-0469-6B57-8C7051C29D72}"/>
              </a:ext>
            </a:extLst>
          </p:cNvPr>
          <p:cNvGraphicFramePr>
            <a:graphicFrameLocks noGrp="1"/>
          </p:cNvGraphicFramePr>
          <p:nvPr/>
        </p:nvGraphicFramePr>
        <p:xfrm>
          <a:off x="1631950" y="5264150"/>
          <a:ext cx="5243513" cy="1106488"/>
        </p:xfrm>
        <a:graphic>
          <a:graphicData uri="http://schemas.openxmlformats.org/drawingml/2006/table">
            <a:tbl>
              <a:tblPr firstRow="1" bandRow="1">
                <a:tableStyleId>{C083E6E3-FA7D-4D7B-A595-EF9225AFEA82}</a:tableStyleId>
              </a:tblPr>
              <a:tblGrid>
                <a:gridCol w="1211858">
                  <a:extLst>
                    <a:ext uri="{9D8B030D-6E8A-4147-A177-3AD203B41FA5}">
                      <a16:colId xmlns:a16="http://schemas.microsoft.com/office/drawing/2014/main" val="20000"/>
                    </a:ext>
                  </a:extLst>
                </a:gridCol>
                <a:gridCol w="1943833">
                  <a:extLst>
                    <a:ext uri="{9D8B030D-6E8A-4147-A177-3AD203B41FA5}">
                      <a16:colId xmlns:a16="http://schemas.microsoft.com/office/drawing/2014/main" val="20001"/>
                    </a:ext>
                  </a:extLst>
                </a:gridCol>
                <a:gridCol w="2087821">
                  <a:extLst>
                    <a:ext uri="{9D8B030D-6E8A-4147-A177-3AD203B41FA5}">
                      <a16:colId xmlns:a16="http://schemas.microsoft.com/office/drawing/2014/main" val="20002"/>
                    </a:ext>
                  </a:extLst>
                </a:gridCol>
              </a:tblGrid>
              <a:tr h="365655">
                <a:tc>
                  <a:txBody>
                    <a:bodyPr/>
                    <a:lstStyle/>
                    <a:p>
                      <a:pPr algn="ctr"/>
                      <a:r>
                        <a:rPr lang="en-CA" sz="1800" dirty="0"/>
                        <a:t>ISBN</a:t>
                      </a:r>
                    </a:p>
                  </a:txBody>
                  <a:tcPr marL="91422" marR="91422" marT="45668" marB="45668"/>
                </a:tc>
                <a:tc>
                  <a:txBody>
                    <a:bodyPr/>
                    <a:lstStyle/>
                    <a:p>
                      <a:pPr algn="ctr"/>
                      <a:r>
                        <a:rPr lang="en-CA" sz="1800" dirty="0"/>
                        <a:t>Quantity</a:t>
                      </a:r>
                    </a:p>
                  </a:txBody>
                  <a:tcPr marL="91422" marR="91422" marT="45668" marB="45668"/>
                </a:tc>
                <a:tc>
                  <a:txBody>
                    <a:bodyPr/>
                    <a:lstStyle/>
                    <a:p>
                      <a:pPr algn="ctr"/>
                      <a:r>
                        <a:rPr lang="en-CA" sz="1800" dirty="0"/>
                        <a:t>SQRT(Quantity)</a:t>
                      </a:r>
                    </a:p>
                  </a:txBody>
                  <a:tcPr marL="91422" marR="91422" marT="45668" marB="45668"/>
                </a:tc>
                <a:extLst>
                  <a:ext uri="{0D108BD9-81ED-4DB2-BD59-A6C34878D82A}">
                    <a16:rowId xmlns:a16="http://schemas.microsoft.com/office/drawing/2014/main" val="10000"/>
                  </a:ext>
                </a:extLst>
              </a:tr>
              <a:tr h="370416">
                <a:tc>
                  <a:txBody>
                    <a:bodyPr/>
                    <a:lstStyle/>
                    <a:p>
                      <a:pPr algn="ctr"/>
                      <a:r>
                        <a:rPr lang="en-CA" sz="1800" dirty="0"/>
                        <a:t>12345</a:t>
                      </a:r>
                    </a:p>
                  </a:txBody>
                  <a:tcPr marL="91422" marR="91422" marT="45668" marB="45668"/>
                </a:tc>
                <a:tc>
                  <a:txBody>
                    <a:bodyPr/>
                    <a:lstStyle/>
                    <a:p>
                      <a:pPr algn="ctr"/>
                      <a:r>
                        <a:rPr lang="en-CA" sz="1800" dirty="0"/>
                        <a:t>10</a:t>
                      </a:r>
                    </a:p>
                  </a:txBody>
                  <a:tcPr marL="91422" marR="91422" marT="45668" marB="45668"/>
                </a:tc>
                <a:tc>
                  <a:txBody>
                    <a:bodyPr/>
                    <a:lstStyle/>
                    <a:p>
                      <a:pPr algn="ctr"/>
                      <a:r>
                        <a:rPr lang="en-CA" sz="1800" dirty="0"/>
                        <a:t>3.16228</a:t>
                      </a:r>
                    </a:p>
                  </a:txBody>
                  <a:tcPr marL="91422" marR="91422" marT="45668" marB="45668"/>
                </a:tc>
                <a:extLst>
                  <a:ext uri="{0D108BD9-81ED-4DB2-BD59-A6C34878D82A}">
                    <a16:rowId xmlns:a16="http://schemas.microsoft.com/office/drawing/2014/main" val="10001"/>
                  </a:ext>
                </a:extLst>
              </a:tr>
              <a:tr h="370416">
                <a:tc>
                  <a:txBody>
                    <a:bodyPr/>
                    <a:lstStyle/>
                    <a:p>
                      <a:pPr algn="ctr"/>
                      <a:r>
                        <a:rPr lang="en-CA" sz="1800" dirty="0"/>
                        <a:t>54321</a:t>
                      </a:r>
                    </a:p>
                  </a:txBody>
                  <a:tcPr marL="91422" marR="91422" marT="45668" marB="45668"/>
                </a:tc>
                <a:tc>
                  <a:txBody>
                    <a:bodyPr/>
                    <a:lstStyle/>
                    <a:p>
                      <a:pPr algn="ctr"/>
                      <a:r>
                        <a:rPr lang="en-CA" sz="1800" dirty="0"/>
                        <a:t>15</a:t>
                      </a:r>
                    </a:p>
                  </a:txBody>
                  <a:tcPr marL="91422" marR="91422" marT="45668" marB="45668"/>
                </a:tc>
                <a:tc>
                  <a:txBody>
                    <a:bodyPr/>
                    <a:lstStyle/>
                    <a:p>
                      <a:pPr algn="ctr"/>
                      <a:r>
                        <a:rPr lang="en-CA" sz="1800" dirty="0"/>
                        <a:t>3.87298</a:t>
                      </a:r>
                    </a:p>
                  </a:txBody>
                  <a:tcPr marL="91422" marR="91422" marT="45668" marB="45668"/>
                </a:tc>
                <a:extLst>
                  <a:ext uri="{0D108BD9-81ED-4DB2-BD59-A6C34878D82A}">
                    <a16:rowId xmlns:a16="http://schemas.microsoft.com/office/drawing/2014/main" val="10002"/>
                  </a:ext>
                </a:extLst>
              </a:tr>
            </a:tbl>
          </a:graphicData>
        </a:graphic>
      </p:graphicFrame>
      <p:graphicFrame>
        <p:nvGraphicFramePr>
          <p:cNvPr id="14" name="Table 13">
            <a:extLst>
              <a:ext uri="{FF2B5EF4-FFF2-40B4-BE49-F238E27FC236}">
                <a16:creationId xmlns:a16="http://schemas.microsoft.com/office/drawing/2014/main" id="{D6464382-E15E-6482-A4D1-3E227FDCB63E}"/>
              </a:ext>
            </a:extLst>
          </p:cNvPr>
          <p:cNvGraphicFramePr>
            <a:graphicFrameLocks noGrp="1"/>
          </p:cNvGraphicFramePr>
          <p:nvPr/>
        </p:nvGraphicFramePr>
        <p:xfrm>
          <a:off x="1530350" y="2411413"/>
          <a:ext cx="6096000" cy="1112837"/>
        </p:xfrm>
        <a:graphic>
          <a:graphicData uri="http://schemas.openxmlformats.org/drawingml/2006/table">
            <a:tbl>
              <a:tblPr firstRow="1" bandRow="1">
                <a:tableStyleId>{D27102A9-8310-4765-A935-A1911B00CA55}</a:tableStyleId>
              </a:tblPr>
              <a:tblGrid>
                <a:gridCol w="1463824">
                  <a:extLst>
                    <a:ext uri="{9D8B030D-6E8A-4147-A177-3AD203B41FA5}">
                      <a16:colId xmlns:a16="http://schemas.microsoft.com/office/drawing/2014/main" val="20000"/>
                    </a:ext>
                  </a:extLst>
                </a:gridCol>
                <a:gridCol w="2736304">
                  <a:extLst>
                    <a:ext uri="{9D8B030D-6E8A-4147-A177-3AD203B41FA5}">
                      <a16:colId xmlns:a16="http://schemas.microsoft.com/office/drawing/2014/main" val="20001"/>
                    </a:ext>
                  </a:extLst>
                </a:gridCol>
                <a:gridCol w="1895872">
                  <a:extLst>
                    <a:ext uri="{9D8B030D-6E8A-4147-A177-3AD203B41FA5}">
                      <a16:colId xmlns:a16="http://schemas.microsoft.com/office/drawing/2014/main" val="20002"/>
                    </a:ext>
                  </a:extLst>
                </a:gridCol>
              </a:tblGrid>
              <a:tr h="370946">
                <a:tc>
                  <a:txBody>
                    <a:bodyPr/>
                    <a:lstStyle/>
                    <a:p>
                      <a:pPr algn="ctr"/>
                      <a:r>
                        <a:rPr lang="en-CA" sz="1800" dirty="0"/>
                        <a:t>ISBN</a:t>
                      </a:r>
                    </a:p>
                  </a:txBody>
                  <a:tcPr marT="45733" marB="45733"/>
                </a:tc>
                <a:tc>
                  <a:txBody>
                    <a:bodyPr/>
                    <a:lstStyle/>
                    <a:p>
                      <a:pPr algn="ctr"/>
                      <a:r>
                        <a:rPr lang="en-CA" sz="1800" dirty="0"/>
                        <a:t>Title</a:t>
                      </a:r>
                    </a:p>
                  </a:txBody>
                  <a:tcPr marT="45733" marB="45733"/>
                </a:tc>
                <a:tc>
                  <a:txBody>
                    <a:bodyPr/>
                    <a:lstStyle/>
                    <a:p>
                      <a:pPr algn="ctr"/>
                      <a:r>
                        <a:rPr lang="en-CA" sz="1800" dirty="0"/>
                        <a:t>Quantity</a:t>
                      </a:r>
                    </a:p>
                  </a:txBody>
                  <a:tcPr marT="45733" marB="45733"/>
                </a:tc>
                <a:extLst>
                  <a:ext uri="{0D108BD9-81ED-4DB2-BD59-A6C34878D82A}">
                    <a16:rowId xmlns:a16="http://schemas.microsoft.com/office/drawing/2014/main" val="10000"/>
                  </a:ext>
                </a:extLst>
              </a:tr>
              <a:tr h="370946">
                <a:tc>
                  <a:txBody>
                    <a:bodyPr/>
                    <a:lstStyle/>
                    <a:p>
                      <a:pPr algn="ctr"/>
                      <a:r>
                        <a:rPr lang="en-CA" sz="1800" dirty="0"/>
                        <a:t>12345</a:t>
                      </a:r>
                    </a:p>
                  </a:txBody>
                  <a:tcPr marT="45733" marB="45733"/>
                </a:tc>
                <a:tc>
                  <a:txBody>
                    <a:bodyPr/>
                    <a:lstStyle/>
                    <a:p>
                      <a:pPr algn="ctr"/>
                      <a:r>
                        <a:rPr lang="en-CA" sz="1800" dirty="0"/>
                        <a:t>The Hunger</a:t>
                      </a:r>
                      <a:r>
                        <a:rPr lang="en-CA" sz="1800" baseline="0" dirty="0"/>
                        <a:t> Game</a:t>
                      </a:r>
                      <a:endParaRPr lang="en-CA" sz="1800" dirty="0"/>
                    </a:p>
                  </a:txBody>
                  <a:tcPr marT="45733" marB="45733"/>
                </a:tc>
                <a:tc>
                  <a:txBody>
                    <a:bodyPr/>
                    <a:lstStyle/>
                    <a:p>
                      <a:pPr algn="ctr"/>
                      <a:r>
                        <a:rPr lang="en-CA" sz="1800" dirty="0"/>
                        <a:t>10</a:t>
                      </a:r>
                    </a:p>
                  </a:txBody>
                  <a:tcPr marT="45733" marB="45733"/>
                </a:tc>
                <a:extLst>
                  <a:ext uri="{0D108BD9-81ED-4DB2-BD59-A6C34878D82A}">
                    <a16:rowId xmlns:a16="http://schemas.microsoft.com/office/drawing/2014/main" val="10001"/>
                  </a:ext>
                </a:extLst>
              </a:tr>
              <a:tr h="370946">
                <a:tc>
                  <a:txBody>
                    <a:bodyPr/>
                    <a:lstStyle/>
                    <a:p>
                      <a:pPr algn="ctr"/>
                      <a:r>
                        <a:rPr lang="en-CA" sz="1800" dirty="0"/>
                        <a:t>54321</a:t>
                      </a:r>
                    </a:p>
                  </a:txBody>
                  <a:tcPr marT="45733" marB="45733"/>
                </a:tc>
                <a:tc>
                  <a:txBody>
                    <a:bodyPr/>
                    <a:lstStyle/>
                    <a:p>
                      <a:pPr algn="ctr"/>
                      <a:r>
                        <a:rPr lang="en-CA" sz="1800" dirty="0"/>
                        <a:t>A Song of Ice and Fire</a:t>
                      </a:r>
                    </a:p>
                  </a:txBody>
                  <a:tcPr marT="45733" marB="45733"/>
                </a:tc>
                <a:tc>
                  <a:txBody>
                    <a:bodyPr/>
                    <a:lstStyle/>
                    <a:p>
                      <a:pPr algn="ctr"/>
                      <a:r>
                        <a:rPr lang="en-CA" sz="1800" dirty="0"/>
                        <a:t>15</a:t>
                      </a:r>
                    </a:p>
                  </a:txBody>
                  <a:tcPr marT="45733" marB="45733"/>
                </a:tc>
                <a:extLst>
                  <a:ext uri="{0D108BD9-81ED-4DB2-BD59-A6C34878D82A}">
                    <a16:rowId xmlns:a16="http://schemas.microsoft.com/office/drawing/2014/main" val="10002"/>
                  </a:ext>
                </a:extLst>
              </a:tr>
            </a:tbl>
          </a:graphicData>
        </a:graphic>
      </p:graphicFrame>
      <p:sp>
        <p:nvSpPr>
          <p:cNvPr id="17" name="TextBox 16">
            <a:extLst>
              <a:ext uri="{FF2B5EF4-FFF2-40B4-BE49-F238E27FC236}">
                <a16:creationId xmlns:a16="http://schemas.microsoft.com/office/drawing/2014/main" id="{47ACB536-2C7C-0392-8FF7-2B6EBB04829A}"/>
              </a:ext>
            </a:extLst>
          </p:cNvPr>
          <p:cNvSpPr txBox="1">
            <a:spLocks noChangeArrowheads="1"/>
          </p:cNvSpPr>
          <p:nvPr/>
        </p:nvSpPr>
        <p:spPr bwMode="auto">
          <a:xfrm>
            <a:off x="3570288" y="3540125"/>
            <a:ext cx="20161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Book table</a:t>
            </a:r>
          </a:p>
        </p:txBody>
      </p:sp>
      <p:sp>
        <p:nvSpPr>
          <p:cNvPr id="18" name="Snip Single Corner Rectangle 17">
            <a:extLst>
              <a:ext uri="{FF2B5EF4-FFF2-40B4-BE49-F238E27FC236}">
                <a16:creationId xmlns:a16="http://schemas.microsoft.com/office/drawing/2014/main" id="{648A98C9-6DED-D5A4-8636-AA68F9D7A2B2}"/>
              </a:ext>
            </a:extLst>
          </p:cNvPr>
          <p:cNvSpPr/>
          <p:nvPr/>
        </p:nvSpPr>
        <p:spPr bwMode="auto">
          <a:xfrm>
            <a:off x="227013" y="5300663"/>
            <a:ext cx="1092200" cy="431800"/>
          </a:xfrm>
          <a:prstGeom prst="snip1Rect">
            <a:avLst/>
          </a:prstGeom>
          <a:solidFill>
            <a:srgbClr val="FFFF00">
              <a:alpha val="30000"/>
            </a:srgbClr>
          </a:solidFill>
          <a:ln w="9525" cap="flat" cmpd="sng" algn="ctr">
            <a:solidFill>
              <a:srgbClr val="FFC000"/>
            </a:solidFill>
            <a:prstDash val="solid"/>
            <a:round/>
            <a:headEnd type="none" w="med" len="med"/>
            <a:tailEnd type="none" w="med" len="me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sz="2000" b="1"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Result:</a:t>
            </a:r>
          </a:p>
        </p:txBody>
      </p:sp>
      <p:sp>
        <p:nvSpPr>
          <p:cNvPr id="19" name="Snip Single Corner Rectangle 18">
            <a:extLst>
              <a:ext uri="{FF2B5EF4-FFF2-40B4-BE49-F238E27FC236}">
                <a16:creationId xmlns:a16="http://schemas.microsoft.com/office/drawing/2014/main" id="{67551252-19EA-AEEF-C8F7-E81E622D1BE2}"/>
              </a:ext>
            </a:extLst>
          </p:cNvPr>
          <p:cNvSpPr/>
          <p:nvPr/>
        </p:nvSpPr>
        <p:spPr bwMode="auto">
          <a:xfrm>
            <a:off x="250825" y="3978275"/>
            <a:ext cx="830263" cy="431800"/>
          </a:xfrm>
          <a:prstGeom prst="snip1Rect">
            <a:avLst/>
          </a:prstGeom>
          <a:solidFill>
            <a:srgbClr val="FFFF00">
              <a:alpha val="30000"/>
            </a:srgbClr>
          </a:solidFill>
          <a:ln w="9525" cap="flat" cmpd="sng" algn="ctr">
            <a:solidFill>
              <a:srgbClr val="FFC000"/>
            </a:solidFill>
            <a:prstDash val="solid"/>
            <a:round/>
            <a:headEnd type="none" w="med" len="med"/>
            <a:tailEnd type="none" w="med" len="med"/>
          </a:ln>
          <a:effec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2000" b="1"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Run:</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left)">
                                      <p:cBhvr>
                                        <p:cTn id="11" dur="500"/>
                                        <p:tgtEl>
                                          <p:spTgt spid="10"/>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6" presetClass="entr" presetSubtype="21" fill="hold" nodeType="click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barn(inVertical)">
                                      <p:cBhvr>
                                        <p:cTn id="16" dur="500"/>
                                        <p:tgtEl>
                                          <p:spTgt spid="14"/>
                                        </p:tgtEl>
                                      </p:cBhvr>
                                    </p:animEffect>
                                  </p:childTnLst>
                                </p:cTn>
                              </p:par>
                            </p:childTnLst>
                          </p:cTn>
                        </p:par>
                        <p:par>
                          <p:cTn id="17" fill="hold" nodeType="afterGroup">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wipe(left)">
                                      <p:cBhvr>
                                        <p:cTn id="20" dur="500"/>
                                        <p:tgtEl>
                                          <p:spTgt spid="17"/>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1" fill="hold" grpId="0" nodeType="click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wipe(up)">
                                      <p:cBhvr>
                                        <p:cTn id="25" dur="500"/>
                                        <p:tgtEl>
                                          <p:spTgt spid="19"/>
                                        </p:tgtEl>
                                      </p:cBhvr>
                                    </p:animEffect>
                                  </p:childTnLst>
                                </p:cTn>
                              </p:par>
                            </p:childTnLst>
                          </p:cTn>
                        </p:par>
                        <p:par>
                          <p:cTn id="26" fill="hold" nodeType="afterGroup">
                            <p:stCondLst>
                              <p:cond delay="500"/>
                            </p:stCondLst>
                            <p:childTnLst>
                              <p:par>
                                <p:cTn id="27" presetID="22" presetClass="entr" presetSubtype="8" fill="hold" nodeType="afterEffect">
                                  <p:stCondLst>
                                    <p:cond delay="0"/>
                                  </p:stCondLst>
                                  <p:childTnLst>
                                    <p:set>
                                      <p:cBhvr>
                                        <p:cTn id="28" dur="1" fill="hold">
                                          <p:stCondLst>
                                            <p:cond delay="0"/>
                                          </p:stCondLst>
                                        </p:cTn>
                                        <p:tgtEl>
                                          <p:spTgt spid="19">
                                            <p:txEl>
                                              <p:pRg st="0" end="0"/>
                                            </p:txEl>
                                          </p:spTgt>
                                        </p:tgtEl>
                                        <p:attrNameLst>
                                          <p:attrName>style.visibility</p:attrName>
                                        </p:attrNameLst>
                                      </p:cBhvr>
                                      <p:to>
                                        <p:strVal val="visible"/>
                                      </p:to>
                                    </p:set>
                                    <p:animEffect transition="in" filter="wipe(left)">
                                      <p:cBhvr>
                                        <p:cTn id="29" dur="500"/>
                                        <p:tgtEl>
                                          <p:spTgt spid="19">
                                            <p:txEl>
                                              <p:pRg st="0" end="0"/>
                                            </p:txEl>
                                          </p:spTgt>
                                        </p:tgtEl>
                                      </p:cBhvr>
                                    </p:animEffect>
                                  </p:childTnLst>
                                </p:cTn>
                              </p:par>
                            </p:childTnLst>
                          </p:cTn>
                        </p:par>
                        <p:par>
                          <p:cTn id="30" fill="hold" nodeType="afterGroup">
                            <p:stCondLst>
                              <p:cond delay="1000"/>
                            </p:stCondLst>
                            <p:childTnLst>
                              <p:par>
                                <p:cTn id="31" presetID="16" presetClass="entr" presetSubtype="21" fill="hold" grpId="0" nodeType="after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barn(inVertical)">
                                      <p:cBhvr>
                                        <p:cTn id="33" dur="500"/>
                                        <p:tgtEl>
                                          <p:spTgt spid="12"/>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1" fill="hold" grpId="0" nodeType="click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wipe(up)">
                                      <p:cBhvr>
                                        <p:cTn id="38" dur="500"/>
                                        <p:tgtEl>
                                          <p:spTgt spid="18"/>
                                        </p:tgtEl>
                                      </p:cBhvr>
                                    </p:animEffect>
                                  </p:childTnLst>
                                </p:cTn>
                              </p:par>
                            </p:childTnLst>
                          </p:cTn>
                        </p:par>
                        <p:par>
                          <p:cTn id="39" fill="hold" nodeType="afterGroup">
                            <p:stCondLst>
                              <p:cond delay="500"/>
                            </p:stCondLst>
                            <p:childTnLst>
                              <p:par>
                                <p:cTn id="40" presetID="22" presetClass="entr" presetSubtype="8" fill="hold" nodeType="afterEffect">
                                  <p:stCondLst>
                                    <p:cond delay="0"/>
                                  </p:stCondLst>
                                  <p:childTnLst>
                                    <p:set>
                                      <p:cBhvr>
                                        <p:cTn id="41" dur="1" fill="hold">
                                          <p:stCondLst>
                                            <p:cond delay="0"/>
                                          </p:stCondLst>
                                        </p:cTn>
                                        <p:tgtEl>
                                          <p:spTgt spid="18">
                                            <p:txEl>
                                              <p:pRg st="0" end="0"/>
                                            </p:txEl>
                                          </p:spTgt>
                                        </p:tgtEl>
                                        <p:attrNameLst>
                                          <p:attrName>style.visibility</p:attrName>
                                        </p:attrNameLst>
                                      </p:cBhvr>
                                      <p:to>
                                        <p:strVal val="visible"/>
                                      </p:to>
                                    </p:set>
                                    <p:animEffect transition="in" filter="wipe(left)">
                                      <p:cBhvr>
                                        <p:cTn id="42" dur="500"/>
                                        <p:tgtEl>
                                          <p:spTgt spid="18">
                                            <p:txEl>
                                              <p:pRg st="0" end="0"/>
                                            </p:txEl>
                                          </p:spTgt>
                                        </p:tgtEl>
                                      </p:cBhvr>
                                    </p:animEffect>
                                  </p:childTnLst>
                                </p:cTn>
                              </p:par>
                            </p:childTnLst>
                          </p:cTn>
                        </p:par>
                        <p:par>
                          <p:cTn id="43" fill="hold" nodeType="afterGroup">
                            <p:stCondLst>
                              <p:cond delay="1000"/>
                            </p:stCondLst>
                            <p:childTnLst>
                              <p:par>
                                <p:cTn id="44" presetID="22" presetClass="entr" presetSubtype="8" fill="hold" nodeType="after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wipe(left)">
                                      <p:cBhvr>
                                        <p:cTn id="46"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p:bldP spid="12" grpId="0" animBg="1"/>
      <p:bldP spid="17" grpId="0"/>
      <p:bldP spid="18" grpId="0" animBg="1"/>
      <p:bldP spid="19" grpId="0" animBg="1"/>
    </p:bldLst>
  </p:timing>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023F6-49EF-071E-EDE3-355A240B4D9B}"/>
              </a:ext>
            </a:extLst>
          </p:cNvPr>
          <p:cNvSpPr>
            <a:spLocks noGrp="1"/>
          </p:cNvSpPr>
          <p:nvPr>
            <p:ph type="title"/>
          </p:nvPr>
        </p:nvSpPr>
        <p:spPr>
          <a:xfrm>
            <a:off x="457200" y="0"/>
            <a:ext cx="7620000" cy="1143000"/>
          </a:xfrm>
        </p:spPr>
        <p:txBody>
          <a:bodyPr/>
          <a:lstStyle/>
          <a:p>
            <a:pPr algn="ctr">
              <a:defRPr/>
            </a:pPr>
            <a:r>
              <a:rPr lang="en-US" dirty="0"/>
              <a:t>Math Functions</a:t>
            </a:r>
            <a:endParaRPr lang="en-MY" dirty="0"/>
          </a:p>
        </p:txBody>
      </p:sp>
      <p:sp>
        <p:nvSpPr>
          <p:cNvPr id="9" name="Snip Single Corner Rectangle 8">
            <a:extLst>
              <a:ext uri="{FF2B5EF4-FFF2-40B4-BE49-F238E27FC236}">
                <a16:creationId xmlns:a16="http://schemas.microsoft.com/office/drawing/2014/main" id="{E51D62A6-74FA-A24D-3AA4-372740A7F09F}"/>
              </a:ext>
            </a:extLst>
          </p:cNvPr>
          <p:cNvSpPr/>
          <p:nvPr/>
        </p:nvSpPr>
        <p:spPr>
          <a:xfrm>
            <a:off x="-36513" y="1125538"/>
            <a:ext cx="1223963" cy="400050"/>
          </a:xfrm>
          <a:prstGeom prst="snip1Rect">
            <a:avLst/>
          </a:prstGeom>
          <a:solidFill>
            <a:srgbClr val="00B050"/>
          </a:solidFill>
          <a:ln>
            <a:solidFill>
              <a:srgbClr val="00B050"/>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marR="0" lvl="0" indent="-342900" algn="just" defTabSz="914400" rtl="0" eaLnBrk="1" fontAlgn="base" latinLnBrk="0" hangingPunct="1">
              <a:lnSpc>
                <a:spcPct val="100000"/>
              </a:lnSpc>
              <a:spcBef>
                <a:spcPct val="20000"/>
              </a:spcBef>
              <a:spcAft>
                <a:spcPct val="0"/>
              </a:spcAft>
              <a:buClr>
                <a:srgbClr val="FF6600"/>
              </a:buClr>
              <a:buSzPct val="100000"/>
              <a:buFontTx/>
              <a:buNone/>
              <a:tabLst/>
              <a:defRPr/>
            </a:pPr>
            <a:r>
              <a:rPr kumimoji="0" lang="en-GB" sz="1800" b="0" i="0" u="none" strike="noStrike" kern="0" cap="none" spc="0" normalizeH="0" baseline="0" noProof="0" dirty="0">
                <a:ln>
                  <a:noFill/>
                </a:ln>
                <a:solidFill>
                  <a:srgbClr val="FFFFFF"/>
                </a:solidFill>
                <a:effectLst/>
                <a:uLnTx/>
                <a:uFillTx/>
                <a:latin typeface="Calibri"/>
                <a:ea typeface="+mn-ea"/>
                <a:cs typeface="+mn-cs"/>
              </a:rPr>
              <a:t>ROUND()</a:t>
            </a:r>
          </a:p>
        </p:txBody>
      </p:sp>
      <p:sp>
        <p:nvSpPr>
          <p:cNvPr id="10" name="Content Placeholder 2">
            <a:extLst>
              <a:ext uri="{FF2B5EF4-FFF2-40B4-BE49-F238E27FC236}">
                <a16:creationId xmlns:a16="http://schemas.microsoft.com/office/drawing/2014/main" id="{E7EDB437-B7EE-388D-6432-2E3311898735}"/>
              </a:ext>
            </a:extLst>
          </p:cNvPr>
          <p:cNvSpPr txBox="1">
            <a:spLocks/>
          </p:cNvSpPr>
          <p:nvPr/>
        </p:nvSpPr>
        <p:spPr bwMode="auto">
          <a:xfrm>
            <a:off x="250825" y="1773238"/>
            <a:ext cx="8753475"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ROUND() – Display rounded number</a:t>
            </a: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sp>
        <p:nvSpPr>
          <p:cNvPr id="12" name="Rounded Rectangle 11">
            <a:extLst>
              <a:ext uri="{FF2B5EF4-FFF2-40B4-BE49-F238E27FC236}">
                <a16:creationId xmlns:a16="http://schemas.microsoft.com/office/drawing/2014/main" id="{6DD994AD-FA7A-9F55-A6D9-A35CDC9C5675}"/>
              </a:ext>
            </a:extLst>
          </p:cNvPr>
          <p:cNvSpPr/>
          <p:nvPr/>
        </p:nvSpPr>
        <p:spPr bwMode="auto">
          <a:xfrm>
            <a:off x="1452563" y="3968750"/>
            <a:ext cx="6624637" cy="1116013"/>
          </a:xfrm>
          <a:prstGeom prst="roundRect">
            <a:avLst/>
          </a:prstGeom>
          <a:solidFill>
            <a:schemeClr val="accent6">
              <a:alpha val="30000"/>
            </a:schemeClr>
          </a:solidFill>
          <a:ln w="9525" cap="flat" cmpd="sng" algn="ctr">
            <a:solidFill>
              <a:schemeClr val="accent6"/>
            </a:solidFill>
            <a:prstDash val="solid"/>
            <a:round/>
            <a:headEnd type="none" w="med" len="med"/>
            <a:tailEnd type="none" w="med" len="med"/>
          </a:ln>
          <a:effectLst/>
        </p:spPr>
        <p:txBody>
          <a:bodyPr anchor="ctr" anchorCtr="1"/>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2800" b="0"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SELECT ISBN, Price, ROUND(Price) FROM Book;</a:t>
            </a:r>
          </a:p>
        </p:txBody>
      </p:sp>
      <p:graphicFrame>
        <p:nvGraphicFramePr>
          <p:cNvPr id="16" name="Table 15">
            <a:extLst>
              <a:ext uri="{FF2B5EF4-FFF2-40B4-BE49-F238E27FC236}">
                <a16:creationId xmlns:a16="http://schemas.microsoft.com/office/drawing/2014/main" id="{A7855FBE-ED77-D189-9103-64DDD33BA4FE}"/>
              </a:ext>
            </a:extLst>
          </p:cNvPr>
          <p:cNvGraphicFramePr>
            <a:graphicFrameLocks noGrp="1"/>
          </p:cNvGraphicFramePr>
          <p:nvPr/>
        </p:nvGraphicFramePr>
        <p:xfrm>
          <a:off x="1631950" y="5264150"/>
          <a:ext cx="5243513" cy="1106488"/>
        </p:xfrm>
        <a:graphic>
          <a:graphicData uri="http://schemas.openxmlformats.org/drawingml/2006/table">
            <a:tbl>
              <a:tblPr firstRow="1" bandRow="1">
                <a:tableStyleId>{C083E6E3-FA7D-4D7B-A595-EF9225AFEA82}</a:tableStyleId>
              </a:tblPr>
              <a:tblGrid>
                <a:gridCol w="1211858">
                  <a:extLst>
                    <a:ext uri="{9D8B030D-6E8A-4147-A177-3AD203B41FA5}">
                      <a16:colId xmlns:a16="http://schemas.microsoft.com/office/drawing/2014/main" val="20000"/>
                    </a:ext>
                  </a:extLst>
                </a:gridCol>
                <a:gridCol w="1943833">
                  <a:extLst>
                    <a:ext uri="{9D8B030D-6E8A-4147-A177-3AD203B41FA5}">
                      <a16:colId xmlns:a16="http://schemas.microsoft.com/office/drawing/2014/main" val="20001"/>
                    </a:ext>
                  </a:extLst>
                </a:gridCol>
                <a:gridCol w="2087821">
                  <a:extLst>
                    <a:ext uri="{9D8B030D-6E8A-4147-A177-3AD203B41FA5}">
                      <a16:colId xmlns:a16="http://schemas.microsoft.com/office/drawing/2014/main" val="20002"/>
                    </a:ext>
                  </a:extLst>
                </a:gridCol>
              </a:tblGrid>
              <a:tr h="365655">
                <a:tc>
                  <a:txBody>
                    <a:bodyPr/>
                    <a:lstStyle/>
                    <a:p>
                      <a:pPr algn="ctr"/>
                      <a:r>
                        <a:rPr lang="en-CA" sz="1800" dirty="0"/>
                        <a:t>ISBN</a:t>
                      </a:r>
                    </a:p>
                  </a:txBody>
                  <a:tcPr marL="91422" marR="91422" marT="45668" marB="45668"/>
                </a:tc>
                <a:tc>
                  <a:txBody>
                    <a:bodyPr/>
                    <a:lstStyle/>
                    <a:p>
                      <a:pPr algn="ctr"/>
                      <a:r>
                        <a:rPr lang="en-CA" sz="1800" dirty="0"/>
                        <a:t>Price</a:t>
                      </a:r>
                    </a:p>
                  </a:txBody>
                  <a:tcPr marL="91422" marR="91422" marT="45668" marB="45668"/>
                </a:tc>
                <a:tc>
                  <a:txBody>
                    <a:bodyPr/>
                    <a:lstStyle/>
                    <a:p>
                      <a:pPr algn="ctr"/>
                      <a:r>
                        <a:rPr lang="en-CA" sz="1800" dirty="0"/>
                        <a:t>ROUND(Price)</a:t>
                      </a:r>
                    </a:p>
                  </a:txBody>
                  <a:tcPr marL="91422" marR="91422" marT="45668" marB="45668"/>
                </a:tc>
                <a:extLst>
                  <a:ext uri="{0D108BD9-81ED-4DB2-BD59-A6C34878D82A}">
                    <a16:rowId xmlns:a16="http://schemas.microsoft.com/office/drawing/2014/main" val="10000"/>
                  </a:ext>
                </a:extLst>
              </a:tr>
              <a:tr h="370416">
                <a:tc>
                  <a:txBody>
                    <a:bodyPr/>
                    <a:lstStyle/>
                    <a:p>
                      <a:pPr algn="ctr"/>
                      <a:r>
                        <a:rPr lang="en-CA" sz="1800" dirty="0"/>
                        <a:t>12345</a:t>
                      </a:r>
                    </a:p>
                  </a:txBody>
                  <a:tcPr marL="91422" marR="91422" marT="45668" marB="45668"/>
                </a:tc>
                <a:tc>
                  <a:txBody>
                    <a:bodyPr/>
                    <a:lstStyle/>
                    <a:p>
                      <a:pPr algn="ctr"/>
                      <a:r>
                        <a:rPr lang="en-CA" sz="1800" dirty="0"/>
                        <a:t>20.50</a:t>
                      </a:r>
                    </a:p>
                  </a:txBody>
                  <a:tcPr marL="91422" marR="91422" marT="45668" marB="45668"/>
                </a:tc>
                <a:tc>
                  <a:txBody>
                    <a:bodyPr/>
                    <a:lstStyle/>
                    <a:p>
                      <a:pPr algn="ctr"/>
                      <a:r>
                        <a:rPr lang="en-CA" sz="1800" dirty="0"/>
                        <a:t>21</a:t>
                      </a:r>
                    </a:p>
                  </a:txBody>
                  <a:tcPr marL="91422" marR="91422" marT="45668" marB="45668"/>
                </a:tc>
                <a:extLst>
                  <a:ext uri="{0D108BD9-81ED-4DB2-BD59-A6C34878D82A}">
                    <a16:rowId xmlns:a16="http://schemas.microsoft.com/office/drawing/2014/main" val="10001"/>
                  </a:ext>
                </a:extLst>
              </a:tr>
              <a:tr h="370416">
                <a:tc>
                  <a:txBody>
                    <a:bodyPr/>
                    <a:lstStyle/>
                    <a:p>
                      <a:pPr algn="ctr"/>
                      <a:r>
                        <a:rPr lang="en-CA" sz="1800" dirty="0"/>
                        <a:t>54321</a:t>
                      </a:r>
                    </a:p>
                  </a:txBody>
                  <a:tcPr marL="91422" marR="91422" marT="45668" marB="45668"/>
                </a:tc>
                <a:tc>
                  <a:txBody>
                    <a:bodyPr/>
                    <a:lstStyle/>
                    <a:p>
                      <a:pPr algn="ctr"/>
                      <a:r>
                        <a:rPr lang="en-CA" sz="1800" dirty="0"/>
                        <a:t>30.40</a:t>
                      </a:r>
                    </a:p>
                  </a:txBody>
                  <a:tcPr marL="91422" marR="91422" marT="45668" marB="45668"/>
                </a:tc>
                <a:tc>
                  <a:txBody>
                    <a:bodyPr/>
                    <a:lstStyle/>
                    <a:p>
                      <a:pPr algn="ctr"/>
                      <a:r>
                        <a:rPr lang="en-CA" sz="1800" dirty="0"/>
                        <a:t>30</a:t>
                      </a:r>
                    </a:p>
                  </a:txBody>
                  <a:tcPr marL="91422" marR="91422" marT="45668" marB="45668"/>
                </a:tc>
                <a:extLst>
                  <a:ext uri="{0D108BD9-81ED-4DB2-BD59-A6C34878D82A}">
                    <a16:rowId xmlns:a16="http://schemas.microsoft.com/office/drawing/2014/main" val="10002"/>
                  </a:ext>
                </a:extLst>
              </a:tr>
            </a:tbl>
          </a:graphicData>
        </a:graphic>
      </p:graphicFrame>
      <p:graphicFrame>
        <p:nvGraphicFramePr>
          <p:cNvPr id="14" name="Table 13">
            <a:extLst>
              <a:ext uri="{FF2B5EF4-FFF2-40B4-BE49-F238E27FC236}">
                <a16:creationId xmlns:a16="http://schemas.microsoft.com/office/drawing/2014/main" id="{D12FD1C0-506C-3E54-8BE6-A26DABE053F8}"/>
              </a:ext>
            </a:extLst>
          </p:cNvPr>
          <p:cNvGraphicFramePr>
            <a:graphicFrameLocks noGrp="1"/>
          </p:cNvGraphicFramePr>
          <p:nvPr/>
        </p:nvGraphicFramePr>
        <p:xfrm>
          <a:off x="1530350" y="2411413"/>
          <a:ext cx="6096000" cy="1112837"/>
        </p:xfrm>
        <a:graphic>
          <a:graphicData uri="http://schemas.openxmlformats.org/drawingml/2006/table">
            <a:tbl>
              <a:tblPr firstRow="1" bandRow="1">
                <a:tableStyleId>{D27102A9-8310-4765-A935-A1911B00CA55}</a:tableStyleId>
              </a:tblPr>
              <a:tblGrid>
                <a:gridCol w="1463824">
                  <a:extLst>
                    <a:ext uri="{9D8B030D-6E8A-4147-A177-3AD203B41FA5}">
                      <a16:colId xmlns:a16="http://schemas.microsoft.com/office/drawing/2014/main" val="20000"/>
                    </a:ext>
                  </a:extLst>
                </a:gridCol>
                <a:gridCol w="2736304">
                  <a:extLst>
                    <a:ext uri="{9D8B030D-6E8A-4147-A177-3AD203B41FA5}">
                      <a16:colId xmlns:a16="http://schemas.microsoft.com/office/drawing/2014/main" val="20001"/>
                    </a:ext>
                  </a:extLst>
                </a:gridCol>
                <a:gridCol w="1895872">
                  <a:extLst>
                    <a:ext uri="{9D8B030D-6E8A-4147-A177-3AD203B41FA5}">
                      <a16:colId xmlns:a16="http://schemas.microsoft.com/office/drawing/2014/main" val="20002"/>
                    </a:ext>
                  </a:extLst>
                </a:gridCol>
              </a:tblGrid>
              <a:tr h="370946">
                <a:tc>
                  <a:txBody>
                    <a:bodyPr/>
                    <a:lstStyle/>
                    <a:p>
                      <a:pPr algn="ctr"/>
                      <a:r>
                        <a:rPr lang="en-CA" sz="1800" dirty="0"/>
                        <a:t>ISBN</a:t>
                      </a:r>
                    </a:p>
                  </a:txBody>
                  <a:tcPr marT="45733" marB="45733"/>
                </a:tc>
                <a:tc>
                  <a:txBody>
                    <a:bodyPr/>
                    <a:lstStyle/>
                    <a:p>
                      <a:pPr algn="ctr"/>
                      <a:r>
                        <a:rPr lang="en-CA" sz="1800" dirty="0"/>
                        <a:t>Title</a:t>
                      </a:r>
                    </a:p>
                  </a:txBody>
                  <a:tcPr marT="45733" marB="45733"/>
                </a:tc>
                <a:tc>
                  <a:txBody>
                    <a:bodyPr/>
                    <a:lstStyle/>
                    <a:p>
                      <a:pPr algn="ctr"/>
                      <a:r>
                        <a:rPr lang="en-CA" sz="1800" dirty="0"/>
                        <a:t>Price</a:t>
                      </a:r>
                    </a:p>
                  </a:txBody>
                  <a:tcPr marT="45733" marB="45733"/>
                </a:tc>
                <a:extLst>
                  <a:ext uri="{0D108BD9-81ED-4DB2-BD59-A6C34878D82A}">
                    <a16:rowId xmlns:a16="http://schemas.microsoft.com/office/drawing/2014/main" val="10000"/>
                  </a:ext>
                </a:extLst>
              </a:tr>
              <a:tr h="370946">
                <a:tc>
                  <a:txBody>
                    <a:bodyPr/>
                    <a:lstStyle/>
                    <a:p>
                      <a:pPr algn="ctr"/>
                      <a:r>
                        <a:rPr lang="en-CA" sz="1800" dirty="0"/>
                        <a:t>12345</a:t>
                      </a:r>
                    </a:p>
                  </a:txBody>
                  <a:tcPr marT="45733" marB="45733"/>
                </a:tc>
                <a:tc>
                  <a:txBody>
                    <a:bodyPr/>
                    <a:lstStyle/>
                    <a:p>
                      <a:pPr algn="ctr"/>
                      <a:r>
                        <a:rPr lang="en-CA" sz="1800" dirty="0"/>
                        <a:t>The Hunger</a:t>
                      </a:r>
                      <a:r>
                        <a:rPr lang="en-CA" sz="1800" baseline="0" dirty="0"/>
                        <a:t> Game</a:t>
                      </a:r>
                      <a:endParaRPr lang="en-CA" sz="1800" dirty="0"/>
                    </a:p>
                  </a:txBody>
                  <a:tcPr marT="45733" marB="45733"/>
                </a:tc>
                <a:tc>
                  <a:txBody>
                    <a:bodyPr/>
                    <a:lstStyle/>
                    <a:p>
                      <a:pPr algn="ctr"/>
                      <a:r>
                        <a:rPr lang="en-CA" sz="1800" dirty="0"/>
                        <a:t>20.50</a:t>
                      </a:r>
                    </a:p>
                  </a:txBody>
                  <a:tcPr marT="45733" marB="45733"/>
                </a:tc>
                <a:extLst>
                  <a:ext uri="{0D108BD9-81ED-4DB2-BD59-A6C34878D82A}">
                    <a16:rowId xmlns:a16="http://schemas.microsoft.com/office/drawing/2014/main" val="10001"/>
                  </a:ext>
                </a:extLst>
              </a:tr>
              <a:tr h="370946">
                <a:tc>
                  <a:txBody>
                    <a:bodyPr/>
                    <a:lstStyle/>
                    <a:p>
                      <a:pPr algn="ctr"/>
                      <a:r>
                        <a:rPr lang="en-CA" sz="1800" dirty="0"/>
                        <a:t>54321</a:t>
                      </a:r>
                    </a:p>
                  </a:txBody>
                  <a:tcPr marT="45733" marB="45733"/>
                </a:tc>
                <a:tc>
                  <a:txBody>
                    <a:bodyPr/>
                    <a:lstStyle/>
                    <a:p>
                      <a:pPr algn="ctr"/>
                      <a:r>
                        <a:rPr lang="en-CA" sz="1800" dirty="0"/>
                        <a:t>A Song of Ice and Fire</a:t>
                      </a:r>
                    </a:p>
                  </a:txBody>
                  <a:tcPr marT="45733" marB="45733"/>
                </a:tc>
                <a:tc>
                  <a:txBody>
                    <a:bodyPr/>
                    <a:lstStyle/>
                    <a:p>
                      <a:pPr algn="ctr"/>
                      <a:r>
                        <a:rPr lang="en-CA" sz="1800" dirty="0"/>
                        <a:t>30.40</a:t>
                      </a:r>
                    </a:p>
                  </a:txBody>
                  <a:tcPr marT="45733" marB="45733"/>
                </a:tc>
                <a:extLst>
                  <a:ext uri="{0D108BD9-81ED-4DB2-BD59-A6C34878D82A}">
                    <a16:rowId xmlns:a16="http://schemas.microsoft.com/office/drawing/2014/main" val="10002"/>
                  </a:ext>
                </a:extLst>
              </a:tr>
            </a:tbl>
          </a:graphicData>
        </a:graphic>
      </p:graphicFrame>
      <p:sp>
        <p:nvSpPr>
          <p:cNvPr id="17" name="TextBox 16">
            <a:extLst>
              <a:ext uri="{FF2B5EF4-FFF2-40B4-BE49-F238E27FC236}">
                <a16:creationId xmlns:a16="http://schemas.microsoft.com/office/drawing/2014/main" id="{8CA02055-CCF6-96E1-BD3A-58986D0EE8B0}"/>
              </a:ext>
            </a:extLst>
          </p:cNvPr>
          <p:cNvSpPr txBox="1">
            <a:spLocks noChangeArrowheads="1"/>
          </p:cNvSpPr>
          <p:nvPr/>
        </p:nvSpPr>
        <p:spPr bwMode="auto">
          <a:xfrm>
            <a:off x="3570288" y="3540125"/>
            <a:ext cx="20161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Book table</a:t>
            </a:r>
          </a:p>
        </p:txBody>
      </p:sp>
      <p:sp>
        <p:nvSpPr>
          <p:cNvPr id="18" name="Snip Single Corner Rectangle 17">
            <a:extLst>
              <a:ext uri="{FF2B5EF4-FFF2-40B4-BE49-F238E27FC236}">
                <a16:creationId xmlns:a16="http://schemas.microsoft.com/office/drawing/2014/main" id="{BA99C489-F6B5-54B8-9EDC-0C722CA768B8}"/>
              </a:ext>
            </a:extLst>
          </p:cNvPr>
          <p:cNvSpPr/>
          <p:nvPr/>
        </p:nvSpPr>
        <p:spPr bwMode="auto">
          <a:xfrm>
            <a:off x="227013" y="5300663"/>
            <a:ext cx="1092200" cy="431800"/>
          </a:xfrm>
          <a:prstGeom prst="snip1Rect">
            <a:avLst/>
          </a:prstGeom>
          <a:solidFill>
            <a:srgbClr val="FFFF00">
              <a:alpha val="30000"/>
            </a:srgbClr>
          </a:solidFill>
          <a:ln w="9525" cap="flat" cmpd="sng" algn="ctr">
            <a:solidFill>
              <a:srgbClr val="FFC000"/>
            </a:solidFill>
            <a:prstDash val="solid"/>
            <a:round/>
            <a:headEnd type="none" w="med" len="med"/>
            <a:tailEnd type="none" w="med" len="me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sz="2000" b="1"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Result:</a:t>
            </a:r>
          </a:p>
        </p:txBody>
      </p:sp>
      <p:sp>
        <p:nvSpPr>
          <p:cNvPr id="19" name="Snip Single Corner Rectangle 18">
            <a:extLst>
              <a:ext uri="{FF2B5EF4-FFF2-40B4-BE49-F238E27FC236}">
                <a16:creationId xmlns:a16="http://schemas.microsoft.com/office/drawing/2014/main" id="{0E5DB476-28FC-977F-C084-66D912090ACD}"/>
              </a:ext>
            </a:extLst>
          </p:cNvPr>
          <p:cNvSpPr/>
          <p:nvPr/>
        </p:nvSpPr>
        <p:spPr bwMode="auto">
          <a:xfrm>
            <a:off x="250825" y="3978275"/>
            <a:ext cx="830263" cy="431800"/>
          </a:xfrm>
          <a:prstGeom prst="snip1Rect">
            <a:avLst/>
          </a:prstGeom>
          <a:solidFill>
            <a:srgbClr val="FFFF00">
              <a:alpha val="30000"/>
            </a:srgbClr>
          </a:solidFill>
          <a:ln w="9525" cap="flat" cmpd="sng" algn="ctr">
            <a:solidFill>
              <a:srgbClr val="FFC000"/>
            </a:solidFill>
            <a:prstDash val="solid"/>
            <a:round/>
            <a:headEnd type="none" w="med" len="med"/>
            <a:tailEnd type="none" w="med" len="med"/>
          </a:ln>
          <a:effec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2000" b="1"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Run:</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left)">
                                      <p:cBhvr>
                                        <p:cTn id="11" dur="500"/>
                                        <p:tgtEl>
                                          <p:spTgt spid="10"/>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6" presetClass="entr" presetSubtype="21" fill="hold" nodeType="click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barn(inVertical)">
                                      <p:cBhvr>
                                        <p:cTn id="16" dur="500"/>
                                        <p:tgtEl>
                                          <p:spTgt spid="14"/>
                                        </p:tgtEl>
                                      </p:cBhvr>
                                    </p:animEffect>
                                  </p:childTnLst>
                                </p:cTn>
                              </p:par>
                            </p:childTnLst>
                          </p:cTn>
                        </p:par>
                        <p:par>
                          <p:cTn id="17" fill="hold" nodeType="afterGroup">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wipe(left)">
                                      <p:cBhvr>
                                        <p:cTn id="20" dur="500"/>
                                        <p:tgtEl>
                                          <p:spTgt spid="17"/>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1" fill="hold" grpId="0" nodeType="click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wipe(up)">
                                      <p:cBhvr>
                                        <p:cTn id="25" dur="500"/>
                                        <p:tgtEl>
                                          <p:spTgt spid="19"/>
                                        </p:tgtEl>
                                      </p:cBhvr>
                                    </p:animEffect>
                                  </p:childTnLst>
                                </p:cTn>
                              </p:par>
                            </p:childTnLst>
                          </p:cTn>
                        </p:par>
                        <p:par>
                          <p:cTn id="26" fill="hold" nodeType="afterGroup">
                            <p:stCondLst>
                              <p:cond delay="500"/>
                            </p:stCondLst>
                            <p:childTnLst>
                              <p:par>
                                <p:cTn id="27" presetID="22" presetClass="entr" presetSubtype="8" fill="hold" nodeType="afterEffect">
                                  <p:stCondLst>
                                    <p:cond delay="0"/>
                                  </p:stCondLst>
                                  <p:childTnLst>
                                    <p:set>
                                      <p:cBhvr>
                                        <p:cTn id="28" dur="1" fill="hold">
                                          <p:stCondLst>
                                            <p:cond delay="0"/>
                                          </p:stCondLst>
                                        </p:cTn>
                                        <p:tgtEl>
                                          <p:spTgt spid="19">
                                            <p:txEl>
                                              <p:pRg st="0" end="0"/>
                                            </p:txEl>
                                          </p:spTgt>
                                        </p:tgtEl>
                                        <p:attrNameLst>
                                          <p:attrName>style.visibility</p:attrName>
                                        </p:attrNameLst>
                                      </p:cBhvr>
                                      <p:to>
                                        <p:strVal val="visible"/>
                                      </p:to>
                                    </p:set>
                                    <p:animEffect transition="in" filter="wipe(left)">
                                      <p:cBhvr>
                                        <p:cTn id="29" dur="500"/>
                                        <p:tgtEl>
                                          <p:spTgt spid="19">
                                            <p:txEl>
                                              <p:pRg st="0" end="0"/>
                                            </p:txEl>
                                          </p:spTgt>
                                        </p:tgtEl>
                                      </p:cBhvr>
                                    </p:animEffect>
                                  </p:childTnLst>
                                </p:cTn>
                              </p:par>
                            </p:childTnLst>
                          </p:cTn>
                        </p:par>
                        <p:par>
                          <p:cTn id="30" fill="hold" nodeType="afterGroup">
                            <p:stCondLst>
                              <p:cond delay="1000"/>
                            </p:stCondLst>
                            <p:childTnLst>
                              <p:par>
                                <p:cTn id="31" presetID="16" presetClass="entr" presetSubtype="21" fill="hold" grpId="0" nodeType="after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barn(inVertical)">
                                      <p:cBhvr>
                                        <p:cTn id="33" dur="500"/>
                                        <p:tgtEl>
                                          <p:spTgt spid="12"/>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1" fill="hold" grpId="0" nodeType="click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wipe(up)">
                                      <p:cBhvr>
                                        <p:cTn id="38" dur="500"/>
                                        <p:tgtEl>
                                          <p:spTgt spid="18"/>
                                        </p:tgtEl>
                                      </p:cBhvr>
                                    </p:animEffect>
                                  </p:childTnLst>
                                </p:cTn>
                              </p:par>
                            </p:childTnLst>
                          </p:cTn>
                        </p:par>
                        <p:par>
                          <p:cTn id="39" fill="hold" nodeType="afterGroup">
                            <p:stCondLst>
                              <p:cond delay="500"/>
                            </p:stCondLst>
                            <p:childTnLst>
                              <p:par>
                                <p:cTn id="40" presetID="22" presetClass="entr" presetSubtype="8" fill="hold" nodeType="afterEffect">
                                  <p:stCondLst>
                                    <p:cond delay="0"/>
                                  </p:stCondLst>
                                  <p:childTnLst>
                                    <p:set>
                                      <p:cBhvr>
                                        <p:cTn id="41" dur="1" fill="hold">
                                          <p:stCondLst>
                                            <p:cond delay="0"/>
                                          </p:stCondLst>
                                        </p:cTn>
                                        <p:tgtEl>
                                          <p:spTgt spid="18">
                                            <p:txEl>
                                              <p:pRg st="0" end="0"/>
                                            </p:txEl>
                                          </p:spTgt>
                                        </p:tgtEl>
                                        <p:attrNameLst>
                                          <p:attrName>style.visibility</p:attrName>
                                        </p:attrNameLst>
                                      </p:cBhvr>
                                      <p:to>
                                        <p:strVal val="visible"/>
                                      </p:to>
                                    </p:set>
                                    <p:animEffect transition="in" filter="wipe(left)">
                                      <p:cBhvr>
                                        <p:cTn id="42" dur="500"/>
                                        <p:tgtEl>
                                          <p:spTgt spid="18">
                                            <p:txEl>
                                              <p:pRg st="0" end="0"/>
                                            </p:txEl>
                                          </p:spTgt>
                                        </p:tgtEl>
                                      </p:cBhvr>
                                    </p:animEffect>
                                  </p:childTnLst>
                                </p:cTn>
                              </p:par>
                            </p:childTnLst>
                          </p:cTn>
                        </p:par>
                        <p:par>
                          <p:cTn id="43" fill="hold" nodeType="afterGroup">
                            <p:stCondLst>
                              <p:cond delay="1000"/>
                            </p:stCondLst>
                            <p:childTnLst>
                              <p:par>
                                <p:cTn id="44" presetID="22" presetClass="entr" presetSubtype="8" fill="hold" nodeType="after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wipe(left)">
                                      <p:cBhvr>
                                        <p:cTn id="46"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p:bldP spid="12" grpId="0" animBg="1"/>
      <p:bldP spid="17" grpId="0"/>
      <p:bldP spid="18" grpId="0" animBg="1"/>
      <p:bldP spid="19" grpId="0" animBg="1"/>
    </p:bldLst>
  </p:timing>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64CAC0-9253-BDB3-E6FA-C8FB6E7E8809}"/>
              </a:ext>
            </a:extLst>
          </p:cNvPr>
          <p:cNvSpPr>
            <a:spLocks noGrp="1"/>
          </p:cNvSpPr>
          <p:nvPr>
            <p:ph type="title"/>
          </p:nvPr>
        </p:nvSpPr>
        <p:spPr>
          <a:xfrm>
            <a:off x="457200" y="0"/>
            <a:ext cx="7620000" cy="1143000"/>
          </a:xfrm>
        </p:spPr>
        <p:txBody>
          <a:bodyPr/>
          <a:lstStyle/>
          <a:p>
            <a:pPr algn="ctr">
              <a:defRPr/>
            </a:pPr>
            <a:r>
              <a:rPr lang="en-US" dirty="0"/>
              <a:t>Math Functions</a:t>
            </a:r>
            <a:endParaRPr lang="en-MY" dirty="0"/>
          </a:p>
        </p:txBody>
      </p:sp>
      <p:sp>
        <p:nvSpPr>
          <p:cNvPr id="9" name="Snip Single Corner Rectangle 8">
            <a:extLst>
              <a:ext uri="{FF2B5EF4-FFF2-40B4-BE49-F238E27FC236}">
                <a16:creationId xmlns:a16="http://schemas.microsoft.com/office/drawing/2014/main" id="{56289F3E-E66A-FA91-9124-765446400D02}"/>
              </a:ext>
            </a:extLst>
          </p:cNvPr>
          <p:cNvSpPr/>
          <p:nvPr/>
        </p:nvSpPr>
        <p:spPr>
          <a:xfrm>
            <a:off x="-36513" y="1125538"/>
            <a:ext cx="1295401" cy="400050"/>
          </a:xfrm>
          <a:prstGeom prst="snip1Rect">
            <a:avLst/>
          </a:prstGeom>
          <a:solidFill>
            <a:schemeClr val="tx2"/>
          </a:solidFill>
          <a:ln>
            <a:solidFill>
              <a:schemeClr val="tx2"/>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marR="0" lvl="0" indent="-342900" algn="just" defTabSz="914400" rtl="0" eaLnBrk="1" fontAlgn="base" latinLnBrk="0" hangingPunct="1">
              <a:lnSpc>
                <a:spcPct val="100000"/>
              </a:lnSpc>
              <a:spcBef>
                <a:spcPct val="20000"/>
              </a:spcBef>
              <a:spcAft>
                <a:spcPct val="0"/>
              </a:spcAft>
              <a:buClr>
                <a:srgbClr val="FF6600"/>
              </a:buClr>
              <a:buSzPct val="100000"/>
              <a:buFontTx/>
              <a:buNone/>
              <a:tabLst/>
              <a:defRPr/>
            </a:pPr>
            <a:r>
              <a:rPr kumimoji="0" lang="en-GB" sz="1800" b="0" i="0" u="none" strike="noStrike" kern="0" cap="none" spc="0" normalizeH="0" baseline="0" noProof="0" dirty="0">
                <a:ln>
                  <a:noFill/>
                </a:ln>
                <a:solidFill>
                  <a:srgbClr val="FFFFFF"/>
                </a:solidFill>
                <a:effectLst/>
                <a:uLnTx/>
                <a:uFillTx/>
                <a:latin typeface="Calibri"/>
                <a:ea typeface="+mn-ea"/>
                <a:cs typeface="+mn-cs"/>
              </a:rPr>
              <a:t>CEILING()</a:t>
            </a:r>
          </a:p>
        </p:txBody>
      </p:sp>
      <p:sp>
        <p:nvSpPr>
          <p:cNvPr id="10" name="Content Placeholder 2">
            <a:extLst>
              <a:ext uri="{FF2B5EF4-FFF2-40B4-BE49-F238E27FC236}">
                <a16:creationId xmlns:a16="http://schemas.microsoft.com/office/drawing/2014/main" id="{BDDB26F9-7505-3184-41BF-B97DF760EF96}"/>
              </a:ext>
            </a:extLst>
          </p:cNvPr>
          <p:cNvSpPr txBox="1">
            <a:spLocks/>
          </p:cNvSpPr>
          <p:nvPr/>
        </p:nvSpPr>
        <p:spPr bwMode="auto">
          <a:xfrm>
            <a:off x="250825" y="1773238"/>
            <a:ext cx="8753475"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CEILING() – Round up the fractional number</a:t>
            </a: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sp>
        <p:nvSpPr>
          <p:cNvPr id="12" name="Rounded Rectangle 11">
            <a:extLst>
              <a:ext uri="{FF2B5EF4-FFF2-40B4-BE49-F238E27FC236}">
                <a16:creationId xmlns:a16="http://schemas.microsoft.com/office/drawing/2014/main" id="{8C5FD8F8-BF4F-56FC-A0E5-0E977C4C214C}"/>
              </a:ext>
            </a:extLst>
          </p:cNvPr>
          <p:cNvSpPr/>
          <p:nvPr/>
        </p:nvSpPr>
        <p:spPr bwMode="auto">
          <a:xfrm>
            <a:off x="1371600" y="3968750"/>
            <a:ext cx="6624638" cy="1116013"/>
          </a:xfrm>
          <a:prstGeom prst="roundRect">
            <a:avLst/>
          </a:prstGeom>
          <a:solidFill>
            <a:schemeClr val="accent6">
              <a:alpha val="30000"/>
            </a:schemeClr>
          </a:solidFill>
          <a:ln w="9525" cap="flat" cmpd="sng" algn="ctr">
            <a:solidFill>
              <a:schemeClr val="accent6"/>
            </a:solidFill>
            <a:prstDash val="solid"/>
            <a:round/>
            <a:headEnd type="none" w="med" len="med"/>
            <a:tailEnd type="none" w="med" len="med"/>
          </a:ln>
          <a:effectLst/>
        </p:spPr>
        <p:txBody>
          <a:bodyPr anchor="ctr" anchorCtr="1"/>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2800" b="0"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SELECT ISBN, Price, CEILING(Price) FROM Book;</a:t>
            </a:r>
          </a:p>
        </p:txBody>
      </p:sp>
      <p:graphicFrame>
        <p:nvGraphicFramePr>
          <p:cNvPr id="16" name="Table 15">
            <a:extLst>
              <a:ext uri="{FF2B5EF4-FFF2-40B4-BE49-F238E27FC236}">
                <a16:creationId xmlns:a16="http://schemas.microsoft.com/office/drawing/2014/main" id="{F78C54C3-46A4-D68C-9701-CA2B93688D43}"/>
              </a:ext>
            </a:extLst>
          </p:cNvPr>
          <p:cNvGraphicFramePr>
            <a:graphicFrameLocks noGrp="1"/>
          </p:cNvGraphicFramePr>
          <p:nvPr/>
        </p:nvGraphicFramePr>
        <p:xfrm>
          <a:off x="1631950" y="5264150"/>
          <a:ext cx="5243513" cy="1106488"/>
        </p:xfrm>
        <a:graphic>
          <a:graphicData uri="http://schemas.openxmlformats.org/drawingml/2006/table">
            <a:tbl>
              <a:tblPr firstRow="1" bandRow="1">
                <a:tableStyleId>{C083E6E3-FA7D-4D7B-A595-EF9225AFEA82}</a:tableStyleId>
              </a:tblPr>
              <a:tblGrid>
                <a:gridCol w="1211858">
                  <a:extLst>
                    <a:ext uri="{9D8B030D-6E8A-4147-A177-3AD203B41FA5}">
                      <a16:colId xmlns:a16="http://schemas.microsoft.com/office/drawing/2014/main" val="20000"/>
                    </a:ext>
                  </a:extLst>
                </a:gridCol>
                <a:gridCol w="1943833">
                  <a:extLst>
                    <a:ext uri="{9D8B030D-6E8A-4147-A177-3AD203B41FA5}">
                      <a16:colId xmlns:a16="http://schemas.microsoft.com/office/drawing/2014/main" val="20001"/>
                    </a:ext>
                  </a:extLst>
                </a:gridCol>
                <a:gridCol w="2087821">
                  <a:extLst>
                    <a:ext uri="{9D8B030D-6E8A-4147-A177-3AD203B41FA5}">
                      <a16:colId xmlns:a16="http://schemas.microsoft.com/office/drawing/2014/main" val="20002"/>
                    </a:ext>
                  </a:extLst>
                </a:gridCol>
              </a:tblGrid>
              <a:tr h="365655">
                <a:tc>
                  <a:txBody>
                    <a:bodyPr/>
                    <a:lstStyle/>
                    <a:p>
                      <a:pPr algn="ctr"/>
                      <a:r>
                        <a:rPr lang="en-CA" sz="1800" dirty="0"/>
                        <a:t>ISBN</a:t>
                      </a:r>
                    </a:p>
                  </a:txBody>
                  <a:tcPr marL="91422" marR="91422" marT="45668" marB="45668"/>
                </a:tc>
                <a:tc>
                  <a:txBody>
                    <a:bodyPr/>
                    <a:lstStyle/>
                    <a:p>
                      <a:pPr algn="ctr"/>
                      <a:r>
                        <a:rPr lang="en-CA" sz="1800" dirty="0"/>
                        <a:t>Price</a:t>
                      </a:r>
                    </a:p>
                  </a:txBody>
                  <a:tcPr marL="91422" marR="91422" marT="45668" marB="45668"/>
                </a:tc>
                <a:tc>
                  <a:txBody>
                    <a:bodyPr/>
                    <a:lstStyle/>
                    <a:p>
                      <a:pPr algn="ctr"/>
                      <a:r>
                        <a:rPr lang="en-CA" sz="1800" dirty="0"/>
                        <a:t>CEILING(Price)</a:t>
                      </a:r>
                    </a:p>
                  </a:txBody>
                  <a:tcPr marL="91422" marR="91422" marT="45668" marB="45668"/>
                </a:tc>
                <a:extLst>
                  <a:ext uri="{0D108BD9-81ED-4DB2-BD59-A6C34878D82A}">
                    <a16:rowId xmlns:a16="http://schemas.microsoft.com/office/drawing/2014/main" val="10000"/>
                  </a:ext>
                </a:extLst>
              </a:tr>
              <a:tr h="370416">
                <a:tc>
                  <a:txBody>
                    <a:bodyPr/>
                    <a:lstStyle/>
                    <a:p>
                      <a:pPr algn="ctr"/>
                      <a:r>
                        <a:rPr lang="en-CA" sz="1800" dirty="0"/>
                        <a:t>12345</a:t>
                      </a:r>
                    </a:p>
                  </a:txBody>
                  <a:tcPr marL="91422" marR="91422" marT="45668" marB="45668"/>
                </a:tc>
                <a:tc>
                  <a:txBody>
                    <a:bodyPr/>
                    <a:lstStyle/>
                    <a:p>
                      <a:pPr algn="ctr"/>
                      <a:r>
                        <a:rPr lang="en-CA" sz="1800" dirty="0"/>
                        <a:t>20.50</a:t>
                      </a:r>
                    </a:p>
                  </a:txBody>
                  <a:tcPr marL="91422" marR="91422" marT="45668" marB="45668"/>
                </a:tc>
                <a:tc>
                  <a:txBody>
                    <a:bodyPr/>
                    <a:lstStyle/>
                    <a:p>
                      <a:pPr algn="ctr"/>
                      <a:r>
                        <a:rPr lang="en-CA" sz="1800" dirty="0"/>
                        <a:t>21</a:t>
                      </a:r>
                    </a:p>
                  </a:txBody>
                  <a:tcPr marL="91422" marR="91422" marT="45668" marB="45668"/>
                </a:tc>
                <a:extLst>
                  <a:ext uri="{0D108BD9-81ED-4DB2-BD59-A6C34878D82A}">
                    <a16:rowId xmlns:a16="http://schemas.microsoft.com/office/drawing/2014/main" val="10001"/>
                  </a:ext>
                </a:extLst>
              </a:tr>
              <a:tr h="370416">
                <a:tc>
                  <a:txBody>
                    <a:bodyPr/>
                    <a:lstStyle/>
                    <a:p>
                      <a:pPr algn="ctr"/>
                      <a:r>
                        <a:rPr lang="en-CA" sz="1800" dirty="0"/>
                        <a:t>54321</a:t>
                      </a:r>
                    </a:p>
                  </a:txBody>
                  <a:tcPr marL="91422" marR="91422" marT="45668" marB="45668"/>
                </a:tc>
                <a:tc>
                  <a:txBody>
                    <a:bodyPr/>
                    <a:lstStyle/>
                    <a:p>
                      <a:pPr algn="ctr"/>
                      <a:r>
                        <a:rPr lang="en-CA" sz="1800" dirty="0"/>
                        <a:t>30.40</a:t>
                      </a:r>
                    </a:p>
                  </a:txBody>
                  <a:tcPr marL="91422" marR="91422" marT="45668" marB="45668"/>
                </a:tc>
                <a:tc>
                  <a:txBody>
                    <a:bodyPr/>
                    <a:lstStyle/>
                    <a:p>
                      <a:pPr algn="ctr"/>
                      <a:r>
                        <a:rPr lang="en-CA" sz="1800" dirty="0"/>
                        <a:t>31</a:t>
                      </a:r>
                    </a:p>
                  </a:txBody>
                  <a:tcPr marL="91422" marR="91422" marT="45668" marB="45668"/>
                </a:tc>
                <a:extLst>
                  <a:ext uri="{0D108BD9-81ED-4DB2-BD59-A6C34878D82A}">
                    <a16:rowId xmlns:a16="http://schemas.microsoft.com/office/drawing/2014/main" val="10002"/>
                  </a:ext>
                </a:extLst>
              </a:tr>
            </a:tbl>
          </a:graphicData>
        </a:graphic>
      </p:graphicFrame>
      <p:graphicFrame>
        <p:nvGraphicFramePr>
          <p:cNvPr id="14" name="Table 13">
            <a:extLst>
              <a:ext uri="{FF2B5EF4-FFF2-40B4-BE49-F238E27FC236}">
                <a16:creationId xmlns:a16="http://schemas.microsoft.com/office/drawing/2014/main" id="{50B09482-B158-03C9-5C0D-A8A5387B633B}"/>
              </a:ext>
            </a:extLst>
          </p:cNvPr>
          <p:cNvGraphicFramePr>
            <a:graphicFrameLocks noGrp="1"/>
          </p:cNvGraphicFramePr>
          <p:nvPr/>
        </p:nvGraphicFramePr>
        <p:xfrm>
          <a:off x="1530350" y="2411413"/>
          <a:ext cx="6096000" cy="1112837"/>
        </p:xfrm>
        <a:graphic>
          <a:graphicData uri="http://schemas.openxmlformats.org/drawingml/2006/table">
            <a:tbl>
              <a:tblPr firstRow="1" bandRow="1">
                <a:tableStyleId>{D27102A9-8310-4765-A935-A1911B00CA55}</a:tableStyleId>
              </a:tblPr>
              <a:tblGrid>
                <a:gridCol w="1463824">
                  <a:extLst>
                    <a:ext uri="{9D8B030D-6E8A-4147-A177-3AD203B41FA5}">
                      <a16:colId xmlns:a16="http://schemas.microsoft.com/office/drawing/2014/main" val="20000"/>
                    </a:ext>
                  </a:extLst>
                </a:gridCol>
                <a:gridCol w="2736304">
                  <a:extLst>
                    <a:ext uri="{9D8B030D-6E8A-4147-A177-3AD203B41FA5}">
                      <a16:colId xmlns:a16="http://schemas.microsoft.com/office/drawing/2014/main" val="20001"/>
                    </a:ext>
                  </a:extLst>
                </a:gridCol>
                <a:gridCol w="1895872">
                  <a:extLst>
                    <a:ext uri="{9D8B030D-6E8A-4147-A177-3AD203B41FA5}">
                      <a16:colId xmlns:a16="http://schemas.microsoft.com/office/drawing/2014/main" val="20002"/>
                    </a:ext>
                  </a:extLst>
                </a:gridCol>
              </a:tblGrid>
              <a:tr h="370946">
                <a:tc>
                  <a:txBody>
                    <a:bodyPr/>
                    <a:lstStyle/>
                    <a:p>
                      <a:pPr algn="ctr"/>
                      <a:r>
                        <a:rPr lang="en-CA" sz="1800" dirty="0"/>
                        <a:t>ISBN</a:t>
                      </a:r>
                    </a:p>
                  </a:txBody>
                  <a:tcPr marT="45733" marB="45733"/>
                </a:tc>
                <a:tc>
                  <a:txBody>
                    <a:bodyPr/>
                    <a:lstStyle/>
                    <a:p>
                      <a:pPr algn="ctr"/>
                      <a:r>
                        <a:rPr lang="en-CA" sz="1800" dirty="0"/>
                        <a:t>Title</a:t>
                      </a:r>
                    </a:p>
                  </a:txBody>
                  <a:tcPr marT="45733" marB="45733"/>
                </a:tc>
                <a:tc>
                  <a:txBody>
                    <a:bodyPr/>
                    <a:lstStyle/>
                    <a:p>
                      <a:pPr algn="ctr"/>
                      <a:r>
                        <a:rPr lang="en-CA" sz="1800" dirty="0"/>
                        <a:t>Price</a:t>
                      </a:r>
                    </a:p>
                  </a:txBody>
                  <a:tcPr marT="45733" marB="45733"/>
                </a:tc>
                <a:extLst>
                  <a:ext uri="{0D108BD9-81ED-4DB2-BD59-A6C34878D82A}">
                    <a16:rowId xmlns:a16="http://schemas.microsoft.com/office/drawing/2014/main" val="10000"/>
                  </a:ext>
                </a:extLst>
              </a:tr>
              <a:tr h="370946">
                <a:tc>
                  <a:txBody>
                    <a:bodyPr/>
                    <a:lstStyle/>
                    <a:p>
                      <a:pPr algn="ctr"/>
                      <a:r>
                        <a:rPr lang="en-CA" sz="1800" dirty="0"/>
                        <a:t>12345</a:t>
                      </a:r>
                    </a:p>
                  </a:txBody>
                  <a:tcPr marT="45733" marB="45733"/>
                </a:tc>
                <a:tc>
                  <a:txBody>
                    <a:bodyPr/>
                    <a:lstStyle/>
                    <a:p>
                      <a:pPr algn="ctr"/>
                      <a:r>
                        <a:rPr lang="en-CA" sz="1800" dirty="0"/>
                        <a:t>The Hunger</a:t>
                      </a:r>
                      <a:r>
                        <a:rPr lang="en-CA" sz="1800" baseline="0" dirty="0"/>
                        <a:t> Game</a:t>
                      </a:r>
                      <a:endParaRPr lang="en-CA" sz="1800" dirty="0"/>
                    </a:p>
                  </a:txBody>
                  <a:tcPr marT="45733" marB="45733"/>
                </a:tc>
                <a:tc>
                  <a:txBody>
                    <a:bodyPr/>
                    <a:lstStyle/>
                    <a:p>
                      <a:pPr algn="ctr"/>
                      <a:r>
                        <a:rPr lang="en-CA" sz="1800" dirty="0"/>
                        <a:t>20.50</a:t>
                      </a:r>
                    </a:p>
                  </a:txBody>
                  <a:tcPr marT="45733" marB="45733"/>
                </a:tc>
                <a:extLst>
                  <a:ext uri="{0D108BD9-81ED-4DB2-BD59-A6C34878D82A}">
                    <a16:rowId xmlns:a16="http://schemas.microsoft.com/office/drawing/2014/main" val="10001"/>
                  </a:ext>
                </a:extLst>
              </a:tr>
              <a:tr h="370946">
                <a:tc>
                  <a:txBody>
                    <a:bodyPr/>
                    <a:lstStyle/>
                    <a:p>
                      <a:pPr algn="ctr"/>
                      <a:r>
                        <a:rPr lang="en-CA" sz="1800" dirty="0"/>
                        <a:t>54321</a:t>
                      </a:r>
                    </a:p>
                  </a:txBody>
                  <a:tcPr marT="45733" marB="45733"/>
                </a:tc>
                <a:tc>
                  <a:txBody>
                    <a:bodyPr/>
                    <a:lstStyle/>
                    <a:p>
                      <a:pPr algn="ctr"/>
                      <a:r>
                        <a:rPr lang="en-CA" sz="1800" dirty="0"/>
                        <a:t>A Song of Ice and Fire</a:t>
                      </a:r>
                    </a:p>
                  </a:txBody>
                  <a:tcPr marT="45733" marB="45733"/>
                </a:tc>
                <a:tc>
                  <a:txBody>
                    <a:bodyPr/>
                    <a:lstStyle/>
                    <a:p>
                      <a:pPr algn="ctr"/>
                      <a:r>
                        <a:rPr lang="en-CA" sz="1800" dirty="0"/>
                        <a:t>30.40</a:t>
                      </a:r>
                    </a:p>
                  </a:txBody>
                  <a:tcPr marT="45733" marB="45733"/>
                </a:tc>
                <a:extLst>
                  <a:ext uri="{0D108BD9-81ED-4DB2-BD59-A6C34878D82A}">
                    <a16:rowId xmlns:a16="http://schemas.microsoft.com/office/drawing/2014/main" val="10002"/>
                  </a:ext>
                </a:extLst>
              </a:tr>
            </a:tbl>
          </a:graphicData>
        </a:graphic>
      </p:graphicFrame>
      <p:sp>
        <p:nvSpPr>
          <p:cNvPr id="17" name="TextBox 16">
            <a:extLst>
              <a:ext uri="{FF2B5EF4-FFF2-40B4-BE49-F238E27FC236}">
                <a16:creationId xmlns:a16="http://schemas.microsoft.com/office/drawing/2014/main" id="{8D45D06E-859D-F326-1D40-5149E9D2F502}"/>
              </a:ext>
            </a:extLst>
          </p:cNvPr>
          <p:cNvSpPr txBox="1">
            <a:spLocks noChangeArrowheads="1"/>
          </p:cNvSpPr>
          <p:nvPr/>
        </p:nvSpPr>
        <p:spPr bwMode="auto">
          <a:xfrm>
            <a:off x="3570288" y="3540125"/>
            <a:ext cx="20161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Book table</a:t>
            </a:r>
          </a:p>
        </p:txBody>
      </p:sp>
      <p:sp>
        <p:nvSpPr>
          <p:cNvPr id="18" name="Snip Single Corner Rectangle 17">
            <a:extLst>
              <a:ext uri="{FF2B5EF4-FFF2-40B4-BE49-F238E27FC236}">
                <a16:creationId xmlns:a16="http://schemas.microsoft.com/office/drawing/2014/main" id="{BF7C581B-17A8-CAE0-0D52-5D8ACE5DED51}"/>
              </a:ext>
            </a:extLst>
          </p:cNvPr>
          <p:cNvSpPr/>
          <p:nvPr/>
        </p:nvSpPr>
        <p:spPr bwMode="auto">
          <a:xfrm>
            <a:off x="227013" y="5300663"/>
            <a:ext cx="1092200" cy="431800"/>
          </a:xfrm>
          <a:prstGeom prst="snip1Rect">
            <a:avLst/>
          </a:prstGeom>
          <a:solidFill>
            <a:srgbClr val="FFFF00">
              <a:alpha val="30000"/>
            </a:srgbClr>
          </a:solidFill>
          <a:ln w="9525" cap="flat" cmpd="sng" algn="ctr">
            <a:solidFill>
              <a:srgbClr val="FFC000"/>
            </a:solidFill>
            <a:prstDash val="solid"/>
            <a:round/>
            <a:headEnd type="none" w="med" len="med"/>
            <a:tailEnd type="none" w="med" len="me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sz="2000" b="1"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Result:</a:t>
            </a:r>
          </a:p>
        </p:txBody>
      </p:sp>
      <p:sp>
        <p:nvSpPr>
          <p:cNvPr id="19" name="Snip Single Corner Rectangle 18">
            <a:extLst>
              <a:ext uri="{FF2B5EF4-FFF2-40B4-BE49-F238E27FC236}">
                <a16:creationId xmlns:a16="http://schemas.microsoft.com/office/drawing/2014/main" id="{3DC089F6-2689-478D-552F-5F6692182761}"/>
              </a:ext>
            </a:extLst>
          </p:cNvPr>
          <p:cNvSpPr/>
          <p:nvPr/>
        </p:nvSpPr>
        <p:spPr bwMode="auto">
          <a:xfrm>
            <a:off x="250825" y="3978275"/>
            <a:ext cx="830263" cy="431800"/>
          </a:xfrm>
          <a:prstGeom prst="snip1Rect">
            <a:avLst/>
          </a:prstGeom>
          <a:solidFill>
            <a:srgbClr val="FFFF00">
              <a:alpha val="30000"/>
            </a:srgbClr>
          </a:solidFill>
          <a:ln w="9525" cap="flat" cmpd="sng" algn="ctr">
            <a:solidFill>
              <a:srgbClr val="FFC000"/>
            </a:solidFill>
            <a:prstDash val="solid"/>
            <a:round/>
            <a:headEnd type="none" w="med" len="med"/>
            <a:tailEnd type="none" w="med" len="med"/>
          </a:ln>
          <a:effec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2000" b="1"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Run:</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left)">
                                      <p:cBhvr>
                                        <p:cTn id="11" dur="500"/>
                                        <p:tgtEl>
                                          <p:spTgt spid="10"/>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6" presetClass="entr" presetSubtype="21" fill="hold" nodeType="click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barn(inVertical)">
                                      <p:cBhvr>
                                        <p:cTn id="16" dur="500"/>
                                        <p:tgtEl>
                                          <p:spTgt spid="14"/>
                                        </p:tgtEl>
                                      </p:cBhvr>
                                    </p:animEffect>
                                  </p:childTnLst>
                                </p:cTn>
                              </p:par>
                            </p:childTnLst>
                          </p:cTn>
                        </p:par>
                        <p:par>
                          <p:cTn id="17" fill="hold" nodeType="afterGroup">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wipe(left)">
                                      <p:cBhvr>
                                        <p:cTn id="20" dur="500"/>
                                        <p:tgtEl>
                                          <p:spTgt spid="17"/>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1" fill="hold" grpId="0" nodeType="click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wipe(up)">
                                      <p:cBhvr>
                                        <p:cTn id="25" dur="500"/>
                                        <p:tgtEl>
                                          <p:spTgt spid="19"/>
                                        </p:tgtEl>
                                      </p:cBhvr>
                                    </p:animEffect>
                                  </p:childTnLst>
                                </p:cTn>
                              </p:par>
                            </p:childTnLst>
                          </p:cTn>
                        </p:par>
                        <p:par>
                          <p:cTn id="26" fill="hold" nodeType="afterGroup">
                            <p:stCondLst>
                              <p:cond delay="500"/>
                            </p:stCondLst>
                            <p:childTnLst>
                              <p:par>
                                <p:cTn id="27" presetID="22" presetClass="entr" presetSubtype="8" fill="hold" nodeType="afterEffect">
                                  <p:stCondLst>
                                    <p:cond delay="0"/>
                                  </p:stCondLst>
                                  <p:childTnLst>
                                    <p:set>
                                      <p:cBhvr>
                                        <p:cTn id="28" dur="1" fill="hold">
                                          <p:stCondLst>
                                            <p:cond delay="0"/>
                                          </p:stCondLst>
                                        </p:cTn>
                                        <p:tgtEl>
                                          <p:spTgt spid="19">
                                            <p:txEl>
                                              <p:pRg st="0" end="0"/>
                                            </p:txEl>
                                          </p:spTgt>
                                        </p:tgtEl>
                                        <p:attrNameLst>
                                          <p:attrName>style.visibility</p:attrName>
                                        </p:attrNameLst>
                                      </p:cBhvr>
                                      <p:to>
                                        <p:strVal val="visible"/>
                                      </p:to>
                                    </p:set>
                                    <p:animEffect transition="in" filter="wipe(left)">
                                      <p:cBhvr>
                                        <p:cTn id="29" dur="500"/>
                                        <p:tgtEl>
                                          <p:spTgt spid="19">
                                            <p:txEl>
                                              <p:pRg st="0" end="0"/>
                                            </p:txEl>
                                          </p:spTgt>
                                        </p:tgtEl>
                                      </p:cBhvr>
                                    </p:animEffect>
                                  </p:childTnLst>
                                </p:cTn>
                              </p:par>
                            </p:childTnLst>
                          </p:cTn>
                        </p:par>
                        <p:par>
                          <p:cTn id="30" fill="hold" nodeType="afterGroup">
                            <p:stCondLst>
                              <p:cond delay="1000"/>
                            </p:stCondLst>
                            <p:childTnLst>
                              <p:par>
                                <p:cTn id="31" presetID="16" presetClass="entr" presetSubtype="21" fill="hold" grpId="0" nodeType="after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barn(inVertical)">
                                      <p:cBhvr>
                                        <p:cTn id="33" dur="500"/>
                                        <p:tgtEl>
                                          <p:spTgt spid="12"/>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1" fill="hold" grpId="0" nodeType="click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wipe(up)">
                                      <p:cBhvr>
                                        <p:cTn id="38" dur="500"/>
                                        <p:tgtEl>
                                          <p:spTgt spid="18"/>
                                        </p:tgtEl>
                                      </p:cBhvr>
                                    </p:animEffect>
                                  </p:childTnLst>
                                </p:cTn>
                              </p:par>
                            </p:childTnLst>
                          </p:cTn>
                        </p:par>
                        <p:par>
                          <p:cTn id="39" fill="hold" nodeType="afterGroup">
                            <p:stCondLst>
                              <p:cond delay="500"/>
                            </p:stCondLst>
                            <p:childTnLst>
                              <p:par>
                                <p:cTn id="40" presetID="22" presetClass="entr" presetSubtype="8" fill="hold" nodeType="afterEffect">
                                  <p:stCondLst>
                                    <p:cond delay="0"/>
                                  </p:stCondLst>
                                  <p:childTnLst>
                                    <p:set>
                                      <p:cBhvr>
                                        <p:cTn id="41" dur="1" fill="hold">
                                          <p:stCondLst>
                                            <p:cond delay="0"/>
                                          </p:stCondLst>
                                        </p:cTn>
                                        <p:tgtEl>
                                          <p:spTgt spid="18">
                                            <p:txEl>
                                              <p:pRg st="0" end="0"/>
                                            </p:txEl>
                                          </p:spTgt>
                                        </p:tgtEl>
                                        <p:attrNameLst>
                                          <p:attrName>style.visibility</p:attrName>
                                        </p:attrNameLst>
                                      </p:cBhvr>
                                      <p:to>
                                        <p:strVal val="visible"/>
                                      </p:to>
                                    </p:set>
                                    <p:animEffect transition="in" filter="wipe(left)">
                                      <p:cBhvr>
                                        <p:cTn id="42" dur="500"/>
                                        <p:tgtEl>
                                          <p:spTgt spid="18">
                                            <p:txEl>
                                              <p:pRg st="0" end="0"/>
                                            </p:txEl>
                                          </p:spTgt>
                                        </p:tgtEl>
                                      </p:cBhvr>
                                    </p:animEffect>
                                  </p:childTnLst>
                                </p:cTn>
                              </p:par>
                            </p:childTnLst>
                          </p:cTn>
                        </p:par>
                        <p:par>
                          <p:cTn id="43" fill="hold" nodeType="afterGroup">
                            <p:stCondLst>
                              <p:cond delay="1000"/>
                            </p:stCondLst>
                            <p:childTnLst>
                              <p:par>
                                <p:cTn id="44" presetID="22" presetClass="entr" presetSubtype="8" fill="hold" nodeType="after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wipe(left)">
                                      <p:cBhvr>
                                        <p:cTn id="46"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p:bldP spid="12" grpId="0" animBg="1"/>
      <p:bldP spid="17" grpId="0"/>
      <p:bldP spid="18" grpId="0" animBg="1"/>
      <p:bldP spid="19" grpId="0" animBg="1"/>
    </p:bldLst>
  </p:timing>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F61FA-91F7-102F-D78B-3E6A70E4B196}"/>
              </a:ext>
            </a:extLst>
          </p:cNvPr>
          <p:cNvSpPr>
            <a:spLocks noGrp="1"/>
          </p:cNvSpPr>
          <p:nvPr>
            <p:ph type="title"/>
          </p:nvPr>
        </p:nvSpPr>
        <p:spPr>
          <a:xfrm>
            <a:off x="457200" y="0"/>
            <a:ext cx="7620000" cy="1143000"/>
          </a:xfrm>
        </p:spPr>
        <p:txBody>
          <a:bodyPr/>
          <a:lstStyle/>
          <a:p>
            <a:pPr algn="ctr">
              <a:defRPr/>
            </a:pPr>
            <a:r>
              <a:rPr lang="en-US" dirty="0"/>
              <a:t>Math Functions</a:t>
            </a:r>
            <a:endParaRPr lang="en-MY" dirty="0"/>
          </a:p>
        </p:txBody>
      </p:sp>
      <p:sp>
        <p:nvSpPr>
          <p:cNvPr id="9" name="Snip Single Corner Rectangle 8">
            <a:extLst>
              <a:ext uri="{FF2B5EF4-FFF2-40B4-BE49-F238E27FC236}">
                <a16:creationId xmlns:a16="http://schemas.microsoft.com/office/drawing/2014/main" id="{DF9B9ECC-909C-A033-1E08-65C1502BF0FD}"/>
              </a:ext>
            </a:extLst>
          </p:cNvPr>
          <p:cNvSpPr/>
          <p:nvPr/>
        </p:nvSpPr>
        <p:spPr>
          <a:xfrm>
            <a:off x="-36513" y="1125538"/>
            <a:ext cx="1223963" cy="400050"/>
          </a:xfrm>
          <a:prstGeom prst="snip1Rect">
            <a:avLst/>
          </a:prstGeom>
          <a:solidFill>
            <a:schemeClr val="tx1"/>
          </a:solidFill>
          <a:ln>
            <a:solidFill>
              <a:schemeClr val="tx1"/>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marR="0" lvl="0" indent="-342900" algn="just" defTabSz="914400" rtl="0" eaLnBrk="1" fontAlgn="base" latinLnBrk="0" hangingPunct="1">
              <a:lnSpc>
                <a:spcPct val="100000"/>
              </a:lnSpc>
              <a:spcBef>
                <a:spcPct val="20000"/>
              </a:spcBef>
              <a:spcAft>
                <a:spcPct val="0"/>
              </a:spcAft>
              <a:buClr>
                <a:srgbClr val="FF6600"/>
              </a:buClr>
              <a:buSzPct val="100000"/>
              <a:buFontTx/>
              <a:buNone/>
              <a:tabLst/>
              <a:defRPr/>
            </a:pPr>
            <a:r>
              <a:rPr kumimoji="0" lang="en-GB" sz="1800" b="0" i="0" u="none" strike="noStrike" kern="0" cap="none" spc="0" normalizeH="0" baseline="0" noProof="0" dirty="0">
                <a:ln>
                  <a:noFill/>
                </a:ln>
                <a:solidFill>
                  <a:srgbClr val="FFFFFF"/>
                </a:solidFill>
                <a:effectLst/>
                <a:uLnTx/>
                <a:uFillTx/>
                <a:latin typeface="Calibri"/>
                <a:ea typeface="+mn-ea"/>
                <a:cs typeface="+mn-cs"/>
              </a:rPr>
              <a:t>FLOOR()</a:t>
            </a:r>
          </a:p>
        </p:txBody>
      </p:sp>
      <p:sp>
        <p:nvSpPr>
          <p:cNvPr id="10" name="Content Placeholder 2">
            <a:extLst>
              <a:ext uri="{FF2B5EF4-FFF2-40B4-BE49-F238E27FC236}">
                <a16:creationId xmlns:a16="http://schemas.microsoft.com/office/drawing/2014/main" id="{E5B56681-C438-6B69-9FA7-521F571A69B9}"/>
              </a:ext>
            </a:extLst>
          </p:cNvPr>
          <p:cNvSpPr txBox="1">
            <a:spLocks/>
          </p:cNvSpPr>
          <p:nvPr/>
        </p:nvSpPr>
        <p:spPr bwMode="auto">
          <a:xfrm>
            <a:off x="250825" y="1773238"/>
            <a:ext cx="8753475"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FLOOR() – Round down the fractional number</a:t>
            </a: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sp>
        <p:nvSpPr>
          <p:cNvPr id="12" name="Rounded Rectangle 11">
            <a:extLst>
              <a:ext uri="{FF2B5EF4-FFF2-40B4-BE49-F238E27FC236}">
                <a16:creationId xmlns:a16="http://schemas.microsoft.com/office/drawing/2014/main" id="{6FEED426-CB64-6A3D-258C-FD5A389E70E6}"/>
              </a:ext>
            </a:extLst>
          </p:cNvPr>
          <p:cNvSpPr/>
          <p:nvPr/>
        </p:nvSpPr>
        <p:spPr bwMode="auto">
          <a:xfrm>
            <a:off x="1371600" y="3968750"/>
            <a:ext cx="6624638" cy="1116013"/>
          </a:xfrm>
          <a:prstGeom prst="roundRect">
            <a:avLst/>
          </a:prstGeom>
          <a:solidFill>
            <a:schemeClr val="accent6">
              <a:alpha val="30000"/>
            </a:schemeClr>
          </a:solidFill>
          <a:ln w="9525" cap="flat" cmpd="sng" algn="ctr">
            <a:solidFill>
              <a:schemeClr val="accent6"/>
            </a:solidFill>
            <a:prstDash val="solid"/>
            <a:round/>
            <a:headEnd type="none" w="med" len="med"/>
            <a:tailEnd type="none" w="med" len="med"/>
          </a:ln>
          <a:effectLst/>
        </p:spPr>
        <p:txBody>
          <a:bodyPr anchor="ctr" anchorCtr="1"/>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2800" b="0"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SELECT ISBN, Price, FLOOR (Price) FROM Book;</a:t>
            </a:r>
          </a:p>
        </p:txBody>
      </p:sp>
      <p:graphicFrame>
        <p:nvGraphicFramePr>
          <p:cNvPr id="16" name="Table 15">
            <a:extLst>
              <a:ext uri="{FF2B5EF4-FFF2-40B4-BE49-F238E27FC236}">
                <a16:creationId xmlns:a16="http://schemas.microsoft.com/office/drawing/2014/main" id="{99F2FE89-A288-1545-D6F2-496CD6A32533}"/>
              </a:ext>
            </a:extLst>
          </p:cNvPr>
          <p:cNvGraphicFramePr>
            <a:graphicFrameLocks noGrp="1"/>
          </p:cNvGraphicFramePr>
          <p:nvPr/>
        </p:nvGraphicFramePr>
        <p:xfrm>
          <a:off x="1631950" y="5264150"/>
          <a:ext cx="5243513" cy="1106488"/>
        </p:xfrm>
        <a:graphic>
          <a:graphicData uri="http://schemas.openxmlformats.org/drawingml/2006/table">
            <a:tbl>
              <a:tblPr firstRow="1" bandRow="1">
                <a:tableStyleId>{C083E6E3-FA7D-4D7B-A595-EF9225AFEA82}</a:tableStyleId>
              </a:tblPr>
              <a:tblGrid>
                <a:gridCol w="1211858">
                  <a:extLst>
                    <a:ext uri="{9D8B030D-6E8A-4147-A177-3AD203B41FA5}">
                      <a16:colId xmlns:a16="http://schemas.microsoft.com/office/drawing/2014/main" val="20000"/>
                    </a:ext>
                  </a:extLst>
                </a:gridCol>
                <a:gridCol w="1943833">
                  <a:extLst>
                    <a:ext uri="{9D8B030D-6E8A-4147-A177-3AD203B41FA5}">
                      <a16:colId xmlns:a16="http://schemas.microsoft.com/office/drawing/2014/main" val="20001"/>
                    </a:ext>
                  </a:extLst>
                </a:gridCol>
                <a:gridCol w="2087821">
                  <a:extLst>
                    <a:ext uri="{9D8B030D-6E8A-4147-A177-3AD203B41FA5}">
                      <a16:colId xmlns:a16="http://schemas.microsoft.com/office/drawing/2014/main" val="20002"/>
                    </a:ext>
                  </a:extLst>
                </a:gridCol>
              </a:tblGrid>
              <a:tr h="365655">
                <a:tc>
                  <a:txBody>
                    <a:bodyPr/>
                    <a:lstStyle/>
                    <a:p>
                      <a:pPr algn="ctr"/>
                      <a:r>
                        <a:rPr lang="en-CA" sz="1800" dirty="0"/>
                        <a:t>ISBN</a:t>
                      </a:r>
                    </a:p>
                  </a:txBody>
                  <a:tcPr marL="91422" marR="91422" marT="45668" marB="45668"/>
                </a:tc>
                <a:tc>
                  <a:txBody>
                    <a:bodyPr/>
                    <a:lstStyle/>
                    <a:p>
                      <a:pPr algn="ctr"/>
                      <a:r>
                        <a:rPr lang="en-CA" sz="1800" dirty="0"/>
                        <a:t>Price</a:t>
                      </a:r>
                    </a:p>
                  </a:txBody>
                  <a:tcPr marL="91422" marR="91422" marT="45668" marB="45668"/>
                </a:tc>
                <a:tc>
                  <a:txBody>
                    <a:bodyPr/>
                    <a:lstStyle/>
                    <a:p>
                      <a:pPr algn="ctr"/>
                      <a:r>
                        <a:rPr lang="en-CA" sz="1800" dirty="0"/>
                        <a:t>FLOOR(Price)</a:t>
                      </a:r>
                    </a:p>
                  </a:txBody>
                  <a:tcPr marL="91422" marR="91422" marT="45668" marB="45668"/>
                </a:tc>
                <a:extLst>
                  <a:ext uri="{0D108BD9-81ED-4DB2-BD59-A6C34878D82A}">
                    <a16:rowId xmlns:a16="http://schemas.microsoft.com/office/drawing/2014/main" val="10000"/>
                  </a:ext>
                </a:extLst>
              </a:tr>
              <a:tr h="370416">
                <a:tc>
                  <a:txBody>
                    <a:bodyPr/>
                    <a:lstStyle/>
                    <a:p>
                      <a:pPr algn="ctr"/>
                      <a:r>
                        <a:rPr lang="en-CA" sz="1800" dirty="0"/>
                        <a:t>12345</a:t>
                      </a:r>
                    </a:p>
                  </a:txBody>
                  <a:tcPr marL="91422" marR="91422" marT="45668" marB="45668"/>
                </a:tc>
                <a:tc>
                  <a:txBody>
                    <a:bodyPr/>
                    <a:lstStyle/>
                    <a:p>
                      <a:pPr algn="ctr"/>
                      <a:r>
                        <a:rPr lang="en-CA" sz="1800" dirty="0"/>
                        <a:t>20.50</a:t>
                      </a:r>
                    </a:p>
                  </a:txBody>
                  <a:tcPr marL="91422" marR="91422" marT="45668" marB="45668"/>
                </a:tc>
                <a:tc>
                  <a:txBody>
                    <a:bodyPr/>
                    <a:lstStyle/>
                    <a:p>
                      <a:pPr algn="ctr"/>
                      <a:r>
                        <a:rPr lang="en-CA" sz="1800" dirty="0"/>
                        <a:t>20</a:t>
                      </a:r>
                    </a:p>
                  </a:txBody>
                  <a:tcPr marL="91422" marR="91422" marT="45668" marB="45668"/>
                </a:tc>
                <a:extLst>
                  <a:ext uri="{0D108BD9-81ED-4DB2-BD59-A6C34878D82A}">
                    <a16:rowId xmlns:a16="http://schemas.microsoft.com/office/drawing/2014/main" val="10001"/>
                  </a:ext>
                </a:extLst>
              </a:tr>
              <a:tr h="370416">
                <a:tc>
                  <a:txBody>
                    <a:bodyPr/>
                    <a:lstStyle/>
                    <a:p>
                      <a:pPr algn="ctr"/>
                      <a:r>
                        <a:rPr lang="en-CA" sz="1800" dirty="0"/>
                        <a:t>54321</a:t>
                      </a:r>
                    </a:p>
                  </a:txBody>
                  <a:tcPr marL="91422" marR="91422" marT="45668" marB="45668"/>
                </a:tc>
                <a:tc>
                  <a:txBody>
                    <a:bodyPr/>
                    <a:lstStyle/>
                    <a:p>
                      <a:pPr algn="ctr"/>
                      <a:r>
                        <a:rPr lang="en-CA" sz="1800" dirty="0"/>
                        <a:t>30.40</a:t>
                      </a:r>
                    </a:p>
                  </a:txBody>
                  <a:tcPr marL="91422" marR="91422" marT="45668" marB="45668"/>
                </a:tc>
                <a:tc>
                  <a:txBody>
                    <a:bodyPr/>
                    <a:lstStyle/>
                    <a:p>
                      <a:pPr algn="ctr"/>
                      <a:r>
                        <a:rPr lang="en-CA" sz="1800" dirty="0"/>
                        <a:t>30</a:t>
                      </a:r>
                    </a:p>
                  </a:txBody>
                  <a:tcPr marL="91422" marR="91422" marT="45668" marB="45668"/>
                </a:tc>
                <a:extLst>
                  <a:ext uri="{0D108BD9-81ED-4DB2-BD59-A6C34878D82A}">
                    <a16:rowId xmlns:a16="http://schemas.microsoft.com/office/drawing/2014/main" val="10002"/>
                  </a:ext>
                </a:extLst>
              </a:tr>
            </a:tbl>
          </a:graphicData>
        </a:graphic>
      </p:graphicFrame>
      <p:graphicFrame>
        <p:nvGraphicFramePr>
          <p:cNvPr id="14" name="Table 13">
            <a:extLst>
              <a:ext uri="{FF2B5EF4-FFF2-40B4-BE49-F238E27FC236}">
                <a16:creationId xmlns:a16="http://schemas.microsoft.com/office/drawing/2014/main" id="{E2D3D763-7DBD-209E-AE2D-11C7635AC77C}"/>
              </a:ext>
            </a:extLst>
          </p:cNvPr>
          <p:cNvGraphicFramePr>
            <a:graphicFrameLocks noGrp="1"/>
          </p:cNvGraphicFramePr>
          <p:nvPr/>
        </p:nvGraphicFramePr>
        <p:xfrm>
          <a:off x="1530350" y="2411413"/>
          <a:ext cx="6096000" cy="1112837"/>
        </p:xfrm>
        <a:graphic>
          <a:graphicData uri="http://schemas.openxmlformats.org/drawingml/2006/table">
            <a:tbl>
              <a:tblPr firstRow="1" bandRow="1">
                <a:tableStyleId>{D27102A9-8310-4765-A935-A1911B00CA55}</a:tableStyleId>
              </a:tblPr>
              <a:tblGrid>
                <a:gridCol w="1463824">
                  <a:extLst>
                    <a:ext uri="{9D8B030D-6E8A-4147-A177-3AD203B41FA5}">
                      <a16:colId xmlns:a16="http://schemas.microsoft.com/office/drawing/2014/main" val="20000"/>
                    </a:ext>
                  </a:extLst>
                </a:gridCol>
                <a:gridCol w="2736304">
                  <a:extLst>
                    <a:ext uri="{9D8B030D-6E8A-4147-A177-3AD203B41FA5}">
                      <a16:colId xmlns:a16="http://schemas.microsoft.com/office/drawing/2014/main" val="20001"/>
                    </a:ext>
                  </a:extLst>
                </a:gridCol>
                <a:gridCol w="1895872">
                  <a:extLst>
                    <a:ext uri="{9D8B030D-6E8A-4147-A177-3AD203B41FA5}">
                      <a16:colId xmlns:a16="http://schemas.microsoft.com/office/drawing/2014/main" val="20002"/>
                    </a:ext>
                  </a:extLst>
                </a:gridCol>
              </a:tblGrid>
              <a:tr h="370946">
                <a:tc>
                  <a:txBody>
                    <a:bodyPr/>
                    <a:lstStyle/>
                    <a:p>
                      <a:pPr algn="ctr"/>
                      <a:r>
                        <a:rPr lang="en-CA" sz="1800" dirty="0"/>
                        <a:t>ISBN</a:t>
                      </a:r>
                    </a:p>
                  </a:txBody>
                  <a:tcPr marT="45733" marB="45733"/>
                </a:tc>
                <a:tc>
                  <a:txBody>
                    <a:bodyPr/>
                    <a:lstStyle/>
                    <a:p>
                      <a:pPr algn="ctr"/>
                      <a:r>
                        <a:rPr lang="en-CA" sz="1800" dirty="0"/>
                        <a:t>Title</a:t>
                      </a:r>
                    </a:p>
                  </a:txBody>
                  <a:tcPr marT="45733" marB="45733"/>
                </a:tc>
                <a:tc>
                  <a:txBody>
                    <a:bodyPr/>
                    <a:lstStyle/>
                    <a:p>
                      <a:pPr algn="ctr"/>
                      <a:r>
                        <a:rPr lang="en-CA" sz="1800" dirty="0"/>
                        <a:t>Price</a:t>
                      </a:r>
                    </a:p>
                  </a:txBody>
                  <a:tcPr marT="45733" marB="45733"/>
                </a:tc>
                <a:extLst>
                  <a:ext uri="{0D108BD9-81ED-4DB2-BD59-A6C34878D82A}">
                    <a16:rowId xmlns:a16="http://schemas.microsoft.com/office/drawing/2014/main" val="10000"/>
                  </a:ext>
                </a:extLst>
              </a:tr>
              <a:tr h="370946">
                <a:tc>
                  <a:txBody>
                    <a:bodyPr/>
                    <a:lstStyle/>
                    <a:p>
                      <a:pPr algn="ctr"/>
                      <a:r>
                        <a:rPr lang="en-CA" sz="1800" dirty="0"/>
                        <a:t>12345</a:t>
                      </a:r>
                    </a:p>
                  </a:txBody>
                  <a:tcPr marT="45733" marB="45733"/>
                </a:tc>
                <a:tc>
                  <a:txBody>
                    <a:bodyPr/>
                    <a:lstStyle/>
                    <a:p>
                      <a:pPr algn="ctr"/>
                      <a:r>
                        <a:rPr lang="en-CA" sz="1800" dirty="0"/>
                        <a:t>The Hunger</a:t>
                      </a:r>
                      <a:r>
                        <a:rPr lang="en-CA" sz="1800" baseline="0" dirty="0"/>
                        <a:t> Game</a:t>
                      </a:r>
                      <a:endParaRPr lang="en-CA" sz="1800" dirty="0"/>
                    </a:p>
                  </a:txBody>
                  <a:tcPr marT="45733" marB="45733"/>
                </a:tc>
                <a:tc>
                  <a:txBody>
                    <a:bodyPr/>
                    <a:lstStyle/>
                    <a:p>
                      <a:pPr algn="ctr"/>
                      <a:r>
                        <a:rPr lang="en-CA" sz="1800" dirty="0"/>
                        <a:t>20.50</a:t>
                      </a:r>
                    </a:p>
                  </a:txBody>
                  <a:tcPr marT="45733" marB="45733"/>
                </a:tc>
                <a:extLst>
                  <a:ext uri="{0D108BD9-81ED-4DB2-BD59-A6C34878D82A}">
                    <a16:rowId xmlns:a16="http://schemas.microsoft.com/office/drawing/2014/main" val="10001"/>
                  </a:ext>
                </a:extLst>
              </a:tr>
              <a:tr h="370946">
                <a:tc>
                  <a:txBody>
                    <a:bodyPr/>
                    <a:lstStyle/>
                    <a:p>
                      <a:pPr algn="ctr"/>
                      <a:r>
                        <a:rPr lang="en-CA" sz="1800" dirty="0"/>
                        <a:t>54321</a:t>
                      </a:r>
                    </a:p>
                  </a:txBody>
                  <a:tcPr marT="45733" marB="45733"/>
                </a:tc>
                <a:tc>
                  <a:txBody>
                    <a:bodyPr/>
                    <a:lstStyle/>
                    <a:p>
                      <a:pPr algn="ctr"/>
                      <a:r>
                        <a:rPr lang="en-CA" sz="1800" dirty="0"/>
                        <a:t>A Song of Ice and Fire</a:t>
                      </a:r>
                    </a:p>
                  </a:txBody>
                  <a:tcPr marT="45733" marB="45733"/>
                </a:tc>
                <a:tc>
                  <a:txBody>
                    <a:bodyPr/>
                    <a:lstStyle/>
                    <a:p>
                      <a:pPr algn="ctr"/>
                      <a:r>
                        <a:rPr lang="en-CA" sz="1800" dirty="0"/>
                        <a:t>30.40</a:t>
                      </a:r>
                    </a:p>
                  </a:txBody>
                  <a:tcPr marT="45733" marB="45733"/>
                </a:tc>
                <a:extLst>
                  <a:ext uri="{0D108BD9-81ED-4DB2-BD59-A6C34878D82A}">
                    <a16:rowId xmlns:a16="http://schemas.microsoft.com/office/drawing/2014/main" val="10002"/>
                  </a:ext>
                </a:extLst>
              </a:tr>
            </a:tbl>
          </a:graphicData>
        </a:graphic>
      </p:graphicFrame>
      <p:sp>
        <p:nvSpPr>
          <p:cNvPr id="17" name="TextBox 16">
            <a:extLst>
              <a:ext uri="{FF2B5EF4-FFF2-40B4-BE49-F238E27FC236}">
                <a16:creationId xmlns:a16="http://schemas.microsoft.com/office/drawing/2014/main" id="{2F24845A-A8BA-7E94-7956-4EFCC5EC705F}"/>
              </a:ext>
            </a:extLst>
          </p:cNvPr>
          <p:cNvSpPr txBox="1">
            <a:spLocks noChangeArrowheads="1"/>
          </p:cNvSpPr>
          <p:nvPr/>
        </p:nvSpPr>
        <p:spPr bwMode="auto">
          <a:xfrm>
            <a:off x="3570288" y="3540125"/>
            <a:ext cx="20161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Book table</a:t>
            </a:r>
          </a:p>
        </p:txBody>
      </p:sp>
      <p:sp>
        <p:nvSpPr>
          <p:cNvPr id="18" name="Snip Single Corner Rectangle 17">
            <a:extLst>
              <a:ext uri="{FF2B5EF4-FFF2-40B4-BE49-F238E27FC236}">
                <a16:creationId xmlns:a16="http://schemas.microsoft.com/office/drawing/2014/main" id="{C0A6B148-FA51-4585-7DBE-A74EE2D8AAAA}"/>
              </a:ext>
            </a:extLst>
          </p:cNvPr>
          <p:cNvSpPr/>
          <p:nvPr/>
        </p:nvSpPr>
        <p:spPr bwMode="auto">
          <a:xfrm>
            <a:off x="227013" y="5300663"/>
            <a:ext cx="1092200" cy="431800"/>
          </a:xfrm>
          <a:prstGeom prst="snip1Rect">
            <a:avLst/>
          </a:prstGeom>
          <a:solidFill>
            <a:srgbClr val="FFFF00">
              <a:alpha val="30000"/>
            </a:srgbClr>
          </a:solidFill>
          <a:ln w="9525" cap="flat" cmpd="sng" algn="ctr">
            <a:solidFill>
              <a:srgbClr val="FFC000"/>
            </a:solidFill>
            <a:prstDash val="solid"/>
            <a:round/>
            <a:headEnd type="none" w="med" len="med"/>
            <a:tailEnd type="none" w="med" len="me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sz="2000" b="1"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Result:</a:t>
            </a:r>
          </a:p>
        </p:txBody>
      </p:sp>
      <p:sp>
        <p:nvSpPr>
          <p:cNvPr id="19" name="Snip Single Corner Rectangle 18">
            <a:extLst>
              <a:ext uri="{FF2B5EF4-FFF2-40B4-BE49-F238E27FC236}">
                <a16:creationId xmlns:a16="http://schemas.microsoft.com/office/drawing/2014/main" id="{157C3CAE-9BFE-7FEB-EBDE-098B0FE8B3A2}"/>
              </a:ext>
            </a:extLst>
          </p:cNvPr>
          <p:cNvSpPr/>
          <p:nvPr/>
        </p:nvSpPr>
        <p:spPr bwMode="auto">
          <a:xfrm>
            <a:off x="250825" y="3978275"/>
            <a:ext cx="830263" cy="431800"/>
          </a:xfrm>
          <a:prstGeom prst="snip1Rect">
            <a:avLst/>
          </a:prstGeom>
          <a:solidFill>
            <a:srgbClr val="FFFF00">
              <a:alpha val="30000"/>
            </a:srgbClr>
          </a:solidFill>
          <a:ln w="9525" cap="flat" cmpd="sng" algn="ctr">
            <a:solidFill>
              <a:srgbClr val="FFC000"/>
            </a:solidFill>
            <a:prstDash val="solid"/>
            <a:round/>
            <a:headEnd type="none" w="med" len="med"/>
            <a:tailEnd type="none" w="med" len="med"/>
          </a:ln>
          <a:effec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2000" b="1"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Run:</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left)">
                                      <p:cBhvr>
                                        <p:cTn id="11" dur="500"/>
                                        <p:tgtEl>
                                          <p:spTgt spid="10"/>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6" presetClass="entr" presetSubtype="21" fill="hold" nodeType="click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barn(inVertical)">
                                      <p:cBhvr>
                                        <p:cTn id="16" dur="500"/>
                                        <p:tgtEl>
                                          <p:spTgt spid="14"/>
                                        </p:tgtEl>
                                      </p:cBhvr>
                                    </p:animEffect>
                                  </p:childTnLst>
                                </p:cTn>
                              </p:par>
                            </p:childTnLst>
                          </p:cTn>
                        </p:par>
                        <p:par>
                          <p:cTn id="17" fill="hold" nodeType="afterGroup">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wipe(left)">
                                      <p:cBhvr>
                                        <p:cTn id="20" dur="500"/>
                                        <p:tgtEl>
                                          <p:spTgt spid="17"/>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1" fill="hold" grpId="0" nodeType="click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wipe(up)">
                                      <p:cBhvr>
                                        <p:cTn id="25" dur="500"/>
                                        <p:tgtEl>
                                          <p:spTgt spid="19"/>
                                        </p:tgtEl>
                                      </p:cBhvr>
                                    </p:animEffect>
                                  </p:childTnLst>
                                </p:cTn>
                              </p:par>
                            </p:childTnLst>
                          </p:cTn>
                        </p:par>
                        <p:par>
                          <p:cTn id="26" fill="hold" nodeType="afterGroup">
                            <p:stCondLst>
                              <p:cond delay="500"/>
                            </p:stCondLst>
                            <p:childTnLst>
                              <p:par>
                                <p:cTn id="27" presetID="22" presetClass="entr" presetSubtype="8" fill="hold" nodeType="afterEffect">
                                  <p:stCondLst>
                                    <p:cond delay="0"/>
                                  </p:stCondLst>
                                  <p:childTnLst>
                                    <p:set>
                                      <p:cBhvr>
                                        <p:cTn id="28" dur="1" fill="hold">
                                          <p:stCondLst>
                                            <p:cond delay="0"/>
                                          </p:stCondLst>
                                        </p:cTn>
                                        <p:tgtEl>
                                          <p:spTgt spid="19">
                                            <p:txEl>
                                              <p:pRg st="0" end="0"/>
                                            </p:txEl>
                                          </p:spTgt>
                                        </p:tgtEl>
                                        <p:attrNameLst>
                                          <p:attrName>style.visibility</p:attrName>
                                        </p:attrNameLst>
                                      </p:cBhvr>
                                      <p:to>
                                        <p:strVal val="visible"/>
                                      </p:to>
                                    </p:set>
                                    <p:animEffect transition="in" filter="wipe(left)">
                                      <p:cBhvr>
                                        <p:cTn id="29" dur="500"/>
                                        <p:tgtEl>
                                          <p:spTgt spid="19">
                                            <p:txEl>
                                              <p:pRg st="0" end="0"/>
                                            </p:txEl>
                                          </p:spTgt>
                                        </p:tgtEl>
                                      </p:cBhvr>
                                    </p:animEffect>
                                  </p:childTnLst>
                                </p:cTn>
                              </p:par>
                            </p:childTnLst>
                          </p:cTn>
                        </p:par>
                        <p:par>
                          <p:cTn id="30" fill="hold" nodeType="afterGroup">
                            <p:stCondLst>
                              <p:cond delay="1000"/>
                            </p:stCondLst>
                            <p:childTnLst>
                              <p:par>
                                <p:cTn id="31" presetID="16" presetClass="entr" presetSubtype="21" fill="hold" grpId="0" nodeType="after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barn(inVertical)">
                                      <p:cBhvr>
                                        <p:cTn id="33" dur="500"/>
                                        <p:tgtEl>
                                          <p:spTgt spid="12"/>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1" fill="hold" grpId="0" nodeType="click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wipe(up)">
                                      <p:cBhvr>
                                        <p:cTn id="38" dur="500"/>
                                        <p:tgtEl>
                                          <p:spTgt spid="18"/>
                                        </p:tgtEl>
                                      </p:cBhvr>
                                    </p:animEffect>
                                  </p:childTnLst>
                                </p:cTn>
                              </p:par>
                            </p:childTnLst>
                          </p:cTn>
                        </p:par>
                        <p:par>
                          <p:cTn id="39" fill="hold" nodeType="afterGroup">
                            <p:stCondLst>
                              <p:cond delay="500"/>
                            </p:stCondLst>
                            <p:childTnLst>
                              <p:par>
                                <p:cTn id="40" presetID="22" presetClass="entr" presetSubtype="8" fill="hold" nodeType="afterEffect">
                                  <p:stCondLst>
                                    <p:cond delay="0"/>
                                  </p:stCondLst>
                                  <p:childTnLst>
                                    <p:set>
                                      <p:cBhvr>
                                        <p:cTn id="41" dur="1" fill="hold">
                                          <p:stCondLst>
                                            <p:cond delay="0"/>
                                          </p:stCondLst>
                                        </p:cTn>
                                        <p:tgtEl>
                                          <p:spTgt spid="18">
                                            <p:txEl>
                                              <p:pRg st="0" end="0"/>
                                            </p:txEl>
                                          </p:spTgt>
                                        </p:tgtEl>
                                        <p:attrNameLst>
                                          <p:attrName>style.visibility</p:attrName>
                                        </p:attrNameLst>
                                      </p:cBhvr>
                                      <p:to>
                                        <p:strVal val="visible"/>
                                      </p:to>
                                    </p:set>
                                    <p:animEffect transition="in" filter="wipe(left)">
                                      <p:cBhvr>
                                        <p:cTn id="42" dur="500"/>
                                        <p:tgtEl>
                                          <p:spTgt spid="18">
                                            <p:txEl>
                                              <p:pRg st="0" end="0"/>
                                            </p:txEl>
                                          </p:spTgt>
                                        </p:tgtEl>
                                      </p:cBhvr>
                                    </p:animEffect>
                                  </p:childTnLst>
                                </p:cTn>
                              </p:par>
                            </p:childTnLst>
                          </p:cTn>
                        </p:par>
                        <p:par>
                          <p:cTn id="43" fill="hold" nodeType="afterGroup">
                            <p:stCondLst>
                              <p:cond delay="1000"/>
                            </p:stCondLst>
                            <p:childTnLst>
                              <p:par>
                                <p:cTn id="44" presetID="22" presetClass="entr" presetSubtype="8" fill="hold" nodeType="after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wipe(left)">
                                      <p:cBhvr>
                                        <p:cTn id="46"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p:bldP spid="12" grpId="0" animBg="1"/>
      <p:bldP spid="17" grpId="0"/>
      <p:bldP spid="18" grpId="0" animBg="1"/>
      <p:bldP spid="19" grpId="0" animBg="1"/>
    </p:bldLst>
  </p:timing>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5E8D29-F602-5B4F-A70E-0588FEC4CA7E}"/>
              </a:ext>
            </a:extLst>
          </p:cNvPr>
          <p:cNvSpPr>
            <a:spLocks noGrp="1"/>
          </p:cNvSpPr>
          <p:nvPr>
            <p:ph type="title"/>
          </p:nvPr>
        </p:nvSpPr>
        <p:spPr>
          <a:xfrm>
            <a:off x="457200" y="0"/>
            <a:ext cx="7620000" cy="1143000"/>
          </a:xfrm>
        </p:spPr>
        <p:txBody>
          <a:bodyPr/>
          <a:lstStyle/>
          <a:p>
            <a:pPr algn="ctr">
              <a:defRPr/>
            </a:pPr>
            <a:r>
              <a:rPr lang="en-US" dirty="0"/>
              <a:t>Activity 1</a:t>
            </a:r>
            <a:endParaRPr lang="en-MY" dirty="0"/>
          </a:p>
        </p:txBody>
      </p:sp>
      <p:sp>
        <p:nvSpPr>
          <p:cNvPr id="23" name="Title 1">
            <a:extLst>
              <a:ext uri="{FF2B5EF4-FFF2-40B4-BE49-F238E27FC236}">
                <a16:creationId xmlns:a16="http://schemas.microsoft.com/office/drawing/2014/main" id="{43531E6E-8742-3B3E-3F96-76BC558EDF27}"/>
              </a:ext>
            </a:extLst>
          </p:cNvPr>
          <p:cNvSpPr txBox="1">
            <a:spLocks/>
          </p:cNvSpPr>
          <p:nvPr/>
        </p:nvSpPr>
        <p:spPr bwMode="auto">
          <a:xfrm>
            <a:off x="0" y="836613"/>
            <a:ext cx="8172450" cy="323850"/>
          </a:xfrm>
          <a:prstGeom prst="rect">
            <a:avLst/>
          </a:prstGeom>
          <a:noFill/>
          <a:ln w="9525">
            <a:noFill/>
            <a:miter lim="800000"/>
            <a:headEnd/>
            <a:tailEnd/>
          </a:ln>
        </p:spPr>
        <p:txBody>
          <a:bodyPr lIns="72000" tIns="0" rIns="72000" bIns="0"/>
          <a:lstStyle/>
          <a:p>
            <a:pPr marL="0" marR="0" lvl="0" indent="0" algn="l" defTabSz="720000" rtl="0" eaLnBrk="1" fontAlgn="base" latinLnBrk="0" hangingPunct="1">
              <a:lnSpc>
                <a:spcPts val="1800"/>
              </a:lnSpc>
              <a:spcBef>
                <a:spcPts val="0"/>
              </a:spcBef>
              <a:spcAft>
                <a:spcPts val="0"/>
              </a:spcAft>
              <a:buClrTx/>
              <a:buSzTx/>
              <a:buFontTx/>
              <a:buNone/>
              <a:tabLst>
                <a:tab pos="0" algn="l"/>
              </a:tabLst>
              <a:defRPr/>
            </a:pPr>
            <a:r>
              <a:rPr kumimoji="0" lang="en-CA" sz="1800" b="1" i="0" u="none" strike="noStrike" kern="0" cap="none" spc="0" normalizeH="0" baseline="0" noProof="0" dirty="0">
                <a:ln>
                  <a:noFill/>
                </a:ln>
                <a:solidFill>
                  <a:srgbClr val="2F2B20"/>
                </a:solidFill>
                <a:effectLst/>
                <a:uLnTx/>
                <a:uFillTx/>
                <a:latin typeface="Arial" panose="020B0604020202020204" pitchFamily="34" charset="0"/>
                <a:ea typeface="+mn-ea"/>
                <a:cs typeface="Calibri" pitchFamily="34" charset="0"/>
              </a:rPr>
              <a:t>CLASS ACTIVITY</a:t>
            </a:r>
            <a:endParaRPr kumimoji="0" lang="en-MY" sz="1800" b="1" i="0" u="none" strike="noStrike" kern="0" cap="none" spc="0" normalizeH="0" baseline="0" noProof="0" dirty="0">
              <a:ln>
                <a:noFill/>
              </a:ln>
              <a:solidFill>
                <a:srgbClr val="2F2B20"/>
              </a:solidFill>
              <a:effectLst/>
              <a:uLnTx/>
              <a:uFillTx/>
              <a:latin typeface="Arial" panose="020B0604020202020204" pitchFamily="34" charset="0"/>
              <a:ea typeface="+mn-ea"/>
              <a:cs typeface="Calibri" pitchFamily="34" charset="0"/>
            </a:endParaRPr>
          </a:p>
          <a:p>
            <a:pPr marL="0" marR="0" lvl="0" indent="0" algn="l" defTabSz="720000" rtl="0" eaLnBrk="1" fontAlgn="base" latinLnBrk="0" hangingPunct="1">
              <a:lnSpc>
                <a:spcPts val="1800"/>
              </a:lnSpc>
              <a:spcBef>
                <a:spcPts val="0"/>
              </a:spcBef>
              <a:spcAft>
                <a:spcPts val="0"/>
              </a:spcAft>
              <a:buClrTx/>
              <a:buSzTx/>
              <a:buFontTx/>
              <a:buNone/>
              <a:tabLst>
                <a:tab pos="0" algn="l"/>
              </a:tabLst>
              <a:defRPr/>
            </a:pPr>
            <a:endParaRPr kumimoji="0" lang="en-MY" sz="1800" b="1" i="0" u="none" strike="noStrike" kern="0" cap="none" spc="0" normalizeH="0" baseline="0" noProof="0" dirty="0">
              <a:ln>
                <a:noFill/>
              </a:ln>
              <a:solidFill>
                <a:srgbClr val="2F2B20"/>
              </a:solidFill>
              <a:effectLst/>
              <a:uLnTx/>
              <a:uFillTx/>
              <a:latin typeface="Calibri"/>
              <a:ea typeface="+mn-ea"/>
              <a:cs typeface="Calibri" pitchFamily="34" charset="0"/>
            </a:endParaRPr>
          </a:p>
        </p:txBody>
      </p:sp>
      <p:sp>
        <p:nvSpPr>
          <p:cNvPr id="12" name="Content Placeholder 2">
            <a:extLst>
              <a:ext uri="{FF2B5EF4-FFF2-40B4-BE49-F238E27FC236}">
                <a16:creationId xmlns:a16="http://schemas.microsoft.com/office/drawing/2014/main" id="{616553BE-D72E-FA0F-A16B-3D5D87D7AB84}"/>
              </a:ext>
            </a:extLst>
          </p:cNvPr>
          <p:cNvSpPr txBox="1">
            <a:spLocks/>
          </p:cNvSpPr>
          <p:nvPr/>
        </p:nvSpPr>
        <p:spPr bwMode="auto">
          <a:xfrm>
            <a:off x="76200" y="1341438"/>
            <a:ext cx="8185150"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4000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Write down the result of executing the following SQL statements</a:t>
            </a: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20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400050" marR="0" lvl="1"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20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Cambria" panose="02040503050406030204" pitchFamily="18" charset="0"/>
              <a:buAutoNum type="alphaLcParenR"/>
              <a:tabLst/>
              <a:defRPr/>
            </a:pPr>
            <a:r>
              <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SELECT SQRT(Spaces), ROUND(Cost), CEILING(Cost), FLOOR(Cost) FROM Course;</a:t>
            </a:r>
            <a:endParaRPr kumimoji="0" lang="en-US"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US" altLang="en-US" sz="32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US" altLang="en-US" sz="32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rPr>
              <a:t> </a:t>
            </a: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graphicFrame>
        <p:nvGraphicFramePr>
          <p:cNvPr id="3" name="Table 2">
            <a:extLst>
              <a:ext uri="{FF2B5EF4-FFF2-40B4-BE49-F238E27FC236}">
                <a16:creationId xmlns:a16="http://schemas.microsoft.com/office/drawing/2014/main" id="{A41C7568-E4A5-BC46-717B-D324CFED44A8}"/>
              </a:ext>
            </a:extLst>
          </p:cNvPr>
          <p:cNvGraphicFramePr>
            <a:graphicFrameLocks noGrp="1"/>
          </p:cNvGraphicFramePr>
          <p:nvPr/>
        </p:nvGraphicFramePr>
        <p:xfrm>
          <a:off x="1219200" y="2349500"/>
          <a:ext cx="6096000" cy="741364"/>
        </p:xfrm>
        <a:graphic>
          <a:graphicData uri="http://schemas.openxmlformats.org/drawingml/2006/table">
            <a:tbl>
              <a:tblPr firstRow="1" bandRow="1">
                <a:tableStyleId>{C083E6E3-FA7D-4D7B-A595-EF9225AFEA82}</a:tableStyleId>
              </a:tblPr>
              <a:tblGrid>
                <a:gridCol w="15240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tblGrid>
              <a:tr h="370682">
                <a:tc>
                  <a:txBody>
                    <a:bodyPr/>
                    <a:lstStyle/>
                    <a:p>
                      <a:pPr algn="ctr"/>
                      <a:r>
                        <a:rPr lang="en-CA" sz="1800" dirty="0"/>
                        <a:t>Date</a:t>
                      </a:r>
                    </a:p>
                  </a:txBody>
                  <a:tcPr marT="45700" marB="45700"/>
                </a:tc>
                <a:tc>
                  <a:txBody>
                    <a:bodyPr/>
                    <a:lstStyle/>
                    <a:p>
                      <a:pPr algn="ctr"/>
                      <a:r>
                        <a:rPr lang="en-CA" sz="1800" dirty="0"/>
                        <a:t>Name</a:t>
                      </a:r>
                    </a:p>
                  </a:txBody>
                  <a:tcPr marT="45700" marB="45700"/>
                </a:tc>
                <a:tc>
                  <a:txBody>
                    <a:bodyPr/>
                    <a:lstStyle/>
                    <a:p>
                      <a:pPr algn="ctr"/>
                      <a:r>
                        <a:rPr lang="en-CA" sz="1800" dirty="0"/>
                        <a:t>Spaces</a:t>
                      </a:r>
                    </a:p>
                  </a:txBody>
                  <a:tcPr marT="45700" marB="45700"/>
                </a:tc>
                <a:tc>
                  <a:txBody>
                    <a:bodyPr/>
                    <a:lstStyle/>
                    <a:p>
                      <a:pPr algn="ctr"/>
                      <a:r>
                        <a:rPr lang="en-CA" sz="1800" dirty="0"/>
                        <a:t>Cost</a:t>
                      </a:r>
                    </a:p>
                  </a:txBody>
                  <a:tcPr marT="45700" marB="45700"/>
                </a:tc>
                <a:extLst>
                  <a:ext uri="{0D108BD9-81ED-4DB2-BD59-A6C34878D82A}">
                    <a16:rowId xmlns:a16="http://schemas.microsoft.com/office/drawing/2014/main" val="10000"/>
                  </a:ext>
                </a:extLst>
              </a:tr>
              <a:tr h="370682">
                <a:tc>
                  <a:txBody>
                    <a:bodyPr/>
                    <a:lstStyle/>
                    <a:p>
                      <a:pPr algn="ctr"/>
                      <a:r>
                        <a:rPr lang="en-CA" sz="1800" dirty="0"/>
                        <a:t>2011-12-12</a:t>
                      </a:r>
                    </a:p>
                  </a:txBody>
                  <a:tcPr marT="45700" marB="45700"/>
                </a:tc>
                <a:tc>
                  <a:txBody>
                    <a:bodyPr/>
                    <a:lstStyle/>
                    <a:p>
                      <a:pPr algn="ctr"/>
                      <a:r>
                        <a:rPr lang="en-CA" sz="1800" dirty="0"/>
                        <a:t>Database</a:t>
                      </a:r>
                    </a:p>
                  </a:txBody>
                  <a:tcPr marT="45700" marB="45700"/>
                </a:tc>
                <a:tc>
                  <a:txBody>
                    <a:bodyPr/>
                    <a:lstStyle/>
                    <a:p>
                      <a:pPr algn="ctr"/>
                      <a:r>
                        <a:rPr lang="en-CA" sz="1800" dirty="0"/>
                        <a:t>25</a:t>
                      </a:r>
                    </a:p>
                  </a:txBody>
                  <a:tcPr marT="45700" marB="45700"/>
                </a:tc>
                <a:tc>
                  <a:txBody>
                    <a:bodyPr/>
                    <a:lstStyle/>
                    <a:p>
                      <a:pPr algn="ctr"/>
                      <a:r>
                        <a:rPr lang="en-CA" sz="1800" dirty="0"/>
                        <a:t>300.99</a:t>
                      </a:r>
                    </a:p>
                  </a:txBody>
                  <a:tcPr marT="45700" marB="45700"/>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EDCE0A0-3DCA-29A8-89DC-017F1F41E152}"/>
              </a:ext>
            </a:extLst>
          </p:cNvPr>
          <p:cNvSpPr txBox="1">
            <a:spLocks noChangeArrowheads="1"/>
          </p:cNvSpPr>
          <p:nvPr/>
        </p:nvSpPr>
        <p:spPr bwMode="auto">
          <a:xfrm>
            <a:off x="3417888" y="3108325"/>
            <a:ext cx="195738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Course table</a:t>
            </a:r>
          </a:p>
        </p:txBody>
      </p:sp>
      <p:graphicFrame>
        <p:nvGraphicFramePr>
          <p:cNvPr id="25" name="Table 24">
            <a:extLst>
              <a:ext uri="{FF2B5EF4-FFF2-40B4-BE49-F238E27FC236}">
                <a16:creationId xmlns:a16="http://schemas.microsoft.com/office/drawing/2014/main" id="{C33ADA68-3C8E-EB96-B31F-1BACA589A990}"/>
              </a:ext>
            </a:extLst>
          </p:cNvPr>
          <p:cNvGraphicFramePr>
            <a:graphicFrameLocks noGrp="1"/>
          </p:cNvGraphicFramePr>
          <p:nvPr/>
        </p:nvGraphicFramePr>
        <p:xfrm>
          <a:off x="381000" y="5422900"/>
          <a:ext cx="7727952" cy="742950"/>
        </p:xfrm>
        <a:graphic>
          <a:graphicData uri="http://schemas.openxmlformats.org/drawingml/2006/table">
            <a:tbl>
              <a:tblPr firstRow="1" bandRow="1">
                <a:tableStyleId>{0E3FDE45-AF77-4B5C-9715-49D594BDF05E}</a:tableStyleId>
              </a:tblPr>
              <a:tblGrid>
                <a:gridCol w="1931988">
                  <a:extLst>
                    <a:ext uri="{9D8B030D-6E8A-4147-A177-3AD203B41FA5}">
                      <a16:colId xmlns:a16="http://schemas.microsoft.com/office/drawing/2014/main" val="20000"/>
                    </a:ext>
                  </a:extLst>
                </a:gridCol>
                <a:gridCol w="1931988">
                  <a:extLst>
                    <a:ext uri="{9D8B030D-6E8A-4147-A177-3AD203B41FA5}">
                      <a16:colId xmlns:a16="http://schemas.microsoft.com/office/drawing/2014/main" val="20001"/>
                    </a:ext>
                  </a:extLst>
                </a:gridCol>
                <a:gridCol w="1931988">
                  <a:extLst>
                    <a:ext uri="{9D8B030D-6E8A-4147-A177-3AD203B41FA5}">
                      <a16:colId xmlns:a16="http://schemas.microsoft.com/office/drawing/2014/main" val="20002"/>
                    </a:ext>
                  </a:extLst>
                </a:gridCol>
                <a:gridCol w="1931988">
                  <a:extLst>
                    <a:ext uri="{9D8B030D-6E8A-4147-A177-3AD203B41FA5}">
                      <a16:colId xmlns:a16="http://schemas.microsoft.com/office/drawing/2014/main" val="20003"/>
                    </a:ext>
                  </a:extLst>
                </a:gridCol>
              </a:tblGrid>
              <a:tr h="371475">
                <a:tc>
                  <a:txBody>
                    <a:bodyPr/>
                    <a:lstStyle/>
                    <a:p>
                      <a:pPr algn="ctr"/>
                      <a:r>
                        <a:rPr lang="en-CA" sz="1800" dirty="0"/>
                        <a:t>SQRT(Spaces)</a:t>
                      </a:r>
                    </a:p>
                  </a:txBody>
                  <a:tcPr marL="91432" marR="91432" marT="45798" marB="45798"/>
                </a:tc>
                <a:tc>
                  <a:txBody>
                    <a:bodyPr/>
                    <a:lstStyle/>
                    <a:p>
                      <a:pPr algn="ctr"/>
                      <a:r>
                        <a:rPr lang="en-CA" sz="1800" dirty="0"/>
                        <a:t>ROUND(Cost)</a:t>
                      </a:r>
                    </a:p>
                  </a:txBody>
                  <a:tcPr marL="91432" marR="91432" marT="45798" marB="45798"/>
                </a:tc>
                <a:tc>
                  <a:txBody>
                    <a:bodyPr/>
                    <a:lstStyle/>
                    <a:p>
                      <a:pPr algn="ctr"/>
                      <a:r>
                        <a:rPr lang="en-CA" sz="1800" dirty="0"/>
                        <a:t>CEILING(Cost)</a:t>
                      </a:r>
                    </a:p>
                  </a:txBody>
                  <a:tcPr marL="91432" marR="91432" marT="45798" marB="45798"/>
                </a:tc>
                <a:tc>
                  <a:txBody>
                    <a:bodyPr/>
                    <a:lstStyle/>
                    <a:p>
                      <a:pPr algn="ctr"/>
                      <a:r>
                        <a:rPr lang="en-CA" sz="1800" dirty="0"/>
                        <a:t>FLOOR(Cost)</a:t>
                      </a:r>
                    </a:p>
                  </a:txBody>
                  <a:tcPr marL="91432" marR="91432" marT="45798" marB="45798"/>
                </a:tc>
                <a:extLst>
                  <a:ext uri="{0D108BD9-81ED-4DB2-BD59-A6C34878D82A}">
                    <a16:rowId xmlns:a16="http://schemas.microsoft.com/office/drawing/2014/main" val="10000"/>
                  </a:ext>
                </a:extLst>
              </a:tr>
              <a:tr h="371475">
                <a:tc>
                  <a:txBody>
                    <a:bodyPr/>
                    <a:lstStyle/>
                    <a:p>
                      <a:pPr algn="ctr"/>
                      <a:r>
                        <a:rPr lang="en-CA" sz="1800" dirty="0"/>
                        <a:t>5</a:t>
                      </a:r>
                    </a:p>
                  </a:txBody>
                  <a:tcPr marL="91432" marR="91432" marT="45798" marB="45798"/>
                </a:tc>
                <a:tc>
                  <a:txBody>
                    <a:bodyPr/>
                    <a:lstStyle/>
                    <a:p>
                      <a:pPr algn="ctr"/>
                      <a:r>
                        <a:rPr lang="en-CA" sz="1800" dirty="0"/>
                        <a:t>301</a:t>
                      </a:r>
                    </a:p>
                  </a:txBody>
                  <a:tcPr marL="91432" marR="91432" marT="45798" marB="45798"/>
                </a:tc>
                <a:tc>
                  <a:txBody>
                    <a:bodyPr/>
                    <a:lstStyle/>
                    <a:p>
                      <a:pPr algn="ctr"/>
                      <a:r>
                        <a:rPr lang="en-CA" sz="1800" dirty="0"/>
                        <a:t>301</a:t>
                      </a:r>
                    </a:p>
                  </a:txBody>
                  <a:tcPr marL="91432" marR="91432" marT="45798" marB="45798"/>
                </a:tc>
                <a:tc>
                  <a:txBody>
                    <a:bodyPr/>
                    <a:lstStyle/>
                    <a:p>
                      <a:pPr algn="ctr"/>
                      <a:r>
                        <a:rPr lang="en-CA" sz="1800" dirty="0"/>
                        <a:t>300</a:t>
                      </a:r>
                    </a:p>
                  </a:txBody>
                  <a:tcPr marL="91432" marR="91432" marT="45798" marB="45798"/>
                </a:tc>
                <a:extLst>
                  <a:ext uri="{0D108BD9-81ED-4DB2-BD59-A6C34878D82A}">
                    <a16:rowId xmlns:a16="http://schemas.microsoft.com/office/drawing/2014/main" val="10001"/>
                  </a:ext>
                </a:extLst>
              </a:tr>
            </a:tbl>
          </a:graphicData>
        </a:graphic>
      </p:graphicFrame>
      <p:sp>
        <p:nvSpPr>
          <p:cNvPr id="9" name="Rounded Rectangle 8">
            <a:extLst>
              <a:ext uri="{FF2B5EF4-FFF2-40B4-BE49-F238E27FC236}">
                <a16:creationId xmlns:a16="http://schemas.microsoft.com/office/drawing/2014/main" id="{A6C8472D-455B-35A1-AFF3-7975D1B0C9CF}"/>
              </a:ext>
            </a:extLst>
          </p:cNvPr>
          <p:cNvSpPr/>
          <p:nvPr/>
        </p:nvSpPr>
        <p:spPr bwMode="auto">
          <a:xfrm>
            <a:off x="3200400" y="4605338"/>
            <a:ext cx="2195513" cy="482600"/>
          </a:xfrm>
          <a:prstGeom prst="roundRect">
            <a:avLst/>
          </a:prstGeom>
          <a:ln>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nchorCtr="1"/>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sz="3200" b="0" i="0" u="none" strike="noStrike" kern="1200" cap="none" spc="0" normalizeH="0" baseline="0" noProof="0" dirty="0">
                <a:ln>
                  <a:noFill/>
                </a:ln>
                <a:solidFill>
                  <a:srgbClr val="FFFFFF"/>
                </a:solidFill>
                <a:effectLst/>
                <a:uLnTx/>
                <a:uFillTx/>
                <a:latin typeface="Arial" charset="0"/>
                <a:ea typeface="+mn-ea"/>
                <a:cs typeface="+mn-cs"/>
              </a:rPr>
              <a:t>Answer</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wipe(left)">
                                      <p:cBhvr>
                                        <p:cTn id="7" dur="500"/>
                                        <p:tgtEl>
                                          <p:spTgt spid="12">
                                            <p:txEl>
                                              <p:pRg st="0" end="0"/>
                                            </p:txEl>
                                          </p:spTgt>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up)">
                                      <p:cBhvr>
                                        <p:cTn id="11" dur="500"/>
                                        <p:tgtEl>
                                          <p:spTgt spid="3"/>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left)">
                                      <p:cBhvr>
                                        <p:cTn id="15" dur="500"/>
                                        <p:tgtEl>
                                          <p:spTgt spid="4"/>
                                        </p:tgtEl>
                                      </p:cBhvr>
                                    </p:animEffect>
                                  </p:childTnLst>
                                </p:cTn>
                              </p:par>
                            </p:childTnLst>
                          </p:cTn>
                        </p:par>
                        <p:par>
                          <p:cTn id="16" fill="hold" nodeType="afterGroup">
                            <p:stCondLst>
                              <p:cond delay="1500"/>
                            </p:stCondLst>
                            <p:childTnLst>
                              <p:par>
                                <p:cTn id="17" presetID="22" presetClass="entr" presetSubtype="8" fill="hold" nodeType="afterEffect">
                                  <p:stCondLst>
                                    <p:cond delay="0"/>
                                  </p:stCondLst>
                                  <p:childTnLst>
                                    <p:set>
                                      <p:cBhvr>
                                        <p:cTn id="18" dur="1" fill="hold">
                                          <p:stCondLst>
                                            <p:cond delay="0"/>
                                          </p:stCondLst>
                                        </p:cTn>
                                        <p:tgtEl>
                                          <p:spTgt spid="12">
                                            <p:txEl>
                                              <p:pRg st="4" end="4"/>
                                            </p:txEl>
                                          </p:spTgt>
                                        </p:tgtEl>
                                        <p:attrNameLst>
                                          <p:attrName>style.visibility</p:attrName>
                                        </p:attrNameLst>
                                      </p:cBhvr>
                                      <p:to>
                                        <p:strVal val="visible"/>
                                      </p:to>
                                    </p:set>
                                    <p:animEffect transition="in" filter="wipe(left)">
                                      <p:cBhvr>
                                        <p:cTn id="19" dur="500"/>
                                        <p:tgtEl>
                                          <p:spTgt spid="12">
                                            <p:txEl>
                                              <p:pRg st="4" end="4"/>
                                            </p:txEl>
                                          </p:spTgt>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wipe(left)">
                                      <p:cBhvr>
                                        <p:cTn id="23" dur="500"/>
                                        <p:tgtEl>
                                          <p:spTgt spid="9"/>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1" presetClass="entr" presetSubtype="0" fill="hold" nodeType="clickEffect">
                                  <p:stCondLst>
                                    <p:cond delay="0"/>
                                  </p:stCondLst>
                                  <p:childTnLst>
                                    <p:set>
                                      <p:cBhvr>
                                        <p:cTn id="27"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animBg="1"/>
    </p:bldLst>
  </p:timing>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6C3F2A-3FC4-5105-71FB-A6E110689E0B}"/>
              </a:ext>
            </a:extLst>
          </p:cNvPr>
          <p:cNvSpPr>
            <a:spLocks noGrp="1"/>
          </p:cNvSpPr>
          <p:nvPr>
            <p:ph type="title"/>
          </p:nvPr>
        </p:nvSpPr>
        <p:spPr>
          <a:xfrm>
            <a:off x="457200" y="0"/>
            <a:ext cx="7620000" cy="1143000"/>
          </a:xfrm>
        </p:spPr>
        <p:txBody>
          <a:bodyPr/>
          <a:lstStyle/>
          <a:p>
            <a:pPr algn="ctr">
              <a:defRPr/>
            </a:pPr>
            <a:r>
              <a:rPr lang="en-US" dirty="0"/>
              <a:t>String Functions</a:t>
            </a:r>
            <a:endParaRPr lang="en-MY" dirty="0"/>
          </a:p>
        </p:txBody>
      </p:sp>
      <p:sp>
        <p:nvSpPr>
          <p:cNvPr id="5" name="Content Placeholder 2">
            <a:extLst>
              <a:ext uri="{FF2B5EF4-FFF2-40B4-BE49-F238E27FC236}">
                <a16:creationId xmlns:a16="http://schemas.microsoft.com/office/drawing/2014/main" id="{3EF58956-2F74-1B92-A42E-A502BDC7F623}"/>
              </a:ext>
            </a:extLst>
          </p:cNvPr>
          <p:cNvSpPr txBox="1">
            <a:spLocks/>
          </p:cNvSpPr>
          <p:nvPr/>
        </p:nvSpPr>
        <p:spPr bwMode="auto">
          <a:xfrm>
            <a:off x="250825" y="1268413"/>
            <a:ext cx="7978775"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US"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A string is basically a sequence of characters (i.e. CHAR or VARCHAR)</a:t>
            </a: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US" altLang="en-US" sz="24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US"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In terms of positioning, each character of the string occupies a position</a:t>
            </a: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graphicFrame>
        <p:nvGraphicFramePr>
          <p:cNvPr id="3" name="Table 2">
            <a:extLst>
              <a:ext uri="{FF2B5EF4-FFF2-40B4-BE49-F238E27FC236}">
                <a16:creationId xmlns:a16="http://schemas.microsoft.com/office/drawing/2014/main" id="{5387E1DD-2139-74FF-285D-979FC355CC65}"/>
              </a:ext>
            </a:extLst>
          </p:cNvPr>
          <p:cNvGraphicFramePr>
            <a:graphicFrameLocks noGrp="1"/>
          </p:cNvGraphicFramePr>
          <p:nvPr/>
        </p:nvGraphicFramePr>
        <p:xfrm>
          <a:off x="76200" y="3933825"/>
          <a:ext cx="8305798" cy="1295400"/>
        </p:xfrm>
        <a:graphic>
          <a:graphicData uri="http://schemas.openxmlformats.org/drawingml/2006/table">
            <a:tbl>
              <a:tblPr firstRow="1" bandRow="1">
                <a:tableStyleId>{68D230F3-CF80-4859-8CE7-A43EE81993B5}</a:tableStyleId>
              </a:tblPr>
              <a:tblGrid>
                <a:gridCol w="1202446">
                  <a:extLst>
                    <a:ext uri="{9D8B030D-6E8A-4147-A177-3AD203B41FA5}">
                      <a16:colId xmlns:a16="http://schemas.microsoft.com/office/drawing/2014/main" val="20000"/>
                    </a:ext>
                  </a:extLst>
                </a:gridCol>
                <a:gridCol w="591946">
                  <a:extLst>
                    <a:ext uri="{9D8B030D-6E8A-4147-A177-3AD203B41FA5}">
                      <a16:colId xmlns:a16="http://schemas.microsoft.com/office/drawing/2014/main" val="20001"/>
                    </a:ext>
                  </a:extLst>
                </a:gridCol>
                <a:gridCol w="591946">
                  <a:extLst>
                    <a:ext uri="{9D8B030D-6E8A-4147-A177-3AD203B41FA5}">
                      <a16:colId xmlns:a16="http://schemas.microsoft.com/office/drawing/2014/main" val="20002"/>
                    </a:ext>
                  </a:extLst>
                </a:gridCol>
                <a:gridCol w="591946">
                  <a:extLst>
                    <a:ext uri="{9D8B030D-6E8A-4147-A177-3AD203B41FA5}">
                      <a16:colId xmlns:a16="http://schemas.microsoft.com/office/drawing/2014/main" val="20003"/>
                    </a:ext>
                  </a:extLst>
                </a:gridCol>
                <a:gridCol w="591946">
                  <a:extLst>
                    <a:ext uri="{9D8B030D-6E8A-4147-A177-3AD203B41FA5}">
                      <a16:colId xmlns:a16="http://schemas.microsoft.com/office/drawing/2014/main" val="20004"/>
                    </a:ext>
                  </a:extLst>
                </a:gridCol>
                <a:gridCol w="591946">
                  <a:extLst>
                    <a:ext uri="{9D8B030D-6E8A-4147-A177-3AD203B41FA5}">
                      <a16:colId xmlns:a16="http://schemas.microsoft.com/office/drawing/2014/main" val="20005"/>
                    </a:ext>
                  </a:extLst>
                </a:gridCol>
                <a:gridCol w="591946">
                  <a:extLst>
                    <a:ext uri="{9D8B030D-6E8A-4147-A177-3AD203B41FA5}">
                      <a16:colId xmlns:a16="http://schemas.microsoft.com/office/drawing/2014/main" val="20006"/>
                    </a:ext>
                  </a:extLst>
                </a:gridCol>
                <a:gridCol w="591946">
                  <a:extLst>
                    <a:ext uri="{9D8B030D-6E8A-4147-A177-3AD203B41FA5}">
                      <a16:colId xmlns:a16="http://schemas.microsoft.com/office/drawing/2014/main" val="20007"/>
                    </a:ext>
                  </a:extLst>
                </a:gridCol>
                <a:gridCol w="591946">
                  <a:extLst>
                    <a:ext uri="{9D8B030D-6E8A-4147-A177-3AD203B41FA5}">
                      <a16:colId xmlns:a16="http://schemas.microsoft.com/office/drawing/2014/main" val="20008"/>
                    </a:ext>
                  </a:extLst>
                </a:gridCol>
                <a:gridCol w="591946">
                  <a:extLst>
                    <a:ext uri="{9D8B030D-6E8A-4147-A177-3AD203B41FA5}">
                      <a16:colId xmlns:a16="http://schemas.microsoft.com/office/drawing/2014/main" val="20009"/>
                    </a:ext>
                  </a:extLst>
                </a:gridCol>
                <a:gridCol w="591946">
                  <a:extLst>
                    <a:ext uri="{9D8B030D-6E8A-4147-A177-3AD203B41FA5}">
                      <a16:colId xmlns:a16="http://schemas.microsoft.com/office/drawing/2014/main" val="20010"/>
                    </a:ext>
                  </a:extLst>
                </a:gridCol>
                <a:gridCol w="591946">
                  <a:extLst>
                    <a:ext uri="{9D8B030D-6E8A-4147-A177-3AD203B41FA5}">
                      <a16:colId xmlns:a16="http://schemas.microsoft.com/office/drawing/2014/main" val="20011"/>
                    </a:ext>
                  </a:extLst>
                </a:gridCol>
                <a:gridCol w="591946">
                  <a:extLst>
                    <a:ext uri="{9D8B030D-6E8A-4147-A177-3AD203B41FA5}">
                      <a16:colId xmlns:a16="http://schemas.microsoft.com/office/drawing/2014/main" val="20012"/>
                    </a:ext>
                  </a:extLst>
                </a:gridCol>
              </a:tblGrid>
              <a:tr h="643234">
                <a:tc>
                  <a:txBody>
                    <a:bodyPr/>
                    <a:lstStyle/>
                    <a:p>
                      <a:r>
                        <a:rPr lang="en-CA" sz="1800" dirty="0"/>
                        <a:t>Position</a:t>
                      </a:r>
                    </a:p>
                  </a:txBody>
                  <a:tcPr marT="45694" marB="45694" anchor="ctr" anchorCtr="1"/>
                </a:tc>
                <a:tc>
                  <a:txBody>
                    <a:bodyPr/>
                    <a:lstStyle/>
                    <a:p>
                      <a:r>
                        <a:rPr lang="en-CA" sz="1800" dirty="0"/>
                        <a:t>1</a:t>
                      </a:r>
                    </a:p>
                  </a:txBody>
                  <a:tcPr marT="45694" marB="45694" anchor="ctr" anchorCtr="1"/>
                </a:tc>
                <a:tc>
                  <a:txBody>
                    <a:bodyPr/>
                    <a:lstStyle/>
                    <a:p>
                      <a:r>
                        <a:rPr lang="en-CA" sz="1800" dirty="0"/>
                        <a:t>2</a:t>
                      </a:r>
                    </a:p>
                  </a:txBody>
                  <a:tcPr marT="45694" marB="45694" anchor="ctr" anchorCtr="1"/>
                </a:tc>
                <a:tc>
                  <a:txBody>
                    <a:bodyPr/>
                    <a:lstStyle/>
                    <a:p>
                      <a:r>
                        <a:rPr lang="en-CA" sz="1800" dirty="0"/>
                        <a:t>3</a:t>
                      </a:r>
                    </a:p>
                  </a:txBody>
                  <a:tcPr marT="45694" marB="45694" anchor="ctr" anchorCtr="1"/>
                </a:tc>
                <a:tc>
                  <a:txBody>
                    <a:bodyPr/>
                    <a:lstStyle/>
                    <a:p>
                      <a:r>
                        <a:rPr lang="en-CA" sz="1800" dirty="0"/>
                        <a:t>4</a:t>
                      </a:r>
                    </a:p>
                  </a:txBody>
                  <a:tcPr marT="45694" marB="45694" anchor="ctr" anchorCtr="1"/>
                </a:tc>
                <a:tc>
                  <a:txBody>
                    <a:bodyPr/>
                    <a:lstStyle/>
                    <a:p>
                      <a:r>
                        <a:rPr lang="en-CA" sz="1800" dirty="0"/>
                        <a:t>5</a:t>
                      </a:r>
                    </a:p>
                  </a:txBody>
                  <a:tcPr marT="45694" marB="45694" anchor="ctr" anchorCtr="1"/>
                </a:tc>
                <a:tc>
                  <a:txBody>
                    <a:bodyPr/>
                    <a:lstStyle/>
                    <a:p>
                      <a:r>
                        <a:rPr lang="en-CA" sz="1800" dirty="0"/>
                        <a:t>6</a:t>
                      </a:r>
                    </a:p>
                  </a:txBody>
                  <a:tcPr marT="45694" marB="45694" anchor="ctr" anchorCtr="1"/>
                </a:tc>
                <a:tc>
                  <a:txBody>
                    <a:bodyPr/>
                    <a:lstStyle/>
                    <a:p>
                      <a:r>
                        <a:rPr lang="en-CA" sz="1800" dirty="0"/>
                        <a:t>7</a:t>
                      </a:r>
                    </a:p>
                  </a:txBody>
                  <a:tcPr marT="45694" marB="45694" anchor="ctr" anchorCtr="1"/>
                </a:tc>
                <a:tc>
                  <a:txBody>
                    <a:bodyPr/>
                    <a:lstStyle/>
                    <a:p>
                      <a:r>
                        <a:rPr lang="en-CA" sz="1800" dirty="0"/>
                        <a:t>8</a:t>
                      </a:r>
                    </a:p>
                  </a:txBody>
                  <a:tcPr marT="45694" marB="45694" anchor="ctr" anchorCtr="1"/>
                </a:tc>
                <a:tc>
                  <a:txBody>
                    <a:bodyPr/>
                    <a:lstStyle/>
                    <a:p>
                      <a:r>
                        <a:rPr lang="en-CA" sz="1800" dirty="0"/>
                        <a:t>9</a:t>
                      </a:r>
                    </a:p>
                  </a:txBody>
                  <a:tcPr marT="45694" marB="45694" anchor="ctr" anchorCtr="1"/>
                </a:tc>
                <a:tc>
                  <a:txBody>
                    <a:bodyPr/>
                    <a:lstStyle/>
                    <a:p>
                      <a:r>
                        <a:rPr lang="en-CA" sz="1800" dirty="0"/>
                        <a:t>10</a:t>
                      </a:r>
                    </a:p>
                  </a:txBody>
                  <a:tcPr marT="45694" marB="45694" anchor="ctr" anchorCtr="1"/>
                </a:tc>
                <a:tc>
                  <a:txBody>
                    <a:bodyPr/>
                    <a:lstStyle/>
                    <a:p>
                      <a:r>
                        <a:rPr lang="en-CA" sz="1800" dirty="0"/>
                        <a:t>11</a:t>
                      </a:r>
                    </a:p>
                  </a:txBody>
                  <a:tcPr marT="45694" marB="45694" anchor="ctr" anchorCtr="1"/>
                </a:tc>
                <a:tc>
                  <a:txBody>
                    <a:bodyPr/>
                    <a:lstStyle/>
                    <a:p>
                      <a:r>
                        <a:rPr lang="en-CA" sz="1800" dirty="0"/>
                        <a:t>12</a:t>
                      </a:r>
                    </a:p>
                  </a:txBody>
                  <a:tcPr marT="45694" marB="45694" anchor="ctr" anchorCtr="1"/>
                </a:tc>
                <a:extLst>
                  <a:ext uri="{0D108BD9-81ED-4DB2-BD59-A6C34878D82A}">
                    <a16:rowId xmlns:a16="http://schemas.microsoft.com/office/drawing/2014/main" val="10000"/>
                  </a:ext>
                </a:extLst>
              </a:tr>
              <a:tr h="652166">
                <a:tc>
                  <a:txBody>
                    <a:bodyPr/>
                    <a:lstStyle/>
                    <a:p>
                      <a:r>
                        <a:rPr lang="en-CA" sz="1800" dirty="0"/>
                        <a:t>Character</a:t>
                      </a:r>
                    </a:p>
                  </a:txBody>
                  <a:tcPr marT="45694" marB="45694" anchor="ctr" anchorCtr="1"/>
                </a:tc>
                <a:tc>
                  <a:txBody>
                    <a:bodyPr/>
                    <a:lstStyle/>
                    <a:p>
                      <a:r>
                        <a:rPr lang="en-CA" sz="1800" dirty="0"/>
                        <a:t>H</a:t>
                      </a:r>
                    </a:p>
                  </a:txBody>
                  <a:tcPr marT="45694" marB="45694" anchor="ctr" anchorCtr="1"/>
                </a:tc>
                <a:tc>
                  <a:txBody>
                    <a:bodyPr/>
                    <a:lstStyle/>
                    <a:p>
                      <a:r>
                        <a:rPr lang="en-CA" sz="1800" dirty="0"/>
                        <a:t>A</a:t>
                      </a:r>
                    </a:p>
                  </a:txBody>
                  <a:tcPr marT="45694" marB="45694" anchor="ctr" anchorCtr="1"/>
                </a:tc>
                <a:tc>
                  <a:txBody>
                    <a:bodyPr/>
                    <a:lstStyle/>
                    <a:p>
                      <a:r>
                        <a:rPr lang="en-CA" sz="1800" dirty="0"/>
                        <a:t>R</a:t>
                      </a:r>
                    </a:p>
                  </a:txBody>
                  <a:tcPr marT="45694" marB="45694" anchor="ctr" anchorCtr="1"/>
                </a:tc>
                <a:tc>
                  <a:txBody>
                    <a:bodyPr/>
                    <a:lstStyle/>
                    <a:p>
                      <a:r>
                        <a:rPr lang="en-CA" sz="1800" dirty="0"/>
                        <a:t>R</a:t>
                      </a:r>
                    </a:p>
                  </a:txBody>
                  <a:tcPr marT="45694" marB="45694" anchor="ctr" anchorCtr="1"/>
                </a:tc>
                <a:tc>
                  <a:txBody>
                    <a:bodyPr/>
                    <a:lstStyle/>
                    <a:p>
                      <a:r>
                        <a:rPr lang="en-CA" sz="1800" dirty="0"/>
                        <a:t>Y</a:t>
                      </a:r>
                    </a:p>
                  </a:txBody>
                  <a:tcPr marT="45694" marB="45694" anchor="ctr" anchorCtr="1"/>
                </a:tc>
                <a:tc>
                  <a:txBody>
                    <a:bodyPr/>
                    <a:lstStyle/>
                    <a:p>
                      <a:endParaRPr lang="en-CA" sz="1800" dirty="0"/>
                    </a:p>
                  </a:txBody>
                  <a:tcPr marT="45694" marB="45694" anchor="ctr" anchorCtr="1"/>
                </a:tc>
                <a:tc>
                  <a:txBody>
                    <a:bodyPr/>
                    <a:lstStyle/>
                    <a:p>
                      <a:r>
                        <a:rPr lang="en-CA" sz="1800" dirty="0"/>
                        <a:t>P</a:t>
                      </a:r>
                    </a:p>
                  </a:txBody>
                  <a:tcPr marT="45694" marB="45694" anchor="ctr" anchorCtr="1"/>
                </a:tc>
                <a:tc>
                  <a:txBody>
                    <a:bodyPr/>
                    <a:lstStyle/>
                    <a:p>
                      <a:r>
                        <a:rPr lang="en-CA" sz="1800" dirty="0"/>
                        <a:t>O</a:t>
                      </a:r>
                    </a:p>
                  </a:txBody>
                  <a:tcPr marT="45694" marB="45694" anchor="ctr" anchorCtr="1"/>
                </a:tc>
                <a:tc>
                  <a:txBody>
                    <a:bodyPr/>
                    <a:lstStyle/>
                    <a:p>
                      <a:r>
                        <a:rPr lang="en-CA" sz="1800" dirty="0"/>
                        <a:t>T</a:t>
                      </a:r>
                    </a:p>
                  </a:txBody>
                  <a:tcPr marT="45694" marB="45694" anchor="ctr" anchorCtr="1"/>
                </a:tc>
                <a:tc>
                  <a:txBody>
                    <a:bodyPr/>
                    <a:lstStyle/>
                    <a:p>
                      <a:r>
                        <a:rPr lang="en-CA" sz="1800" dirty="0"/>
                        <a:t>T</a:t>
                      </a:r>
                    </a:p>
                  </a:txBody>
                  <a:tcPr marT="45694" marB="45694" anchor="ctr" anchorCtr="1"/>
                </a:tc>
                <a:tc>
                  <a:txBody>
                    <a:bodyPr/>
                    <a:lstStyle/>
                    <a:p>
                      <a:r>
                        <a:rPr lang="en-CA" sz="1800" dirty="0"/>
                        <a:t>E</a:t>
                      </a:r>
                    </a:p>
                  </a:txBody>
                  <a:tcPr marT="45694" marB="45694" anchor="ctr" anchorCtr="1"/>
                </a:tc>
                <a:tc>
                  <a:txBody>
                    <a:bodyPr/>
                    <a:lstStyle/>
                    <a:p>
                      <a:r>
                        <a:rPr lang="en-CA" sz="1800" dirty="0"/>
                        <a:t>R</a:t>
                      </a:r>
                    </a:p>
                  </a:txBody>
                  <a:tcPr marT="45694" marB="45694" anchor="ctr" anchorCtr="1"/>
                </a:tc>
                <a:extLst>
                  <a:ext uri="{0D108BD9-81ED-4DB2-BD59-A6C34878D82A}">
                    <a16:rowId xmlns:a16="http://schemas.microsoft.com/office/drawing/2014/main" val="10001"/>
                  </a:ext>
                </a:extLst>
              </a:tr>
            </a:tbl>
          </a:graphicData>
        </a:graphic>
      </p:graphicFrame>
      <p:grpSp>
        <p:nvGrpSpPr>
          <p:cNvPr id="6" name="Group 15">
            <a:extLst>
              <a:ext uri="{FF2B5EF4-FFF2-40B4-BE49-F238E27FC236}">
                <a16:creationId xmlns:a16="http://schemas.microsoft.com/office/drawing/2014/main" id="{D7DB26EE-7662-CE10-2679-E8BF69DAB494}"/>
              </a:ext>
            </a:extLst>
          </p:cNvPr>
          <p:cNvGrpSpPr>
            <a:grpSpLocks/>
          </p:cNvGrpSpPr>
          <p:nvPr/>
        </p:nvGrpSpPr>
        <p:grpSpPr bwMode="auto">
          <a:xfrm>
            <a:off x="1700213" y="5013325"/>
            <a:ext cx="1728787" cy="1212850"/>
            <a:chOff x="2110875" y="5085184"/>
            <a:chExt cx="1728192" cy="1213019"/>
          </a:xfrm>
        </p:grpSpPr>
        <p:sp>
          <p:nvSpPr>
            <p:cNvPr id="4" name="Rectangle 3">
              <a:extLst>
                <a:ext uri="{FF2B5EF4-FFF2-40B4-BE49-F238E27FC236}">
                  <a16:creationId xmlns:a16="http://schemas.microsoft.com/office/drawing/2014/main" id="{A01E6492-BED1-F345-A952-9B6B200FE667}"/>
                </a:ext>
              </a:extLst>
            </p:cNvPr>
            <p:cNvSpPr/>
            <p:nvPr/>
          </p:nvSpPr>
          <p:spPr bwMode="auto">
            <a:xfrm>
              <a:off x="2110875" y="5650413"/>
              <a:ext cx="1728192" cy="647790"/>
            </a:xfrm>
            <a:prstGeom prst="rect">
              <a:avLst/>
            </a:prstGeom>
            <a:ln>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anchor="ctr" anchorCtr="1"/>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sz="1800" b="0" i="0" u="none" strike="noStrike" kern="1200" cap="none" spc="0" normalizeH="0" baseline="0" noProof="0" dirty="0">
                  <a:ln>
                    <a:noFill/>
                  </a:ln>
                  <a:solidFill>
                    <a:srgbClr val="2F2B20"/>
                  </a:solidFill>
                  <a:effectLst/>
                  <a:uLnTx/>
                  <a:uFillTx/>
                  <a:latin typeface="Arial" charset="0"/>
                  <a:ea typeface="+mn-ea"/>
                  <a:cs typeface="+mn-cs"/>
                </a:rPr>
                <a:t>R occupies position 3</a:t>
              </a:r>
            </a:p>
          </p:txBody>
        </p:sp>
        <p:cxnSp>
          <p:nvCxnSpPr>
            <p:cNvPr id="15" name="Straight Arrow Connector 14">
              <a:extLst>
                <a:ext uri="{FF2B5EF4-FFF2-40B4-BE49-F238E27FC236}">
                  <a16:creationId xmlns:a16="http://schemas.microsoft.com/office/drawing/2014/main" id="{B3DF2CA0-1FB4-E947-97A6-2570B1B40ED1}"/>
                </a:ext>
              </a:extLst>
            </p:cNvPr>
            <p:cNvCxnSpPr>
              <a:stCxn id="4" idx="0"/>
            </p:cNvCxnSpPr>
            <p:nvPr/>
          </p:nvCxnSpPr>
          <p:spPr bwMode="auto">
            <a:xfrm flipV="1">
              <a:off x="2975764" y="5085184"/>
              <a:ext cx="142826" cy="565229"/>
            </a:xfrm>
            <a:prstGeom prst="straightConnector1">
              <a:avLst/>
            </a:prstGeom>
            <a:ln>
              <a:headEnd type="none" w="med" len="med"/>
              <a:tailEnd type="triangle"/>
            </a:ln>
          </p:spPr>
          <p:style>
            <a:lnRef idx="1">
              <a:schemeClr val="accent4"/>
            </a:lnRef>
            <a:fillRef idx="2">
              <a:schemeClr val="accent4"/>
            </a:fillRef>
            <a:effectRef idx="1">
              <a:schemeClr val="accent4"/>
            </a:effectRef>
            <a:fontRef idx="minor">
              <a:schemeClr val="dk1"/>
            </a:fontRef>
          </p:style>
        </p:cxnSp>
      </p:grpSp>
      <p:grpSp>
        <p:nvGrpSpPr>
          <p:cNvPr id="7" name="Group 13">
            <a:extLst>
              <a:ext uri="{FF2B5EF4-FFF2-40B4-BE49-F238E27FC236}">
                <a16:creationId xmlns:a16="http://schemas.microsoft.com/office/drawing/2014/main" id="{7F814FDC-1548-2E19-E663-0DB9806611F4}"/>
              </a:ext>
            </a:extLst>
          </p:cNvPr>
          <p:cNvGrpSpPr>
            <a:grpSpLocks/>
          </p:cNvGrpSpPr>
          <p:nvPr/>
        </p:nvGrpSpPr>
        <p:grpSpPr bwMode="auto">
          <a:xfrm>
            <a:off x="5867400" y="5013325"/>
            <a:ext cx="1728788" cy="1212850"/>
            <a:chOff x="2110875" y="5085184"/>
            <a:chExt cx="1728192" cy="1213019"/>
          </a:xfrm>
        </p:grpSpPr>
        <p:sp>
          <p:nvSpPr>
            <p:cNvPr id="20" name="Rectangle 19">
              <a:extLst>
                <a:ext uri="{FF2B5EF4-FFF2-40B4-BE49-F238E27FC236}">
                  <a16:creationId xmlns:a16="http://schemas.microsoft.com/office/drawing/2014/main" id="{C8CE1E0C-549A-5CA9-518F-BC059F97BDDC}"/>
                </a:ext>
              </a:extLst>
            </p:cNvPr>
            <p:cNvSpPr/>
            <p:nvPr/>
          </p:nvSpPr>
          <p:spPr bwMode="auto">
            <a:xfrm>
              <a:off x="2110875" y="5650413"/>
              <a:ext cx="1728192" cy="647790"/>
            </a:xfrm>
            <a:prstGeom prst="rect">
              <a:avLst/>
            </a:prstGeom>
            <a:ln>
              <a:headEnd type="none" w="med" len="med"/>
              <a:tailEnd type="none" w="med" len="med"/>
            </a:ln>
          </p:spPr>
          <p:style>
            <a:lnRef idx="1">
              <a:schemeClr val="accent5"/>
            </a:lnRef>
            <a:fillRef idx="2">
              <a:schemeClr val="accent5"/>
            </a:fillRef>
            <a:effectRef idx="1">
              <a:schemeClr val="accent5"/>
            </a:effectRef>
            <a:fontRef idx="minor">
              <a:schemeClr val="dk1"/>
            </a:fontRef>
          </p:style>
          <p:txBody>
            <a:bodyPr anchor="ctr" anchorCtr="1"/>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sz="1800" b="0" i="0" u="none" strike="noStrike" kern="1200" cap="none" spc="0" normalizeH="0" baseline="0" noProof="0" dirty="0">
                  <a:ln>
                    <a:noFill/>
                  </a:ln>
                  <a:solidFill>
                    <a:srgbClr val="2F2B20"/>
                  </a:solidFill>
                  <a:effectLst/>
                  <a:uLnTx/>
                  <a:uFillTx/>
                  <a:latin typeface="Arial" charset="0"/>
                  <a:ea typeface="+mn-ea"/>
                  <a:cs typeface="+mn-cs"/>
                </a:rPr>
                <a:t>T occupies position 10</a:t>
              </a:r>
            </a:p>
          </p:txBody>
        </p:sp>
        <p:cxnSp>
          <p:nvCxnSpPr>
            <p:cNvPr id="21" name="Straight Arrow Connector 20">
              <a:extLst>
                <a:ext uri="{FF2B5EF4-FFF2-40B4-BE49-F238E27FC236}">
                  <a16:creationId xmlns:a16="http://schemas.microsoft.com/office/drawing/2014/main" id="{43A576C9-A6E4-F73D-673C-987CD5917A91}"/>
                </a:ext>
              </a:extLst>
            </p:cNvPr>
            <p:cNvCxnSpPr>
              <a:stCxn id="20" idx="0"/>
            </p:cNvCxnSpPr>
            <p:nvPr/>
          </p:nvCxnSpPr>
          <p:spPr bwMode="auto">
            <a:xfrm flipV="1">
              <a:off x="2975765" y="5085184"/>
              <a:ext cx="142826" cy="565229"/>
            </a:xfrm>
            <a:prstGeom prst="straightConnector1">
              <a:avLst/>
            </a:prstGeom>
            <a:ln>
              <a:headEnd type="none" w="med" len="med"/>
              <a:tailEnd type="triangle"/>
            </a:ln>
          </p:spPr>
          <p:style>
            <a:lnRef idx="1">
              <a:schemeClr val="accent5"/>
            </a:lnRef>
            <a:fillRef idx="2">
              <a:schemeClr val="accent5"/>
            </a:fillRef>
            <a:effectRef idx="1">
              <a:schemeClr val="accent5"/>
            </a:effectRef>
            <a:fontRef idx="minor">
              <a:schemeClr val="dk1"/>
            </a:fontRef>
          </p:style>
        </p:cxnSp>
      </p:gr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wipe(left)">
                                      <p:cBhvr>
                                        <p:cTn id="12" dur="500"/>
                                        <p:tgtEl>
                                          <p:spTgt spid="5">
                                            <p:txEl>
                                              <p:pRg st="2" end="2"/>
                                            </p:txEl>
                                          </p:spTgt>
                                        </p:tgtEl>
                                      </p:cBhvr>
                                    </p:animEffect>
                                  </p:childTnLst>
                                </p:cTn>
                              </p:par>
                            </p:childTnLst>
                          </p:cTn>
                        </p:par>
                        <p:par>
                          <p:cTn id="13" fill="hold" nodeType="afterGroup">
                            <p:stCondLst>
                              <p:cond delay="500"/>
                            </p:stCondLst>
                            <p:childTnLst>
                              <p:par>
                                <p:cTn id="14" presetID="22" presetClass="entr" presetSubtype="8" fill="hold" nodeType="after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wipe(left)">
                                      <p:cBhvr>
                                        <p:cTn id="16" dur="500"/>
                                        <p:tgtEl>
                                          <p:spTgt spid="3"/>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8"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additive="base">
                                        <p:cTn id="21" dur="500" fill="hold"/>
                                        <p:tgtEl>
                                          <p:spTgt spid="6"/>
                                        </p:tgtEl>
                                        <p:attrNameLst>
                                          <p:attrName>ppt_x</p:attrName>
                                        </p:attrNameLst>
                                      </p:cBhvr>
                                      <p:tavLst>
                                        <p:tav tm="0">
                                          <p:val>
                                            <p:strVal val="0-#ppt_w/2"/>
                                          </p:val>
                                        </p:tav>
                                        <p:tav tm="100000">
                                          <p:val>
                                            <p:strVal val="#ppt_x"/>
                                          </p:val>
                                        </p:tav>
                                      </p:tavLst>
                                    </p:anim>
                                    <p:anim calcmode="lin" valueType="num">
                                      <p:cBhvr additive="base">
                                        <p:cTn id="22"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8"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 calcmode="lin" valueType="num">
                                      <p:cBhvr additive="base">
                                        <p:cTn id="27" dur="500" fill="hold"/>
                                        <p:tgtEl>
                                          <p:spTgt spid="7"/>
                                        </p:tgtEl>
                                        <p:attrNameLst>
                                          <p:attrName>ppt_x</p:attrName>
                                        </p:attrNameLst>
                                      </p:cBhvr>
                                      <p:tavLst>
                                        <p:tav tm="0">
                                          <p:val>
                                            <p:strVal val="0-#ppt_w/2"/>
                                          </p:val>
                                        </p:tav>
                                        <p:tav tm="100000">
                                          <p:val>
                                            <p:strVal val="#ppt_x"/>
                                          </p:val>
                                        </p:tav>
                                      </p:tavLst>
                                    </p:anim>
                                    <p:anim calcmode="lin" valueType="num">
                                      <p:cBhvr additive="base">
                                        <p:cTn id="28"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F5FE02-57CC-461E-1136-65050CFEE462}"/>
              </a:ext>
            </a:extLst>
          </p:cNvPr>
          <p:cNvSpPr>
            <a:spLocks noGrp="1"/>
          </p:cNvSpPr>
          <p:nvPr>
            <p:ph type="title"/>
          </p:nvPr>
        </p:nvSpPr>
        <p:spPr>
          <a:xfrm>
            <a:off x="457200" y="0"/>
            <a:ext cx="7620000" cy="1143000"/>
          </a:xfrm>
        </p:spPr>
        <p:txBody>
          <a:bodyPr/>
          <a:lstStyle/>
          <a:p>
            <a:pPr algn="ctr">
              <a:defRPr/>
            </a:pPr>
            <a:r>
              <a:rPr lang="en-US" dirty="0"/>
              <a:t>String Functions</a:t>
            </a:r>
            <a:endParaRPr lang="en-MY" dirty="0"/>
          </a:p>
        </p:txBody>
      </p:sp>
      <p:sp>
        <p:nvSpPr>
          <p:cNvPr id="5" name="Content Placeholder 2">
            <a:extLst>
              <a:ext uri="{FF2B5EF4-FFF2-40B4-BE49-F238E27FC236}">
                <a16:creationId xmlns:a16="http://schemas.microsoft.com/office/drawing/2014/main" id="{F6574760-3D30-F44B-1219-71CA82B10A18}"/>
              </a:ext>
            </a:extLst>
          </p:cNvPr>
          <p:cNvSpPr txBox="1">
            <a:spLocks/>
          </p:cNvSpPr>
          <p:nvPr/>
        </p:nvSpPr>
        <p:spPr bwMode="auto">
          <a:xfrm>
            <a:off x="250825" y="1268413"/>
            <a:ext cx="7978775"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US"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In this chapter, we will examine the following string functions</a:t>
            </a: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sp>
        <p:nvSpPr>
          <p:cNvPr id="6" name="Freeform 5">
            <a:hlinkClick r:id="rId2" action="ppaction://hlinksldjump"/>
            <a:extLst>
              <a:ext uri="{FF2B5EF4-FFF2-40B4-BE49-F238E27FC236}">
                <a16:creationId xmlns:a16="http://schemas.microsoft.com/office/drawing/2014/main" id="{227CB1CF-DD5C-5D95-8795-337E8EDB98C9}"/>
              </a:ext>
            </a:extLst>
          </p:cNvPr>
          <p:cNvSpPr/>
          <p:nvPr/>
        </p:nvSpPr>
        <p:spPr>
          <a:xfrm>
            <a:off x="685800" y="2507513"/>
            <a:ext cx="2236185" cy="1341711"/>
          </a:xfrm>
          <a:custGeom>
            <a:avLst/>
            <a:gdLst>
              <a:gd name="connsiteX0" fmla="*/ 0 w 2236185"/>
              <a:gd name="connsiteY0" fmla="*/ 0 h 1341711"/>
              <a:gd name="connsiteX1" fmla="*/ 2236185 w 2236185"/>
              <a:gd name="connsiteY1" fmla="*/ 0 h 1341711"/>
              <a:gd name="connsiteX2" fmla="*/ 2236185 w 2236185"/>
              <a:gd name="connsiteY2" fmla="*/ 1341711 h 1341711"/>
              <a:gd name="connsiteX3" fmla="*/ 0 w 2236185"/>
              <a:gd name="connsiteY3" fmla="*/ 1341711 h 1341711"/>
              <a:gd name="connsiteX4" fmla="*/ 0 w 2236185"/>
              <a:gd name="connsiteY4" fmla="*/ 0 h 1341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6185" h="1341711">
                <a:moveTo>
                  <a:pt x="0" y="0"/>
                </a:moveTo>
                <a:lnTo>
                  <a:pt x="2236185" y="0"/>
                </a:lnTo>
                <a:lnTo>
                  <a:pt x="2236185" y="1341711"/>
                </a:lnTo>
                <a:lnTo>
                  <a:pt x="0" y="1341711"/>
                </a:lnTo>
                <a:lnTo>
                  <a:pt x="0" y="0"/>
                </a:lnTo>
                <a:close/>
              </a:path>
            </a:pathLst>
          </a:custGeom>
          <a:solidFill>
            <a:schemeClr val="accent2"/>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lIns="83820" tIns="83820" rIns="83820" bIns="83820" spcCol="1270" anchor="ctr"/>
          <a:lstStyle/>
          <a:p>
            <a:pPr marL="0" marR="0" lvl="0" indent="0" algn="ctr" defTabSz="977900" rtl="0" eaLnBrk="0" fontAlgn="base" latinLnBrk="0" hangingPunct="0">
              <a:lnSpc>
                <a:spcPct val="90000"/>
              </a:lnSpc>
              <a:spcBef>
                <a:spcPct val="0"/>
              </a:spcBef>
              <a:spcAft>
                <a:spcPct val="35000"/>
              </a:spcAft>
              <a:buClrTx/>
              <a:buSzTx/>
              <a:buFontTx/>
              <a:buNone/>
              <a:tabLst/>
              <a:defRPr/>
            </a:pPr>
            <a:r>
              <a:rPr kumimoji="0" lang="en-CA" sz="2200" b="0" i="0" u="none" strike="noStrike" kern="1200" cap="none" spc="0" normalizeH="0" baseline="0" noProof="0" dirty="0">
                <a:ln>
                  <a:noFill/>
                </a:ln>
                <a:solidFill>
                  <a:srgbClr val="FFFFFF"/>
                </a:solidFill>
                <a:effectLst/>
                <a:uLnTx/>
                <a:uFillTx/>
                <a:latin typeface="Calibri"/>
                <a:ea typeface="+mn-ea"/>
                <a:cs typeface="+mn-cs"/>
              </a:rPr>
              <a:t>SUBSTRING()</a:t>
            </a:r>
          </a:p>
        </p:txBody>
      </p:sp>
      <p:sp>
        <p:nvSpPr>
          <p:cNvPr id="7" name="Freeform 6">
            <a:hlinkClick r:id="rId3" action="ppaction://hlinksldjump"/>
            <a:extLst>
              <a:ext uri="{FF2B5EF4-FFF2-40B4-BE49-F238E27FC236}">
                <a16:creationId xmlns:a16="http://schemas.microsoft.com/office/drawing/2014/main" id="{0D32F783-4982-DC41-8AF6-C15918AD8E89}"/>
              </a:ext>
            </a:extLst>
          </p:cNvPr>
          <p:cNvSpPr/>
          <p:nvPr/>
        </p:nvSpPr>
        <p:spPr>
          <a:xfrm>
            <a:off x="3145605" y="2507513"/>
            <a:ext cx="2236185" cy="1341711"/>
          </a:xfrm>
          <a:custGeom>
            <a:avLst/>
            <a:gdLst>
              <a:gd name="connsiteX0" fmla="*/ 0 w 2236185"/>
              <a:gd name="connsiteY0" fmla="*/ 0 h 1341711"/>
              <a:gd name="connsiteX1" fmla="*/ 2236185 w 2236185"/>
              <a:gd name="connsiteY1" fmla="*/ 0 h 1341711"/>
              <a:gd name="connsiteX2" fmla="*/ 2236185 w 2236185"/>
              <a:gd name="connsiteY2" fmla="*/ 1341711 h 1341711"/>
              <a:gd name="connsiteX3" fmla="*/ 0 w 2236185"/>
              <a:gd name="connsiteY3" fmla="*/ 1341711 h 1341711"/>
              <a:gd name="connsiteX4" fmla="*/ 0 w 2236185"/>
              <a:gd name="connsiteY4" fmla="*/ 0 h 1341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6185" h="1341711">
                <a:moveTo>
                  <a:pt x="0" y="0"/>
                </a:moveTo>
                <a:lnTo>
                  <a:pt x="2236185" y="0"/>
                </a:lnTo>
                <a:lnTo>
                  <a:pt x="2236185" y="1341711"/>
                </a:lnTo>
                <a:lnTo>
                  <a:pt x="0" y="1341711"/>
                </a:lnTo>
                <a:lnTo>
                  <a:pt x="0" y="0"/>
                </a:lnTo>
                <a:close/>
              </a:path>
            </a:pathLst>
          </a:custGeom>
          <a:solidFill>
            <a:schemeClr val="accent3"/>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lIns="83820" tIns="83820" rIns="83820" bIns="83820" spcCol="1270" anchor="ctr"/>
          <a:lstStyle/>
          <a:p>
            <a:pPr marL="0" marR="0" lvl="0" indent="0" algn="ctr" defTabSz="977900" rtl="0" eaLnBrk="0" fontAlgn="base" latinLnBrk="0" hangingPunct="0">
              <a:lnSpc>
                <a:spcPct val="90000"/>
              </a:lnSpc>
              <a:spcBef>
                <a:spcPct val="0"/>
              </a:spcBef>
              <a:spcAft>
                <a:spcPct val="35000"/>
              </a:spcAft>
              <a:buClrTx/>
              <a:buSzTx/>
              <a:buFontTx/>
              <a:buNone/>
              <a:tabLst/>
              <a:defRPr/>
            </a:pPr>
            <a:r>
              <a:rPr kumimoji="0" lang="en-CA" sz="2200" b="0" i="0" u="none" strike="noStrike" kern="1200" cap="none" spc="0" normalizeH="0" baseline="0" noProof="0" dirty="0">
                <a:ln>
                  <a:noFill/>
                </a:ln>
                <a:solidFill>
                  <a:srgbClr val="FFFFFF"/>
                </a:solidFill>
                <a:effectLst/>
                <a:uLnTx/>
                <a:uFillTx/>
                <a:latin typeface="Calibri"/>
                <a:ea typeface="+mn-ea"/>
                <a:cs typeface="+mn-cs"/>
              </a:rPr>
              <a:t>UPPER()</a:t>
            </a:r>
          </a:p>
        </p:txBody>
      </p:sp>
      <p:sp>
        <p:nvSpPr>
          <p:cNvPr id="8" name="Freeform 7">
            <a:hlinkClick r:id="rId4" action="ppaction://hlinksldjump"/>
            <a:extLst>
              <a:ext uri="{FF2B5EF4-FFF2-40B4-BE49-F238E27FC236}">
                <a16:creationId xmlns:a16="http://schemas.microsoft.com/office/drawing/2014/main" id="{5E132277-768C-D214-C105-D08CC6F42872}"/>
              </a:ext>
            </a:extLst>
          </p:cNvPr>
          <p:cNvSpPr/>
          <p:nvPr/>
        </p:nvSpPr>
        <p:spPr>
          <a:xfrm>
            <a:off x="5605409" y="2507513"/>
            <a:ext cx="2236185" cy="1341711"/>
          </a:xfrm>
          <a:custGeom>
            <a:avLst/>
            <a:gdLst>
              <a:gd name="connsiteX0" fmla="*/ 0 w 2236185"/>
              <a:gd name="connsiteY0" fmla="*/ 0 h 1341711"/>
              <a:gd name="connsiteX1" fmla="*/ 2236185 w 2236185"/>
              <a:gd name="connsiteY1" fmla="*/ 0 h 1341711"/>
              <a:gd name="connsiteX2" fmla="*/ 2236185 w 2236185"/>
              <a:gd name="connsiteY2" fmla="*/ 1341711 h 1341711"/>
              <a:gd name="connsiteX3" fmla="*/ 0 w 2236185"/>
              <a:gd name="connsiteY3" fmla="*/ 1341711 h 1341711"/>
              <a:gd name="connsiteX4" fmla="*/ 0 w 2236185"/>
              <a:gd name="connsiteY4" fmla="*/ 0 h 1341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6185" h="1341711">
                <a:moveTo>
                  <a:pt x="0" y="0"/>
                </a:moveTo>
                <a:lnTo>
                  <a:pt x="2236185" y="0"/>
                </a:lnTo>
                <a:lnTo>
                  <a:pt x="2236185" y="1341711"/>
                </a:lnTo>
                <a:lnTo>
                  <a:pt x="0" y="1341711"/>
                </a:lnTo>
                <a:lnTo>
                  <a:pt x="0" y="0"/>
                </a:lnTo>
                <a:close/>
              </a:path>
            </a:pathLst>
          </a:custGeom>
          <a:solidFill>
            <a:schemeClr val="accent5"/>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lIns="83820" tIns="83820" rIns="83820" bIns="83820" spcCol="1270" anchor="ctr"/>
          <a:lstStyle/>
          <a:p>
            <a:pPr marL="0" marR="0" lvl="0" indent="0" algn="ctr" defTabSz="977900" rtl="0" eaLnBrk="0" fontAlgn="base" latinLnBrk="0" hangingPunct="0">
              <a:lnSpc>
                <a:spcPct val="90000"/>
              </a:lnSpc>
              <a:spcBef>
                <a:spcPct val="0"/>
              </a:spcBef>
              <a:spcAft>
                <a:spcPct val="35000"/>
              </a:spcAft>
              <a:buClrTx/>
              <a:buSzTx/>
              <a:buFontTx/>
              <a:buNone/>
              <a:tabLst/>
              <a:defRPr/>
            </a:pPr>
            <a:r>
              <a:rPr kumimoji="0" lang="en-CA" sz="2200" b="0" i="0" u="none" strike="noStrike" kern="1200" cap="none" spc="0" normalizeH="0" baseline="0" noProof="0" dirty="0">
                <a:ln>
                  <a:noFill/>
                </a:ln>
                <a:solidFill>
                  <a:srgbClr val="FFFFFF"/>
                </a:solidFill>
                <a:effectLst/>
                <a:uLnTx/>
                <a:uFillTx/>
                <a:latin typeface="Calibri"/>
                <a:ea typeface="+mn-ea"/>
                <a:cs typeface="+mn-cs"/>
              </a:rPr>
              <a:t>LOWER()</a:t>
            </a:r>
          </a:p>
        </p:txBody>
      </p:sp>
      <p:sp>
        <p:nvSpPr>
          <p:cNvPr id="10" name="Freeform 9">
            <a:hlinkClick r:id="rId5" action="ppaction://hlinksldjump"/>
            <a:extLst>
              <a:ext uri="{FF2B5EF4-FFF2-40B4-BE49-F238E27FC236}">
                <a16:creationId xmlns:a16="http://schemas.microsoft.com/office/drawing/2014/main" id="{B4524FF1-2123-305F-12A7-71E4DFC78143}"/>
              </a:ext>
            </a:extLst>
          </p:cNvPr>
          <p:cNvSpPr/>
          <p:nvPr/>
        </p:nvSpPr>
        <p:spPr>
          <a:xfrm>
            <a:off x="1857211" y="4031505"/>
            <a:ext cx="2236185" cy="1341711"/>
          </a:xfrm>
          <a:custGeom>
            <a:avLst/>
            <a:gdLst>
              <a:gd name="connsiteX0" fmla="*/ 0 w 2236185"/>
              <a:gd name="connsiteY0" fmla="*/ 0 h 1341711"/>
              <a:gd name="connsiteX1" fmla="*/ 2236185 w 2236185"/>
              <a:gd name="connsiteY1" fmla="*/ 0 h 1341711"/>
              <a:gd name="connsiteX2" fmla="*/ 2236185 w 2236185"/>
              <a:gd name="connsiteY2" fmla="*/ 1341711 h 1341711"/>
              <a:gd name="connsiteX3" fmla="*/ 0 w 2236185"/>
              <a:gd name="connsiteY3" fmla="*/ 1341711 h 1341711"/>
              <a:gd name="connsiteX4" fmla="*/ 0 w 2236185"/>
              <a:gd name="connsiteY4" fmla="*/ 0 h 1341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6185" h="1341711">
                <a:moveTo>
                  <a:pt x="0" y="0"/>
                </a:moveTo>
                <a:lnTo>
                  <a:pt x="2236185" y="0"/>
                </a:lnTo>
                <a:lnTo>
                  <a:pt x="2236185" y="1341711"/>
                </a:lnTo>
                <a:lnTo>
                  <a:pt x="0" y="1341711"/>
                </a:lnTo>
                <a:lnTo>
                  <a:pt x="0" y="0"/>
                </a:lnTo>
                <a:close/>
              </a:path>
            </a:pathLst>
          </a:custGeom>
          <a:solidFill>
            <a:schemeClr val="tx2"/>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lIns="83820" tIns="83820" rIns="83820" bIns="83820" spcCol="1270" anchor="ctr"/>
          <a:lstStyle/>
          <a:p>
            <a:pPr marL="0" marR="0" lvl="0" indent="0" algn="ctr" defTabSz="977900" rtl="0" eaLnBrk="0" fontAlgn="base" latinLnBrk="0" hangingPunct="0">
              <a:lnSpc>
                <a:spcPct val="90000"/>
              </a:lnSpc>
              <a:spcBef>
                <a:spcPct val="0"/>
              </a:spcBef>
              <a:spcAft>
                <a:spcPct val="35000"/>
              </a:spcAft>
              <a:buClrTx/>
              <a:buSzTx/>
              <a:buFontTx/>
              <a:buNone/>
              <a:tabLst/>
              <a:defRPr/>
            </a:pPr>
            <a:r>
              <a:rPr kumimoji="0" lang="en-CA" sz="2200" b="0" i="0" u="none" strike="noStrike" kern="1200" cap="none" spc="0" normalizeH="0" baseline="0" noProof="0" dirty="0">
                <a:ln>
                  <a:noFill/>
                </a:ln>
                <a:solidFill>
                  <a:srgbClr val="FFFFFF"/>
                </a:solidFill>
                <a:effectLst/>
                <a:uLnTx/>
                <a:uFillTx/>
                <a:latin typeface="Calibri"/>
                <a:ea typeface="+mn-ea"/>
                <a:cs typeface="+mn-cs"/>
              </a:rPr>
              <a:t>REVERSE()</a:t>
            </a:r>
          </a:p>
        </p:txBody>
      </p:sp>
      <p:sp>
        <p:nvSpPr>
          <p:cNvPr id="12" name="Freeform 11">
            <a:hlinkClick r:id="rId6" action="ppaction://hlinksldjump"/>
            <a:extLst>
              <a:ext uri="{FF2B5EF4-FFF2-40B4-BE49-F238E27FC236}">
                <a16:creationId xmlns:a16="http://schemas.microsoft.com/office/drawing/2014/main" id="{17626EBE-5CDA-EE4C-898A-741A2DE547EA}"/>
              </a:ext>
            </a:extLst>
          </p:cNvPr>
          <p:cNvSpPr/>
          <p:nvPr/>
        </p:nvSpPr>
        <p:spPr>
          <a:xfrm>
            <a:off x="4317015" y="4031505"/>
            <a:ext cx="2236185" cy="1341711"/>
          </a:xfrm>
          <a:custGeom>
            <a:avLst/>
            <a:gdLst>
              <a:gd name="connsiteX0" fmla="*/ 0 w 2236185"/>
              <a:gd name="connsiteY0" fmla="*/ 0 h 1341711"/>
              <a:gd name="connsiteX1" fmla="*/ 2236185 w 2236185"/>
              <a:gd name="connsiteY1" fmla="*/ 0 h 1341711"/>
              <a:gd name="connsiteX2" fmla="*/ 2236185 w 2236185"/>
              <a:gd name="connsiteY2" fmla="*/ 1341711 h 1341711"/>
              <a:gd name="connsiteX3" fmla="*/ 0 w 2236185"/>
              <a:gd name="connsiteY3" fmla="*/ 1341711 h 1341711"/>
              <a:gd name="connsiteX4" fmla="*/ 0 w 2236185"/>
              <a:gd name="connsiteY4" fmla="*/ 0 h 1341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6185" h="1341711">
                <a:moveTo>
                  <a:pt x="0" y="0"/>
                </a:moveTo>
                <a:lnTo>
                  <a:pt x="2236185" y="0"/>
                </a:lnTo>
                <a:lnTo>
                  <a:pt x="2236185" y="1341711"/>
                </a:lnTo>
                <a:lnTo>
                  <a:pt x="0" y="1341711"/>
                </a:lnTo>
                <a:lnTo>
                  <a:pt x="0" y="0"/>
                </a:lnTo>
                <a:close/>
              </a:path>
            </a:pathLst>
          </a:custGeom>
          <a:solidFill>
            <a:schemeClr val="tx1"/>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lIns="83820" tIns="83820" rIns="83820" bIns="83820" spcCol="1270" anchor="ctr"/>
          <a:lstStyle/>
          <a:p>
            <a:pPr marL="0" marR="0" lvl="0" indent="0" algn="ctr" defTabSz="977900" rtl="0" eaLnBrk="0" fontAlgn="base" latinLnBrk="0" hangingPunct="0">
              <a:lnSpc>
                <a:spcPct val="90000"/>
              </a:lnSpc>
              <a:spcBef>
                <a:spcPct val="0"/>
              </a:spcBef>
              <a:spcAft>
                <a:spcPct val="35000"/>
              </a:spcAft>
              <a:buClrTx/>
              <a:buSzTx/>
              <a:buFontTx/>
              <a:buNone/>
              <a:tabLst/>
              <a:defRPr/>
            </a:pPr>
            <a:r>
              <a:rPr kumimoji="0" lang="en-CA" sz="2200" b="0" i="0" u="none" strike="noStrike" kern="1200" cap="none" spc="0" normalizeH="0" baseline="0" noProof="0" dirty="0">
                <a:ln>
                  <a:noFill/>
                </a:ln>
                <a:solidFill>
                  <a:srgbClr val="FFFFFF"/>
                </a:solidFill>
                <a:effectLst/>
                <a:uLnTx/>
                <a:uFillTx/>
                <a:latin typeface="Calibri"/>
                <a:ea typeface="+mn-ea"/>
                <a:cs typeface="+mn-cs"/>
              </a:rPr>
              <a:t>LENGTH()</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par>
                          <p:cTn id="8" fill="hold" nodeType="afterGroup">
                            <p:stCondLst>
                              <p:cond delay="500"/>
                            </p:stCondLst>
                            <p:childTnLst>
                              <p:par>
                                <p:cTn id="9" presetID="42" presetClass="entr" presetSubtype="0"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1000"/>
                                        <p:tgtEl>
                                          <p:spTgt spid="6"/>
                                        </p:tgtEl>
                                      </p:cBhvr>
                                    </p:animEffect>
                                    <p:anim calcmode="lin" valueType="num">
                                      <p:cBhvr>
                                        <p:cTn id="12" dur="1000" fill="hold"/>
                                        <p:tgtEl>
                                          <p:spTgt spid="6"/>
                                        </p:tgtEl>
                                        <p:attrNameLst>
                                          <p:attrName>ppt_x</p:attrName>
                                        </p:attrNameLst>
                                      </p:cBhvr>
                                      <p:tavLst>
                                        <p:tav tm="0">
                                          <p:val>
                                            <p:strVal val="#ppt_x"/>
                                          </p:val>
                                        </p:tav>
                                        <p:tav tm="100000">
                                          <p:val>
                                            <p:strVal val="#ppt_x"/>
                                          </p:val>
                                        </p:tav>
                                      </p:tavLst>
                                    </p:anim>
                                    <p:anim calcmode="lin" valueType="num">
                                      <p:cBhvr>
                                        <p:cTn id="13" dur="1000" fill="hold"/>
                                        <p:tgtEl>
                                          <p:spTgt spid="6"/>
                                        </p:tgtEl>
                                        <p:attrNameLst>
                                          <p:attrName>ppt_y</p:attrName>
                                        </p:attrNameLst>
                                      </p:cBhvr>
                                      <p:tavLst>
                                        <p:tav tm="0">
                                          <p:val>
                                            <p:strVal val="#ppt_y+.1"/>
                                          </p:val>
                                        </p:tav>
                                        <p:tav tm="100000">
                                          <p:val>
                                            <p:strVal val="#ppt_y"/>
                                          </p:val>
                                        </p:tav>
                                      </p:tavLst>
                                    </p:anim>
                                  </p:childTnLst>
                                </p:cTn>
                              </p:par>
                            </p:childTnLst>
                          </p:cTn>
                        </p:par>
                        <p:par>
                          <p:cTn id="14" fill="hold" nodeType="afterGroup">
                            <p:stCondLst>
                              <p:cond delay="1500"/>
                            </p:stCondLst>
                            <p:childTnLst>
                              <p:par>
                                <p:cTn id="15" presetID="42" presetClass="entr" presetSubtype="0" fill="hold" nodeType="after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1000"/>
                                        <p:tgtEl>
                                          <p:spTgt spid="7"/>
                                        </p:tgtEl>
                                      </p:cBhvr>
                                    </p:animEffect>
                                    <p:anim calcmode="lin" valueType="num">
                                      <p:cBhvr>
                                        <p:cTn id="18" dur="1000" fill="hold"/>
                                        <p:tgtEl>
                                          <p:spTgt spid="7"/>
                                        </p:tgtEl>
                                        <p:attrNameLst>
                                          <p:attrName>ppt_x</p:attrName>
                                        </p:attrNameLst>
                                      </p:cBhvr>
                                      <p:tavLst>
                                        <p:tav tm="0">
                                          <p:val>
                                            <p:strVal val="#ppt_x"/>
                                          </p:val>
                                        </p:tav>
                                        <p:tav tm="100000">
                                          <p:val>
                                            <p:strVal val="#ppt_x"/>
                                          </p:val>
                                        </p:tav>
                                      </p:tavLst>
                                    </p:anim>
                                    <p:anim calcmode="lin" valueType="num">
                                      <p:cBhvr>
                                        <p:cTn id="19" dur="1000" fill="hold"/>
                                        <p:tgtEl>
                                          <p:spTgt spid="7"/>
                                        </p:tgtEl>
                                        <p:attrNameLst>
                                          <p:attrName>ppt_y</p:attrName>
                                        </p:attrNameLst>
                                      </p:cBhvr>
                                      <p:tavLst>
                                        <p:tav tm="0">
                                          <p:val>
                                            <p:strVal val="#ppt_y+.1"/>
                                          </p:val>
                                        </p:tav>
                                        <p:tav tm="100000">
                                          <p:val>
                                            <p:strVal val="#ppt_y"/>
                                          </p:val>
                                        </p:tav>
                                      </p:tavLst>
                                    </p:anim>
                                  </p:childTnLst>
                                </p:cTn>
                              </p:par>
                            </p:childTnLst>
                          </p:cTn>
                        </p:par>
                        <p:par>
                          <p:cTn id="20" fill="hold" nodeType="afterGroup">
                            <p:stCondLst>
                              <p:cond delay="2500"/>
                            </p:stCondLst>
                            <p:childTnLst>
                              <p:par>
                                <p:cTn id="21" presetID="42" presetClass="entr" presetSubtype="0" fill="hold" nodeType="after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1000"/>
                                        <p:tgtEl>
                                          <p:spTgt spid="8"/>
                                        </p:tgtEl>
                                      </p:cBhvr>
                                    </p:animEffect>
                                    <p:anim calcmode="lin" valueType="num">
                                      <p:cBhvr>
                                        <p:cTn id="24" dur="1000" fill="hold"/>
                                        <p:tgtEl>
                                          <p:spTgt spid="8"/>
                                        </p:tgtEl>
                                        <p:attrNameLst>
                                          <p:attrName>ppt_x</p:attrName>
                                        </p:attrNameLst>
                                      </p:cBhvr>
                                      <p:tavLst>
                                        <p:tav tm="0">
                                          <p:val>
                                            <p:strVal val="#ppt_x"/>
                                          </p:val>
                                        </p:tav>
                                        <p:tav tm="100000">
                                          <p:val>
                                            <p:strVal val="#ppt_x"/>
                                          </p:val>
                                        </p:tav>
                                      </p:tavLst>
                                    </p:anim>
                                    <p:anim calcmode="lin" valueType="num">
                                      <p:cBhvr>
                                        <p:cTn id="25" dur="1000" fill="hold"/>
                                        <p:tgtEl>
                                          <p:spTgt spid="8"/>
                                        </p:tgtEl>
                                        <p:attrNameLst>
                                          <p:attrName>ppt_y</p:attrName>
                                        </p:attrNameLst>
                                      </p:cBhvr>
                                      <p:tavLst>
                                        <p:tav tm="0">
                                          <p:val>
                                            <p:strVal val="#ppt_y+.1"/>
                                          </p:val>
                                        </p:tav>
                                        <p:tav tm="100000">
                                          <p:val>
                                            <p:strVal val="#ppt_y"/>
                                          </p:val>
                                        </p:tav>
                                      </p:tavLst>
                                    </p:anim>
                                  </p:childTnLst>
                                </p:cTn>
                              </p:par>
                            </p:childTnLst>
                          </p:cTn>
                        </p:par>
                        <p:par>
                          <p:cTn id="26" fill="hold" nodeType="afterGroup">
                            <p:stCondLst>
                              <p:cond delay="3500"/>
                            </p:stCondLst>
                            <p:childTnLst>
                              <p:par>
                                <p:cTn id="27" presetID="42" presetClass="entr" presetSubtype="0" fill="hold" nodeType="after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1000"/>
                                        <p:tgtEl>
                                          <p:spTgt spid="10"/>
                                        </p:tgtEl>
                                      </p:cBhvr>
                                    </p:animEffect>
                                    <p:anim calcmode="lin" valueType="num">
                                      <p:cBhvr>
                                        <p:cTn id="30" dur="1000" fill="hold"/>
                                        <p:tgtEl>
                                          <p:spTgt spid="10"/>
                                        </p:tgtEl>
                                        <p:attrNameLst>
                                          <p:attrName>ppt_x</p:attrName>
                                        </p:attrNameLst>
                                      </p:cBhvr>
                                      <p:tavLst>
                                        <p:tav tm="0">
                                          <p:val>
                                            <p:strVal val="#ppt_x"/>
                                          </p:val>
                                        </p:tav>
                                        <p:tav tm="100000">
                                          <p:val>
                                            <p:strVal val="#ppt_x"/>
                                          </p:val>
                                        </p:tav>
                                      </p:tavLst>
                                    </p:anim>
                                    <p:anim calcmode="lin" valueType="num">
                                      <p:cBhvr>
                                        <p:cTn id="31" dur="1000" fill="hold"/>
                                        <p:tgtEl>
                                          <p:spTgt spid="10"/>
                                        </p:tgtEl>
                                        <p:attrNameLst>
                                          <p:attrName>ppt_y</p:attrName>
                                        </p:attrNameLst>
                                      </p:cBhvr>
                                      <p:tavLst>
                                        <p:tav tm="0">
                                          <p:val>
                                            <p:strVal val="#ppt_y+.1"/>
                                          </p:val>
                                        </p:tav>
                                        <p:tav tm="100000">
                                          <p:val>
                                            <p:strVal val="#ppt_y"/>
                                          </p:val>
                                        </p:tav>
                                      </p:tavLst>
                                    </p:anim>
                                  </p:childTnLst>
                                </p:cTn>
                              </p:par>
                            </p:childTnLst>
                          </p:cTn>
                        </p:par>
                        <p:par>
                          <p:cTn id="32" fill="hold" nodeType="afterGroup">
                            <p:stCondLst>
                              <p:cond delay="4500"/>
                            </p:stCondLst>
                            <p:childTnLst>
                              <p:par>
                                <p:cTn id="33" presetID="42" presetClass="entr" presetSubtype="0" fill="hold" nodeType="after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1000"/>
                                        <p:tgtEl>
                                          <p:spTgt spid="12"/>
                                        </p:tgtEl>
                                      </p:cBhvr>
                                    </p:animEffect>
                                    <p:anim calcmode="lin" valueType="num">
                                      <p:cBhvr>
                                        <p:cTn id="36" dur="1000" fill="hold"/>
                                        <p:tgtEl>
                                          <p:spTgt spid="12"/>
                                        </p:tgtEl>
                                        <p:attrNameLst>
                                          <p:attrName>ppt_x</p:attrName>
                                        </p:attrNameLst>
                                      </p:cBhvr>
                                      <p:tavLst>
                                        <p:tav tm="0">
                                          <p:val>
                                            <p:strVal val="#ppt_x"/>
                                          </p:val>
                                        </p:tav>
                                        <p:tav tm="100000">
                                          <p:val>
                                            <p:strVal val="#ppt_x"/>
                                          </p:val>
                                        </p:tav>
                                      </p:tavLst>
                                    </p:anim>
                                    <p:anim calcmode="lin" valueType="num">
                                      <p:cBhvr>
                                        <p:cTn id="37"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121822-5FAB-208D-F4D6-0F76C2F9367A}"/>
              </a:ext>
            </a:extLst>
          </p:cNvPr>
          <p:cNvSpPr>
            <a:spLocks noGrp="1"/>
          </p:cNvSpPr>
          <p:nvPr>
            <p:ph type="title"/>
          </p:nvPr>
        </p:nvSpPr>
        <p:spPr>
          <a:xfrm>
            <a:off x="457200" y="0"/>
            <a:ext cx="7620000" cy="1143000"/>
          </a:xfrm>
        </p:spPr>
        <p:txBody>
          <a:bodyPr/>
          <a:lstStyle/>
          <a:p>
            <a:pPr algn="ctr">
              <a:defRPr/>
            </a:pPr>
            <a:r>
              <a:rPr lang="en-US" dirty="0"/>
              <a:t>String Functions</a:t>
            </a:r>
            <a:endParaRPr lang="en-MY" dirty="0"/>
          </a:p>
        </p:txBody>
      </p:sp>
      <p:sp>
        <p:nvSpPr>
          <p:cNvPr id="16" name="Snip Single Corner Rectangle 15">
            <a:extLst>
              <a:ext uri="{FF2B5EF4-FFF2-40B4-BE49-F238E27FC236}">
                <a16:creationId xmlns:a16="http://schemas.microsoft.com/office/drawing/2014/main" id="{BB90F303-35F9-F243-6802-441303C929A2}"/>
              </a:ext>
            </a:extLst>
          </p:cNvPr>
          <p:cNvSpPr/>
          <p:nvPr/>
        </p:nvSpPr>
        <p:spPr>
          <a:xfrm>
            <a:off x="-36513" y="1125538"/>
            <a:ext cx="1728788" cy="400050"/>
          </a:xfrm>
          <a:prstGeom prst="snip1Rect">
            <a:avLst/>
          </a:prstGeom>
          <a:solidFill>
            <a:schemeClr val="accent2"/>
          </a:solidFill>
          <a:ln>
            <a:solidFill>
              <a:schemeClr val="accent2"/>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marR="0" lvl="0" indent="-342900" algn="just" defTabSz="914400" rtl="0" eaLnBrk="1" fontAlgn="base" latinLnBrk="0" hangingPunct="1">
              <a:lnSpc>
                <a:spcPct val="100000"/>
              </a:lnSpc>
              <a:spcBef>
                <a:spcPct val="20000"/>
              </a:spcBef>
              <a:spcAft>
                <a:spcPct val="0"/>
              </a:spcAft>
              <a:buClr>
                <a:srgbClr val="FF6600"/>
              </a:buClr>
              <a:buSzPct val="100000"/>
              <a:buFontTx/>
              <a:buNone/>
              <a:tabLst/>
              <a:defRPr/>
            </a:pPr>
            <a:r>
              <a:rPr kumimoji="0" lang="en-GB" sz="1800" b="0" i="0" u="none" strike="noStrike" kern="0" cap="none" spc="0" normalizeH="0" baseline="0" noProof="0" dirty="0">
                <a:ln>
                  <a:noFill/>
                </a:ln>
                <a:solidFill>
                  <a:srgbClr val="FFFFFF"/>
                </a:solidFill>
                <a:effectLst/>
                <a:uLnTx/>
                <a:uFillTx/>
                <a:latin typeface="Calibri"/>
                <a:ea typeface="+mn-ea"/>
                <a:cs typeface="+mn-cs"/>
              </a:rPr>
              <a:t>SUBSTRING()</a:t>
            </a:r>
          </a:p>
        </p:txBody>
      </p:sp>
      <p:sp>
        <p:nvSpPr>
          <p:cNvPr id="17" name="Content Placeholder 2">
            <a:extLst>
              <a:ext uri="{FF2B5EF4-FFF2-40B4-BE49-F238E27FC236}">
                <a16:creationId xmlns:a16="http://schemas.microsoft.com/office/drawing/2014/main" id="{0C56396A-3A36-84CD-28F7-DCEC36A61297}"/>
              </a:ext>
            </a:extLst>
          </p:cNvPr>
          <p:cNvSpPr txBox="1">
            <a:spLocks/>
          </p:cNvSpPr>
          <p:nvPr/>
        </p:nvSpPr>
        <p:spPr bwMode="auto">
          <a:xfrm>
            <a:off x="250825" y="1773238"/>
            <a:ext cx="8655050"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SUBSTRING() – Extract part of a string</a:t>
            </a: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sp>
        <p:nvSpPr>
          <p:cNvPr id="18" name="Rounded Rectangle 17">
            <a:extLst>
              <a:ext uri="{FF2B5EF4-FFF2-40B4-BE49-F238E27FC236}">
                <a16:creationId xmlns:a16="http://schemas.microsoft.com/office/drawing/2014/main" id="{F92F5047-C671-E09E-A307-4778112AA342}"/>
              </a:ext>
            </a:extLst>
          </p:cNvPr>
          <p:cNvSpPr/>
          <p:nvPr/>
        </p:nvSpPr>
        <p:spPr bwMode="auto">
          <a:xfrm>
            <a:off x="1143000" y="3968750"/>
            <a:ext cx="6896100" cy="1116013"/>
          </a:xfrm>
          <a:prstGeom prst="roundRect">
            <a:avLst/>
          </a:prstGeom>
          <a:solidFill>
            <a:schemeClr val="accent6">
              <a:alpha val="30000"/>
            </a:schemeClr>
          </a:solidFill>
          <a:ln w="9525" cap="flat" cmpd="sng" algn="ctr">
            <a:solidFill>
              <a:schemeClr val="accent6"/>
            </a:solidFill>
            <a:prstDash val="solid"/>
            <a:round/>
            <a:headEnd type="none" w="med" len="med"/>
            <a:tailEnd type="none" w="med" len="med"/>
          </a:ln>
          <a:effectLst/>
        </p:spPr>
        <p:txBody>
          <a:bodyPr anchor="ctr" anchorCtr="1"/>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2800" b="0"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SELECT ISBN, SUBSTRING(Title, 3, 4) FROM Book;</a:t>
            </a:r>
          </a:p>
        </p:txBody>
      </p:sp>
      <p:graphicFrame>
        <p:nvGraphicFramePr>
          <p:cNvPr id="19" name="Table 18">
            <a:extLst>
              <a:ext uri="{FF2B5EF4-FFF2-40B4-BE49-F238E27FC236}">
                <a16:creationId xmlns:a16="http://schemas.microsoft.com/office/drawing/2014/main" id="{02ECCD2B-FEA5-94C4-282D-7E47E661EA25}"/>
              </a:ext>
            </a:extLst>
          </p:cNvPr>
          <p:cNvGraphicFramePr>
            <a:graphicFrameLocks noGrp="1"/>
          </p:cNvGraphicFramePr>
          <p:nvPr/>
        </p:nvGraphicFramePr>
        <p:xfrm>
          <a:off x="1371600" y="5264150"/>
          <a:ext cx="5172075" cy="1106488"/>
        </p:xfrm>
        <a:graphic>
          <a:graphicData uri="http://schemas.openxmlformats.org/drawingml/2006/table">
            <a:tbl>
              <a:tblPr firstRow="1" bandRow="1">
                <a:tableStyleId>{C083E6E3-FA7D-4D7B-A595-EF9225AFEA82}</a:tableStyleId>
              </a:tblPr>
              <a:tblGrid>
                <a:gridCol w="2093459">
                  <a:extLst>
                    <a:ext uri="{9D8B030D-6E8A-4147-A177-3AD203B41FA5}">
                      <a16:colId xmlns:a16="http://schemas.microsoft.com/office/drawing/2014/main" val="20000"/>
                    </a:ext>
                  </a:extLst>
                </a:gridCol>
                <a:gridCol w="3078616">
                  <a:extLst>
                    <a:ext uri="{9D8B030D-6E8A-4147-A177-3AD203B41FA5}">
                      <a16:colId xmlns:a16="http://schemas.microsoft.com/office/drawing/2014/main" val="20001"/>
                    </a:ext>
                  </a:extLst>
                </a:gridCol>
              </a:tblGrid>
              <a:tr h="365655">
                <a:tc>
                  <a:txBody>
                    <a:bodyPr/>
                    <a:lstStyle/>
                    <a:p>
                      <a:pPr algn="ctr"/>
                      <a:r>
                        <a:rPr lang="en-CA" sz="1800" dirty="0"/>
                        <a:t>ISBN</a:t>
                      </a:r>
                    </a:p>
                  </a:txBody>
                  <a:tcPr marL="91432" marR="91432" marT="45668" marB="45668"/>
                </a:tc>
                <a:tc>
                  <a:txBody>
                    <a:bodyPr/>
                    <a:lstStyle/>
                    <a:p>
                      <a:pPr algn="ctr"/>
                      <a:r>
                        <a:rPr lang="en-CA" sz="1800" dirty="0"/>
                        <a:t>SUBSTRING(Title, 3, 4)</a:t>
                      </a:r>
                    </a:p>
                  </a:txBody>
                  <a:tcPr marL="91432" marR="91432" marT="45668" marB="45668"/>
                </a:tc>
                <a:extLst>
                  <a:ext uri="{0D108BD9-81ED-4DB2-BD59-A6C34878D82A}">
                    <a16:rowId xmlns:a16="http://schemas.microsoft.com/office/drawing/2014/main" val="10000"/>
                  </a:ext>
                </a:extLst>
              </a:tr>
              <a:tr h="370416">
                <a:tc>
                  <a:txBody>
                    <a:bodyPr/>
                    <a:lstStyle/>
                    <a:p>
                      <a:pPr algn="ctr"/>
                      <a:r>
                        <a:rPr lang="en-CA" sz="1800" dirty="0"/>
                        <a:t>12345</a:t>
                      </a:r>
                    </a:p>
                  </a:txBody>
                  <a:tcPr marL="91432" marR="91432" marT="45668" marB="45668"/>
                </a:tc>
                <a:tc>
                  <a:txBody>
                    <a:bodyPr/>
                    <a:lstStyle/>
                    <a:p>
                      <a:pPr algn="ctr"/>
                      <a:r>
                        <a:rPr lang="en-CA" sz="1800" dirty="0"/>
                        <a:t>e Hu</a:t>
                      </a:r>
                    </a:p>
                  </a:txBody>
                  <a:tcPr marL="91432" marR="91432" marT="45668" marB="45668"/>
                </a:tc>
                <a:extLst>
                  <a:ext uri="{0D108BD9-81ED-4DB2-BD59-A6C34878D82A}">
                    <a16:rowId xmlns:a16="http://schemas.microsoft.com/office/drawing/2014/main" val="10001"/>
                  </a:ext>
                </a:extLst>
              </a:tr>
              <a:tr h="370416">
                <a:tc>
                  <a:txBody>
                    <a:bodyPr/>
                    <a:lstStyle/>
                    <a:p>
                      <a:pPr algn="ctr"/>
                      <a:r>
                        <a:rPr lang="en-CA" sz="1800" dirty="0"/>
                        <a:t>54321</a:t>
                      </a:r>
                    </a:p>
                  </a:txBody>
                  <a:tcPr marL="91432" marR="91432" marT="45668" marB="45668"/>
                </a:tc>
                <a:tc>
                  <a:txBody>
                    <a:bodyPr/>
                    <a:lstStyle/>
                    <a:p>
                      <a:pPr algn="ctr"/>
                      <a:r>
                        <a:rPr lang="en-CA" sz="1800" baseline="0" dirty="0"/>
                        <a:t> Song</a:t>
                      </a:r>
                      <a:endParaRPr lang="en-CA" sz="1800" dirty="0"/>
                    </a:p>
                  </a:txBody>
                  <a:tcPr marL="91432" marR="91432" marT="45668" marB="45668"/>
                </a:tc>
                <a:extLst>
                  <a:ext uri="{0D108BD9-81ED-4DB2-BD59-A6C34878D82A}">
                    <a16:rowId xmlns:a16="http://schemas.microsoft.com/office/drawing/2014/main" val="10002"/>
                  </a:ext>
                </a:extLst>
              </a:tr>
            </a:tbl>
          </a:graphicData>
        </a:graphic>
      </p:graphicFrame>
      <p:graphicFrame>
        <p:nvGraphicFramePr>
          <p:cNvPr id="20" name="Table 19">
            <a:extLst>
              <a:ext uri="{FF2B5EF4-FFF2-40B4-BE49-F238E27FC236}">
                <a16:creationId xmlns:a16="http://schemas.microsoft.com/office/drawing/2014/main" id="{A037EADE-0138-E520-08DF-EA38925BC42E}"/>
              </a:ext>
            </a:extLst>
          </p:cNvPr>
          <p:cNvGraphicFramePr>
            <a:graphicFrameLocks noGrp="1"/>
          </p:cNvGraphicFramePr>
          <p:nvPr/>
        </p:nvGraphicFramePr>
        <p:xfrm>
          <a:off x="1219200" y="2411413"/>
          <a:ext cx="6096000" cy="1112837"/>
        </p:xfrm>
        <a:graphic>
          <a:graphicData uri="http://schemas.openxmlformats.org/drawingml/2006/table">
            <a:tbl>
              <a:tblPr firstRow="1" bandRow="1">
                <a:tableStyleId>{D27102A9-8310-4765-A935-A1911B00CA55}</a:tableStyleId>
              </a:tblPr>
              <a:tblGrid>
                <a:gridCol w="1463824">
                  <a:extLst>
                    <a:ext uri="{9D8B030D-6E8A-4147-A177-3AD203B41FA5}">
                      <a16:colId xmlns:a16="http://schemas.microsoft.com/office/drawing/2014/main" val="20000"/>
                    </a:ext>
                  </a:extLst>
                </a:gridCol>
                <a:gridCol w="2736304">
                  <a:extLst>
                    <a:ext uri="{9D8B030D-6E8A-4147-A177-3AD203B41FA5}">
                      <a16:colId xmlns:a16="http://schemas.microsoft.com/office/drawing/2014/main" val="20001"/>
                    </a:ext>
                  </a:extLst>
                </a:gridCol>
                <a:gridCol w="1895872">
                  <a:extLst>
                    <a:ext uri="{9D8B030D-6E8A-4147-A177-3AD203B41FA5}">
                      <a16:colId xmlns:a16="http://schemas.microsoft.com/office/drawing/2014/main" val="20002"/>
                    </a:ext>
                  </a:extLst>
                </a:gridCol>
              </a:tblGrid>
              <a:tr h="370946">
                <a:tc>
                  <a:txBody>
                    <a:bodyPr/>
                    <a:lstStyle/>
                    <a:p>
                      <a:pPr algn="ctr"/>
                      <a:r>
                        <a:rPr lang="en-CA" sz="1800" dirty="0"/>
                        <a:t>ISBN</a:t>
                      </a:r>
                    </a:p>
                  </a:txBody>
                  <a:tcPr marT="45733" marB="45733"/>
                </a:tc>
                <a:tc>
                  <a:txBody>
                    <a:bodyPr/>
                    <a:lstStyle/>
                    <a:p>
                      <a:pPr algn="ctr"/>
                      <a:r>
                        <a:rPr lang="en-CA" sz="1800" dirty="0"/>
                        <a:t>Title</a:t>
                      </a:r>
                    </a:p>
                  </a:txBody>
                  <a:tcPr marT="45733" marB="45733"/>
                </a:tc>
                <a:tc>
                  <a:txBody>
                    <a:bodyPr/>
                    <a:lstStyle/>
                    <a:p>
                      <a:pPr algn="ctr"/>
                      <a:r>
                        <a:rPr lang="en-CA" sz="1800" dirty="0"/>
                        <a:t>Quantity</a:t>
                      </a:r>
                    </a:p>
                  </a:txBody>
                  <a:tcPr marT="45733" marB="45733"/>
                </a:tc>
                <a:extLst>
                  <a:ext uri="{0D108BD9-81ED-4DB2-BD59-A6C34878D82A}">
                    <a16:rowId xmlns:a16="http://schemas.microsoft.com/office/drawing/2014/main" val="10000"/>
                  </a:ext>
                </a:extLst>
              </a:tr>
              <a:tr h="370946">
                <a:tc>
                  <a:txBody>
                    <a:bodyPr/>
                    <a:lstStyle/>
                    <a:p>
                      <a:pPr algn="ctr"/>
                      <a:r>
                        <a:rPr lang="en-CA" sz="1800" dirty="0"/>
                        <a:t>12345</a:t>
                      </a:r>
                    </a:p>
                  </a:txBody>
                  <a:tcPr marT="45733" marB="45733"/>
                </a:tc>
                <a:tc>
                  <a:txBody>
                    <a:bodyPr/>
                    <a:lstStyle/>
                    <a:p>
                      <a:pPr algn="ctr"/>
                      <a:r>
                        <a:rPr lang="en-CA" sz="1800" dirty="0"/>
                        <a:t>The Hunger</a:t>
                      </a:r>
                      <a:r>
                        <a:rPr lang="en-CA" sz="1800" baseline="0" dirty="0"/>
                        <a:t> Game</a:t>
                      </a:r>
                      <a:endParaRPr lang="en-CA" sz="1800" dirty="0"/>
                    </a:p>
                  </a:txBody>
                  <a:tcPr marT="45733" marB="45733"/>
                </a:tc>
                <a:tc>
                  <a:txBody>
                    <a:bodyPr/>
                    <a:lstStyle/>
                    <a:p>
                      <a:pPr algn="ctr"/>
                      <a:r>
                        <a:rPr lang="en-CA" sz="1800" dirty="0"/>
                        <a:t>10</a:t>
                      </a:r>
                    </a:p>
                  </a:txBody>
                  <a:tcPr marT="45733" marB="45733"/>
                </a:tc>
                <a:extLst>
                  <a:ext uri="{0D108BD9-81ED-4DB2-BD59-A6C34878D82A}">
                    <a16:rowId xmlns:a16="http://schemas.microsoft.com/office/drawing/2014/main" val="10001"/>
                  </a:ext>
                </a:extLst>
              </a:tr>
              <a:tr h="370946">
                <a:tc>
                  <a:txBody>
                    <a:bodyPr/>
                    <a:lstStyle/>
                    <a:p>
                      <a:pPr algn="ctr"/>
                      <a:r>
                        <a:rPr lang="en-CA" sz="1800" dirty="0"/>
                        <a:t>54321</a:t>
                      </a:r>
                    </a:p>
                  </a:txBody>
                  <a:tcPr marT="45733" marB="45733"/>
                </a:tc>
                <a:tc>
                  <a:txBody>
                    <a:bodyPr/>
                    <a:lstStyle/>
                    <a:p>
                      <a:pPr algn="ctr"/>
                      <a:r>
                        <a:rPr lang="en-CA" sz="1800" dirty="0"/>
                        <a:t>A Song of Ice and Fire</a:t>
                      </a:r>
                    </a:p>
                  </a:txBody>
                  <a:tcPr marT="45733" marB="45733"/>
                </a:tc>
                <a:tc>
                  <a:txBody>
                    <a:bodyPr/>
                    <a:lstStyle/>
                    <a:p>
                      <a:pPr algn="ctr"/>
                      <a:r>
                        <a:rPr lang="en-CA" sz="1800" dirty="0"/>
                        <a:t>15</a:t>
                      </a:r>
                    </a:p>
                  </a:txBody>
                  <a:tcPr marT="45733" marB="45733"/>
                </a:tc>
                <a:extLst>
                  <a:ext uri="{0D108BD9-81ED-4DB2-BD59-A6C34878D82A}">
                    <a16:rowId xmlns:a16="http://schemas.microsoft.com/office/drawing/2014/main" val="10002"/>
                  </a:ext>
                </a:extLst>
              </a:tr>
            </a:tbl>
          </a:graphicData>
        </a:graphic>
      </p:graphicFrame>
      <p:sp>
        <p:nvSpPr>
          <p:cNvPr id="21" name="TextBox 20">
            <a:extLst>
              <a:ext uri="{FF2B5EF4-FFF2-40B4-BE49-F238E27FC236}">
                <a16:creationId xmlns:a16="http://schemas.microsoft.com/office/drawing/2014/main" id="{4FE884CF-4BF2-2AD9-924E-87A24069CCE7}"/>
              </a:ext>
            </a:extLst>
          </p:cNvPr>
          <p:cNvSpPr txBox="1">
            <a:spLocks noChangeArrowheads="1"/>
          </p:cNvSpPr>
          <p:nvPr/>
        </p:nvSpPr>
        <p:spPr bwMode="auto">
          <a:xfrm>
            <a:off x="3570288" y="3540125"/>
            <a:ext cx="20161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Book table</a:t>
            </a:r>
          </a:p>
        </p:txBody>
      </p:sp>
      <p:sp>
        <p:nvSpPr>
          <p:cNvPr id="22" name="Snip Single Corner Rectangle 21">
            <a:extLst>
              <a:ext uri="{FF2B5EF4-FFF2-40B4-BE49-F238E27FC236}">
                <a16:creationId xmlns:a16="http://schemas.microsoft.com/office/drawing/2014/main" id="{1B3DF13F-7FEC-BF74-289A-8E37A5AA604A}"/>
              </a:ext>
            </a:extLst>
          </p:cNvPr>
          <p:cNvSpPr/>
          <p:nvPr/>
        </p:nvSpPr>
        <p:spPr bwMode="auto">
          <a:xfrm>
            <a:off x="76200" y="5300663"/>
            <a:ext cx="1092200" cy="431800"/>
          </a:xfrm>
          <a:prstGeom prst="snip1Rect">
            <a:avLst/>
          </a:prstGeom>
          <a:solidFill>
            <a:srgbClr val="FFFF00">
              <a:alpha val="30000"/>
            </a:srgbClr>
          </a:solidFill>
          <a:ln w="9525" cap="flat" cmpd="sng" algn="ctr">
            <a:solidFill>
              <a:srgbClr val="FFC000"/>
            </a:solidFill>
            <a:prstDash val="solid"/>
            <a:round/>
            <a:headEnd type="none" w="med" len="med"/>
            <a:tailEnd type="none" w="med" len="me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sz="2000" b="1"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Result:</a:t>
            </a:r>
          </a:p>
        </p:txBody>
      </p:sp>
      <p:sp>
        <p:nvSpPr>
          <p:cNvPr id="23" name="Snip Single Corner Rectangle 22">
            <a:extLst>
              <a:ext uri="{FF2B5EF4-FFF2-40B4-BE49-F238E27FC236}">
                <a16:creationId xmlns:a16="http://schemas.microsoft.com/office/drawing/2014/main" id="{5B091DB6-8492-6FA4-C9F1-7BF5212BDFE6}"/>
              </a:ext>
            </a:extLst>
          </p:cNvPr>
          <p:cNvSpPr/>
          <p:nvPr/>
        </p:nvSpPr>
        <p:spPr bwMode="auto">
          <a:xfrm>
            <a:off x="100013" y="3978275"/>
            <a:ext cx="828675" cy="431800"/>
          </a:xfrm>
          <a:prstGeom prst="snip1Rect">
            <a:avLst/>
          </a:prstGeom>
          <a:solidFill>
            <a:srgbClr val="FFFF00">
              <a:alpha val="30000"/>
            </a:srgbClr>
          </a:solidFill>
          <a:ln w="9525" cap="flat" cmpd="sng" algn="ctr">
            <a:solidFill>
              <a:srgbClr val="FFC000"/>
            </a:solidFill>
            <a:prstDash val="solid"/>
            <a:round/>
            <a:headEnd type="none" w="med" len="med"/>
            <a:tailEnd type="none" w="med" len="med"/>
          </a:ln>
          <a:effec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2000" b="1"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Run:</a:t>
            </a:r>
          </a:p>
        </p:txBody>
      </p:sp>
      <p:grpSp>
        <p:nvGrpSpPr>
          <p:cNvPr id="3" name="Group 13">
            <a:extLst>
              <a:ext uri="{FF2B5EF4-FFF2-40B4-BE49-F238E27FC236}">
                <a16:creationId xmlns:a16="http://schemas.microsoft.com/office/drawing/2014/main" id="{3B1A2DA1-4970-4CC9-243D-FEB975DB4254}"/>
              </a:ext>
            </a:extLst>
          </p:cNvPr>
          <p:cNvGrpSpPr>
            <a:grpSpLocks/>
          </p:cNvGrpSpPr>
          <p:nvPr/>
        </p:nvGrpSpPr>
        <p:grpSpPr bwMode="auto">
          <a:xfrm>
            <a:off x="6494463" y="3009900"/>
            <a:ext cx="1898650" cy="1104900"/>
            <a:chOff x="5067400" y="10124531"/>
            <a:chExt cx="1897900" cy="1105249"/>
          </a:xfrm>
        </p:grpSpPr>
        <p:sp>
          <p:nvSpPr>
            <p:cNvPr id="15" name="TextBox 14">
              <a:extLst>
                <a:ext uri="{FF2B5EF4-FFF2-40B4-BE49-F238E27FC236}">
                  <a16:creationId xmlns:a16="http://schemas.microsoft.com/office/drawing/2014/main" id="{0E5CF816-77DE-63FF-C660-E6BCD5984A19}"/>
                </a:ext>
              </a:extLst>
            </p:cNvPr>
            <p:cNvSpPr txBox="1"/>
            <p:nvPr/>
          </p:nvSpPr>
          <p:spPr>
            <a:xfrm>
              <a:off x="5067400" y="10124531"/>
              <a:ext cx="1897900" cy="714601"/>
            </a:xfrm>
            <a:prstGeom prst="roundRect">
              <a:avLst/>
            </a:prstGeom>
            <a:ln/>
          </p:spPr>
          <p:style>
            <a:lnRef idx="1">
              <a:schemeClr val="accent5"/>
            </a:lnRef>
            <a:fillRef idx="2">
              <a:schemeClr val="accent5"/>
            </a:fillRef>
            <a:effectRef idx="1">
              <a:schemeClr val="accent5"/>
            </a:effectRef>
            <a:fontRef idx="minor">
              <a:schemeClr val="dk1"/>
            </a:fontRef>
          </p:style>
          <p:txBody>
            <a:bodyP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sz="1800" b="0" i="0" u="none" strike="noStrike" kern="1200" cap="none" spc="0" normalizeH="0" baseline="0" noProof="0" dirty="0">
                  <a:ln>
                    <a:noFill/>
                  </a:ln>
                  <a:solidFill>
                    <a:srgbClr val="2F2B20"/>
                  </a:solidFill>
                  <a:effectLst/>
                  <a:uLnTx/>
                  <a:uFillTx/>
                  <a:latin typeface="Calibri"/>
                  <a:ea typeface="+mn-ea"/>
                  <a:cs typeface="+mn-cs"/>
                </a:rPr>
                <a:t>This is the starting position</a:t>
              </a:r>
            </a:p>
          </p:txBody>
        </p:sp>
        <p:cxnSp>
          <p:nvCxnSpPr>
            <p:cNvPr id="24" name="Straight Arrow Connector 23">
              <a:extLst>
                <a:ext uri="{FF2B5EF4-FFF2-40B4-BE49-F238E27FC236}">
                  <a16:creationId xmlns:a16="http://schemas.microsoft.com/office/drawing/2014/main" id="{3F2C566A-A566-3AB1-AB70-0B1DC8B3DF09}"/>
                </a:ext>
              </a:extLst>
            </p:cNvPr>
            <p:cNvCxnSpPr>
              <a:stCxn id="15" idx="2"/>
            </p:cNvCxnSpPr>
            <p:nvPr/>
          </p:nvCxnSpPr>
          <p:spPr bwMode="auto">
            <a:xfrm flipH="1">
              <a:off x="5741820" y="10839132"/>
              <a:ext cx="274530" cy="390648"/>
            </a:xfrm>
            <a:prstGeom prst="straightConnector1">
              <a:avLst/>
            </a:prstGeom>
            <a:ln>
              <a:headEnd type="none" w="med" len="med"/>
              <a:tailEnd type="triangle"/>
            </a:ln>
          </p:spPr>
          <p:style>
            <a:lnRef idx="1">
              <a:schemeClr val="accent5"/>
            </a:lnRef>
            <a:fillRef idx="2">
              <a:schemeClr val="accent5"/>
            </a:fillRef>
            <a:effectRef idx="1">
              <a:schemeClr val="accent5"/>
            </a:effectRef>
            <a:fontRef idx="minor">
              <a:schemeClr val="dk1"/>
            </a:fontRef>
          </p:style>
        </p:cxnSp>
      </p:grpSp>
      <p:grpSp>
        <p:nvGrpSpPr>
          <p:cNvPr id="4" name="Group 24">
            <a:extLst>
              <a:ext uri="{FF2B5EF4-FFF2-40B4-BE49-F238E27FC236}">
                <a16:creationId xmlns:a16="http://schemas.microsoft.com/office/drawing/2014/main" id="{7B53AACC-8926-D7CB-B9A9-8AAA67AB7238}"/>
              </a:ext>
            </a:extLst>
          </p:cNvPr>
          <p:cNvGrpSpPr>
            <a:grpSpLocks/>
          </p:cNvGrpSpPr>
          <p:nvPr/>
        </p:nvGrpSpPr>
        <p:grpSpPr bwMode="auto">
          <a:xfrm>
            <a:off x="6688138" y="4525963"/>
            <a:ext cx="1704975" cy="1439862"/>
            <a:chOff x="5245425" y="9902531"/>
            <a:chExt cx="1704888" cy="1438636"/>
          </a:xfrm>
        </p:grpSpPr>
        <p:sp>
          <p:nvSpPr>
            <p:cNvPr id="26" name="TextBox 25">
              <a:extLst>
                <a:ext uri="{FF2B5EF4-FFF2-40B4-BE49-F238E27FC236}">
                  <a16:creationId xmlns:a16="http://schemas.microsoft.com/office/drawing/2014/main" id="{0B077DA5-5F8C-4B6F-45AA-0433DA4A8723}"/>
                </a:ext>
              </a:extLst>
            </p:cNvPr>
            <p:cNvSpPr txBox="1"/>
            <p:nvPr/>
          </p:nvSpPr>
          <p:spPr>
            <a:xfrm>
              <a:off x="5245425" y="10319688"/>
              <a:ext cx="1704888" cy="1021479"/>
            </a:xfrm>
            <a:prstGeom prst="roundRect">
              <a:avLst/>
            </a:prstGeom>
            <a:ln/>
          </p:spPr>
          <p:style>
            <a:lnRef idx="1">
              <a:schemeClr val="accent1"/>
            </a:lnRef>
            <a:fillRef idx="2">
              <a:schemeClr val="accent1"/>
            </a:fillRef>
            <a:effectRef idx="1">
              <a:schemeClr val="accent1"/>
            </a:effectRef>
            <a:fontRef idx="minor">
              <a:schemeClr val="dk1"/>
            </a:fontRef>
          </p:style>
          <p:txBody>
            <a:bodyP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sz="1800" b="0" i="0" u="none" strike="noStrike" kern="1200" cap="none" spc="0" normalizeH="0" baseline="0" noProof="0" dirty="0">
                  <a:ln>
                    <a:noFill/>
                  </a:ln>
                  <a:solidFill>
                    <a:srgbClr val="2F2B20"/>
                  </a:solidFill>
                  <a:effectLst/>
                  <a:uLnTx/>
                  <a:uFillTx/>
                  <a:latin typeface="Calibri"/>
                  <a:ea typeface="+mn-ea"/>
                  <a:cs typeface="+mn-cs"/>
                </a:rPr>
                <a:t>This is the number of characters</a:t>
              </a:r>
            </a:p>
          </p:txBody>
        </p:sp>
        <p:cxnSp>
          <p:nvCxnSpPr>
            <p:cNvPr id="27" name="Straight Arrow Connector 26">
              <a:extLst>
                <a:ext uri="{FF2B5EF4-FFF2-40B4-BE49-F238E27FC236}">
                  <a16:creationId xmlns:a16="http://schemas.microsoft.com/office/drawing/2014/main" id="{950A8E05-0B2B-AC96-23E6-174958E04E17}"/>
                </a:ext>
              </a:extLst>
            </p:cNvPr>
            <p:cNvCxnSpPr>
              <a:stCxn id="26" idx="0"/>
            </p:cNvCxnSpPr>
            <p:nvPr/>
          </p:nvCxnSpPr>
          <p:spPr bwMode="auto">
            <a:xfrm flipH="1" flipV="1">
              <a:off x="6055009" y="9902531"/>
              <a:ext cx="42860" cy="417157"/>
            </a:xfrm>
            <a:prstGeom prst="straightConnector1">
              <a:avLst/>
            </a:prstGeom>
            <a:ln>
              <a:headEnd type="none" w="med" len="med"/>
              <a:tailEnd type="triangle"/>
            </a:ln>
          </p:spPr>
          <p:style>
            <a:lnRef idx="1">
              <a:schemeClr val="accent1"/>
            </a:lnRef>
            <a:fillRef idx="2">
              <a:schemeClr val="accent1"/>
            </a:fillRef>
            <a:effectRef idx="1">
              <a:schemeClr val="accent1"/>
            </a:effectRef>
            <a:fontRef idx="minor">
              <a:schemeClr val="dk1"/>
            </a:fontRef>
          </p:style>
        </p:cxnSp>
      </p:gr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7">
                                            <p:txEl>
                                              <p:pRg st="0" end="0"/>
                                            </p:txEl>
                                          </p:spTgt>
                                        </p:tgtEl>
                                        <p:attrNameLst>
                                          <p:attrName>style.visibility</p:attrName>
                                        </p:attrNameLst>
                                      </p:cBhvr>
                                      <p:to>
                                        <p:strVal val="visible"/>
                                      </p:to>
                                    </p:set>
                                    <p:animEffect transition="in" filter="wipe(left)">
                                      <p:cBhvr>
                                        <p:cTn id="11" dur="500"/>
                                        <p:tgtEl>
                                          <p:spTgt spid="17">
                                            <p:txEl>
                                              <p:pRg st="0" end="0"/>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6" presetClass="entr" presetSubtype="21" fill="hold" nodeType="click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barn(inVertical)">
                                      <p:cBhvr>
                                        <p:cTn id="16" dur="500"/>
                                        <p:tgtEl>
                                          <p:spTgt spid="20"/>
                                        </p:tgtEl>
                                      </p:cBhvr>
                                    </p:animEffect>
                                  </p:childTnLst>
                                </p:cTn>
                              </p:par>
                            </p:childTnLst>
                          </p:cTn>
                        </p:par>
                        <p:par>
                          <p:cTn id="17" fill="hold" nodeType="afterGroup">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21"/>
                                        </p:tgtEl>
                                        <p:attrNameLst>
                                          <p:attrName>style.visibility</p:attrName>
                                        </p:attrNameLst>
                                      </p:cBhvr>
                                      <p:to>
                                        <p:strVal val="visible"/>
                                      </p:to>
                                    </p:set>
                                    <p:animEffect transition="in" filter="wipe(left)">
                                      <p:cBhvr>
                                        <p:cTn id="20" dur="500"/>
                                        <p:tgtEl>
                                          <p:spTgt spid="21"/>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1" fill="hold" grpId="0" nodeType="clickEffect">
                                  <p:stCondLst>
                                    <p:cond delay="0"/>
                                  </p:stCondLst>
                                  <p:childTnLst>
                                    <p:set>
                                      <p:cBhvr>
                                        <p:cTn id="24" dur="1" fill="hold">
                                          <p:stCondLst>
                                            <p:cond delay="0"/>
                                          </p:stCondLst>
                                        </p:cTn>
                                        <p:tgtEl>
                                          <p:spTgt spid="23"/>
                                        </p:tgtEl>
                                        <p:attrNameLst>
                                          <p:attrName>style.visibility</p:attrName>
                                        </p:attrNameLst>
                                      </p:cBhvr>
                                      <p:to>
                                        <p:strVal val="visible"/>
                                      </p:to>
                                    </p:set>
                                    <p:animEffect transition="in" filter="wipe(up)">
                                      <p:cBhvr>
                                        <p:cTn id="25" dur="500"/>
                                        <p:tgtEl>
                                          <p:spTgt spid="23"/>
                                        </p:tgtEl>
                                      </p:cBhvr>
                                    </p:animEffect>
                                  </p:childTnLst>
                                </p:cTn>
                              </p:par>
                            </p:childTnLst>
                          </p:cTn>
                        </p:par>
                        <p:par>
                          <p:cTn id="26" fill="hold" nodeType="afterGroup">
                            <p:stCondLst>
                              <p:cond delay="500"/>
                            </p:stCondLst>
                            <p:childTnLst>
                              <p:par>
                                <p:cTn id="27" presetID="22" presetClass="entr" presetSubtype="8" fill="hold" nodeType="afterEffect">
                                  <p:stCondLst>
                                    <p:cond delay="0"/>
                                  </p:stCondLst>
                                  <p:childTnLst>
                                    <p:set>
                                      <p:cBhvr>
                                        <p:cTn id="28" dur="1" fill="hold">
                                          <p:stCondLst>
                                            <p:cond delay="0"/>
                                          </p:stCondLst>
                                        </p:cTn>
                                        <p:tgtEl>
                                          <p:spTgt spid="23">
                                            <p:txEl>
                                              <p:pRg st="0" end="0"/>
                                            </p:txEl>
                                          </p:spTgt>
                                        </p:tgtEl>
                                        <p:attrNameLst>
                                          <p:attrName>style.visibility</p:attrName>
                                        </p:attrNameLst>
                                      </p:cBhvr>
                                      <p:to>
                                        <p:strVal val="visible"/>
                                      </p:to>
                                    </p:set>
                                    <p:animEffect transition="in" filter="wipe(left)">
                                      <p:cBhvr>
                                        <p:cTn id="29" dur="500"/>
                                        <p:tgtEl>
                                          <p:spTgt spid="23">
                                            <p:txEl>
                                              <p:pRg st="0" end="0"/>
                                            </p:txEl>
                                          </p:spTgt>
                                        </p:tgtEl>
                                      </p:cBhvr>
                                    </p:animEffect>
                                  </p:childTnLst>
                                </p:cTn>
                              </p:par>
                            </p:childTnLst>
                          </p:cTn>
                        </p:par>
                        <p:par>
                          <p:cTn id="30" fill="hold" nodeType="afterGroup">
                            <p:stCondLst>
                              <p:cond delay="1000"/>
                            </p:stCondLst>
                            <p:childTnLst>
                              <p:par>
                                <p:cTn id="31" presetID="16" presetClass="entr" presetSubtype="21" fill="hold" grpId="0" nodeType="after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barn(inVertical)">
                                      <p:cBhvr>
                                        <p:cTn id="33" dur="500"/>
                                        <p:tgtEl>
                                          <p:spTgt spid="18"/>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 presetClass="entr" presetSubtype="2" fill="hold" nodeType="clickEffect">
                                  <p:stCondLst>
                                    <p:cond delay="0"/>
                                  </p:stCondLst>
                                  <p:childTnLst>
                                    <p:set>
                                      <p:cBhvr>
                                        <p:cTn id="37" dur="1" fill="hold">
                                          <p:stCondLst>
                                            <p:cond delay="0"/>
                                          </p:stCondLst>
                                        </p:cTn>
                                        <p:tgtEl>
                                          <p:spTgt spid="3"/>
                                        </p:tgtEl>
                                        <p:attrNameLst>
                                          <p:attrName>style.visibility</p:attrName>
                                        </p:attrNameLst>
                                      </p:cBhvr>
                                      <p:to>
                                        <p:strVal val="visible"/>
                                      </p:to>
                                    </p:set>
                                    <p:anim calcmode="lin" valueType="num">
                                      <p:cBhvr additive="base">
                                        <p:cTn id="38" dur="500" fill="hold"/>
                                        <p:tgtEl>
                                          <p:spTgt spid="3"/>
                                        </p:tgtEl>
                                        <p:attrNameLst>
                                          <p:attrName>ppt_x</p:attrName>
                                        </p:attrNameLst>
                                      </p:cBhvr>
                                      <p:tavLst>
                                        <p:tav tm="0">
                                          <p:val>
                                            <p:strVal val="1+#ppt_w/2"/>
                                          </p:val>
                                        </p:tav>
                                        <p:tav tm="100000">
                                          <p:val>
                                            <p:strVal val="#ppt_x"/>
                                          </p:val>
                                        </p:tav>
                                      </p:tavLst>
                                    </p:anim>
                                    <p:anim calcmode="lin" valueType="num">
                                      <p:cBhvr additive="base">
                                        <p:cTn id="39"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40" fill="hold" nodeType="clickPar">
                      <p:stCondLst>
                        <p:cond delay="indefinite"/>
                      </p:stCondLst>
                      <p:childTnLst>
                        <p:par>
                          <p:cTn id="41" fill="hold" nodeType="withGroup">
                            <p:stCondLst>
                              <p:cond delay="0"/>
                            </p:stCondLst>
                            <p:childTnLst>
                              <p:par>
                                <p:cTn id="42" presetID="2" presetClass="entr" presetSubtype="2" fill="hold" nodeType="clickEffect">
                                  <p:stCondLst>
                                    <p:cond delay="0"/>
                                  </p:stCondLst>
                                  <p:childTnLst>
                                    <p:set>
                                      <p:cBhvr>
                                        <p:cTn id="43" dur="1" fill="hold">
                                          <p:stCondLst>
                                            <p:cond delay="0"/>
                                          </p:stCondLst>
                                        </p:cTn>
                                        <p:tgtEl>
                                          <p:spTgt spid="4"/>
                                        </p:tgtEl>
                                        <p:attrNameLst>
                                          <p:attrName>style.visibility</p:attrName>
                                        </p:attrNameLst>
                                      </p:cBhvr>
                                      <p:to>
                                        <p:strVal val="visible"/>
                                      </p:to>
                                    </p:set>
                                    <p:anim calcmode="lin" valueType="num">
                                      <p:cBhvr additive="base">
                                        <p:cTn id="44" dur="500" fill="hold"/>
                                        <p:tgtEl>
                                          <p:spTgt spid="4"/>
                                        </p:tgtEl>
                                        <p:attrNameLst>
                                          <p:attrName>ppt_x</p:attrName>
                                        </p:attrNameLst>
                                      </p:cBhvr>
                                      <p:tavLst>
                                        <p:tav tm="0">
                                          <p:val>
                                            <p:strVal val="1+#ppt_w/2"/>
                                          </p:val>
                                        </p:tav>
                                        <p:tav tm="100000">
                                          <p:val>
                                            <p:strVal val="#ppt_x"/>
                                          </p:val>
                                        </p:tav>
                                      </p:tavLst>
                                    </p:anim>
                                    <p:anim calcmode="lin" valueType="num">
                                      <p:cBhvr additive="base">
                                        <p:cTn id="45"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1" fill="hold" grpId="0" nodeType="clickEffect">
                                  <p:stCondLst>
                                    <p:cond delay="0"/>
                                  </p:stCondLst>
                                  <p:childTnLst>
                                    <p:set>
                                      <p:cBhvr>
                                        <p:cTn id="49" dur="1" fill="hold">
                                          <p:stCondLst>
                                            <p:cond delay="0"/>
                                          </p:stCondLst>
                                        </p:cTn>
                                        <p:tgtEl>
                                          <p:spTgt spid="22"/>
                                        </p:tgtEl>
                                        <p:attrNameLst>
                                          <p:attrName>style.visibility</p:attrName>
                                        </p:attrNameLst>
                                      </p:cBhvr>
                                      <p:to>
                                        <p:strVal val="visible"/>
                                      </p:to>
                                    </p:set>
                                    <p:animEffect transition="in" filter="wipe(up)">
                                      <p:cBhvr>
                                        <p:cTn id="50" dur="500"/>
                                        <p:tgtEl>
                                          <p:spTgt spid="22"/>
                                        </p:tgtEl>
                                      </p:cBhvr>
                                    </p:animEffect>
                                  </p:childTnLst>
                                </p:cTn>
                              </p:par>
                            </p:childTnLst>
                          </p:cTn>
                        </p:par>
                        <p:par>
                          <p:cTn id="51" fill="hold" nodeType="afterGroup">
                            <p:stCondLst>
                              <p:cond delay="500"/>
                            </p:stCondLst>
                            <p:childTnLst>
                              <p:par>
                                <p:cTn id="52" presetID="22" presetClass="entr" presetSubtype="8" fill="hold" nodeType="afterEffect">
                                  <p:stCondLst>
                                    <p:cond delay="0"/>
                                  </p:stCondLst>
                                  <p:childTnLst>
                                    <p:set>
                                      <p:cBhvr>
                                        <p:cTn id="53" dur="1" fill="hold">
                                          <p:stCondLst>
                                            <p:cond delay="0"/>
                                          </p:stCondLst>
                                        </p:cTn>
                                        <p:tgtEl>
                                          <p:spTgt spid="22">
                                            <p:txEl>
                                              <p:pRg st="0" end="0"/>
                                            </p:txEl>
                                          </p:spTgt>
                                        </p:tgtEl>
                                        <p:attrNameLst>
                                          <p:attrName>style.visibility</p:attrName>
                                        </p:attrNameLst>
                                      </p:cBhvr>
                                      <p:to>
                                        <p:strVal val="visible"/>
                                      </p:to>
                                    </p:set>
                                    <p:animEffect transition="in" filter="wipe(left)">
                                      <p:cBhvr>
                                        <p:cTn id="54" dur="500"/>
                                        <p:tgtEl>
                                          <p:spTgt spid="22">
                                            <p:txEl>
                                              <p:pRg st="0" end="0"/>
                                            </p:txEl>
                                          </p:spTgt>
                                        </p:tgtEl>
                                      </p:cBhvr>
                                    </p:animEffect>
                                  </p:childTnLst>
                                </p:cTn>
                              </p:par>
                            </p:childTnLst>
                          </p:cTn>
                        </p:par>
                        <p:par>
                          <p:cTn id="55" fill="hold" nodeType="afterGroup">
                            <p:stCondLst>
                              <p:cond delay="1000"/>
                            </p:stCondLst>
                            <p:childTnLst>
                              <p:par>
                                <p:cTn id="56" presetID="22" presetClass="entr" presetSubtype="8" fill="hold" nodeType="afterEffect">
                                  <p:stCondLst>
                                    <p:cond delay="0"/>
                                  </p:stCondLst>
                                  <p:childTnLst>
                                    <p:set>
                                      <p:cBhvr>
                                        <p:cTn id="57" dur="1" fill="hold">
                                          <p:stCondLst>
                                            <p:cond delay="0"/>
                                          </p:stCondLst>
                                        </p:cTn>
                                        <p:tgtEl>
                                          <p:spTgt spid="19"/>
                                        </p:tgtEl>
                                        <p:attrNameLst>
                                          <p:attrName>style.visibility</p:attrName>
                                        </p:attrNameLst>
                                      </p:cBhvr>
                                      <p:to>
                                        <p:strVal val="visible"/>
                                      </p:to>
                                    </p:set>
                                    <p:animEffect transition="in" filter="wipe(left)">
                                      <p:cBhvr>
                                        <p:cTn id="58"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build="p"/>
      <p:bldP spid="18" grpId="0" animBg="1"/>
      <p:bldP spid="21" grpId="0"/>
      <p:bldP spid="22" grpId="0" animBg="1"/>
      <p:bldP spid="23" grpId="0" animBg="1"/>
    </p:bldLst>
  </p:timing>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35A1DF-44D2-E3F3-1CC5-8540884B02B3}"/>
              </a:ext>
            </a:extLst>
          </p:cNvPr>
          <p:cNvSpPr>
            <a:spLocks noGrp="1"/>
          </p:cNvSpPr>
          <p:nvPr>
            <p:ph type="title"/>
          </p:nvPr>
        </p:nvSpPr>
        <p:spPr>
          <a:xfrm>
            <a:off x="457200" y="0"/>
            <a:ext cx="7620000" cy="1143000"/>
          </a:xfrm>
        </p:spPr>
        <p:txBody>
          <a:bodyPr/>
          <a:lstStyle/>
          <a:p>
            <a:pPr algn="ctr">
              <a:defRPr/>
            </a:pPr>
            <a:r>
              <a:rPr lang="en-US" dirty="0"/>
              <a:t>String Functions</a:t>
            </a:r>
            <a:endParaRPr lang="en-MY" dirty="0"/>
          </a:p>
        </p:txBody>
      </p:sp>
      <p:sp>
        <p:nvSpPr>
          <p:cNvPr id="16" name="Snip Single Corner Rectangle 15">
            <a:extLst>
              <a:ext uri="{FF2B5EF4-FFF2-40B4-BE49-F238E27FC236}">
                <a16:creationId xmlns:a16="http://schemas.microsoft.com/office/drawing/2014/main" id="{D4A5D032-3361-0D06-A5CD-EC26B7F5E331}"/>
              </a:ext>
            </a:extLst>
          </p:cNvPr>
          <p:cNvSpPr/>
          <p:nvPr/>
        </p:nvSpPr>
        <p:spPr>
          <a:xfrm>
            <a:off x="-36513" y="1125538"/>
            <a:ext cx="1223963" cy="400050"/>
          </a:xfrm>
          <a:prstGeom prst="snip1Rect">
            <a:avLst/>
          </a:prstGeom>
          <a:solidFill>
            <a:schemeClr val="accent3"/>
          </a:solidFill>
          <a:ln>
            <a:solidFill>
              <a:schemeClr val="accent3"/>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marR="0" lvl="0" indent="-342900" algn="just" defTabSz="914400" rtl="0" eaLnBrk="1" fontAlgn="base" latinLnBrk="0" hangingPunct="1">
              <a:lnSpc>
                <a:spcPct val="100000"/>
              </a:lnSpc>
              <a:spcBef>
                <a:spcPct val="20000"/>
              </a:spcBef>
              <a:spcAft>
                <a:spcPct val="0"/>
              </a:spcAft>
              <a:buClr>
                <a:srgbClr val="FF6600"/>
              </a:buClr>
              <a:buSzPct val="100000"/>
              <a:buFontTx/>
              <a:buNone/>
              <a:tabLst/>
              <a:defRPr/>
            </a:pPr>
            <a:r>
              <a:rPr kumimoji="0" lang="en-GB" sz="1800" b="0" i="0" u="none" strike="noStrike" kern="0" cap="none" spc="0" normalizeH="0" baseline="0" noProof="0" dirty="0">
                <a:ln>
                  <a:noFill/>
                </a:ln>
                <a:solidFill>
                  <a:srgbClr val="FFFFFF"/>
                </a:solidFill>
                <a:effectLst/>
                <a:uLnTx/>
                <a:uFillTx/>
                <a:latin typeface="Calibri"/>
                <a:ea typeface="+mn-ea"/>
                <a:cs typeface="+mn-cs"/>
              </a:rPr>
              <a:t>UPPER()</a:t>
            </a:r>
          </a:p>
        </p:txBody>
      </p:sp>
      <p:sp>
        <p:nvSpPr>
          <p:cNvPr id="17" name="Content Placeholder 2">
            <a:extLst>
              <a:ext uri="{FF2B5EF4-FFF2-40B4-BE49-F238E27FC236}">
                <a16:creationId xmlns:a16="http://schemas.microsoft.com/office/drawing/2014/main" id="{A48F0005-4AE7-FA77-D80E-7244A8E2E490}"/>
              </a:ext>
            </a:extLst>
          </p:cNvPr>
          <p:cNvSpPr txBox="1">
            <a:spLocks/>
          </p:cNvSpPr>
          <p:nvPr/>
        </p:nvSpPr>
        <p:spPr bwMode="auto">
          <a:xfrm>
            <a:off x="250825" y="1773238"/>
            <a:ext cx="8655050"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UPPER() – Change the string to upper case</a:t>
            </a: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sp>
        <p:nvSpPr>
          <p:cNvPr id="18" name="Rounded Rectangle 17">
            <a:extLst>
              <a:ext uri="{FF2B5EF4-FFF2-40B4-BE49-F238E27FC236}">
                <a16:creationId xmlns:a16="http://schemas.microsoft.com/office/drawing/2014/main" id="{C992F704-5E57-0207-0929-5343D6C9FC16}"/>
              </a:ext>
            </a:extLst>
          </p:cNvPr>
          <p:cNvSpPr/>
          <p:nvPr/>
        </p:nvSpPr>
        <p:spPr bwMode="auto">
          <a:xfrm>
            <a:off x="1295400" y="3968750"/>
            <a:ext cx="6477000" cy="1116013"/>
          </a:xfrm>
          <a:prstGeom prst="roundRect">
            <a:avLst/>
          </a:prstGeom>
          <a:solidFill>
            <a:schemeClr val="accent6">
              <a:alpha val="30000"/>
            </a:schemeClr>
          </a:solidFill>
          <a:ln w="9525" cap="flat" cmpd="sng" algn="ctr">
            <a:solidFill>
              <a:schemeClr val="accent6"/>
            </a:solidFill>
            <a:prstDash val="solid"/>
            <a:round/>
            <a:headEnd type="none" w="med" len="med"/>
            <a:tailEnd type="none" w="med" len="med"/>
          </a:ln>
          <a:effectLst/>
        </p:spPr>
        <p:txBody>
          <a:bodyPr anchor="ctr" anchorCtr="1"/>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2800" b="0"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SELECT ISBN, UPPER(Title) FROM Book;</a:t>
            </a:r>
          </a:p>
        </p:txBody>
      </p:sp>
      <p:graphicFrame>
        <p:nvGraphicFramePr>
          <p:cNvPr id="19" name="Table 18">
            <a:extLst>
              <a:ext uri="{FF2B5EF4-FFF2-40B4-BE49-F238E27FC236}">
                <a16:creationId xmlns:a16="http://schemas.microsoft.com/office/drawing/2014/main" id="{FB42E792-AA47-1817-7A57-8D3E899E4D3D}"/>
              </a:ext>
            </a:extLst>
          </p:cNvPr>
          <p:cNvGraphicFramePr>
            <a:graphicFrameLocks noGrp="1"/>
          </p:cNvGraphicFramePr>
          <p:nvPr/>
        </p:nvGraphicFramePr>
        <p:xfrm>
          <a:off x="1631950" y="5264150"/>
          <a:ext cx="5316538" cy="1106488"/>
        </p:xfrm>
        <a:graphic>
          <a:graphicData uri="http://schemas.openxmlformats.org/drawingml/2006/table">
            <a:tbl>
              <a:tblPr firstRow="1" bandRow="1">
                <a:tableStyleId>{C083E6E3-FA7D-4D7B-A595-EF9225AFEA82}</a:tableStyleId>
              </a:tblPr>
              <a:tblGrid>
                <a:gridCol w="1932172">
                  <a:extLst>
                    <a:ext uri="{9D8B030D-6E8A-4147-A177-3AD203B41FA5}">
                      <a16:colId xmlns:a16="http://schemas.microsoft.com/office/drawing/2014/main" val="20000"/>
                    </a:ext>
                  </a:extLst>
                </a:gridCol>
                <a:gridCol w="3384366">
                  <a:extLst>
                    <a:ext uri="{9D8B030D-6E8A-4147-A177-3AD203B41FA5}">
                      <a16:colId xmlns:a16="http://schemas.microsoft.com/office/drawing/2014/main" val="20001"/>
                    </a:ext>
                  </a:extLst>
                </a:gridCol>
              </a:tblGrid>
              <a:tr h="365655">
                <a:tc>
                  <a:txBody>
                    <a:bodyPr/>
                    <a:lstStyle/>
                    <a:p>
                      <a:pPr algn="ctr"/>
                      <a:r>
                        <a:rPr lang="en-CA" sz="1800" dirty="0"/>
                        <a:t>ISBN</a:t>
                      </a:r>
                    </a:p>
                  </a:txBody>
                  <a:tcPr marT="45668" marB="45668"/>
                </a:tc>
                <a:tc>
                  <a:txBody>
                    <a:bodyPr/>
                    <a:lstStyle/>
                    <a:p>
                      <a:pPr algn="ctr"/>
                      <a:r>
                        <a:rPr lang="en-CA" sz="1800" dirty="0"/>
                        <a:t>UPPER(Title)</a:t>
                      </a:r>
                    </a:p>
                  </a:txBody>
                  <a:tcPr marT="45668" marB="45668"/>
                </a:tc>
                <a:extLst>
                  <a:ext uri="{0D108BD9-81ED-4DB2-BD59-A6C34878D82A}">
                    <a16:rowId xmlns:a16="http://schemas.microsoft.com/office/drawing/2014/main" val="10000"/>
                  </a:ext>
                </a:extLst>
              </a:tr>
              <a:tr h="370416">
                <a:tc>
                  <a:txBody>
                    <a:bodyPr/>
                    <a:lstStyle/>
                    <a:p>
                      <a:pPr algn="ctr"/>
                      <a:r>
                        <a:rPr lang="en-CA" sz="1800" dirty="0"/>
                        <a:t>12345</a:t>
                      </a:r>
                    </a:p>
                  </a:txBody>
                  <a:tcPr marT="45668" marB="45668"/>
                </a:tc>
                <a:tc>
                  <a:txBody>
                    <a:bodyPr/>
                    <a:lstStyle/>
                    <a:p>
                      <a:pPr algn="ctr"/>
                      <a:r>
                        <a:rPr lang="en-CA" sz="1800" dirty="0"/>
                        <a:t>THE HUNGER GAME</a:t>
                      </a:r>
                    </a:p>
                  </a:txBody>
                  <a:tcPr marT="45668" marB="45668"/>
                </a:tc>
                <a:extLst>
                  <a:ext uri="{0D108BD9-81ED-4DB2-BD59-A6C34878D82A}">
                    <a16:rowId xmlns:a16="http://schemas.microsoft.com/office/drawing/2014/main" val="10001"/>
                  </a:ext>
                </a:extLst>
              </a:tr>
              <a:tr h="370416">
                <a:tc>
                  <a:txBody>
                    <a:bodyPr/>
                    <a:lstStyle/>
                    <a:p>
                      <a:pPr algn="ctr"/>
                      <a:r>
                        <a:rPr lang="en-CA" sz="1800" dirty="0"/>
                        <a:t>54321</a:t>
                      </a:r>
                    </a:p>
                  </a:txBody>
                  <a:tcPr marT="45668" marB="45668"/>
                </a:tc>
                <a:tc>
                  <a:txBody>
                    <a:bodyPr/>
                    <a:lstStyle/>
                    <a:p>
                      <a:pPr algn="ctr"/>
                      <a:r>
                        <a:rPr lang="en-CA" sz="1800" dirty="0"/>
                        <a:t>A</a:t>
                      </a:r>
                      <a:r>
                        <a:rPr lang="en-CA" sz="1800" baseline="0" dirty="0"/>
                        <a:t> SONG OF ICE AND FIRE</a:t>
                      </a:r>
                      <a:endParaRPr lang="en-CA" sz="1800" dirty="0"/>
                    </a:p>
                  </a:txBody>
                  <a:tcPr marT="45668" marB="45668"/>
                </a:tc>
                <a:extLst>
                  <a:ext uri="{0D108BD9-81ED-4DB2-BD59-A6C34878D82A}">
                    <a16:rowId xmlns:a16="http://schemas.microsoft.com/office/drawing/2014/main" val="10002"/>
                  </a:ext>
                </a:extLst>
              </a:tr>
            </a:tbl>
          </a:graphicData>
        </a:graphic>
      </p:graphicFrame>
      <p:graphicFrame>
        <p:nvGraphicFramePr>
          <p:cNvPr id="20" name="Table 19">
            <a:extLst>
              <a:ext uri="{FF2B5EF4-FFF2-40B4-BE49-F238E27FC236}">
                <a16:creationId xmlns:a16="http://schemas.microsoft.com/office/drawing/2014/main" id="{55CCABE8-5CDB-07B5-A9D3-14219095A2BA}"/>
              </a:ext>
            </a:extLst>
          </p:cNvPr>
          <p:cNvGraphicFramePr>
            <a:graphicFrameLocks noGrp="1"/>
          </p:cNvGraphicFramePr>
          <p:nvPr/>
        </p:nvGraphicFramePr>
        <p:xfrm>
          <a:off x="1530350" y="2411413"/>
          <a:ext cx="6096000" cy="1112837"/>
        </p:xfrm>
        <a:graphic>
          <a:graphicData uri="http://schemas.openxmlformats.org/drawingml/2006/table">
            <a:tbl>
              <a:tblPr firstRow="1" bandRow="1">
                <a:tableStyleId>{D27102A9-8310-4765-A935-A1911B00CA55}</a:tableStyleId>
              </a:tblPr>
              <a:tblGrid>
                <a:gridCol w="1463824">
                  <a:extLst>
                    <a:ext uri="{9D8B030D-6E8A-4147-A177-3AD203B41FA5}">
                      <a16:colId xmlns:a16="http://schemas.microsoft.com/office/drawing/2014/main" val="20000"/>
                    </a:ext>
                  </a:extLst>
                </a:gridCol>
                <a:gridCol w="2736304">
                  <a:extLst>
                    <a:ext uri="{9D8B030D-6E8A-4147-A177-3AD203B41FA5}">
                      <a16:colId xmlns:a16="http://schemas.microsoft.com/office/drawing/2014/main" val="20001"/>
                    </a:ext>
                  </a:extLst>
                </a:gridCol>
                <a:gridCol w="1895872">
                  <a:extLst>
                    <a:ext uri="{9D8B030D-6E8A-4147-A177-3AD203B41FA5}">
                      <a16:colId xmlns:a16="http://schemas.microsoft.com/office/drawing/2014/main" val="20002"/>
                    </a:ext>
                  </a:extLst>
                </a:gridCol>
              </a:tblGrid>
              <a:tr h="370946">
                <a:tc>
                  <a:txBody>
                    <a:bodyPr/>
                    <a:lstStyle/>
                    <a:p>
                      <a:pPr algn="ctr"/>
                      <a:r>
                        <a:rPr lang="en-CA" sz="1800" dirty="0"/>
                        <a:t>ISBN</a:t>
                      </a:r>
                    </a:p>
                  </a:txBody>
                  <a:tcPr marT="45733" marB="45733"/>
                </a:tc>
                <a:tc>
                  <a:txBody>
                    <a:bodyPr/>
                    <a:lstStyle/>
                    <a:p>
                      <a:pPr algn="ctr"/>
                      <a:r>
                        <a:rPr lang="en-CA" sz="1800" dirty="0"/>
                        <a:t>Title</a:t>
                      </a:r>
                    </a:p>
                  </a:txBody>
                  <a:tcPr marT="45733" marB="45733"/>
                </a:tc>
                <a:tc>
                  <a:txBody>
                    <a:bodyPr/>
                    <a:lstStyle/>
                    <a:p>
                      <a:pPr algn="ctr"/>
                      <a:r>
                        <a:rPr lang="en-CA" sz="1800" dirty="0"/>
                        <a:t>Quantity</a:t>
                      </a:r>
                    </a:p>
                  </a:txBody>
                  <a:tcPr marT="45733" marB="45733"/>
                </a:tc>
                <a:extLst>
                  <a:ext uri="{0D108BD9-81ED-4DB2-BD59-A6C34878D82A}">
                    <a16:rowId xmlns:a16="http://schemas.microsoft.com/office/drawing/2014/main" val="10000"/>
                  </a:ext>
                </a:extLst>
              </a:tr>
              <a:tr h="370946">
                <a:tc>
                  <a:txBody>
                    <a:bodyPr/>
                    <a:lstStyle/>
                    <a:p>
                      <a:pPr algn="ctr"/>
                      <a:r>
                        <a:rPr lang="en-CA" sz="1800" dirty="0"/>
                        <a:t>12345</a:t>
                      </a:r>
                    </a:p>
                  </a:txBody>
                  <a:tcPr marT="45733" marB="45733"/>
                </a:tc>
                <a:tc>
                  <a:txBody>
                    <a:bodyPr/>
                    <a:lstStyle/>
                    <a:p>
                      <a:pPr algn="ctr"/>
                      <a:r>
                        <a:rPr lang="en-CA" sz="1800" dirty="0"/>
                        <a:t>The Hunger</a:t>
                      </a:r>
                      <a:r>
                        <a:rPr lang="en-CA" sz="1800" baseline="0" dirty="0"/>
                        <a:t> Game</a:t>
                      </a:r>
                      <a:endParaRPr lang="en-CA" sz="1800" dirty="0"/>
                    </a:p>
                  </a:txBody>
                  <a:tcPr marT="45733" marB="45733"/>
                </a:tc>
                <a:tc>
                  <a:txBody>
                    <a:bodyPr/>
                    <a:lstStyle/>
                    <a:p>
                      <a:pPr algn="ctr"/>
                      <a:r>
                        <a:rPr lang="en-CA" sz="1800" dirty="0"/>
                        <a:t>10</a:t>
                      </a:r>
                    </a:p>
                  </a:txBody>
                  <a:tcPr marT="45733" marB="45733"/>
                </a:tc>
                <a:extLst>
                  <a:ext uri="{0D108BD9-81ED-4DB2-BD59-A6C34878D82A}">
                    <a16:rowId xmlns:a16="http://schemas.microsoft.com/office/drawing/2014/main" val="10001"/>
                  </a:ext>
                </a:extLst>
              </a:tr>
              <a:tr h="370946">
                <a:tc>
                  <a:txBody>
                    <a:bodyPr/>
                    <a:lstStyle/>
                    <a:p>
                      <a:pPr algn="ctr"/>
                      <a:r>
                        <a:rPr lang="en-CA" sz="1800" dirty="0"/>
                        <a:t>54321</a:t>
                      </a:r>
                    </a:p>
                  </a:txBody>
                  <a:tcPr marT="45733" marB="45733"/>
                </a:tc>
                <a:tc>
                  <a:txBody>
                    <a:bodyPr/>
                    <a:lstStyle/>
                    <a:p>
                      <a:pPr algn="ctr"/>
                      <a:r>
                        <a:rPr lang="en-CA" sz="1800" dirty="0"/>
                        <a:t>A Song of Ice and Fire</a:t>
                      </a:r>
                    </a:p>
                  </a:txBody>
                  <a:tcPr marT="45733" marB="45733"/>
                </a:tc>
                <a:tc>
                  <a:txBody>
                    <a:bodyPr/>
                    <a:lstStyle/>
                    <a:p>
                      <a:pPr algn="ctr"/>
                      <a:r>
                        <a:rPr lang="en-CA" sz="1800" dirty="0"/>
                        <a:t>15</a:t>
                      </a:r>
                    </a:p>
                  </a:txBody>
                  <a:tcPr marT="45733" marB="45733"/>
                </a:tc>
                <a:extLst>
                  <a:ext uri="{0D108BD9-81ED-4DB2-BD59-A6C34878D82A}">
                    <a16:rowId xmlns:a16="http://schemas.microsoft.com/office/drawing/2014/main" val="10002"/>
                  </a:ext>
                </a:extLst>
              </a:tr>
            </a:tbl>
          </a:graphicData>
        </a:graphic>
      </p:graphicFrame>
      <p:sp>
        <p:nvSpPr>
          <p:cNvPr id="21" name="TextBox 20">
            <a:extLst>
              <a:ext uri="{FF2B5EF4-FFF2-40B4-BE49-F238E27FC236}">
                <a16:creationId xmlns:a16="http://schemas.microsoft.com/office/drawing/2014/main" id="{34A00ACE-46EA-8202-8D4B-613639149633}"/>
              </a:ext>
            </a:extLst>
          </p:cNvPr>
          <p:cNvSpPr txBox="1">
            <a:spLocks noChangeArrowheads="1"/>
          </p:cNvSpPr>
          <p:nvPr/>
        </p:nvSpPr>
        <p:spPr bwMode="auto">
          <a:xfrm>
            <a:off x="3570288" y="3540125"/>
            <a:ext cx="20161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Book table</a:t>
            </a:r>
          </a:p>
        </p:txBody>
      </p:sp>
      <p:sp>
        <p:nvSpPr>
          <p:cNvPr id="22" name="Snip Single Corner Rectangle 21">
            <a:extLst>
              <a:ext uri="{FF2B5EF4-FFF2-40B4-BE49-F238E27FC236}">
                <a16:creationId xmlns:a16="http://schemas.microsoft.com/office/drawing/2014/main" id="{50A0D25F-2A82-5DDB-8773-03AB5B314F52}"/>
              </a:ext>
            </a:extLst>
          </p:cNvPr>
          <p:cNvSpPr/>
          <p:nvPr/>
        </p:nvSpPr>
        <p:spPr bwMode="auto">
          <a:xfrm>
            <a:off x="227013" y="5300663"/>
            <a:ext cx="1092200" cy="431800"/>
          </a:xfrm>
          <a:prstGeom prst="snip1Rect">
            <a:avLst/>
          </a:prstGeom>
          <a:solidFill>
            <a:srgbClr val="FFFF00">
              <a:alpha val="30000"/>
            </a:srgbClr>
          </a:solidFill>
          <a:ln w="9525" cap="flat" cmpd="sng" algn="ctr">
            <a:solidFill>
              <a:srgbClr val="FFC000"/>
            </a:solidFill>
            <a:prstDash val="solid"/>
            <a:round/>
            <a:headEnd type="none" w="med" len="med"/>
            <a:tailEnd type="none" w="med" len="me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sz="2000" b="1"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Result:</a:t>
            </a:r>
          </a:p>
        </p:txBody>
      </p:sp>
      <p:sp>
        <p:nvSpPr>
          <p:cNvPr id="23" name="Snip Single Corner Rectangle 22">
            <a:extLst>
              <a:ext uri="{FF2B5EF4-FFF2-40B4-BE49-F238E27FC236}">
                <a16:creationId xmlns:a16="http://schemas.microsoft.com/office/drawing/2014/main" id="{2C16EFB2-3803-04F1-FF93-946F6FB090A1}"/>
              </a:ext>
            </a:extLst>
          </p:cNvPr>
          <p:cNvSpPr/>
          <p:nvPr/>
        </p:nvSpPr>
        <p:spPr bwMode="auto">
          <a:xfrm>
            <a:off x="250825" y="3978275"/>
            <a:ext cx="830263" cy="431800"/>
          </a:xfrm>
          <a:prstGeom prst="snip1Rect">
            <a:avLst/>
          </a:prstGeom>
          <a:solidFill>
            <a:srgbClr val="FFFF00">
              <a:alpha val="30000"/>
            </a:srgbClr>
          </a:solidFill>
          <a:ln w="9525" cap="flat" cmpd="sng" algn="ctr">
            <a:solidFill>
              <a:srgbClr val="FFC000"/>
            </a:solidFill>
            <a:prstDash val="solid"/>
            <a:round/>
            <a:headEnd type="none" w="med" len="med"/>
            <a:tailEnd type="none" w="med" len="med"/>
          </a:ln>
          <a:effec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2000" b="1"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Run:</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7">
                                            <p:txEl>
                                              <p:pRg st="0" end="0"/>
                                            </p:txEl>
                                          </p:spTgt>
                                        </p:tgtEl>
                                        <p:attrNameLst>
                                          <p:attrName>style.visibility</p:attrName>
                                        </p:attrNameLst>
                                      </p:cBhvr>
                                      <p:to>
                                        <p:strVal val="visible"/>
                                      </p:to>
                                    </p:set>
                                    <p:animEffect transition="in" filter="wipe(left)">
                                      <p:cBhvr>
                                        <p:cTn id="11" dur="500"/>
                                        <p:tgtEl>
                                          <p:spTgt spid="17">
                                            <p:txEl>
                                              <p:pRg st="0" end="0"/>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6" presetClass="entr" presetSubtype="21" fill="hold" nodeType="click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barn(inVertical)">
                                      <p:cBhvr>
                                        <p:cTn id="16" dur="500"/>
                                        <p:tgtEl>
                                          <p:spTgt spid="20"/>
                                        </p:tgtEl>
                                      </p:cBhvr>
                                    </p:animEffect>
                                  </p:childTnLst>
                                </p:cTn>
                              </p:par>
                            </p:childTnLst>
                          </p:cTn>
                        </p:par>
                        <p:par>
                          <p:cTn id="17" fill="hold" nodeType="afterGroup">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21"/>
                                        </p:tgtEl>
                                        <p:attrNameLst>
                                          <p:attrName>style.visibility</p:attrName>
                                        </p:attrNameLst>
                                      </p:cBhvr>
                                      <p:to>
                                        <p:strVal val="visible"/>
                                      </p:to>
                                    </p:set>
                                    <p:animEffect transition="in" filter="wipe(left)">
                                      <p:cBhvr>
                                        <p:cTn id="20" dur="500"/>
                                        <p:tgtEl>
                                          <p:spTgt spid="21"/>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1" fill="hold" grpId="0" nodeType="clickEffect">
                                  <p:stCondLst>
                                    <p:cond delay="0"/>
                                  </p:stCondLst>
                                  <p:childTnLst>
                                    <p:set>
                                      <p:cBhvr>
                                        <p:cTn id="24" dur="1" fill="hold">
                                          <p:stCondLst>
                                            <p:cond delay="0"/>
                                          </p:stCondLst>
                                        </p:cTn>
                                        <p:tgtEl>
                                          <p:spTgt spid="23"/>
                                        </p:tgtEl>
                                        <p:attrNameLst>
                                          <p:attrName>style.visibility</p:attrName>
                                        </p:attrNameLst>
                                      </p:cBhvr>
                                      <p:to>
                                        <p:strVal val="visible"/>
                                      </p:to>
                                    </p:set>
                                    <p:animEffect transition="in" filter="wipe(up)">
                                      <p:cBhvr>
                                        <p:cTn id="25" dur="500"/>
                                        <p:tgtEl>
                                          <p:spTgt spid="23"/>
                                        </p:tgtEl>
                                      </p:cBhvr>
                                    </p:animEffect>
                                  </p:childTnLst>
                                </p:cTn>
                              </p:par>
                            </p:childTnLst>
                          </p:cTn>
                        </p:par>
                        <p:par>
                          <p:cTn id="26" fill="hold" nodeType="afterGroup">
                            <p:stCondLst>
                              <p:cond delay="500"/>
                            </p:stCondLst>
                            <p:childTnLst>
                              <p:par>
                                <p:cTn id="27" presetID="22" presetClass="entr" presetSubtype="8" fill="hold" nodeType="afterEffect">
                                  <p:stCondLst>
                                    <p:cond delay="0"/>
                                  </p:stCondLst>
                                  <p:childTnLst>
                                    <p:set>
                                      <p:cBhvr>
                                        <p:cTn id="28" dur="1" fill="hold">
                                          <p:stCondLst>
                                            <p:cond delay="0"/>
                                          </p:stCondLst>
                                        </p:cTn>
                                        <p:tgtEl>
                                          <p:spTgt spid="23">
                                            <p:txEl>
                                              <p:pRg st="0" end="0"/>
                                            </p:txEl>
                                          </p:spTgt>
                                        </p:tgtEl>
                                        <p:attrNameLst>
                                          <p:attrName>style.visibility</p:attrName>
                                        </p:attrNameLst>
                                      </p:cBhvr>
                                      <p:to>
                                        <p:strVal val="visible"/>
                                      </p:to>
                                    </p:set>
                                    <p:animEffect transition="in" filter="wipe(left)">
                                      <p:cBhvr>
                                        <p:cTn id="29" dur="500"/>
                                        <p:tgtEl>
                                          <p:spTgt spid="23">
                                            <p:txEl>
                                              <p:pRg st="0" end="0"/>
                                            </p:txEl>
                                          </p:spTgt>
                                        </p:tgtEl>
                                      </p:cBhvr>
                                    </p:animEffect>
                                  </p:childTnLst>
                                </p:cTn>
                              </p:par>
                            </p:childTnLst>
                          </p:cTn>
                        </p:par>
                        <p:par>
                          <p:cTn id="30" fill="hold" nodeType="afterGroup">
                            <p:stCondLst>
                              <p:cond delay="1000"/>
                            </p:stCondLst>
                            <p:childTnLst>
                              <p:par>
                                <p:cTn id="31" presetID="16" presetClass="entr" presetSubtype="21" fill="hold" grpId="0" nodeType="after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barn(inVertical)">
                                      <p:cBhvr>
                                        <p:cTn id="33" dur="500"/>
                                        <p:tgtEl>
                                          <p:spTgt spid="18"/>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1" fill="hold" grpId="0" nodeType="clickEffect">
                                  <p:stCondLst>
                                    <p:cond delay="0"/>
                                  </p:stCondLst>
                                  <p:childTnLst>
                                    <p:set>
                                      <p:cBhvr>
                                        <p:cTn id="37" dur="1" fill="hold">
                                          <p:stCondLst>
                                            <p:cond delay="0"/>
                                          </p:stCondLst>
                                        </p:cTn>
                                        <p:tgtEl>
                                          <p:spTgt spid="22"/>
                                        </p:tgtEl>
                                        <p:attrNameLst>
                                          <p:attrName>style.visibility</p:attrName>
                                        </p:attrNameLst>
                                      </p:cBhvr>
                                      <p:to>
                                        <p:strVal val="visible"/>
                                      </p:to>
                                    </p:set>
                                    <p:animEffect transition="in" filter="wipe(up)">
                                      <p:cBhvr>
                                        <p:cTn id="38" dur="500"/>
                                        <p:tgtEl>
                                          <p:spTgt spid="22"/>
                                        </p:tgtEl>
                                      </p:cBhvr>
                                    </p:animEffect>
                                  </p:childTnLst>
                                </p:cTn>
                              </p:par>
                            </p:childTnLst>
                          </p:cTn>
                        </p:par>
                        <p:par>
                          <p:cTn id="39" fill="hold" nodeType="afterGroup">
                            <p:stCondLst>
                              <p:cond delay="500"/>
                            </p:stCondLst>
                            <p:childTnLst>
                              <p:par>
                                <p:cTn id="40" presetID="22" presetClass="entr" presetSubtype="8" fill="hold" nodeType="afterEffect">
                                  <p:stCondLst>
                                    <p:cond delay="0"/>
                                  </p:stCondLst>
                                  <p:childTnLst>
                                    <p:set>
                                      <p:cBhvr>
                                        <p:cTn id="41" dur="1" fill="hold">
                                          <p:stCondLst>
                                            <p:cond delay="0"/>
                                          </p:stCondLst>
                                        </p:cTn>
                                        <p:tgtEl>
                                          <p:spTgt spid="22">
                                            <p:txEl>
                                              <p:pRg st="0" end="0"/>
                                            </p:txEl>
                                          </p:spTgt>
                                        </p:tgtEl>
                                        <p:attrNameLst>
                                          <p:attrName>style.visibility</p:attrName>
                                        </p:attrNameLst>
                                      </p:cBhvr>
                                      <p:to>
                                        <p:strVal val="visible"/>
                                      </p:to>
                                    </p:set>
                                    <p:animEffect transition="in" filter="wipe(left)">
                                      <p:cBhvr>
                                        <p:cTn id="42" dur="500"/>
                                        <p:tgtEl>
                                          <p:spTgt spid="22">
                                            <p:txEl>
                                              <p:pRg st="0" end="0"/>
                                            </p:txEl>
                                          </p:spTgt>
                                        </p:tgtEl>
                                      </p:cBhvr>
                                    </p:animEffect>
                                  </p:childTnLst>
                                </p:cTn>
                              </p:par>
                            </p:childTnLst>
                          </p:cTn>
                        </p:par>
                        <p:par>
                          <p:cTn id="43" fill="hold" nodeType="afterGroup">
                            <p:stCondLst>
                              <p:cond delay="1000"/>
                            </p:stCondLst>
                            <p:childTnLst>
                              <p:par>
                                <p:cTn id="44" presetID="22" presetClass="entr" presetSubtype="8" fill="hold" nodeType="after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wipe(left)">
                                      <p:cBhvr>
                                        <p:cTn id="46"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build="p"/>
      <p:bldP spid="18" grpId="0" animBg="1"/>
      <p:bldP spid="21" grpId="0"/>
      <p:bldP spid="22" grpId="0" animBg="1"/>
      <p:bldP spid="23" grpId="0" animBg="1"/>
    </p:bldLst>
  </p:timing>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8054E-E815-C3E1-1E11-B5505726734B}"/>
              </a:ext>
            </a:extLst>
          </p:cNvPr>
          <p:cNvSpPr>
            <a:spLocks noGrp="1"/>
          </p:cNvSpPr>
          <p:nvPr>
            <p:ph type="title"/>
          </p:nvPr>
        </p:nvSpPr>
        <p:spPr>
          <a:xfrm>
            <a:off x="457200" y="0"/>
            <a:ext cx="7620000" cy="1143000"/>
          </a:xfrm>
        </p:spPr>
        <p:txBody>
          <a:bodyPr/>
          <a:lstStyle/>
          <a:p>
            <a:pPr algn="ctr">
              <a:defRPr/>
            </a:pPr>
            <a:r>
              <a:rPr lang="en-US" dirty="0"/>
              <a:t>String Functions</a:t>
            </a:r>
            <a:endParaRPr lang="en-MY" dirty="0"/>
          </a:p>
        </p:txBody>
      </p:sp>
      <p:sp>
        <p:nvSpPr>
          <p:cNvPr id="16" name="Snip Single Corner Rectangle 15">
            <a:extLst>
              <a:ext uri="{FF2B5EF4-FFF2-40B4-BE49-F238E27FC236}">
                <a16:creationId xmlns:a16="http://schemas.microsoft.com/office/drawing/2014/main" id="{D76602F2-91CC-A781-BC56-13C0774E8064}"/>
              </a:ext>
            </a:extLst>
          </p:cNvPr>
          <p:cNvSpPr/>
          <p:nvPr/>
        </p:nvSpPr>
        <p:spPr>
          <a:xfrm>
            <a:off x="-36513" y="1125538"/>
            <a:ext cx="1223963" cy="400050"/>
          </a:xfrm>
          <a:prstGeom prst="snip1Rect">
            <a:avLst/>
          </a:prstGeom>
          <a:solidFill>
            <a:schemeClr val="accent5"/>
          </a:solidFill>
          <a:ln>
            <a:solidFill>
              <a:schemeClr val="accent5"/>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marR="0" lvl="0" indent="-342900" algn="just" defTabSz="914400" rtl="0" eaLnBrk="1" fontAlgn="base" latinLnBrk="0" hangingPunct="1">
              <a:lnSpc>
                <a:spcPct val="100000"/>
              </a:lnSpc>
              <a:spcBef>
                <a:spcPct val="20000"/>
              </a:spcBef>
              <a:spcAft>
                <a:spcPct val="0"/>
              </a:spcAft>
              <a:buClr>
                <a:srgbClr val="FF6600"/>
              </a:buClr>
              <a:buSzPct val="100000"/>
              <a:buFontTx/>
              <a:buNone/>
              <a:tabLst/>
              <a:defRPr/>
            </a:pPr>
            <a:r>
              <a:rPr kumimoji="0" lang="en-GB" sz="1800" b="0" i="0" u="none" strike="noStrike" kern="0" cap="none" spc="0" normalizeH="0" baseline="0" noProof="0" dirty="0">
                <a:ln>
                  <a:noFill/>
                </a:ln>
                <a:solidFill>
                  <a:srgbClr val="FFFFFF"/>
                </a:solidFill>
                <a:effectLst/>
                <a:uLnTx/>
                <a:uFillTx/>
                <a:latin typeface="Calibri"/>
                <a:ea typeface="+mn-ea"/>
                <a:cs typeface="+mn-cs"/>
              </a:rPr>
              <a:t>LOWER()</a:t>
            </a:r>
          </a:p>
        </p:txBody>
      </p:sp>
      <p:sp>
        <p:nvSpPr>
          <p:cNvPr id="17" name="Content Placeholder 2">
            <a:extLst>
              <a:ext uri="{FF2B5EF4-FFF2-40B4-BE49-F238E27FC236}">
                <a16:creationId xmlns:a16="http://schemas.microsoft.com/office/drawing/2014/main" id="{7E764992-E081-E9F6-6E6C-E9131D15BD52}"/>
              </a:ext>
            </a:extLst>
          </p:cNvPr>
          <p:cNvSpPr txBox="1">
            <a:spLocks/>
          </p:cNvSpPr>
          <p:nvPr/>
        </p:nvSpPr>
        <p:spPr bwMode="auto">
          <a:xfrm>
            <a:off x="250825" y="1773238"/>
            <a:ext cx="8655050"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LOWER() – Change the string to lower case</a:t>
            </a: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sp>
        <p:nvSpPr>
          <p:cNvPr id="18" name="Rounded Rectangle 17">
            <a:extLst>
              <a:ext uri="{FF2B5EF4-FFF2-40B4-BE49-F238E27FC236}">
                <a16:creationId xmlns:a16="http://schemas.microsoft.com/office/drawing/2014/main" id="{7B53EB00-284E-B0BE-584D-4E16D02CCE24}"/>
              </a:ext>
            </a:extLst>
          </p:cNvPr>
          <p:cNvSpPr/>
          <p:nvPr/>
        </p:nvSpPr>
        <p:spPr bwMode="auto">
          <a:xfrm>
            <a:off x="1371600" y="3968750"/>
            <a:ext cx="6229350" cy="1116013"/>
          </a:xfrm>
          <a:prstGeom prst="roundRect">
            <a:avLst/>
          </a:prstGeom>
          <a:solidFill>
            <a:schemeClr val="accent6">
              <a:alpha val="30000"/>
            </a:schemeClr>
          </a:solidFill>
          <a:ln w="9525" cap="flat" cmpd="sng" algn="ctr">
            <a:solidFill>
              <a:schemeClr val="accent6"/>
            </a:solidFill>
            <a:prstDash val="solid"/>
            <a:round/>
            <a:headEnd type="none" w="med" len="med"/>
            <a:tailEnd type="none" w="med" len="med"/>
          </a:ln>
          <a:effectLst/>
        </p:spPr>
        <p:txBody>
          <a:bodyPr anchor="ctr" anchorCtr="1"/>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2800" b="0"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SELECT ISBN, LOWER(Title) FROM Book;</a:t>
            </a:r>
          </a:p>
        </p:txBody>
      </p:sp>
      <p:graphicFrame>
        <p:nvGraphicFramePr>
          <p:cNvPr id="19" name="Table 18">
            <a:extLst>
              <a:ext uri="{FF2B5EF4-FFF2-40B4-BE49-F238E27FC236}">
                <a16:creationId xmlns:a16="http://schemas.microsoft.com/office/drawing/2014/main" id="{8E71482B-34F3-8356-6F11-76FE2887562B}"/>
              </a:ext>
            </a:extLst>
          </p:cNvPr>
          <p:cNvGraphicFramePr>
            <a:graphicFrameLocks noGrp="1"/>
          </p:cNvGraphicFramePr>
          <p:nvPr/>
        </p:nvGraphicFramePr>
        <p:xfrm>
          <a:off x="1631950" y="5264150"/>
          <a:ext cx="5316538" cy="1106488"/>
        </p:xfrm>
        <a:graphic>
          <a:graphicData uri="http://schemas.openxmlformats.org/drawingml/2006/table">
            <a:tbl>
              <a:tblPr firstRow="1" bandRow="1">
                <a:tableStyleId>{C083E6E3-FA7D-4D7B-A595-EF9225AFEA82}</a:tableStyleId>
              </a:tblPr>
              <a:tblGrid>
                <a:gridCol w="1932172">
                  <a:extLst>
                    <a:ext uri="{9D8B030D-6E8A-4147-A177-3AD203B41FA5}">
                      <a16:colId xmlns:a16="http://schemas.microsoft.com/office/drawing/2014/main" val="20000"/>
                    </a:ext>
                  </a:extLst>
                </a:gridCol>
                <a:gridCol w="3384366">
                  <a:extLst>
                    <a:ext uri="{9D8B030D-6E8A-4147-A177-3AD203B41FA5}">
                      <a16:colId xmlns:a16="http://schemas.microsoft.com/office/drawing/2014/main" val="20001"/>
                    </a:ext>
                  </a:extLst>
                </a:gridCol>
              </a:tblGrid>
              <a:tr h="365655">
                <a:tc>
                  <a:txBody>
                    <a:bodyPr/>
                    <a:lstStyle/>
                    <a:p>
                      <a:pPr algn="ctr"/>
                      <a:r>
                        <a:rPr lang="en-CA" sz="1800" dirty="0"/>
                        <a:t>ISBN</a:t>
                      </a:r>
                    </a:p>
                  </a:txBody>
                  <a:tcPr marT="45668" marB="45668"/>
                </a:tc>
                <a:tc>
                  <a:txBody>
                    <a:bodyPr/>
                    <a:lstStyle/>
                    <a:p>
                      <a:pPr algn="ctr"/>
                      <a:r>
                        <a:rPr lang="en-CA" sz="1800" dirty="0"/>
                        <a:t>LOWER(Title)</a:t>
                      </a:r>
                    </a:p>
                  </a:txBody>
                  <a:tcPr marT="45668" marB="45668"/>
                </a:tc>
                <a:extLst>
                  <a:ext uri="{0D108BD9-81ED-4DB2-BD59-A6C34878D82A}">
                    <a16:rowId xmlns:a16="http://schemas.microsoft.com/office/drawing/2014/main" val="10000"/>
                  </a:ext>
                </a:extLst>
              </a:tr>
              <a:tr h="370416">
                <a:tc>
                  <a:txBody>
                    <a:bodyPr/>
                    <a:lstStyle/>
                    <a:p>
                      <a:pPr algn="ctr"/>
                      <a:r>
                        <a:rPr lang="en-CA" sz="1800" dirty="0"/>
                        <a:t>12345</a:t>
                      </a:r>
                    </a:p>
                  </a:txBody>
                  <a:tcPr marT="45668" marB="45668"/>
                </a:tc>
                <a:tc>
                  <a:txBody>
                    <a:bodyPr/>
                    <a:lstStyle/>
                    <a:p>
                      <a:pPr algn="ctr"/>
                      <a:r>
                        <a:rPr lang="en-CA" sz="1800" dirty="0"/>
                        <a:t>the</a:t>
                      </a:r>
                      <a:r>
                        <a:rPr lang="en-CA" sz="1800" baseline="0" dirty="0"/>
                        <a:t> hunger game</a:t>
                      </a:r>
                      <a:endParaRPr lang="en-CA" sz="1800" dirty="0"/>
                    </a:p>
                  </a:txBody>
                  <a:tcPr marT="45668" marB="45668"/>
                </a:tc>
                <a:extLst>
                  <a:ext uri="{0D108BD9-81ED-4DB2-BD59-A6C34878D82A}">
                    <a16:rowId xmlns:a16="http://schemas.microsoft.com/office/drawing/2014/main" val="10001"/>
                  </a:ext>
                </a:extLst>
              </a:tr>
              <a:tr h="370416">
                <a:tc>
                  <a:txBody>
                    <a:bodyPr/>
                    <a:lstStyle/>
                    <a:p>
                      <a:pPr algn="ctr"/>
                      <a:r>
                        <a:rPr lang="en-CA" sz="1800" dirty="0"/>
                        <a:t>54321</a:t>
                      </a:r>
                    </a:p>
                  </a:txBody>
                  <a:tcPr marT="45668" marB="45668"/>
                </a:tc>
                <a:tc>
                  <a:txBody>
                    <a:bodyPr/>
                    <a:lstStyle/>
                    <a:p>
                      <a:pPr algn="ctr"/>
                      <a:r>
                        <a:rPr lang="en-CA" sz="1800" dirty="0"/>
                        <a:t>a song of ice and fire</a:t>
                      </a:r>
                    </a:p>
                  </a:txBody>
                  <a:tcPr marT="45668" marB="45668"/>
                </a:tc>
                <a:extLst>
                  <a:ext uri="{0D108BD9-81ED-4DB2-BD59-A6C34878D82A}">
                    <a16:rowId xmlns:a16="http://schemas.microsoft.com/office/drawing/2014/main" val="10002"/>
                  </a:ext>
                </a:extLst>
              </a:tr>
            </a:tbl>
          </a:graphicData>
        </a:graphic>
      </p:graphicFrame>
      <p:graphicFrame>
        <p:nvGraphicFramePr>
          <p:cNvPr id="20" name="Table 19">
            <a:extLst>
              <a:ext uri="{FF2B5EF4-FFF2-40B4-BE49-F238E27FC236}">
                <a16:creationId xmlns:a16="http://schemas.microsoft.com/office/drawing/2014/main" id="{5B860269-7D9D-C750-D62E-9633832DB150}"/>
              </a:ext>
            </a:extLst>
          </p:cNvPr>
          <p:cNvGraphicFramePr>
            <a:graphicFrameLocks noGrp="1"/>
          </p:cNvGraphicFramePr>
          <p:nvPr/>
        </p:nvGraphicFramePr>
        <p:xfrm>
          <a:off x="1530350" y="2411413"/>
          <a:ext cx="6096000" cy="1112837"/>
        </p:xfrm>
        <a:graphic>
          <a:graphicData uri="http://schemas.openxmlformats.org/drawingml/2006/table">
            <a:tbl>
              <a:tblPr firstRow="1" bandRow="1">
                <a:tableStyleId>{D27102A9-8310-4765-A935-A1911B00CA55}</a:tableStyleId>
              </a:tblPr>
              <a:tblGrid>
                <a:gridCol w="1463824">
                  <a:extLst>
                    <a:ext uri="{9D8B030D-6E8A-4147-A177-3AD203B41FA5}">
                      <a16:colId xmlns:a16="http://schemas.microsoft.com/office/drawing/2014/main" val="20000"/>
                    </a:ext>
                  </a:extLst>
                </a:gridCol>
                <a:gridCol w="2736304">
                  <a:extLst>
                    <a:ext uri="{9D8B030D-6E8A-4147-A177-3AD203B41FA5}">
                      <a16:colId xmlns:a16="http://schemas.microsoft.com/office/drawing/2014/main" val="20001"/>
                    </a:ext>
                  </a:extLst>
                </a:gridCol>
                <a:gridCol w="1895872">
                  <a:extLst>
                    <a:ext uri="{9D8B030D-6E8A-4147-A177-3AD203B41FA5}">
                      <a16:colId xmlns:a16="http://schemas.microsoft.com/office/drawing/2014/main" val="20002"/>
                    </a:ext>
                  </a:extLst>
                </a:gridCol>
              </a:tblGrid>
              <a:tr h="370946">
                <a:tc>
                  <a:txBody>
                    <a:bodyPr/>
                    <a:lstStyle/>
                    <a:p>
                      <a:pPr algn="ctr"/>
                      <a:r>
                        <a:rPr lang="en-CA" sz="1800" dirty="0"/>
                        <a:t>ISBN</a:t>
                      </a:r>
                    </a:p>
                  </a:txBody>
                  <a:tcPr marT="45733" marB="45733"/>
                </a:tc>
                <a:tc>
                  <a:txBody>
                    <a:bodyPr/>
                    <a:lstStyle/>
                    <a:p>
                      <a:pPr algn="ctr"/>
                      <a:r>
                        <a:rPr lang="en-CA" sz="1800" dirty="0"/>
                        <a:t>Title</a:t>
                      </a:r>
                    </a:p>
                  </a:txBody>
                  <a:tcPr marT="45733" marB="45733"/>
                </a:tc>
                <a:tc>
                  <a:txBody>
                    <a:bodyPr/>
                    <a:lstStyle/>
                    <a:p>
                      <a:pPr algn="ctr"/>
                      <a:r>
                        <a:rPr lang="en-CA" sz="1800" dirty="0"/>
                        <a:t>Quantity</a:t>
                      </a:r>
                    </a:p>
                  </a:txBody>
                  <a:tcPr marT="45733" marB="45733"/>
                </a:tc>
                <a:extLst>
                  <a:ext uri="{0D108BD9-81ED-4DB2-BD59-A6C34878D82A}">
                    <a16:rowId xmlns:a16="http://schemas.microsoft.com/office/drawing/2014/main" val="10000"/>
                  </a:ext>
                </a:extLst>
              </a:tr>
              <a:tr h="370946">
                <a:tc>
                  <a:txBody>
                    <a:bodyPr/>
                    <a:lstStyle/>
                    <a:p>
                      <a:pPr algn="ctr"/>
                      <a:r>
                        <a:rPr lang="en-CA" sz="1800" dirty="0"/>
                        <a:t>12345</a:t>
                      </a:r>
                    </a:p>
                  </a:txBody>
                  <a:tcPr marT="45733" marB="45733"/>
                </a:tc>
                <a:tc>
                  <a:txBody>
                    <a:bodyPr/>
                    <a:lstStyle/>
                    <a:p>
                      <a:pPr algn="ctr"/>
                      <a:r>
                        <a:rPr lang="en-CA" sz="1800" dirty="0"/>
                        <a:t>The Hunger</a:t>
                      </a:r>
                      <a:r>
                        <a:rPr lang="en-CA" sz="1800" baseline="0" dirty="0"/>
                        <a:t> Game</a:t>
                      </a:r>
                      <a:endParaRPr lang="en-CA" sz="1800" dirty="0"/>
                    </a:p>
                  </a:txBody>
                  <a:tcPr marT="45733" marB="45733"/>
                </a:tc>
                <a:tc>
                  <a:txBody>
                    <a:bodyPr/>
                    <a:lstStyle/>
                    <a:p>
                      <a:pPr algn="ctr"/>
                      <a:r>
                        <a:rPr lang="en-CA" sz="1800" dirty="0"/>
                        <a:t>10</a:t>
                      </a:r>
                    </a:p>
                  </a:txBody>
                  <a:tcPr marT="45733" marB="45733"/>
                </a:tc>
                <a:extLst>
                  <a:ext uri="{0D108BD9-81ED-4DB2-BD59-A6C34878D82A}">
                    <a16:rowId xmlns:a16="http://schemas.microsoft.com/office/drawing/2014/main" val="10001"/>
                  </a:ext>
                </a:extLst>
              </a:tr>
              <a:tr h="370946">
                <a:tc>
                  <a:txBody>
                    <a:bodyPr/>
                    <a:lstStyle/>
                    <a:p>
                      <a:pPr algn="ctr"/>
                      <a:r>
                        <a:rPr lang="en-CA" sz="1800" dirty="0"/>
                        <a:t>54321</a:t>
                      </a:r>
                    </a:p>
                  </a:txBody>
                  <a:tcPr marT="45733" marB="45733"/>
                </a:tc>
                <a:tc>
                  <a:txBody>
                    <a:bodyPr/>
                    <a:lstStyle/>
                    <a:p>
                      <a:pPr algn="ctr"/>
                      <a:r>
                        <a:rPr lang="en-CA" sz="1800" dirty="0"/>
                        <a:t>A Song of Ice and Fire</a:t>
                      </a:r>
                    </a:p>
                  </a:txBody>
                  <a:tcPr marT="45733" marB="45733"/>
                </a:tc>
                <a:tc>
                  <a:txBody>
                    <a:bodyPr/>
                    <a:lstStyle/>
                    <a:p>
                      <a:pPr algn="ctr"/>
                      <a:r>
                        <a:rPr lang="en-CA" sz="1800" dirty="0"/>
                        <a:t>15</a:t>
                      </a:r>
                    </a:p>
                  </a:txBody>
                  <a:tcPr marT="45733" marB="45733"/>
                </a:tc>
                <a:extLst>
                  <a:ext uri="{0D108BD9-81ED-4DB2-BD59-A6C34878D82A}">
                    <a16:rowId xmlns:a16="http://schemas.microsoft.com/office/drawing/2014/main" val="10002"/>
                  </a:ext>
                </a:extLst>
              </a:tr>
            </a:tbl>
          </a:graphicData>
        </a:graphic>
      </p:graphicFrame>
      <p:sp>
        <p:nvSpPr>
          <p:cNvPr id="21" name="TextBox 20">
            <a:extLst>
              <a:ext uri="{FF2B5EF4-FFF2-40B4-BE49-F238E27FC236}">
                <a16:creationId xmlns:a16="http://schemas.microsoft.com/office/drawing/2014/main" id="{F428EFE4-28BE-8C9C-1009-CCE3BB4F75E0}"/>
              </a:ext>
            </a:extLst>
          </p:cNvPr>
          <p:cNvSpPr txBox="1">
            <a:spLocks noChangeArrowheads="1"/>
          </p:cNvSpPr>
          <p:nvPr/>
        </p:nvSpPr>
        <p:spPr bwMode="auto">
          <a:xfrm>
            <a:off x="3570288" y="3540125"/>
            <a:ext cx="20161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Book table</a:t>
            </a:r>
          </a:p>
        </p:txBody>
      </p:sp>
      <p:sp>
        <p:nvSpPr>
          <p:cNvPr id="22" name="Snip Single Corner Rectangle 21">
            <a:extLst>
              <a:ext uri="{FF2B5EF4-FFF2-40B4-BE49-F238E27FC236}">
                <a16:creationId xmlns:a16="http://schemas.microsoft.com/office/drawing/2014/main" id="{5BBFEC9A-74E0-803E-D246-19AD5958E150}"/>
              </a:ext>
            </a:extLst>
          </p:cNvPr>
          <p:cNvSpPr/>
          <p:nvPr/>
        </p:nvSpPr>
        <p:spPr bwMode="auto">
          <a:xfrm>
            <a:off x="227013" y="5300663"/>
            <a:ext cx="1092200" cy="431800"/>
          </a:xfrm>
          <a:prstGeom prst="snip1Rect">
            <a:avLst/>
          </a:prstGeom>
          <a:solidFill>
            <a:srgbClr val="FFFF00">
              <a:alpha val="30000"/>
            </a:srgbClr>
          </a:solidFill>
          <a:ln w="9525" cap="flat" cmpd="sng" algn="ctr">
            <a:solidFill>
              <a:srgbClr val="FFC000"/>
            </a:solidFill>
            <a:prstDash val="solid"/>
            <a:round/>
            <a:headEnd type="none" w="med" len="med"/>
            <a:tailEnd type="none" w="med" len="me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sz="2000" b="1"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Result:</a:t>
            </a:r>
          </a:p>
        </p:txBody>
      </p:sp>
      <p:sp>
        <p:nvSpPr>
          <p:cNvPr id="23" name="Snip Single Corner Rectangle 22">
            <a:extLst>
              <a:ext uri="{FF2B5EF4-FFF2-40B4-BE49-F238E27FC236}">
                <a16:creationId xmlns:a16="http://schemas.microsoft.com/office/drawing/2014/main" id="{7B7966F8-E040-A295-E8A4-273243EDA5B2}"/>
              </a:ext>
            </a:extLst>
          </p:cNvPr>
          <p:cNvSpPr/>
          <p:nvPr/>
        </p:nvSpPr>
        <p:spPr bwMode="auto">
          <a:xfrm>
            <a:off x="250825" y="3978275"/>
            <a:ext cx="830263" cy="431800"/>
          </a:xfrm>
          <a:prstGeom prst="snip1Rect">
            <a:avLst/>
          </a:prstGeom>
          <a:solidFill>
            <a:srgbClr val="FFFF00">
              <a:alpha val="30000"/>
            </a:srgbClr>
          </a:solidFill>
          <a:ln w="9525" cap="flat" cmpd="sng" algn="ctr">
            <a:solidFill>
              <a:srgbClr val="FFC000"/>
            </a:solidFill>
            <a:prstDash val="solid"/>
            <a:round/>
            <a:headEnd type="none" w="med" len="med"/>
            <a:tailEnd type="none" w="med" len="med"/>
          </a:ln>
          <a:effec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2000" b="1"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Run:</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7">
                                            <p:txEl>
                                              <p:pRg st="0" end="0"/>
                                            </p:txEl>
                                          </p:spTgt>
                                        </p:tgtEl>
                                        <p:attrNameLst>
                                          <p:attrName>style.visibility</p:attrName>
                                        </p:attrNameLst>
                                      </p:cBhvr>
                                      <p:to>
                                        <p:strVal val="visible"/>
                                      </p:to>
                                    </p:set>
                                    <p:animEffect transition="in" filter="wipe(left)">
                                      <p:cBhvr>
                                        <p:cTn id="11" dur="500"/>
                                        <p:tgtEl>
                                          <p:spTgt spid="17">
                                            <p:txEl>
                                              <p:pRg st="0" end="0"/>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6" presetClass="entr" presetSubtype="21" fill="hold" nodeType="click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barn(inVertical)">
                                      <p:cBhvr>
                                        <p:cTn id="16" dur="500"/>
                                        <p:tgtEl>
                                          <p:spTgt spid="20"/>
                                        </p:tgtEl>
                                      </p:cBhvr>
                                    </p:animEffect>
                                  </p:childTnLst>
                                </p:cTn>
                              </p:par>
                            </p:childTnLst>
                          </p:cTn>
                        </p:par>
                        <p:par>
                          <p:cTn id="17" fill="hold" nodeType="afterGroup">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21"/>
                                        </p:tgtEl>
                                        <p:attrNameLst>
                                          <p:attrName>style.visibility</p:attrName>
                                        </p:attrNameLst>
                                      </p:cBhvr>
                                      <p:to>
                                        <p:strVal val="visible"/>
                                      </p:to>
                                    </p:set>
                                    <p:animEffect transition="in" filter="wipe(left)">
                                      <p:cBhvr>
                                        <p:cTn id="20" dur="500"/>
                                        <p:tgtEl>
                                          <p:spTgt spid="21"/>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1" fill="hold" grpId="0" nodeType="clickEffect">
                                  <p:stCondLst>
                                    <p:cond delay="0"/>
                                  </p:stCondLst>
                                  <p:childTnLst>
                                    <p:set>
                                      <p:cBhvr>
                                        <p:cTn id="24" dur="1" fill="hold">
                                          <p:stCondLst>
                                            <p:cond delay="0"/>
                                          </p:stCondLst>
                                        </p:cTn>
                                        <p:tgtEl>
                                          <p:spTgt spid="23"/>
                                        </p:tgtEl>
                                        <p:attrNameLst>
                                          <p:attrName>style.visibility</p:attrName>
                                        </p:attrNameLst>
                                      </p:cBhvr>
                                      <p:to>
                                        <p:strVal val="visible"/>
                                      </p:to>
                                    </p:set>
                                    <p:animEffect transition="in" filter="wipe(up)">
                                      <p:cBhvr>
                                        <p:cTn id="25" dur="500"/>
                                        <p:tgtEl>
                                          <p:spTgt spid="23"/>
                                        </p:tgtEl>
                                      </p:cBhvr>
                                    </p:animEffect>
                                  </p:childTnLst>
                                </p:cTn>
                              </p:par>
                            </p:childTnLst>
                          </p:cTn>
                        </p:par>
                        <p:par>
                          <p:cTn id="26" fill="hold" nodeType="afterGroup">
                            <p:stCondLst>
                              <p:cond delay="500"/>
                            </p:stCondLst>
                            <p:childTnLst>
                              <p:par>
                                <p:cTn id="27" presetID="22" presetClass="entr" presetSubtype="8" fill="hold" nodeType="afterEffect">
                                  <p:stCondLst>
                                    <p:cond delay="0"/>
                                  </p:stCondLst>
                                  <p:childTnLst>
                                    <p:set>
                                      <p:cBhvr>
                                        <p:cTn id="28" dur="1" fill="hold">
                                          <p:stCondLst>
                                            <p:cond delay="0"/>
                                          </p:stCondLst>
                                        </p:cTn>
                                        <p:tgtEl>
                                          <p:spTgt spid="23">
                                            <p:txEl>
                                              <p:pRg st="0" end="0"/>
                                            </p:txEl>
                                          </p:spTgt>
                                        </p:tgtEl>
                                        <p:attrNameLst>
                                          <p:attrName>style.visibility</p:attrName>
                                        </p:attrNameLst>
                                      </p:cBhvr>
                                      <p:to>
                                        <p:strVal val="visible"/>
                                      </p:to>
                                    </p:set>
                                    <p:animEffect transition="in" filter="wipe(left)">
                                      <p:cBhvr>
                                        <p:cTn id="29" dur="500"/>
                                        <p:tgtEl>
                                          <p:spTgt spid="23">
                                            <p:txEl>
                                              <p:pRg st="0" end="0"/>
                                            </p:txEl>
                                          </p:spTgt>
                                        </p:tgtEl>
                                      </p:cBhvr>
                                    </p:animEffect>
                                  </p:childTnLst>
                                </p:cTn>
                              </p:par>
                            </p:childTnLst>
                          </p:cTn>
                        </p:par>
                        <p:par>
                          <p:cTn id="30" fill="hold" nodeType="afterGroup">
                            <p:stCondLst>
                              <p:cond delay="1000"/>
                            </p:stCondLst>
                            <p:childTnLst>
                              <p:par>
                                <p:cTn id="31" presetID="16" presetClass="entr" presetSubtype="21" fill="hold" grpId="0" nodeType="after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barn(inVertical)">
                                      <p:cBhvr>
                                        <p:cTn id="33" dur="500"/>
                                        <p:tgtEl>
                                          <p:spTgt spid="18"/>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1" fill="hold" grpId="0" nodeType="clickEffect">
                                  <p:stCondLst>
                                    <p:cond delay="0"/>
                                  </p:stCondLst>
                                  <p:childTnLst>
                                    <p:set>
                                      <p:cBhvr>
                                        <p:cTn id="37" dur="1" fill="hold">
                                          <p:stCondLst>
                                            <p:cond delay="0"/>
                                          </p:stCondLst>
                                        </p:cTn>
                                        <p:tgtEl>
                                          <p:spTgt spid="22"/>
                                        </p:tgtEl>
                                        <p:attrNameLst>
                                          <p:attrName>style.visibility</p:attrName>
                                        </p:attrNameLst>
                                      </p:cBhvr>
                                      <p:to>
                                        <p:strVal val="visible"/>
                                      </p:to>
                                    </p:set>
                                    <p:animEffect transition="in" filter="wipe(up)">
                                      <p:cBhvr>
                                        <p:cTn id="38" dur="500"/>
                                        <p:tgtEl>
                                          <p:spTgt spid="22"/>
                                        </p:tgtEl>
                                      </p:cBhvr>
                                    </p:animEffect>
                                  </p:childTnLst>
                                </p:cTn>
                              </p:par>
                            </p:childTnLst>
                          </p:cTn>
                        </p:par>
                        <p:par>
                          <p:cTn id="39" fill="hold" nodeType="afterGroup">
                            <p:stCondLst>
                              <p:cond delay="500"/>
                            </p:stCondLst>
                            <p:childTnLst>
                              <p:par>
                                <p:cTn id="40" presetID="22" presetClass="entr" presetSubtype="8" fill="hold" nodeType="afterEffect">
                                  <p:stCondLst>
                                    <p:cond delay="0"/>
                                  </p:stCondLst>
                                  <p:childTnLst>
                                    <p:set>
                                      <p:cBhvr>
                                        <p:cTn id="41" dur="1" fill="hold">
                                          <p:stCondLst>
                                            <p:cond delay="0"/>
                                          </p:stCondLst>
                                        </p:cTn>
                                        <p:tgtEl>
                                          <p:spTgt spid="22">
                                            <p:txEl>
                                              <p:pRg st="0" end="0"/>
                                            </p:txEl>
                                          </p:spTgt>
                                        </p:tgtEl>
                                        <p:attrNameLst>
                                          <p:attrName>style.visibility</p:attrName>
                                        </p:attrNameLst>
                                      </p:cBhvr>
                                      <p:to>
                                        <p:strVal val="visible"/>
                                      </p:to>
                                    </p:set>
                                    <p:animEffect transition="in" filter="wipe(left)">
                                      <p:cBhvr>
                                        <p:cTn id="42" dur="500"/>
                                        <p:tgtEl>
                                          <p:spTgt spid="22">
                                            <p:txEl>
                                              <p:pRg st="0" end="0"/>
                                            </p:txEl>
                                          </p:spTgt>
                                        </p:tgtEl>
                                      </p:cBhvr>
                                    </p:animEffect>
                                  </p:childTnLst>
                                </p:cTn>
                              </p:par>
                            </p:childTnLst>
                          </p:cTn>
                        </p:par>
                        <p:par>
                          <p:cTn id="43" fill="hold" nodeType="afterGroup">
                            <p:stCondLst>
                              <p:cond delay="1000"/>
                            </p:stCondLst>
                            <p:childTnLst>
                              <p:par>
                                <p:cTn id="44" presetID="22" presetClass="entr" presetSubtype="8" fill="hold" nodeType="after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wipe(left)">
                                      <p:cBhvr>
                                        <p:cTn id="46"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build="p"/>
      <p:bldP spid="18" grpId="0" animBg="1"/>
      <p:bldP spid="21" grpId="0"/>
      <p:bldP spid="22" grpId="0" animBg="1"/>
      <p:bldP spid="23" grpId="0" animBg="1"/>
    </p:bldLst>
  </p:timing>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78716B-1735-A31C-5E84-63C74C74C84C}"/>
              </a:ext>
            </a:extLst>
          </p:cNvPr>
          <p:cNvSpPr>
            <a:spLocks noGrp="1"/>
          </p:cNvSpPr>
          <p:nvPr>
            <p:ph type="title"/>
          </p:nvPr>
        </p:nvSpPr>
        <p:spPr>
          <a:xfrm>
            <a:off x="457200" y="0"/>
            <a:ext cx="7620000" cy="1143000"/>
          </a:xfrm>
        </p:spPr>
        <p:txBody>
          <a:bodyPr/>
          <a:lstStyle/>
          <a:p>
            <a:pPr algn="ctr">
              <a:defRPr/>
            </a:pPr>
            <a:r>
              <a:rPr lang="en-US" dirty="0"/>
              <a:t>String Functions</a:t>
            </a:r>
            <a:endParaRPr lang="en-MY" dirty="0"/>
          </a:p>
        </p:txBody>
      </p:sp>
      <p:sp>
        <p:nvSpPr>
          <p:cNvPr id="16" name="Snip Single Corner Rectangle 15">
            <a:extLst>
              <a:ext uri="{FF2B5EF4-FFF2-40B4-BE49-F238E27FC236}">
                <a16:creationId xmlns:a16="http://schemas.microsoft.com/office/drawing/2014/main" id="{70EE0CCA-85FB-4383-D678-73B686A92EE3}"/>
              </a:ext>
            </a:extLst>
          </p:cNvPr>
          <p:cNvSpPr/>
          <p:nvPr/>
        </p:nvSpPr>
        <p:spPr>
          <a:xfrm>
            <a:off x="-36513" y="1125538"/>
            <a:ext cx="1512888" cy="400050"/>
          </a:xfrm>
          <a:prstGeom prst="snip1Rect">
            <a:avLst/>
          </a:prstGeom>
          <a:solidFill>
            <a:schemeClr val="tx2"/>
          </a:solidFill>
          <a:ln>
            <a:solidFill>
              <a:schemeClr val="tx2"/>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marR="0" lvl="0" indent="-342900" algn="just" defTabSz="914400" rtl="0" eaLnBrk="1" fontAlgn="base" latinLnBrk="0" hangingPunct="1">
              <a:lnSpc>
                <a:spcPct val="100000"/>
              </a:lnSpc>
              <a:spcBef>
                <a:spcPct val="20000"/>
              </a:spcBef>
              <a:spcAft>
                <a:spcPct val="0"/>
              </a:spcAft>
              <a:buClr>
                <a:srgbClr val="FF6600"/>
              </a:buClr>
              <a:buSzPct val="100000"/>
              <a:buFontTx/>
              <a:buNone/>
              <a:tabLst/>
              <a:defRPr/>
            </a:pPr>
            <a:r>
              <a:rPr kumimoji="0" lang="en-GB" sz="1800" b="0" i="0" u="none" strike="noStrike" kern="0" cap="none" spc="0" normalizeH="0" baseline="0" noProof="0" dirty="0">
                <a:ln>
                  <a:noFill/>
                </a:ln>
                <a:solidFill>
                  <a:srgbClr val="FFFFFF"/>
                </a:solidFill>
                <a:effectLst/>
                <a:uLnTx/>
                <a:uFillTx/>
                <a:latin typeface="Calibri"/>
                <a:ea typeface="+mn-ea"/>
                <a:cs typeface="+mn-cs"/>
              </a:rPr>
              <a:t>REVERSE()</a:t>
            </a:r>
          </a:p>
        </p:txBody>
      </p:sp>
      <p:sp>
        <p:nvSpPr>
          <p:cNvPr id="17" name="Content Placeholder 2">
            <a:extLst>
              <a:ext uri="{FF2B5EF4-FFF2-40B4-BE49-F238E27FC236}">
                <a16:creationId xmlns:a16="http://schemas.microsoft.com/office/drawing/2014/main" id="{1E9C67D6-D046-A895-8398-A35BDF2FA2AB}"/>
              </a:ext>
            </a:extLst>
          </p:cNvPr>
          <p:cNvSpPr txBox="1">
            <a:spLocks/>
          </p:cNvSpPr>
          <p:nvPr/>
        </p:nvSpPr>
        <p:spPr bwMode="auto">
          <a:xfrm>
            <a:off x="250825" y="1773238"/>
            <a:ext cx="8655050"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REVERSE() – Reverse the order of characters</a:t>
            </a: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sp>
        <p:nvSpPr>
          <p:cNvPr id="18" name="Rounded Rectangle 17">
            <a:extLst>
              <a:ext uri="{FF2B5EF4-FFF2-40B4-BE49-F238E27FC236}">
                <a16:creationId xmlns:a16="http://schemas.microsoft.com/office/drawing/2014/main" id="{78CD5CF0-224D-A3D4-C53F-2448B6CC0829}"/>
              </a:ext>
            </a:extLst>
          </p:cNvPr>
          <p:cNvSpPr/>
          <p:nvPr/>
        </p:nvSpPr>
        <p:spPr bwMode="auto">
          <a:xfrm>
            <a:off x="1295400" y="3968750"/>
            <a:ext cx="6400800" cy="1116013"/>
          </a:xfrm>
          <a:prstGeom prst="roundRect">
            <a:avLst/>
          </a:prstGeom>
          <a:solidFill>
            <a:schemeClr val="accent6">
              <a:alpha val="30000"/>
            </a:schemeClr>
          </a:solidFill>
          <a:ln w="9525" cap="flat" cmpd="sng" algn="ctr">
            <a:solidFill>
              <a:schemeClr val="accent6"/>
            </a:solidFill>
            <a:prstDash val="solid"/>
            <a:round/>
            <a:headEnd type="none" w="med" len="med"/>
            <a:tailEnd type="none" w="med" len="med"/>
          </a:ln>
          <a:effectLst/>
        </p:spPr>
        <p:txBody>
          <a:bodyPr anchor="ctr" anchorCtr="1"/>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2600" b="0"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SELECT ISBN, REVERSE(Title) FROM Book;</a:t>
            </a:r>
          </a:p>
        </p:txBody>
      </p:sp>
      <p:graphicFrame>
        <p:nvGraphicFramePr>
          <p:cNvPr id="19" name="Table 18">
            <a:extLst>
              <a:ext uri="{FF2B5EF4-FFF2-40B4-BE49-F238E27FC236}">
                <a16:creationId xmlns:a16="http://schemas.microsoft.com/office/drawing/2014/main" id="{E2E1666B-4FC4-9505-DC5B-6CAD030E6337}"/>
              </a:ext>
            </a:extLst>
          </p:cNvPr>
          <p:cNvGraphicFramePr>
            <a:graphicFrameLocks noGrp="1"/>
          </p:cNvGraphicFramePr>
          <p:nvPr/>
        </p:nvGraphicFramePr>
        <p:xfrm>
          <a:off x="1631950" y="5264150"/>
          <a:ext cx="5316538" cy="1106488"/>
        </p:xfrm>
        <a:graphic>
          <a:graphicData uri="http://schemas.openxmlformats.org/drawingml/2006/table">
            <a:tbl>
              <a:tblPr firstRow="1" bandRow="1">
                <a:tableStyleId>{C083E6E3-FA7D-4D7B-A595-EF9225AFEA82}</a:tableStyleId>
              </a:tblPr>
              <a:tblGrid>
                <a:gridCol w="1932172">
                  <a:extLst>
                    <a:ext uri="{9D8B030D-6E8A-4147-A177-3AD203B41FA5}">
                      <a16:colId xmlns:a16="http://schemas.microsoft.com/office/drawing/2014/main" val="20000"/>
                    </a:ext>
                  </a:extLst>
                </a:gridCol>
                <a:gridCol w="3384366">
                  <a:extLst>
                    <a:ext uri="{9D8B030D-6E8A-4147-A177-3AD203B41FA5}">
                      <a16:colId xmlns:a16="http://schemas.microsoft.com/office/drawing/2014/main" val="20001"/>
                    </a:ext>
                  </a:extLst>
                </a:gridCol>
              </a:tblGrid>
              <a:tr h="365655">
                <a:tc>
                  <a:txBody>
                    <a:bodyPr/>
                    <a:lstStyle/>
                    <a:p>
                      <a:pPr algn="ctr"/>
                      <a:r>
                        <a:rPr lang="en-CA" sz="1800" dirty="0"/>
                        <a:t>ISBN</a:t>
                      </a:r>
                    </a:p>
                  </a:txBody>
                  <a:tcPr marT="45668" marB="45668"/>
                </a:tc>
                <a:tc>
                  <a:txBody>
                    <a:bodyPr/>
                    <a:lstStyle/>
                    <a:p>
                      <a:pPr algn="ctr"/>
                      <a:r>
                        <a:rPr lang="en-CA" sz="1800" dirty="0"/>
                        <a:t>REVERSE(Title)</a:t>
                      </a:r>
                    </a:p>
                  </a:txBody>
                  <a:tcPr marT="45668" marB="45668"/>
                </a:tc>
                <a:extLst>
                  <a:ext uri="{0D108BD9-81ED-4DB2-BD59-A6C34878D82A}">
                    <a16:rowId xmlns:a16="http://schemas.microsoft.com/office/drawing/2014/main" val="10000"/>
                  </a:ext>
                </a:extLst>
              </a:tr>
              <a:tr h="370416">
                <a:tc>
                  <a:txBody>
                    <a:bodyPr/>
                    <a:lstStyle/>
                    <a:p>
                      <a:pPr algn="ctr"/>
                      <a:r>
                        <a:rPr lang="en-CA" sz="1800" dirty="0"/>
                        <a:t>12345</a:t>
                      </a:r>
                    </a:p>
                  </a:txBody>
                  <a:tcPr marT="45668" marB="45668"/>
                </a:tc>
                <a:tc>
                  <a:txBody>
                    <a:bodyPr/>
                    <a:lstStyle/>
                    <a:p>
                      <a:pPr algn="ctr"/>
                      <a:r>
                        <a:rPr lang="en-CA" sz="1800" cap="none" dirty="0" err="1"/>
                        <a:t>emaG</a:t>
                      </a:r>
                      <a:r>
                        <a:rPr lang="en-CA" sz="1800" cap="none" dirty="0"/>
                        <a:t> </a:t>
                      </a:r>
                      <a:r>
                        <a:rPr lang="en-CA" sz="1800" cap="none" dirty="0" err="1"/>
                        <a:t>regnuH</a:t>
                      </a:r>
                      <a:r>
                        <a:rPr lang="en-CA" sz="1800" cap="none" dirty="0"/>
                        <a:t> </a:t>
                      </a:r>
                      <a:r>
                        <a:rPr lang="en-CA" sz="1800" cap="none" dirty="0" err="1"/>
                        <a:t>ehT</a:t>
                      </a:r>
                      <a:endParaRPr lang="en-CA" sz="1800" cap="none" dirty="0"/>
                    </a:p>
                  </a:txBody>
                  <a:tcPr marT="45668" marB="45668"/>
                </a:tc>
                <a:extLst>
                  <a:ext uri="{0D108BD9-81ED-4DB2-BD59-A6C34878D82A}">
                    <a16:rowId xmlns:a16="http://schemas.microsoft.com/office/drawing/2014/main" val="10001"/>
                  </a:ext>
                </a:extLst>
              </a:tr>
              <a:tr h="370416">
                <a:tc>
                  <a:txBody>
                    <a:bodyPr/>
                    <a:lstStyle/>
                    <a:p>
                      <a:pPr algn="ctr"/>
                      <a:r>
                        <a:rPr lang="en-CA" sz="1800" dirty="0"/>
                        <a:t>54321</a:t>
                      </a:r>
                    </a:p>
                  </a:txBody>
                  <a:tcPr marT="45668" marB="45668"/>
                </a:tc>
                <a:tc>
                  <a:txBody>
                    <a:bodyPr/>
                    <a:lstStyle/>
                    <a:p>
                      <a:pPr algn="ctr"/>
                      <a:r>
                        <a:rPr lang="en-CA" sz="1800" cap="none" baseline="0" dirty="0" err="1"/>
                        <a:t>eriF</a:t>
                      </a:r>
                      <a:r>
                        <a:rPr lang="en-CA" sz="1800" cap="none" baseline="0" dirty="0"/>
                        <a:t> </a:t>
                      </a:r>
                      <a:r>
                        <a:rPr lang="en-CA" sz="1800" cap="none" baseline="0" dirty="0" err="1"/>
                        <a:t>dna</a:t>
                      </a:r>
                      <a:r>
                        <a:rPr lang="en-CA" sz="1800" cap="none" baseline="0" dirty="0"/>
                        <a:t> </a:t>
                      </a:r>
                      <a:r>
                        <a:rPr lang="en-CA" sz="1800" cap="none" baseline="0" dirty="0" err="1"/>
                        <a:t>ecI</a:t>
                      </a:r>
                      <a:r>
                        <a:rPr lang="en-CA" sz="1800" cap="none" baseline="0" dirty="0"/>
                        <a:t> </a:t>
                      </a:r>
                      <a:r>
                        <a:rPr lang="en-CA" sz="1800" cap="none" baseline="0" dirty="0" err="1"/>
                        <a:t>fo</a:t>
                      </a:r>
                      <a:r>
                        <a:rPr lang="en-CA" sz="1800" cap="none" baseline="0" dirty="0"/>
                        <a:t> </a:t>
                      </a:r>
                      <a:r>
                        <a:rPr lang="en-CA" sz="1800" cap="none" baseline="0" dirty="0" err="1"/>
                        <a:t>gnoS</a:t>
                      </a:r>
                      <a:r>
                        <a:rPr lang="en-CA" sz="1800" cap="none" baseline="0" dirty="0"/>
                        <a:t> A</a:t>
                      </a:r>
                    </a:p>
                  </a:txBody>
                  <a:tcPr marT="45668" marB="45668"/>
                </a:tc>
                <a:extLst>
                  <a:ext uri="{0D108BD9-81ED-4DB2-BD59-A6C34878D82A}">
                    <a16:rowId xmlns:a16="http://schemas.microsoft.com/office/drawing/2014/main" val="10002"/>
                  </a:ext>
                </a:extLst>
              </a:tr>
            </a:tbl>
          </a:graphicData>
        </a:graphic>
      </p:graphicFrame>
      <p:graphicFrame>
        <p:nvGraphicFramePr>
          <p:cNvPr id="20" name="Table 19">
            <a:extLst>
              <a:ext uri="{FF2B5EF4-FFF2-40B4-BE49-F238E27FC236}">
                <a16:creationId xmlns:a16="http://schemas.microsoft.com/office/drawing/2014/main" id="{B891A1FF-5218-7B35-50D6-F02243D4A863}"/>
              </a:ext>
            </a:extLst>
          </p:cNvPr>
          <p:cNvGraphicFramePr>
            <a:graphicFrameLocks noGrp="1"/>
          </p:cNvGraphicFramePr>
          <p:nvPr/>
        </p:nvGraphicFramePr>
        <p:xfrm>
          <a:off x="1530350" y="2411413"/>
          <a:ext cx="6096000" cy="1112837"/>
        </p:xfrm>
        <a:graphic>
          <a:graphicData uri="http://schemas.openxmlformats.org/drawingml/2006/table">
            <a:tbl>
              <a:tblPr firstRow="1" bandRow="1">
                <a:tableStyleId>{D27102A9-8310-4765-A935-A1911B00CA55}</a:tableStyleId>
              </a:tblPr>
              <a:tblGrid>
                <a:gridCol w="1463824">
                  <a:extLst>
                    <a:ext uri="{9D8B030D-6E8A-4147-A177-3AD203B41FA5}">
                      <a16:colId xmlns:a16="http://schemas.microsoft.com/office/drawing/2014/main" val="20000"/>
                    </a:ext>
                  </a:extLst>
                </a:gridCol>
                <a:gridCol w="2736304">
                  <a:extLst>
                    <a:ext uri="{9D8B030D-6E8A-4147-A177-3AD203B41FA5}">
                      <a16:colId xmlns:a16="http://schemas.microsoft.com/office/drawing/2014/main" val="20001"/>
                    </a:ext>
                  </a:extLst>
                </a:gridCol>
                <a:gridCol w="1895872">
                  <a:extLst>
                    <a:ext uri="{9D8B030D-6E8A-4147-A177-3AD203B41FA5}">
                      <a16:colId xmlns:a16="http://schemas.microsoft.com/office/drawing/2014/main" val="20002"/>
                    </a:ext>
                  </a:extLst>
                </a:gridCol>
              </a:tblGrid>
              <a:tr h="370946">
                <a:tc>
                  <a:txBody>
                    <a:bodyPr/>
                    <a:lstStyle/>
                    <a:p>
                      <a:pPr algn="ctr"/>
                      <a:r>
                        <a:rPr lang="en-CA" sz="1800" dirty="0"/>
                        <a:t>ISBN</a:t>
                      </a:r>
                    </a:p>
                  </a:txBody>
                  <a:tcPr marT="45733" marB="45733"/>
                </a:tc>
                <a:tc>
                  <a:txBody>
                    <a:bodyPr/>
                    <a:lstStyle/>
                    <a:p>
                      <a:pPr algn="ctr"/>
                      <a:r>
                        <a:rPr lang="en-CA" sz="1800" dirty="0"/>
                        <a:t>Title</a:t>
                      </a:r>
                    </a:p>
                  </a:txBody>
                  <a:tcPr marT="45733" marB="45733"/>
                </a:tc>
                <a:tc>
                  <a:txBody>
                    <a:bodyPr/>
                    <a:lstStyle/>
                    <a:p>
                      <a:pPr algn="ctr"/>
                      <a:r>
                        <a:rPr lang="en-CA" sz="1800" dirty="0"/>
                        <a:t>Quantity</a:t>
                      </a:r>
                    </a:p>
                  </a:txBody>
                  <a:tcPr marT="45733" marB="45733"/>
                </a:tc>
                <a:extLst>
                  <a:ext uri="{0D108BD9-81ED-4DB2-BD59-A6C34878D82A}">
                    <a16:rowId xmlns:a16="http://schemas.microsoft.com/office/drawing/2014/main" val="10000"/>
                  </a:ext>
                </a:extLst>
              </a:tr>
              <a:tr h="370946">
                <a:tc>
                  <a:txBody>
                    <a:bodyPr/>
                    <a:lstStyle/>
                    <a:p>
                      <a:pPr algn="ctr"/>
                      <a:r>
                        <a:rPr lang="en-CA" sz="1800" dirty="0"/>
                        <a:t>12345</a:t>
                      </a:r>
                    </a:p>
                  </a:txBody>
                  <a:tcPr marT="45733" marB="45733"/>
                </a:tc>
                <a:tc>
                  <a:txBody>
                    <a:bodyPr/>
                    <a:lstStyle/>
                    <a:p>
                      <a:pPr algn="ctr"/>
                      <a:r>
                        <a:rPr lang="en-CA" sz="1800" dirty="0"/>
                        <a:t>The Hunger</a:t>
                      </a:r>
                      <a:r>
                        <a:rPr lang="en-CA" sz="1800" baseline="0" dirty="0"/>
                        <a:t> Game</a:t>
                      </a:r>
                      <a:endParaRPr lang="en-CA" sz="1800" dirty="0"/>
                    </a:p>
                  </a:txBody>
                  <a:tcPr marT="45733" marB="45733"/>
                </a:tc>
                <a:tc>
                  <a:txBody>
                    <a:bodyPr/>
                    <a:lstStyle/>
                    <a:p>
                      <a:pPr algn="ctr"/>
                      <a:r>
                        <a:rPr lang="en-CA" sz="1800" dirty="0"/>
                        <a:t>10</a:t>
                      </a:r>
                    </a:p>
                  </a:txBody>
                  <a:tcPr marT="45733" marB="45733"/>
                </a:tc>
                <a:extLst>
                  <a:ext uri="{0D108BD9-81ED-4DB2-BD59-A6C34878D82A}">
                    <a16:rowId xmlns:a16="http://schemas.microsoft.com/office/drawing/2014/main" val="10001"/>
                  </a:ext>
                </a:extLst>
              </a:tr>
              <a:tr h="370946">
                <a:tc>
                  <a:txBody>
                    <a:bodyPr/>
                    <a:lstStyle/>
                    <a:p>
                      <a:pPr algn="ctr"/>
                      <a:r>
                        <a:rPr lang="en-CA" sz="1800" dirty="0"/>
                        <a:t>54321</a:t>
                      </a:r>
                    </a:p>
                  </a:txBody>
                  <a:tcPr marT="45733" marB="45733"/>
                </a:tc>
                <a:tc>
                  <a:txBody>
                    <a:bodyPr/>
                    <a:lstStyle/>
                    <a:p>
                      <a:pPr algn="ctr"/>
                      <a:r>
                        <a:rPr lang="en-CA" sz="1800" dirty="0"/>
                        <a:t>A Song of Ice and Fire</a:t>
                      </a:r>
                    </a:p>
                  </a:txBody>
                  <a:tcPr marT="45733" marB="45733"/>
                </a:tc>
                <a:tc>
                  <a:txBody>
                    <a:bodyPr/>
                    <a:lstStyle/>
                    <a:p>
                      <a:pPr algn="ctr"/>
                      <a:r>
                        <a:rPr lang="en-CA" sz="1800" dirty="0"/>
                        <a:t>15</a:t>
                      </a:r>
                    </a:p>
                  </a:txBody>
                  <a:tcPr marT="45733" marB="45733"/>
                </a:tc>
                <a:extLst>
                  <a:ext uri="{0D108BD9-81ED-4DB2-BD59-A6C34878D82A}">
                    <a16:rowId xmlns:a16="http://schemas.microsoft.com/office/drawing/2014/main" val="10002"/>
                  </a:ext>
                </a:extLst>
              </a:tr>
            </a:tbl>
          </a:graphicData>
        </a:graphic>
      </p:graphicFrame>
      <p:sp>
        <p:nvSpPr>
          <p:cNvPr id="21" name="TextBox 20">
            <a:extLst>
              <a:ext uri="{FF2B5EF4-FFF2-40B4-BE49-F238E27FC236}">
                <a16:creationId xmlns:a16="http://schemas.microsoft.com/office/drawing/2014/main" id="{0F10DE2A-A1E4-BDB8-EC4D-B4DD06DD961E}"/>
              </a:ext>
            </a:extLst>
          </p:cNvPr>
          <p:cNvSpPr txBox="1">
            <a:spLocks noChangeArrowheads="1"/>
          </p:cNvSpPr>
          <p:nvPr/>
        </p:nvSpPr>
        <p:spPr bwMode="auto">
          <a:xfrm>
            <a:off x="3570288" y="3540125"/>
            <a:ext cx="20161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Book table</a:t>
            </a:r>
          </a:p>
        </p:txBody>
      </p:sp>
      <p:sp>
        <p:nvSpPr>
          <p:cNvPr id="22" name="Snip Single Corner Rectangle 21">
            <a:extLst>
              <a:ext uri="{FF2B5EF4-FFF2-40B4-BE49-F238E27FC236}">
                <a16:creationId xmlns:a16="http://schemas.microsoft.com/office/drawing/2014/main" id="{C3064D9B-3B78-9647-7673-F22DF0F98553}"/>
              </a:ext>
            </a:extLst>
          </p:cNvPr>
          <p:cNvSpPr/>
          <p:nvPr/>
        </p:nvSpPr>
        <p:spPr bwMode="auto">
          <a:xfrm>
            <a:off x="227013" y="5300663"/>
            <a:ext cx="1092200" cy="431800"/>
          </a:xfrm>
          <a:prstGeom prst="snip1Rect">
            <a:avLst/>
          </a:prstGeom>
          <a:solidFill>
            <a:srgbClr val="FFFF00">
              <a:alpha val="30000"/>
            </a:srgbClr>
          </a:solidFill>
          <a:ln w="9525" cap="flat" cmpd="sng" algn="ctr">
            <a:solidFill>
              <a:srgbClr val="FFC000"/>
            </a:solidFill>
            <a:prstDash val="solid"/>
            <a:round/>
            <a:headEnd type="none" w="med" len="med"/>
            <a:tailEnd type="none" w="med" len="me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sz="2000" b="1"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Result:</a:t>
            </a:r>
          </a:p>
        </p:txBody>
      </p:sp>
      <p:sp>
        <p:nvSpPr>
          <p:cNvPr id="23" name="Snip Single Corner Rectangle 22">
            <a:extLst>
              <a:ext uri="{FF2B5EF4-FFF2-40B4-BE49-F238E27FC236}">
                <a16:creationId xmlns:a16="http://schemas.microsoft.com/office/drawing/2014/main" id="{7E5959C8-2D4F-5060-AE79-3BD3D51D57D9}"/>
              </a:ext>
            </a:extLst>
          </p:cNvPr>
          <p:cNvSpPr/>
          <p:nvPr/>
        </p:nvSpPr>
        <p:spPr bwMode="auto">
          <a:xfrm>
            <a:off x="250825" y="3978275"/>
            <a:ext cx="830263" cy="431800"/>
          </a:xfrm>
          <a:prstGeom prst="snip1Rect">
            <a:avLst/>
          </a:prstGeom>
          <a:solidFill>
            <a:srgbClr val="FFFF00">
              <a:alpha val="30000"/>
            </a:srgbClr>
          </a:solidFill>
          <a:ln w="9525" cap="flat" cmpd="sng" algn="ctr">
            <a:solidFill>
              <a:srgbClr val="FFC000"/>
            </a:solidFill>
            <a:prstDash val="solid"/>
            <a:round/>
            <a:headEnd type="none" w="med" len="med"/>
            <a:tailEnd type="none" w="med" len="med"/>
          </a:ln>
          <a:effec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2000" b="1"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Run:</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7">
                                            <p:txEl>
                                              <p:pRg st="0" end="0"/>
                                            </p:txEl>
                                          </p:spTgt>
                                        </p:tgtEl>
                                        <p:attrNameLst>
                                          <p:attrName>style.visibility</p:attrName>
                                        </p:attrNameLst>
                                      </p:cBhvr>
                                      <p:to>
                                        <p:strVal val="visible"/>
                                      </p:to>
                                    </p:set>
                                    <p:animEffect transition="in" filter="wipe(left)">
                                      <p:cBhvr>
                                        <p:cTn id="11" dur="500"/>
                                        <p:tgtEl>
                                          <p:spTgt spid="17">
                                            <p:txEl>
                                              <p:pRg st="0" end="0"/>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6" presetClass="entr" presetSubtype="21" fill="hold" nodeType="click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barn(inVertical)">
                                      <p:cBhvr>
                                        <p:cTn id="16" dur="500"/>
                                        <p:tgtEl>
                                          <p:spTgt spid="20"/>
                                        </p:tgtEl>
                                      </p:cBhvr>
                                    </p:animEffect>
                                  </p:childTnLst>
                                </p:cTn>
                              </p:par>
                            </p:childTnLst>
                          </p:cTn>
                        </p:par>
                        <p:par>
                          <p:cTn id="17" fill="hold" nodeType="afterGroup">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21"/>
                                        </p:tgtEl>
                                        <p:attrNameLst>
                                          <p:attrName>style.visibility</p:attrName>
                                        </p:attrNameLst>
                                      </p:cBhvr>
                                      <p:to>
                                        <p:strVal val="visible"/>
                                      </p:to>
                                    </p:set>
                                    <p:animEffect transition="in" filter="wipe(left)">
                                      <p:cBhvr>
                                        <p:cTn id="20" dur="500"/>
                                        <p:tgtEl>
                                          <p:spTgt spid="21"/>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1" fill="hold" grpId="0" nodeType="clickEffect">
                                  <p:stCondLst>
                                    <p:cond delay="0"/>
                                  </p:stCondLst>
                                  <p:childTnLst>
                                    <p:set>
                                      <p:cBhvr>
                                        <p:cTn id="24" dur="1" fill="hold">
                                          <p:stCondLst>
                                            <p:cond delay="0"/>
                                          </p:stCondLst>
                                        </p:cTn>
                                        <p:tgtEl>
                                          <p:spTgt spid="23"/>
                                        </p:tgtEl>
                                        <p:attrNameLst>
                                          <p:attrName>style.visibility</p:attrName>
                                        </p:attrNameLst>
                                      </p:cBhvr>
                                      <p:to>
                                        <p:strVal val="visible"/>
                                      </p:to>
                                    </p:set>
                                    <p:animEffect transition="in" filter="wipe(up)">
                                      <p:cBhvr>
                                        <p:cTn id="25" dur="500"/>
                                        <p:tgtEl>
                                          <p:spTgt spid="23"/>
                                        </p:tgtEl>
                                      </p:cBhvr>
                                    </p:animEffect>
                                  </p:childTnLst>
                                </p:cTn>
                              </p:par>
                            </p:childTnLst>
                          </p:cTn>
                        </p:par>
                        <p:par>
                          <p:cTn id="26" fill="hold" nodeType="afterGroup">
                            <p:stCondLst>
                              <p:cond delay="500"/>
                            </p:stCondLst>
                            <p:childTnLst>
                              <p:par>
                                <p:cTn id="27" presetID="22" presetClass="entr" presetSubtype="8" fill="hold" nodeType="afterEffect">
                                  <p:stCondLst>
                                    <p:cond delay="0"/>
                                  </p:stCondLst>
                                  <p:childTnLst>
                                    <p:set>
                                      <p:cBhvr>
                                        <p:cTn id="28" dur="1" fill="hold">
                                          <p:stCondLst>
                                            <p:cond delay="0"/>
                                          </p:stCondLst>
                                        </p:cTn>
                                        <p:tgtEl>
                                          <p:spTgt spid="23">
                                            <p:txEl>
                                              <p:pRg st="0" end="0"/>
                                            </p:txEl>
                                          </p:spTgt>
                                        </p:tgtEl>
                                        <p:attrNameLst>
                                          <p:attrName>style.visibility</p:attrName>
                                        </p:attrNameLst>
                                      </p:cBhvr>
                                      <p:to>
                                        <p:strVal val="visible"/>
                                      </p:to>
                                    </p:set>
                                    <p:animEffect transition="in" filter="wipe(left)">
                                      <p:cBhvr>
                                        <p:cTn id="29" dur="500"/>
                                        <p:tgtEl>
                                          <p:spTgt spid="23">
                                            <p:txEl>
                                              <p:pRg st="0" end="0"/>
                                            </p:txEl>
                                          </p:spTgt>
                                        </p:tgtEl>
                                      </p:cBhvr>
                                    </p:animEffect>
                                  </p:childTnLst>
                                </p:cTn>
                              </p:par>
                            </p:childTnLst>
                          </p:cTn>
                        </p:par>
                        <p:par>
                          <p:cTn id="30" fill="hold" nodeType="afterGroup">
                            <p:stCondLst>
                              <p:cond delay="1000"/>
                            </p:stCondLst>
                            <p:childTnLst>
                              <p:par>
                                <p:cTn id="31" presetID="16" presetClass="entr" presetSubtype="21" fill="hold" grpId="0" nodeType="after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barn(inVertical)">
                                      <p:cBhvr>
                                        <p:cTn id="33" dur="500"/>
                                        <p:tgtEl>
                                          <p:spTgt spid="18"/>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1" fill="hold" grpId="0" nodeType="clickEffect">
                                  <p:stCondLst>
                                    <p:cond delay="0"/>
                                  </p:stCondLst>
                                  <p:childTnLst>
                                    <p:set>
                                      <p:cBhvr>
                                        <p:cTn id="37" dur="1" fill="hold">
                                          <p:stCondLst>
                                            <p:cond delay="0"/>
                                          </p:stCondLst>
                                        </p:cTn>
                                        <p:tgtEl>
                                          <p:spTgt spid="22"/>
                                        </p:tgtEl>
                                        <p:attrNameLst>
                                          <p:attrName>style.visibility</p:attrName>
                                        </p:attrNameLst>
                                      </p:cBhvr>
                                      <p:to>
                                        <p:strVal val="visible"/>
                                      </p:to>
                                    </p:set>
                                    <p:animEffect transition="in" filter="wipe(up)">
                                      <p:cBhvr>
                                        <p:cTn id="38" dur="500"/>
                                        <p:tgtEl>
                                          <p:spTgt spid="22"/>
                                        </p:tgtEl>
                                      </p:cBhvr>
                                    </p:animEffect>
                                  </p:childTnLst>
                                </p:cTn>
                              </p:par>
                            </p:childTnLst>
                          </p:cTn>
                        </p:par>
                        <p:par>
                          <p:cTn id="39" fill="hold" nodeType="afterGroup">
                            <p:stCondLst>
                              <p:cond delay="500"/>
                            </p:stCondLst>
                            <p:childTnLst>
                              <p:par>
                                <p:cTn id="40" presetID="22" presetClass="entr" presetSubtype="8" fill="hold" nodeType="afterEffect">
                                  <p:stCondLst>
                                    <p:cond delay="0"/>
                                  </p:stCondLst>
                                  <p:childTnLst>
                                    <p:set>
                                      <p:cBhvr>
                                        <p:cTn id="41" dur="1" fill="hold">
                                          <p:stCondLst>
                                            <p:cond delay="0"/>
                                          </p:stCondLst>
                                        </p:cTn>
                                        <p:tgtEl>
                                          <p:spTgt spid="22">
                                            <p:txEl>
                                              <p:pRg st="0" end="0"/>
                                            </p:txEl>
                                          </p:spTgt>
                                        </p:tgtEl>
                                        <p:attrNameLst>
                                          <p:attrName>style.visibility</p:attrName>
                                        </p:attrNameLst>
                                      </p:cBhvr>
                                      <p:to>
                                        <p:strVal val="visible"/>
                                      </p:to>
                                    </p:set>
                                    <p:animEffect transition="in" filter="wipe(left)">
                                      <p:cBhvr>
                                        <p:cTn id="42" dur="500"/>
                                        <p:tgtEl>
                                          <p:spTgt spid="22">
                                            <p:txEl>
                                              <p:pRg st="0" end="0"/>
                                            </p:txEl>
                                          </p:spTgt>
                                        </p:tgtEl>
                                      </p:cBhvr>
                                    </p:animEffect>
                                  </p:childTnLst>
                                </p:cTn>
                              </p:par>
                            </p:childTnLst>
                          </p:cTn>
                        </p:par>
                        <p:par>
                          <p:cTn id="43" fill="hold" nodeType="afterGroup">
                            <p:stCondLst>
                              <p:cond delay="1000"/>
                            </p:stCondLst>
                            <p:childTnLst>
                              <p:par>
                                <p:cTn id="44" presetID="22" presetClass="entr" presetSubtype="8" fill="hold" nodeType="after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wipe(left)">
                                      <p:cBhvr>
                                        <p:cTn id="46"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build="p"/>
      <p:bldP spid="18" grpId="0" animBg="1"/>
      <p:bldP spid="21" grpId="0"/>
      <p:bldP spid="22" grpId="0" animBg="1"/>
      <p:bldP spid="23" grpId="0" animBg="1"/>
    </p:bldLst>
  </p:timing>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97FF75-69C2-CE62-D27B-ED213CC6E15E}"/>
              </a:ext>
            </a:extLst>
          </p:cNvPr>
          <p:cNvSpPr>
            <a:spLocks noGrp="1"/>
          </p:cNvSpPr>
          <p:nvPr>
            <p:ph type="title"/>
          </p:nvPr>
        </p:nvSpPr>
        <p:spPr>
          <a:xfrm>
            <a:off x="457200" y="0"/>
            <a:ext cx="7620000" cy="1143000"/>
          </a:xfrm>
        </p:spPr>
        <p:txBody>
          <a:bodyPr/>
          <a:lstStyle/>
          <a:p>
            <a:pPr algn="ctr">
              <a:defRPr/>
            </a:pPr>
            <a:r>
              <a:rPr lang="en-US" dirty="0"/>
              <a:t>String Functions</a:t>
            </a:r>
            <a:endParaRPr lang="en-MY" dirty="0"/>
          </a:p>
        </p:txBody>
      </p:sp>
      <p:sp>
        <p:nvSpPr>
          <p:cNvPr id="16" name="Snip Single Corner Rectangle 15">
            <a:extLst>
              <a:ext uri="{FF2B5EF4-FFF2-40B4-BE49-F238E27FC236}">
                <a16:creationId xmlns:a16="http://schemas.microsoft.com/office/drawing/2014/main" id="{749AE898-9A36-6AEB-7868-54CEE69B3A95}"/>
              </a:ext>
            </a:extLst>
          </p:cNvPr>
          <p:cNvSpPr/>
          <p:nvPr/>
        </p:nvSpPr>
        <p:spPr>
          <a:xfrm>
            <a:off x="-36513" y="1125538"/>
            <a:ext cx="1295401" cy="400050"/>
          </a:xfrm>
          <a:prstGeom prst="snip1Rect">
            <a:avLst/>
          </a:prstGeom>
          <a:solidFill>
            <a:schemeClr val="tx1"/>
          </a:solidFill>
          <a:ln>
            <a:solidFill>
              <a:schemeClr val="tx1"/>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marR="0" lvl="0" indent="-342900" algn="just" defTabSz="914400" rtl="0" eaLnBrk="1" fontAlgn="base" latinLnBrk="0" hangingPunct="1">
              <a:lnSpc>
                <a:spcPct val="100000"/>
              </a:lnSpc>
              <a:spcBef>
                <a:spcPct val="20000"/>
              </a:spcBef>
              <a:spcAft>
                <a:spcPct val="0"/>
              </a:spcAft>
              <a:buClr>
                <a:srgbClr val="FF6600"/>
              </a:buClr>
              <a:buSzPct val="100000"/>
              <a:buFontTx/>
              <a:buNone/>
              <a:tabLst/>
              <a:defRPr/>
            </a:pPr>
            <a:r>
              <a:rPr kumimoji="0" lang="en-GB" sz="1800" b="0" i="0" u="none" strike="noStrike" kern="0" cap="none" spc="0" normalizeH="0" baseline="0" noProof="0" dirty="0">
                <a:ln>
                  <a:noFill/>
                </a:ln>
                <a:solidFill>
                  <a:srgbClr val="FFFFFF"/>
                </a:solidFill>
                <a:effectLst/>
                <a:uLnTx/>
                <a:uFillTx/>
                <a:latin typeface="Calibri"/>
                <a:ea typeface="+mn-ea"/>
                <a:cs typeface="+mn-cs"/>
              </a:rPr>
              <a:t>LENGTH()</a:t>
            </a:r>
          </a:p>
        </p:txBody>
      </p:sp>
      <p:sp>
        <p:nvSpPr>
          <p:cNvPr id="17" name="Content Placeholder 2">
            <a:extLst>
              <a:ext uri="{FF2B5EF4-FFF2-40B4-BE49-F238E27FC236}">
                <a16:creationId xmlns:a16="http://schemas.microsoft.com/office/drawing/2014/main" id="{C1729F43-DB07-057C-307A-EAE54AB38D8E}"/>
              </a:ext>
            </a:extLst>
          </p:cNvPr>
          <p:cNvSpPr txBox="1">
            <a:spLocks/>
          </p:cNvSpPr>
          <p:nvPr/>
        </p:nvSpPr>
        <p:spPr bwMode="auto">
          <a:xfrm>
            <a:off x="250825" y="1773238"/>
            <a:ext cx="8655050"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LENGTH() – Count number of characters</a:t>
            </a: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sp>
        <p:nvSpPr>
          <p:cNvPr id="18" name="Rounded Rectangle 17">
            <a:extLst>
              <a:ext uri="{FF2B5EF4-FFF2-40B4-BE49-F238E27FC236}">
                <a16:creationId xmlns:a16="http://schemas.microsoft.com/office/drawing/2014/main" id="{258001BA-34C4-6D1A-5BF6-AC15FEAC8F02}"/>
              </a:ext>
            </a:extLst>
          </p:cNvPr>
          <p:cNvSpPr/>
          <p:nvPr/>
        </p:nvSpPr>
        <p:spPr bwMode="auto">
          <a:xfrm>
            <a:off x="1270000" y="3968750"/>
            <a:ext cx="6624638" cy="1116013"/>
          </a:xfrm>
          <a:prstGeom prst="roundRect">
            <a:avLst/>
          </a:prstGeom>
          <a:solidFill>
            <a:schemeClr val="accent6">
              <a:alpha val="30000"/>
            </a:schemeClr>
          </a:solidFill>
          <a:ln w="9525" cap="flat" cmpd="sng" algn="ctr">
            <a:solidFill>
              <a:schemeClr val="accent6"/>
            </a:solidFill>
            <a:prstDash val="solid"/>
            <a:round/>
            <a:headEnd type="none" w="med" len="med"/>
            <a:tailEnd type="none" w="med" len="med"/>
          </a:ln>
          <a:effectLst/>
        </p:spPr>
        <p:txBody>
          <a:bodyPr anchor="ctr" anchorCtr="1"/>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2800" b="0"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SELECT ISBN, LENGTH(Title) FROM Book;</a:t>
            </a:r>
          </a:p>
        </p:txBody>
      </p:sp>
      <p:graphicFrame>
        <p:nvGraphicFramePr>
          <p:cNvPr id="19" name="Table 18">
            <a:extLst>
              <a:ext uri="{FF2B5EF4-FFF2-40B4-BE49-F238E27FC236}">
                <a16:creationId xmlns:a16="http://schemas.microsoft.com/office/drawing/2014/main" id="{C77B308F-C3AB-D524-5D97-2FBC1B1180CF}"/>
              </a:ext>
            </a:extLst>
          </p:cNvPr>
          <p:cNvGraphicFramePr>
            <a:graphicFrameLocks noGrp="1"/>
          </p:cNvGraphicFramePr>
          <p:nvPr/>
        </p:nvGraphicFramePr>
        <p:xfrm>
          <a:off x="1631950" y="5264150"/>
          <a:ext cx="5316538" cy="1106488"/>
        </p:xfrm>
        <a:graphic>
          <a:graphicData uri="http://schemas.openxmlformats.org/drawingml/2006/table">
            <a:tbl>
              <a:tblPr firstRow="1" bandRow="1">
                <a:tableStyleId>{C083E6E3-FA7D-4D7B-A595-EF9225AFEA82}</a:tableStyleId>
              </a:tblPr>
              <a:tblGrid>
                <a:gridCol w="1932172">
                  <a:extLst>
                    <a:ext uri="{9D8B030D-6E8A-4147-A177-3AD203B41FA5}">
                      <a16:colId xmlns:a16="http://schemas.microsoft.com/office/drawing/2014/main" val="20000"/>
                    </a:ext>
                  </a:extLst>
                </a:gridCol>
                <a:gridCol w="3384366">
                  <a:extLst>
                    <a:ext uri="{9D8B030D-6E8A-4147-A177-3AD203B41FA5}">
                      <a16:colId xmlns:a16="http://schemas.microsoft.com/office/drawing/2014/main" val="20001"/>
                    </a:ext>
                  </a:extLst>
                </a:gridCol>
              </a:tblGrid>
              <a:tr h="365655">
                <a:tc>
                  <a:txBody>
                    <a:bodyPr/>
                    <a:lstStyle/>
                    <a:p>
                      <a:pPr algn="ctr"/>
                      <a:r>
                        <a:rPr lang="en-CA" sz="1800" dirty="0"/>
                        <a:t>ISBN</a:t>
                      </a:r>
                    </a:p>
                  </a:txBody>
                  <a:tcPr marT="45668" marB="45668"/>
                </a:tc>
                <a:tc>
                  <a:txBody>
                    <a:bodyPr/>
                    <a:lstStyle/>
                    <a:p>
                      <a:pPr algn="ctr"/>
                      <a:r>
                        <a:rPr lang="en-CA" sz="1800" dirty="0"/>
                        <a:t>LENGTH(Title)</a:t>
                      </a:r>
                    </a:p>
                  </a:txBody>
                  <a:tcPr marT="45668" marB="45668"/>
                </a:tc>
                <a:extLst>
                  <a:ext uri="{0D108BD9-81ED-4DB2-BD59-A6C34878D82A}">
                    <a16:rowId xmlns:a16="http://schemas.microsoft.com/office/drawing/2014/main" val="10000"/>
                  </a:ext>
                </a:extLst>
              </a:tr>
              <a:tr h="370416">
                <a:tc>
                  <a:txBody>
                    <a:bodyPr/>
                    <a:lstStyle/>
                    <a:p>
                      <a:pPr algn="ctr"/>
                      <a:r>
                        <a:rPr lang="en-CA" sz="1800" dirty="0"/>
                        <a:t>12345</a:t>
                      </a:r>
                    </a:p>
                  </a:txBody>
                  <a:tcPr marT="45668" marB="45668"/>
                </a:tc>
                <a:tc>
                  <a:txBody>
                    <a:bodyPr/>
                    <a:lstStyle/>
                    <a:p>
                      <a:pPr algn="ctr"/>
                      <a:r>
                        <a:rPr lang="en-CA" sz="1800" cap="none" dirty="0"/>
                        <a:t>15</a:t>
                      </a:r>
                    </a:p>
                  </a:txBody>
                  <a:tcPr marT="45668" marB="45668"/>
                </a:tc>
                <a:extLst>
                  <a:ext uri="{0D108BD9-81ED-4DB2-BD59-A6C34878D82A}">
                    <a16:rowId xmlns:a16="http://schemas.microsoft.com/office/drawing/2014/main" val="10001"/>
                  </a:ext>
                </a:extLst>
              </a:tr>
              <a:tr h="370416">
                <a:tc>
                  <a:txBody>
                    <a:bodyPr/>
                    <a:lstStyle/>
                    <a:p>
                      <a:pPr algn="ctr"/>
                      <a:r>
                        <a:rPr lang="en-CA" sz="1800" dirty="0"/>
                        <a:t>54321</a:t>
                      </a:r>
                    </a:p>
                  </a:txBody>
                  <a:tcPr marT="45668" marB="45668"/>
                </a:tc>
                <a:tc>
                  <a:txBody>
                    <a:bodyPr/>
                    <a:lstStyle/>
                    <a:p>
                      <a:pPr algn="ctr"/>
                      <a:r>
                        <a:rPr lang="en-CA" sz="1800" cap="none" baseline="0" dirty="0"/>
                        <a:t>22</a:t>
                      </a:r>
                    </a:p>
                  </a:txBody>
                  <a:tcPr marT="45668" marB="45668"/>
                </a:tc>
                <a:extLst>
                  <a:ext uri="{0D108BD9-81ED-4DB2-BD59-A6C34878D82A}">
                    <a16:rowId xmlns:a16="http://schemas.microsoft.com/office/drawing/2014/main" val="10002"/>
                  </a:ext>
                </a:extLst>
              </a:tr>
            </a:tbl>
          </a:graphicData>
        </a:graphic>
      </p:graphicFrame>
      <p:graphicFrame>
        <p:nvGraphicFramePr>
          <p:cNvPr id="20" name="Table 19">
            <a:extLst>
              <a:ext uri="{FF2B5EF4-FFF2-40B4-BE49-F238E27FC236}">
                <a16:creationId xmlns:a16="http://schemas.microsoft.com/office/drawing/2014/main" id="{E486CB72-74AC-E5D2-DAA2-9573388F673B}"/>
              </a:ext>
            </a:extLst>
          </p:cNvPr>
          <p:cNvGraphicFramePr>
            <a:graphicFrameLocks noGrp="1"/>
          </p:cNvGraphicFramePr>
          <p:nvPr/>
        </p:nvGraphicFramePr>
        <p:xfrm>
          <a:off x="1530350" y="2411413"/>
          <a:ext cx="6096000" cy="1112837"/>
        </p:xfrm>
        <a:graphic>
          <a:graphicData uri="http://schemas.openxmlformats.org/drawingml/2006/table">
            <a:tbl>
              <a:tblPr firstRow="1" bandRow="1">
                <a:tableStyleId>{D27102A9-8310-4765-A935-A1911B00CA55}</a:tableStyleId>
              </a:tblPr>
              <a:tblGrid>
                <a:gridCol w="1463824">
                  <a:extLst>
                    <a:ext uri="{9D8B030D-6E8A-4147-A177-3AD203B41FA5}">
                      <a16:colId xmlns:a16="http://schemas.microsoft.com/office/drawing/2014/main" val="20000"/>
                    </a:ext>
                  </a:extLst>
                </a:gridCol>
                <a:gridCol w="2736304">
                  <a:extLst>
                    <a:ext uri="{9D8B030D-6E8A-4147-A177-3AD203B41FA5}">
                      <a16:colId xmlns:a16="http://schemas.microsoft.com/office/drawing/2014/main" val="20001"/>
                    </a:ext>
                  </a:extLst>
                </a:gridCol>
                <a:gridCol w="1895872">
                  <a:extLst>
                    <a:ext uri="{9D8B030D-6E8A-4147-A177-3AD203B41FA5}">
                      <a16:colId xmlns:a16="http://schemas.microsoft.com/office/drawing/2014/main" val="20002"/>
                    </a:ext>
                  </a:extLst>
                </a:gridCol>
              </a:tblGrid>
              <a:tr h="370946">
                <a:tc>
                  <a:txBody>
                    <a:bodyPr/>
                    <a:lstStyle/>
                    <a:p>
                      <a:pPr algn="ctr"/>
                      <a:r>
                        <a:rPr lang="en-CA" sz="1800" dirty="0"/>
                        <a:t>ISBN</a:t>
                      </a:r>
                    </a:p>
                  </a:txBody>
                  <a:tcPr marT="45733" marB="45733"/>
                </a:tc>
                <a:tc>
                  <a:txBody>
                    <a:bodyPr/>
                    <a:lstStyle/>
                    <a:p>
                      <a:pPr algn="ctr"/>
                      <a:r>
                        <a:rPr lang="en-CA" sz="1800" dirty="0"/>
                        <a:t>Title</a:t>
                      </a:r>
                    </a:p>
                  </a:txBody>
                  <a:tcPr marT="45733" marB="45733"/>
                </a:tc>
                <a:tc>
                  <a:txBody>
                    <a:bodyPr/>
                    <a:lstStyle/>
                    <a:p>
                      <a:pPr algn="ctr"/>
                      <a:r>
                        <a:rPr lang="en-CA" sz="1800" dirty="0"/>
                        <a:t>Quantity</a:t>
                      </a:r>
                    </a:p>
                  </a:txBody>
                  <a:tcPr marT="45733" marB="45733"/>
                </a:tc>
                <a:extLst>
                  <a:ext uri="{0D108BD9-81ED-4DB2-BD59-A6C34878D82A}">
                    <a16:rowId xmlns:a16="http://schemas.microsoft.com/office/drawing/2014/main" val="10000"/>
                  </a:ext>
                </a:extLst>
              </a:tr>
              <a:tr h="370946">
                <a:tc>
                  <a:txBody>
                    <a:bodyPr/>
                    <a:lstStyle/>
                    <a:p>
                      <a:pPr algn="ctr"/>
                      <a:r>
                        <a:rPr lang="en-CA" sz="1800" dirty="0"/>
                        <a:t>12345</a:t>
                      </a:r>
                    </a:p>
                  </a:txBody>
                  <a:tcPr marT="45733" marB="45733"/>
                </a:tc>
                <a:tc>
                  <a:txBody>
                    <a:bodyPr/>
                    <a:lstStyle/>
                    <a:p>
                      <a:pPr algn="ctr"/>
                      <a:r>
                        <a:rPr lang="en-CA" sz="1800" dirty="0"/>
                        <a:t>The Hunger</a:t>
                      </a:r>
                      <a:r>
                        <a:rPr lang="en-CA" sz="1800" baseline="0" dirty="0"/>
                        <a:t> Game</a:t>
                      </a:r>
                      <a:endParaRPr lang="en-CA" sz="1800" dirty="0"/>
                    </a:p>
                  </a:txBody>
                  <a:tcPr marT="45733" marB="45733"/>
                </a:tc>
                <a:tc>
                  <a:txBody>
                    <a:bodyPr/>
                    <a:lstStyle/>
                    <a:p>
                      <a:pPr algn="ctr"/>
                      <a:r>
                        <a:rPr lang="en-CA" sz="1800" dirty="0"/>
                        <a:t>10</a:t>
                      </a:r>
                    </a:p>
                  </a:txBody>
                  <a:tcPr marT="45733" marB="45733"/>
                </a:tc>
                <a:extLst>
                  <a:ext uri="{0D108BD9-81ED-4DB2-BD59-A6C34878D82A}">
                    <a16:rowId xmlns:a16="http://schemas.microsoft.com/office/drawing/2014/main" val="10001"/>
                  </a:ext>
                </a:extLst>
              </a:tr>
              <a:tr h="370946">
                <a:tc>
                  <a:txBody>
                    <a:bodyPr/>
                    <a:lstStyle/>
                    <a:p>
                      <a:pPr algn="ctr"/>
                      <a:r>
                        <a:rPr lang="en-CA" sz="1800" dirty="0"/>
                        <a:t>54321</a:t>
                      </a:r>
                    </a:p>
                  </a:txBody>
                  <a:tcPr marT="45733" marB="45733"/>
                </a:tc>
                <a:tc>
                  <a:txBody>
                    <a:bodyPr/>
                    <a:lstStyle/>
                    <a:p>
                      <a:pPr algn="ctr"/>
                      <a:r>
                        <a:rPr lang="en-CA" sz="1800" dirty="0"/>
                        <a:t>A Song of Ice and Fire</a:t>
                      </a:r>
                    </a:p>
                  </a:txBody>
                  <a:tcPr marT="45733" marB="45733"/>
                </a:tc>
                <a:tc>
                  <a:txBody>
                    <a:bodyPr/>
                    <a:lstStyle/>
                    <a:p>
                      <a:pPr algn="ctr"/>
                      <a:r>
                        <a:rPr lang="en-CA" sz="1800" dirty="0"/>
                        <a:t>15</a:t>
                      </a:r>
                    </a:p>
                  </a:txBody>
                  <a:tcPr marT="45733" marB="45733"/>
                </a:tc>
                <a:extLst>
                  <a:ext uri="{0D108BD9-81ED-4DB2-BD59-A6C34878D82A}">
                    <a16:rowId xmlns:a16="http://schemas.microsoft.com/office/drawing/2014/main" val="10002"/>
                  </a:ext>
                </a:extLst>
              </a:tr>
            </a:tbl>
          </a:graphicData>
        </a:graphic>
      </p:graphicFrame>
      <p:sp>
        <p:nvSpPr>
          <p:cNvPr id="21" name="TextBox 20">
            <a:extLst>
              <a:ext uri="{FF2B5EF4-FFF2-40B4-BE49-F238E27FC236}">
                <a16:creationId xmlns:a16="http://schemas.microsoft.com/office/drawing/2014/main" id="{FD0A3C08-857C-5CC0-6E18-F4F4D234BF72}"/>
              </a:ext>
            </a:extLst>
          </p:cNvPr>
          <p:cNvSpPr txBox="1">
            <a:spLocks noChangeArrowheads="1"/>
          </p:cNvSpPr>
          <p:nvPr/>
        </p:nvSpPr>
        <p:spPr bwMode="auto">
          <a:xfrm>
            <a:off x="3570288" y="3540125"/>
            <a:ext cx="20161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Book table</a:t>
            </a:r>
          </a:p>
        </p:txBody>
      </p:sp>
      <p:sp>
        <p:nvSpPr>
          <p:cNvPr id="22" name="Snip Single Corner Rectangle 21">
            <a:extLst>
              <a:ext uri="{FF2B5EF4-FFF2-40B4-BE49-F238E27FC236}">
                <a16:creationId xmlns:a16="http://schemas.microsoft.com/office/drawing/2014/main" id="{9C5B8C8B-C583-EE81-38D8-7EE66770B8C5}"/>
              </a:ext>
            </a:extLst>
          </p:cNvPr>
          <p:cNvSpPr/>
          <p:nvPr/>
        </p:nvSpPr>
        <p:spPr bwMode="auto">
          <a:xfrm>
            <a:off x="227013" y="5300663"/>
            <a:ext cx="1092200" cy="431800"/>
          </a:xfrm>
          <a:prstGeom prst="snip1Rect">
            <a:avLst/>
          </a:prstGeom>
          <a:solidFill>
            <a:srgbClr val="FFFF00">
              <a:alpha val="30000"/>
            </a:srgbClr>
          </a:solidFill>
          <a:ln w="9525" cap="flat" cmpd="sng" algn="ctr">
            <a:solidFill>
              <a:srgbClr val="FFC000"/>
            </a:solidFill>
            <a:prstDash val="solid"/>
            <a:round/>
            <a:headEnd type="none" w="med" len="med"/>
            <a:tailEnd type="none" w="med" len="me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sz="2000" b="1"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Result:</a:t>
            </a:r>
          </a:p>
        </p:txBody>
      </p:sp>
      <p:sp>
        <p:nvSpPr>
          <p:cNvPr id="23" name="Snip Single Corner Rectangle 22">
            <a:extLst>
              <a:ext uri="{FF2B5EF4-FFF2-40B4-BE49-F238E27FC236}">
                <a16:creationId xmlns:a16="http://schemas.microsoft.com/office/drawing/2014/main" id="{FB7E57AF-042D-4186-BDD6-1B006EB7CD0B}"/>
              </a:ext>
            </a:extLst>
          </p:cNvPr>
          <p:cNvSpPr/>
          <p:nvPr/>
        </p:nvSpPr>
        <p:spPr bwMode="auto">
          <a:xfrm>
            <a:off x="250825" y="3978275"/>
            <a:ext cx="830263" cy="431800"/>
          </a:xfrm>
          <a:prstGeom prst="snip1Rect">
            <a:avLst/>
          </a:prstGeom>
          <a:solidFill>
            <a:srgbClr val="FFFF00">
              <a:alpha val="30000"/>
            </a:srgbClr>
          </a:solidFill>
          <a:ln w="9525" cap="flat" cmpd="sng" algn="ctr">
            <a:solidFill>
              <a:srgbClr val="FFC000"/>
            </a:solidFill>
            <a:prstDash val="solid"/>
            <a:round/>
            <a:headEnd type="none" w="med" len="med"/>
            <a:tailEnd type="none" w="med" len="med"/>
          </a:ln>
          <a:effec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2000" b="1"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Run:</a:t>
            </a:r>
          </a:p>
        </p:txBody>
      </p:sp>
      <p:sp>
        <p:nvSpPr>
          <p:cNvPr id="15" name="TextBox 14">
            <a:extLst>
              <a:ext uri="{FF2B5EF4-FFF2-40B4-BE49-F238E27FC236}">
                <a16:creationId xmlns:a16="http://schemas.microsoft.com/office/drawing/2014/main" id="{F2193102-F3F0-49BA-A9FF-6031800C4250}"/>
              </a:ext>
            </a:extLst>
          </p:cNvPr>
          <p:cNvSpPr txBox="1"/>
          <p:nvPr/>
        </p:nvSpPr>
        <p:spPr>
          <a:xfrm>
            <a:off x="6062663" y="4575175"/>
            <a:ext cx="2319337" cy="1020763"/>
          </a:xfrm>
          <a:prstGeom prst="roundRect">
            <a:avLst/>
          </a:prstGeom>
          <a:ln/>
        </p:spPr>
        <p:style>
          <a:lnRef idx="1">
            <a:schemeClr val="accent1"/>
          </a:lnRef>
          <a:fillRef idx="2">
            <a:schemeClr val="accent1"/>
          </a:fillRef>
          <a:effectRef idx="1">
            <a:schemeClr val="accent1"/>
          </a:effectRef>
          <a:fontRef idx="minor">
            <a:schemeClr val="dk1"/>
          </a:fontRef>
        </p:style>
        <p:txBody>
          <a:bodyP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1800" b="1" i="0" u="none" strike="noStrike" kern="1200" cap="none" spc="0" normalizeH="0" baseline="0" noProof="0" dirty="0">
                <a:ln>
                  <a:noFill/>
                </a:ln>
                <a:solidFill>
                  <a:srgbClr val="2F2B20"/>
                </a:solidFill>
                <a:effectLst/>
                <a:uLnTx/>
                <a:uFillTx/>
                <a:latin typeface="Calibri"/>
                <a:ea typeface="+mn-ea"/>
                <a:cs typeface="+mn-cs"/>
              </a:rPr>
              <a:t>Note: </a:t>
            </a:r>
            <a:r>
              <a:rPr kumimoji="0" lang="en-CA" sz="1800" b="0" i="0" u="none" strike="noStrike" kern="1200" cap="none" spc="0" normalizeH="0" baseline="0" noProof="0" dirty="0">
                <a:ln>
                  <a:noFill/>
                </a:ln>
                <a:solidFill>
                  <a:srgbClr val="2F2B20"/>
                </a:solidFill>
                <a:effectLst/>
                <a:uLnTx/>
                <a:uFillTx/>
                <a:latin typeface="Calibri"/>
                <a:ea typeface="+mn-ea"/>
                <a:cs typeface="+mn-cs"/>
              </a:rPr>
              <a:t>A</a:t>
            </a:r>
            <a:r>
              <a:rPr kumimoji="0" lang="en-CA" sz="1800" b="1" i="0" u="none" strike="noStrike" kern="1200" cap="none" spc="0" normalizeH="0" baseline="0" noProof="0" dirty="0">
                <a:ln>
                  <a:noFill/>
                </a:ln>
                <a:solidFill>
                  <a:srgbClr val="2F2B20"/>
                </a:solidFill>
                <a:effectLst/>
                <a:uLnTx/>
                <a:uFillTx/>
                <a:latin typeface="Calibri"/>
                <a:ea typeface="+mn-ea"/>
                <a:cs typeface="+mn-cs"/>
              </a:rPr>
              <a:t> </a:t>
            </a:r>
            <a:r>
              <a:rPr kumimoji="0" lang="en-CA" sz="1800" b="0" i="0" u="none" strike="noStrike" kern="1200" cap="none" spc="0" normalizeH="0" baseline="0" noProof="0" dirty="0">
                <a:ln>
                  <a:noFill/>
                </a:ln>
                <a:solidFill>
                  <a:srgbClr val="2F2B20"/>
                </a:solidFill>
                <a:effectLst/>
                <a:uLnTx/>
                <a:uFillTx/>
                <a:latin typeface="Calibri"/>
                <a:ea typeface="+mn-ea"/>
                <a:cs typeface="+mn-cs"/>
              </a:rPr>
              <a:t>space is considered to be a character</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7">
                                            <p:txEl>
                                              <p:pRg st="0" end="0"/>
                                            </p:txEl>
                                          </p:spTgt>
                                        </p:tgtEl>
                                        <p:attrNameLst>
                                          <p:attrName>style.visibility</p:attrName>
                                        </p:attrNameLst>
                                      </p:cBhvr>
                                      <p:to>
                                        <p:strVal val="visible"/>
                                      </p:to>
                                    </p:set>
                                    <p:animEffect transition="in" filter="wipe(left)">
                                      <p:cBhvr>
                                        <p:cTn id="11" dur="500"/>
                                        <p:tgtEl>
                                          <p:spTgt spid="17">
                                            <p:txEl>
                                              <p:pRg st="0" end="0"/>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6" presetClass="entr" presetSubtype="21" fill="hold" nodeType="click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barn(inVertical)">
                                      <p:cBhvr>
                                        <p:cTn id="16" dur="500"/>
                                        <p:tgtEl>
                                          <p:spTgt spid="20"/>
                                        </p:tgtEl>
                                      </p:cBhvr>
                                    </p:animEffect>
                                  </p:childTnLst>
                                </p:cTn>
                              </p:par>
                            </p:childTnLst>
                          </p:cTn>
                        </p:par>
                        <p:par>
                          <p:cTn id="17" fill="hold" nodeType="afterGroup">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21"/>
                                        </p:tgtEl>
                                        <p:attrNameLst>
                                          <p:attrName>style.visibility</p:attrName>
                                        </p:attrNameLst>
                                      </p:cBhvr>
                                      <p:to>
                                        <p:strVal val="visible"/>
                                      </p:to>
                                    </p:set>
                                    <p:animEffect transition="in" filter="wipe(left)">
                                      <p:cBhvr>
                                        <p:cTn id="20" dur="500"/>
                                        <p:tgtEl>
                                          <p:spTgt spid="21"/>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1" fill="hold" grpId="0" nodeType="clickEffect">
                                  <p:stCondLst>
                                    <p:cond delay="0"/>
                                  </p:stCondLst>
                                  <p:childTnLst>
                                    <p:set>
                                      <p:cBhvr>
                                        <p:cTn id="24" dur="1" fill="hold">
                                          <p:stCondLst>
                                            <p:cond delay="0"/>
                                          </p:stCondLst>
                                        </p:cTn>
                                        <p:tgtEl>
                                          <p:spTgt spid="23"/>
                                        </p:tgtEl>
                                        <p:attrNameLst>
                                          <p:attrName>style.visibility</p:attrName>
                                        </p:attrNameLst>
                                      </p:cBhvr>
                                      <p:to>
                                        <p:strVal val="visible"/>
                                      </p:to>
                                    </p:set>
                                    <p:animEffect transition="in" filter="wipe(up)">
                                      <p:cBhvr>
                                        <p:cTn id="25" dur="500"/>
                                        <p:tgtEl>
                                          <p:spTgt spid="23"/>
                                        </p:tgtEl>
                                      </p:cBhvr>
                                    </p:animEffect>
                                  </p:childTnLst>
                                </p:cTn>
                              </p:par>
                            </p:childTnLst>
                          </p:cTn>
                        </p:par>
                        <p:par>
                          <p:cTn id="26" fill="hold" nodeType="afterGroup">
                            <p:stCondLst>
                              <p:cond delay="500"/>
                            </p:stCondLst>
                            <p:childTnLst>
                              <p:par>
                                <p:cTn id="27" presetID="22" presetClass="entr" presetSubtype="8" fill="hold" nodeType="afterEffect">
                                  <p:stCondLst>
                                    <p:cond delay="0"/>
                                  </p:stCondLst>
                                  <p:childTnLst>
                                    <p:set>
                                      <p:cBhvr>
                                        <p:cTn id="28" dur="1" fill="hold">
                                          <p:stCondLst>
                                            <p:cond delay="0"/>
                                          </p:stCondLst>
                                        </p:cTn>
                                        <p:tgtEl>
                                          <p:spTgt spid="23">
                                            <p:txEl>
                                              <p:pRg st="0" end="0"/>
                                            </p:txEl>
                                          </p:spTgt>
                                        </p:tgtEl>
                                        <p:attrNameLst>
                                          <p:attrName>style.visibility</p:attrName>
                                        </p:attrNameLst>
                                      </p:cBhvr>
                                      <p:to>
                                        <p:strVal val="visible"/>
                                      </p:to>
                                    </p:set>
                                    <p:animEffect transition="in" filter="wipe(left)">
                                      <p:cBhvr>
                                        <p:cTn id="29" dur="500"/>
                                        <p:tgtEl>
                                          <p:spTgt spid="23">
                                            <p:txEl>
                                              <p:pRg st="0" end="0"/>
                                            </p:txEl>
                                          </p:spTgt>
                                        </p:tgtEl>
                                      </p:cBhvr>
                                    </p:animEffect>
                                  </p:childTnLst>
                                </p:cTn>
                              </p:par>
                            </p:childTnLst>
                          </p:cTn>
                        </p:par>
                        <p:par>
                          <p:cTn id="30" fill="hold" nodeType="afterGroup">
                            <p:stCondLst>
                              <p:cond delay="1000"/>
                            </p:stCondLst>
                            <p:childTnLst>
                              <p:par>
                                <p:cTn id="31" presetID="16" presetClass="entr" presetSubtype="21" fill="hold" grpId="0" nodeType="after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barn(inVertical)">
                                      <p:cBhvr>
                                        <p:cTn id="33" dur="500"/>
                                        <p:tgtEl>
                                          <p:spTgt spid="18"/>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42" presetClass="entr" presetSubtype="0" fill="hold" grpId="0" nodeType="click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1000"/>
                                        <p:tgtEl>
                                          <p:spTgt spid="15"/>
                                        </p:tgtEl>
                                      </p:cBhvr>
                                    </p:animEffect>
                                    <p:anim calcmode="lin" valueType="num">
                                      <p:cBhvr>
                                        <p:cTn id="39" dur="1000" fill="hold"/>
                                        <p:tgtEl>
                                          <p:spTgt spid="15"/>
                                        </p:tgtEl>
                                        <p:attrNameLst>
                                          <p:attrName>ppt_x</p:attrName>
                                        </p:attrNameLst>
                                      </p:cBhvr>
                                      <p:tavLst>
                                        <p:tav tm="0">
                                          <p:val>
                                            <p:strVal val="#ppt_x"/>
                                          </p:val>
                                        </p:tav>
                                        <p:tav tm="100000">
                                          <p:val>
                                            <p:strVal val="#ppt_x"/>
                                          </p:val>
                                        </p:tav>
                                      </p:tavLst>
                                    </p:anim>
                                    <p:anim calcmode="lin" valueType="num">
                                      <p:cBhvr>
                                        <p:cTn id="40"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1" fill="hold" grpId="0" nodeType="click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wipe(up)">
                                      <p:cBhvr>
                                        <p:cTn id="45" dur="500"/>
                                        <p:tgtEl>
                                          <p:spTgt spid="22"/>
                                        </p:tgtEl>
                                      </p:cBhvr>
                                    </p:animEffect>
                                  </p:childTnLst>
                                </p:cTn>
                              </p:par>
                            </p:childTnLst>
                          </p:cTn>
                        </p:par>
                        <p:par>
                          <p:cTn id="46" fill="hold" nodeType="afterGroup">
                            <p:stCondLst>
                              <p:cond delay="500"/>
                            </p:stCondLst>
                            <p:childTnLst>
                              <p:par>
                                <p:cTn id="47" presetID="22" presetClass="entr" presetSubtype="8" fill="hold" nodeType="afterEffect">
                                  <p:stCondLst>
                                    <p:cond delay="0"/>
                                  </p:stCondLst>
                                  <p:childTnLst>
                                    <p:set>
                                      <p:cBhvr>
                                        <p:cTn id="48" dur="1" fill="hold">
                                          <p:stCondLst>
                                            <p:cond delay="0"/>
                                          </p:stCondLst>
                                        </p:cTn>
                                        <p:tgtEl>
                                          <p:spTgt spid="22">
                                            <p:txEl>
                                              <p:pRg st="0" end="0"/>
                                            </p:txEl>
                                          </p:spTgt>
                                        </p:tgtEl>
                                        <p:attrNameLst>
                                          <p:attrName>style.visibility</p:attrName>
                                        </p:attrNameLst>
                                      </p:cBhvr>
                                      <p:to>
                                        <p:strVal val="visible"/>
                                      </p:to>
                                    </p:set>
                                    <p:animEffect transition="in" filter="wipe(left)">
                                      <p:cBhvr>
                                        <p:cTn id="49" dur="500"/>
                                        <p:tgtEl>
                                          <p:spTgt spid="22">
                                            <p:txEl>
                                              <p:pRg st="0" end="0"/>
                                            </p:txEl>
                                          </p:spTgt>
                                        </p:tgtEl>
                                      </p:cBhvr>
                                    </p:animEffect>
                                  </p:childTnLst>
                                </p:cTn>
                              </p:par>
                            </p:childTnLst>
                          </p:cTn>
                        </p:par>
                        <p:par>
                          <p:cTn id="50" fill="hold" nodeType="afterGroup">
                            <p:stCondLst>
                              <p:cond delay="1000"/>
                            </p:stCondLst>
                            <p:childTnLst>
                              <p:par>
                                <p:cTn id="51" presetID="22" presetClass="entr" presetSubtype="8" fill="hold" nodeType="after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wipe(left)">
                                      <p:cBhvr>
                                        <p:cTn id="53"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build="p"/>
      <p:bldP spid="18" grpId="0" animBg="1"/>
      <p:bldP spid="21" grpId="0"/>
      <p:bldP spid="22" grpId="0" animBg="1"/>
      <p:bldP spid="23" grpId="0" animBg="1"/>
      <p:bldP spid="15" grpId="0" animBg="1"/>
    </p:bldLst>
  </p:timing>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46127F-676E-F09D-5BC9-C5501C68B481}"/>
              </a:ext>
            </a:extLst>
          </p:cNvPr>
          <p:cNvSpPr>
            <a:spLocks noGrp="1"/>
          </p:cNvSpPr>
          <p:nvPr>
            <p:ph type="title"/>
          </p:nvPr>
        </p:nvSpPr>
        <p:spPr>
          <a:xfrm>
            <a:off x="457200" y="0"/>
            <a:ext cx="7620000" cy="1143000"/>
          </a:xfrm>
        </p:spPr>
        <p:txBody>
          <a:bodyPr/>
          <a:lstStyle/>
          <a:p>
            <a:pPr algn="ctr">
              <a:defRPr/>
            </a:pPr>
            <a:r>
              <a:rPr lang="en-US" dirty="0"/>
              <a:t>Activity 2</a:t>
            </a:r>
            <a:endParaRPr lang="en-MY" dirty="0"/>
          </a:p>
        </p:txBody>
      </p:sp>
      <p:sp>
        <p:nvSpPr>
          <p:cNvPr id="23" name="Title 1">
            <a:extLst>
              <a:ext uri="{FF2B5EF4-FFF2-40B4-BE49-F238E27FC236}">
                <a16:creationId xmlns:a16="http://schemas.microsoft.com/office/drawing/2014/main" id="{B03B5864-4859-D8F0-3941-3A305AFC9FC6}"/>
              </a:ext>
            </a:extLst>
          </p:cNvPr>
          <p:cNvSpPr txBox="1">
            <a:spLocks/>
          </p:cNvSpPr>
          <p:nvPr/>
        </p:nvSpPr>
        <p:spPr bwMode="auto">
          <a:xfrm>
            <a:off x="0" y="836613"/>
            <a:ext cx="8172450" cy="323850"/>
          </a:xfrm>
          <a:prstGeom prst="rect">
            <a:avLst/>
          </a:prstGeom>
          <a:noFill/>
          <a:ln w="9525">
            <a:noFill/>
            <a:miter lim="800000"/>
            <a:headEnd/>
            <a:tailEnd/>
          </a:ln>
        </p:spPr>
        <p:txBody>
          <a:bodyPr lIns="72000" tIns="0" rIns="72000" bIns="0"/>
          <a:lstStyle/>
          <a:p>
            <a:pPr marL="0" marR="0" lvl="0" indent="0" algn="l" defTabSz="720000" rtl="0" eaLnBrk="1" fontAlgn="base" latinLnBrk="0" hangingPunct="1">
              <a:lnSpc>
                <a:spcPts val="1800"/>
              </a:lnSpc>
              <a:spcBef>
                <a:spcPts val="0"/>
              </a:spcBef>
              <a:spcAft>
                <a:spcPts val="0"/>
              </a:spcAft>
              <a:buClrTx/>
              <a:buSzTx/>
              <a:buFontTx/>
              <a:buNone/>
              <a:tabLst>
                <a:tab pos="0" algn="l"/>
              </a:tabLst>
              <a:defRPr/>
            </a:pPr>
            <a:r>
              <a:rPr kumimoji="0" lang="en-CA" sz="1800" b="1" i="0" u="none" strike="noStrike" kern="0" cap="none" spc="0" normalizeH="0" baseline="0" noProof="0" dirty="0">
                <a:ln>
                  <a:noFill/>
                </a:ln>
                <a:solidFill>
                  <a:srgbClr val="2F2B20"/>
                </a:solidFill>
                <a:effectLst/>
                <a:uLnTx/>
                <a:uFillTx/>
                <a:latin typeface="Arial" panose="020B0604020202020204" pitchFamily="34" charset="0"/>
                <a:ea typeface="+mn-ea"/>
                <a:cs typeface="Calibri" pitchFamily="34" charset="0"/>
              </a:rPr>
              <a:t>CLASS ACTIVITY</a:t>
            </a:r>
            <a:endParaRPr kumimoji="0" lang="en-MY" sz="1800" b="1" i="0" u="none" strike="noStrike" kern="0" cap="none" spc="0" normalizeH="0" baseline="0" noProof="0" dirty="0">
              <a:ln>
                <a:noFill/>
              </a:ln>
              <a:solidFill>
                <a:srgbClr val="2F2B20"/>
              </a:solidFill>
              <a:effectLst/>
              <a:uLnTx/>
              <a:uFillTx/>
              <a:latin typeface="Arial" panose="020B0604020202020204" pitchFamily="34" charset="0"/>
              <a:ea typeface="+mn-ea"/>
              <a:cs typeface="Calibri" pitchFamily="34" charset="0"/>
            </a:endParaRPr>
          </a:p>
          <a:p>
            <a:pPr marL="0" marR="0" lvl="0" indent="0" algn="l" defTabSz="720000" rtl="0" eaLnBrk="1" fontAlgn="base" latinLnBrk="0" hangingPunct="1">
              <a:lnSpc>
                <a:spcPts val="1800"/>
              </a:lnSpc>
              <a:spcBef>
                <a:spcPts val="0"/>
              </a:spcBef>
              <a:spcAft>
                <a:spcPts val="0"/>
              </a:spcAft>
              <a:buClrTx/>
              <a:buSzTx/>
              <a:buFontTx/>
              <a:buNone/>
              <a:tabLst>
                <a:tab pos="0" algn="l"/>
              </a:tabLst>
              <a:defRPr/>
            </a:pPr>
            <a:endParaRPr kumimoji="0" lang="en-MY" sz="1800" b="1" i="0" u="none" strike="noStrike" kern="0" cap="none" spc="0" normalizeH="0" baseline="0" noProof="0" dirty="0">
              <a:ln>
                <a:noFill/>
              </a:ln>
              <a:solidFill>
                <a:srgbClr val="2F2B20"/>
              </a:solidFill>
              <a:effectLst/>
              <a:uLnTx/>
              <a:uFillTx/>
              <a:latin typeface="Calibri"/>
              <a:ea typeface="+mn-ea"/>
              <a:cs typeface="Calibri" pitchFamily="34" charset="0"/>
            </a:endParaRPr>
          </a:p>
        </p:txBody>
      </p:sp>
      <p:sp>
        <p:nvSpPr>
          <p:cNvPr id="12" name="Content Placeholder 2">
            <a:extLst>
              <a:ext uri="{FF2B5EF4-FFF2-40B4-BE49-F238E27FC236}">
                <a16:creationId xmlns:a16="http://schemas.microsoft.com/office/drawing/2014/main" id="{30DC67D7-F6B5-A908-C8E9-B89FDBA6D940}"/>
              </a:ext>
            </a:extLst>
          </p:cNvPr>
          <p:cNvSpPr txBox="1">
            <a:spLocks/>
          </p:cNvSpPr>
          <p:nvPr/>
        </p:nvSpPr>
        <p:spPr bwMode="auto">
          <a:xfrm>
            <a:off x="250825" y="1341438"/>
            <a:ext cx="7921625"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4000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Write down the result of executing the following SQL statements</a:t>
            </a: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20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400050" marR="0" lvl="1"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20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Cambria" panose="02040503050406030204" pitchFamily="18" charset="0"/>
              <a:buAutoNum type="alphaLcParenR"/>
              <a:tabLst/>
              <a:defRPr/>
            </a:pPr>
            <a:r>
              <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SELECT SUBSTRING(Name, 5, 4), UPPER(Name), LENGTH(Name) FROM Course;</a:t>
            </a:r>
            <a:endParaRPr kumimoji="0" lang="en-US"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US" altLang="en-US" sz="32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US" altLang="en-US" sz="32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rPr>
              <a:t> </a:t>
            </a: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graphicFrame>
        <p:nvGraphicFramePr>
          <p:cNvPr id="25" name="Table 24">
            <a:extLst>
              <a:ext uri="{FF2B5EF4-FFF2-40B4-BE49-F238E27FC236}">
                <a16:creationId xmlns:a16="http://schemas.microsoft.com/office/drawing/2014/main" id="{78EE02ED-86C2-5A38-05A1-2AE4FBE00317}"/>
              </a:ext>
            </a:extLst>
          </p:cNvPr>
          <p:cNvGraphicFramePr>
            <a:graphicFrameLocks noGrp="1"/>
          </p:cNvGraphicFramePr>
          <p:nvPr/>
        </p:nvGraphicFramePr>
        <p:xfrm>
          <a:off x="457200" y="5422900"/>
          <a:ext cx="7548564" cy="742950"/>
        </p:xfrm>
        <a:graphic>
          <a:graphicData uri="http://schemas.openxmlformats.org/drawingml/2006/table">
            <a:tbl>
              <a:tblPr firstRow="1" bandRow="1">
                <a:tableStyleId>{0E3FDE45-AF77-4B5C-9715-49D594BDF05E}</a:tableStyleId>
              </a:tblPr>
              <a:tblGrid>
                <a:gridCol w="3012187">
                  <a:extLst>
                    <a:ext uri="{9D8B030D-6E8A-4147-A177-3AD203B41FA5}">
                      <a16:colId xmlns:a16="http://schemas.microsoft.com/office/drawing/2014/main" val="20000"/>
                    </a:ext>
                  </a:extLst>
                </a:gridCol>
                <a:gridCol w="2160179">
                  <a:extLst>
                    <a:ext uri="{9D8B030D-6E8A-4147-A177-3AD203B41FA5}">
                      <a16:colId xmlns:a16="http://schemas.microsoft.com/office/drawing/2014/main" val="20001"/>
                    </a:ext>
                  </a:extLst>
                </a:gridCol>
                <a:gridCol w="2376198">
                  <a:extLst>
                    <a:ext uri="{9D8B030D-6E8A-4147-A177-3AD203B41FA5}">
                      <a16:colId xmlns:a16="http://schemas.microsoft.com/office/drawing/2014/main" val="20002"/>
                    </a:ext>
                  </a:extLst>
                </a:gridCol>
              </a:tblGrid>
              <a:tr h="371475">
                <a:tc>
                  <a:txBody>
                    <a:bodyPr/>
                    <a:lstStyle/>
                    <a:p>
                      <a:pPr algn="ctr"/>
                      <a:r>
                        <a:rPr lang="en-CA" sz="1800" dirty="0"/>
                        <a:t>SUBSTRING(Name, 5, 4)</a:t>
                      </a:r>
                    </a:p>
                  </a:txBody>
                  <a:tcPr marL="91437" marR="91437" marT="45798" marB="45798"/>
                </a:tc>
                <a:tc>
                  <a:txBody>
                    <a:bodyPr/>
                    <a:lstStyle/>
                    <a:p>
                      <a:pPr algn="ctr"/>
                      <a:r>
                        <a:rPr lang="en-CA" sz="1800" dirty="0"/>
                        <a:t>UPPER(Name)</a:t>
                      </a:r>
                    </a:p>
                  </a:txBody>
                  <a:tcPr marL="91437" marR="91437" marT="45798" marB="45798"/>
                </a:tc>
                <a:tc>
                  <a:txBody>
                    <a:bodyPr/>
                    <a:lstStyle/>
                    <a:p>
                      <a:pPr algn="ctr"/>
                      <a:r>
                        <a:rPr lang="en-CA" sz="1800" dirty="0"/>
                        <a:t>LENGTH(Name)</a:t>
                      </a:r>
                    </a:p>
                  </a:txBody>
                  <a:tcPr marL="91437" marR="91437" marT="45798" marB="45798"/>
                </a:tc>
                <a:extLst>
                  <a:ext uri="{0D108BD9-81ED-4DB2-BD59-A6C34878D82A}">
                    <a16:rowId xmlns:a16="http://schemas.microsoft.com/office/drawing/2014/main" val="10000"/>
                  </a:ext>
                </a:extLst>
              </a:tr>
              <a:tr h="371475">
                <a:tc>
                  <a:txBody>
                    <a:bodyPr/>
                    <a:lstStyle/>
                    <a:p>
                      <a:pPr algn="ctr"/>
                      <a:r>
                        <a:rPr lang="en-CA" sz="1800" dirty="0"/>
                        <a:t>base</a:t>
                      </a:r>
                    </a:p>
                  </a:txBody>
                  <a:tcPr marL="91437" marR="91437" marT="45798" marB="45798"/>
                </a:tc>
                <a:tc>
                  <a:txBody>
                    <a:bodyPr/>
                    <a:lstStyle/>
                    <a:p>
                      <a:pPr algn="ctr"/>
                      <a:r>
                        <a:rPr lang="en-CA" sz="1800" dirty="0"/>
                        <a:t>DATABASE</a:t>
                      </a:r>
                    </a:p>
                  </a:txBody>
                  <a:tcPr marL="91437" marR="91437" marT="45798" marB="45798"/>
                </a:tc>
                <a:tc>
                  <a:txBody>
                    <a:bodyPr/>
                    <a:lstStyle/>
                    <a:p>
                      <a:pPr algn="ctr"/>
                      <a:r>
                        <a:rPr lang="en-CA" sz="1800" dirty="0"/>
                        <a:t>8</a:t>
                      </a:r>
                    </a:p>
                  </a:txBody>
                  <a:tcPr marL="91437" marR="91437" marT="45798" marB="45798"/>
                </a:tc>
                <a:extLst>
                  <a:ext uri="{0D108BD9-81ED-4DB2-BD59-A6C34878D82A}">
                    <a16:rowId xmlns:a16="http://schemas.microsoft.com/office/drawing/2014/main" val="10001"/>
                  </a:ext>
                </a:extLst>
              </a:tr>
            </a:tbl>
          </a:graphicData>
        </a:graphic>
      </p:graphicFrame>
      <p:graphicFrame>
        <p:nvGraphicFramePr>
          <p:cNvPr id="9" name="Table 8">
            <a:extLst>
              <a:ext uri="{FF2B5EF4-FFF2-40B4-BE49-F238E27FC236}">
                <a16:creationId xmlns:a16="http://schemas.microsoft.com/office/drawing/2014/main" id="{61335061-F26A-8404-863E-51F1019F0154}"/>
              </a:ext>
            </a:extLst>
          </p:cNvPr>
          <p:cNvGraphicFramePr>
            <a:graphicFrameLocks noGrp="1"/>
          </p:cNvGraphicFramePr>
          <p:nvPr/>
        </p:nvGraphicFramePr>
        <p:xfrm>
          <a:off x="1184275" y="2349500"/>
          <a:ext cx="6096000" cy="741364"/>
        </p:xfrm>
        <a:graphic>
          <a:graphicData uri="http://schemas.openxmlformats.org/drawingml/2006/table">
            <a:tbl>
              <a:tblPr firstRow="1" bandRow="1">
                <a:tableStyleId>{C083E6E3-FA7D-4D7B-A595-EF9225AFEA82}</a:tableStyleId>
              </a:tblPr>
              <a:tblGrid>
                <a:gridCol w="15240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tblGrid>
              <a:tr h="370682">
                <a:tc>
                  <a:txBody>
                    <a:bodyPr/>
                    <a:lstStyle/>
                    <a:p>
                      <a:pPr algn="ctr"/>
                      <a:r>
                        <a:rPr lang="en-CA" sz="1800" dirty="0"/>
                        <a:t>Date</a:t>
                      </a:r>
                    </a:p>
                  </a:txBody>
                  <a:tcPr marT="45700" marB="45700"/>
                </a:tc>
                <a:tc>
                  <a:txBody>
                    <a:bodyPr/>
                    <a:lstStyle/>
                    <a:p>
                      <a:pPr algn="ctr"/>
                      <a:r>
                        <a:rPr lang="en-CA" sz="1800" dirty="0"/>
                        <a:t>Name</a:t>
                      </a:r>
                    </a:p>
                  </a:txBody>
                  <a:tcPr marT="45700" marB="45700"/>
                </a:tc>
                <a:tc>
                  <a:txBody>
                    <a:bodyPr/>
                    <a:lstStyle/>
                    <a:p>
                      <a:pPr algn="ctr"/>
                      <a:r>
                        <a:rPr lang="en-CA" sz="1800" dirty="0"/>
                        <a:t>Spaces</a:t>
                      </a:r>
                    </a:p>
                  </a:txBody>
                  <a:tcPr marT="45700" marB="45700"/>
                </a:tc>
                <a:tc>
                  <a:txBody>
                    <a:bodyPr/>
                    <a:lstStyle/>
                    <a:p>
                      <a:pPr algn="ctr"/>
                      <a:r>
                        <a:rPr lang="en-CA" sz="1800" dirty="0"/>
                        <a:t>Cost</a:t>
                      </a:r>
                    </a:p>
                  </a:txBody>
                  <a:tcPr marT="45700" marB="45700"/>
                </a:tc>
                <a:extLst>
                  <a:ext uri="{0D108BD9-81ED-4DB2-BD59-A6C34878D82A}">
                    <a16:rowId xmlns:a16="http://schemas.microsoft.com/office/drawing/2014/main" val="10000"/>
                  </a:ext>
                </a:extLst>
              </a:tr>
              <a:tr h="370682">
                <a:tc>
                  <a:txBody>
                    <a:bodyPr/>
                    <a:lstStyle/>
                    <a:p>
                      <a:pPr algn="ctr"/>
                      <a:r>
                        <a:rPr lang="en-CA" sz="1800" dirty="0"/>
                        <a:t>2011-12-12</a:t>
                      </a:r>
                    </a:p>
                  </a:txBody>
                  <a:tcPr marT="45700" marB="45700"/>
                </a:tc>
                <a:tc>
                  <a:txBody>
                    <a:bodyPr/>
                    <a:lstStyle/>
                    <a:p>
                      <a:pPr algn="ctr"/>
                      <a:r>
                        <a:rPr lang="en-CA" sz="1800" dirty="0"/>
                        <a:t>Database</a:t>
                      </a:r>
                    </a:p>
                  </a:txBody>
                  <a:tcPr marT="45700" marB="45700"/>
                </a:tc>
                <a:tc>
                  <a:txBody>
                    <a:bodyPr/>
                    <a:lstStyle/>
                    <a:p>
                      <a:pPr algn="ctr"/>
                      <a:r>
                        <a:rPr lang="en-CA" sz="1800" dirty="0"/>
                        <a:t>25</a:t>
                      </a:r>
                    </a:p>
                  </a:txBody>
                  <a:tcPr marT="45700" marB="45700"/>
                </a:tc>
                <a:tc>
                  <a:txBody>
                    <a:bodyPr/>
                    <a:lstStyle/>
                    <a:p>
                      <a:pPr algn="ctr"/>
                      <a:r>
                        <a:rPr lang="en-CA" sz="1800" dirty="0"/>
                        <a:t>300.99</a:t>
                      </a:r>
                    </a:p>
                  </a:txBody>
                  <a:tcPr marT="45700" marB="45700"/>
                </a:tc>
                <a:extLst>
                  <a:ext uri="{0D108BD9-81ED-4DB2-BD59-A6C34878D82A}">
                    <a16:rowId xmlns:a16="http://schemas.microsoft.com/office/drawing/2014/main" val="10001"/>
                  </a:ext>
                </a:extLst>
              </a:tr>
            </a:tbl>
          </a:graphicData>
        </a:graphic>
      </p:graphicFrame>
      <p:sp>
        <p:nvSpPr>
          <p:cNvPr id="10" name="TextBox 9">
            <a:extLst>
              <a:ext uri="{FF2B5EF4-FFF2-40B4-BE49-F238E27FC236}">
                <a16:creationId xmlns:a16="http://schemas.microsoft.com/office/drawing/2014/main" id="{BB0606AC-C618-00C5-9E1F-F389A93D87AD}"/>
              </a:ext>
            </a:extLst>
          </p:cNvPr>
          <p:cNvSpPr txBox="1">
            <a:spLocks noChangeArrowheads="1"/>
          </p:cNvSpPr>
          <p:nvPr/>
        </p:nvSpPr>
        <p:spPr bwMode="auto">
          <a:xfrm>
            <a:off x="3592513" y="3108325"/>
            <a:ext cx="19589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Course table</a:t>
            </a:r>
          </a:p>
        </p:txBody>
      </p:sp>
      <p:sp>
        <p:nvSpPr>
          <p:cNvPr id="11" name="Rounded Rectangle 10">
            <a:extLst>
              <a:ext uri="{FF2B5EF4-FFF2-40B4-BE49-F238E27FC236}">
                <a16:creationId xmlns:a16="http://schemas.microsoft.com/office/drawing/2014/main" id="{4D77CFCA-657B-FA1C-B8E5-D40E40E1EEF3}"/>
              </a:ext>
            </a:extLst>
          </p:cNvPr>
          <p:cNvSpPr/>
          <p:nvPr/>
        </p:nvSpPr>
        <p:spPr bwMode="auto">
          <a:xfrm>
            <a:off x="3133725" y="4605338"/>
            <a:ext cx="2195513" cy="482600"/>
          </a:xfrm>
          <a:prstGeom prst="roundRect">
            <a:avLst/>
          </a:prstGeom>
          <a:ln>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nchorCtr="1"/>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sz="3200" b="0" i="0" u="none" strike="noStrike" kern="1200" cap="none" spc="0" normalizeH="0" baseline="0" noProof="0" dirty="0">
                <a:ln>
                  <a:noFill/>
                </a:ln>
                <a:solidFill>
                  <a:srgbClr val="FFFFFF"/>
                </a:solidFill>
                <a:effectLst/>
                <a:uLnTx/>
                <a:uFillTx/>
                <a:latin typeface="Arial" charset="0"/>
                <a:ea typeface="+mn-ea"/>
                <a:cs typeface="+mn-cs"/>
              </a:rPr>
              <a:t>Answer</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wipe(left)">
                                      <p:cBhvr>
                                        <p:cTn id="7" dur="500"/>
                                        <p:tgtEl>
                                          <p:spTgt spid="12">
                                            <p:txEl>
                                              <p:pRg st="0" end="0"/>
                                            </p:txEl>
                                          </p:spTgt>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up)">
                                      <p:cBhvr>
                                        <p:cTn id="11" dur="500"/>
                                        <p:tgtEl>
                                          <p:spTgt spid="9"/>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ipe(left)">
                                      <p:cBhvr>
                                        <p:cTn id="15" dur="500"/>
                                        <p:tgtEl>
                                          <p:spTgt spid="10"/>
                                        </p:tgtEl>
                                      </p:cBhvr>
                                    </p:animEffect>
                                  </p:childTnLst>
                                </p:cTn>
                              </p:par>
                            </p:childTnLst>
                          </p:cTn>
                        </p:par>
                        <p:par>
                          <p:cTn id="16" fill="hold" nodeType="afterGroup">
                            <p:stCondLst>
                              <p:cond delay="1500"/>
                            </p:stCondLst>
                            <p:childTnLst>
                              <p:par>
                                <p:cTn id="17" presetID="22" presetClass="entr" presetSubtype="8" fill="hold" nodeType="afterEffect">
                                  <p:stCondLst>
                                    <p:cond delay="0"/>
                                  </p:stCondLst>
                                  <p:childTnLst>
                                    <p:set>
                                      <p:cBhvr>
                                        <p:cTn id="18" dur="1" fill="hold">
                                          <p:stCondLst>
                                            <p:cond delay="0"/>
                                          </p:stCondLst>
                                        </p:cTn>
                                        <p:tgtEl>
                                          <p:spTgt spid="12">
                                            <p:txEl>
                                              <p:pRg st="4" end="4"/>
                                            </p:txEl>
                                          </p:spTgt>
                                        </p:tgtEl>
                                        <p:attrNameLst>
                                          <p:attrName>style.visibility</p:attrName>
                                        </p:attrNameLst>
                                      </p:cBhvr>
                                      <p:to>
                                        <p:strVal val="visible"/>
                                      </p:to>
                                    </p:set>
                                    <p:animEffect transition="in" filter="wipe(left)">
                                      <p:cBhvr>
                                        <p:cTn id="19" dur="500"/>
                                        <p:tgtEl>
                                          <p:spTgt spid="12">
                                            <p:txEl>
                                              <p:pRg st="4" end="4"/>
                                            </p:txEl>
                                          </p:spTgt>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wipe(left)">
                                      <p:cBhvr>
                                        <p:cTn id="23" dur="500"/>
                                        <p:tgtEl>
                                          <p:spTgt spid="11"/>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1" presetClass="entr" presetSubtype="0" fill="hold" nodeType="clickEffect">
                                  <p:stCondLst>
                                    <p:cond delay="0"/>
                                  </p:stCondLst>
                                  <p:childTnLst>
                                    <p:set>
                                      <p:cBhvr>
                                        <p:cTn id="27"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animBg="1"/>
    </p:bldLst>
  </p:timing>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DF5DD7-3A2D-FB13-9FFC-1F4A1E0821B2}"/>
              </a:ext>
            </a:extLst>
          </p:cNvPr>
          <p:cNvSpPr>
            <a:spLocks noGrp="1"/>
          </p:cNvSpPr>
          <p:nvPr>
            <p:ph type="title"/>
          </p:nvPr>
        </p:nvSpPr>
        <p:spPr>
          <a:xfrm>
            <a:off x="457200" y="0"/>
            <a:ext cx="7620000" cy="1143000"/>
          </a:xfrm>
        </p:spPr>
        <p:txBody>
          <a:bodyPr/>
          <a:lstStyle/>
          <a:p>
            <a:pPr algn="ctr">
              <a:defRPr/>
            </a:pPr>
            <a:r>
              <a:rPr lang="en-US" dirty="0"/>
              <a:t>Date Functions</a:t>
            </a:r>
            <a:endParaRPr lang="en-MY" dirty="0"/>
          </a:p>
        </p:txBody>
      </p:sp>
      <p:sp>
        <p:nvSpPr>
          <p:cNvPr id="14" name="Content Placeholder 2">
            <a:extLst>
              <a:ext uri="{FF2B5EF4-FFF2-40B4-BE49-F238E27FC236}">
                <a16:creationId xmlns:a16="http://schemas.microsoft.com/office/drawing/2014/main" id="{54276414-1F7F-D97A-CEF1-57DADF81553A}"/>
              </a:ext>
            </a:extLst>
          </p:cNvPr>
          <p:cNvSpPr txBox="1">
            <a:spLocks/>
          </p:cNvSpPr>
          <p:nvPr/>
        </p:nvSpPr>
        <p:spPr bwMode="auto">
          <a:xfrm>
            <a:off x="250825" y="1268413"/>
            <a:ext cx="7902575"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US"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SQL considers date and time as consisting of the following parts</a:t>
            </a: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US"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US"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US"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US"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US" altLang="en-US" sz="20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US"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US"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The parts can be used in SQL date functions</a:t>
            </a:r>
          </a:p>
        </p:txBody>
      </p:sp>
      <p:graphicFrame>
        <p:nvGraphicFramePr>
          <p:cNvPr id="16" name="Table 15">
            <a:extLst>
              <a:ext uri="{FF2B5EF4-FFF2-40B4-BE49-F238E27FC236}">
                <a16:creationId xmlns:a16="http://schemas.microsoft.com/office/drawing/2014/main" id="{104EAC1C-07A9-B0BD-C5B4-DBCF46836B38}"/>
              </a:ext>
            </a:extLst>
          </p:cNvPr>
          <p:cNvGraphicFramePr>
            <a:graphicFrameLocks noGrp="1"/>
          </p:cNvGraphicFramePr>
          <p:nvPr/>
        </p:nvGraphicFramePr>
        <p:xfrm>
          <a:off x="709613" y="2420938"/>
          <a:ext cx="6986588" cy="3148014"/>
        </p:xfrm>
        <a:graphic>
          <a:graphicData uri="http://schemas.openxmlformats.org/drawingml/2006/table">
            <a:tbl>
              <a:tblPr firstRow="1" bandRow="1">
                <a:tableStyleId>{3B4B98B0-60AC-42C2-AFA5-B58CD77FA1E5}</a:tableStyleId>
              </a:tblPr>
              <a:tblGrid>
                <a:gridCol w="3493294">
                  <a:extLst>
                    <a:ext uri="{9D8B030D-6E8A-4147-A177-3AD203B41FA5}">
                      <a16:colId xmlns:a16="http://schemas.microsoft.com/office/drawing/2014/main" val="20000"/>
                    </a:ext>
                  </a:extLst>
                </a:gridCol>
                <a:gridCol w="3493294">
                  <a:extLst>
                    <a:ext uri="{9D8B030D-6E8A-4147-A177-3AD203B41FA5}">
                      <a16:colId xmlns:a16="http://schemas.microsoft.com/office/drawing/2014/main" val="20001"/>
                    </a:ext>
                  </a:extLst>
                </a:gridCol>
              </a:tblGrid>
              <a:tr h="524669">
                <a:tc gridSpan="2">
                  <a:txBody>
                    <a:bodyPr/>
                    <a:lstStyle/>
                    <a:p>
                      <a:pPr algn="ctr"/>
                      <a:r>
                        <a:rPr lang="en-CA" sz="2400" dirty="0"/>
                        <a:t>PARTS</a:t>
                      </a:r>
                    </a:p>
                  </a:txBody>
                  <a:tcPr marL="91449" marR="91449" marT="45723" marB="45723" anchor="ctr"/>
                </a:tc>
                <a:tc hMerge="1">
                  <a:txBody>
                    <a:bodyPr/>
                    <a:lstStyle/>
                    <a:p>
                      <a:pPr algn="ctr"/>
                      <a:endParaRPr lang="en-CA" dirty="0"/>
                    </a:p>
                  </a:txBody>
                  <a:tcPr/>
                </a:tc>
                <a:extLst>
                  <a:ext uri="{0D108BD9-81ED-4DB2-BD59-A6C34878D82A}">
                    <a16:rowId xmlns:a16="http://schemas.microsoft.com/office/drawing/2014/main" val="10000"/>
                  </a:ext>
                </a:extLst>
              </a:tr>
              <a:tr h="524669">
                <a:tc>
                  <a:txBody>
                    <a:bodyPr/>
                    <a:lstStyle/>
                    <a:p>
                      <a:pPr algn="ctr"/>
                      <a:r>
                        <a:rPr lang="en-CA" sz="2400" kern="1200" dirty="0">
                          <a:effectLst/>
                        </a:rPr>
                        <a:t>MICROSECOND</a:t>
                      </a:r>
                      <a:endParaRPr lang="en-CA" sz="2400" dirty="0"/>
                    </a:p>
                  </a:txBody>
                  <a:tcPr marL="91449" marR="91449" marT="45723" marB="45723" anchor="ctr"/>
                </a:tc>
                <a:tc>
                  <a:txBody>
                    <a:bodyPr/>
                    <a:lstStyle/>
                    <a:p>
                      <a:pPr algn="ctr" fontAlgn="t"/>
                      <a:r>
                        <a:rPr lang="en-CA" sz="2400" dirty="0">
                          <a:effectLst/>
                        </a:rPr>
                        <a:t>SECOND</a:t>
                      </a:r>
                      <a:endParaRPr lang="en-CA" sz="2400" dirty="0">
                        <a:effectLst/>
                        <a:latin typeface="verdana"/>
                      </a:endParaRPr>
                    </a:p>
                  </a:txBody>
                  <a:tcPr marL="28578" marR="28578" marT="28577" marB="28577" anchor="ctr"/>
                </a:tc>
                <a:extLst>
                  <a:ext uri="{0D108BD9-81ED-4DB2-BD59-A6C34878D82A}">
                    <a16:rowId xmlns:a16="http://schemas.microsoft.com/office/drawing/2014/main" val="10001"/>
                  </a:ext>
                </a:extLst>
              </a:tr>
              <a:tr h="524669">
                <a:tc>
                  <a:txBody>
                    <a:bodyPr/>
                    <a:lstStyle/>
                    <a:p>
                      <a:pPr algn="ctr" fontAlgn="t"/>
                      <a:r>
                        <a:rPr lang="en-CA" sz="2400" dirty="0">
                          <a:effectLst/>
                        </a:rPr>
                        <a:t>MINUTE</a:t>
                      </a:r>
                      <a:endParaRPr lang="en-CA" sz="2400" dirty="0">
                        <a:effectLst/>
                        <a:latin typeface="verdana"/>
                      </a:endParaRPr>
                    </a:p>
                  </a:txBody>
                  <a:tcPr marL="28578" marR="28578" marT="28577" marB="28577" anchor="ctr"/>
                </a:tc>
                <a:tc>
                  <a:txBody>
                    <a:bodyPr/>
                    <a:lstStyle/>
                    <a:p>
                      <a:pPr algn="ctr" fontAlgn="t"/>
                      <a:r>
                        <a:rPr lang="en-CA" sz="2400" dirty="0">
                          <a:effectLst/>
                        </a:rPr>
                        <a:t>HOUR</a:t>
                      </a:r>
                      <a:endParaRPr lang="en-CA" sz="2400" dirty="0">
                        <a:effectLst/>
                        <a:latin typeface="verdana"/>
                      </a:endParaRPr>
                    </a:p>
                  </a:txBody>
                  <a:tcPr marL="28578" marR="28578" marT="28577" marB="28577" anchor="ctr"/>
                </a:tc>
                <a:extLst>
                  <a:ext uri="{0D108BD9-81ED-4DB2-BD59-A6C34878D82A}">
                    <a16:rowId xmlns:a16="http://schemas.microsoft.com/office/drawing/2014/main" val="10002"/>
                  </a:ext>
                </a:extLst>
              </a:tr>
              <a:tr h="524669">
                <a:tc>
                  <a:txBody>
                    <a:bodyPr/>
                    <a:lstStyle/>
                    <a:p>
                      <a:pPr algn="ctr" fontAlgn="t"/>
                      <a:r>
                        <a:rPr lang="en-CA" sz="2400" dirty="0">
                          <a:effectLst/>
                        </a:rPr>
                        <a:t>DAY</a:t>
                      </a:r>
                      <a:endParaRPr lang="en-CA" sz="2400" dirty="0">
                        <a:effectLst/>
                        <a:latin typeface="verdana"/>
                      </a:endParaRPr>
                    </a:p>
                  </a:txBody>
                  <a:tcPr marL="28578" marR="28578" marT="28577" marB="28577" anchor="ctr"/>
                </a:tc>
                <a:tc>
                  <a:txBody>
                    <a:bodyPr/>
                    <a:lstStyle/>
                    <a:p>
                      <a:pPr algn="ctr" fontAlgn="t"/>
                      <a:r>
                        <a:rPr lang="en-CA" sz="2400" dirty="0">
                          <a:effectLst/>
                        </a:rPr>
                        <a:t>WEEK</a:t>
                      </a:r>
                      <a:endParaRPr lang="en-CA" sz="2400" dirty="0">
                        <a:effectLst/>
                        <a:latin typeface="verdana"/>
                      </a:endParaRPr>
                    </a:p>
                  </a:txBody>
                  <a:tcPr marL="28578" marR="28578" marT="28577" marB="28577" anchor="ctr"/>
                </a:tc>
                <a:extLst>
                  <a:ext uri="{0D108BD9-81ED-4DB2-BD59-A6C34878D82A}">
                    <a16:rowId xmlns:a16="http://schemas.microsoft.com/office/drawing/2014/main" val="10003"/>
                  </a:ext>
                </a:extLst>
              </a:tr>
              <a:tr h="524669">
                <a:tc>
                  <a:txBody>
                    <a:bodyPr/>
                    <a:lstStyle/>
                    <a:p>
                      <a:pPr algn="ctr" fontAlgn="t"/>
                      <a:r>
                        <a:rPr lang="en-CA" sz="2400" dirty="0">
                          <a:effectLst/>
                        </a:rPr>
                        <a:t>MONTH</a:t>
                      </a:r>
                      <a:endParaRPr lang="en-CA" sz="2400" dirty="0">
                        <a:effectLst/>
                        <a:latin typeface="verdana"/>
                      </a:endParaRPr>
                    </a:p>
                  </a:txBody>
                  <a:tcPr marL="28578" marR="28578" marT="28577" marB="28577"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CA" sz="2400" dirty="0">
                          <a:effectLst/>
                        </a:rPr>
                        <a:t>QUARTER</a:t>
                      </a:r>
                      <a:endParaRPr lang="en-CA" sz="2400" dirty="0">
                        <a:effectLst/>
                        <a:latin typeface="verdana"/>
                      </a:endParaRPr>
                    </a:p>
                  </a:txBody>
                  <a:tcPr marL="28578" marR="28578" marT="28577" marB="28577" anchor="ctr"/>
                </a:tc>
                <a:extLst>
                  <a:ext uri="{0D108BD9-81ED-4DB2-BD59-A6C34878D82A}">
                    <a16:rowId xmlns:a16="http://schemas.microsoft.com/office/drawing/2014/main" val="10004"/>
                  </a:ext>
                </a:extLst>
              </a:tr>
              <a:tr h="524669">
                <a:tc>
                  <a:txBody>
                    <a:bodyPr/>
                    <a:lstStyle/>
                    <a:p>
                      <a:pPr algn="ctr" fontAlgn="t"/>
                      <a:r>
                        <a:rPr lang="en-CA" sz="2400" dirty="0">
                          <a:effectLst/>
                        </a:rPr>
                        <a:t>YEAR</a:t>
                      </a:r>
                      <a:endParaRPr lang="en-CA" sz="2400" dirty="0">
                        <a:effectLst/>
                        <a:latin typeface="verdana"/>
                      </a:endParaRPr>
                    </a:p>
                  </a:txBody>
                  <a:tcPr marL="28578" marR="28578" marT="28577" marB="28577" anchor="ctr"/>
                </a:tc>
                <a:tc>
                  <a:txBody>
                    <a:bodyPr/>
                    <a:lstStyle/>
                    <a:p>
                      <a:pPr algn="ctr" fontAlgn="t"/>
                      <a:endParaRPr lang="en-CA" sz="2400" dirty="0">
                        <a:effectLst/>
                        <a:latin typeface="verdana"/>
                      </a:endParaRPr>
                    </a:p>
                  </a:txBody>
                  <a:tcPr marL="28578" marR="28578" marT="28577" marB="28577" anchor="ctr"/>
                </a:tc>
                <a:extLst>
                  <a:ext uri="{0D108BD9-81ED-4DB2-BD59-A6C34878D82A}">
                    <a16:rowId xmlns:a16="http://schemas.microsoft.com/office/drawing/2014/main" val="10005"/>
                  </a:ext>
                </a:extLst>
              </a:tr>
            </a:tbl>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wipe(left)">
                                      <p:cBhvr>
                                        <p:cTn id="7" dur="500"/>
                                        <p:tgtEl>
                                          <p:spTgt spid="14">
                                            <p:txEl>
                                              <p:pRg st="0" end="0"/>
                                            </p:txEl>
                                          </p:spTgt>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wipe(up)">
                                      <p:cBhvr>
                                        <p:cTn id="11" dur="500"/>
                                        <p:tgtEl>
                                          <p:spTgt spid="16"/>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4">
                                            <p:txEl>
                                              <p:pRg st="7" end="7"/>
                                            </p:txEl>
                                          </p:spTgt>
                                        </p:tgtEl>
                                        <p:attrNameLst>
                                          <p:attrName>style.visibility</p:attrName>
                                        </p:attrNameLst>
                                      </p:cBhvr>
                                      <p:to>
                                        <p:strVal val="visible"/>
                                      </p:to>
                                    </p:set>
                                    <p:animEffect transition="in" filter="wipe(left)">
                                      <p:cBhvr>
                                        <p:cTn id="16" dur="500"/>
                                        <p:tgtEl>
                                          <p:spTgt spid="1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4EEB4-4C12-D98B-3027-BDEBCC79E2A8}"/>
              </a:ext>
            </a:extLst>
          </p:cNvPr>
          <p:cNvSpPr>
            <a:spLocks noGrp="1"/>
          </p:cNvSpPr>
          <p:nvPr>
            <p:ph type="title"/>
          </p:nvPr>
        </p:nvSpPr>
        <p:spPr>
          <a:xfrm>
            <a:off x="457200" y="0"/>
            <a:ext cx="7620000" cy="1143000"/>
          </a:xfrm>
        </p:spPr>
        <p:txBody>
          <a:bodyPr/>
          <a:lstStyle/>
          <a:p>
            <a:pPr algn="ctr">
              <a:defRPr/>
            </a:pPr>
            <a:r>
              <a:rPr lang="en-US" dirty="0"/>
              <a:t>Date Functions</a:t>
            </a:r>
            <a:endParaRPr lang="en-MY" dirty="0"/>
          </a:p>
        </p:txBody>
      </p:sp>
      <p:sp>
        <p:nvSpPr>
          <p:cNvPr id="11" name="Content Placeholder 2">
            <a:extLst>
              <a:ext uri="{FF2B5EF4-FFF2-40B4-BE49-F238E27FC236}">
                <a16:creationId xmlns:a16="http://schemas.microsoft.com/office/drawing/2014/main" id="{F5686D83-1C87-16DA-75D6-937DCBE5671B}"/>
              </a:ext>
            </a:extLst>
          </p:cNvPr>
          <p:cNvSpPr txBox="1">
            <a:spLocks/>
          </p:cNvSpPr>
          <p:nvPr/>
        </p:nvSpPr>
        <p:spPr bwMode="auto">
          <a:xfrm>
            <a:off x="250825" y="1268413"/>
            <a:ext cx="789940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US"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In this chapter, we will examine the following date functions</a:t>
            </a: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sp>
        <p:nvSpPr>
          <p:cNvPr id="14" name="Freeform 13">
            <a:hlinkClick r:id="rId2" action="ppaction://hlinksldjump"/>
            <a:extLst>
              <a:ext uri="{FF2B5EF4-FFF2-40B4-BE49-F238E27FC236}">
                <a16:creationId xmlns:a16="http://schemas.microsoft.com/office/drawing/2014/main" id="{9ED24360-7928-E04B-1618-429AEDCA4D16}"/>
              </a:ext>
            </a:extLst>
          </p:cNvPr>
          <p:cNvSpPr/>
          <p:nvPr/>
        </p:nvSpPr>
        <p:spPr>
          <a:xfrm>
            <a:off x="609600" y="2507513"/>
            <a:ext cx="2236185" cy="1341711"/>
          </a:xfrm>
          <a:custGeom>
            <a:avLst/>
            <a:gdLst>
              <a:gd name="connsiteX0" fmla="*/ 0 w 2236185"/>
              <a:gd name="connsiteY0" fmla="*/ 0 h 1341711"/>
              <a:gd name="connsiteX1" fmla="*/ 2236185 w 2236185"/>
              <a:gd name="connsiteY1" fmla="*/ 0 h 1341711"/>
              <a:gd name="connsiteX2" fmla="*/ 2236185 w 2236185"/>
              <a:gd name="connsiteY2" fmla="*/ 1341711 h 1341711"/>
              <a:gd name="connsiteX3" fmla="*/ 0 w 2236185"/>
              <a:gd name="connsiteY3" fmla="*/ 1341711 h 1341711"/>
              <a:gd name="connsiteX4" fmla="*/ 0 w 2236185"/>
              <a:gd name="connsiteY4" fmla="*/ 0 h 1341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6185" h="1341711">
                <a:moveTo>
                  <a:pt x="0" y="0"/>
                </a:moveTo>
                <a:lnTo>
                  <a:pt x="2236185" y="0"/>
                </a:lnTo>
                <a:lnTo>
                  <a:pt x="2236185" y="1341711"/>
                </a:lnTo>
                <a:lnTo>
                  <a:pt x="0" y="1341711"/>
                </a:lnTo>
                <a:lnTo>
                  <a:pt x="0" y="0"/>
                </a:lnTo>
                <a:close/>
              </a:path>
            </a:pathLst>
          </a:custGeom>
          <a:solidFill>
            <a:schemeClr val="accent2"/>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lIns="83820" tIns="83820" rIns="83820" bIns="83820" spcCol="1270" anchor="ctr"/>
          <a:lstStyle/>
          <a:p>
            <a:pPr marL="0" marR="0" lvl="0" indent="0" algn="ctr" defTabSz="977900" rtl="0" eaLnBrk="0" fontAlgn="base" latinLnBrk="0" hangingPunct="0">
              <a:lnSpc>
                <a:spcPct val="90000"/>
              </a:lnSpc>
              <a:spcBef>
                <a:spcPct val="0"/>
              </a:spcBef>
              <a:spcAft>
                <a:spcPct val="35000"/>
              </a:spcAft>
              <a:buClrTx/>
              <a:buSzTx/>
              <a:buFontTx/>
              <a:buNone/>
              <a:tabLst/>
              <a:defRPr/>
            </a:pPr>
            <a:r>
              <a:rPr kumimoji="0" lang="en-CA" sz="2200" b="0" i="0" u="none" strike="noStrike" kern="1200" cap="none" spc="0" normalizeH="0" baseline="0" noProof="0" dirty="0">
                <a:ln>
                  <a:noFill/>
                </a:ln>
                <a:solidFill>
                  <a:srgbClr val="FFFFFF"/>
                </a:solidFill>
                <a:effectLst/>
                <a:uLnTx/>
                <a:uFillTx/>
                <a:latin typeface="Calibri"/>
                <a:ea typeface="+mn-ea"/>
                <a:cs typeface="+mn-cs"/>
              </a:rPr>
              <a:t>NOW()</a:t>
            </a:r>
          </a:p>
        </p:txBody>
      </p:sp>
      <p:sp>
        <p:nvSpPr>
          <p:cNvPr id="15" name="Freeform 14">
            <a:hlinkClick r:id="rId3" action="ppaction://hlinksldjump"/>
            <a:extLst>
              <a:ext uri="{FF2B5EF4-FFF2-40B4-BE49-F238E27FC236}">
                <a16:creationId xmlns:a16="http://schemas.microsoft.com/office/drawing/2014/main" id="{E32B416C-A17C-7DE8-0F77-0759060FA3EA}"/>
              </a:ext>
            </a:extLst>
          </p:cNvPr>
          <p:cNvSpPr/>
          <p:nvPr/>
        </p:nvSpPr>
        <p:spPr>
          <a:xfrm>
            <a:off x="3069405" y="2507513"/>
            <a:ext cx="2236185" cy="1341711"/>
          </a:xfrm>
          <a:custGeom>
            <a:avLst/>
            <a:gdLst>
              <a:gd name="connsiteX0" fmla="*/ 0 w 2236185"/>
              <a:gd name="connsiteY0" fmla="*/ 0 h 1341711"/>
              <a:gd name="connsiteX1" fmla="*/ 2236185 w 2236185"/>
              <a:gd name="connsiteY1" fmla="*/ 0 h 1341711"/>
              <a:gd name="connsiteX2" fmla="*/ 2236185 w 2236185"/>
              <a:gd name="connsiteY2" fmla="*/ 1341711 h 1341711"/>
              <a:gd name="connsiteX3" fmla="*/ 0 w 2236185"/>
              <a:gd name="connsiteY3" fmla="*/ 1341711 h 1341711"/>
              <a:gd name="connsiteX4" fmla="*/ 0 w 2236185"/>
              <a:gd name="connsiteY4" fmla="*/ 0 h 1341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6185" h="1341711">
                <a:moveTo>
                  <a:pt x="0" y="0"/>
                </a:moveTo>
                <a:lnTo>
                  <a:pt x="2236185" y="0"/>
                </a:lnTo>
                <a:lnTo>
                  <a:pt x="2236185" y="1341711"/>
                </a:lnTo>
                <a:lnTo>
                  <a:pt x="0" y="1341711"/>
                </a:lnTo>
                <a:lnTo>
                  <a:pt x="0" y="0"/>
                </a:lnTo>
                <a:close/>
              </a:path>
            </a:pathLst>
          </a:custGeom>
          <a:solidFill>
            <a:schemeClr val="accent3"/>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lIns="83820" tIns="83820" rIns="83820" bIns="83820" spcCol="1270" anchor="ctr"/>
          <a:lstStyle/>
          <a:p>
            <a:pPr marL="0" marR="0" lvl="0" indent="0" algn="ctr" defTabSz="977900" rtl="0" eaLnBrk="0" fontAlgn="base" latinLnBrk="0" hangingPunct="0">
              <a:lnSpc>
                <a:spcPct val="90000"/>
              </a:lnSpc>
              <a:spcBef>
                <a:spcPct val="0"/>
              </a:spcBef>
              <a:spcAft>
                <a:spcPct val="35000"/>
              </a:spcAft>
              <a:buClrTx/>
              <a:buSzTx/>
              <a:buFontTx/>
              <a:buNone/>
              <a:tabLst/>
              <a:defRPr/>
            </a:pPr>
            <a:r>
              <a:rPr kumimoji="0" lang="en-CA" sz="2200" b="0" i="0" u="none" strike="noStrike" kern="1200" cap="none" spc="0" normalizeH="0" baseline="0" noProof="0" dirty="0">
                <a:ln>
                  <a:noFill/>
                </a:ln>
                <a:solidFill>
                  <a:srgbClr val="FFFFFF"/>
                </a:solidFill>
                <a:effectLst/>
                <a:uLnTx/>
                <a:uFillTx/>
                <a:latin typeface="Calibri"/>
                <a:ea typeface="+mn-ea"/>
                <a:cs typeface="+mn-cs"/>
              </a:rPr>
              <a:t>EXTRACT()</a:t>
            </a:r>
          </a:p>
        </p:txBody>
      </p:sp>
      <p:sp>
        <p:nvSpPr>
          <p:cNvPr id="16" name="Freeform 15">
            <a:hlinkClick r:id="rId4" action="ppaction://hlinksldjump"/>
            <a:extLst>
              <a:ext uri="{FF2B5EF4-FFF2-40B4-BE49-F238E27FC236}">
                <a16:creationId xmlns:a16="http://schemas.microsoft.com/office/drawing/2014/main" id="{89BD5E4E-46B4-AC7A-D4EF-C214C102BB17}"/>
              </a:ext>
            </a:extLst>
          </p:cNvPr>
          <p:cNvSpPr/>
          <p:nvPr/>
        </p:nvSpPr>
        <p:spPr>
          <a:xfrm>
            <a:off x="5529209" y="2507513"/>
            <a:ext cx="2236185" cy="1341711"/>
          </a:xfrm>
          <a:custGeom>
            <a:avLst/>
            <a:gdLst>
              <a:gd name="connsiteX0" fmla="*/ 0 w 2236185"/>
              <a:gd name="connsiteY0" fmla="*/ 0 h 1341711"/>
              <a:gd name="connsiteX1" fmla="*/ 2236185 w 2236185"/>
              <a:gd name="connsiteY1" fmla="*/ 0 h 1341711"/>
              <a:gd name="connsiteX2" fmla="*/ 2236185 w 2236185"/>
              <a:gd name="connsiteY2" fmla="*/ 1341711 h 1341711"/>
              <a:gd name="connsiteX3" fmla="*/ 0 w 2236185"/>
              <a:gd name="connsiteY3" fmla="*/ 1341711 h 1341711"/>
              <a:gd name="connsiteX4" fmla="*/ 0 w 2236185"/>
              <a:gd name="connsiteY4" fmla="*/ 0 h 1341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6185" h="1341711">
                <a:moveTo>
                  <a:pt x="0" y="0"/>
                </a:moveTo>
                <a:lnTo>
                  <a:pt x="2236185" y="0"/>
                </a:lnTo>
                <a:lnTo>
                  <a:pt x="2236185" y="1341711"/>
                </a:lnTo>
                <a:lnTo>
                  <a:pt x="0" y="1341711"/>
                </a:lnTo>
                <a:lnTo>
                  <a:pt x="0" y="0"/>
                </a:lnTo>
                <a:close/>
              </a:path>
            </a:pathLst>
          </a:custGeom>
          <a:solidFill>
            <a:schemeClr val="accent5"/>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lIns="83820" tIns="83820" rIns="83820" bIns="83820" spcCol="1270" anchor="ctr"/>
          <a:lstStyle/>
          <a:p>
            <a:pPr marL="0" marR="0" lvl="0" indent="0" algn="ctr" defTabSz="977900" rtl="0" eaLnBrk="0" fontAlgn="base" latinLnBrk="0" hangingPunct="0">
              <a:lnSpc>
                <a:spcPct val="90000"/>
              </a:lnSpc>
              <a:spcBef>
                <a:spcPct val="0"/>
              </a:spcBef>
              <a:spcAft>
                <a:spcPct val="35000"/>
              </a:spcAft>
              <a:buClrTx/>
              <a:buSzTx/>
              <a:buFontTx/>
              <a:buNone/>
              <a:tabLst/>
              <a:defRPr/>
            </a:pPr>
            <a:r>
              <a:rPr kumimoji="0" lang="en-CA" sz="2200" b="0" i="0" u="none" strike="noStrike" kern="1200" cap="none" spc="0" normalizeH="0" baseline="0" noProof="0" dirty="0">
                <a:ln>
                  <a:noFill/>
                </a:ln>
                <a:solidFill>
                  <a:srgbClr val="FFFFFF"/>
                </a:solidFill>
                <a:effectLst/>
                <a:uLnTx/>
                <a:uFillTx/>
                <a:latin typeface="Calibri"/>
                <a:ea typeface="+mn-ea"/>
                <a:cs typeface="+mn-cs"/>
              </a:rPr>
              <a:t>DATE_ADD()</a:t>
            </a:r>
          </a:p>
        </p:txBody>
      </p:sp>
      <p:sp>
        <p:nvSpPr>
          <p:cNvPr id="17" name="Freeform 16">
            <a:hlinkClick r:id="rId5" action="ppaction://hlinksldjump"/>
            <a:extLst>
              <a:ext uri="{FF2B5EF4-FFF2-40B4-BE49-F238E27FC236}">
                <a16:creationId xmlns:a16="http://schemas.microsoft.com/office/drawing/2014/main" id="{B1BE5851-AC44-C249-56F6-E25A0606D299}"/>
              </a:ext>
            </a:extLst>
          </p:cNvPr>
          <p:cNvSpPr/>
          <p:nvPr/>
        </p:nvSpPr>
        <p:spPr>
          <a:xfrm>
            <a:off x="1828800" y="4031505"/>
            <a:ext cx="2236185" cy="1341711"/>
          </a:xfrm>
          <a:custGeom>
            <a:avLst/>
            <a:gdLst>
              <a:gd name="connsiteX0" fmla="*/ 0 w 2236185"/>
              <a:gd name="connsiteY0" fmla="*/ 0 h 1341711"/>
              <a:gd name="connsiteX1" fmla="*/ 2236185 w 2236185"/>
              <a:gd name="connsiteY1" fmla="*/ 0 h 1341711"/>
              <a:gd name="connsiteX2" fmla="*/ 2236185 w 2236185"/>
              <a:gd name="connsiteY2" fmla="*/ 1341711 h 1341711"/>
              <a:gd name="connsiteX3" fmla="*/ 0 w 2236185"/>
              <a:gd name="connsiteY3" fmla="*/ 1341711 h 1341711"/>
              <a:gd name="connsiteX4" fmla="*/ 0 w 2236185"/>
              <a:gd name="connsiteY4" fmla="*/ 0 h 1341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6185" h="1341711">
                <a:moveTo>
                  <a:pt x="0" y="0"/>
                </a:moveTo>
                <a:lnTo>
                  <a:pt x="2236185" y="0"/>
                </a:lnTo>
                <a:lnTo>
                  <a:pt x="2236185" y="1341711"/>
                </a:lnTo>
                <a:lnTo>
                  <a:pt x="0" y="1341711"/>
                </a:lnTo>
                <a:lnTo>
                  <a:pt x="0" y="0"/>
                </a:lnTo>
                <a:close/>
              </a:path>
            </a:pathLst>
          </a:custGeom>
          <a:solidFill>
            <a:schemeClr val="tx2"/>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lIns="83820" tIns="83820" rIns="83820" bIns="83820" spcCol="1270" anchor="ctr"/>
          <a:lstStyle/>
          <a:p>
            <a:pPr marL="0" marR="0" lvl="0" indent="0" algn="ctr" defTabSz="977900" rtl="0" eaLnBrk="0" fontAlgn="base" latinLnBrk="0" hangingPunct="0">
              <a:lnSpc>
                <a:spcPct val="90000"/>
              </a:lnSpc>
              <a:spcBef>
                <a:spcPct val="0"/>
              </a:spcBef>
              <a:spcAft>
                <a:spcPct val="35000"/>
              </a:spcAft>
              <a:buClrTx/>
              <a:buSzTx/>
              <a:buFontTx/>
              <a:buNone/>
              <a:tabLst/>
              <a:defRPr/>
            </a:pPr>
            <a:r>
              <a:rPr kumimoji="0" lang="en-CA" sz="2200" b="0" i="0" u="none" strike="noStrike" kern="1200" cap="none" spc="0" normalizeH="0" baseline="0" noProof="0" dirty="0">
                <a:ln>
                  <a:noFill/>
                </a:ln>
                <a:solidFill>
                  <a:srgbClr val="FFFFFF"/>
                </a:solidFill>
                <a:effectLst/>
                <a:uLnTx/>
                <a:uFillTx/>
                <a:latin typeface="Calibri"/>
                <a:ea typeface="+mn-ea"/>
                <a:cs typeface="+mn-cs"/>
              </a:rPr>
              <a:t>DATE_SUB()</a:t>
            </a:r>
          </a:p>
        </p:txBody>
      </p:sp>
      <p:sp>
        <p:nvSpPr>
          <p:cNvPr id="19" name="Freeform 18">
            <a:hlinkClick r:id="rId6" action="ppaction://hlinksldjump"/>
            <a:extLst>
              <a:ext uri="{FF2B5EF4-FFF2-40B4-BE49-F238E27FC236}">
                <a16:creationId xmlns:a16="http://schemas.microsoft.com/office/drawing/2014/main" id="{FFB361BE-D8B3-D88C-C075-58ED1B46CFBD}"/>
              </a:ext>
            </a:extLst>
          </p:cNvPr>
          <p:cNvSpPr/>
          <p:nvPr/>
        </p:nvSpPr>
        <p:spPr>
          <a:xfrm>
            <a:off x="4288604" y="4031505"/>
            <a:ext cx="2236185" cy="1341711"/>
          </a:xfrm>
          <a:custGeom>
            <a:avLst/>
            <a:gdLst>
              <a:gd name="connsiteX0" fmla="*/ 0 w 2236185"/>
              <a:gd name="connsiteY0" fmla="*/ 0 h 1341711"/>
              <a:gd name="connsiteX1" fmla="*/ 2236185 w 2236185"/>
              <a:gd name="connsiteY1" fmla="*/ 0 h 1341711"/>
              <a:gd name="connsiteX2" fmla="*/ 2236185 w 2236185"/>
              <a:gd name="connsiteY2" fmla="*/ 1341711 h 1341711"/>
              <a:gd name="connsiteX3" fmla="*/ 0 w 2236185"/>
              <a:gd name="connsiteY3" fmla="*/ 1341711 h 1341711"/>
              <a:gd name="connsiteX4" fmla="*/ 0 w 2236185"/>
              <a:gd name="connsiteY4" fmla="*/ 0 h 1341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6185" h="1341711">
                <a:moveTo>
                  <a:pt x="0" y="0"/>
                </a:moveTo>
                <a:lnTo>
                  <a:pt x="2236185" y="0"/>
                </a:lnTo>
                <a:lnTo>
                  <a:pt x="2236185" y="1341711"/>
                </a:lnTo>
                <a:lnTo>
                  <a:pt x="0" y="1341711"/>
                </a:lnTo>
                <a:lnTo>
                  <a:pt x="0" y="0"/>
                </a:lnTo>
                <a:close/>
              </a:path>
            </a:pathLst>
          </a:custGeom>
          <a:solidFill>
            <a:schemeClr val="tx1"/>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lIns="83820" tIns="83820" rIns="83820" bIns="83820" spcCol="1270" anchor="ctr"/>
          <a:lstStyle/>
          <a:p>
            <a:pPr marL="0" marR="0" lvl="0" indent="0" algn="ctr" defTabSz="977900" rtl="0" eaLnBrk="0" fontAlgn="base" latinLnBrk="0" hangingPunct="0">
              <a:lnSpc>
                <a:spcPct val="90000"/>
              </a:lnSpc>
              <a:spcBef>
                <a:spcPct val="0"/>
              </a:spcBef>
              <a:spcAft>
                <a:spcPct val="35000"/>
              </a:spcAft>
              <a:buClrTx/>
              <a:buSzTx/>
              <a:buFontTx/>
              <a:buNone/>
              <a:tabLst/>
              <a:defRPr/>
            </a:pPr>
            <a:r>
              <a:rPr kumimoji="0" lang="en-CA" sz="2200" b="0" i="0" u="none" strike="noStrike" kern="1200" cap="none" spc="0" normalizeH="0" baseline="0" noProof="0" dirty="0">
                <a:ln>
                  <a:noFill/>
                </a:ln>
                <a:solidFill>
                  <a:srgbClr val="FFFFFF"/>
                </a:solidFill>
                <a:effectLst/>
                <a:uLnTx/>
                <a:uFillTx/>
                <a:latin typeface="Calibri"/>
                <a:ea typeface="+mn-ea"/>
                <a:cs typeface="+mn-cs"/>
              </a:rPr>
              <a:t>DATEDIFF()</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wipe(left)">
                                      <p:cBhvr>
                                        <p:cTn id="7" dur="500"/>
                                        <p:tgtEl>
                                          <p:spTgt spid="11">
                                            <p:txEl>
                                              <p:pRg st="0" end="0"/>
                                            </p:txEl>
                                          </p:spTgt>
                                        </p:tgtEl>
                                      </p:cBhvr>
                                    </p:animEffect>
                                  </p:childTnLst>
                                </p:cTn>
                              </p:par>
                            </p:childTnLst>
                          </p:cTn>
                        </p:par>
                        <p:par>
                          <p:cTn id="8" fill="hold" nodeType="afterGroup">
                            <p:stCondLst>
                              <p:cond delay="500"/>
                            </p:stCondLst>
                            <p:childTnLst>
                              <p:par>
                                <p:cTn id="9" presetID="42" presetClass="entr" presetSubtype="0" fill="hold"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fade">
                                      <p:cBhvr>
                                        <p:cTn id="11" dur="1000"/>
                                        <p:tgtEl>
                                          <p:spTgt spid="14"/>
                                        </p:tgtEl>
                                      </p:cBhvr>
                                    </p:animEffect>
                                    <p:anim calcmode="lin" valueType="num">
                                      <p:cBhvr>
                                        <p:cTn id="12" dur="1000" fill="hold"/>
                                        <p:tgtEl>
                                          <p:spTgt spid="14"/>
                                        </p:tgtEl>
                                        <p:attrNameLst>
                                          <p:attrName>ppt_x</p:attrName>
                                        </p:attrNameLst>
                                      </p:cBhvr>
                                      <p:tavLst>
                                        <p:tav tm="0">
                                          <p:val>
                                            <p:strVal val="#ppt_x"/>
                                          </p:val>
                                        </p:tav>
                                        <p:tav tm="100000">
                                          <p:val>
                                            <p:strVal val="#ppt_x"/>
                                          </p:val>
                                        </p:tav>
                                      </p:tavLst>
                                    </p:anim>
                                    <p:anim calcmode="lin" valueType="num">
                                      <p:cBhvr>
                                        <p:cTn id="13" dur="1000" fill="hold"/>
                                        <p:tgtEl>
                                          <p:spTgt spid="14"/>
                                        </p:tgtEl>
                                        <p:attrNameLst>
                                          <p:attrName>ppt_y</p:attrName>
                                        </p:attrNameLst>
                                      </p:cBhvr>
                                      <p:tavLst>
                                        <p:tav tm="0">
                                          <p:val>
                                            <p:strVal val="#ppt_y+.1"/>
                                          </p:val>
                                        </p:tav>
                                        <p:tav tm="100000">
                                          <p:val>
                                            <p:strVal val="#ppt_y"/>
                                          </p:val>
                                        </p:tav>
                                      </p:tavLst>
                                    </p:anim>
                                  </p:childTnLst>
                                </p:cTn>
                              </p:par>
                            </p:childTnLst>
                          </p:cTn>
                        </p:par>
                        <p:par>
                          <p:cTn id="14" fill="hold" nodeType="afterGroup">
                            <p:stCondLst>
                              <p:cond delay="1500"/>
                            </p:stCondLst>
                            <p:childTnLst>
                              <p:par>
                                <p:cTn id="15" presetID="42" presetClass="entr" presetSubtype="0" fill="hold" nodeType="after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1000"/>
                                        <p:tgtEl>
                                          <p:spTgt spid="15"/>
                                        </p:tgtEl>
                                      </p:cBhvr>
                                    </p:animEffect>
                                    <p:anim calcmode="lin" valueType="num">
                                      <p:cBhvr>
                                        <p:cTn id="18" dur="1000" fill="hold"/>
                                        <p:tgtEl>
                                          <p:spTgt spid="15"/>
                                        </p:tgtEl>
                                        <p:attrNameLst>
                                          <p:attrName>ppt_x</p:attrName>
                                        </p:attrNameLst>
                                      </p:cBhvr>
                                      <p:tavLst>
                                        <p:tav tm="0">
                                          <p:val>
                                            <p:strVal val="#ppt_x"/>
                                          </p:val>
                                        </p:tav>
                                        <p:tav tm="100000">
                                          <p:val>
                                            <p:strVal val="#ppt_x"/>
                                          </p:val>
                                        </p:tav>
                                      </p:tavLst>
                                    </p:anim>
                                    <p:anim calcmode="lin" valueType="num">
                                      <p:cBhvr>
                                        <p:cTn id="19" dur="1000" fill="hold"/>
                                        <p:tgtEl>
                                          <p:spTgt spid="15"/>
                                        </p:tgtEl>
                                        <p:attrNameLst>
                                          <p:attrName>ppt_y</p:attrName>
                                        </p:attrNameLst>
                                      </p:cBhvr>
                                      <p:tavLst>
                                        <p:tav tm="0">
                                          <p:val>
                                            <p:strVal val="#ppt_y+.1"/>
                                          </p:val>
                                        </p:tav>
                                        <p:tav tm="100000">
                                          <p:val>
                                            <p:strVal val="#ppt_y"/>
                                          </p:val>
                                        </p:tav>
                                      </p:tavLst>
                                    </p:anim>
                                  </p:childTnLst>
                                </p:cTn>
                              </p:par>
                            </p:childTnLst>
                          </p:cTn>
                        </p:par>
                        <p:par>
                          <p:cTn id="20" fill="hold" nodeType="afterGroup">
                            <p:stCondLst>
                              <p:cond delay="2500"/>
                            </p:stCondLst>
                            <p:childTnLst>
                              <p:par>
                                <p:cTn id="21" presetID="42" presetClass="entr" presetSubtype="0" fill="hold" nodeType="after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1000"/>
                                        <p:tgtEl>
                                          <p:spTgt spid="16"/>
                                        </p:tgtEl>
                                      </p:cBhvr>
                                    </p:animEffect>
                                    <p:anim calcmode="lin" valueType="num">
                                      <p:cBhvr>
                                        <p:cTn id="24" dur="1000" fill="hold"/>
                                        <p:tgtEl>
                                          <p:spTgt spid="16"/>
                                        </p:tgtEl>
                                        <p:attrNameLst>
                                          <p:attrName>ppt_x</p:attrName>
                                        </p:attrNameLst>
                                      </p:cBhvr>
                                      <p:tavLst>
                                        <p:tav tm="0">
                                          <p:val>
                                            <p:strVal val="#ppt_x"/>
                                          </p:val>
                                        </p:tav>
                                        <p:tav tm="100000">
                                          <p:val>
                                            <p:strVal val="#ppt_x"/>
                                          </p:val>
                                        </p:tav>
                                      </p:tavLst>
                                    </p:anim>
                                    <p:anim calcmode="lin" valueType="num">
                                      <p:cBhvr>
                                        <p:cTn id="25" dur="1000" fill="hold"/>
                                        <p:tgtEl>
                                          <p:spTgt spid="16"/>
                                        </p:tgtEl>
                                        <p:attrNameLst>
                                          <p:attrName>ppt_y</p:attrName>
                                        </p:attrNameLst>
                                      </p:cBhvr>
                                      <p:tavLst>
                                        <p:tav tm="0">
                                          <p:val>
                                            <p:strVal val="#ppt_y+.1"/>
                                          </p:val>
                                        </p:tav>
                                        <p:tav tm="100000">
                                          <p:val>
                                            <p:strVal val="#ppt_y"/>
                                          </p:val>
                                        </p:tav>
                                      </p:tavLst>
                                    </p:anim>
                                  </p:childTnLst>
                                </p:cTn>
                              </p:par>
                            </p:childTnLst>
                          </p:cTn>
                        </p:par>
                        <p:par>
                          <p:cTn id="26" fill="hold" nodeType="afterGroup">
                            <p:stCondLst>
                              <p:cond delay="3500"/>
                            </p:stCondLst>
                            <p:childTnLst>
                              <p:par>
                                <p:cTn id="27" presetID="42" presetClass="entr" presetSubtype="0" fill="hold" nodeType="after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1000"/>
                                        <p:tgtEl>
                                          <p:spTgt spid="17"/>
                                        </p:tgtEl>
                                      </p:cBhvr>
                                    </p:animEffect>
                                    <p:anim calcmode="lin" valueType="num">
                                      <p:cBhvr>
                                        <p:cTn id="30" dur="1000" fill="hold"/>
                                        <p:tgtEl>
                                          <p:spTgt spid="17"/>
                                        </p:tgtEl>
                                        <p:attrNameLst>
                                          <p:attrName>ppt_x</p:attrName>
                                        </p:attrNameLst>
                                      </p:cBhvr>
                                      <p:tavLst>
                                        <p:tav tm="0">
                                          <p:val>
                                            <p:strVal val="#ppt_x"/>
                                          </p:val>
                                        </p:tav>
                                        <p:tav tm="100000">
                                          <p:val>
                                            <p:strVal val="#ppt_x"/>
                                          </p:val>
                                        </p:tav>
                                      </p:tavLst>
                                    </p:anim>
                                    <p:anim calcmode="lin" valueType="num">
                                      <p:cBhvr>
                                        <p:cTn id="31" dur="1000" fill="hold"/>
                                        <p:tgtEl>
                                          <p:spTgt spid="17"/>
                                        </p:tgtEl>
                                        <p:attrNameLst>
                                          <p:attrName>ppt_y</p:attrName>
                                        </p:attrNameLst>
                                      </p:cBhvr>
                                      <p:tavLst>
                                        <p:tav tm="0">
                                          <p:val>
                                            <p:strVal val="#ppt_y+.1"/>
                                          </p:val>
                                        </p:tav>
                                        <p:tav tm="100000">
                                          <p:val>
                                            <p:strVal val="#ppt_y"/>
                                          </p:val>
                                        </p:tav>
                                      </p:tavLst>
                                    </p:anim>
                                  </p:childTnLst>
                                </p:cTn>
                              </p:par>
                            </p:childTnLst>
                          </p:cTn>
                        </p:par>
                        <p:par>
                          <p:cTn id="32" fill="hold" nodeType="afterGroup">
                            <p:stCondLst>
                              <p:cond delay="4500"/>
                            </p:stCondLst>
                            <p:childTnLst>
                              <p:par>
                                <p:cTn id="33" presetID="42" presetClass="entr" presetSubtype="0" fill="hold" nodeType="after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1000"/>
                                        <p:tgtEl>
                                          <p:spTgt spid="19"/>
                                        </p:tgtEl>
                                      </p:cBhvr>
                                    </p:animEffect>
                                    <p:anim calcmode="lin" valueType="num">
                                      <p:cBhvr>
                                        <p:cTn id="36" dur="1000" fill="hold"/>
                                        <p:tgtEl>
                                          <p:spTgt spid="19"/>
                                        </p:tgtEl>
                                        <p:attrNameLst>
                                          <p:attrName>ppt_x</p:attrName>
                                        </p:attrNameLst>
                                      </p:cBhvr>
                                      <p:tavLst>
                                        <p:tav tm="0">
                                          <p:val>
                                            <p:strVal val="#ppt_x"/>
                                          </p:val>
                                        </p:tav>
                                        <p:tav tm="100000">
                                          <p:val>
                                            <p:strVal val="#ppt_x"/>
                                          </p:val>
                                        </p:tav>
                                      </p:tavLst>
                                    </p:anim>
                                    <p:anim calcmode="lin" valueType="num">
                                      <p:cBhvr>
                                        <p:cTn id="37"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Lst>
  </p:timing>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1B313-EABD-781A-A4A5-03F3648E425A}"/>
              </a:ext>
            </a:extLst>
          </p:cNvPr>
          <p:cNvSpPr>
            <a:spLocks noGrp="1"/>
          </p:cNvSpPr>
          <p:nvPr>
            <p:ph type="title"/>
          </p:nvPr>
        </p:nvSpPr>
        <p:spPr>
          <a:xfrm>
            <a:off x="457200" y="0"/>
            <a:ext cx="7620000" cy="1143000"/>
          </a:xfrm>
        </p:spPr>
        <p:txBody>
          <a:bodyPr/>
          <a:lstStyle/>
          <a:p>
            <a:pPr algn="ctr">
              <a:defRPr/>
            </a:pPr>
            <a:r>
              <a:rPr lang="en-US" dirty="0"/>
              <a:t>Date Functions</a:t>
            </a:r>
            <a:endParaRPr lang="en-MY" dirty="0"/>
          </a:p>
        </p:txBody>
      </p:sp>
      <p:sp>
        <p:nvSpPr>
          <p:cNvPr id="16" name="Snip Single Corner Rectangle 15">
            <a:extLst>
              <a:ext uri="{FF2B5EF4-FFF2-40B4-BE49-F238E27FC236}">
                <a16:creationId xmlns:a16="http://schemas.microsoft.com/office/drawing/2014/main" id="{21D388F7-ED9A-2937-C558-DCD3FCC9E242}"/>
              </a:ext>
            </a:extLst>
          </p:cNvPr>
          <p:cNvSpPr/>
          <p:nvPr/>
        </p:nvSpPr>
        <p:spPr>
          <a:xfrm>
            <a:off x="-36513" y="1125538"/>
            <a:ext cx="1008063" cy="400050"/>
          </a:xfrm>
          <a:prstGeom prst="snip1Rect">
            <a:avLst/>
          </a:prstGeom>
          <a:solidFill>
            <a:schemeClr val="accent2"/>
          </a:solidFill>
          <a:ln>
            <a:solidFill>
              <a:schemeClr val="accent2"/>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marR="0" lvl="0" indent="-342900" algn="just" defTabSz="914400" rtl="0" eaLnBrk="1" fontAlgn="base" latinLnBrk="0" hangingPunct="1">
              <a:lnSpc>
                <a:spcPct val="100000"/>
              </a:lnSpc>
              <a:spcBef>
                <a:spcPct val="20000"/>
              </a:spcBef>
              <a:spcAft>
                <a:spcPct val="0"/>
              </a:spcAft>
              <a:buClr>
                <a:srgbClr val="FF6600"/>
              </a:buClr>
              <a:buSzPct val="100000"/>
              <a:buFontTx/>
              <a:buNone/>
              <a:tabLst/>
              <a:defRPr/>
            </a:pPr>
            <a:r>
              <a:rPr kumimoji="0" lang="en-GB" sz="1800" b="0" i="0" u="none" strike="noStrike" kern="0" cap="none" spc="0" normalizeH="0" baseline="0" noProof="0" dirty="0">
                <a:ln>
                  <a:noFill/>
                </a:ln>
                <a:solidFill>
                  <a:srgbClr val="FFFFFF"/>
                </a:solidFill>
                <a:effectLst/>
                <a:uLnTx/>
                <a:uFillTx/>
                <a:latin typeface="Calibri"/>
                <a:ea typeface="+mn-ea"/>
                <a:cs typeface="+mn-cs"/>
              </a:rPr>
              <a:t>NOW()</a:t>
            </a:r>
          </a:p>
        </p:txBody>
      </p:sp>
      <p:sp>
        <p:nvSpPr>
          <p:cNvPr id="17" name="Content Placeholder 2">
            <a:extLst>
              <a:ext uri="{FF2B5EF4-FFF2-40B4-BE49-F238E27FC236}">
                <a16:creationId xmlns:a16="http://schemas.microsoft.com/office/drawing/2014/main" id="{46009329-6B6E-F3F5-A92C-3DC3B1A3FF39}"/>
              </a:ext>
            </a:extLst>
          </p:cNvPr>
          <p:cNvSpPr txBox="1">
            <a:spLocks/>
          </p:cNvSpPr>
          <p:nvPr/>
        </p:nvSpPr>
        <p:spPr bwMode="auto">
          <a:xfrm>
            <a:off x="250825" y="1773238"/>
            <a:ext cx="8655050"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NOW() – Returns the current date and time</a:t>
            </a: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sp>
        <p:nvSpPr>
          <p:cNvPr id="18" name="Rounded Rectangle 17">
            <a:extLst>
              <a:ext uri="{FF2B5EF4-FFF2-40B4-BE49-F238E27FC236}">
                <a16:creationId xmlns:a16="http://schemas.microsoft.com/office/drawing/2014/main" id="{F0FF0D6B-3727-54DF-67B1-7C613DBBF077}"/>
              </a:ext>
            </a:extLst>
          </p:cNvPr>
          <p:cNvSpPr/>
          <p:nvPr/>
        </p:nvSpPr>
        <p:spPr bwMode="auto">
          <a:xfrm>
            <a:off x="1295400" y="3968750"/>
            <a:ext cx="6896100" cy="1116013"/>
          </a:xfrm>
          <a:prstGeom prst="roundRect">
            <a:avLst/>
          </a:prstGeom>
          <a:solidFill>
            <a:schemeClr val="accent6">
              <a:alpha val="30000"/>
            </a:schemeClr>
          </a:solidFill>
          <a:ln w="9525" cap="flat" cmpd="sng" algn="ctr">
            <a:solidFill>
              <a:schemeClr val="accent6"/>
            </a:solidFill>
            <a:prstDash val="solid"/>
            <a:round/>
            <a:headEnd type="none" w="med" len="med"/>
            <a:tailEnd type="none" w="med" len="med"/>
          </a:ln>
          <a:effectLst/>
        </p:spPr>
        <p:txBody>
          <a:bodyPr anchor="ctr" anchorCtr="1"/>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2800" b="0"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INSERT INTO Book VALUES(54321, ‘A Song of Ice and Fire', NOW());</a:t>
            </a:r>
          </a:p>
        </p:txBody>
      </p:sp>
      <p:graphicFrame>
        <p:nvGraphicFramePr>
          <p:cNvPr id="19" name="Table 18">
            <a:extLst>
              <a:ext uri="{FF2B5EF4-FFF2-40B4-BE49-F238E27FC236}">
                <a16:creationId xmlns:a16="http://schemas.microsoft.com/office/drawing/2014/main" id="{8DAEC361-8374-7DE5-759D-7F8698E0498F}"/>
              </a:ext>
            </a:extLst>
          </p:cNvPr>
          <p:cNvGraphicFramePr>
            <a:graphicFrameLocks noGrp="1"/>
          </p:cNvGraphicFramePr>
          <p:nvPr/>
        </p:nvGraphicFramePr>
        <p:xfrm>
          <a:off x="1308100" y="5264150"/>
          <a:ext cx="6827838" cy="1106488"/>
        </p:xfrm>
        <a:graphic>
          <a:graphicData uri="http://schemas.openxmlformats.org/drawingml/2006/table">
            <a:tbl>
              <a:tblPr firstRow="1" bandRow="1">
                <a:tableStyleId>{C083E6E3-FA7D-4D7B-A595-EF9225AFEA82}</a:tableStyleId>
              </a:tblPr>
              <a:tblGrid>
                <a:gridCol w="1732437">
                  <a:extLst>
                    <a:ext uri="{9D8B030D-6E8A-4147-A177-3AD203B41FA5}">
                      <a16:colId xmlns:a16="http://schemas.microsoft.com/office/drawing/2014/main" val="20000"/>
                    </a:ext>
                  </a:extLst>
                </a:gridCol>
                <a:gridCol w="2547701">
                  <a:extLst>
                    <a:ext uri="{9D8B030D-6E8A-4147-A177-3AD203B41FA5}">
                      <a16:colId xmlns:a16="http://schemas.microsoft.com/office/drawing/2014/main" val="20001"/>
                    </a:ext>
                  </a:extLst>
                </a:gridCol>
                <a:gridCol w="2547701">
                  <a:extLst>
                    <a:ext uri="{9D8B030D-6E8A-4147-A177-3AD203B41FA5}">
                      <a16:colId xmlns:a16="http://schemas.microsoft.com/office/drawing/2014/main" val="20002"/>
                    </a:ext>
                  </a:extLst>
                </a:gridCol>
              </a:tblGrid>
              <a:tr h="365655">
                <a:tc>
                  <a:txBody>
                    <a:bodyPr/>
                    <a:lstStyle/>
                    <a:p>
                      <a:pPr algn="ctr"/>
                      <a:r>
                        <a:rPr lang="en-CA" sz="1800" dirty="0"/>
                        <a:t>ISBN</a:t>
                      </a:r>
                    </a:p>
                  </a:txBody>
                  <a:tcPr marL="91428" marR="91428" marT="45668" marB="45668"/>
                </a:tc>
                <a:tc>
                  <a:txBody>
                    <a:bodyPr/>
                    <a:lstStyle/>
                    <a:p>
                      <a:pPr algn="ctr"/>
                      <a:r>
                        <a:rPr lang="en-CA" sz="1800" dirty="0"/>
                        <a:t>Title</a:t>
                      </a:r>
                    </a:p>
                  </a:txBody>
                  <a:tcPr marL="91428" marR="91428" marT="45668" marB="45668"/>
                </a:tc>
                <a:tc>
                  <a:txBody>
                    <a:bodyPr/>
                    <a:lstStyle/>
                    <a:p>
                      <a:pPr algn="ctr"/>
                      <a:r>
                        <a:rPr lang="en-CA" sz="1800" dirty="0"/>
                        <a:t>Published</a:t>
                      </a:r>
                    </a:p>
                  </a:txBody>
                  <a:tcPr marL="91428" marR="91428" marT="45668" marB="45668"/>
                </a:tc>
                <a:extLst>
                  <a:ext uri="{0D108BD9-81ED-4DB2-BD59-A6C34878D82A}">
                    <a16:rowId xmlns:a16="http://schemas.microsoft.com/office/drawing/2014/main" val="10000"/>
                  </a:ext>
                </a:extLst>
              </a:tr>
              <a:tr h="370416">
                <a:tc>
                  <a:txBody>
                    <a:bodyPr/>
                    <a:lstStyle/>
                    <a:p>
                      <a:pPr algn="ctr"/>
                      <a:r>
                        <a:rPr lang="en-CA" sz="1800" dirty="0"/>
                        <a:t>12345</a:t>
                      </a:r>
                    </a:p>
                  </a:txBody>
                  <a:tcPr marL="91428" marR="91428" marT="45668" marB="45668"/>
                </a:tc>
                <a:tc>
                  <a:txBody>
                    <a:bodyPr/>
                    <a:lstStyle/>
                    <a:p>
                      <a:pPr algn="ctr"/>
                      <a:r>
                        <a:rPr lang="en-CA" sz="1800" dirty="0"/>
                        <a:t>The Hunger Game</a:t>
                      </a:r>
                    </a:p>
                  </a:txBody>
                  <a:tcPr marL="91428" marR="91428" marT="45668" marB="45668"/>
                </a:tc>
                <a:tc>
                  <a:txBody>
                    <a:bodyPr/>
                    <a:lstStyle/>
                    <a:p>
                      <a:pPr algn="ctr"/>
                      <a:r>
                        <a:rPr lang="en-CA" sz="1800" dirty="0"/>
                        <a:t>2008-10-11 12:12:33</a:t>
                      </a:r>
                    </a:p>
                  </a:txBody>
                  <a:tcPr marL="91428" marR="91428" marT="45668" marB="45668"/>
                </a:tc>
                <a:extLst>
                  <a:ext uri="{0D108BD9-81ED-4DB2-BD59-A6C34878D82A}">
                    <a16:rowId xmlns:a16="http://schemas.microsoft.com/office/drawing/2014/main" val="10001"/>
                  </a:ext>
                </a:extLst>
              </a:tr>
              <a:tr h="370416">
                <a:tc>
                  <a:txBody>
                    <a:bodyPr/>
                    <a:lstStyle/>
                    <a:p>
                      <a:pPr algn="ctr"/>
                      <a:r>
                        <a:rPr lang="en-CA" sz="1800" dirty="0"/>
                        <a:t>54321</a:t>
                      </a:r>
                    </a:p>
                  </a:txBody>
                  <a:tcPr marL="91428" marR="91428" marT="45668" marB="45668"/>
                </a:tc>
                <a:tc>
                  <a:txBody>
                    <a:bodyPr/>
                    <a:lstStyle/>
                    <a:p>
                      <a:pPr algn="ctr"/>
                      <a:r>
                        <a:rPr lang="en-CA" sz="1800" dirty="0"/>
                        <a:t>A</a:t>
                      </a:r>
                      <a:r>
                        <a:rPr lang="en-CA" sz="1800" baseline="0" dirty="0"/>
                        <a:t> Song of Ice and Fire</a:t>
                      </a:r>
                      <a:endParaRPr lang="en-CA" sz="1800" dirty="0"/>
                    </a:p>
                  </a:txBody>
                  <a:tcPr marL="91428" marR="91428" marT="45668" marB="45668"/>
                </a:tc>
                <a:tc>
                  <a:txBody>
                    <a:bodyPr/>
                    <a:lstStyle/>
                    <a:p>
                      <a:pPr algn="ctr"/>
                      <a:r>
                        <a:rPr lang="en-CA" sz="1800" dirty="0"/>
                        <a:t>2018-02-01</a:t>
                      </a:r>
                      <a:r>
                        <a:rPr lang="en-CA" sz="1800" baseline="0" dirty="0"/>
                        <a:t> 09:45:00</a:t>
                      </a:r>
                      <a:endParaRPr lang="en-CA" sz="1800" dirty="0"/>
                    </a:p>
                  </a:txBody>
                  <a:tcPr marL="91428" marR="91428" marT="45668" marB="45668"/>
                </a:tc>
                <a:extLst>
                  <a:ext uri="{0D108BD9-81ED-4DB2-BD59-A6C34878D82A}">
                    <a16:rowId xmlns:a16="http://schemas.microsoft.com/office/drawing/2014/main" val="10002"/>
                  </a:ext>
                </a:extLst>
              </a:tr>
            </a:tbl>
          </a:graphicData>
        </a:graphic>
      </p:graphicFrame>
      <p:graphicFrame>
        <p:nvGraphicFramePr>
          <p:cNvPr id="20" name="Table 19">
            <a:extLst>
              <a:ext uri="{FF2B5EF4-FFF2-40B4-BE49-F238E27FC236}">
                <a16:creationId xmlns:a16="http://schemas.microsoft.com/office/drawing/2014/main" id="{75F64CEE-0CBA-125F-9C41-2E684FD7D176}"/>
              </a:ext>
            </a:extLst>
          </p:cNvPr>
          <p:cNvGraphicFramePr>
            <a:graphicFrameLocks noGrp="1"/>
          </p:cNvGraphicFramePr>
          <p:nvPr/>
        </p:nvGraphicFramePr>
        <p:xfrm>
          <a:off x="955675" y="2411413"/>
          <a:ext cx="6929438" cy="1112837"/>
        </p:xfrm>
        <a:graphic>
          <a:graphicData uri="http://schemas.openxmlformats.org/drawingml/2006/table">
            <a:tbl>
              <a:tblPr firstRow="1" bandRow="1">
                <a:tableStyleId>{D27102A9-8310-4765-A935-A1911B00CA55}</a:tableStyleId>
              </a:tblPr>
              <a:tblGrid>
                <a:gridCol w="1663956">
                  <a:extLst>
                    <a:ext uri="{9D8B030D-6E8A-4147-A177-3AD203B41FA5}">
                      <a16:colId xmlns:a16="http://schemas.microsoft.com/office/drawing/2014/main" val="20000"/>
                    </a:ext>
                  </a:extLst>
                </a:gridCol>
                <a:gridCol w="2673437">
                  <a:extLst>
                    <a:ext uri="{9D8B030D-6E8A-4147-A177-3AD203B41FA5}">
                      <a16:colId xmlns:a16="http://schemas.microsoft.com/office/drawing/2014/main" val="20001"/>
                    </a:ext>
                  </a:extLst>
                </a:gridCol>
                <a:gridCol w="2592045">
                  <a:extLst>
                    <a:ext uri="{9D8B030D-6E8A-4147-A177-3AD203B41FA5}">
                      <a16:colId xmlns:a16="http://schemas.microsoft.com/office/drawing/2014/main" val="20002"/>
                    </a:ext>
                  </a:extLst>
                </a:gridCol>
              </a:tblGrid>
              <a:tr h="370946">
                <a:tc>
                  <a:txBody>
                    <a:bodyPr/>
                    <a:lstStyle/>
                    <a:p>
                      <a:pPr algn="ctr"/>
                      <a:r>
                        <a:rPr lang="en-CA" sz="1800" dirty="0"/>
                        <a:t>ISBN</a:t>
                      </a:r>
                    </a:p>
                  </a:txBody>
                  <a:tcPr marL="91431" marR="91431" marT="45733" marB="45733"/>
                </a:tc>
                <a:tc>
                  <a:txBody>
                    <a:bodyPr/>
                    <a:lstStyle/>
                    <a:p>
                      <a:pPr algn="ctr"/>
                      <a:r>
                        <a:rPr lang="en-CA" sz="1800" dirty="0"/>
                        <a:t>Title</a:t>
                      </a:r>
                    </a:p>
                  </a:txBody>
                  <a:tcPr marL="91431" marR="91431" marT="45733" marB="45733"/>
                </a:tc>
                <a:tc>
                  <a:txBody>
                    <a:bodyPr/>
                    <a:lstStyle/>
                    <a:p>
                      <a:pPr algn="ctr"/>
                      <a:r>
                        <a:rPr lang="en-CA" sz="1800" dirty="0"/>
                        <a:t>Published</a:t>
                      </a:r>
                    </a:p>
                  </a:txBody>
                  <a:tcPr marL="91431" marR="91431" marT="45733" marB="45733"/>
                </a:tc>
                <a:extLst>
                  <a:ext uri="{0D108BD9-81ED-4DB2-BD59-A6C34878D82A}">
                    <a16:rowId xmlns:a16="http://schemas.microsoft.com/office/drawing/2014/main" val="10000"/>
                  </a:ext>
                </a:extLst>
              </a:tr>
              <a:tr h="370946">
                <a:tc>
                  <a:txBody>
                    <a:bodyPr/>
                    <a:lstStyle/>
                    <a:p>
                      <a:pPr algn="ctr"/>
                      <a:r>
                        <a:rPr lang="en-CA" sz="1800" dirty="0"/>
                        <a:t>12345</a:t>
                      </a:r>
                    </a:p>
                  </a:txBody>
                  <a:tcPr marL="91431" marR="91431" marT="45733" marB="45733"/>
                </a:tc>
                <a:tc>
                  <a:txBody>
                    <a:bodyPr/>
                    <a:lstStyle/>
                    <a:p>
                      <a:pPr algn="ctr"/>
                      <a:r>
                        <a:rPr lang="en-CA" sz="1800" dirty="0"/>
                        <a:t>The Hunger</a:t>
                      </a:r>
                      <a:r>
                        <a:rPr lang="en-CA" sz="1800" baseline="0" dirty="0"/>
                        <a:t> Game</a:t>
                      </a:r>
                      <a:endParaRPr lang="en-CA" sz="1800" dirty="0"/>
                    </a:p>
                  </a:txBody>
                  <a:tcPr marL="91431" marR="91431" marT="45733" marB="45733"/>
                </a:tc>
                <a:tc>
                  <a:txBody>
                    <a:bodyPr/>
                    <a:lstStyle/>
                    <a:p>
                      <a:pPr algn="ctr"/>
                      <a:r>
                        <a:rPr lang="en-CA" sz="1800" dirty="0"/>
                        <a:t>2008-10-11 12:12:33</a:t>
                      </a:r>
                    </a:p>
                  </a:txBody>
                  <a:tcPr marL="91431" marR="91431" marT="45733" marB="45733"/>
                </a:tc>
                <a:extLst>
                  <a:ext uri="{0D108BD9-81ED-4DB2-BD59-A6C34878D82A}">
                    <a16:rowId xmlns:a16="http://schemas.microsoft.com/office/drawing/2014/main" val="10001"/>
                  </a:ext>
                </a:extLst>
              </a:tr>
              <a:tr h="370946">
                <a:tc>
                  <a:txBody>
                    <a:bodyPr/>
                    <a:lstStyle/>
                    <a:p>
                      <a:pPr algn="ctr"/>
                      <a:endParaRPr lang="en-CA" sz="1800" dirty="0"/>
                    </a:p>
                  </a:txBody>
                  <a:tcPr marL="91431" marR="91431" marT="45733" marB="45733"/>
                </a:tc>
                <a:tc>
                  <a:txBody>
                    <a:bodyPr/>
                    <a:lstStyle/>
                    <a:p>
                      <a:pPr algn="ctr"/>
                      <a:endParaRPr lang="en-CA" sz="1800" dirty="0"/>
                    </a:p>
                  </a:txBody>
                  <a:tcPr marL="91431" marR="91431" marT="45733" marB="45733"/>
                </a:tc>
                <a:tc>
                  <a:txBody>
                    <a:bodyPr/>
                    <a:lstStyle/>
                    <a:p>
                      <a:pPr algn="ctr"/>
                      <a:endParaRPr lang="en-CA" sz="1800" dirty="0"/>
                    </a:p>
                  </a:txBody>
                  <a:tcPr marL="91431" marR="91431" marT="45733" marB="45733"/>
                </a:tc>
                <a:extLst>
                  <a:ext uri="{0D108BD9-81ED-4DB2-BD59-A6C34878D82A}">
                    <a16:rowId xmlns:a16="http://schemas.microsoft.com/office/drawing/2014/main" val="10002"/>
                  </a:ext>
                </a:extLst>
              </a:tr>
            </a:tbl>
          </a:graphicData>
        </a:graphic>
      </p:graphicFrame>
      <p:sp>
        <p:nvSpPr>
          <p:cNvPr id="21" name="TextBox 20">
            <a:extLst>
              <a:ext uri="{FF2B5EF4-FFF2-40B4-BE49-F238E27FC236}">
                <a16:creationId xmlns:a16="http://schemas.microsoft.com/office/drawing/2014/main" id="{038B8189-C762-B4BB-F9C2-0CE477AE477A}"/>
              </a:ext>
            </a:extLst>
          </p:cNvPr>
          <p:cNvSpPr txBox="1">
            <a:spLocks noChangeArrowheads="1"/>
          </p:cNvSpPr>
          <p:nvPr/>
        </p:nvSpPr>
        <p:spPr bwMode="auto">
          <a:xfrm>
            <a:off x="3419475" y="3540125"/>
            <a:ext cx="20161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Book table</a:t>
            </a:r>
          </a:p>
        </p:txBody>
      </p:sp>
      <p:sp>
        <p:nvSpPr>
          <p:cNvPr id="22" name="Snip Single Corner Rectangle 21">
            <a:extLst>
              <a:ext uri="{FF2B5EF4-FFF2-40B4-BE49-F238E27FC236}">
                <a16:creationId xmlns:a16="http://schemas.microsoft.com/office/drawing/2014/main" id="{9071850B-C8A5-757E-4492-DE9BAF54BAED}"/>
              </a:ext>
            </a:extLst>
          </p:cNvPr>
          <p:cNvSpPr/>
          <p:nvPr/>
        </p:nvSpPr>
        <p:spPr bwMode="auto">
          <a:xfrm>
            <a:off x="76200" y="5300663"/>
            <a:ext cx="1092200" cy="431800"/>
          </a:xfrm>
          <a:prstGeom prst="snip1Rect">
            <a:avLst/>
          </a:prstGeom>
          <a:solidFill>
            <a:srgbClr val="FFFF00">
              <a:alpha val="30000"/>
            </a:srgbClr>
          </a:solidFill>
          <a:ln w="9525" cap="flat" cmpd="sng" algn="ctr">
            <a:solidFill>
              <a:srgbClr val="FFC000"/>
            </a:solidFill>
            <a:prstDash val="solid"/>
            <a:round/>
            <a:headEnd type="none" w="med" len="med"/>
            <a:tailEnd type="none" w="med" len="me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sz="2000" b="1"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Result:</a:t>
            </a:r>
          </a:p>
        </p:txBody>
      </p:sp>
      <p:sp>
        <p:nvSpPr>
          <p:cNvPr id="23" name="Snip Single Corner Rectangle 22">
            <a:extLst>
              <a:ext uri="{FF2B5EF4-FFF2-40B4-BE49-F238E27FC236}">
                <a16:creationId xmlns:a16="http://schemas.microsoft.com/office/drawing/2014/main" id="{A5FC6BFA-C792-03A8-AC80-144E9E5A67EB}"/>
              </a:ext>
            </a:extLst>
          </p:cNvPr>
          <p:cNvSpPr/>
          <p:nvPr/>
        </p:nvSpPr>
        <p:spPr bwMode="auto">
          <a:xfrm>
            <a:off x="100013" y="3978275"/>
            <a:ext cx="828675" cy="431800"/>
          </a:xfrm>
          <a:prstGeom prst="snip1Rect">
            <a:avLst/>
          </a:prstGeom>
          <a:solidFill>
            <a:srgbClr val="FFFF00">
              <a:alpha val="30000"/>
            </a:srgbClr>
          </a:solidFill>
          <a:ln w="9525" cap="flat" cmpd="sng" algn="ctr">
            <a:solidFill>
              <a:srgbClr val="FFC000"/>
            </a:solidFill>
            <a:prstDash val="solid"/>
            <a:round/>
            <a:headEnd type="none" w="med" len="med"/>
            <a:tailEnd type="none" w="med" len="med"/>
          </a:ln>
          <a:effec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2000" b="1"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Run:</a:t>
            </a:r>
          </a:p>
        </p:txBody>
      </p:sp>
      <p:grpSp>
        <p:nvGrpSpPr>
          <p:cNvPr id="3" name="Group 13">
            <a:extLst>
              <a:ext uri="{FF2B5EF4-FFF2-40B4-BE49-F238E27FC236}">
                <a16:creationId xmlns:a16="http://schemas.microsoft.com/office/drawing/2014/main" id="{E915FB5B-8869-7D5A-0974-BBF331837D48}"/>
              </a:ext>
            </a:extLst>
          </p:cNvPr>
          <p:cNvGrpSpPr>
            <a:grpSpLocks/>
          </p:cNvGrpSpPr>
          <p:nvPr/>
        </p:nvGrpSpPr>
        <p:grpSpPr bwMode="auto">
          <a:xfrm>
            <a:off x="6434138" y="4506913"/>
            <a:ext cx="1897062" cy="1585912"/>
            <a:chOff x="4884587" y="10124531"/>
            <a:chExt cx="2339751" cy="1586138"/>
          </a:xfrm>
        </p:grpSpPr>
        <p:sp>
          <p:nvSpPr>
            <p:cNvPr id="15" name="TextBox 14">
              <a:extLst>
                <a:ext uri="{FF2B5EF4-FFF2-40B4-BE49-F238E27FC236}">
                  <a16:creationId xmlns:a16="http://schemas.microsoft.com/office/drawing/2014/main" id="{C59556B8-F37A-4E19-2884-C5B766828059}"/>
                </a:ext>
              </a:extLst>
            </p:cNvPr>
            <p:cNvSpPr txBox="1"/>
            <p:nvPr/>
          </p:nvSpPr>
          <p:spPr>
            <a:xfrm>
              <a:off x="4884587" y="10124531"/>
              <a:ext cx="2339751" cy="868486"/>
            </a:xfrm>
            <a:prstGeom prst="roundRect">
              <a:avLst/>
            </a:prstGeom>
            <a:ln/>
          </p:spPr>
          <p:style>
            <a:lnRef idx="1">
              <a:schemeClr val="accent5"/>
            </a:lnRef>
            <a:fillRef idx="2">
              <a:schemeClr val="accent5"/>
            </a:fillRef>
            <a:effectRef idx="1">
              <a:schemeClr val="accent5"/>
            </a:effectRef>
            <a:fontRef idx="minor">
              <a:schemeClr val="dk1"/>
            </a:fontRef>
          </p:style>
          <p:txBody>
            <a:bodyP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sz="1500" b="1" i="0" u="none" strike="noStrike" kern="1200" cap="none" spc="0" normalizeH="0" baseline="0" noProof="0" dirty="0">
                  <a:ln>
                    <a:noFill/>
                  </a:ln>
                  <a:solidFill>
                    <a:srgbClr val="2F2B20"/>
                  </a:solidFill>
                  <a:effectLst/>
                  <a:uLnTx/>
                  <a:uFillTx/>
                  <a:latin typeface="Calibri"/>
                  <a:ea typeface="+mn-ea"/>
                  <a:cs typeface="+mn-cs"/>
                </a:rPr>
                <a:t>This is the date and time the INSERT statement executed</a:t>
              </a:r>
            </a:p>
          </p:txBody>
        </p:sp>
        <p:cxnSp>
          <p:nvCxnSpPr>
            <p:cNvPr id="24" name="Straight Arrow Connector 23">
              <a:extLst>
                <a:ext uri="{FF2B5EF4-FFF2-40B4-BE49-F238E27FC236}">
                  <a16:creationId xmlns:a16="http://schemas.microsoft.com/office/drawing/2014/main" id="{7FF2699F-BFD7-9595-642D-D975951CD569}"/>
                </a:ext>
              </a:extLst>
            </p:cNvPr>
            <p:cNvCxnSpPr>
              <a:stCxn id="15" idx="2"/>
            </p:cNvCxnSpPr>
            <p:nvPr/>
          </p:nvCxnSpPr>
          <p:spPr bwMode="auto">
            <a:xfrm flipH="1">
              <a:off x="5695179" y="10993017"/>
              <a:ext cx="360263" cy="717652"/>
            </a:xfrm>
            <a:prstGeom prst="straightConnector1">
              <a:avLst/>
            </a:prstGeom>
            <a:ln>
              <a:headEnd type="none" w="med" len="med"/>
              <a:tailEnd type="triangle"/>
            </a:ln>
          </p:spPr>
          <p:style>
            <a:lnRef idx="1">
              <a:schemeClr val="accent5"/>
            </a:lnRef>
            <a:fillRef idx="2">
              <a:schemeClr val="accent5"/>
            </a:fillRef>
            <a:effectRef idx="1">
              <a:schemeClr val="accent5"/>
            </a:effectRef>
            <a:fontRef idx="minor">
              <a:schemeClr val="dk1"/>
            </a:fontRef>
          </p:style>
        </p:cxnSp>
      </p:gr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7">
                                            <p:txEl>
                                              <p:pRg st="0" end="0"/>
                                            </p:txEl>
                                          </p:spTgt>
                                        </p:tgtEl>
                                        <p:attrNameLst>
                                          <p:attrName>style.visibility</p:attrName>
                                        </p:attrNameLst>
                                      </p:cBhvr>
                                      <p:to>
                                        <p:strVal val="visible"/>
                                      </p:to>
                                    </p:set>
                                    <p:animEffect transition="in" filter="wipe(left)">
                                      <p:cBhvr>
                                        <p:cTn id="11" dur="500"/>
                                        <p:tgtEl>
                                          <p:spTgt spid="17">
                                            <p:txEl>
                                              <p:pRg st="0" end="0"/>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6" presetClass="entr" presetSubtype="21" fill="hold" nodeType="click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barn(inVertical)">
                                      <p:cBhvr>
                                        <p:cTn id="16" dur="500"/>
                                        <p:tgtEl>
                                          <p:spTgt spid="20"/>
                                        </p:tgtEl>
                                      </p:cBhvr>
                                    </p:animEffect>
                                  </p:childTnLst>
                                </p:cTn>
                              </p:par>
                            </p:childTnLst>
                          </p:cTn>
                        </p:par>
                        <p:par>
                          <p:cTn id="17" fill="hold" nodeType="afterGroup">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21"/>
                                        </p:tgtEl>
                                        <p:attrNameLst>
                                          <p:attrName>style.visibility</p:attrName>
                                        </p:attrNameLst>
                                      </p:cBhvr>
                                      <p:to>
                                        <p:strVal val="visible"/>
                                      </p:to>
                                    </p:set>
                                    <p:animEffect transition="in" filter="wipe(left)">
                                      <p:cBhvr>
                                        <p:cTn id="20" dur="500"/>
                                        <p:tgtEl>
                                          <p:spTgt spid="21"/>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1" fill="hold" grpId="0" nodeType="clickEffect">
                                  <p:stCondLst>
                                    <p:cond delay="0"/>
                                  </p:stCondLst>
                                  <p:childTnLst>
                                    <p:set>
                                      <p:cBhvr>
                                        <p:cTn id="24" dur="1" fill="hold">
                                          <p:stCondLst>
                                            <p:cond delay="0"/>
                                          </p:stCondLst>
                                        </p:cTn>
                                        <p:tgtEl>
                                          <p:spTgt spid="23"/>
                                        </p:tgtEl>
                                        <p:attrNameLst>
                                          <p:attrName>style.visibility</p:attrName>
                                        </p:attrNameLst>
                                      </p:cBhvr>
                                      <p:to>
                                        <p:strVal val="visible"/>
                                      </p:to>
                                    </p:set>
                                    <p:animEffect transition="in" filter="wipe(up)">
                                      <p:cBhvr>
                                        <p:cTn id="25" dur="500"/>
                                        <p:tgtEl>
                                          <p:spTgt spid="23"/>
                                        </p:tgtEl>
                                      </p:cBhvr>
                                    </p:animEffect>
                                  </p:childTnLst>
                                </p:cTn>
                              </p:par>
                            </p:childTnLst>
                          </p:cTn>
                        </p:par>
                        <p:par>
                          <p:cTn id="26" fill="hold" nodeType="afterGroup">
                            <p:stCondLst>
                              <p:cond delay="500"/>
                            </p:stCondLst>
                            <p:childTnLst>
                              <p:par>
                                <p:cTn id="27" presetID="22" presetClass="entr" presetSubtype="8" fill="hold" nodeType="afterEffect">
                                  <p:stCondLst>
                                    <p:cond delay="0"/>
                                  </p:stCondLst>
                                  <p:childTnLst>
                                    <p:set>
                                      <p:cBhvr>
                                        <p:cTn id="28" dur="1" fill="hold">
                                          <p:stCondLst>
                                            <p:cond delay="0"/>
                                          </p:stCondLst>
                                        </p:cTn>
                                        <p:tgtEl>
                                          <p:spTgt spid="23">
                                            <p:txEl>
                                              <p:pRg st="0" end="0"/>
                                            </p:txEl>
                                          </p:spTgt>
                                        </p:tgtEl>
                                        <p:attrNameLst>
                                          <p:attrName>style.visibility</p:attrName>
                                        </p:attrNameLst>
                                      </p:cBhvr>
                                      <p:to>
                                        <p:strVal val="visible"/>
                                      </p:to>
                                    </p:set>
                                    <p:animEffect transition="in" filter="wipe(left)">
                                      <p:cBhvr>
                                        <p:cTn id="29" dur="500"/>
                                        <p:tgtEl>
                                          <p:spTgt spid="23">
                                            <p:txEl>
                                              <p:pRg st="0" end="0"/>
                                            </p:txEl>
                                          </p:spTgt>
                                        </p:tgtEl>
                                      </p:cBhvr>
                                    </p:animEffect>
                                  </p:childTnLst>
                                </p:cTn>
                              </p:par>
                            </p:childTnLst>
                          </p:cTn>
                        </p:par>
                        <p:par>
                          <p:cTn id="30" fill="hold" nodeType="afterGroup">
                            <p:stCondLst>
                              <p:cond delay="1000"/>
                            </p:stCondLst>
                            <p:childTnLst>
                              <p:par>
                                <p:cTn id="31" presetID="16" presetClass="entr" presetSubtype="21" fill="hold" grpId="0" nodeType="after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barn(inVertical)">
                                      <p:cBhvr>
                                        <p:cTn id="33" dur="500"/>
                                        <p:tgtEl>
                                          <p:spTgt spid="18"/>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1" fill="hold" grpId="0" nodeType="clickEffect">
                                  <p:stCondLst>
                                    <p:cond delay="0"/>
                                  </p:stCondLst>
                                  <p:childTnLst>
                                    <p:set>
                                      <p:cBhvr>
                                        <p:cTn id="37" dur="1" fill="hold">
                                          <p:stCondLst>
                                            <p:cond delay="0"/>
                                          </p:stCondLst>
                                        </p:cTn>
                                        <p:tgtEl>
                                          <p:spTgt spid="22"/>
                                        </p:tgtEl>
                                        <p:attrNameLst>
                                          <p:attrName>style.visibility</p:attrName>
                                        </p:attrNameLst>
                                      </p:cBhvr>
                                      <p:to>
                                        <p:strVal val="visible"/>
                                      </p:to>
                                    </p:set>
                                    <p:animEffect transition="in" filter="wipe(up)">
                                      <p:cBhvr>
                                        <p:cTn id="38" dur="500"/>
                                        <p:tgtEl>
                                          <p:spTgt spid="22"/>
                                        </p:tgtEl>
                                      </p:cBhvr>
                                    </p:animEffect>
                                  </p:childTnLst>
                                </p:cTn>
                              </p:par>
                            </p:childTnLst>
                          </p:cTn>
                        </p:par>
                        <p:par>
                          <p:cTn id="39" fill="hold" nodeType="afterGroup">
                            <p:stCondLst>
                              <p:cond delay="500"/>
                            </p:stCondLst>
                            <p:childTnLst>
                              <p:par>
                                <p:cTn id="40" presetID="22" presetClass="entr" presetSubtype="8" fill="hold" nodeType="afterEffect">
                                  <p:stCondLst>
                                    <p:cond delay="0"/>
                                  </p:stCondLst>
                                  <p:childTnLst>
                                    <p:set>
                                      <p:cBhvr>
                                        <p:cTn id="41" dur="1" fill="hold">
                                          <p:stCondLst>
                                            <p:cond delay="0"/>
                                          </p:stCondLst>
                                        </p:cTn>
                                        <p:tgtEl>
                                          <p:spTgt spid="22">
                                            <p:txEl>
                                              <p:pRg st="0" end="0"/>
                                            </p:txEl>
                                          </p:spTgt>
                                        </p:tgtEl>
                                        <p:attrNameLst>
                                          <p:attrName>style.visibility</p:attrName>
                                        </p:attrNameLst>
                                      </p:cBhvr>
                                      <p:to>
                                        <p:strVal val="visible"/>
                                      </p:to>
                                    </p:set>
                                    <p:animEffect transition="in" filter="wipe(left)">
                                      <p:cBhvr>
                                        <p:cTn id="42" dur="500"/>
                                        <p:tgtEl>
                                          <p:spTgt spid="22">
                                            <p:txEl>
                                              <p:pRg st="0" end="0"/>
                                            </p:txEl>
                                          </p:spTgt>
                                        </p:tgtEl>
                                      </p:cBhvr>
                                    </p:animEffect>
                                  </p:childTnLst>
                                </p:cTn>
                              </p:par>
                            </p:childTnLst>
                          </p:cTn>
                        </p:par>
                        <p:par>
                          <p:cTn id="43" fill="hold" nodeType="afterGroup">
                            <p:stCondLst>
                              <p:cond delay="1000"/>
                            </p:stCondLst>
                            <p:childTnLst>
                              <p:par>
                                <p:cTn id="44" presetID="22" presetClass="entr" presetSubtype="8" fill="hold" nodeType="after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wipe(left)">
                                      <p:cBhvr>
                                        <p:cTn id="46" dur="500"/>
                                        <p:tgtEl>
                                          <p:spTgt spid="19"/>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 presetClass="entr" presetSubtype="2" fill="hold" nodeType="clickEffect">
                                  <p:stCondLst>
                                    <p:cond delay="0"/>
                                  </p:stCondLst>
                                  <p:childTnLst>
                                    <p:set>
                                      <p:cBhvr>
                                        <p:cTn id="50" dur="1" fill="hold">
                                          <p:stCondLst>
                                            <p:cond delay="0"/>
                                          </p:stCondLst>
                                        </p:cTn>
                                        <p:tgtEl>
                                          <p:spTgt spid="3"/>
                                        </p:tgtEl>
                                        <p:attrNameLst>
                                          <p:attrName>style.visibility</p:attrName>
                                        </p:attrNameLst>
                                      </p:cBhvr>
                                      <p:to>
                                        <p:strVal val="visible"/>
                                      </p:to>
                                    </p:set>
                                    <p:anim calcmode="lin" valueType="num">
                                      <p:cBhvr additive="base">
                                        <p:cTn id="51" dur="500" fill="hold"/>
                                        <p:tgtEl>
                                          <p:spTgt spid="3"/>
                                        </p:tgtEl>
                                        <p:attrNameLst>
                                          <p:attrName>ppt_x</p:attrName>
                                        </p:attrNameLst>
                                      </p:cBhvr>
                                      <p:tavLst>
                                        <p:tav tm="0">
                                          <p:val>
                                            <p:strVal val="1+#ppt_w/2"/>
                                          </p:val>
                                        </p:tav>
                                        <p:tav tm="100000">
                                          <p:val>
                                            <p:strVal val="#ppt_x"/>
                                          </p:val>
                                        </p:tav>
                                      </p:tavLst>
                                    </p:anim>
                                    <p:anim calcmode="lin" valueType="num">
                                      <p:cBhvr additive="base">
                                        <p:cTn id="52"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build="p"/>
      <p:bldP spid="18" grpId="0" animBg="1"/>
      <p:bldP spid="21" grpId="0"/>
      <p:bldP spid="22" grpId="0" animBg="1"/>
      <p:bldP spid="23" grpId="0" animBg="1"/>
    </p:bldLst>
  </p:timing>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813887-C02C-B796-3225-D28B0D5B7898}"/>
              </a:ext>
            </a:extLst>
          </p:cNvPr>
          <p:cNvSpPr>
            <a:spLocks noGrp="1"/>
          </p:cNvSpPr>
          <p:nvPr>
            <p:ph type="title"/>
          </p:nvPr>
        </p:nvSpPr>
        <p:spPr>
          <a:xfrm>
            <a:off x="457200" y="0"/>
            <a:ext cx="7620000" cy="1143000"/>
          </a:xfrm>
        </p:spPr>
        <p:txBody>
          <a:bodyPr/>
          <a:lstStyle/>
          <a:p>
            <a:pPr algn="ctr">
              <a:defRPr/>
            </a:pPr>
            <a:r>
              <a:rPr lang="en-US" dirty="0"/>
              <a:t>Date Functions</a:t>
            </a:r>
            <a:endParaRPr lang="en-MY" dirty="0"/>
          </a:p>
        </p:txBody>
      </p:sp>
      <p:sp>
        <p:nvSpPr>
          <p:cNvPr id="16" name="Snip Single Corner Rectangle 15">
            <a:extLst>
              <a:ext uri="{FF2B5EF4-FFF2-40B4-BE49-F238E27FC236}">
                <a16:creationId xmlns:a16="http://schemas.microsoft.com/office/drawing/2014/main" id="{C6D960DD-E60B-B1E3-48D0-D29CDFDF5515}"/>
              </a:ext>
            </a:extLst>
          </p:cNvPr>
          <p:cNvSpPr/>
          <p:nvPr/>
        </p:nvSpPr>
        <p:spPr>
          <a:xfrm>
            <a:off x="-36513" y="1125538"/>
            <a:ext cx="1512888" cy="400050"/>
          </a:xfrm>
          <a:prstGeom prst="snip1Rect">
            <a:avLst/>
          </a:prstGeom>
          <a:solidFill>
            <a:schemeClr val="accent3"/>
          </a:solidFill>
          <a:ln>
            <a:solidFill>
              <a:schemeClr val="accent3"/>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marR="0" lvl="0" indent="-342900" algn="just" defTabSz="914400" rtl="0" eaLnBrk="1" fontAlgn="base" latinLnBrk="0" hangingPunct="1">
              <a:lnSpc>
                <a:spcPct val="100000"/>
              </a:lnSpc>
              <a:spcBef>
                <a:spcPct val="20000"/>
              </a:spcBef>
              <a:spcAft>
                <a:spcPct val="0"/>
              </a:spcAft>
              <a:buClr>
                <a:srgbClr val="FF6600"/>
              </a:buClr>
              <a:buSzPct val="100000"/>
              <a:buFontTx/>
              <a:buNone/>
              <a:tabLst/>
              <a:defRPr/>
            </a:pPr>
            <a:r>
              <a:rPr kumimoji="0" lang="en-GB" sz="1800" b="0" i="0" u="none" strike="noStrike" kern="0" cap="none" spc="0" normalizeH="0" baseline="0" noProof="0" dirty="0">
                <a:ln>
                  <a:noFill/>
                </a:ln>
                <a:solidFill>
                  <a:srgbClr val="FFFFFF"/>
                </a:solidFill>
                <a:effectLst/>
                <a:uLnTx/>
                <a:uFillTx/>
                <a:latin typeface="Calibri"/>
                <a:ea typeface="+mn-ea"/>
                <a:cs typeface="+mn-cs"/>
              </a:rPr>
              <a:t>EXTRACT()</a:t>
            </a:r>
          </a:p>
        </p:txBody>
      </p:sp>
      <p:sp>
        <p:nvSpPr>
          <p:cNvPr id="17" name="Content Placeholder 2">
            <a:extLst>
              <a:ext uri="{FF2B5EF4-FFF2-40B4-BE49-F238E27FC236}">
                <a16:creationId xmlns:a16="http://schemas.microsoft.com/office/drawing/2014/main" id="{1941E8A5-81EE-4E45-EB90-F4FEFC4AA0E6}"/>
              </a:ext>
            </a:extLst>
          </p:cNvPr>
          <p:cNvSpPr txBox="1">
            <a:spLocks/>
          </p:cNvSpPr>
          <p:nvPr/>
        </p:nvSpPr>
        <p:spPr bwMode="auto">
          <a:xfrm>
            <a:off x="250825" y="1773238"/>
            <a:ext cx="8655050"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EXTRACT() – Extract a part of date and time</a:t>
            </a: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sp>
        <p:nvSpPr>
          <p:cNvPr id="18" name="Rounded Rectangle 17">
            <a:extLst>
              <a:ext uri="{FF2B5EF4-FFF2-40B4-BE49-F238E27FC236}">
                <a16:creationId xmlns:a16="http://schemas.microsoft.com/office/drawing/2014/main" id="{485BC6F2-B74C-F646-6C78-60A5E5F7F913}"/>
              </a:ext>
            </a:extLst>
          </p:cNvPr>
          <p:cNvSpPr/>
          <p:nvPr/>
        </p:nvSpPr>
        <p:spPr bwMode="auto">
          <a:xfrm>
            <a:off x="1219200" y="3968750"/>
            <a:ext cx="6818313" cy="1116013"/>
          </a:xfrm>
          <a:prstGeom prst="roundRect">
            <a:avLst/>
          </a:prstGeom>
          <a:solidFill>
            <a:schemeClr val="accent6">
              <a:alpha val="30000"/>
            </a:schemeClr>
          </a:solidFill>
          <a:ln w="9525" cap="flat" cmpd="sng" algn="ctr">
            <a:solidFill>
              <a:schemeClr val="accent6"/>
            </a:solidFill>
            <a:prstDash val="solid"/>
            <a:round/>
            <a:headEnd type="none" w="med" len="med"/>
            <a:tailEnd type="none" w="med" len="med"/>
          </a:ln>
          <a:effectLst/>
        </p:spPr>
        <p:txBody>
          <a:bodyPr anchor="ctr" anchorCtr="1"/>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2800" b="0"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SELECT ISBN, Title, EXTRACT(YEAR FROM Published) AS Year FROM Book;</a:t>
            </a:r>
          </a:p>
        </p:txBody>
      </p:sp>
      <p:graphicFrame>
        <p:nvGraphicFramePr>
          <p:cNvPr id="19" name="Table 18">
            <a:extLst>
              <a:ext uri="{FF2B5EF4-FFF2-40B4-BE49-F238E27FC236}">
                <a16:creationId xmlns:a16="http://schemas.microsoft.com/office/drawing/2014/main" id="{D0D04FE7-D804-9EE7-D472-091C65ABAE0B}"/>
              </a:ext>
            </a:extLst>
          </p:cNvPr>
          <p:cNvGraphicFramePr>
            <a:graphicFrameLocks noGrp="1"/>
          </p:cNvGraphicFramePr>
          <p:nvPr/>
        </p:nvGraphicFramePr>
        <p:xfrm>
          <a:off x="1631950" y="5264150"/>
          <a:ext cx="5245100" cy="1106488"/>
        </p:xfrm>
        <a:graphic>
          <a:graphicData uri="http://schemas.openxmlformats.org/drawingml/2006/table">
            <a:tbl>
              <a:tblPr firstRow="1" bandRow="1">
                <a:tableStyleId>{C083E6E3-FA7D-4D7B-A595-EF9225AFEA82}</a:tableStyleId>
              </a:tblPr>
              <a:tblGrid>
                <a:gridCol w="1330847">
                  <a:extLst>
                    <a:ext uri="{9D8B030D-6E8A-4147-A177-3AD203B41FA5}">
                      <a16:colId xmlns:a16="http://schemas.microsoft.com/office/drawing/2014/main" val="20000"/>
                    </a:ext>
                  </a:extLst>
                </a:gridCol>
                <a:gridCol w="2617972">
                  <a:extLst>
                    <a:ext uri="{9D8B030D-6E8A-4147-A177-3AD203B41FA5}">
                      <a16:colId xmlns:a16="http://schemas.microsoft.com/office/drawing/2014/main" val="20001"/>
                    </a:ext>
                  </a:extLst>
                </a:gridCol>
                <a:gridCol w="1296282">
                  <a:extLst>
                    <a:ext uri="{9D8B030D-6E8A-4147-A177-3AD203B41FA5}">
                      <a16:colId xmlns:a16="http://schemas.microsoft.com/office/drawing/2014/main" val="20002"/>
                    </a:ext>
                  </a:extLst>
                </a:gridCol>
              </a:tblGrid>
              <a:tr h="365655">
                <a:tc>
                  <a:txBody>
                    <a:bodyPr/>
                    <a:lstStyle/>
                    <a:p>
                      <a:pPr algn="ctr"/>
                      <a:r>
                        <a:rPr lang="en-CA" sz="1800" dirty="0"/>
                        <a:t>ISBN</a:t>
                      </a:r>
                    </a:p>
                  </a:txBody>
                  <a:tcPr marL="91450" marR="91450" marT="45668" marB="45668"/>
                </a:tc>
                <a:tc>
                  <a:txBody>
                    <a:bodyPr/>
                    <a:lstStyle/>
                    <a:p>
                      <a:pPr algn="ctr"/>
                      <a:r>
                        <a:rPr lang="en-CA" sz="1800" dirty="0"/>
                        <a:t>Title</a:t>
                      </a:r>
                    </a:p>
                  </a:txBody>
                  <a:tcPr marL="91450" marR="91450" marT="45668" marB="45668"/>
                </a:tc>
                <a:tc>
                  <a:txBody>
                    <a:bodyPr/>
                    <a:lstStyle/>
                    <a:p>
                      <a:pPr algn="ctr"/>
                      <a:r>
                        <a:rPr lang="en-CA" sz="1800" dirty="0"/>
                        <a:t>Year</a:t>
                      </a:r>
                    </a:p>
                  </a:txBody>
                  <a:tcPr marL="91450" marR="91450" marT="45668" marB="45668"/>
                </a:tc>
                <a:extLst>
                  <a:ext uri="{0D108BD9-81ED-4DB2-BD59-A6C34878D82A}">
                    <a16:rowId xmlns:a16="http://schemas.microsoft.com/office/drawing/2014/main" val="10000"/>
                  </a:ext>
                </a:extLst>
              </a:tr>
              <a:tr h="370416">
                <a:tc>
                  <a:txBody>
                    <a:bodyPr/>
                    <a:lstStyle/>
                    <a:p>
                      <a:pPr algn="ctr"/>
                      <a:r>
                        <a:rPr lang="en-CA" sz="1800" dirty="0"/>
                        <a:t>12345</a:t>
                      </a:r>
                    </a:p>
                  </a:txBody>
                  <a:tcPr marL="91450" marR="91450" marT="45668" marB="45668"/>
                </a:tc>
                <a:tc>
                  <a:txBody>
                    <a:bodyPr/>
                    <a:lstStyle/>
                    <a:p>
                      <a:pPr algn="ctr"/>
                      <a:r>
                        <a:rPr lang="en-CA" sz="1800" dirty="0"/>
                        <a:t>The Hunger Game</a:t>
                      </a:r>
                    </a:p>
                  </a:txBody>
                  <a:tcPr marL="91450" marR="91450" marT="45668" marB="45668"/>
                </a:tc>
                <a:tc>
                  <a:txBody>
                    <a:bodyPr/>
                    <a:lstStyle/>
                    <a:p>
                      <a:pPr algn="ctr"/>
                      <a:r>
                        <a:rPr lang="en-CA" sz="1800" dirty="0"/>
                        <a:t>2008</a:t>
                      </a:r>
                    </a:p>
                  </a:txBody>
                  <a:tcPr marL="91450" marR="91450" marT="45668" marB="45668"/>
                </a:tc>
                <a:extLst>
                  <a:ext uri="{0D108BD9-81ED-4DB2-BD59-A6C34878D82A}">
                    <a16:rowId xmlns:a16="http://schemas.microsoft.com/office/drawing/2014/main" val="10001"/>
                  </a:ext>
                </a:extLst>
              </a:tr>
              <a:tr h="370416">
                <a:tc>
                  <a:txBody>
                    <a:bodyPr/>
                    <a:lstStyle/>
                    <a:p>
                      <a:pPr algn="ctr"/>
                      <a:r>
                        <a:rPr lang="en-CA" sz="1800" dirty="0"/>
                        <a:t>54321</a:t>
                      </a:r>
                    </a:p>
                  </a:txBody>
                  <a:tcPr marL="91450" marR="91450" marT="45668" marB="45668"/>
                </a:tc>
                <a:tc>
                  <a:txBody>
                    <a:bodyPr/>
                    <a:lstStyle/>
                    <a:p>
                      <a:pPr algn="ctr"/>
                      <a:r>
                        <a:rPr lang="en-CA" sz="1800" dirty="0"/>
                        <a:t>A</a:t>
                      </a:r>
                      <a:r>
                        <a:rPr lang="en-CA" sz="1800" baseline="0" dirty="0"/>
                        <a:t> Song of Ice and Fire</a:t>
                      </a:r>
                      <a:endParaRPr lang="en-CA" sz="1800" dirty="0"/>
                    </a:p>
                  </a:txBody>
                  <a:tcPr marL="91450" marR="91450" marT="45668" marB="45668"/>
                </a:tc>
                <a:tc>
                  <a:txBody>
                    <a:bodyPr/>
                    <a:lstStyle/>
                    <a:p>
                      <a:pPr algn="ctr"/>
                      <a:r>
                        <a:rPr lang="en-CA" sz="1800" dirty="0"/>
                        <a:t>2012</a:t>
                      </a:r>
                    </a:p>
                  </a:txBody>
                  <a:tcPr marL="91450" marR="91450" marT="45668" marB="45668"/>
                </a:tc>
                <a:extLst>
                  <a:ext uri="{0D108BD9-81ED-4DB2-BD59-A6C34878D82A}">
                    <a16:rowId xmlns:a16="http://schemas.microsoft.com/office/drawing/2014/main" val="10002"/>
                  </a:ext>
                </a:extLst>
              </a:tr>
            </a:tbl>
          </a:graphicData>
        </a:graphic>
      </p:graphicFrame>
      <p:graphicFrame>
        <p:nvGraphicFramePr>
          <p:cNvPr id="20" name="Table 19">
            <a:extLst>
              <a:ext uri="{FF2B5EF4-FFF2-40B4-BE49-F238E27FC236}">
                <a16:creationId xmlns:a16="http://schemas.microsoft.com/office/drawing/2014/main" id="{B2F8DC9A-5D55-13A0-4CC4-F3E22EAF72AE}"/>
              </a:ext>
            </a:extLst>
          </p:cNvPr>
          <p:cNvGraphicFramePr>
            <a:graphicFrameLocks noGrp="1"/>
          </p:cNvGraphicFramePr>
          <p:nvPr/>
        </p:nvGraphicFramePr>
        <p:xfrm>
          <a:off x="1106488" y="2411413"/>
          <a:ext cx="6931025" cy="1112837"/>
        </p:xfrm>
        <a:graphic>
          <a:graphicData uri="http://schemas.openxmlformats.org/drawingml/2006/table">
            <a:tbl>
              <a:tblPr firstRow="1" bandRow="1">
                <a:tableStyleId>{D27102A9-8310-4765-A935-A1911B00CA55}</a:tableStyleId>
              </a:tblPr>
              <a:tblGrid>
                <a:gridCol w="1664337">
                  <a:extLst>
                    <a:ext uri="{9D8B030D-6E8A-4147-A177-3AD203B41FA5}">
                      <a16:colId xmlns:a16="http://schemas.microsoft.com/office/drawing/2014/main" val="20000"/>
                    </a:ext>
                  </a:extLst>
                </a:gridCol>
                <a:gridCol w="2674050">
                  <a:extLst>
                    <a:ext uri="{9D8B030D-6E8A-4147-A177-3AD203B41FA5}">
                      <a16:colId xmlns:a16="http://schemas.microsoft.com/office/drawing/2014/main" val="20001"/>
                    </a:ext>
                  </a:extLst>
                </a:gridCol>
                <a:gridCol w="2592638">
                  <a:extLst>
                    <a:ext uri="{9D8B030D-6E8A-4147-A177-3AD203B41FA5}">
                      <a16:colId xmlns:a16="http://schemas.microsoft.com/office/drawing/2014/main" val="20002"/>
                    </a:ext>
                  </a:extLst>
                </a:gridCol>
              </a:tblGrid>
              <a:tr h="370946">
                <a:tc>
                  <a:txBody>
                    <a:bodyPr/>
                    <a:lstStyle/>
                    <a:p>
                      <a:pPr algn="ctr"/>
                      <a:r>
                        <a:rPr lang="en-CA" sz="1800" dirty="0"/>
                        <a:t>ISBN</a:t>
                      </a:r>
                    </a:p>
                  </a:txBody>
                  <a:tcPr marL="91452" marR="91452" marT="45733" marB="45733"/>
                </a:tc>
                <a:tc>
                  <a:txBody>
                    <a:bodyPr/>
                    <a:lstStyle/>
                    <a:p>
                      <a:pPr algn="ctr"/>
                      <a:r>
                        <a:rPr lang="en-CA" sz="1800" dirty="0"/>
                        <a:t>Title</a:t>
                      </a:r>
                    </a:p>
                  </a:txBody>
                  <a:tcPr marL="91452" marR="91452" marT="45733" marB="45733"/>
                </a:tc>
                <a:tc>
                  <a:txBody>
                    <a:bodyPr/>
                    <a:lstStyle/>
                    <a:p>
                      <a:pPr algn="ctr"/>
                      <a:r>
                        <a:rPr lang="en-CA" sz="1800" dirty="0"/>
                        <a:t>Published</a:t>
                      </a:r>
                    </a:p>
                  </a:txBody>
                  <a:tcPr marL="91452" marR="91452" marT="45733" marB="45733"/>
                </a:tc>
                <a:extLst>
                  <a:ext uri="{0D108BD9-81ED-4DB2-BD59-A6C34878D82A}">
                    <a16:rowId xmlns:a16="http://schemas.microsoft.com/office/drawing/2014/main" val="10000"/>
                  </a:ext>
                </a:extLst>
              </a:tr>
              <a:tr h="370946">
                <a:tc>
                  <a:txBody>
                    <a:bodyPr/>
                    <a:lstStyle/>
                    <a:p>
                      <a:pPr algn="ctr"/>
                      <a:r>
                        <a:rPr lang="en-CA" sz="1800" dirty="0"/>
                        <a:t>12345</a:t>
                      </a:r>
                    </a:p>
                  </a:txBody>
                  <a:tcPr marL="91452" marR="91452" marT="45733" marB="45733"/>
                </a:tc>
                <a:tc>
                  <a:txBody>
                    <a:bodyPr/>
                    <a:lstStyle/>
                    <a:p>
                      <a:pPr algn="ctr"/>
                      <a:r>
                        <a:rPr lang="en-CA" sz="1800" dirty="0"/>
                        <a:t>The Hunger</a:t>
                      </a:r>
                      <a:r>
                        <a:rPr lang="en-CA" sz="1800" baseline="0" dirty="0"/>
                        <a:t> Game</a:t>
                      </a:r>
                      <a:endParaRPr lang="en-CA" sz="1800" dirty="0"/>
                    </a:p>
                  </a:txBody>
                  <a:tcPr marL="91452" marR="91452" marT="45733" marB="45733"/>
                </a:tc>
                <a:tc>
                  <a:txBody>
                    <a:bodyPr/>
                    <a:lstStyle/>
                    <a:p>
                      <a:pPr algn="ctr"/>
                      <a:r>
                        <a:rPr lang="en-CA" sz="1800" dirty="0"/>
                        <a:t>2008-10-11</a:t>
                      </a:r>
                    </a:p>
                  </a:txBody>
                  <a:tcPr marL="91452" marR="91452" marT="45733" marB="45733"/>
                </a:tc>
                <a:extLst>
                  <a:ext uri="{0D108BD9-81ED-4DB2-BD59-A6C34878D82A}">
                    <a16:rowId xmlns:a16="http://schemas.microsoft.com/office/drawing/2014/main" val="10001"/>
                  </a:ext>
                </a:extLst>
              </a:tr>
              <a:tr h="370946">
                <a:tc>
                  <a:txBody>
                    <a:bodyPr/>
                    <a:lstStyle/>
                    <a:p>
                      <a:pPr algn="ctr"/>
                      <a:r>
                        <a:rPr lang="en-CA" sz="1800" dirty="0"/>
                        <a:t>54321</a:t>
                      </a:r>
                    </a:p>
                  </a:txBody>
                  <a:tcPr marL="91452" marR="91452" marT="45733" marB="45733"/>
                </a:tc>
                <a:tc>
                  <a:txBody>
                    <a:bodyPr/>
                    <a:lstStyle/>
                    <a:p>
                      <a:pPr algn="ctr"/>
                      <a:r>
                        <a:rPr lang="en-CA" sz="1800" dirty="0"/>
                        <a:t>A</a:t>
                      </a:r>
                      <a:r>
                        <a:rPr lang="en-CA" sz="1800" baseline="0" dirty="0"/>
                        <a:t> Song of Ice and Fire</a:t>
                      </a:r>
                      <a:endParaRPr lang="en-CA" sz="1800" dirty="0"/>
                    </a:p>
                  </a:txBody>
                  <a:tcPr marL="91452" marR="91452" marT="45733" marB="45733"/>
                </a:tc>
                <a:tc>
                  <a:txBody>
                    <a:bodyPr/>
                    <a:lstStyle/>
                    <a:p>
                      <a:pPr algn="ctr"/>
                      <a:r>
                        <a:rPr lang="en-CA" sz="1800" dirty="0"/>
                        <a:t>2012-11-28</a:t>
                      </a:r>
                    </a:p>
                  </a:txBody>
                  <a:tcPr marL="91452" marR="91452" marT="45733" marB="45733"/>
                </a:tc>
                <a:extLst>
                  <a:ext uri="{0D108BD9-81ED-4DB2-BD59-A6C34878D82A}">
                    <a16:rowId xmlns:a16="http://schemas.microsoft.com/office/drawing/2014/main" val="10002"/>
                  </a:ext>
                </a:extLst>
              </a:tr>
            </a:tbl>
          </a:graphicData>
        </a:graphic>
      </p:graphicFrame>
      <p:sp>
        <p:nvSpPr>
          <p:cNvPr id="21" name="TextBox 20">
            <a:extLst>
              <a:ext uri="{FF2B5EF4-FFF2-40B4-BE49-F238E27FC236}">
                <a16:creationId xmlns:a16="http://schemas.microsoft.com/office/drawing/2014/main" id="{B6E129C7-0A01-D8C7-DAA4-B688EBBE9210}"/>
              </a:ext>
            </a:extLst>
          </p:cNvPr>
          <p:cNvSpPr txBox="1">
            <a:spLocks noChangeArrowheads="1"/>
          </p:cNvSpPr>
          <p:nvPr/>
        </p:nvSpPr>
        <p:spPr bwMode="auto">
          <a:xfrm>
            <a:off x="3570288" y="3540125"/>
            <a:ext cx="20161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Book table</a:t>
            </a:r>
          </a:p>
        </p:txBody>
      </p:sp>
      <p:sp>
        <p:nvSpPr>
          <p:cNvPr id="22" name="Snip Single Corner Rectangle 21">
            <a:extLst>
              <a:ext uri="{FF2B5EF4-FFF2-40B4-BE49-F238E27FC236}">
                <a16:creationId xmlns:a16="http://schemas.microsoft.com/office/drawing/2014/main" id="{7D731D3C-09A4-58ED-71A7-16415D540DAB}"/>
              </a:ext>
            </a:extLst>
          </p:cNvPr>
          <p:cNvSpPr/>
          <p:nvPr/>
        </p:nvSpPr>
        <p:spPr bwMode="auto">
          <a:xfrm>
            <a:off x="227013" y="5300663"/>
            <a:ext cx="1092200" cy="431800"/>
          </a:xfrm>
          <a:prstGeom prst="snip1Rect">
            <a:avLst/>
          </a:prstGeom>
          <a:solidFill>
            <a:srgbClr val="FFFF00">
              <a:alpha val="30000"/>
            </a:srgbClr>
          </a:solidFill>
          <a:ln w="9525" cap="flat" cmpd="sng" algn="ctr">
            <a:solidFill>
              <a:srgbClr val="FFC000"/>
            </a:solidFill>
            <a:prstDash val="solid"/>
            <a:round/>
            <a:headEnd type="none" w="med" len="med"/>
            <a:tailEnd type="none" w="med" len="me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sz="2000" b="1"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Result:</a:t>
            </a:r>
          </a:p>
        </p:txBody>
      </p:sp>
      <p:sp>
        <p:nvSpPr>
          <p:cNvPr id="23" name="Snip Single Corner Rectangle 22">
            <a:extLst>
              <a:ext uri="{FF2B5EF4-FFF2-40B4-BE49-F238E27FC236}">
                <a16:creationId xmlns:a16="http://schemas.microsoft.com/office/drawing/2014/main" id="{63291105-7566-E4B4-E701-98BE125881EE}"/>
              </a:ext>
            </a:extLst>
          </p:cNvPr>
          <p:cNvSpPr/>
          <p:nvPr/>
        </p:nvSpPr>
        <p:spPr bwMode="auto">
          <a:xfrm>
            <a:off x="250825" y="3978275"/>
            <a:ext cx="830263" cy="431800"/>
          </a:xfrm>
          <a:prstGeom prst="snip1Rect">
            <a:avLst/>
          </a:prstGeom>
          <a:solidFill>
            <a:srgbClr val="FFFF00">
              <a:alpha val="30000"/>
            </a:srgbClr>
          </a:solidFill>
          <a:ln w="9525" cap="flat" cmpd="sng" algn="ctr">
            <a:solidFill>
              <a:srgbClr val="FFC000"/>
            </a:solidFill>
            <a:prstDash val="solid"/>
            <a:round/>
            <a:headEnd type="none" w="med" len="med"/>
            <a:tailEnd type="none" w="med" len="med"/>
          </a:ln>
          <a:effec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2000" b="1"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Run:</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7">
                                            <p:txEl>
                                              <p:pRg st="0" end="0"/>
                                            </p:txEl>
                                          </p:spTgt>
                                        </p:tgtEl>
                                        <p:attrNameLst>
                                          <p:attrName>style.visibility</p:attrName>
                                        </p:attrNameLst>
                                      </p:cBhvr>
                                      <p:to>
                                        <p:strVal val="visible"/>
                                      </p:to>
                                    </p:set>
                                    <p:animEffect transition="in" filter="wipe(left)">
                                      <p:cBhvr>
                                        <p:cTn id="11" dur="500"/>
                                        <p:tgtEl>
                                          <p:spTgt spid="17">
                                            <p:txEl>
                                              <p:pRg st="0" end="0"/>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6" presetClass="entr" presetSubtype="21" fill="hold" nodeType="click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barn(inVertical)">
                                      <p:cBhvr>
                                        <p:cTn id="16" dur="500"/>
                                        <p:tgtEl>
                                          <p:spTgt spid="20"/>
                                        </p:tgtEl>
                                      </p:cBhvr>
                                    </p:animEffect>
                                  </p:childTnLst>
                                </p:cTn>
                              </p:par>
                            </p:childTnLst>
                          </p:cTn>
                        </p:par>
                        <p:par>
                          <p:cTn id="17" fill="hold" nodeType="afterGroup">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21"/>
                                        </p:tgtEl>
                                        <p:attrNameLst>
                                          <p:attrName>style.visibility</p:attrName>
                                        </p:attrNameLst>
                                      </p:cBhvr>
                                      <p:to>
                                        <p:strVal val="visible"/>
                                      </p:to>
                                    </p:set>
                                    <p:animEffect transition="in" filter="wipe(left)">
                                      <p:cBhvr>
                                        <p:cTn id="20" dur="500"/>
                                        <p:tgtEl>
                                          <p:spTgt spid="21"/>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1" fill="hold" grpId="0" nodeType="clickEffect">
                                  <p:stCondLst>
                                    <p:cond delay="0"/>
                                  </p:stCondLst>
                                  <p:childTnLst>
                                    <p:set>
                                      <p:cBhvr>
                                        <p:cTn id="24" dur="1" fill="hold">
                                          <p:stCondLst>
                                            <p:cond delay="0"/>
                                          </p:stCondLst>
                                        </p:cTn>
                                        <p:tgtEl>
                                          <p:spTgt spid="23"/>
                                        </p:tgtEl>
                                        <p:attrNameLst>
                                          <p:attrName>style.visibility</p:attrName>
                                        </p:attrNameLst>
                                      </p:cBhvr>
                                      <p:to>
                                        <p:strVal val="visible"/>
                                      </p:to>
                                    </p:set>
                                    <p:animEffect transition="in" filter="wipe(up)">
                                      <p:cBhvr>
                                        <p:cTn id="25" dur="500"/>
                                        <p:tgtEl>
                                          <p:spTgt spid="23"/>
                                        </p:tgtEl>
                                      </p:cBhvr>
                                    </p:animEffect>
                                  </p:childTnLst>
                                </p:cTn>
                              </p:par>
                            </p:childTnLst>
                          </p:cTn>
                        </p:par>
                        <p:par>
                          <p:cTn id="26" fill="hold" nodeType="afterGroup">
                            <p:stCondLst>
                              <p:cond delay="500"/>
                            </p:stCondLst>
                            <p:childTnLst>
                              <p:par>
                                <p:cTn id="27" presetID="22" presetClass="entr" presetSubtype="8" fill="hold" nodeType="afterEffect">
                                  <p:stCondLst>
                                    <p:cond delay="0"/>
                                  </p:stCondLst>
                                  <p:childTnLst>
                                    <p:set>
                                      <p:cBhvr>
                                        <p:cTn id="28" dur="1" fill="hold">
                                          <p:stCondLst>
                                            <p:cond delay="0"/>
                                          </p:stCondLst>
                                        </p:cTn>
                                        <p:tgtEl>
                                          <p:spTgt spid="23">
                                            <p:txEl>
                                              <p:pRg st="0" end="0"/>
                                            </p:txEl>
                                          </p:spTgt>
                                        </p:tgtEl>
                                        <p:attrNameLst>
                                          <p:attrName>style.visibility</p:attrName>
                                        </p:attrNameLst>
                                      </p:cBhvr>
                                      <p:to>
                                        <p:strVal val="visible"/>
                                      </p:to>
                                    </p:set>
                                    <p:animEffect transition="in" filter="wipe(left)">
                                      <p:cBhvr>
                                        <p:cTn id="29" dur="500"/>
                                        <p:tgtEl>
                                          <p:spTgt spid="23">
                                            <p:txEl>
                                              <p:pRg st="0" end="0"/>
                                            </p:txEl>
                                          </p:spTgt>
                                        </p:tgtEl>
                                      </p:cBhvr>
                                    </p:animEffect>
                                  </p:childTnLst>
                                </p:cTn>
                              </p:par>
                            </p:childTnLst>
                          </p:cTn>
                        </p:par>
                        <p:par>
                          <p:cTn id="30" fill="hold" nodeType="afterGroup">
                            <p:stCondLst>
                              <p:cond delay="1000"/>
                            </p:stCondLst>
                            <p:childTnLst>
                              <p:par>
                                <p:cTn id="31" presetID="16" presetClass="entr" presetSubtype="21" fill="hold" grpId="0" nodeType="after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barn(inVertical)">
                                      <p:cBhvr>
                                        <p:cTn id="33" dur="500"/>
                                        <p:tgtEl>
                                          <p:spTgt spid="18"/>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1" fill="hold" grpId="0" nodeType="clickEffect">
                                  <p:stCondLst>
                                    <p:cond delay="0"/>
                                  </p:stCondLst>
                                  <p:childTnLst>
                                    <p:set>
                                      <p:cBhvr>
                                        <p:cTn id="37" dur="1" fill="hold">
                                          <p:stCondLst>
                                            <p:cond delay="0"/>
                                          </p:stCondLst>
                                        </p:cTn>
                                        <p:tgtEl>
                                          <p:spTgt spid="22"/>
                                        </p:tgtEl>
                                        <p:attrNameLst>
                                          <p:attrName>style.visibility</p:attrName>
                                        </p:attrNameLst>
                                      </p:cBhvr>
                                      <p:to>
                                        <p:strVal val="visible"/>
                                      </p:to>
                                    </p:set>
                                    <p:animEffect transition="in" filter="wipe(up)">
                                      <p:cBhvr>
                                        <p:cTn id="38" dur="500"/>
                                        <p:tgtEl>
                                          <p:spTgt spid="22"/>
                                        </p:tgtEl>
                                      </p:cBhvr>
                                    </p:animEffect>
                                  </p:childTnLst>
                                </p:cTn>
                              </p:par>
                            </p:childTnLst>
                          </p:cTn>
                        </p:par>
                        <p:par>
                          <p:cTn id="39" fill="hold" nodeType="afterGroup">
                            <p:stCondLst>
                              <p:cond delay="500"/>
                            </p:stCondLst>
                            <p:childTnLst>
                              <p:par>
                                <p:cTn id="40" presetID="22" presetClass="entr" presetSubtype="8" fill="hold" nodeType="afterEffect">
                                  <p:stCondLst>
                                    <p:cond delay="0"/>
                                  </p:stCondLst>
                                  <p:childTnLst>
                                    <p:set>
                                      <p:cBhvr>
                                        <p:cTn id="41" dur="1" fill="hold">
                                          <p:stCondLst>
                                            <p:cond delay="0"/>
                                          </p:stCondLst>
                                        </p:cTn>
                                        <p:tgtEl>
                                          <p:spTgt spid="22">
                                            <p:txEl>
                                              <p:pRg st="0" end="0"/>
                                            </p:txEl>
                                          </p:spTgt>
                                        </p:tgtEl>
                                        <p:attrNameLst>
                                          <p:attrName>style.visibility</p:attrName>
                                        </p:attrNameLst>
                                      </p:cBhvr>
                                      <p:to>
                                        <p:strVal val="visible"/>
                                      </p:to>
                                    </p:set>
                                    <p:animEffect transition="in" filter="wipe(left)">
                                      <p:cBhvr>
                                        <p:cTn id="42" dur="500"/>
                                        <p:tgtEl>
                                          <p:spTgt spid="22">
                                            <p:txEl>
                                              <p:pRg st="0" end="0"/>
                                            </p:txEl>
                                          </p:spTgt>
                                        </p:tgtEl>
                                      </p:cBhvr>
                                    </p:animEffect>
                                  </p:childTnLst>
                                </p:cTn>
                              </p:par>
                            </p:childTnLst>
                          </p:cTn>
                        </p:par>
                        <p:par>
                          <p:cTn id="43" fill="hold" nodeType="afterGroup">
                            <p:stCondLst>
                              <p:cond delay="1000"/>
                            </p:stCondLst>
                            <p:childTnLst>
                              <p:par>
                                <p:cTn id="44" presetID="22" presetClass="entr" presetSubtype="8" fill="hold" nodeType="after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wipe(left)">
                                      <p:cBhvr>
                                        <p:cTn id="46"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build="p"/>
      <p:bldP spid="18" grpId="0" animBg="1"/>
      <p:bldP spid="21" grpId="0"/>
      <p:bldP spid="22" grpId="0" animBg="1"/>
      <p:bldP spid="23" grpId="0" animBg="1"/>
    </p:bldLst>
  </p:timing>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DF68CC-23F3-CAF6-8715-C255B08264A1}"/>
              </a:ext>
            </a:extLst>
          </p:cNvPr>
          <p:cNvSpPr>
            <a:spLocks noGrp="1"/>
          </p:cNvSpPr>
          <p:nvPr>
            <p:ph type="title"/>
          </p:nvPr>
        </p:nvSpPr>
        <p:spPr>
          <a:xfrm>
            <a:off x="457200" y="0"/>
            <a:ext cx="7620000" cy="1143000"/>
          </a:xfrm>
        </p:spPr>
        <p:txBody>
          <a:bodyPr/>
          <a:lstStyle/>
          <a:p>
            <a:pPr algn="ctr">
              <a:defRPr/>
            </a:pPr>
            <a:r>
              <a:rPr lang="en-US" dirty="0"/>
              <a:t>Date Functions</a:t>
            </a:r>
            <a:endParaRPr lang="en-MY" dirty="0"/>
          </a:p>
        </p:txBody>
      </p:sp>
      <p:sp>
        <p:nvSpPr>
          <p:cNvPr id="16" name="Snip Single Corner Rectangle 15">
            <a:extLst>
              <a:ext uri="{FF2B5EF4-FFF2-40B4-BE49-F238E27FC236}">
                <a16:creationId xmlns:a16="http://schemas.microsoft.com/office/drawing/2014/main" id="{64764ADB-9941-5AFC-3398-4CF4EAB958CD}"/>
              </a:ext>
            </a:extLst>
          </p:cNvPr>
          <p:cNvSpPr/>
          <p:nvPr/>
        </p:nvSpPr>
        <p:spPr>
          <a:xfrm>
            <a:off x="-36513" y="1125538"/>
            <a:ext cx="1512888" cy="400050"/>
          </a:xfrm>
          <a:prstGeom prst="snip1Rect">
            <a:avLst/>
          </a:prstGeom>
          <a:solidFill>
            <a:schemeClr val="accent3"/>
          </a:solidFill>
          <a:ln>
            <a:solidFill>
              <a:schemeClr val="accent3"/>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marR="0" lvl="0" indent="-342900" algn="just" defTabSz="914400" rtl="0" eaLnBrk="1" fontAlgn="base" latinLnBrk="0" hangingPunct="1">
              <a:lnSpc>
                <a:spcPct val="100000"/>
              </a:lnSpc>
              <a:spcBef>
                <a:spcPct val="20000"/>
              </a:spcBef>
              <a:spcAft>
                <a:spcPct val="0"/>
              </a:spcAft>
              <a:buClr>
                <a:srgbClr val="FF6600"/>
              </a:buClr>
              <a:buSzPct val="100000"/>
              <a:buFontTx/>
              <a:buNone/>
              <a:tabLst/>
              <a:defRPr/>
            </a:pPr>
            <a:r>
              <a:rPr kumimoji="0" lang="en-GB" sz="1800" b="0" i="0" u="none" strike="noStrike" kern="0" cap="none" spc="0" normalizeH="0" baseline="0" noProof="0" dirty="0">
                <a:ln>
                  <a:noFill/>
                </a:ln>
                <a:solidFill>
                  <a:srgbClr val="FFFFFF"/>
                </a:solidFill>
                <a:effectLst/>
                <a:uLnTx/>
                <a:uFillTx/>
                <a:latin typeface="Calibri"/>
                <a:ea typeface="+mn-ea"/>
                <a:cs typeface="+mn-cs"/>
              </a:rPr>
              <a:t>EXTRACT()</a:t>
            </a:r>
          </a:p>
        </p:txBody>
      </p:sp>
      <p:sp>
        <p:nvSpPr>
          <p:cNvPr id="21508" name="Content Placeholder 2">
            <a:extLst>
              <a:ext uri="{FF2B5EF4-FFF2-40B4-BE49-F238E27FC236}">
                <a16:creationId xmlns:a16="http://schemas.microsoft.com/office/drawing/2014/main" id="{FFEA4AF2-2A4D-7C34-A1A0-9CC5744AB444}"/>
              </a:ext>
            </a:extLst>
          </p:cNvPr>
          <p:cNvSpPr txBox="1">
            <a:spLocks/>
          </p:cNvSpPr>
          <p:nvPr/>
        </p:nvSpPr>
        <p:spPr bwMode="auto">
          <a:xfrm>
            <a:off x="250825" y="1773238"/>
            <a:ext cx="8655050"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EXTRACT() – Extract a part of date and time</a:t>
            </a: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sp>
        <p:nvSpPr>
          <p:cNvPr id="18" name="Rounded Rectangle 17">
            <a:extLst>
              <a:ext uri="{FF2B5EF4-FFF2-40B4-BE49-F238E27FC236}">
                <a16:creationId xmlns:a16="http://schemas.microsoft.com/office/drawing/2014/main" id="{43108113-D7B7-3E77-E414-2A1A9E80F105}"/>
              </a:ext>
            </a:extLst>
          </p:cNvPr>
          <p:cNvSpPr/>
          <p:nvPr/>
        </p:nvSpPr>
        <p:spPr bwMode="auto">
          <a:xfrm>
            <a:off x="1295400" y="3968750"/>
            <a:ext cx="6742113" cy="1116013"/>
          </a:xfrm>
          <a:prstGeom prst="roundRect">
            <a:avLst/>
          </a:prstGeom>
          <a:solidFill>
            <a:schemeClr val="accent6">
              <a:alpha val="30000"/>
            </a:schemeClr>
          </a:solidFill>
          <a:ln w="9525" cap="flat" cmpd="sng" algn="ctr">
            <a:solidFill>
              <a:schemeClr val="accent6"/>
            </a:solidFill>
            <a:prstDash val="solid"/>
            <a:round/>
            <a:headEnd type="none" w="med" len="med"/>
            <a:tailEnd type="none" w="med" len="med"/>
          </a:ln>
          <a:effectLst/>
        </p:spPr>
        <p:txBody>
          <a:bodyPr anchor="ctr" anchorCtr="1"/>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2600" b="0"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SELECT ISBN, Title, EXTRACT(MONTH FROM Published) AS Month FROM Book;</a:t>
            </a:r>
          </a:p>
        </p:txBody>
      </p:sp>
      <p:graphicFrame>
        <p:nvGraphicFramePr>
          <p:cNvPr id="19" name="Table 18">
            <a:extLst>
              <a:ext uri="{FF2B5EF4-FFF2-40B4-BE49-F238E27FC236}">
                <a16:creationId xmlns:a16="http://schemas.microsoft.com/office/drawing/2014/main" id="{268942B9-27A6-F0F8-E85F-30FBA8D7F331}"/>
              </a:ext>
            </a:extLst>
          </p:cNvPr>
          <p:cNvGraphicFramePr>
            <a:graphicFrameLocks noGrp="1"/>
          </p:cNvGraphicFramePr>
          <p:nvPr/>
        </p:nvGraphicFramePr>
        <p:xfrm>
          <a:off x="1631950" y="5264150"/>
          <a:ext cx="5245100" cy="1106488"/>
        </p:xfrm>
        <a:graphic>
          <a:graphicData uri="http://schemas.openxmlformats.org/drawingml/2006/table">
            <a:tbl>
              <a:tblPr firstRow="1" bandRow="1">
                <a:tableStyleId>{C083E6E3-FA7D-4D7B-A595-EF9225AFEA82}</a:tableStyleId>
              </a:tblPr>
              <a:tblGrid>
                <a:gridCol w="1330847">
                  <a:extLst>
                    <a:ext uri="{9D8B030D-6E8A-4147-A177-3AD203B41FA5}">
                      <a16:colId xmlns:a16="http://schemas.microsoft.com/office/drawing/2014/main" val="20000"/>
                    </a:ext>
                  </a:extLst>
                </a:gridCol>
                <a:gridCol w="2617972">
                  <a:extLst>
                    <a:ext uri="{9D8B030D-6E8A-4147-A177-3AD203B41FA5}">
                      <a16:colId xmlns:a16="http://schemas.microsoft.com/office/drawing/2014/main" val="20001"/>
                    </a:ext>
                  </a:extLst>
                </a:gridCol>
                <a:gridCol w="1296282">
                  <a:extLst>
                    <a:ext uri="{9D8B030D-6E8A-4147-A177-3AD203B41FA5}">
                      <a16:colId xmlns:a16="http://schemas.microsoft.com/office/drawing/2014/main" val="20002"/>
                    </a:ext>
                  </a:extLst>
                </a:gridCol>
              </a:tblGrid>
              <a:tr h="365655">
                <a:tc>
                  <a:txBody>
                    <a:bodyPr/>
                    <a:lstStyle/>
                    <a:p>
                      <a:pPr algn="ctr"/>
                      <a:r>
                        <a:rPr lang="en-CA" sz="1800" dirty="0"/>
                        <a:t>ISBN</a:t>
                      </a:r>
                    </a:p>
                  </a:txBody>
                  <a:tcPr marL="91450" marR="91450" marT="45668" marB="45668"/>
                </a:tc>
                <a:tc>
                  <a:txBody>
                    <a:bodyPr/>
                    <a:lstStyle/>
                    <a:p>
                      <a:pPr algn="ctr"/>
                      <a:r>
                        <a:rPr lang="en-CA" sz="1800" dirty="0"/>
                        <a:t>Title</a:t>
                      </a:r>
                    </a:p>
                  </a:txBody>
                  <a:tcPr marL="91450" marR="91450" marT="45668" marB="45668"/>
                </a:tc>
                <a:tc>
                  <a:txBody>
                    <a:bodyPr/>
                    <a:lstStyle/>
                    <a:p>
                      <a:pPr algn="ctr"/>
                      <a:r>
                        <a:rPr lang="en-CA" sz="1800" dirty="0"/>
                        <a:t>Month</a:t>
                      </a:r>
                    </a:p>
                  </a:txBody>
                  <a:tcPr marL="91450" marR="91450" marT="45668" marB="45668"/>
                </a:tc>
                <a:extLst>
                  <a:ext uri="{0D108BD9-81ED-4DB2-BD59-A6C34878D82A}">
                    <a16:rowId xmlns:a16="http://schemas.microsoft.com/office/drawing/2014/main" val="10000"/>
                  </a:ext>
                </a:extLst>
              </a:tr>
              <a:tr h="370416">
                <a:tc>
                  <a:txBody>
                    <a:bodyPr/>
                    <a:lstStyle/>
                    <a:p>
                      <a:pPr algn="ctr"/>
                      <a:r>
                        <a:rPr lang="en-CA" sz="1800" dirty="0"/>
                        <a:t>12345</a:t>
                      </a:r>
                    </a:p>
                  </a:txBody>
                  <a:tcPr marL="91450" marR="91450" marT="45668" marB="45668"/>
                </a:tc>
                <a:tc>
                  <a:txBody>
                    <a:bodyPr/>
                    <a:lstStyle/>
                    <a:p>
                      <a:pPr algn="ctr"/>
                      <a:r>
                        <a:rPr lang="en-CA" sz="1800" dirty="0"/>
                        <a:t>The Hunger Game</a:t>
                      </a:r>
                    </a:p>
                  </a:txBody>
                  <a:tcPr marL="91450" marR="91450" marT="45668" marB="45668"/>
                </a:tc>
                <a:tc>
                  <a:txBody>
                    <a:bodyPr/>
                    <a:lstStyle/>
                    <a:p>
                      <a:pPr algn="ctr"/>
                      <a:r>
                        <a:rPr lang="en-CA" sz="1800" dirty="0"/>
                        <a:t>10</a:t>
                      </a:r>
                    </a:p>
                  </a:txBody>
                  <a:tcPr marL="91450" marR="91450" marT="45668" marB="45668"/>
                </a:tc>
                <a:extLst>
                  <a:ext uri="{0D108BD9-81ED-4DB2-BD59-A6C34878D82A}">
                    <a16:rowId xmlns:a16="http://schemas.microsoft.com/office/drawing/2014/main" val="10001"/>
                  </a:ext>
                </a:extLst>
              </a:tr>
              <a:tr h="370416">
                <a:tc>
                  <a:txBody>
                    <a:bodyPr/>
                    <a:lstStyle/>
                    <a:p>
                      <a:pPr algn="ctr"/>
                      <a:r>
                        <a:rPr lang="en-CA" sz="1800" dirty="0"/>
                        <a:t>54321</a:t>
                      </a:r>
                    </a:p>
                  </a:txBody>
                  <a:tcPr marL="91450" marR="91450" marT="45668" marB="45668"/>
                </a:tc>
                <a:tc>
                  <a:txBody>
                    <a:bodyPr/>
                    <a:lstStyle/>
                    <a:p>
                      <a:pPr algn="ctr"/>
                      <a:r>
                        <a:rPr lang="en-CA" sz="1800" dirty="0"/>
                        <a:t>A</a:t>
                      </a:r>
                      <a:r>
                        <a:rPr lang="en-CA" sz="1800" baseline="0" dirty="0"/>
                        <a:t> Song of Ice and Fire</a:t>
                      </a:r>
                      <a:endParaRPr lang="en-CA" sz="1800" dirty="0"/>
                    </a:p>
                  </a:txBody>
                  <a:tcPr marL="91450" marR="91450" marT="45668" marB="45668"/>
                </a:tc>
                <a:tc>
                  <a:txBody>
                    <a:bodyPr/>
                    <a:lstStyle/>
                    <a:p>
                      <a:pPr algn="ctr"/>
                      <a:r>
                        <a:rPr lang="en-CA" sz="1800" dirty="0"/>
                        <a:t>11</a:t>
                      </a:r>
                    </a:p>
                  </a:txBody>
                  <a:tcPr marL="91450" marR="91450" marT="45668" marB="45668"/>
                </a:tc>
                <a:extLst>
                  <a:ext uri="{0D108BD9-81ED-4DB2-BD59-A6C34878D82A}">
                    <a16:rowId xmlns:a16="http://schemas.microsoft.com/office/drawing/2014/main" val="10002"/>
                  </a:ext>
                </a:extLst>
              </a:tr>
            </a:tbl>
          </a:graphicData>
        </a:graphic>
      </p:graphicFrame>
      <p:graphicFrame>
        <p:nvGraphicFramePr>
          <p:cNvPr id="20" name="Table 19">
            <a:extLst>
              <a:ext uri="{FF2B5EF4-FFF2-40B4-BE49-F238E27FC236}">
                <a16:creationId xmlns:a16="http://schemas.microsoft.com/office/drawing/2014/main" id="{3D7A908C-5BD3-B618-570A-4164AEB41296}"/>
              </a:ext>
            </a:extLst>
          </p:cNvPr>
          <p:cNvGraphicFramePr>
            <a:graphicFrameLocks noGrp="1"/>
          </p:cNvGraphicFramePr>
          <p:nvPr/>
        </p:nvGraphicFramePr>
        <p:xfrm>
          <a:off x="1106488" y="2411413"/>
          <a:ext cx="6931025" cy="1112837"/>
        </p:xfrm>
        <a:graphic>
          <a:graphicData uri="http://schemas.openxmlformats.org/drawingml/2006/table">
            <a:tbl>
              <a:tblPr firstRow="1" bandRow="1">
                <a:tableStyleId>{D27102A9-8310-4765-A935-A1911B00CA55}</a:tableStyleId>
              </a:tblPr>
              <a:tblGrid>
                <a:gridCol w="1664337">
                  <a:extLst>
                    <a:ext uri="{9D8B030D-6E8A-4147-A177-3AD203B41FA5}">
                      <a16:colId xmlns:a16="http://schemas.microsoft.com/office/drawing/2014/main" val="20000"/>
                    </a:ext>
                  </a:extLst>
                </a:gridCol>
                <a:gridCol w="2674050">
                  <a:extLst>
                    <a:ext uri="{9D8B030D-6E8A-4147-A177-3AD203B41FA5}">
                      <a16:colId xmlns:a16="http://schemas.microsoft.com/office/drawing/2014/main" val="20001"/>
                    </a:ext>
                  </a:extLst>
                </a:gridCol>
                <a:gridCol w="2592638">
                  <a:extLst>
                    <a:ext uri="{9D8B030D-6E8A-4147-A177-3AD203B41FA5}">
                      <a16:colId xmlns:a16="http://schemas.microsoft.com/office/drawing/2014/main" val="20002"/>
                    </a:ext>
                  </a:extLst>
                </a:gridCol>
              </a:tblGrid>
              <a:tr h="370946">
                <a:tc>
                  <a:txBody>
                    <a:bodyPr/>
                    <a:lstStyle/>
                    <a:p>
                      <a:pPr algn="ctr"/>
                      <a:r>
                        <a:rPr lang="en-CA" sz="1800" dirty="0"/>
                        <a:t>ISBN</a:t>
                      </a:r>
                    </a:p>
                  </a:txBody>
                  <a:tcPr marL="91452" marR="91452" marT="45733" marB="45733"/>
                </a:tc>
                <a:tc>
                  <a:txBody>
                    <a:bodyPr/>
                    <a:lstStyle/>
                    <a:p>
                      <a:pPr algn="ctr"/>
                      <a:r>
                        <a:rPr lang="en-CA" sz="1800" dirty="0"/>
                        <a:t>Title</a:t>
                      </a:r>
                    </a:p>
                  </a:txBody>
                  <a:tcPr marL="91452" marR="91452" marT="45733" marB="45733"/>
                </a:tc>
                <a:tc>
                  <a:txBody>
                    <a:bodyPr/>
                    <a:lstStyle/>
                    <a:p>
                      <a:pPr algn="ctr"/>
                      <a:r>
                        <a:rPr lang="en-CA" sz="1800" dirty="0"/>
                        <a:t>Published</a:t>
                      </a:r>
                    </a:p>
                  </a:txBody>
                  <a:tcPr marL="91452" marR="91452" marT="45733" marB="45733"/>
                </a:tc>
                <a:extLst>
                  <a:ext uri="{0D108BD9-81ED-4DB2-BD59-A6C34878D82A}">
                    <a16:rowId xmlns:a16="http://schemas.microsoft.com/office/drawing/2014/main" val="10000"/>
                  </a:ext>
                </a:extLst>
              </a:tr>
              <a:tr h="370946">
                <a:tc>
                  <a:txBody>
                    <a:bodyPr/>
                    <a:lstStyle/>
                    <a:p>
                      <a:pPr algn="ctr"/>
                      <a:r>
                        <a:rPr lang="en-CA" sz="1800" dirty="0"/>
                        <a:t>12345</a:t>
                      </a:r>
                    </a:p>
                  </a:txBody>
                  <a:tcPr marL="91452" marR="91452" marT="45733" marB="45733"/>
                </a:tc>
                <a:tc>
                  <a:txBody>
                    <a:bodyPr/>
                    <a:lstStyle/>
                    <a:p>
                      <a:pPr algn="ctr"/>
                      <a:r>
                        <a:rPr lang="en-CA" sz="1800" dirty="0"/>
                        <a:t>The Hunger</a:t>
                      </a:r>
                      <a:r>
                        <a:rPr lang="en-CA" sz="1800" baseline="0" dirty="0"/>
                        <a:t> Game</a:t>
                      </a:r>
                      <a:endParaRPr lang="en-CA" sz="1800" dirty="0"/>
                    </a:p>
                  </a:txBody>
                  <a:tcPr marL="91452" marR="91452" marT="45733" marB="45733"/>
                </a:tc>
                <a:tc>
                  <a:txBody>
                    <a:bodyPr/>
                    <a:lstStyle/>
                    <a:p>
                      <a:pPr algn="ctr"/>
                      <a:r>
                        <a:rPr lang="en-CA" sz="1800" dirty="0"/>
                        <a:t>2008-10-11</a:t>
                      </a:r>
                    </a:p>
                  </a:txBody>
                  <a:tcPr marL="91452" marR="91452" marT="45733" marB="45733"/>
                </a:tc>
                <a:extLst>
                  <a:ext uri="{0D108BD9-81ED-4DB2-BD59-A6C34878D82A}">
                    <a16:rowId xmlns:a16="http://schemas.microsoft.com/office/drawing/2014/main" val="10001"/>
                  </a:ext>
                </a:extLst>
              </a:tr>
              <a:tr h="370946">
                <a:tc>
                  <a:txBody>
                    <a:bodyPr/>
                    <a:lstStyle/>
                    <a:p>
                      <a:pPr algn="ctr"/>
                      <a:r>
                        <a:rPr lang="en-CA" sz="1800" dirty="0"/>
                        <a:t>54321</a:t>
                      </a:r>
                    </a:p>
                  </a:txBody>
                  <a:tcPr marL="91452" marR="91452" marT="45733" marB="45733"/>
                </a:tc>
                <a:tc>
                  <a:txBody>
                    <a:bodyPr/>
                    <a:lstStyle/>
                    <a:p>
                      <a:pPr algn="ctr"/>
                      <a:r>
                        <a:rPr lang="en-CA" sz="1800" dirty="0"/>
                        <a:t>A</a:t>
                      </a:r>
                      <a:r>
                        <a:rPr lang="en-CA" sz="1800" baseline="0" dirty="0"/>
                        <a:t> Song of Ice and Fire</a:t>
                      </a:r>
                      <a:endParaRPr lang="en-CA" sz="1800" dirty="0"/>
                    </a:p>
                  </a:txBody>
                  <a:tcPr marL="91452" marR="91452" marT="45733" marB="45733"/>
                </a:tc>
                <a:tc>
                  <a:txBody>
                    <a:bodyPr/>
                    <a:lstStyle/>
                    <a:p>
                      <a:pPr algn="ctr"/>
                      <a:r>
                        <a:rPr lang="en-CA" sz="1800" dirty="0"/>
                        <a:t>2012-11-28</a:t>
                      </a:r>
                    </a:p>
                  </a:txBody>
                  <a:tcPr marL="91452" marR="91452" marT="45733" marB="45733"/>
                </a:tc>
                <a:extLst>
                  <a:ext uri="{0D108BD9-81ED-4DB2-BD59-A6C34878D82A}">
                    <a16:rowId xmlns:a16="http://schemas.microsoft.com/office/drawing/2014/main" val="10002"/>
                  </a:ext>
                </a:extLst>
              </a:tr>
            </a:tbl>
          </a:graphicData>
        </a:graphic>
      </p:graphicFrame>
      <p:sp>
        <p:nvSpPr>
          <p:cNvPr id="21536" name="TextBox 20">
            <a:extLst>
              <a:ext uri="{FF2B5EF4-FFF2-40B4-BE49-F238E27FC236}">
                <a16:creationId xmlns:a16="http://schemas.microsoft.com/office/drawing/2014/main" id="{E227C842-0E77-4269-BCA2-BB20CF512F68}"/>
              </a:ext>
            </a:extLst>
          </p:cNvPr>
          <p:cNvSpPr txBox="1">
            <a:spLocks noChangeArrowheads="1"/>
          </p:cNvSpPr>
          <p:nvPr/>
        </p:nvSpPr>
        <p:spPr bwMode="auto">
          <a:xfrm>
            <a:off x="3570288" y="3540125"/>
            <a:ext cx="20161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Book table</a:t>
            </a:r>
          </a:p>
        </p:txBody>
      </p:sp>
      <p:sp>
        <p:nvSpPr>
          <p:cNvPr id="22" name="Snip Single Corner Rectangle 21">
            <a:extLst>
              <a:ext uri="{FF2B5EF4-FFF2-40B4-BE49-F238E27FC236}">
                <a16:creationId xmlns:a16="http://schemas.microsoft.com/office/drawing/2014/main" id="{1DF35C71-8E36-FA0E-27A6-EAF29A3F8BE8}"/>
              </a:ext>
            </a:extLst>
          </p:cNvPr>
          <p:cNvSpPr/>
          <p:nvPr/>
        </p:nvSpPr>
        <p:spPr bwMode="auto">
          <a:xfrm>
            <a:off x="227013" y="5300663"/>
            <a:ext cx="1092200" cy="431800"/>
          </a:xfrm>
          <a:prstGeom prst="snip1Rect">
            <a:avLst/>
          </a:prstGeom>
          <a:solidFill>
            <a:srgbClr val="FFFF00">
              <a:alpha val="30000"/>
            </a:srgbClr>
          </a:solidFill>
          <a:ln w="9525" cap="flat" cmpd="sng" algn="ctr">
            <a:solidFill>
              <a:srgbClr val="FFC000"/>
            </a:solidFill>
            <a:prstDash val="solid"/>
            <a:round/>
            <a:headEnd type="none" w="med" len="med"/>
            <a:tailEnd type="none" w="med" len="me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sz="2000" b="1"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Result:</a:t>
            </a:r>
          </a:p>
        </p:txBody>
      </p:sp>
      <p:sp>
        <p:nvSpPr>
          <p:cNvPr id="23" name="Snip Single Corner Rectangle 22">
            <a:extLst>
              <a:ext uri="{FF2B5EF4-FFF2-40B4-BE49-F238E27FC236}">
                <a16:creationId xmlns:a16="http://schemas.microsoft.com/office/drawing/2014/main" id="{EE33B2FA-261D-96F4-93D0-C8B32A22481B}"/>
              </a:ext>
            </a:extLst>
          </p:cNvPr>
          <p:cNvSpPr/>
          <p:nvPr/>
        </p:nvSpPr>
        <p:spPr bwMode="auto">
          <a:xfrm>
            <a:off x="250825" y="3978275"/>
            <a:ext cx="830263" cy="431800"/>
          </a:xfrm>
          <a:prstGeom prst="snip1Rect">
            <a:avLst/>
          </a:prstGeom>
          <a:solidFill>
            <a:srgbClr val="FFFF00">
              <a:alpha val="30000"/>
            </a:srgbClr>
          </a:solidFill>
          <a:ln w="9525" cap="flat" cmpd="sng" algn="ctr">
            <a:solidFill>
              <a:srgbClr val="FFC000"/>
            </a:solidFill>
            <a:prstDash val="solid"/>
            <a:round/>
            <a:headEnd type="none" w="med" len="med"/>
            <a:tailEnd type="none" w="med" len="med"/>
          </a:ln>
          <a:effec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2000" b="1"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Run:</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up)">
                                      <p:cBhvr>
                                        <p:cTn id="7" dur="500"/>
                                        <p:tgtEl>
                                          <p:spTgt spid="23"/>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23">
                                            <p:txEl>
                                              <p:pRg st="0" end="0"/>
                                            </p:txEl>
                                          </p:spTgt>
                                        </p:tgtEl>
                                        <p:attrNameLst>
                                          <p:attrName>style.visibility</p:attrName>
                                        </p:attrNameLst>
                                      </p:cBhvr>
                                      <p:to>
                                        <p:strVal val="visible"/>
                                      </p:to>
                                    </p:set>
                                    <p:animEffect transition="in" filter="wipe(left)">
                                      <p:cBhvr>
                                        <p:cTn id="11" dur="500"/>
                                        <p:tgtEl>
                                          <p:spTgt spid="23">
                                            <p:txEl>
                                              <p:pRg st="0" end="0"/>
                                            </p:txEl>
                                          </p:spTgt>
                                        </p:tgtEl>
                                      </p:cBhvr>
                                    </p:animEffect>
                                  </p:childTnLst>
                                </p:cTn>
                              </p:par>
                            </p:childTnLst>
                          </p:cTn>
                        </p:par>
                        <p:par>
                          <p:cTn id="12" fill="hold" nodeType="afterGroup">
                            <p:stCondLst>
                              <p:cond delay="1000"/>
                            </p:stCondLst>
                            <p:childTnLst>
                              <p:par>
                                <p:cTn id="13" presetID="16" presetClass="entr" presetSubtype="21" fill="hold" grpId="0" nodeType="after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barn(inVertical)">
                                      <p:cBhvr>
                                        <p:cTn id="15" dur="500"/>
                                        <p:tgtEl>
                                          <p:spTgt spid="18"/>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1" fill="hold" grpId="0" nodeType="clickEffect">
                                  <p:stCondLst>
                                    <p:cond delay="0"/>
                                  </p:stCondLst>
                                  <p:childTnLst>
                                    <p:set>
                                      <p:cBhvr>
                                        <p:cTn id="19" dur="1" fill="hold">
                                          <p:stCondLst>
                                            <p:cond delay="0"/>
                                          </p:stCondLst>
                                        </p:cTn>
                                        <p:tgtEl>
                                          <p:spTgt spid="22"/>
                                        </p:tgtEl>
                                        <p:attrNameLst>
                                          <p:attrName>style.visibility</p:attrName>
                                        </p:attrNameLst>
                                      </p:cBhvr>
                                      <p:to>
                                        <p:strVal val="visible"/>
                                      </p:to>
                                    </p:set>
                                    <p:animEffect transition="in" filter="wipe(up)">
                                      <p:cBhvr>
                                        <p:cTn id="20" dur="500"/>
                                        <p:tgtEl>
                                          <p:spTgt spid="22"/>
                                        </p:tgtEl>
                                      </p:cBhvr>
                                    </p:animEffect>
                                  </p:childTnLst>
                                </p:cTn>
                              </p:par>
                            </p:childTnLst>
                          </p:cTn>
                        </p:par>
                        <p:par>
                          <p:cTn id="21" fill="hold" nodeType="afterGroup">
                            <p:stCondLst>
                              <p:cond delay="500"/>
                            </p:stCondLst>
                            <p:childTnLst>
                              <p:par>
                                <p:cTn id="22" presetID="22" presetClass="entr" presetSubtype="8" fill="hold" nodeType="afterEffect">
                                  <p:stCondLst>
                                    <p:cond delay="0"/>
                                  </p:stCondLst>
                                  <p:childTnLst>
                                    <p:set>
                                      <p:cBhvr>
                                        <p:cTn id="23" dur="1" fill="hold">
                                          <p:stCondLst>
                                            <p:cond delay="0"/>
                                          </p:stCondLst>
                                        </p:cTn>
                                        <p:tgtEl>
                                          <p:spTgt spid="22">
                                            <p:txEl>
                                              <p:pRg st="0" end="0"/>
                                            </p:txEl>
                                          </p:spTgt>
                                        </p:tgtEl>
                                        <p:attrNameLst>
                                          <p:attrName>style.visibility</p:attrName>
                                        </p:attrNameLst>
                                      </p:cBhvr>
                                      <p:to>
                                        <p:strVal val="visible"/>
                                      </p:to>
                                    </p:set>
                                    <p:animEffect transition="in" filter="wipe(left)">
                                      <p:cBhvr>
                                        <p:cTn id="24" dur="500"/>
                                        <p:tgtEl>
                                          <p:spTgt spid="22">
                                            <p:txEl>
                                              <p:pRg st="0" end="0"/>
                                            </p:txEl>
                                          </p:spTgt>
                                        </p:tgtEl>
                                      </p:cBhvr>
                                    </p:animEffect>
                                  </p:childTnLst>
                                </p:cTn>
                              </p:par>
                            </p:childTnLst>
                          </p:cTn>
                        </p:par>
                        <p:par>
                          <p:cTn id="25" fill="hold" nodeType="afterGroup">
                            <p:stCondLst>
                              <p:cond delay="1000"/>
                            </p:stCondLst>
                            <p:childTnLst>
                              <p:par>
                                <p:cTn id="26" presetID="22" presetClass="entr" presetSubtype="8" fill="hold" nodeType="after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wipe(left)">
                                      <p:cBhvr>
                                        <p:cTn id="28"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2" grpId="0" animBg="1"/>
      <p:bldP spid="23" grpId="0" animBg="1"/>
    </p:bldLst>
  </p:timing>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6C75DE-3166-DC66-E338-682EE4D136C1}"/>
              </a:ext>
            </a:extLst>
          </p:cNvPr>
          <p:cNvSpPr>
            <a:spLocks noGrp="1"/>
          </p:cNvSpPr>
          <p:nvPr>
            <p:ph type="title"/>
          </p:nvPr>
        </p:nvSpPr>
        <p:spPr>
          <a:xfrm>
            <a:off x="457200" y="0"/>
            <a:ext cx="7620000" cy="1143000"/>
          </a:xfrm>
        </p:spPr>
        <p:txBody>
          <a:bodyPr/>
          <a:lstStyle/>
          <a:p>
            <a:pPr algn="ctr">
              <a:defRPr/>
            </a:pPr>
            <a:r>
              <a:rPr lang="en-US" dirty="0"/>
              <a:t>Date Functions</a:t>
            </a:r>
            <a:endParaRPr lang="en-MY" dirty="0"/>
          </a:p>
        </p:txBody>
      </p:sp>
      <p:sp>
        <p:nvSpPr>
          <p:cNvPr id="16" name="Snip Single Corner Rectangle 15">
            <a:extLst>
              <a:ext uri="{FF2B5EF4-FFF2-40B4-BE49-F238E27FC236}">
                <a16:creationId xmlns:a16="http://schemas.microsoft.com/office/drawing/2014/main" id="{F82B49EA-C9FB-8339-7B00-5B93949A8DDC}"/>
              </a:ext>
            </a:extLst>
          </p:cNvPr>
          <p:cNvSpPr/>
          <p:nvPr/>
        </p:nvSpPr>
        <p:spPr>
          <a:xfrm>
            <a:off x="-36513" y="1125538"/>
            <a:ext cx="1512888" cy="400050"/>
          </a:xfrm>
          <a:prstGeom prst="snip1Rect">
            <a:avLst/>
          </a:prstGeom>
          <a:solidFill>
            <a:schemeClr val="accent3"/>
          </a:solidFill>
          <a:ln>
            <a:solidFill>
              <a:schemeClr val="accent3"/>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marR="0" lvl="0" indent="-342900" algn="just" defTabSz="914400" rtl="0" eaLnBrk="1" fontAlgn="base" latinLnBrk="0" hangingPunct="1">
              <a:lnSpc>
                <a:spcPct val="100000"/>
              </a:lnSpc>
              <a:spcBef>
                <a:spcPct val="20000"/>
              </a:spcBef>
              <a:spcAft>
                <a:spcPct val="0"/>
              </a:spcAft>
              <a:buClr>
                <a:srgbClr val="FF6600"/>
              </a:buClr>
              <a:buSzPct val="100000"/>
              <a:buFontTx/>
              <a:buNone/>
              <a:tabLst/>
              <a:defRPr/>
            </a:pPr>
            <a:r>
              <a:rPr kumimoji="0" lang="en-GB" sz="1800" b="0" i="0" u="none" strike="noStrike" kern="0" cap="none" spc="0" normalizeH="0" baseline="0" noProof="0" dirty="0">
                <a:ln>
                  <a:noFill/>
                </a:ln>
                <a:solidFill>
                  <a:srgbClr val="FFFFFF"/>
                </a:solidFill>
                <a:effectLst/>
                <a:uLnTx/>
                <a:uFillTx/>
                <a:latin typeface="Calibri"/>
                <a:ea typeface="+mn-ea"/>
                <a:cs typeface="+mn-cs"/>
              </a:rPr>
              <a:t>EXTRACT()</a:t>
            </a:r>
          </a:p>
        </p:txBody>
      </p:sp>
      <p:sp>
        <p:nvSpPr>
          <p:cNvPr id="22532" name="Content Placeholder 2">
            <a:extLst>
              <a:ext uri="{FF2B5EF4-FFF2-40B4-BE49-F238E27FC236}">
                <a16:creationId xmlns:a16="http://schemas.microsoft.com/office/drawing/2014/main" id="{114BF393-625D-FDA5-CD07-4DCBE857ACCE}"/>
              </a:ext>
            </a:extLst>
          </p:cNvPr>
          <p:cNvSpPr txBox="1">
            <a:spLocks/>
          </p:cNvSpPr>
          <p:nvPr/>
        </p:nvSpPr>
        <p:spPr bwMode="auto">
          <a:xfrm>
            <a:off x="250825" y="1773238"/>
            <a:ext cx="8655050"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EXTRACT() – Extract a part of date and time</a:t>
            </a: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sp>
        <p:nvSpPr>
          <p:cNvPr id="18" name="Rounded Rectangle 17">
            <a:extLst>
              <a:ext uri="{FF2B5EF4-FFF2-40B4-BE49-F238E27FC236}">
                <a16:creationId xmlns:a16="http://schemas.microsoft.com/office/drawing/2014/main" id="{35022241-FA98-A4F8-E435-950A9BBED7B8}"/>
              </a:ext>
            </a:extLst>
          </p:cNvPr>
          <p:cNvSpPr/>
          <p:nvPr/>
        </p:nvSpPr>
        <p:spPr bwMode="auto">
          <a:xfrm>
            <a:off x="1295400" y="3968750"/>
            <a:ext cx="6742113" cy="1116013"/>
          </a:xfrm>
          <a:prstGeom prst="roundRect">
            <a:avLst/>
          </a:prstGeom>
          <a:solidFill>
            <a:schemeClr val="accent6">
              <a:alpha val="30000"/>
            </a:schemeClr>
          </a:solidFill>
          <a:ln w="9525" cap="flat" cmpd="sng" algn="ctr">
            <a:solidFill>
              <a:schemeClr val="accent6"/>
            </a:solidFill>
            <a:prstDash val="solid"/>
            <a:round/>
            <a:headEnd type="none" w="med" len="med"/>
            <a:tailEnd type="none" w="med" len="med"/>
          </a:ln>
          <a:effectLst/>
        </p:spPr>
        <p:txBody>
          <a:bodyPr anchor="ctr" anchorCtr="1"/>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2800" b="0"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SELECT ISBN, Title, EXTRACT(DAY FROM Published) AS Day FROM Book;</a:t>
            </a:r>
          </a:p>
        </p:txBody>
      </p:sp>
      <p:graphicFrame>
        <p:nvGraphicFramePr>
          <p:cNvPr id="19" name="Table 18">
            <a:extLst>
              <a:ext uri="{FF2B5EF4-FFF2-40B4-BE49-F238E27FC236}">
                <a16:creationId xmlns:a16="http://schemas.microsoft.com/office/drawing/2014/main" id="{D8FE74D9-C94D-5DE8-BFBD-211136AB0D6C}"/>
              </a:ext>
            </a:extLst>
          </p:cNvPr>
          <p:cNvGraphicFramePr>
            <a:graphicFrameLocks noGrp="1"/>
          </p:cNvGraphicFramePr>
          <p:nvPr/>
        </p:nvGraphicFramePr>
        <p:xfrm>
          <a:off x="1631950" y="5264150"/>
          <a:ext cx="5245100" cy="1106488"/>
        </p:xfrm>
        <a:graphic>
          <a:graphicData uri="http://schemas.openxmlformats.org/drawingml/2006/table">
            <a:tbl>
              <a:tblPr firstRow="1" bandRow="1">
                <a:tableStyleId>{C083E6E3-FA7D-4D7B-A595-EF9225AFEA82}</a:tableStyleId>
              </a:tblPr>
              <a:tblGrid>
                <a:gridCol w="1330847">
                  <a:extLst>
                    <a:ext uri="{9D8B030D-6E8A-4147-A177-3AD203B41FA5}">
                      <a16:colId xmlns:a16="http://schemas.microsoft.com/office/drawing/2014/main" val="20000"/>
                    </a:ext>
                  </a:extLst>
                </a:gridCol>
                <a:gridCol w="2617972">
                  <a:extLst>
                    <a:ext uri="{9D8B030D-6E8A-4147-A177-3AD203B41FA5}">
                      <a16:colId xmlns:a16="http://schemas.microsoft.com/office/drawing/2014/main" val="20001"/>
                    </a:ext>
                  </a:extLst>
                </a:gridCol>
                <a:gridCol w="1296282">
                  <a:extLst>
                    <a:ext uri="{9D8B030D-6E8A-4147-A177-3AD203B41FA5}">
                      <a16:colId xmlns:a16="http://schemas.microsoft.com/office/drawing/2014/main" val="20002"/>
                    </a:ext>
                  </a:extLst>
                </a:gridCol>
              </a:tblGrid>
              <a:tr h="365655">
                <a:tc>
                  <a:txBody>
                    <a:bodyPr/>
                    <a:lstStyle/>
                    <a:p>
                      <a:pPr algn="ctr"/>
                      <a:r>
                        <a:rPr lang="en-CA" sz="1800" dirty="0"/>
                        <a:t>ISBN</a:t>
                      </a:r>
                    </a:p>
                  </a:txBody>
                  <a:tcPr marL="91450" marR="91450" marT="45668" marB="45668"/>
                </a:tc>
                <a:tc>
                  <a:txBody>
                    <a:bodyPr/>
                    <a:lstStyle/>
                    <a:p>
                      <a:pPr algn="ctr"/>
                      <a:r>
                        <a:rPr lang="en-CA" sz="1800" dirty="0"/>
                        <a:t>Title</a:t>
                      </a:r>
                    </a:p>
                  </a:txBody>
                  <a:tcPr marL="91450" marR="91450" marT="45668" marB="45668"/>
                </a:tc>
                <a:tc>
                  <a:txBody>
                    <a:bodyPr/>
                    <a:lstStyle/>
                    <a:p>
                      <a:pPr algn="ctr"/>
                      <a:r>
                        <a:rPr lang="en-CA" sz="1800" dirty="0"/>
                        <a:t>Day</a:t>
                      </a:r>
                    </a:p>
                  </a:txBody>
                  <a:tcPr marL="91450" marR="91450" marT="45668" marB="45668"/>
                </a:tc>
                <a:extLst>
                  <a:ext uri="{0D108BD9-81ED-4DB2-BD59-A6C34878D82A}">
                    <a16:rowId xmlns:a16="http://schemas.microsoft.com/office/drawing/2014/main" val="10000"/>
                  </a:ext>
                </a:extLst>
              </a:tr>
              <a:tr h="370416">
                <a:tc>
                  <a:txBody>
                    <a:bodyPr/>
                    <a:lstStyle/>
                    <a:p>
                      <a:pPr algn="ctr"/>
                      <a:r>
                        <a:rPr lang="en-CA" sz="1800" dirty="0"/>
                        <a:t>12345</a:t>
                      </a:r>
                    </a:p>
                  </a:txBody>
                  <a:tcPr marL="91450" marR="91450" marT="45668" marB="45668"/>
                </a:tc>
                <a:tc>
                  <a:txBody>
                    <a:bodyPr/>
                    <a:lstStyle/>
                    <a:p>
                      <a:pPr algn="ctr"/>
                      <a:r>
                        <a:rPr lang="en-CA" sz="1800" dirty="0"/>
                        <a:t>The Hunger Game</a:t>
                      </a:r>
                    </a:p>
                  </a:txBody>
                  <a:tcPr marL="91450" marR="91450" marT="45668" marB="45668"/>
                </a:tc>
                <a:tc>
                  <a:txBody>
                    <a:bodyPr/>
                    <a:lstStyle/>
                    <a:p>
                      <a:pPr algn="ctr"/>
                      <a:r>
                        <a:rPr lang="en-CA" sz="1800" dirty="0"/>
                        <a:t>11</a:t>
                      </a:r>
                    </a:p>
                  </a:txBody>
                  <a:tcPr marL="91450" marR="91450" marT="45668" marB="45668"/>
                </a:tc>
                <a:extLst>
                  <a:ext uri="{0D108BD9-81ED-4DB2-BD59-A6C34878D82A}">
                    <a16:rowId xmlns:a16="http://schemas.microsoft.com/office/drawing/2014/main" val="10001"/>
                  </a:ext>
                </a:extLst>
              </a:tr>
              <a:tr h="370416">
                <a:tc>
                  <a:txBody>
                    <a:bodyPr/>
                    <a:lstStyle/>
                    <a:p>
                      <a:pPr algn="ctr"/>
                      <a:r>
                        <a:rPr lang="en-CA" sz="1800" dirty="0"/>
                        <a:t>54321</a:t>
                      </a:r>
                    </a:p>
                  </a:txBody>
                  <a:tcPr marL="91450" marR="91450" marT="45668" marB="45668"/>
                </a:tc>
                <a:tc>
                  <a:txBody>
                    <a:bodyPr/>
                    <a:lstStyle/>
                    <a:p>
                      <a:pPr algn="ctr"/>
                      <a:r>
                        <a:rPr lang="en-CA" sz="1800" dirty="0"/>
                        <a:t>A</a:t>
                      </a:r>
                      <a:r>
                        <a:rPr lang="en-CA" sz="1800" baseline="0" dirty="0"/>
                        <a:t> Song of Ice and Fire</a:t>
                      </a:r>
                      <a:endParaRPr lang="en-CA" sz="1800" dirty="0"/>
                    </a:p>
                  </a:txBody>
                  <a:tcPr marL="91450" marR="91450" marT="45668" marB="45668"/>
                </a:tc>
                <a:tc>
                  <a:txBody>
                    <a:bodyPr/>
                    <a:lstStyle/>
                    <a:p>
                      <a:pPr algn="ctr"/>
                      <a:r>
                        <a:rPr lang="en-CA" sz="1800" dirty="0"/>
                        <a:t>28</a:t>
                      </a:r>
                    </a:p>
                  </a:txBody>
                  <a:tcPr marL="91450" marR="91450" marT="45668" marB="45668"/>
                </a:tc>
                <a:extLst>
                  <a:ext uri="{0D108BD9-81ED-4DB2-BD59-A6C34878D82A}">
                    <a16:rowId xmlns:a16="http://schemas.microsoft.com/office/drawing/2014/main" val="10002"/>
                  </a:ext>
                </a:extLst>
              </a:tr>
            </a:tbl>
          </a:graphicData>
        </a:graphic>
      </p:graphicFrame>
      <p:graphicFrame>
        <p:nvGraphicFramePr>
          <p:cNvPr id="20" name="Table 19">
            <a:extLst>
              <a:ext uri="{FF2B5EF4-FFF2-40B4-BE49-F238E27FC236}">
                <a16:creationId xmlns:a16="http://schemas.microsoft.com/office/drawing/2014/main" id="{2F937188-E720-22D9-CB63-7E478C2FB063}"/>
              </a:ext>
            </a:extLst>
          </p:cNvPr>
          <p:cNvGraphicFramePr>
            <a:graphicFrameLocks noGrp="1"/>
          </p:cNvGraphicFramePr>
          <p:nvPr/>
        </p:nvGraphicFramePr>
        <p:xfrm>
          <a:off x="1106488" y="2411413"/>
          <a:ext cx="6931025" cy="1112837"/>
        </p:xfrm>
        <a:graphic>
          <a:graphicData uri="http://schemas.openxmlformats.org/drawingml/2006/table">
            <a:tbl>
              <a:tblPr firstRow="1" bandRow="1">
                <a:tableStyleId>{D27102A9-8310-4765-A935-A1911B00CA55}</a:tableStyleId>
              </a:tblPr>
              <a:tblGrid>
                <a:gridCol w="1664337">
                  <a:extLst>
                    <a:ext uri="{9D8B030D-6E8A-4147-A177-3AD203B41FA5}">
                      <a16:colId xmlns:a16="http://schemas.microsoft.com/office/drawing/2014/main" val="20000"/>
                    </a:ext>
                  </a:extLst>
                </a:gridCol>
                <a:gridCol w="2674050">
                  <a:extLst>
                    <a:ext uri="{9D8B030D-6E8A-4147-A177-3AD203B41FA5}">
                      <a16:colId xmlns:a16="http://schemas.microsoft.com/office/drawing/2014/main" val="20001"/>
                    </a:ext>
                  </a:extLst>
                </a:gridCol>
                <a:gridCol w="2592638">
                  <a:extLst>
                    <a:ext uri="{9D8B030D-6E8A-4147-A177-3AD203B41FA5}">
                      <a16:colId xmlns:a16="http://schemas.microsoft.com/office/drawing/2014/main" val="20002"/>
                    </a:ext>
                  </a:extLst>
                </a:gridCol>
              </a:tblGrid>
              <a:tr h="370946">
                <a:tc>
                  <a:txBody>
                    <a:bodyPr/>
                    <a:lstStyle/>
                    <a:p>
                      <a:pPr algn="ctr"/>
                      <a:r>
                        <a:rPr lang="en-CA" sz="1800" dirty="0"/>
                        <a:t>ISBN</a:t>
                      </a:r>
                    </a:p>
                  </a:txBody>
                  <a:tcPr marL="91452" marR="91452" marT="45733" marB="45733"/>
                </a:tc>
                <a:tc>
                  <a:txBody>
                    <a:bodyPr/>
                    <a:lstStyle/>
                    <a:p>
                      <a:pPr algn="ctr"/>
                      <a:r>
                        <a:rPr lang="en-CA" sz="1800" dirty="0"/>
                        <a:t>Title</a:t>
                      </a:r>
                    </a:p>
                  </a:txBody>
                  <a:tcPr marL="91452" marR="91452" marT="45733" marB="45733"/>
                </a:tc>
                <a:tc>
                  <a:txBody>
                    <a:bodyPr/>
                    <a:lstStyle/>
                    <a:p>
                      <a:pPr algn="ctr"/>
                      <a:r>
                        <a:rPr lang="en-CA" sz="1800" dirty="0"/>
                        <a:t>Published</a:t>
                      </a:r>
                    </a:p>
                  </a:txBody>
                  <a:tcPr marL="91452" marR="91452" marT="45733" marB="45733"/>
                </a:tc>
                <a:extLst>
                  <a:ext uri="{0D108BD9-81ED-4DB2-BD59-A6C34878D82A}">
                    <a16:rowId xmlns:a16="http://schemas.microsoft.com/office/drawing/2014/main" val="10000"/>
                  </a:ext>
                </a:extLst>
              </a:tr>
              <a:tr h="370946">
                <a:tc>
                  <a:txBody>
                    <a:bodyPr/>
                    <a:lstStyle/>
                    <a:p>
                      <a:pPr algn="ctr"/>
                      <a:r>
                        <a:rPr lang="en-CA" sz="1800" dirty="0"/>
                        <a:t>12345</a:t>
                      </a:r>
                    </a:p>
                  </a:txBody>
                  <a:tcPr marL="91452" marR="91452" marT="45733" marB="45733"/>
                </a:tc>
                <a:tc>
                  <a:txBody>
                    <a:bodyPr/>
                    <a:lstStyle/>
                    <a:p>
                      <a:pPr algn="ctr"/>
                      <a:r>
                        <a:rPr lang="en-CA" sz="1800" dirty="0"/>
                        <a:t>The Hunger</a:t>
                      </a:r>
                      <a:r>
                        <a:rPr lang="en-CA" sz="1800" baseline="0" dirty="0"/>
                        <a:t> Game</a:t>
                      </a:r>
                      <a:endParaRPr lang="en-CA" sz="1800" dirty="0"/>
                    </a:p>
                  </a:txBody>
                  <a:tcPr marL="91452" marR="91452" marT="45733" marB="45733"/>
                </a:tc>
                <a:tc>
                  <a:txBody>
                    <a:bodyPr/>
                    <a:lstStyle/>
                    <a:p>
                      <a:pPr algn="ctr"/>
                      <a:r>
                        <a:rPr lang="en-CA" sz="1800" dirty="0"/>
                        <a:t>2008-10-11</a:t>
                      </a:r>
                    </a:p>
                  </a:txBody>
                  <a:tcPr marL="91452" marR="91452" marT="45733" marB="45733"/>
                </a:tc>
                <a:extLst>
                  <a:ext uri="{0D108BD9-81ED-4DB2-BD59-A6C34878D82A}">
                    <a16:rowId xmlns:a16="http://schemas.microsoft.com/office/drawing/2014/main" val="10001"/>
                  </a:ext>
                </a:extLst>
              </a:tr>
              <a:tr h="370946">
                <a:tc>
                  <a:txBody>
                    <a:bodyPr/>
                    <a:lstStyle/>
                    <a:p>
                      <a:pPr algn="ctr"/>
                      <a:r>
                        <a:rPr lang="en-CA" sz="1800" dirty="0"/>
                        <a:t>54321</a:t>
                      </a:r>
                    </a:p>
                  </a:txBody>
                  <a:tcPr marL="91452" marR="91452" marT="45733" marB="45733"/>
                </a:tc>
                <a:tc>
                  <a:txBody>
                    <a:bodyPr/>
                    <a:lstStyle/>
                    <a:p>
                      <a:pPr algn="ctr"/>
                      <a:r>
                        <a:rPr lang="en-CA" sz="1800" dirty="0"/>
                        <a:t>A</a:t>
                      </a:r>
                      <a:r>
                        <a:rPr lang="en-CA" sz="1800" baseline="0" dirty="0"/>
                        <a:t> Song of Ice and Fire</a:t>
                      </a:r>
                      <a:endParaRPr lang="en-CA" sz="1800" dirty="0"/>
                    </a:p>
                  </a:txBody>
                  <a:tcPr marL="91452" marR="91452" marT="45733" marB="45733"/>
                </a:tc>
                <a:tc>
                  <a:txBody>
                    <a:bodyPr/>
                    <a:lstStyle/>
                    <a:p>
                      <a:pPr algn="ctr"/>
                      <a:r>
                        <a:rPr lang="en-CA" sz="1800" dirty="0"/>
                        <a:t>2012-11-28</a:t>
                      </a:r>
                    </a:p>
                  </a:txBody>
                  <a:tcPr marL="91452" marR="91452" marT="45733" marB="45733"/>
                </a:tc>
                <a:extLst>
                  <a:ext uri="{0D108BD9-81ED-4DB2-BD59-A6C34878D82A}">
                    <a16:rowId xmlns:a16="http://schemas.microsoft.com/office/drawing/2014/main" val="10002"/>
                  </a:ext>
                </a:extLst>
              </a:tr>
            </a:tbl>
          </a:graphicData>
        </a:graphic>
      </p:graphicFrame>
      <p:sp>
        <p:nvSpPr>
          <p:cNvPr id="22560" name="TextBox 20">
            <a:extLst>
              <a:ext uri="{FF2B5EF4-FFF2-40B4-BE49-F238E27FC236}">
                <a16:creationId xmlns:a16="http://schemas.microsoft.com/office/drawing/2014/main" id="{3CE55B25-4653-F2FC-EDD1-AE32F001B303}"/>
              </a:ext>
            </a:extLst>
          </p:cNvPr>
          <p:cNvSpPr txBox="1">
            <a:spLocks noChangeArrowheads="1"/>
          </p:cNvSpPr>
          <p:nvPr/>
        </p:nvSpPr>
        <p:spPr bwMode="auto">
          <a:xfrm>
            <a:off x="3570288" y="3540125"/>
            <a:ext cx="20161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Book table</a:t>
            </a:r>
          </a:p>
        </p:txBody>
      </p:sp>
      <p:sp>
        <p:nvSpPr>
          <p:cNvPr id="22" name="Snip Single Corner Rectangle 21">
            <a:extLst>
              <a:ext uri="{FF2B5EF4-FFF2-40B4-BE49-F238E27FC236}">
                <a16:creationId xmlns:a16="http://schemas.microsoft.com/office/drawing/2014/main" id="{EB340E41-C190-1F50-C8D3-FCA03404BE5E}"/>
              </a:ext>
            </a:extLst>
          </p:cNvPr>
          <p:cNvSpPr/>
          <p:nvPr/>
        </p:nvSpPr>
        <p:spPr bwMode="auto">
          <a:xfrm>
            <a:off x="227013" y="5300663"/>
            <a:ext cx="1092200" cy="431800"/>
          </a:xfrm>
          <a:prstGeom prst="snip1Rect">
            <a:avLst/>
          </a:prstGeom>
          <a:solidFill>
            <a:srgbClr val="FFFF00">
              <a:alpha val="30000"/>
            </a:srgbClr>
          </a:solidFill>
          <a:ln w="9525" cap="flat" cmpd="sng" algn="ctr">
            <a:solidFill>
              <a:srgbClr val="FFC000"/>
            </a:solidFill>
            <a:prstDash val="solid"/>
            <a:round/>
            <a:headEnd type="none" w="med" len="med"/>
            <a:tailEnd type="none" w="med" len="me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sz="2000" b="1"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Result:</a:t>
            </a:r>
          </a:p>
        </p:txBody>
      </p:sp>
      <p:sp>
        <p:nvSpPr>
          <p:cNvPr id="23" name="Snip Single Corner Rectangle 22">
            <a:extLst>
              <a:ext uri="{FF2B5EF4-FFF2-40B4-BE49-F238E27FC236}">
                <a16:creationId xmlns:a16="http://schemas.microsoft.com/office/drawing/2014/main" id="{7DCAD716-71A1-6129-EE9E-A04E9E640CD4}"/>
              </a:ext>
            </a:extLst>
          </p:cNvPr>
          <p:cNvSpPr/>
          <p:nvPr/>
        </p:nvSpPr>
        <p:spPr bwMode="auto">
          <a:xfrm>
            <a:off x="250825" y="3978275"/>
            <a:ext cx="830263" cy="431800"/>
          </a:xfrm>
          <a:prstGeom prst="snip1Rect">
            <a:avLst/>
          </a:prstGeom>
          <a:solidFill>
            <a:srgbClr val="FFFF00">
              <a:alpha val="30000"/>
            </a:srgbClr>
          </a:solidFill>
          <a:ln w="9525" cap="flat" cmpd="sng" algn="ctr">
            <a:solidFill>
              <a:srgbClr val="FFC000"/>
            </a:solidFill>
            <a:prstDash val="solid"/>
            <a:round/>
            <a:headEnd type="none" w="med" len="med"/>
            <a:tailEnd type="none" w="med" len="med"/>
          </a:ln>
          <a:effec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2000" b="1"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Run:</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up)">
                                      <p:cBhvr>
                                        <p:cTn id="7" dur="500"/>
                                        <p:tgtEl>
                                          <p:spTgt spid="23"/>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23">
                                            <p:txEl>
                                              <p:pRg st="0" end="0"/>
                                            </p:txEl>
                                          </p:spTgt>
                                        </p:tgtEl>
                                        <p:attrNameLst>
                                          <p:attrName>style.visibility</p:attrName>
                                        </p:attrNameLst>
                                      </p:cBhvr>
                                      <p:to>
                                        <p:strVal val="visible"/>
                                      </p:to>
                                    </p:set>
                                    <p:animEffect transition="in" filter="wipe(left)">
                                      <p:cBhvr>
                                        <p:cTn id="11" dur="500"/>
                                        <p:tgtEl>
                                          <p:spTgt spid="23">
                                            <p:txEl>
                                              <p:pRg st="0" end="0"/>
                                            </p:txEl>
                                          </p:spTgt>
                                        </p:tgtEl>
                                      </p:cBhvr>
                                    </p:animEffect>
                                  </p:childTnLst>
                                </p:cTn>
                              </p:par>
                            </p:childTnLst>
                          </p:cTn>
                        </p:par>
                        <p:par>
                          <p:cTn id="12" fill="hold" nodeType="afterGroup">
                            <p:stCondLst>
                              <p:cond delay="1000"/>
                            </p:stCondLst>
                            <p:childTnLst>
                              <p:par>
                                <p:cTn id="13" presetID="16" presetClass="entr" presetSubtype="21" fill="hold" grpId="0" nodeType="after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barn(inVertical)">
                                      <p:cBhvr>
                                        <p:cTn id="15" dur="500"/>
                                        <p:tgtEl>
                                          <p:spTgt spid="18"/>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1" fill="hold" grpId="0" nodeType="clickEffect">
                                  <p:stCondLst>
                                    <p:cond delay="0"/>
                                  </p:stCondLst>
                                  <p:childTnLst>
                                    <p:set>
                                      <p:cBhvr>
                                        <p:cTn id="19" dur="1" fill="hold">
                                          <p:stCondLst>
                                            <p:cond delay="0"/>
                                          </p:stCondLst>
                                        </p:cTn>
                                        <p:tgtEl>
                                          <p:spTgt spid="22"/>
                                        </p:tgtEl>
                                        <p:attrNameLst>
                                          <p:attrName>style.visibility</p:attrName>
                                        </p:attrNameLst>
                                      </p:cBhvr>
                                      <p:to>
                                        <p:strVal val="visible"/>
                                      </p:to>
                                    </p:set>
                                    <p:animEffect transition="in" filter="wipe(up)">
                                      <p:cBhvr>
                                        <p:cTn id="20" dur="500"/>
                                        <p:tgtEl>
                                          <p:spTgt spid="22"/>
                                        </p:tgtEl>
                                      </p:cBhvr>
                                    </p:animEffect>
                                  </p:childTnLst>
                                </p:cTn>
                              </p:par>
                            </p:childTnLst>
                          </p:cTn>
                        </p:par>
                        <p:par>
                          <p:cTn id="21" fill="hold" nodeType="afterGroup">
                            <p:stCondLst>
                              <p:cond delay="500"/>
                            </p:stCondLst>
                            <p:childTnLst>
                              <p:par>
                                <p:cTn id="22" presetID="22" presetClass="entr" presetSubtype="8" fill="hold" nodeType="afterEffect">
                                  <p:stCondLst>
                                    <p:cond delay="0"/>
                                  </p:stCondLst>
                                  <p:childTnLst>
                                    <p:set>
                                      <p:cBhvr>
                                        <p:cTn id="23" dur="1" fill="hold">
                                          <p:stCondLst>
                                            <p:cond delay="0"/>
                                          </p:stCondLst>
                                        </p:cTn>
                                        <p:tgtEl>
                                          <p:spTgt spid="22">
                                            <p:txEl>
                                              <p:pRg st="0" end="0"/>
                                            </p:txEl>
                                          </p:spTgt>
                                        </p:tgtEl>
                                        <p:attrNameLst>
                                          <p:attrName>style.visibility</p:attrName>
                                        </p:attrNameLst>
                                      </p:cBhvr>
                                      <p:to>
                                        <p:strVal val="visible"/>
                                      </p:to>
                                    </p:set>
                                    <p:animEffect transition="in" filter="wipe(left)">
                                      <p:cBhvr>
                                        <p:cTn id="24" dur="500"/>
                                        <p:tgtEl>
                                          <p:spTgt spid="22">
                                            <p:txEl>
                                              <p:pRg st="0" end="0"/>
                                            </p:txEl>
                                          </p:spTgt>
                                        </p:tgtEl>
                                      </p:cBhvr>
                                    </p:animEffect>
                                  </p:childTnLst>
                                </p:cTn>
                              </p:par>
                            </p:childTnLst>
                          </p:cTn>
                        </p:par>
                        <p:par>
                          <p:cTn id="25" fill="hold" nodeType="afterGroup">
                            <p:stCondLst>
                              <p:cond delay="1000"/>
                            </p:stCondLst>
                            <p:childTnLst>
                              <p:par>
                                <p:cTn id="26" presetID="22" presetClass="entr" presetSubtype="8" fill="hold" nodeType="after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wipe(left)">
                                      <p:cBhvr>
                                        <p:cTn id="28"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2" grpId="0" animBg="1"/>
      <p:bldP spid="23" grpId="0" animBg="1"/>
    </p:bldLst>
  </p:timing>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0C792-474B-A921-D62E-9EBD08F084D8}"/>
              </a:ext>
            </a:extLst>
          </p:cNvPr>
          <p:cNvSpPr>
            <a:spLocks noGrp="1"/>
          </p:cNvSpPr>
          <p:nvPr>
            <p:ph type="title"/>
          </p:nvPr>
        </p:nvSpPr>
        <p:spPr>
          <a:xfrm>
            <a:off x="457200" y="0"/>
            <a:ext cx="7620000" cy="1143000"/>
          </a:xfrm>
        </p:spPr>
        <p:txBody>
          <a:bodyPr/>
          <a:lstStyle/>
          <a:p>
            <a:pPr algn="ctr">
              <a:defRPr/>
            </a:pPr>
            <a:r>
              <a:rPr lang="en-US" dirty="0"/>
              <a:t>Date Functions</a:t>
            </a:r>
            <a:endParaRPr lang="en-MY" dirty="0"/>
          </a:p>
        </p:txBody>
      </p:sp>
      <p:sp>
        <p:nvSpPr>
          <p:cNvPr id="16" name="Snip Single Corner Rectangle 15">
            <a:extLst>
              <a:ext uri="{FF2B5EF4-FFF2-40B4-BE49-F238E27FC236}">
                <a16:creationId xmlns:a16="http://schemas.microsoft.com/office/drawing/2014/main" id="{6301B860-159A-DED6-7B2B-2F1EC265C7E8}"/>
              </a:ext>
            </a:extLst>
          </p:cNvPr>
          <p:cNvSpPr/>
          <p:nvPr/>
        </p:nvSpPr>
        <p:spPr>
          <a:xfrm>
            <a:off x="-36513" y="1125538"/>
            <a:ext cx="1655763" cy="400050"/>
          </a:xfrm>
          <a:prstGeom prst="snip1Rect">
            <a:avLst/>
          </a:prstGeom>
          <a:solidFill>
            <a:schemeClr val="accent5"/>
          </a:solidFill>
          <a:ln>
            <a:solidFill>
              <a:schemeClr val="accent5"/>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marR="0" lvl="0" indent="-342900" algn="just" defTabSz="914400" rtl="0" eaLnBrk="1" fontAlgn="base" latinLnBrk="0" hangingPunct="1">
              <a:lnSpc>
                <a:spcPct val="100000"/>
              </a:lnSpc>
              <a:spcBef>
                <a:spcPct val="20000"/>
              </a:spcBef>
              <a:spcAft>
                <a:spcPct val="0"/>
              </a:spcAft>
              <a:buClr>
                <a:srgbClr val="FF6600"/>
              </a:buClr>
              <a:buSzPct val="100000"/>
              <a:buFontTx/>
              <a:buNone/>
              <a:tabLst/>
              <a:defRPr/>
            </a:pPr>
            <a:r>
              <a:rPr kumimoji="0" lang="en-GB" sz="1800" b="0" i="0" u="none" strike="noStrike" kern="0" cap="none" spc="0" normalizeH="0" baseline="0" noProof="0" dirty="0">
                <a:ln>
                  <a:noFill/>
                </a:ln>
                <a:solidFill>
                  <a:srgbClr val="FFFFFF"/>
                </a:solidFill>
                <a:effectLst/>
                <a:uLnTx/>
                <a:uFillTx/>
                <a:latin typeface="Calibri"/>
                <a:ea typeface="+mn-ea"/>
                <a:cs typeface="+mn-cs"/>
              </a:rPr>
              <a:t>DATE_ADD()</a:t>
            </a:r>
          </a:p>
        </p:txBody>
      </p:sp>
      <p:sp>
        <p:nvSpPr>
          <p:cNvPr id="17" name="Content Placeholder 2">
            <a:extLst>
              <a:ext uri="{FF2B5EF4-FFF2-40B4-BE49-F238E27FC236}">
                <a16:creationId xmlns:a16="http://schemas.microsoft.com/office/drawing/2014/main" id="{AA198683-523E-FBFF-ACF8-48998B81E4DB}"/>
              </a:ext>
            </a:extLst>
          </p:cNvPr>
          <p:cNvSpPr txBox="1">
            <a:spLocks/>
          </p:cNvSpPr>
          <p:nvPr/>
        </p:nvSpPr>
        <p:spPr bwMode="auto">
          <a:xfrm>
            <a:off x="250825" y="1773238"/>
            <a:ext cx="8655050"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DATE_ADD() – Adds a time interval</a:t>
            </a: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sp>
        <p:nvSpPr>
          <p:cNvPr id="18" name="Rounded Rectangle 17">
            <a:extLst>
              <a:ext uri="{FF2B5EF4-FFF2-40B4-BE49-F238E27FC236}">
                <a16:creationId xmlns:a16="http://schemas.microsoft.com/office/drawing/2014/main" id="{849F064B-7C15-B586-E68E-77517D845E7D}"/>
              </a:ext>
            </a:extLst>
          </p:cNvPr>
          <p:cNvSpPr/>
          <p:nvPr/>
        </p:nvSpPr>
        <p:spPr bwMode="auto">
          <a:xfrm>
            <a:off x="1319213" y="3968750"/>
            <a:ext cx="6757987" cy="1116013"/>
          </a:xfrm>
          <a:prstGeom prst="roundRect">
            <a:avLst/>
          </a:prstGeom>
          <a:solidFill>
            <a:schemeClr val="accent6">
              <a:alpha val="30000"/>
            </a:schemeClr>
          </a:solidFill>
          <a:ln w="9525" cap="flat" cmpd="sng" algn="ctr">
            <a:solidFill>
              <a:schemeClr val="accent6"/>
            </a:solidFill>
            <a:prstDash val="solid"/>
            <a:round/>
            <a:headEnd type="none" w="med" len="med"/>
            <a:tailEnd type="none" w="med" len="med"/>
          </a:ln>
          <a:effectLst/>
        </p:spPr>
        <p:txBody>
          <a:bodyPr anchor="ctr" anchorCtr="1"/>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2400" b="0"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SELECT ISBN, Title, DATE_ADD(Published, INTERVAL 5 DAY) AS Published FROM Book; </a:t>
            </a:r>
          </a:p>
        </p:txBody>
      </p:sp>
      <p:graphicFrame>
        <p:nvGraphicFramePr>
          <p:cNvPr id="19" name="Table 18">
            <a:extLst>
              <a:ext uri="{FF2B5EF4-FFF2-40B4-BE49-F238E27FC236}">
                <a16:creationId xmlns:a16="http://schemas.microsoft.com/office/drawing/2014/main" id="{EA66945C-9661-812F-8F7D-DDFA1CDC1505}"/>
              </a:ext>
            </a:extLst>
          </p:cNvPr>
          <p:cNvGraphicFramePr>
            <a:graphicFrameLocks noGrp="1"/>
          </p:cNvGraphicFramePr>
          <p:nvPr/>
        </p:nvGraphicFramePr>
        <p:xfrm>
          <a:off x="1631950" y="5264150"/>
          <a:ext cx="6445250" cy="1106488"/>
        </p:xfrm>
        <a:graphic>
          <a:graphicData uri="http://schemas.openxmlformats.org/drawingml/2006/table">
            <a:tbl>
              <a:tblPr firstRow="1" bandRow="1">
                <a:tableStyleId>{C083E6E3-FA7D-4D7B-A595-EF9225AFEA82}</a:tableStyleId>
              </a:tblPr>
              <a:tblGrid>
                <a:gridCol w="1635362">
                  <a:extLst>
                    <a:ext uri="{9D8B030D-6E8A-4147-A177-3AD203B41FA5}">
                      <a16:colId xmlns:a16="http://schemas.microsoft.com/office/drawing/2014/main" val="20000"/>
                    </a:ext>
                  </a:extLst>
                </a:gridCol>
                <a:gridCol w="2404944">
                  <a:extLst>
                    <a:ext uri="{9D8B030D-6E8A-4147-A177-3AD203B41FA5}">
                      <a16:colId xmlns:a16="http://schemas.microsoft.com/office/drawing/2014/main" val="20001"/>
                    </a:ext>
                  </a:extLst>
                </a:gridCol>
                <a:gridCol w="2404944">
                  <a:extLst>
                    <a:ext uri="{9D8B030D-6E8A-4147-A177-3AD203B41FA5}">
                      <a16:colId xmlns:a16="http://schemas.microsoft.com/office/drawing/2014/main" val="20002"/>
                    </a:ext>
                  </a:extLst>
                </a:gridCol>
              </a:tblGrid>
              <a:tr h="365655">
                <a:tc>
                  <a:txBody>
                    <a:bodyPr/>
                    <a:lstStyle/>
                    <a:p>
                      <a:pPr algn="ctr"/>
                      <a:r>
                        <a:rPr lang="en-CA" sz="1800" dirty="0"/>
                        <a:t>ISBN</a:t>
                      </a:r>
                    </a:p>
                  </a:txBody>
                  <a:tcPr marL="91437" marR="91437" marT="45668" marB="45668"/>
                </a:tc>
                <a:tc>
                  <a:txBody>
                    <a:bodyPr/>
                    <a:lstStyle/>
                    <a:p>
                      <a:pPr algn="ctr"/>
                      <a:r>
                        <a:rPr lang="en-CA" sz="1800" dirty="0"/>
                        <a:t>Title</a:t>
                      </a:r>
                    </a:p>
                  </a:txBody>
                  <a:tcPr marL="91437" marR="91437" marT="45668" marB="45668"/>
                </a:tc>
                <a:tc>
                  <a:txBody>
                    <a:bodyPr/>
                    <a:lstStyle/>
                    <a:p>
                      <a:pPr algn="ctr"/>
                      <a:r>
                        <a:rPr lang="en-CA" sz="1800" dirty="0"/>
                        <a:t>Published</a:t>
                      </a:r>
                    </a:p>
                  </a:txBody>
                  <a:tcPr marL="91437" marR="91437" marT="45668" marB="45668"/>
                </a:tc>
                <a:extLst>
                  <a:ext uri="{0D108BD9-81ED-4DB2-BD59-A6C34878D82A}">
                    <a16:rowId xmlns:a16="http://schemas.microsoft.com/office/drawing/2014/main" val="10000"/>
                  </a:ext>
                </a:extLst>
              </a:tr>
              <a:tr h="370416">
                <a:tc>
                  <a:txBody>
                    <a:bodyPr/>
                    <a:lstStyle/>
                    <a:p>
                      <a:pPr algn="ctr"/>
                      <a:r>
                        <a:rPr lang="en-CA" sz="1800" dirty="0"/>
                        <a:t>12345</a:t>
                      </a:r>
                    </a:p>
                  </a:txBody>
                  <a:tcPr marL="91437" marR="91437" marT="45668" marB="45668"/>
                </a:tc>
                <a:tc>
                  <a:txBody>
                    <a:bodyPr/>
                    <a:lstStyle/>
                    <a:p>
                      <a:pPr algn="ctr"/>
                      <a:r>
                        <a:rPr lang="en-CA" sz="1800" dirty="0"/>
                        <a:t>The Hunger Game</a:t>
                      </a:r>
                    </a:p>
                  </a:txBody>
                  <a:tcPr marL="91437" marR="91437" marT="45668" marB="45668"/>
                </a:tc>
                <a:tc>
                  <a:txBody>
                    <a:bodyPr/>
                    <a:lstStyle/>
                    <a:p>
                      <a:pPr algn="ctr"/>
                      <a:r>
                        <a:rPr lang="en-CA" sz="1800" dirty="0"/>
                        <a:t>2008-10-16</a:t>
                      </a:r>
                    </a:p>
                  </a:txBody>
                  <a:tcPr marL="91437" marR="91437" marT="45668" marB="45668"/>
                </a:tc>
                <a:extLst>
                  <a:ext uri="{0D108BD9-81ED-4DB2-BD59-A6C34878D82A}">
                    <a16:rowId xmlns:a16="http://schemas.microsoft.com/office/drawing/2014/main" val="10001"/>
                  </a:ext>
                </a:extLst>
              </a:tr>
              <a:tr h="370416">
                <a:tc>
                  <a:txBody>
                    <a:bodyPr/>
                    <a:lstStyle/>
                    <a:p>
                      <a:pPr algn="ctr"/>
                      <a:r>
                        <a:rPr lang="en-CA" sz="1800" dirty="0"/>
                        <a:t>54321</a:t>
                      </a:r>
                    </a:p>
                  </a:txBody>
                  <a:tcPr marL="91437" marR="91437" marT="45668" marB="45668"/>
                </a:tc>
                <a:tc>
                  <a:txBody>
                    <a:bodyPr/>
                    <a:lstStyle/>
                    <a:p>
                      <a:pPr algn="ctr"/>
                      <a:r>
                        <a:rPr lang="en-CA" sz="1800" dirty="0"/>
                        <a:t>A</a:t>
                      </a:r>
                      <a:r>
                        <a:rPr lang="en-CA" sz="1800" baseline="0" dirty="0"/>
                        <a:t> Song of Ice and Fire</a:t>
                      </a:r>
                      <a:endParaRPr lang="en-CA" sz="1800" dirty="0"/>
                    </a:p>
                  </a:txBody>
                  <a:tcPr marL="91437" marR="91437" marT="45668" marB="45668"/>
                </a:tc>
                <a:tc>
                  <a:txBody>
                    <a:bodyPr/>
                    <a:lstStyle/>
                    <a:p>
                      <a:pPr algn="ctr"/>
                      <a:r>
                        <a:rPr lang="en-CA" sz="1800" dirty="0"/>
                        <a:t>2012-12-03</a:t>
                      </a:r>
                    </a:p>
                  </a:txBody>
                  <a:tcPr marL="91437" marR="91437" marT="45668" marB="45668"/>
                </a:tc>
                <a:extLst>
                  <a:ext uri="{0D108BD9-81ED-4DB2-BD59-A6C34878D82A}">
                    <a16:rowId xmlns:a16="http://schemas.microsoft.com/office/drawing/2014/main" val="10002"/>
                  </a:ext>
                </a:extLst>
              </a:tr>
            </a:tbl>
          </a:graphicData>
        </a:graphic>
      </p:graphicFrame>
      <p:graphicFrame>
        <p:nvGraphicFramePr>
          <p:cNvPr id="20" name="Table 19">
            <a:extLst>
              <a:ext uri="{FF2B5EF4-FFF2-40B4-BE49-F238E27FC236}">
                <a16:creationId xmlns:a16="http://schemas.microsoft.com/office/drawing/2014/main" id="{34EC6C0F-8650-E6B8-59A5-D6408F881E7F}"/>
              </a:ext>
            </a:extLst>
          </p:cNvPr>
          <p:cNvGraphicFramePr>
            <a:graphicFrameLocks noGrp="1"/>
          </p:cNvGraphicFramePr>
          <p:nvPr/>
        </p:nvGraphicFramePr>
        <p:xfrm>
          <a:off x="1106488" y="2411413"/>
          <a:ext cx="6931025" cy="1112837"/>
        </p:xfrm>
        <a:graphic>
          <a:graphicData uri="http://schemas.openxmlformats.org/drawingml/2006/table">
            <a:tbl>
              <a:tblPr firstRow="1" bandRow="1">
                <a:tableStyleId>{D27102A9-8310-4765-A935-A1911B00CA55}</a:tableStyleId>
              </a:tblPr>
              <a:tblGrid>
                <a:gridCol w="1664337">
                  <a:extLst>
                    <a:ext uri="{9D8B030D-6E8A-4147-A177-3AD203B41FA5}">
                      <a16:colId xmlns:a16="http://schemas.microsoft.com/office/drawing/2014/main" val="20000"/>
                    </a:ext>
                  </a:extLst>
                </a:gridCol>
                <a:gridCol w="2674050">
                  <a:extLst>
                    <a:ext uri="{9D8B030D-6E8A-4147-A177-3AD203B41FA5}">
                      <a16:colId xmlns:a16="http://schemas.microsoft.com/office/drawing/2014/main" val="20001"/>
                    </a:ext>
                  </a:extLst>
                </a:gridCol>
                <a:gridCol w="2592638">
                  <a:extLst>
                    <a:ext uri="{9D8B030D-6E8A-4147-A177-3AD203B41FA5}">
                      <a16:colId xmlns:a16="http://schemas.microsoft.com/office/drawing/2014/main" val="20002"/>
                    </a:ext>
                  </a:extLst>
                </a:gridCol>
              </a:tblGrid>
              <a:tr h="370946">
                <a:tc>
                  <a:txBody>
                    <a:bodyPr/>
                    <a:lstStyle/>
                    <a:p>
                      <a:pPr algn="ctr"/>
                      <a:r>
                        <a:rPr lang="en-CA" sz="1800" dirty="0"/>
                        <a:t>ISBN</a:t>
                      </a:r>
                    </a:p>
                  </a:txBody>
                  <a:tcPr marL="91452" marR="91452" marT="45733" marB="45733"/>
                </a:tc>
                <a:tc>
                  <a:txBody>
                    <a:bodyPr/>
                    <a:lstStyle/>
                    <a:p>
                      <a:pPr algn="ctr"/>
                      <a:r>
                        <a:rPr lang="en-CA" sz="1800" dirty="0"/>
                        <a:t>Title</a:t>
                      </a:r>
                    </a:p>
                  </a:txBody>
                  <a:tcPr marL="91452" marR="91452" marT="45733" marB="45733"/>
                </a:tc>
                <a:tc>
                  <a:txBody>
                    <a:bodyPr/>
                    <a:lstStyle/>
                    <a:p>
                      <a:pPr algn="ctr"/>
                      <a:r>
                        <a:rPr lang="en-CA" sz="1800" dirty="0"/>
                        <a:t>Published</a:t>
                      </a:r>
                    </a:p>
                  </a:txBody>
                  <a:tcPr marL="91452" marR="91452" marT="45733" marB="45733"/>
                </a:tc>
                <a:extLst>
                  <a:ext uri="{0D108BD9-81ED-4DB2-BD59-A6C34878D82A}">
                    <a16:rowId xmlns:a16="http://schemas.microsoft.com/office/drawing/2014/main" val="10000"/>
                  </a:ext>
                </a:extLst>
              </a:tr>
              <a:tr h="370946">
                <a:tc>
                  <a:txBody>
                    <a:bodyPr/>
                    <a:lstStyle/>
                    <a:p>
                      <a:pPr algn="ctr"/>
                      <a:r>
                        <a:rPr lang="en-CA" sz="1800" dirty="0"/>
                        <a:t>12345</a:t>
                      </a:r>
                    </a:p>
                  </a:txBody>
                  <a:tcPr marL="91452" marR="91452" marT="45733" marB="45733"/>
                </a:tc>
                <a:tc>
                  <a:txBody>
                    <a:bodyPr/>
                    <a:lstStyle/>
                    <a:p>
                      <a:pPr algn="ctr"/>
                      <a:r>
                        <a:rPr lang="en-CA" sz="1800" dirty="0"/>
                        <a:t>The Hunger</a:t>
                      </a:r>
                      <a:r>
                        <a:rPr lang="en-CA" sz="1800" baseline="0" dirty="0"/>
                        <a:t> Game</a:t>
                      </a:r>
                      <a:endParaRPr lang="en-CA" sz="1800" dirty="0"/>
                    </a:p>
                  </a:txBody>
                  <a:tcPr marL="91452" marR="91452" marT="45733" marB="45733"/>
                </a:tc>
                <a:tc>
                  <a:txBody>
                    <a:bodyPr/>
                    <a:lstStyle/>
                    <a:p>
                      <a:pPr algn="ctr"/>
                      <a:r>
                        <a:rPr lang="en-CA" sz="1800" dirty="0"/>
                        <a:t>2008-10-11</a:t>
                      </a:r>
                    </a:p>
                  </a:txBody>
                  <a:tcPr marL="91452" marR="91452" marT="45733" marB="45733"/>
                </a:tc>
                <a:extLst>
                  <a:ext uri="{0D108BD9-81ED-4DB2-BD59-A6C34878D82A}">
                    <a16:rowId xmlns:a16="http://schemas.microsoft.com/office/drawing/2014/main" val="10001"/>
                  </a:ext>
                </a:extLst>
              </a:tr>
              <a:tr h="370946">
                <a:tc>
                  <a:txBody>
                    <a:bodyPr/>
                    <a:lstStyle/>
                    <a:p>
                      <a:pPr algn="ctr"/>
                      <a:r>
                        <a:rPr lang="en-CA" sz="1800" dirty="0"/>
                        <a:t>54321</a:t>
                      </a:r>
                    </a:p>
                  </a:txBody>
                  <a:tcPr marL="91452" marR="91452" marT="45733" marB="45733"/>
                </a:tc>
                <a:tc>
                  <a:txBody>
                    <a:bodyPr/>
                    <a:lstStyle/>
                    <a:p>
                      <a:pPr algn="ctr"/>
                      <a:r>
                        <a:rPr lang="en-CA" sz="1800" dirty="0"/>
                        <a:t>A</a:t>
                      </a:r>
                      <a:r>
                        <a:rPr lang="en-CA" sz="1800" baseline="0" dirty="0"/>
                        <a:t> Song of Ice and Fire</a:t>
                      </a:r>
                      <a:endParaRPr lang="en-CA" sz="1800" dirty="0"/>
                    </a:p>
                  </a:txBody>
                  <a:tcPr marL="91452" marR="91452" marT="45733" marB="45733"/>
                </a:tc>
                <a:tc>
                  <a:txBody>
                    <a:bodyPr/>
                    <a:lstStyle/>
                    <a:p>
                      <a:pPr algn="ctr"/>
                      <a:r>
                        <a:rPr lang="en-CA" sz="1800" dirty="0"/>
                        <a:t>2012-11-28</a:t>
                      </a:r>
                    </a:p>
                  </a:txBody>
                  <a:tcPr marL="91452" marR="91452" marT="45733" marB="45733"/>
                </a:tc>
                <a:extLst>
                  <a:ext uri="{0D108BD9-81ED-4DB2-BD59-A6C34878D82A}">
                    <a16:rowId xmlns:a16="http://schemas.microsoft.com/office/drawing/2014/main" val="10002"/>
                  </a:ext>
                </a:extLst>
              </a:tr>
            </a:tbl>
          </a:graphicData>
        </a:graphic>
      </p:graphicFrame>
      <p:sp>
        <p:nvSpPr>
          <p:cNvPr id="21" name="TextBox 20">
            <a:extLst>
              <a:ext uri="{FF2B5EF4-FFF2-40B4-BE49-F238E27FC236}">
                <a16:creationId xmlns:a16="http://schemas.microsoft.com/office/drawing/2014/main" id="{8083C908-DADF-A52A-FE00-C2E9B9B71F78}"/>
              </a:ext>
            </a:extLst>
          </p:cNvPr>
          <p:cNvSpPr txBox="1">
            <a:spLocks noChangeArrowheads="1"/>
          </p:cNvSpPr>
          <p:nvPr/>
        </p:nvSpPr>
        <p:spPr bwMode="auto">
          <a:xfrm>
            <a:off x="3570288" y="3540125"/>
            <a:ext cx="20161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Book table</a:t>
            </a:r>
          </a:p>
        </p:txBody>
      </p:sp>
      <p:sp>
        <p:nvSpPr>
          <p:cNvPr id="22" name="Snip Single Corner Rectangle 21">
            <a:extLst>
              <a:ext uri="{FF2B5EF4-FFF2-40B4-BE49-F238E27FC236}">
                <a16:creationId xmlns:a16="http://schemas.microsoft.com/office/drawing/2014/main" id="{62A4F138-2EC3-E67F-848F-C046F3B611D8}"/>
              </a:ext>
            </a:extLst>
          </p:cNvPr>
          <p:cNvSpPr/>
          <p:nvPr/>
        </p:nvSpPr>
        <p:spPr bwMode="auto">
          <a:xfrm>
            <a:off x="227013" y="5300663"/>
            <a:ext cx="1092200" cy="431800"/>
          </a:xfrm>
          <a:prstGeom prst="snip1Rect">
            <a:avLst/>
          </a:prstGeom>
          <a:solidFill>
            <a:srgbClr val="FFFF00">
              <a:alpha val="30000"/>
            </a:srgbClr>
          </a:solidFill>
          <a:ln w="9525" cap="flat" cmpd="sng" algn="ctr">
            <a:solidFill>
              <a:srgbClr val="FFC000"/>
            </a:solidFill>
            <a:prstDash val="solid"/>
            <a:round/>
            <a:headEnd type="none" w="med" len="med"/>
            <a:tailEnd type="none" w="med" len="me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sz="2000" b="1"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Result:</a:t>
            </a:r>
          </a:p>
        </p:txBody>
      </p:sp>
      <p:sp>
        <p:nvSpPr>
          <p:cNvPr id="23" name="Snip Single Corner Rectangle 22">
            <a:extLst>
              <a:ext uri="{FF2B5EF4-FFF2-40B4-BE49-F238E27FC236}">
                <a16:creationId xmlns:a16="http://schemas.microsoft.com/office/drawing/2014/main" id="{12938E9B-D3D3-08E7-A2AD-25DD86EEC138}"/>
              </a:ext>
            </a:extLst>
          </p:cNvPr>
          <p:cNvSpPr/>
          <p:nvPr/>
        </p:nvSpPr>
        <p:spPr bwMode="auto">
          <a:xfrm>
            <a:off x="250825" y="3978275"/>
            <a:ext cx="830263" cy="431800"/>
          </a:xfrm>
          <a:prstGeom prst="snip1Rect">
            <a:avLst/>
          </a:prstGeom>
          <a:solidFill>
            <a:srgbClr val="FFFF00">
              <a:alpha val="30000"/>
            </a:srgbClr>
          </a:solidFill>
          <a:ln w="9525" cap="flat" cmpd="sng" algn="ctr">
            <a:solidFill>
              <a:srgbClr val="FFC000"/>
            </a:solidFill>
            <a:prstDash val="solid"/>
            <a:round/>
            <a:headEnd type="none" w="med" len="med"/>
            <a:tailEnd type="none" w="med" len="med"/>
          </a:ln>
          <a:effec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2000" b="1"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Run:</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7">
                                            <p:txEl>
                                              <p:pRg st="0" end="0"/>
                                            </p:txEl>
                                          </p:spTgt>
                                        </p:tgtEl>
                                        <p:attrNameLst>
                                          <p:attrName>style.visibility</p:attrName>
                                        </p:attrNameLst>
                                      </p:cBhvr>
                                      <p:to>
                                        <p:strVal val="visible"/>
                                      </p:to>
                                    </p:set>
                                    <p:animEffect transition="in" filter="wipe(left)">
                                      <p:cBhvr>
                                        <p:cTn id="11" dur="500"/>
                                        <p:tgtEl>
                                          <p:spTgt spid="17">
                                            <p:txEl>
                                              <p:pRg st="0" end="0"/>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6" presetClass="entr" presetSubtype="21" fill="hold" nodeType="click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barn(inVertical)">
                                      <p:cBhvr>
                                        <p:cTn id="16" dur="500"/>
                                        <p:tgtEl>
                                          <p:spTgt spid="20"/>
                                        </p:tgtEl>
                                      </p:cBhvr>
                                    </p:animEffect>
                                  </p:childTnLst>
                                </p:cTn>
                              </p:par>
                            </p:childTnLst>
                          </p:cTn>
                        </p:par>
                        <p:par>
                          <p:cTn id="17" fill="hold" nodeType="afterGroup">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21"/>
                                        </p:tgtEl>
                                        <p:attrNameLst>
                                          <p:attrName>style.visibility</p:attrName>
                                        </p:attrNameLst>
                                      </p:cBhvr>
                                      <p:to>
                                        <p:strVal val="visible"/>
                                      </p:to>
                                    </p:set>
                                    <p:animEffect transition="in" filter="wipe(left)">
                                      <p:cBhvr>
                                        <p:cTn id="20" dur="500"/>
                                        <p:tgtEl>
                                          <p:spTgt spid="21"/>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1" fill="hold" grpId="0" nodeType="clickEffect">
                                  <p:stCondLst>
                                    <p:cond delay="0"/>
                                  </p:stCondLst>
                                  <p:childTnLst>
                                    <p:set>
                                      <p:cBhvr>
                                        <p:cTn id="24" dur="1" fill="hold">
                                          <p:stCondLst>
                                            <p:cond delay="0"/>
                                          </p:stCondLst>
                                        </p:cTn>
                                        <p:tgtEl>
                                          <p:spTgt spid="23"/>
                                        </p:tgtEl>
                                        <p:attrNameLst>
                                          <p:attrName>style.visibility</p:attrName>
                                        </p:attrNameLst>
                                      </p:cBhvr>
                                      <p:to>
                                        <p:strVal val="visible"/>
                                      </p:to>
                                    </p:set>
                                    <p:animEffect transition="in" filter="wipe(up)">
                                      <p:cBhvr>
                                        <p:cTn id="25" dur="500"/>
                                        <p:tgtEl>
                                          <p:spTgt spid="23"/>
                                        </p:tgtEl>
                                      </p:cBhvr>
                                    </p:animEffect>
                                  </p:childTnLst>
                                </p:cTn>
                              </p:par>
                            </p:childTnLst>
                          </p:cTn>
                        </p:par>
                        <p:par>
                          <p:cTn id="26" fill="hold" nodeType="afterGroup">
                            <p:stCondLst>
                              <p:cond delay="500"/>
                            </p:stCondLst>
                            <p:childTnLst>
                              <p:par>
                                <p:cTn id="27" presetID="22" presetClass="entr" presetSubtype="8" fill="hold" nodeType="afterEffect">
                                  <p:stCondLst>
                                    <p:cond delay="0"/>
                                  </p:stCondLst>
                                  <p:childTnLst>
                                    <p:set>
                                      <p:cBhvr>
                                        <p:cTn id="28" dur="1" fill="hold">
                                          <p:stCondLst>
                                            <p:cond delay="0"/>
                                          </p:stCondLst>
                                        </p:cTn>
                                        <p:tgtEl>
                                          <p:spTgt spid="23">
                                            <p:txEl>
                                              <p:pRg st="0" end="0"/>
                                            </p:txEl>
                                          </p:spTgt>
                                        </p:tgtEl>
                                        <p:attrNameLst>
                                          <p:attrName>style.visibility</p:attrName>
                                        </p:attrNameLst>
                                      </p:cBhvr>
                                      <p:to>
                                        <p:strVal val="visible"/>
                                      </p:to>
                                    </p:set>
                                    <p:animEffect transition="in" filter="wipe(left)">
                                      <p:cBhvr>
                                        <p:cTn id="29" dur="500"/>
                                        <p:tgtEl>
                                          <p:spTgt spid="23">
                                            <p:txEl>
                                              <p:pRg st="0" end="0"/>
                                            </p:txEl>
                                          </p:spTgt>
                                        </p:tgtEl>
                                      </p:cBhvr>
                                    </p:animEffect>
                                  </p:childTnLst>
                                </p:cTn>
                              </p:par>
                            </p:childTnLst>
                          </p:cTn>
                        </p:par>
                        <p:par>
                          <p:cTn id="30" fill="hold" nodeType="afterGroup">
                            <p:stCondLst>
                              <p:cond delay="1000"/>
                            </p:stCondLst>
                            <p:childTnLst>
                              <p:par>
                                <p:cTn id="31" presetID="16" presetClass="entr" presetSubtype="21" fill="hold" grpId="0" nodeType="after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barn(inVertical)">
                                      <p:cBhvr>
                                        <p:cTn id="33" dur="500"/>
                                        <p:tgtEl>
                                          <p:spTgt spid="18"/>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1" fill="hold" grpId="0" nodeType="clickEffect">
                                  <p:stCondLst>
                                    <p:cond delay="0"/>
                                  </p:stCondLst>
                                  <p:childTnLst>
                                    <p:set>
                                      <p:cBhvr>
                                        <p:cTn id="37" dur="1" fill="hold">
                                          <p:stCondLst>
                                            <p:cond delay="0"/>
                                          </p:stCondLst>
                                        </p:cTn>
                                        <p:tgtEl>
                                          <p:spTgt spid="22"/>
                                        </p:tgtEl>
                                        <p:attrNameLst>
                                          <p:attrName>style.visibility</p:attrName>
                                        </p:attrNameLst>
                                      </p:cBhvr>
                                      <p:to>
                                        <p:strVal val="visible"/>
                                      </p:to>
                                    </p:set>
                                    <p:animEffect transition="in" filter="wipe(up)">
                                      <p:cBhvr>
                                        <p:cTn id="38" dur="500"/>
                                        <p:tgtEl>
                                          <p:spTgt spid="22"/>
                                        </p:tgtEl>
                                      </p:cBhvr>
                                    </p:animEffect>
                                  </p:childTnLst>
                                </p:cTn>
                              </p:par>
                            </p:childTnLst>
                          </p:cTn>
                        </p:par>
                        <p:par>
                          <p:cTn id="39" fill="hold" nodeType="afterGroup">
                            <p:stCondLst>
                              <p:cond delay="500"/>
                            </p:stCondLst>
                            <p:childTnLst>
                              <p:par>
                                <p:cTn id="40" presetID="22" presetClass="entr" presetSubtype="8" fill="hold" nodeType="afterEffect">
                                  <p:stCondLst>
                                    <p:cond delay="0"/>
                                  </p:stCondLst>
                                  <p:childTnLst>
                                    <p:set>
                                      <p:cBhvr>
                                        <p:cTn id="41" dur="1" fill="hold">
                                          <p:stCondLst>
                                            <p:cond delay="0"/>
                                          </p:stCondLst>
                                        </p:cTn>
                                        <p:tgtEl>
                                          <p:spTgt spid="22">
                                            <p:txEl>
                                              <p:pRg st="0" end="0"/>
                                            </p:txEl>
                                          </p:spTgt>
                                        </p:tgtEl>
                                        <p:attrNameLst>
                                          <p:attrName>style.visibility</p:attrName>
                                        </p:attrNameLst>
                                      </p:cBhvr>
                                      <p:to>
                                        <p:strVal val="visible"/>
                                      </p:to>
                                    </p:set>
                                    <p:animEffect transition="in" filter="wipe(left)">
                                      <p:cBhvr>
                                        <p:cTn id="42" dur="500"/>
                                        <p:tgtEl>
                                          <p:spTgt spid="22">
                                            <p:txEl>
                                              <p:pRg st="0" end="0"/>
                                            </p:txEl>
                                          </p:spTgt>
                                        </p:tgtEl>
                                      </p:cBhvr>
                                    </p:animEffect>
                                  </p:childTnLst>
                                </p:cTn>
                              </p:par>
                            </p:childTnLst>
                          </p:cTn>
                        </p:par>
                        <p:par>
                          <p:cTn id="43" fill="hold" nodeType="afterGroup">
                            <p:stCondLst>
                              <p:cond delay="1000"/>
                            </p:stCondLst>
                            <p:childTnLst>
                              <p:par>
                                <p:cTn id="44" presetID="22" presetClass="entr" presetSubtype="8" fill="hold" nodeType="after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wipe(left)">
                                      <p:cBhvr>
                                        <p:cTn id="46"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build="p"/>
      <p:bldP spid="18" grpId="0" animBg="1"/>
      <p:bldP spid="21" grpId="0"/>
      <p:bldP spid="22" grpId="0" animBg="1"/>
      <p:bldP spid="23" grpId="0" animBg="1"/>
    </p:bldLst>
  </p:timing>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28DB60-CA39-A389-E9D5-1D39D3D1D02B}"/>
              </a:ext>
            </a:extLst>
          </p:cNvPr>
          <p:cNvSpPr>
            <a:spLocks noGrp="1"/>
          </p:cNvSpPr>
          <p:nvPr>
            <p:ph type="title"/>
          </p:nvPr>
        </p:nvSpPr>
        <p:spPr>
          <a:xfrm>
            <a:off x="457200" y="0"/>
            <a:ext cx="7620000" cy="1143000"/>
          </a:xfrm>
        </p:spPr>
        <p:txBody>
          <a:bodyPr/>
          <a:lstStyle/>
          <a:p>
            <a:pPr algn="ctr">
              <a:defRPr/>
            </a:pPr>
            <a:r>
              <a:rPr lang="en-US" dirty="0"/>
              <a:t>Date Functions</a:t>
            </a:r>
            <a:endParaRPr lang="en-MY" dirty="0"/>
          </a:p>
        </p:txBody>
      </p:sp>
      <p:sp>
        <p:nvSpPr>
          <p:cNvPr id="16" name="Snip Single Corner Rectangle 15">
            <a:extLst>
              <a:ext uri="{FF2B5EF4-FFF2-40B4-BE49-F238E27FC236}">
                <a16:creationId xmlns:a16="http://schemas.microsoft.com/office/drawing/2014/main" id="{FC6D5D44-2E16-2CFB-7425-08152090C363}"/>
              </a:ext>
            </a:extLst>
          </p:cNvPr>
          <p:cNvSpPr/>
          <p:nvPr/>
        </p:nvSpPr>
        <p:spPr>
          <a:xfrm>
            <a:off x="-36513" y="1125538"/>
            <a:ext cx="1655763" cy="400050"/>
          </a:xfrm>
          <a:prstGeom prst="snip1Rect">
            <a:avLst/>
          </a:prstGeom>
          <a:solidFill>
            <a:schemeClr val="tx2"/>
          </a:solidFill>
          <a:ln>
            <a:solidFill>
              <a:schemeClr val="tx2"/>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marR="0" lvl="0" indent="-342900" algn="just" defTabSz="914400" rtl="0" eaLnBrk="1" fontAlgn="base" latinLnBrk="0" hangingPunct="1">
              <a:lnSpc>
                <a:spcPct val="100000"/>
              </a:lnSpc>
              <a:spcBef>
                <a:spcPct val="20000"/>
              </a:spcBef>
              <a:spcAft>
                <a:spcPct val="0"/>
              </a:spcAft>
              <a:buClr>
                <a:srgbClr val="FF6600"/>
              </a:buClr>
              <a:buSzPct val="100000"/>
              <a:buFontTx/>
              <a:buNone/>
              <a:tabLst/>
              <a:defRPr/>
            </a:pPr>
            <a:r>
              <a:rPr kumimoji="0" lang="en-GB" sz="1800" b="0" i="0" u="none" strike="noStrike" kern="0" cap="none" spc="0" normalizeH="0" baseline="0" noProof="0" dirty="0">
                <a:ln>
                  <a:noFill/>
                </a:ln>
                <a:solidFill>
                  <a:srgbClr val="FFFFFF"/>
                </a:solidFill>
                <a:effectLst/>
                <a:uLnTx/>
                <a:uFillTx/>
                <a:latin typeface="Calibri"/>
                <a:ea typeface="+mn-ea"/>
                <a:cs typeface="+mn-cs"/>
              </a:rPr>
              <a:t>DATE_SUB()</a:t>
            </a:r>
          </a:p>
        </p:txBody>
      </p:sp>
      <p:sp>
        <p:nvSpPr>
          <p:cNvPr id="17" name="Content Placeholder 2">
            <a:extLst>
              <a:ext uri="{FF2B5EF4-FFF2-40B4-BE49-F238E27FC236}">
                <a16:creationId xmlns:a16="http://schemas.microsoft.com/office/drawing/2014/main" id="{360897CC-4D72-77BB-5ABA-0299E22C93D0}"/>
              </a:ext>
            </a:extLst>
          </p:cNvPr>
          <p:cNvSpPr txBox="1">
            <a:spLocks/>
          </p:cNvSpPr>
          <p:nvPr/>
        </p:nvSpPr>
        <p:spPr bwMode="auto">
          <a:xfrm>
            <a:off x="250825" y="1773238"/>
            <a:ext cx="8655050"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DATE_SUB() – Subtracts a time interval</a:t>
            </a: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sp>
        <p:nvSpPr>
          <p:cNvPr id="18" name="Rounded Rectangle 17">
            <a:extLst>
              <a:ext uri="{FF2B5EF4-FFF2-40B4-BE49-F238E27FC236}">
                <a16:creationId xmlns:a16="http://schemas.microsoft.com/office/drawing/2014/main" id="{93764B29-35A5-76B1-0720-367DBEEB0364}"/>
              </a:ext>
            </a:extLst>
          </p:cNvPr>
          <p:cNvSpPr/>
          <p:nvPr/>
        </p:nvSpPr>
        <p:spPr bwMode="auto">
          <a:xfrm>
            <a:off x="1130300" y="3968750"/>
            <a:ext cx="7023100" cy="1116013"/>
          </a:xfrm>
          <a:prstGeom prst="roundRect">
            <a:avLst/>
          </a:prstGeom>
          <a:solidFill>
            <a:schemeClr val="accent6">
              <a:alpha val="30000"/>
            </a:schemeClr>
          </a:solidFill>
          <a:ln w="9525" cap="flat" cmpd="sng" algn="ctr">
            <a:solidFill>
              <a:schemeClr val="accent6"/>
            </a:solidFill>
            <a:prstDash val="solid"/>
            <a:round/>
            <a:headEnd type="none" w="med" len="med"/>
            <a:tailEnd type="none" w="med" len="med"/>
          </a:ln>
          <a:effectLst/>
        </p:spPr>
        <p:txBody>
          <a:bodyPr anchor="ctr" anchorCtr="1"/>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2400" b="0"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SELECT ISBN, Title, DATE_SUB(Published, INTERVAL 3 HOUR) AS Published FROM Book; </a:t>
            </a:r>
          </a:p>
        </p:txBody>
      </p:sp>
      <p:graphicFrame>
        <p:nvGraphicFramePr>
          <p:cNvPr id="19" name="Table 18">
            <a:extLst>
              <a:ext uri="{FF2B5EF4-FFF2-40B4-BE49-F238E27FC236}">
                <a16:creationId xmlns:a16="http://schemas.microsoft.com/office/drawing/2014/main" id="{9C750519-EC59-B478-8ED4-F56956224944}"/>
              </a:ext>
            </a:extLst>
          </p:cNvPr>
          <p:cNvGraphicFramePr>
            <a:graphicFrameLocks noGrp="1"/>
          </p:cNvGraphicFramePr>
          <p:nvPr/>
        </p:nvGraphicFramePr>
        <p:xfrm>
          <a:off x="1631950" y="5264150"/>
          <a:ext cx="6521450" cy="1106488"/>
        </p:xfrm>
        <a:graphic>
          <a:graphicData uri="http://schemas.openxmlformats.org/drawingml/2006/table">
            <a:tbl>
              <a:tblPr firstRow="1" bandRow="1">
                <a:tableStyleId>{C083E6E3-FA7D-4D7B-A595-EF9225AFEA82}</a:tableStyleId>
              </a:tblPr>
              <a:tblGrid>
                <a:gridCol w="1654697">
                  <a:extLst>
                    <a:ext uri="{9D8B030D-6E8A-4147-A177-3AD203B41FA5}">
                      <a16:colId xmlns:a16="http://schemas.microsoft.com/office/drawing/2014/main" val="20000"/>
                    </a:ext>
                  </a:extLst>
                </a:gridCol>
                <a:gridCol w="2433376">
                  <a:extLst>
                    <a:ext uri="{9D8B030D-6E8A-4147-A177-3AD203B41FA5}">
                      <a16:colId xmlns:a16="http://schemas.microsoft.com/office/drawing/2014/main" val="20001"/>
                    </a:ext>
                  </a:extLst>
                </a:gridCol>
                <a:gridCol w="2433376">
                  <a:extLst>
                    <a:ext uri="{9D8B030D-6E8A-4147-A177-3AD203B41FA5}">
                      <a16:colId xmlns:a16="http://schemas.microsoft.com/office/drawing/2014/main" val="20002"/>
                    </a:ext>
                  </a:extLst>
                </a:gridCol>
              </a:tblGrid>
              <a:tr h="365655">
                <a:tc>
                  <a:txBody>
                    <a:bodyPr/>
                    <a:lstStyle/>
                    <a:p>
                      <a:pPr algn="ctr"/>
                      <a:r>
                        <a:rPr lang="en-CA" sz="1800" dirty="0"/>
                        <a:t>ISBN</a:t>
                      </a:r>
                    </a:p>
                  </a:txBody>
                  <a:tcPr marL="91437" marR="91437" marT="45668" marB="45668"/>
                </a:tc>
                <a:tc>
                  <a:txBody>
                    <a:bodyPr/>
                    <a:lstStyle/>
                    <a:p>
                      <a:pPr algn="ctr"/>
                      <a:r>
                        <a:rPr lang="en-CA" sz="1800" dirty="0"/>
                        <a:t>Title</a:t>
                      </a:r>
                    </a:p>
                  </a:txBody>
                  <a:tcPr marL="91437" marR="91437" marT="45668" marB="45668"/>
                </a:tc>
                <a:tc>
                  <a:txBody>
                    <a:bodyPr/>
                    <a:lstStyle/>
                    <a:p>
                      <a:pPr algn="ctr"/>
                      <a:r>
                        <a:rPr lang="en-CA" sz="1800" dirty="0"/>
                        <a:t>Published</a:t>
                      </a:r>
                    </a:p>
                  </a:txBody>
                  <a:tcPr marL="91437" marR="91437" marT="45668" marB="45668"/>
                </a:tc>
                <a:extLst>
                  <a:ext uri="{0D108BD9-81ED-4DB2-BD59-A6C34878D82A}">
                    <a16:rowId xmlns:a16="http://schemas.microsoft.com/office/drawing/2014/main" val="10000"/>
                  </a:ext>
                </a:extLst>
              </a:tr>
              <a:tr h="370416">
                <a:tc>
                  <a:txBody>
                    <a:bodyPr/>
                    <a:lstStyle/>
                    <a:p>
                      <a:pPr algn="ctr"/>
                      <a:r>
                        <a:rPr lang="en-CA" sz="1800" dirty="0"/>
                        <a:t>12345</a:t>
                      </a:r>
                    </a:p>
                  </a:txBody>
                  <a:tcPr marL="91437" marR="91437" marT="45668" marB="45668"/>
                </a:tc>
                <a:tc>
                  <a:txBody>
                    <a:bodyPr/>
                    <a:lstStyle/>
                    <a:p>
                      <a:pPr algn="ctr"/>
                      <a:r>
                        <a:rPr lang="en-CA" sz="1800" dirty="0"/>
                        <a:t>The Hunger Game</a:t>
                      </a:r>
                    </a:p>
                  </a:txBody>
                  <a:tcPr marL="91437" marR="91437" marT="45668" marB="45668"/>
                </a:tc>
                <a:tc>
                  <a:txBody>
                    <a:bodyPr/>
                    <a:lstStyle/>
                    <a:p>
                      <a:pPr algn="ctr"/>
                      <a:r>
                        <a:rPr lang="en-CA" sz="1800" dirty="0"/>
                        <a:t>2008-10-11 09-12:33</a:t>
                      </a:r>
                    </a:p>
                  </a:txBody>
                  <a:tcPr marL="91437" marR="91437" marT="45668" marB="45668"/>
                </a:tc>
                <a:extLst>
                  <a:ext uri="{0D108BD9-81ED-4DB2-BD59-A6C34878D82A}">
                    <a16:rowId xmlns:a16="http://schemas.microsoft.com/office/drawing/2014/main" val="10001"/>
                  </a:ext>
                </a:extLst>
              </a:tr>
              <a:tr h="370416">
                <a:tc>
                  <a:txBody>
                    <a:bodyPr/>
                    <a:lstStyle/>
                    <a:p>
                      <a:pPr algn="ctr"/>
                      <a:r>
                        <a:rPr lang="en-CA" sz="1800" dirty="0"/>
                        <a:t>54321</a:t>
                      </a:r>
                    </a:p>
                  </a:txBody>
                  <a:tcPr marL="91437" marR="91437" marT="45668" marB="45668"/>
                </a:tc>
                <a:tc>
                  <a:txBody>
                    <a:bodyPr/>
                    <a:lstStyle/>
                    <a:p>
                      <a:pPr algn="ctr"/>
                      <a:r>
                        <a:rPr lang="en-CA" sz="1800" dirty="0"/>
                        <a:t>A</a:t>
                      </a:r>
                      <a:r>
                        <a:rPr lang="en-CA" sz="1800" baseline="0" dirty="0"/>
                        <a:t> Song of Ice and Fire</a:t>
                      </a:r>
                      <a:endParaRPr lang="en-CA" sz="1800" dirty="0"/>
                    </a:p>
                  </a:txBody>
                  <a:tcPr marL="91437" marR="91437" marT="45668" marB="45668"/>
                </a:tc>
                <a:tc>
                  <a:txBody>
                    <a:bodyPr/>
                    <a:lstStyle/>
                    <a:p>
                      <a:pPr algn="ctr"/>
                      <a:r>
                        <a:rPr lang="en-CA" sz="1800" dirty="0"/>
                        <a:t>2012-11-28 07:33:00</a:t>
                      </a:r>
                    </a:p>
                  </a:txBody>
                  <a:tcPr marL="91437" marR="91437" marT="45668" marB="45668"/>
                </a:tc>
                <a:extLst>
                  <a:ext uri="{0D108BD9-81ED-4DB2-BD59-A6C34878D82A}">
                    <a16:rowId xmlns:a16="http://schemas.microsoft.com/office/drawing/2014/main" val="10002"/>
                  </a:ext>
                </a:extLst>
              </a:tr>
            </a:tbl>
          </a:graphicData>
        </a:graphic>
      </p:graphicFrame>
      <p:graphicFrame>
        <p:nvGraphicFramePr>
          <p:cNvPr id="20" name="Table 19">
            <a:extLst>
              <a:ext uri="{FF2B5EF4-FFF2-40B4-BE49-F238E27FC236}">
                <a16:creationId xmlns:a16="http://schemas.microsoft.com/office/drawing/2014/main" id="{88367369-4522-7A08-ACE4-4C0242E94681}"/>
              </a:ext>
            </a:extLst>
          </p:cNvPr>
          <p:cNvGraphicFramePr>
            <a:graphicFrameLocks noGrp="1"/>
          </p:cNvGraphicFramePr>
          <p:nvPr/>
        </p:nvGraphicFramePr>
        <p:xfrm>
          <a:off x="685800" y="2411413"/>
          <a:ext cx="7065963" cy="1112837"/>
        </p:xfrm>
        <a:graphic>
          <a:graphicData uri="http://schemas.openxmlformats.org/drawingml/2006/table">
            <a:tbl>
              <a:tblPr firstRow="1" bandRow="1">
                <a:tableStyleId>{D27102A9-8310-4765-A935-A1911B00CA55}</a:tableStyleId>
              </a:tblPr>
              <a:tblGrid>
                <a:gridCol w="1696739">
                  <a:extLst>
                    <a:ext uri="{9D8B030D-6E8A-4147-A177-3AD203B41FA5}">
                      <a16:colId xmlns:a16="http://schemas.microsoft.com/office/drawing/2014/main" val="20000"/>
                    </a:ext>
                  </a:extLst>
                </a:gridCol>
                <a:gridCol w="2726110">
                  <a:extLst>
                    <a:ext uri="{9D8B030D-6E8A-4147-A177-3AD203B41FA5}">
                      <a16:colId xmlns:a16="http://schemas.microsoft.com/office/drawing/2014/main" val="20001"/>
                    </a:ext>
                  </a:extLst>
                </a:gridCol>
                <a:gridCol w="2643114">
                  <a:extLst>
                    <a:ext uri="{9D8B030D-6E8A-4147-A177-3AD203B41FA5}">
                      <a16:colId xmlns:a16="http://schemas.microsoft.com/office/drawing/2014/main" val="20002"/>
                    </a:ext>
                  </a:extLst>
                </a:gridCol>
              </a:tblGrid>
              <a:tr h="370946">
                <a:tc>
                  <a:txBody>
                    <a:bodyPr/>
                    <a:lstStyle/>
                    <a:p>
                      <a:pPr algn="ctr"/>
                      <a:r>
                        <a:rPr lang="en-CA" sz="1800" dirty="0"/>
                        <a:t>ISBN</a:t>
                      </a:r>
                    </a:p>
                  </a:txBody>
                  <a:tcPr marL="91447" marR="91447" marT="45733" marB="45733"/>
                </a:tc>
                <a:tc>
                  <a:txBody>
                    <a:bodyPr/>
                    <a:lstStyle/>
                    <a:p>
                      <a:pPr algn="ctr"/>
                      <a:r>
                        <a:rPr lang="en-CA" sz="1800" dirty="0"/>
                        <a:t>Title</a:t>
                      </a:r>
                    </a:p>
                  </a:txBody>
                  <a:tcPr marL="91447" marR="91447" marT="45733" marB="45733"/>
                </a:tc>
                <a:tc>
                  <a:txBody>
                    <a:bodyPr/>
                    <a:lstStyle/>
                    <a:p>
                      <a:pPr algn="ctr"/>
                      <a:r>
                        <a:rPr lang="en-CA" sz="1800" dirty="0"/>
                        <a:t>Published</a:t>
                      </a:r>
                    </a:p>
                  </a:txBody>
                  <a:tcPr marL="91447" marR="91447" marT="45733" marB="45733"/>
                </a:tc>
                <a:extLst>
                  <a:ext uri="{0D108BD9-81ED-4DB2-BD59-A6C34878D82A}">
                    <a16:rowId xmlns:a16="http://schemas.microsoft.com/office/drawing/2014/main" val="10000"/>
                  </a:ext>
                </a:extLst>
              </a:tr>
              <a:tr h="370946">
                <a:tc>
                  <a:txBody>
                    <a:bodyPr/>
                    <a:lstStyle/>
                    <a:p>
                      <a:pPr algn="ctr"/>
                      <a:r>
                        <a:rPr lang="en-CA" sz="1800" dirty="0"/>
                        <a:t>12345</a:t>
                      </a:r>
                    </a:p>
                  </a:txBody>
                  <a:tcPr marL="91447" marR="91447" marT="45733" marB="45733"/>
                </a:tc>
                <a:tc>
                  <a:txBody>
                    <a:bodyPr/>
                    <a:lstStyle/>
                    <a:p>
                      <a:pPr algn="ctr"/>
                      <a:r>
                        <a:rPr lang="en-CA" sz="1800" dirty="0"/>
                        <a:t>The Hunger</a:t>
                      </a:r>
                      <a:r>
                        <a:rPr lang="en-CA" sz="1800" baseline="0" dirty="0"/>
                        <a:t> Game</a:t>
                      </a:r>
                      <a:endParaRPr lang="en-CA" sz="1800" dirty="0"/>
                    </a:p>
                  </a:txBody>
                  <a:tcPr marL="91447" marR="91447" marT="45733" marB="45733"/>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CA" sz="1800" dirty="0"/>
                        <a:t>2008-10-11 12:12:33</a:t>
                      </a:r>
                    </a:p>
                  </a:txBody>
                  <a:tcPr marL="91447" marR="91447" marT="45733" marB="45733"/>
                </a:tc>
                <a:extLst>
                  <a:ext uri="{0D108BD9-81ED-4DB2-BD59-A6C34878D82A}">
                    <a16:rowId xmlns:a16="http://schemas.microsoft.com/office/drawing/2014/main" val="10001"/>
                  </a:ext>
                </a:extLst>
              </a:tr>
              <a:tr h="370946">
                <a:tc>
                  <a:txBody>
                    <a:bodyPr/>
                    <a:lstStyle/>
                    <a:p>
                      <a:pPr algn="ctr"/>
                      <a:r>
                        <a:rPr lang="en-CA" sz="1800" dirty="0"/>
                        <a:t>54321</a:t>
                      </a:r>
                    </a:p>
                  </a:txBody>
                  <a:tcPr marL="91447" marR="91447" marT="45733" marB="45733"/>
                </a:tc>
                <a:tc>
                  <a:txBody>
                    <a:bodyPr/>
                    <a:lstStyle/>
                    <a:p>
                      <a:pPr algn="ctr"/>
                      <a:r>
                        <a:rPr lang="en-CA" sz="1800" dirty="0"/>
                        <a:t>A</a:t>
                      </a:r>
                      <a:r>
                        <a:rPr lang="en-CA" sz="1800" baseline="0" dirty="0"/>
                        <a:t> Song of Ice and Fire</a:t>
                      </a:r>
                      <a:endParaRPr lang="en-CA" sz="1800" dirty="0"/>
                    </a:p>
                  </a:txBody>
                  <a:tcPr marL="91447" marR="91447" marT="45733" marB="45733"/>
                </a:tc>
                <a:tc>
                  <a:txBody>
                    <a:bodyPr/>
                    <a:lstStyle/>
                    <a:p>
                      <a:pPr algn="ctr"/>
                      <a:r>
                        <a:rPr lang="en-CA" sz="1800" dirty="0"/>
                        <a:t>2012-11-28 10:33:00</a:t>
                      </a:r>
                    </a:p>
                  </a:txBody>
                  <a:tcPr marL="91447" marR="91447" marT="45733" marB="45733"/>
                </a:tc>
                <a:extLst>
                  <a:ext uri="{0D108BD9-81ED-4DB2-BD59-A6C34878D82A}">
                    <a16:rowId xmlns:a16="http://schemas.microsoft.com/office/drawing/2014/main" val="10002"/>
                  </a:ext>
                </a:extLst>
              </a:tr>
            </a:tbl>
          </a:graphicData>
        </a:graphic>
      </p:graphicFrame>
      <p:sp>
        <p:nvSpPr>
          <p:cNvPr id="21" name="TextBox 20">
            <a:extLst>
              <a:ext uri="{FF2B5EF4-FFF2-40B4-BE49-F238E27FC236}">
                <a16:creationId xmlns:a16="http://schemas.microsoft.com/office/drawing/2014/main" id="{F7978FCE-57BC-3F0C-5116-9EDFF03AC523}"/>
              </a:ext>
            </a:extLst>
          </p:cNvPr>
          <p:cNvSpPr txBox="1">
            <a:spLocks noChangeArrowheads="1"/>
          </p:cNvSpPr>
          <p:nvPr/>
        </p:nvSpPr>
        <p:spPr bwMode="auto">
          <a:xfrm>
            <a:off x="3149600" y="3540125"/>
            <a:ext cx="20145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Book table</a:t>
            </a:r>
          </a:p>
        </p:txBody>
      </p:sp>
      <p:sp>
        <p:nvSpPr>
          <p:cNvPr id="22" name="Snip Single Corner Rectangle 21">
            <a:extLst>
              <a:ext uri="{FF2B5EF4-FFF2-40B4-BE49-F238E27FC236}">
                <a16:creationId xmlns:a16="http://schemas.microsoft.com/office/drawing/2014/main" id="{C8B31477-9053-043C-D220-F1BBC9133487}"/>
              </a:ext>
            </a:extLst>
          </p:cNvPr>
          <p:cNvSpPr/>
          <p:nvPr/>
        </p:nvSpPr>
        <p:spPr bwMode="auto">
          <a:xfrm>
            <a:off x="201613" y="5300663"/>
            <a:ext cx="1092200" cy="431800"/>
          </a:xfrm>
          <a:prstGeom prst="snip1Rect">
            <a:avLst/>
          </a:prstGeom>
          <a:solidFill>
            <a:srgbClr val="FFFF00">
              <a:alpha val="30000"/>
            </a:srgbClr>
          </a:solidFill>
          <a:ln w="9525" cap="flat" cmpd="sng" algn="ctr">
            <a:solidFill>
              <a:srgbClr val="FFC000"/>
            </a:solidFill>
            <a:prstDash val="solid"/>
            <a:round/>
            <a:headEnd type="none" w="med" len="med"/>
            <a:tailEnd type="none" w="med" len="me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sz="2000" b="1"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Result:</a:t>
            </a:r>
          </a:p>
        </p:txBody>
      </p:sp>
      <p:sp>
        <p:nvSpPr>
          <p:cNvPr id="23" name="Snip Single Corner Rectangle 22">
            <a:extLst>
              <a:ext uri="{FF2B5EF4-FFF2-40B4-BE49-F238E27FC236}">
                <a16:creationId xmlns:a16="http://schemas.microsoft.com/office/drawing/2014/main" id="{A415ADB4-572C-5A45-4AA5-5304A997359F}"/>
              </a:ext>
            </a:extLst>
          </p:cNvPr>
          <p:cNvSpPr/>
          <p:nvPr/>
        </p:nvSpPr>
        <p:spPr bwMode="auto">
          <a:xfrm>
            <a:off x="225425" y="3978275"/>
            <a:ext cx="830263" cy="431800"/>
          </a:xfrm>
          <a:prstGeom prst="snip1Rect">
            <a:avLst/>
          </a:prstGeom>
          <a:solidFill>
            <a:srgbClr val="FFFF00">
              <a:alpha val="30000"/>
            </a:srgbClr>
          </a:solidFill>
          <a:ln w="9525" cap="flat" cmpd="sng" algn="ctr">
            <a:solidFill>
              <a:srgbClr val="FFC000"/>
            </a:solidFill>
            <a:prstDash val="solid"/>
            <a:round/>
            <a:headEnd type="none" w="med" len="med"/>
            <a:tailEnd type="none" w="med" len="med"/>
          </a:ln>
          <a:effec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2000" b="1"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Run:</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7">
                                            <p:txEl>
                                              <p:pRg st="0" end="0"/>
                                            </p:txEl>
                                          </p:spTgt>
                                        </p:tgtEl>
                                        <p:attrNameLst>
                                          <p:attrName>style.visibility</p:attrName>
                                        </p:attrNameLst>
                                      </p:cBhvr>
                                      <p:to>
                                        <p:strVal val="visible"/>
                                      </p:to>
                                    </p:set>
                                    <p:animEffect transition="in" filter="wipe(left)">
                                      <p:cBhvr>
                                        <p:cTn id="11" dur="500"/>
                                        <p:tgtEl>
                                          <p:spTgt spid="17">
                                            <p:txEl>
                                              <p:pRg st="0" end="0"/>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6" presetClass="entr" presetSubtype="21" fill="hold" nodeType="click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barn(inVertical)">
                                      <p:cBhvr>
                                        <p:cTn id="16" dur="500"/>
                                        <p:tgtEl>
                                          <p:spTgt spid="20"/>
                                        </p:tgtEl>
                                      </p:cBhvr>
                                    </p:animEffect>
                                  </p:childTnLst>
                                </p:cTn>
                              </p:par>
                            </p:childTnLst>
                          </p:cTn>
                        </p:par>
                        <p:par>
                          <p:cTn id="17" fill="hold" nodeType="afterGroup">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21"/>
                                        </p:tgtEl>
                                        <p:attrNameLst>
                                          <p:attrName>style.visibility</p:attrName>
                                        </p:attrNameLst>
                                      </p:cBhvr>
                                      <p:to>
                                        <p:strVal val="visible"/>
                                      </p:to>
                                    </p:set>
                                    <p:animEffect transition="in" filter="wipe(left)">
                                      <p:cBhvr>
                                        <p:cTn id="20" dur="500"/>
                                        <p:tgtEl>
                                          <p:spTgt spid="21"/>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1" fill="hold" grpId="0" nodeType="clickEffect">
                                  <p:stCondLst>
                                    <p:cond delay="0"/>
                                  </p:stCondLst>
                                  <p:childTnLst>
                                    <p:set>
                                      <p:cBhvr>
                                        <p:cTn id="24" dur="1" fill="hold">
                                          <p:stCondLst>
                                            <p:cond delay="0"/>
                                          </p:stCondLst>
                                        </p:cTn>
                                        <p:tgtEl>
                                          <p:spTgt spid="23"/>
                                        </p:tgtEl>
                                        <p:attrNameLst>
                                          <p:attrName>style.visibility</p:attrName>
                                        </p:attrNameLst>
                                      </p:cBhvr>
                                      <p:to>
                                        <p:strVal val="visible"/>
                                      </p:to>
                                    </p:set>
                                    <p:animEffect transition="in" filter="wipe(up)">
                                      <p:cBhvr>
                                        <p:cTn id="25" dur="500"/>
                                        <p:tgtEl>
                                          <p:spTgt spid="23"/>
                                        </p:tgtEl>
                                      </p:cBhvr>
                                    </p:animEffect>
                                  </p:childTnLst>
                                </p:cTn>
                              </p:par>
                            </p:childTnLst>
                          </p:cTn>
                        </p:par>
                        <p:par>
                          <p:cTn id="26" fill="hold" nodeType="afterGroup">
                            <p:stCondLst>
                              <p:cond delay="500"/>
                            </p:stCondLst>
                            <p:childTnLst>
                              <p:par>
                                <p:cTn id="27" presetID="22" presetClass="entr" presetSubtype="8" fill="hold" nodeType="afterEffect">
                                  <p:stCondLst>
                                    <p:cond delay="0"/>
                                  </p:stCondLst>
                                  <p:childTnLst>
                                    <p:set>
                                      <p:cBhvr>
                                        <p:cTn id="28" dur="1" fill="hold">
                                          <p:stCondLst>
                                            <p:cond delay="0"/>
                                          </p:stCondLst>
                                        </p:cTn>
                                        <p:tgtEl>
                                          <p:spTgt spid="23">
                                            <p:txEl>
                                              <p:pRg st="0" end="0"/>
                                            </p:txEl>
                                          </p:spTgt>
                                        </p:tgtEl>
                                        <p:attrNameLst>
                                          <p:attrName>style.visibility</p:attrName>
                                        </p:attrNameLst>
                                      </p:cBhvr>
                                      <p:to>
                                        <p:strVal val="visible"/>
                                      </p:to>
                                    </p:set>
                                    <p:animEffect transition="in" filter="wipe(left)">
                                      <p:cBhvr>
                                        <p:cTn id="29" dur="500"/>
                                        <p:tgtEl>
                                          <p:spTgt spid="23">
                                            <p:txEl>
                                              <p:pRg st="0" end="0"/>
                                            </p:txEl>
                                          </p:spTgt>
                                        </p:tgtEl>
                                      </p:cBhvr>
                                    </p:animEffect>
                                  </p:childTnLst>
                                </p:cTn>
                              </p:par>
                            </p:childTnLst>
                          </p:cTn>
                        </p:par>
                        <p:par>
                          <p:cTn id="30" fill="hold" nodeType="afterGroup">
                            <p:stCondLst>
                              <p:cond delay="1000"/>
                            </p:stCondLst>
                            <p:childTnLst>
                              <p:par>
                                <p:cTn id="31" presetID="16" presetClass="entr" presetSubtype="21" fill="hold" grpId="0" nodeType="after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barn(inVertical)">
                                      <p:cBhvr>
                                        <p:cTn id="33" dur="500"/>
                                        <p:tgtEl>
                                          <p:spTgt spid="18"/>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1" fill="hold" grpId="0" nodeType="clickEffect">
                                  <p:stCondLst>
                                    <p:cond delay="0"/>
                                  </p:stCondLst>
                                  <p:childTnLst>
                                    <p:set>
                                      <p:cBhvr>
                                        <p:cTn id="37" dur="1" fill="hold">
                                          <p:stCondLst>
                                            <p:cond delay="0"/>
                                          </p:stCondLst>
                                        </p:cTn>
                                        <p:tgtEl>
                                          <p:spTgt spid="22"/>
                                        </p:tgtEl>
                                        <p:attrNameLst>
                                          <p:attrName>style.visibility</p:attrName>
                                        </p:attrNameLst>
                                      </p:cBhvr>
                                      <p:to>
                                        <p:strVal val="visible"/>
                                      </p:to>
                                    </p:set>
                                    <p:animEffect transition="in" filter="wipe(up)">
                                      <p:cBhvr>
                                        <p:cTn id="38" dur="500"/>
                                        <p:tgtEl>
                                          <p:spTgt spid="22"/>
                                        </p:tgtEl>
                                      </p:cBhvr>
                                    </p:animEffect>
                                  </p:childTnLst>
                                </p:cTn>
                              </p:par>
                            </p:childTnLst>
                          </p:cTn>
                        </p:par>
                        <p:par>
                          <p:cTn id="39" fill="hold" nodeType="afterGroup">
                            <p:stCondLst>
                              <p:cond delay="500"/>
                            </p:stCondLst>
                            <p:childTnLst>
                              <p:par>
                                <p:cTn id="40" presetID="22" presetClass="entr" presetSubtype="8" fill="hold" nodeType="afterEffect">
                                  <p:stCondLst>
                                    <p:cond delay="0"/>
                                  </p:stCondLst>
                                  <p:childTnLst>
                                    <p:set>
                                      <p:cBhvr>
                                        <p:cTn id="41" dur="1" fill="hold">
                                          <p:stCondLst>
                                            <p:cond delay="0"/>
                                          </p:stCondLst>
                                        </p:cTn>
                                        <p:tgtEl>
                                          <p:spTgt spid="22">
                                            <p:txEl>
                                              <p:pRg st="0" end="0"/>
                                            </p:txEl>
                                          </p:spTgt>
                                        </p:tgtEl>
                                        <p:attrNameLst>
                                          <p:attrName>style.visibility</p:attrName>
                                        </p:attrNameLst>
                                      </p:cBhvr>
                                      <p:to>
                                        <p:strVal val="visible"/>
                                      </p:to>
                                    </p:set>
                                    <p:animEffect transition="in" filter="wipe(left)">
                                      <p:cBhvr>
                                        <p:cTn id="42" dur="500"/>
                                        <p:tgtEl>
                                          <p:spTgt spid="22">
                                            <p:txEl>
                                              <p:pRg st="0" end="0"/>
                                            </p:txEl>
                                          </p:spTgt>
                                        </p:tgtEl>
                                      </p:cBhvr>
                                    </p:animEffect>
                                  </p:childTnLst>
                                </p:cTn>
                              </p:par>
                            </p:childTnLst>
                          </p:cTn>
                        </p:par>
                        <p:par>
                          <p:cTn id="43" fill="hold" nodeType="afterGroup">
                            <p:stCondLst>
                              <p:cond delay="1000"/>
                            </p:stCondLst>
                            <p:childTnLst>
                              <p:par>
                                <p:cTn id="44" presetID="22" presetClass="entr" presetSubtype="8" fill="hold" nodeType="after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wipe(left)">
                                      <p:cBhvr>
                                        <p:cTn id="46"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build="p"/>
      <p:bldP spid="18" grpId="0" animBg="1"/>
      <p:bldP spid="21" grpId="0"/>
      <p:bldP spid="22" grpId="0" animBg="1"/>
      <p:bldP spid="23" grpId="0" animBg="1"/>
    </p:bldLst>
  </p:timing>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FE2EF1-7B0E-C658-4904-2D3115073151}"/>
              </a:ext>
            </a:extLst>
          </p:cNvPr>
          <p:cNvSpPr>
            <a:spLocks noGrp="1"/>
          </p:cNvSpPr>
          <p:nvPr>
            <p:ph type="title"/>
          </p:nvPr>
        </p:nvSpPr>
        <p:spPr>
          <a:xfrm>
            <a:off x="457200" y="0"/>
            <a:ext cx="7620000" cy="1143000"/>
          </a:xfrm>
        </p:spPr>
        <p:txBody>
          <a:bodyPr/>
          <a:lstStyle/>
          <a:p>
            <a:pPr algn="ctr">
              <a:defRPr/>
            </a:pPr>
            <a:r>
              <a:rPr lang="en-US" dirty="0"/>
              <a:t>Date Functions</a:t>
            </a:r>
            <a:endParaRPr lang="en-MY" dirty="0"/>
          </a:p>
        </p:txBody>
      </p:sp>
      <p:sp>
        <p:nvSpPr>
          <p:cNvPr id="16" name="Snip Single Corner Rectangle 15">
            <a:extLst>
              <a:ext uri="{FF2B5EF4-FFF2-40B4-BE49-F238E27FC236}">
                <a16:creationId xmlns:a16="http://schemas.microsoft.com/office/drawing/2014/main" id="{7A3946C7-7E23-CEF0-C1FA-E58881AA3FEF}"/>
              </a:ext>
            </a:extLst>
          </p:cNvPr>
          <p:cNvSpPr/>
          <p:nvPr/>
        </p:nvSpPr>
        <p:spPr>
          <a:xfrm>
            <a:off x="-36513" y="1125538"/>
            <a:ext cx="1512888" cy="400050"/>
          </a:xfrm>
          <a:prstGeom prst="snip1Rect">
            <a:avLst/>
          </a:prstGeom>
          <a:solidFill>
            <a:schemeClr val="tx1"/>
          </a:solidFill>
          <a:ln>
            <a:solidFill>
              <a:schemeClr val="tx1"/>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marR="0" lvl="0" indent="-342900" algn="just" defTabSz="914400" rtl="0" eaLnBrk="1" fontAlgn="base" latinLnBrk="0" hangingPunct="1">
              <a:lnSpc>
                <a:spcPct val="100000"/>
              </a:lnSpc>
              <a:spcBef>
                <a:spcPct val="20000"/>
              </a:spcBef>
              <a:spcAft>
                <a:spcPct val="0"/>
              </a:spcAft>
              <a:buClr>
                <a:srgbClr val="FF6600"/>
              </a:buClr>
              <a:buSzPct val="100000"/>
              <a:buFontTx/>
              <a:buNone/>
              <a:tabLst/>
              <a:defRPr/>
            </a:pPr>
            <a:r>
              <a:rPr kumimoji="0" lang="en-GB" sz="1800" b="0" i="0" u="none" strike="noStrike" kern="0" cap="none" spc="0" normalizeH="0" baseline="0" noProof="0" dirty="0">
                <a:ln>
                  <a:noFill/>
                </a:ln>
                <a:solidFill>
                  <a:srgbClr val="FFFFFF"/>
                </a:solidFill>
                <a:effectLst/>
                <a:uLnTx/>
                <a:uFillTx/>
                <a:latin typeface="Calibri"/>
                <a:ea typeface="+mn-ea"/>
                <a:cs typeface="+mn-cs"/>
              </a:rPr>
              <a:t>DATEDIFF()</a:t>
            </a:r>
          </a:p>
        </p:txBody>
      </p:sp>
      <p:sp>
        <p:nvSpPr>
          <p:cNvPr id="17" name="Content Placeholder 2">
            <a:extLst>
              <a:ext uri="{FF2B5EF4-FFF2-40B4-BE49-F238E27FC236}">
                <a16:creationId xmlns:a16="http://schemas.microsoft.com/office/drawing/2014/main" id="{57410D52-20FE-EC98-D5EC-CF73FDCF646E}"/>
              </a:ext>
            </a:extLst>
          </p:cNvPr>
          <p:cNvSpPr txBox="1">
            <a:spLocks/>
          </p:cNvSpPr>
          <p:nvPr/>
        </p:nvSpPr>
        <p:spPr bwMode="auto">
          <a:xfrm>
            <a:off x="250825" y="1773238"/>
            <a:ext cx="8655050"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DATEDIFF() – Calculates difference in days</a:t>
            </a: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sp>
        <p:nvSpPr>
          <p:cNvPr id="18" name="Rounded Rectangle 17">
            <a:extLst>
              <a:ext uri="{FF2B5EF4-FFF2-40B4-BE49-F238E27FC236}">
                <a16:creationId xmlns:a16="http://schemas.microsoft.com/office/drawing/2014/main" id="{58AD651E-A5A8-2E3A-C3AA-527BCD75F057}"/>
              </a:ext>
            </a:extLst>
          </p:cNvPr>
          <p:cNvSpPr/>
          <p:nvPr/>
        </p:nvSpPr>
        <p:spPr bwMode="auto">
          <a:xfrm>
            <a:off x="1295400" y="3968750"/>
            <a:ext cx="6769100" cy="1116013"/>
          </a:xfrm>
          <a:prstGeom prst="roundRect">
            <a:avLst/>
          </a:prstGeom>
          <a:solidFill>
            <a:schemeClr val="accent6">
              <a:alpha val="30000"/>
            </a:schemeClr>
          </a:solidFill>
          <a:ln w="9525" cap="flat" cmpd="sng" algn="ctr">
            <a:solidFill>
              <a:schemeClr val="accent6"/>
            </a:solidFill>
            <a:prstDash val="solid"/>
            <a:round/>
            <a:headEnd type="none" w="med" len="med"/>
            <a:tailEnd type="none" w="med" len="med"/>
          </a:ln>
          <a:effectLst/>
        </p:spPr>
        <p:txBody>
          <a:bodyPr anchor="ctr" anchorCtr="1"/>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2600" b="0"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SELECT </a:t>
            </a:r>
            <a:r>
              <a:rPr kumimoji="0" lang="en-CA" sz="2600" b="0" i="0" u="none" strike="noStrike" kern="1200" cap="none" spc="0" normalizeH="0" baseline="0" noProof="0" dirty="0" err="1">
                <a:ln>
                  <a:noFill/>
                </a:ln>
                <a:solidFill>
                  <a:srgbClr val="2F2B20"/>
                </a:solidFill>
                <a:effectLst/>
                <a:uLnTx/>
                <a:uFillTx/>
                <a:latin typeface="Arial" panose="020B0604020202020204" pitchFamily="34" charset="0"/>
                <a:ea typeface="+mn-ea"/>
                <a:cs typeface="Arial" panose="020B0604020202020204" pitchFamily="34" charset="0"/>
              </a:rPr>
              <a:t>JourneyId</a:t>
            </a:r>
            <a:r>
              <a:rPr kumimoji="0" lang="en-CA" sz="2600" b="0"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 DATEDIFF(End, Start) AS Duration FROM Journey;</a:t>
            </a:r>
          </a:p>
        </p:txBody>
      </p:sp>
      <p:graphicFrame>
        <p:nvGraphicFramePr>
          <p:cNvPr id="19" name="Table 18">
            <a:extLst>
              <a:ext uri="{FF2B5EF4-FFF2-40B4-BE49-F238E27FC236}">
                <a16:creationId xmlns:a16="http://schemas.microsoft.com/office/drawing/2014/main" id="{FE2AF95D-EAD6-5F77-226E-6395891A2C57}"/>
              </a:ext>
            </a:extLst>
          </p:cNvPr>
          <p:cNvGraphicFramePr>
            <a:graphicFrameLocks noGrp="1"/>
          </p:cNvGraphicFramePr>
          <p:nvPr/>
        </p:nvGraphicFramePr>
        <p:xfrm>
          <a:off x="1631950" y="5264150"/>
          <a:ext cx="4279900" cy="1106488"/>
        </p:xfrm>
        <a:graphic>
          <a:graphicData uri="http://schemas.openxmlformats.org/drawingml/2006/table">
            <a:tbl>
              <a:tblPr firstRow="1" bandRow="1">
                <a:tableStyleId>{C083E6E3-FA7D-4D7B-A595-EF9225AFEA82}</a:tableStyleId>
              </a:tblPr>
              <a:tblGrid>
                <a:gridCol w="1732341">
                  <a:extLst>
                    <a:ext uri="{9D8B030D-6E8A-4147-A177-3AD203B41FA5}">
                      <a16:colId xmlns:a16="http://schemas.microsoft.com/office/drawing/2014/main" val="20000"/>
                    </a:ext>
                  </a:extLst>
                </a:gridCol>
                <a:gridCol w="2547559">
                  <a:extLst>
                    <a:ext uri="{9D8B030D-6E8A-4147-A177-3AD203B41FA5}">
                      <a16:colId xmlns:a16="http://schemas.microsoft.com/office/drawing/2014/main" val="20001"/>
                    </a:ext>
                  </a:extLst>
                </a:gridCol>
              </a:tblGrid>
              <a:tr h="365655">
                <a:tc>
                  <a:txBody>
                    <a:bodyPr/>
                    <a:lstStyle/>
                    <a:p>
                      <a:pPr algn="ctr"/>
                      <a:r>
                        <a:rPr lang="en-CA" sz="1800" dirty="0" err="1"/>
                        <a:t>JourneyId</a:t>
                      </a:r>
                      <a:endParaRPr lang="en-CA" sz="1800" dirty="0"/>
                    </a:p>
                  </a:txBody>
                  <a:tcPr marL="91423" marR="91423" marT="45668" marB="45668"/>
                </a:tc>
                <a:tc>
                  <a:txBody>
                    <a:bodyPr/>
                    <a:lstStyle/>
                    <a:p>
                      <a:pPr algn="ctr"/>
                      <a:r>
                        <a:rPr lang="en-CA" sz="1800" dirty="0"/>
                        <a:t>Duration</a:t>
                      </a:r>
                    </a:p>
                  </a:txBody>
                  <a:tcPr marL="91423" marR="91423" marT="45668" marB="45668"/>
                </a:tc>
                <a:extLst>
                  <a:ext uri="{0D108BD9-81ED-4DB2-BD59-A6C34878D82A}">
                    <a16:rowId xmlns:a16="http://schemas.microsoft.com/office/drawing/2014/main" val="10000"/>
                  </a:ext>
                </a:extLst>
              </a:tr>
              <a:tr h="370416">
                <a:tc>
                  <a:txBody>
                    <a:bodyPr/>
                    <a:lstStyle/>
                    <a:p>
                      <a:pPr algn="ctr"/>
                      <a:r>
                        <a:rPr lang="en-CA" sz="1800" dirty="0"/>
                        <a:t>1</a:t>
                      </a:r>
                    </a:p>
                  </a:txBody>
                  <a:tcPr marL="91423" marR="91423" marT="45668" marB="45668"/>
                </a:tc>
                <a:tc>
                  <a:txBody>
                    <a:bodyPr/>
                    <a:lstStyle/>
                    <a:p>
                      <a:pPr algn="ctr"/>
                      <a:r>
                        <a:rPr lang="en-CA" sz="1800" dirty="0"/>
                        <a:t>3</a:t>
                      </a:r>
                    </a:p>
                  </a:txBody>
                  <a:tcPr marL="91423" marR="91423" marT="45668" marB="45668"/>
                </a:tc>
                <a:extLst>
                  <a:ext uri="{0D108BD9-81ED-4DB2-BD59-A6C34878D82A}">
                    <a16:rowId xmlns:a16="http://schemas.microsoft.com/office/drawing/2014/main" val="10001"/>
                  </a:ext>
                </a:extLst>
              </a:tr>
              <a:tr h="370416">
                <a:tc>
                  <a:txBody>
                    <a:bodyPr/>
                    <a:lstStyle/>
                    <a:p>
                      <a:pPr algn="ctr"/>
                      <a:r>
                        <a:rPr lang="en-CA" sz="1800" dirty="0"/>
                        <a:t>2</a:t>
                      </a:r>
                    </a:p>
                  </a:txBody>
                  <a:tcPr marL="91423" marR="91423" marT="45668" marB="45668"/>
                </a:tc>
                <a:tc>
                  <a:txBody>
                    <a:bodyPr/>
                    <a:lstStyle/>
                    <a:p>
                      <a:pPr algn="ctr"/>
                      <a:r>
                        <a:rPr lang="en-CA" sz="1800" dirty="0"/>
                        <a:t>6</a:t>
                      </a:r>
                    </a:p>
                  </a:txBody>
                  <a:tcPr marL="91423" marR="91423" marT="45668" marB="45668"/>
                </a:tc>
                <a:extLst>
                  <a:ext uri="{0D108BD9-81ED-4DB2-BD59-A6C34878D82A}">
                    <a16:rowId xmlns:a16="http://schemas.microsoft.com/office/drawing/2014/main" val="10002"/>
                  </a:ext>
                </a:extLst>
              </a:tr>
            </a:tbl>
          </a:graphicData>
        </a:graphic>
      </p:graphicFrame>
      <p:graphicFrame>
        <p:nvGraphicFramePr>
          <p:cNvPr id="20" name="Table 19">
            <a:extLst>
              <a:ext uri="{FF2B5EF4-FFF2-40B4-BE49-F238E27FC236}">
                <a16:creationId xmlns:a16="http://schemas.microsoft.com/office/drawing/2014/main" id="{330DB81C-381E-B806-1F8B-1CE7F739A210}"/>
              </a:ext>
            </a:extLst>
          </p:cNvPr>
          <p:cNvGraphicFramePr>
            <a:graphicFrameLocks noGrp="1"/>
          </p:cNvGraphicFramePr>
          <p:nvPr/>
        </p:nvGraphicFramePr>
        <p:xfrm>
          <a:off x="1106488" y="2411413"/>
          <a:ext cx="7065962" cy="1112837"/>
        </p:xfrm>
        <a:graphic>
          <a:graphicData uri="http://schemas.openxmlformats.org/drawingml/2006/table">
            <a:tbl>
              <a:tblPr firstRow="1" bandRow="1">
                <a:tableStyleId>{D27102A9-8310-4765-A935-A1911B00CA55}</a:tableStyleId>
              </a:tblPr>
              <a:tblGrid>
                <a:gridCol w="1696739">
                  <a:extLst>
                    <a:ext uri="{9D8B030D-6E8A-4147-A177-3AD203B41FA5}">
                      <a16:colId xmlns:a16="http://schemas.microsoft.com/office/drawing/2014/main" val="20000"/>
                    </a:ext>
                  </a:extLst>
                </a:gridCol>
                <a:gridCol w="2726109">
                  <a:extLst>
                    <a:ext uri="{9D8B030D-6E8A-4147-A177-3AD203B41FA5}">
                      <a16:colId xmlns:a16="http://schemas.microsoft.com/office/drawing/2014/main" val="20001"/>
                    </a:ext>
                  </a:extLst>
                </a:gridCol>
                <a:gridCol w="2643113">
                  <a:extLst>
                    <a:ext uri="{9D8B030D-6E8A-4147-A177-3AD203B41FA5}">
                      <a16:colId xmlns:a16="http://schemas.microsoft.com/office/drawing/2014/main" val="20002"/>
                    </a:ext>
                  </a:extLst>
                </a:gridCol>
              </a:tblGrid>
              <a:tr h="370946">
                <a:tc>
                  <a:txBody>
                    <a:bodyPr/>
                    <a:lstStyle/>
                    <a:p>
                      <a:pPr algn="ctr"/>
                      <a:r>
                        <a:rPr lang="en-CA" sz="1800" dirty="0" err="1"/>
                        <a:t>JourneyId</a:t>
                      </a:r>
                      <a:endParaRPr lang="en-CA" sz="1800" dirty="0"/>
                    </a:p>
                  </a:txBody>
                  <a:tcPr marL="91447" marR="91447" marT="45733" marB="45733"/>
                </a:tc>
                <a:tc>
                  <a:txBody>
                    <a:bodyPr/>
                    <a:lstStyle/>
                    <a:p>
                      <a:pPr algn="ctr"/>
                      <a:r>
                        <a:rPr lang="en-CA" sz="1800" dirty="0"/>
                        <a:t>Start</a:t>
                      </a:r>
                    </a:p>
                  </a:txBody>
                  <a:tcPr marL="91447" marR="91447" marT="45733" marB="45733"/>
                </a:tc>
                <a:tc>
                  <a:txBody>
                    <a:bodyPr/>
                    <a:lstStyle/>
                    <a:p>
                      <a:pPr algn="ctr"/>
                      <a:r>
                        <a:rPr lang="en-CA" sz="1800" dirty="0"/>
                        <a:t>End</a:t>
                      </a:r>
                    </a:p>
                  </a:txBody>
                  <a:tcPr marL="91447" marR="91447" marT="45733" marB="45733"/>
                </a:tc>
                <a:extLst>
                  <a:ext uri="{0D108BD9-81ED-4DB2-BD59-A6C34878D82A}">
                    <a16:rowId xmlns:a16="http://schemas.microsoft.com/office/drawing/2014/main" val="10000"/>
                  </a:ext>
                </a:extLst>
              </a:tr>
              <a:tr h="370946">
                <a:tc>
                  <a:txBody>
                    <a:bodyPr/>
                    <a:lstStyle/>
                    <a:p>
                      <a:pPr algn="ctr"/>
                      <a:r>
                        <a:rPr lang="en-CA" sz="1800" dirty="0"/>
                        <a:t>1</a:t>
                      </a:r>
                    </a:p>
                  </a:txBody>
                  <a:tcPr marL="91447" marR="91447" marT="45733" marB="45733"/>
                </a:tc>
                <a:tc>
                  <a:txBody>
                    <a:bodyPr/>
                    <a:lstStyle/>
                    <a:p>
                      <a:pPr algn="ctr"/>
                      <a:r>
                        <a:rPr lang="en-CA" sz="1800" dirty="0"/>
                        <a:t>2011-11-12</a:t>
                      </a:r>
                      <a:r>
                        <a:rPr lang="en-CA" sz="1800" baseline="0" dirty="0"/>
                        <a:t> </a:t>
                      </a:r>
                      <a:r>
                        <a:rPr lang="en-CA" sz="1800" dirty="0"/>
                        <a:t>12:12:33</a:t>
                      </a:r>
                    </a:p>
                  </a:txBody>
                  <a:tcPr marL="91447" marR="91447" marT="45733" marB="45733"/>
                </a:tc>
                <a:tc>
                  <a:txBody>
                    <a:bodyPr/>
                    <a:lstStyle/>
                    <a:p>
                      <a:pPr algn="ctr"/>
                      <a:r>
                        <a:rPr lang="en-CA" sz="1800" dirty="0"/>
                        <a:t>2011-11-15 12:12:33</a:t>
                      </a:r>
                    </a:p>
                  </a:txBody>
                  <a:tcPr marL="91447" marR="91447" marT="45733" marB="45733"/>
                </a:tc>
                <a:extLst>
                  <a:ext uri="{0D108BD9-81ED-4DB2-BD59-A6C34878D82A}">
                    <a16:rowId xmlns:a16="http://schemas.microsoft.com/office/drawing/2014/main" val="10001"/>
                  </a:ext>
                </a:extLst>
              </a:tr>
              <a:tr h="370946">
                <a:tc>
                  <a:txBody>
                    <a:bodyPr/>
                    <a:lstStyle/>
                    <a:p>
                      <a:pPr algn="ctr"/>
                      <a:r>
                        <a:rPr lang="en-CA" sz="1800" dirty="0"/>
                        <a:t>2</a:t>
                      </a:r>
                    </a:p>
                  </a:txBody>
                  <a:tcPr marL="91447" marR="91447" marT="45733" marB="45733"/>
                </a:tc>
                <a:tc>
                  <a:txBody>
                    <a:bodyPr/>
                    <a:lstStyle/>
                    <a:p>
                      <a:pPr algn="ctr"/>
                      <a:r>
                        <a:rPr lang="en-CA" sz="1800" dirty="0"/>
                        <a:t>2011-11-12</a:t>
                      </a:r>
                      <a:r>
                        <a:rPr lang="en-CA" sz="1800" baseline="0" dirty="0"/>
                        <a:t> </a:t>
                      </a:r>
                      <a:r>
                        <a:rPr lang="en-CA" sz="1800" dirty="0"/>
                        <a:t>12:12:33</a:t>
                      </a:r>
                    </a:p>
                  </a:txBody>
                  <a:tcPr marL="91447" marR="91447" marT="45733" marB="45733"/>
                </a:tc>
                <a:tc>
                  <a:txBody>
                    <a:bodyPr/>
                    <a:lstStyle/>
                    <a:p>
                      <a:pPr algn="ctr"/>
                      <a:r>
                        <a:rPr lang="en-CA" sz="1800" dirty="0"/>
                        <a:t>2011-11-18 17:01:53</a:t>
                      </a:r>
                    </a:p>
                  </a:txBody>
                  <a:tcPr marL="91447" marR="91447" marT="45733" marB="45733"/>
                </a:tc>
                <a:extLst>
                  <a:ext uri="{0D108BD9-81ED-4DB2-BD59-A6C34878D82A}">
                    <a16:rowId xmlns:a16="http://schemas.microsoft.com/office/drawing/2014/main" val="10002"/>
                  </a:ext>
                </a:extLst>
              </a:tr>
            </a:tbl>
          </a:graphicData>
        </a:graphic>
      </p:graphicFrame>
      <p:sp>
        <p:nvSpPr>
          <p:cNvPr id="21" name="TextBox 20">
            <a:extLst>
              <a:ext uri="{FF2B5EF4-FFF2-40B4-BE49-F238E27FC236}">
                <a16:creationId xmlns:a16="http://schemas.microsoft.com/office/drawing/2014/main" id="{F05F4F28-181D-F219-7A1E-FD495DF0D66C}"/>
              </a:ext>
            </a:extLst>
          </p:cNvPr>
          <p:cNvSpPr txBox="1">
            <a:spLocks noChangeArrowheads="1"/>
          </p:cNvSpPr>
          <p:nvPr/>
        </p:nvSpPr>
        <p:spPr bwMode="auto">
          <a:xfrm>
            <a:off x="3570288" y="3540125"/>
            <a:ext cx="20161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Journey table</a:t>
            </a:r>
          </a:p>
        </p:txBody>
      </p:sp>
      <p:sp>
        <p:nvSpPr>
          <p:cNvPr id="22" name="Snip Single Corner Rectangle 21">
            <a:extLst>
              <a:ext uri="{FF2B5EF4-FFF2-40B4-BE49-F238E27FC236}">
                <a16:creationId xmlns:a16="http://schemas.microsoft.com/office/drawing/2014/main" id="{B428FBB8-2248-4370-A2E7-2BF6CE731598}"/>
              </a:ext>
            </a:extLst>
          </p:cNvPr>
          <p:cNvSpPr/>
          <p:nvPr/>
        </p:nvSpPr>
        <p:spPr bwMode="auto">
          <a:xfrm>
            <a:off x="227013" y="5300663"/>
            <a:ext cx="1092200" cy="431800"/>
          </a:xfrm>
          <a:prstGeom prst="snip1Rect">
            <a:avLst/>
          </a:prstGeom>
          <a:solidFill>
            <a:srgbClr val="FFFF00">
              <a:alpha val="30000"/>
            </a:srgbClr>
          </a:solidFill>
          <a:ln w="9525" cap="flat" cmpd="sng" algn="ctr">
            <a:solidFill>
              <a:srgbClr val="FFC000"/>
            </a:solidFill>
            <a:prstDash val="solid"/>
            <a:round/>
            <a:headEnd type="none" w="med" len="med"/>
            <a:tailEnd type="none" w="med" len="me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sz="2000" b="1"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Result:</a:t>
            </a:r>
          </a:p>
        </p:txBody>
      </p:sp>
      <p:sp>
        <p:nvSpPr>
          <p:cNvPr id="23" name="Snip Single Corner Rectangle 22">
            <a:extLst>
              <a:ext uri="{FF2B5EF4-FFF2-40B4-BE49-F238E27FC236}">
                <a16:creationId xmlns:a16="http://schemas.microsoft.com/office/drawing/2014/main" id="{BB9A7F14-16F4-9134-B28C-99BAD4EEA406}"/>
              </a:ext>
            </a:extLst>
          </p:cNvPr>
          <p:cNvSpPr/>
          <p:nvPr/>
        </p:nvSpPr>
        <p:spPr bwMode="auto">
          <a:xfrm>
            <a:off x="250825" y="3978275"/>
            <a:ext cx="830263" cy="431800"/>
          </a:xfrm>
          <a:prstGeom prst="snip1Rect">
            <a:avLst/>
          </a:prstGeom>
          <a:solidFill>
            <a:srgbClr val="FFFF00">
              <a:alpha val="30000"/>
            </a:srgbClr>
          </a:solidFill>
          <a:ln w="9525" cap="flat" cmpd="sng" algn="ctr">
            <a:solidFill>
              <a:srgbClr val="FFC000"/>
            </a:solidFill>
            <a:prstDash val="solid"/>
            <a:round/>
            <a:headEnd type="none" w="med" len="med"/>
            <a:tailEnd type="none" w="med" len="med"/>
          </a:ln>
          <a:effec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2000" b="1"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Run:</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7">
                                            <p:txEl>
                                              <p:pRg st="0" end="0"/>
                                            </p:txEl>
                                          </p:spTgt>
                                        </p:tgtEl>
                                        <p:attrNameLst>
                                          <p:attrName>style.visibility</p:attrName>
                                        </p:attrNameLst>
                                      </p:cBhvr>
                                      <p:to>
                                        <p:strVal val="visible"/>
                                      </p:to>
                                    </p:set>
                                    <p:animEffect transition="in" filter="wipe(left)">
                                      <p:cBhvr>
                                        <p:cTn id="11" dur="500"/>
                                        <p:tgtEl>
                                          <p:spTgt spid="17">
                                            <p:txEl>
                                              <p:pRg st="0" end="0"/>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6" presetClass="entr" presetSubtype="21" fill="hold" nodeType="click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barn(inVertical)">
                                      <p:cBhvr>
                                        <p:cTn id="16" dur="500"/>
                                        <p:tgtEl>
                                          <p:spTgt spid="20"/>
                                        </p:tgtEl>
                                      </p:cBhvr>
                                    </p:animEffect>
                                  </p:childTnLst>
                                </p:cTn>
                              </p:par>
                            </p:childTnLst>
                          </p:cTn>
                        </p:par>
                        <p:par>
                          <p:cTn id="17" fill="hold" nodeType="afterGroup">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21"/>
                                        </p:tgtEl>
                                        <p:attrNameLst>
                                          <p:attrName>style.visibility</p:attrName>
                                        </p:attrNameLst>
                                      </p:cBhvr>
                                      <p:to>
                                        <p:strVal val="visible"/>
                                      </p:to>
                                    </p:set>
                                    <p:animEffect transition="in" filter="wipe(left)">
                                      <p:cBhvr>
                                        <p:cTn id="20" dur="500"/>
                                        <p:tgtEl>
                                          <p:spTgt spid="21"/>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1" fill="hold" grpId="0" nodeType="clickEffect">
                                  <p:stCondLst>
                                    <p:cond delay="0"/>
                                  </p:stCondLst>
                                  <p:childTnLst>
                                    <p:set>
                                      <p:cBhvr>
                                        <p:cTn id="24" dur="1" fill="hold">
                                          <p:stCondLst>
                                            <p:cond delay="0"/>
                                          </p:stCondLst>
                                        </p:cTn>
                                        <p:tgtEl>
                                          <p:spTgt spid="23"/>
                                        </p:tgtEl>
                                        <p:attrNameLst>
                                          <p:attrName>style.visibility</p:attrName>
                                        </p:attrNameLst>
                                      </p:cBhvr>
                                      <p:to>
                                        <p:strVal val="visible"/>
                                      </p:to>
                                    </p:set>
                                    <p:animEffect transition="in" filter="wipe(up)">
                                      <p:cBhvr>
                                        <p:cTn id="25" dur="500"/>
                                        <p:tgtEl>
                                          <p:spTgt spid="23"/>
                                        </p:tgtEl>
                                      </p:cBhvr>
                                    </p:animEffect>
                                  </p:childTnLst>
                                </p:cTn>
                              </p:par>
                            </p:childTnLst>
                          </p:cTn>
                        </p:par>
                        <p:par>
                          <p:cTn id="26" fill="hold" nodeType="afterGroup">
                            <p:stCondLst>
                              <p:cond delay="500"/>
                            </p:stCondLst>
                            <p:childTnLst>
                              <p:par>
                                <p:cTn id="27" presetID="22" presetClass="entr" presetSubtype="8" fill="hold" nodeType="afterEffect">
                                  <p:stCondLst>
                                    <p:cond delay="0"/>
                                  </p:stCondLst>
                                  <p:childTnLst>
                                    <p:set>
                                      <p:cBhvr>
                                        <p:cTn id="28" dur="1" fill="hold">
                                          <p:stCondLst>
                                            <p:cond delay="0"/>
                                          </p:stCondLst>
                                        </p:cTn>
                                        <p:tgtEl>
                                          <p:spTgt spid="23">
                                            <p:txEl>
                                              <p:pRg st="0" end="0"/>
                                            </p:txEl>
                                          </p:spTgt>
                                        </p:tgtEl>
                                        <p:attrNameLst>
                                          <p:attrName>style.visibility</p:attrName>
                                        </p:attrNameLst>
                                      </p:cBhvr>
                                      <p:to>
                                        <p:strVal val="visible"/>
                                      </p:to>
                                    </p:set>
                                    <p:animEffect transition="in" filter="wipe(left)">
                                      <p:cBhvr>
                                        <p:cTn id="29" dur="500"/>
                                        <p:tgtEl>
                                          <p:spTgt spid="23">
                                            <p:txEl>
                                              <p:pRg st="0" end="0"/>
                                            </p:txEl>
                                          </p:spTgt>
                                        </p:tgtEl>
                                      </p:cBhvr>
                                    </p:animEffect>
                                  </p:childTnLst>
                                </p:cTn>
                              </p:par>
                            </p:childTnLst>
                          </p:cTn>
                        </p:par>
                        <p:par>
                          <p:cTn id="30" fill="hold" nodeType="afterGroup">
                            <p:stCondLst>
                              <p:cond delay="1000"/>
                            </p:stCondLst>
                            <p:childTnLst>
                              <p:par>
                                <p:cTn id="31" presetID="16" presetClass="entr" presetSubtype="21" fill="hold" grpId="0" nodeType="after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barn(inVertical)">
                                      <p:cBhvr>
                                        <p:cTn id="33" dur="500"/>
                                        <p:tgtEl>
                                          <p:spTgt spid="18"/>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1" fill="hold" grpId="0" nodeType="clickEffect">
                                  <p:stCondLst>
                                    <p:cond delay="0"/>
                                  </p:stCondLst>
                                  <p:childTnLst>
                                    <p:set>
                                      <p:cBhvr>
                                        <p:cTn id="37" dur="1" fill="hold">
                                          <p:stCondLst>
                                            <p:cond delay="0"/>
                                          </p:stCondLst>
                                        </p:cTn>
                                        <p:tgtEl>
                                          <p:spTgt spid="22"/>
                                        </p:tgtEl>
                                        <p:attrNameLst>
                                          <p:attrName>style.visibility</p:attrName>
                                        </p:attrNameLst>
                                      </p:cBhvr>
                                      <p:to>
                                        <p:strVal val="visible"/>
                                      </p:to>
                                    </p:set>
                                    <p:animEffect transition="in" filter="wipe(up)">
                                      <p:cBhvr>
                                        <p:cTn id="38" dur="500"/>
                                        <p:tgtEl>
                                          <p:spTgt spid="22"/>
                                        </p:tgtEl>
                                      </p:cBhvr>
                                    </p:animEffect>
                                  </p:childTnLst>
                                </p:cTn>
                              </p:par>
                            </p:childTnLst>
                          </p:cTn>
                        </p:par>
                        <p:par>
                          <p:cTn id="39" fill="hold" nodeType="afterGroup">
                            <p:stCondLst>
                              <p:cond delay="500"/>
                            </p:stCondLst>
                            <p:childTnLst>
                              <p:par>
                                <p:cTn id="40" presetID="22" presetClass="entr" presetSubtype="8" fill="hold" nodeType="afterEffect">
                                  <p:stCondLst>
                                    <p:cond delay="0"/>
                                  </p:stCondLst>
                                  <p:childTnLst>
                                    <p:set>
                                      <p:cBhvr>
                                        <p:cTn id="41" dur="1" fill="hold">
                                          <p:stCondLst>
                                            <p:cond delay="0"/>
                                          </p:stCondLst>
                                        </p:cTn>
                                        <p:tgtEl>
                                          <p:spTgt spid="22">
                                            <p:txEl>
                                              <p:pRg st="0" end="0"/>
                                            </p:txEl>
                                          </p:spTgt>
                                        </p:tgtEl>
                                        <p:attrNameLst>
                                          <p:attrName>style.visibility</p:attrName>
                                        </p:attrNameLst>
                                      </p:cBhvr>
                                      <p:to>
                                        <p:strVal val="visible"/>
                                      </p:to>
                                    </p:set>
                                    <p:animEffect transition="in" filter="wipe(left)">
                                      <p:cBhvr>
                                        <p:cTn id="42" dur="500"/>
                                        <p:tgtEl>
                                          <p:spTgt spid="22">
                                            <p:txEl>
                                              <p:pRg st="0" end="0"/>
                                            </p:txEl>
                                          </p:spTgt>
                                        </p:tgtEl>
                                      </p:cBhvr>
                                    </p:animEffect>
                                  </p:childTnLst>
                                </p:cTn>
                              </p:par>
                            </p:childTnLst>
                          </p:cTn>
                        </p:par>
                        <p:par>
                          <p:cTn id="43" fill="hold" nodeType="afterGroup">
                            <p:stCondLst>
                              <p:cond delay="1000"/>
                            </p:stCondLst>
                            <p:childTnLst>
                              <p:par>
                                <p:cTn id="44" presetID="22" presetClass="entr" presetSubtype="8" fill="hold" nodeType="after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wipe(left)">
                                      <p:cBhvr>
                                        <p:cTn id="46"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build="p"/>
      <p:bldP spid="18" grpId="0" animBg="1"/>
      <p:bldP spid="21" grpId="0"/>
      <p:bldP spid="22" grpId="0" animBg="1"/>
      <p:bldP spid="23" grpId="0" animBg="1"/>
    </p:bldLst>
  </p:timing>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396587-8922-0A7C-D5FB-F3AC2930B337}"/>
              </a:ext>
            </a:extLst>
          </p:cNvPr>
          <p:cNvSpPr>
            <a:spLocks noGrp="1"/>
          </p:cNvSpPr>
          <p:nvPr>
            <p:ph type="title"/>
          </p:nvPr>
        </p:nvSpPr>
        <p:spPr>
          <a:xfrm>
            <a:off x="457200" y="0"/>
            <a:ext cx="7620000" cy="1143000"/>
          </a:xfrm>
        </p:spPr>
        <p:txBody>
          <a:bodyPr/>
          <a:lstStyle/>
          <a:p>
            <a:pPr algn="ctr">
              <a:defRPr/>
            </a:pPr>
            <a:r>
              <a:rPr lang="en-US" dirty="0"/>
              <a:t>Activity 3</a:t>
            </a:r>
            <a:endParaRPr lang="en-MY" dirty="0"/>
          </a:p>
        </p:txBody>
      </p:sp>
      <p:sp>
        <p:nvSpPr>
          <p:cNvPr id="23" name="Title 1">
            <a:extLst>
              <a:ext uri="{FF2B5EF4-FFF2-40B4-BE49-F238E27FC236}">
                <a16:creationId xmlns:a16="http://schemas.microsoft.com/office/drawing/2014/main" id="{2B364A9D-1A09-F436-3026-2596E659BE32}"/>
              </a:ext>
            </a:extLst>
          </p:cNvPr>
          <p:cNvSpPr txBox="1">
            <a:spLocks/>
          </p:cNvSpPr>
          <p:nvPr/>
        </p:nvSpPr>
        <p:spPr bwMode="auto">
          <a:xfrm>
            <a:off x="0" y="836613"/>
            <a:ext cx="8172450" cy="323850"/>
          </a:xfrm>
          <a:prstGeom prst="rect">
            <a:avLst/>
          </a:prstGeom>
          <a:noFill/>
          <a:ln w="9525">
            <a:noFill/>
            <a:miter lim="800000"/>
            <a:headEnd/>
            <a:tailEnd/>
          </a:ln>
        </p:spPr>
        <p:txBody>
          <a:bodyPr lIns="72000" tIns="0" rIns="72000" bIns="0"/>
          <a:lstStyle/>
          <a:p>
            <a:pPr marL="0" marR="0" lvl="0" indent="0" algn="l" defTabSz="720000" rtl="0" eaLnBrk="1" fontAlgn="base" latinLnBrk="0" hangingPunct="1">
              <a:lnSpc>
                <a:spcPts val="1800"/>
              </a:lnSpc>
              <a:spcBef>
                <a:spcPts val="0"/>
              </a:spcBef>
              <a:spcAft>
                <a:spcPts val="0"/>
              </a:spcAft>
              <a:buClrTx/>
              <a:buSzTx/>
              <a:buFontTx/>
              <a:buNone/>
              <a:tabLst>
                <a:tab pos="0" algn="l"/>
              </a:tabLst>
              <a:defRPr/>
            </a:pPr>
            <a:r>
              <a:rPr kumimoji="0" lang="en-CA" sz="1800" b="1" i="0" u="none" strike="noStrike" kern="0" cap="none" spc="0" normalizeH="0" baseline="0" noProof="0" dirty="0">
                <a:ln>
                  <a:noFill/>
                </a:ln>
                <a:solidFill>
                  <a:srgbClr val="2F2B20"/>
                </a:solidFill>
                <a:effectLst/>
                <a:uLnTx/>
                <a:uFillTx/>
                <a:latin typeface="Arial" panose="020B0604020202020204" pitchFamily="34" charset="0"/>
                <a:ea typeface="+mn-ea"/>
                <a:cs typeface="Calibri" pitchFamily="34" charset="0"/>
              </a:rPr>
              <a:t>CLASS ACTIVITY</a:t>
            </a:r>
            <a:endParaRPr kumimoji="0" lang="en-MY" sz="1800" b="1" i="0" u="none" strike="noStrike" kern="0" cap="none" spc="0" normalizeH="0" baseline="0" noProof="0" dirty="0">
              <a:ln>
                <a:noFill/>
              </a:ln>
              <a:solidFill>
                <a:srgbClr val="2F2B20"/>
              </a:solidFill>
              <a:effectLst/>
              <a:uLnTx/>
              <a:uFillTx/>
              <a:latin typeface="Arial" panose="020B0604020202020204" pitchFamily="34" charset="0"/>
              <a:ea typeface="+mn-ea"/>
              <a:cs typeface="Calibri" pitchFamily="34" charset="0"/>
            </a:endParaRPr>
          </a:p>
          <a:p>
            <a:pPr marL="0" marR="0" lvl="0" indent="0" algn="l" defTabSz="720000" rtl="0" eaLnBrk="1" fontAlgn="base" latinLnBrk="0" hangingPunct="1">
              <a:lnSpc>
                <a:spcPts val="1800"/>
              </a:lnSpc>
              <a:spcBef>
                <a:spcPts val="0"/>
              </a:spcBef>
              <a:spcAft>
                <a:spcPts val="0"/>
              </a:spcAft>
              <a:buClrTx/>
              <a:buSzTx/>
              <a:buFontTx/>
              <a:buNone/>
              <a:tabLst>
                <a:tab pos="0" algn="l"/>
              </a:tabLst>
              <a:defRPr/>
            </a:pPr>
            <a:endParaRPr kumimoji="0" lang="en-MY" sz="1800" b="1" i="0" u="none" strike="noStrike" kern="0" cap="none" spc="0" normalizeH="0" baseline="0" noProof="0" dirty="0">
              <a:ln>
                <a:noFill/>
              </a:ln>
              <a:solidFill>
                <a:srgbClr val="2F2B20"/>
              </a:solidFill>
              <a:effectLst/>
              <a:uLnTx/>
              <a:uFillTx/>
              <a:latin typeface="Calibri"/>
              <a:ea typeface="+mn-ea"/>
              <a:cs typeface="Calibri" pitchFamily="34" charset="0"/>
            </a:endParaRPr>
          </a:p>
        </p:txBody>
      </p:sp>
      <p:sp>
        <p:nvSpPr>
          <p:cNvPr id="12" name="Content Placeholder 2">
            <a:extLst>
              <a:ext uri="{FF2B5EF4-FFF2-40B4-BE49-F238E27FC236}">
                <a16:creationId xmlns:a16="http://schemas.microsoft.com/office/drawing/2014/main" id="{2591E521-742A-4DDB-8597-B10776EAED53}"/>
              </a:ext>
            </a:extLst>
          </p:cNvPr>
          <p:cNvSpPr txBox="1">
            <a:spLocks/>
          </p:cNvSpPr>
          <p:nvPr/>
        </p:nvSpPr>
        <p:spPr bwMode="auto">
          <a:xfrm>
            <a:off x="250825" y="1341438"/>
            <a:ext cx="7921625"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4000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Write down the result of executing the following SQL statements</a:t>
            </a: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20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400050" marR="0" lvl="1"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6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Cambria" panose="02040503050406030204" pitchFamily="18" charset="0"/>
              <a:buAutoNum type="alphaLcParenR"/>
              <a:tabLst/>
              <a:defRPr/>
            </a:pPr>
            <a:r>
              <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SELECT EXTRACT(YEAR FROM Date) AS Year, EXTRACT(DAY FROM Date) AS Day, DATE_ ADD(Date, INTERVAL 1 MONTH) FROM Course;</a:t>
            </a: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US" altLang="en-US" sz="32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US" altLang="en-US" sz="32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rPr>
              <a:t> </a:t>
            </a: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graphicFrame>
        <p:nvGraphicFramePr>
          <p:cNvPr id="25" name="Table 24">
            <a:extLst>
              <a:ext uri="{FF2B5EF4-FFF2-40B4-BE49-F238E27FC236}">
                <a16:creationId xmlns:a16="http://schemas.microsoft.com/office/drawing/2014/main" id="{CB827B8E-495A-A290-67E9-565ECD1E1147}"/>
              </a:ext>
            </a:extLst>
          </p:cNvPr>
          <p:cNvGraphicFramePr>
            <a:graphicFrameLocks noGrp="1"/>
          </p:cNvGraphicFramePr>
          <p:nvPr/>
        </p:nvGraphicFramePr>
        <p:xfrm>
          <a:off x="457200" y="5553075"/>
          <a:ext cx="7548563" cy="741364"/>
        </p:xfrm>
        <a:graphic>
          <a:graphicData uri="http://schemas.openxmlformats.org/drawingml/2006/table">
            <a:tbl>
              <a:tblPr firstRow="1" bandRow="1">
                <a:tableStyleId>{0E3FDE45-AF77-4B5C-9715-49D594BDF05E}</a:tableStyleId>
              </a:tblPr>
              <a:tblGrid>
                <a:gridCol w="1326078">
                  <a:extLst>
                    <a:ext uri="{9D8B030D-6E8A-4147-A177-3AD203B41FA5}">
                      <a16:colId xmlns:a16="http://schemas.microsoft.com/office/drawing/2014/main" val="20000"/>
                    </a:ext>
                  </a:extLst>
                </a:gridCol>
                <a:gridCol w="1368113">
                  <a:extLst>
                    <a:ext uri="{9D8B030D-6E8A-4147-A177-3AD203B41FA5}">
                      <a16:colId xmlns:a16="http://schemas.microsoft.com/office/drawing/2014/main" val="20001"/>
                    </a:ext>
                  </a:extLst>
                </a:gridCol>
                <a:gridCol w="4854372">
                  <a:extLst>
                    <a:ext uri="{9D8B030D-6E8A-4147-A177-3AD203B41FA5}">
                      <a16:colId xmlns:a16="http://schemas.microsoft.com/office/drawing/2014/main" val="20002"/>
                    </a:ext>
                  </a:extLst>
                </a:gridCol>
              </a:tblGrid>
              <a:tr h="370682">
                <a:tc>
                  <a:txBody>
                    <a:bodyPr/>
                    <a:lstStyle/>
                    <a:p>
                      <a:pPr algn="ctr"/>
                      <a:r>
                        <a:rPr lang="en-CA" sz="1800" dirty="0"/>
                        <a:t>Year</a:t>
                      </a:r>
                    </a:p>
                  </a:txBody>
                  <a:tcPr marL="91437" marR="91437" marT="45700" marB="45700"/>
                </a:tc>
                <a:tc>
                  <a:txBody>
                    <a:bodyPr/>
                    <a:lstStyle/>
                    <a:p>
                      <a:pPr algn="ctr"/>
                      <a:r>
                        <a:rPr lang="en-CA" sz="1800" dirty="0"/>
                        <a:t>Day</a:t>
                      </a:r>
                    </a:p>
                  </a:txBody>
                  <a:tcPr marL="91437" marR="91437" marT="45700" marB="45700"/>
                </a:tc>
                <a:tc>
                  <a:txBody>
                    <a:bodyPr/>
                    <a:lstStyle/>
                    <a:p>
                      <a:pPr algn="ctr"/>
                      <a:r>
                        <a:rPr lang="en-CA" sz="1800" dirty="0"/>
                        <a:t>DATE_ ADD(Date, INTERVAL 1 MONTH)</a:t>
                      </a:r>
                    </a:p>
                  </a:txBody>
                  <a:tcPr marL="91437" marR="91437" marT="45700" marB="45700"/>
                </a:tc>
                <a:extLst>
                  <a:ext uri="{0D108BD9-81ED-4DB2-BD59-A6C34878D82A}">
                    <a16:rowId xmlns:a16="http://schemas.microsoft.com/office/drawing/2014/main" val="10000"/>
                  </a:ext>
                </a:extLst>
              </a:tr>
              <a:tr h="370682">
                <a:tc>
                  <a:txBody>
                    <a:bodyPr/>
                    <a:lstStyle/>
                    <a:p>
                      <a:pPr algn="ctr"/>
                      <a:r>
                        <a:rPr lang="en-CA" sz="1800" dirty="0"/>
                        <a:t>2011</a:t>
                      </a:r>
                    </a:p>
                  </a:txBody>
                  <a:tcPr marL="91437" marR="91437" marT="45700" marB="45700"/>
                </a:tc>
                <a:tc>
                  <a:txBody>
                    <a:bodyPr/>
                    <a:lstStyle/>
                    <a:p>
                      <a:pPr algn="ctr"/>
                      <a:r>
                        <a:rPr lang="en-CA" sz="1800" dirty="0"/>
                        <a:t>12</a:t>
                      </a:r>
                    </a:p>
                  </a:txBody>
                  <a:tcPr marL="91437" marR="91437" marT="45700" marB="45700"/>
                </a:tc>
                <a:tc>
                  <a:txBody>
                    <a:bodyPr/>
                    <a:lstStyle/>
                    <a:p>
                      <a:pPr algn="ctr"/>
                      <a:r>
                        <a:rPr lang="en-CA" sz="1800" dirty="0"/>
                        <a:t>2012-01-12</a:t>
                      </a:r>
                    </a:p>
                  </a:txBody>
                  <a:tcPr marL="91437" marR="91437" marT="45700" marB="45700"/>
                </a:tc>
                <a:extLst>
                  <a:ext uri="{0D108BD9-81ED-4DB2-BD59-A6C34878D82A}">
                    <a16:rowId xmlns:a16="http://schemas.microsoft.com/office/drawing/2014/main" val="10001"/>
                  </a:ext>
                </a:extLst>
              </a:tr>
            </a:tbl>
          </a:graphicData>
        </a:graphic>
      </p:graphicFrame>
      <p:graphicFrame>
        <p:nvGraphicFramePr>
          <p:cNvPr id="9" name="Table 8">
            <a:extLst>
              <a:ext uri="{FF2B5EF4-FFF2-40B4-BE49-F238E27FC236}">
                <a16:creationId xmlns:a16="http://schemas.microsoft.com/office/drawing/2014/main" id="{E2FD5FDD-DB99-472F-BAB6-24B888996FB6}"/>
              </a:ext>
            </a:extLst>
          </p:cNvPr>
          <p:cNvGraphicFramePr>
            <a:graphicFrameLocks noGrp="1"/>
          </p:cNvGraphicFramePr>
          <p:nvPr/>
        </p:nvGraphicFramePr>
        <p:xfrm>
          <a:off x="1184275" y="2349500"/>
          <a:ext cx="6096000" cy="741364"/>
        </p:xfrm>
        <a:graphic>
          <a:graphicData uri="http://schemas.openxmlformats.org/drawingml/2006/table">
            <a:tbl>
              <a:tblPr firstRow="1" bandRow="1">
                <a:tableStyleId>{C083E6E3-FA7D-4D7B-A595-EF9225AFEA82}</a:tableStyleId>
              </a:tblPr>
              <a:tblGrid>
                <a:gridCol w="15240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tblGrid>
              <a:tr h="370682">
                <a:tc>
                  <a:txBody>
                    <a:bodyPr/>
                    <a:lstStyle/>
                    <a:p>
                      <a:pPr algn="ctr"/>
                      <a:r>
                        <a:rPr lang="en-CA" sz="1800" dirty="0"/>
                        <a:t>Date</a:t>
                      </a:r>
                    </a:p>
                  </a:txBody>
                  <a:tcPr marT="45700" marB="45700"/>
                </a:tc>
                <a:tc>
                  <a:txBody>
                    <a:bodyPr/>
                    <a:lstStyle/>
                    <a:p>
                      <a:pPr algn="ctr"/>
                      <a:r>
                        <a:rPr lang="en-CA" sz="1800" dirty="0"/>
                        <a:t>Name</a:t>
                      </a:r>
                    </a:p>
                  </a:txBody>
                  <a:tcPr marT="45700" marB="45700"/>
                </a:tc>
                <a:tc>
                  <a:txBody>
                    <a:bodyPr/>
                    <a:lstStyle/>
                    <a:p>
                      <a:pPr algn="ctr"/>
                      <a:r>
                        <a:rPr lang="en-CA" sz="1800" dirty="0"/>
                        <a:t>Spaces</a:t>
                      </a:r>
                    </a:p>
                  </a:txBody>
                  <a:tcPr marT="45700" marB="45700"/>
                </a:tc>
                <a:tc>
                  <a:txBody>
                    <a:bodyPr/>
                    <a:lstStyle/>
                    <a:p>
                      <a:pPr algn="ctr"/>
                      <a:r>
                        <a:rPr lang="en-CA" sz="1800" dirty="0"/>
                        <a:t>Cost</a:t>
                      </a:r>
                    </a:p>
                  </a:txBody>
                  <a:tcPr marT="45700" marB="45700"/>
                </a:tc>
                <a:extLst>
                  <a:ext uri="{0D108BD9-81ED-4DB2-BD59-A6C34878D82A}">
                    <a16:rowId xmlns:a16="http://schemas.microsoft.com/office/drawing/2014/main" val="10000"/>
                  </a:ext>
                </a:extLst>
              </a:tr>
              <a:tr h="370682">
                <a:tc>
                  <a:txBody>
                    <a:bodyPr/>
                    <a:lstStyle/>
                    <a:p>
                      <a:pPr algn="ctr"/>
                      <a:r>
                        <a:rPr lang="en-CA" sz="1800" dirty="0"/>
                        <a:t>2011-12-12</a:t>
                      </a:r>
                    </a:p>
                  </a:txBody>
                  <a:tcPr marT="45700" marB="45700"/>
                </a:tc>
                <a:tc>
                  <a:txBody>
                    <a:bodyPr/>
                    <a:lstStyle/>
                    <a:p>
                      <a:pPr algn="ctr"/>
                      <a:r>
                        <a:rPr lang="en-CA" sz="1800" dirty="0"/>
                        <a:t>Database</a:t>
                      </a:r>
                    </a:p>
                  </a:txBody>
                  <a:tcPr marT="45700" marB="45700"/>
                </a:tc>
                <a:tc>
                  <a:txBody>
                    <a:bodyPr/>
                    <a:lstStyle/>
                    <a:p>
                      <a:pPr algn="ctr"/>
                      <a:r>
                        <a:rPr lang="en-CA" sz="1800" dirty="0"/>
                        <a:t>25</a:t>
                      </a:r>
                    </a:p>
                  </a:txBody>
                  <a:tcPr marT="45700" marB="45700"/>
                </a:tc>
                <a:tc>
                  <a:txBody>
                    <a:bodyPr/>
                    <a:lstStyle/>
                    <a:p>
                      <a:pPr algn="ctr"/>
                      <a:r>
                        <a:rPr lang="en-CA" sz="1800" dirty="0"/>
                        <a:t>300.99</a:t>
                      </a:r>
                    </a:p>
                  </a:txBody>
                  <a:tcPr marT="45700" marB="45700"/>
                </a:tc>
                <a:extLst>
                  <a:ext uri="{0D108BD9-81ED-4DB2-BD59-A6C34878D82A}">
                    <a16:rowId xmlns:a16="http://schemas.microsoft.com/office/drawing/2014/main" val="10001"/>
                  </a:ext>
                </a:extLst>
              </a:tr>
            </a:tbl>
          </a:graphicData>
        </a:graphic>
      </p:graphicFrame>
      <p:sp>
        <p:nvSpPr>
          <p:cNvPr id="10" name="TextBox 9">
            <a:extLst>
              <a:ext uri="{FF2B5EF4-FFF2-40B4-BE49-F238E27FC236}">
                <a16:creationId xmlns:a16="http://schemas.microsoft.com/office/drawing/2014/main" id="{770B3C31-575D-0682-777C-4F2EE5A93743}"/>
              </a:ext>
            </a:extLst>
          </p:cNvPr>
          <p:cNvSpPr txBox="1">
            <a:spLocks noChangeArrowheads="1"/>
          </p:cNvSpPr>
          <p:nvPr/>
        </p:nvSpPr>
        <p:spPr bwMode="auto">
          <a:xfrm>
            <a:off x="3592513" y="3108325"/>
            <a:ext cx="19589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Course table</a:t>
            </a:r>
          </a:p>
        </p:txBody>
      </p:sp>
      <p:sp>
        <p:nvSpPr>
          <p:cNvPr id="11" name="Rounded Rectangle 10">
            <a:extLst>
              <a:ext uri="{FF2B5EF4-FFF2-40B4-BE49-F238E27FC236}">
                <a16:creationId xmlns:a16="http://schemas.microsoft.com/office/drawing/2014/main" id="{04FCE277-CB4C-493D-E674-336B731D3995}"/>
              </a:ext>
            </a:extLst>
          </p:cNvPr>
          <p:cNvSpPr/>
          <p:nvPr/>
        </p:nvSpPr>
        <p:spPr bwMode="auto">
          <a:xfrm>
            <a:off x="3133725" y="4868863"/>
            <a:ext cx="2195513" cy="482600"/>
          </a:xfrm>
          <a:prstGeom prst="roundRect">
            <a:avLst/>
          </a:prstGeom>
          <a:ln>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nchorCtr="1"/>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sz="3200" b="0" i="0" u="none" strike="noStrike" kern="1200" cap="none" spc="0" normalizeH="0" baseline="0" noProof="0" dirty="0">
                <a:ln>
                  <a:noFill/>
                </a:ln>
                <a:solidFill>
                  <a:srgbClr val="FFFFFF"/>
                </a:solidFill>
                <a:effectLst/>
                <a:uLnTx/>
                <a:uFillTx/>
                <a:latin typeface="Arial" charset="0"/>
                <a:ea typeface="+mn-ea"/>
                <a:cs typeface="+mn-cs"/>
              </a:rPr>
              <a:t>Answer</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wipe(left)">
                                      <p:cBhvr>
                                        <p:cTn id="7" dur="500"/>
                                        <p:tgtEl>
                                          <p:spTgt spid="12">
                                            <p:txEl>
                                              <p:pRg st="0" end="0"/>
                                            </p:txEl>
                                          </p:spTgt>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up)">
                                      <p:cBhvr>
                                        <p:cTn id="11" dur="500"/>
                                        <p:tgtEl>
                                          <p:spTgt spid="9"/>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ipe(left)">
                                      <p:cBhvr>
                                        <p:cTn id="15" dur="500"/>
                                        <p:tgtEl>
                                          <p:spTgt spid="10"/>
                                        </p:tgtEl>
                                      </p:cBhvr>
                                    </p:animEffect>
                                  </p:childTnLst>
                                </p:cTn>
                              </p:par>
                            </p:childTnLst>
                          </p:cTn>
                        </p:par>
                        <p:par>
                          <p:cTn id="16" fill="hold" nodeType="afterGroup">
                            <p:stCondLst>
                              <p:cond delay="1500"/>
                            </p:stCondLst>
                            <p:childTnLst>
                              <p:par>
                                <p:cTn id="17" presetID="22" presetClass="entr" presetSubtype="8" fill="hold" nodeType="afterEffect">
                                  <p:stCondLst>
                                    <p:cond delay="0"/>
                                  </p:stCondLst>
                                  <p:childTnLst>
                                    <p:set>
                                      <p:cBhvr>
                                        <p:cTn id="18" dur="1" fill="hold">
                                          <p:stCondLst>
                                            <p:cond delay="0"/>
                                          </p:stCondLst>
                                        </p:cTn>
                                        <p:tgtEl>
                                          <p:spTgt spid="12">
                                            <p:txEl>
                                              <p:pRg st="4" end="4"/>
                                            </p:txEl>
                                          </p:spTgt>
                                        </p:tgtEl>
                                        <p:attrNameLst>
                                          <p:attrName>style.visibility</p:attrName>
                                        </p:attrNameLst>
                                      </p:cBhvr>
                                      <p:to>
                                        <p:strVal val="visible"/>
                                      </p:to>
                                    </p:set>
                                    <p:animEffect transition="in" filter="wipe(left)">
                                      <p:cBhvr>
                                        <p:cTn id="19" dur="500"/>
                                        <p:tgtEl>
                                          <p:spTgt spid="12">
                                            <p:txEl>
                                              <p:pRg st="4" end="4"/>
                                            </p:txEl>
                                          </p:spTgt>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wipe(left)">
                                      <p:cBhvr>
                                        <p:cTn id="23" dur="500"/>
                                        <p:tgtEl>
                                          <p:spTgt spid="11"/>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1" presetClass="entr" presetSubtype="0" fill="hold" nodeType="clickEffect">
                                  <p:stCondLst>
                                    <p:cond delay="0"/>
                                  </p:stCondLst>
                                  <p:childTnLst>
                                    <p:set>
                                      <p:cBhvr>
                                        <p:cTn id="27"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animBg="1"/>
    </p:bldLst>
  </p:timing>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A73A2-C98D-AE31-017D-7EDB67222549}"/>
              </a:ext>
            </a:extLst>
          </p:cNvPr>
          <p:cNvSpPr>
            <a:spLocks noGrp="1"/>
          </p:cNvSpPr>
          <p:nvPr>
            <p:ph type="title"/>
          </p:nvPr>
        </p:nvSpPr>
        <p:spPr>
          <a:xfrm>
            <a:off x="457200" y="0"/>
            <a:ext cx="7620000" cy="1143000"/>
          </a:xfrm>
        </p:spPr>
        <p:txBody>
          <a:bodyPr/>
          <a:lstStyle/>
          <a:p>
            <a:pPr algn="ctr">
              <a:defRPr/>
            </a:pPr>
            <a:r>
              <a:rPr lang="en-US" dirty="0"/>
              <a:t>Aggregate Functions</a:t>
            </a:r>
            <a:endParaRPr lang="en-MY" dirty="0"/>
          </a:p>
        </p:txBody>
      </p:sp>
      <p:sp>
        <p:nvSpPr>
          <p:cNvPr id="12" name="Content Placeholder 2">
            <a:extLst>
              <a:ext uri="{FF2B5EF4-FFF2-40B4-BE49-F238E27FC236}">
                <a16:creationId xmlns:a16="http://schemas.microsoft.com/office/drawing/2014/main" id="{90E5F467-131C-5BFF-C167-737FFE07DD0C}"/>
              </a:ext>
            </a:extLst>
          </p:cNvPr>
          <p:cNvSpPr txBox="1">
            <a:spLocks/>
          </p:cNvSpPr>
          <p:nvPr/>
        </p:nvSpPr>
        <p:spPr bwMode="auto">
          <a:xfrm>
            <a:off x="250825" y="1268413"/>
            <a:ext cx="7978775"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US"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An aggregate function grouped together</a:t>
            </a: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 the values of multiple rows to form a </a:t>
            </a:r>
            <a:r>
              <a:rPr kumimoji="0" lang="en-CA" altLang="en-US" sz="3200" b="1" i="0" u="none" strike="noStrike" kern="1200" cap="none" spc="0" normalizeH="0" baseline="0" noProof="0">
                <a:ln>
                  <a:noFill/>
                </a:ln>
                <a:solidFill>
                  <a:srgbClr val="B50C00"/>
                </a:solidFill>
                <a:effectLst/>
                <a:uLnTx/>
                <a:uFillTx/>
                <a:latin typeface="Calibri" panose="020F0502020204030204" pitchFamily="34" charset="0"/>
                <a:ea typeface="+mn-ea"/>
                <a:cs typeface="Arial" panose="020B0604020202020204" pitchFamily="34" charset="0"/>
              </a:rPr>
              <a:t>single</a:t>
            </a: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 value</a:t>
            </a: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24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For example</a:t>
            </a: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Aggregate functions can be used to count the number of books in the table or to calculate the total book quantity </a:t>
            </a:r>
          </a:p>
        </p:txBody>
      </p:sp>
      <p:graphicFrame>
        <p:nvGraphicFramePr>
          <p:cNvPr id="19" name="Table 18">
            <a:extLst>
              <a:ext uri="{FF2B5EF4-FFF2-40B4-BE49-F238E27FC236}">
                <a16:creationId xmlns:a16="http://schemas.microsoft.com/office/drawing/2014/main" id="{63FA56FD-30D9-71BD-E3D5-ED226B0A1E2D}"/>
              </a:ext>
            </a:extLst>
          </p:cNvPr>
          <p:cNvGraphicFramePr>
            <a:graphicFrameLocks noGrp="1"/>
          </p:cNvGraphicFramePr>
          <p:nvPr/>
        </p:nvGraphicFramePr>
        <p:xfrm>
          <a:off x="1219200" y="3429000"/>
          <a:ext cx="6096000" cy="1112838"/>
        </p:xfrm>
        <a:graphic>
          <a:graphicData uri="http://schemas.openxmlformats.org/drawingml/2006/table">
            <a:tbl>
              <a:tblPr firstRow="1" bandRow="1">
                <a:tableStyleId>{D27102A9-8310-4765-A935-A1911B00CA55}</a:tableStyleId>
              </a:tblPr>
              <a:tblGrid>
                <a:gridCol w="1463824">
                  <a:extLst>
                    <a:ext uri="{9D8B030D-6E8A-4147-A177-3AD203B41FA5}">
                      <a16:colId xmlns:a16="http://schemas.microsoft.com/office/drawing/2014/main" val="20000"/>
                    </a:ext>
                  </a:extLst>
                </a:gridCol>
                <a:gridCol w="2736304">
                  <a:extLst>
                    <a:ext uri="{9D8B030D-6E8A-4147-A177-3AD203B41FA5}">
                      <a16:colId xmlns:a16="http://schemas.microsoft.com/office/drawing/2014/main" val="20001"/>
                    </a:ext>
                  </a:extLst>
                </a:gridCol>
                <a:gridCol w="1895872">
                  <a:extLst>
                    <a:ext uri="{9D8B030D-6E8A-4147-A177-3AD203B41FA5}">
                      <a16:colId xmlns:a16="http://schemas.microsoft.com/office/drawing/2014/main" val="20002"/>
                    </a:ext>
                  </a:extLst>
                </a:gridCol>
              </a:tblGrid>
              <a:tr h="370946">
                <a:tc>
                  <a:txBody>
                    <a:bodyPr/>
                    <a:lstStyle/>
                    <a:p>
                      <a:pPr algn="ctr"/>
                      <a:r>
                        <a:rPr lang="en-CA" sz="1800" dirty="0"/>
                        <a:t>ISBN</a:t>
                      </a:r>
                    </a:p>
                  </a:txBody>
                  <a:tcPr marT="45733" marB="45733"/>
                </a:tc>
                <a:tc>
                  <a:txBody>
                    <a:bodyPr/>
                    <a:lstStyle/>
                    <a:p>
                      <a:pPr algn="ctr"/>
                      <a:r>
                        <a:rPr lang="en-CA" sz="1800" dirty="0"/>
                        <a:t>Title</a:t>
                      </a:r>
                    </a:p>
                  </a:txBody>
                  <a:tcPr marT="45733" marB="45733"/>
                </a:tc>
                <a:tc>
                  <a:txBody>
                    <a:bodyPr/>
                    <a:lstStyle/>
                    <a:p>
                      <a:pPr algn="ctr"/>
                      <a:r>
                        <a:rPr lang="en-CA" sz="1800" dirty="0"/>
                        <a:t>Quantity</a:t>
                      </a:r>
                    </a:p>
                  </a:txBody>
                  <a:tcPr marT="45733" marB="45733"/>
                </a:tc>
                <a:extLst>
                  <a:ext uri="{0D108BD9-81ED-4DB2-BD59-A6C34878D82A}">
                    <a16:rowId xmlns:a16="http://schemas.microsoft.com/office/drawing/2014/main" val="10000"/>
                  </a:ext>
                </a:extLst>
              </a:tr>
              <a:tr h="370946">
                <a:tc>
                  <a:txBody>
                    <a:bodyPr/>
                    <a:lstStyle/>
                    <a:p>
                      <a:pPr algn="ctr"/>
                      <a:r>
                        <a:rPr lang="en-CA" sz="1800" dirty="0"/>
                        <a:t>12345</a:t>
                      </a:r>
                    </a:p>
                  </a:txBody>
                  <a:tcPr marT="45733" marB="45733"/>
                </a:tc>
                <a:tc>
                  <a:txBody>
                    <a:bodyPr/>
                    <a:lstStyle/>
                    <a:p>
                      <a:pPr algn="ctr"/>
                      <a:r>
                        <a:rPr lang="en-CA" sz="1800" dirty="0"/>
                        <a:t>The Hunger</a:t>
                      </a:r>
                      <a:r>
                        <a:rPr lang="en-CA" sz="1800" baseline="0" dirty="0"/>
                        <a:t> Game</a:t>
                      </a:r>
                      <a:endParaRPr lang="en-CA" sz="1800" dirty="0"/>
                    </a:p>
                  </a:txBody>
                  <a:tcPr marT="45733" marB="45733"/>
                </a:tc>
                <a:tc>
                  <a:txBody>
                    <a:bodyPr/>
                    <a:lstStyle/>
                    <a:p>
                      <a:pPr algn="ctr"/>
                      <a:r>
                        <a:rPr lang="en-CA" sz="1800" dirty="0"/>
                        <a:t>10</a:t>
                      </a:r>
                    </a:p>
                  </a:txBody>
                  <a:tcPr marT="45733" marB="45733"/>
                </a:tc>
                <a:extLst>
                  <a:ext uri="{0D108BD9-81ED-4DB2-BD59-A6C34878D82A}">
                    <a16:rowId xmlns:a16="http://schemas.microsoft.com/office/drawing/2014/main" val="10001"/>
                  </a:ext>
                </a:extLst>
              </a:tr>
              <a:tr h="370946">
                <a:tc>
                  <a:txBody>
                    <a:bodyPr/>
                    <a:lstStyle/>
                    <a:p>
                      <a:pPr algn="ctr"/>
                      <a:r>
                        <a:rPr lang="en-CA" sz="1800" dirty="0"/>
                        <a:t>54321</a:t>
                      </a:r>
                    </a:p>
                  </a:txBody>
                  <a:tcPr marT="45733" marB="45733"/>
                </a:tc>
                <a:tc>
                  <a:txBody>
                    <a:bodyPr/>
                    <a:lstStyle/>
                    <a:p>
                      <a:pPr algn="ctr"/>
                      <a:r>
                        <a:rPr lang="en-CA" sz="1800" dirty="0"/>
                        <a:t>A Song of Ice and Fire</a:t>
                      </a:r>
                    </a:p>
                  </a:txBody>
                  <a:tcPr marT="45733" marB="45733"/>
                </a:tc>
                <a:tc>
                  <a:txBody>
                    <a:bodyPr/>
                    <a:lstStyle/>
                    <a:p>
                      <a:pPr algn="ctr"/>
                      <a:r>
                        <a:rPr lang="en-CA" sz="1800" dirty="0"/>
                        <a:t>15</a:t>
                      </a:r>
                    </a:p>
                  </a:txBody>
                  <a:tcPr marT="45733" marB="45733"/>
                </a:tc>
                <a:extLst>
                  <a:ext uri="{0D108BD9-81ED-4DB2-BD59-A6C34878D82A}">
                    <a16:rowId xmlns:a16="http://schemas.microsoft.com/office/drawing/2014/main" val="10002"/>
                  </a:ext>
                </a:extLst>
              </a:tr>
            </a:tbl>
          </a:graphicData>
        </a:graphic>
      </p:graphicFrame>
      <p:sp>
        <p:nvSpPr>
          <p:cNvPr id="20" name="TextBox 19">
            <a:extLst>
              <a:ext uri="{FF2B5EF4-FFF2-40B4-BE49-F238E27FC236}">
                <a16:creationId xmlns:a16="http://schemas.microsoft.com/office/drawing/2014/main" id="{FAE991B7-4543-A104-9795-57DC31CB9C5C}"/>
              </a:ext>
            </a:extLst>
          </p:cNvPr>
          <p:cNvSpPr txBox="1">
            <a:spLocks noChangeArrowheads="1"/>
          </p:cNvSpPr>
          <p:nvPr/>
        </p:nvSpPr>
        <p:spPr bwMode="auto">
          <a:xfrm>
            <a:off x="3259138" y="4545013"/>
            <a:ext cx="20161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Book table</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wipe(left)">
                                      <p:cBhvr>
                                        <p:cTn id="7" dur="500"/>
                                        <p:tgtEl>
                                          <p:spTgt spid="1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
                                            <p:txEl>
                                              <p:pRg st="2" end="2"/>
                                            </p:txEl>
                                          </p:spTgt>
                                        </p:tgtEl>
                                        <p:attrNameLst>
                                          <p:attrName>style.visibility</p:attrName>
                                        </p:attrNameLst>
                                      </p:cBhvr>
                                      <p:to>
                                        <p:strVal val="visible"/>
                                      </p:to>
                                    </p:set>
                                    <p:animEffect transition="in" filter="wipe(left)">
                                      <p:cBhvr>
                                        <p:cTn id="12" dur="500"/>
                                        <p:tgtEl>
                                          <p:spTgt spid="12">
                                            <p:txEl>
                                              <p:pRg st="2" end="2"/>
                                            </p:txEl>
                                          </p:spTgt>
                                        </p:tgtEl>
                                      </p:cBhvr>
                                    </p:animEffect>
                                  </p:childTnLst>
                                </p:cTn>
                              </p:par>
                            </p:childTnLst>
                          </p:cTn>
                        </p:par>
                        <p:par>
                          <p:cTn id="13" fill="hold" nodeType="afterGroup">
                            <p:stCondLst>
                              <p:cond delay="500"/>
                            </p:stCondLst>
                            <p:childTnLst>
                              <p:par>
                                <p:cTn id="14" presetID="16" presetClass="entr" presetSubtype="21" fill="hold" nodeType="after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barn(inVertical)">
                                      <p:cBhvr>
                                        <p:cTn id="16" dur="500"/>
                                        <p:tgtEl>
                                          <p:spTgt spid="19"/>
                                        </p:tgtEl>
                                      </p:cBhvr>
                                    </p:animEffect>
                                  </p:childTnLst>
                                </p:cTn>
                              </p:par>
                            </p:childTnLst>
                          </p:cTn>
                        </p:par>
                        <p:par>
                          <p:cTn id="17" fill="hold" nodeType="afterGroup">
                            <p:stCondLst>
                              <p:cond delay="1000"/>
                            </p:stCondLst>
                            <p:childTnLst>
                              <p:par>
                                <p:cTn id="18" presetID="22" presetClass="entr" presetSubtype="8" fill="hold" grpId="0" nodeType="afterEffect">
                                  <p:stCondLst>
                                    <p:cond delay="0"/>
                                  </p:stCondLst>
                                  <p:childTnLst>
                                    <p:set>
                                      <p:cBhvr>
                                        <p:cTn id="19" dur="1" fill="hold">
                                          <p:stCondLst>
                                            <p:cond delay="0"/>
                                          </p:stCondLst>
                                        </p:cTn>
                                        <p:tgtEl>
                                          <p:spTgt spid="20"/>
                                        </p:tgtEl>
                                        <p:attrNameLst>
                                          <p:attrName>style.visibility</p:attrName>
                                        </p:attrNameLst>
                                      </p:cBhvr>
                                      <p:to>
                                        <p:strVal val="visible"/>
                                      </p:to>
                                    </p:set>
                                    <p:animEffect transition="in" filter="wipe(left)">
                                      <p:cBhvr>
                                        <p:cTn id="20" dur="500"/>
                                        <p:tgtEl>
                                          <p:spTgt spid="20"/>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2">
                                            <p:txEl>
                                              <p:pRg st="6" end="6"/>
                                            </p:txEl>
                                          </p:spTgt>
                                        </p:tgtEl>
                                        <p:attrNameLst>
                                          <p:attrName>style.visibility</p:attrName>
                                        </p:attrNameLst>
                                      </p:cBhvr>
                                      <p:to>
                                        <p:strVal val="visible"/>
                                      </p:to>
                                    </p:set>
                                    <p:animEffect transition="in" filter="wipe(left)">
                                      <p:cBhvr>
                                        <p:cTn id="25" dur="500"/>
                                        <p:tgtEl>
                                          <p:spTgt spid="1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P spid="20" grpId="0"/>
    </p:bldLst>
  </p:timing>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8B589-49AA-1D6F-F9DE-3E51649D6BCB}"/>
              </a:ext>
            </a:extLst>
          </p:cNvPr>
          <p:cNvSpPr>
            <a:spLocks noGrp="1"/>
          </p:cNvSpPr>
          <p:nvPr>
            <p:ph type="title"/>
          </p:nvPr>
        </p:nvSpPr>
        <p:spPr>
          <a:xfrm>
            <a:off x="457200" y="0"/>
            <a:ext cx="7620000" cy="1143000"/>
          </a:xfrm>
        </p:spPr>
        <p:txBody>
          <a:bodyPr/>
          <a:lstStyle/>
          <a:p>
            <a:pPr algn="ctr">
              <a:defRPr/>
            </a:pPr>
            <a:r>
              <a:rPr lang="en-US" dirty="0"/>
              <a:t>Aggregate Functions</a:t>
            </a:r>
            <a:endParaRPr lang="en-MY" dirty="0"/>
          </a:p>
        </p:txBody>
      </p:sp>
      <p:sp>
        <p:nvSpPr>
          <p:cNvPr id="14" name="Freeform 13">
            <a:hlinkClick r:id="rId2" action="ppaction://hlinksldjump"/>
            <a:extLst>
              <a:ext uri="{FF2B5EF4-FFF2-40B4-BE49-F238E27FC236}">
                <a16:creationId xmlns:a16="http://schemas.microsoft.com/office/drawing/2014/main" id="{4A586625-4DD2-9DA6-6E2F-DE27CA6974E1}"/>
              </a:ext>
            </a:extLst>
          </p:cNvPr>
          <p:cNvSpPr/>
          <p:nvPr/>
        </p:nvSpPr>
        <p:spPr>
          <a:xfrm>
            <a:off x="692806" y="2507513"/>
            <a:ext cx="2236185" cy="1341711"/>
          </a:xfrm>
          <a:custGeom>
            <a:avLst/>
            <a:gdLst>
              <a:gd name="connsiteX0" fmla="*/ 0 w 2236185"/>
              <a:gd name="connsiteY0" fmla="*/ 0 h 1341711"/>
              <a:gd name="connsiteX1" fmla="*/ 2236185 w 2236185"/>
              <a:gd name="connsiteY1" fmla="*/ 0 h 1341711"/>
              <a:gd name="connsiteX2" fmla="*/ 2236185 w 2236185"/>
              <a:gd name="connsiteY2" fmla="*/ 1341711 h 1341711"/>
              <a:gd name="connsiteX3" fmla="*/ 0 w 2236185"/>
              <a:gd name="connsiteY3" fmla="*/ 1341711 h 1341711"/>
              <a:gd name="connsiteX4" fmla="*/ 0 w 2236185"/>
              <a:gd name="connsiteY4" fmla="*/ 0 h 1341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6185" h="1341711">
                <a:moveTo>
                  <a:pt x="0" y="0"/>
                </a:moveTo>
                <a:lnTo>
                  <a:pt x="2236185" y="0"/>
                </a:lnTo>
                <a:lnTo>
                  <a:pt x="2236185" y="1341711"/>
                </a:lnTo>
                <a:lnTo>
                  <a:pt x="0" y="1341711"/>
                </a:lnTo>
                <a:lnTo>
                  <a:pt x="0" y="0"/>
                </a:lnTo>
                <a:close/>
              </a:path>
            </a:pathLst>
          </a:custGeom>
          <a:solidFill>
            <a:schemeClr val="accent2"/>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lIns="83820" tIns="83820" rIns="83820" bIns="83820" spcCol="1270" anchor="ctr"/>
          <a:lstStyle/>
          <a:p>
            <a:pPr marL="0" marR="0" lvl="0" indent="0" algn="ctr" defTabSz="977900" rtl="0" eaLnBrk="0" fontAlgn="base" latinLnBrk="0" hangingPunct="0">
              <a:lnSpc>
                <a:spcPct val="90000"/>
              </a:lnSpc>
              <a:spcBef>
                <a:spcPct val="0"/>
              </a:spcBef>
              <a:spcAft>
                <a:spcPct val="35000"/>
              </a:spcAft>
              <a:buClrTx/>
              <a:buSzTx/>
              <a:buFontTx/>
              <a:buNone/>
              <a:tabLst/>
              <a:defRPr/>
            </a:pPr>
            <a:r>
              <a:rPr kumimoji="0" lang="en-CA" sz="2200" b="0" i="0" u="none" strike="noStrike" kern="1200" cap="none" spc="0" normalizeH="0" baseline="0" noProof="0" dirty="0">
                <a:ln>
                  <a:noFill/>
                </a:ln>
                <a:solidFill>
                  <a:srgbClr val="FFFFFF"/>
                </a:solidFill>
                <a:effectLst/>
                <a:uLnTx/>
                <a:uFillTx/>
                <a:latin typeface="Calibri"/>
                <a:ea typeface="+mn-ea"/>
                <a:cs typeface="+mn-cs"/>
              </a:rPr>
              <a:t>COUNT()</a:t>
            </a:r>
          </a:p>
        </p:txBody>
      </p:sp>
      <p:sp>
        <p:nvSpPr>
          <p:cNvPr id="15" name="Freeform 14">
            <a:hlinkClick r:id="rId3" action="ppaction://hlinksldjump"/>
            <a:extLst>
              <a:ext uri="{FF2B5EF4-FFF2-40B4-BE49-F238E27FC236}">
                <a16:creationId xmlns:a16="http://schemas.microsoft.com/office/drawing/2014/main" id="{9122B130-78A2-2D5A-67A4-991B84B7FFDF}"/>
              </a:ext>
            </a:extLst>
          </p:cNvPr>
          <p:cNvSpPr/>
          <p:nvPr/>
        </p:nvSpPr>
        <p:spPr>
          <a:xfrm>
            <a:off x="3152611" y="2507513"/>
            <a:ext cx="2236185" cy="1341711"/>
          </a:xfrm>
          <a:custGeom>
            <a:avLst/>
            <a:gdLst>
              <a:gd name="connsiteX0" fmla="*/ 0 w 2236185"/>
              <a:gd name="connsiteY0" fmla="*/ 0 h 1341711"/>
              <a:gd name="connsiteX1" fmla="*/ 2236185 w 2236185"/>
              <a:gd name="connsiteY1" fmla="*/ 0 h 1341711"/>
              <a:gd name="connsiteX2" fmla="*/ 2236185 w 2236185"/>
              <a:gd name="connsiteY2" fmla="*/ 1341711 h 1341711"/>
              <a:gd name="connsiteX3" fmla="*/ 0 w 2236185"/>
              <a:gd name="connsiteY3" fmla="*/ 1341711 h 1341711"/>
              <a:gd name="connsiteX4" fmla="*/ 0 w 2236185"/>
              <a:gd name="connsiteY4" fmla="*/ 0 h 1341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6185" h="1341711">
                <a:moveTo>
                  <a:pt x="0" y="0"/>
                </a:moveTo>
                <a:lnTo>
                  <a:pt x="2236185" y="0"/>
                </a:lnTo>
                <a:lnTo>
                  <a:pt x="2236185" y="1341711"/>
                </a:lnTo>
                <a:lnTo>
                  <a:pt x="0" y="1341711"/>
                </a:lnTo>
                <a:lnTo>
                  <a:pt x="0" y="0"/>
                </a:lnTo>
                <a:close/>
              </a:path>
            </a:pathLst>
          </a:custGeom>
          <a:solidFill>
            <a:schemeClr val="accent3"/>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lIns="83820" tIns="83820" rIns="83820" bIns="83820" spcCol="1270" anchor="ctr"/>
          <a:lstStyle/>
          <a:p>
            <a:pPr marL="0" marR="0" lvl="0" indent="0" algn="ctr" defTabSz="977900" rtl="0" eaLnBrk="0" fontAlgn="base" latinLnBrk="0" hangingPunct="0">
              <a:lnSpc>
                <a:spcPct val="90000"/>
              </a:lnSpc>
              <a:spcBef>
                <a:spcPct val="0"/>
              </a:spcBef>
              <a:spcAft>
                <a:spcPct val="35000"/>
              </a:spcAft>
              <a:buClrTx/>
              <a:buSzTx/>
              <a:buFontTx/>
              <a:buNone/>
              <a:tabLst/>
              <a:defRPr/>
            </a:pPr>
            <a:r>
              <a:rPr kumimoji="0" lang="en-CA" sz="2200" b="0" i="0" u="none" strike="noStrike" kern="1200" cap="none" spc="0" normalizeH="0" baseline="0" noProof="0" dirty="0">
                <a:ln>
                  <a:noFill/>
                </a:ln>
                <a:solidFill>
                  <a:srgbClr val="FFFFFF"/>
                </a:solidFill>
                <a:effectLst/>
                <a:uLnTx/>
                <a:uFillTx/>
                <a:latin typeface="Calibri"/>
                <a:ea typeface="+mn-ea"/>
                <a:cs typeface="+mn-cs"/>
              </a:rPr>
              <a:t>SUM()</a:t>
            </a:r>
          </a:p>
        </p:txBody>
      </p:sp>
      <p:sp>
        <p:nvSpPr>
          <p:cNvPr id="16" name="Freeform 15">
            <a:hlinkClick r:id="rId4" action="ppaction://hlinksldjump"/>
            <a:extLst>
              <a:ext uri="{FF2B5EF4-FFF2-40B4-BE49-F238E27FC236}">
                <a16:creationId xmlns:a16="http://schemas.microsoft.com/office/drawing/2014/main" id="{D52A23D0-5917-B09E-D202-E8BC14E08BDB}"/>
              </a:ext>
            </a:extLst>
          </p:cNvPr>
          <p:cNvSpPr/>
          <p:nvPr/>
        </p:nvSpPr>
        <p:spPr>
          <a:xfrm>
            <a:off x="5612415" y="2507513"/>
            <a:ext cx="2236185" cy="1341711"/>
          </a:xfrm>
          <a:custGeom>
            <a:avLst/>
            <a:gdLst>
              <a:gd name="connsiteX0" fmla="*/ 0 w 2236185"/>
              <a:gd name="connsiteY0" fmla="*/ 0 h 1341711"/>
              <a:gd name="connsiteX1" fmla="*/ 2236185 w 2236185"/>
              <a:gd name="connsiteY1" fmla="*/ 0 h 1341711"/>
              <a:gd name="connsiteX2" fmla="*/ 2236185 w 2236185"/>
              <a:gd name="connsiteY2" fmla="*/ 1341711 h 1341711"/>
              <a:gd name="connsiteX3" fmla="*/ 0 w 2236185"/>
              <a:gd name="connsiteY3" fmla="*/ 1341711 h 1341711"/>
              <a:gd name="connsiteX4" fmla="*/ 0 w 2236185"/>
              <a:gd name="connsiteY4" fmla="*/ 0 h 1341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6185" h="1341711">
                <a:moveTo>
                  <a:pt x="0" y="0"/>
                </a:moveTo>
                <a:lnTo>
                  <a:pt x="2236185" y="0"/>
                </a:lnTo>
                <a:lnTo>
                  <a:pt x="2236185" y="1341711"/>
                </a:lnTo>
                <a:lnTo>
                  <a:pt x="0" y="1341711"/>
                </a:lnTo>
                <a:lnTo>
                  <a:pt x="0" y="0"/>
                </a:lnTo>
                <a:close/>
              </a:path>
            </a:pathLst>
          </a:custGeom>
          <a:solidFill>
            <a:schemeClr val="accent5"/>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lIns="83820" tIns="83820" rIns="83820" bIns="83820" spcCol="1270" anchor="ctr"/>
          <a:lstStyle/>
          <a:p>
            <a:pPr marL="0" marR="0" lvl="0" indent="0" algn="ctr" defTabSz="977900" rtl="0" eaLnBrk="0" fontAlgn="base" latinLnBrk="0" hangingPunct="0">
              <a:lnSpc>
                <a:spcPct val="90000"/>
              </a:lnSpc>
              <a:spcBef>
                <a:spcPct val="0"/>
              </a:spcBef>
              <a:spcAft>
                <a:spcPct val="35000"/>
              </a:spcAft>
              <a:buClrTx/>
              <a:buSzTx/>
              <a:buFontTx/>
              <a:buNone/>
              <a:tabLst/>
              <a:defRPr/>
            </a:pPr>
            <a:r>
              <a:rPr kumimoji="0" lang="en-CA" sz="2200" b="0" i="0" u="none" strike="noStrike" kern="1200" cap="none" spc="0" normalizeH="0" baseline="0" noProof="0" dirty="0">
                <a:ln>
                  <a:noFill/>
                </a:ln>
                <a:solidFill>
                  <a:srgbClr val="FFFFFF"/>
                </a:solidFill>
                <a:effectLst/>
                <a:uLnTx/>
                <a:uFillTx/>
                <a:latin typeface="Calibri"/>
                <a:ea typeface="+mn-ea"/>
                <a:cs typeface="+mn-cs"/>
              </a:rPr>
              <a:t>AVG()</a:t>
            </a:r>
          </a:p>
        </p:txBody>
      </p:sp>
      <p:sp>
        <p:nvSpPr>
          <p:cNvPr id="17" name="Freeform 16">
            <a:hlinkClick r:id="rId5" action="ppaction://hlinksldjump"/>
            <a:extLst>
              <a:ext uri="{FF2B5EF4-FFF2-40B4-BE49-F238E27FC236}">
                <a16:creationId xmlns:a16="http://schemas.microsoft.com/office/drawing/2014/main" id="{87220FAA-40EB-D9E5-7A91-75A5053E981E}"/>
              </a:ext>
            </a:extLst>
          </p:cNvPr>
          <p:cNvSpPr/>
          <p:nvPr/>
        </p:nvSpPr>
        <p:spPr>
          <a:xfrm>
            <a:off x="2038456" y="4031505"/>
            <a:ext cx="2236185" cy="1341711"/>
          </a:xfrm>
          <a:custGeom>
            <a:avLst/>
            <a:gdLst>
              <a:gd name="connsiteX0" fmla="*/ 0 w 2236185"/>
              <a:gd name="connsiteY0" fmla="*/ 0 h 1341711"/>
              <a:gd name="connsiteX1" fmla="*/ 2236185 w 2236185"/>
              <a:gd name="connsiteY1" fmla="*/ 0 h 1341711"/>
              <a:gd name="connsiteX2" fmla="*/ 2236185 w 2236185"/>
              <a:gd name="connsiteY2" fmla="*/ 1341711 h 1341711"/>
              <a:gd name="connsiteX3" fmla="*/ 0 w 2236185"/>
              <a:gd name="connsiteY3" fmla="*/ 1341711 h 1341711"/>
              <a:gd name="connsiteX4" fmla="*/ 0 w 2236185"/>
              <a:gd name="connsiteY4" fmla="*/ 0 h 1341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6185" h="1341711">
                <a:moveTo>
                  <a:pt x="0" y="0"/>
                </a:moveTo>
                <a:lnTo>
                  <a:pt x="2236185" y="0"/>
                </a:lnTo>
                <a:lnTo>
                  <a:pt x="2236185" y="1341711"/>
                </a:lnTo>
                <a:lnTo>
                  <a:pt x="0" y="1341711"/>
                </a:lnTo>
                <a:lnTo>
                  <a:pt x="0" y="0"/>
                </a:lnTo>
                <a:close/>
              </a:path>
            </a:pathLst>
          </a:custGeom>
          <a:solidFill>
            <a:schemeClr val="tx2"/>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lIns="83820" tIns="83820" rIns="83820" bIns="83820" spcCol="1270" anchor="ctr"/>
          <a:lstStyle/>
          <a:p>
            <a:pPr marL="0" marR="0" lvl="0" indent="0" algn="ctr" defTabSz="977900" rtl="0" eaLnBrk="0" fontAlgn="base" latinLnBrk="0" hangingPunct="0">
              <a:lnSpc>
                <a:spcPct val="90000"/>
              </a:lnSpc>
              <a:spcBef>
                <a:spcPct val="0"/>
              </a:spcBef>
              <a:spcAft>
                <a:spcPct val="35000"/>
              </a:spcAft>
              <a:buClrTx/>
              <a:buSzTx/>
              <a:buFontTx/>
              <a:buNone/>
              <a:tabLst/>
              <a:defRPr/>
            </a:pPr>
            <a:r>
              <a:rPr kumimoji="0" lang="en-CA" sz="2200" b="0" i="0" u="none" strike="noStrike" kern="1200" cap="none" spc="0" normalizeH="0" baseline="0" noProof="0" dirty="0">
                <a:ln>
                  <a:noFill/>
                </a:ln>
                <a:solidFill>
                  <a:srgbClr val="FFFFFF"/>
                </a:solidFill>
                <a:effectLst/>
                <a:uLnTx/>
                <a:uFillTx/>
                <a:latin typeface="Calibri"/>
                <a:ea typeface="+mn-ea"/>
                <a:cs typeface="+mn-cs"/>
              </a:rPr>
              <a:t>MAX()</a:t>
            </a:r>
          </a:p>
        </p:txBody>
      </p:sp>
      <p:sp>
        <p:nvSpPr>
          <p:cNvPr id="18" name="Freeform 17">
            <a:hlinkClick r:id="rId6" action="ppaction://hlinksldjump"/>
            <a:extLst>
              <a:ext uri="{FF2B5EF4-FFF2-40B4-BE49-F238E27FC236}">
                <a16:creationId xmlns:a16="http://schemas.microsoft.com/office/drawing/2014/main" id="{631345B7-B008-59AD-819A-53B6C177C6FC}"/>
              </a:ext>
            </a:extLst>
          </p:cNvPr>
          <p:cNvSpPr/>
          <p:nvPr/>
        </p:nvSpPr>
        <p:spPr>
          <a:xfrm>
            <a:off x="4498260" y="4031505"/>
            <a:ext cx="2236185" cy="1341711"/>
          </a:xfrm>
          <a:custGeom>
            <a:avLst/>
            <a:gdLst>
              <a:gd name="connsiteX0" fmla="*/ 0 w 2236185"/>
              <a:gd name="connsiteY0" fmla="*/ 0 h 1341711"/>
              <a:gd name="connsiteX1" fmla="*/ 2236185 w 2236185"/>
              <a:gd name="connsiteY1" fmla="*/ 0 h 1341711"/>
              <a:gd name="connsiteX2" fmla="*/ 2236185 w 2236185"/>
              <a:gd name="connsiteY2" fmla="*/ 1341711 h 1341711"/>
              <a:gd name="connsiteX3" fmla="*/ 0 w 2236185"/>
              <a:gd name="connsiteY3" fmla="*/ 1341711 h 1341711"/>
              <a:gd name="connsiteX4" fmla="*/ 0 w 2236185"/>
              <a:gd name="connsiteY4" fmla="*/ 0 h 1341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6185" h="1341711">
                <a:moveTo>
                  <a:pt x="0" y="0"/>
                </a:moveTo>
                <a:lnTo>
                  <a:pt x="2236185" y="0"/>
                </a:lnTo>
                <a:lnTo>
                  <a:pt x="2236185" y="1341711"/>
                </a:lnTo>
                <a:lnTo>
                  <a:pt x="0" y="1341711"/>
                </a:lnTo>
                <a:lnTo>
                  <a:pt x="0" y="0"/>
                </a:lnTo>
                <a:close/>
              </a:path>
            </a:pathLst>
          </a:custGeom>
          <a:solidFill>
            <a:schemeClr val="tx1"/>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lIns="83820" tIns="83820" rIns="83820" bIns="83820" spcCol="1270" anchor="ctr"/>
          <a:lstStyle/>
          <a:p>
            <a:pPr marL="0" marR="0" lvl="0" indent="0" algn="ctr" defTabSz="977900" rtl="0" eaLnBrk="0" fontAlgn="base" latinLnBrk="0" hangingPunct="0">
              <a:lnSpc>
                <a:spcPct val="90000"/>
              </a:lnSpc>
              <a:spcBef>
                <a:spcPct val="0"/>
              </a:spcBef>
              <a:spcAft>
                <a:spcPct val="35000"/>
              </a:spcAft>
              <a:buClrTx/>
              <a:buSzTx/>
              <a:buFontTx/>
              <a:buNone/>
              <a:tabLst/>
              <a:defRPr/>
            </a:pPr>
            <a:r>
              <a:rPr kumimoji="0" lang="en-CA" sz="2200" b="0" i="0" u="none" strike="noStrike" kern="1200" cap="none" spc="0" normalizeH="0" baseline="0" noProof="0" dirty="0">
                <a:ln>
                  <a:noFill/>
                </a:ln>
                <a:solidFill>
                  <a:srgbClr val="FFFFFF"/>
                </a:solidFill>
                <a:effectLst/>
                <a:uLnTx/>
                <a:uFillTx/>
                <a:latin typeface="Calibri"/>
                <a:ea typeface="+mn-ea"/>
                <a:cs typeface="+mn-cs"/>
              </a:rPr>
              <a:t>MIN()</a:t>
            </a:r>
          </a:p>
        </p:txBody>
      </p:sp>
      <p:sp>
        <p:nvSpPr>
          <p:cNvPr id="10" name="Content Placeholder 2">
            <a:extLst>
              <a:ext uri="{FF2B5EF4-FFF2-40B4-BE49-F238E27FC236}">
                <a16:creationId xmlns:a16="http://schemas.microsoft.com/office/drawing/2014/main" id="{80C2FA82-8064-54E5-472B-7A90917E44A1}"/>
              </a:ext>
            </a:extLst>
          </p:cNvPr>
          <p:cNvSpPr txBox="1">
            <a:spLocks/>
          </p:cNvSpPr>
          <p:nvPr/>
        </p:nvSpPr>
        <p:spPr bwMode="auto">
          <a:xfrm>
            <a:off x="250825" y="1268413"/>
            <a:ext cx="7902575"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US"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In this chapter, we will examine the following aggregate functions</a:t>
            </a: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wipe(left)">
                                      <p:cBhvr>
                                        <p:cTn id="7" dur="500"/>
                                        <p:tgtEl>
                                          <p:spTgt spid="10">
                                            <p:txEl>
                                              <p:pRg st="0" end="0"/>
                                            </p:txEl>
                                          </p:spTgt>
                                        </p:tgtEl>
                                      </p:cBhvr>
                                    </p:animEffect>
                                  </p:childTnLst>
                                </p:cTn>
                              </p:par>
                            </p:childTnLst>
                          </p:cTn>
                        </p:par>
                        <p:par>
                          <p:cTn id="8" fill="hold" nodeType="afterGroup">
                            <p:stCondLst>
                              <p:cond delay="500"/>
                            </p:stCondLst>
                            <p:childTnLst>
                              <p:par>
                                <p:cTn id="9" presetID="42" presetClass="entr" presetSubtype="0" fill="hold"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fade">
                                      <p:cBhvr>
                                        <p:cTn id="11" dur="1000"/>
                                        <p:tgtEl>
                                          <p:spTgt spid="14"/>
                                        </p:tgtEl>
                                      </p:cBhvr>
                                    </p:animEffect>
                                    <p:anim calcmode="lin" valueType="num">
                                      <p:cBhvr>
                                        <p:cTn id="12" dur="1000" fill="hold"/>
                                        <p:tgtEl>
                                          <p:spTgt spid="14"/>
                                        </p:tgtEl>
                                        <p:attrNameLst>
                                          <p:attrName>ppt_x</p:attrName>
                                        </p:attrNameLst>
                                      </p:cBhvr>
                                      <p:tavLst>
                                        <p:tav tm="0">
                                          <p:val>
                                            <p:strVal val="#ppt_x"/>
                                          </p:val>
                                        </p:tav>
                                        <p:tav tm="100000">
                                          <p:val>
                                            <p:strVal val="#ppt_x"/>
                                          </p:val>
                                        </p:tav>
                                      </p:tavLst>
                                    </p:anim>
                                    <p:anim calcmode="lin" valueType="num">
                                      <p:cBhvr>
                                        <p:cTn id="13" dur="1000" fill="hold"/>
                                        <p:tgtEl>
                                          <p:spTgt spid="14"/>
                                        </p:tgtEl>
                                        <p:attrNameLst>
                                          <p:attrName>ppt_y</p:attrName>
                                        </p:attrNameLst>
                                      </p:cBhvr>
                                      <p:tavLst>
                                        <p:tav tm="0">
                                          <p:val>
                                            <p:strVal val="#ppt_y+.1"/>
                                          </p:val>
                                        </p:tav>
                                        <p:tav tm="100000">
                                          <p:val>
                                            <p:strVal val="#ppt_y"/>
                                          </p:val>
                                        </p:tav>
                                      </p:tavLst>
                                    </p:anim>
                                  </p:childTnLst>
                                </p:cTn>
                              </p:par>
                            </p:childTnLst>
                          </p:cTn>
                        </p:par>
                        <p:par>
                          <p:cTn id="14" fill="hold" nodeType="afterGroup">
                            <p:stCondLst>
                              <p:cond delay="1500"/>
                            </p:stCondLst>
                            <p:childTnLst>
                              <p:par>
                                <p:cTn id="15" presetID="42" presetClass="entr" presetSubtype="0" fill="hold" nodeType="after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1000"/>
                                        <p:tgtEl>
                                          <p:spTgt spid="15"/>
                                        </p:tgtEl>
                                      </p:cBhvr>
                                    </p:animEffect>
                                    <p:anim calcmode="lin" valueType="num">
                                      <p:cBhvr>
                                        <p:cTn id="18" dur="1000" fill="hold"/>
                                        <p:tgtEl>
                                          <p:spTgt spid="15"/>
                                        </p:tgtEl>
                                        <p:attrNameLst>
                                          <p:attrName>ppt_x</p:attrName>
                                        </p:attrNameLst>
                                      </p:cBhvr>
                                      <p:tavLst>
                                        <p:tav tm="0">
                                          <p:val>
                                            <p:strVal val="#ppt_x"/>
                                          </p:val>
                                        </p:tav>
                                        <p:tav tm="100000">
                                          <p:val>
                                            <p:strVal val="#ppt_x"/>
                                          </p:val>
                                        </p:tav>
                                      </p:tavLst>
                                    </p:anim>
                                    <p:anim calcmode="lin" valueType="num">
                                      <p:cBhvr>
                                        <p:cTn id="19" dur="1000" fill="hold"/>
                                        <p:tgtEl>
                                          <p:spTgt spid="15"/>
                                        </p:tgtEl>
                                        <p:attrNameLst>
                                          <p:attrName>ppt_y</p:attrName>
                                        </p:attrNameLst>
                                      </p:cBhvr>
                                      <p:tavLst>
                                        <p:tav tm="0">
                                          <p:val>
                                            <p:strVal val="#ppt_y+.1"/>
                                          </p:val>
                                        </p:tav>
                                        <p:tav tm="100000">
                                          <p:val>
                                            <p:strVal val="#ppt_y"/>
                                          </p:val>
                                        </p:tav>
                                      </p:tavLst>
                                    </p:anim>
                                  </p:childTnLst>
                                </p:cTn>
                              </p:par>
                            </p:childTnLst>
                          </p:cTn>
                        </p:par>
                        <p:par>
                          <p:cTn id="20" fill="hold" nodeType="afterGroup">
                            <p:stCondLst>
                              <p:cond delay="2500"/>
                            </p:stCondLst>
                            <p:childTnLst>
                              <p:par>
                                <p:cTn id="21" presetID="42" presetClass="entr" presetSubtype="0" fill="hold" nodeType="after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1000"/>
                                        <p:tgtEl>
                                          <p:spTgt spid="16"/>
                                        </p:tgtEl>
                                      </p:cBhvr>
                                    </p:animEffect>
                                    <p:anim calcmode="lin" valueType="num">
                                      <p:cBhvr>
                                        <p:cTn id="24" dur="1000" fill="hold"/>
                                        <p:tgtEl>
                                          <p:spTgt spid="16"/>
                                        </p:tgtEl>
                                        <p:attrNameLst>
                                          <p:attrName>ppt_x</p:attrName>
                                        </p:attrNameLst>
                                      </p:cBhvr>
                                      <p:tavLst>
                                        <p:tav tm="0">
                                          <p:val>
                                            <p:strVal val="#ppt_x"/>
                                          </p:val>
                                        </p:tav>
                                        <p:tav tm="100000">
                                          <p:val>
                                            <p:strVal val="#ppt_x"/>
                                          </p:val>
                                        </p:tav>
                                      </p:tavLst>
                                    </p:anim>
                                    <p:anim calcmode="lin" valueType="num">
                                      <p:cBhvr>
                                        <p:cTn id="25" dur="1000" fill="hold"/>
                                        <p:tgtEl>
                                          <p:spTgt spid="16"/>
                                        </p:tgtEl>
                                        <p:attrNameLst>
                                          <p:attrName>ppt_y</p:attrName>
                                        </p:attrNameLst>
                                      </p:cBhvr>
                                      <p:tavLst>
                                        <p:tav tm="0">
                                          <p:val>
                                            <p:strVal val="#ppt_y+.1"/>
                                          </p:val>
                                        </p:tav>
                                        <p:tav tm="100000">
                                          <p:val>
                                            <p:strVal val="#ppt_y"/>
                                          </p:val>
                                        </p:tav>
                                      </p:tavLst>
                                    </p:anim>
                                  </p:childTnLst>
                                </p:cTn>
                              </p:par>
                            </p:childTnLst>
                          </p:cTn>
                        </p:par>
                        <p:par>
                          <p:cTn id="26" fill="hold" nodeType="afterGroup">
                            <p:stCondLst>
                              <p:cond delay="3500"/>
                            </p:stCondLst>
                            <p:childTnLst>
                              <p:par>
                                <p:cTn id="27" presetID="42" presetClass="entr" presetSubtype="0" fill="hold" nodeType="after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1000"/>
                                        <p:tgtEl>
                                          <p:spTgt spid="17"/>
                                        </p:tgtEl>
                                      </p:cBhvr>
                                    </p:animEffect>
                                    <p:anim calcmode="lin" valueType="num">
                                      <p:cBhvr>
                                        <p:cTn id="30" dur="1000" fill="hold"/>
                                        <p:tgtEl>
                                          <p:spTgt spid="17"/>
                                        </p:tgtEl>
                                        <p:attrNameLst>
                                          <p:attrName>ppt_x</p:attrName>
                                        </p:attrNameLst>
                                      </p:cBhvr>
                                      <p:tavLst>
                                        <p:tav tm="0">
                                          <p:val>
                                            <p:strVal val="#ppt_x"/>
                                          </p:val>
                                        </p:tav>
                                        <p:tav tm="100000">
                                          <p:val>
                                            <p:strVal val="#ppt_x"/>
                                          </p:val>
                                        </p:tav>
                                      </p:tavLst>
                                    </p:anim>
                                    <p:anim calcmode="lin" valueType="num">
                                      <p:cBhvr>
                                        <p:cTn id="31" dur="1000" fill="hold"/>
                                        <p:tgtEl>
                                          <p:spTgt spid="17"/>
                                        </p:tgtEl>
                                        <p:attrNameLst>
                                          <p:attrName>ppt_y</p:attrName>
                                        </p:attrNameLst>
                                      </p:cBhvr>
                                      <p:tavLst>
                                        <p:tav tm="0">
                                          <p:val>
                                            <p:strVal val="#ppt_y+.1"/>
                                          </p:val>
                                        </p:tav>
                                        <p:tav tm="100000">
                                          <p:val>
                                            <p:strVal val="#ppt_y"/>
                                          </p:val>
                                        </p:tav>
                                      </p:tavLst>
                                    </p:anim>
                                  </p:childTnLst>
                                </p:cTn>
                              </p:par>
                            </p:childTnLst>
                          </p:cTn>
                        </p:par>
                        <p:par>
                          <p:cTn id="32" fill="hold" nodeType="afterGroup">
                            <p:stCondLst>
                              <p:cond delay="4500"/>
                            </p:stCondLst>
                            <p:childTnLst>
                              <p:par>
                                <p:cTn id="33" presetID="42" presetClass="entr" presetSubtype="0" fill="hold" nodeType="after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5" dur="1000"/>
                                        <p:tgtEl>
                                          <p:spTgt spid="18"/>
                                        </p:tgtEl>
                                      </p:cBhvr>
                                    </p:animEffect>
                                    <p:anim calcmode="lin" valueType="num">
                                      <p:cBhvr>
                                        <p:cTn id="36" dur="1000" fill="hold"/>
                                        <p:tgtEl>
                                          <p:spTgt spid="18"/>
                                        </p:tgtEl>
                                        <p:attrNameLst>
                                          <p:attrName>ppt_x</p:attrName>
                                        </p:attrNameLst>
                                      </p:cBhvr>
                                      <p:tavLst>
                                        <p:tav tm="0">
                                          <p:val>
                                            <p:strVal val="#ppt_x"/>
                                          </p:val>
                                        </p:tav>
                                        <p:tav tm="100000">
                                          <p:val>
                                            <p:strVal val="#ppt_x"/>
                                          </p:val>
                                        </p:tav>
                                      </p:tavLst>
                                    </p:anim>
                                    <p:anim calcmode="lin" valueType="num">
                                      <p:cBhvr>
                                        <p:cTn id="37"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E7663-6E7D-72F7-C4DC-62CBB2E51FBB}"/>
              </a:ext>
            </a:extLst>
          </p:cNvPr>
          <p:cNvSpPr>
            <a:spLocks noGrp="1"/>
          </p:cNvSpPr>
          <p:nvPr>
            <p:ph type="title"/>
          </p:nvPr>
        </p:nvSpPr>
        <p:spPr>
          <a:xfrm>
            <a:off x="457200" y="0"/>
            <a:ext cx="7620000" cy="1143000"/>
          </a:xfrm>
        </p:spPr>
        <p:txBody>
          <a:bodyPr/>
          <a:lstStyle/>
          <a:p>
            <a:pPr algn="ctr">
              <a:defRPr/>
            </a:pPr>
            <a:r>
              <a:rPr lang="en-US" dirty="0"/>
              <a:t>Aggregate Functions</a:t>
            </a:r>
            <a:endParaRPr lang="en-MY" dirty="0"/>
          </a:p>
        </p:txBody>
      </p:sp>
      <p:sp>
        <p:nvSpPr>
          <p:cNvPr id="16" name="Snip Single Corner Rectangle 15">
            <a:extLst>
              <a:ext uri="{FF2B5EF4-FFF2-40B4-BE49-F238E27FC236}">
                <a16:creationId xmlns:a16="http://schemas.microsoft.com/office/drawing/2014/main" id="{5444EF90-573C-295F-E467-4F52B21708AC}"/>
              </a:ext>
            </a:extLst>
          </p:cNvPr>
          <p:cNvSpPr/>
          <p:nvPr/>
        </p:nvSpPr>
        <p:spPr>
          <a:xfrm>
            <a:off x="-36513" y="1125538"/>
            <a:ext cx="1223963" cy="400050"/>
          </a:xfrm>
          <a:prstGeom prst="snip1Rect">
            <a:avLst/>
          </a:prstGeom>
          <a:solidFill>
            <a:schemeClr val="accent2"/>
          </a:solidFill>
          <a:ln>
            <a:solidFill>
              <a:schemeClr val="accent2"/>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marR="0" lvl="0" indent="-342900" algn="just" defTabSz="914400" rtl="0" eaLnBrk="1" fontAlgn="base" latinLnBrk="0" hangingPunct="1">
              <a:lnSpc>
                <a:spcPct val="100000"/>
              </a:lnSpc>
              <a:spcBef>
                <a:spcPct val="20000"/>
              </a:spcBef>
              <a:spcAft>
                <a:spcPct val="0"/>
              </a:spcAft>
              <a:buClr>
                <a:srgbClr val="FF6600"/>
              </a:buClr>
              <a:buSzPct val="100000"/>
              <a:buFontTx/>
              <a:buNone/>
              <a:tabLst/>
              <a:defRPr/>
            </a:pPr>
            <a:r>
              <a:rPr kumimoji="0" lang="en-GB" sz="1800" b="0" i="0" u="none" strike="noStrike" kern="0" cap="none" spc="0" normalizeH="0" baseline="0" noProof="0" dirty="0">
                <a:ln>
                  <a:noFill/>
                </a:ln>
                <a:solidFill>
                  <a:srgbClr val="FFFFFF"/>
                </a:solidFill>
                <a:effectLst/>
                <a:uLnTx/>
                <a:uFillTx/>
                <a:latin typeface="Calibri"/>
                <a:ea typeface="+mn-ea"/>
                <a:cs typeface="+mn-cs"/>
              </a:rPr>
              <a:t>COUNT()</a:t>
            </a:r>
          </a:p>
        </p:txBody>
      </p:sp>
      <p:sp>
        <p:nvSpPr>
          <p:cNvPr id="17" name="Content Placeholder 2">
            <a:extLst>
              <a:ext uri="{FF2B5EF4-FFF2-40B4-BE49-F238E27FC236}">
                <a16:creationId xmlns:a16="http://schemas.microsoft.com/office/drawing/2014/main" id="{44130FAC-2F89-EE68-5499-00361953C9FE}"/>
              </a:ext>
            </a:extLst>
          </p:cNvPr>
          <p:cNvSpPr txBox="1">
            <a:spLocks/>
          </p:cNvSpPr>
          <p:nvPr/>
        </p:nvSpPr>
        <p:spPr bwMode="auto">
          <a:xfrm>
            <a:off x="250825" y="1773238"/>
            <a:ext cx="8655050"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COUNT(*) – Counts number of rows in a table</a:t>
            </a: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sp>
        <p:nvSpPr>
          <p:cNvPr id="18" name="Rounded Rectangle 17">
            <a:extLst>
              <a:ext uri="{FF2B5EF4-FFF2-40B4-BE49-F238E27FC236}">
                <a16:creationId xmlns:a16="http://schemas.microsoft.com/office/drawing/2014/main" id="{5003AC49-4459-4BC2-9889-54F94E114323}"/>
              </a:ext>
            </a:extLst>
          </p:cNvPr>
          <p:cNvSpPr/>
          <p:nvPr/>
        </p:nvSpPr>
        <p:spPr bwMode="auto">
          <a:xfrm>
            <a:off x="1619250" y="4076700"/>
            <a:ext cx="6007100" cy="757238"/>
          </a:xfrm>
          <a:prstGeom prst="roundRect">
            <a:avLst/>
          </a:prstGeom>
          <a:solidFill>
            <a:schemeClr val="accent6">
              <a:alpha val="30000"/>
            </a:schemeClr>
          </a:solidFill>
          <a:ln w="9525" cap="flat" cmpd="sng" algn="ctr">
            <a:solidFill>
              <a:schemeClr val="accent6"/>
            </a:solidFill>
            <a:prstDash val="solid"/>
            <a:round/>
            <a:headEnd type="none" w="med" len="med"/>
            <a:tailEnd type="none" w="med" len="med"/>
          </a:ln>
          <a:effectLst/>
        </p:spPr>
        <p:txBody>
          <a:bodyPr anchor="ctr" anchorCtr="1"/>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2800" b="0"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SELECT COUNT(*) FROM Book;</a:t>
            </a:r>
          </a:p>
        </p:txBody>
      </p:sp>
      <p:graphicFrame>
        <p:nvGraphicFramePr>
          <p:cNvPr id="19" name="Table 18">
            <a:extLst>
              <a:ext uri="{FF2B5EF4-FFF2-40B4-BE49-F238E27FC236}">
                <a16:creationId xmlns:a16="http://schemas.microsoft.com/office/drawing/2014/main" id="{9A196700-BF3C-A660-A7E8-35D610C88405}"/>
              </a:ext>
            </a:extLst>
          </p:cNvPr>
          <p:cNvGraphicFramePr>
            <a:graphicFrameLocks noGrp="1"/>
          </p:cNvGraphicFramePr>
          <p:nvPr/>
        </p:nvGraphicFramePr>
        <p:xfrm>
          <a:off x="1631950" y="5122863"/>
          <a:ext cx="1731963" cy="736600"/>
        </p:xfrm>
        <a:graphic>
          <a:graphicData uri="http://schemas.openxmlformats.org/drawingml/2006/table">
            <a:tbl>
              <a:tblPr firstRow="1" bandRow="1">
                <a:tableStyleId>{C083E6E3-FA7D-4D7B-A595-EF9225AFEA82}</a:tableStyleId>
              </a:tblPr>
              <a:tblGrid>
                <a:gridCol w="1731963">
                  <a:extLst>
                    <a:ext uri="{9D8B030D-6E8A-4147-A177-3AD203B41FA5}">
                      <a16:colId xmlns:a16="http://schemas.microsoft.com/office/drawing/2014/main" val="20000"/>
                    </a:ext>
                  </a:extLst>
                </a:gridCol>
              </a:tblGrid>
              <a:tr h="0">
                <a:tc>
                  <a:txBody>
                    <a:bodyPr/>
                    <a:lstStyle/>
                    <a:p>
                      <a:pPr algn="ctr"/>
                      <a:r>
                        <a:rPr lang="en-CA" dirty="0"/>
                        <a:t>COUNT(*)</a:t>
                      </a:r>
                    </a:p>
                  </a:txBody>
                  <a:tcPr marL="91403" marR="91403"/>
                </a:tc>
                <a:extLst>
                  <a:ext uri="{0D108BD9-81ED-4DB2-BD59-A6C34878D82A}">
                    <a16:rowId xmlns:a16="http://schemas.microsoft.com/office/drawing/2014/main" val="10000"/>
                  </a:ext>
                </a:extLst>
              </a:tr>
              <a:tr h="370840">
                <a:tc>
                  <a:txBody>
                    <a:bodyPr/>
                    <a:lstStyle/>
                    <a:p>
                      <a:pPr algn="ctr"/>
                      <a:r>
                        <a:rPr lang="en-CA" dirty="0"/>
                        <a:t>2</a:t>
                      </a:r>
                    </a:p>
                  </a:txBody>
                  <a:tcPr marL="91403" marR="91403"/>
                </a:tc>
                <a:extLst>
                  <a:ext uri="{0D108BD9-81ED-4DB2-BD59-A6C34878D82A}">
                    <a16:rowId xmlns:a16="http://schemas.microsoft.com/office/drawing/2014/main" val="10001"/>
                  </a:ext>
                </a:extLst>
              </a:tr>
            </a:tbl>
          </a:graphicData>
        </a:graphic>
      </p:graphicFrame>
      <p:sp>
        <p:nvSpPr>
          <p:cNvPr id="21" name="TextBox 20">
            <a:extLst>
              <a:ext uri="{FF2B5EF4-FFF2-40B4-BE49-F238E27FC236}">
                <a16:creationId xmlns:a16="http://schemas.microsoft.com/office/drawing/2014/main" id="{8C88AB2E-608D-9E3D-0363-6E0910B124C0}"/>
              </a:ext>
            </a:extLst>
          </p:cNvPr>
          <p:cNvSpPr txBox="1">
            <a:spLocks noChangeArrowheads="1"/>
          </p:cNvSpPr>
          <p:nvPr/>
        </p:nvSpPr>
        <p:spPr bwMode="auto">
          <a:xfrm>
            <a:off x="3570288" y="3552825"/>
            <a:ext cx="20161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Book table</a:t>
            </a:r>
          </a:p>
        </p:txBody>
      </p:sp>
      <p:sp>
        <p:nvSpPr>
          <p:cNvPr id="22" name="Snip Single Corner Rectangle 21">
            <a:extLst>
              <a:ext uri="{FF2B5EF4-FFF2-40B4-BE49-F238E27FC236}">
                <a16:creationId xmlns:a16="http://schemas.microsoft.com/office/drawing/2014/main" id="{8C6B9E3E-7C29-4E78-9401-4E75775DF51F}"/>
              </a:ext>
            </a:extLst>
          </p:cNvPr>
          <p:cNvSpPr/>
          <p:nvPr/>
        </p:nvSpPr>
        <p:spPr bwMode="auto">
          <a:xfrm>
            <a:off x="227013" y="5159375"/>
            <a:ext cx="1092200" cy="433388"/>
          </a:xfrm>
          <a:prstGeom prst="snip1Rect">
            <a:avLst/>
          </a:prstGeom>
          <a:solidFill>
            <a:srgbClr val="FFFF00">
              <a:alpha val="30000"/>
            </a:srgbClr>
          </a:solidFill>
          <a:ln w="9525" cap="flat" cmpd="sng" algn="ctr">
            <a:solidFill>
              <a:srgbClr val="FFC000"/>
            </a:solidFill>
            <a:prstDash val="solid"/>
            <a:round/>
            <a:headEnd type="none" w="med" len="med"/>
            <a:tailEnd type="none" w="med" len="me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sz="2000" b="1"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Result:</a:t>
            </a:r>
          </a:p>
        </p:txBody>
      </p:sp>
      <p:sp>
        <p:nvSpPr>
          <p:cNvPr id="23" name="Snip Single Corner Rectangle 22">
            <a:extLst>
              <a:ext uri="{FF2B5EF4-FFF2-40B4-BE49-F238E27FC236}">
                <a16:creationId xmlns:a16="http://schemas.microsoft.com/office/drawing/2014/main" id="{1804BD6F-2686-9828-5C00-60E4A1DF71AF}"/>
              </a:ext>
            </a:extLst>
          </p:cNvPr>
          <p:cNvSpPr/>
          <p:nvPr/>
        </p:nvSpPr>
        <p:spPr bwMode="auto">
          <a:xfrm>
            <a:off x="250825" y="4087813"/>
            <a:ext cx="830263" cy="431800"/>
          </a:xfrm>
          <a:prstGeom prst="snip1Rect">
            <a:avLst/>
          </a:prstGeom>
          <a:solidFill>
            <a:srgbClr val="FFFF00">
              <a:alpha val="30000"/>
            </a:srgbClr>
          </a:solidFill>
          <a:ln w="9525" cap="flat" cmpd="sng" algn="ctr">
            <a:solidFill>
              <a:srgbClr val="FFC000"/>
            </a:solidFill>
            <a:prstDash val="solid"/>
            <a:round/>
            <a:headEnd type="none" w="med" len="med"/>
            <a:tailEnd type="none" w="med" len="med"/>
          </a:ln>
          <a:effec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2000" b="1"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Run:</a:t>
            </a:r>
          </a:p>
        </p:txBody>
      </p:sp>
      <p:graphicFrame>
        <p:nvGraphicFramePr>
          <p:cNvPr id="14" name="Table 13">
            <a:extLst>
              <a:ext uri="{FF2B5EF4-FFF2-40B4-BE49-F238E27FC236}">
                <a16:creationId xmlns:a16="http://schemas.microsoft.com/office/drawing/2014/main" id="{B036203F-B413-ED6E-8B81-9D717B0C0681}"/>
              </a:ext>
            </a:extLst>
          </p:cNvPr>
          <p:cNvGraphicFramePr>
            <a:graphicFrameLocks noGrp="1"/>
          </p:cNvGraphicFramePr>
          <p:nvPr/>
        </p:nvGraphicFramePr>
        <p:xfrm>
          <a:off x="1530350" y="2425700"/>
          <a:ext cx="6096000" cy="1111250"/>
        </p:xfrm>
        <a:graphic>
          <a:graphicData uri="http://schemas.openxmlformats.org/drawingml/2006/table">
            <a:tbl>
              <a:tblPr firstRow="1" bandRow="1">
                <a:tableStyleId>{D27102A9-8310-4765-A935-A1911B00CA55}</a:tableStyleId>
              </a:tblPr>
              <a:tblGrid>
                <a:gridCol w="1463824">
                  <a:extLst>
                    <a:ext uri="{9D8B030D-6E8A-4147-A177-3AD203B41FA5}">
                      <a16:colId xmlns:a16="http://schemas.microsoft.com/office/drawing/2014/main" val="20000"/>
                    </a:ext>
                  </a:extLst>
                </a:gridCol>
                <a:gridCol w="2736304">
                  <a:extLst>
                    <a:ext uri="{9D8B030D-6E8A-4147-A177-3AD203B41FA5}">
                      <a16:colId xmlns:a16="http://schemas.microsoft.com/office/drawing/2014/main" val="20001"/>
                    </a:ext>
                  </a:extLst>
                </a:gridCol>
                <a:gridCol w="1895872">
                  <a:extLst>
                    <a:ext uri="{9D8B030D-6E8A-4147-A177-3AD203B41FA5}">
                      <a16:colId xmlns:a16="http://schemas.microsoft.com/office/drawing/2014/main" val="20002"/>
                    </a:ext>
                  </a:extLst>
                </a:gridCol>
              </a:tblGrid>
              <a:tr h="370417">
                <a:tc>
                  <a:txBody>
                    <a:bodyPr/>
                    <a:lstStyle/>
                    <a:p>
                      <a:pPr algn="ctr"/>
                      <a:r>
                        <a:rPr lang="en-CA" sz="1800" dirty="0"/>
                        <a:t>ISBN</a:t>
                      </a:r>
                    </a:p>
                  </a:txBody>
                  <a:tcPr marT="45668" marB="45668"/>
                </a:tc>
                <a:tc>
                  <a:txBody>
                    <a:bodyPr/>
                    <a:lstStyle/>
                    <a:p>
                      <a:pPr algn="ctr"/>
                      <a:r>
                        <a:rPr lang="en-CA" sz="1800" dirty="0"/>
                        <a:t>Title</a:t>
                      </a:r>
                    </a:p>
                  </a:txBody>
                  <a:tcPr marT="45668" marB="45668"/>
                </a:tc>
                <a:tc>
                  <a:txBody>
                    <a:bodyPr/>
                    <a:lstStyle/>
                    <a:p>
                      <a:pPr algn="ctr"/>
                      <a:r>
                        <a:rPr lang="en-CA" sz="1800" dirty="0"/>
                        <a:t>Quantity</a:t>
                      </a:r>
                    </a:p>
                  </a:txBody>
                  <a:tcPr marT="45668" marB="45668"/>
                </a:tc>
                <a:extLst>
                  <a:ext uri="{0D108BD9-81ED-4DB2-BD59-A6C34878D82A}">
                    <a16:rowId xmlns:a16="http://schemas.microsoft.com/office/drawing/2014/main" val="10000"/>
                  </a:ext>
                </a:extLst>
              </a:tr>
              <a:tr h="370417">
                <a:tc>
                  <a:txBody>
                    <a:bodyPr/>
                    <a:lstStyle/>
                    <a:p>
                      <a:pPr algn="ctr"/>
                      <a:r>
                        <a:rPr lang="en-CA" sz="1800" dirty="0"/>
                        <a:t>12345</a:t>
                      </a:r>
                    </a:p>
                  </a:txBody>
                  <a:tcPr marT="45668" marB="45668"/>
                </a:tc>
                <a:tc>
                  <a:txBody>
                    <a:bodyPr/>
                    <a:lstStyle/>
                    <a:p>
                      <a:pPr algn="ctr"/>
                      <a:r>
                        <a:rPr lang="en-CA" sz="1800" dirty="0"/>
                        <a:t>The Hunger</a:t>
                      </a:r>
                      <a:r>
                        <a:rPr lang="en-CA" sz="1800" baseline="0" dirty="0"/>
                        <a:t> Game</a:t>
                      </a:r>
                      <a:endParaRPr lang="en-CA" sz="1800" dirty="0"/>
                    </a:p>
                  </a:txBody>
                  <a:tcPr marT="45668" marB="45668"/>
                </a:tc>
                <a:tc>
                  <a:txBody>
                    <a:bodyPr/>
                    <a:lstStyle/>
                    <a:p>
                      <a:pPr algn="ctr"/>
                      <a:r>
                        <a:rPr lang="en-CA" sz="1800" dirty="0"/>
                        <a:t>10</a:t>
                      </a:r>
                    </a:p>
                  </a:txBody>
                  <a:tcPr marT="45668" marB="45668"/>
                </a:tc>
                <a:extLst>
                  <a:ext uri="{0D108BD9-81ED-4DB2-BD59-A6C34878D82A}">
                    <a16:rowId xmlns:a16="http://schemas.microsoft.com/office/drawing/2014/main" val="10001"/>
                  </a:ext>
                </a:extLst>
              </a:tr>
              <a:tr h="370417">
                <a:tc>
                  <a:txBody>
                    <a:bodyPr/>
                    <a:lstStyle/>
                    <a:p>
                      <a:pPr algn="ctr"/>
                      <a:r>
                        <a:rPr lang="en-CA" sz="1800" dirty="0"/>
                        <a:t>54321</a:t>
                      </a:r>
                    </a:p>
                  </a:txBody>
                  <a:tcPr marT="45668" marB="45668"/>
                </a:tc>
                <a:tc>
                  <a:txBody>
                    <a:bodyPr/>
                    <a:lstStyle/>
                    <a:p>
                      <a:pPr algn="ctr"/>
                      <a:r>
                        <a:rPr lang="en-CA" sz="1800" dirty="0"/>
                        <a:t>A Song of Ice and Fire</a:t>
                      </a:r>
                    </a:p>
                  </a:txBody>
                  <a:tcPr marT="45668" marB="45668"/>
                </a:tc>
                <a:tc>
                  <a:txBody>
                    <a:bodyPr/>
                    <a:lstStyle/>
                    <a:p>
                      <a:pPr algn="ctr"/>
                      <a:r>
                        <a:rPr lang="en-CA" sz="1800" dirty="0"/>
                        <a:t>NULL</a:t>
                      </a:r>
                    </a:p>
                  </a:txBody>
                  <a:tcPr marT="45668" marB="45668"/>
                </a:tc>
                <a:extLst>
                  <a:ext uri="{0D108BD9-81ED-4DB2-BD59-A6C34878D82A}">
                    <a16:rowId xmlns:a16="http://schemas.microsoft.com/office/drawing/2014/main" val="10002"/>
                  </a:ext>
                </a:extLst>
              </a:tr>
            </a:tbl>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7">
                                            <p:txEl>
                                              <p:pRg st="0" end="0"/>
                                            </p:txEl>
                                          </p:spTgt>
                                        </p:tgtEl>
                                        <p:attrNameLst>
                                          <p:attrName>style.visibility</p:attrName>
                                        </p:attrNameLst>
                                      </p:cBhvr>
                                      <p:to>
                                        <p:strVal val="visible"/>
                                      </p:to>
                                    </p:set>
                                    <p:animEffect transition="in" filter="wipe(left)">
                                      <p:cBhvr>
                                        <p:cTn id="11" dur="500"/>
                                        <p:tgtEl>
                                          <p:spTgt spid="17">
                                            <p:txEl>
                                              <p:pRg st="0" end="0"/>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6" presetClass="entr" presetSubtype="21" fill="hold" nodeType="click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barn(inVertical)">
                                      <p:cBhvr>
                                        <p:cTn id="16" dur="500"/>
                                        <p:tgtEl>
                                          <p:spTgt spid="14"/>
                                        </p:tgtEl>
                                      </p:cBhvr>
                                    </p:animEffect>
                                  </p:childTnLst>
                                </p:cTn>
                              </p:par>
                            </p:childTnLst>
                          </p:cTn>
                        </p:par>
                        <p:par>
                          <p:cTn id="17" fill="hold" nodeType="afterGroup">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21"/>
                                        </p:tgtEl>
                                        <p:attrNameLst>
                                          <p:attrName>style.visibility</p:attrName>
                                        </p:attrNameLst>
                                      </p:cBhvr>
                                      <p:to>
                                        <p:strVal val="visible"/>
                                      </p:to>
                                    </p:set>
                                    <p:animEffect transition="in" filter="wipe(left)">
                                      <p:cBhvr>
                                        <p:cTn id="20" dur="500"/>
                                        <p:tgtEl>
                                          <p:spTgt spid="21"/>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1" fill="hold" grpId="0" nodeType="clickEffect">
                                  <p:stCondLst>
                                    <p:cond delay="0"/>
                                  </p:stCondLst>
                                  <p:childTnLst>
                                    <p:set>
                                      <p:cBhvr>
                                        <p:cTn id="24" dur="1" fill="hold">
                                          <p:stCondLst>
                                            <p:cond delay="0"/>
                                          </p:stCondLst>
                                        </p:cTn>
                                        <p:tgtEl>
                                          <p:spTgt spid="23"/>
                                        </p:tgtEl>
                                        <p:attrNameLst>
                                          <p:attrName>style.visibility</p:attrName>
                                        </p:attrNameLst>
                                      </p:cBhvr>
                                      <p:to>
                                        <p:strVal val="visible"/>
                                      </p:to>
                                    </p:set>
                                    <p:animEffect transition="in" filter="wipe(up)">
                                      <p:cBhvr>
                                        <p:cTn id="25" dur="500"/>
                                        <p:tgtEl>
                                          <p:spTgt spid="23"/>
                                        </p:tgtEl>
                                      </p:cBhvr>
                                    </p:animEffect>
                                  </p:childTnLst>
                                </p:cTn>
                              </p:par>
                            </p:childTnLst>
                          </p:cTn>
                        </p:par>
                        <p:par>
                          <p:cTn id="26" fill="hold" nodeType="afterGroup">
                            <p:stCondLst>
                              <p:cond delay="500"/>
                            </p:stCondLst>
                            <p:childTnLst>
                              <p:par>
                                <p:cTn id="27" presetID="22" presetClass="entr" presetSubtype="8" fill="hold" nodeType="afterEffect">
                                  <p:stCondLst>
                                    <p:cond delay="0"/>
                                  </p:stCondLst>
                                  <p:childTnLst>
                                    <p:set>
                                      <p:cBhvr>
                                        <p:cTn id="28" dur="1" fill="hold">
                                          <p:stCondLst>
                                            <p:cond delay="0"/>
                                          </p:stCondLst>
                                        </p:cTn>
                                        <p:tgtEl>
                                          <p:spTgt spid="23">
                                            <p:txEl>
                                              <p:pRg st="0" end="0"/>
                                            </p:txEl>
                                          </p:spTgt>
                                        </p:tgtEl>
                                        <p:attrNameLst>
                                          <p:attrName>style.visibility</p:attrName>
                                        </p:attrNameLst>
                                      </p:cBhvr>
                                      <p:to>
                                        <p:strVal val="visible"/>
                                      </p:to>
                                    </p:set>
                                    <p:animEffect transition="in" filter="wipe(left)">
                                      <p:cBhvr>
                                        <p:cTn id="29" dur="500"/>
                                        <p:tgtEl>
                                          <p:spTgt spid="23">
                                            <p:txEl>
                                              <p:pRg st="0" end="0"/>
                                            </p:txEl>
                                          </p:spTgt>
                                        </p:tgtEl>
                                      </p:cBhvr>
                                    </p:animEffect>
                                  </p:childTnLst>
                                </p:cTn>
                              </p:par>
                            </p:childTnLst>
                          </p:cTn>
                        </p:par>
                        <p:par>
                          <p:cTn id="30" fill="hold" nodeType="afterGroup">
                            <p:stCondLst>
                              <p:cond delay="1000"/>
                            </p:stCondLst>
                            <p:childTnLst>
                              <p:par>
                                <p:cTn id="31" presetID="16" presetClass="entr" presetSubtype="21" fill="hold" grpId="0" nodeType="after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barn(inVertical)">
                                      <p:cBhvr>
                                        <p:cTn id="33" dur="500"/>
                                        <p:tgtEl>
                                          <p:spTgt spid="18"/>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1" fill="hold" grpId="0" nodeType="clickEffect">
                                  <p:stCondLst>
                                    <p:cond delay="0"/>
                                  </p:stCondLst>
                                  <p:childTnLst>
                                    <p:set>
                                      <p:cBhvr>
                                        <p:cTn id="37" dur="1" fill="hold">
                                          <p:stCondLst>
                                            <p:cond delay="0"/>
                                          </p:stCondLst>
                                        </p:cTn>
                                        <p:tgtEl>
                                          <p:spTgt spid="22"/>
                                        </p:tgtEl>
                                        <p:attrNameLst>
                                          <p:attrName>style.visibility</p:attrName>
                                        </p:attrNameLst>
                                      </p:cBhvr>
                                      <p:to>
                                        <p:strVal val="visible"/>
                                      </p:to>
                                    </p:set>
                                    <p:animEffect transition="in" filter="wipe(up)">
                                      <p:cBhvr>
                                        <p:cTn id="38" dur="500"/>
                                        <p:tgtEl>
                                          <p:spTgt spid="22"/>
                                        </p:tgtEl>
                                      </p:cBhvr>
                                    </p:animEffect>
                                  </p:childTnLst>
                                </p:cTn>
                              </p:par>
                            </p:childTnLst>
                          </p:cTn>
                        </p:par>
                        <p:par>
                          <p:cTn id="39" fill="hold" nodeType="afterGroup">
                            <p:stCondLst>
                              <p:cond delay="500"/>
                            </p:stCondLst>
                            <p:childTnLst>
                              <p:par>
                                <p:cTn id="40" presetID="22" presetClass="entr" presetSubtype="8" fill="hold" nodeType="afterEffect">
                                  <p:stCondLst>
                                    <p:cond delay="0"/>
                                  </p:stCondLst>
                                  <p:childTnLst>
                                    <p:set>
                                      <p:cBhvr>
                                        <p:cTn id="41" dur="1" fill="hold">
                                          <p:stCondLst>
                                            <p:cond delay="0"/>
                                          </p:stCondLst>
                                        </p:cTn>
                                        <p:tgtEl>
                                          <p:spTgt spid="22">
                                            <p:txEl>
                                              <p:pRg st="0" end="0"/>
                                            </p:txEl>
                                          </p:spTgt>
                                        </p:tgtEl>
                                        <p:attrNameLst>
                                          <p:attrName>style.visibility</p:attrName>
                                        </p:attrNameLst>
                                      </p:cBhvr>
                                      <p:to>
                                        <p:strVal val="visible"/>
                                      </p:to>
                                    </p:set>
                                    <p:animEffect transition="in" filter="wipe(left)">
                                      <p:cBhvr>
                                        <p:cTn id="42" dur="500"/>
                                        <p:tgtEl>
                                          <p:spTgt spid="22">
                                            <p:txEl>
                                              <p:pRg st="0" end="0"/>
                                            </p:txEl>
                                          </p:spTgt>
                                        </p:tgtEl>
                                      </p:cBhvr>
                                    </p:animEffect>
                                  </p:childTnLst>
                                </p:cTn>
                              </p:par>
                            </p:childTnLst>
                          </p:cTn>
                        </p:par>
                        <p:par>
                          <p:cTn id="43" fill="hold" nodeType="afterGroup">
                            <p:stCondLst>
                              <p:cond delay="1000"/>
                            </p:stCondLst>
                            <p:childTnLst>
                              <p:par>
                                <p:cTn id="44" presetID="22" presetClass="entr" presetSubtype="8" fill="hold" nodeType="after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wipe(left)">
                                      <p:cBhvr>
                                        <p:cTn id="46"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build="p"/>
      <p:bldP spid="18" grpId="0" animBg="1"/>
      <p:bldP spid="21" grpId="0"/>
      <p:bldP spid="22" grpId="0" animBg="1"/>
      <p:bldP spid="23" grpId="0" animBg="1"/>
    </p:bldLst>
  </p:timing>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3CBD4-3089-408F-28B8-AB498AB9F2CB}"/>
              </a:ext>
            </a:extLst>
          </p:cNvPr>
          <p:cNvSpPr>
            <a:spLocks noGrp="1"/>
          </p:cNvSpPr>
          <p:nvPr>
            <p:ph type="title"/>
          </p:nvPr>
        </p:nvSpPr>
        <p:spPr>
          <a:xfrm>
            <a:off x="457200" y="0"/>
            <a:ext cx="7620000" cy="1143000"/>
          </a:xfrm>
        </p:spPr>
        <p:txBody>
          <a:bodyPr/>
          <a:lstStyle/>
          <a:p>
            <a:pPr algn="ctr">
              <a:defRPr/>
            </a:pPr>
            <a:r>
              <a:rPr lang="en-US" dirty="0"/>
              <a:t>Aggregate Functions</a:t>
            </a:r>
            <a:endParaRPr lang="en-MY" dirty="0"/>
          </a:p>
        </p:txBody>
      </p:sp>
      <p:sp>
        <p:nvSpPr>
          <p:cNvPr id="16" name="Snip Single Corner Rectangle 15">
            <a:extLst>
              <a:ext uri="{FF2B5EF4-FFF2-40B4-BE49-F238E27FC236}">
                <a16:creationId xmlns:a16="http://schemas.microsoft.com/office/drawing/2014/main" id="{CEFBDBE8-CA7E-2E1F-8801-67747F5DA42B}"/>
              </a:ext>
            </a:extLst>
          </p:cNvPr>
          <p:cNvSpPr/>
          <p:nvPr/>
        </p:nvSpPr>
        <p:spPr>
          <a:xfrm>
            <a:off x="-36513" y="1125538"/>
            <a:ext cx="1223963" cy="400050"/>
          </a:xfrm>
          <a:prstGeom prst="snip1Rect">
            <a:avLst/>
          </a:prstGeom>
          <a:solidFill>
            <a:schemeClr val="accent2"/>
          </a:solidFill>
          <a:ln>
            <a:solidFill>
              <a:schemeClr val="accent2"/>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marR="0" lvl="0" indent="-342900" algn="just" defTabSz="914400" rtl="0" eaLnBrk="1" fontAlgn="base" latinLnBrk="0" hangingPunct="1">
              <a:lnSpc>
                <a:spcPct val="100000"/>
              </a:lnSpc>
              <a:spcBef>
                <a:spcPct val="20000"/>
              </a:spcBef>
              <a:spcAft>
                <a:spcPct val="0"/>
              </a:spcAft>
              <a:buClr>
                <a:srgbClr val="FF6600"/>
              </a:buClr>
              <a:buSzPct val="100000"/>
              <a:buFontTx/>
              <a:buNone/>
              <a:tabLst/>
              <a:defRPr/>
            </a:pPr>
            <a:r>
              <a:rPr kumimoji="0" lang="en-GB" sz="1800" b="0" i="0" u="none" strike="noStrike" kern="0" cap="none" spc="0" normalizeH="0" baseline="0" noProof="0" dirty="0">
                <a:ln>
                  <a:noFill/>
                </a:ln>
                <a:solidFill>
                  <a:srgbClr val="FFFFFF"/>
                </a:solidFill>
                <a:effectLst/>
                <a:uLnTx/>
                <a:uFillTx/>
                <a:latin typeface="Calibri"/>
                <a:ea typeface="+mn-ea"/>
                <a:cs typeface="+mn-cs"/>
              </a:rPr>
              <a:t>COUNT()</a:t>
            </a:r>
          </a:p>
        </p:txBody>
      </p:sp>
      <p:sp>
        <p:nvSpPr>
          <p:cNvPr id="17" name="Content Placeholder 2">
            <a:extLst>
              <a:ext uri="{FF2B5EF4-FFF2-40B4-BE49-F238E27FC236}">
                <a16:creationId xmlns:a16="http://schemas.microsoft.com/office/drawing/2014/main" id="{2AE9AA67-7824-4111-B1B6-3022DD019226}"/>
              </a:ext>
            </a:extLst>
          </p:cNvPr>
          <p:cNvSpPr txBox="1">
            <a:spLocks/>
          </p:cNvSpPr>
          <p:nvPr/>
        </p:nvSpPr>
        <p:spPr bwMode="auto">
          <a:xfrm>
            <a:off x="250825" y="1773238"/>
            <a:ext cx="7902575"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COUNT(&lt;column_name&gt;) – Counts number of </a:t>
            </a:r>
            <a:r>
              <a:rPr kumimoji="0" lang="en-CA" altLang="en-US" sz="3200" b="1"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non NULL rows </a:t>
            </a: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in a column</a:t>
            </a: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sp>
        <p:nvSpPr>
          <p:cNvPr id="18" name="Rounded Rectangle 17">
            <a:extLst>
              <a:ext uri="{FF2B5EF4-FFF2-40B4-BE49-F238E27FC236}">
                <a16:creationId xmlns:a16="http://schemas.microsoft.com/office/drawing/2014/main" id="{C21C8619-FDA7-A38B-9983-0D10B122E739}"/>
              </a:ext>
            </a:extLst>
          </p:cNvPr>
          <p:cNvSpPr/>
          <p:nvPr/>
        </p:nvSpPr>
        <p:spPr bwMode="auto">
          <a:xfrm>
            <a:off x="1403350" y="4425950"/>
            <a:ext cx="6445250" cy="977900"/>
          </a:xfrm>
          <a:prstGeom prst="roundRect">
            <a:avLst/>
          </a:prstGeom>
          <a:solidFill>
            <a:schemeClr val="accent6">
              <a:alpha val="30000"/>
            </a:schemeClr>
          </a:solidFill>
          <a:ln w="9525" cap="flat" cmpd="sng" algn="ctr">
            <a:solidFill>
              <a:schemeClr val="accent6"/>
            </a:solidFill>
            <a:prstDash val="solid"/>
            <a:round/>
            <a:headEnd type="none" w="med" len="med"/>
            <a:tailEnd type="none" w="med" len="med"/>
          </a:ln>
          <a:effectLst/>
        </p:spPr>
        <p:txBody>
          <a:bodyPr anchor="ctr" anchorCtr="1"/>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2500" b="0"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SELECT COUNT(ISBN), COUNT(Quantity) FROM Book;</a:t>
            </a:r>
          </a:p>
        </p:txBody>
      </p:sp>
      <p:graphicFrame>
        <p:nvGraphicFramePr>
          <p:cNvPr id="19" name="Table 18">
            <a:extLst>
              <a:ext uri="{FF2B5EF4-FFF2-40B4-BE49-F238E27FC236}">
                <a16:creationId xmlns:a16="http://schemas.microsoft.com/office/drawing/2014/main" id="{1EF1F59F-3510-938F-E1D9-0E6CAEBB35E3}"/>
              </a:ext>
            </a:extLst>
          </p:cNvPr>
          <p:cNvGraphicFramePr>
            <a:graphicFrameLocks noGrp="1"/>
          </p:cNvGraphicFramePr>
          <p:nvPr/>
        </p:nvGraphicFramePr>
        <p:xfrm>
          <a:off x="1631950" y="5575300"/>
          <a:ext cx="4740275" cy="736600"/>
        </p:xfrm>
        <a:graphic>
          <a:graphicData uri="http://schemas.openxmlformats.org/drawingml/2006/table">
            <a:tbl>
              <a:tblPr firstRow="1" bandRow="1">
                <a:tableStyleId>{C083E6E3-FA7D-4D7B-A595-EF9225AFEA82}</a:tableStyleId>
              </a:tblPr>
              <a:tblGrid>
                <a:gridCol w="2370137">
                  <a:extLst>
                    <a:ext uri="{9D8B030D-6E8A-4147-A177-3AD203B41FA5}">
                      <a16:colId xmlns:a16="http://schemas.microsoft.com/office/drawing/2014/main" val="20000"/>
                    </a:ext>
                  </a:extLst>
                </a:gridCol>
                <a:gridCol w="2370138">
                  <a:extLst>
                    <a:ext uri="{9D8B030D-6E8A-4147-A177-3AD203B41FA5}">
                      <a16:colId xmlns:a16="http://schemas.microsoft.com/office/drawing/2014/main" val="20001"/>
                    </a:ext>
                  </a:extLst>
                </a:gridCol>
              </a:tblGrid>
              <a:tr h="0">
                <a:tc>
                  <a:txBody>
                    <a:bodyPr/>
                    <a:lstStyle/>
                    <a:p>
                      <a:pPr algn="ctr"/>
                      <a:r>
                        <a:rPr lang="en-CA" dirty="0"/>
                        <a:t>COUNT(ISBN)</a:t>
                      </a:r>
                    </a:p>
                  </a:txBody>
                  <a:tcPr marL="91436" marR="91436"/>
                </a:tc>
                <a:tc>
                  <a:txBody>
                    <a:bodyPr/>
                    <a:lstStyle/>
                    <a:p>
                      <a:pPr algn="ctr"/>
                      <a:r>
                        <a:rPr lang="en-CA" dirty="0"/>
                        <a:t>COUNT(Quantity)</a:t>
                      </a:r>
                    </a:p>
                  </a:txBody>
                  <a:tcPr marL="91436" marR="91436"/>
                </a:tc>
                <a:extLst>
                  <a:ext uri="{0D108BD9-81ED-4DB2-BD59-A6C34878D82A}">
                    <a16:rowId xmlns:a16="http://schemas.microsoft.com/office/drawing/2014/main" val="10000"/>
                  </a:ext>
                </a:extLst>
              </a:tr>
              <a:tr h="370840">
                <a:tc>
                  <a:txBody>
                    <a:bodyPr/>
                    <a:lstStyle/>
                    <a:p>
                      <a:pPr algn="ctr"/>
                      <a:r>
                        <a:rPr lang="en-CA" dirty="0"/>
                        <a:t>2</a:t>
                      </a:r>
                    </a:p>
                  </a:txBody>
                  <a:tcPr marL="91436" marR="91436"/>
                </a:tc>
                <a:tc>
                  <a:txBody>
                    <a:bodyPr/>
                    <a:lstStyle/>
                    <a:p>
                      <a:pPr algn="ctr"/>
                      <a:r>
                        <a:rPr lang="en-CA" dirty="0"/>
                        <a:t>1</a:t>
                      </a:r>
                    </a:p>
                  </a:txBody>
                  <a:tcPr marL="91436" marR="91436"/>
                </a:tc>
                <a:extLst>
                  <a:ext uri="{0D108BD9-81ED-4DB2-BD59-A6C34878D82A}">
                    <a16:rowId xmlns:a16="http://schemas.microsoft.com/office/drawing/2014/main" val="10001"/>
                  </a:ext>
                </a:extLst>
              </a:tr>
            </a:tbl>
          </a:graphicData>
        </a:graphic>
      </p:graphicFrame>
      <p:sp>
        <p:nvSpPr>
          <p:cNvPr id="21" name="TextBox 20">
            <a:extLst>
              <a:ext uri="{FF2B5EF4-FFF2-40B4-BE49-F238E27FC236}">
                <a16:creationId xmlns:a16="http://schemas.microsoft.com/office/drawing/2014/main" id="{FFECB740-3F32-D0BB-36D7-6B1A2D59CA39}"/>
              </a:ext>
            </a:extLst>
          </p:cNvPr>
          <p:cNvSpPr txBox="1">
            <a:spLocks noChangeArrowheads="1"/>
          </p:cNvSpPr>
          <p:nvPr/>
        </p:nvSpPr>
        <p:spPr bwMode="auto">
          <a:xfrm>
            <a:off x="3570288" y="3994150"/>
            <a:ext cx="20161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Book table</a:t>
            </a:r>
          </a:p>
        </p:txBody>
      </p:sp>
      <p:sp>
        <p:nvSpPr>
          <p:cNvPr id="22" name="Snip Single Corner Rectangle 21">
            <a:extLst>
              <a:ext uri="{FF2B5EF4-FFF2-40B4-BE49-F238E27FC236}">
                <a16:creationId xmlns:a16="http://schemas.microsoft.com/office/drawing/2014/main" id="{7503CE10-350B-7073-C882-9DFD1EFF89F5}"/>
              </a:ext>
            </a:extLst>
          </p:cNvPr>
          <p:cNvSpPr/>
          <p:nvPr/>
        </p:nvSpPr>
        <p:spPr bwMode="auto">
          <a:xfrm>
            <a:off x="227013" y="5613400"/>
            <a:ext cx="1092200" cy="431800"/>
          </a:xfrm>
          <a:prstGeom prst="snip1Rect">
            <a:avLst/>
          </a:prstGeom>
          <a:solidFill>
            <a:srgbClr val="FFFF00">
              <a:alpha val="30000"/>
            </a:srgbClr>
          </a:solidFill>
          <a:ln w="9525" cap="flat" cmpd="sng" algn="ctr">
            <a:solidFill>
              <a:srgbClr val="FFC000"/>
            </a:solidFill>
            <a:prstDash val="solid"/>
            <a:round/>
            <a:headEnd type="none" w="med" len="med"/>
            <a:tailEnd type="none" w="med" len="me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sz="2000" b="1"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Result:</a:t>
            </a:r>
          </a:p>
        </p:txBody>
      </p:sp>
      <p:sp>
        <p:nvSpPr>
          <p:cNvPr id="23" name="Snip Single Corner Rectangle 22">
            <a:extLst>
              <a:ext uri="{FF2B5EF4-FFF2-40B4-BE49-F238E27FC236}">
                <a16:creationId xmlns:a16="http://schemas.microsoft.com/office/drawing/2014/main" id="{D5000967-BD55-6F71-4BEA-1E7943ABC3CF}"/>
              </a:ext>
            </a:extLst>
          </p:cNvPr>
          <p:cNvSpPr/>
          <p:nvPr/>
        </p:nvSpPr>
        <p:spPr bwMode="auto">
          <a:xfrm>
            <a:off x="250825" y="4540250"/>
            <a:ext cx="830263" cy="431800"/>
          </a:xfrm>
          <a:prstGeom prst="snip1Rect">
            <a:avLst/>
          </a:prstGeom>
          <a:solidFill>
            <a:srgbClr val="FFFF00">
              <a:alpha val="30000"/>
            </a:srgbClr>
          </a:solidFill>
          <a:ln w="9525" cap="flat" cmpd="sng" algn="ctr">
            <a:solidFill>
              <a:srgbClr val="FFC000"/>
            </a:solidFill>
            <a:prstDash val="solid"/>
            <a:round/>
            <a:headEnd type="none" w="med" len="med"/>
            <a:tailEnd type="none" w="med" len="med"/>
          </a:ln>
          <a:effec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2000" b="1"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Run:</a:t>
            </a:r>
          </a:p>
        </p:txBody>
      </p:sp>
      <p:graphicFrame>
        <p:nvGraphicFramePr>
          <p:cNvPr id="14" name="Table 13">
            <a:extLst>
              <a:ext uri="{FF2B5EF4-FFF2-40B4-BE49-F238E27FC236}">
                <a16:creationId xmlns:a16="http://schemas.microsoft.com/office/drawing/2014/main" id="{4157A612-BE4F-EAB9-26C7-B92AFF302ADC}"/>
              </a:ext>
            </a:extLst>
          </p:cNvPr>
          <p:cNvGraphicFramePr>
            <a:graphicFrameLocks noGrp="1"/>
          </p:cNvGraphicFramePr>
          <p:nvPr/>
        </p:nvGraphicFramePr>
        <p:xfrm>
          <a:off x="1530350" y="2865438"/>
          <a:ext cx="6096000" cy="1112837"/>
        </p:xfrm>
        <a:graphic>
          <a:graphicData uri="http://schemas.openxmlformats.org/drawingml/2006/table">
            <a:tbl>
              <a:tblPr firstRow="1" bandRow="1">
                <a:tableStyleId>{D27102A9-8310-4765-A935-A1911B00CA55}</a:tableStyleId>
              </a:tblPr>
              <a:tblGrid>
                <a:gridCol w="1463824">
                  <a:extLst>
                    <a:ext uri="{9D8B030D-6E8A-4147-A177-3AD203B41FA5}">
                      <a16:colId xmlns:a16="http://schemas.microsoft.com/office/drawing/2014/main" val="20000"/>
                    </a:ext>
                  </a:extLst>
                </a:gridCol>
                <a:gridCol w="2736304">
                  <a:extLst>
                    <a:ext uri="{9D8B030D-6E8A-4147-A177-3AD203B41FA5}">
                      <a16:colId xmlns:a16="http://schemas.microsoft.com/office/drawing/2014/main" val="20001"/>
                    </a:ext>
                  </a:extLst>
                </a:gridCol>
                <a:gridCol w="1895872">
                  <a:extLst>
                    <a:ext uri="{9D8B030D-6E8A-4147-A177-3AD203B41FA5}">
                      <a16:colId xmlns:a16="http://schemas.microsoft.com/office/drawing/2014/main" val="20002"/>
                    </a:ext>
                  </a:extLst>
                </a:gridCol>
              </a:tblGrid>
              <a:tr h="370946">
                <a:tc>
                  <a:txBody>
                    <a:bodyPr/>
                    <a:lstStyle/>
                    <a:p>
                      <a:pPr algn="ctr"/>
                      <a:r>
                        <a:rPr lang="en-CA" sz="1800" dirty="0"/>
                        <a:t>ISBN</a:t>
                      </a:r>
                    </a:p>
                  </a:txBody>
                  <a:tcPr marT="45733" marB="45733"/>
                </a:tc>
                <a:tc>
                  <a:txBody>
                    <a:bodyPr/>
                    <a:lstStyle/>
                    <a:p>
                      <a:pPr algn="ctr"/>
                      <a:r>
                        <a:rPr lang="en-CA" sz="1800" dirty="0"/>
                        <a:t>Title</a:t>
                      </a:r>
                    </a:p>
                  </a:txBody>
                  <a:tcPr marT="45733" marB="45733"/>
                </a:tc>
                <a:tc>
                  <a:txBody>
                    <a:bodyPr/>
                    <a:lstStyle/>
                    <a:p>
                      <a:pPr algn="ctr"/>
                      <a:r>
                        <a:rPr lang="en-CA" sz="1800" dirty="0"/>
                        <a:t>Quantity</a:t>
                      </a:r>
                    </a:p>
                  </a:txBody>
                  <a:tcPr marT="45733" marB="45733"/>
                </a:tc>
                <a:extLst>
                  <a:ext uri="{0D108BD9-81ED-4DB2-BD59-A6C34878D82A}">
                    <a16:rowId xmlns:a16="http://schemas.microsoft.com/office/drawing/2014/main" val="10000"/>
                  </a:ext>
                </a:extLst>
              </a:tr>
              <a:tr h="370946">
                <a:tc>
                  <a:txBody>
                    <a:bodyPr/>
                    <a:lstStyle/>
                    <a:p>
                      <a:pPr algn="ctr"/>
                      <a:r>
                        <a:rPr lang="en-CA" sz="1800" dirty="0"/>
                        <a:t>12345</a:t>
                      </a:r>
                    </a:p>
                  </a:txBody>
                  <a:tcPr marT="45733" marB="45733"/>
                </a:tc>
                <a:tc>
                  <a:txBody>
                    <a:bodyPr/>
                    <a:lstStyle/>
                    <a:p>
                      <a:pPr algn="ctr"/>
                      <a:r>
                        <a:rPr lang="en-CA" sz="1800" dirty="0"/>
                        <a:t>The Hunger</a:t>
                      </a:r>
                      <a:r>
                        <a:rPr lang="en-CA" sz="1800" baseline="0" dirty="0"/>
                        <a:t> Game</a:t>
                      </a:r>
                      <a:endParaRPr lang="en-CA" sz="1800" dirty="0"/>
                    </a:p>
                  </a:txBody>
                  <a:tcPr marT="45733" marB="45733"/>
                </a:tc>
                <a:tc>
                  <a:txBody>
                    <a:bodyPr/>
                    <a:lstStyle/>
                    <a:p>
                      <a:pPr algn="ctr"/>
                      <a:r>
                        <a:rPr lang="en-CA" sz="1800" dirty="0"/>
                        <a:t>10</a:t>
                      </a:r>
                    </a:p>
                  </a:txBody>
                  <a:tcPr marT="45733" marB="45733"/>
                </a:tc>
                <a:extLst>
                  <a:ext uri="{0D108BD9-81ED-4DB2-BD59-A6C34878D82A}">
                    <a16:rowId xmlns:a16="http://schemas.microsoft.com/office/drawing/2014/main" val="10001"/>
                  </a:ext>
                </a:extLst>
              </a:tr>
              <a:tr h="370946">
                <a:tc>
                  <a:txBody>
                    <a:bodyPr/>
                    <a:lstStyle/>
                    <a:p>
                      <a:pPr algn="ctr"/>
                      <a:r>
                        <a:rPr lang="en-CA" sz="1800" dirty="0"/>
                        <a:t>54321</a:t>
                      </a:r>
                    </a:p>
                  </a:txBody>
                  <a:tcPr marT="45733" marB="45733"/>
                </a:tc>
                <a:tc>
                  <a:txBody>
                    <a:bodyPr/>
                    <a:lstStyle/>
                    <a:p>
                      <a:pPr algn="ctr"/>
                      <a:r>
                        <a:rPr lang="en-CA" sz="1800" dirty="0"/>
                        <a:t>A Song of Ice and Fire</a:t>
                      </a:r>
                    </a:p>
                  </a:txBody>
                  <a:tcPr marT="45733" marB="45733"/>
                </a:tc>
                <a:tc>
                  <a:txBody>
                    <a:bodyPr/>
                    <a:lstStyle/>
                    <a:p>
                      <a:pPr algn="ctr"/>
                      <a:r>
                        <a:rPr lang="en-CA" sz="1800" dirty="0"/>
                        <a:t>NULL</a:t>
                      </a:r>
                    </a:p>
                  </a:txBody>
                  <a:tcPr marT="45733" marB="45733"/>
                </a:tc>
                <a:extLst>
                  <a:ext uri="{0D108BD9-81ED-4DB2-BD59-A6C34878D82A}">
                    <a16:rowId xmlns:a16="http://schemas.microsoft.com/office/drawing/2014/main" val="10002"/>
                  </a:ext>
                </a:extLst>
              </a:tr>
            </a:tbl>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Effect transition="in" filter="wipe(left)">
                                      <p:cBhvr>
                                        <p:cTn id="7" dur="500"/>
                                        <p:tgtEl>
                                          <p:spTgt spid="1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21"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barn(inVertical)">
                                      <p:cBhvr>
                                        <p:cTn id="12" dur="500"/>
                                        <p:tgtEl>
                                          <p:spTgt spid="14"/>
                                        </p:tgtEl>
                                      </p:cBhvr>
                                    </p:animEffect>
                                  </p:childTnLst>
                                </p:cTn>
                              </p:par>
                            </p:childTnLst>
                          </p:cTn>
                        </p:par>
                        <p:par>
                          <p:cTn id="13" fill="hold" nodeType="afterGroup">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21"/>
                                        </p:tgtEl>
                                        <p:attrNameLst>
                                          <p:attrName>style.visibility</p:attrName>
                                        </p:attrNameLst>
                                      </p:cBhvr>
                                      <p:to>
                                        <p:strVal val="visible"/>
                                      </p:to>
                                    </p:set>
                                    <p:animEffect transition="in" filter="wipe(left)">
                                      <p:cBhvr>
                                        <p:cTn id="16" dur="500"/>
                                        <p:tgtEl>
                                          <p:spTgt spid="21"/>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23"/>
                                        </p:tgtEl>
                                        <p:attrNameLst>
                                          <p:attrName>style.visibility</p:attrName>
                                        </p:attrNameLst>
                                      </p:cBhvr>
                                      <p:to>
                                        <p:strVal val="visible"/>
                                      </p:to>
                                    </p:set>
                                    <p:animEffect transition="in" filter="wipe(up)">
                                      <p:cBhvr>
                                        <p:cTn id="21" dur="500"/>
                                        <p:tgtEl>
                                          <p:spTgt spid="23"/>
                                        </p:tgtEl>
                                      </p:cBhvr>
                                    </p:animEffect>
                                  </p:childTnLst>
                                </p:cTn>
                              </p:par>
                            </p:childTnLst>
                          </p:cTn>
                        </p:par>
                        <p:par>
                          <p:cTn id="22" fill="hold" nodeType="afterGroup">
                            <p:stCondLst>
                              <p:cond delay="500"/>
                            </p:stCondLst>
                            <p:childTnLst>
                              <p:par>
                                <p:cTn id="23" presetID="22" presetClass="entr" presetSubtype="8" fill="hold" nodeType="afterEffect">
                                  <p:stCondLst>
                                    <p:cond delay="0"/>
                                  </p:stCondLst>
                                  <p:childTnLst>
                                    <p:set>
                                      <p:cBhvr>
                                        <p:cTn id="24" dur="1" fill="hold">
                                          <p:stCondLst>
                                            <p:cond delay="0"/>
                                          </p:stCondLst>
                                        </p:cTn>
                                        <p:tgtEl>
                                          <p:spTgt spid="23">
                                            <p:txEl>
                                              <p:pRg st="0" end="0"/>
                                            </p:txEl>
                                          </p:spTgt>
                                        </p:tgtEl>
                                        <p:attrNameLst>
                                          <p:attrName>style.visibility</p:attrName>
                                        </p:attrNameLst>
                                      </p:cBhvr>
                                      <p:to>
                                        <p:strVal val="visible"/>
                                      </p:to>
                                    </p:set>
                                    <p:animEffect transition="in" filter="wipe(left)">
                                      <p:cBhvr>
                                        <p:cTn id="25" dur="500"/>
                                        <p:tgtEl>
                                          <p:spTgt spid="23">
                                            <p:txEl>
                                              <p:pRg st="0" end="0"/>
                                            </p:txEl>
                                          </p:spTgt>
                                        </p:tgtEl>
                                      </p:cBhvr>
                                    </p:animEffect>
                                  </p:childTnLst>
                                </p:cTn>
                              </p:par>
                            </p:childTnLst>
                          </p:cTn>
                        </p:par>
                        <p:par>
                          <p:cTn id="26" fill="hold" nodeType="afterGroup">
                            <p:stCondLst>
                              <p:cond delay="1000"/>
                            </p:stCondLst>
                            <p:childTnLst>
                              <p:par>
                                <p:cTn id="27" presetID="16" presetClass="entr" presetSubtype="21" fill="hold" grpId="0" nodeType="after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barn(inVertical)">
                                      <p:cBhvr>
                                        <p:cTn id="29" dur="500"/>
                                        <p:tgtEl>
                                          <p:spTgt spid="18"/>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1" fill="hold" grpId="0" nodeType="click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wipe(up)">
                                      <p:cBhvr>
                                        <p:cTn id="34" dur="500"/>
                                        <p:tgtEl>
                                          <p:spTgt spid="22"/>
                                        </p:tgtEl>
                                      </p:cBhvr>
                                    </p:animEffect>
                                  </p:childTnLst>
                                </p:cTn>
                              </p:par>
                            </p:childTnLst>
                          </p:cTn>
                        </p:par>
                        <p:par>
                          <p:cTn id="35" fill="hold" nodeType="afterGroup">
                            <p:stCondLst>
                              <p:cond delay="500"/>
                            </p:stCondLst>
                            <p:childTnLst>
                              <p:par>
                                <p:cTn id="36" presetID="22" presetClass="entr" presetSubtype="8" fill="hold" nodeType="afterEffect">
                                  <p:stCondLst>
                                    <p:cond delay="0"/>
                                  </p:stCondLst>
                                  <p:childTnLst>
                                    <p:set>
                                      <p:cBhvr>
                                        <p:cTn id="37" dur="1" fill="hold">
                                          <p:stCondLst>
                                            <p:cond delay="0"/>
                                          </p:stCondLst>
                                        </p:cTn>
                                        <p:tgtEl>
                                          <p:spTgt spid="22">
                                            <p:txEl>
                                              <p:pRg st="0" end="0"/>
                                            </p:txEl>
                                          </p:spTgt>
                                        </p:tgtEl>
                                        <p:attrNameLst>
                                          <p:attrName>style.visibility</p:attrName>
                                        </p:attrNameLst>
                                      </p:cBhvr>
                                      <p:to>
                                        <p:strVal val="visible"/>
                                      </p:to>
                                    </p:set>
                                    <p:animEffect transition="in" filter="wipe(left)">
                                      <p:cBhvr>
                                        <p:cTn id="38" dur="500"/>
                                        <p:tgtEl>
                                          <p:spTgt spid="22">
                                            <p:txEl>
                                              <p:pRg st="0" end="0"/>
                                            </p:txEl>
                                          </p:spTgt>
                                        </p:tgtEl>
                                      </p:cBhvr>
                                    </p:animEffect>
                                  </p:childTnLst>
                                </p:cTn>
                              </p:par>
                            </p:childTnLst>
                          </p:cTn>
                        </p:par>
                        <p:par>
                          <p:cTn id="39" fill="hold" nodeType="afterGroup">
                            <p:stCondLst>
                              <p:cond delay="1000"/>
                            </p:stCondLst>
                            <p:childTnLst>
                              <p:par>
                                <p:cTn id="40" presetID="22" presetClass="entr" presetSubtype="8" fill="hold" nodeType="after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wipe(left)">
                                      <p:cBhvr>
                                        <p:cTn id="4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uild="p"/>
      <p:bldP spid="18" grpId="0" animBg="1"/>
      <p:bldP spid="21" grpId="0"/>
      <p:bldP spid="22" grpId="0" animBg="1"/>
      <p:bldP spid="23" grpId="0" animBg="1"/>
    </p:bldLst>
  </p:timing>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9DEED6-6437-4B43-4CD1-77147D605D67}"/>
              </a:ext>
            </a:extLst>
          </p:cNvPr>
          <p:cNvSpPr>
            <a:spLocks noGrp="1"/>
          </p:cNvSpPr>
          <p:nvPr>
            <p:ph type="title"/>
          </p:nvPr>
        </p:nvSpPr>
        <p:spPr>
          <a:xfrm>
            <a:off x="457200" y="0"/>
            <a:ext cx="7620000" cy="1143000"/>
          </a:xfrm>
        </p:spPr>
        <p:txBody>
          <a:bodyPr/>
          <a:lstStyle/>
          <a:p>
            <a:pPr algn="ctr">
              <a:defRPr/>
            </a:pPr>
            <a:r>
              <a:rPr lang="en-US" dirty="0"/>
              <a:t>Aggregate Functions</a:t>
            </a:r>
            <a:endParaRPr lang="en-MY" dirty="0"/>
          </a:p>
        </p:txBody>
      </p:sp>
      <p:sp>
        <p:nvSpPr>
          <p:cNvPr id="16" name="Snip Single Corner Rectangle 15">
            <a:extLst>
              <a:ext uri="{FF2B5EF4-FFF2-40B4-BE49-F238E27FC236}">
                <a16:creationId xmlns:a16="http://schemas.microsoft.com/office/drawing/2014/main" id="{CAA48FC3-21A3-AAE4-8F4E-174892A30C69}"/>
              </a:ext>
            </a:extLst>
          </p:cNvPr>
          <p:cNvSpPr/>
          <p:nvPr/>
        </p:nvSpPr>
        <p:spPr>
          <a:xfrm>
            <a:off x="-36513" y="1125538"/>
            <a:ext cx="936626" cy="400050"/>
          </a:xfrm>
          <a:prstGeom prst="snip1Rect">
            <a:avLst/>
          </a:prstGeom>
          <a:solidFill>
            <a:schemeClr val="accent3"/>
          </a:solidFill>
          <a:ln>
            <a:solidFill>
              <a:schemeClr val="accent3"/>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marR="0" lvl="0" indent="-342900" algn="just" defTabSz="914400" rtl="0" eaLnBrk="1" fontAlgn="base" latinLnBrk="0" hangingPunct="1">
              <a:lnSpc>
                <a:spcPct val="100000"/>
              </a:lnSpc>
              <a:spcBef>
                <a:spcPct val="20000"/>
              </a:spcBef>
              <a:spcAft>
                <a:spcPct val="0"/>
              </a:spcAft>
              <a:buClr>
                <a:srgbClr val="FF6600"/>
              </a:buClr>
              <a:buSzPct val="100000"/>
              <a:buFontTx/>
              <a:buNone/>
              <a:tabLst/>
              <a:defRPr/>
            </a:pPr>
            <a:r>
              <a:rPr kumimoji="0" lang="en-GB" sz="1800" b="0" i="0" u="none" strike="noStrike" kern="0" cap="none" spc="0" normalizeH="0" baseline="0" noProof="0" dirty="0">
                <a:ln>
                  <a:noFill/>
                </a:ln>
                <a:solidFill>
                  <a:srgbClr val="FFFFFF"/>
                </a:solidFill>
                <a:effectLst/>
                <a:uLnTx/>
                <a:uFillTx/>
                <a:latin typeface="Calibri"/>
                <a:ea typeface="+mn-ea"/>
                <a:cs typeface="+mn-cs"/>
              </a:rPr>
              <a:t>SUM()</a:t>
            </a:r>
          </a:p>
        </p:txBody>
      </p:sp>
      <p:sp>
        <p:nvSpPr>
          <p:cNvPr id="17" name="Content Placeholder 2">
            <a:extLst>
              <a:ext uri="{FF2B5EF4-FFF2-40B4-BE49-F238E27FC236}">
                <a16:creationId xmlns:a16="http://schemas.microsoft.com/office/drawing/2014/main" id="{904C6E45-ED4F-06DC-FF22-F8C10DDCCEDE}"/>
              </a:ext>
            </a:extLst>
          </p:cNvPr>
          <p:cNvSpPr txBox="1">
            <a:spLocks/>
          </p:cNvSpPr>
          <p:nvPr/>
        </p:nvSpPr>
        <p:spPr bwMode="auto">
          <a:xfrm>
            <a:off x="250825" y="1773238"/>
            <a:ext cx="8655050"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SUM() – Add up a column’s numeric value</a:t>
            </a: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sp>
        <p:nvSpPr>
          <p:cNvPr id="18" name="Rounded Rectangle 17">
            <a:extLst>
              <a:ext uri="{FF2B5EF4-FFF2-40B4-BE49-F238E27FC236}">
                <a16:creationId xmlns:a16="http://schemas.microsoft.com/office/drawing/2014/main" id="{8B0D58BA-7152-7203-003E-B6B283F5559A}"/>
              </a:ext>
            </a:extLst>
          </p:cNvPr>
          <p:cNvSpPr/>
          <p:nvPr/>
        </p:nvSpPr>
        <p:spPr bwMode="auto">
          <a:xfrm>
            <a:off x="1447800" y="3968750"/>
            <a:ext cx="6534150" cy="1116013"/>
          </a:xfrm>
          <a:prstGeom prst="roundRect">
            <a:avLst/>
          </a:prstGeom>
          <a:solidFill>
            <a:schemeClr val="accent6">
              <a:alpha val="30000"/>
            </a:schemeClr>
          </a:solidFill>
          <a:ln w="9525" cap="flat" cmpd="sng" algn="ctr">
            <a:solidFill>
              <a:schemeClr val="accent6"/>
            </a:solidFill>
            <a:prstDash val="solid"/>
            <a:round/>
            <a:headEnd type="none" w="med" len="med"/>
            <a:tailEnd type="none" w="med" len="med"/>
          </a:ln>
          <a:effectLst/>
        </p:spPr>
        <p:txBody>
          <a:bodyPr anchor="ctr" anchorCtr="1"/>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2700" b="0"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SELECT SUM(Quantity) AS Total FROM Book;</a:t>
            </a:r>
          </a:p>
        </p:txBody>
      </p:sp>
      <p:sp>
        <p:nvSpPr>
          <p:cNvPr id="21" name="TextBox 20">
            <a:extLst>
              <a:ext uri="{FF2B5EF4-FFF2-40B4-BE49-F238E27FC236}">
                <a16:creationId xmlns:a16="http://schemas.microsoft.com/office/drawing/2014/main" id="{FD9F11A4-EAA0-A74F-465C-551A30FFFA34}"/>
              </a:ext>
            </a:extLst>
          </p:cNvPr>
          <p:cNvSpPr txBox="1">
            <a:spLocks noChangeArrowheads="1"/>
          </p:cNvSpPr>
          <p:nvPr/>
        </p:nvSpPr>
        <p:spPr bwMode="auto">
          <a:xfrm>
            <a:off x="3570288" y="3540125"/>
            <a:ext cx="20161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Book table</a:t>
            </a:r>
          </a:p>
        </p:txBody>
      </p:sp>
      <p:sp>
        <p:nvSpPr>
          <p:cNvPr id="22" name="Snip Single Corner Rectangle 21">
            <a:extLst>
              <a:ext uri="{FF2B5EF4-FFF2-40B4-BE49-F238E27FC236}">
                <a16:creationId xmlns:a16="http://schemas.microsoft.com/office/drawing/2014/main" id="{3CC8EF85-C044-EF1A-D38C-A36ADDC9706C}"/>
              </a:ext>
            </a:extLst>
          </p:cNvPr>
          <p:cNvSpPr/>
          <p:nvPr/>
        </p:nvSpPr>
        <p:spPr bwMode="auto">
          <a:xfrm>
            <a:off x="227013" y="5300663"/>
            <a:ext cx="1092200" cy="431800"/>
          </a:xfrm>
          <a:prstGeom prst="snip1Rect">
            <a:avLst/>
          </a:prstGeom>
          <a:solidFill>
            <a:srgbClr val="FFFF00">
              <a:alpha val="30000"/>
            </a:srgbClr>
          </a:solidFill>
          <a:ln w="9525" cap="flat" cmpd="sng" algn="ctr">
            <a:solidFill>
              <a:srgbClr val="FFC000"/>
            </a:solidFill>
            <a:prstDash val="solid"/>
            <a:round/>
            <a:headEnd type="none" w="med" len="med"/>
            <a:tailEnd type="none" w="med" len="me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sz="2000" b="1"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Result:</a:t>
            </a:r>
          </a:p>
        </p:txBody>
      </p:sp>
      <p:sp>
        <p:nvSpPr>
          <p:cNvPr id="23" name="Snip Single Corner Rectangle 22">
            <a:extLst>
              <a:ext uri="{FF2B5EF4-FFF2-40B4-BE49-F238E27FC236}">
                <a16:creationId xmlns:a16="http://schemas.microsoft.com/office/drawing/2014/main" id="{A7E61B6E-9ECF-3B7E-470F-E1EA7D44C6A9}"/>
              </a:ext>
            </a:extLst>
          </p:cNvPr>
          <p:cNvSpPr/>
          <p:nvPr/>
        </p:nvSpPr>
        <p:spPr bwMode="auto">
          <a:xfrm>
            <a:off x="250825" y="3978275"/>
            <a:ext cx="830263" cy="431800"/>
          </a:xfrm>
          <a:prstGeom prst="snip1Rect">
            <a:avLst/>
          </a:prstGeom>
          <a:solidFill>
            <a:srgbClr val="FFFF00">
              <a:alpha val="30000"/>
            </a:srgbClr>
          </a:solidFill>
          <a:ln w="9525" cap="flat" cmpd="sng" algn="ctr">
            <a:solidFill>
              <a:srgbClr val="FFC000"/>
            </a:solidFill>
            <a:prstDash val="solid"/>
            <a:round/>
            <a:headEnd type="none" w="med" len="med"/>
            <a:tailEnd type="none" w="med" len="med"/>
          </a:ln>
          <a:effec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2000" b="1"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Run:</a:t>
            </a:r>
          </a:p>
        </p:txBody>
      </p:sp>
      <p:graphicFrame>
        <p:nvGraphicFramePr>
          <p:cNvPr id="14" name="Table 13">
            <a:extLst>
              <a:ext uri="{FF2B5EF4-FFF2-40B4-BE49-F238E27FC236}">
                <a16:creationId xmlns:a16="http://schemas.microsoft.com/office/drawing/2014/main" id="{D946693D-65BB-CD64-AD87-8BC4412DD68B}"/>
              </a:ext>
            </a:extLst>
          </p:cNvPr>
          <p:cNvGraphicFramePr>
            <a:graphicFrameLocks noGrp="1"/>
          </p:cNvGraphicFramePr>
          <p:nvPr/>
        </p:nvGraphicFramePr>
        <p:xfrm>
          <a:off x="1530350" y="2425700"/>
          <a:ext cx="6096000" cy="1111250"/>
        </p:xfrm>
        <a:graphic>
          <a:graphicData uri="http://schemas.openxmlformats.org/drawingml/2006/table">
            <a:tbl>
              <a:tblPr firstRow="1" bandRow="1">
                <a:tableStyleId>{D27102A9-8310-4765-A935-A1911B00CA55}</a:tableStyleId>
              </a:tblPr>
              <a:tblGrid>
                <a:gridCol w="1463824">
                  <a:extLst>
                    <a:ext uri="{9D8B030D-6E8A-4147-A177-3AD203B41FA5}">
                      <a16:colId xmlns:a16="http://schemas.microsoft.com/office/drawing/2014/main" val="20000"/>
                    </a:ext>
                  </a:extLst>
                </a:gridCol>
                <a:gridCol w="2736304">
                  <a:extLst>
                    <a:ext uri="{9D8B030D-6E8A-4147-A177-3AD203B41FA5}">
                      <a16:colId xmlns:a16="http://schemas.microsoft.com/office/drawing/2014/main" val="20001"/>
                    </a:ext>
                  </a:extLst>
                </a:gridCol>
                <a:gridCol w="1895872">
                  <a:extLst>
                    <a:ext uri="{9D8B030D-6E8A-4147-A177-3AD203B41FA5}">
                      <a16:colId xmlns:a16="http://schemas.microsoft.com/office/drawing/2014/main" val="20002"/>
                    </a:ext>
                  </a:extLst>
                </a:gridCol>
              </a:tblGrid>
              <a:tr h="370417">
                <a:tc>
                  <a:txBody>
                    <a:bodyPr/>
                    <a:lstStyle/>
                    <a:p>
                      <a:pPr algn="ctr"/>
                      <a:r>
                        <a:rPr lang="en-CA" sz="1800" dirty="0"/>
                        <a:t>ISBN</a:t>
                      </a:r>
                    </a:p>
                  </a:txBody>
                  <a:tcPr marT="45668" marB="45668"/>
                </a:tc>
                <a:tc>
                  <a:txBody>
                    <a:bodyPr/>
                    <a:lstStyle/>
                    <a:p>
                      <a:pPr algn="ctr"/>
                      <a:r>
                        <a:rPr lang="en-CA" sz="1800" dirty="0"/>
                        <a:t>Title</a:t>
                      </a:r>
                    </a:p>
                  </a:txBody>
                  <a:tcPr marT="45668" marB="45668"/>
                </a:tc>
                <a:tc>
                  <a:txBody>
                    <a:bodyPr/>
                    <a:lstStyle/>
                    <a:p>
                      <a:pPr algn="ctr"/>
                      <a:r>
                        <a:rPr lang="en-CA" sz="1800" dirty="0"/>
                        <a:t>Quantity</a:t>
                      </a:r>
                    </a:p>
                  </a:txBody>
                  <a:tcPr marT="45668" marB="45668"/>
                </a:tc>
                <a:extLst>
                  <a:ext uri="{0D108BD9-81ED-4DB2-BD59-A6C34878D82A}">
                    <a16:rowId xmlns:a16="http://schemas.microsoft.com/office/drawing/2014/main" val="10000"/>
                  </a:ext>
                </a:extLst>
              </a:tr>
              <a:tr h="370417">
                <a:tc>
                  <a:txBody>
                    <a:bodyPr/>
                    <a:lstStyle/>
                    <a:p>
                      <a:pPr algn="ctr"/>
                      <a:r>
                        <a:rPr lang="en-CA" sz="1800" dirty="0"/>
                        <a:t>12345</a:t>
                      </a:r>
                    </a:p>
                  </a:txBody>
                  <a:tcPr marT="45668" marB="45668"/>
                </a:tc>
                <a:tc>
                  <a:txBody>
                    <a:bodyPr/>
                    <a:lstStyle/>
                    <a:p>
                      <a:pPr algn="ctr"/>
                      <a:r>
                        <a:rPr lang="en-CA" sz="1800" dirty="0"/>
                        <a:t>The Hunger</a:t>
                      </a:r>
                      <a:r>
                        <a:rPr lang="en-CA" sz="1800" baseline="0" dirty="0"/>
                        <a:t> Game</a:t>
                      </a:r>
                      <a:endParaRPr lang="en-CA" sz="1800" dirty="0"/>
                    </a:p>
                  </a:txBody>
                  <a:tcPr marT="45668" marB="45668"/>
                </a:tc>
                <a:tc>
                  <a:txBody>
                    <a:bodyPr/>
                    <a:lstStyle/>
                    <a:p>
                      <a:pPr algn="ctr"/>
                      <a:r>
                        <a:rPr lang="en-CA" sz="1800" dirty="0"/>
                        <a:t>10</a:t>
                      </a:r>
                    </a:p>
                  </a:txBody>
                  <a:tcPr marT="45668" marB="45668"/>
                </a:tc>
                <a:extLst>
                  <a:ext uri="{0D108BD9-81ED-4DB2-BD59-A6C34878D82A}">
                    <a16:rowId xmlns:a16="http://schemas.microsoft.com/office/drawing/2014/main" val="10001"/>
                  </a:ext>
                </a:extLst>
              </a:tr>
              <a:tr h="370417">
                <a:tc>
                  <a:txBody>
                    <a:bodyPr/>
                    <a:lstStyle/>
                    <a:p>
                      <a:pPr algn="ctr"/>
                      <a:r>
                        <a:rPr lang="en-CA" sz="1800" dirty="0"/>
                        <a:t>54321</a:t>
                      </a:r>
                    </a:p>
                  </a:txBody>
                  <a:tcPr marT="45668" marB="45668"/>
                </a:tc>
                <a:tc>
                  <a:txBody>
                    <a:bodyPr/>
                    <a:lstStyle/>
                    <a:p>
                      <a:pPr algn="ctr"/>
                      <a:r>
                        <a:rPr lang="en-CA" sz="1800" dirty="0"/>
                        <a:t>A Song of Ice and Fire</a:t>
                      </a:r>
                    </a:p>
                  </a:txBody>
                  <a:tcPr marT="45668" marB="45668"/>
                </a:tc>
                <a:tc>
                  <a:txBody>
                    <a:bodyPr/>
                    <a:lstStyle/>
                    <a:p>
                      <a:pPr algn="ctr"/>
                      <a:r>
                        <a:rPr lang="en-CA" sz="1800" dirty="0"/>
                        <a:t>15</a:t>
                      </a:r>
                    </a:p>
                  </a:txBody>
                  <a:tcPr marT="45668" marB="45668"/>
                </a:tc>
                <a:extLst>
                  <a:ext uri="{0D108BD9-81ED-4DB2-BD59-A6C34878D82A}">
                    <a16:rowId xmlns:a16="http://schemas.microsoft.com/office/drawing/2014/main" val="10002"/>
                  </a:ext>
                </a:extLst>
              </a:tr>
            </a:tbl>
          </a:graphicData>
        </a:graphic>
      </p:graphicFrame>
      <p:graphicFrame>
        <p:nvGraphicFramePr>
          <p:cNvPr id="24" name="Table 23">
            <a:extLst>
              <a:ext uri="{FF2B5EF4-FFF2-40B4-BE49-F238E27FC236}">
                <a16:creationId xmlns:a16="http://schemas.microsoft.com/office/drawing/2014/main" id="{E7543F39-0361-8171-3815-98BB18B147B8}"/>
              </a:ext>
            </a:extLst>
          </p:cNvPr>
          <p:cNvGraphicFramePr>
            <a:graphicFrameLocks noGrp="1"/>
          </p:cNvGraphicFramePr>
          <p:nvPr/>
        </p:nvGraphicFramePr>
        <p:xfrm>
          <a:off x="1631950" y="5318125"/>
          <a:ext cx="1731963" cy="736600"/>
        </p:xfrm>
        <a:graphic>
          <a:graphicData uri="http://schemas.openxmlformats.org/drawingml/2006/table">
            <a:tbl>
              <a:tblPr firstRow="1" bandRow="1">
                <a:tableStyleId>{C083E6E3-FA7D-4D7B-A595-EF9225AFEA82}</a:tableStyleId>
              </a:tblPr>
              <a:tblGrid>
                <a:gridCol w="1731963">
                  <a:extLst>
                    <a:ext uri="{9D8B030D-6E8A-4147-A177-3AD203B41FA5}">
                      <a16:colId xmlns:a16="http://schemas.microsoft.com/office/drawing/2014/main" val="20000"/>
                    </a:ext>
                  </a:extLst>
                </a:gridCol>
              </a:tblGrid>
              <a:tr h="0">
                <a:tc>
                  <a:txBody>
                    <a:bodyPr/>
                    <a:lstStyle/>
                    <a:p>
                      <a:pPr algn="ctr"/>
                      <a:r>
                        <a:rPr lang="en-CA" dirty="0"/>
                        <a:t>Total</a:t>
                      </a:r>
                    </a:p>
                  </a:txBody>
                  <a:tcPr marL="91403" marR="91403"/>
                </a:tc>
                <a:extLst>
                  <a:ext uri="{0D108BD9-81ED-4DB2-BD59-A6C34878D82A}">
                    <a16:rowId xmlns:a16="http://schemas.microsoft.com/office/drawing/2014/main" val="10000"/>
                  </a:ext>
                </a:extLst>
              </a:tr>
              <a:tr h="370840">
                <a:tc>
                  <a:txBody>
                    <a:bodyPr/>
                    <a:lstStyle/>
                    <a:p>
                      <a:pPr algn="ctr"/>
                      <a:r>
                        <a:rPr lang="en-CA" dirty="0"/>
                        <a:t>25</a:t>
                      </a:r>
                    </a:p>
                  </a:txBody>
                  <a:tcPr marL="91403" marR="91403"/>
                </a:tc>
                <a:extLst>
                  <a:ext uri="{0D108BD9-81ED-4DB2-BD59-A6C34878D82A}">
                    <a16:rowId xmlns:a16="http://schemas.microsoft.com/office/drawing/2014/main" val="10001"/>
                  </a:ext>
                </a:extLst>
              </a:tr>
            </a:tbl>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7">
                                            <p:txEl>
                                              <p:pRg st="0" end="0"/>
                                            </p:txEl>
                                          </p:spTgt>
                                        </p:tgtEl>
                                        <p:attrNameLst>
                                          <p:attrName>style.visibility</p:attrName>
                                        </p:attrNameLst>
                                      </p:cBhvr>
                                      <p:to>
                                        <p:strVal val="visible"/>
                                      </p:to>
                                    </p:set>
                                    <p:animEffect transition="in" filter="wipe(left)">
                                      <p:cBhvr>
                                        <p:cTn id="11" dur="500"/>
                                        <p:tgtEl>
                                          <p:spTgt spid="17">
                                            <p:txEl>
                                              <p:pRg st="0" end="0"/>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6" presetClass="entr" presetSubtype="21" fill="hold" nodeType="click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barn(inVertical)">
                                      <p:cBhvr>
                                        <p:cTn id="16" dur="500"/>
                                        <p:tgtEl>
                                          <p:spTgt spid="14"/>
                                        </p:tgtEl>
                                      </p:cBhvr>
                                    </p:animEffect>
                                  </p:childTnLst>
                                </p:cTn>
                              </p:par>
                            </p:childTnLst>
                          </p:cTn>
                        </p:par>
                        <p:par>
                          <p:cTn id="17" fill="hold" nodeType="afterGroup">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21"/>
                                        </p:tgtEl>
                                        <p:attrNameLst>
                                          <p:attrName>style.visibility</p:attrName>
                                        </p:attrNameLst>
                                      </p:cBhvr>
                                      <p:to>
                                        <p:strVal val="visible"/>
                                      </p:to>
                                    </p:set>
                                    <p:animEffect transition="in" filter="wipe(left)">
                                      <p:cBhvr>
                                        <p:cTn id="20" dur="500"/>
                                        <p:tgtEl>
                                          <p:spTgt spid="21"/>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1" fill="hold" grpId="0" nodeType="clickEffect">
                                  <p:stCondLst>
                                    <p:cond delay="0"/>
                                  </p:stCondLst>
                                  <p:childTnLst>
                                    <p:set>
                                      <p:cBhvr>
                                        <p:cTn id="24" dur="1" fill="hold">
                                          <p:stCondLst>
                                            <p:cond delay="0"/>
                                          </p:stCondLst>
                                        </p:cTn>
                                        <p:tgtEl>
                                          <p:spTgt spid="23"/>
                                        </p:tgtEl>
                                        <p:attrNameLst>
                                          <p:attrName>style.visibility</p:attrName>
                                        </p:attrNameLst>
                                      </p:cBhvr>
                                      <p:to>
                                        <p:strVal val="visible"/>
                                      </p:to>
                                    </p:set>
                                    <p:animEffect transition="in" filter="wipe(up)">
                                      <p:cBhvr>
                                        <p:cTn id="25" dur="500"/>
                                        <p:tgtEl>
                                          <p:spTgt spid="23"/>
                                        </p:tgtEl>
                                      </p:cBhvr>
                                    </p:animEffect>
                                  </p:childTnLst>
                                </p:cTn>
                              </p:par>
                            </p:childTnLst>
                          </p:cTn>
                        </p:par>
                        <p:par>
                          <p:cTn id="26" fill="hold" nodeType="afterGroup">
                            <p:stCondLst>
                              <p:cond delay="500"/>
                            </p:stCondLst>
                            <p:childTnLst>
                              <p:par>
                                <p:cTn id="27" presetID="22" presetClass="entr" presetSubtype="8" fill="hold" nodeType="afterEffect">
                                  <p:stCondLst>
                                    <p:cond delay="0"/>
                                  </p:stCondLst>
                                  <p:childTnLst>
                                    <p:set>
                                      <p:cBhvr>
                                        <p:cTn id="28" dur="1" fill="hold">
                                          <p:stCondLst>
                                            <p:cond delay="0"/>
                                          </p:stCondLst>
                                        </p:cTn>
                                        <p:tgtEl>
                                          <p:spTgt spid="23">
                                            <p:txEl>
                                              <p:pRg st="0" end="0"/>
                                            </p:txEl>
                                          </p:spTgt>
                                        </p:tgtEl>
                                        <p:attrNameLst>
                                          <p:attrName>style.visibility</p:attrName>
                                        </p:attrNameLst>
                                      </p:cBhvr>
                                      <p:to>
                                        <p:strVal val="visible"/>
                                      </p:to>
                                    </p:set>
                                    <p:animEffect transition="in" filter="wipe(left)">
                                      <p:cBhvr>
                                        <p:cTn id="29" dur="500"/>
                                        <p:tgtEl>
                                          <p:spTgt spid="23">
                                            <p:txEl>
                                              <p:pRg st="0" end="0"/>
                                            </p:txEl>
                                          </p:spTgt>
                                        </p:tgtEl>
                                      </p:cBhvr>
                                    </p:animEffect>
                                  </p:childTnLst>
                                </p:cTn>
                              </p:par>
                            </p:childTnLst>
                          </p:cTn>
                        </p:par>
                        <p:par>
                          <p:cTn id="30" fill="hold" nodeType="afterGroup">
                            <p:stCondLst>
                              <p:cond delay="1000"/>
                            </p:stCondLst>
                            <p:childTnLst>
                              <p:par>
                                <p:cTn id="31" presetID="16" presetClass="entr" presetSubtype="21" fill="hold" grpId="0" nodeType="after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barn(inVertical)">
                                      <p:cBhvr>
                                        <p:cTn id="33" dur="500"/>
                                        <p:tgtEl>
                                          <p:spTgt spid="18"/>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1" fill="hold" grpId="0" nodeType="clickEffect">
                                  <p:stCondLst>
                                    <p:cond delay="0"/>
                                  </p:stCondLst>
                                  <p:childTnLst>
                                    <p:set>
                                      <p:cBhvr>
                                        <p:cTn id="37" dur="1" fill="hold">
                                          <p:stCondLst>
                                            <p:cond delay="0"/>
                                          </p:stCondLst>
                                        </p:cTn>
                                        <p:tgtEl>
                                          <p:spTgt spid="22"/>
                                        </p:tgtEl>
                                        <p:attrNameLst>
                                          <p:attrName>style.visibility</p:attrName>
                                        </p:attrNameLst>
                                      </p:cBhvr>
                                      <p:to>
                                        <p:strVal val="visible"/>
                                      </p:to>
                                    </p:set>
                                    <p:animEffect transition="in" filter="wipe(up)">
                                      <p:cBhvr>
                                        <p:cTn id="38" dur="500"/>
                                        <p:tgtEl>
                                          <p:spTgt spid="22"/>
                                        </p:tgtEl>
                                      </p:cBhvr>
                                    </p:animEffect>
                                  </p:childTnLst>
                                </p:cTn>
                              </p:par>
                            </p:childTnLst>
                          </p:cTn>
                        </p:par>
                        <p:par>
                          <p:cTn id="39" fill="hold" nodeType="afterGroup">
                            <p:stCondLst>
                              <p:cond delay="500"/>
                            </p:stCondLst>
                            <p:childTnLst>
                              <p:par>
                                <p:cTn id="40" presetID="22" presetClass="entr" presetSubtype="8" fill="hold" nodeType="afterEffect">
                                  <p:stCondLst>
                                    <p:cond delay="0"/>
                                  </p:stCondLst>
                                  <p:childTnLst>
                                    <p:set>
                                      <p:cBhvr>
                                        <p:cTn id="41" dur="1" fill="hold">
                                          <p:stCondLst>
                                            <p:cond delay="0"/>
                                          </p:stCondLst>
                                        </p:cTn>
                                        <p:tgtEl>
                                          <p:spTgt spid="22">
                                            <p:txEl>
                                              <p:pRg st="0" end="0"/>
                                            </p:txEl>
                                          </p:spTgt>
                                        </p:tgtEl>
                                        <p:attrNameLst>
                                          <p:attrName>style.visibility</p:attrName>
                                        </p:attrNameLst>
                                      </p:cBhvr>
                                      <p:to>
                                        <p:strVal val="visible"/>
                                      </p:to>
                                    </p:set>
                                    <p:animEffect transition="in" filter="wipe(left)">
                                      <p:cBhvr>
                                        <p:cTn id="42" dur="500"/>
                                        <p:tgtEl>
                                          <p:spTgt spid="22">
                                            <p:txEl>
                                              <p:pRg st="0" end="0"/>
                                            </p:txEl>
                                          </p:spTgt>
                                        </p:tgtEl>
                                      </p:cBhvr>
                                    </p:animEffect>
                                  </p:childTnLst>
                                </p:cTn>
                              </p:par>
                            </p:childTnLst>
                          </p:cTn>
                        </p:par>
                        <p:par>
                          <p:cTn id="43" fill="hold" nodeType="afterGroup">
                            <p:stCondLst>
                              <p:cond delay="1000"/>
                            </p:stCondLst>
                            <p:childTnLst>
                              <p:par>
                                <p:cTn id="44" presetID="22" presetClass="entr" presetSubtype="8" fill="hold" nodeType="afterEffect">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wipe(left)">
                                      <p:cBhvr>
                                        <p:cTn id="46"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build="p"/>
      <p:bldP spid="18" grpId="0" animBg="1"/>
      <p:bldP spid="21" grpId="0"/>
      <p:bldP spid="22" grpId="0" animBg="1"/>
      <p:bldP spid="23" grpId="0" animBg="1"/>
    </p:bldLst>
  </p:timing>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B62CC-8146-E9C4-4D4B-B028676C95A5}"/>
              </a:ext>
            </a:extLst>
          </p:cNvPr>
          <p:cNvSpPr>
            <a:spLocks noGrp="1"/>
          </p:cNvSpPr>
          <p:nvPr>
            <p:ph type="title"/>
          </p:nvPr>
        </p:nvSpPr>
        <p:spPr>
          <a:xfrm>
            <a:off x="457200" y="0"/>
            <a:ext cx="7620000" cy="1143000"/>
          </a:xfrm>
        </p:spPr>
        <p:txBody>
          <a:bodyPr/>
          <a:lstStyle/>
          <a:p>
            <a:pPr algn="ctr">
              <a:defRPr/>
            </a:pPr>
            <a:r>
              <a:rPr lang="en-US" dirty="0"/>
              <a:t>Aggregate Functions</a:t>
            </a:r>
            <a:endParaRPr lang="en-MY" dirty="0"/>
          </a:p>
        </p:txBody>
      </p:sp>
      <p:sp>
        <p:nvSpPr>
          <p:cNvPr id="16" name="Snip Single Corner Rectangle 15">
            <a:extLst>
              <a:ext uri="{FF2B5EF4-FFF2-40B4-BE49-F238E27FC236}">
                <a16:creationId xmlns:a16="http://schemas.microsoft.com/office/drawing/2014/main" id="{068BDDF2-FBFA-848F-42BD-A119F136C8E5}"/>
              </a:ext>
            </a:extLst>
          </p:cNvPr>
          <p:cNvSpPr/>
          <p:nvPr/>
        </p:nvSpPr>
        <p:spPr>
          <a:xfrm>
            <a:off x="-36513" y="1125538"/>
            <a:ext cx="936626" cy="400050"/>
          </a:xfrm>
          <a:prstGeom prst="snip1Rect">
            <a:avLst/>
          </a:prstGeom>
          <a:solidFill>
            <a:schemeClr val="accent5"/>
          </a:solidFill>
          <a:ln>
            <a:solidFill>
              <a:schemeClr val="accent5"/>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marR="0" lvl="0" indent="-342900" algn="just" defTabSz="914400" rtl="0" eaLnBrk="1" fontAlgn="base" latinLnBrk="0" hangingPunct="1">
              <a:lnSpc>
                <a:spcPct val="100000"/>
              </a:lnSpc>
              <a:spcBef>
                <a:spcPct val="20000"/>
              </a:spcBef>
              <a:spcAft>
                <a:spcPct val="0"/>
              </a:spcAft>
              <a:buClr>
                <a:srgbClr val="FF6600"/>
              </a:buClr>
              <a:buSzPct val="100000"/>
              <a:buFontTx/>
              <a:buNone/>
              <a:tabLst/>
              <a:defRPr/>
            </a:pPr>
            <a:r>
              <a:rPr kumimoji="0" lang="en-GB" sz="1800" b="0" i="0" u="none" strike="noStrike" kern="0" cap="none" spc="0" normalizeH="0" baseline="0" noProof="0" dirty="0">
                <a:ln>
                  <a:noFill/>
                </a:ln>
                <a:solidFill>
                  <a:srgbClr val="FFFFFF"/>
                </a:solidFill>
                <a:effectLst/>
                <a:uLnTx/>
                <a:uFillTx/>
                <a:latin typeface="Calibri"/>
                <a:ea typeface="+mn-ea"/>
                <a:cs typeface="+mn-cs"/>
              </a:rPr>
              <a:t>AVG()</a:t>
            </a:r>
          </a:p>
        </p:txBody>
      </p:sp>
      <p:sp>
        <p:nvSpPr>
          <p:cNvPr id="17" name="Content Placeholder 2">
            <a:extLst>
              <a:ext uri="{FF2B5EF4-FFF2-40B4-BE49-F238E27FC236}">
                <a16:creationId xmlns:a16="http://schemas.microsoft.com/office/drawing/2014/main" id="{9F5071DE-EF66-C243-134B-28CDDD3BE9D8}"/>
              </a:ext>
            </a:extLst>
          </p:cNvPr>
          <p:cNvSpPr txBox="1">
            <a:spLocks/>
          </p:cNvSpPr>
          <p:nvPr/>
        </p:nvSpPr>
        <p:spPr bwMode="auto">
          <a:xfrm>
            <a:off x="250825" y="1773238"/>
            <a:ext cx="8655050"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AVG() – Average a column’s numeric value</a:t>
            </a: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sp>
        <p:nvSpPr>
          <p:cNvPr id="18" name="Rounded Rectangle 17">
            <a:extLst>
              <a:ext uri="{FF2B5EF4-FFF2-40B4-BE49-F238E27FC236}">
                <a16:creationId xmlns:a16="http://schemas.microsoft.com/office/drawing/2014/main" id="{3B5053B0-D091-36E1-F6AD-91CB67F63290}"/>
              </a:ext>
            </a:extLst>
          </p:cNvPr>
          <p:cNvSpPr/>
          <p:nvPr/>
        </p:nvSpPr>
        <p:spPr bwMode="auto">
          <a:xfrm>
            <a:off x="1371600" y="3968750"/>
            <a:ext cx="6408738" cy="1116013"/>
          </a:xfrm>
          <a:prstGeom prst="roundRect">
            <a:avLst/>
          </a:prstGeom>
          <a:solidFill>
            <a:schemeClr val="accent6">
              <a:alpha val="30000"/>
            </a:schemeClr>
          </a:solidFill>
          <a:ln w="9525" cap="flat" cmpd="sng" algn="ctr">
            <a:solidFill>
              <a:schemeClr val="accent6"/>
            </a:solidFill>
            <a:prstDash val="solid"/>
            <a:round/>
            <a:headEnd type="none" w="med" len="med"/>
            <a:tailEnd type="none" w="med" len="med"/>
          </a:ln>
          <a:effectLst/>
        </p:spPr>
        <p:txBody>
          <a:bodyPr anchor="ctr" anchorCtr="1"/>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2800" b="0"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SELECT AVG(Quantity) AS Average FROM Book;</a:t>
            </a:r>
          </a:p>
        </p:txBody>
      </p:sp>
      <p:sp>
        <p:nvSpPr>
          <p:cNvPr id="21" name="TextBox 20">
            <a:extLst>
              <a:ext uri="{FF2B5EF4-FFF2-40B4-BE49-F238E27FC236}">
                <a16:creationId xmlns:a16="http://schemas.microsoft.com/office/drawing/2014/main" id="{A985536C-BB9B-9C82-F20D-5BE0AD57DF7B}"/>
              </a:ext>
            </a:extLst>
          </p:cNvPr>
          <p:cNvSpPr txBox="1">
            <a:spLocks noChangeArrowheads="1"/>
          </p:cNvSpPr>
          <p:nvPr/>
        </p:nvSpPr>
        <p:spPr bwMode="auto">
          <a:xfrm>
            <a:off x="3570288" y="3540125"/>
            <a:ext cx="20161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Book table</a:t>
            </a:r>
          </a:p>
        </p:txBody>
      </p:sp>
      <p:sp>
        <p:nvSpPr>
          <p:cNvPr id="22" name="Snip Single Corner Rectangle 21">
            <a:extLst>
              <a:ext uri="{FF2B5EF4-FFF2-40B4-BE49-F238E27FC236}">
                <a16:creationId xmlns:a16="http://schemas.microsoft.com/office/drawing/2014/main" id="{E8EC750B-0007-C950-E389-40DF982C2EA7}"/>
              </a:ext>
            </a:extLst>
          </p:cNvPr>
          <p:cNvSpPr/>
          <p:nvPr/>
        </p:nvSpPr>
        <p:spPr bwMode="auto">
          <a:xfrm>
            <a:off x="227013" y="5300663"/>
            <a:ext cx="1092200" cy="431800"/>
          </a:xfrm>
          <a:prstGeom prst="snip1Rect">
            <a:avLst/>
          </a:prstGeom>
          <a:solidFill>
            <a:srgbClr val="FFFF00">
              <a:alpha val="30000"/>
            </a:srgbClr>
          </a:solidFill>
          <a:ln w="9525" cap="flat" cmpd="sng" algn="ctr">
            <a:solidFill>
              <a:srgbClr val="FFC000"/>
            </a:solidFill>
            <a:prstDash val="solid"/>
            <a:round/>
            <a:headEnd type="none" w="med" len="med"/>
            <a:tailEnd type="none" w="med" len="me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sz="2000" b="1"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Result:</a:t>
            </a:r>
          </a:p>
        </p:txBody>
      </p:sp>
      <p:sp>
        <p:nvSpPr>
          <p:cNvPr id="23" name="Snip Single Corner Rectangle 22">
            <a:extLst>
              <a:ext uri="{FF2B5EF4-FFF2-40B4-BE49-F238E27FC236}">
                <a16:creationId xmlns:a16="http://schemas.microsoft.com/office/drawing/2014/main" id="{4AF6CCE6-2551-E0A6-8F77-B0CBA2ECEC3E}"/>
              </a:ext>
            </a:extLst>
          </p:cNvPr>
          <p:cNvSpPr/>
          <p:nvPr/>
        </p:nvSpPr>
        <p:spPr bwMode="auto">
          <a:xfrm>
            <a:off x="250825" y="3978275"/>
            <a:ext cx="830263" cy="431800"/>
          </a:xfrm>
          <a:prstGeom prst="snip1Rect">
            <a:avLst/>
          </a:prstGeom>
          <a:solidFill>
            <a:srgbClr val="FFFF00">
              <a:alpha val="30000"/>
            </a:srgbClr>
          </a:solidFill>
          <a:ln w="9525" cap="flat" cmpd="sng" algn="ctr">
            <a:solidFill>
              <a:srgbClr val="FFC000"/>
            </a:solidFill>
            <a:prstDash val="solid"/>
            <a:round/>
            <a:headEnd type="none" w="med" len="med"/>
            <a:tailEnd type="none" w="med" len="med"/>
          </a:ln>
          <a:effec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2000" b="1"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Run:</a:t>
            </a:r>
          </a:p>
        </p:txBody>
      </p:sp>
      <p:graphicFrame>
        <p:nvGraphicFramePr>
          <p:cNvPr id="14" name="Table 13">
            <a:extLst>
              <a:ext uri="{FF2B5EF4-FFF2-40B4-BE49-F238E27FC236}">
                <a16:creationId xmlns:a16="http://schemas.microsoft.com/office/drawing/2014/main" id="{C94F530A-53ED-2995-36C8-D3CC263A3D49}"/>
              </a:ext>
            </a:extLst>
          </p:cNvPr>
          <p:cNvGraphicFramePr>
            <a:graphicFrameLocks noGrp="1"/>
          </p:cNvGraphicFramePr>
          <p:nvPr/>
        </p:nvGraphicFramePr>
        <p:xfrm>
          <a:off x="1530350" y="2425700"/>
          <a:ext cx="6096000" cy="1111250"/>
        </p:xfrm>
        <a:graphic>
          <a:graphicData uri="http://schemas.openxmlformats.org/drawingml/2006/table">
            <a:tbl>
              <a:tblPr firstRow="1" bandRow="1">
                <a:tableStyleId>{D27102A9-8310-4765-A935-A1911B00CA55}</a:tableStyleId>
              </a:tblPr>
              <a:tblGrid>
                <a:gridCol w="1463824">
                  <a:extLst>
                    <a:ext uri="{9D8B030D-6E8A-4147-A177-3AD203B41FA5}">
                      <a16:colId xmlns:a16="http://schemas.microsoft.com/office/drawing/2014/main" val="20000"/>
                    </a:ext>
                  </a:extLst>
                </a:gridCol>
                <a:gridCol w="2736304">
                  <a:extLst>
                    <a:ext uri="{9D8B030D-6E8A-4147-A177-3AD203B41FA5}">
                      <a16:colId xmlns:a16="http://schemas.microsoft.com/office/drawing/2014/main" val="20001"/>
                    </a:ext>
                  </a:extLst>
                </a:gridCol>
                <a:gridCol w="1895872">
                  <a:extLst>
                    <a:ext uri="{9D8B030D-6E8A-4147-A177-3AD203B41FA5}">
                      <a16:colId xmlns:a16="http://schemas.microsoft.com/office/drawing/2014/main" val="20002"/>
                    </a:ext>
                  </a:extLst>
                </a:gridCol>
              </a:tblGrid>
              <a:tr h="370417">
                <a:tc>
                  <a:txBody>
                    <a:bodyPr/>
                    <a:lstStyle/>
                    <a:p>
                      <a:pPr algn="ctr"/>
                      <a:r>
                        <a:rPr lang="en-CA" sz="1800" dirty="0"/>
                        <a:t>ISBN</a:t>
                      </a:r>
                    </a:p>
                  </a:txBody>
                  <a:tcPr marT="45668" marB="45668"/>
                </a:tc>
                <a:tc>
                  <a:txBody>
                    <a:bodyPr/>
                    <a:lstStyle/>
                    <a:p>
                      <a:pPr algn="ctr"/>
                      <a:r>
                        <a:rPr lang="en-CA" sz="1800" dirty="0"/>
                        <a:t>Title</a:t>
                      </a:r>
                    </a:p>
                  </a:txBody>
                  <a:tcPr marT="45668" marB="45668"/>
                </a:tc>
                <a:tc>
                  <a:txBody>
                    <a:bodyPr/>
                    <a:lstStyle/>
                    <a:p>
                      <a:pPr algn="ctr"/>
                      <a:r>
                        <a:rPr lang="en-CA" sz="1800" dirty="0"/>
                        <a:t>Quantity</a:t>
                      </a:r>
                    </a:p>
                  </a:txBody>
                  <a:tcPr marT="45668" marB="45668"/>
                </a:tc>
                <a:extLst>
                  <a:ext uri="{0D108BD9-81ED-4DB2-BD59-A6C34878D82A}">
                    <a16:rowId xmlns:a16="http://schemas.microsoft.com/office/drawing/2014/main" val="10000"/>
                  </a:ext>
                </a:extLst>
              </a:tr>
              <a:tr h="370417">
                <a:tc>
                  <a:txBody>
                    <a:bodyPr/>
                    <a:lstStyle/>
                    <a:p>
                      <a:pPr algn="ctr"/>
                      <a:r>
                        <a:rPr lang="en-CA" sz="1800" dirty="0"/>
                        <a:t>12345</a:t>
                      </a:r>
                    </a:p>
                  </a:txBody>
                  <a:tcPr marT="45668" marB="45668"/>
                </a:tc>
                <a:tc>
                  <a:txBody>
                    <a:bodyPr/>
                    <a:lstStyle/>
                    <a:p>
                      <a:pPr algn="ctr"/>
                      <a:r>
                        <a:rPr lang="en-CA" sz="1800" dirty="0"/>
                        <a:t>The Hunger</a:t>
                      </a:r>
                      <a:r>
                        <a:rPr lang="en-CA" sz="1800" baseline="0" dirty="0"/>
                        <a:t> Game</a:t>
                      </a:r>
                      <a:endParaRPr lang="en-CA" sz="1800" dirty="0"/>
                    </a:p>
                  </a:txBody>
                  <a:tcPr marT="45668" marB="45668"/>
                </a:tc>
                <a:tc>
                  <a:txBody>
                    <a:bodyPr/>
                    <a:lstStyle/>
                    <a:p>
                      <a:pPr algn="ctr"/>
                      <a:r>
                        <a:rPr lang="en-CA" sz="1800" dirty="0"/>
                        <a:t>10</a:t>
                      </a:r>
                    </a:p>
                  </a:txBody>
                  <a:tcPr marT="45668" marB="45668"/>
                </a:tc>
                <a:extLst>
                  <a:ext uri="{0D108BD9-81ED-4DB2-BD59-A6C34878D82A}">
                    <a16:rowId xmlns:a16="http://schemas.microsoft.com/office/drawing/2014/main" val="10001"/>
                  </a:ext>
                </a:extLst>
              </a:tr>
              <a:tr h="370417">
                <a:tc>
                  <a:txBody>
                    <a:bodyPr/>
                    <a:lstStyle/>
                    <a:p>
                      <a:pPr algn="ctr"/>
                      <a:r>
                        <a:rPr lang="en-CA" sz="1800" dirty="0"/>
                        <a:t>54321</a:t>
                      </a:r>
                    </a:p>
                  </a:txBody>
                  <a:tcPr marT="45668" marB="45668"/>
                </a:tc>
                <a:tc>
                  <a:txBody>
                    <a:bodyPr/>
                    <a:lstStyle/>
                    <a:p>
                      <a:pPr algn="ctr"/>
                      <a:r>
                        <a:rPr lang="en-CA" sz="1800" dirty="0"/>
                        <a:t>A Song of Ice and Fire</a:t>
                      </a:r>
                    </a:p>
                  </a:txBody>
                  <a:tcPr marT="45668" marB="45668"/>
                </a:tc>
                <a:tc>
                  <a:txBody>
                    <a:bodyPr/>
                    <a:lstStyle/>
                    <a:p>
                      <a:pPr algn="ctr"/>
                      <a:r>
                        <a:rPr lang="en-CA" sz="1800" dirty="0"/>
                        <a:t>15</a:t>
                      </a:r>
                    </a:p>
                  </a:txBody>
                  <a:tcPr marT="45668" marB="45668"/>
                </a:tc>
                <a:extLst>
                  <a:ext uri="{0D108BD9-81ED-4DB2-BD59-A6C34878D82A}">
                    <a16:rowId xmlns:a16="http://schemas.microsoft.com/office/drawing/2014/main" val="10002"/>
                  </a:ext>
                </a:extLst>
              </a:tr>
            </a:tbl>
          </a:graphicData>
        </a:graphic>
      </p:graphicFrame>
      <p:graphicFrame>
        <p:nvGraphicFramePr>
          <p:cNvPr id="24" name="Table 23">
            <a:extLst>
              <a:ext uri="{FF2B5EF4-FFF2-40B4-BE49-F238E27FC236}">
                <a16:creationId xmlns:a16="http://schemas.microsoft.com/office/drawing/2014/main" id="{CF4B549F-8D7E-D34B-12BE-87E5FFD74312}"/>
              </a:ext>
            </a:extLst>
          </p:cNvPr>
          <p:cNvGraphicFramePr>
            <a:graphicFrameLocks noGrp="1"/>
          </p:cNvGraphicFramePr>
          <p:nvPr/>
        </p:nvGraphicFramePr>
        <p:xfrm>
          <a:off x="1631950" y="5318125"/>
          <a:ext cx="1731963" cy="736600"/>
        </p:xfrm>
        <a:graphic>
          <a:graphicData uri="http://schemas.openxmlformats.org/drawingml/2006/table">
            <a:tbl>
              <a:tblPr firstRow="1" bandRow="1">
                <a:tableStyleId>{C083E6E3-FA7D-4D7B-A595-EF9225AFEA82}</a:tableStyleId>
              </a:tblPr>
              <a:tblGrid>
                <a:gridCol w="1731963">
                  <a:extLst>
                    <a:ext uri="{9D8B030D-6E8A-4147-A177-3AD203B41FA5}">
                      <a16:colId xmlns:a16="http://schemas.microsoft.com/office/drawing/2014/main" val="20000"/>
                    </a:ext>
                  </a:extLst>
                </a:gridCol>
              </a:tblGrid>
              <a:tr h="0">
                <a:tc>
                  <a:txBody>
                    <a:bodyPr/>
                    <a:lstStyle/>
                    <a:p>
                      <a:pPr algn="ctr"/>
                      <a:r>
                        <a:rPr lang="en-CA" dirty="0"/>
                        <a:t>Average</a:t>
                      </a:r>
                    </a:p>
                  </a:txBody>
                  <a:tcPr marL="91403" marR="91403"/>
                </a:tc>
                <a:extLst>
                  <a:ext uri="{0D108BD9-81ED-4DB2-BD59-A6C34878D82A}">
                    <a16:rowId xmlns:a16="http://schemas.microsoft.com/office/drawing/2014/main" val="10000"/>
                  </a:ext>
                </a:extLst>
              </a:tr>
              <a:tr h="370840">
                <a:tc>
                  <a:txBody>
                    <a:bodyPr/>
                    <a:lstStyle/>
                    <a:p>
                      <a:pPr algn="ctr"/>
                      <a:r>
                        <a:rPr lang="en-CA" dirty="0"/>
                        <a:t>12.5000</a:t>
                      </a:r>
                    </a:p>
                  </a:txBody>
                  <a:tcPr marL="91403" marR="91403"/>
                </a:tc>
                <a:extLst>
                  <a:ext uri="{0D108BD9-81ED-4DB2-BD59-A6C34878D82A}">
                    <a16:rowId xmlns:a16="http://schemas.microsoft.com/office/drawing/2014/main" val="10001"/>
                  </a:ext>
                </a:extLst>
              </a:tr>
            </a:tbl>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7">
                                            <p:txEl>
                                              <p:pRg st="0" end="0"/>
                                            </p:txEl>
                                          </p:spTgt>
                                        </p:tgtEl>
                                        <p:attrNameLst>
                                          <p:attrName>style.visibility</p:attrName>
                                        </p:attrNameLst>
                                      </p:cBhvr>
                                      <p:to>
                                        <p:strVal val="visible"/>
                                      </p:to>
                                    </p:set>
                                    <p:animEffect transition="in" filter="wipe(left)">
                                      <p:cBhvr>
                                        <p:cTn id="11" dur="500"/>
                                        <p:tgtEl>
                                          <p:spTgt spid="17">
                                            <p:txEl>
                                              <p:pRg st="0" end="0"/>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6" presetClass="entr" presetSubtype="21" fill="hold" nodeType="click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barn(inVertical)">
                                      <p:cBhvr>
                                        <p:cTn id="16" dur="500"/>
                                        <p:tgtEl>
                                          <p:spTgt spid="14"/>
                                        </p:tgtEl>
                                      </p:cBhvr>
                                    </p:animEffect>
                                  </p:childTnLst>
                                </p:cTn>
                              </p:par>
                            </p:childTnLst>
                          </p:cTn>
                        </p:par>
                        <p:par>
                          <p:cTn id="17" fill="hold" nodeType="afterGroup">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21"/>
                                        </p:tgtEl>
                                        <p:attrNameLst>
                                          <p:attrName>style.visibility</p:attrName>
                                        </p:attrNameLst>
                                      </p:cBhvr>
                                      <p:to>
                                        <p:strVal val="visible"/>
                                      </p:to>
                                    </p:set>
                                    <p:animEffect transition="in" filter="wipe(left)">
                                      <p:cBhvr>
                                        <p:cTn id="20" dur="500"/>
                                        <p:tgtEl>
                                          <p:spTgt spid="21"/>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1" fill="hold" grpId="0" nodeType="clickEffect">
                                  <p:stCondLst>
                                    <p:cond delay="0"/>
                                  </p:stCondLst>
                                  <p:childTnLst>
                                    <p:set>
                                      <p:cBhvr>
                                        <p:cTn id="24" dur="1" fill="hold">
                                          <p:stCondLst>
                                            <p:cond delay="0"/>
                                          </p:stCondLst>
                                        </p:cTn>
                                        <p:tgtEl>
                                          <p:spTgt spid="23"/>
                                        </p:tgtEl>
                                        <p:attrNameLst>
                                          <p:attrName>style.visibility</p:attrName>
                                        </p:attrNameLst>
                                      </p:cBhvr>
                                      <p:to>
                                        <p:strVal val="visible"/>
                                      </p:to>
                                    </p:set>
                                    <p:animEffect transition="in" filter="wipe(up)">
                                      <p:cBhvr>
                                        <p:cTn id="25" dur="500"/>
                                        <p:tgtEl>
                                          <p:spTgt spid="23"/>
                                        </p:tgtEl>
                                      </p:cBhvr>
                                    </p:animEffect>
                                  </p:childTnLst>
                                </p:cTn>
                              </p:par>
                            </p:childTnLst>
                          </p:cTn>
                        </p:par>
                        <p:par>
                          <p:cTn id="26" fill="hold" nodeType="afterGroup">
                            <p:stCondLst>
                              <p:cond delay="500"/>
                            </p:stCondLst>
                            <p:childTnLst>
                              <p:par>
                                <p:cTn id="27" presetID="22" presetClass="entr" presetSubtype="8" fill="hold" nodeType="afterEffect">
                                  <p:stCondLst>
                                    <p:cond delay="0"/>
                                  </p:stCondLst>
                                  <p:childTnLst>
                                    <p:set>
                                      <p:cBhvr>
                                        <p:cTn id="28" dur="1" fill="hold">
                                          <p:stCondLst>
                                            <p:cond delay="0"/>
                                          </p:stCondLst>
                                        </p:cTn>
                                        <p:tgtEl>
                                          <p:spTgt spid="23">
                                            <p:txEl>
                                              <p:pRg st="0" end="0"/>
                                            </p:txEl>
                                          </p:spTgt>
                                        </p:tgtEl>
                                        <p:attrNameLst>
                                          <p:attrName>style.visibility</p:attrName>
                                        </p:attrNameLst>
                                      </p:cBhvr>
                                      <p:to>
                                        <p:strVal val="visible"/>
                                      </p:to>
                                    </p:set>
                                    <p:animEffect transition="in" filter="wipe(left)">
                                      <p:cBhvr>
                                        <p:cTn id="29" dur="500"/>
                                        <p:tgtEl>
                                          <p:spTgt spid="23">
                                            <p:txEl>
                                              <p:pRg st="0" end="0"/>
                                            </p:txEl>
                                          </p:spTgt>
                                        </p:tgtEl>
                                      </p:cBhvr>
                                    </p:animEffect>
                                  </p:childTnLst>
                                </p:cTn>
                              </p:par>
                            </p:childTnLst>
                          </p:cTn>
                        </p:par>
                        <p:par>
                          <p:cTn id="30" fill="hold" nodeType="afterGroup">
                            <p:stCondLst>
                              <p:cond delay="1000"/>
                            </p:stCondLst>
                            <p:childTnLst>
                              <p:par>
                                <p:cTn id="31" presetID="16" presetClass="entr" presetSubtype="21" fill="hold" grpId="0" nodeType="after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barn(inVertical)">
                                      <p:cBhvr>
                                        <p:cTn id="33" dur="500"/>
                                        <p:tgtEl>
                                          <p:spTgt spid="18"/>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1" fill="hold" grpId="0" nodeType="clickEffect">
                                  <p:stCondLst>
                                    <p:cond delay="0"/>
                                  </p:stCondLst>
                                  <p:childTnLst>
                                    <p:set>
                                      <p:cBhvr>
                                        <p:cTn id="37" dur="1" fill="hold">
                                          <p:stCondLst>
                                            <p:cond delay="0"/>
                                          </p:stCondLst>
                                        </p:cTn>
                                        <p:tgtEl>
                                          <p:spTgt spid="22"/>
                                        </p:tgtEl>
                                        <p:attrNameLst>
                                          <p:attrName>style.visibility</p:attrName>
                                        </p:attrNameLst>
                                      </p:cBhvr>
                                      <p:to>
                                        <p:strVal val="visible"/>
                                      </p:to>
                                    </p:set>
                                    <p:animEffect transition="in" filter="wipe(up)">
                                      <p:cBhvr>
                                        <p:cTn id="38" dur="500"/>
                                        <p:tgtEl>
                                          <p:spTgt spid="22"/>
                                        </p:tgtEl>
                                      </p:cBhvr>
                                    </p:animEffect>
                                  </p:childTnLst>
                                </p:cTn>
                              </p:par>
                            </p:childTnLst>
                          </p:cTn>
                        </p:par>
                        <p:par>
                          <p:cTn id="39" fill="hold" nodeType="afterGroup">
                            <p:stCondLst>
                              <p:cond delay="500"/>
                            </p:stCondLst>
                            <p:childTnLst>
                              <p:par>
                                <p:cTn id="40" presetID="22" presetClass="entr" presetSubtype="8" fill="hold" nodeType="afterEffect">
                                  <p:stCondLst>
                                    <p:cond delay="0"/>
                                  </p:stCondLst>
                                  <p:childTnLst>
                                    <p:set>
                                      <p:cBhvr>
                                        <p:cTn id="41" dur="1" fill="hold">
                                          <p:stCondLst>
                                            <p:cond delay="0"/>
                                          </p:stCondLst>
                                        </p:cTn>
                                        <p:tgtEl>
                                          <p:spTgt spid="22">
                                            <p:txEl>
                                              <p:pRg st="0" end="0"/>
                                            </p:txEl>
                                          </p:spTgt>
                                        </p:tgtEl>
                                        <p:attrNameLst>
                                          <p:attrName>style.visibility</p:attrName>
                                        </p:attrNameLst>
                                      </p:cBhvr>
                                      <p:to>
                                        <p:strVal val="visible"/>
                                      </p:to>
                                    </p:set>
                                    <p:animEffect transition="in" filter="wipe(left)">
                                      <p:cBhvr>
                                        <p:cTn id="42" dur="500"/>
                                        <p:tgtEl>
                                          <p:spTgt spid="22">
                                            <p:txEl>
                                              <p:pRg st="0" end="0"/>
                                            </p:txEl>
                                          </p:spTgt>
                                        </p:tgtEl>
                                      </p:cBhvr>
                                    </p:animEffect>
                                  </p:childTnLst>
                                </p:cTn>
                              </p:par>
                            </p:childTnLst>
                          </p:cTn>
                        </p:par>
                        <p:par>
                          <p:cTn id="43" fill="hold" nodeType="afterGroup">
                            <p:stCondLst>
                              <p:cond delay="1000"/>
                            </p:stCondLst>
                            <p:childTnLst>
                              <p:par>
                                <p:cTn id="44" presetID="22" presetClass="entr" presetSubtype="8" fill="hold" nodeType="afterEffect">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wipe(left)">
                                      <p:cBhvr>
                                        <p:cTn id="46"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build="p"/>
      <p:bldP spid="18" grpId="0" animBg="1"/>
      <p:bldP spid="21" grpId="0"/>
      <p:bldP spid="22" grpId="0" animBg="1"/>
      <p:bldP spid="23" grpId="0" animBg="1"/>
    </p:bldLst>
  </p:timing>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F32E7F-5666-0D0E-C0DF-A966AF969F51}"/>
              </a:ext>
            </a:extLst>
          </p:cNvPr>
          <p:cNvSpPr>
            <a:spLocks noGrp="1"/>
          </p:cNvSpPr>
          <p:nvPr>
            <p:ph type="title"/>
          </p:nvPr>
        </p:nvSpPr>
        <p:spPr>
          <a:xfrm>
            <a:off x="457200" y="0"/>
            <a:ext cx="7620000" cy="1143000"/>
          </a:xfrm>
        </p:spPr>
        <p:txBody>
          <a:bodyPr/>
          <a:lstStyle/>
          <a:p>
            <a:pPr algn="ctr">
              <a:defRPr/>
            </a:pPr>
            <a:r>
              <a:rPr lang="en-US" dirty="0"/>
              <a:t>Aggregate Functions</a:t>
            </a:r>
            <a:endParaRPr lang="en-MY" dirty="0"/>
          </a:p>
        </p:txBody>
      </p:sp>
      <p:sp>
        <p:nvSpPr>
          <p:cNvPr id="16" name="Snip Single Corner Rectangle 15">
            <a:extLst>
              <a:ext uri="{FF2B5EF4-FFF2-40B4-BE49-F238E27FC236}">
                <a16:creationId xmlns:a16="http://schemas.microsoft.com/office/drawing/2014/main" id="{815CA025-44F6-C81C-6EF3-0AFC798C196C}"/>
              </a:ext>
            </a:extLst>
          </p:cNvPr>
          <p:cNvSpPr/>
          <p:nvPr/>
        </p:nvSpPr>
        <p:spPr>
          <a:xfrm>
            <a:off x="-36513" y="1125538"/>
            <a:ext cx="936626" cy="400050"/>
          </a:xfrm>
          <a:prstGeom prst="snip1Rect">
            <a:avLst/>
          </a:prstGeom>
          <a:solidFill>
            <a:schemeClr val="tx2"/>
          </a:solidFill>
          <a:ln>
            <a:solidFill>
              <a:schemeClr val="tx2"/>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marR="0" lvl="0" indent="-342900" algn="just" defTabSz="914400" rtl="0" eaLnBrk="1" fontAlgn="base" latinLnBrk="0" hangingPunct="1">
              <a:lnSpc>
                <a:spcPct val="100000"/>
              </a:lnSpc>
              <a:spcBef>
                <a:spcPct val="20000"/>
              </a:spcBef>
              <a:spcAft>
                <a:spcPct val="0"/>
              </a:spcAft>
              <a:buClr>
                <a:srgbClr val="FF6600"/>
              </a:buClr>
              <a:buSzPct val="100000"/>
              <a:buFontTx/>
              <a:buNone/>
              <a:tabLst/>
              <a:defRPr/>
            </a:pPr>
            <a:r>
              <a:rPr kumimoji="0" lang="en-GB" sz="1800" b="0" i="0" u="none" strike="noStrike" kern="0" cap="none" spc="0" normalizeH="0" baseline="0" noProof="0" dirty="0">
                <a:ln>
                  <a:noFill/>
                </a:ln>
                <a:solidFill>
                  <a:srgbClr val="FFFFFF"/>
                </a:solidFill>
                <a:effectLst/>
                <a:uLnTx/>
                <a:uFillTx/>
                <a:latin typeface="Calibri"/>
                <a:ea typeface="+mn-ea"/>
                <a:cs typeface="+mn-cs"/>
              </a:rPr>
              <a:t>MAX()</a:t>
            </a:r>
          </a:p>
        </p:txBody>
      </p:sp>
      <p:sp>
        <p:nvSpPr>
          <p:cNvPr id="17" name="Content Placeholder 2">
            <a:extLst>
              <a:ext uri="{FF2B5EF4-FFF2-40B4-BE49-F238E27FC236}">
                <a16:creationId xmlns:a16="http://schemas.microsoft.com/office/drawing/2014/main" id="{64967FBB-644E-ADB4-EADB-87CC1D7E9CF3}"/>
              </a:ext>
            </a:extLst>
          </p:cNvPr>
          <p:cNvSpPr txBox="1">
            <a:spLocks/>
          </p:cNvSpPr>
          <p:nvPr/>
        </p:nvSpPr>
        <p:spPr bwMode="auto">
          <a:xfrm>
            <a:off x="250825" y="1773238"/>
            <a:ext cx="8655050"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MAX() – Returns the largest value in a column</a:t>
            </a: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sp>
        <p:nvSpPr>
          <p:cNvPr id="18" name="Rounded Rectangle 17">
            <a:extLst>
              <a:ext uri="{FF2B5EF4-FFF2-40B4-BE49-F238E27FC236}">
                <a16:creationId xmlns:a16="http://schemas.microsoft.com/office/drawing/2014/main" id="{EB07C35E-E47C-431A-B798-0992F1806EAC}"/>
              </a:ext>
            </a:extLst>
          </p:cNvPr>
          <p:cNvSpPr/>
          <p:nvPr/>
        </p:nvSpPr>
        <p:spPr bwMode="auto">
          <a:xfrm>
            <a:off x="1363663" y="3968750"/>
            <a:ext cx="6408737" cy="1116013"/>
          </a:xfrm>
          <a:prstGeom prst="roundRect">
            <a:avLst/>
          </a:prstGeom>
          <a:solidFill>
            <a:schemeClr val="accent6">
              <a:alpha val="30000"/>
            </a:schemeClr>
          </a:solidFill>
          <a:ln w="9525" cap="flat" cmpd="sng" algn="ctr">
            <a:solidFill>
              <a:schemeClr val="accent6"/>
            </a:solidFill>
            <a:prstDash val="solid"/>
            <a:round/>
            <a:headEnd type="none" w="med" len="med"/>
            <a:tailEnd type="none" w="med" len="med"/>
          </a:ln>
          <a:effectLst/>
        </p:spPr>
        <p:txBody>
          <a:bodyPr anchor="ctr" anchorCtr="1"/>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2800" b="0"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SELECT MAX(Quantity) AS Maximum FROM Book;</a:t>
            </a:r>
          </a:p>
        </p:txBody>
      </p:sp>
      <p:sp>
        <p:nvSpPr>
          <p:cNvPr id="21" name="TextBox 20">
            <a:extLst>
              <a:ext uri="{FF2B5EF4-FFF2-40B4-BE49-F238E27FC236}">
                <a16:creationId xmlns:a16="http://schemas.microsoft.com/office/drawing/2014/main" id="{DEF32A8E-917B-5526-3D46-16997004E67C}"/>
              </a:ext>
            </a:extLst>
          </p:cNvPr>
          <p:cNvSpPr txBox="1">
            <a:spLocks noChangeArrowheads="1"/>
          </p:cNvSpPr>
          <p:nvPr/>
        </p:nvSpPr>
        <p:spPr bwMode="auto">
          <a:xfrm>
            <a:off x="3570288" y="3540125"/>
            <a:ext cx="20161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Book table</a:t>
            </a:r>
          </a:p>
        </p:txBody>
      </p:sp>
      <p:sp>
        <p:nvSpPr>
          <p:cNvPr id="22" name="Snip Single Corner Rectangle 21">
            <a:extLst>
              <a:ext uri="{FF2B5EF4-FFF2-40B4-BE49-F238E27FC236}">
                <a16:creationId xmlns:a16="http://schemas.microsoft.com/office/drawing/2014/main" id="{4B92752E-58F4-2E27-71A2-714E552E276B}"/>
              </a:ext>
            </a:extLst>
          </p:cNvPr>
          <p:cNvSpPr/>
          <p:nvPr/>
        </p:nvSpPr>
        <p:spPr bwMode="auto">
          <a:xfrm>
            <a:off x="227013" y="5300663"/>
            <a:ext cx="1092200" cy="431800"/>
          </a:xfrm>
          <a:prstGeom prst="snip1Rect">
            <a:avLst/>
          </a:prstGeom>
          <a:solidFill>
            <a:srgbClr val="FFFF00">
              <a:alpha val="30000"/>
            </a:srgbClr>
          </a:solidFill>
          <a:ln w="9525" cap="flat" cmpd="sng" algn="ctr">
            <a:solidFill>
              <a:srgbClr val="FFC000"/>
            </a:solidFill>
            <a:prstDash val="solid"/>
            <a:round/>
            <a:headEnd type="none" w="med" len="med"/>
            <a:tailEnd type="none" w="med" len="me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sz="2000" b="1"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Result:</a:t>
            </a:r>
          </a:p>
        </p:txBody>
      </p:sp>
      <p:sp>
        <p:nvSpPr>
          <p:cNvPr id="23" name="Snip Single Corner Rectangle 22">
            <a:extLst>
              <a:ext uri="{FF2B5EF4-FFF2-40B4-BE49-F238E27FC236}">
                <a16:creationId xmlns:a16="http://schemas.microsoft.com/office/drawing/2014/main" id="{8989A2C6-07B5-8E6A-538C-AD5731D46C7F}"/>
              </a:ext>
            </a:extLst>
          </p:cNvPr>
          <p:cNvSpPr/>
          <p:nvPr/>
        </p:nvSpPr>
        <p:spPr bwMode="auto">
          <a:xfrm>
            <a:off x="250825" y="3978275"/>
            <a:ext cx="830263" cy="431800"/>
          </a:xfrm>
          <a:prstGeom prst="snip1Rect">
            <a:avLst/>
          </a:prstGeom>
          <a:solidFill>
            <a:srgbClr val="FFFF00">
              <a:alpha val="30000"/>
            </a:srgbClr>
          </a:solidFill>
          <a:ln w="9525" cap="flat" cmpd="sng" algn="ctr">
            <a:solidFill>
              <a:srgbClr val="FFC000"/>
            </a:solidFill>
            <a:prstDash val="solid"/>
            <a:round/>
            <a:headEnd type="none" w="med" len="med"/>
            <a:tailEnd type="none" w="med" len="med"/>
          </a:ln>
          <a:effec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2000" b="1"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Run:</a:t>
            </a:r>
          </a:p>
        </p:txBody>
      </p:sp>
      <p:graphicFrame>
        <p:nvGraphicFramePr>
          <p:cNvPr id="14" name="Table 13">
            <a:extLst>
              <a:ext uri="{FF2B5EF4-FFF2-40B4-BE49-F238E27FC236}">
                <a16:creationId xmlns:a16="http://schemas.microsoft.com/office/drawing/2014/main" id="{5975D4A2-6BEF-4193-782A-486ACA726C42}"/>
              </a:ext>
            </a:extLst>
          </p:cNvPr>
          <p:cNvGraphicFramePr>
            <a:graphicFrameLocks noGrp="1"/>
          </p:cNvGraphicFramePr>
          <p:nvPr/>
        </p:nvGraphicFramePr>
        <p:xfrm>
          <a:off x="1530350" y="2425700"/>
          <a:ext cx="6096000" cy="1111250"/>
        </p:xfrm>
        <a:graphic>
          <a:graphicData uri="http://schemas.openxmlformats.org/drawingml/2006/table">
            <a:tbl>
              <a:tblPr firstRow="1" bandRow="1">
                <a:tableStyleId>{D27102A9-8310-4765-A935-A1911B00CA55}</a:tableStyleId>
              </a:tblPr>
              <a:tblGrid>
                <a:gridCol w="1463824">
                  <a:extLst>
                    <a:ext uri="{9D8B030D-6E8A-4147-A177-3AD203B41FA5}">
                      <a16:colId xmlns:a16="http://schemas.microsoft.com/office/drawing/2014/main" val="20000"/>
                    </a:ext>
                  </a:extLst>
                </a:gridCol>
                <a:gridCol w="2736304">
                  <a:extLst>
                    <a:ext uri="{9D8B030D-6E8A-4147-A177-3AD203B41FA5}">
                      <a16:colId xmlns:a16="http://schemas.microsoft.com/office/drawing/2014/main" val="20001"/>
                    </a:ext>
                  </a:extLst>
                </a:gridCol>
                <a:gridCol w="1895872">
                  <a:extLst>
                    <a:ext uri="{9D8B030D-6E8A-4147-A177-3AD203B41FA5}">
                      <a16:colId xmlns:a16="http://schemas.microsoft.com/office/drawing/2014/main" val="20002"/>
                    </a:ext>
                  </a:extLst>
                </a:gridCol>
              </a:tblGrid>
              <a:tr h="370417">
                <a:tc>
                  <a:txBody>
                    <a:bodyPr/>
                    <a:lstStyle/>
                    <a:p>
                      <a:pPr algn="ctr"/>
                      <a:r>
                        <a:rPr lang="en-CA" sz="1800" dirty="0"/>
                        <a:t>ISBN</a:t>
                      </a:r>
                    </a:p>
                  </a:txBody>
                  <a:tcPr marT="45668" marB="45668"/>
                </a:tc>
                <a:tc>
                  <a:txBody>
                    <a:bodyPr/>
                    <a:lstStyle/>
                    <a:p>
                      <a:pPr algn="ctr"/>
                      <a:r>
                        <a:rPr lang="en-CA" sz="1800" dirty="0"/>
                        <a:t>Title</a:t>
                      </a:r>
                    </a:p>
                  </a:txBody>
                  <a:tcPr marT="45668" marB="45668"/>
                </a:tc>
                <a:tc>
                  <a:txBody>
                    <a:bodyPr/>
                    <a:lstStyle/>
                    <a:p>
                      <a:pPr algn="ctr"/>
                      <a:r>
                        <a:rPr lang="en-CA" sz="1800" dirty="0"/>
                        <a:t>Quantity</a:t>
                      </a:r>
                    </a:p>
                  </a:txBody>
                  <a:tcPr marT="45668" marB="45668"/>
                </a:tc>
                <a:extLst>
                  <a:ext uri="{0D108BD9-81ED-4DB2-BD59-A6C34878D82A}">
                    <a16:rowId xmlns:a16="http://schemas.microsoft.com/office/drawing/2014/main" val="10000"/>
                  </a:ext>
                </a:extLst>
              </a:tr>
              <a:tr h="370417">
                <a:tc>
                  <a:txBody>
                    <a:bodyPr/>
                    <a:lstStyle/>
                    <a:p>
                      <a:pPr algn="ctr"/>
                      <a:r>
                        <a:rPr lang="en-CA" sz="1800" dirty="0"/>
                        <a:t>12345</a:t>
                      </a:r>
                    </a:p>
                  </a:txBody>
                  <a:tcPr marT="45668" marB="45668"/>
                </a:tc>
                <a:tc>
                  <a:txBody>
                    <a:bodyPr/>
                    <a:lstStyle/>
                    <a:p>
                      <a:pPr algn="ctr"/>
                      <a:r>
                        <a:rPr lang="en-CA" sz="1800" dirty="0"/>
                        <a:t>The Hunger</a:t>
                      </a:r>
                      <a:r>
                        <a:rPr lang="en-CA" sz="1800" baseline="0" dirty="0"/>
                        <a:t> Game</a:t>
                      </a:r>
                      <a:endParaRPr lang="en-CA" sz="1800" dirty="0"/>
                    </a:p>
                  </a:txBody>
                  <a:tcPr marT="45668" marB="45668"/>
                </a:tc>
                <a:tc>
                  <a:txBody>
                    <a:bodyPr/>
                    <a:lstStyle/>
                    <a:p>
                      <a:pPr algn="ctr"/>
                      <a:r>
                        <a:rPr lang="en-CA" sz="1800" dirty="0"/>
                        <a:t>10</a:t>
                      </a:r>
                    </a:p>
                  </a:txBody>
                  <a:tcPr marT="45668" marB="45668"/>
                </a:tc>
                <a:extLst>
                  <a:ext uri="{0D108BD9-81ED-4DB2-BD59-A6C34878D82A}">
                    <a16:rowId xmlns:a16="http://schemas.microsoft.com/office/drawing/2014/main" val="10001"/>
                  </a:ext>
                </a:extLst>
              </a:tr>
              <a:tr h="370417">
                <a:tc>
                  <a:txBody>
                    <a:bodyPr/>
                    <a:lstStyle/>
                    <a:p>
                      <a:pPr algn="ctr"/>
                      <a:r>
                        <a:rPr lang="en-CA" sz="1800" dirty="0"/>
                        <a:t>54321</a:t>
                      </a:r>
                    </a:p>
                  </a:txBody>
                  <a:tcPr marT="45668" marB="45668"/>
                </a:tc>
                <a:tc>
                  <a:txBody>
                    <a:bodyPr/>
                    <a:lstStyle/>
                    <a:p>
                      <a:pPr algn="ctr"/>
                      <a:r>
                        <a:rPr lang="en-CA" sz="1800" dirty="0"/>
                        <a:t>A Song of Ice and Fire</a:t>
                      </a:r>
                    </a:p>
                  </a:txBody>
                  <a:tcPr marT="45668" marB="45668"/>
                </a:tc>
                <a:tc>
                  <a:txBody>
                    <a:bodyPr/>
                    <a:lstStyle/>
                    <a:p>
                      <a:pPr algn="ctr"/>
                      <a:r>
                        <a:rPr lang="en-CA" sz="1800" dirty="0"/>
                        <a:t>15</a:t>
                      </a:r>
                    </a:p>
                  </a:txBody>
                  <a:tcPr marT="45668" marB="45668"/>
                </a:tc>
                <a:extLst>
                  <a:ext uri="{0D108BD9-81ED-4DB2-BD59-A6C34878D82A}">
                    <a16:rowId xmlns:a16="http://schemas.microsoft.com/office/drawing/2014/main" val="10002"/>
                  </a:ext>
                </a:extLst>
              </a:tr>
            </a:tbl>
          </a:graphicData>
        </a:graphic>
      </p:graphicFrame>
      <p:graphicFrame>
        <p:nvGraphicFramePr>
          <p:cNvPr id="24" name="Table 23">
            <a:extLst>
              <a:ext uri="{FF2B5EF4-FFF2-40B4-BE49-F238E27FC236}">
                <a16:creationId xmlns:a16="http://schemas.microsoft.com/office/drawing/2014/main" id="{41EADC26-5A1D-AC3C-F0DD-5D0D1D66E9A5}"/>
              </a:ext>
            </a:extLst>
          </p:cNvPr>
          <p:cNvGraphicFramePr>
            <a:graphicFrameLocks noGrp="1"/>
          </p:cNvGraphicFramePr>
          <p:nvPr/>
        </p:nvGraphicFramePr>
        <p:xfrm>
          <a:off x="1631950" y="5318125"/>
          <a:ext cx="1731963" cy="736600"/>
        </p:xfrm>
        <a:graphic>
          <a:graphicData uri="http://schemas.openxmlformats.org/drawingml/2006/table">
            <a:tbl>
              <a:tblPr firstRow="1" bandRow="1">
                <a:tableStyleId>{C083E6E3-FA7D-4D7B-A595-EF9225AFEA82}</a:tableStyleId>
              </a:tblPr>
              <a:tblGrid>
                <a:gridCol w="1731963">
                  <a:extLst>
                    <a:ext uri="{9D8B030D-6E8A-4147-A177-3AD203B41FA5}">
                      <a16:colId xmlns:a16="http://schemas.microsoft.com/office/drawing/2014/main" val="20000"/>
                    </a:ext>
                  </a:extLst>
                </a:gridCol>
              </a:tblGrid>
              <a:tr h="0">
                <a:tc>
                  <a:txBody>
                    <a:bodyPr/>
                    <a:lstStyle/>
                    <a:p>
                      <a:pPr algn="ctr"/>
                      <a:r>
                        <a:rPr lang="en-CA" dirty="0"/>
                        <a:t>Maximum</a:t>
                      </a:r>
                    </a:p>
                  </a:txBody>
                  <a:tcPr marL="91403" marR="91403"/>
                </a:tc>
                <a:extLst>
                  <a:ext uri="{0D108BD9-81ED-4DB2-BD59-A6C34878D82A}">
                    <a16:rowId xmlns:a16="http://schemas.microsoft.com/office/drawing/2014/main" val="10000"/>
                  </a:ext>
                </a:extLst>
              </a:tr>
              <a:tr h="370840">
                <a:tc>
                  <a:txBody>
                    <a:bodyPr/>
                    <a:lstStyle/>
                    <a:p>
                      <a:pPr algn="ctr"/>
                      <a:r>
                        <a:rPr lang="en-CA" dirty="0"/>
                        <a:t>15</a:t>
                      </a:r>
                    </a:p>
                  </a:txBody>
                  <a:tcPr marL="91403" marR="91403"/>
                </a:tc>
                <a:extLst>
                  <a:ext uri="{0D108BD9-81ED-4DB2-BD59-A6C34878D82A}">
                    <a16:rowId xmlns:a16="http://schemas.microsoft.com/office/drawing/2014/main" val="10001"/>
                  </a:ext>
                </a:extLst>
              </a:tr>
            </a:tbl>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7">
                                            <p:txEl>
                                              <p:pRg st="0" end="0"/>
                                            </p:txEl>
                                          </p:spTgt>
                                        </p:tgtEl>
                                        <p:attrNameLst>
                                          <p:attrName>style.visibility</p:attrName>
                                        </p:attrNameLst>
                                      </p:cBhvr>
                                      <p:to>
                                        <p:strVal val="visible"/>
                                      </p:to>
                                    </p:set>
                                    <p:animEffect transition="in" filter="wipe(left)">
                                      <p:cBhvr>
                                        <p:cTn id="11" dur="500"/>
                                        <p:tgtEl>
                                          <p:spTgt spid="17">
                                            <p:txEl>
                                              <p:pRg st="0" end="0"/>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6" presetClass="entr" presetSubtype="21" fill="hold" nodeType="click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barn(inVertical)">
                                      <p:cBhvr>
                                        <p:cTn id="16" dur="500"/>
                                        <p:tgtEl>
                                          <p:spTgt spid="14"/>
                                        </p:tgtEl>
                                      </p:cBhvr>
                                    </p:animEffect>
                                  </p:childTnLst>
                                </p:cTn>
                              </p:par>
                            </p:childTnLst>
                          </p:cTn>
                        </p:par>
                        <p:par>
                          <p:cTn id="17" fill="hold" nodeType="afterGroup">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21"/>
                                        </p:tgtEl>
                                        <p:attrNameLst>
                                          <p:attrName>style.visibility</p:attrName>
                                        </p:attrNameLst>
                                      </p:cBhvr>
                                      <p:to>
                                        <p:strVal val="visible"/>
                                      </p:to>
                                    </p:set>
                                    <p:animEffect transition="in" filter="wipe(left)">
                                      <p:cBhvr>
                                        <p:cTn id="20" dur="500"/>
                                        <p:tgtEl>
                                          <p:spTgt spid="21"/>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1" fill="hold" grpId="0" nodeType="clickEffect">
                                  <p:stCondLst>
                                    <p:cond delay="0"/>
                                  </p:stCondLst>
                                  <p:childTnLst>
                                    <p:set>
                                      <p:cBhvr>
                                        <p:cTn id="24" dur="1" fill="hold">
                                          <p:stCondLst>
                                            <p:cond delay="0"/>
                                          </p:stCondLst>
                                        </p:cTn>
                                        <p:tgtEl>
                                          <p:spTgt spid="23"/>
                                        </p:tgtEl>
                                        <p:attrNameLst>
                                          <p:attrName>style.visibility</p:attrName>
                                        </p:attrNameLst>
                                      </p:cBhvr>
                                      <p:to>
                                        <p:strVal val="visible"/>
                                      </p:to>
                                    </p:set>
                                    <p:animEffect transition="in" filter="wipe(up)">
                                      <p:cBhvr>
                                        <p:cTn id="25" dur="500"/>
                                        <p:tgtEl>
                                          <p:spTgt spid="23"/>
                                        </p:tgtEl>
                                      </p:cBhvr>
                                    </p:animEffect>
                                  </p:childTnLst>
                                </p:cTn>
                              </p:par>
                            </p:childTnLst>
                          </p:cTn>
                        </p:par>
                        <p:par>
                          <p:cTn id="26" fill="hold" nodeType="afterGroup">
                            <p:stCondLst>
                              <p:cond delay="500"/>
                            </p:stCondLst>
                            <p:childTnLst>
                              <p:par>
                                <p:cTn id="27" presetID="22" presetClass="entr" presetSubtype="8" fill="hold" nodeType="afterEffect">
                                  <p:stCondLst>
                                    <p:cond delay="0"/>
                                  </p:stCondLst>
                                  <p:childTnLst>
                                    <p:set>
                                      <p:cBhvr>
                                        <p:cTn id="28" dur="1" fill="hold">
                                          <p:stCondLst>
                                            <p:cond delay="0"/>
                                          </p:stCondLst>
                                        </p:cTn>
                                        <p:tgtEl>
                                          <p:spTgt spid="23">
                                            <p:txEl>
                                              <p:pRg st="0" end="0"/>
                                            </p:txEl>
                                          </p:spTgt>
                                        </p:tgtEl>
                                        <p:attrNameLst>
                                          <p:attrName>style.visibility</p:attrName>
                                        </p:attrNameLst>
                                      </p:cBhvr>
                                      <p:to>
                                        <p:strVal val="visible"/>
                                      </p:to>
                                    </p:set>
                                    <p:animEffect transition="in" filter="wipe(left)">
                                      <p:cBhvr>
                                        <p:cTn id="29" dur="500"/>
                                        <p:tgtEl>
                                          <p:spTgt spid="23">
                                            <p:txEl>
                                              <p:pRg st="0" end="0"/>
                                            </p:txEl>
                                          </p:spTgt>
                                        </p:tgtEl>
                                      </p:cBhvr>
                                    </p:animEffect>
                                  </p:childTnLst>
                                </p:cTn>
                              </p:par>
                            </p:childTnLst>
                          </p:cTn>
                        </p:par>
                        <p:par>
                          <p:cTn id="30" fill="hold" nodeType="afterGroup">
                            <p:stCondLst>
                              <p:cond delay="1000"/>
                            </p:stCondLst>
                            <p:childTnLst>
                              <p:par>
                                <p:cTn id="31" presetID="16" presetClass="entr" presetSubtype="21" fill="hold" grpId="0" nodeType="after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barn(inVertical)">
                                      <p:cBhvr>
                                        <p:cTn id="33" dur="500"/>
                                        <p:tgtEl>
                                          <p:spTgt spid="18"/>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1" fill="hold" grpId="0" nodeType="clickEffect">
                                  <p:stCondLst>
                                    <p:cond delay="0"/>
                                  </p:stCondLst>
                                  <p:childTnLst>
                                    <p:set>
                                      <p:cBhvr>
                                        <p:cTn id="37" dur="1" fill="hold">
                                          <p:stCondLst>
                                            <p:cond delay="0"/>
                                          </p:stCondLst>
                                        </p:cTn>
                                        <p:tgtEl>
                                          <p:spTgt spid="22"/>
                                        </p:tgtEl>
                                        <p:attrNameLst>
                                          <p:attrName>style.visibility</p:attrName>
                                        </p:attrNameLst>
                                      </p:cBhvr>
                                      <p:to>
                                        <p:strVal val="visible"/>
                                      </p:to>
                                    </p:set>
                                    <p:animEffect transition="in" filter="wipe(up)">
                                      <p:cBhvr>
                                        <p:cTn id="38" dur="500"/>
                                        <p:tgtEl>
                                          <p:spTgt spid="22"/>
                                        </p:tgtEl>
                                      </p:cBhvr>
                                    </p:animEffect>
                                  </p:childTnLst>
                                </p:cTn>
                              </p:par>
                            </p:childTnLst>
                          </p:cTn>
                        </p:par>
                        <p:par>
                          <p:cTn id="39" fill="hold" nodeType="afterGroup">
                            <p:stCondLst>
                              <p:cond delay="500"/>
                            </p:stCondLst>
                            <p:childTnLst>
                              <p:par>
                                <p:cTn id="40" presetID="22" presetClass="entr" presetSubtype="8" fill="hold" nodeType="afterEffect">
                                  <p:stCondLst>
                                    <p:cond delay="0"/>
                                  </p:stCondLst>
                                  <p:childTnLst>
                                    <p:set>
                                      <p:cBhvr>
                                        <p:cTn id="41" dur="1" fill="hold">
                                          <p:stCondLst>
                                            <p:cond delay="0"/>
                                          </p:stCondLst>
                                        </p:cTn>
                                        <p:tgtEl>
                                          <p:spTgt spid="22">
                                            <p:txEl>
                                              <p:pRg st="0" end="0"/>
                                            </p:txEl>
                                          </p:spTgt>
                                        </p:tgtEl>
                                        <p:attrNameLst>
                                          <p:attrName>style.visibility</p:attrName>
                                        </p:attrNameLst>
                                      </p:cBhvr>
                                      <p:to>
                                        <p:strVal val="visible"/>
                                      </p:to>
                                    </p:set>
                                    <p:animEffect transition="in" filter="wipe(left)">
                                      <p:cBhvr>
                                        <p:cTn id="42" dur="500"/>
                                        <p:tgtEl>
                                          <p:spTgt spid="22">
                                            <p:txEl>
                                              <p:pRg st="0" end="0"/>
                                            </p:txEl>
                                          </p:spTgt>
                                        </p:tgtEl>
                                      </p:cBhvr>
                                    </p:animEffect>
                                  </p:childTnLst>
                                </p:cTn>
                              </p:par>
                            </p:childTnLst>
                          </p:cTn>
                        </p:par>
                        <p:par>
                          <p:cTn id="43" fill="hold" nodeType="afterGroup">
                            <p:stCondLst>
                              <p:cond delay="1000"/>
                            </p:stCondLst>
                            <p:childTnLst>
                              <p:par>
                                <p:cTn id="44" presetID="22" presetClass="entr" presetSubtype="8" fill="hold" nodeType="afterEffect">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wipe(left)">
                                      <p:cBhvr>
                                        <p:cTn id="46"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build="p"/>
      <p:bldP spid="18" grpId="0" animBg="1"/>
      <p:bldP spid="21" grpId="0"/>
      <p:bldP spid="22" grpId="0" animBg="1"/>
      <p:bldP spid="23" grpId="0" animBg="1"/>
    </p:bldLst>
  </p:timing>
</p:sld>
</file>

<file path=ppt/slides/slide2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2AE248-7537-D5A8-1BB7-98CDEAAD1C5A}"/>
              </a:ext>
            </a:extLst>
          </p:cNvPr>
          <p:cNvSpPr>
            <a:spLocks noGrp="1"/>
          </p:cNvSpPr>
          <p:nvPr>
            <p:ph type="title"/>
          </p:nvPr>
        </p:nvSpPr>
        <p:spPr>
          <a:xfrm>
            <a:off x="457200" y="0"/>
            <a:ext cx="7620000" cy="1143000"/>
          </a:xfrm>
        </p:spPr>
        <p:txBody>
          <a:bodyPr/>
          <a:lstStyle/>
          <a:p>
            <a:pPr algn="ctr">
              <a:defRPr/>
            </a:pPr>
            <a:r>
              <a:rPr lang="en-US" dirty="0"/>
              <a:t>Aggregate Functions</a:t>
            </a:r>
            <a:endParaRPr lang="en-MY" dirty="0"/>
          </a:p>
        </p:txBody>
      </p:sp>
      <p:sp>
        <p:nvSpPr>
          <p:cNvPr id="16" name="Snip Single Corner Rectangle 15">
            <a:extLst>
              <a:ext uri="{FF2B5EF4-FFF2-40B4-BE49-F238E27FC236}">
                <a16:creationId xmlns:a16="http://schemas.microsoft.com/office/drawing/2014/main" id="{BD27E2A5-AC0F-A7E5-AD97-B700ACEB9FE0}"/>
              </a:ext>
            </a:extLst>
          </p:cNvPr>
          <p:cNvSpPr/>
          <p:nvPr/>
        </p:nvSpPr>
        <p:spPr>
          <a:xfrm>
            <a:off x="-36513" y="1125538"/>
            <a:ext cx="809626" cy="400050"/>
          </a:xfrm>
          <a:prstGeom prst="snip1Rect">
            <a:avLst/>
          </a:prstGeom>
          <a:solidFill>
            <a:schemeClr val="tx1"/>
          </a:solidFill>
          <a:ln>
            <a:solidFill>
              <a:schemeClr val="tx1"/>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marR="0" lvl="0" indent="-342900" algn="just" defTabSz="914400" rtl="0" eaLnBrk="1" fontAlgn="base" latinLnBrk="0" hangingPunct="1">
              <a:lnSpc>
                <a:spcPct val="100000"/>
              </a:lnSpc>
              <a:spcBef>
                <a:spcPct val="20000"/>
              </a:spcBef>
              <a:spcAft>
                <a:spcPct val="0"/>
              </a:spcAft>
              <a:buClr>
                <a:srgbClr val="FF6600"/>
              </a:buClr>
              <a:buSzPct val="100000"/>
              <a:buFontTx/>
              <a:buNone/>
              <a:tabLst/>
              <a:defRPr/>
            </a:pPr>
            <a:r>
              <a:rPr kumimoji="0" lang="en-GB" sz="1800" b="0" i="0" u="none" strike="noStrike" kern="0" cap="none" spc="0" normalizeH="0" baseline="0" noProof="0" dirty="0">
                <a:ln>
                  <a:noFill/>
                </a:ln>
                <a:solidFill>
                  <a:srgbClr val="FFFFFF"/>
                </a:solidFill>
                <a:effectLst/>
                <a:uLnTx/>
                <a:uFillTx/>
                <a:latin typeface="Calibri"/>
                <a:ea typeface="+mn-ea"/>
                <a:cs typeface="+mn-cs"/>
              </a:rPr>
              <a:t>MIN()</a:t>
            </a:r>
          </a:p>
        </p:txBody>
      </p:sp>
      <p:sp>
        <p:nvSpPr>
          <p:cNvPr id="17" name="Content Placeholder 2">
            <a:extLst>
              <a:ext uri="{FF2B5EF4-FFF2-40B4-BE49-F238E27FC236}">
                <a16:creationId xmlns:a16="http://schemas.microsoft.com/office/drawing/2014/main" id="{F9BE96B1-E538-D973-56B8-93DA6CF873A1}"/>
              </a:ext>
            </a:extLst>
          </p:cNvPr>
          <p:cNvSpPr txBox="1">
            <a:spLocks/>
          </p:cNvSpPr>
          <p:nvPr/>
        </p:nvSpPr>
        <p:spPr bwMode="auto">
          <a:xfrm>
            <a:off x="250825" y="1773238"/>
            <a:ext cx="8655050"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MIN() – Returns the smallest value in a column</a:t>
            </a: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sp>
        <p:nvSpPr>
          <p:cNvPr id="18" name="Rounded Rectangle 17">
            <a:extLst>
              <a:ext uri="{FF2B5EF4-FFF2-40B4-BE49-F238E27FC236}">
                <a16:creationId xmlns:a16="http://schemas.microsoft.com/office/drawing/2014/main" id="{0694E79E-43C3-5336-1979-9F2292B3786B}"/>
              </a:ext>
            </a:extLst>
          </p:cNvPr>
          <p:cNvSpPr/>
          <p:nvPr/>
        </p:nvSpPr>
        <p:spPr bwMode="auto">
          <a:xfrm>
            <a:off x="1295400" y="3968750"/>
            <a:ext cx="6408738" cy="1116013"/>
          </a:xfrm>
          <a:prstGeom prst="roundRect">
            <a:avLst/>
          </a:prstGeom>
          <a:solidFill>
            <a:schemeClr val="accent6">
              <a:alpha val="30000"/>
            </a:schemeClr>
          </a:solidFill>
          <a:ln w="9525" cap="flat" cmpd="sng" algn="ctr">
            <a:solidFill>
              <a:schemeClr val="accent6"/>
            </a:solidFill>
            <a:prstDash val="solid"/>
            <a:round/>
            <a:headEnd type="none" w="med" len="med"/>
            <a:tailEnd type="none" w="med" len="med"/>
          </a:ln>
          <a:effectLst/>
        </p:spPr>
        <p:txBody>
          <a:bodyPr anchor="ctr" anchorCtr="1"/>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2800" b="0"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SELECT MIN(Quantity) AS Minimum FROM Book;</a:t>
            </a:r>
          </a:p>
        </p:txBody>
      </p:sp>
      <p:sp>
        <p:nvSpPr>
          <p:cNvPr id="21" name="TextBox 20">
            <a:extLst>
              <a:ext uri="{FF2B5EF4-FFF2-40B4-BE49-F238E27FC236}">
                <a16:creationId xmlns:a16="http://schemas.microsoft.com/office/drawing/2014/main" id="{BC7506D9-5878-4BE4-38D5-368329543116}"/>
              </a:ext>
            </a:extLst>
          </p:cNvPr>
          <p:cNvSpPr txBox="1">
            <a:spLocks noChangeArrowheads="1"/>
          </p:cNvSpPr>
          <p:nvPr/>
        </p:nvSpPr>
        <p:spPr bwMode="auto">
          <a:xfrm>
            <a:off x="3570288" y="3540125"/>
            <a:ext cx="20161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Book table</a:t>
            </a:r>
          </a:p>
        </p:txBody>
      </p:sp>
      <p:sp>
        <p:nvSpPr>
          <p:cNvPr id="22" name="Snip Single Corner Rectangle 21">
            <a:extLst>
              <a:ext uri="{FF2B5EF4-FFF2-40B4-BE49-F238E27FC236}">
                <a16:creationId xmlns:a16="http://schemas.microsoft.com/office/drawing/2014/main" id="{A3CD5DE4-ECFB-B9B0-FCF8-4EC544FFB45B}"/>
              </a:ext>
            </a:extLst>
          </p:cNvPr>
          <p:cNvSpPr/>
          <p:nvPr/>
        </p:nvSpPr>
        <p:spPr bwMode="auto">
          <a:xfrm>
            <a:off x="227013" y="5300663"/>
            <a:ext cx="1092200" cy="431800"/>
          </a:xfrm>
          <a:prstGeom prst="snip1Rect">
            <a:avLst/>
          </a:prstGeom>
          <a:solidFill>
            <a:srgbClr val="FFFF00">
              <a:alpha val="30000"/>
            </a:srgbClr>
          </a:solidFill>
          <a:ln w="9525" cap="flat" cmpd="sng" algn="ctr">
            <a:solidFill>
              <a:srgbClr val="FFC000"/>
            </a:solidFill>
            <a:prstDash val="solid"/>
            <a:round/>
            <a:headEnd type="none" w="med" len="med"/>
            <a:tailEnd type="none" w="med" len="me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sz="2000" b="1"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Result:</a:t>
            </a:r>
          </a:p>
        </p:txBody>
      </p:sp>
      <p:sp>
        <p:nvSpPr>
          <p:cNvPr id="23" name="Snip Single Corner Rectangle 22">
            <a:extLst>
              <a:ext uri="{FF2B5EF4-FFF2-40B4-BE49-F238E27FC236}">
                <a16:creationId xmlns:a16="http://schemas.microsoft.com/office/drawing/2014/main" id="{028D25E2-10AC-46E6-71AF-5F03749BD01F}"/>
              </a:ext>
            </a:extLst>
          </p:cNvPr>
          <p:cNvSpPr/>
          <p:nvPr/>
        </p:nvSpPr>
        <p:spPr bwMode="auto">
          <a:xfrm>
            <a:off x="250825" y="3978275"/>
            <a:ext cx="830263" cy="431800"/>
          </a:xfrm>
          <a:prstGeom prst="snip1Rect">
            <a:avLst/>
          </a:prstGeom>
          <a:solidFill>
            <a:srgbClr val="FFFF00">
              <a:alpha val="30000"/>
            </a:srgbClr>
          </a:solidFill>
          <a:ln w="9525" cap="flat" cmpd="sng" algn="ctr">
            <a:solidFill>
              <a:srgbClr val="FFC000"/>
            </a:solidFill>
            <a:prstDash val="solid"/>
            <a:round/>
            <a:headEnd type="none" w="med" len="med"/>
            <a:tailEnd type="none" w="med" len="med"/>
          </a:ln>
          <a:effec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2000" b="1"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Run:</a:t>
            </a:r>
          </a:p>
        </p:txBody>
      </p:sp>
      <p:graphicFrame>
        <p:nvGraphicFramePr>
          <p:cNvPr id="14" name="Table 13">
            <a:extLst>
              <a:ext uri="{FF2B5EF4-FFF2-40B4-BE49-F238E27FC236}">
                <a16:creationId xmlns:a16="http://schemas.microsoft.com/office/drawing/2014/main" id="{C0B482A7-0F13-747C-F377-D0F15F87D983}"/>
              </a:ext>
            </a:extLst>
          </p:cNvPr>
          <p:cNvGraphicFramePr>
            <a:graphicFrameLocks noGrp="1"/>
          </p:cNvGraphicFramePr>
          <p:nvPr/>
        </p:nvGraphicFramePr>
        <p:xfrm>
          <a:off x="1530350" y="2425700"/>
          <a:ext cx="6096000" cy="1111250"/>
        </p:xfrm>
        <a:graphic>
          <a:graphicData uri="http://schemas.openxmlformats.org/drawingml/2006/table">
            <a:tbl>
              <a:tblPr firstRow="1" bandRow="1">
                <a:tableStyleId>{D27102A9-8310-4765-A935-A1911B00CA55}</a:tableStyleId>
              </a:tblPr>
              <a:tblGrid>
                <a:gridCol w="1463824">
                  <a:extLst>
                    <a:ext uri="{9D8B030D-6E8A-4147-A177-3AD203B41FA5}">
                      <a16:colId xmlns:a16="http://schemas.microsoft.com/office/drawing/2014/main" val="20000"/>
                    </a:ext>
                  </a:extLst>
                </a:gridCol>
                <a:gridCol w="2736304">
                  <a:extLst>
                    <a:ext uri="{9D8B030D-6E8A-4147-A177-3AD203B41FA5}">
                      <a16:colId xmlns:a16="http://schemas.microsoft.com/office/drawing/2014/main" val="20001"/>
                    </a:ext>
                  </a:extLst>
                </a:gridCol>
                <a:gridCol w="1895872">
                  <a:extLst>
                    <a:ext uri="{9D8B030D-6E8A-4147-A177-3AD203B41FA5}">
                      <a16:colId xmlns:a16="http://schemas.microsoft.com/office/drawing/2014/main" val="20002"/>
                    </a:ext>
                  </a:extLst>
                </a:gridCol>
              </a:tblGrid>
              <a:tr h="370417">
                <a:tc>
                  <a:txBody>
                    <a:bodyPr/>
                    <a:lstStyle/>
                    <a:p>
                      <a:pPr algn="ctr"/>
                      <a:r>
                        <a:rPr lang="en-CA" sz="1800" dirty="0"/>
                        <a:t>ISBN</a:t>
                      </a:r>
                    </a:p>
                  </a:txBody>
                  <a:tcPr marT="45668" marB="45668"/>
                </a:tc>
                <a:tc>
                  <a:txBody>
                    <a:bodyPr/>
                    <a:lstStyle/>
                    <a:p>
                      <a:pPr algn="ctr"/>
                      <a:r>
                        <a:rPr lang="en-CA" sz="1800" dirty="0"/>
                        <a:t>Title</a:t>
                      </a:r>
                    </a:p>
                  </a:txBody>
                  <a:tcPr marT="45668" marB="45668"/>
                </a:tc>
                <a:tc>
                  <a:txBody>
                    <a:bodyPr/>
                    <a:lstStyle/>
                    <a:p>
                      <a:pPr algn="ctr"/>
                      <a:r>
                        <a:rPr lang="en-CA" sz="1800" dirty="0"/>
                        <a:t>Quantity</a:t>
                      </a:r>
                    </a:p>
                  </a:txBody>
                  <a:tcPr marT="45668" marB="45668"/>
                </a:tc>
                <a:extLst>
                  <a:ext uri="{0D108BD9-81ED-4DB2-BD59-A6C34878D82A}">
                    <a16:rowId xmlns:a16="http://schemas.microsoft.com/office/drawing/2014/main" val="10000"/>
                  </a:ext>
                </a:extLst>
              </a:tr>
              <a:tr h="370417">
                <a:tc>
                  <a:txBody>
                    <a:bodyPr/>
                    <a:lstStyle/>
                    <a:p>
                      <a:pPr algn="ctr"/>
                      <a:r>
                        <a:rPr lang="en-CA" sz="1800" dirty="0"/>
                        <a:t>12345</a:t>
                      </a:r>
                    </a:p>
                  </a:txBody>
                  <a:tcPr marT="45668" marB="45668"/>
                </a:tc>
                <a:tc>
                  <a:txBody>
                    <a:bodyPr/>
                    <a:lstStyle/>
                    <a:p>
                      <a:pPr algn="ctr"/>
                      <a:r>
                        <a:rPr lang="en-CA" sz="1800" dirty="0"/>
                        <a:t>The Hunger</a:t>
                      </a:r>
                      <a:r>
                        <a:rPr lang="en-CA" sz="1800" baseline="0" dirty="0"/>
                        <a:t> Game</a:t>
                      </a:r>
                      <a:endParaRPr lang="en-CA" sz="1800" dirty="0"/>
                    </a:p>
                  </a:txBody>
                  <a:tcPr marT="45668" marB="45668"/>
                </a:tc>
                <a:tc>
                  <a:txBody>
                    <a:bodyPr/>
                    <a:lstStyle/>
                    <a:p>
                      <a:pPr algn="ctr"/>
                      <a:r>
                        <a:rPr lang="en-CA" sz="1800" dirty="0"/>
                        <a:t>10</a:t>
                      </a:r>
                    </a:p>
                  </a:txBody>
                  <a:tcPr marT="45668" marB="45668"/>
                </a:tc>
                <a:extLst>
                  <a:ext uri="{0D108BD9-81ED-4DB2-BD59-A6C34878D82A}">
                    <a16:rowId xmlns:a16="http://schemas.microsoft.com/office/drawing/2014/main" val="10001"/>
                  </a:ext>
                </a:extLst>
              </a:tr>
              <a:tr h="370417">
                <a:tc>
                  <a:txBody>
                    <a:bodyPr/>
                    <a:lstStyle/>
                    <a:p>
                      <a:pPr algn="ctr"/>
                      <a:r>
                        <a:rPr lang="en-CA" sz="1800" dirty="0"/>
                        <a:t>54321</a:t>
                      </a:r>
                    </a:p>
                  </a:txBody>
                  <a:tcPr marT="45668" marB="45668"/>
                </a:tc>
                <a:tc>
                  <a:txBody>
                    <a:bodyPr/>
                    <a:lstStyle/>
                    <a:p>
                      <a:pPr algn="ctr"/>
                      <a:r>
                        <a:rPr lang="en-CA" sz="1800" dirty="0"/>
                        <a:t>A Song of Ice and Fire</a:t>
                      </a:r>
                    </a:p>
                  </a:txBody>
                  <a:tcPr marT="45668" marB="45668"/>
                </a:tc>
                <a:tc>
                  <a:txBody>
                    <a:bodyPr/>
                    <a:lstStyle/>
                    <a:p>
                      <a:pPr algn="ctr"/>
                      <a:r>
                        <a:rPr lang="en-CA" sz="1800" dirty="0"/>
                        <a:t>15</a:t>
                      </a:r>
                    </a:p>
                  </a:txBody>
                  <a:tcPr marT="45668" marB="45668"/>
                </a:tc>
                <a:extLst>
                  <a:ext uri="{0D108BD9-81ED-4DB2-BD59-A6C34878D82A}">
                    <a16:rowId xmlns:a16="http://schemas.microsoft.com/office/drawing/2014/main" val="10002"/>
                  </a:ext>
                </a:extLst>
              </a:tr>
            </a:tbl>
          </a:graphicData>
        </a:graphic>
      </p:graphicFrame>
      <p:graphicFrame>
        <p:nvGraphicFramePr>
          <p:cNvPr id="24" name="Table 23">
            <a:extLst>
              <a:ext uri="{FF2B5EF4-FFF2-40B4-BE49-F238E27FC236}">
                <a16:creationId xmlns:a16="http://schemas.microsoft.com/office/drawing/2014/main" id="{9A0DA39E-119D-6C93-320D-95DA265CF715}"/>
              </a:ext>
            </a:extLst>
          </p:cNvPr>
          <p:cNvGraphicFramePr>
            <a:graphicFrameLocks noGrp="1"/>
          </p:cNvGraphicFramePr>
          <p:nvPr/>
        </p:nvGraphicFramePr>
        <p:xfrm>
          <a:off x="1631950" y="5318125"/>
          <a:ext cx="1731963" cy="736600"/>
        </p:xfrm>
        <a:graphic>
          <a:graphicData uri="http://schemas.openxmlformats.org/drawingml/2006/table">
            <a:tbl>
              <a:tblPr firstRow="1" bandRow="1">
                <a:tableStyleId>{C083E6E3-FA7D-4D7B-A595-EF9225AFEA82}</a:tableStyleId>
              </a:tblPr>
              <a:tblGrid>
                <a:gridCol w="1731963">
                  <a:extLst>
                    <a:ext uri="{9D8B030D-6E8A-4147-A177-3AD203B41FA5}">
                      <a16:colId xmlns:a16="http://schemas.microsoft.com/office/drawing/2014/main" val="20000"/>
                    </a:ext>
                  </a:extLst>
                </a:gridCol>
              </a:tblGrid>
              <a:tr h="0">
                <a:tc>
                  <a:txBody>
                    <a:bodyPr/>
                    <a:lstStyle/>
                    <a:p>
                      <a:pPr algn="ctr"/>
                      <a:r>
                        <a:rPr lang="en-CA" dirty="0"/>
                        <a:t>Minimum</a:t>
                      </a:r>
                    </a:p>
                  </a:txBody>
                  <a:tcPr marL="91403" marR="91403"/>
                </a:tc>
                <a:extLst>
                  <a:ext uri="{0D108BD9-81ED-4DB2-BD59-A6C34878D82A}">
                    <a16:rowId xmlns:a16="http://schemas.microsoft.com/office/drawing/2014/main" val="10000"/>
                  </a:ext>
                </a:extLst>
              </a:tr>
              <a:tr h="370840">
                <a:tc>
                  <a:txBody>
                    <a:bodyPr/>
                    <a:lstStyle/>
                    <a:p>
                      <a:pPr algn="ctr"/>
                      <a:r>
                        <a:rPr lang="en-CA" dirty="0"/>
                        <a:t>10</a:t>
                      </a:r>
                    </a:p>
                  </a:txBody>
                  <a:tcPr marL="91403" marR="91403"/>
                </a:tc>
                <a:extLst>
                  <a:ext uri="{0D108BD9-81ED-4DB2-BD59-A6C34878D82A}">
                    <a16:rowId xmlns:a16="http://schemas.microsoft.com/office/drawing/2014/main" val="10001"/>
                  </a:ext>
                </a:extLst>
              </a:tr>
            </a:tbl>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7">
                                            <p:txEl>
                                              <p:pRg st="0" end="0"/>
                                            </p:txEl>
                                          </p:spTgt>
                                        </p:tgtEl>
                                        <p:attrNameLst>
                                          <p:attrName>style.visibility</p:attrName>
                                        </p:attrNameLst>
                                      </p:cBhvr>
                                      <p:to>
                                        <p:strVal val="visible"/>
                                      </p:to>
                                    </p:set>
                                    <p:animEffect transition="in" filter="wipe(left)">
                                      <p:cBhvr>
                                        <p:cTn id="11" dur="500"/>
                                        <p:tgtEl>
                                          <p:spTgt spid="17">
                                            <p:txEl>
                                              <p:pRg st="0" end="0"/>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6" presetClass="entr" presetSubtype="21" fill="hold" nodeType="click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barn(inVertical)">
                                      <p:cBhvr>
                                        <p:cTn id="16" dur="500"/>
                                        <p:tgtEl>
                                          <p:spTgt spid="14"/>
                                        </p:tgtEl>
                                      </p:cBhvr>
                                    </p:animEffect>
                                  </p:childTnLst>
                                </p:cTn>
                              </p:par>
                            </p:childTnLst>
                          </p:cTn>
                        </p:par>
                        <p:par>
                          <p:cTn id="17" fill="hold" nodeType="afterGroup">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21"/>
                                        </p:tgtEl>
                                        <p:attrNameLst>
                                          <p:attrName>style.visibility</p:attrName>
                                        </p:attrNameLst>
                                      </p:cBhvr>
                                      <p:to>
                                        <p:strVal val="visible"/>
                                      </p:to>
                                    </p:set>
                                    <p:animEffect transition="in" filter="wipe(left)">
                                      <p:cBhvr>
                                        <p:cTn id="20" dur="500"/>
                                        <p:tgtEl>
                                          <p:spTgt spid="21"/>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1" fill="hold" grpId="0" nodeType="clickEffect">
                                  <p:stCondLst>
                                    <p:cond delay="0"/>
                                  </p:stCondLst>
                                  <p:childTnLst>
                                    <p:set>
                                      <p:cBhvr>
                                        <p:cTn id="24" dur="1" fill="hold">
                                          <p:stCondLst>
                                            <p:cond delay="0"/>
                                          </p:stCondLst>
                                        </p:cTn>
                                        <p:tgtEl>
                                          <p:spTgt spid="23"/>
                                        </p:tgtEl>
                                        <p:attrNameLst>
                                          <p:attrName>style.visibility</p:attrName>
                                        </p:attrNameLst>
                                      </p:cBhvr>
                                      <p:to>
                                        <p:strVal val="visible"/>
                                      </p:to>
                                    </p:set>
                                    <p:animEffect transition="in" filter="wipe(up)">
                                      <p:cBhvr>
                                        <p:cTn id="25" dur="500"/>
                                        <p:tgtEl>
                                          <p:spTgt spid="23"/>
                                        </p:tgtEl>
                                      </p:cBhvr>
                                    </p:animEffect>
                                  </p:childTnLst>
                                </p:cTn>
                              </p:par>
                            </p:childTnLst>
                          </p:cTn>
                        </p:par>
                        <p:par>
                          <p:cTn id="26" fill="hold" nodeType="afterGroup">
                            <p:stCondLst>
                              <p:cond delay="500"/>
                            </p:stCondLst>
                            <p:childTnLst>
                              <p:par>
                                <p:cTn id="27" presetID="22" presetClass="entr" presetSubtype="8" fill="hold" nodeType="afterEffect">
                                  <p:stCondLst>
                                    <p:cond delay="0"/>
                                  </p:stCondLst>
                                  <p:childTnLst>
                                    <p:set>
                                      <p:cBhvr>
                                        <p:cTn id="28" dur="1" fill="hold">
                                          <p:stCondLst>
                                            <p:cond delay="0"/>
                                          </p:stCondLst>
                                        </p:cTn>
                                        <p:tgtEl>
                                          <p:spTgt spid="23">
                                            <p:txEl>
                                              <p:pRg st="0" end="0"/>
                                            </p:txEl>
                                          </p:spTgt>
                                        </p:tgtEl>
                                        <p:attrNameLst>
                                          <p:attrName>style.visibility</p:attrName>
                                        </p:attrNameLst>
                                      </p:cBhvr>
                                      <p:to>
                                        <p:strVal val="visible"/>
                                      </p:to>
                                    </p:set>
                                    <p:animEffect transition="in" filter="wipe(left)">
                                      <p:cBhvr>
                                        <p:cTn id="29" dur="500"/>
                                        <p:tgtEl>
                                          <p:spTgt spid="23">
                                            <p:txEl>
                                              <p:pRg st="0" end="0"/>
                                            </p:txEl>
                                          </p:spTgt>
                                        </p:tgtEl>
                                      </p:cBhvr>
                                    </p:animEffect>
                                  </p:childTnLst>
                                </p:cTn>
                              </p:par>
                            </p:childTnLst>
                          </p:cTn>
                        </p:par>
                        <p:par>
                          <p:cTn id="30" fill="hold" nodeType="afterGroup">
                            <p:stCondLst>
                              <p:cond delay="1000"/>
                            </p:stCondLst>
                            <p:childTnLst>
                              <p:par>
                                <p:cTn id="31" presetID="16" presetClass="entr" presetSubtype="21" fill="hold" grpId="0" nodeType="after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barn(inVertical)">
                                      <p:cBhvr>
                                        <p:cTn id="33" dur="500"/>
                                        <p:tgtEl>
                                          <p:spTgt spid="18"/>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1" fill="hold" grpId="0" nodeType="clickEffect">
                                  <p:stCondLst>
                                    <p:cond delay="0"/>
                                  </p:stCondLst>
                                  <p:childTnLst>
                                    <p:set>
                                      <p:cBhvr>
                                        <p:cTn id="37" dur="1" fill="hold">
                                          <p:stCondLst>
                                            <p:cond delay="0"/>
                                          </p:stCondLst>
                                        </p:cTn>
                                        <p:tgtEl>
                                          <p:spTgt spid="22"/>
                                        </p:tgtEl>
                                        <p:attrNameLst>
                                          <p:attrName>style.visibility</p:attrName>
                                        </p:attrNameLst>
                                      </p:cBhvr>
                                      <p:to>
                                        <p:strVal val="visible"/>
                                      </p:to>
                                    </p:set>
                                    <p:animEffect transition="in" filter="wipe(up)">
                                      <p:cBhvr>
                                        <p:cTn id="38" dur="500"/>
                                        <p:tgtEl>
                                          <p:spTgt spid="22"/>
                                        </p:tgtEl>
                                      </p:cBhvr>
                                    </p:animEffect>
                                  </p:childTnLst>
                                </p:cTn>
                              </p:par>
                            </p:childTnLst>
                          </p:cTn>
                        </p:par>
                        <p:par>
                          <p:cTn id="39" fill="hold" nodeType="afterGroup">
                            <p:stCondLst>
                              <p:cond delay="500"/>
                            </p:stCondLst>
                            <p:childTnLst>
                              <p:par>
                                <p:cTn id="40" presetID="22" presetClass="entr" presetSubtype="8" fill="hold" nodeType="afterEffect">
                                  <p:stCondLst>
                                    <p:cond delay="0"/>
                                  </p:stCondLst>
                                  <p:childTnLst>
                                    <p:set>
                                      <p:cBhvr>
                                        <p:cTn id="41" dur="1" fill="hold">
                                          <p:stCondLst>
                                            <p:cond delay="0"/>
                                          </p:stCondLst>
                                        </p:cTn>
                                        <p:tgtEl>
                                          <p:spTgt spid="22">
                                            <p:txEl>
                                              <p:pRg st="0" end="0"/>
                                            </p:txEl>
                                          </p:spTgt>
                                        </p:tgtEl>
                                        <p:attrNameLst>
                                          <p:attrName>style.visibility</p:attrName>
                                        </p:attrNameLst>
                                      </p:cBhvr>
                                      <p:to>
                                        <p:strVal val="visible"/>
                                      </p:to>
                                    </p:set>
                                    <p:animEffect transition="in" filter="wipe(left)">
                                      <p:cBhvr>
                                        <p:cTn id="42" dur="500"/>
                                        <p:tgtEl>
                                          <p:spTgt spid="22">
                                            <p:txEl>
                                              <p:pRg st="0" end="0"/>
                                            </p:txEl>
                                          </p:spTgt>
                                        </p:tgtEl>
                                      </p:cBhvr>
                                    </p:animEffect>
                                  </p:childTnLst>
                                </p:cTn>
                              </p:par>
                            </p:childTnLst>
                          </p:cTn>
                        </p:par>
                        <p:par>
                          <p:cTn id="43" fill="hold" nodeType="afterGroup">
                            <p:stCondLst>
                              <p:cond delay="1000"/>
                            </p:stCondLst>
                            <p:childTnLst>
                              <p:par>
                                <p:cTn id="44" presetID="22" presetClass="entr" presetSubtype="8" fill="hold" nodeType="afterEffect">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wipe(left)">
                                      <p:cBhvr>
                                        <p:cTn id="46"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build="p"/>
      <p:bldP spid="18" grpId="0" animBg="1"/>
      <p:bldP spid="21" grpId="0"/>
      <p:bldP spid="22" grpId="0" animBg="1"/>
      <p:bldP spid="23" grpId="0" animBg="1"/>
    </p:bldLst>
  </p:timing>
</p:sld>
</file>

<file path=ppt/slides/slide2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1E3F65-F032-0B62-3961-01C9559A18D1}"/>
              </a:ext>
            </a:extLst>
          </p:cNvPr>
          <p:cNvSpPr>
            <a:spLocks noGrp="1"/>
          </p:cNvSpPr>
          <p:nvPr>
            <p:ph type="title"/>
          </p:nvPr>
        </p:nvSpPr>
        <p:spPr>
          <a:xfrm>
            <a:off x="457200" y="0"/>
            <a:ext cx="7620000" cy="1143000"/>
          </a:xfrm>
        </p:spPr>
        <p:txBody>
          <a:bodyPr/>
          <a:lstStyle/>
          <a:p>
            <a:pPr algn="ctr">
              <a:defRPr/>
            </a:pPr>
            <a:r>
              <a:rPr lang="en-US" dirty="0"/>
              <a:t>Activity 4</a:t>
            </a:r>
            <a:endParaRPr lang="en-MY" dirty="0"/>
          </a:p>
        </p:txBody>
      </p:sp>
      <p:sp>
        <p:nvSpPr>
          <p:cNvPr id="23" name="Title 1">
            <a:extLst>
              <a:ext uri="{FF2B5EF4-FFF2-40B4-BE49-F238E27FC236}">
                <a16:creationId xmlns:a16="http://schemas.microsoft.com/office/drawing/2014/main" id="{F9F10ECE-41A0-584A-D723-62964D582FCD}"/>
              </a:ext>
            </a:extLst>
          </p:cNvPr>
          <p:cNvSpPr txBox="1">
            <a:spLocks/>
          </p:cNvSpPr>
          <p:nvPr/>
        </p:nvSpPr>
        <p:spPr bwMode="auto">
          <a:xfrm>
            <a:off x="0" y="836613"/>
            <a:ext cx="8172450" cy="323850"/>
          </a:xfrm>
          <a:prstGeom prst="rect">
            <a:avLst/>
          </a:prstGeom>
          <a:noFill/>
          <a:ln w="9525">
            <a:noFill/>
            <a:miter lim="800000"/>
            <a:headEnd/>
            <a:tailEnd/>
          </a:ln>
        </p:spPr>
        <p:txBody>
          <a:bodyPr lIns="72000" tIns="0" rIns="72000" bIns="0"/>
          <a:lstStyle/>
          <a:p>
            <a:pPr marL="0" marR="0" lvl="0" indent="0" algn="l" defTabSz="720000" rtl="0" eaLnBrk="1" fontAlgn="base" latinLnBrk="0" hangingPunct="1">
              <a:lnSpc>
                <a:spcPts val="1800"/>
              </a:lnSpc>
              <a:spcBef>
                <a:spcPts val="0"/>
              </a:spcBef>
              <a:spcAft>
                <a:spcPts val="0"/>
              </a:spcAft>
              <a:buClrTx/>
              <a:buSzTx/>
              <a:buFontTx/>
              <a:buNone/>
              <a:tabLst>
                <a:tab pos="0" algn="l"/>
              </a:tabLst>
              <a:defRPr/>
            </a:pPr>
            <a:r>
              <a:rPr kumimoji="0" lang="en-CA" sz="1800" b="1" i="0" u="none" strike="noStrike" kern="0" cap="none" spc="0" normalizeH="0" baseline="0" noProof="0" dirty="0">
                <a:ln>
                  <a:noFill/>
                </a:ln>
                <a:solidFill>
                  <a:srgbClr val="2F2B20"/>
                </a:solidFill>
                <a:effectLst/>
                <a:uLnTx/>
                <a:uFillTx/>
                <a:latin typeface="Arial" panose="020B0604020202020204" pitchFamily="34" charset="0"/>
                <a:ea typeface="+mn-ea"/>
                <a:cs typeface="Calibri" pitchFamily="34" charset="0"/>
              </a:rPr>
              <a:t>CLASS ACTIVITY</a:t>
            </a:r>
            <a:endParaRPr kumimoji="0" lang="en-MY" sz="1800" b="1" i="0" u="none" strike="noStrike" kern="0" cap="none" spc="0" normalizeH="0" baseline="0" noProof="0" dirty="0">
              <a:ln>
                <a:noFill/>
              </a:ln>
              <a:solidFill>
                <a:srgbClr val="2F2B20"/>
              </a:solidFill>
              <a:effectLst/>
              <a:uLnTx/>
              <a:uFillTx/>
              <a:latin typeface="Arial" panose="020B0604020202020204" pitchFamily="34" charset="0"/>
              <a:ea typeface="+mn-ea"/>
              <a:cs typeface="Calibri" pitchFamily="34" charset="0"/>
            </a:endParaRPr>
          </a:p>
          <a:p>
            <a:pPr marL="0" marR="0" lvl="0" indent="0" algn="l" defTabSz="720000" rtl="0" eaLnBrk="1" fontAlgn="base" latinLnBrk="0" hangingPunct="1">
              <a:lnSpc>
                <a:spcPts val="1800"/>
              </a:lnSpc>
              <a:spcBef>
                <a:spcPts val="0"/>
              </a:spcBef>
              <a:spcAft>
                <a:spcPts val="0"/>
              </a:spcAft>
              <a:buClrTx/>
              <a:buSzTx/>
              <a:buFontTx/>
              <a:buNone/>
              <a:tabLst>
                <a:tab pos="0" algn="l"/>
              </a:tabLst>
              <a:defRPr/>
            </a:pPr>
            <a:endParaRPr kumimoji="0" lang="en-MY" sz="1800" b="1" i="0" u="none" strike="noStrike" kern="0" cap="none" spc="0" normalizeH="0" baseline="0" noProof="0" dirty="0">
              <a:ln>
                <a:noFill/>
              </a:ln>
              <a:solidFill>
                <a:srgbClr val="2F2B20"/>
              </a:solidFill>
              <a:effectLst/>
              <a:uLnTx/>
              <a:uFillTx/>
              <a:latin typeface="Calibri"/>
              <a:ea typeface="+mn-ea"/>
              <a:cs typeface="Calibri" pitchFamily="34" charset="0"/>
            </a:endParaRPr>
          </a:p>
        </p:txBody>
      </p:sp>
      <p:sp>
        <p:nvSpPr>
          <p:cNvPr id="9" name="Content Placeholder 2">
            <a:extLst>
              <a:ext uri="{FF2B5EF4-FFF2-40B4-BE49-F238E27FC236}">
                <a16:creationId xmlns:a16="http://schemas.microsoft.com/office/drawing/2014/main" id="{4EA6E2FA-C13D-08EF-0F90-96F1D7301A5F}"/>
              </a:ext>
            </a:extLst>
          </p:cNvPr>
          <p:cNvSpPr txBox="1">
            <a:spLocks/>
          </p:cNvSpPr>
          <p:nvPr/>
        </p:nvSpPr>
        <p:spPr bwMode="auto">
          <a:xfrm>
            <a:off x="250825" y="1341438"/>
            <a:ext cx="7921625"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4000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Write down the result of executing the following SQL statements</a:t>
            </a: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20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400050" marR="0" lvl="1"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20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400050" marR="0" lvl="1"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Cambria" panose="02040503050406030204" pitchFamily="18" charset="0"/>
              <a:buAutoNum type="alphaLcParenR"/>
              <a:tabLst/>
              <a:defRPr/>
            </a:pPr>
            <a:r>
              <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SELECT COUNT(*), SUM(Spaces), MAX(Cost), MIN(Cost) FROM Course; </a:t>
            </a: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US" altLang="en-US" sz="32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US" altLang="en-US" sz="32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rPr>
              <a:t> </a:t>
            </a: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graphicFrame>
        <p:nvGraphicFramePr>
          <p:cNvPr id="10" name="Table 9">
            <a:extLst>
              <a:ext uri="{FF2B5EF4-FFF2-40B4-BE49-F238E27FC236}">
                <a16:creationId xmlns:a16="http://schemas.microsoft.com/office/drawing/2014/main" id="{1C477176-87E7-45E2-ED8C-F3CADF39E48A}"/>
              </a:ext>
            </a:extLst>
          </p:cNvPr>
          <p:cNvGraphicFramePr>
            <a:graphicFrameLocks noGrp="1"/>
          </p:cNvGraphicFramePr>
          <p:nvPr/>
        </p:nvGraphicFramePr>
        <p:xfrm>
          <a:off x="457200" y="5567363"/>
          <a:ext cx="7548564" cy="741362"/>
        </p:xfrm>
        <a:graphic>
          <a:graphicData uri="http://schemas.openxmlformats.org/drawingml/2006/table">
            <a:tbl>
              <a:tblPr firstRow="1" bandRow="1">
                <a:tableStyleId>{0E3FDE45-AF77-4B5C-9715-49D594BDF05E}</a:tableStyleId>
              </a:tblPr>
              <a:tblGrid>
                <a:gridCol w="1887141">
                  <a:extLst>
                    <a:ext uri="{9D8B030D-6E8A-4147-A177-3AD203B41FA5}">
                      <a16:colId xmlns:a16="http://schemas.microsoft.com/office/drawing/2014/main" val="20000"/>
                    </a:ext>
                  </a:extLst>
                </a:gridCol>
                <a:gridCol w="1887141">
                  <a:extLst>
                    <a:ext uri="{9D8B030D-6E8A-4147-A177-3AD203B41FA5}">
                      <a16:colId xmlns:a16="http://schemas.microsoft.com/office/drawing/2014/main" val="20001"/>
                    </a:ext>
                  </a:extLst>
                </a:gridCol>
                <a:gridCol w="1887141">
                  <a:extLst>
                    <a:ext uri="{9D8B030D-6E8A-4147-A177-3AD203B41FA5}">
                      <a16:colId xmlns:a16="http://schemas.microsoft.com/office/drawing/2014/main" val="20002"/>
                    </a:ext>
                  </a:extLst>
                </a:gridCol>
                <a:gridCol w="1887141">
                  <a:extLst>
                    <a:ext uri="{9D8B030D-6E8A-4147-A177-3AD203B41FA5}">
                      <a16:colId xmlns:a16="http://schemas.microsoft.com/office/drawing/2014/main" val="20003"/>
                    </a:ext>
                  </a:extLst>
                </a:gridCol>
              </a:tblGrid>
              <a:tr h="370681">
                <a:tc>
                  <a:txBody>
                    <a:bodyPr/>
                    <a:lstStyle/>
                    <a:p>
                      <a:pPr algn="ctr"/>
                      <a:r>
                        <a:rPr lang="en-CA" sz="1800" dirty="0"/>
                        <a:t>COUNT(*)</a:t>
                      </a:r>
                    </a:p>
                  </a:txBody>
                  <a:tcPr marL="91437" marR="91437" marT="45700" marB="45700"/>
                </a:tc>
                <a:tc>
                  <a:txBody>
                    <a:bodyPr/>
                    <a:lstStyle/>
                    <a:p>
                      <a:pPr algn="ctr"/>
                      <a:r>
                        <a:rPr lang="en-CA" sz="1800" dirty="0"/>
                        <a:t>SUM(Spaces)</a:t>
                      </a:r>
                    </a:p>
                  </a:txBody>
                  <a:tcPr marL="91437" marR="91437" marT="45700" marB="45700"/>
                </a:tc>
                <a:tc>
                  <a:txBody>
                    <a:bodyPr/>
                    <a:lstStyle/>
                    <a:p>
                      <a:pPr algn="ctr"/>
                      <a:r>
                        <a:rPr lang="en-CA" sz="1800" dirty="0"/>
                        <a:t>MAX(Cost)</a:t>
                      </a:r>
                    </a:p>
                  </a:txBody>
                  <a:tcPr marL="91437" marR="91437" marT="45700" marB="45700"/>
                </a:tc>
                <a:tc>
                  <a:txBody>
                    <a:bodyPr/>
                    <a:lstStyle/>
                    <a:p>
                      <a:pPr algn="ctr"/>
                      <a:r>
                        <a:rPr lang="en-CA" sz="1800" dirty="0"/>
                        <a:t>MIN(Cost)</a:t>
                      </a:r>
                    </a:p>
                  </a:txBody>
                  <a:tcPr marL="91437" marR="91437" marT="45700" marB="45700"/>
                </a:tc>
                <a:extLst>
                  <a:ext uri="{0D108BD9-81ED-4DB2-BD59-A6C34878D82A}">
                    <a16:rowId xmlns:a16="http://schemas.microsoft.com/office/drawing/2014/main" val="10000"/>
                  </a:ext>
                </a:extLst>
              </a:tr>
              <a:tr h="370681">
                <a:tc>
                  <a:txBody>
                    <a:bodyPr/>
                    <a:lstStyle/>
                    <a:p>
                      <a:pPr algn="ctr"/>
                      <a:r>
                        <a:rPr lang="en-CA" sz="1800" dirty="0"/>
                        <a:t>2</a:t>
                      </a:r>
                    </a:p>
                  </a:txBody>
                  <a:tcPr marL="91437" marR="91437" marT="45700" marB="45700"/>
                </a:tc>
                <a:tc>
                  <a:txBody>
                    <a:bodyPr/>
                    <a:lstStyle/>
                    <a:p>
                      <a:pPr algn="ctr"/>
                      <a:r>
                        <a:rPr lang="en-CA" sz="1800" dirty="0"/>
                        <a:t>55</a:t>
                      </a:r>
                    </a:p>
                  </a:txBody>
                  <a:tcPr marL="91437" marR="91437" marT="45700" marB="45700"/>
                </a:tc>
                <a:tc>
                  <a:txBody>
                    <a:bodyPr/>
                    <a:lstStyle/>
                    <a:p>
                      <a:pPr algn="ctr"/>
                      <a:r>
                        <a:rPr lang="en-CA" sz="1800" dirty="0"/>
                        <a:t>300.99</a:t>
                      </a:r>
                    </a:p>
                  </a:txBody>
                  <a:tcPr marL="91437" marR="91437" marT="45700" marB="45700"/>
                </a:tc>
                <a:tc>
                  <a:txBody>
                    <a:bodyPr/>
                    <a:lstStyle/>
                    <a:p>
                      <a:pPr algn="ctr"/>
                      <a:r>
                        <a:rPr lang="en-CA" sz="1800" dirty="0"/>
                        <a:t>199.49</a:t>
                      </a:r>
                    </a:p>
                  </a:txBody>
                  <a:tcPr marL="91437" marR="91437" marT="45700" marB="45700"/>
                </a:tc>
                <a:extLst>
                  <a:ext uri="{0D108BD9-81ED-4DB2-BD59-A6C34878D82A}">
                    <a16:rowId xmlns:a16="http://schemas.microsoft.com/office/drawing/2014/main" val="10001"/>
                  </a:ext>
                </a:extLst>
              </a:tr>
            </a:tbl>
          </a:graphicData>
        </a:graphic>
      </p:graphicFrame>
      <p:graphicFrame>
        <p:nvGraphicFramePr>
          <p:cNvPr id="11" name="Table 10">
            <a:extLst>
              <a:ext uri="{FF2B5EF4-FFF2-40B4-BE49-F238E27FC236}">
                <a16:creationId xmlns:a16="http://schemas.microsoft.com/office/drawing/2014/main" id="{E2410A2F-3B3B-0F17-916A-B934F1761091}"/>
              </a:ext>
            </a:extLst>
          </p:cNvPr>
          <p:cNvGraphicFramePr>
            <a:graphicFrameLocks noGrp="1"/>
          </p:cNvGraphicFramePr>
          <p:nvPr/>
        </p:nvGraphicFramePr>
        <p:xfrm>
          <a:off x="1184275" y="2349500"/>
          <a:ext cx="6096000" cy="1111251"/>
        </p:xfrm>
        <a:graphic>
          <a:graphicData uri="http://schemas.openxmlformats.org/drawingml/2006/table">
            <a:tbl>
              <a:tblPr firstRow="1" bandRow="1">
                <a:tableStyleId>{C083E6E3-FA7D-4D7B-A595-EF9225AFEA82}</a:tableStyleId>
              </a:tblPr>
              <a:tblGrid>
                <a:gridCol w="15240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tblGrid>
              <a:tr h="370417">
                <a:tc>
                  <a:txBody>
                    <a:bodyPr/>
                    <a:lstStyle/>
                    <a:p>
                      <a:pPr algn="ctr"/>
                      <a:r>
                        <a:rPr lang="en-CA" sz="1800" dirty="0"/>
                        <a:t>Date</a:t>
                      </a:r>
                    </a:p>
                  </a:txBody>
                  <a:tcPr marT="45668" marB="45668"/>
                </a:tc>
                <a:tc>
                  <a:txBody>
                    <a:bodyPr/>
                    <a:lstStyle/>
                    <a:p>
                      <a:pPr algn="ctr"/>
                      <a:r>
                        <a:rPr lang="en-CA" sz="1800" dirty="0"/>
                        <a:t>Name</a:t>
                      </a:r>
                    </a:p>
                  </a:txBody>
                  <a:tcPr marT="45668" marB="45668"/>
                </a:tc>
                <a:tc>
                  <a:txBody>
                    <a:bodyPr/>
                    <a:lstStyle/>
                    <a:p>
                      <a:pPr algn="ctr"/>
                      <a:r>
                        <a:rPr lang="en-CA" sz="1800" dirty="0"/>
                        <a:t>Spaces</a:t>
                      </a:r>
                    </a:p>
                  </a:txBody>
                  <a:tcPr marT="45668" marB="45668"/>
                </a:tc>
                <a:tc>
                  <a:txBody>
                    <a:bodyPr/>
                    <a:lstStyle/>
                    <a:p>
                      <a:pPr algn="ctr"/>
                      <a:r>
                        <a:rPr lang="en-CA" sz="1800" dirty="0"/>
                        <a:t>Cost</a:t>
                      </a:r>
                    </a:p>
                  </a:txBody>
                  <a:tcPr marT="45668" marB="45668"/>
                </a:tc>
                <a:extLst>
                  <a:ext uri="{0D108BD9-81ED-4DB2-BD59-A6C34878D82A}">
                    <a16:rowId xmlns:a16="http://schemas.microsoft.com/office/drawing/2014/main" val="10000"/>
                  </a:ext>
                </a:extLst>
              </a:tr>
              <a:tr h="370417">
                <a:tc>
                  <a:txBody>
                    <a:bodyPr/>
                    <a:lstStyle/>
                    <a:p>
                      <a:pPr algn="ctr"/>
                      <a:r>
                        <a:rPr lang="en-CA" sz="1800" dirty="0"/>
                        <a:t>2011-12-12</a:t>
                      </a:r>
                    </a:p>
                  </a:txBody>
                  <a:tcPr marT="45668" marB="45668"/>
                </a:tc>
                <a:tc>
                  <a:txBody>
                    <a:bodyPr/>
                    <a:lstStyle/>
                    <a:p>
                      <a:pPr algn="ctr"/>
                      <a:r>
                        <a:rPr lang="en-CA" sz="1800" dirty="0"/>
                        <a:t>Database</a:t>
                      </a:r>
                    </a:p>
                  </a:txBody>
                  <a:tcPr marT="45668" marB="45668"/>
                </a:tc>
                <a:tc>
                  <a:txBody>
                    <a:bodyPr/>
                    <a:lstStyle/>
                    <a:p>
                      <a:pPr algn="ctr"/>
                      <a:r>
                        <a:rPr lang="en-CA" sz="1800" dirty="0"/>
                        <a:t>25</a:t>
                      </a:r>
                    </a:p>
                  </a:txBody>
                  <a:tcPr marT="45668" marB="45668"/>
                </a:tc>
                <a:tc>
                  <a:txBody>
                    <a:bodyPr/>
                    <a:lstStyle/>
                    <a:p>
                      <a:pPr algn="ctr"/>
                      <a:r>
                        <a:rPr lang="en-CA" sz="1800" dirty="0"/>
                        <a:t>300.99</a:t>
                      </a:r>
                    </a:p>
                  </a:txBody>
                  <a:tcPr marT="45668" marB="45668"/>
                </a:tc>
                <a:extLst>
                  <a:ext uri="{0D108BD9-81ED-4DB2-BD59-A6C34878D82A}">
                    <a16:rowId xmlns:a16="http://schemas.microsoft.com/office/drawing/2014/main" val="10001"/>
                  </a:ext>
                </a:extLst>
              </a:tr>
              <a:tr h="370417">
                <a:tc>
                  <a:txBody>
                    <a:bodyPr/>
                    <a:lstStyle/>
                    <a:p>
                      <a:pPr algn="ctr"/>
                      <a:r>
                        <a:rPr lang="en-CA" sz="1800" dirty="0"/>
                        <a:t>2012-01-13</a:t>
                      </a:r>
                    </a:p>
                  </a:txBody>
                  <a:tcPr marT="45668" marB="45668"/>
                </a:tc>
                <a:tc>
                  <a:txBody>
                    <a:bodyPr/>
                    <a:lstStyle/>
                    <a:p>
                      <a:pPr algn="ctr"/>
                      <a:r>
                        <a:rPr lang="en-CA" sz="1800" dirty="0"/>
                        <a:t>Java</a:t>
                      </a:r>
                    </a:p>
                  </a:txBody>
                  <a:tcPr marT="45668" marB="45668"/>
                </a:tc>
                <a:tc>
                  <a:txBody>
                    <a:bodyPr/>
                    <a:lstStyle/>
                    <a:p>
                      <a:pPr algn="ctr"/>
                      <a:r>
                        <a:rPr lang="en-CA" sz="1800" dirty="0"/>
                        <a:t>30</a:t>
                      </a:r>
                    </a:p>
                  </a:txBody>
                  <a:tcPr marT="45668" marB="45668"/>
                </a:tc>
                <a:tc>
                  <a:txBody>
                    <a:bodyPr/>
                    <a:lstStyle/>
                    <a:p>
                      <a:pPr algn="ctr"/>
                      <a:r>
                        <a:rPr lang="en-CA" sz="1800" dirty="0"/>
                        <a:t>199.49</a:t>
                      </a:r>
                    </a:p>
                  </a:txBody>
                  <a:tcPr marT="45668" marB="45668"/>
                </a:tc>
                <a:extLst>
                  <a:ext uri="{0D108BD9-81ED-4DB2-BD59-A6C34878D82A}">
                    <a16:rowId xmlns:a16="http://schemas.microsoft.com/office/drawing/2014/main" val="10002"/>
                  </a:ext>
                </a:extLst>
              </a:tr>
            </a:tbl>
          </a:graphicData>
        </a:graphic>
      </p:graphicFrame>
      <p:sp>
        <p:nvSpPr>
          <p:cNvPr id="14" name="TextBox 13">
            <a:extLst>
              <a:ext uri="{FF2B5EF4-FFF2-40B4-BE49-F238E27FC236}">
                <a16:creationId xmlns:a16="http://schemas.microsoft.com/office/drawing/2014/main" id="{F0ECCD4A-486D-73A3-F56F-66FBCBF5B631}"/>
              </a:ext>
            </a:extLst>
          </p:cNvPr>
          <p:cNvSpPr txBox="1">
            <a:spLocks noChangeArrowheads="1"/>
          </p:cNvSpPr>
          <p:nvPr/>
        </p:nvSpPr>
        <p:spPr bwMode="auto">
          <a:xfrm>
            <a:off x="3592513" y="3467100"/>
            <a:ext cx="19589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Course table</a:t>
            </a:r>
          </a:p>
        </p:txBody>
      </p:sp>
      <p:sp>
        <p:nvSpPr>
          <p:cNvPr id="15" name="Rounded Rectangle 14">
            <a:extLst>
              <a:ext uri="{FF2B5EF4-FFF2-40B4-BE49-F238E27FC236}">
                <a16:creationId xmlns:a16="http://schemas.microsoft.com/office/drawing/2014/main" id="{D4291AD1-1164-2BFF-0FB7-FA600E10B01B}"/>
              </a:ext>
            </a:extLst>
          </p:cNvPr>
          <p:cNvSpPr/>
          <p:nvPr/>
        </p:nvSpPr>
        <p:spPr bwMode="auto">
          <a:xfrm>
            <a:off x="3133725" y="4818063"/>
            <a:ext cx="2195513" cy="482600"/>
          </a:xfrm>
          <a:prstGeom prst="roundRect">
            <a:avLst/>
          </a:prstGeom>
          <a:ln>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nchorCtr="1"/>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sz="3200" b="0" i="0" u="none" strike="noStrike" kern="1200" cap="none" spc="0" normalizeH="0" baseline="0" noProof="0" dirty="0">
                <a:ln>
                  <a:noFill/>
                </a:ln>
                <a:solidFill>
                  <a:srgbClr val="FFFFFF"/>
                </a:solidFill>
                <a:effectLst/>
                <a:uLnTx/>
                <a:uFillTx/>
                <a:latin typeface="Arial" charset="0"/>
                <a:ea typeface="+mn-ea"/>
                <a:cs typeface="+mn-cs"/>
              </a:rPr>
              <a:t>Answer</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wipe(left)">
                                      <p:cBhvr>
                                        <p:cTn id="7" dur="500"/>
                                        <p:tgtEl>
                                          <p:spTgt spid="9">
                                            <p:txEl>
                                              <p:pRg st="0" end="0"/>
                                            </p:txEl>
                                          </p:spTgt>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wipe(up)">
                                      <p:cBhvr>
                                        <p:cTn id="11" dur="500"/>
                                        <p:tgtEl>
                                          <p:spTgt spid="11"/>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wipe(left)">
                                      <p:cBhvr>
                                        <p:cTn id="15" dur="500"/>
                                        <p:tgtEl>
                                          <p:spTgt spid="14"/>
                                        </p:tgtEl>
                                      </p:cBhvr>
                                    </p:animEffect>
                                  </p:childTnLst>
                                </p:cTn>
                              </p:par>
                            </p:childTnLst>
                          </p:cTn>
                        </p:par>
                        <p:par>
                          <p:cTn id="16" fill="hold" nodeType="afterGroup">
                            <p:stCondLst>
                              <p:cond delay="1500"/>
                            </p:stCondLst>
                            <p:childTnLst>
                              <p:par>
                                <p:cTn id="17" presetID="22" presetClass="entr" presetSubtype="8" fill="hold" nodeType="afterEffect">
                                  <p:stCondLst>
                                    <p:cond delay="0"/>
                                  </p:stCondLst>
                                  <p:childTnLst>
                                    <p:set>
                                      <p:cBhvr>
                                        <p:cTn id="18" dur="1" fill="hold">
                                          <p:stCondLst>
                                            <p:cond delay="0"/>
                                          </p:stCondLst>
                                        </p:cTn>
                                        <p:tgtEl>
                                          <p:spTgt spid="9">
                                            <p:txEl>
                                              <p:pRg st="5" end="5"/>
                                            </p:txEl>
                                          </p:spTgt>
                                        </p:tgtEl>
                                        <p:attrNameLst>
                                          <p:attrName>style.visibility</p:attrName>
                                        </p:attrNameLst>
                                      </p:cBhvr>
                                      <p:to>
                                        <p:strVal val="visible"/>
                                      </p:to>
                                    </p:set>
                                    <p:animEffect transition="in" filter="wipe(left)">
                                      <p:cBhvr>
                                        <p:cTn id="19" dur="500"/>
                                        <p:tgtEl>
                                          <p:spTgt spid="9">
                                            <p:txEl>
                                              <p:pRg st="5" end="5"/>
                                            </p:txEl>
                                          </p:spTgt>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1" presetClass="entr" presetSubtype="0" fill="hold" nodeType="clickEffect">
                                  <p:stCondLst>
                                    <p:cond delay="0"/>
                                  </p:stCondLst>
                                  <p:childTnLst>
                                    <p:set>
                                      <p:cBhvr>
                                        <p:cTn id="27"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animBg="1"/>
    </p:bldLst>
  </p:timing>
</p:sld>
</file>

<file path=ppt/slides/slide2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4C8C4EC5-A449-07A4-CDED-3762A9141011}"/>
              </a:ext>
            </a:extLst>
          </p:cNvPr>
          <p:cNvSpPr txBox="1">
            <a:spLocks/>
          </p:cNvSpPr>
          <p:nvPr/>
        </p:nvSpPr>
        <p:spPr bwMode="auto">
          <a:xfrm>
            <a:off x="250825" y="1268413"/>
            <a:ext cx="7902575"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A database designer is responsible for the design of the database system</a:t>
            </a:r>
          </a:p>
        </p:txBody>
      </p:sp>
      <p:sp>
        <p:nvSpPr>
          <p:cNvPr id="2" name="Title 1">
            <a:extLst>
              <a:ext uri="{FF2B5EF4-FFF2-40B4-BE49-F238E27FC236}">
                <a16:creationId xmlns:a16="http://schemas.microsoft.com/office/drawing/2014/main" id="{535E4CC8-6BDD-0E24-BAC3-307A6FC729EE}"/>
              </a:ext>
            </a:extLst>
          </p:cNvPr>
          <p:cNvSpPr>
            <a:spLocks noGrp="1"/>
          </p:cNvSpPr>
          <p:nvPr>
            <p:ph type="title"/>
          </p:nvPr>
        </p:nvSpPr>
        <p:spPr>
          <a:xfrm>
            <a:off x="457200" y="0"/>
            <a:ext cx="7620000" cy="1143000"/>
          </a:xfrm>
        </p:spPr>
        <p:txBody>
          <a:bodyPr/>
          <a:lstStyle/>
          <a:p>
            <a:pPr algn="ctr">
              <a:defRPr/>
            </a:pPr>
            <a:r>
              <a:rPr lang="en-US" dirty="0"/>
              <a:t>INTRODUCTION</a:t>
            </a:r>
            <a:endParaRPr lang="en-MY" dirty="0"/>
          </a:p>
        </p:txBody>
      </p:sp>
      <p:sp>
        <p:nvSpPr>
          <p:cNvPr id="8" name="Content Placeholder 2">
            <a:extLst>
              <a:ext uri="{FF2B5EF4-FFF2-40B4-BE49-F238E27FC236}">
                <a16:creationId xmlns:a16="http://schemas.microsoft.com/office/drawing/2014/main" id="{709C9AA4-1D14-001C-3BB1-FDE2B042A53F}"/>
              </a:ext>
            </a:extLst>
          </p:cNvPr>
          <p:cNvSpPr txBox="1">
            <a:spLocks/>
          </p:cNvSpPr>
          <p:nvPr/>
        </p:nvSpPr>
        <p:spPr bwMode="auto">
          <a:xfrm>
            <a:off x="714375" y="2781300"/>
            <a:ext cx="6665913" cy="316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177800">
              <a:defRPr>
                <a:solidFill>
                  <a:schemeClr val="tx1"/>
                </a:solidFill>
                <a:latin typeface="Arial" panose="020B0604020202020204" pitchFamily="34" charset="0"/>
                <a:cs typeface="Arial" panose="020B0604020202020204" pitchFamily="34" charset="0"/>
              </a:defRPr>
            </a:lvl1pPr>
            <a:lvl2pPr marL="808038" indent="-350838">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17780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24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Responsibilities:</a:t>
            </a:r>
          </a:p>
          <a:p>
            <a:pPr marL="808038" marR="0" lvl="1" indent="-350838"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Char char=""/>
              <a:tabLst/>
              <a:defRPr/>
            </a:pPr>
            <a:r>
              <a:rPr kumimoji="0" lang="en-CA" altLang="en-US" sz="24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Data modelling using EER diagram</a:t>
            </a:r>
          </a:p>
          <a:p>
            <a:pPr marL="808038" marR="0" lvl="1" indent="-350838"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Char char=""/>
              <a:tabLst/>
              <a:defRPr/>
            </a:pPr>
            <a:r>
              <a:rPr kumimoji="0" lang="en-CA" altLang="en-US" sz="24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Relational database design and normalization</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wipe(left)">
                                      <p:cBhvr>
                                        <p:cTn id="7" dur="500"/>
                                        <p:tgtEl>
                                          <p:spTgt spid="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xEl>
                                              <p:pRg st="0" end="0"/>
                                            </p:txEl>
                                          </p:spTgt>
                                        </p:tgtEl>
                                        <p:attrNameLst>
                                          <p:attrName>style.visibility</p:attrName>
                                        </p:attrNameLst>
                                      </p:cBhvr>
                                      <p:to>
                                        <p:strVal val="visible"/>
                                      </p:to>
                                    </p:set>
                                    <p:animEffect transition="in" filter="wipe(left)">
                                      <p:cBhvr>
                                        <p:cTn id="12" dur="500"/>
                                        <p:tgtEl>
                                          <p:spTgt spid="8">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
                                            <p:txEl>
                                              <p:pRg st="1" end="1"/>
                                            </p:txEl>
                                          </p:spTgt>
                                        </p:tgtEl>
                                        <p:attrNameLst>
                                          <p:attrName>style.visibility</p:attrName>
                                        </p:attrNameLst>
                                      </p:cBhvr>
                                      <p:to>
                                        <p:strVal val="visible"/>
                                      </p:to>
                                    </p:set>
                                    <p:animEffect transition="in" filter="wipe(left)">
                                      <p:cBhvr>
                                        <p:cTn id="17" dur="500"/>
                                        <p:tgtEl>
                                          <p:spTgt spid="8">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
                                            <p:txEl>
                                              <p:pRg st="2" end="2"/>
                                            </p:txEl>
                                          </p:spTgt>
                                        </p:tgtEl>
                                        <p:attrNameLst>
                                          <p:attrName>style.visibility</p:attrName>
                                        </p:attrNameLst>
                                      </p:cBhvr>
                                      <p:to>
                                        <p:strVal val="visible"/>
                                      </p:to>
                                    </p:set>
                                    <p:animEffect transition="in" filter="wipe(left)">
                                      <p:cBhvr>
                                        <p:cTn id="22" dur="500"/>
                                        <p:tgtEl>
                                          <p:spTgt spid="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P spid="8" grpId="0" build="p"/>
    </p:bldLst>
  </p:timing>
</p:sld>
</file>

<file path=ppt/slides/slide2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2E35F0FF-77DC-7CF8-7B9B-C836A6E115A1}"/>
              </a:ext>
            </a:extLst>
          </p:cNvPr>
          <p:cNvSpPr txBox="1">
            <a:spLocks/>
          </p:cNvSpPr>
          <p:nvPr/>
        </p:nvSpPr>
        <p:spPr bwMode="auto">
          <a:xfrm>
            <a:off x="457200" y="1700213"/>
            <a:ext cx="7561263" cy="2449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50000"/>
              </a:lnSpc>
              <a:spcBef>
                <a:spcPct val="20000"/>
              </a:spcBef>
              <a:spcAft>
                <a:spcPct val="0"/>
              </a:spcAft>
              <a:buClr>
                <a:srgbClr val="FF6600"/>
              </a:buClr>
              <a:buSzTx/>
              <a:buFont typeface="Wingdings 3" panose="05040102010807070707" pitchFamily="18" charset="2"/>
              <a:buNone/>
              <a:tabLst/>
              <a:defRPr/>
            </a:pPr>
            <a:r>
              <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A database administrator (DBA) is responsible for managing the DBMS. </a:t>
            </a:r>
          </a:p>
          <a:p>
            <a:pPr marL="0" marR="0" lvl="0" indent="0" algn="just" defTabSz="914400" rtl="0" eaLnBrk="1" fontAlgn="base" latinLnBrk="0" hangingPunct="1">
              <a:lnSpc>
                <a:spcPct val="150000"/>
              </a:lnSpc>
              <a:spcBef>
                <a:spcPct val="20000"/>
              </a:spcBef>
              <a:spcAft>
                <a:spcPct val="0"/>
              </a:spcAft>
              <a:buClr>
                <a:srgbClr val="FF6600"/>
              </a:buClr>
              <a:buSzTx/>
              <a:buFont typeface="Wingdings 3" panose="05040102010807070707" pitchFamily="18" charset="2"/>
              <a:buNone/>
              <a:tabLst/>
              <a:defRPr/>
            </a:pPr>
            <a:r>
              <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This </a:t>
            </a:r>
            <a:r>
              <a:rPr kumimoji="0" lang="en-US"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ensures that the database system is functioning properly at all times</a:t>
            </a:r>
            <a:r>
              <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a:t>
            </a: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sp>
        <p:nvSpPr>
          <p:cNvPr id="2" name="Title 1">
            <a:extLst>
              <a:ext uri="{FF2B5EF4-FFF2-40B4-BE49-F238E27FC236}">
                <a16:creationId xmlns:a16="http://schemas.microsoft.com/office/drawing/2014/main" id="{BA73AD58-51C9-FB96-35FA-F9F23A4E76F0}"/>
              </a:ext>
            </a:extLst>
          </p:cNvPr>
          <p:cNvSpPr>
            <a:spLocks noGrp="1"/>
          </p:cNvSpPr>
          <p:nvPr>
            <p:ph type="title"/>
          </p:nvPr>
        </p:nvSpPr>
        <p:spPr>
          <a:xfrm>
            <a:off x="457200" y="0"/>
            <a:ext cx="7620000" cy="1143000"/>
          </a:xfrm>
        </p:spPr>
        <p:txBody>
          <a:bodyPr/>
          <a:lstStyle/>
          <a:p>
            <a:pPr algn="ctr">
              <a:defRPr/>
            </a:pPr>
            <a:r>
              <a:rPr lang="en-US" dirty="0"/>
              <a:t>INTRODUCTION</a:t>
            </a:r>
            <a:endParaRPr lang="en-MY"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wipe(left)">
                                      <p:cBhvr>
                                        <p:cTn id="7" dur="500"/>
                                        <p:tgtEl>
                                          <p:spTgt spid="9">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animEffect transition="in" filter="wipe(left)">
                                      <p:cBhvr>
                                        <p:cTn id="11" dur="500"/>
                                        <p:tgtEl>
                                          <p:spTgt spid="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2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7D7E9-A3AA-1438-5C86-E714B55F67B8}"/>
              </a:ext>
            </a:extLst>
          </p:cNvPr>
          <p:cNvSpPr>
            <a:spLocks noGrp="1"/>
          </p:cNvSpPr>
          <p:nvPr>
            <p:ph type="title"/>
          </p:nvPr>
        </p:nvSpPr>
        <p:spPr>
          <a:xfrm>
            <a:off x="250825" y="0"/>
            <a:ext cx="8054975" cy="1143000"/>
          </a:xfrm>
        </p:spPr>
        <p:txBody>
          <a:bodyPr/>
          <a:lstStyle/>
          <a:p>
            <a:pPr algn="ctr">
              <a:defRPr/>
            </a:pPr>
            <a:r>
              <a:rPr lang="en-US" dirty="0"/>
              <a:t>General Database Administration</a:t>
            </a:r>
            <a:endParaRPr lang="en-MY" dirty="0"/>
          </a:p>
        </p:txBody>
      </p:sp>
      <p:sp>
        <p:nvSpPr>
          <p:cNvPr id="30" name="Content Placeholder 2">
            <a:extLst>
              <a:ext uri="{FF2B5EF4-FFF2-40B4-BE49-F238E27FC236}">
                <a16:creationId xmlns:a16="http://schemas.microsoft.com/office/drawing/2014/main" id="{7EE15128-7BA9-4BFB-7C87-53D167378FAC}"/>
              </a:ext>
            </a:extLst>
          </p:cNvPr>
          <p:cNvSpPr txBox="1">
            <a:spLocks/>
          </p:cNvSpPr>
          <p:nvPr/>
        </p:nvSpPr>
        <p:spPr bwMode="auto">
          <a:xfrm>
            <a:off x="250825" y="1268413"/>
            <a:ext cx="865505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A DBA is responsible for</a:t>
            </a:r>
          </a:p>
        </p:txBody>
      </p:sp>
      <p:sp>
        <p:nvSpPr>
          <p:cNvPr id="31" name="Freeform 30">
            <a:hlinkClick r:id="rId2" action="ppaction://hlinksldjump"/>
            <a:extLst>
              <a:ext uri="{FF2B5EF4-FFF2-40B4-BE49-F238E27FC236}">
                <a16:creationId xmlns:a16="http://schemas.microsoft.com/office/drawing/2014/main" id="{ECF95224-558A-8CF4-82A0-9834F5030D91}"/>
              </a:ext>
            </a:extLst>
          </p:cNvPr>
          <p:cNvSpPr/>
          <p:nvPr/>
        </p:nvSpPr>
        <p:spPr>
          <a:xfrm>
            <a:off x="119063" y="1951038"/>
            <a:ext cx="2624137" cy="1706562"/>
          </a:xfrm>
          <a:custGeom>
            <a:avLst/>
            <a:gdLst>
              <a:gd name="connsiteX0" fmla="*/ 0 w 2236185"/>
              <a:gd name="connsiteY0" fmla="*/ 0 h 1341711"/>
              <a:gd name="connsiteX1" fmla="*/ 2236185 w 2236185"/>
              <a:gd name="connsiteY1" fmla="*/ 0 h 1341711"/>
              <a:gd name="connsiteX2" fmla="*/ 2236185 w 2236185"/>
              <a:gd name="connsiteY2" fmla="*/ 1341711 h 1341711"/>
              <a:gd name="connsiteX3" fmla="*/ 0 w 2236185"/>
              <a:gd name="connsiteY3" fmla="*/ 1341711 h 1341711"/>
              <a:gd name="connsiteX4" fmla="*/ 0 w 2236185"/>
              <a:gd name="connsiteY4" fmla="*/ 0 h 1341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6185" h="1341711">
                <a:moveTo>
                  <a:pt x="0" y="0"/>
                </a:moveTo>
                <a:lnTo>
                  <a:pt x="2236185" y="0"/>
                </a:lnTo>
                <a:lnTo>
                  <a:pt x="2236185" y="1341711"/>
                </a:lnTo>
                <a:lnTo>
                  <a:pt x="0" y="1341711"/>
                </a:lnTo>
                <a:lnTo>
                  <a:pt x="0" y="0"/>
                </a:lnTo>
                <a:close/>
              </a:path>
            </a:pathLst>
          </a:custGeom>
          <a:ln/>
        </p:spPr>
        <p:style>
          <a:lnRef idx="3">
            <a:schemeClr val="lt1"/>
          </a:lnRef>
          <a:fillRef idx="1">
            <a:schemeClr val="accent1"/>
          </a:fillRef>
          <a:effectRef idx="1">
            <a:schemeClr val="accent1"/>
          </a:effectRef>
          <a:fontRef idx="minor">
            <a:schemeClr val="lt1"/>
          </a:fontRef>
        </p:style>
        <p:txBody>
          <a:bodyPr lIns="83820" tIns="83820" rIns="83820" bIns="83820" spcCol="1270" anchor="ctr"/>
          <a:lstStyle/>
          <a:p>
            <a:pPr marL="0" marR="0" lvl="0" indent="0" algn="ctr" defTabSz="977900" rtl="0" eaLnBrk="0" fontAlgn="base" latinLnBrk="0" hangingPunct="0">
              <a:lnSpc>
                <a:spcPct val="90000"/>
              </a:lnSpc>
              <a:spcBef>
                <a:spcPct val="0"/>
              </a:spcBef>
              <a:spcAft>
                <a:spcPct val="35000"/>
              </a:spcAft>
              <a:buClrTx/>
              <a:buSzTx/>
              <a:buFontTx/>
              <a:buNone/>
              <a:tabLst/>
              <a:defRPr/>
            </a:pPr>
            <a:r>
              <a:rPr kumimoji="0" lang="en-CA" sz="2200" b="0" i="0" u="none" strike="noStrike" kern="1200" cap="none" spc="0" normalizeH="0" baseline="0" noProof="0" dirty="0">
                <a:ln>
                  <a:noFill/>
                </a:ln>
                <a:solidFill>
                  <a:srgbClr val="FFFFFF"/>
                </a:solidFill>
                <a:effectLst/>
                <a:uLnTx/>
                <a:uFillTx/>
                <a:latin typeface="Calibri"/>
                <a:ea typeface="+mn-ea"/>
                <a:cs typeface="+mn-cs"/>
              </a:rPr>
              <a:t>Server startup, shutdown and upgrade</a:t>
            </a:r>
          </a:p>
        </p:txBody>
      </p:sp>
      <p:sp>
        <p:nvSpPr>
          <p:cNvPr id="32" name="Freeform 31">
            <a:hlinkClick r:id="rId3" action="ppaction://hlinksldjump"/>
            <a:extLst>
              <a:ext uri="{FF2B5EF4-FFF2-40B4-BE49-F238E27FC236}">
                <a16:creationId xmlns:a16="http://schemas.microsoft.com/office/drawing/2014/main" id="{E01239CE-CF76-97FF-2224-5C022D8C3158}"/>
              </a:ext>
            </a:extLst>
          </p:cNvPr>
          <p:cNvSpPr/>
          <p:nvPr/>
        </p:nvSpPr>
        <p:spPr>
          <a:xfrm>
            <a:off x="2876550" y="1949450"/>
            <a:ext cx="2624138" cy="1706563"/>
          </a:xfrm>
          <a:custGeom>
            <a:avLst/>
            <a:gdLst>
              <a:gd name="connsiteX0" fmla="*/ 0 w 2236185"/>
              <a:gd name="connsiteY0" fmla="*/ 0 h 1341711"/>
              <a:gd name="connsiteX1" fmla="*/ 2236185 w 2236185"/>
              <a:gd name="connsiteY1" fmla="*/ 0 h 1341711"/>
              <a:gd name="connsiteX2" fmla="*/ 2236185 w 2236185"/>
              <a:gd name="connsiteY2" fmla="*/ 1341711 h 1341711"/>
              <a:gd name="connsiteX3" fmla="*/ 0 w 2236185"/>
              <a:gd name="connsiteY3" fmla="*/ 1341711 h 1341711"/>
              <a:gd name="connsiteX4" fmla="*/ 0 w 2236185"/>
              <a:gd name="connsiteY4" fmla="*/ 0 h 1341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6185" h="1341711">
                <a:moveTo>
                  <a:pt x="0" y="0"/>
                </a:moveTo>
                <a:lnTo>
                  <a:pt x="2236185" y="0"/>
                </a:lnTo>
                <a:lnTo>
                  <a:pt x="2236185" y="1341711"/>
                </a:lnTo>
                <a:lnTo>
                  <a:pt x="0" y="1341711"/>
                </a:lnTo>
                <a:lnTo>
                  <a:pt x="0" y="0"/>
                </a:lnTo>
                <a:close/>
              </a:path>
            </a:pathLst>
          </a:custGeom>
          <a:ln/>
        </p:spPr>
        <p:style>
          <a:lnRef idx="3">
            <a:schemeClr val="lt1"/>
          </a:lnRef>
          <a:fillRef idx="1">
            <a:schemeClr val="accent2"/>
          </a:fillRef>
          <a:effectRef idx="1">
            <a:schemeClr val="accent2"/>
          </a:effectRef>
          <a:fontRef idx="minor">
            <a:schemeClr val="lt1"/>
          </a:fontRef>
        </p:style>
        <p:txBody>
          <a:bodyPr lIns="83820" tIns="83820" rIns="83820" bIns="83820" spcCol="1270" anchor="ctr"/>
          <a:lstStyle/>
          <a:p>
            <a:pPr marL="0" marR="0" lvl="0" indent="0" algn="ctr" defTabSz="977900" rtl="0" eaLnBrk="0" fontAlgn="base" latinLnBrk="0" hangingPunct="0">
              <a:lnSpc>
                <a:spcPct val="90000"/>
              </a:lnSpc>
              <a:spcBef>
                <a:spcPct val="0"/>
              </a:spcBef>
              <a:spcAft>
                <a:spcPct val="35000"/>
              </a:spcAft>
              <a:buClrTx/>
              <a:buSzTx/>
              <a:buFontTx/>
              <a:buNone/>
              <a:tabLst/>
              <a:defRPr/>
            </a:pPr>
            <a:r>
              <a:rPr kumimoji="0" lang="en-CA" sz="2200" b="0" i="0" u="none" strike="noStrike" kern="1200" cap="none" spc="0" normalizeH="0" baseline="0" noProof="0" dirty="0">
                <a:ln>
                  <a:noFill/>
                </a:ln>
                <a:solidFill>
                  <a:srgbClr val="FFFFFF"/>
                </a:solidFill>
                <a:effectLst/>
                <a:uLnTx/>
                <a:uFillTx/>
                <a:latin typeface="Calibri"/>
                <a:ea typeface="+mn-ea"/>
                <a:cs typeface="+mn-cs"/>
              </a:rPr>
              <a:t>User account maintenance</a:t>
            </a:r>
          </a:p>
        </p:txBody>
      </p:sp>
      <p:sp>
        <p:nvSpPr>
          <p:cNvPr id="33" name="Freeform 32">
            <a:hlinkClick r:id="rId4" action="ppaction://hlinksldjump"/>
            <a:extLst>
              <a:ext uri="{FF2B5EF4-FFF2-40B4-BE49-F238E27FC236}">
                <a16:creationId xmlns:a16="http://schemas.microsoft.com/office/drawing/2014/main" id="{6F1076A0-5495-6518-8699-0532A109993E}"/>
              </a:ext>
            </a:extLst>
          </p:cNvPr>
          <p:cNvSpPr/>
          <p:nvPr/>
        </p:nvSpPr>
        <p:spPr>
          <a:xfrm>
            <a:off x="5638800" y="1949450"/>
            <a:ext cx="2624138" cy="1706563"/>
          </a:xfrm>
          <a:custGeom>
            <a:avLst/>
            <a:gdLst>
              <a:gd name="connsiteX0" fmla="*/ 0 w 2236185"/>
              <a:gd name="connsiteY0" fmla="*/ 0 h 1341711"/>
              <a:gd name="connsiteX1" fmla="*/ 2236185 w 2236185"/>
              <a:gd name="connsiteY1" fmla="*/ 0 h 1341711"/>
              <a:gd name="connsiteX2" fmla="*/ 2236185 w 2236185"/>
              <a:gd name="connsiteY2" fmla="*/ 1341711 h 1341711"/>
              <a:gd name="connsiteX3" fmla="*/ 0 w 2236185"/>
              <a:gd name="connsiteY3" fmla="*/ 1341711 h 1341711"/>
              <a:gd name="connsiteX4" fmla="*/ 0 w 2236185"/>
              <a:gd name="connsiteY4" fmla="*/ 0 h 1341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6185" h="1341711">
                <a:moveTo>
                  <a:pt x="0" y="0"/>
                </a:moveTo>
                <a:lnTo>
                  <a:pt x="2236185" y="0"/>
                </a:lnTo>
                <a:lnTo>
                  <a:pt x="2236185" y="1341711"/>
                </a:lnTo>
                <a:lnTo>
                  <a:pt x="0" y="1341711"/>
                </a:lnTo>
                <a:lnTo>
                  <a:pt x="0" y="0"/>
                </a:lnTo>
                <a:close/>
              </a:path>
            </a:pathLst>
          </a:custGeom>
          <a:ln/>
        </p:spPr>
        <p:style>
          <a:lnRef idx="3">
            <a:schemeClr val="lt1"/>
          </a:lnRef>
          <a:fillRef idx="1">
            <a:schemeClr val="accent3"/>
          </a:fillRef>
          <a:effectRef idx="1">
            <a:schemeClr val="accent3"/>
          </a:effectRef>
          <a:fontRef idx="minor">
            <a:schemeClr val="lt1"/>
          </a:fontRef>
        </p:style>
        <p:txBody>
          <a:bodyPr lIns="83820" tIns="83820" rIns="83820" bIns="83820" spcCol="1270" anchor="ctr"/>
          <a:lstStyle/>
          <a:p>
            <a:pPr marL="0" marR="0" lvl="0" indent="0" algn="ctr" defTabSz="977900" rtl="0" eaLnBrk="0" fontAlgn="base" latinLnBrk="0" hangingPunct="0">
              <a:lnSpc>
                <a:spcPct val="90000"/>
              </a:lnSpc>
              <a:spcBef>
                <a:spcPct val="0"/>
              </a:spcBef>
              <a:spcAft>
                <a:spcPct val="35000"/>
              </a:spcAft>
              <a:buClrTx/>
              <a:buSzTx/>
              <a:buFontTx/>
              <a:buNone/>
              <a:tabLst/>
              <a:defRPr/>
            </a:pPr>
            <a:r>
              <a:rPr kumimoji="0" lang="en-CA" sz="2200" b="0" i="0" u="none" strike="noStrike" kern="1200" cap="none" spc="0" normalizeH="0" baseline="0" noProof="0" dirty="0">
                <a:ln>
                  <a:noFill/>
                </a:ln>
                <a:solidFill>
                  <a:srgbClr val="FFFFFF"/>
                </a:solidFill>
                <a:effectLst/>
                <a:uLnTx/>
                <a:uFillTx/>
                <a:latin typeface="Calibri"/>
                <a:ea typeface="+mn-ea"/>
                <a:cs typeface="+mn-cs"/>
              </a:rPr>
              <a:t>Log maintenance</a:t>
            </a:r>
          </a:p>
        </p:txBody>
      </p:sp>
      <p:sp>
        <p:nvSpPr>
          <p:cNvPr id="34" name="Freeform 33">
            <a:hlinkClick r:id="rId5" action="ppaction://hlinksldjump"/>
            <a:extLst>
              <a:ext uri="{FF2B5EF4-FFF2-40B4-BE49-F238E27FC236}">
                <a16:creationId xmlns:a16="http://schemas.microsoft.com/office/drawing/2014/main" id="{A37D4E82-FEB0-BCCD-2328-360C72B0A95A}"/>
              </a:ext>
            </a:extLst>
          </p:cNvPr>
          <p:cNvSpPr/>
          <p:nvPr/>
        </p:nvSpPr>
        <p:spPr>
          <a:xfrm>
            <a:off x="1473200" y="3965575"/>
            <a:ext cx="2624138" cy="1706563"/>
          </a:xfrm>
          <a:custGeom>
            <a:avLst/>
            <a:gdLst>
              <a:gd name="connsiteX0" fmla="*/ 0 w 2236185"/>
              <a:gd name="connsiteY0" fmla="*/ 0 h 1341711"/>
              <a:gd name="connsiteX1" fmla="*/ 2236185 w 2236185"/>
              <a:gd name="connsiteY1" fmla="*/ 0 h 1341711"/>
              <a:gd name="connsiteX2" fmla="*/ 2236185 w 2236185"/>
              <a:gd name="connsiteY2" fmla="*/ 1341711 h 1341711"/>
              <a:gd name="connsiteX3" fmla="*/ 0 w 2236185"/>
              <a:gd name="connsiteY3" fmla="*/ 1341711 h 1341711"/>
              <a:gd name="connsiteX4" fmla="*/ 0 w 2236185"/>
              <a:gd name="connsiteY4" fmla="*/ 0 h 1341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6185" h="1341711">
                <a:moveTo>
                  <a:pt x="0" y="0"/>
                </a:moveTo>
                <a:lnTo>
                  <a:pt x="2236185" y="0"/>
                </a:lnTo>
                <a:lnTo>
                  <a:pt x="2236185" y="1341711"/>
                </a:lnTo>
                <a:lnTo>
                  <a:pt x="0" y="1341711"/>
                </a:lnTo>
                <a:lnTo>
                  <a:pt x="0" y="0"/>
                </a:lnTo>
                <a:close/>
              </a:path>
            </a:pathLst>
          </a:custGeom>
          <a:ln/>
        </p:spPr>
        <p:style>
          <a:lnRef idx="3">
            <a:schemeClr val="lt1"/>
          </a:lnRef>
          <a:fillRef idx="1">
            <a:schemeClr val="accent4"/>
          </a:fillRef>
          <a:effectRef idx="1">
            <a:schemeClr val="accent4"/>
          </a:effectRef>
          <a:fontRef idx="minor">
            <a:schemeClr val="lt1"/>
          </a:fontRef>
        </p:style>
        <p:txBody>
          <a:bodyPr lIns="83820" tIns="83820" rIns="83820" bIns="83820" spcCol="1270" anchor="ctr"/>
          <a:lstStyle/>
          <a:p>
            <a:pPr marL="0" marR="0" lvl="0" indent="0" algn="ctr" defTabSz="977900" rtl="0" eaLnBrk="0" fontAlgn="base" latinLnBrk="0" hangingPunct="0">
              <a:lnSpc>
                <a:spcPct val="90000"/>
              </a:lnSpc>
              <a:spcBef>
                <a:spcPct val="0"/>
              </a:spcBef>
              <a:spcAft>
                <a:spcPct val="35000"/>
              </a:spcAft>
              <a:buClrTx/>
              <a:buSzTx/>
              <a:buFontTx/>
              <a:buNone/>
              <a:tabLst/>
              <a:defRPr/>
            </a:pPr>
            <a:r>
              <a:rPr kumimoji="0" lang="en-CA" sz="2200" b="0" i="0" u="none" strike="noStrike" kern="1200" cap="none" spc="0" normalizeH="0" baseline="0" noProof="0" dirty="0">
                <a:ln>
                  <a:noFill/>
                </a:ln>
                <a:solidFill>
                  <a:srgbClr val="FFFFFF"/>
                </a:solidFill>
                <a:effectLst/>
                <a:uLnTx/>
                <a:uFillTx/>
                <a:latin typeface="Calibri"/>
                <a:ea typeface="+mn-ea"/>
                <a:cs typeface="+mn-cs"/>
              </a:rPr>
              <a:t>Server configuration and tuning</a:t>
            </a:r>
          </a:p>
        </p:txBody>
      </p:sp>
      <p:sp>
        <p:nvSpPr>
          <p:cNvPr id="35" name="Freeform 34">
            <a:hlinkClick r:id="rId6" action="ppaction://hlinksldjump"/>
            <a:extLst>
              <a:ext uri="{FF2B5EF4-FFF2-40B4-BE49-F238E27FC236}">
                <a16:creationId xmlns:a16="http://schemas.microsoft.com/office/drawing/2014/main" id="{B7BC56F3-4E14-D195-EA0B-B451CEA1662B}"/>
              </a:ext>
            </a:extLst>
          </p:cNvPr>
          <p:cNvSpPr/>
          <p:nvPr/>
        </p:nvSpPr>
        <p:spPr>
          <a:xfrm>
            <a:off x="4321175" y="3944938"/>
            <a:ext cx="2624138" cy="1706562"/>
          </a:xfrm>
          <a:custGeom>
            <a:avLst/>
            <a:gdLst>
              <a:gd name="connsiteX0" fmla="*/ 0 w 2236185"/>
              <a:gd name="connsiteY0" fmla="*/ 0 h 1341711"/>
              <a:gd name="connsiteX1" fmla="*/ 2236185 w 2236185"/>
              <a:gd name="connsiteY1" fmla="*/ 0 h 1341711"/>
              <a:gd name="connsiteX2" fmla="*/ 2236185 w 2236185"/>
              <a:gd name="connsiteY2" fmla="*/ 1341711 h 1341711"/>
              <a:gd name="connsiteX3" fmla="*/ 0 w 2236185"/>
              <a:gd name="connsiteY3" fmla="*/ 1341711 h 1341711"/>
              <a:gd name="connsiteX4" fmla="*/ 0 w 2236185"/>
              <a:gd name="connsiteY4" fmla="*/ 0 h 1341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6185" h="1341711">
                <a:moveTo>
                  <a:pt x="0" y="0"/>
                </a:moveTo>
                <a:lnTo>
                  <a:pt x="2236185" y="0"/>
                </a:lnTo>
                <a:lnTo>
                  <a:pt x="2236185" y="1341711"/>
                </a:lnTo>
                <a:lnTo>
                  <a:pt x="0" y="1341711"/>
                </a:lnTo>
                <a:lnTo>
                  <a:pt x="0" y="0"/>
                </a:lnTo>
                <a:close/>
              </a:path>
            </a:pathLst>
          </a:custGeom>
          <a:ln/>
        </p:spPr>
        <p:style>
          <a:lnRef idx="3">
            <a:schemeClr val="lt1"/>
          </a:lnRef>
          <a:fillRef idx="1">
            <a:schemeClr val="accent6"/>
          </a:fillRef>
          <a:effectRef idx="1">
            <a:schemeClr val="accent6"/>
          </a:effectRef>
          <a:fontRef idx="minor">
            <a:schemeClr val="lt1"/>
          </a:fontRef>
        </p:style>
        <p:txBody>
          <a:bodyPr lIns="83820" tIns="83820" rIns="83820" bIns="83820" spcCol="1270" anchor="ctr"/>
          <a:lstStyle/>
          <a:p>
            <a:pPr marL="0" marR="0" lvl="0" indent="0" algn="ctr" defTabSz="977900" rtl="0" eaLnBrk="0" fontAlgn="base" latinLnBrk="0" hangingPunct="0">
              <a:lnSpc>
                <a:spcPct val="90000"/>
              </a:lnSpc>
              <a:spcBef>
                <a:spcPct val="0"/>
              </a:spcBef>
              <a:spcAft>
                <a:spcPct val="35000"/>
              </a:spcAft>
              <a:buClrTx/>
              <a:buSzTx/>
              <a:buFontTx/>
              <a:buNone/>
              <a:tabLst/>
              <a:defRPr/>
            </a:pPr>
            <a:r>
              <a:rPr kumimoji="0" lang="en-CA" sz="2200" b="0" i="0" u="none" strike="noStrike" kern="1200" cap="none" spc="0" normalizeH="0" baseline="0" noProof="0" dirty="0">
                <a:ln>
                  <a:noFill/>
                </a:ln>
                <a:solidFill>
                  <a:srgbClr val="FFFFFF"/>
                </a:solidFill>
                <a:effectLst/>
                <a:uLnTx/>
                <a:uFillTx/>
                <a:latin typeface="Calibri"/>
                <a:ea typeface="+mn-ea"/>
                <a:cs typeface="+mn-cs"/>
              </a:rPr>
              <a:t>Multiple server management</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0">
                                            <p:txEl>
                                              <p:pRg st="0" end="0"/>
                                            </p:txEl>
                                          </p:spTgt>
                                        </p:tgtEl>
                                        <p:attrNameLst>
                                          <p:attrName>style.visibility</p:attrName>
                                        </p:attrNameLst>
                                      </p:cBhvr>
                                      <p:to>
                                        <p:strVal val="visible"/>
                                      </p:to>
                                    </p:set>
                                    <p:animEffect transition="in" filter="wipe(left)">
                                      <p:cBhvr>
                                        <p:cTn id="7" dur="500"/>
                                        <p:tgtEl>
                                          <p:spTgt spid="30">
                                            <p:txEl>
                                              <p:pRg st="0" end="0"/>
                                            </p:txEl>
                                          </p:spTgt>
                                        </p:tgtEl>
                                      </p:cBhvr>
                                    </p:animEffect>
                                  </p:childTnLst>
                                </p:cTn>
                              </p:par>
                            </p:childTnLst>
                          </p:cTn>
                        </p:par>
                        <p:par>
                          <p:cTn id="8" fill="hold" nodeType="afterGroup">
                            <p:stCondLst>
                              <p:cond delay="500"/>
                            </p:stCondLst>
                            <p:childTnLst>
                              <p:par>
                                <p:cTn id="9" presetID="42" presetClass="entr" presetSubtype="0" fill="hold" grpId="0" nodeType="afterEffect">
                                  <p:stCondLst>
                                    <p:cond delay="0"/>
                                  </p:stCondLst>
                                  <p:childTnLst>
                                    <p:set>
                                      <p:cBhvr>
                                        <p:cTn id="10" dur="1" fill="hold">
                                          <p:stCondLst>
                                            <p:cond delay="0"/>
                                          </p:stCondLst>
                                        </p:cTn>
                                        <p:tgtEl>
                                          <p:spTgt spid="31"/>
                                        </p:tgtEl>
                                        <p:attrNameLst>
                                          <p:attrName>style.visibility</p:attrName>
                                        </p:attrNameLst>
                                      </p:cBhvr>
                                      <p:to>
                                        <p:strVal val="visible"/>
                                      </p:to>
                                    </p:set>
                                    <p:animEffect transition="in" filter="fade">
                                      <p:cBhvr>
                                        <p:cTn id="11" dur="1000"/>
                                        <p:tgtEl>
                                          <p:spTgt spid="31"/>
                                        </p:tgtEl>
                                      </p:cBhvr>
                                    </p:animEffect>
                                    <p:anim calcmode="lin" valueType="num">
                                      <p:cBhvr>
                                        <p:cTn id="12" dur="1000" fill="hold"/>
                                        <p:tgtEl>
                                          <p:spTgt spid="31"/>
                                        </p:tgtEl>
                                        <p:attrNameLst>
                                          <p:attrName>ppt_x</p:attrName>
                                        </p:attrNameLst>
                                      </p:cBhvr>
                                      <p:tavLst>
                                        <p:tav tm="0">
                                          <p:val>
                                            <p:strVal val="#ppt_x"/>
                                          </p:val>
                                        </p:tav>
                                        <p:tav tm="100000">
                                          <p:val>
                                            <p:strVal val="#ppt_x"/>
                                          </p:val>
                                        </p:tav>
                                      </p:tavLst>
                                    </p:anim>
                                    <p:anim calcmode="lin" valueType="num">
                                      <p:cBhvr>
                                        <p:cTn id="13" dur="1000" fill="hold"/>
                                        <p:tgtEl>
                                          <p:spTgt spid="31"/>
                                        </p:tgtEl>
                                        <p:attrNameLst>
                                          <p:attrName>ppt_y</p:attrName>
                                        </p:attrNameLst>
                                      </p:cBhvr>
                                      <p:tavLst>
                                        <p:tav tm="0">
                                          <p:val>
                                            <p:strVal val="#ppt_y+.1"/>
                                          </p:val>
                                        </p:tav>
                                        <p:tav tm="100000">
                                          <p:val>
                                            <p:strVal val="#ppt_y"/>
                                          </p:val>
                                        </p:tav>
                                      </p:tavLst>
                                    </p:anim>
                                  </p:childTnLst>
                                </p:cTn>
                              </p:par>
                            </p:childTnLst>
                          </p:cTn>
                        </p:par>
                        <p:par>
                          <p:cTn id="14" fill="hold" nodeType="afterGroup">
                            <p:stCondLst>
                              <p:cond delay="1500"/>
                            </p:stCondLst>
                            <p:childTnLst>
                              <p:par>
                                <p:cTn id="15" presetID="42" presetClass="entr" presetSubtype="0" fill="hold" grpId="0" nodeType="afterEffect">
                                  <p:stCondLst>
                                    <p:cond delay="0"/>
                                  </p:stCondLst>
                                  <p:childTnLst>
                                    <p:set>
                                      <p:cBhvr>
                                        <p:cTn id="16" dur="1" fill="hold">
                                          <p:stCondLst>
                                            <p:cond delay="0"/>
                                          </p:stCondLst>
                                        </p:cTn>
                                        <p:tgtEl>
                                          <p:spTgt spid="32"/>
                                        </p:tgtEl>
                                        <p:attrNameLst>
                                          <p:attrName>style.visibility</p:attrName>
                                        </p:attrNameLst>
                                      </p:cBhvr>
                                      <p:to>
                                        <p:strVal val="visible"/>
                                      </p:to>
                                    </p:set>
                                    <p:animEffect transition="in" filter="fade">
                                      <p:cBhvr>
                                        <p:cTn id="17" dur="1000"/>
                                        <p:tgtEl>
                                          <p:spTgt spid="32"/>
                                        </p:tgtEl>
                                      </p:cBhvr>
                                    </p:animEffect>
                                    <p:anim calcmode="lin" valueType="num">
                                      <p:cBhvr>
                                        <p:cTn id="18" dur="1000" fill="hold"/>
                                        <p:tgtEl>
                                          <p:spTgt spid="32"/>
                                        </p:tgtEl>
                                        <p:attrNameLst>
                                          <p:attrName>ppt_x</p:attrName>
                                        </p:attrNameLst>
                                      </p:cBhvr>
                                      <p:tavLst>
                                        <p:tav tm="0">
                                          <p:val>
                                            <p:strVal val="#ppt_x"/>
                                          </p:val>
                                        </p:tav>
                                        <p:tav tm="100000">
                                          <p:val>
                                            <p:strVal val="#ppt_x"/>
                                          </p:val>
                                        </p:tav>
                                      </p:tavLst>
                                    </p:anim>
                                    <p:anim calcmode="lin" valueType="num">
                                      <p:cBhvr>
                                        <p:cTn id="19" dur="1000" fill="hold"/>
                                        <p:tgtEl>
                                          <p:spTgt spid="32"/>
                                        </p:tgtEl>
                                        <p:attrNameLst>
                                          <p:attrName>ppt_y</p:attrName>
                                        </p:attrNameLst>
                                      </p:cBhvr>
                                      <p:tavLst>
                                        <p:tav tm="0">
                                          <p:val>
                                            <p:strVal val="#ppt_y+.1"/>
                                          </p:val>
                                        </p:tav>
                                        <p:tav tm="100000">
                                          <p:val>
                                            <p:strVal val="#ppt_y"/>
                                          </p:val>
                                        </p:tav>
                                      </p:tavLst>
                                    </p:anim>
                                  </p:childTnLst>
                                </p:cTn>
                              </p:par>
                            </p:childTnLst>
                          </p:cTn>
                        </p:par>
                        <p:par>
                          <p:cTn id="20" fill="hold" nodeType="afterGroup">
                            <p:stCondLst>
                              <p:cond delay="2500"/>
                            </p:stCondLst>
                            <p:childTnLst>
                              <p:par>
                                <p:cTn id="21" presetID="42" presetClass="entr" presetSubtype="0" fill="hold" grpId="0" nodeType="afterEffect">
                                  <p:stCondLst>
                                    <p:cond delay="0"/>
                                  </p:stCondLst>
                                  <p:childTnLst>
                                    <p:set>
                                      <p:cBhvr>
                                        <p:cTn id="22" dur="1" fill="hold">
                                          <p:stCondLst>
                                            <p:cond delay="0"/>
                                          </p:stCondLst>
                                        </p:cTn>
                                        <p:tgtEl>
                                          <p:spTgt spid="33"/>
                                        </p:tgtEl>
                                        <p:attrNameLst>
                                          <p:attrName>style.visibility</p:attrName>
                                        </p:attrNameLst>
                                      </p:cBhvr>
                                      <p:to>
                                        <p:strVal val="visible"/>
                                      </p:to>
                                    </p:set>
                                    <p:animEffect transition="in" filter="fade">
                                      <p:cBhvr>
                                        <p:cTn id="23" dur="1000"/>
                                        <p:tgtEl>
                                          <p:spTgt spid="33"/>
                                        </p:tgtEl>
                                      </p:cBhvr>
                                    </p:animEffect>
                                    <p:anim calcmode="lin" valueType="num">
                                      <p:cBhvr>
                                        <p:cTn id="24" dur="1000" fill="hold"/>
                                        <p:tgtEl>
                                          <p:spTgt spid="33"/>
                                        </p:tgtEl>
                                        <p:attrNameLst>
                                          <p:attrName>ppt_x</p:attrName>
                                        </p:attrNameLst>
                                      </p:cBhvr>
                                      <p:tavLst>
                                        <p:tav tm="0">
                                          <p:val>
                                            <p:strVal val="#ppt_x"/>
                                          </p:val>
                                        </p:tav>
                                        <p:tav tm="100000">
                                          <p:val>
                                            <p:strVal val="#ppt_x"/>
                                          </p:val>
                                        </p:tav>
                                      </p:tavLst>
                                    </p:anim>
                                    <p:anim calcmode="lin" valueType="num">
                                      <p:cBhvr>
                                        <p:cTn id="25" dur="1000" fill="hold"/>
                                        <p:tgtEl>
                                          <p:spTgt spid="33"/>
                                        </p:tgtEl>
                                        <p:attrNameLst>
                                          <p:attrName>ppt_y</p:attrName>
                                        </p:attrNameLst>
                                      </p:cBhvr>
                                      <p:tavLst>
                                        <p:tav tm="0">
                                          <p:val>
                                            <p:strVal val="#ppt_y+.1"/>
                                          </p:val>
                                        </p:tav>
                                        <p:tav tm="100000">
                                          <p:val>
                                            <p:strVal val="#ppt_y"/>
                                          </p:val>
                                        </p:tav>
                                      </p:tavLst>
                                    </p:anim>
                                  </p:childTnLst>
                                </p:cTn>
                              </p:par>
                            </p:childTnLst>
                          </p:cTn>
                        </p:par>
                        <p:par>
                          <p:cTn id="26" fill="hold" nodeType="afterGroup">
                            <p:stCondLst>
                              <p:cond delay="3500"/>
                            </p:stCondLst>
                            <p:childTnLst>
                              <p:par>
                                <p:cTn id="27" presetID="42" presetClass="entr" presetSubtype="0" fill="hold" grpId="0" nodeType="afterEffect">
                                  <p:stCondLst>
                                    <p:cond delay="0"/>
                                  </p:stCondLst>
                                  <p:childTnLst>
                                    <p:set>
                                      <p:cBhvr>
                                        <p:cTn id="28" dur="1" fill="hold">
                                          <p:stCondLst>
                                            <p:cond delay="0"/>
                                          </p:stCondLst>
                                        </p:cTn>
                                        <p:tgtEl>
                                          <p:spTgt spid="34"/>
                                        </p:tgtEl>
                                        <p:attrNameLst>
                                          <p:attrName>style.visibility</p:attrName>
                                        </p:attrNameLst>
                                      </p:cBhvr>
                                      <p:to>
                                        <p:strVal val="visible"/>
                                      </p:to>
                                    </p:set>
                                    <p:animEffect transition="in" filter="fade">
                                      <p:cBhvr>
                                        <p:cTn id="29" dur="1000"/>
                                        <p:tgtEl>
                                          <p:spTgt spid="34"/>
                                        </p:tgtEl>
                                      </p:cBhvr>
                                    </p:animEffect>
                                    <p:anim calcmode="lin" valueType="num">
                                      <p:cBhvr>
                                        <p:cTn id="30" dur="1000" fill="hold"/>
                                        <p:tgtEl>
                                          <p:spTgt spid="34"/>
                                        </p:tgtEl>
                                        <p:attrNameLst>
                                          <p:attrName>ppt_x</p:attrName>
                                        </p:attrNameLst>
                                      </p:cBhvr>
                                      <p:tavLst>
                                        <p:tav tm="0">
                                          <p:val>
                                            <p:strVal val="#ppt_x"/>
                                          </p:val>
                                        </p:tav>
                                        <p:tav tm="100000">
                                          <p:val>
                                            <p:strVal val="#ppt_x"/>
                                          </p:val>
                                        </p:tav>
                                      </p:tavLst>
                                    </p:anim>
                                    <p:anim calcmode="lin" valueType="num">
                                      <p:cBhvr>
                                        <p:cTn id="31" dur="1000" fill="hold"/>
                                        <p:tgtEl>
                                          <p:spTgt spid="34"/>
                                        </p:tgtEl>
                                        <p:attrNameLst>
                                          <p:attrName>ppt_y</p:attrName>
                                        </p:attrNameLst>
                                      </p:cBhvr>
                                      <p:tavLst>
                                        <p:tav tm="0">
                                          <p:val>
                                            <p:strVal val="#ppt_y+.1"/>
                                          </p:val>
                                        </p:tav>
                                        <p:tav tm="100000">
                                          <p:val>
                                            <p:strVal val="#ppt_y"/>
                                          </p:val>
                                        </p:tav>
                                      </p:tavLst>
                                    </p:anim>
                                  </p:childTnLst>
                                </p:cTn>
                              </p:par>
                            </p:childTnLst>
                          </p:cTn>
                        </p:par>
                        <p:par>
                          <p:cTn id="32" fill="hold" nodeType="afterGroup">
                            <p:stCondLst>
                              <p:cond delay="4500"/>
                            </p:stCondLst>
                            <p:childTnLst>
                              <p:par>
                                <p:cTn id="33" presetID="42" presetClass="entr" presetSubtype="0" fill="hold" grpId="0" nodeType="afterEffect">
                                  <p:stCondLst>
                                    <p:cond delay="0"/>
                                  </p:stCondLst>
                                  <p:childTnLst>
                                    <p:set>
                                      <p:cBhvr>
                                        <p:cTn id="34" dur="1" fill="hold">
                                          <p:stCondLst>
                                            <p:cond delay="0"/>
                                          </p:stCondLst>
                                        </p:cTn>
                                        <p:tgtEl>
                                          <p:spTgt spid="35"/>
                                        </p:tgtEl>
                                        <p:attrNameLst>
                                          <p:attrName>style.visibility</p:attrName>
                                        </p:attrNameLst>
                                      </p:cBhvr>
                                      <p:to>
                                        <p:strVal val="visible"/>
                                      </p:to>
                                    </p:set>
                                    <p:animEffect transition="in" filter="fade">
                                      <p:cBhvr>
                                        <p:cTn id="35" dur="1000"/>
                                        <p:tgtEl>
                                          <p:spTgt spid="35"/>
                                        </p:tgtEl>
                                      </p:cBhvr>
                                    </p:animEffect>
                                    <p:anim calcmode="lin" valueType="num">
                                      <p:cBhvr>
                                        <p:cTn id="36" dur="1000" fill="hold"/>
                                        <p:tgtEl>
                                          <p:spTgt spid="35"/>
                                        </p:tgtEl>
                                        <p:attrNameLst>
                                          <p:attrName>ppt_x</p:attrName>
                                        </p:attrNameLst>
                                      </p:cBhvr>
                                      <p:tavLst>
                                        <p:tav tm="0">
                                          <p:val>
                                            <p:strVal val="#ppt_x"/>
                                          </p:val>
                                        </p:tav>
                                        <p:tav tm="100000">
                                          <p:val>
                                            <p:strVal val="#ppt_x"/>
                                          </p:val>
                                        </p:tav>
                                      </p:tavLst>
                                    </p:anim>
                                    <p:anim calcmode="lin" valueType="num">
                                      <p:cBhvr>
                                        <p:cTn id="37" dur="1000" fill="hold"/>
                                        <p:tgtEl>
                                          <p:spTgt spid="3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build="p"/>
      <p:bldP spid="31" grpId="0" animBg="1"/>
      <p:bldP spid="32" grpId="0" animBg="1"/>
      <p:bldP spid="33" grpId="0" animBg="1"/>
      <p:bldP spid="34" grpId="0" animBg="1"/>
      <p:bldP spid="35" grpId="0" animBg="1"/>
    </p:bldLst>
  </p:timing>
</p:sld>
</file>

<file path=ppt/slides/slide2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BA9833-EA1E-3D49-06F7-28DBCDDE7686}"/>
              </a:ext>
            </a:extLst>
          </p:cNvPr>
          <p:cNvSpPr>
            <a:spLocks noGrp="1"/>
          </p:cNvSpPr>
          <p:nvPr>
            <p:ph type="title"/>
          </p:nvPr>
        </p:nvSpPr>
        <p:spPr>
          <a:xfrm>
            <a:off x="152400" y="0"/>
            <a:ext cx="8153400" cy="1143000"/>
          </a:xfrm>
        </p:spPr>
        <p:txBody>
          <a:bodyPr/>
          <a:lstStyle/>
          <a:p>
            <a:pPr algn="ctr">
              <a:defRPr/>
            </a:pPr>
            <a:r>
              <a:rPr lang="en-US" dirty="0"/>
              <a:t>General Database Administration</a:t>
            </a:r>
            <a:endParaRPr lang="en-MY" dirty="0"/>
          </a:p>
        </p:txBody>
      </p:sp>
      <p:sp>
        <p:nvSpPr>
          <p:cNvPr id="30" name="Snip Single Corner Rectangle 29">
            <a:extLst>
              <a:ext uri="{FF2B5EF4-FFF2-40B4-BE49-F238E27FC236}">
                <a16:creationId xmlns:a16="http://schemas.microsoft.com/office/drawing/2014/main" id="{BE73E5EA-CB4C-E488-38E7-366D622DA605}"/>
              </a:ext>
            </a:extLst>
          </p:cNvPr>
          <p:cNvSpPr/>
          <p:nvPr/>
        </p:nvSpPr>
        <p:spPr>
          <a:xfrm>
            <a:off x="-36513" y="1263650"/>
            <a:ext cx="4176713" cy="400050"/>
          </a:xfrm>
          <a:prstGeom prst="snip1Rect">
            <a:avLst/>
          </a:prstGeom>
          <a:solidFill>
            <a:schemeClr val="accent1"/>
          </a:solidFill>
          <a:ln>
            <a:solidFill>
              <a:schemeClr val="accent1"/>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marR="0" lvl="0" indent="-342900" algn="just" defTabSz="914400" rtl="0" eaLnBrk="1" fontAlgn="base" latinLnBrk="0" hangingPunct="1">
              <a:lnSpc>
                <a:spcPct val="100000"/>
              </a:lnSpc>
              <a:spcBef>
                <a:spcPct val="20000"/>
              </a:spcBef>
              <a:spcAft>
                <a:spcPct val="0"/>
              </a:spcAft>
              <a:buClr>
                <a:srgbClr val="FF6600"/>
              </a:buClr>
              <a:buSzPct val="100000"/>
              <a:buFontTx/>
              <a:buNone/>
              <a:tabLst/>
              <a:defRPr/>
            </a:pPr>
            <a:r>
              <a:rPr kumimoji="0" lang="en-GB" sz="1800" b="0" i="0" u="none" strike="noStrike" kern="0" cap="none" spc="0" normalizeH="0" baseline="0" noProof="0" dirty="0">
                <a:ln>
                  <a:noFill/>
                </a:ln>
                <a:solidFill>
                  <a:srgbClr val="FFFFFF"/>
                </a:solidFill>
                <a:effectLst/>
                <a:uLnTx/>
                <a:uFillTx/>
                <a:latin typeface="Calibri"/>
                <a:ea typeface="+mn-ea"/>
                <a:cs typeface="+mn-cs"/>
              </a:rPr>
              <a:t>Server startup, shutdown and upgrade</a:t>
            </a:r>
          </a:p>
        </p:txBody>
      </p:sp>
      <p:sp>
        <p:nvSpPr>
          <p:cNvPr id="31" name="Content Placeholder 2">
            <a:extLst>
              <a:ext uri="{FF2B5EF4-FFF2-40B4-BE49-F238E27FC236}">
                <a16:creationId xmlns:a16="http://schemas.microsoft.com/office/drawing/2014/main" id="{C337763D-7FE4-841B-BD9C-88CAB34FA0AD}"/>
              </a:ext>
            </a:extLst>
          </p:cNvPr>
          <p:cNvSpPr txBox="1">
            <a:spLocks/>
          </p:cNvSpPr>
          <p:nvPr/>
        </p:nvSpPr>
        <p:spPr bwMode="auto">
          <a:xfrm>
            <a:off x="250825" y="1881188"/>
            <a:ext cx="8054975"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A server may freeze, hang or even crashes</a:t>
            </a: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54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A DBA therefore needs to be able to startup and shutdown the DBMS as the need arises</a:t>
            </a: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40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pic>
        <p:nvPicPr>
          <p:cNvPr id="3" name="Picture 2">
            <a:extLst>
              <a:ext uri="{FF2B5EF4-FFF2-40B4-BE49-F238E27FC236}">
                <a16:creationId xmlns:a16="http://schemas.microsoft.com/office/drawing/2014/main" id="{A6ECAD05-E59D-0BE5-5855-B6B01193351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836863" y="2492375"/>
            <a:ext cx="3470275" cy="273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wipe(left)">
                                      <p:cBhvr>
                                        <p:cTn id="7" dur="500"/>
                                        <p:tgtEl>
                                          <p:spTgt spid="30"/>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1">
                                            <p:txEl>
                                              <p:pRg st="0" end="0"/>
                                            </p:txEl>
                                          </p:spTgt>
                                        </p:tgtEl>
                                        <p:attrNameLst>
                                          <p:attrName>style.visibility</p:attrName>
                                        </p:attrNameLst>
                                      </p:cBhvr>
                                      <p:to>
                                        <p:strVal val="visible"/>
                                      </p:to>
                                    </p:set>
                                    <p:animEffect transition="in" filter="wipe(left)">
                                      <p:cBhvr>
                                        <p:cTn id="11" dur="500"/>
                                        <p:tgtEl>
                                          <p:spTgt spid="31">
                                            <p:txEl>
                                              <p:pRg st="0" end="0"/>
                                            </p:txEl>
                                          </p:spTgt>
                                        </p:tgtEl>
                                      </p:cBhvr>
                                    </p:animEffect>
                                  </p:childTnLst>
                                </p:cTn>
                              </p:par>
                            </p:childTnLst>
                          </p:cTn>
                        </p:par>
                        <p:par>
                          <p:cTn id="12" fill="hold" nodeType="afterGroup">
                            <p:stCondLst>
                              <p:cond delay="1000"/>
                            </p:stCondLst>
                            <p:childTnLst>
                              <p:par>
                                <p:cTn id="13" presetID="10" presetClass="entr" presetSubtype="0" fill="hold"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31">
                                            <p:txEl>
                                              <p:pRg st="5" end="5"/>
                                            </p:txEl>
                                          </p:spTgt>
                                        </p:tgtEl>
                                        <p:attrNameLst>
                                          <p:attrName>style.visibility</p:attrName>
                                        </p:attrNameLst>
                                      </p:cBhvr>
                                      <p:to>
                                        <p:strVal val="visible"/>
                                      </p:to>
                                    </p:set>
                                    <p:animEffect transition="in" filter="wipe(left)">
                                      <p:cBhvr>
                                        <p:cTn id="20" dur="500"/>
                                        <p:tgtEl>
                                          <p:spTgt spid="3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1" grpId="0" build="p"/>
    </p:bldLst>
  </p:timing>
</p:sld>
</file>

<file path=ppt/slides/slide2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nip Single Corner Rectangle 29">
            <a:extLst>
              <a:ext uri="{FF2B5EF4-FFF2-40B4-BE49-F238E27FC236}">
                <a16:creationId xmlns:a16="http://schemas.microsoft.com/office/drawing/2014/main" id="{42DB3148-015A-F36A-A421-4970B5ABDEA4}"/>
              </a:ext>
            </a:extLst>
          </p:cNvPr>
          <p:cNvSpPr/>
          <p:nvPr/>
        </p:nvSpPr>
        <p:spPr>
          <a:xfrm>
            <a:off x="-36513" y="1263650"/>
            <a:ext cx="4176713" cy="400050"/>
          </a:xfrm>
          <a:prstGeom prst="snip1Rect">
            <a:avLst/>
          </a:prstGeom>
          <a:solidFill>
            <a:schemeClr val="accent1"/>
          </a:solidFill>
          <a:ln>
            <a:solidFill>
              <a:schemeClr val="accent1"/>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marR="0" lvl="0" indent="-342900" algn="just" defTabSz="914400" rtl="0" eaLnBrk="1" fontAlgn="base" latinLnBrk="0" hangingPunct="1">
              <a:lnSpc>
                <a:spcPct val="100000"/>
              </a:lnSpc>
              <a:spcBef>
                <a:spcPct val="20000"/>
              </a:spcBef>
              <a:spcAft>
                <a:spcPct val="0"/>
              </a:spcAft>
              <a:buClr>
                <a:srgbClr val="FF6600"/>
              </a:buClr>
              <a:buSzPct val="100000"/>
              <a:buFontTx/>
              <a:buNone/>
              <a:tabLst/>
              <a:defRPr/>
            </a:pPr>
            <a:r>
              <a:rPr kumimoji="0" lang="en-GB" sz="1800" b="0" i="0" u="none" strike="noStrike" kern="0" cap="none" spc="0" normalizeH="0" baseline="0" noProof="0" dirty="0">
                <a:ln>
                  <a:noFill/>
                </a:ln>
                <a:solidFill>
                  <a:srgbClr val="FFFFFF"/>
                </a:solidFill>
                <a:effectLst/>
                <a:uLnTx/>
                <a:uFillTx/>
                <a:latin typeface="Calibri"/>
                <a:ea typeface="+mn-ea"/>
                <a:cs typeface="+mn-cs"/>
              </a:rPr>
              <a:t>Server startup, shutdown and upgrade</a:t>
            </a:r>
          </a:p>
        </p:txBody>
      </p:sp>
      <p:sp>
        <p:nvSpPr>
          <p:cNvPr id="31" name="Content Placeholder 2">
            <a:extLst>
              <a:ext uri="{FF2B5EF4-FFF2-40B4-BE49-F238E27FC236}">
                <a16:creationId xmlns:a16="http://schemas.microsoft.com/office/drawing/2014/main" id="{082DAED0-7015-CA9C-44CF-367922264C03}"/>
              </a:ext>
            </a:extLst>
          </p:cNvPr>
          <p:cNvSpPr txBox="1">
            <a:spLocks/>
          </p:cNvSpPr>
          <p:nvPr/>
        </p:nvSpPr>
        <p:spPr bwMode="auto">
          <a:xfrm>
            <a:off x="468313" y="1881188"/>
            <a:ext cx="7532687"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5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When a new version of DBMS is released, a DBA needs to be able to weigh the cost vs. the benefit of performing a DBMS upgrade</a:t>
            </a: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40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sp>
        <p:nvSpPr>
          <p:cNvPr id="6" name="Title 1">
            <a:extLst>
              <a:ext uri="{FF2B5EF4-FFF2-40B4-BE49-F238E27FC236}">
                <a16:creationId xmlns:a16="http://schemas.microsoft.com/office/drawing/2014/main" id="{92842CC8-E554-BF23-AA83-E9502B850CE1}"/>
              </a:ext>
            </a:extLst>
          </p:cNvPr>
          <p:cNvSpPr>
            <a:spLocks noGrp="1"/>
          </p:cNvSpPr>
          <p:nvPr>
            <p:ph type="title"/>
          </p:nvPr>
        </p:nvSpPr>
        <p:spPr>
          <a:xfrm>
            <a:off x="152400" y="0"/>
            <a:ext cx="8153400" cy="1143000"/>
          </a:xfrm>
        </p:spPr>
        <p:txBody>
          <a:bodyPr/>
          <a:lstStyle/>
          <a:p>
            <a:pPr algn="ctr">
              <a:defRPr/>
            </a:pPr>
            <a:r>
              <a:rPr lang="en-US" dirty="0"/>
              <a:t>General Database Administration</a:t>
            </a:r>
            <a:endParaRPr lang="en-MY"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1">
                                            <p:txEl>
                                              <p:pRg st="0" end="0"/>
                                            </p:txEl>
                                          </p:spTgt>
                                        </p:tgtEl>
                                        <p:attrNameLst>
                                          <p:attrName>style.visibility</p:attrName>
                                        </p:attrNameLst>
                                      </p:cBhvr>
                                      <p:to>
                                        <p:strVal val="visible"/>
                                      </p:to>
                                    </p:set>
                                    <p:animEffect transition="in" filter="wipe(left)">
                                      <p:cBhvr>
                                        <p:cTn id="7" dur="500"/>
                                        <p:tgtEl>
                                          <p:spTgt spid="3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build="p"/>
    </p:bldLst>
  </p:timing>
</p:sld>
</file>

<file path=ppt/slides/slide2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nip Single Corner Rectangle 29">
            <a:extLst>
              <a:ext uri="{FF2B5EF4-FFF2-40B4-BE49-F238E27FC236}">
                <a16:creationId xmlns:a16="http://schemas.microsoft.com/office/drawing/2014/main" id="{0B900065-CAB5-DFDF-79A3-26A248FA08FD}"/>
              </a:ext>
            </a:extLst>
          </p:cNvPr>
          <p:cNvSpPr/>
          <p:nvPr/>
        </p:nvSpPr>
        <p:spPr>
          <a:xfrm>
            <a:off x="-36513" y="1263650"/>
            <a:ext cx="3024188" cy="400050"/>
          </a:xfrm>
          <a:prstGeom prst="snip1Rect">
            <a:avLst/>
          </a:prstGeom>
          <a:solidFill>
            <a:schemeClr val="accent2"/>
          </a:solidFill>
          <a:ln>
            <a:solidFill>
              <a:schemeClr val="accent2"/>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marR="0" lvl="0" indent="-342900" algn="just" defTabSz="914400" rtl="0" eaLnBrk="1" fontAlgn="base" latinLnBrk="0" hangingPunct="1">
              <a:lnSpc>
                <a:spcPct val="100000"/>
              </a:lnSpc>
              <a:spcBef>
                <a:spcPct val="20000"/>
              </a:spcBef>
              <a:spcAft>
                <a:spcPct val="0"/>
              </a:spcAft>
              <a:buClr>
                <a:srgbClr val="FF6600"/>
              </a:buClr>
              <a:buSzPct val="100000"/>
              <a:buFontTx/>
              <a:buNone/>
              <a:tabLst/>
              <a:defRPr/>
            </a:pPr>
            <a:r>
              <a:rPr kumimoji="0" lang="en-GB" sz="1800" b="0" i="0" u="none" strike="noStrike" kern="0" cap="none" spc="0" normalizeH="0" baseline="0" noProof="0" dirty="0">
                <a:ln>
                  <a:noFill/>
                </a:ln>
                <a:solidFill>
                  <a:srgbClr val="FFFFFF"/>
                </a:solidFill>
                <a:effectLst/>
                <a:uLnTx/>
                <a:uFillTx/>
                <a:latin typeface="Calibri"/>
                <a:ea typeface="+mn-ea"/>
                <a:cs typeface="+mn-cs"/>
              </a:rPr>
              <a:t>User account maintenance</a:t>
            </a:r>
          </a:p>
        </p:txBody>
      </p:sp>
      <p:sp>
        <p:nvSpPr>
          <p:cNvPr id="31" name="Content Placeholder 2">
            <a:extLst>
              <a:ext uri="{FF2B5EF4-FFF2-40B4-BE49-F238E27FC236}">
                <a16:creationId xmlns:a16="http://schemas.microsoft.com/office/drawing/2014/main" id="{F53E78FA-9917-99C2-0C26-1AD07AB9FD31}"/>
              </a:ext>
            </a:extLst>
          </p:cNvPr>
          <p:cNvSpPr txBox="1">
            <a:spLocks/>
          </p:cNvSpPr>
          <p:nvPr/>
        </p:nvSpPr>
        <p:spPr bwMode="auto">
          <a:xfrm>
            <a:off x="468313" y="1881188"/>
            <a:ext cx="7761287"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50000"/>
              </a:lnSpc>
              <a:spcBef>
                <a:spcPct val="20000"/>
              </a:spcBef>
              <a:spcAft>
                <a:spcPct val="0"/>
              </a:spcAft>
              <a:buClr>
                <a:srgbClr val="FF6600"/>
              </a:buClr>
              <a:buSzTx/>
              <a:buFont typeface="Wingdings 3" panose="05040102010807070707" pitchFamily="18" charset="2"/>
              <a:buNone/>
              <a:tabLst/>
              <a:defRPr/>
            </a:pPr>
            <a:r>
              <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A DBA should allocate user accounts for each database system user. Doing so would allow us to</a:t>
            </a: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742950" marR="0" lvl="1" indent="-28575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Char char=""/>
              <a:tabLst/>
              <a:defRPr/>
            </a:pPr>
            <a:r>
              <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Keep track of account user’s activity</a:t>
            </a:r>
          </a:p>
          <a:p>
            <a:pPr marL="742950" marR="0" lvl="1" indent="-28575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Char char=""/>
              <a:tabLst/>
              <a:defRPr/>
            </a:pPr>
            <a:endPar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742950" marR="0" lvl="1" indent="-28575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Char char=""/>
              <a:tabLst/>
              <a:defRPr/>
            </a:pPr>
            <a:r>
              <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Restrict data access by account user</a:t>
            </a: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40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sp>
        <p:nvSpPr>
          <p:cNvPr id="6" name="Title 1">
            <a:extLst>
              <a:ext uri="{FF2B5EF4-FFF2-40B4-BE49-F238E27FC236}">
                <a16:creationId xmlns:a16="http://schemas.microsoft.com/office/drawing/2014/main" id="{1B821F9C-BF1D-C936-17A5-FF2EE4ACF77A}"/>
              </a:ext>
            </a:extLst>
          </p:cNvPr>
          <p:cNvSpPr>
            <a:spLocks noGrp="1"/>
          </p:cNvSpPr>
          <p:nvPr>
            <p:ph type="title"/>
          </p:nvPr>
        </p:nvSpPr>
        <p:spPr>
          <a:xfrm>
            <a:off x="152400" y="0"/>
            <a:ext cx="8153400" cy="1143000"/>
          </a:xfrm>
        </p:spPr>
        <p:txBody>
          <a:bodyPr/>
          <a:lstStyle/>
          <a:p>
            <a:pPr algn="ctr">
              <a:defRPr/>
            </a:pPr>
            <a:r>
              <a:rPr lang="en-US" dirty="0"/>
              <a:t>General Database Administration</a:t>
            </a:r>
            <a:endParaRPr lang="en-MY"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wipe(left)">
                                      <p:cBhvr>
                                        <p:cTn id="7" dur="500"/>
                                        <p:tgtEl>
                                          <p:spTgt spid="30"/>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1">
                                            <p:txEl>
                                              <p:pRg st="0" end="0"/>
                                            </p:txEl>
                                          </p:spTgt>
                                        </p:tgtEl>
                                        <p:attrNameLst>
                                          <p:attrName>style.visibility</p:attrName>
                                        </p:attrNameLst>
                                      </p:cBhvr>
                                      <p:to>
                                        <p:strVal val="visible"/>
                                      </p:to>
                                    </p:set>
                                    <p:animEffect transition="in" filter="wipe(left)">
                                      <p:cBhvr>
                                        <p:cTn id="11" dur="500"/>
                                        <p:tgtEl>
                                          <p:spTgt spid="31">
                                            <p:txEl>
                                              <p:pRg st="0" end="0"/>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1">
                                            <p:txEl>
                                              <p:pRg st="2" end="2"/>
                                            </p:txEl>
                                          </p:spTgt>
                                        </p:tgtEl>
                                        <p:attrNameLst>
                                          <p:attrName>style.visibility</p:attrName>
                                        </p:attrNameLst>
                                      </p:cBhvr>
                                      <p:to>
                                        <p:strVal val="visible"/>
                                      </p:to>
                                    </p:set>
                                    <p:animEffect transition="in" filter="wipe(left)">
                                      <p:cBhvr>
                                        <p:cTn id="15" dur="500"/>
                                        <p:tgtEl>
                                          <p:spTgt spid="31">
                                            <p:txEl>
                                              <p:pRg st="2" end="2"/>
                                            </p:txEl>
                                          </p:spTgt>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1">
                                            <p:txEl>
                                              <p:pRg st="4" end="4"/>
                                            </p:txEl>
                                          </p:spTgt>
                                        </p:tgtEl>
                                        <p:attrNameLst>
                                          <p:attrName>style.visibility</p:attrName>
                                        </p:attrNameLst>
                                      </p:cBhvr>
                                      <p:to>
                                        <p:strVal val="visible"/>
                                      </p:to>
                                    </p:set>
                                    <p:animEffect transition="in" filter="wipe(left)">
                                      <p:cBhvr>
                                        <p:cTn id="19" dur="500"/>
                                        <p:tgtEl>
                                          <p:spTgt spid="3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1" grpId="0" build="p"/>
    </p:bldLst>
  </p:timing>
</p:sld>
</file>

<file path=ppt/slides/slide2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nip Single Corner Rectangle 29">
            <a:extLst>
              <a:ext uri="{FF2B5EF4-FFF2-40B4-BE49-F238E27FC236}">
                <a16:creationId xmlns:a16="http://schemas.microsoft.com/office/drawing/2014/main" id="{70F67037-A5A0-E2F8-232D-2510D997EBF9}"/>
              </a:ext>
            </a:extLst>
          </p:cNvPr>
          <p:cNvSpPr/>
          <p:nvPr/>
        </p:nvSpPr>
        <p:spPr>
          <a:xfrm>
            <a:off x="-36513" y="1263650"/>
            <a:ext cx="2016126" cy="400050"/>
          </a:xfrm>
          <a:prstGeom prst="snip1Rect">
            <a:avLst/>
          </a:prstGeom>
          <a:solidFill>
            <a:schemeClr val="accent3"/>
          </a:solidFill>
          <a:ln>
            <a:solidFill>
              <a:schemeClr val="accent3"/>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marR="0" lvl="0" indent="-342900" algn="just" defTabSz="914400" rtl="0" eaLnBrk="1" fontAlgn="base" latinLnBrk="0" hangingPunct="1">
              <a:lnSpc>
                <a:spcPct val="100000"/>
              </a:lnSpc>
              <a:spcBef>
                <a:spcPct val="20000"/>
              </a:spcBef>
              <a:spcAft>
                <a:spcPct val="0"/>
              </a:spcAft>
              <a:buClr>
                <a:srgbClr val="FF6600"/>
              </a:buClr>
              <a:buSzPct val="100000"/>
              <a:buFontTx/>
              <a:buNone/>
              <a:tabLst/>
              <a:defRPr/>
            </a:pPr>
            <a:r>
              <a:rPr kumimoji="0" lang="en-GB" sz="1800" b="0" i="0" u="none" strike="noStrike" kern="0" cap="none" spc="0" normalizeH="0" baseline="0" noProof="0" dirty="0">
                <a:ln>
                  <a:noFill/>
                </a:ln>
                <a:solidFill>
                  <a:srgbClr val="FFFFFF"/>
                </a:solidFill>
                <a:effectLst/>
                <a:uLnTx/>
                <a:uFillTx/>
                <a:latin typeface="Calibri"/>
                <a:ea typeface="+mn-ea"/>
                <a:cs typeface="+mn-cs"/>
              </a:rPr>
              <a:t>Log maintenance</a:t>
            </a:r>
          </a:p>
        </p:txBody>
      </p:sp>
      <p:sp>
        <p:nvSpPr>
          <p:cNvPr id="31" name="Content Placeholder 2">
            <a:extLst>
              <a:ext uri="{FF2B5EF4-FFF2-40B4-BE49-F238E27FC236}">
                <a16:creationId xmlns:a16="http://schemas.microsoft.com/office/drawing/2014/main" id="{90F806D6-66AC-7E1D-4430-F766704C092F}"/>
              </a:ext>
            </a:extLst>
          </p:cNvPr>
          <p:cNvSpPr txBox="1">
            <a:spLocks/>
          </p:cNvSpPr>
          <p:nvPr/>
        </p:nvSpPr>
        <p:spPr bwMode="auto">
          <a:xfrm>
            <a:off x="250825" y="1881188"/>
            <a:ext cx="8054975"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A log is basically a file (or several files) that is maintained by the server on the actions that have occurred so far on the server</a:t>
            </a: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40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sp>
        <p:nvSpPr>
          <p:cNvPr id="16" name="TextBox 15">
            <a:extLst>
              <a:ext uri="{FF2B5EF4-FFF2-40B4-BE49-F238E27FC236}">
                <a16:creationId xmlns:a16="http://schemas.microsoft.com/office/drawing/2014/main" id="{DA31172A-D237-3D3F-7FE4-5EE197628357}"/>
              </a:ext>
            </a:extLst>
          </p:cNvPr>
          <p:cNvSpPr txBox="1"/>
          <p:nvPr/>
        </p:nvSpPr>
        <p:spPr>
          <a:xfrm>
            <a:off x="1701800" y="6129338"/>
            <a:ext cx="955675" cy="276225"/>
          </a:xfrm>
          <a:prstGeom prst="rect">
            <a:avLst/>
          </a:prstGeom>
          <a:noFill/>
        </p:spPr>
        <p:txBody>
          <a:bodyPr>
            <a:spAutoFit/>
          </a:bodyPr>
          <a:lstStyle/>
          <a:p>
            <a:pPr marL="0" marR="0" lvl="0" indent="0" algn="ctr" defTabSz="914400" rtl="0" eaLnBrk="0" fontAlgn="base" latinLnBrk="0" hangingPunct="0">
              <a:lnSpc>
                <a:spcPts val="1600"/>
              </a:lnSpc>
              <a:spcBef>
                <a:spcPct val="0"/>
              </a:spcBef>
              <a:spcAft>
                <a:spcPct val="0"/>
              </a:spcAft>
              <a:buClrTx/>
              <a:buSzTx/>
              <a:buFontTx/>
              <a:buNone/>
              <a:tabLst/>
              <a:defRPr/>
            </a:pPr>
            <a:r>
              <a:rPr kumimoji="0" lang="en-US" sz="1000" b="0" i="1" u="none" strike="noStrike" kern="1200" cap="none" spc="0" normalizeH="0" baseline="0" noProof="0" dirty="0">
                <a:ln>
                  <a:noFill/>
                </a:ln>
                <a:solidFill>
                  <a:srgbClr val="FFFFFF">
                    <a:lumMod val="50000"/>
                  </a:srgbClr>
                </a:solidFill>
                <a:effectLst/>
                <a:uLnTx/>
                <a:uFillTx/>
                <a:latin typeface="Arial" panose="020B0604020202020204" pitchFamily="34" charset="0"/>
                <a:ea typeface="+mn-ea"/>
                <a:cs typeface="Arial" panose="020B0604020202020204" pitchFamily="34" charset="0"/>
              </a:rPr>
              <a:t>Figure 07</a:t>
            </a:r>
            <a:endParaRPr kumimoji="0" lang="en-MY" sz="1000" b="0" i="1" u="none" strike="noStrike" kern="1200" cap="none" spc="0" normalizeH="0" baseline="0" noProof="0" dirty="0">
              <a:ln>
                <a:noFill/>
              </a:ln>
              <a:solidFill>
                <a:srgbClr val="FFFFFF">
                  <a:lumMod val="50000"/>
                </a:srgbClr>
              </a:solidFill>
              <a:effectLst/>
              <a:uLnTx/>
              <a:uFillTx/>
              <a:latin typeface="Trebuchet MS" pitchFamily="34" charset="0"/>
              <a:ea typeface="+mn-ea"/>
              <a:cs typeface="Arial" panose="020B0604020202020204" pitchFamily="34" charset="0"/>
            </a:endParaRPr>
          </a:p>
        </p:txBody>
      </p:sp>
      <p:grpSp>
        <p:nvGrpSpPr>
          <p:cNvPr id="2" name="Group 2">
            <a:extLst>
              <a:ext uri="{FF2B5EF4-FFF2-40B4-BE49-F238E27FC236}">
                <a16:creationId xmlns:a16="http://schemas.microsoft.com/office/drawing/2014/main" id="{A4CD60AD-DEF2-89B7-DBEE-80E447EB7150}"/>
              </a:ext>
            </a:extLst>
          </p:cNvPr>
          <p:cNvGrpSpPr>
            <a:grpSpLocks/>
          </p:cNvGrpSpPr>
          <p:nvPr/>
        </p:nvGrpSpPr>
        <p:grpSpPr bwMode="auto">
          <a:xfrm>
            <a:off x="358775" y="3587750"/>
            <a:ext cx="3448050" cy="2520950"/>
            <a:chOff x="539552" y="3573016"/>
            <a:chExt cx="3448237" cy="2520280"/>
          </a:xfrm>
        </p:grpSpPr>
        <p:pic>
          <p:nvPicPr>
            <p:cNvPr id="53264" name="Picture 4">
              <a:extLst>
                <a:ext uri="{FF2B5EF4-FFF2-40B4-BE49-F238E27FC236}">
                  <a16:creationId xmlns:a16="http://schemas.microsoft.com/office/drawing/2014/main" id="{E1780E82-880D-2AED-C717-38C6D9F631D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39552" y="3573016"/>
              <a:ext cx="1224136" cy="1224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65" name="Picture 12">
              <a:extLst>
                <a:ext uri="{FF2B5EF4-FFF2-40B4-BE49-F238E27FC236}">
                  <a16:creationId xmlns:a16="http://schemas.microsoft.com/office/drawing/2014/main" id="{13BF559D-69B8-2B0B-F795-C1B1CD83052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51602" y="3573016"/>
              <a:ext cx="1224136" cy="1224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66" name="Picture 17">
              <a:extLst>
                <a:ext uri="{FF2B5EF4-FFF2-40B4-BE49-F238E27FC236}">
                  <a16:creationId xmlns:a16="http://schemas.microsoft.com/office/drawing/2014/main" id="{2F5A6CF2-C57D-2A18-067D-F7C16E91929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763653" y="3573016"/>
              <a:ext cx="1224136" cy="1224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67" name="Picture 18">
              <a:extLst>
                <a:ext uri="{FF2B5EF4-FFF2-40B4-BE49-F238E27FC236}">
                  <a16:creationId xmlns:a16="http://schemas.microsoft.com/office/drawing/2014/main" id="{620E667E-692E-B050-C5F8-4C3D01EC15D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39552" y="4869160"/>
              <a:ext cx="1224136" cy="1224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68" name="Picture 19">
              <a:extLst>
                <a:ext uri="{FF2B5EF4-FFF2-40B4-BE49-F238E27FC236}">
                  <a16:creationId xmlns:a16="http://schemas.microsoft.com/office/drawing/2014/main" id="{41D1DD47-D8D9-7D8C-B7BD-5AC88435B84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51602" y="4869160"/>
              <a:ext cx="1224136" cy="1224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69" name="Picture 20">
              <a:extLst>
                <a:ext uri="{FF2B5EF4-FFF2-40B4-BE49-F238E27FC236}">
                  <a16:creationId xmlns:a16="http://schemas.microsoft.com/office/drawing/2014/main" id="{1828D033-E082-A832-18E1-341F93C9601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763653" y="4869160"/>
              <a:ext cx="1224136" cy="1224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7" name="Content Placeholder 2">
            <a:extLst>
              <a:ext uri="{FF2B5EF4-FFF2-40B4-BE49-F238E27FC236}">
                <a16:creationId xmlns:a16="http://schemas.microsoft.com/office/drawing/2014/main" id="{26AD4A75-83E9-5BE5-292A-7DE91AC291A9}"/>
              </a:ext>
            </a:extLst>
          </p:cNvPr>
          <p:cNvSpPr txBox="1">
            <a:spLocks/>
          </p:cNvSpPr>
          <p:nvPr/>
        </p:nvSpPr>
        <p:spPr>
          <a:xfrm>
            <a:off x="3810000" y="3495675"/>
            <a:ext cx="4537075" cy="2705100"/>
          </a:xfrm>
          <a:prstGeom prst="rect">
            <a:avLst/>
          </a:prstGeom>
          <a:solidFill>
            <a:srgbClr val="FFFF99"/>
          </a:solidFill>
          <a:ln>
            <a:solidFill>
              <a:schemeClr val="tx1"/>
            </a:solidFill>
          </a:ln>
        </p:spPr>
        <p:style>
          <a:lnRef idx="1">
            <a:schemeClr val="accent6"/>
          </a:lnRef>
          <a:fillRef idx="2">
            <a:schemeClr val="accent6"/>
          </a:fillRef>
          <a:effectRef idx="1">
            <a:schemeClr val="accent6"/>
          </a:effectRef>
          <a:fontRef idx="minor">
            <a:schemeClr val="dk1"/>
          </a:fontRef>
        </p:style>
        <p:txBody>
          <a:bodyPr/>
          <a:lstStyle>
            <a:lvl1pPr marL="342900" indent="-342900">
              <a:spcBef>
                <a:spcPct val="20000"/>
              </a:spcBef>
              <a:buClr>
                <a:schemeClr val="accent1"/>
              </a:buClr>
              <a:buFont typeface="Arial" panose="020B0604020202020204" pitchFamily="34" charset="0"/>
              <a:buChar char="•"/>
              <a:defRPr sz="2200">
                <a:solidFill>
                  <a:schemeClr val="tx1"/>
                </a:solidFill>
                <a:latin typeface="Calibri" panose="020F0502020204030204" pitchFamily="34" charset="0"/>
              </a:defRPr>
            </a:lvl1pPr>
            <a:lvl2pPr marL="742950" indent="-285750">
              <a:spcBef>
                <a:spcPct val="20000"/>
              </a:spcBef>
              <a:buClr>
                <a:schemeClr val="accent2"/>
              </a:buClr>
              <a:buFont typeface="Arial" panose="020B0604020202020204" pitchFamily="34" charset="0"/>
              <a:buChar char="•"/>
              <a:defRPr sz="2000">
                <a:solidFill>
                  <a:schemeClr val="tx1"/>
                </a:solidFill>
                <a:latin typeface="Calibri" panose="020F0502020204030204" pitchFamily="34" charset="0"/>
              </a:defRPr>
            </a:lvl2pPr>
            <a:lvl3pPr marL="1143000" indent="-228600">
              <a:spcBef>
                <a:spcPct val="20000"/>
              </a:spcBef>
              <a:buClr>
                <a:srgbClr val="D2CB6C"/>
              </a:buClr>
              <a:buFont typeface="Arial" panose="020B0604020202020204" pitchFamily="34" charset="0"/>
              <a:buChar char="•"/>
              <a:defRPr>
                <a:solidFill>
                  <a:schemeClr val="tx1"/>
                </a:solidFill>
                <a:latin typeface="Calibri" panose="020F0502020204030204" pitchFamily="34" charset="0"/>
              </a:defRPr>
            </a:lvl3pPr>
            <a:lvl4pPr marL="1600200" indent="-228600">
              <a:spcBef>
                <a:spcPct val="20000"/>
              </a:spcBef>
              <a:buClr>
                <a:srgbClr val="95A39D"/>
              </a:buClr>
              <a:buFont typeface="Arial" panose="020B0604020202020204" pitchFamily="34" charset="0"/>
              <a:buChar char="•"/>
              <a:defRPr sz="1600">
                <a:solidFill>
                  <a:schemeClr val="tx1"/>
                </a:solidFill>
                <a:latin typeface="Calibri" panose="020F0502020204030204" pitchFamily="34" charset="0"/>
              </a:defRPr>
            </a:lvl4pPr>
            <a:lvl5pPr marL="2057400" indent="-228600">
              <a:spcBef>
                <a:spcPct val="20000"/>
              </a:spcBef>
              <a:buClr>
                <a:srgbClr val="C89F5D"/>
              </a:buClr>
              <a:buFont typeface="Arial" panose="020B0604020202020204" pitchFamily="34" charset="0"/>
              <a:buChar char="•"/>
              <a:defRPr sz="1400">
                <a:solidFill>
                  <a:schemeClr val="tx1"/>
                </a:solidFill>
                <a:latin typeface="Calibri" panose="020F0502020204030204" pitchFamily="34" charset="0"/>
              </a:defRPr>
            </a:lvl5pPr>
            <a:lvl6pPr marL="2514600" indent="-228600" eaLnBrk="0" fontAlgn="base" hangingPunct="0">
              <a:spcBef>
                <a:spcPct val="20000"/>
              </a:spcBef>
              <a:spcAft>
                <a:spcPct val="0"/>
              </a:spcAft>
              <a:buClr>
                <a:srgbClr val="C89F5D"/>
              </a:buClr>
              <a:buFont typeface="Arial" panose="020B0604020202020204" pitchFamily="34" charset="0"/>
              <a:buChar char="•"/>
              <a:defRPr sz="1400">
                <a:solidFill>
                  <a:schemeClr val="tx1"/>
                </a:solidFill>
                <a:latin typeface="Calibri" panose="020F0502020204030204" pitchFamily="34" charset="0"/>
              </a:defRPr>
            </a:lvl6pPr>
            <a:lvl7pPr marL="2971800" indent="-228600" eaLnBrk="0" fontAlgn="base" hangingPunct="0">
              <a:spcBef>
                <a:spcPct val="20000"/>
              </a:spcBef>
              <a:spcAft>
                <a:spcPct val="0"/>
              </a:spcAft>
              <a:buClr>
                <a:srgbClr val="C89F5D"/>
              </a:buClr>
              <a:buFont typeface="Arial" panose="020B0604020202020204" pitchFamily="34" charset="0"/>
              <a:buChar char="•"/>
              <a:defRPr sz="1400">
                <a:solidFill>
                  <a:schemeClr val="tx1"/>
                </a:solidFill>
                <a:latin typeface="Calibri" panose="020F0502020204030204" pitchFamily="34" charset="0"/>
              </a:defRPr>
            </a:lvl7pPr>
            <a:lvl8pPr marL="3429000" indent="-228600" eaLnBrk="0" fontAlgn="base" hangingPunct="0">
              <a:spcBef>
                <a:spcPct val="20000"/>
              </a:spcBef>
              <a:spcAft>
                <a:spcPct val="0"/>
              </a:spcAft>
              <a:buClr>
                <a:srgbClr val="C89F5D"/>
              </a:buClr>
              <a:buFont typeface="Arial" panose="020B0604020202020204" pitchFamily="34" charset="0"/>
              <a:buChar char="•"/>
              <a:defRPr sz="1400">
                <a:solidFill>
                  <a:schemeClr val="tx1"/>
                </a:solidFill>
                <a:latin typeface="Calibri" panose="020F0502020204030204" pitchFamily="34" charset="0"/>
              </a:defRPr>
            </a:lvl8pPr>
            <a:lvl9pPr marL="3886200" indent="-228600" eaLnBrk="0" fontAlgn="base" hangingPunct="0">
              <a:spcBef>
                <a:spcPct val="20000"/>
              </a:spcBef>
              <a:spcAft>
                <a:spcPct val="0"/>
              </a:spcAft>
              <a:buClr>
                <a:srgbClr val="C89F5D"/>
              </a:buClr>
              <a:buFont typeface="Arial" panose="020B0604020202020204" pitchFamily="34" charset="0"/>
              <a:buChar char="•"/>
              <a:defRPr sz="1400">
                <a:solidFill>
                  <a:schemeClr val="tx1"/>
                </a:solidFill>
                <a:latin typeface="Calibri" panose="020F0502020204030204" pitchFamily="34" charset="0"/>
              </a:defRPr>
            </a:lvl9pPr>
          </a:lstStyle>
          <a:p>
            <a:pPr marL="342900" marR="0" lvl="0" indent="-34290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Char char=""/>
              <a:tabLst/>
              <a:defRPr/>
            </a:pPr>
            <a:r>
              <a:rPr kumimoji="0" lang="en-CA" altLang="en-US" sz="24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A DBA should know which DBMS logs are important to keep and which are not</a:t>
            </a:r>
          </a:p>
          <a:p>
            <a:pPr marL="342900" marR="0" lvl="0" indent="-34290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Char char=""/>
              <a:tabLst/>
              <a:defRPr/>
            </a:pPr>
            <a:r>
              <a:rPr kumimoji="0" lang="en-CA" altLang="en-US" sz="24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If a log is no longer needed (e.g. it records actions from 10 years ago), it should be deleted to save disk space</a:t>
            </a:r>
          </a:p>
          <a:p>
            <a:pPr marL="342900" marR="0" lvl="0" indent="-34290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342900" marR="0" lvl="0" indent="-34290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40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342900" marR="0" lvl="0" indent="-34290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342900" marR="0" lvl="0" indent="-34290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342900" marR="0" lvl="0" indent="-34290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342900" marR="0" lvl="0" indent="-34290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sp>
        <p:nvSpPr>
          <p:cNvPr id="4" name="Rectangle 3">
            <a:extLst>
              <a:ext uri="{FF2B5EF4-FFF2-40B4-BE49-F238E27FC236}">
                <a16:creationId xmlns:a16="http://schemas.microsoft.com/office/drawing/2014/main" id="{5FA69B2F-2A22-B085-6D5E-00F9465E28EE}"/>
              </a:ext>
            </a:extLst>
          </p:cNvPr>
          <p:cNvSpPr/>
          <p:nvPr/>
        </p:nvSpPr>
        <p:spPr>
          <a:xfrm rot="20216071">
            <a:off x="2683999" y="5342562"/>
            <a:ext cx="1010213" cy="307777"/>
          </a:xfrm>
          <a:prstGeom prst="rect">
            <a:avLst/>
          </a:prstGeom>
          <a:noFill/>
        </p:spPr>
        <p:txBody>
          <a:bodyPr wrap="none">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dirty="0">
                <a:ln w="11430"/>
                <a:gradFill>
                  <a:gsLst>
                    <a:gs pos="0">
                      <a:srgbClr val="9CBEBD">
                        <a:tint val="70000"/>
                        <a:satMod val="245000"/>
                      </a:srgbClr>
                    </a:gs>
                    <a:gs pos="75000">
                      <a:srgbClr val="9CBEBD">
                        <a:tint val="90000"/>
                        <a:shade val="60000"/>
                        <a:satMod val="240000"/>
                      </a:srgbClr>
                    </a:gs>
                    <a:gs pos="100000">
                      <a:srgbClr val="9CBEBD">
                        <a:tint val="100000"/>
                        <a:shade val="50000"/>
                        <a:satMod val="240000"/>
                      </a:srgbClr>
                    </a:gs>
                  </a:gsLst>
                  <a:lin ang="5400000"/>
                </a:gradFill>
                <a:effectLst>
                  <a:outerShdw blurRad="50800" dist="39000" dir="5460000" algn="tl">
                    <a:srgbClr val="000000">
                      <a:alpha val="38000"/>
                    </a:srgbClr>
                  </a:outerShdw>
                </a:effectLst>
                <a:uLnTx/>
                <a:uFillTx/>
                <a:latin typeface="Arial" panose="020B0604020202020204" pitchFamily="34" charset="0"/>
                <a:ea typeface="+mn-ea"/>
                <a:cs typeface="Arial" panose="020B0604020202020204" pitchFamily="34" charset="0"/>
              </a:rPr>
              <a:t>Important</a:t>
            </a:r>
          </a:p>
        </p:txBody>
      </p:sp>
      <p:sp>
        <p:nvSpPr>
          <p:cNvPr id="22" name="Rectangle 21">
            <a:extLst>
              <a:ext uri="{FF2B5EF4-FFF2-40B4-BE49-F238E27FC236}">
                <a16:creationId xmlns:a16="http://schemas.microsoft.com/office/drawing/2014/main" id="{001EED58-1387-170A-C672-B145BEAF6BB0}"/>
              </a:ext>
            </a:extLst>
          </p:cNvPr>
          <p:cNvSpPr/>
          <p:nvPr/>
        </p:nvSpPr>
        <p:spPr>
          <a:xfrm rot="20216071">
            <a:off x="441079" y="5342563"/>
            <a:ext cx="1010213" cy="307777"/>
          </a:xfrm>
          <a:prstGeom prst="rect">
            <a:avLst/>
          </a:prstGeom>
          <a:noFill/>
        </p:spPr>
        <p:txBody>
          <a:bodyPr wrap="none">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dirty="0">
                <a:ln w="11430"/>
                <a:gradFill>
                  <a:gsLst>
                    <a:gs pos="0">
                      <a:srgbClr val="9CBEBD">
                        <a:tint val="70000"/>
                        <a:satMod val="245000"/>
                      </a:srgbClr>
                    </a:gs>
                    <a:gs pos="75000">
                      <a:srgbClr val="9CBEBD">
                        <a:tint val="90000"/>
                        <a:shade val="60000"/>
                        <a:satMod val="240000"/>
                      </a:srgbClr>
                    </a:gs>
                    <a:gs pos="100000">
                      <a:srgbClr val="9CBEBD">
                        <a:tint val="100000"/>
                        <a:shade val="50000"/>
                        <a:satMod val="240000"/>
                      </a:srgbClr>
                    </a:gs>
                  </a:gsLst>
                  <a:lin ang="5400000"/>
                </a:gradFill>
                <a:effectLst>
                  <a:outerShdw blurRad="50800" dist="39000" dir="5460000" algn="tl">
                    <a:srgbClr val="000000">
                      <a:alpha val="38000"/>
                    </a:srgbClr>
                  </a:outerShdw>
                </a:effectLst>
                <a:uLnTx/>
                <a:uFillTx/>
                <a:latin typeface="Arial" panose="020B0604020202020204" pitchFamily="34" charset="0"/>
                <a:ea typeface="+mn-ea"/>
                <a:cs typeface="Arial" panose="020B0604020202020204" pitchFamily="34" charset="0"/>
              </a:rPr>
              <a:t>Important</a:t>
            </a:r>
          </a:p>
        </p:txBody>
      </p:sp>
      <p:sp>
        <p:nvSpPr>
          <p:cNvPr id="23" name="Multiply 22">
            <a:extLst>
              <a:ext uri="{FF2B5EF4-FFF2-40B4-BE49-F238E27FC236}">
                <a16:creationId xmlns:a16="http://schemas.microsoft.com/office/drawing/2014/main" id="{BFE689AE-93E4-93B1-257F-C66FA5705604}"/>
              </a:ext>
            </a:extLst>
          </p:cNvPr>
          <p:cNvSpPr/>
          <p:nvPr/>
        </p:nvSpPr>
        <p:spPr bwMode="auto">
          <a:xfrm>
            <a:off x="508813" y="3762935"/>
            <a:ext cx="874744" cy="874744"/>
          </a:xfrm>
          <a:prstGeom prst="mathMultiply">
            <a:avLst>
              <a:gd name="adj1" fmla="val 14809"/>
            </a:avLst>
          </a:prstGeom>
          <a:solidFill>
            <a:srgbClr val="C00000"/>
          </a:solidFill>
          <a:ln w="9525" cap="flat" cmpd="sng" algn="ctr">
            <a:noFill/>
            <a:prstDash val="solid"/>
            <a:round/>
            <a:headEnd type="none" w="med" len="med"/>
            <a:tailEnd type="none" w="med" len="med"/>
          </a:ln>
          <a:effectLst/>
          <a:scene3d>
            <a:camera prst="orthographicFront"/>
            <a:lightRig rig="threePt" dir="t"/>
          </a:scene3d>
          <a:sp3d>
            <a:bevelT w="25400" h="25400"/>
          </a:sp3d>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MY" sz="1800" b="0" i="0" u="none" strike="noStrike" kern="1200" cap="none" spc="0" normalizeH="0" baseline="0" noProof="0">
              <a:ln>
                <a:noFill/>
              </a:ln>
              <a:solidFill>
                <a:srgbClr val="2F2B20"/>
              </a:solidFill>
              <a:effectLst/>
              <a:uLnTx/>
              <a:uFillTx/>
              <a:latin typeface="Arial" charset="0"/>
              <a:ea typeface="+mn-ea"/>
              <a:cs typeface="Arial" panose="020B0604020202020204" pitchFamily="34" charset="0"/>
            </a:endParaRPr>
          </a:p>
        </p:txBody>
      </p:sp>
      <p:sp>
        <p:nvSpPr>
          <p:cNvPr id="24" name="Multiply 23">
            <a:extLst>
              <a:ext uri="{FF2B5EF4-FFF2-40B4-BE49-F238E27FC236}">
                <a16:creationId xmlns:a16="http://schemas.microsoft.com/office/drawing/2014/main" id="{EF57D712-3FD9-7123-E682-FA1B23F41775}"/>
              </a:ext>
            </a:extLst>
          </p:cNvPr>
          <p:cNvSpPr/>
          <p:nvPr/>
        </p:nvSpPr>
        <p:spPr bwMode="auto">
          <a:xfrm>
            <a:off x="1645899" y="3761019"/>
            <a:ext cx="874744" cy="874744"/>
          </a:xfrm>
          <a:prstGeom prst="mathMultiply">
            <a:avLst>
              <a:gd name="adj1" fmla="val 14809"/>
            </a:avLst>
          </a:prstGeom>
          <a:solidFill>
            <a:srgbClr val="C00000"/>
          </a:solidFill>
          <a:ln w="9525" cap="flat" cmpd="sng" algn="ctr">
            <a:noFill/>
            <a:prstDash val="solid"/>
            <a:round/>
            <a:headEnd type="none" w="med" len="med"/>
            <a:tailEnd type="none" w="med" len="med"/>
          </a:ln>
          <a:effectLst/>
          <a:scene3d>
            <a:camera prst="orthographicFront"/>
            <a:lightRig rig="threePt" dir="t"/>
          </a:scene3d>
          <a:sp3d>
            <a:bevelT w="25400" h="25400"/>
          </a:sp3d>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MY" sz="1800" b="0" i="0" u="none" strike="noStrike" kern="1200" cap="none" spc="0" normalizeH="0" baseline="0" noProof="0">
              <a:ln>
                <a:noFill/>
              </a:ln>
              <a:solidFill>
                <a:srgbClr val="2F2B20"/>
              </a:solidFill>
              <a:effectLst/>
              <a:uLnTx/>
              <a:uFillTx/>
              <a:latin typeface="Arial" charset="0"/>
              <a:ea typeface="+mn-ea"/>
              <a:cs typeface="Arial" panose="020B0604020202020204" pitchFamily="34" charset="0"/>
            </a:endParaRPr>
          </a:p>
        </p:txBody>
      </p:sp>
      <p:sp>
        <p:nvSpPr>
          <p:cNvPr id="25" name="Title 1">
            <a:extLst>
              <a:ext uri="{FF2B5EF4-FFF2-40B4-BE49-F238E27FC236}">
                <a16:creationId xmlns:a16="http://schemas.microsoft.com/office/drawing/2014/main" id="{66696403-7867-4678-7F65-A69E70F39353}"/>
              </a:ext>
            </a:extLst>
          </p:cNvPr>
          <p:cNvSpPr>
            <a:spLocks noGrp="1"/>
          </p:cNvSpPr>
          <p:nvPr>
            <p:ph type="title"/>
          </p:nvPr>
        </p:nvSpPr>
        <p:spPr>
          <a:xfrm>
            <a:off x="152400" y="0"/>
            <a:ext cx="8153400" cy="1143000"/>
          </a:xfrm>
        </p:spPr>
        <p:txBody>
          <a:bodyPr/>
          <a:lstStyle/>
          <a:p>
            <a:pPr algn="ctr">
              <a:defRPr/>
            </a:pPr>
            <a:r>
              <a:rPr lang="en-US" dirty="0"/>
              <a:t>General Database Administration</a:t>
            </a:r>
            <a:endParaRPr lang="en-MY"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wipe(left)">
                                      <p:cBhvr>
                                        <p:cTn id="7" dur="500"/>
                                        <p:tgtEl>
                                          <p:spTgt spid="30"/>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1">
                                            <p:txEl>
                                              <p:pRg st="0" end="0"/>
                                            </p:txEl>
                                          </p:spTgt>
                                        </p:tgtEl>
                                        <p:attrNameLst>
                                          <p:attrName>style.visibility</p:attrName>
                                        </p:attrNameLst>
                                      </p:cBhvr>
                                      <p:to>
                                        <p:strVal val="visible"/>
                                      </p:to>
                                    </p:set>
                                    <p:animEffect transition="in" filter="wipe(left)">
                                      <p:cBhvr>
                                        <p:cTn id="11" dur="500"/>
                                        <p:tgtEl>
                                          <p:spTgt spid="31">
                                            <p:txEl>
                                              <p:pRg st="0" end="0"/>
                                            </p:txEl>
                                          </p:spTgt>
                                        </p:tgtEl>
                                      </p:cBhvr>
                                    </p:animEffect>
                                  </p:childTnLst>
                                </p:cTn>
                              </p:par>
                            </p:childTnLst>
                          </p:cTn>
                        </p:par>
                        <p:par>
                          <p:cTn id="12" fill="hold" nodeType="afterGroup">
                            <p:stCondLst>
                              <p:cond delay="1000"/>
                            </p:stCondLst>
                            <p:childTnLst>
                              <p:par>
                                <p:cTn id="13" presetID="42" presetClass="entr" presetSubtype="0" fill="hold"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fade">
                                      <p:cBhvr>
                                        <p:cTn id="15" dur="1000"/>
                                        <p:tgtEl>
                                          <p:spTgt spid="2"/>
                                        </p:tgtEl>
                                      </p:cBhvr>
                                    </p:animEffect>
                                    <p:anim calcmode="lin" valueType="num">
                                      <p:cBhvr>
                                        <p:cTn id="16" dur="1000" fill="hold"/>
                                        <p:tgtEl>
                                          <p:spTgt spid="2"/>
                                        </p:tgtEl>
                                        <p:attrNameLst>
                                          <p:attrName>ppt_x</p:attrName>
                                        </p:attrNameLst>
                                      </p:cBhvr>
                                      <p:tavLst>
                                        <p:tav tm="0">
                                          <p:val>
                                            <p:strVal val="#ppt_x"/>
                                          </p:val>
                                        </p:tav>
                                        <p:tav tm="100000">
                                          <p:val>
                                            <p:strVal val="#ppt_x"/>
                                          </p:val>
                                        </p:tav>
                                      </p:tavLst>
                                    </p:anim>
                                    <p:anim calcmode="lin" valueType="num">
                                      <p:cBhvr>
                                        <p:cTn id="17" dur="1000" fill="hold"/>
                                        <p:tgtEl>
                                          <p:spTgt spid="2"/>
                                        </p:tgtEl>
                                        <p:attrNameLst>
                                          <p:attrName>ppt_y</p:attrName>
                                        </p:attrNameLst>
                                      </p:cBhvr>
                                      <p:tavLst>
                                        <p:tav tm="0">
                                          <p:val>
                                            <p:strVal val="#ppt_y+.1"/>
                                          </p:val>
                                        </p:tav>
                                        <p:tav tm="100000">
                                          <p:val>
                                            <p:strVal val="#ppt_y"/>
                                          </p:val>
                                        </p:tav>
                                      </p:tavLst>
                                    </p:anim>
                                  </p:childTnLst>
                                </p:cTn>
                              </p:par>
                            </p:childTnLst>
                          </p:cTn>
                        </p:par>
                        <p:par>
                          <p:cTn id="18" fill="hold" nodeType="afterGroup">
                            <p:stCondLst>
                              <p:cond delay="2000"/>
                            </p:stCondLst>
                            <p:childTnLst>
                              <p:par>
                                <p:cTn id="19" presetID="1" presetClass="entr" presetSubtype="0" fill="hold" grpId="0" nodeType="after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1" fill="hold" grpId="0" nodeType="click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wipe(up)">
                                      <p:cBhvr>
                                        <p:cTn id="25" dur="500"/>
                                        <p:tgtEl>
                                          <p:spTgt spid="17"/>
                                        </p:tgtEl>
                                      </p:cBhvr>
                                    </p:animEffect>
                                  </p:childTnLst>
                                </p:cTn>
                              </p:par>
                            </p:childTnLst>
                          </p:cTn>
                        </p:par>
                        <p:par>
                          <p:cTn id="26" fill="hold" nodeType="afterGroup">
                            <p:stCondLst>
                              <p:cond delay="500"/>
                            </p:stCondLst>
                            <p:childTnLst>
                              <p:par>
                                <p:cTn id="27" presetID="22" presetClass="entr" presetSubtype="8" fill="hold" nodeType="afterEffect">
                                  <p:stCondLst>
                                    <p:cond delay="0"/>
                                  </p:stCondLst>
                                  <p:childTnLst>
                                    <p:set>
                                      <p:cBhvr>
                                        <p:cTn id="28" dur="1" fill="hold">
                                          <p:stCondLst>
                                            <p:cond delay="0"/>
                                          </p:stCondLst>
                                        </p:cTn>
                                        <p:tgtEl>
                                          <p:spTgt spid="17">
                                            <p:txEl>
                                              <p:pRg st="0" end="0"/>
                                            </p:txEl>
                                          </p:spTgt>
                                        </p:tgtEl>
                                        <p:attrNameLst>
                                          <p:attrName>style.visibility</p:attrName>
                                        </p:attrNameLst>
                                      </p:cBhvr>
                                      <p:to>
                                        <p:strVal val="visible"/>
                                      </p:to>
                                    </p:set>
                                    <p:animEffect transition="in" filter="wipe(left)">
                                      <p:cBhvr>
                                        <p:cTn id="29" dur="500"/>
                                        <p:tgtEl>
                                          <p:spTgt spid="17">
                                            <p:txEl>
                                              <p:pRg st="0" end="0"/>
                                            </p:txEl>
                                          </p:spTgt>
                                        </p:tgtEl>
                                      </p:cBhvr>
                                    </p:animEffect>
                                  </p:childTnLst>
                                </p:cTn>
                              </p:par>
                            </p:childTnLst>
                          </p:cTn>
                        </p:par>
                        <p:par>
                          <p:cTn id="30" fill="hold" nodeType="afterGroup">
                            <p:stCondLst>
                              <p:cond delay="1000"/>
                            </p:stCondLst>
                            <p:childTnLst>
                              <p:par>
                                <p:cTn id="31" presetID="10" presetClass="entr" presetSubtype="0" fill="hold" nodeType="afterEffect">
                                  <p:stCondLst>
                                    <p:cond delay="0"/>
                                  </p:stCondLst>
                                  <p:childTnLst>
                                    <p:set>
                                      <p:cBhvr>
                                        <p:cTn id="32" dur="1" fill="hold">
                                          <p:stCondLst>
                                            <p:cond delay="0"/>
                                          </p:stCondLst>
                                        </p:cTn>
                                        <p:tgtEl>
                                          <p:spTgt spid="4"/>
                                        </p:tgtEl>
                                        <p:attrNameLst>
                                          <p:attrName>style.visibility</p:attrName>
                                        </p:attrNameLst>
                                      </p:cBhvr>
                                      <p:to>
                                        <p:strVal val="visible"/>
                                      </p:to>
                                    </p:set>
                                    <p:animEffect transition="in" filter="fade">
                                      <p:cBhvr>
                                        <p:cTn id="33" dur="500"/>
                                        <p:tgtEl>
                                          <p:spTgt spid="4"/>
                                        </p:tgtEl>
                                      </p:cBhvr>
                                    </p:animEffect>
                                  </p:childTnLst>
                                </p:cTn>
                              </p:par>
                              <p:par>
                                <p:cTn id="34" presetID="10" presetClass="entr" presetSubtype="0" fill="hold" nodeType="withEffect">
                                  <p:stCondLst>
                                    <p:cond delay="0"/>
                                  </p:stCondLst>
                                  <p:childTnLst>
                                    <p:set>
                                      <p:cBhvr>
                                        <p:cTn id="35" dur="1" fill="hold">
                                          <p:stCondLst>
                                            <p:cond delay="0"/>
                                          </p:stCondLst>
                                        </p:cTn>
                                        <p:tgtEl>
                                          <p:spTgt spid="22"/>
                                        </p:tgtEl>
                                        <p:attrNameLst>
                                          <p:attrName>style.visibility</p:attrName>
                                        </p:attrNameLst>
                                      </p:cBhvr>
                                      <p:to>
                                        <p:strVal val="visible"/>
                                      </p:to>
                                    </p:set>
                                    <p:animEffect transition="in" filter="fade">
                                      <p:cBhvr>
                                        <p:cTn id="36" dur="500"/>
                                        <p:tgtEl>
                                          <p:spTgt spid="22"/>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17">
                                            <p:txEl>
                                              <p:pRg st="1" end="1"/>
                                            </p:txEl>
                                          </p:spTgt>
                                        </p:tgtEl>
                                        <p:attrNameLst>
                                          <p:attrName>style.visibility</p:attrName>
                                        </p:attrNameLst>
                                      </p:cBhvr>
                                      <p:to>
                                        <p:strVal val="visible"/>
                                      </p:to>
                                    </p:set>
                                    <p:animEffect transition="in" filter="wipe(left)">
                                      <p:cBhvr>
                                        <p:cTn id="41" dur="500"/>
                                        <p:tgtEl>
                                          <p:spTgt spid="17">
                                            <p:txEl>
                                              <p:pRg st="1" end="1"/>
                                            </p:txEl>
                                          </p:spTgt>
                                        </p:tgtEl>
                                      </p:cBhvr>
                                    </p:animEffect>
                                  </p:childTnLst>
                                </p:cTn>
                              </p:par>
                            </p:childTnLst>
                          </p:cTn>
                        </p:par>
                        <p:par>
                          <p:cTn id="42" fill="hold" nodeType="afterGroup">
                            <p:stCondLst>
                              <p:cond delay="500"/>
                            </p:stCondLst>
                            <p:childTnLst>
                              <p:par>
                                <p:cTn id="43" presetID="10" presetClass="entr" presetSubtype="0" fill="hold" nodeType="afterEffect">
                                  <p:stCondLst>
                                    <p:cond delay="0"/>
                                  </p:stCondLst>
                                  <p:childTnLst>
                                    <p:set>
                                      <p:cBhvr>
                                        <p:cTn id="44" dur="1" fill="hold">
                                          <p:stCondLst>
                                            <p:cond delay="0"/>
                                          </p:stCondLst>
                                        </p:cTn>
                                        <p:tgtEl>
                                          <p:spTgt spid="24"/>
                                        </p:tgtEl>
                                        <p:attrNameLst>
                                          <p:attrName>style.visibility</p:attrName>
                                        </p:attrNameLst>
                                      </p:cBhvr>
                                      <p:to>
                                        <p:strVal val="visible"/>
                                      </p:to>
                                    </p:set>
                                    <p:animEffect transition="in" filter="fade">
                                      <p:cBhvr>
                                        <p:cTn id="45" dur="500"/>
                                        <p:tgtEl>
                                          <p:spTgt spid="24"/>
                                        </p:tgtEl>
                                      </p:cBhvr>
                                    </p:animEffect>
                                  </p:childTnLst>
                                </p:cTn>
                              </p:par>
                              <p:par>
                                <p:cTn id="46" presetID="10" presetClass="entr" presetSubtype="0" fill="hold" nodeType="withEffect">
                                  <p:stCondLst>
                                    <p:cond delay="0"/>
                                  </p:stCondLst>
                                  <p:childTnLst>
                                    <p:set>
                                      <p:cBhvr>
                                        <p:cTn id="47" dur="1" fill="hold">
                                          <p:stCondLst>
                                            <p:cond delay="0"/>
                                          </p:stCondLst>
                                        </p:cTn>
                                        <p:tgtEl>
                                          <p:spTgt spid="23"/>
                                        </p:tgtEl>
                                        <p:attrNameLst>
                                          <p:attrName>style.visibility</p:attrName>
                                        </p:attrNameLst>
                                      </p:cBhvr>
                                      <p:to>
                                        <p:strVal val="visible"/>
                                      </p:to>
                                    </p:set>
                                    <p:animEffect transition="in" filter="fade">
                                      <p:cBhvr>
                                        <p:cTn id="48"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1" grpId="0" build="p"/>
      <p:bldP spid="16" grpId="0"/>
      <p:bldP spid="17" grpId="0" animBg="1"/>
    </p:bldLst>
  </p:timing>
</p:sld>
</file>

<file path=ppt/slides/slide2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nip Single Corner Rectangle 29">
            <a:extLst>
              <a:ext uri="{FF2B5EF4-FFF2-40B4-BE49-F238E27FC236}">
                <a16:creationId xmlns:a16="http://schemas.microsoft.com/office/drawing/2014/main" id="{5DC5F4B4-A295-9F45-786F-A2CDDC1E5DF3}"/>
              </a:ext>
            </a:extLst>
          </p:cNvPr>
          <p:cNvSpPr/>
          <p:nvPr/>
        </p:nvSpPr>
        <p:spPr>
          <a:xfrm>
            <a:off x="-36513" y="1263650"/>
            <a:ext cx="3455988" cy="400050"/>
          </a:xfrm>
          <a:prstGeom prst="snip1Rect">
            <a:avLst/>
          </a:prstGeom>
          <a:solidFill>
            <a:schemeClr val="accent4"/>
          </a:solidFill>
          <a:ln>
            <a:solidFill>
              <a:schemeClr val="accent4"/>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marR="0" lvl="0" indent="-342900" algn="just" defTabSz="914400" rtl="0" eaLnBrk="1" fontAlgn="base" latinLnBrk="0" hangingPunct="1">
              <a:lnSpc>
                <a:spcPct val="100000"/>
              </a:lnSpc>
              <a:spcBef>
                <a:spcPct val="20000"/>
              </a:spcBef>
              <a:spcAft>
                <a:spcPct val="0"/>
              </a:spcAft>
              <a:buClr>
                <a:srgbClr val="FF6600"/>
              </a:buClr>
              <a:buSzPct val="100000"/>
              <a:buFontTx/>
              <a:buNone/>
              <a:tabLst/>
              <a:defRPr/>
            </a:pPr>
            <a:r>
              <a:rPr kumimoji="0" lang="en-GB" sz="1800" b="0" i="0" u="none" strike="noStrike" kern="0" cap="none" spc="0" normalizeH="0" baseline="0" noProof="0" dirty="0">
                <a:ln>
                  <a:noFill/>
                </a:ln>
                <a:solidFill>
                  <a:srgbClr val="FFFFFF"/>
                </a:solidFill>
                <a:effectLst/>
                <a:uLnTx/>
                <a:uFillTx/>
                <a:latin typeface="Calibri"/>
                <a:ea typeface="+mn-ea"/>
                <a:cs typeface="+mn-cs"/>
              </a:rPr>
              <a:t>Server configuration and tuning</a:t>
            </a:r>
          </a:p>
        </p:txBody>
      </p:sp>
      <p:sp>
        <p:nvSpPr>
          <p:cNvPr id="31" name="Content Placeholder 2">
            <a:extLst>
              <a:ext uri="{FF2B5EF4-FFF2-40B4-BE49-F238E27FC236}">
                <a16:creationId xmlns:a16="http://schemas.microsoft.com/office/drawing/2014/main" id="{5531A752-1515-A730-CC82-DD658724D1F2}"/>
              </a:ext>
            </a:extLst>
          </p:cNvPr>
          <p:cNvSpPr txBox="1">
            <a:spLocks/>
          </p:cNvSpPr>
          <p:nvPr/>
        </p:nvSpPr>
        <p:spPr bwMode="auto">
          <a:xfrm>
            <a:off x="250825" y="1881188"/>
            <a:ext cx="8655050"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A DBMS can only perform at its best through careful configuration and tuning</a:t>
            </a: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40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pic>
        <p:nvPicPr>
          <p:cNvPr id="10" name="Picture 9">
            <a:extLst>
              <a:ext uri="{FF2B5EF4-FFF2-40B4-BE49-F238E27FC236}">
                <a16:creationId xmlns:a16="http://schemas.microsoft.com/office/drawing/2014/main" id="{DE59B940-5ED0-C72E-A780-5F1EBEFA0FE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50825" y="3049588"/>
            <a:ext cx="3968750" cy="297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Content Placeholder 2">
            <a:extLst>
              <a:ext uri="{FF2B5EF4-FFF2-40B4-BE49-F238E27FC236}">
                <a16:creationId xmlns:a16="http://schemas.microsoft.com/office/drawing/2014/main" id="{30B3425F-9766-87A9-3995-F0F3A7A33909}"/>
              </a:ext>
            </a:extLst>
          </p:cNvPr>
          <p:cNvSpPr txBox="1">
            <a:spLocks/>
          </p:cNvSpPr>
          <p:nvPr/>
        </p:nvSpPr>
        <p:spPr>
          <a:xfrm>
            <a:off x="4572000" y="3049588"/>
            <a:ext cx="3649663" cy="2970212"/>
          </a:xfrm>
          <a:prstGeom prst="rect">
            <a:avLst/>
          </a:prstGeom>
          <a:ln/>
        </p:spPr>
        <p:style>
          <a:lnRef idx="1">
            <a:schemeClr val="accent6"/>
          </a:lnRef>
          <a:fillRef idx="2">
            <a:schemeClr val="accent6"/>
          </a:fillRef>
          <a:effectRef idx="1">
            <a:schemeClr val="accent6"/>
          </a:effectRef>
          <a:fontRef idx="minor">
            <a:schemeClr val="dk1"/>
          </a:fontRef>
        </p:style>
        <p:txBody>
          <a:bodyPr anchor="ctr"/>
          <a:lstStyle>
            <a:lvl1pPr marL="342900" indent="-342900">
              <a:spcBef>
                <a:spcPct val="20000"/>
              </a:spcBef>
              <a:buClr>
                <a:schemeClr val="accent1"/>
              </a:buClr>
              <a:buFont typeface="Arial" panose="020B0604020202020204" pitchFamily="34" charset="0"/>
              <a:buChar char="•"/>
              <a:defRPr sz="2200">
                <a:solidFill>
                  <a:schemeClr val="tx1"/>
                </a:solidFill>
                <a:latin typeface="Calibri" panose="020F0502020204030204" pitchFamily="34" charset="0"/>
              </a:defRPr>
            </a:lvl1pPr>
            <a:lvl2pPr>
              <a:spcBef>
                <a:spcPct val="20000"/>
              </a:spcBef>
              <a:buClr>
                <a:schemeClr val="accent2"/>
              </a:buClr>
              <a:buFont typeface="Arial" panose="020B0604020202020204" pitchFamily="34" charset="0"/>
              <a:buChar char="•"/>
              <a:defRPr sz="2000">
                <a:solidFill>
                  <a:schemeClr val="tx1"/>
                </a:solidFill>
                <a:latin typeface="Calibri" panose="020F0502020204030204" pitchFamily="34" charset="0"/>
              </a:defRPr>
            </a:lvl2pPr>
            <a:lvl3pPr marL="534988" indent="-357188">
              <a:spcBef>
                <a:spcPct val="20000"/>
              </a:spcBef>
              <a:buClr>
                <a:srgbClr val="D2CB6C"/>
              </a:buClr>
              <a:buFont typeface="Arial" panose="020B0604020202020204" pitchFamily="34" charset="0"/>
              <a:buChar char="•"/>
              <a:defRPr>
                <a:solidFill>
                  <a:schemeClr val="tx1"/>
                </a:solidFill>
                <a:latin typeface="Calibri" panose="020F0502020204030204" pitchFamily="34" charset="0"/>
              </a:defRPr>
            </a:lvl3pPr>
            <a:lvl4pPr marL="1600200" indent="-228600">
              <a:spcBef>
                <a:spcPct val="20000"/>
              </a:spcBef>
              <a:buClr>
                <a:srgbClr val="95A39D"/>
              </a:buClr>
              <a:buFont typeface="Arial" panose="020B0604020202020204" pitchFamily="34" charset="0"/>
              <a:buChar char="•"/>
              <a:defRPr sz="1600">
                <a:solidFill>
                  <a:schemeClr val="tx1"/>
                </a:solidFill>
                <a:latin typeface="Calibri" panose="020F0502020204030204" pitchFamily="34" charset="0"/>
              </a:defRPr>
            </a:lvl4pPr>
            <a:lvl5pPr marL="2057400" indent="-228600">
              <a:spcBef>
                <a:spcPct val="20000"/>
              </a:spcBef>
              <a:buClr>
                <a:srgbClr val="C89F5D"/>
              </a:buClr>
              <a:buFont typeface="Arial" panose="020B0604020202020204" pitchFamily="34" charset="0"/>
              <a:buChar char="•"/>
              <a:defRPr sz="1400">
                <a:solidFill>
                  <a:schemeClr val="tx1"/>
                </a:solidFill>
                <a:latin typeface="Calibri" panose="020F0502020204030204" pitchFamily="34" charset="0"/>
              </a:defRPr>
            </a:lvl5pPr>
            <a:lvl6pPr marL="2514600" indent="-228600" eaLnBrk="0" fontAlgn="base" hangingPunct="0">
              <a:spcBef>
                <a:spcPct val="20000"/>
              </a:spcBef>
              <a:spcAft>
                <a:spcPct val="0"/>
              </a:spcAft>
              <a:buClr>
                <a:srgbClr val="C89F5D"/>
              </a:buClr>
              <a:buFont typeface="Arial" panose="020B0604020202020204" pitchFamily="34" charset="0"/>
              <a:buChar char="•"/>
              <a:defRPr sz="1400">
                <a:solidFill>
                  <a:schemeClr val="tx1"/>
                </a:solidFill>
                <a:latin typeface="Calibri" panose="020F0502020204030204" pitchFamily="34" charset="0"/>
              </a:defRPr>
            </a:lvl6pPr>
            <a:lvl7pPr marL="2971800" indent="-228600" eaLnBrk="0" fontAlgn="base" hangingPunct="0">
              <a:spcBef>
                <a:spcPct val="20000"/>
              </a:spcBef>
              <a:spcAft>
                <a:spcPct val="0"/>
              </a:spcAft>
              <a:buClr>
                <a:srgbClr val="C89F5D"/>
              </a:buClr>
              <a:buFont typeface="Arial" panose="020B0604020202020204" pitchFamily="34" charset="0"/>
              <a:buChar char="•"/>
              <a:defRPr sz="1400">
                <a:solidFill>
                  <a:schemeClr val="tx1"/>
                </a:solidFill>
                <a:latin typeface="Calibri" panose="020F0502020204030204" pitchFamily="34" charset="0"/>
              </a:defRPr>
            </a:lvl7pPr>
            <a:lvl8pPr marL="3429000" indent="-228600" eaLnBrk="0" fontAlgn="base" hangingPunct="0">
              <a:spcBef>
                <a:spcPct val="20000"/>
              </a:spcBef>
              <a:spcAft>
                <a:spcPct val="0"/>
              </a:spcAft>
              <a:buClr>
                <a:srgbClr val="C89F5D"/>
              </a:buClr>
              <a:buFont typeface="Arial" panose="020B0604020202020204" pitchFamily="34" charset="0"/>
              <a:buChar char="•"/>
              <a:defRPr sz="1400">
                <a:solidFill>
                  <a:schemeClr val="tx1"/>
                </a:solidFill>
                <a:latin typeface="Calibri" panose="020F0502020204030204" pitchFamily="34" charset="0"/>
              </a:defRPr>
            </a:lvl8pPr>
            <a:lvl9pPr marL="3886200" indent="-228600" eaLnBrk="0" fontAlgn="base" hangingPunct="0">
              <a:spcBef>
                <a:spcPct val="20000"/>
              </a:spcBef>
              <a:spcAft>
                <a:spcPct val="0"/>
              </a:spcAft>
              <a:buClr>
                <a:srgbClr val="C89F5D"/>
              </a:buClr>
              <a:buFont typeface="Arial" panose="020B0604020202020204" pitchFamily="34" charset="0"/>
              <a:buChar char="•"/>
              <a:defRPr sz="1400">
                <a:solidFill>
                  <a:schemeClr val="tx1"/>
                </a:solidFill>
                <a:latin typeface="Calibri" panose="020F0502020204030204" pitchFamily="34" charset="0"/>
              </a:defRPr>
            </a:lvl9pPr>
          </a:lstStyle>
          <a:p>
            <a:pPr marL="0" marR="0" lvl="1"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2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As a DBA, your responsibility is to decide</a:t>
            </a:r>
          </a:p>
          <a:p>
            <a:pPr marL="534988" marR="0" lvl="2" indent="-357188"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Char char=""/>
              <a:tabLst/>
              <a:defRPr/>
            </a:pPr>
            <a:r>
              <a:rPr kumimoji="0" lang="en-CA" altLang="en-US" sz="2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Is more memory needed?</a:t>
            </a:r>
          </a:p>
          <a:p>
            <a:pPr marL="534988" marR="0" lvl="2" indent="-357188"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Char char=""/>
              <a:tabLst/>
              <a:defRPr/>
            </a:pPr>
            <a:r>
              <a:rPr kumimoji="0" lang="en-CA" altLang="en-US" sz="2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Is faster disk needed?</a:t>
            </a:r>
          </a:p>
          <a:p>
            <a:pPr marL="534988" marR="0" lvl="2" indent="-357188"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Char char=""/>
              <a:tabLst/>
              <a:defRPr/>
            </a:pPr>
            <a:r>
              <a:rPr kumimoji="0" lang="en-CA" altLang="en-US" sz="2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Should we optimize for INSERT or SELECT?</a:t>
            </a:r>
          </a:p>
          <a:p>
            <a:pPr marL="534988" marR="0" lvl="2" indent="-357188"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Char char=""/>
              <a:tabLst/>
              <a:defRPr/>
            </a:pPr>
            <a:r>
              <a:rPr kumimoji="0" lang="en-CA" altLang="en-US" sz="2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a:t>
            </a:r>
          </a:p>
        </p:txBody>
      </p:sp>
      <p:sp>
        <p:nvSpPr>
          <p:cNvPr id="11" name="Title 1">
            <a:extLst>
              <a:ext uri="{FF2B5EF4-FFF2-40B4-BE49-F238E27FC236}">
                <a16:creationId xmlns:a16="http://schemas.microsoft.com/office/drawing/2014/main" id="{D0A2B691-9A07-27B0-11FD-15EF1C2CF0A9}"/>
              </a:ext>
            </a:extLst>
          </p:cNvPr>
          <p:cNvSpPr>
            <a:spLocks noGrp="1"/>
          </p:cNvSpPr>
          <p:nvPr>
            <p:ph type="title"/>
          </p:nvPr>
        </p:nvSpPr>
        <p:spPr>
          <a:xfrm>
            <a:off x="152400" y="0"/>
            <a:ext cx="8153400" cy="1143000"/>
          </a:xfrm>
        </p:spPr>
        <p:txBody>
          <a:bodyPr/>
          <a:lstStyle/>
          <a:p>
            <a:pPr algn="ctr">
              <a:defRPr/>
            </a:pPr>
            <a:r>
              <a:rPr lang="en-US" dirty="0"/>
              <a:t>General Database Administration</a:t>
            </a:r>
            <a:endParaRPr lang="en-MY"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wipe(left)">
                                      <p:cBhvr>
                                        <p:cTn id="7" dur="500"/>
                                        <p:tgtEl>
                                          <p:spTgt spid="30"/>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1">
                                            <p:txEl>
                                              <p:pRg st="0" end="0"/>
                                            </p:txEl>
                                          </p:spTgt>
                                        </p:tgtEl>
                                        <p:attrNameLst>
                                          <p:attrName>style.visibility</p:attrName>
                                        </p:attrNameLst>
                                      </p:cBhvr>
                                      <p:to>
                                        <p:strVal val="visible"/>
                                      </p:to>
                                    </p:set>
                                    <p:animEffect transition="in" filter="wipe(left)">
                                      <p:cBhvr>
                                        <p:cTn id="11" dur="500"/>
                                        <p:tgtEl>
                                          <p:spTgt spid="31">
                                            <p:txEl>
                                              <p:pRg st="0" end="0"/>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6" presetClass="entr" presetSubtype="21" fill="hold" nodeType="click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barn(inVertical)">
                                      <p:cBhvr>
                                        <p:cTn id="16" dur="500"/>
                                        <p:tgtEl>
                                          <p:spTgt spid="10"/>
                                        </p:tgtEl>
                                      </p:cBhvr>
                                    </p:animEffect>
                                  </p:childTnLst>
                                </p:cTn>
                              </p:par>
                            </p:childTnLst>
                          </p:cTn>
                        </p:par>
                        <p:par>
                          <p:cTn id="17" fill="hold" nodeType="afterGroup">
                            <p:stCondLst>
                              <p:cond delay="500"/>
                            </p:stCondLst>
                            <p:childTnLst>
                              <p:par>
                                <p:cTn id="18" presetID="22" presetClass="entr" presetSubtype="1" fill="hold" grpId="0" nodeType="after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wipe(up)">
                                      <p:cBhvr>
                                        <p:cTn id="20" dur="500"/>
                                        <p:tgtEl>
                                          <p:spTgt spid="12"/>
                                        </p:tgtEl>
                                      </p:cBhvr>
                                    </p:animEffect>
                                  </p:childTnLst>
                                </p:cTn>
                              </p:par>
                            </p:childTnLst>
                          </p:cTn>
                        </p:par>
                        <p:par>
                          <p:cTn id="21" fill="hold" nodeType="afterGroup">
                            <p:stCondLst>
                              <p:cond delay="1000"/>
                            </p:stCondLst>
                            <p:childTnLst>
                              <p:par>
                                <p:cTn id="22" presetID="22" presetClass="entr" presetSubtype="8" fill="hold" nodeType="afterEffect">
                                  <p:stCondLst>
                                    <p:cond delay="0"/>
                                  </p:stCondLst>
                                  <p:childTnLst>
                                    <p:set>
                                      <p:cBhvr>
                                        <p:cTn id="23" dur="1" fill="hold">
                                          <p:stCondLst>
                                            <p:cond delay="0"/>
                                          </p:stCondLst>
                                        </p:cTn>
                                        <p:tgtEl>
                                          <p:spTgt spid="12">
                                            <p:txEl>
                                              <p:pRg st="0" end="0"/>
                                            </p:txEl>
                                          </p:spTgt>
                                        </p:tgtEl>
                                        <p:attrNameLst>
                                          <p:attrName>style.visibility</p:attrName>
                                        </p:attrNameLst>
                                      </p:cBhvr>
                                      <p:to>
                                        <p:strVal val="visible"/>
                                      </p:to>
                                    </p:set>
                                    <p:animEffect transition="in" filter="wipe(left)">
                                      <p:cBhvr>
                                        <p:cTn id="24" dur="500"/>
                                        <p:tgtEl>
                                          <p:spTgt spid="12">
                                            <p:txEl>
                                              <p:pRg st="0" end="0"/>
                                            </p:txEl>
                                          </p:spTgt>
                                        </p:tgtEl>
                                      </p:cBhvr>
                                    </p:animEffect>
                                  </p:childTnLst>
                                </p:cTn>
                              </p:par>
                            </p:childTnLst>
                          </p:cTn>
                        </p:par>
                        <p:par>
                          <p:cTn id="25" fill="hold" nodeType="afterGroup">
                            <p:stCondLst>
                              <p:cond delay="1500"/>
                            </p:stCondLst>
                            <p:childTnLst>
                              <p:par>
                                <p:cTn id="26" presetID="22" presetClass="entr" presetSubtype="8" fill="hold" nodeType="afterEffect">
                                  <p:stCondLst>
                                    <p:cond delay="0"/>
                                  </p:stCondLst>
                                  <p:childTnLst>
                                    <p:set>
                                      <p:cBhvr>
                                        <p:cTn id="27" dur="1" fill="hold">
                                          <p:stCondLst>
                                            <p:cond delay="0"/>
                                          </p:stCondLst>
                                        </p:cTn>
                                        <p:tgtEl>
                                          <p:spTgt spid="12">
                                            <p:txEl>
                                              <p:pRg st="1" end="1"/>
                                            </p:txEl>
                                          </p:spTgt>
                                        </p:tgtEl>
                                        <p:attrNameLst>
                                          <p:attrName>style.visibility</p:attrName>
                                        </p:attrNameLst>
                                      </p:cBhvr>
                                      <p:to>
                                        <p:strVal val="visible"/>
                                      </p:to>
                                    </p:set>
                                    <p:animEffect transition="in" filter="wipe(left)">
                                      <p:cBhvr>
                                        <p:cTn id="28" dur="500"/>
                                        <p:tgtEl>
                                          <p:spTgt spid="12">
                                            <p:txEl>
                                              <p:pRg st="1" end="1"/>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nodeType="clickEffect">
                                  <p:stCondLst>
                                    <p:cond delay="0"/>
                                  </p:stCondLst>
                                  <p:childTnLst>
                                    <p:set>
                                      <p:cBhvr>
                                        <p:cTn id="32" dur="1" fill="hold">
                                          <p:stCondLst>
                                            <p:cond delay="0"/>
                                          </p:stCondLst>
                                        </p:cTn>
                                        <p:tgtEl>
                                          <p:spTgt spid="12">
                                            <p:txEl>
                                              <p:pRg st="2" end="2"/>
                                            </p:txEl>
                                          </p:spTgt>
                                        </p:tgtEl>
                                        <p:attrNameLst>
                                          <p:attrName>style.visibility</p:attrName>
                                        </p:attrNameLst>
                                      </p:cBhvr>
                                      <p:to>
                                        <p:strVal val="visible"/>
                                      </p:to>
                                    </p:set>
                                    <p:animEffect transition="in" filter="wipe(left)">
                                      <p:cBhvr>
                                        <p:cTn id="33" dur="500"/>
                                        <p:tgtEl>
                                          <p:spTgt spid="12">
                                            <p:txEl>
                                              <p:pRg st="2" end="2"/>
                                            </p:txEl>
                                          </p:spTgt>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nodeType="clickEffect">
                                  <p:stCondLst>
                                    <p:cond delay="0"/>
                                  </p:stCondLst>
                                  <p:childTnLst>
                                    <p:set>
                                      <p:cBhvr>
                                        <p:cTn id="37" dur="1" fill="hold">
                                          <p:stCondLst>
                                            <p:cond delay="0"/>
                                          </p:stCondLst>
                                        </p:cTn>
                                        <p:tgtEl>
                                          <p:spTgt spid="12">
                                            <p:txEl>
                                              <p:pRg st="3" end="3"/>
                                            </p:txEl>
                                          </p:spTgt>
                                        </p:tgtEl>
                                        <p:attrNameLst>
                                          <p:attrName>style.visibility</p:attrName>
                                        </p:attrNameLst>
                                      </p:cBhvr>
                                      <p:to>
                                        <p:strVal val="visible"/>
                                      </p:to>
                                    </p:set>
                                    <p:animEffect transition="in" filter="wipe(left)">
                                      <p:cBhvr>
                                        <p:cTn id="38" dur="500"/>
                                        <p:tgtEl>
                                          <p:spTgt spid="12">
                                            <p:txEl>
                                              <p:pRg st="3" end="3"/>
                                            </p:txEl>
                                          </p:spTgt>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nodeType="clickEffect">
                                  <p:stCondLst>
                                    <p:cond delay="0"/>
                                  </p:stCondLst>
                                  <p:childTnLst>
                                    <p:set>
                                      <p:cBhvr>
                                        <p:cTn id="42" dur="1" fill="hold">
                                          <p:stCondLst>
                                            <p:cond delay="0"/>
                                          </p:stCondLst>
                                        </p:cTn>
                                        <p:tgtEl>
                                          <p:spTgt spid="12">
                                            <p:txEl>
                                              <p:pRg st="4" end="4"/>
                                            </p:txEl>
                                          </p:spTgt>
                                        </p:tgtEl>
                                        <p:attrNameLst>
                                          <p:attrName>style.visibility</p:attrName>
                                        </p:attrNameLst>
                                      </p:cBhvr>
                                      <p:to>
                                        <p:strVal val="visible"/>
                                      </p:to>
                                    </p:set>
                                    <p:animEffect transition="in" filter="wipe(left)">
                                      <p:cBhvr>
                                        <p:cTn id="43" dur="500"/>
                                        <p:tgtEl>
                                          <p:spTgt spid="1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1" grpId="0" build="p"/>
      <p:bldP spid="12" grpId="0" animBg="1"/>
    </p:bldLst>
  </p:timing>
</p:sld>
</file>

<file path=ppt/slides/slide2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nip Single Corner Rectangle 29">
            <a:extLst>
              <a:ext uri="{FF2B5EF4-FFF2-40B4-BE49-F238E27FC236}">
                <a16:creationId xmlns:a16="http://schemas.microsoft.com/office/drawing/2014/main" id="{40AF5C9E-AA8A-F62F-DFC9-179D96D1C344}"/>
              </a:ext>
            </a:extLst>
          </p:cNvPr>
          <p:cNvSpPr/>
          <p:nvPr/>
        </p:nvSpPr>
        <p:spPr>
          <a:xfrm>
            <a:off x="-36513" y="1263650"/>
            <a:ext cx="3157538" cy="400050"/>
          </a:xfrm>
          <a:prstGeom prst="snip1Rect">
            <a:avLst/>
          </a:prstGeom>
          <a:solidFill>
            <a:schemeClr val="accent6"/>
          </a:solidFill>
          <a:ln>
            <a:solidFill>
              <a:schemeClr val="accent6"/>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marR="0" lvl="0" indent="-342900" algn="just" defTabSz="914400" rtl="0" eaLnBrk="1" fontAlgn="base" latinLnBrk="0" hangingPunct="1">
              <a:lnSpc>
                <a:spcPct val="100000"/>
              </a:lnSpc>
              <a:spcBef>
                <a:spcPct val="20000"/>
              </a:spcBef>
              <a:spcAft>
                <a:spcPct val="0"/>
              </a:spcAft>
              <a:buClr>
                <a:srgbClr val="FF6600"/>
              </a:buClr>
              <a:buSzPct val="100000"/>
              <a:buFontTx/>
              <a:buNone/>
              <a:tabLst/>
              <a:defRPr/>
            </a:pPr>
            <a:r>
              <a:rPr kumimoji="0" lang="en-GB" sz="1800" b="0" i="0" u="none" strike="noStrike" kern="0" cap="none" spc="0" normalizeH="0" baseline="0" noProof="0" dirty="0">
                <a:ln>
                  <a:noFill/>
                </a:ln>
                <a:solidFill>
                  <a:srgbClr val="FFFFFF"/>
                </a:solidFill>
                <a:effectLst/>
                <a:uLnTx/>
                <a:uFillTx/>
                <a:latin typeface="Calibri"/>
                <a:ea typeface="+mn-ea"/>
                <a:cs typeface="+mn-cs"/>
              </a:rPr>
              <a:t>Multiple server management</a:t>
            </a:r>
          </a:p>
        </p:txBody>
      </p:sp>
      <p:grpSp>
        <p:nvGrpSpPr>
          <p:cNvPr id="2" name="Group 7">
            <a:extLst>
              <a:ext uri="{FF2B5EF4-FFF2-40B4-BE49-F238E27FC236}">
                <a16:creationId xmlns:a16="http://schemas.microsoft.com/office/drawing/2014/main" id="{491F7FAA-775A-DD36-01A6-B425E1A8BE7D}"/>
              </a:ext>
            </a:extLst>
          </p:cNvPr>
          <p:cNvGrpSpPr>
            <a:grpSpLocks/>
          </p:cNvGrpSpPr>
          <p:nvPr/>
        </p:nvGrpSpPr>
        <p:grpSpPr bwMode="auto">
          <a:xfrm>
            <a:off x="288925" y="2730500"/>
            <a:ext cx="1828800" cy="2198688"/>
            <a:chOff x="1259632" y="4202424"/>
            <a:chExt cx="1828518" cy="2197849"/>
          </a:xfrm>
        </p:grpSpPr>
        <p:pic>
          <p:nvPicPr>
            <p:cNvPr id="55310" name="Picture 60">
              <a:extLst>
                <a:ext uri="{FF2B5EF4-FFF2-40B4-BE49-F238E27FC236}">
                  <a16:creationId xmlns:a16="http://schemas.microsoft.com/office/drawing/2014/main" id="{B04A1B63-1D7E-B629-F20D-9F9EC10EDE0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259632" y="4202424"/>
              <a:ext cx="1828518" cy="1828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311" name="TextBox 62">
              <a:extLst>
                <a:ext uri="{FF2B5EF4-FFF2-40B4-BE49-F238E27FC236}">
                  <a16:creationId xmlns:a16="http://schemas.microsoft.com/office/drawing/2014/main" id="{557B320C-B366-B44E-E1DC-5B533A42A058}"/>
                </a:ext>
              </a:extLst>
            </p:cNvPr>
            <p:cNvSpPr txBox="1">
              <a:spLocks noChangeArrowheads="1"/>
            </p:cNvSpPr>
            <p:nvPr/>
          </p:nvSpPr>
          <p:spPr bwMode="auto">
            <a:xfrm>
              <a:off x="1723842" y="6030941"/>
              <a:ext cx="90009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DBA</a:t>
              </a:r>
            </a:p>
          </p:txBody>
        </p:sp>
      </p:grpSp>
      <p:grpSp>
        <p:nvGrpSpPr>
          <p:cNvPr id="3" name="Group 10">
            <a:extLst>
              <a:ext uri="{FF2B5EF4-FFF2-40B4-BE49-F238E27FC236}">
                <a16:creationId xmlns:a16="http://schemas.microsoft.com/office/drawing/2014/main" id="{86D34920-17DD-BD9B-4BDF-7AF65B85F305}"/>
              </a:ext>
            </a:extLst>
          </p:cNvPr>
          <p:cNvGrpSpPr>
            <a:grpSpLocks/>
          </p:cNvGrpSpPr>
          <p:nvPr/>
        </p:nvGrpSpPr>
        <p:grpSpPr bwMode="auto">
          <a:xfrm>
            <a:off x="4645025" y="2708275"/>
            <a:ext cx="3736975" cy="2211388"/>
            <a:chOff x="4557864" y="4242793"/>
            <a:chExt cx="3737150" cy="2210543"/>
          </a:xfrm>
        </p:grpSpPr>
        <p:pic>
          <p:nvPicPr>
            <p:cNvPr id="55305" name="Picture 63">
              <a:extLst>
                <a:ext uri="{FF2B5EF4-FFF2-40B4-BE49-F238E27FC236}">
                  <a16:creationId xmlns:a16="http://schemas.microsoft.com/office/drawing/2014/main" id="{99922B2E-29CA-56F9-2924-2A568C4E96E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932040" y="4653136"/>
              <a:ext cx="1346750" cy="1080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06" name="Picture 64">
              <a:extLst>
                <a:ext uri="{FF2B5EF4-FFF2-40B4-BE49-F238E27FC236}">
                  <a16:creationId xmlns:a16="http://schemas.microsoft.com/office/drawing/2014/main" id="{61971A1E-E3C5-A7EF-C790-99403F44882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948264" y="4652657"/>
              <a:ext cx="1346750" cy="1080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07" name="Picture 65">
              <a:extLst>
                <a:ext uri="{FF2B5EF4-FFF2-40B4-BE49-F238E27FC236}">
                  <a16:creationId xmlns:a16="http://schemas.microsoft.com/office/drawing/2014/main" id="{C664069C-B3B5-4D8D-D0EB-7336B5BDC2D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940152" y="5279503"/>
              <a:ext cx="1346750" cy="1080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308" name="Oval 66">
              <a:extLst>
                <a:ext uri="{FF2B5EF4-FFF2-40B4-BE49-F238E27FC236}">
                  <a16:creationId xmlns:a16="http://schemas.microsoft.com/office/drawing/2014/main" id="{97DD04C4-247C-7D38-18CC-5EDA3AD267FE}"/>
                </a:ext>
              </a:extLst>
            </p:cNvPr>
            <p:cNvSpPr>
              <a:spLocks noChangeArrowheads="1"/>
            </p:cNvSpPr>
            <p:nvPr/>
          </p:nvSpPr>
          <p:spPr bwMode="auto">
            <a:xfrm>
              <a:off x="4557864" y="4242793"/>
              <a:ext cx="3686544" cy="2210543"/>
            </a:xfrm>
            <a:prstGeom prst="ellipse">
              <a:avLst/>
            </a:prstGeom>
            <a:noFill/>
            <a:ln w="9525" algn="ctr">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endParaRPr>
            </a:p>
          </p:txBody>
        </p:sp>
        <p:sp>
          <p:nvSpPr>
            <p:cNvPr id="55309" name="TextBox 68">
              <a:extLst>
                <a:ext uri="{FF2B5EF4-FFF2-40B4-BE49-F238E27FC236}">
                  <a16:creationId xmlns:a16="http://schemas.microsoft.com/office/drawing/2014/main" id="{DC9C92F1-25A7-9C87-543B-69903ED69465}"/>
                </a:ext>
              </a:extLst>
            </p:cNvPr>
            <p:cNvSpPr txBox="1">
              <a:spLocks noChangeArrowheads="1"/>
            </p:cNvSpPr>
            <p:nvPr/>
          </p:nvSpPr>
          <p:spPr bwMode="auto">
            <a:xfrm>
              <a:off x="5759371" y="4271627"/>
              <a:ext cx="128352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Database Servers</a:t>
              </a:r>
            </a:p>
          </p:txBody>
        </p:sp>
      </p:grpSp>
      <p:grpSp>
        <p:nvGrpSpPr>
          <p:cNvPr id="4" name="Group 69">
            <a:extLst>
              <a:ext uri="{FF2B5EF4-FFF2-40B4-BE49-F238E27FC236}">
                <a16:creationId xmlns:a16="http://schemas.microsoft.com/office/drawing/2014/main" id="{333E557D-AA1E-EF75-B8B1-D81919B02990}"/>
              </a:ext>
            </a:extLst>
          </p:cNvPr>
          <p:cNvGrpSpPr>
            <a:grpSpLocks/>
          </p:cNvGrpSpPr>
          <p:nvPr/>
        </p:nvGrpSpPr>
        <p:grpSpPr bwMode="auto">
          <a:xfrm>
            <a:off x="2100263" y="3195638"/>
            <a:ext cx="2393950" cy="936625"/>
            <a:chOff x="2267744" y="4442252"/>
            <a:chExt cx="2392557" cy="936326"/>
          </a:xfrm>
        </p:grpSpPr>
        <p:sp>
          <p:nvSpPr>
            <p:cNvPr id="55303" name="TextBox 71">
              <a:extLst>
                <a:ext uri="{FF2B5EF4-FFF2-40B4-BE49-F238E27FC236}">
                  <a16:creationId xmlns:a16="http://schemas.microsoft.com/office/drawing/2014/main" id="{33D32BA3-24EB-5811-67EC-C448F8FA0DD9}"/>
                </a:ext>
              </a:extLst>
            </p:cNvPr>
            <p:cNvSpPr txBox="1">
              <a:spLocks noChangeArrowheads="1"/>
            </p:cNvSpPr>
            <p:nvPr/>
          </p:nvSpPr>
          <p:spPr bwMode="auto">
            <a:xfrm>
              <a:off x="2279619" y="4442252"/>
              <a:ext cx="2310601"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Know how to setup and manage multiple database servers</a:t>
              </a:r>
            </a:p>
          </p:txBody>
        </p:sp>
        <p:cxnSp>
          <p:nvCxnSpPr>
            <p:cNvPr id="55304" name="Straight Arrow Connector 70">
              <a:extLst>
                <a:ext uri="{FF2B5EF4-FFF2-40B4-BE49-F238E27FC236}">
                  <a16:creationId xmlns:a16="http://schemas.microsoft.com/office/drawing/2014/main" id="{8931E5E5-7706-C89C-3555-AB5E3EC21754}"/>
                </a:ext>
              </a:extLst>
            </p:cNvPr>
            <p:cNvCxnSpPr>
              <a:cxnSpLocks noChangeShapeType="1"/>
            </p:cNvCxnSpPr>
            <p:nvPr/>
          </p:nvCxnSpPr>
          <p:spPr bwMode="auto">
            <a:xfrm flipV="1">
              <a:off x="2267744" y="5373216"/>
              <a:ext cx="2392557" cy="5362"/>
            </a:xfrm>
            <a:prstGeom prst="straightConnector1">
              <a:avLst/>
            </a:prstGeom>
            <a:noFill/>
            <a:ln w="25400" algn="ctr">
              <a:solidFill>
                <a:schemeClr val="tx1"/>
              </a:solidFill>
              <a:round/>
              <a:headEnd/>
              <a:tailEnd type="triangle" w="med" len="med"/>
            </a:ln>
            <a:extLst>
              <a:ext uri="{909E8E84-426E-40DD-AFC4-6F175D3DCCD1}">
                <a14:hiddenFill xmlns:a14="http://schemas.microsoft.com/office/drawing/2010/main">
                  <a:noFill/>
                </a14:hiddenFill>
              </a:ext>
            </a:extLst>
          </p:spPr>
        </p:cxnSp>
      </p:grpSp>
      <p:sp>
        <p:nvSpPr>
          <p:cNvPr id="17" name="Title 1">
            <a:extLst>
              <a:ext uri="{FF2B5EF4-FFF2-40B4-BE49-F238E27FC236}">
                <a16:creationId xmlns:a16="http://schemas.microsoft.com/office/drawing/2014/main" id="{D9E73EEE-A457-3D64-4083-B2E9120738D3}"/>
              </a:ext>
            </a:extLst>
          </p:cNvPr>
          <p:cNvSpPr>
            <a:spLocks noGrp="1"/>
          </p:cNvSpPr>
          <p:nvPr>
            <p:ph type="title"/>
          </p:nvPr>
        </p:nvSpPr>
        <p:spPr>
          <a:xfrm>
            <a:off x="152400" y="0"/>
            <a:ext cx="8153400" cy="1143000"/>
          </a:xfrm>
        </p:spPr>
        <p:txBody>
          <a:bodyPr/>
          <a:lstStyle/>
          <a:p>
            <a:pPr algn="ctr">
              <a:defRPr/>
            </a:pPr>
            <a:r>
              <a:rPr lang="en-US" dirty="0"/>
              <a:t>General Database Administration</a:t>
            </a:r>
            <a:endParaRPr lang="en-MY"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wipe(left)">
                                      <p:cBhvr>
                                        <p:cTn id="7" dur="500"/>
                                        <p:tgtEl>
                                          <p:spTgt spid="30"/>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up)">
                                      <p:cBhvr>
                                        <p:cTn id="11" dur="500"/>
                                        <p:tgtEl>
                                          <p:spTgt spid="2"/>
                                        </p:tgtEl>
                                      </p:cBhvr>
                                    </p:animEffect>
                                  </p:childTnLst>
                                </p:cTn>
                              </p:par>
                            </p:childTnLst>
                          </p:cTn>
                        </p:par>
                        <p:par>
                          <p:cTn id="12" fill="hold" nodeType="afterGroup">
                            <p:stCondLst>
                              <p:cond delay="1000"/>
                            </p:stCondLst>
                            <p:childTnLst>
                              <p:par>
                                <p:cTn id="13" presetID="22" presetClass="entr" presetSubtype="1" fill="hold"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up)">
                                      <p:cBhvr>
                                        <p:cTn id="15" dur="500"/>
                                        <p:tgtEl>
                                          <p:spTgt spid="3"/>
                                        </p:tgtEl>
                                      </p:cBhvr>
                                    </p:animEffect>
                                  </p:childTnLst>
                                </p:cTn>
                              </p:par>
                            </p:childTnLst>
                          </p:cTn>
                        </p:par>
                        <p:par>
                          <p:cTn id="16" fill="hold" nodeType="afterGroup">
                            <p:stCondLst>
                              <p:cond delay="1500"/>
                            </p:stCondLst>
                            <p:childTnLst>
                              <p:par>
                                <p:cTn id="17" presetID="22" presetClass="entr" presetSubtype="8" fill="hold" nodeType="after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wipe(left)">
                                      <p:cBhvr>
                                        <p:cTn id="1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Lst>
  </p:timing>
</p:sld>
</file>

<file path=ppt/slides/slide2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6ED2C1-F89D-3BAF-88F2-044BBA2A87F8}"/>
              </a:ext>
            </a:extLst>
          </p:cNvPr>
          <p:cNvSpPr>
            <a:spLocks noGrp="1"/>
          </p:cNvSpPr>
          <p:nvPr>
            <p:ph type="title"/>
          </p:nvPr>
        </p:nvSpPr>
        <p:spPr>
          <a:xfrm>
            <a:off x="457200" y="0"/>
            <a:ext cx="7620000" cy="1143000"/>
          </a:xfrm>
        </p:spPr>
        <p:txBody>
          <a:bodyPr/>
          <a:lstStyle/>
          <a:p>
            <a:pPr algn="ctr">
              <a:defRPr/>
            </a:pPr>
            <a:r>
              <a:rPr lang="en-US" dirty="0"/>
              <a:t>Database Security</a:t>
            </a:r>
            <a:endParaRPr lang="en-MY" dirty="0"/>
          </a:p>
        </p:txBody>
      </p:sp>
      <p:sp>
        <p:nvSpPr>
          <p:cNvPr id="5" name="Content Placeholder 2">
            <a:extLst>
              <a:ext uri="{FF2B5EF4-FFF2-40B4-BE49-F238E27FC236}">
                <a16:creationId xmlns:a16="http://schemas.microsoft.com/office/drawing/2014/main" id="{3209423B-CF2A-1817-378E-BE4BBBAF5BFE}"/>
              </a:ext>
            </a:extLst>
          </p:cNvPr>
          <p:cNvSpPr txBox="1">
            <a:spLocks/>
          </p:cNvSpPr>
          <p:nvPr/>
        </p:nvSpPr>
        <p:spPr bwMode="auto">
          <a:xfrm>
            <a:off x="250825" y="1268413"/>
            <a:ext cx="7978775"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US"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A DBA is in charge of the security of the database system</a:t>
            </a: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pic>
        <p:nvPicPr>
          <p:cNvPr id="3" name="Picture 2">
            <a:extLst>
              <a:ext uri="{FF2B5EF4-FFF2-40B4-BE49-F238E27FC236}">
                <a16:creationId xmlns:a16="http://schemas.microsoft.com/office/drawing/2014/main" id="{80B4DFE4-630E-100F-5312-18683D21341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7313" y="2327275"/>
            <a:ext cx="4103687" cy="3849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Content Placeholder 2">
            <a:extLst>
              <a:ext uri="{FF2B5EF4-FFF2-40B4-BE49-F238E27FC236}">
                <a16:creationId xmlns:a16="http://schemas.microsoft.com/office/drawing/2014/main" id="{A6DC0447-719C-E7C9-24F3-81B3F7449761}"/>
              </a:ext>
            </a:extLst>
          </p:cNvPr>
          <p:cNvSpPr txBox="1">
            <a:spLocks/>
          </p:cNvSpPr>
          <p:nvPr/>
        </p:nvSpPr>
        <p:spPr bwMode="auto">
          <a:xfrm>
            <a:off x="3841750" y="2514600"/>
            <a:ext cx="4692650"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US"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Two security areas that a DBA should worry about are</a:t>
            </a:r>
            <a:endParaRPr kumimoji="0" lang="en-CA" altLang="en-US" sz="16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sp>
        <p:nvSpPr>
          <p:cNvPr id="9" name="Freeform 8">
            <a:hlinkClick r:id="rId3" action="ppaction://hlinksldjump"/>
            <a:extLst>
              <a:ext uri="{FF2B5EF4-FFF2-40B4-BE49-F238E27FC236}">
                <a16:creationId xmlns:a16="http://schemas.microsoft.com/office/drawing/2014/main" id="{425D1C57-8F86-7912-5D87-CA645AFB8F2A}"/>
              </a:ext>
            </a:extLst>
          </p:cNvPr>
          <p:cNvSpPr/>
          <p:nvPr/>
        </p:nvSpPr>
        <p:spPr>
          <a:xfrm>
            <a:off x="4129224" y="3522712"/>
            <a:ext cx="1980220" cy="1368152"/>
          </a:xfrm>
          <a:custGeom>
            <a:avLst/>
            <a:gdLst>
              <a:gd name="connsiteX0" fmla="*/ 0 w 2236185"/>
              <a:gd name="connsiteY0" fmla="*/ 0 h 1341711"/>
              <a:gd name="connsiteX1" fmla="*/ 2236185 w 2236185"/>
              <a:gd name="connsiteY1" fmla="*/ 0 h 1341711"/>
              <a:gd name="connsiteX2" fmla="*/ 2236185 w 2236185"/>
              <a:gd name="connsiteY2" fmla="*/ 1341711 h 1341711"/>
              <a:gd name="connsiteX3" fmla="*/ 0 w 2236185"/>
              <a:gd name="connsiteY3" fmla="*/ 1341711 h 1341711"/>
              <a:gd name="connsiteX4" fmla="*/ 0 w 2236185"/>
              <a:gd name="connsiteY4" fmla="*/ 0 h 1341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6185" h="1341711">
                <a:moveTo>
                  <a:pt x="0" y="0"/>
                </a:moveTo>
                <a:lnTo>
                  <a:pt x="2236185" y="0"/>
                </a:lnTo>
                <a:lnTo>
                  <a:pt x="2236185" y="1341711"/>
                </a:lnTo>
                <a:lnTo>
                  <a:pt x="0" y="1341711"/>
                </a:lnTo>
                <a:lnTo>
                  <a:pt x="0" y="0"/>
                </a:lnTo>
                <a:close/>
              </a:path>
            </a:pathLst>
          </a:custGeom>
          <a:solidFill>
            <a:schemeClr val="bg2">
              <a:lumMod val="5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lIns="83820" tIns="83820" rIns="83820" bIns="83820" spcCol="1270" anchor="ctr"/>
          <a:lstStyle/>
          <a:p>
            <a:pPr marL="0" marR="0" lvl="0" indent="0" algn="ctr" defTabSz="977900" rtl="0" eaLnBrk="0" fontAlgn="base" latinLnBrk="0" hangingPunct="0">
              <a:lnSpc>
                <a:spcPct val="90000"/>
              </a:lnSpc>
              <a:spcBef>
                <a:spcPct val="0"/>
              </a:spcBef>
              <a:spcAft>
                <a:spcPct val="35000"/>
              </a:spcAft>
              <a:buClrTx/>
              <a:buSzTx/>
              <a:buFontTx/>
              <a:buNone/>
              <a:tabLst/>
              <a:defRPr/>
            </a:pPr>
            <a:r>
              <a:rPr kumimoji="0" lang="en-CA" sz="2400" b="0" i="0" u="none" strike="noStrike" kern="1200" cap="none" spc="0" normalizeH="0" baseline="0" noProof="0" dirty="0">
                <a:ln>
                  <a:noFill/>
                </a:ln>
                <a:solidFill>
                  <a:srgbClr val="FFFFFF"/>
                </a:solidFill>
                <a:effectLst/>
                <a:uLnTx/>
                <a:uFillTx/>
                <a:latin typeface="Calibri"/>
                <a:ea typeface="+mn-ea"/>
                <a:cs typeface="+mn-cs"/>
              </a:rPr>
              <a:t>File system Security</a:t>
            </a:r>
          </a:p>
        </p:txBody>
      </p:sp>
      <p:sp>
        <p:nvSpPr>
          <p:cNvPr id="11" name="Freeform 10">
            <a:hlinkClick r:id="rId4" action="ppaction://hlinksldjump"/>
            <a:extLst>
              <a:ext uri="{FF2B5EF4-FFF2-40B4-BE49-F238E27FC236}">
                <a16:creationId xmlns:a16="http://schemas.microsoft.com/office/drawing/2014/main" id="{B405F3DA-0734-24C7-8D5E-1B41C4A6FF27}"/>
              </a:ext>
            </a:extLst>
          </p:cNvPr>
          <p:cNvSpPr/>
          <p:nvPr/>
        </p:nvSpPr>
        <p:spPr>
          <a:xfrm>
            <a:off x="6355127" y="3522712"/>
            <a:ext cx="1980219" cy="1368152"/>
          </a:xfrm>
          <a:custGeom>
            <a:avLst/>
            <a:gdLst>
              <a:gd name="connsiteX0" fmla="*/ 0 w 2236185"/>
              <a:gd name="connsiteY0" fmla="*/ 0 h 1341711"/>
              <a:gd name="connsiteX1" fmla="*/ 2236185 w 2236185"/>
              <a:gd name="connsiteY1" fmla="*/ 0 h 1341711"/>
              <a:gd name="connsiteX2" fmla="*/ 2236185 w 2236185"/>
              <a:gd name="connsiteY2" fmla="*/ 1341711 h 1341711"/>
              <a:gd name="connsiteX3" fmla="*/ 0 w 2236185"/>
              <a:gd name="connsiteY3" fmla="*/ 1341711 h 1341711"/>
              <a:gd name="connsiteX4" fmla="*/ 0 w 2236185"/>
              <a:gd name="connsiteY4" fmla="*/ 0 h 1341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6185" h="1341711">
                <a:moveTo>
                  <a:pt x="0" y="0"/>
                </a:moveTo>
                <a:lnTo>
                  <a:pt x="2236185" y="0"/>
                </a:lnTo>
                <a:lnTo>
                  <a:pt x="2236185" y="1341711"/>
                </a:lnTo>
                <a:lnTo>
                  <a:pt x="0" y="1341711"/>
                </a:lnTo>
                <a:lnTo>
                  <a:pt x="0" y="0"/>
                </a:lnTo>
                <a:close/>
              </a:path>
            </a:pathLst>
          </a:custGeom>
          <a:solidFill>
            <a:schemeClr val="accent3">
              <a:lumMod val="7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lIns="83820" tIns="83820" rIns="83820" bIns="83820" spcCol="1270" anchor="ctr"/>
          <a:lstStyle/>
          <a:p>
            <a:pPr marL="0" marR="0" lvl="0" indent="0" algn="ctr" defTabSz="977900" rtl="0" eaLnBrk="0" fontAlgn="base" latinLnBrk="0" hangingPunct="0">
              <a:lnSpc>
                <a:spcPct val="90000"/>
              </a:lnSpc>
              <a:spcBef>
                <a:spcPct val="0"/>
              </a:spcBef>
              <a:spcAft>
                <a:spcPct val="35000"/>
              </a:spcAft>
              <a:buClrTx/>
              <a:buSzTx/>
              <a:buFontTx/>
              <a:buNone/>
              <a:tabLst/>
              <a:defRPr/>
            </a:pPr>
            <a:r>
              <a:rPr kumimoji="0" lang="en-CA" sz="2400" b="0" i="0" u="none" strike="noStrike" kern="1200" cap="none" spc="0" normalizeH="0" baseline="0" noProof="0" dirty="0">
                <a:ln>
                  <a:noFill/>
                </a:ln>
                <a:solidFill>
                  <a:srgbClr val="FFFFFF"/>
                </a:solidFill>
                <a:effectLst/>
                <a:uLnTx/>
                <a:uFillTx/>
                <a:latin typeface="Calibri"/>
                <a:ea typeface="+mn-ea"/>
                <a:cs typeface="+mn-cs"/>
              </a:rPr>
              <a:t>Database Server Security</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up)">
                                      <p:cBhvr>
                                        <p:cTn id="11" dur="500"/>
                                        <p:tgtEl>
                                          <p:spTgt spid="3"/>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8">
                                            <p:txEl>
                                              <p:pRg st="0" end="0"/>
                                            </p:txEl>
                                          </p:spTgt>
                                        </p:tgtEl>
                                        <p:attrNameLst>
                                          <p:attrName>style.visibility</p:attrName>
                                        </p:attrNameLst>
                                      </p:cBhvr>
                                      <p:to>
                                        <p:strVal val="visible"/>
                                      </p:to>
                                    </p:set>
                                    <p:animEffect transition="in" filter="wipe(left)">
                                      <p:cBhvr>
                                        <p:cTn id="16" dur="500"/>
                                        <p:tgtEl>
                                          <p:spTgt spid="8">
                                            <p:txEl>
                                              <p:pRg st="0" end="0"/>
                                            </p:txEl>
                                          </p:spTgt>
                                        </p:tgtEl>
                                      </p:cBhvr>
                                    </p:animEffect>
                                  </p:childTnLst>
                                </p:cTn>
                              </p:par>
                            </p:childTnLst>
                          </p:cTn>
                        </p:par>
                        <p:par>
                          <p:cTn id="17" fill="hold" nodeType="afterGroup">
                            <p:stCondLst>
                              <p:cond delay="500"/>
                            </p:stCondLst>
                            <p:childTnLst>
                              <p:par>
                                <p:cTn id="18" presetID="42" presetClass="entr" presetSubtype="0" fill="hold" nodeType="after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1000"/>
                                        <p:tgtEl>
                                          <p:spTgt spid="9"/>
                                        </p:tgtEl>
                                      </p:cBhvr>
                                    </p:animEffect>
                                    <p:anim calcmode="lin" valueType="num">
                                      <p:cBhvr>
                                        <p:cTn id="21" dur="1000" fill="hold"/>
                                        <p:tgtEl>
                                          <p:spTgt spid="9"/>
                                        </p:tgtEl>
                                        <p:attrNameLst>
                                          <p:attrName>ppt_x</p:attrName>
                                        </p:attrNameLst>
                                      </p:cBhvr>
                                      <p:tavLst>
                                        <p:tav tm="0">
                                          <p:val>
                                            <p:strVal val="#ppt_x"/>
                                          </p:val>
                                        </p:tav>
                                        <p:tav tm="100000">
                                          <p:val>
                                            <p:strVal val="#ppt_x"/>
                                          </p:val>
                                        </p:tav>
                                      </p:tavLst>
                                    </p:anim>
                                    <p:anim calcmode="lin" valueType="num">
                                      <p:cBhvr>
                                        <p:cTn id="22" dur="1000" fill="hold"/>
                                        <p:tgtEl>
                                          <p:spTgt spid="9"/>
                                        </p:tgtEl>
                                        <p:attrNameLst>
                                          <p:attrName>ppt_y</p:attrName>
                                        </p:attrNameLst>
                                      </p:cBhvr>
                                      <p:tavLst>
                                        <p:tav tm="0">
                                          <p:val>
                                            <p:strVal val="#ppt_y+.1"/>
                                          </p:val>
                                        </p:tav>
                                        <p:tav tm="100000">
                                          <p:val>
                                            <p:strVal val="#ppt_y"/>
                                          </p:val>
                                        </p:tav>
                                      </p:tavLst>
                                    </p:anim>
                                  </p:childTnLst>
                                </p:cTn>
                              </p:par>
                            </p:childTnLst>
                          </p:cTn>
                        </p:par>
                        <p:par>
                          <p:cTn id="23" fill="hold" nodeType="afterGroup">
                            <p:stCondLst>
                              <p:cond delay="1500"/>
                            </p:stCondLst>
                            <p:childTnLst>
                              <p:par>
                                <p:cTn id="24" presetID="42" presetClass="entr" presetSubtype="0" fill="hold" nodeType="after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1000"/>
                                        <p:tgtEl>
                                          <p:spTgt spid="11"/>
                                        </p:tgtEl>
                                      </p:cBhvr>
                                    </p:animEffect>
                                    <p:anim calcmode="lin" valueType="num">
                                      <p:cBhvr>
                                        <p:cTn id="27" dur="1000" fill="hold"/>
                                        <p:tgtEl>
                                          <p:spTgt spid="11"/>
                                        </p:tgtEl>
                                        <p:attrNameLst>
                                          <p:attrName>ppt_x</p:attrName>
                                        </p:attrNameLst>
                                      </p:cBhvr>
                                      <p:tavLst>
                                        <p:tav tm="0">
                                          <p:val>
                                            <p:strVal val="#ppt_x"/>
                                          </p:val>
                                        </p:tav>
                                        <p:tav tm="100000">
                                          <p:val>
                                            <p:strVal val="#ppt_x"/>
                                          </p:val>
                                        </p:tav>
                                      </p:tavLst>
                                    </p:anim>
                                    <p:anim calcmode="lin" valueType="num">
                                      <p:cBhvr>
                                        <p:cTn id="28"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8" grpId="0" build="p"/>
    </p:bldLst>
  </p:timing>
</p:sld>
</file>

<file path=ppt/slides/slide2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370181-1E17-0EEB-076F-A05B94C1D609}"/>
              </a:ext>
            </a:extLst>
          </p:cNvPr>
          <p:cNvSpPr>
            <a:spLocks noGrp="1"/>
          </p:cNvSpPr>
          <p:nvPr>
            <p:ph type="title"/>
          </p:nvPr>
        </p:nvSpPr>
        <p:spPr>
          <a:xfrm>
            <a:off x="457200" y="0"/>
            <a:ext cx="7620000" cy="1143000"/>
          </a:xfrm>
        </p:spPr>
        <p:txBody>
          <a:bodyPr/>
          <a:lstStyle/>
          <a:p>
            <a:pPr algn="ctr">
              <a:defRPr/>
            </a:pPr>
            <a:r>
              <a:rPr lang="en-US" dirty="0"/>
              <a:t>Database Security</a:t>
            </a:r>
            <a:endParaRPr lang="en-MY" dirty="0"/>
          </a:p>
        </p:txBody>
      </p:sp>
      <p:sp>
        <p:nvSpPr>
          <p:cNvPr id="24" name="Snip Single Corner Rectangle 23">
            <a:extLst>
              <a:ext uri="{FF2B5EF4-FFF2-40B4-BE49-F238E27FC236}">
                <a16:creationId xmlns:a16="http://schemas.microsoft.com/office/drawing/2014/main" id="{F60AE1CA-4D89-E0E6-6667-4AD959B40EB4}"/>
              </a:ext>
            </a:extLst>
          </p:cNvPr>
          <p:cNvSpPr/>
          <p:nvPr/>
        </p:nvSpPr>
        <p:spPr>
          <a:xfrm>
            <a:off x="-36513" y="1125538"/>
            <a:ext cx="2322513" cy="400050"/>
          </a:xfrm>
          <a:prstGeom prst="snip1Rect">
            <a:avLst/>
          </a:prstGeom>
          <a:solidFill>
            <a:schemeClr val="bg2">
              <a:lumMod val="50000"/>
              <a:alpha val="70000"/>
            </a:schemeClr>
          </a:solidFill>
          <a:ln>
            <a:solidFill>
              <a:schemeClr val="bg2">
                <a:lumMod val="50000"/>
              </a:schemeClr>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marR="0" lvl="0" indent="-342900" algn="just" defTabSz="914400" rtl="0" eaLnBrk="1" fontAlgn="base" latinLnBrk="0" hangingPunct="1">
              <a:lnSpc>
                <a:spcPct val="100000"/>
              </a:lnSpc>
              <a:spcBef>
                <a:spcPct val="20000"/>
              </a:spcBef>
              <a:spcAft>
                <a:spcPct val="0"/>
              </a:spcAft>
              <a:buClr>
                <a:srgbClr val="FF6600"/>
              </a:buClr>
              <a:buSzPct val="100000"/>
              <a:buFontTx/>
              <a:buNone/>
              <a:tabLst/>
              <a:defRPr/>
            </a:pPr>
            <a:r>
              <a:rPr kumimoji="0" lang="en-US" sz="1800" b="0" i="0" u="none" strike="noStrike" kern="1200" cap="none" spc="0" normalizeH="0" baseline="0" noProof="0" dirty="0">
                <a:ln>
                  <a:noFill/>
                </a:ln>
                <a:solidFill>
                  <a:srgbClr val="FFFFFF"/>
                </a:solidFill>
                <a:effectLst/>
                <a:uLnTx/>
                <a:uFillTx/>
                <a:latin typeface="Arial" pitchFamily="34" charset="0"/>
                <a:ea typeface="Times New Roman" pitchFamily="18" charset="0"/>
                <a:cs typeface="Arial" pitchFamily="34" charset="0"/>
              </a:rPr>
              <a:t>File system Security</a:t>
            </a:r>
            <a:endParaRPr kumimoji="0" lang="en-GB" sz="1800" b="0" i="0" u="none" strike="noStrike" kern="0" cap="none" spc="0" normalizeH="0" baseline="0" noProof="0" dirty="0">
              <a:ln>
                <a:noFill/>
              </a:ln>
              <a:solidFill>
                <a:srgbClr val="2F2B20"/>
              </a:solidFill>
              <a:effectLst/>
              <a:uLnTx/>
              <a:uFillTx/>
              <a:latin typeface="Calibri"/>
              <a:ea typeface="+mn-ea"/>
              <a:cs typeface="+mn-cs"/>
            </a:endParaRPr>
          </a:p>
        </p:txBody>
      </p:sp>
      <p:sp>
        <p:nvSpPr>
          <p:cNvPr id="25" name="Content Placeholder 5">
            <a:extLst>
              <a:ext uri="{FF2B5EF4-FFF2-40B4-BE49-F238E27FC236}">
                <a16:creationId xmlns:a16="http://schemas.microsoft.com/office/drawing/2014/main" id="{0D31D11C-4433-C8A2-6CC3-D2DFBA9242A6}"/>
              </a:ext>
            </a:extLst>
          </p:cNvPr>
          <p:cNvSpPr txBox="1">
            <a:spLocks/>
          </p:cNvSpPr>
          <p:nvPr/>
        </p:nvSpPr>
        <p:spPr bwMode="auto">
          <a:xfrm>
            <a:off x="227013" y="1857375"/>
            <a:ext cx="8002587"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A database system stores all of its data in regular computer files</a:t>
            </a:r>
          </a:p>
        </p:txBody>
      </p:sp>
      <p:pic>
        <p:nvPicPr>
          <p:cNvPr id="6" name="Picture 5">
            <a:extLst>
              <a:ext uri="{FF2B5EF4-FFF2-40B4-BE49-F238E27FC236}">
                <a16:creationId xmlns:a16="http://schemas.microsoft.com/office/drawing/2014/main" id="{61C439D5-DDB7-8FB7-42E1-3B005D6D828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46050" y="3033713"/>
            <a:ext cx="3790950" cy="282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352FFF7B-D734-0945-47B4-2A318DE22454}"/>
              </a:ext>
            </a:extLst>
          </p:cNvPr>
          <p:cNvSpPr txBox="1"/>
          <p:nvPr/>
        </p:nvSpPr>
        <p:spPr>
          <a:xfrm>
            <a:off x="4202113" y="3108325"/>
            <a:ext cx="4103687" cy="2246313"/>
          </a:xfrm>
          <a:prstGeom prst="rect">
            <a:avLst/>
          </a:prstGeom>
        </p:spPr>
        <p:style>
          <a:lnRef idx="1">
            <a:schemeClr val="accent3"/>
          </a:lnRef>
          <a:fillRef idx="2">
            <a:schemeClr val="accent3"/>
          </a:fillRef>
          <a:effectRef idx="1">
            <a:schemeClr val="accent3"/>
          </a:effectRef>
          <a:fontRef idx="minor">
            <a:schemeClr val="dk1"/>
          </a:fontRef>
        </p:style>
        <p:txBody>
          <a:bodyP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2800" b="0" i="0" u="none" strike="noStrike" kern="1200" cap="none" spc="0" normalizeH="0" baseline="0" noProof="0" dirty="0">
                <a:ln>
                  <a:noFill/>
                </a:ln>
                <a:solidFill>
                  <a:srgbClr val="2F2B20"/>
                </a:solidFill>
                <a:effectLst/>
                <a:uLnTx/>
                <a:uFillTx/>
                <a:latin typeface="Calibri"/>
                <a:ea typeface="+mn-ea"/>
                <a:cs typeface="+mn-cs"/>
              </a:rPr>
              <a:t>To break security, all one needs to do is to </a:t>
            </a:r>
            <a:r>
              <a:rPr kumimoji="0" lang="en-CA" sz="2800" b="0" i="0" u="none" strike="noStrike" kern="1200" cap="none" spc="0" normalizeH="0" baseline="0" noProof="0" dirty="0">
                <a:ln>
                  <a:noFill/>
                </a:ln>
                <a:solidFill>
                  <a:srgbClr val="FF0000"/>
                </a:solidFill>
                <a:effectLst/>
                <a:uLnTx/>
                <a:uFillTx/>
                <a:latin typeface="Calibri"/>
                <a:ea typeface="+mn-ea"/>
                <a:cs typeface="+mn-cs"/>
              </a:rPr>
              <a:t>copy all of the files </a:t>
            </a:r>
            <a:r>
              <a:rPr kumimoji="0" lang="en-CA" sz="2800" b="0" i="0" u="none" strike="noStrike" kern="1200" cap="none" spc="0" normalizeH="0" baseline="0" noProof="0" dirty="0">
                <a:ln>
                  <a:noFill/>
                </a:ln>
                <a:solidFill>
                  <a:srgbClr val="2F2B20"/>
                </a:solidFill>
                <a:effectLst/>
                <a:uLnTx/>
                <a:uFillTx/>
                <a:latin typeface="Calibri"/>
                <a:ea typeface="+mn-ea"/>
                <a:cs typeface="+mn-cs"/>
              </a:rPr>
              <a:t>to an external storage device (e.g. pen drive).</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left)">
                                      <p:cBhvr>
                                        <p:cTn id="7" dur="500"/>
                                        <p:tgtEl>
                                          <p:spTgt spid="24"/>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5">
                                            <p:txEl>
                                              <p:pRg st="0" end="0"/>
                                            </p:txEl>
                                          </p:spTgt>
                                        </p:tgtEl>
                                        <p:attrNameLst>
                                          <p:attrName>style.visibility</p:attrName>
                                        </p:attrNameLst>
                                      </p:cBhvr>
                                      <p:to>
                                        <p:strVal val="visible"/>
                                      </p:to>
                                    </p:set>
                                    <p:animEffect transition="in" filter="wipe(left)">
                                      <p:cBhvr>
                                        <p:cTn id="11" dur="500"/>
                                        <p:tgtEl>
                                          <p:spTgt spid="25">
                                            <p:txEl>
                                              <p:pRg st="0" end="0"/>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up)">
                                      <p:cBhvr>
                                        <p:cTn id="16" dur="500"/>
                                        <p:tgtEl>
                                          <p:spTgt spid="6"/>
                                        </p:tgtEl>
                                      </p:cBhvr>
                                    </p:animEffect>
                                  </p:childTnLst>
                                </p:cTn>
                              </p:par>
                            </p:childTnLst>
                          </p:cTn>
                        </p:par>
                        <p:par>
                          <p:cTn id="17" fill="hold" nodeType="afterGroup">
                            <p:stCondLst>
                              <p:cond delay="500"/>
                            </p:stCondLst>
                            <p:childTnLst>
                              <p:par>
                                <p:cTn id="18" presetID="22" presetClass="entr" presetSubtype="1" fill="hold" grpId="0" nodeType="after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wipe(up)">
                                      <p:cBhvr>
                                        <p:cTn id="2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build="p"/>
      <p:bldP spid="3" grpId="0" animBg="1"/>
    </p:bldLst>
  </p:timing>
</p:sld>
</file>

<file path=ppt/slides/slide2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02C3EE-A99B-653B-C739-30FF32A95965}"/>
              </a:ext>
            </a:extLst>
          </p:cNvPr>
          <p:cNvSpPr>
            <a:spLocks noGrp="1"/>
          </p:cNvSpPr>
          <p:nvPr>
            <p:ph type="title"/>
          </p:nvPr>
        </p:nvSpPr>
        <p:spPr>
          <a:xfrm>
            <a:off x="457200" y="0"/>
            <a:ext cx="7620000" cy="1143000"/>
          </a:xfrm>
        </p:spPr>
        <p:txBody>
          <a:bodyPr/>
          <a:lstStyle/>
          <a:p>
            <a:pPr algn="ctr">
              <a:defRPr/>
            </a:pPr>
            <a:r>
              <a:rPr lang="en-US" dirty="0"/>
              <a:t>Database Security</a:t>
            </a:r>
            <a:endParaRPr lang="en-MY" dirty="0"/>
          </a:p>
        </p:txBody>
      </p:sp>
      <p:sp>
        <p:nvSpPr>
          <p:cNvPr id="24" name="Snip Single Corner Rectangle 23">
            <a:extLst>
              <a:ext uri="{FF2B5EF4-FFF2-40B4-BE49-F238E27FC236}">
                <a16:creationId xmlns:a16="http://schemas.microsoft.com/office/drawing/2014/main" id="{E2F2D0D5-E618-EEC2-B42A-78F12FADDF39}"/>
              </a:ext>
            </a:extLst>
          </p:cNvPr>
          <p:cNvSpPr/>
          <p:nvPr/>
        </p:nvSpPr>
        <p:spPr>
          <a:xfrm>
            <a:off x="-36513" y="1125538"/>
            <a:ext cx="2398713" cy="400050"/>
          </a:xfrm>
          <a:prstGeom prst="snip1Rect">
            <a:avLst/>
          </a:prstGeom>
          <a:solidFill>
            <a:schemeClr val="bg2">
              <a:lumMod val="50000"/>
              <a:alpha val="70000"/>
            </a:schemeClr>
          </a:solidFill>
          <a:ln>
            <a:solidFill>
              <a:schemeClr val="bg2">
                <a:lumMod val="50000"/>
              </a:schemeClr>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marR="0" lvl="0" indent="-342900" algn="just" defTabSz="914400" rtl="0" eaLnBrk="1" fontAlgn="base" latinLnBrk="0" hangingPunct="1">
              <a:lnSpc>
                <a:spcPct val="100000"/>
              </a:lnSpc>
              <a:spcBef>
                <a:spcPct val="20000"/>
              </a:spcBef>
              <a:spcAft>
                <a:spcPct val="0"/>
              </a:spcAft>
              <a:buClr>
                <a:srgbClr val="FF6600"/>
              </a:buClr>
              <a:buSzPct val="100000"/>
              <a:buFontTx/>
              <a:buNone/>
              <a:tabLst/>
              <a:defRPr/>
            </a:pPr>
            <a:r>
              <a:rPr kumimoji="0" lang="en-US" sz="1800" b="0" i="0" u="none" strike="noStrike" kern="1200" cap="none" spc="0" normalizeH="0" baseline="0" noProof="0" dirty="0">
                <a:ln>
                  <a:noFill/>
                </a:ln>
                <a:solidFill>
                  <a:srgbClr val="FFFFFF"/>
                </a:solidFill>
                <a:effectLst/>
                <a:uLnTx/>
                <a:uFillTx/>
                <a:latin typeface="Arial" pitchFamily="34" charset="0"/>
                <a:ea typeface="Times New Roman" pitchFamily="18" charset="0"/>
                <a:cs typeface="Arial" pitchFamily="34" charset="0"/>
              </a:rPr>
              <a:t>File system Security</a:t>
            </a:r>
            <a:endParaRPr kumimoji="0" lang="en-GB" sz="1800" b="0" i="0" u="none" strike="noStrike" kern="0" cap="none" spc="0" normalizeH="0" baseline="0" noProof="0" dirty="0">
              <a:ln>
                <a:noFill/>
              </a:ln>
              <a:solidFill>
                <a:srgbClr val="2F2B20"/>
              </a:solidFill>
              <a:effectLst/>
              <a:uLnTx/>
              <a:uFillTx/>
              <a:latin typeface="Calibri"/>
              <a:ea typeface="+mn-ea"/>
              <a:cs typeface="+mn-cs"/>
            </a:endParaRPr>
          </a:p>
        </p:txBody>
      </p:sp>
      <p:sp>
        <p:nvSpPr>
          <p:cNvPr id="25" name="Content Placeholder 5">
            <a:extLst>
              <a:ext uri="{FF2B5EF4-FFF2-40B4-BE49-F238E27FC236}">
                <a16:creationId xmlns:a16="http://schemas.microsoft.com/office/drawing/2014/main" id="{662B24AD-28CB-762A-E393-3FC3B4D321A4}"/>
              </a:ext>
            </a:extLst>
          </p:cNvPr>
          <p:cNvSpPr txBox="1">
            <a:spLocks/>
          </p:cNvSpPr>
          <p:nvPr/>
        </p:nvSpPr>
        <p:spPr bwMode="auto">
          <a:xfrm>
            <a:off x="227013" y="1857375"/>
            <a:ext cx="8002587"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As a DBA, you must enforce filesystem security by limiting access to the data files </a:t>
            </a: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pic>
        <p:nvPicPr>
          <p:cNvPr id="4" name="Picture 3">
            <a:extLst>
              <a:ext uri="{FF2B5EF4-FFF2-40B4-BE49-F238E27FC236}">
                <a16:creationId xmlns:a16="http://schemas.microsoft.com/office/drawing/2014/main" id="{E93E265F-8EA5-8CC1-9535-14C22838C89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81000" y="2940050"/>
            <a:ext cx="2592388" cy="3382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TextBox 19">
            <a:extLst>
              <a:ext uri="{FF2B5EF4-FFF2-40B4-BE49-F238E27FC236}">
                <a16:creationId xmlns:a16="http://schemas.microsoft.com/office/drawing/2014/main" id="{B70B1C53-72AA-2664-E17B-4E077CCE17A5}"/>
              </a:ext>
            </a:extLst>
          </p:cNvPr>
          <p:cNvSpPr txBox="1"/>
          <p:nvPr/>
        </p:nvSpPr>
        <p:spPr>
          <a:xfrm>
            <a:off x="3476625" y="3429000"/>
            <a:ext cx="4640263" cy="2144713"/>
          </a:xfrm>
          <a:prstGeom prst="roundRect">
            <a:avLst/>
          </a:prstGeom>
          <a:solidFill>
            <a:srgbClr val="FFFF00">
              <a:alpha val="30000"/>
            </a:srgbClr>
          </a:solidFill>
          <a:ln>
            <a:solidFill>
              <a:srgbClr val="FFFF00"/>
            </a:solidFill>
          </a:ln>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2400" b="1"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For example</a:t>
            </a:r>
          </a:p>
          <a:p>
            <a:pPr marL="450850" marR="0" lvl="0" indent="0" algn="l" defTabSz="914400" rtl="0" eaLnBrk="0" fontAlgn="base" latinLnBrk="0" hangingPunct="0">
              <a:lnSpc>
                <a:spcPct val="100000"/>
              </a:lnSpc>
              <a:spcBef>
                <a:spcPct val="0"/>
              </a:spcBef>
              <a:spcAft>
                <a:spcPct val="0"/>
              </a:spcAft>
              <a:buClrTx/>
              <a:buSzTx/>
              <a:buFontTx/>
              <a:buNone/>
              <a:tabLst/>
              <a:defRPr/>
            </a:pPr>
            <a:r>
              <a:rPr kumimoji="0" lang="en-CA" sz="2400" b="0"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Set the permissions so that only DBAs and nobody else have access to the folder containing the data files</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5">
                                            <p:txEl>
                                              <p:pRg st="0" end="0"/>
                                            </p:txEl>
                                          </p:spTgt>
                                        </p:tgtEl>
                                        <p:attrNameLst>
                                          <p:attrName>style.visibility</p:attrName>
                                        </p:attrNameLst>
                                      </p:cBhvr>
                                      <p:to>
                                        <p:strVal val="visible"/>
                                      </p:to>
                                    </p:set>
                                    <p:animEffect transition="in" filter="wipe(left)">
                                      <p:cBhvr>
                                        <p:cTn id="7" dur="500"/>
                                        <p:tgtEl>
                                          <p:spTgt spid="25">
                                            <p:txEl>
                                              <p:pRg st="0" end="0"/>
                                            </p:txEl>
                                          </p:spTgt>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up)">
                                      <p:cBhvr>
                                        <p:cTn id="11" dur="500"/>
                                        <p:tgtEl>
                                          <p:spTgt spid="4"/>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wipe(left)">
                                      <p:cBhvr>
                                        <p:cTn id="16"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build="p"/>
      <p:bldP spid="20" grpId="0" animBg="1"/>
    </p:bldLst>
  </p:timing>
</p:sld>
</file>

<file path=ppt/slides/slide2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F332C7-009A-E764-5DDF-BDE257B49971}"/>
              </a:ext>
            </a:extLst>
          </p:cNvPr>
          <p:cNvSpPr>
            <a:spLocks noGrp="1"/>
          </p:cNvSpPr>
          <p:nvPr>
            <p:ph type="title"/>
          </p:nvPr>
        </p:nvSpPr>
        <p:spPr>
          <a:xfrm>
            <a:off x="457200" y="0"/>
            <a:ext cx="7620000" cy="1143000"/>
          </a:xfrm>
        </p:spPr>
        <p:txBody>
          <a:bodyPr/>
          <a:lstStyle/>
          <a:p>
            <a:pPr algn="ctr">
              <a:defRPr/>
            </a:pPr>
            <a:r>
              <a:rPr lang="en-US" dirty="0"/>
              <a:t>Database Security</a:t>
            </a:r>
            <a:endParaRPr lang="en-MY" dirty="0"/>
          </a:p>
        </p:txBody>
      </p:sp>
      <p:sp>
        <p:nvSpPr>
          <p:cNvPr id="24" name="Snip Single Corner Rectangle 23">
            <a:extLst>
              <a:ext uri="{FF2B5EF4-FFF2-40B4-BE49-F238E27FC236}">
                <a16:creationId xmlns:a16="http://schemas.microsoft.com/office/drawing/2014/main" id="{0D18A287-69A9-F350-F2EB-C6336EDCA0BF}"/>
              </a:ext>
            </a:extLst>
          </p:cNvPr>
          <p:cNvSpPr/>
          <p:nvPr/>
        </p:nvSpPr>
        <p:spPr>
          <a:xfrm>
            <a:off x="-36513" y="1125538"/>
            <a:ext cx="2322513" cy="400050"/>
          </a:xfrm>
          <a:prstGeom prst="snip1Rect">
            <a:avLst/>
          </a:prstGeom>
          <a:solidFill>
            <a:schemeClr val="bg2">
              <a:lumMod val="50000"/>
              <a:alpha val="70000"/>
            </a:schemeClr>
          </a:solidFill>
          <a:ln>
            <a:solidFill>
              <a:schemeClr val="bg2">
                <a:lumMod val="50000"/>
              </a:schemeClr>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marR="0" lvl="0" indent="-342900" algn="just" defTabSz="914400" rtl="0" eaLnBrk="1" fontAlgn="base" latinLnBrk="0" hangingPunct="1">
              <a:lnSpc>
                <a:spcPct val="100000"/>
              </a:lnSpc>
              <a:spcBef>
                <a:spcPct val="20000"/>
              </a:spcBef>
              <a:spcAft>
                <a:spcPct val="0"/>
              </a:spcAft>
              <a:buClr>
                <a:srgbClr val="FF6600"/>
              </a:buClr>
              <a:buSzPct val="100000"/>
              <a:buFontTx/>
              <a:buNone/>
              <a:tabLst/>
              <a:defRPr/>
            </a:pPr>
            <a:r>
              <a:rPr kumimoji="0" lang="en-US" sz="1800" b="0" i="0" u="none" strike="noStrike" kern="1200" cap="none" spc="0" normalizeH="0" baseline="0" noProof="0" dirty="0">
                <a:ln>
                  <a:noFill/>
                </a:ln>
                <a:solidFill>
                  <a:srgbClr val="FFFFFF"/>
                </a:solidFill>
                <a:effectLst/>
                <a:uLnTx/>
                <a:uFillTx/>
                <a:latin typeface="Arial" pitchFamily="34" charset="0"/>
                <a:ea typeface="Times New Roman" pitchFamily="18" charset="0"/>
                <a:cs typeface="Arial" pitchFamily="34" charset="0"/>
              </a:rPr>
              <a:t>File system Security</a:t>
            </a:r>
            <a:endParaRPr kumimoji="0" lang="en-GB" sz="1800" b="0" i="0" u="none" strike="noStrike" kern="0" cap="none" spc="0" normalizeH="0" baseline="0" noProof="0" dirty="0">
              <a:ln>
                <a:noFill/>
              </a:ln>
              <a:solidFill>
                <a:srgbClr val="2F2B20"/>
              </a:solidFill>
              <a:effectLst/>
              <a:uLnTx/>
              <a:uFillTx/>
              <a:latin typeface="Calibri"/>
              <a:ea typeface="+mn-ea"/>
              <a:cs typeface="+mn-cs"/>
            </a:endParaRPr>
          </a:p>
        </p:txBody>
      </p:sp>
      <p:sp>
        <p:nvSpPr>
          <p:cNvPr id="25" name="Content Placeholder 5">
            <a:extLst>
              <a:ext uri="{FF2B5EF4-FFF2-40B4-BE49-F238E27FC236}">
                <a16:creationId xmlns:a16="http://schemas.microsoft.com/office/drawing/2014/main" id="{20AE276F-8EF4-34C6-9181-4DFB76A293A8}"/>
              </a:ext>
            </a:extLst>
          </p:cNvPr>
          <p:cNvSpPr txBox="1">
            <a:spLocks/>
          </p:cNvSpPr>
          <p:nvPr/>
        </p:nvSpPr>
        <p:spPr bwMode="auto">
          <a:xfrm>
            <a:off x="227013" y="1857375"/>
            <a:ext cx="8002587"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On Windows, </a:t>
            </a:r>
            <a:r>
              <a:rPr kumimoji="0" lang="en-US"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the MySQL Community Server typically stores the data files in the folder</a:t>
            </a:r>
          </a:p>
          <a:p>
            <a:pPr marL="0" marR="0" lvl="0" indent="0" algn="just" defTabSz="914400" rtl="0" eaLnBrk="1" fontAlgn="base" latinLnBrk="0" hangingPunct="1">
              <a:lnSpc>
                <a:spcPct val="100000"/>
              </a:lnSpc>
              <a:spcBef>
                <a:spcPct val="0"/>
              </a:spcBef>
              <a:spcAft>
                <a:spcPct val="0"/>
              </a:spcAft>
              <a:buClr>
                <a:srgbClr val="FF6600"/>
              </a:buClr>
              <a:buSzTx/>
              <a:buFont typeface="Wingdings 3" panose="05040102010807070707" pitchFamily="18" charset="2"/>
              <a:buNone/>
              <a:tabLst/>
              <a:defRPr/>
            </a:pPr>
            <a:r>
              <a:rPr kumimoji="0" lang="en-US" altLang="en-US" sz="2800" b="1" i="0" u="none" strike="noStrike" kern="1200" cap="none" spc="0" normalizeH="0" baseline="0" noProof="0">
                <a:ln>
                  <a:noFill/>
                </a:ln>
                <a:solidFill>
                  <a:srgbClr val="95A39D"/>
                </a:solidFill>
                <a:effectLst/>
                <a:uLnTx/>
                <a:uFillTx/>
                <a:latin typeface="Calibri" panose="020F0502020204030204" pitchFamily="34" charset="0"/>
                <a:ea typeface="+mn-ea"/>
                <a:cs typeface="Arial" panose="020B0604020202020204" pitchFamily="34" charset="0"/>
              </a:rPr>
              <a:t>C:\ProgramData\MySQL\MySQL Server 5.5\data</a:t>
            </a:r>
            <a:endParaRPr kumimoji="0" lang="en-CA" altLang="en-US" sz="2800" b="1" i="0" u="none" strike="noStrike" kern="1200" cap="none" spc="0" normalizeH="0" baseline="0" noProof="0">
              <a:ln>
                <a:noFill/>
              </a:ln>
              <a:solidFill>
                <a:srgbClr val="95A39D"/>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pic>
        <p:nvPicPr>
          <p:cNvPr id="1026" name="Picture 2">
            <a:extLst>
              <a:ext uri="{FF2B5EF4-FFF2-40B4-BE49-F238E27FC236}">
                <a16:creationId xmlns:a16="http://schemas.microsoft.com/office/drawing/2014/main" id="{C56F7C19-0242-7FBF-1648-288E6307B6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6750" y="3381375"/>
            <a:ext cx="7073900" cy="294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 name="Group 19">
            <a:extLst>
              <a:ext uri="{FF2B5EF4-FFF2-40B4-BE49-F238E27FC236}">
                <a16:creationId xmlns:a16="http://schemas.microsoft.com/office/drawing/2014/main" id="{17152188-6381-E42F-50F2-07A32143CEE8}"/>
              </a:ext>
            </a:extLst>
          </p:cNvPr>
          <p:cNvGrpSpPr>
            <a:grpSpLocks/>
          </p:cNvGrpSpPr>
          <p:nvPr/>
        </p:nvGrpSpPr>
        <p:grpSpPr bwMode="auto">
          <a:xfrm>
            <a:off x="3779838" y="4486275"/>
            <a:ext cx="3744912" cy="936625"/>
            <a:chOff x="3257465" y="1340528"/>
            <a:chExt cx="3744414" cy="936104"/>
          </a:xfrm>
        </p:grpSpPr>
        <p:sp>
          <p:nvSpPr>
            <p:cNvPr id="59399" name="Rectangle 20">
              <a:extLst>
                <a:ext uri="{FF2B5EF4-FFF2-40B4-BE49-F238E27FC236}">
                  <a16:creationId xmlns:a16="http://schemas.microsoft.com/office/drawing/2014/main" id="{337D6E9B-A855-0A2A-7117-400B6CE0BEB5}"/>
                </a:ext>
              </a:extLst>
            </p:cNvPr>
            <p:cNvSpPr>
              <a:spLocks noChangeArrowheads="1"/>
            </p:cNvSpPr>
            <p:nvPr/>
          </p:nvSpPr>
          <p:spPr bwMode="auto">
            <a:xfrm>
              <a:off x="3698511" y="1340528"/>
              <a:ext cx="3303368" cy="936104"/>
            </a:xfrm>
            <a:prstGeom prst="rect">
              <a:avLst/>
            </a:prstGeom>
            <a:solidFill>
              <a:srgbClr val="525759"/>
            </a:solidFill>
            <a:ln w="9525" algn="ctr">
              <a:solidFill>
                <a:srgbClr val="525759"/>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DFDCB7"/>
                  </a:solidFill>
                  <a:effectLst/>
                  <a:uLnTx/>
                  <a:uFillTx/>
                  <a:latin typeface="Arial" panose="020B0604020202020204" pitchFamily="34" charset="0"/>
                  <a:ea typeface="+mn-ea"/>
                  <a:cs typeface="Arial" panose="020B0604020202020204" pitchFamily="34" charset="0"/>
                </a:rPr>
                <a:t>Each folder is a database. In each folder, MySQL stores the database’s tables and data </a:t>
              </a:r>
            </a:p>
          </p:txBody>
        </p:sp>
        <p:cxnSp>
          <p:nvCxnSpPr>
            <p:cNvPr id="59400" name="Straight Arrow Connector 21">
              <a:extLst>
                <a:ext uri="{FF2B5EF4-FFF2-40B4-BE49-F238E27FC236}">
                  <a16:creationId xmlns:a16="http://schemas.microsoft.com/office/drawing/2014/main" id="{33E95308-9B9F-8025-0EC5-096AB82F0909}"/>
                </a:ext>
              </a:extLst>
            </p:cNvPr>
            <p:cNvCxnSpPr>
              <a:cxnSpLocks noChangeShapeType="1"/>
              <a:stCxn id="59399" idx="1"/>
            </p:cNvCxnSpPr>
            <p:nvPr/>
          </p:nvCxnSpPr>
          <p:spPr bwMode="auto">
            <a:xfrm flipH="1" flipV="1">
              <a:off x="3257465" y="1484784"/>
              <a:ext cx="441046" cy="323796"/>
            </a:xfrm>
            <a:prstGeom prst="straightConnector1">
              <a:avLst/>
            </a:prstGeom>
            <a:noFill/>
            <a:ln w="25400" algn="ctr">
              <a:solidFill>
                <a:srgbClr val="525759"/>
              </a:solidFill>
              <a:round/>
              <a:headEnd/>
              <a:tailEnd type="triangle" w="med" len="med"/>
            </a:ln>
            <a:extLst>
              <a:ext uri="{909E8E84-426E-40DD-AFC4-6F175D3DCCD1}">
                <a14:hiddenFill xmlns:a14="http://schemas.microsoft.com/office/drawing/2010/main">
                  <a:noFill/>
                </a14:hiddenFill>
              </a:ext>
            </a:extLst>
          </p:spPr>
        </p:cxnSp>
      </p:gr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5">
                                            <p:txEl>
                                              <p:pRg st="0" end="0"/>
                                            </p:txEl>
                                          </p:spTgt>
                                        </p:tgtEl>
                                        <p:attrNameLst>
                                          <p:attrName>style.visibility</p:attrName>
                                        </p:attrNameLst>
                                      </p:cBhvr>
                                      <p:to>
                                        <p:strVal val="visible"/>
                                      </p:to>
                                    </p:set>
                                    <p:animEffect transition="in" filter="wipe(left)">
                                      <p:cBhvr>
                                        <p:cTn id="7" dur="500"/>
                                        <p:tgtEl>
                                          <p:spTgt spid="25">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5">
                                            <p:txEl>
                                              <p:pRg st="1" end="1"/>
                                            </p:txEl>
                                          </p:spTgt>
                                        </p:tgtEl>
                                        <p:attrNameLst>
                                          <p:attrName>style.visibility</p:attrName>
                                        </p:attrNameLst>
                                      </p:cBhvr>
                                      <p:to>
                                        <p:strVal val="visible"/>
                                      </p:to>
                                    </p:set>
                                    <p:animEffect transition="in" filter="wipe(left)">
                                      <p:cBhvr>
                                        <p:cTn id="11" dur="500"/>
                                        <p:tgtEl>
                                          <p:spTgt spid="25">
                                            <p:txEl>
                                              <p:pRg st="1" end="1"/>
                                            </p:txEl>
                                          </p:spTgt>
                                        </p:tgtEl>
                                      </p:cBhvr>
                                    </p:animEffect>
                                  </p:childTnLst>
                                </p:cTn>
                              </p:par>
                            </p:childTnLst>
                          </p:cTn>
                        </p:par>
                        <p:par>
                          <p:cTn id="12" fill="hold" nodeType="afterGroup">
                            <p:stCondLst>
                              <p:cond delay="1000"/>
                            </p:stCondLst>
                            <p:childTnLst>
                              <p:par>
                                <p:cTn id="13" presetID="16" presetClass="entr" presetSubtype="21" fill="hold" nodeType="afterEffect">
                                  <p:stCondLst>
                                    <p:cond delay="0"/>
                                  </p:stCondLst>
                                  <p:childTnLst>
                                    <p:set>
                                      <p:cBhvr>
                                        <p:cTn id="14" dur="1" fill="hold">
                                          <p:stCondLst>
                                            <p:cond delay="0"/>
                                          </p:stCondLst>
                                        </p:cTn>
                                        <p:tgtEl>
                                          <p:spTgt spid="1026"/>
                                        </p:tgtEl>
                                        <p:attrNameLst>
                                          <p:attrName>style.visibility</p:attrName>
                                        </p:attrNameLst>
                                      </p:cBhvr>
                                      <p:to>
                                        <p:strVal val="visible"/>
                                      </p:to>
                                    </p:set>
                                    <p:animEffect transition="in" filter="barn(inVertical)">
                                      <p:cBhvr>
                                        <p:cTn id="15" dur="500"/>
                                        <p:tgtEl>
                                          <p:spTgt spid="1026"/>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42" presetClass="entr" presetSubtype="0" fill="hold"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fade">
                                      <p:cBhvr>
                                        <p:cTn id="20" dur="1000"/>
                                        <p:tgtEl>
                                          <p:spTgt spid="3"/>
                                        </p:tgtEl>
                                      </p:cBhvr>
                                    </p:animEffect>
                                    <p:anim calcmode="lin" valueType="num">
                                      <p:cBhvr>
                                        <p:cTn id="21" dur="1000" fill="hold"/>
                                        <p:tgtEl>
                                          <p:spTgt spid="3"/>
                                        </p:tgtEl>
                                        <p:attrNameLst>
                                          <p:attrName>ppt_x</p:attrName>
                                        </p:attrNameLst>
                                      </p:cBhvr>
                                      <p:tavLst>
                                        <p:tav tm="0">
                                          <p:val>
                                            <p:strVal val="#ppt_x"/>
                                          </p:val>
                                        </p:tav>
                                        <p:tav tm="100000">
                                          <p:val>
                                            <p:strVal val="#ppt_x"/>
                                          </p:val>
                                        </p:tav>
                                      </p:tavLst>
                                    </p:anim>
                                    <p:anim calcmode="lin" valueType="num">
                                      <p:cBhvr>
                                        <p:cTn id="22"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build="p"/>
    </p:bldLst>
  </p:timing>
</p:sld>
</file>

<file path=ppt/slides/slide2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33D5AC-B6DD-877E-A744-0A3166B7E13B}"/>
              </a:ext>
            </a:extLst>
          </p:cNvPr>
          <p:cNvSpPr>
            <a:spLocks noGrp="1"/>
          </p:cNvSpPr>
          <p:nvPr>
            <p:ph type="title"/>
          </p:nvPr>
        </p:nvSpPr>
        <p:spPr>
          <a:xfrm>
            <a:off x="457200" y="0"/>
            <a:ext cx="7620000" cy="1143000"/>
          </a:xfrm>
        </p:spPr>
        <p:txBody>
          <a:bodyPr/>
          <a:lstStyle/>
          <a:p>
            <a:pPr algn="ctr">
              <a:defRPr/>
            </a:pPr>
            <a:r>
              <a:rPr lang="en-US" dirty="0"/>
              <a:t>Database Security</a:t>
            </a:r>
            <a:endParaRPr lang="en-MY" dirty="0"/>
          </a:p>
        </p:txBody>
      </p:sp>
      <p:sp>
        <p:nvSpPr>
          <p:cNvPr id="9" name="Snip Single Corner Rectangle 8">
            <a:extLst>
              <a:ext uri="{FF2B5EF4-FFF2-40B4-BE49-F238E27FC236}">
                <a16:creationId xmlns:a16="http://schemas.microsoft.com/office/drawing/2014/main" id="{CF44C26A-3932-CD44-54AB-945AD83B3A62}"/>
              </a:ext>
            </a:extLst>
          </p:cNvPr>
          <p:cNvSpPr/>
          <p:nvPr/>
        </p:nvSpPr>
        <p:spPr>
          <a:xfrm>
            <a:off x="-36513" y="1125538"/>
            <a:ext cx="2879726" cy="400050"/>
          </a:xfrm>
          <a:prstGeom prst="snip1Rect">
            <a:avLst/>
          </a:prstGeom>
          <a:solidFill>
            <a:schemeClr val="accent3">
              <a:lumMod val="75000"/>
              <a:alpha val="70000"/>
            </a:schemeClr>
          </a:solidFill>
          <a:ln>
            <a:solidFill>
              <a:schemeClr val="accent3">
                <a:lumMod val="75000"/>
              </a:schemeClr>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marR="0" lvl="0" indent="-342900" algn="just" defTabSz="914400" rtl="0" eaLnBrk="1" fontAlgn="base" latinLnBrk="0" hangingPunct="1">
              <a:lnSpc>
                <a:spcPct val="100000"/>
              </a:lnSpc>
              <a:spcBef>
                <a:spcPct val="20000"/>
              </a:spcBef>
              <a:spcAft>
                <a:spcPct val="0"/>
              </a:spcAft>
              <a:buClr>
                <a:srgbClr val="FF6600"/>
              </a:buClr>
              <a:buSzPct val="100000"/>
              <a:buFontTx/>
              <a:buNone/>
              <a:tabLst/>
              <a:defRPr/>
            </a:pPr>
            <a:r>
              <a:rPr kumimoji="0" lang="en-US" sz="1800" b="0" i="0" u="none" strike="noStrike" kern="1200" cap="none" spc="0" normalizeH="0" baseline="0" noProof="0" dirty="0">
                <a:ln>
                  <a:noFill/>
                </a:ln>
                <a:solidFill>
                  <a:srgbClr val="FFFFFF"/>
                </a:solidFill>
                <a:effectLst/>
                <a:uLnTx/>
                <a:uFillTx/>
                <a:latin typeface="Arial" pitchFamily="34" charset="0"/>
                <a:ea typeface="Times New Roman" pitchFamily="18" charset="0"/>
                <a:cs typeface="Arial" pitchFamily="34" charset="0"/>
              </a:rPr>
              <a:t>Database Server Security</a:t>
            </a:r>
            <a:endParaRPr kumimoji="0" lang="en-GB" sz="1800" b="0" i="0" u="none" strike="noStrike" kern="0" cap="none" spc="0" normalizeH="0" baseline="0" noProof="0" dirty="0">
              <a:ln>
                <a:noFill/>
              </a:ln>
              <a:solidFill>
                <a:srgbClr val="2F2B20"/>
              </a:solidFill>
              <a:effectLst/>
              <a:uLnTx/>
              <a:uFillTx/>
              <a:latin typeface="Calibri"/>
              <a:ea typeface="+mn-ea"/>
              <a:cs typeface="+mn-cs"/>
            </a:endParaRPr>
          </a:p>
        </p:txBody>
      </p:sp>
      <p:sp>
        <p:nvSpPr>
          <p:cNvPr id="10" name="Content Placeholder 5">
            <a:extLst>
              <a:ext uri="{FF2B5EF4-FFF2-40B4-BE49-F238E27FC236}">
                <a16:creationId xmlns:a16="http://schemas.microsoft.com/office/drawing/2014/main" id="{6E87CB78-5785-E473-CC23-7665EA07F209}"/>
              </a:ext>
            </a:extLst>
          </p:cNvPr>
          <p:cNvSpPr txBox="1">
            <a:spLocks/>
          </p:cNvSpPr>
          <p:nvPr/>
        </p:nvSpPr>
        <p:spPr bwMode="auto">
          <a:xfrm>
            <a:off x="227013" y="1736725"/>
            <a:ext cx="8002587"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A DBA can enforce database server security through the setup of user accounts</a:t>
            </a: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sp>
        <p:nvSpPr>
          <p:cNvPr id="20" name="Content Placeholder 5">
            <a:extLst>
              <a:ext uri="{FF2B5EF4-FFF2-40B4-BE49-F238E27FC236}">
                <a16:creationId xmlns:a16="http://schemas.microsoft.com/office/drawing/2014/main" id="{B27FAA20-8288-9375-6AF0-D4957C2DE591}"/>
              </a:ext>
            </a:extLst>
          </p:cNvPr>
          <p:cNvSpPr txBox="1">
            <a:spLocks/>
          </p:cNvSpPr>
          <p:nvPr/>
        </p:nvSpPr>
        <p:spPr bwMode="auto">
          <a:xfrm>
            <a:off x="238125" y="2879725"/>
            <a:ext cx="7991475"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MySQL Workbench provides a point-and-click interface for the setting up of user accounts</a:t>
            </a: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pic>
        <p:nvPicPr>
          <p:cNvPr id="21" name="Picture 20">
            <a:extLst>
              <a:ext uri="{FF2B5EF4-FFF2-40B4-BE49-F238E27FC236}">
                <a16:creationId xmlns:a16="http://schemas.microsoft.com/office/drawing/2014/main" id="{BAFF2F0B-94ED-4C50-FCE2-37C418E5E4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966"/>
          <a:stretch>
            <a:fillRect/>
          </a:stretch>
        </p:blipFill>
        <p:spPr bwMode="auto">
          <a:xfrm>
            <a:off x="1692275" y="3957638"/>
            <a:ext cx="5438775" cy="2763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 name="Group 21">
            <a:extLst>
              <a:ext uri="{FF2B5EF4-FFF2-40B4-BE49-F238E27FC236}">
                <a16:creationId xmlns:a16="http://schemas.microsoft.com/office/drawing/2014/main" id="{ECD4C900-6C8B-0934-D4F6-88810E77F9CE}"/>
              </a:ext>
            </a:extLst>
          </p:cNvPr>
          <p:cNvGrpSpPr>
            <a:grpSpLocks/>
          </p:cNvGrpSpPr>
          <p:nvPr/>
        </p:nvGrpSpPr>
        <p:grpSpPr bwMode="auto">
          <a:xfrm>
            <a:off x="2268538" y="5534025"/>
            <a:ext cx="3970337" cy="1187450"/>
            <a:chOff x="2411760" y="2348880"/>
            <a:chExt cx="3798422" cy="1224136"/>
          </a:xfrm>
        </p:grpSpPr>
        <p:sp>
          <p:nvSpPr>
            <p:cNvPr id="60424" name="Rectangle 22">
              <a:extLst>
                <a:ext uri="{FF2B5EF4-FFF2-40B4-BE49-F238E27FC236}">
                  <a16:creationId xmlns:a16="http://schemas.microsoft.com/office/drawing/2014/main" id="{DDA1987B-4217-1D6B-759B-22F388331460}"/>
                </a:ext>
              </a:extLst>
            </p:cNvPr>
            <p:cNvSpPr>
              <a:spLocks noChangeArrowheads="1"/>
            </p:cNvSpPr>
            <p:nvPr/>
          </p:nvSpPr>
          <p:spPr bwMode="auto">
            <a:xfrm>
              <a:off x="2411760" y="2348880"/>
              <a:ext cx="3006334" cy="1224136"/>
            </a:xfrm>
            <a:prstGeom prst="rect">
              <a:avLst/>
            </a:prstGeom>
            <a:solidFill>
              <a:srgbClr val="525759"/>
            </a:solidFill>
            <a:ln w="9525" algn="ctr">
              <a:solidFill>
                <a:srgbClr val="525759"/>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DFDCB7"/>
                  </a:solidFill>
                  <a:effectLst/>
                  <a:uLnTx/>
                  <a:uFillTx/>
                  <a:latin typeface="Arial" panose="020B0604020202020204" pitchFamily="34" charset="0"/>
                  <a:ea typeface="+mn-ea"/>
                  <a:cs typeface="Arial" panose="020B0604020202020204" pitchFamily="34" charset="0"/>
                </a:rPr>
                <a:t>Double click here to access MySQL Workbench’s database administration functionalities</a:t>
              </a:r>
            </a:p>
          </p:txBody>
        </p:sp>
        <p:cxnSp>
          <p:nvCxnSpPr>
            <p:cNvPr id="60425" name="Straight Arrow Connector 23">
              <a:extLst>
                <a:ext uri="{FF2B5EF4-FFF2-40B4-BE49-F238E27FC236}">
                  <a16:creationId xmlns:a16="http://schemas.microsoft.com/office/drawing/2014/main" id="{5DEBCB8F-ED8C-F62E-DC3B-CB2F10EECD26}"/>
                </a:ext>
              </a:extLst>
            </p:cNvPr>
            <p:cNvCxnSpPr>
              <a:cxnSpLocks noChangeShapeType="1"/>
              <a:stCxn id="60424" idx="3"/>
            </p:cNvCxnSpPr>
            <p:nvPr/>
          </p:nvCxnSpPr>
          <p:spPr bwMode="auto">
            <a:xfrm flipV="1">
              <a:off x="5418094" y="2780928"/>
              <a:ext cx="792088" cy="180020"/>
            </a:xfrm>
            <a:prstGeom prst="straightConnector1">
              <a:avLst/>
            </a:prstGeom>
            <a:noFill/>
            <a:ln w="25400" algn="ctr">
              <a:solidFill>
                <a:srgbClr val="525759"/>
              </a:solidFill>
              <a:round/>
              <a:headEnd/>
              <a:tailEnd type="triangle" w="med" len="med"/>
            </a:ln>
            <a:extLst>
              <a:ext uri="{909E8E84-426E-40DD-AFC4-6F175D3DCCD1}">
                <a14:hiddenFill xmlns:a14="http://schemas.microsoft.com/office/drawing/2010/main">
                  <a:noFill/>
                </a14:hiddenFill>
              </a:ext>
            </a:extLst>
          </p:spPr>
        </p:cxnSp>
      </p:gr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0">
                                            <p:txEl>
                                              <p:pRg st="0" end="0"/>
                                            </p:txEl>
                                          </p:spTgt>
                                        </p:tgtEl>
                                        <p:attrNameLst>
                                          <p:attrName>style.visibility</p:attrName>
                                        </p:attrNameLst>
                                      </p:cBhvr>
                                      <p:to>
                                        <p:strVal val="visible"/>
                                      </p:to>
                                    </p:set>
                                    <p:animEffect transition="in" filter="wipe(left)">
                                      <p:cBhvr>
                                        <p:cTn id="11" dur="500"/>
                                        <p:tgtEl>
                                          <p:spTgt spid="10">
                                            <p:txEl>
                                              <p:pRg st="0" end="0"/>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20">
                                            <p:txEl>
                                              <p:pRg st="0" end="0"/>
                                            </p:txEl>
                                          </p:spTgt>
                                        </p:tgtEl>
                                        <p:attrNameLst>
                                          <p:attrName>style.visibility</p:attrName>
                                        </p:attrNameLst>
                                      </p:cBhvr>
                                      <p:to>
                                        <p:strVal val="visible"/>
                                      </p:to>
                                    </p:set>
                                    <p:animEffect transition="in" filter="wipe(left)">
                                      <p:cBhvr>
                                        <p:cTn id="15" dur="500"/>
                                        <p:tgtEl>
                                          <p:spTgt spid="20">
                                            <p:txEl>
                                              <p:pRg st="0" end="0"/>
                                            </p:txEl>
                                          </p:spTgt>
                                        </p:tgtEl>
                                      </p:cBhvr>
                                    </p:animEffect>
                                  </p:childTnLst>
                                </p:cTn>
                              </p:par>
                            </p:childTnLst>
                          </p:cTn>
                        </p:par>
                        <p:par>
                          <p:cTn id="16" fill="hold" nodeType="afterGroup">
                            <p:stCondLst>
                              <p:cond delay="1500"/>
                            </p:stCondLst>
                            <p:childTnLst>
                              <p:par>
                                <p:cTn id="17" presetID="16" presetClass="entr" presetSubtype="21" fill="hold" nodeType="after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barn(inVertical)">
                                      <p:cBhvr>
                                        <p:cTn id="19" dur="500"/>
                                        <p:tgtEl>
                                          <p:spTgt spid="21"/>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42" presetClass="entr" presetSubtype="0" fill="hold" nodeType="click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fade">
                                      <p:cBhvr>
                                        <p:cTn id="24" dur="1000"/>
                                        <p:tgtEl>
                                          <p:spTgt spid="3"/>
                                        </p:tgtEl>
                                      </p:cBhvr>
                                    </p:animEffect>
                                    <p:anim calcmode="lin" valueType="num">
                                      <p:cBhvr>
                                        <p:cTn id="25" dur="1000" fill="hold"/>
                                        <p:tgtEl>
                                          <p:spTgt spid="3"/>
                                        </p:tgtEl>
                                        <p:attrNameLst>
                                          <p:attrName>ppt_x</p:attrName>
                                        </p:attrNameLst>
                                      </p:cBhvr>
                                      <p:tavLst>
                                        <p:tav tm="0">
                                          <p:val>
                                            <p:strVal val="#ppt_x"/>
                                          </p:val>
                                        </p:tav>
                                        <p:tav tm="100000">
                                          <p:val>
                                            <p:strVal val="#ppt_x"/>
                                          </p:val>
                                        </p:tav>
                                      </p:tavLst>
                                    </p:anim>
                                    <p:anim calcmode="lin" valueType="num">
                                      <p:cBhvr>
                                        <p:cTn id="26"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build="p"/>
      <p:bldP spid="20" grpId="0" build="p"/>
    </p:bldLst>
  </p:timing>
</p:sld>
</file>

<file path=ppt/slides/slide2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5D36ECD7-8F28-BC7E-816D-F6A9701718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2944813"/>
            <a:ext cx="6591300" cy="336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CEA3CE14-76B5-4295-8AFB-A99052C06005}"/>
              </a:ext>
            </a:extLst>
          </p:cNvPr>
          <p:cNvSpPr>
            <a:spLocks noGrp="1"/>
          </p:cNvSpPr>
          <p:nvPr>
            <p:ph type="title"/>
          </p:nvPr>
        </p:nvSpPr>
        <p:spPr>
          <a:xfrm>
            <a:off x="457200" y="0"/>
            <a:ext cx="7620000" cy="1143000"/>
          </a:xfrm>
        </p:spPr>
        <p:txBody>
          <a:bodyPr/>
          <a:lstStyle/>
          <a:p>
            <a:pPr algn="ctr">
              <a:defRPr/>
            </a:pPr>
            <a:r>
              <a:rPr lang="en-US" dirty="0"/>
              <a:t>Database Security</a:t>
            </a:r>
            <a:endParaRPr lang="en-MY" dirty="0"/>
          </a:p>
        </p:txBody>
      </p:sp>
      <p:sp>
        <p:nvSpPr>
          <p:cNvPr id="13" name="Snip Single Corner Rectangle 12">
            <a:extLst>
              <a:ext uri="{FF2B5EF4-FFF2-40B4-BE49-F238E27FC236}">
                <a16:creationId xmlns:a16="http://schemas.microsoft.com/office/drawing/2014/main" id="{CC730A1B-3C08-D676-84E9-77F1F5B26066}"/>
              </a:ext>
            </a:extLst>
          </p:cNvPr>
          <p:cNvSpPr/>
          <p:nvPr/>
        </p:nvSpPr>
        <p:spPr>
          <a:xfrm>
            <a:off x="-36513" y="1125538"/>
            <a:ext cx="2879726" cy="400050"/>
          </a:xfrm>
          <a:prstGeom prst="snip1Rect">
            <a:avLst/>
          </a:prstGeom>
          <a:solidFill>
            <a:schemeClr val="accent3">
              <a:lumMod val="75000"/>
              <a:alpha val="70000"/>
            </a:schemeClr>
          </a:solidFill>
          <a:ln>
            <a:solidFill>
              <a:schemeClr val="accent3">
                <a:lumMod val="75000"/>
              </a:schemeClr>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marR="0" lvl="0" indent="-342900" algn="just" defTabSz="914400" rtl="0" eaLnBrk="1" fontAlgn="base" latinLnBrk="0" hangingPunct="1">
              <a:lnSpc>
                <a:spcPct val="100000"/>
              </a:lnSpc>
              <a:spcBef>
                <a:spcPct val="20000"/>
              </a:spcBef>
              <a:spcAft>
                <a:spcPct val="0"/>
              </a:spcAft>
              <a:buClr>
                <a:srgbClr val="FF6600"/>
              </a:buClr>
              <a:buSzPct val="100000"/>
              <a:buFontTx/>
              <a:buNone/>
              <a:tabLst/>
              <a:defRPr/>
            </a:pPr>
            <a:r>
              <a:rPr kumimoji="0" lang="en-US" sz="1800" b="0" i="0" u="none" strike="noStrike" kern="1200" cap="none" spc="0" normalizeH="0" baseline="0" noProof="0" dirty="0">
                <a:ln>
                  <a:noFill/>
                </a:ln>
                <a:solidFill>
                  <a:srgbClr val="FFFFFF"/>
                </a:solidFill>
                <a:effectLst/>
                <a:uLnTx/>
                <a:uFillTx/>
                <a:latin typeface="Arial" pitchFamily="34" charset="0"/>
                <a:ea typeface="Times New Roman" pitchFamily="18" charset="0"/>
                <a:cs typeface="Arial" pitchFamily="34" charset="0"/>
              </a:rPr>
              <a:t>Database Server Security</a:t>
            </a:r>
            <a:endParaRPr kumimoji="0" lang="en-GB" sz="1800" b="0" i="0" u="none" strike="noStrike" kern="0" cap="none" spc="0" normalizeH="0" baseline="0" noProof="0" dirty="0">
              <a:ln>
                <a:noFill/>
              </a:ln>
              <a:solidFill>
                <a:srgbClr val="2F2B20"/>
              </a:solidFill>
              <a:effectLst/>
              <a:uLnTx/>
              <a:uFillTx/>
              <a:latin typeface="Calibri"/>
              <a:ea typeface="+mn-ea"/>
              <a:cs typeface="+mn-cs"/>
            </a:endParaRPr>
          </a:p>
        </p:txBody>
      </p:sp>
      <p:sp>
        <p:nvSpPr>
          <p:cNvPr id="61445" name="Content Placeholder 5">
            <a:extLst>
              <a:ext uri="{FF2B5EF4-FFF2-40B4-BE49-F238E27FC236}">
                <a16:creationId xmlns:a16="http://schemas.microsoft.com/office/drawing/2014/main" id="{6F577A43-2C5A-898F-1648-DF593FAC4043}"/>
              </a:ext>
            </a:extLst>
          </p:cNvPr>
          <p:cNvSpPr txBox="1">
            <a:spLocks/>
          </p:cNvSpPr>
          <p:nvPr/>
        </p:nvSpPr>
        <p:spPr bwMode="auto">
          <a:xfrm>
            <a:off x="227013" y="1857375"/>
            <a:ext cx="7926387"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MySQL Workbench provides a point-and-click interface for database administration</a:t>
            </a: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grpSp>
        <p:nvGrpSpPr>
          <p:cNvPr id="3" name="Group 20">
            <a:extLst>
              <a:ext uri="{FF2B5EF4-FFF2-40B4-BE49-F238E27FC236}">
                <a16:creationId xmlns:a16="http://schemas.microsoft.com/office/drawing/2014/main" id="{3EC386EC-B3F4-1E7D-CFF8-545C23654CBA}"/>
              </a:ext>
            </a:extLst>
          </p:cNvPr>
          <p:cNvGrpSpPr>
            <a:grpSpLocks/>
          </p:cNvGrpSpPr>
          <p:nvPr/>
        </p:nvGrpSpPr>
        <p:grpSpPr bwMode="auto">
          <a:xfrm>
            <a:off x="4892675" y="4614863"/>
            <a:ext cx="2359025" cy="936625"/>
            <a:chOff x="3257463" y="1340528"/>
            <a:chExt cx="2358653" cy="936104"/>
          </a:xfrm>
        </p:grpSpPr>
        <p:sp>
          <p:nvSpPr>
            <p:cNvPr id="61447" name="Rectangle 30">
              <a:extLst>
                <a:ext uri="{FF2B5EF4-FFF2-40B4-BE49-F238E27FC236}">
                  <a16:creationId xmlns:a16="http://schemas.microsoft.com/office/drawing/2014/main" id="{B2257911-FB16-C626-691A-904DE6030E6A}"/>
                </a:ext>
              </a:extLst>
            </p:cNvPr>
            <p:cNvSpPr>
              <a:spLocks noChangeArrowheads="1"/>
            </p:cNvSpPr>
            <p:nvPr/>
          </p:nvSpPr>
          <p:spPr bwMode="auto">
            <a:xfrm>
              <a:off x="3698512" y="1340528"/>
              <a:ext cx="1917604" cy="936104"/>
            </a:xfrm>
            <a:prstGeom prst="rect">
              <a:avLst/>
            </a:prstGeom>
            <a:solidFill>
              <a:srgbClr val="525759"/>
            </a:solidFill>
            <a:ln w="9525" algn="ctr">
              <a:solidFill>
                <a:srgbClr val="525759"/>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DFDCB7"/>
                  </a:solidFill>
                  <a:effectLst/>
                  <a:uLnTx/>
                  <a:uFillTx/>
                  <a:latin typeface="Arial" panose="020B0604020202020204" pitchFamily="34" charset="0"/>
                  <a:ea typeface="+mn-ea"/>
                  <a:cs typeface="Arial" panose="020B0604020202020204" pitchFamily="34" charset="0"/>
                </a:rPr>
                <a:t>Enter your password for MySQL</a:t>
              </a:r>
            </a:p>
          </p:txBody>
        </p:sp>
        <p:cxnSp>
          <p:nvCxnSpPr>
            <p:cNvPr id="61448" name="Straight Arrow Connector 31">
              <a:extLst>
                <a:ext uri="{FF2B5EF4-FFF2-40B4-BE49-F238E27FC236}">
                  <a16:creationId xmlns:a16="http://schemas.microsoft.com/office/drawing/2014/main" id="{95A5DBEF-6110-B6A0-8CB2-2D5853F88E4E}"/>
                </a:ext>
              </a:extLst>
            </p:cNvPr>
            <p:cNvCxnSpPr>
              <a:cxnSpLocks noChangeShapeType="1"/>
              <a:stCxn id="61447" idx="1"/>
            </p:cNvCxnSpPr>
            <p:nvPr/>
          </p:nvCxnSpPr>
          <p:spPr bwMode="auto">
            <a:xfrm flipH="1" flipV="1">
              <a:off x="3257463" y="1484784"/>
              <a:ext cx="441049" cy="323796"/>
            </a:xfrm>
            <a:prstGeom prst="straightConnector1">
              <a:avLst/>
            </a:prstGeom>
            <a:noFill/>
            <a:ln w="25400" algn="ctr">
              <a:solidFill>
                <a:srgbClr val="525759"/>
              </a:solidFill>
              <a:round/>
              <a:headEnd/>
              <a:tailEnd type="triangle" w="med" len="med"/>
            </a:ln>
            <a:extLst>
              <a:ext uri="{909E8E84-426E-40DD-AFC4-6F175D3DCCD1}">
                <a14:hiddenFill xmlns:a14="http://schemas.microsoft.com/office/drawing/2010/main">
                  <a:noFill/>
                </a14:hiddenFill>
              </a:ext>
            </a:extLst>
          </p:spPr>
        </p:cxnSp>
      </p:gr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6" presetClass="entr" presetSubtype="21" fill="hold" nodeType="afterEffect">
                                  <p:stCondLst>
                                    <p:cond delay="0"/>
                                  </p:stCondLst>
                                  <p:childTnLst>
                                    <p:set>
                                      <p:cBhvr>
                                        <p:cTn id="6" dur="1" fill="hold">
                                          <p:stCondLst>
                                            <p:cond delay="0"/>
                                          </p:stCondLst>
                                        </p:cTn>
                                        <p:tgtEl>
                                          <p:spTgt spid="2050"/>
                                        </p:tgtEl>
                                        <p:attrNameLst>
                                          <p:attrName>style.visibility</p:attrName>
                                        </p:attrNameLst>
                                      </p:cBhvr>
                                      <p:to>
                                        <p:strVal val="visible"/>
                                      </p:to>
                                    </p:set>
                                    <p:animEffect transition="in" filter="barn(inVertical)">
                                      <p:cBhvr>
                                        <p:cTn id="7" dur="500"/>
                                        <p:tgtEl>
                                          <p:spTgt spid="2050"/>
                                        </p:tgtEl>
                                      </p:cBhvr>
                                    </p:animEffect>
                                  </p:childTnLst>
                                </p:cTn>
                              </p:par>
                            </p:childTnLst>
                          </p:cTn>
                        </p:par>
                        <p:par>
                          <p:cTn id="8" fill="hold" nodeType="afterGroup">
                            <p:stCondLst>
                              <p:cond delay="500"/>
                            </p:stCondLst>
                            <p:childTnLst>
                              <p:par>
                                <p:cTn id="9" presetID="42" presetClass="entr" presetSubtype="0"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1000"/>
                                        <p:tgtEl>
                                          <p:spTgt spid="3"/>
                                        </p:tgtEl>
                                      </p:cBhvr>
                                    </p:animEffect>
                                    <p:anim calcmode="lin" valueType="num">
                                      <p:cBhvr>
                                        <p:cTn id="12" dur="1000" fill="hold"/>
                                        <p:tgtEl>
                                          <p:spTgt spid="3"/>
                                        </p:tgtEl>
                                        <p:attrNameLst>
                                          <p:attrName>ppt_x</p:attrName>
                                        </p:attrNameLst>
                                      </p:cBhvr>
                                      <p:tavLst>
                                        <p:tav tm="0">
                                          <p:val>
                                            <p:strVal val="#ppt_x"/>
                                          </p:val>
                                        </p:tav>
                                        <p:tav tm="100000">
                                          <p:val>
                                            <p:strVal val="#ppt_x"/>
                                          </p:val>
                                        </p:tav>
                                      </p:tavLst>
                                    </p:anim>
                                    <p:anim calcmode="lin" valueType="num">
                                      <p:cBhvr>
                                        <p:cTn id="13"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2E75B-D58F-DC3B-44B3-C93FA439CF0D}"/>
              </a:ext>
            </a:extLst>
          </p:cNvPr>
          <p:cNvSpPr>
            <a:spLocks noGrp="1"/>
          </p:cNvSpPr>
          <p:nvPr>
            <p:ph type="title"/>
          </p:nvPr>
        </p:nvSpPr>
        <p:spPr>
          <a:xfrm>
            <a:off x="457200" y="0"/>
            <a:ext cx="7620000" cy="1143000"/>
          </a:xfrm>
        </p:spPr>
        <p:txBody>
          <a:bodyPr/>
          <a:lstStyle/>
          <a:p>
            <a:pPr algn="ctr">
              <a:defRPr/>
            </a:pPr>
            <a:r>
              <a:rPr lang="en-US" dirty="0"/>
              <a:t>Database Security</a:t>
            </a:r>
            <a:endParaRPr lang="en-MY" dirty="0"/>
          </a:p>
        </p:txBody>
      </p:sp>
      <p:sp>
        <p:nvSpPr>
          <p:cNvPr id="13" name="Snip Single Corner Rectangle 12">
            <a:extLst>
              <a:ext uri="{FF2B5EF4-FFF2-40B4-BE49-F238E27FC236}">
                <a16:creationId xmlns:a16="http://schemas.microsoft.com/office/drawing/2014/main" id="{4F943A7F-A2C9-840E-7D8B-47948E3AADFD}"/>
              </a:ext>
            </a:extLst>
          </p:cNvPr>
          <p:cNvSpPr/>
          <p:nvPr/>
        </p:nvSpPr>
        <p:spPr>
          <a:xfrm>
            <a:off x="-36513" y="1125538"/>
            <a:ext cx="2879726" cy="400050"/>
          </a:xfrm>
          <a:prstGeom prst="snip1Rect">
            <a:avLst/>
          </a:prstGeom>
          <a:solidFill>
            <a:schemeClr val="accent3">
              <a:lumMod val="75000"/>
              <a:alpha val="70000"/>
            </a:schemeClr>
          </a:solidFill>
          <a:ln>
            <a:solidFill>
              <a:schemeClr val="accent3">
                <a:lumMod val="75000"/>
              </a:schemeClr>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marR="0" lvl="0" indent="-342900" algn="just" defTabSz="914400" rtl="0" eaLnBrk="1" fontAlgn="base" latinLnBrk="0" hangingPunct="1">
              <a:lnSpc>
                <a:spcPct val="100000"/>
              </a:lnSpc>
              <a:spcBef>
                <a:spcPct val="20000"/>
              </a:spcBef>
              <a:spcAft>
                <a:spcPct val="0"/>
              </a:spcAft>
              <a:buClr>
                <a:srgbClr val="FF6600"/>
              </a:buClr>
              <a:buSzPct val="100000"/>
              <a:buFontTx/>
              <a:buNone/>
              <a:tabLst/>
              <a:defRPr/>
            </a:pPr>
            <a:r>
              <a:rPr kumimoji="0" lang="en-US" sz="1800" b="0" i="0" u="none" strike="noStrike" kern="1200" cap="none" spc="0" normalizeH="0" baseline="0" noProof="0" dirty="0">
                <a:ln>
                  <a:noFill/>
                </a:ln>
                <a:solidFill>
                  <a:srgbClr val="FFFFFF"/>
                </a:solidFill>
                <a:effectLst/>
                <a:uLnTx/>
                <a:uFillTx/>
                <a:latin typeface="Arial" pitchFamily="34" charset="0"/>
                <a:ea typeface="Times New Roman" pitchFamily="18" charset="0"/>
                <a:cs typeface="Arial" pitchFamily="34" charset="0"/>
              </a:rPr>
              <a:t>Database Server Security</a:t>
            </a:r>
            <a:endParaRPr kumimoji="0" lang="en-GB" sz="1800" b="0" i="0" u="none" strike="noStrike" kern="0" cap="none" spc="0" normalizeH="0" baseline="0" noProof="0" dirty="0">
              <a:ln>
                <a:noFill/>
              </a:ln>
              <a:solidFill>
                <a:srgbClr val="2F2B20"/>
              </a:solidFill>
              <a:effectLst/>
              <a:uLnTx/>
              <a:uFillTx/>
              <a:latin typeface="Calibri"/>
              <a:ea typeface="+mn-ea"/>
              <a:cs typeface="+mn-cs"/>
            </a:endParaRPr>
          </a:p>
        </p:txBody>
      </p:sp>
      <p:sp>
        <p:nvSpPr>
          <p:cNvPr id="14" name="Content Placeholder 5">
            <a:extLst>
              <a:ext uri="{FF2B5EF4-FFF2-40B4-BE49-F238E27FC236}">
                <a16:creationId xmlns:a16="http://schemas.microsoft.com/office/drawing/2014/main" id="{BCB92585-DC8D-D4A6-0BB4-A600985D73E3}"/>
              </a:ext>
            </a:extLst>
          </p:cNvPr>
          <p:cNvSpPr txBox="1">
            <a:spLocks/>
          </p:cNvSpPr>
          <p:nvPr/>
        </p:nvSpPr>
        <p:spPr bwMode="auto">
          <a:xfrm>
            <a:off x="227013" y="1857375"/>
            <a:ext cx="8713787"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Database administration main screen</a:t>
            </a: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pic>
        <p:nvPicPr>
          <p:cNvPr id="3074" name="Picture 2">
            <a:extLst>
              <a:ext uri="{FF2B5EF4-FFF2-40B4-BE49-F238E27FC236}">
                <a16:creationId xmlns:a16="http://schemas.microsoft.com/office/drawing/2014/main" id="{71749160-AB9C-814D-2132-563ADA5D48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6100" y="2432050"/>
            <a:ext cx="7192963" cy="383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 name="Group 27">
            <a:extLst>
              <a:ext uri="{FF2B5EF4-FFF2-40B4-BE49-F238E27FC236}">
                <a16:creationId xmlns:a16="http://schemas.microsoft.com/office/drawing/2014/main" id="{4C80F6B6-8824-D1D5-4774-68BB247F223A}"/>
              </a:ext>
            </a:extLst>
          </p:cNvPr>
          <p:cNvGrpSpPr>
            <a:grpSpLocks/>
          </p:cNvGrpSpPr>
          <p:nvPr/>
        </p:nvGrpSpPr>
        <p:grpSpPr bwMode="auto">
          <a:xfrm>
            <a:off x="1085850" y="3968750"/>
            <a:ext cx="2862263" cy="1306513"/>
            <a:chOff x="2411760" y="1973239"/>
            <a:chExt cx="2862318" cy="1306462"/>
          </a:xfrm>
        </p:grpSpPr>
        <p:sp>
          <p:nvSpPr>
            <p:cNvPr id="62471" name="Rectangle 28">
              <a:extLst>
                <a:ext uri="{FF2B5EF4-FFF2-40B4-BE49-F238E27FC236}">
                  <a16:creationId xmlns:a16="http://schemas.microsoft.com/office/drawing/2014/main" id="{0CACA3A5-CB5C-233E-E62A-8641E3C1B3BD}"/>
                </a:ext>
              </a:extLst>
            </p:cNvPr>
            <p:cNvSpPr>
              <a:spLocks noChangeArrowheads="1"/>
            </p:cNvSpPr>
            <p:nvPr/>
          </p:nvSpPr>
          <p:spPr bwMode="auto">
            <a:xfrm>
              <a:off x="2411760" y="2384885"/>
              <a:ext cx="2862318" cy="894816"/>
            </a:xfrm>
            <a:prstGeom prst="rect">
              <a:avLst/>
            </a:prstGeom>
            <a:solidFill>
              <a:srgbClr val="525759"/>
            </a:solidFill>
            <a:ln w="9525" algn="ctr">
              <a:solidFill>
                <a:srgbClr val="525759"/>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DFDCB7"/>
                  </a:solidFill>
                  <a:effectLst/>
                  <a:uLnTx/>
                  <a:uFillTx/>
                  <a:latin typeface="Arial" panose="020B0604020202020204" pitchFamily="34" charset="0"/>
                  <a:ea typeface="+mn-ea"/>
                  <a:cs typeface="Arial" panose="020B0604020202020204" pitchFamily="34" charset="0"/>
                </a:rPr>
                <a:t>Click on “Users and Privileges” to access MySQL’s security features</a:t>
              </a:r>
            </a:p>
          </p:txBody>
        </p:sp>
        <p:cxnSp>
          <p:nvCxnSpPr>
            <p:cNvPr id="62472" name="Straight Arrow Connector 29">
              <a:extLst>
                <a:ext uri="{FF2B5EF4-FFF2-40B4-BE49-F238E27FC236}">
                  <a16:creationId xmlns:a16="http://schemas.microsoft.com/office/drawing/2014/main" id="{A7F3B2BD-37E1-324B-37BC-B5C8704F555A}"/>
                </a:ext>
              </a:extLst>
            </p:cNvPr>
            <p:cNvCxnSpPr>
              <a:cxnSpLocks noChangeShapeType="1"/>
              <a:stCxn id="62471" idx="0"/>
            </p:cNvCxnSpPr>
            <p:nvPr/>
          </p:nvCxnSpPr>
          <p:spPr bwMode="auto">
            <a:xfrm flipH="1" flipV="1">
              <a:off x="2705540" y="1973239"/>
              <a:ext cx="1137379" cy="411646"/>
            </a:xfrm>
            <a:prstGeom prst="straightConnector1">
              <a:avLst/>
            </a:prstGeom>
            <a:noFill/>
            <a:ln w="25400" algn="ctr">
              <a:solidFill>
                <a:srgbClr val="525759"/>
              </a:solidFill>
              <a:round/>
              <a:headEnd/>
              <a:tailEnd type="triangle" w="med" len="med"/>
            </a:ln>
            <a:extLst>
              <a:ext uri="{909E8E84-426E-40DD-AFC4-6F175D3DCCD1}">
                <a14:hiddenFill xmlns:a14="http://schemas.microsoft.com/office/drawing/2010/main">
                  <a:noFill/>
                </a14:hiddenFill>
              </a:ext>
            </a:extLst>
          </p:spPr>
        </p:cxnSp>
      </p:gr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childTnLst>
                          </p:cTn>
                        </p:par>
                        <p:par>
                          <p:cTn id="8" fill="hold" nodeType="afterGroup">
                            <p:stCondLst>
                              <p:cond delay="500"/>
                            </p:stCondLst>
                            <p:childTnLst>
                              <p:par>
                                <p:cTn id="9" presetID="16" presetClass="entr" presetSubtype="21" fill="hold" nodeType="afterEffect">
                                  <p:stCondLst>
                                    <p:cond delay="0"/>
                                  </p:stCondLst>
                                  <p:childTnLst>
                                    <p:set>
                                      <p:cBhvr>
                                        <p:cTn id="10" dur="1" fill="hold">
                                          <p:stCondLst>
                                            <p:cond delay="0"/>
                                          </p:stCondLst>
                                        </p:cTn>
                                        <p:tgtEl>
                                          <p:spTgt spid="3074"/>
                                        </p:tgtEl>
                                        <p:attrNameLst>
                                          <p:attrName>style.visibility</p:attrName>
                                        </p:attrNameLst>
                                      </p:cBhvr>
                                      <p:to>
                                        <p:strVal val="visible"/>
                                      </p:to>
                                    </p:set>
                                    <p:animEffect transition="in" filter="barn(inVertical)">
                                      <p:cBhvr>
                                        <p:cTn id="11" dur="500"/>
                                        <p:tgtEl>
                                          <p:spTgt spid="3074"/>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42" presetClass="entr" presetSubtype="0" fill="hold" nodeType="click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1000"/>
                                        <p:tgtEl>
                                          <p:spTgt spid="3"/>
                                        </p:tgtEl>
                                      </p:cBhvr>
                                    </p:animEffect>
                                    <p:anim calcmode="lin" valueType="num">
                                      <p:cBhvr>
                                        <p:cTn id="17" dur="1000" fill="hold"/>
                                        <p:tgtEl>
                                          <p:spTgt spid="3"/>
                                        </p:tgtEl>
                                        <p:attrNameLst>
                                          <p:attrName>ppt_x</p:attrName>
                                        </p:attrNameLst>
                                      </p:cBhvr>
                                      <p:tavLst>
                                        <p:tav tm="0">
                                          <p:val>
                                            <p:strVal val="#ppt_x"/>
                                          </p:val>
                                        </p:tav>
                                        <p:tav tm="100000">
                                          <p:val>
                                            <p:strVal val="#ppt_x"/>
                                          </p:val>
                                        </p:tav>
                                      </p:tavLst>
                                    </p:anim>
                                    <p:anim calcmode="lin" valueType="num">
                                      <p:cBhvr>
                                        <p:cTn id="18"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2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C104BD-6E6E-3439-3671-F7E42B705304}"/>
              </a:ext>
            </a:extLst>
          </p:cNvPr>
          <p:cNvSpPr>
            <a:spLocks noGrp="1"/>
          </p:cNvSpPr>
          <p:nvPr>
            <p:ph type="title"/>
          </p:nvPr>
        </p:nvSpPr>
        <p:spPr>
          <a:xfrm>
            <a:off x="457200" y="0"/>
            <a:ext cx="7620000" cy="1143000"/>
          </a:xfrm>
        </p:spPr>
        <p:txBody>
          <a:bodyPr/>
          <a:lstStyle/>
          <a:p>
            <a:pPr algn="ctr">
              <a:defRPr/>
            </a:pPr>
            <a:r>
              <a:rPr lang="en-US" dirty="0"/>
              <a:t>Database Security</a:t>
            </a:r>
            <a:endParaRPr lang="en-MY" dirty="0"/>
          </a:p>
        </p:txBody>
      </p:sp>
      <p:sp>
        <p:nvSpPr>
          <p:cNvPr id="21" name="TextBox 20">
            <a:extLst>
              <a:ext uri="{FF2B5EF4-FFF2-40B4-BE49-F238E27FC236}">
                <a16:creationId xmlns:a16="http://schemas.microsoft.com/office/drawing/2014/main" id="{97FF7236-D554-55BF-2B69-1C845462315D}"/>
              </a:ext>
            </a:extLst>
          </p:cNvPr>
          <p:cNvSpPr txBox="1"/>
          <p:nvPr/>
        </p:nvSpPr>
        <p:spPr>
          <a:xfrm>
            <a:off x="1749425" y="5973763"/>
            <a:ext cx="955675" cy="274637"/>
          </a:xfrm>
          <a:prstGeom prst="rect">
            <a:avLst/>
          </a:prstGeom>
          <a:noFill/>
        </p:spPr>
        <p:txBody>
          <a:bodyPr>
            <a:spAutoFit/>
          </a:bodyPr>
          <a:lstStyle/>
          <a:p>
            <a:pPr marL="0" marR="0" lvl="0" indent="0" algn="ctr" defTabSz="914400" rtl="0" eaLnBrk="0" fontAlgn="base" latinLnBrk="0" hangingPunct="0">
              <a:lnSpc>
                <a:spcPts val="1600"/>
              </a:lnSpc>
              <a:spcBef>
                <a:spcPct val="0"/>
              </a:spcBef>
              <a:spcAft>
                <a:spcPct val="0"/>
              </a:spcAft>
              <a:buClrTx/>
              <a:buSzTx/>
              <a:buFontTx/>
              <a:buNone/>
              <a:tabLst/>
              <a:defRPr/>
            </a:pPr>
            <a:r>
              <a:rPr kumimoji="0" lang="en-US" sz="1000" b="0" i="1" u="none" strike="noStrike" kern="1200" cap="none" spc="0" normalizeH="0" baseline="0" noProof="0" dirty="0">
                <a:ln>
                  <a:noFill/>
                </a:ln>
                <a:solidFill>
                  <a:srgbClr val="FFFFFF">
                    <a:lumMod val="50000"/>
                  </a:srgbClr>
                </a:solidFill>
                <a:effectLst/>
                <a:uLnTx/>
                <a:uFillTx/>
                <a:latin typeface="Arial" panose="020B0604020202020204" pitchFamily="34" charset="0"/>
                <a:ea typeface="+mn-ea"/>
                <a:cs typeface="Arial" panose="020B0604020202020204" pitchFamily="34" charset="0"/>
              </a:rPr>
              <a:t>Figure 13</a:t>
            </a:r>
            <a:endParaRPr kumimoji="0" lang="en-MY" sz="1000" b="0" i="1" u="none" strike="noStrike" kern="1200" cap="none" spc="0" normalizeH="0" baseline="0" noProof="0" dirty="0">
              <a:ln>
                <a:noFill/>
              </a:ln>
              <a:solidFill>
                <a:srgbClr val="FFFFFF">
                  <a:lumMod val="50000"/>
                </a:srgbClr>
              </a:solidFill>
              <a:effectLst/>
              <a:uLnTx/>
              <a:uFillTx/>
              <a:latin typeface="Trebuchet MS" pitchFamily="34" charset="0"/>
              <a:ea typeface="+mn-ea"/>
              <a:cs typeface="Arial" panose="020B0604020202020204" pitchFamily="34" charset="0"/>
            </a:endParaRPr>
          </a:p>
        </p:txBody>
      </p:sp>
      <p:sp>
        <p:nvSpPr>
          <p:cNvPr id="13" name="Snip Single Corner Rectangle 12">
            <a:extLst>
              <a:ext uri="{FF2B5EF4-FFF2-40B4-BE49-F238E27FC236}">
                <a16:creationId xmlns:a16="http://schemas.microsoft.com/office/drawing/2014/main" id="{D528D8CA-7E7F-63EB-D96B-2A5CA7E2C4E4}"/>
              </a:ext>
            </a:extLst>
          </p:cNvPr>
          <p:cNvSpPr/>
          <p:nvPr/>
        </p:nvSpPr>
        <p:spPr>
          <a:xfrm>
            <a:off x="-36513" y="1125538"/>
            <a:ext cx="2879726" cy="400050"/>
          </a:xfrm>
          <a:prstGeom prst="snip1Rect">
            <a:avLst/>
          </a:prstGeom>
          <a:solidFill>
            <a:schemeClr val="accent3">
              <a:lumMod val="75000"/>
              <a:alpha val="70000"/>
            </a:schemeClr>
          </a:solidFill>
          <a:ln>
            <a:solidFill>
              <a:schemeClr val="accent3">
                <a:lumMod val="75000"/>
              </a:schemeClr>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marR="0" lvl="0" indent="-342900" algn="just" defTabSz="914400" rtl="0" eaLnBrk="1" fontAlgn="base" latinLnBrk="0" hangingPunct="1">
              <a:lnSpc>
                <a:spcPct val="100000"/>
              </a:lnSpc>
              <a:spcBef>
                <a:spcPct val="20000"/>
              </a:spcBef>
              <a:spcAft>
                <a:spcPct val="0"/>
              </a:spcAft>
              <a:buClr>
                <a:srgbClr val="FF6600"/>
              </a:buClr>
              <a:buSzPct val="100000"/>
              <a:buFontTx/>
              <a:buNone/>
              <a:tabLst/>
              <a:defRPr/>
            </a:pPr>
            <a:r>
              <a:rPr kumimoji="0" lang="en-US" sz="1800" b="0" i="0" u="none" strike="noStrike" kern="1200" cap="none" spc="0" normalizeH="0" baseline="0" noProof="0" dirty="0">
                <a:ln>
                  <a:noFill/>
                </a:ln>
                <a:solidFill>
                  <a:srgbClr val="FFFFFF"/>
                </a:solidFill>
                <a:effectLst/>
                <a:uLnTx/>
                <a:uFillTx/>
                <a:latin typeface="Arial" pitchFamily="34" charset="0"/>
                <a:ea typeface="Times New Roman" pitchFamily="18" charset="0"/>
                <a:cs typeface="Arial" pitchFamily="34" charset="0"/>
              </a:rPr>
              <a:t>Database Server Security</a:t>
            </a:r>
            <a:endParaRPr kumimoji="0" lang="en-GB" sz="1800" b="0" i="0" u="none" strike="noStrike" kern="0" cap="none" spc="0" normalizeH="0" baseline="0" noProof="0" dirty="0">
              <a:ln>
                <a:noFill/>
              </a:ln>
              <a:solidFill>
                <a:srgbClr val="2F2B20"/>
              </a:solidFill>
              <a:effectLst/>
              <a:uLnTx/>
              <a:uFillTx/>
              <a:latin typeface="Calibri"/>
              <a:ea typeface="+mn-ea"/>
              <a:cs typeface="+mn-cs"/>
            </a:endParaRPr>
          </a:p>
        </p:txBody>
      </p:sp>
      <p:sp>
        <p:nvSpPr>
          <p:cNvPr id="14" name="Content Placeholder 5">
            <a:extLst>
              <a:ext uri="{FF2B5EF4-FFF2-40B4-BE49-F238E27FC236}">
                <a16:creationId xmlns:a16="http://schemas.microsoft.com/office/drawing/2014/main" id="{D6727155-4033-F659-9736-39C48ACB2983}"/>
              </a:ext>
            </a:extLst>
          </p:cNvPr>
          <p:cNvSpPr txBox="1">
            <a:spLocks/>
          </p:cNvSpPr>
          <p:nvPr/>
        </p:nvSpPr>
        <p:spPr bwMode="auto">
          <a:xfrm>
            <a:off x="227013" y="1857375"/>
            <a:ext cx="8713787"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“Server Access Management” screen</a:t>
            </a: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pic>
        <p:nvPicPr>
          <p:cNvPr id="28" name="Picture 2">
            <a:extLst>
              <a:ext uri="{FF2B5EF4-FFF2-40B4-BE49-F238E27FC236}">
                <a16:creationId xmlns:a16="http://schemas.microsoft.com/office/drawing/2014/main" id="{F458DC35-4A40-73EB-7052-3A231DAA42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5312"/>
          <a:stretch>
            <a:fillRect/>
          </a:stretch>
        </p:blipFill>
        <p:spPr bwMode="auto">
          <a:xfrm>
            <a:off x="546100" y="2432050"/>
            <a:ext cx="7194550" cy="3889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 name="Group 29">
            <a:extLst>
              <a:ext uri="{FF2B5EF4-FFF2-40B4-BE49-F238E27FC236}">
                <a16:creationId xmlns:a16="http://schemas.microsoft.com/office/drawing/2014/main" id="{2BD91E61-989F-D4F5-833D-74F56228126F}"/>
              </a:ext>
            </a:extLst>
          </p:cNvPr>
          <p:cNvGrpSpPr>
            <a:grpSpLocks/>
          </p:cNvGrpSpPr>
          <p:nvPr/>
        </p:nvGrpSpPr>
        <p:grpSpPr bwMode="auto">
          <a:xfrm>
            <a:off x="2001838" y="4833938"/>
            <a:ext cx="2141537" cy="1139825"/>
            <a:chOff x="3698512" y="1628560"/>
            <a:chExt cx="2142238" cy="1140063"/>
          </a:xfrm>
        </p:grpSpPr>
        <p:sp>
          <p:nvSpPr>
            <p:cNvPr id="63499" name="Rectangle 30">
              <a:extLst>
                <a:ext uri="{FF2B5EF4-FFF2-40B4-BE49-F238E27FC236}">
                  <a16:creationId xmlns:a16="http://schemas.microsoft.com/office/drawing/2014/main" id="{FECFDD00-560B-A5CB-5DAF-A34DE8BACB66}"/>
                </a:ext>
              </a:extLst>
            </p:cNvPr>
            <p:cNvSpPr>
              <a:spLocks noChangeArrowheads="1"/>
            </p:cNvSpPr>
            <p:nvPr/>
          </p:nvSpPr>
          <p:spPr bwMode="auto">
            <a:xfrm>
              <a:off x="3698512" y="1628560"/>
              <a:ext cx="2142238" cy="648072"/>
            </a:xfrm>
            <a:prstGeom prst="rect">
              <a:avLst/>
            </a:prstGeom>
            <a:solidFill>
              <a:srgbClr val="525759"/>
            </a:solidFill>
            <a:ln w="9525" algn="ctr">
              <a:solidFill>
                <a:srgbClr val="525759"/>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DFDCB7"/>
                  </a:solidFill>
                  <a:effectLst/>
                  <a:uLnTx/>
                  <a:uFillTx/>
                  <a:latin typeface="Arial" panose="020B0604020202020204" pitchFamily="34" charset="0"/>
                  <a:ea typeface="+mn-ea"/>
                  <a:cs typeface="Arial" panose="020B0604020202020204" pitchFamily="34" charset="0"/>
                </a:rPr>
                <a:t>You can create new user account</a:t>
              </a:r>
            </a:p>
          </p:txBody>
        </p:sp>
        <p:cxnSp>
          <p:nvCxnSpPr>
            <p:cNvPr id="63500" name="Straight Arrow Connector 31">
              <a:extLst>
                <a:ext uri="{FF2B5EF4-FFF2-40B4-BE49-F238E27FC236}">
                  <a16:creationId xmlns:a16="http://schemas.microsoft.com/office/drawing/2014/main" id="{B6A6ACDD-5301-A9F5-059F-69D886F2D9FB}"/>
                </a:ext>
              </a:extLst>
            </p:cNvPr>
            <p:cNvCxnSpPr>
              <a:cxnSpLocks noChangeShapeType="1"/>
            </p:cNvCxnSpPr>
            <p:nvPr/>
          </p:nvCxnSpPr>
          <p:spPr bwMode="auto">
            <a:xfrm flipH="1">
              <a:off x="3793022" y="2276632"/>
              <a:ext cx="976610" cy="491991"/>
            </a:xfrm>
            <a:prstGeom prst="straightConnector1">
              <a:avLst/>
            </a:prstGeom>
            <a:noFill/>
            <a:ln w="25400" algn="ctr">
              <a:solidFill>
                <a:srgbClr val="525759"/>
              </a:solidFill>
              <a:round/>
              <a:headEnd/>
              <a:tailEnd type="triangle" w="med" len="med"/>
            </a:ln>
            <a:extLst>
              <a:ext uri="{909E8E84-426E-40DD-AFC4-6F175D3DCCD1}">
                <a14:hiddenFill xmlns:a14="http://schemas.microsoft.com/office/drawing/2010/main">
                  <a:noFill/>
                </a14:hiddenFill>
              </a:ext>
            </a:extLst>
          </p:spPr>
        </p:cxnSp>
      </p:grpSp>
      <p:grpSp>
        <p:nvGrpSpPr>
          <p:cNvPr id="4" name="Group 32">
            <a:extLst>
              <a:ext uri="{FF2B5EF4-FFF2-40B4-BE49-F238E27FC236}">
                <a16:creationId xmlns:a16="http://schemas.microsoft.com/office/drawing/2014/main" id="{0DB96ADA-55BA-EEAE-9E8C-3505614D862D}"/>
              </a:ext>
            </a:extLst>
          </p:cNvPr>
          <p:cNvGrpSpPr>
            <a:grpSpLocks/>
          </p:cNvGrpSpPr>
          <p:nvPr/>
        </p:nvGrpSpPr>
        <p:grpSpPr bwMode="auto">
          <a:xfrm>
            <a:off x="3924300" y="3694113"/>
            <a:ext cx="3671888" cy="1174750"/>
            <a:chOff x="2978432" y="1370198"/>
            <a:chExt cx="3672408" cy="1174798"/>
          </a:xfrm>
        </p:grpSpPr>
        <p:sp>
          <p:nvSpPr>
            <p:cNvPr id="63497" name="Rectangle 33">
              <a:extLst>
                <a:ext uri="{FF2B5EF4-FFF2-40B4-BE49-F238E27FC236}">
                  <a16:creationId xmlns:a16="http://schemas.microsoft.com/office/drawing/2014/main" id="{76A8FEDF-13D4-1DF6-F2E7-A4B6616E2888}"/>
                </a:ext>
              </a:extLst>
            </p:cNvPr>
            <p:cNvSpPr>
              <a:spLocks noChangeArrowheads="1"/>
            </p:cNvSpPr>
            <p:nvPr/>
          </p:nvSpPr>
          <p:spPr bwMode="auto">
            <a:xfrm>
              <a:off x="3698512" y="1370198"/>
              <a:ext cx="2952328" cy="1174798"/>
            </a:xfrm>
            <a:prstGeom prst="rect">
              <a:avLst/>
            </a:prstGeom>
            <a:solidFill>
              <a:srgbClr val="525759"/>
            </a:solidFill>
            <a:ln w="9525" algn="ctr">
              <a:solidFill>
                <a:srgbClr val="525759"/>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DFDCB7"/>
                  </a:solidFill>
                  <a:effectLst/>
                  <a:uLnTx/>
                  <a:uFillTx/>
                  <a:latin typeface="Arial" panose="020B0604020202020204" pitchFamily="34" charset="0"/>
                  <a:ea typeface="+mn-ea"/>
                  <a:cs typeface="Arial" panose="020B0604020202020204" pitchFamily="34" charset="0"/>
                </a:rPr>
                <a:t>Limit MySQL access to only certain computers (e.g. only office computers can access MySQL)</a:t>
              </a:r>
            </a:p>
          </p:txBody>
        </p:sp>
        <p:cxnSp>
          <p:nvCxnSpPr>
            <p:cNvPr id="63498" name="Straight Arrow Connector 34">
              <a:extLst>
                <a:ext uri="{FF2B5EF4-FFF2-40B4-BE49-F238E27FC236}">
                  <a16:creationId xmlns:a16="http://schemas.microsoft.com/office/drawing/2014/main" id="{1AAF792F-7D85-B559-4850-1775CA19D87E}"/>
                </a:ext>
              </a:extLst>
            </p:cNvPr>
            <p:cNvCxnSpPr>
              <a:cxnSpLocks noChangeShapeType="1"/>
              <a:stCxn id="63497" idx="1"/>
            </p:cNvCxnSpPr>
            <p:nvPr/>
          </p:nvCxnSpPr>
          <p:spPr bwMode="auto">
            <a:xfrm flipH="1" flipV="1">
              <a:off x="2978432" y="1514217"/>
              <a:ext cx="720080" cy="443380"/>
            </a:xfrm>
            <a:prstGeom prst="straightConnector1">
              <a:avLst/>
            </a:prstGeom>
            <a:noFill/>
            <a:ln w="25400" algn="ctr">
              <a:solidFill>
                <a:srgbClr val="525759"/>
              </a:solidFill>
              <a:round/>
              <a:headEnd/>
              <a:tailEnd type="triangle" w="med" len="med"/>
            </a:ln>
            <a:extLst>
              <a:ext uri="{909E8E84-426E-40DD-AFC4-6F175D3DCCD1}">
                <a14:hiddenFill xmlns:a14="http://schemas.microsoft.com/office/drawing/2010/main">
                  <a:noFill/>
                </a14:hiddenFill>
              </a:ext>
            </a:extLst>
          </p:spPr>
        </p:cxnSp>
      </p:gr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childTnLst>
                          </p:cTn>
                        </p:par>
                        <p:par>
                          <p:cTn id="8" fill="hold" nodeType="afterGroup">
                            <p:stCondLst>
                              <p:cond delay="500"/>
                            </p:stCondLst>
                            <p:childTnLst>
                              <p:par>
                                <p:cTn id="9" presetID="16" presetClass="entr" presetSubtype="21" fill="hold" nodeType="after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barn(inVertical)">
                                      <p:cBhvr>
                                        <p:cTn id="11" dur="500"/>
                                        <p:tgtEl>
                                          <p:spTgt spid="28"/>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42" presetClass="entr" presetSubtype="0" fill="hold" nodeType="click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1000"/>
                                        <p:tgtEl>
                                          <p:spTgt spid="3"/>
                                        </p:tgtEl>
                                      </p:cBhvr>
                                    </p:animEffect>
                                    <p:anim calcmode="lin" valueType="num">
                                      <p:cBhvr>
                                        <p:cTn id="17" dur="1000" fill="hold"/>
                                        <p:tgtEl>
                                          <p:spTgt spid="3"/>
                                        </p:tgtEl>
                                        <p:attrNameLst>
                                          <p:attrName>ppt_x</p:attrName>
                                        </p:attrNameLst>
                                      </p:cBhvr>
                                      <p:tavLst>
                                        <p:tav tm="0">
                                          <p:val>
                                            <p:strVal val="#ppt_x"/>
                                          </p:val>
                                        </p:tav>
                                        <p:tav tm="100000">
                                          <p:val>
                                            <p:strVal val="#ppt_x"/>
                                          </p:val>
                                        </p:tav>
                                      </p:tavLst>
                                    </p:anim>
                                    <p:anim calcmode="lin" valueType="num">
                                      <p:cBhvr>
                                        <p:cTn id="18"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42"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fade">
                                      <p:cBhvr>
                                        <p:cTn id="23" dur="1000"/>
                                        <p:tgtEl>
                                          <p:spTgt spid="4"/>
                                        </p:tgtEl>
                                      </p:cBhvr>
                                    </p:animEffect>
                                    <p:anim calcmode="lin" valueType="num">
                                      <p:cBhvr>
                                        <p:cTn id="24" dur="1000" fill="hold"/>
                                        <p:tgtEl>
                                          <p:spTgt spid="4"/>
                                        </p:tgtEl>
                                        <p:attrNameLst>
                                          <p:attrName>ppt_x</p:attrName>
                                        </p:attrNameLst>
                                      </p:cBhvr>
                                      <p:tavLst>
                                        <p:tav tm="0">
                                          <p:val>
                                            <p:strVal val="#ppt_x"/>
                                          </p:val>
                                        </p:tav>
                                        <p:tav tm="100000">
                                          <p:val>
                                            <p:strVal val="#ppt_x"/>
                                          </p:val>
                                        </p:tav>
                                      </p:tavLst>
                                    </p:anim>
                                    <p:anim calcmode="lin" valueType="num">
                                      <p:cBhvr>
                                        <p:cTn id="25"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2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 name="Picture 2">
            <a:extLst>
              <a:ext uri="{FF2B5EF4-FFF2-40B4-BE49-F238E27FC236}">
                <a16:creationId xmlns:a16="http://schemas.microsoft.com/office/drawing/2014/main" id="{3954669A-8FA7-3D21-4128-CDB52F06F0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5032"/>
          <a:stretch>
            <a:fillRect/>
          </a:stretch>
        </p:blipFill>
        <p:spPr bwMode="auto">
          <a:xfrm>
            <a:off x="546100" y="2432050"/>
            <a:ext cx="7194550" cy="3890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88E9E203-115D-C774-FA4C-5D9AD4F1B045}"/>
              </a:ext>
            </a:extLst>
          </p:cNvPr>
          <p:cNvSpPr>
            <a:spLocks noGrp="1"/>
          </p:cNvSpPr>
          <p:nvPr>
            <p:ph type="title"/>
          </p:nvPr>
        </p:nvSpPr>
        <p:spPr>
          <a:xfrm>
            <a:off x="457200" y="0"/>
            <a:ext cx="7620000" cy="1143000"/>
          </a:xfrm>
        </p:spPr>
        <p:txBody>
          <a:bodyPr/>
          <a:lstStyle/>
          <a:p>
            <a:pPr algn="ctr">
              <a:defRPr/>
            </a:pPr>
            <a:r>
              <a:rPr lang="en-US" dirty="0"/>
              <a:t>Database Security</a:t>
            </a:r>
            <a:endParaRPr lang="en-MY" dirty="0"/>
          </a:p>
        </p:txBody>
      </p:sp>
      <p:sp>
        <p:nvSpPr>
          <p:cNvPr id="13" name="Snip Single Corner Rectangle 12">
            <a:extLst>
              <a:ext uri="{FF2B5EF4-FFF2-40B4-BE49-F238E27FC236}">
                <a16:creationId xmlns:a16="http://schemas.microsoft.com/office/drawing/2014/main" id="{57645941-47FD-66AA-E26A-4E0F30F76626}"/>
              </a:ext>
            </a:extLst>
          </p:cNvPr>
          <p:cNvSpPr/>
          <p:nvPr/>
        </p:nvSpPr>
        <p:spPr>
          <a:xfrm>
            <a:off x="-36513" y="1125538"/>
            <a:ext cx="2879726" cy="400050"/>
          </a:xfrm>
          <a:prstGeom prst="snip1Rect">
            <a:avLst/>
          </a:prstGeom>
          <a:solidFill>
            <a:schemeClr val="accent3">
              <a:lumMod val="75000"/>
              <a:alpha val="70000"/>
            </a:schemeClr>
          </a:solidFill>
          <a:ln>
            <a:solidFill>
              <a:schemeClr val="accent3">
                <a:lumMod val="75000"/>
              </a:schemeClr>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marR="0" lvl="0" indent="-342900" algn="just" defTabSz="914400" rtl="0" eaLnBrk="1" fontAlgn="base" latinLnBrk="0" hangingPunct="1">
              <a:lnSpc>
                <a:spcPct val="100000"/>
              </a:lnSpc>
              <a:spcBef>
                <a:spcPct val="20000"/>
              </a:spcBef>
              <a:spcAft>
                <a:spcPct val="0"/>
              </a:spcAft>
              <a:buClr>
                <a:srgbClr val="FF6600"/>
              </a:buClr>
              <a:buSzPct val="100000"/>
              <a:buFontTx/>
              <a:buNone/>
              <a:tabLst/>
              <a:defRPr/>
            </a:pPr>
            <a:r>
              <a:rPr kumimoji="0" lang="en-US" sz="1800" b="0" i="0" u="none" strike="noStrike" kern="1200" cap="none" spc="0" normalizeH="0" baseline="0" noProof="0" dirty="0">
                <a:ln>
                  <a:noFill/>
                </a:ln>
                <a:solidFill>
                  <a:srgbClr val="FFFFFF"/>
                </a:solidFill>
                <a:effectLst/>
                <a:uLnTx/>
                <a:uFillTx/>
                <a:latin typeface="Arial" pitchFamily="34" charset="0"/>
                <a:ea typeface="Times New Roman" pitchFamily="18" charset="0"/>
                <a:cs typeface="Arial" pitchFamily="34" charset="0"/>
              </a:rPr>
              <a:t>Database Server Security</a:t>
            </a:r>
            <a:endParaRPr kumimoji="0" lang="en-GB" sz="1800" b="0" i="0" u="none" strike="noStrike" kern="0" cap="none" spc="0" normalizeH="0" baseline="0" noProof="0" dirty="0">
              <a:ln>
                <a:noFill/>
              </a:ln>
              <a:solidFill>
                <a:srgbClr val="2F2B20"/>
              </a:solidFill>
              <a:effectLst/>
              <a:uLnTx/>
              <a:uFillTx/>
              <a:latin typeface="Calibri"/>
              <a:ea typeface="+mn-ea"/>
              <a:cs typeface="+mn-cs"/>
            </a:endParaRPr>
          </a:p>
        </p:txBody>
      </p:sp>
      <p:sp>
        <p:nvSpPr>
          <p:cNvPr id="14" name="Content Placeholder 5">
            <a:extLst>
              <a:ext uri="{FF2B5EF4-FFF2-40B4-BE49-F238E27FC236}">
                <a16:creationId xmlns:a16="http://schemas.microsoft.com/office/drawing/2014/main" id="{E5415EB3-8FD0-B62C-5166-8F4B14FC4F49}"/>
              </a:ext>
            </a:extLst>
          </p:cNvPr>
          <p:cNvSpPr txBox="1">
            <a:spLocks/>
          </p:cNvSpPr>
          <p:nvPr/>
        </p:nvSpPr>
        <p:spPr bwMode="auto">
          <a:xfrm>
            <a:off x="227013" y="1857375"/>
            <a:ext cx="8713787"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“Schema Privileges” screen</a:t>
            </a: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grpSp>
        <p:nvGrpSpPr>
          <p:cNvPr id="3" name="Group 35">
            <a:extLst>
              <a:ext uri="{FF2B5EF4-FFF2-40B4-BE49-F238E27FC236}">
                <a16:creationId xmlns:a16="http://schemas.microsoft.com/office/drawing/2014/main" id="{6A54C204-DA31-181D-2F11-2C88B7DF1F89}"/>
              </a:ext>
            </a:extLst>
          </p:cNvPr>
          <p:cNvGrpSpPr>
            <a:grpSpLocks/>
          </p:cNvGrpSpPr>
          <p:nvPr/>
        </p:nvGrpSpPr>
        <p:grpSpPr bwMode="auto">
          <a:xfrm>
            <a:off x="3779838" y="3378200"/>
            <a:ext cx="2862262" cy="906463"/>
            <a:chOff x="2978432" y="1700273"/>
            <a:chExt cx="2862318" cy="906434"/>
          </a:xfrm>
        </p:grpSpPr>
        <p:sp>
          <p:nvSpPr>
            <p:cNvPr id="64522" name="Rectangle 36">
              <a:extLst>
                <a:ext uri="{FF2B5EF4-FFF2-40B4-BE49-F238E27FC236}">
                  <a16:creationId xmlns:a16="http://schemas.microsoft.com/office/drawing/2014/main" id="{ECE516DC-24D7-DB9C-3289-AC8CC170A457}"/>
                </a:ext>
              </a:extLst>
            </p:cNvPr>
            <p:cNvSpPr>
              <a:spLocks noChangeArrowheads="1"/>
            </p:cNvSpPr>
            <p:nvPr/>
          </p:nvSpPr>
          <p:spPr bwMode="auto">
            <a:xfrm>
              <a:off x="3698512" y="1700273"/>
              <a:ext cx="2142238" cy="906434"/>
            </a:xfrm>
            <a:prstGeom prst="rect">
              <a:avLst/>
            </a:prstGeom>
            <a:solidFill>
              <a:srgbClr val="525759"/>
            </a:solidFill>
            <a:ln w="9525" algn="ctr">
              <a:solidFill>
                <a:srgbClr val="525759"/>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DFDCB7"/>
                  </a:solidFill>
                  <a:effectLst/>
                  <a:uLnTx/>
                  <a:uFillTx/>
                  <a:latin typeface="Arial" panose="020B0604020202020204" pitchFamily="34" charset="0"/>
                  <a:ea typeface="+mn-ea"/>
                  <a:cs typeface="Arial" panose="020B0604020202020204" pitchFamily="34" charset="0"/>
                </a:rPr>
                <a:t>Configure which database each user can access</a:t>
              </a:r>
            </a:p>
          </p:txBody>
        </p:sp>
        <p:cxnSp>
          <p:nvCxnSpPr>
            <p:cNvPr id="64523" name="Straight Arrow Connector 37">
              <a:extLst>
                <a:ext uri="{FF2B5EF4-FFF2-40B4-BE49-F238E27FC236}">
                  <a16:creationId xmlns:a16="http://schemas.microsoft.com/office/drawing/2014/main" id="{D8797240-C37B-DD4F-B540-626F53B4E9CF}"/>
                </a:ext>
              </a:extLst>
            </p:cNvPr>
            <p:cNvCxnSpPr>
              <a:cxnSpLocks noChangeShapeType="1"/>
              <a:stCxn id="64522" idx="1"/>
            </p:cNvCxnSpPr>
            <p:nvPr/>
          </p:nvCxnSpPr>
          <p:spPr bwMode="auto">
            <a:xfrm flipH="1" flipV="1">
              <a:off x="2978432" y="1844289"/>
              <a:ext cx="720080" cy="309201"/>
            </a:xfrm>
            <a:prstGeom prst="straightConnector1">
              <a:avLst/>
            </a:prstGeom>
            <a:noFill/>
            <a:ln w="25400" algn="ctr">
              <a:solidFill>
                <a:srgbClr val="525759"/>
              </a:solidFill>
              <a:round/>
              <a:headEnd/>
              <a:tailEnd type="triangle" w="med" len="med"/>
            </a:ln>
            <a:extLst>
              <a:ext uri="{909E8E84-426E-40DD-AFC4-6F175D3DCCD1}">
                <a14:hiddenFill xmlns:a14="http://schemas.microsoft.com/office/drawing/2010/main">
                  <a:noFill/>
                </a14:hiddenFill>
              </a:ext>
            </a:extLst>
          </p:spPr>
        </p:cxnSp>
      </p:grpSp>
      <p:grpSp>
        <p:nvGrpSpPr>
          <p:cNvPr id="4" name="Group 38">
            <a:extLst>
              <a:ext uri="{FF2B5EF4-FFF2-40B4-BE49-F238E27FC236}">
                <a16:creationId xmlns:a16="http://schemas.microsoft.com/office/drawing/2014/main" id="{5EBFBF3E-2A0C-F9E1-B82E-D5E2D50D40B7}"/>
              </a:ext>
            </a:extLst>
          </p:cNvPr>
          <p:cNvGrpSpPr>
            <a:grpSpLocks/>
          </p:cNvGrpSpPr>
          <p:nvPr/>
        </p:nvGrpSpPr>
        <p:grpSpPr bwMode="auto">
          <a:xfrm>
            <a:off x="4624388" y="5013325"/>
            <a:ext cx="2862262" cy="920750"/>
            <a:chOff x="4554224" y="3360487"/>
            <a:chExt cx="2862318" cy="920913"/>
          </a:xfrm>
        </p:grpSpPr>
        <p:sp>
          <p:nvSpPr>
            <p:cNvPr id="64520" name="Rectangle 39">
              <a:extLst>
                <a:ext uri="{FF2B5EF4-FFF2-40B4-BE49-F238E27FC236}">
                  <a16:creationId xmlns:a16="http://schemas.microsoft.com/office/drawing/2014/main" id="{52BB0E22-A6BD-352E-0D3B-7FE3B2148D90}"/>
                </a:ext>
              </a:extLst>
            </p:cNvPr>
            <p:cNvSpPr>
              <a:spLocks noChangeArrowheads="1"/>
            </p:cNvSpPr>
            <p:nvPr/>
          </p:nvSpPr>
          <p:spPr bwMode="auto">
            <a:xfrm>
              <a:off x="5274304" y="3360487"/>
              <a:ext cx="2142238" cy="920913"/>
            </a:xfrm>
            <a:prstGeom prst="rect">
              <a:avLst/>
            </a:prstGeom>
            <a:solidFill>
              <a:srgbClr val="525759"/>
            </a:solidFill>
            <a:ln w="9525" algn="ctr">
              <a:solidFill>
                <a:srgbClr val="525759"/>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DFDCB7"/>
                  </a:solidFill>
                  <a:effectLst/>
                  <a:uLnTx/>
                  <a:uFillTx/>
                  <a:latin typeface="Arial" panose="020B0604020202020204" pitchFamily="34" charset="0"/>
                  <a:ea typeface="+mn-ea"/>
                  <a:cs typeface="Arial" panose="020B0604020202020204" pitchFamily="34" charset="0"/>
                </a:rPr>
                <a:t>Configure the SQL that each user can execute</a:t>
              </a:r>
            </a:p>
          </p:txBody>
        </p:sp>
        <p:cxnSp>
          <p:nvCxnSpPr>
            <p:cNvPr id="64521" name="Straight Arrow Connector 40">
              <a:extLst>
                <a:ext uri="{FF2B5EF4-FFF2-40B4-BE49-F238E27FC236}">
                  <a16:creationId xmlns:a16="http://schemas.microsoft.com/office/drawing/2014/main" id="{FAE5AF8C-F99B-C1D4-5414-1392DA07377C}"/>
                </a:ext>
              </a:extLst>
            </p:cNvPr>
            <p:cNvCxnSpPr>
              <a:cxnSpLocks noChangeShapeType="1"/>
              <a:stCxn id="64520" idx="1"/>
            </p:cNvCxnSpPr>
            <p:nvPr/>
          </p:nvCxnSpPr>
          <p:spPr bwMode="auto">
            <a:xfrm flipH="1" flipV="1">
              <a:off x="4554224" y="3518984"/>
              <a:ext cx="720080" cy="301960"/>
            </a:xfrm>
            <a:prstGeom prst="straightConnector1">
              <a:avLst/>
            </a:prstGeom>
            <a:noFill/>
            <a:ln w="25400" algn="ctr">
              <a:solidFill>
                <a:srgbClr val="525759"/>
              </a:solidFill>
              <a:round/>
              <a:headEnd/>
              <a:tailEnd type="triangle" w="med" len="med"/>
            </a:ln>
            <a:extLst>
              <a:ext uri="{909E8E84-426E-40DD-AFC4-6F175D3DCCD1}">
                <a14:hiddenFill xmlns:a14="http://schemas.microsoft.com/office/drawing/2010/main">
                  <a:noFill/>
                </a14:hiddenFill>
              </a:ext>
            </a:extLst>
          </p:spPr>
        </p:cxnSp>
      </p:gr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childTnLst>
                          </p:cTn>
                        </p:par>
                        <p:par>
                          <p:cTn id="8" fill="hold" nodeType="afterGroup">
                            <p:stCondLst>
                              <p:cond delay="500"/>
                            </p:stCondLst>
                            <p:childTnLst>
                              <p:par>
                                <p:cTn id="9" presetID="16" presetClass="entr" presetSubtype="21" fill="hold" nodeType="afterEffect">
                                  <p:stCondLst>
                                    <p:cond delay="0"/>
                                  </p:stCondLst>
                                  <p:childTnLst>
                                    <p:set>
                                      <p:cBhvr>
                                        <p:cTn id="10" dur="1" fill="hold">
                                          <p:stCondLst>
                                            <p:cond delay="0"/>
                                          </p:stCondLst>
                                        </p:cTn>
                                        <p:tgtEl>
                                          <p:spTgt spid="29"/>
                                        </p:tgtEl>
                                        <p:attrNameLst>
                                          <p:attrName>style.visibility</p:attrName>
                                        </p:attrNameLst>
                                      </p:cBhvr>
                                      <p:to>
                                        <p:strVal val="visible"/>
                                      </p:to>
                                    </p:set>
                                    <p:animEffect transition="in" filter="barn(inVertical)">
                                      <p:cBhvr>
                                        <p:cTn id="11" dur="500"/>
                                        <p:tgtEl>
                                          <p:spTgt spid="29"/>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42" presetClass="entr" presetSubtype="0" fill="hold" nodeType="click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1000"/>
                                        <p:tgtEl>
                                          <p:spTgt spid="3"/>
                                        </p:tgtEl>
                                      </p:cBhvr>
                                    </p:animEffect>
                                    <p:anim calcmode="lin" valueType="num">
                                      <p:cBhvr>
                                        <p:cTn id="17" dur="1000" fill="hold"/>
                                        <p:tgtEl>
                                          <p:spTgt spid="3"/>
                                        </p:tgtEl>
                                        <p:attrNameLst>
                                          <p:attrName>ppt_x</p:attrName>
                                        </p:attrNameLst>
                                      </p:cBhvr>
                                      <p:tavLst>
                                        <p:tav tm="0">
                                          <p:val>
                                            <p:strVal val="#ppt_x"/>
                                          </p:val>
                                        </p:tav>
                                        <p:tav tm="100000">
                                          <p:val>
                                            <p:strVal val="#ppt_x"/>
                                          </p:val>
                                        </p:tav>
                                      </p:tavLst>
                                    </p:anim>
                                    <p:anim calcmode="lin" valueType="num">
                                      <p:cBhvr>
                                        <p:cTn id="18"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42"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fade">
                                      <p:cBhvr>
                                        <p:cTn id="23" dur="1000"/>
                                        <p:tgtEl>
                                          <p:spTgt spid="4"/>
                                        </p:tgtEl>
                                      </p:cBhvr>
                                    </p:animEffect>
                                    <p:anim calcmode="lin" valueType="num">
                                      <p:cBhvr>
                                        <p:cTn id="24" dur="1000" fill="hold"/>
                                        <p:tgtEl>
                                          <p:spTgt spid="4"/>
                                        </p:tgtEl>
                                        <p:attrNameLst>
                                          <p:attrName>ppt_x</p:attrName>
                                        </p:attrNameLst>
                                      </p:cBhvr>
                                      <p:tavLst>
                                        <p:tav tm="0">
                                          <p:val>
                                            <p:strVal val="#ppt_x"/>
                                          </p:val>
                                        </p:tav>
                                        <p:tav tm="100000">
                                          <p:val>
                                            <p:strVal val="#ppt_x"/>
                                          </p:val>
                                        </p:tav>
                                      </p:tavLst>
                                    </p:anim>
                                    <p:anim calcmode="lin" valueType="num">
                                      <p:cBhvr>
                                        <p:cTn id="25"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2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29785C-76EF-8266-CD26-82BF252600D5}"/>
              </a:ext>
            </a:extLst>
          </p:cNvPr>
          <p:cNvSpPr>
            <a:spLocks noGrp="1"/>
          </p:cNvSpPr>
          <p:nvPr>
            <p:ph type="title"/>
          </p:nvPr>
        </p:nvSpPr>
        <p:spPr>
          <a:xfrm>
            <a:off x="457200" y="0"/>
            <a:ext cx="7620000" cy="1143000"/>
          </a:xfrm>
        </p:spPr>
        <p:txBody>
          <a:bodyPr/>
          <a:lstStyle/>
          <a:p>
            <a:pPr algn="ctr">
              <a:defRPr/>
            </a:pPr>
            <a:r>
              <a:rPr lang="en-US" dirty="0"/>
              <a:t>Database Security</a:t>
            </a:r>
            <a:endParaRPr lang="en-MY" dirty="0"/>
          </a:p>
        </p:txBody>
      </p:sp>
      <p:sp>
        <p:nvSpPr>
          <p:cNvPr id="21" name="TextBox 20">
            <a:extLst>
              <a:ext uri="{FF2B5EF4-FFF2-40B4-BE49-F238E27FC236}">
                <a16:creationId xmlns:a16="http://schemas.microsoft.com/office/drawing/2014/main" id="{ADAD76F6-6E83-09DF-2FEC-6CD54BF3D0DE}"/>
              </a:ext>
            </a:extLst>
          </p:cNvPr>
          <p:cNvSpPr txBox="1"/>
          <p:nvPr/>
        </p:nvSpPr>
        <p:spPr>
          <a:xfrm>
            <a:off x="1749425" y="5973763"/>
            <a:ext cx="955675" cy="274637"/>
          </a:xfrm>
          <a:prstGeom prst="rect">
            <a:avLst/>
          </a:prstGeom>
          <a:noFill/>
        </p:spPr>
        <p:txBody>
          <a:bodyPr>
            <a:spAutoFit/>
          </a:bodyPr>
          <a:lstStyle/>
          <a:p>
            <a:pPr marL="0" marR="0" lvl="0" indent="0" algn="ctr" defTabSz="914400" rtl="0" eaLnBrk="0" fontAlgn="base" latinLnBrk="0" hangingPunct="0">
              <a:lnSpc>
                <a:spcPts val="1600"/>
              </a:lnSpc>
              <a:spcBef>
                <a:spcPct val="0"/>
              </a:spcBef>
              <a:spcAft>
                <a:spcPct val="0"/>
              </a:spcAft>
              <a:buClrTx/>
              <a:buSzTx/>
              <a:buFontTx/>
              <a:buNone/>
              <a:tabLst/>
              <a:defRPr/>
            </a:pPr>
            <a:r>
              <a:rPr kumimoji="0" lang="en-US" sz="1000" b="0" i="1" u="none" strike="noStrike" kern="1200" cap="none" spc="0" normalizeH="0" baseline="0" noProof="0" dirty="0">
                <a:ln>
                  <a:noFill/>
                </a:ln>
                <a:solidFill>
                  <a:srgbClr val="FFFFFF">
                    <a:lumMod val="50000"/>
                  </a:srgbClr>
                </a:solidFill>
                <a:effectLst/>
                <a:uLnTx/>
                <a:uFillTx/>
                <a:latin typeface="Arial" panose="020B0604020202020204" pitchFamily="34" charset="0"/>
                <a:ea typeface="+mn-ea"/>
                <a:cs typeface="Arial" panose="020B0604020202020204" pitchFamily="34" charset="0"/>
              </a:rPr>
              <a:t>Figure 13</a:t>
            </a:r>
            <a:endParaRPr kumimoji="0" lang="en-MY" sz="1000" b="0" i="1" u="none" strike="noStrike" kern="1200" cap="none" spc="0" normalizeH="0" baseline="0" noProof="0" dirty="0">
              <a:ln>
                <a:noFill/>
              </a:ln>
              <a:solidFill>
                <a:srgbClr val="FFFFFF">
                  <a:lumMod val="50000"/>
                </a:srgbClr>
              </a:solidFill>
              <a:effectLst/>
              <a:uLnTx/>
              <a:uFillTx/>
              <a:latin typeface="Trebuchet MS" pitchFamily="34" charset="0"/>
              <a:ea typeface="+mn-ea"/>
              <a:cs typeface="Arial" panose="020B0604020202020204" pitchFamily="34" charset="0"/>
            </a:endParaRPr>
          </a:p>
        </p:txBody>
      </p:sp>
      <p:sp>
        <p:nvSpPr>
          <p:cNvPr id="13" name="Snip Single Corner Rectangle 12">
            <a:extLst>
              <a:ext uri="{FF2B5EF4-FFF2-40B4-BE49-F238E27FC236}">
                <a16:creationId xmlns:a16="http://schemas.microsoft.com/office/drawing/2014/main" id="{8035C4B8-A7E0-C626-B55F-A59C0534914E}"/>
              </a:ext>
            </a:extLst>
          </p:cNvPr>
          <p:cNvSpPr/>
          <p:nvPr/>
        </p:nvSpPr>
        <p:spPr>
          <a:xfrm>
            <a:off x="-36513" y="1125538"/>
            <a:ext cx="2879726" cy="400050"/>
          </a:xfrm>
          <a:prstGeom prst="snip1Rect">
            <a:avLst/>
          </a:prstGeom>
          <a:solidFill>
            <a:schemeClr val="accent3">
              <a:lumMod val="75000"/>
              <a:alpha val="70000"/>
            </a:schemeClr>
          </a:solidFill>
          <a:ln>
            <a:solidFill>
              <a:schemeClr val="accent3">
                <a:lumMod val="75000"/>
              </a:schemeClr>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marR="0" lvl="0" indent="-342900" algn="just" defTabSz="914400" rtl="0" eaLnBrk="1" fontAlgn="base" latinLnBrk="0" hangingPunct="1">
              <a:lnSpc>
                <a:spcPct val="100000"/>
              </a:lnSpc>
              <a:spcBef>
                <a:spcPct val="20000"/>
              </a:spcBef>
              <a:spcAft>
                <a:spcPct val="0"/>
              </a:spcAft>
              <a:buClr>
                <a:srgbClr val="FF6600"/>
              </a:buClr>
              <a:buSzPct val="100000"/>
              <a:buFontTx/>
              <a:buNone/>
              <a:tabLst/>
              <a:defRPr/>
            </a:pPr>
            <a:r>
              <a:rPr kumimoji="0" lang="en-US" sz="1800" b="0" i="0" u="none" strike="noStrike" kern="1200" cap="none" spc="0" normalizeH="0" baseline="0" noProof="0" dirty="0">
                <a:ln>
                  <a:noFill/>
                </a:ln>
                <a:solidFill>
                  <a:srgbClr val="FFFFFF"/>
                </a:solidFill>
                <a:effectLst/>
                <a:uLnTx/>
                <a:uFillTx/>
                <a:latin typeface="Arial" pitchFamily="34" charset="0"/>
                <a:ea typeface="Times New Roman" pitchFamily="18" charset="0"/>
                <a:cs typeface="Arial" pitchFamily="34" charset="0"/>
              </a:rPr>
              <a:t>Database Server Security</a:t>
            </a:r>
            <a:endParaRPr kumimoji="0" lang="en-GB" sz="1800" b="0" i="0" u="none" strike="noStrike" kern="0" cap="none" spc="0" normalizeH="0" baseline="0" noProof="0" dirty="0">
              <a:ln>
                <a:noFill/>
              </a:ln>
              <a:solidFill>
                <a:srgbClr val="2F2B20"/>
              </a:solidFill>
              <a:effectLst/>
              <a:uLnTx/>
              <a:uFillTx/>
              <a:latin typeface="Calibri"/>
              <a:ea typeface="+mn-ea"/>
              <a:cs typeface="+mn-cs"/>
            </a:endParaRPr>
          </a:p>
        </p:txBody>
      </p:sp>
      <p:sp>
        <p:nvSpPr>
          <p:cNvPr id="14" name="Content Placeholder 5">
            <a:extLst>
              <a:ext uri="{FF2B5EF4-FFF2-40B4-BE49-F238E27FC236}">
                <a16:creationId xmlns:a16="http://schemas.microsoft.com/office/drawing/2014/main" id="{F8E42CDE-313B-5E5A-77C7-90F438737C89}"/>
              </a:ext>
            </a:extLst>
          </p:cNvPr>
          <p:cNvSpPr txBox="1">
            <a:spLocks/>
          </p:cNvSpPr>
          <p:nvPr/>
        </p:nvSpPr>
        <p:spPr bwMode="auto">
          <a:xfrm>
            <a:off x="227013" y="1857375"/>
            <a:ext cx="7926387"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What about the “root” user account that we have been using so far to login to MySQL?</a:t>
            </a:r>
            <a:endPar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pic>
        <p:nvPicPr>
          <p:cNvPr id="32" name="Picture 31">
            <a:extLst>
              <a:ext uri="{FF2B5EF4-FFF2-40B4-BE49-F238E27FC236}">
                <a16:creationId xmlns:a16="http://schemas.microsoft.com/office/drawing/2014/main" id="{3AC9D10B-1F7A-CEA9-1378-277282531A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966"/>
          <a:stretch>
            <a:fillRect/>
          </a:stretch>
        </p:blipFill>
        <p:spPr bwMode="auto">
          <a:xfrm>
            <a:off x="1116013" y="2924175"/>
            <a:ext cx="6659562" cy="338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 name="Group 32">
            <a:extLst>
              <a:ext uri="{FF2B5EF4-FFF2-40B4-BE49-F238E27FC236}">
                <a16:creationId xmlns:a16="http://schemas.microsoft.com/office/drawing/2014/main" id="{9AF41630-3AE2-D032-4C6F-ADDB833D0003}"/>
              </a:ext>
            </a:extLst>
          </p:cNvPr>
          <p:cNvGrpSpPr>
            <a:grpSpLocks/>
          </p:cNvGrpSpPr>
          <p:nvPr/>
        </p:nvGrpSpPr>
        <p:grpSpPr bwMode="auto">
          <a:xfrm>
            <a:off x="2528888" y="3429000"/>
            <a:ext cx="5067300" cy="2663825"/>
            <a:chOff x="3376779" y="218070"/>
            <a:chExt cx="5207925" cy="2664586"/>
          </a:xfrm>
        </p:grpSpPr>
        <p:sp>
          <p:nvSpPr>
            <p:cNvPr id="34" name="Rectangle 33">
              <a:extLst>
                <a:ext uri="{FF2B5EF4-FFF2-40B4-BE49-F238E27FC236}">
                  <a16:creationId xmlns:a16="http://schemas.microsoft.com/office/drawing/2014/main" id="{39DDCF1C-C1C9-E897-C8A4-E409930446BF}"/>
                </a:ext>
              </a:extLst>
            </p:cNvPr>
            <p:cNvSpPr/>
            <p:nvPr/>
          </p:nvSpPr>
          <p:spPr bwMode="auto">
            <a:xfrm>
              <a:off x="4096294" y="218070"/>
              <a:ext cx="4488410" cy="2664586"/>
            </a:xfrm>
            <a:prstGeom prst="rect">
              <a:avLst/>
            </a:prstGeom>
            <a:solidFill>
              <a:srgbClr val="525759"/>
            </a:solidFill>
            <a:ln w="9525" cap="flat" cmpd="sng" algn="ctr">
              <a:solidFill>
                <a:srgbClr val="525759"/>
              </a:solidFill>
              <a:prstDash val="solid"/>
              <a:round/>
              <a:headEnd type="none" w="med" len="med"/>
              <a:tailEnd type="none" w="med" len="me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1800" b="0" i="0" u="none" strike="noStrike" kern="1200" cap="none" spc="0" normalizeH="0" baseline="0" noProof="0" dirty="0">
                  <a:ln>
                    <a:noFill/>
                  </a:ln>
                  <a:solidFill>
                    <a:srgbClr val="DFDCB7"/>
                  </a:solidFill>
                  <a:effectLst/>
                  <a:uLnTx/>
                  <a:uFillTx/>
                  <a:latin typeface="Arial" charset="0"/>
                  <a:ea typeface="+mn-ea"/>
                  <a:cs typeface="Arial" panose="020B0604020202020204" pitchFamily="34" charset="0"/>
                </a:rPr>
                <a:t>A root account is a special user account that is automatically created for you during MySQL installation </a:t>
              </a:r>
            </a:p>
            <a:p>
              <a:pPr marL="530225" marR="0" lvl="1" indent="-285750" algn="l" defTabSz="914400" rtl="0" eaLnBrk="0" fontAlgn="base" latinLnBrk="0" hangingPunct="0">
                <a:lnSpc>
                  <a:spcPct val="100000"/>
                </a:lnSpc>
                <a:spcBef>
                  <a:spcPct val="0"/>
                </a:spcBef>
                <a:spcAft>
                  <a:spcPct val="0"/>
                </a:spcAft>
                <a:buClrTx/>
                <a:buSzTx/>
                <a:buFont typeface="Arial" pitchFamily="34" charset="0"/>
                <a:buChar char="•"/>
                <a:tabLst/>
                <a:defRPr/>
              </a:pPr>
              <a:r>
                <a:rPr kumimoji="0" lang="en-CA" sz="1800" b="0" i="0" u="none" strike="noStrike" kern="1200" cap="none" spc="0" normalizeH="0" baseline="0" noProof="0" dirty="0">
                  <a:ln>
                    <a:noFill/>
                  </a:ln>
                  <a:solidFill>
                    <a:srgbClr val="DFDCB7"/>
                  </a:solidFill>
                  <a:effectLst/>
                  <a:uLnTx/>
                  <a:uFillTx/>
                  <a:latin typeface="Arial" panose="020B0604020202020204" pitchFamily="34" charset="0"/>
                  <a:ea typeface="+mn-ea"/>
                  <a:cs typeface="Arial" panose="020B0604020202020204" pitchFamily="34" charset="0"/>
                </a:rPr>
                <a:t>It is the </a:t>
              </a:r>
              <a:r>
                <a:rPr kumimoji="0" lang="en-CA" sz="1800" b="1" i="0" u="none" strike="noStrike" kern="1200" cap="none" spc="0" normalizeH="0" baseline="0" noProof="0" dirty="0">
                  <a:ln>
                    <a:noFill/>
                  </a:ln>
                  <a:solidFill>
                    <a:srgbClr val="DFDCB7"/>
                  </a:solidFill>
                  <a:effectLst/>
                  <a:uLnTx/>
                  <a:uFillTx/>
                  <a:latin typeface="Arial" panose="020B0604020202020204" pitchFamily="34" charset="0"/>
                  <a:ea typeface="+mn-ea"/>
                  <a:cs typeface="Arial" panose="020B0604020202020204" pitchFamily="34" charset="0"/>
                </a:rPr>
                <a:t>most privileged </a:t>
              </a:r>
              <a:r>
                <a:rPr kumimoji="0" lang="en-CA" sz="1800" b="0" i="0" u="none" strike="noStrike" kern="1200" cap="none" spc="0" normalizeH="0" baseline="0" noProof="0" dirty="0">
                  <a:ln>
                    <a:noFill/>
                  </a:ln>
                  <a:solidFill>
                    <a:srgbClr val="DFDCB7"/>
                  </a:solidFill>
                  <a:effectLst/>
                  <a:uLnTx/>
                  <a:uFillTx/>
                  <a:latin typeface="Arial" panose="020B0604020202020204" pitchFamily="34" charset="0"/>
                  <a:ea typeface="+mn-ea"/>
                  <a:cs typeface="Arial" panose="020B0604020202020204" pitchFamily="34" charset="0"/>
                </a:rPr>
                <a:t>account as there is no restriction placed on the account</a:t>
              </a:r>
            </a:p>
            <a:p>
              <a:pPr marL="530225" marR="0" lvl="1" indent="-285750" algn="l" defTabSz="914400" rtl="0" eaLnBrk="0" fontAlgn="base" latinLnBrk="0" hangingPunct="0">
                <a:lnSpc>
                  <a:spcPct val="100000"/>
                </a:lnSpc>
                <a:spcBef>
                  <a:spcPct val="0"/>
                </a:spcBef>
                <a:spcAft>
                  <a:spcPct val="0"/>
                </a:spcAft>
                <a:buClrTx/>
                <a:buSzTx/>
                <a:buFont typeface="Arial" pitchFamily="34" charset="0"/>
                <a:buChar char="•"/>
                <a:tabLst/>
                <a:defRPr/>
              </a:pPr>
              <a:r>
                <a:rPr kumimoji="0" lang="en-CA" sz="1800" b="0" i="0" u="none" strike="noStrike" kern="1200" cap="none" spc="0" normalizeH="0" baseline="0" noProof="0" dirty="0">
                  <a:ln>
                    <a:noFill/>
                  </a:ln>
                  <a:solidFill>
                    <a:srgbClr val="DFDCB7"/>
                  </a:solidFill>
                  <a:effectLst/>
                  <a:uLnTx/>
                  <a:uFillTx/>
                  <a:latin typeface="Arial" panose="020B0604020202020204" pitchFamily="34" charset="0"/>
                  <a:ea typeface="+mn-ea"/>
                  <a:cs typeface="Arial" panose="020B0604020202020204" pitchFamily="34" charset="0"/>
                </a:rPr>
                <a:t>You should use the root account to create more restricted user accounts for daily use</a:t>
              </a:r>
            </a:p>
            <a:p>
              <a:pPr marL="742950" marR="0" lvl="1" indent="-285750" algn="l" defTabSz="914400" rtl="0" eaLnBrk="0" fontAlgn="base" latinLnBrk="0" hangingPunct="0">
                <a:lnSpc>
                  <a:spcPct val="100000"/>
                </a:lnSpc>
                <a:spcBef>
                  <a:spcPct val="0"/>
                </a:spcBef>
                <a:spcAft>
                  <a:spcPct val="0"/>
                </a:spcAft>
                <a:buClrTx/>
                <a:buSzTx/>
                <a:buFont typeface="Arial" pitchFamily="34" charset="0"/>
                <a:buChar char="•"/>
                <a:tabLst/>
                <a:defRPr/>
              </a:pPr>
              <a:endParaRPr kumimoji="0" lang="en-CA" sz="1800" b="0" i="0" u="none" strike="noStrike" kern="1200" cap="none" spc="0" normalizeH="0" baseline="0" noProof="0" dirty="0">
                <a:ln>
                  <a:noFill/>
                </a:ln>
                <a:solidFill>
                  <a:srgbClr val="DFDCB7"/>
                </a:solidFill>
                <a:effectLst/>
                <a:uLnTx/>
                <a:uFillTx/>
                <a:latin typeface="Arial" panose="020B0604020202020204" pitchFamily="34" charset="0"/>
                <a:ea typeface="+mn-ea"/>
                <a:cs typeface="Arial" panose="020B0604020202020204" pitchFamily="34" charset="0"/>
              </a:endParaRPr>
            </a:p>
          </p:txBody>
        </p:sp>
        <p:cxnSp>
          <p:nvCxnSpPr>
            <p:cNvPr id="65545" name="Straight Arrow Connector 34">
              <a:extLst>
                <a:ext uri="{FF2B5EF4-FFF2-40B4-BE49-F238E27FC236}">
                  <a16:creationId xmlns:a16="http://schemas.microsoft.com/office/drawing/2014/main" id="{47CB3626-EF75-2AF6-E157-19998418BC54}"/>
                </a:ext>
              </a:extLst>
            </p:cNvPr>
            <p:cNvCxnSpPr>
              <a:cxnSpLocks noChangeShapeType="1"/>
              <a:stCxn id="34" idx="1"/>
            </p:cNvCxnSpPr>
            <p:nvPr/>
          </p:nvCxnSpPr>
          <p:spPr bwMode="auto">
            <a:xfrm flipH="1">
              <a:off x="3376779" y="1550363"/>
              <a:ext cx="720078" cy="179875"/>
            </a:xfrm>
            <a:prstGeom prst="straightConnector1">
              <a:avLst/>
            </a:prstGeom>
            <a:noFill/>
            <a:ln w="25400" algn="ctr">
              <a:solidFill>
                <a:srgbClr val="525759"/>
              </a:solidFill>
              <a:round/>
              <a:headEnd/>
              <a:tailEnd type="triangle" w="med" len="med"/>
            </a:ln>
            <a:extLst>
              <a:ext uri="{909E8E84-426E-40DD-AFC4-6F175D3DCCD1}">
                <a14:hiddenFill xmlns:a14="http://schemas.microsoft.com/office/drawing/2010/main">
                  <a:noFill/>
                </a14:hiddenFill>
              </a:ext>
            </a:extLst>
          </p:spPr>
        </p:cxnSp>
      </p:gr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childTnLst>
                          </p:cTn>
                        </p:par>
                        <p:par>
                          <p:cTn id="8" fill="hold" nodeType="afterGroup">
                            <p:stCondLst>
                              <p:cond delay="500"/>
                            </p:stCondLst>
                            <p:childTnLst>
                              <p:par>
                                <p:cTn id="9" presetID="16" presetClass="entr" presetSubtype="21" fill="hold" nodeType="afterEffect">
                                  <p:stCondLst>
                                    <p:cond delay="0"/>
                                  </p:stCondLst>
                                  <p:childTnLst>
                                    <p:set>
                                      <p:cBhvr>
                                        <p:cTn id="10" dur="1" fill="hold">
                                          <p:stCondLst>
                                            <p:cond delay="0"/>
                                          </p:stCondLst>
                                        </p:cTn>
                                        <p:tgtEl>
                                          <p:spTgt spid="32"/>
                                        </p:tgtEl>
                                        <p:attrNameLst>
                                          <p:attrName>style.visibility</p:attrName>
                                        </p:attrNameLst>
                                      </p:cBhvr>
                                      <p:to>
                                        <p:strVal val="visible"/>
                                      </p:to>
                                    </p:set>
                                    <p:animEffect transition="in" filter="barn(inVertical)">
                                      <p:cBhvr>
                                        <p:cTn id="11" dur="500"/>
                                        <p:tgtEl>
                                          <p:spTgt spid="32"/>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42" presetClass="entr" presetSubtype="0" fill="hold" nodeType="click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1000"/>
                                        <p:tgtEl>
                                          <p:spTgt spid="3"/>
                                        </p:tgtEl>
                                      </p:cBhvr>
                                    </p:animEffect>
                                    <p:anim calcmode="lin" valueType="num">
                                      <p:cBhvr>
                                        <p:cTn id="17" dur="1000" fill="hold"/>
                                        <p:tgtEl>
                                          <p:spTgt spid="3"/>
                                        </p:tgtEl>
                                        <p:attrNameLst>
                                          <p:attrName>ppt_x</p:attrName>
                                        </p:attrNameLst>
                                      </p:cBhvr>
                                      <p:tavLst>
                                        <p:tav tm="0">
                                          <p:val>
                                            <p:strVal val="#ppt_x"/>
                                          </p:val>
                                        </p:tav>
                                        <p:tav tm="100000">
                                          <p:val>
                                            <p:strVal val="#ppt_x"/>
                                          </p:val>
                                        </p:tav>
                                      </p:tavLst>
                                    </p:anim>
                                    <p:anim calcmode="lin" valueType="num">
                                      <p:cBhvr>
                                        <p:cTn id="18"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3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01448-3C31-1224-7A36-651E92EAD9E9}"/>
              </a:ext>
            </a:extLst>
          </p:cNvPr>
          <p:cNvSpPr>
            <a:spLocks noGrp="1"/>
          </p:cNvSpPr>
          <p:nvPr>
            <p:ph type="title"/>
          </p:nvPr>
        </p:nvSpPr>
        <p:spPr>
          <a:xfrm>
            <a:off x="457200" y="0"/>
            <a:ext cx="7620000" cy="1143000"/>
          </a:xfrm>
        </p:spPr>
        <p:txBody>
          <a:bodyPr/>
          <a:lstStyle/>
          <a:p>
            <a:pPr algn="ctr">
              <a:defRPr/>
            </a:pPr>
            <a:r>
              <a:rPr lang="en-US" dirty="0"/>
              <a:t>Database Backup</a:t>
            </a:r>
            <a:endParaRPr lang="en-MY" dirty="0"/>
          </a:p>
        </p:txBody>
      </p:sp>
      <p:sp>
        <p:nvSpPr>
          <p:cNvPr id="4" name="Rounded Rectangle 3">
            <a:extLst>
              <a:ext uri="{FF2B5EF4-FFF2-40B4-BE49-F238E27FC236}">
                <a16:creationId xmlns:a16="http://schemas.microsoft.com/office/drawing/2014/main" id="{FD5FE1FD-757C-B034-772C-CF9686843430}"/>
              </a:ext>
            </a:extLst>
          </p:cNvPr>
          <p:cNvSpPr>
            <a:spLocks noChangeArrowheads="1"/>
          </p:cNvSpPr>
          <p:nvPr/>
        </p:nvSpPr>
        <p:spPr bwMode="auto">
          <a:xfrm>
            <a:off x="139700" y="1412875"/>
            <a:ext cx="8208963" cy="2160588"/>
          </a:xfrm>
          <a:prstGeom prst="roundRect">
            <a:avLst>
              <a:gd name="adj" fmla="val 16667"/>
            </a:avLst>
          </a:prstGeom>
          <a:solidFill>
            <a:srgbClr val="7F7B00">
              <a:alpha val="30196"/>
            </a:srgbClr>
          </a:solidFill>
          <a:ln w="9525" algn="ctr">
            <a:solidFill>
              <a:srgbClr val="7F7B00"/>
            </a:solidFill>
            <a:round/>
            <a:headEnd/>
            <a:tailEnd/>
          </a:ln>
        </p:spPr>
        <p:txBody>
          <a:bodyPr anchor="ctr" anchorCtr="1"/>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32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Database backup is the process of making a complete secondary copy of a database for the purpose of recovering the database following a disaster</a:t>
            </a:r>
          </a:p>
        </p:txBody>
      </p:sp>
      <p:sp>
        <p:nvSpPr>
          <p:cNvPr id="6" name="Content Placeholder 2">
            <a:extLst>
              <a:ext uri="{FF2B5EF4-FFF2-40B4-BE49-F238E27FC236}">
                <a16:creationId xmlns:a16="http://schemas.microsoft.com/office/drawing/2014/main" id="{089C7C8B-B054-219F-6578-C74276B0554A}"/>
              </a:ext>
            </a:extLst>
          </p:cNvPr>
          <p:cNvSpPr txBox="1">
            <a:spLocks/>
          </p:cNvSpPr>
          <p:nvPr/>
        </p:nvSpPr>
        <p:spPr bwMode="auto">
          <a:xfrm>
            <a:off x="198438" y="4005263"/>
            <a:ext cx="8640762" cy="2376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As a DBA, you should know the two forms of backup</a:t>
            </a:r>
          </a:p>
        </p:txBody>
      </p:sp>
      <p:sp>
        <p:nvSpPr>
          <p:cNvPr id="13" name="Freeform 12">
            <a:hlinkClick r:id="rId2" action="ppaction://hlinksldjump"/>
            <a:extLst>
              <a:ext uri="{FF2B5EF4-FFF2-40B4-BE49-F238E27FC236}">
                <a16:creationId xmlns:a16="http://schemas.microsoft.com/office/drawing/2014/main" id="{C3155C0E-D464-9CA7-9E9D-44CB2A14EA6E}"/>
              </a:ext>
            </a:extLst>
          </p:cNvPr>
          <p:cNvSpPr/>
          <p:nvPr/>
        </p:nvSpPr>
        <p:spPr>
          <a:xfrm>
            <a:off x="1491636" y="4581128"/>
            <a:ext cx="2459804" cy="1584176"/>
          </a:xfrm>
          <a:custGeom>
            <a:avLst/>
            <a:gdLst>
              <a:gd name="connsiteX0" fmla="*/ 0 w 2236185"/>
              <a:gd name="connsiteY0" fmla="*/ 0 h 1341711"/>
              <a:gd name="connsiteX1" fmla="*/ 2236185 w 2236185"/>
              <a:gd name="connsiteY1" fmla="*/ 0 h 1341711"/>
              <a:gd name="connsiteX2" fmla="*/ 2236185 w 2236185"/>
              <a:gd name="connsiteY2" fmla="*/ 1341711 h 1341711"/>
              <a:gd name="connsiteX3" fmla="*/ 0 w 2236185"/>
              <a:gd name="connsiteY3" fmla="*/ 1341711 h 1341711"/>
              <a:gd name="connsiteX4" fmla="*/ 0 w 2236185"/>
              <a:gd name="connsiteY4" fmla="*/ 0 h 1341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6185" h="1341711">
                <a:moveTo>
                  <a:pt x="0" y="0"/>
                </a:moveTo>
                <a:lnTo>
                  <a:pt x="2236185" y="0"/>
                </a:lnTo>
                <a:lnTo>
                  <a:pt x="2236185" y="1341711"/>
                </a:lnTo>
                <a:lnTo>
                  <a:pt x="0" y="1341711"/>
                </a:lnTo>
                <a:lnTo>
                  <a:pt x="0" y="0"/>
                </a:lnTo>
                <a:close/>
              </a:path>
            </a:pathLst>
          </a:custGeom>
          <a:solidFill>
            <a:schemeClr val="tx1"/>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lIns="83820" tIns="83820" rIns="83820" bIns="83820" spcCol="1270" anchor="ctr"/>
          <a:lstStyle/>
          <a:p>
            <a:pPr marL="0" marR="0" lvl="0" indent="0" algn="ctr" defTabSz="977900" rtl="0" eaLnBrk="0" fontAlgn="base" latinLnBrk="0" hangingPunct="0">
              <a:lnSpc>
                <a:spcPct val="90000"/>
              </a:lnSpc>
              <a:spcBef>
                <a:spcPct val="0"/>
              </a:spcBef>
              <a:spcAft>
                <a:spcPct val="35000"/>
              </a:spcAft>
              <a:buClrTx/>
              <a:buSzTx/>
              <a:buFontTx/>
              <a:buNone/>
              <a:tabLst/>
              <a:defRPr/>
            </a:pPr>
            <a:r>
              <a:rPr kumimoji="0" lang="en-CA" sz="2200" b="0" i="0" u="none" strike="noStrike" kern="1200" cap="none" spc="0" normalizeH="0" baseline="0" noProof="0" dirty="0">
                <a:ln>
                  <a:noFill/>
                </a:ln>
                <a:solidFill>
                  <a:srgbClr val="FFFFFF"/>
                </a:solidFill>
                <a:effectLst/>
                <a:uLnTx/>
                <a:uFillTx/>
                <a:latin typeface="Calibri"/>
                <a:ea typeface="+mn-ea"/>
                <a:cs typeface="+mn-cs"/>
              </a:rPr>
              <a:t>Binary Backup</a:t>
            </a:r>
          </a:p>
        </p:txBody>
      </p:sp>
      <p:sp>
        <p:nvSpPr>
          <p:cNvPr id="14" name="Freeform 13">
            <a:hlinkClick r:id="rId3" action="ppaction://hlinksldjump"/>
            <a:extLst>
              <a:ext uri="{FF2B5EF4-FFF2-40B4-BE49-F238E27FC236}">
                <a16:creationId xmlns:a16="http://schemas.microsoft.com/office/drawing/2014/main" id="{2EC34737-D603-A3DC-B869-68FE33BE171F}"/>
              </a:ext>
            </a:extLst>
          </p:cNvPr>
          <p:cNvSpPr/>
          <p:nvPr/>
        </p:nvSpPr>
        <p:spPr>
          <a:xfrm>
            <a:off x="4398196" y="4591012"/>
            <a:ext cx="2459804" cy="1574292"/>
          </a:xfrm>
          <a:custGeom>
            <a:avLst/>
            <a:gdLst>
              <a:gd name="connsiteX0" fmla="*/ 0 w 2236185"/>
              <a:gd name="connsiteY0" fmla="*/ 0 h 1341711"/>
              <a:gd name="connsiteX1" fmla="*/ 2236185 w 2236185"/>
              <a:gd name="connsiteY1" fmla="*/ 0 h 1341711"/>
              <a:gd name="connsiteX2" fmla="*/ 2236185 w 2236185"/>
              <a:gd name="connsiteY2" fmla="*/ 1341711 h 1341711"/>
              <a:gd name="connsiteX3" fmla="*/ 0 w 2236185"/>
              <a:gd name="connsiteY3" fmla="*/ 1341711 h 1341711"/>
              <a:gd name="connsiteX4" fmla="*/ 0 w 2236185"/>
              <a:gd name="connsiteY4" fmla="*/ 0 h 1341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6185" h="1341711">
                <a:moveTo>
                  <a:pt x="0" y="0"/>
                </a:moveTo>
                <a:lnTo>
                  <a:pt x="2236185" y="0"/>
                </a:lnTo>
                <a:lnTo>
                  <a:pt x="2236185" y="1341711"/>
                </a:lnTo>
                <a:lnTo>
                  <a:pt x="0" y="1341711"/>
                </a:lnTo>
                <a:lnTo>
                  <a:pt x="0" y="0"/>
                </a:lnTo>
                <a:close/>
              </a:path>
            </a:pathLst>
          </a:custGeom>
          <a:solidFill>
            <a:srgbClr val="00B05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lIns="83820" tIns="83820" rIns="83820" bIns="83820" spcCol="1270" anchor="ctr"/>
          <a:lstStyle/>
          <a:p>
            <a:pPr marL="0" marR="0" lvl="0" indent="0" algn="ctr" defTabSz="977900" rtl="0" eaLnBrk="0" fontAlgn="base" latinLnBrk="0" hangingPunct="0">
              <a:lnSpc>
                <a:spcPct val="90000"/>
              </a:lnSpc>
              <a:spcBef>
                <a:spcPct val="0"/>
              </a:spcBef>
              <a:spcAft>
                <a:spcPct val="35000"/>
              </a:spcAft>
              <a:buClrTx/>
              <a:buSzTx/>
              <a:buFontTx/>
              <a:buNone/>
              <a:tabLst/>
              <a:defRPr/>
            </a:pPr>
            <a:r>
              <a:rPr kumimoji="0" lang="en-CA" sz="2200" b="0" i="0" u="none" strike="noStrike" kern="1200" cap="none" spc="0" normalizeH="0" baseline="0" noProof="0" dirty="0">
                <a:ln>
                  <a:noFill/>
                </a:ln>
                <a:solidFill>
                  <a:srgbClr val="FFFFFF"/>
                </a:solidFill>
                <a:effectLst/>
                <a:uLnTx/>
                <a:uFillTx/>
                <a:latin typeface="Calibri"/>
                <a:ea typeface="+mn-ea"/>
                <a:cs typeface="+mn-cs"/>
              </a:rPr>
              <a:t>Text-Format Backup</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wipe(left)">
                                      <p:cBhvr>
                                        <p:cTn id="12" dur="500"/>
                                        <p:tgtEl>
                                          <p:spTgt spid="6">
                                            <p:txEl>
                                              <p:pRg st="0" end="0"/>
                                            </p:txEl>
                                          </p:spTgt>
                                        </p:tgtEl>
                                      </p:cBhvr>
                                    </p:animEffect>
                                  </p:childTnLst>
                                </p:cTn>
                              </p:par>
                            </p:childTnLst>
                          </p:cTn>
                        </p:par>
                        <p:par>
                          <p:cTn id="13" fill="hold" nodeType="afterGroup">
                            <p:stCondLst>
                              <p:cond delay="500"/>
                            </p:stCondLst>
                            <p:childTnLst>
                              <p:par>
                                <p:cTn id="14" presetID="42" presetClass="entr" presetSubtype="0" fill="hold" nodeType="after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1000"/>
                                        <p:tgtEl>
                                          <p:spTgt spid="13"/>
                                        </p:tgtEl>
                                      </p:cBhvr>
                                    </p:animEffect>
                                    <p:anim calcmode="lin" valueType="num">
                                      <p:cBhvr>
                                        <p:cTn id="17" dur="1000" fill="hold"/>
                                        <p:tgtEl>
                                          <p:spTgt spid="13"/>
                                        </p:tgtEl>
                                        <p:attrNameLst>
                                          <p:attrName>ppt_x</p:attrName>
                                        </p:attrNameLst>
                                      </p:cBhvr>
                                      <p:tavLst>
                                        <p:tav tm="0">
                                          <p:val>
                                            <p:strVal val="#ppt_x"/>
                                          </p:val>
                                        </p:tav>
                                        <p:tav tm="100000">
                                          <p:val>
                                            <p:strVal val="#ppt_x"/>
                                          </p:val>
                                        </p:tav>
                                      </p:tavLst>
                                    </p:anim>
                                    <p:anim calcmode="lin" valueType="num">
                                      <p:cBhvr>
                                        <p:cTn id="18" dur="1000" fill="hold"/>
                                        <p:tgtEl>
                                          <p:spTgt spid="13"/>
                                        </p:tgtEl>
                                        <p:attrNameLst>
                                          <p:attrName>ppt_y</p:attrName>
                                        </p:attrNameLst>
                                      </p:cBhvr>
                                      <p:tavLst>
                                        <p:tav tm="0">
                                          <p:val>
                                            <p:strVal val="#ppt_y+.1"/>
                                          </p:val>
                                        </p:tav>
                                        <p:tav tm="100000">
                                          <p:val>
                                            <p:strVal val="#ppt_y"/>
                                          </p:val>
                                        </p:tav>
                                      </p:tavLst>
                                    </p:anim>
                                  </p:childTnLst>
                                </p:cTn>
                              </p:par>
                            </p:childTnLst>
                          </p:cTn>
                        </p:par>
                        <p:par>
                          <p:cTn id="19" fill="hold" nodeType="afterGroup">
                            <p:stCondLst>
                              <p:cond delay="1500"/>
                            </p:stCondLst>
                            <p:childTnLst>
                              <p:par>
                                <p:cTn id="20" presetID="42" presetClass="entr" presetSubtype="0" fill="hold" nodeType="after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1000"/>
                                        <p:tgtEl>
                                          <p:spTgt spid="14"/>
                                        </p:tgtEl>
                                      </p:cBhvr>
                                    </p:animEffect>
                                    <p:anim calcmode="lin" valueType="num">
                                      <p:cBhvr>
                                        <p:cTn id="23" dur="1000" fill="hold"/>
                                        <p:tgtEl>
                                          <p:spTgt spid="14"/>
                                        </p:tgtEl>
                                        <p:attrNameLst>
                                          <p:attrName>ppt_x</p:attrName>
                                        </p:attrNameLst>
                                      </p:cBhvr>
                                      <p:tavLst>
                                        <p:tav tm="0">
                                          <p:val>
                                            <p:strVal val="#ppt_x"/>
                                          </p:val>
                                        </p:tav>
                                        <p:tav tm="100000">
                                          <p:val>
                                            <p:strVal val="#ppt_x"/>
                                          </p:val>
                                        </p:tav>
                                      </p:tavLst>
                                    </p:anim>
                                    <p:anim calcmode="lin" valueType="num">
                                      <p:cBhvr>
                                        <p:cTn id="24"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A7236-F7B7-601C-7B76-5B5810AA5C1F}"/>
              </a:ext>
            </a:extLst>
          </p:cNvPr>
          <p:cNvSpPr>
            <a:spLocks noGrp="1"/>
          </p:cNvSpPr>
          <p:nvPr>
            <p:ph type="title"/>
          </p:nvPr>
        </p:nvSpPr>
        <p:spPr>
          <a:xfrm>
            <a:off x="457200" y="0"/>
            <a:ext cx="7620000" cy="1143000"/>
          </a:xfrm>
        </p:spPr>
        <p:txBody>
          <a:bodyPr/>
          <a:lstStyle/>
          <a:p>
            <a:pPr algn="ctr">
              <a:defRPr/>
            </a:pPr>
            <a:r>
              <a:rPr lang="en-US" dirty="0"/>
              <a:t>Database Backup</a:t>
            </a:r>
            <a:endParaRPr lang="en-MY" dirty="0"/>
          </a:p>
        </p:txBody>
      </p:sp>
      <p:sp>
        <p:nvSpPr>
          <p:cNvPr id="14" name="Snip Single Corner Rectangle 13">
            <a:extLst>
              <a:ext uri="{FF2B5EF4-FFF2-40B4-BE49-F238E27FC236}">
                <a16:creationId xmlns:a16="http://schemas.microsoft.com/office/drawing/2014/main" id="{6FEA6094-6E70-29C1-F898-8CE9AA86F50A}"/>
              </a:ext>
            </a:extLst>
          </p:cNvPr>
          <p:cNvSpPr/>
          <p:nvPr/>
        </p:nvSpPr>
        <p:spPr>
          <a:xfrm>
            <a:off x="-36513" y="1268413"/>
            <a:ext cx="1728788" cy="371475"/>
          </a:xfrm>
          <a:prstGeom prst="snip1Rect">
            <a:avLst/>
          </a:prstGeom>
          <a:solidFill>
            <a:schemeClr val="tx1"/>
          </a:solidFill>
          <a:ln>
            <a:solidFill>
              <a:schemeClr val="tx1"/>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0" marR="0" lvl="0" indent="0" algn="ctr" defTabSz="889000" rtl="0" eaLnBrk="0" fontAlgn="base" latinLnBrk="0" hangingPunct="0">
              <a:lnSpc>
                <a:spcPct val="90000"/>
              </a:lnSpc>
              <a:spcBef>
                <a:spcPct val="0"/>
              </a:spcBef>
              <a:spcAft>
                <a:spcPct val="35000"/>
              </a:spcAft>
              <a:buClrTx/>
              <a:buSzTx/>
              <a:buFontTx/>
              <a:buNone/>
              <a:tabLst/>
              <a:defRPr/>
            </a:pPr>
            <a:r>
              <a:rPr kumimoji="0" lang="en-CA" sz="1800" b="0" i="0" u="none" strike="noStrike" kern="1200" cap="none" spc="0" normalizeH="0" baseline="0" noProof="0" dirty="0">
                <a:ln>
                  <a:noFill/>
                </a:ln>
                <a:solidFill>
                  <a:srgbClr val="FFFFFF"/>
                </a:solidFill>
                <a:effectLst/>
                <a:uLnTx/>
                <a:uFillTx/>
                <a:latin typeface="Calibri"/>
                <a:ea typeface="+mn-ea"/>
                <a:cs typeface="+mn-cs"/>
              </a:rPr>
              <a:t>Binary Backup</a:t>
            </a:r>
          </a:p>
        </p:txBody>
      </p:sp>
      <p:sp>
        <p:nvSpPr>
          <p:cNvPr id="18" name="Content Placeholder 5">
            <a:extLst>
              <a:ext uri="{FF2B5EF4-FFF2-40B4-BE49-F238E27FC236}">
                <a16:creationId xmlns:a16="http://schemas.microsoft.com/office/drawing/2014/main" id="{2A973221-FE3D-1B55-0074-69502D705219}"/>
              </a:ext>
            </a:extLst>
          </p:cNvPr>
          <p:cNvSpPr txBox="1">
            <a:spLocks/>
          </p:cNvSpPr>
          <p:nvPr/>
        </p:nvSpPr>
        <p:spPr bwMode="auto">
          <a:xfrm>
            <a:off x="250825" y="1844675"/>
            <a:ext cx="7902575" cy="1512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Binary backup involves the copying of the data files of the database to one or more data repositories for safe keeping</a:t>
            </a:r>
          </a:p>
        </p:txBody>
      </p:sp>
      <p:pic>
        <p:nvPicPr>
          <p:cNvPr id="4" name="Picture 3">
            <a:extLst>
              <a:ext uri="{FF2B5EF4-FFF2-40B4-BE49-F238E27FC236}">
                <a16:creationId xmlns:a16="http://schemas.microsoft.com/office/drawing/2014/main" id="{101EAD56-00CB-449C-527B-C2D848AACC2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3357563"/>
            <a:ext cx="3960813" cy="298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8">
                                            <p:txEl>
                                              <p:pRg st="0" end="0"/>
                                            </p:txEl>
                                          </p:spTgt>
                                        </p:tgtEl>
                                        <p:attrNameLst>
                                          <p:attrName>style.visibility</p:attrName>
                                        </p:attrNameLst>
                                      </p:cBhvr>
                                      <p:to>
                                        <p:strVal val="visible"/>
                                      </p:to>
                                    </p:set>
                                    <p:animEffect transition="in" filter="wipe(left)">
                                      <p:cBhvr>
                                        <p:cTn id="11" dur="500"/>
                                        <p:tgtEl>
                                          <p:spTgt spid="18">
                                            <p:txEl>
                                              <p:pRg st="0" end="0"/>
                                            </p:txEl>
                                          </p:spTgt>
                                        </p:tgtEl>
                                      </p:cBhvr>
                                    </p:animEffect>
                                  </p:childTnLst>
                                </p:cTn>
                              </p:par>
                            </p:childTnLst>
                          </p:cTn>
                        </p:par>
                        <p:par>
                          <p:cTn id="12" fill="hold" nodeType="afterGroup">
                            <p:stCondLst>
                              <p:cond delay="1000"/>
                            </p:stCondLst>
                            <p:childTnLst>
                              <p:par>
                                <p:cTn id="13" presetID="22" presetClass="entr" presetSubtype="1" fill="hold"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up)">
                                      <p:cBhvr>
                                        <p:cTn id="1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8" grpId="0" build="p"/>
    </p:bldLst>
  </p:timing>
</p:sld>
</file>

<file path=ppt/slides/slide3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113C21-7CB6-E0C0-764F-F775B7E467F0}"/>
              </a:ext>
            </a:extLst>
          </p:cNvPr>
          <p:cNvSpPr>
            <a:spLocks noGrp="1"/>
          </p:cNvSpPr>
          <p:nvPr>
            <p:ph type="title"/>
          </p:nvPr>
        </p:nvSpPr>
        <p:spPr>
          <a:xfrm>
            <a:off x="457200" y="0"/>
            <a:ext cx="7620000" cy="1143000"/>
          </a:xfrm>
        </p:spPr>
        <p:txBody>
          <a:bodyPr/>
          <a:lstStyle/>
          <a:p>
            <a:pPr algn="ctr">
              <a:defRPr/>
            </a:pPr>
            <a:r>
              <a:rPr lang="en-US" dirty="0"/>
              <a:t>Database Backup</a:t>
            </a:r>
            <a:endParaRPr lang="en-MY" dirty="0"/>
          </a:p>
        </p:txBody>
      </p:sp>
      <p:sp>
        <p:nvSpPr>
          <p:cNvPr id="14" name="Snip Single Corner Rectangle 13">
            <a:extLst>
              <a:ext uri="{FF2B5EF4-FFF2-40B4-BE49-F238E27FC236}">
                <a16:creationId xmlns:a16="http://schemas.microsoft.com/office/drawing/2014/main" id="{2E1B7997-12F6-158C-01F3-B904299A0414}"/>
              </a:ext>
            </a:extLst>
          </p:cNvPr>
          <p:cNvSpPr/>
          <p:nvPr/>
        </p:nvSpPr>
        <p:spPr>
          <a:xfrm>
            <a:off x="-36513" y="1268413"/>
            <a:ext cx="1728788" cy="371475"/>
          </a:xfrm>
          <a:prstGeom prst="snip1Rect">
            <a:avLst/>
          </a:prstGeom>
          <a:solidFill>
            <a:schemeClr val="tx1"/>
          </a:solidFill>
          <a:ln>
            <a:solidFill>
              <a:schemeClr val="tx1"/>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0" marR="0" lvl="0" indent="0" algn="ctr" defTabSz="889000" rtl="0" eaLnBrk="0" fontAlgn="base" latinLnBrk="0" hangingPunct="0">
              <a:lnSpc>
                <a:spcPct val="90000"/>
              </a:lnSpc>
              <a:spcBef>
                <a:spcPct val="0"/>
              </a:spcBef>
              <a:spcAft>
                <a:spcPct val="35000"/>
              </a:spcAft>
              <a:buClrTx/>
              <a:buSzTx/>
              <a:buFontTx/>
              <a:buNone/>
              <a:tabLst/>
              <a:defRPr/>
            </a:pPr>
            <a:r>
              <a:rPr kumimoji="0" lang="en-CA" sz="1800" b="0" i="0" u="none" strike="noStrike" kern="1200" cap="none" spc="0" normalizeH="0" baseline="0" noProof="0" dirty="0">
                <a:ln>
                  <a:noFill/>
                </a:ln>
                <a:solidFill>
                  <a:srgbClr val="FFFFFF"/>
                </a:solidFill>
                <a:effectLst/>
                <a:uLnTx/>
                <a:uFillTx/>
                <a:latin typeface="Calibri"/>
                <a:ea typeface="+mn-ea"/>
                <a:cs typeface="+mn-cs"/>
              </a:rPr>
              <a:t>Binary Backup</a:t>
            </a:r>
          </a:p>
        </p:txBody>
      </p:sp>
      <p:sp>
        <p:nvSpPr>
          <p:cNvPr id="18" name="Content Placeholder 5">
            <a:extLst>
              <a:ext uri="{FF2B5EF4-FFF2-40B4-BE49-F238E27FC236}">
                <a16:creationId xmlns:a16="http://schemas.microsoft.com/office/drawing/2014/main" id="{52F1EC0D-C40B-FC66-9ACC-89AA9EA8D436}"/>
              </a:ext>
            </a:extLst>
          </p:cNvPr>
          <p:cNvSpPr txBox="1">
            <a:spLocks/>
          </p:cNvSpPr>
          <p:nvPr/>
        </p:nvSpPr>
        <p:spPr bwMode="auto">
          <a:xfrm>
            <a:off x="250825" y="1844675"/>
            <a:ext cx="7902575" cy="1512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When disaster struck and data is lost, a DBA can then restore the lost data by replacing the database files with the previously backup files </a:t>
            </a:r>
          </a:p>
        </p:txBody>
      </p:sp>
      <p:pic>
        <p:nvPicPr>
          <p:cNvPr id="7" name="Picture 6">
            <a:extLst>
              <a:ext uri="{FF2B5EF4-FFF2-40B4-BE49-F238E27FC236}">
                <a16:creationId xmlns:a16="http://schemas.microsoft.com/office/drawing/2014/main" id="{92084E1A-09A5-0C20-8C06-578212C14DF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3429000"/>
            <a:ext cx="3814763" cy="287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wipe(left)">
                                      <p:cBhvr>
                                        <p:cTn id="7" dur="500"/>
                                        <p:tgtEl>
                                          <p:spTgt spid="18">
                                            <p:txEl>
                                              <p:pRg st="0" end="0"/>
                                            </p:txEl>
                                          </p:spTgt>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up)">
                                      <p:cBhvr>
                                        <p:cTn id="1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p:bldLst>
  </p:timing>
</p:sld>
</file>

<file path=ppt/slides/slide3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11">
            <a:extLst>
              <a:ext uri="{FF2B5EF4-FFF2-40B4-BE49-F238E27FC236}">
                <a16:creationId xmlns:a16="http://schemas.microsoft.com/office/drawing/2014/main" id="{BB1A1F55-6AED-4DA6-490C-CFD3927AC775}"/>
              </a:ext>
            </a:extLst>
          </p:cNvPr>
          <p:cNvGrpSpPr>
            <a:grpSpLocks/>
          </p:cNvGrpSpPr>
          <p:nvPr/>
        </p:nvGrpSpPr>
        <p:grpSpPr bwMode="auto">
          <a:xfrm>
            <a:off x="-533400" y="3081338"/>
            <a:ext cx="9356725" cy="3348037"/>
            <a:chOff x="-828600" y="3501008"/>
            <a:chExt cx="10009112" cy="3060161"/>
          </a:xfrm>
        </p:grpSpPr>
        <p:pic>
          <p:nvPicPr>
            <p:cNvPr id="69638" name="Picture 12">
              <a:extLst>
                <a:ext uri="{FF2B5EF4-FFF2-40B4-BE49-F238E27FC236}">
                  <a16:creationId xmlns:a16="http://schemas.microsoft.com/office/drawing/2014/main" id="{6CE783D9-E603-5E40-AB52-724BAD15F78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28600" y="3501008"/>
              <a:ext cx="10009112" cy="3060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639" name="TextBox 18">
              <a:extLst>
                <a:ext uri="{FF2B5EF4-FFF2-40B4-BE49-F238E27FC236}">
                  <a16:creationId xmlns:a16="http://schemas.microsoft.com/office/drawing/2014/main" id="{E3FA7D78-909A-C682-8144-265E93D307BA}"/>
                </a:ext>
              </a:extLst>
            </p:cNvPr>
            <p:cNvSpPr txBox="1">
              <a:spLocks noChangeArrowheads="1"/>
            </p:cNvSpPr>
            <p:nvPr/>
          </p:nvSpPr>
          <p:spPr bwMode="auto">
            <a:xfrm>
              <a:off x="603908" y="3584891"/>
              <a:ext cx="5760640"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CREATE DATABASE  IF NOT EXISTS `amazon`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USE `amazon`;</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DROP TABLE IF EXISTS `book`;</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CREATE TABLE `book`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  `ISBN` int(11) NOT NULL PRIMARY KEY,</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  `Title` varchar(100) DEFAULT NULL,</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  `Quantity` int(11) DEFAULT '10',</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 ENGINE=InnoDB DEFAULT CHARSET=latin1;</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a:t>
              </a:r>
            </a:p>
          </p:txBody>
        </p:sp>
      </p:grpSp>
      <p:sp>
        <p:nvSpPr>
          <p:cNvPr id="2" name="Title 1">
            <a:extLst>
              <a:ext uri="{FF2B5EF4-FFF2-40B4-BE49-F238E27FC236}">
                <a16:creationId xmlns:a16="http://schemas.microsoft.com/office/drawing/2014/main" id="{3739B864-0095-963E-3003-76604B55D14F}"/>
              </a:ext>
            </a:extLst>
          </p:cNvPr>
          <p:cNvSpPr>
            <a:spLocks noGrp="1"/>
          </p:cNvSpPr>
          <p:nvPr>
            <p:ph type="title"/>
          </p:nvPr>
        </p:nvSpPr>
        <p:spPr>
          <a:xfrm>
            <a:off x="457200" y="0"/>
            <a:ext cx="7620000" cy="1143000"/>
          </a:xfrm>
        </p:spPr>
        <p:txBody>
          <a:bodyPr/>
          <a:lstStyle/>
          <a:p>
            <a:pPr algn="ctr">
              <a:defRPr/>
            </a:pPr>
            <a:r>
              <a:rPr lang="en-US" dirty="0"/>
              <a:t>Database Backup</a:t>
            </a:r>
            <a:endParaRPr lang="en-MY" dirty="0"/>
          </a:p>
        </p:txBody>
      </p:sp>
      <p:sp>
        <p:nvSpPr>
          <p:cNvPr id="14" name="Snip Single Corner Rectangle 13">
            <a:extLst>
              <a:ext uri="{FF2B5EF4-FFF2-40B4-BE49-F238E27FC236}">
                <a16:creationId xmlns:a16="http://schemas.microsoft.com/office/drawing/2014/main" id="{B927930B-4985-9A63-EEDB-9258EEA5F9CD}"/>
              </a:ext>
            </a:extLst>
          </p:cNvPr>
          <p:cNvSpPr/>
          <p:nvPr/>
        </p:nvSpPr>
        <p:spPr>
          <a:xfrm>
            <a:off x="-36513" y="1268413"/>
            <a:ext cx="2305051" cy="371475"/>
          </a:xfrm>
          <a:prstGeom prst="snip1Rect">
            <a:avLst/>
          </a:prstGeom>
          <a:solidFill>
            <a:srgbClr val="00B050"/>
          </a:solidFill>
          <a:ln>
            <a:solidFill>
              <a:srgbClr val="00B050"/>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0" marR="0" lvl="0" indent="0" algn="ctr" defTabSz="889000" rtl="0" eaLnBrk="0" fontAlgn="base" latinLnBrk="0" hangingPunct="0">
              <a:lnSpc>
                <a:spcPct val="90000"/>
              </a:lnSpc>
              <a:spcBef>
                <a:spcPct val="0"/>
              </a:spcBef>
              <a:spcAft>
                <a:spcPct val="35000"/>
              </a:spcAft>
              <a:buClrTx/>
              <a:buSzTx/>
              <a:buFontTx/>
              <a:buNone/>
              <a:tabLst/>
              <a:defRPr/>
            </a:pPr>
            <a:r>
              <a:rPr kumimoji="0" lang="en-CA" sz="1800" b="0" i="0" u="none" strike="noStrike" kern="1200" cap="none" spc="0" normalizeH="0" baseline="0" noProof="0" dirty="0">
                <a:ln>
                  <a:noFill/>
                </a:ln>
                <a:solidFill>
                  <a:srgbClr val="FFFFFF"/>
                </a:solidFill>
                <a:effectLst/>
                <a:uLnTx/>
                <a:uFillTx/>
                <a:latin typeface="Calibri"/>
                <a:ea typeface="+mn-ea"/>
                <a:cs typeface="+mn-cs"/>
              </a:rPr>
              <a:t>Text-Format Backup</a:t>
            </a:r>
          </a:p>
        </p:txBody>
      </p:sp>
      <p:sp>
        <p:nvSpPr>
          <p:cNvPr id="18" name="Content Placeholder 5">
            <a:extLst>
              <a:ext uri="{FF2B5EF4-FFF2-40B4-BE49-F238E27FC236}">
                <a16:creationId xmlns:a16="http://schemas.microsoft.com/office/drawing/2014/main" id="{7EE68ACE-CC95-B109-B05A-C222CC70E796}"/>
              </a:ext>
            </a:extLst>
          </p:cNvPr>
          <p:cNvSpPr txBox="1">
            <a:spLocks/>
          </p:cNvSpPr>
          <p:nvPr/>
        </p:nvSpPr>
        <p:spPr bwMode="auto">
          <a:xfrm>
            <a:off x="250825" y="1773238"/>
            <a:ext cx="7902575" cy="151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Text-format backup involves the creation of backup files that contain SQL on how to recreate databases, tables and data </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8">
                                            <p:txEl>
                                              <p:pRg st="0" end="0"/>
                                            </p:txEl>
                                          </p:spTgt>
                                        </p:tgtEl>
                                        <p:attrNameLst>
                                          <p:attrName>style.visibility</p:attrName>
                                        </p:attrNameLst>
                                      </p:cBhvr>
                                      <p:to>
                                        <p:strVal val="visible"/>
                                      </p:to>
                                    </p:set>
                                    <p:animEffect transition="in" filter="wipe(left)">
                                      <p:cBhvr>
                                        <p:cTn id="11" dur="500"/>
                                        <p:tgtEl>
                                          <p:spTgt spid="18">
                                            <p:txEl>
                                              <p:pRg st="0" end="0"/>
                                            </p:txEl>
                                          </p:spTgt>
                                        </p:tgtEl>
                                      </p:cBhvr>
                                    </p:animEffect>
                                  </p:childTnLst>
                                </p:cTn>
                              </p:par>
                            </p:childTnLst>
                          </p:cTn>
                        </p:par>
                        <p:par>
                          <p:cTn id="12" fill="hold" nodeType="afterGroup">
                            <p:stCondLst>
                              <p:cond delay="1000"/>
                            </p:stCondLst>
                            <p:childTnLst>
                              <p:par>
                                <p:cTn id="13" presetID="22" presetClass="entr" presetSubtype="1" fill="hold"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up)">
                                      <p:cBhvr>
                                        <p:cTn id="1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8" grpId="0" build="p"/>
    </p:bldLst>
  </p:timing>
</p:sld>
</file>

<file path=ppt/slides/slide3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597AC2-2292-2238-4277-077870060FD9}"/>
              </a:ext>
            </a:extLst>
          </p:cNvPr>
          <p:cNvSpPr>
            <a:spLocks noGrp="1"/>
          </p:cNvSpPr>
          <p:nvPr>
            <p:ph type="title"/>
          </p:nvPr>
        </p:nvSpPr>
        <p:spPr>
          <a:xfrm>
            <a:off x="457200" y="0"/>
            <a:ext cx="7620000" cy="1143000"/>
          </a:xfrm>
        </p:spPr>
        <p:txBody>
          <a:bodyPr/>
          <a:lstStyle/>
          <a:p>
            <a:pPr algn="ctr">
              <a:defRPr/>
            </a:pPr>
            <a:r>
              <a:rPr lang="en-US" dirty="0"/>
              <a:t>Database Backup</a:t>
            </a:r>
            <a:endParaRPr lang="en-MY" dirty="0"/>
          </a:p>
        </p:txBody>
      </p:sp>
      <p:sp>
        <p:nvSpPr>
          <p:cNvPr id="14" name="Snip Single Corner Rectangle 13">
            <a:extLst>
              <a:ext uri="{FF2B5EF4-FFF2-40B4-BE49-F238E27FC236}">
                <a16:creationId xmlns:a16="http://schemas.microsoft.com/office/drawing/2014/main" id="{02CA3916-5143-48E3-BDDC-AA5AFD5088C3}"/>
              </a:ext>
            </a:extLst>
          </p:cNvPr>
          <p:cNvSpPr/>
          <p:nvPr/>
        </p:nvSpPr>
        <p:spPr>
          <a:xfrm>
            <a:off x="-36513" y="1268413"/>
            <a:ext cx="2305051" cy="371475"/>
          </a:xfrm>
          <a:prstGeom prst="snip1Rect">
            <a:avLst/>
          </a:prstGeom>
          <a:solidFill>
            <a:srgbClr val="00B050"/>
          </a:solidFill>
          <a:ln>
            <a:solidFill>
              <a:srgbClr val="00B050"/>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0" marR="0" lvl="0" indent="0" algn="ctr" defTabSz="889000" rtl="0" eaLnBrk="0" fontAlgn="base" latinLnBrk="0" hangingPunct="0">
              <a:lnSpc>
                <a:spcPct val="90000"/>
              </a:lnSpc>
              <a:spcBef>
                <a:spcPct val="0"/>
              </a:spcBef>
              <a:spcAft>
                <a:spcPct val="35000"/>
              </a:spcAft>
              <a:buClrTx/>
              <a:buSzTx/>
              <a:buFontTx/>
              <a:buNone/>
              <a:tabLst/>
              <a:defRPr/>
            </a:pPr>
            <a:r>
              <a:rPr kumimoji="0" lang="en-CA" sz="1800" b="0" i="0" u="none" strike="noStrike" kern="1200" cap="none" spc="0" normalizeH="0" baseline="0" noProof="0" dirty="0">
                <a:ln>
                  <a:noFill/>
                </a:ln>
                <a:solidFill>
                  <a:srgbClr val="FFFFFF"/>
                </a:solidFill>
                <a:effectLst/>
                <a:uLnTx/>
                <a:uFillTx/>
                <a:latin typeface="Calibri"/>
                <a:ea typeface="+mn-ea"/>
                <a:cs typeface="+mn-cs"/>
              </a:rPr>
              <a:t>Text-Format Backup</a:t>
            </a:r>
          </a:p>
        </p:txBody>
      </p:sp>
      <p:sp>
        <p:nvSpPr>
          <p:cNvPr id="18" name="Content Placeholder 5">
            <a:extLst>
              <a:ext uri="{FF2B5EF4-FFF2-40B4-BE49-F238E27FC236}">
                <a16:creationId xmlns:a16="http://schemas.microsoft.com/office/drawing/2014/main" id="{5BF511C8-C3F4-13C2-2A9D-C32927465F1D}"/>
              </a:ext>
            </a:extLst>
          </p:cNvPr>
          <p:cNvSpPr txBox="1">
            <a:spLocks/>
          </p:cNvSpPr>
          <p:nvPr/>
        </p:nvSpPr>
        <p:spPr bwMode="auto">
          <a:xfrm>
            <a:off x="250825" y="1773238"/>
            <a:ext cx="8054975" cy="151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When disaster struck and data is lost, a DBA can then restore the lost data by executing the SQL in the backup files</a:t>
            </a:r>
          </a:p>
        </p:txBody>
      </p:sp>
      <p:pic>
        <p:nvPicPr>
          <p:cNvPr id="11" name="Picture 2">
            <a:extLst>
              <a:ext uri="{FF2B5EF4-FFF2-40B4-BE49-F238E27FC236}">
                <a16:creationId xmlns:a16="http://schemas.microsoft.com/office/drawing/2014/main" id="{606FBAB5-DBB6-E606-964A-862C26C073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5032"/>
          <a:stretch>
            <a:fillRect/>
          </a:stretch>
        </p:blipFill>
        <p:spPr bwMode="auto">
          <a:xfrm>
            <a:off x="661988" y="3165475"/>
            <a:ext cx="7005637" cy="322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 name="Group 11">
            <a:extLst>
              <a:ext uri="{FF2B5EF4-FFF2-40B4-BE49-F238E27FC236}">
                <a16:creationId xmlns:a16="http://schemas.microsoft.com/office/drawing/2014/main" id="{63962943-D822-B785-B774-F30C4C8A9B31}"/>
              </a:ext>
            </a:extLst>
          </p:cNvPr>
          <p:cNvGrpSpPr>
            <a:grpSpLocks/>
          </p:cNvGrpSpPr>
          <p:nvPr/>
        </p:nvGrpSpPr>
        <p:grpSpPr bwMode="auto">
          <a:xfrm>
            <a:off x="4381500" y="3933825"/>
            <a:ext cx="2663825" cy="647700"/>
            <a:chOff x="3194456" y="1946263"/>
            <a:chExt cx="2664296" cy="648071"/>
          </a:xfrm>
        </p:grpSpPr>
        <p:sp>
          <p:nvSpPr>
            <p:cNvPr id="70666" name="Rectangle 12">
              <a:extLst>
                <a:ext uri="{FF2B5EF4-FFF2-40B4-BE49-F238E27FC236}">
                  <a16:creationId xmlns:a16="http://schemas.microsoft.com/office/drawing/2014/main" id="{AD107261-A8EE-1523-B16D-1538CFB58F34}"/>
                </a:ext>
              </a:extLst>
            </p:cNvPr>
            <p:cNvSpPr>
              <a:spLocks noChangeArrowheads="1"/>
            </p:cNvSpPr>
            <p:nvPr/>
          </p:nvSpPr>
          <p:spPr bwMode="auto">
            <a:xfrm>
              <a:off x="3698512" y="1946263"/>
              <a:ext cx="2160240" cy="648071"/>
            </a:xfrm>
            <a:prstGeom prst="rect">
              <a:avLst/>
            </a:prstGeom>
            <a:solidFill>
              <a:srgbClr val="525759"/>
            </a:solidFill>
            <a:ln w="9525" algn="ctr">
              <a:solidFill>
                <a:srgbClr val="525759"/>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DFDCB7"/>
                  </a:solidFill>
                  <a:effectLst/>
                  <a:uLnTx/>
                  <a:uFillTx/>
                  <a:latin typeface="Arial" panose="020B0604020202020204" pitchFamily="34" charset="0"/>
                  <a:ea typeface="+mn-ea"/>
                  <a:cs typeface="Arial" panose="020B0604020202020204" pitchFamily="34" charset="0"/>
                </a:rPr>
                <a:t>SQL from backup file</a:t>
              </a:r>
            </a:p>
          </p:txBody>
        </p:sp>
        <p:cxnSp>
          <p:nvCxnSpPr>
            <p:cNvPr id="70667" name="Straight Arrow Connector 18">
              <a:extLst>
                <a:ext uri="{FF2B5EF4-FFF2-40B4-BE49-F238E27FC236}">
                  <a16:creationId xmlns:a16="http://schemas.microsoft.com/office/drawing/2014/main" id="{2DD93A2D-0B35-D32B-0925-E568500B6C81}"/>
                </a:ext>
              </a:extLst>
            </p:cNvPr>
            <p:cNvCxnSpPr>
              <a:cxnSpLocks noChangeShapeType="1"/>
              <a:stCxn id="70666" idx="1"/>
            </p:cNvCxnSpPr>
            <p:nvPr/>
          </p:nvCxnSpPr>
          <p:spPr bwMode="auto">
            <a:xfrm flipH="1" flipV="1">
              <a:off x="3194456" y="2162286"/>
              <a:ext cx="504056" cy="108013"/>
            </a:xfrm>
            <a:prstGeom prst="straightConnector1">
              <a:avLst/>
            </a:prstGeom>
            <a:noFill/>
            <a:ln w="25400" algn="ctr">
              <a:solidFill>
                <a:srgbClr val="525759"/>
              </a:solidFill>
              <a:round/>
              <a:headEnd/>
              <a:tailEnd type="triangle" w="med" len="med"/>
            </a:ln>
            <a:extLst>
              <a:ext uri="{909E8E84-426E-40DD-AFC4-6F175D3DCCD1}">
                <a14:hiddenFill xmlns:a14="http://schemas.microsoft.com/office/drawing/2010/main">
                  <a:noFill/>
                </a14:hiddenFill>
              </a:ext>
            </a:extLst>
          </p:spPr>
        </p:cxnSp>
      </p:grpSp>
      <p:grpSp>
        <p:nvGrpSpPr>
          <p:cNvPr id="4" name="Group 19">
            <a:extLst>
              <a:ext uri="{FF2B5EF4-FFF2-40B4-BE49-F238E27FC236}">
                <a16:creationId xmlns:a16="http://schemas.microsoft.com/office/drawing/2014/main" id="{DC8ED418-4B8F-B77D-070F-6A2E73F44C7D}"/>
              </a:ext>
            </a:extLst>
          </p:cNvPr>
          <p:cNvGrpSpPr>
            <a:grpSpLocks/>
          </p:cNvGrpSpPr>
          <p:nvPr/>
        </p:nvGrpSpPr>
        <p:grpSpPr bwMode="auto">
          <a:xfrm>
            <a:off x="1068388" y="3573463"/>
            <a:ext cx="2160587" cy="1150937"/>
            <a:chOff x="3698512" y="1217798"/>
            <a:chExt cx="2160240" cy="1152127"/>
          </a:xfrm>
        </p:grpSpPr>
        <p:sp>
          <p:nvSpPr>
            <p:cNvPr id="70664" name="Rectangle 20">
              <a:extLst>
                <a:ext uri="{FF2B5EF4-FFF2-40B4-BE49-F238E27FC236}">
                  <a16:creationId xmlns:a16="http://schemas.microsoft.com/office/drawing/2014/main" id="{815026BE-9E71-7D37-E0E0-AF13B4531BFC}"/>
                </a:ext>
              </a:extLst>
            </p:cNvPr>
            <p:cNvSpPr>
              <a:spLocks noChangeArrowheads="1"/>
            </p:cNvSpPr>
            <p:nvPr/>
          </p:nvSpPr>
          <p:spPr bwMode="auto">
            <a:xfrm>
              <a:off x="3698512" y="1721854"/>
              <a:ext cx="2160240" cy="648071"/>
            </a:xfrm>
            <a:prstGeom prst="rect">
              <a:avLst/>
            </a:prstGeom>
            <a:solidFill>
              <a:srgbClr val="525759"/>
            </a:solidFill>
            <a:ln w="9525" algn="ctr">
              <a:solidFill>
                <a:srgbClr val="525759"/>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DFDCB7"/>
                  </a:solidFill>
                  <a:effectLst/>
                  <a:uLnTx/>
                  <a:uFillTx/>
                  <a:latin typeface="Arial" panose="020B0604020202020204" pitchFamily="34" charset="0"/>
                  <a:ea typeface="+mn-ea"/>
                  <a:cs typeface="Arial" panose="020B0604020202020204" pitchFamily="34" charset="0"/>
                </a:rPr>
                <a:t>Execute the SQL to restore loss data</a:t>
              </a:r>
            </a:p>
          </p:txBody>
        </p:sp>
        <p:cxnSp>
          <p:nvCxnSpPr>
            <p:cNvPr id="70665" name="Straight Arrow Connector 21">
              <a:extLst>
                <a:ext uri="{FF2B5EF4-FFF2-40B4-BE49-F238E27FC236}">
                  <a16:creationId xmlns:a16="http://schemas.microsoft.com/office/drawing/2014/main" id="{11FE2BD3-54F2-6C2C-41F6-BDFC59CFB1EA}"/>
                </a:ext>
              </a:extLst>
            </p:cNvPr>
            <p:cNvCxnSpPr>
              <a:cxnSpLocks noChangeShapeType="1"/>
              <a:stCxn id="70664" idx="0"/>
            </p:cNvCxnSpPr>
            <p:nvPr/>
          </p:nvCxnSpPr>
          <p:spPr bwMode="auto">
            <a:xfrm flipH="1" flipV="1">
              <a:off x="3986544" y="1217798"/>
              <a:ext cx="792088" cy="504056"/>
            </a:xfrm>
            <a:prstGeom prst="straightConnector1">
              <a:avLst/>
            </a:prstGeom>
            <a:noFill/>
            <a:ln w="25400" algn="ctr">
              <a:solidFill>
                <a:srgbClr val="525759"/>
              </a:solidFill>
              <a:round/>
              <a:headEnd/>
              <a:tailEnd type="triangle" w="med" len="med"/>
            </a:ln>
            <a:extLst>
              <a:ext uri="{909E8E84-426E-40DD-AFC4-6F175D3DCCD1}">
                <a14:hiddenFill xmlns:a14="http://schemas.microsoft.com/office/drawing/2010/main">
                  <a:noFill/>
                </a14:hiddenFill>
              </a:ext>
            </a:extLst>
          </p:spPr>
        </p:cxnSp>
      </p:gr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wipe(left)">
                                      <p:cBhvr>
                                        <p:cTn id="7" dur="500"/>
                                        <p:tgtEl>
                                          <p:spTgt spid="18">
                                            <p:txEl>
                                              <p:pRg st="0" end="0"/>
                                            </p:txEl>
                                          </p:spTgt>
                                        </p:tgtEl>
                                      </p:cBhvr>
                                    </p:animEffect>
                                  </p:childTnLst>
                                </p:cTn>
                              </p:par>
                            </p:childTnLst>
                          </p:cTn>
                        </p:par>
                        <p:par>
                          <p:cTn id="8" fill="hold" nodeType="afterGroup">
                            <p:stCondLst>
                              <p:cond delay="500"/>
                            </p:stCondLst>
                            <p:childTnLst>
                              <p:par>
                                <p:cTn id="9" presetID="16" presetClass="entr" presetSubtype="21" fill="hold"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barn(inVertical)">
                                      <p:cBhvr>
                                        <p:cTn id="11" dur="500"/>
                                        <p:tgtEl>
                                          <p:spTgt spid="11"/>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42" presetClass="entr" presetSubtype="0" fill="hold" nodeType="click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1000"/>
                                        <p:tgtEl>
                                          <p:spTgt spid="3"/>
                                        </p:tgtEl>
                                      </p:cBhvr>
                                    </p:animEffect>
                                    <p:anim calcmode="lin" valueType="num">
                                      <p:cBhvr>
                                        <p:cTn id="17" dur="1000" fill="hold"/>
                                        <p:tgtEl>
                                          <p:spTgt spid="3"/>
                                        </p:tgtEl>
                                        <p:attrNameLst>
                                          <p:attrName>ppt_x</p:attrName>
                                        </p:attrNameLst>
                                      </p:cBhvr>
                                      <p:tavLst>
                                        <p:tav tm="0">
                                          <p:val>
                                            <p:strVal val="#ppt_x"/>
                                          </p:val>
                                        </p:tav>
                                        <p:tav tm="100000">
                                          <p:val>
                                            <p:strVal val="#ppt_x"/>
                                          </p:val>
                                        </p:tav>
                                      </p:tavLst>
                                    </p:anim>
                                    <p:anim calcmode="lin" valueType="num">
                                      <p:cBhvr>
                                        <p:cTn id="18"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42"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fade">
                                      <p:cBhvr>
                                        <p:cTn id="23" dur="1000"/>
                                        <p:tgtEl>
                                          <p:spTgt spid="4"/>
                                        </p:tgtEl>
                                      </p:cBhvr>
                                    </p:animEffect>
                                    <p:anim calcmode="lin" valueType="num">
                                      <p:cBhvr>
                                        <p:cTn id="24" dur="1000" fill="hold"/>
                                        <p:tgtEl>
                                          <p:spTgt spid="4"/>
                                        </p:tgtEl>
                                        <p:attrNameLst>
                                          <p:attrName>ppt_x</p:attrName>
                                        </p:attrNameLst>
                                      </p:cBhvr>
                                      <p:tavLst>
                                        <p:tav tm="0">
                                          <p:val>
                                            <p:strVal val="#ppt_x"/>
                                          </p:val>
                                        </p:tav>
                                        <p:tav tm="100000">
                                          <p:val>
                                            <p:strVal val="#ppt_x"/>
                                          </p:val>
                                        </p:tav>
                                      </p:tavLst>
                                    </p:anim>
                                    <p:anim calcmode="lin" valueType="num">
                                      <p:cBhvr>
                                        <p:cTn id="25"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p:bldLst>
  </p:timing>
</p:sld>
</file>

<file path=ppt/slides/slide3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925B33-8E8D-A988-3A53-7BFC85E37555}"/>
              </a:ext>
            </a:extLst>
          </p:cNvPr>
          <p:cNvSpPr>
            <a:spLocks noGrp="1"/>
          </p:cNvSpPr>
          <p:nvPr>
            <p:ph type="title"/>
          </p:nvPr>
        </p:nvSpPr>
        <p:spPr>
          <a:xfrm>
            <a:off x="457200" y="0"/>
            <a:ext cx="7620000" cy="1143000"/>
          </a:xfrm>
        </p:spPr>
        <p:txBody>
          <a:bodyPr/>
          <a:lstStyle/>
          <a:p>
            <a:pPr algn="ctr">
              <a:defRPr/>
            </a:pPr>
            <a:r>
              <a:rPr lang="en-US" dirty="0"/>
              <a:t>Database Backup</a:t>
            </a:r>
            <a:endParaRPr lang="en-MY" dirty="0"/>
          </a:p>
        </p:txBody>
      </p:sp>
      <p:sp>
        <p:nvSpPr>
          <p:cNvPr id="14" name="Snip Single Corner Rectangle 13">
            <a:extLst>
              <a:ext uri="{FF2B5EF4-FFF2-40B4-BE49-F238E27FC236}">
                <a16:creationId xmlns:a16="http://schemas.microsoft.com/office/drawing/2014/main" id="{4485599B-3E03-C06C-FD09-6E3593CA1CF9}"/>
              </a:ext>
            </a:extLst>
          </p:cNvPr>
          <p:cNvSpPr/>
          <p:nvPr/>
        </p:nvSpPr>
        <p:spPr>
          <a:xfrm>
            <a:off x="-36513" y="1268413"/>
            <a:ext cx="2305051" cy="371475"/>
          </a:xfrm>
          <a:prstGeom prst="snip1Rect">
            <a:avLst/>
          </a:prstGeom>
          <a:solidFill>
            <a:srgbClr val="00B050"/>
          </a:solidFill>
          <a:ln>
            <a:solidFill>
              <a:srgbClr val="00B050"/>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0" marR="0" lvl="0" indent="0" algn="ctr" defTabSz="889000" rtl="0" eaLnBrk="0" fontAlgn="base" latinLnBrk="0" hangingPunct="0">
              <a:lnSpc>
                <a:spcPct val="90000"/>
              </a:lnSpc>
              <a:spcBef>
                <a:spcPct val="0"/>
              </a:spcBef>
              <a:spcAft>
                <a:spcPct val="35000"/>
              </a:spcAft>
              <a:buClrTx/>
              <a:buSzTx/>
              <a:buFontTx/>
              <a:buNone/>
              <a:tabLst/>
              <a:defRPr/>
            </a:pPr>
            <a:r>
              <a:rPr kumimoji="0" lang="en-CA" sz="1800" b="0" i="0" u="none" strike="noStrike" kern="1200" cap="none" spc="0" normalizeH="0" baseline="0" noProof="0" dirty="0">
                <a:ln>
                  <a:noFill/>
                </a:ln>
                <a:solidFill>
                  <a:srgbClr val="FFFFFF"/>
                </a:solidFill>
                <a:effectLst/>
                <a:uLnTx/>
                <a:uFillTx/>
                <a:latin typeface="Calibri"/>
                <a:ea typeface="+mn-ea"/>
                <a:cs typeface="+mn-cs"/>
              </a:rPr>
              <a:t>Text-Format Backup</a:t>
            </a:r>
          </a:p>
        </p:txBody>
      </p:sp>
      <p:sp>
        <p:nvSpPr>
          <p:cNvPr id="18" name="Content Placeholder 5">
            <a:extLst>
              <a:ext uri="{FF2B5EF4-FFF2-40B4-BE49-F238E27FC236}">
                <a16:creationId xmlns:a16="http://schemas.microsoft.com/office/drawing/2014/main" id="{97CC5F24-738F-19A9-4136-66BE851AC192}"/>
              </a:ext>
            </a:extLst>
          </p:cNvPr>
          <p:cNvSpPr txBox="1">
            <a:spLocks/>
          </p:cNvSpPr>
          <p:nvPr/>
        </p:nvSpPr>
        <p:spPr bwMode="auto">
          <a:xfrm>
            <a:off x="250825" y="1773238"/>
            <a:ext cx="7902575" cy="151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2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In MySQL Workbench, you can perform text-format backup by accessing “Data Export and Restore”</a:t>
            </a:r>
          </a:p>
        </p:txBody>
      </p:sp>
      <p:pic>
        <p:nvPicPr>
          <p:cNvPr id="11" name="Picture 10">
            <a:extLst>
              <a:ext uri="{FF2B5EF4-FFF2-40B4-BE49-F238E27FC236}">
                <a16:creationId xmlns:a16="http://schemas.microsoft.com/office/drawing/2014/main" id="{DEB33786-352D-F89B-F83A-2C6BC861D8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0113" y="2781300"/>
            <a:ext cx="6696075"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 name="Group 26">
            <a:extLst>
              <a:ext uri="{FF2B5EF4-FFF2-40B4-BE49-F238E27FC236}">
                <a16:creationId xmlns:a16="http://schemas.microsoft.com/office/drawing/2014/main" id="{F793E2AD-D7BD-B590-B2B0-524A651D73C4}"/>
              </a:ext>
            </a:extLst>
          </p:cNvPr>
          <p:cNvGrpSpPr>
            <a:grpSpLocks/>
          </p:cNvGrpSpPr>
          <p:nvPr/>
        </p:nvGrpSpPr>
        <p:grpSpPr bwMode="auto">
          <a:xfrm>
            <a:off x="1547813" y="4365625"/>
            <a:ext cx="2141537" cy="1008063"/>
            <a:chOff x="3329699" y="1327861"/>
            <a:chExt cx="2142238" cy="1008111"/>
          </a:xfrm>
        </p:grpSpPr>
        <p:sp>
          <p:nvSpPr>
            <p:cNvPr id="71693" name="Rectangle 27">
              <a:extLst>
                <a:ext uri="{FF2B5EF4-FFF2-40B4-BE49-F238E27FC236}">
                  <a16:creationId xmlns:a16="http://schemas.microsoft.com/office/drawing/2014/main" id="{C96DAD2E-D9CC-7A48-706B-3D602BB09D2B}"/>
                </a:ext>
              </a:extLst>
            </p:cNvPr>
            <p:cNvSpPr>
              <a:spLocks noChangeArrowheads="1"/>
            </p:cNvSpPr>
            <p:nvPr/>
          </p:nvSpPr>
          <p:spPr bwMode="auto">
            <a:xfrm>
              <a:off x="3329699" y="1700273"/>
              <a:ext cx="2142238" cy="635699"/>
            </a:xfrm>
            <a:prstGeom prst="rect">
              <a:avLst/>
            </a:prstGeom>
            <a:solidFill>
              <a:srgbClr val="525759"/>
            </a:solidFill>
            <a:ln w="9525" algn="ctr">
              <a:solidFill>
                <a:srgbClr val="525759"/>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DFDCB7"/>
                  </a:solidFill>
                  <a:effectLst/>
                  <a:uLnTx/>
                  <a:uFillTx/>
                  <a:latin typeface="Arial" panose="020B0604020202020204" pitchFamily="34" charset="0"/>
                  <a:ea typeface="+mn-ea"/>
                  <a:cs typeface="Arial" panose="020B0604020202020204" pitchFamily="34" charset="0"/>
                </a:rPr>
                <a:t>Select database to backup</a:t>
              </a:r>
            </a:p>
          </p:txBody>
        </p:sp>
        <p:cxnSp>
          <p:nvCxnSpPr>
            <p:cNvPr id="71694" name="Straight Arrow Connector 28">
              <a:extLst>
                <a:ext uri="{FF2B5EF4-FFF2-40B4-BE49-F238E27FC236}">
                  <a16:creationId xmlns:a16="http://schemas.microsoft.com/office/drawing/2014/main" id="{3D908A32-E8B2-EDA5-3C14-482E0323180A}"/>
                </a:ext>
              </a:extLst>
            </p:cNvPr>
            <p:cNvCxnSpPr>
              <a:cxnSpLocks noChangeShapeType="1"/>
              <a:stCxn id="71693" idx="0"/>
            </p:cNvCxnSpPr>
            <p:nvPr/>
          </p:nvCxnSpPr>
          <p:spPr bwMode="auto">
            <a:xfrm flipH="1" flipV="1">
              <a:off x="4185022" y="1327861"/>
              <a:ext cx="215796" cy="372412"/>
            </a:xfrm>
            <a:prstGeom prst="straightConnector1">
              <a:avLst/>
            </a:prstGeom>
            <a:noFill/>
            <a:ln w="25400" algn="ctr">
              <a:solidFill>
                <a:srgbClr val="525759"/>
              </a:solidFill>
              <a:round/>
              <a:headEnd/>
              <a:tailEnd type="triangle" w="med" len="med"/>
            </a:ln>
            <a:extLst>
              <a:ext uri="{909E8E84-426E-40DD-AFC4-6F175D3DCCD1}">
                <a14:hiddenFill xmlns:a14="http://schemas.microsoft.com/office/drawing/2010/main">
                  <a:noFill/>
                </a14:hiddenFill>
              </a:ext>
            </a:extLst>
          </p:spPr>
        </p:cxnSp>
      </p:grpSp>
      <p:grpSp>
        <p:nvGrpSpPr>
          <p:cNvPr id="4" name="Group 29">
            <a:extLst>
              <a:ext uri="{FF2B5EF4-FFF2-40B4-BE49-F238E27FC236}">
                <a16:creationId xmlns:a16="http://schemas.microsoft.com/office/drawing/2014/main" id="{A58E6FE6-E17C-8E66-F3E9-D863620425D4}"/>
              </a:ext>
            </a:extLst>
          </p:cNvPr>
          <p:cNvGrpSpPr>
            <a:grpSpLocks/>
          </p:cNvGrpSpPr>
          <p:nvPr/>
        </p:nvGrpSpPr>
        <p:grpSpPr bwMode="auto">
          <a:xfrm>
            <a:off x="3841750" y="4349750"/>
            <a:ext cx="2459038" cy="1023938"/>
            <a:chOff x="3329699" y="1327861"/>
            <a:chExt cx="2457662" cy="1022705"/>
          </a:xfrm>
        </p:grpSpPr>
        <p:sp>
          <p:nvSpPr>
            <p:cNvPr id="71691" name="Rectangle 30">
              <a:extLst>
                <a:ext uri="{FF2B5EF4-FFF2-40B4-BE49-F238E27FC236}">
                  <a16:creationId xmlns:a16="http://schemas.microsoft.com/office/drawing/2014/main" id="{2C2C025F-38F9-9148-C4C7-7FEA4C6B788B}"/>
                </a:ext>
              </a:extLst>
            </p:cNvPr>
            <p:cNvSpPr>
              <a:spLocks noChangeArrowheads="1"/>
            </p:cNvSpPr>
            <p:nvPr/>
          </p:nvSpPr>
          <p:spPr bwMode="auto">
            <a:xfrm>
              <a:off x="3329699" y="1700273"/>
              <a:ext cx="2457662" cy="650293"/>
            </a:xfrm>
            <a:prstGeom prst="rect">
              <a:avLst/>
            </a:prstGeom>
            <a:solidFill>
              <a:srgbClr val="525759"/>
            </a:solidFill>
            <a:ln w="9525" algn="ctr">
              <a:solidFill>
                <a:srgbClr val="525759"/>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DFDCB7"/>
                  </a:solidFill>
                  <a:effectLst/>
                  <a:uLnTx/>
                  <a:uFillTx/>
                  <a:latin typeface="Arial" panose="020B0604020202020204" pitchFamily="34" charset="0"/>
                  <a:ea typeface="+mn-ea"/>
                  <a:cs typeface="Arial" panose="020B0604020202020204" pitchFamily="34" charset="0"/>
                </a:rPr>
                <a:t>Select tables within a database to backup</a:t>
              </a:r>
            </a:p>
          </p:txBody>
        </p:sp>
        <p:cxnSp>
          <p:nvCxnSpPr>
            <p:cNvPr id="71692" name="Straight Arrow Connector 31">
              <a:extLst>
                <a:ext uri="{FF2B5EF4-FFF2-40B4-BE49-F238E27FC236}">
                  <a16:creationId xmlns:a16="http://schemas.microsoft.com/office/drawing/2014/main" id="{1E10819B-2168-EF98-A5C8-9234CE1789F6}"/>
                </a:ext>
              </a:extLst>
            </p:cNvPr>
            <p:cNvCxnSpPr>
              <a:cxnSpLocks noChangeShapeType="1"/>
            </p:cNvCxnSpPr>
            <p:nvPr/>
          </p:nvCxnSpPr>
          <p:spPr bwMode="auto">
            <a:xfrm flipH="1" flipV="1">
              <a:off x="3519337" y="1327861"/>
              <a:ext cx="215796" cy="372412"/>
            </a:xfrm>
            <a:prstGeom prst="straightConnector1">
              <a:avLst/>
            </a:prstGeom>
            <a:noFill/>
            <a:ln w="25400" algn="ctr">
              <a:solidFill>
                <a:srgbClr val="525759"/>
              </a:solidFill>
              <a:round/>
              <a:headEnd/>
              <a:tailEnd type="triangle" w="med" len="med"/>
            </a:ln>
            <a:extLst>
              <a:ext uri="{909E8E84-426E-40DD-AFC4-6F175D3DCCD1}">
                <a14:hiddenFill xmlns:a14="http://schemas.microsoft.com/office/drawing/2010/main">
                  <a:noFill/>
                </a14:hiddenFill>
              </a:ext>
            </a:extLst>
          </p:spPr>
        </p:cxnSp>
      </p:grpSp>
      <p:grpSp>
        <p:nvGrpSpPr>
          <p:cNvPr id="5" name="Group 32">
            <a:extLst>
              <a:ext uri="{FF2B5EF4-FFF2-40B4-BE49-F238E27FC236}">
                <a16:creationId xmlns:a16="http://schemas.microsoft.com/office/drawing/2014/main" id="{ACA53978-9219-B823-DFBE-44BBB5034040}"/>
              </a:ext>
            </a:extLst>
          </p:cNvPr>
          <p:cNvGrpSpPr>
            <a:grpSpLocks/>
          </p:cNvGrpSpPr>
          <p:nvPr/>
        </p:nvGrpSpPr>
        <p:grpSpPr bwMode="auto">
          <a:xfrm>
            <a:off x="4294188" y="5765800"/>
            <a:ext cx="2749550" cy="347663"/>
            <a:chOff x="3281802" y="1694906"/>
            <a:chExt cx="2749823" cy="347667"/>
          </a:xfrm>
        </p:grpSpPr>
        <p:sp>
          <p:nvSpPr>
            <p:cNvPr id="71689" name="Rectangle 33">
              <a:extLst>
                <a:ext uri="{FF2B5EF4-FFF2-40B4-BE49-F238E27FC236}">
                  <a16:creationId xmlns:a16="http://schemas.microsoft.com/office/drawing/2014/main" id="{09811B9A-CB5F-B2B2-45A9-E509766D566F}"/>
                </a:ext>
              </a:extLst>
            </p:cNvPr>
            <p:cNvSpPr>
              <a:spLocks noChangeArrowheads="1"/>
            </p:cNvSpPr>
            <p:nvPr/>
          </p:nvSpPr>
          <p:spPr bwMode="auto">
            <a:xfrm>
              <a:off x="3281802" y="1694906"/>
              <a:ext cx="2142238" cy="347667"/>
            </a:xfrm>
            <a:prstGeom prst="rect">
              <a:avLst/>
            </a:prstGeom>
            <a:solidFill>
              <a:srgbClr val="525759"/>
            </a:solidFill>
            <a:ln w="9525" algn="ctr">
              <a:solidFill>
                <a:srgbClr val="525759"/>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DFDCB7"/>
                  </a:solidFill>
                  <a:effectLst/>
                  <a:uLnTx/>
                  <a:uFillTx/>
                  <a:latin typeface="Arial" panose="020B0604020202020204" pitchFamily="34" charset="0"/>
                  <a:ea typeface="+mn-ea"/>
                  <a:cs typeface="Arial" panose="020B0604020202020204" pitchFamily="34" charset="0"/>
                </a:rPr>
                <a:t>Start backup</a:t>
              </a:r>
            </a:p>
          </p:txBody>
        </p:sp>
        <p:cxnSp>
          <p:nvCxnSpPr>
            <p:cNvPr id="71690" name="Straight Arrow Connector 34">
              <a:extLst>
                <a:ext uri="{FF2B5EF4-FFF2-40B4-BE49-F238E27FC236}">
                  <a16:creationId xmlns:a16="http://schemas.microsoft.com/office/drawing/2014/main" id="{7F26582D-D552-60E0-B0CD-1F8E8881395E}"/>
                </a:ext>
              </a:extLst>
            </p:cNvPr>
            <p:cNvCxnSpPr>
              <a:cxnSpLocks noChangeShapeType="1"/>
              <a:stCxn id="71689" idx="3"/>
            </p:cNvCxnSpPr>
            <p:nvPr/>
          </p:nvCxnSpPr>
          <p:spPr bwMode="auto">
            <a:xfrm>
              <a:off x="5424040" y="1868740"/>
              <a:ext cx="607585" cy="137160"/>
            </a:xfrm>
            <a:prstGeom prst="straightConnector1">
              <a:avLst/>
            </a:prstGeom>
            <a:noFill/>
            <a:ln w="25400" algn="ctr">
              <a:solidFill>
                <a:srgbClr val="525759"/>
              </a:solidFill>
              <a:round/>
              <a:headEnd/>
              <a:tailEnd type="triangle" w="med" len="med"/>
            </a:ln>
            <a:extLst>
              <a:ext uri="{909E8E84-426E-40DD-AFC4-6F175D3DCCD1}">
                <a14:hiddenFill xmlns:a14="http://schemas.microsoft.com/office/drawing/2010/main">
                  <a:noFill/>
                </a14:hiddenFill>
              </a:ext>
            </a:extLst>
          </p:spPr>
        </p:cxnSp>
      </p:gr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wipe(left)">
                                      <p:cBhvr>
                                        <p:cTn id="7" dur="500"/>
                                        <p:tgtEl>
                                          <p:spTgt spid="18">
                                            <p:txEl>
                                              <p:pRg st="0" end="0"/>
                                            </p:txEl>
                                          </p:spTgt>
                                        </p:tgtEl>
                                      </p:cBhvr>
                                    </p:animEffect>
                                  </p:childTnLst>
                                </p:cTn>
                              </p:par>
                            </p:childTnLst>
                          </p:cTn>
                        </p:par>
                        <p:par>
                          <p:cTn id="8" fill="hold" nodeType="afterGroup">
                            <p:stCondLst>
                              <p:cond delay="500"/>
                            </p:stCondLst>
                            <p:childTnLst>
                              <p:par>
                                <p:cTn id="9" presetID="16" presetClass="entr" presetSubtype="21" fill="hold"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barn(inVertical)">
                                      <p:cBhvr>
                                        <p:cTn id="11" dur="500"/>
                                        <p:tgtEl>
                                          <p:spTgt spid="11"/>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42" presetClass="entr" presetSubtype="0" fill="hold" nodeType="click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1000"/>
                                        <p:tgtEl>
                                          <p:spTgt spid="3"/>
                                        </p:tgtEl>
                                      </p:cBhvr>
                                    </p:animEffect>
                                    <p:anim calcmode="lin" valueType="num">
                                      <p:cBhvr>
                                        <p:cTn id="17" dur="1000" fill="hold"/>
                                        <p:tgtEl>
                                          <p:spTgt spid="3"/>
                                        </p:tgtEl>
                                        <p:attrNameLst>
                                          <p:attrName>ppt_x</p:attrName>
                                        </p:attrNameLst>
                                      </p:cBhvr>
                                      <p:tavLst>
                                        <p:tav tm="0">
                                          <p:val>
                                            <p:strVal val="#ppt_x"/>
                                          </p:val>
                                        </p:tav>
                                        <p:tav tm="100000">
                                          <p:val>
                                            <p:strVal val="#ppt_x"/>
                                          </p:val>
                                        </p:tav>
                                      </p:tavLst>
                                    </p:anim>
                                    <p:anim calcmode="lin" valueType="num">
                                      <p:cBhvr>
                                        <p:cTn id="18"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42"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fade">
                                      <p:cBhvr>
                                        <p:cTn id="23" dur="1000"/>
                                        <p:tgtEl>
                                          <p:spTgt spid="4"/>
                                        </p:tgtEl>
                                      </p:cBhvr>
                                    </p:animEffect>
                                    <p:anim calcmode="lin" valueType="num">
                                      <p:cBhvr>
                                        <p:cTn id="24" dur="1000" fill="hold"/>
                                        <p:tgtEl>
                                          <p:spTgt spid="4"/>
                                        </p:tgtEl>
                                        <p:attrNameLst>
                                          <p:attrName>ppt_x</p:attrName>
                                        </p:attrNameLst>
                                      </p:cBhvr>
                                      <p:tavLst>
                                        <p:tav tm="0">
                                          <p:val>
                                            <p:strVal val="#ppt_x"/>
                                          </p:val>
                                        </p:tav>
                                        <p:tav tm="100000">
                                          <p:val>
                                            <p:strVal val="#ppt_x"/>
                                          </p:val>
                                        </p:tav>
                                      </p:tavLst>
                                    </p:anim>
                                    <p:anim calcmode="lin" valueType="num">
                                      <p:cBhvr>
                                        <p:cTn id="25"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42" presetClass="entr" presetSubtype="0" fill="hold" nodeType="click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fade">
                                      <p:cBhvr>
                                        <p:cTn id="30" dur="1000"/>
                                        <p:tgtEl>
                                          <p:spTgt spid="5"/>
                                        </p:tgtEl>
                                      </p:cBhvr>
                                    </p:animEffect>
                                    <p:anim calcmode="lin" valueType="num">
                                      <p:cBhvr>
                                        <p:cTn id="31" dur="1000" fill="hold"/>
                                        <p:tgtEl>
                                          <p:spTgt spid="5"/>
                                        </p:tgtEl>
                                        <p:attrNameLst>
                                          <p:attrName>ppt_x</p:attrName>
                                        </p:attrNameLst>
                                      </p:cBhvr>
                                      <p:tavLst>
                                        <p:tav tm="0">
                                          <p:val>
                                            <p:strVal val="#ppt_x"/>
                                          </p:val>
                                        </p:tav>
                                        <p:tav tm="100000">
                                          <p:val>
                                            <p:strVal val="#ppt_x"/>
                                          </p:val>
                                        </p:tav>
                                      </p:tavLst>
                                    </p:anim>
                                    <p:anim calcmode="lin" valueType="num">
                                      <p:cBhvr>
                                        <p:cTn id="32"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p:bldLst>
  </p:timing>
</p:sld>
</file>

<file path=ppt/slides/slide3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76D952-6FBF-390E-57DA-00CE5B3DE2BB}"/>
              </a:ext>
            </a:extLst>
          </p:cNvPr>
          <p:cNvSpPr>
            <a:spLocks noGrp="1"/>
          </p:cNvSpPr>
          <p:nvPr>
            <p:ph type="title"/>
          </p:nvPr>
        </p:nvSpPr>
        <p:spPr>
          <a:xfrm>
            <a:off x="457200" y="0"/>
            <a:ext cx="7620000" cy="1143000"/>
          </a:xfrm>
        </p:spPr>
        <p:txBody>
          <a:bodyPr/>
          <a:lstStyle/>
          <a:p>
            <a:pPr algn="ctr">
              <a:defRPr/>
            </a:pPr>
            <a:r>
              <a:rPr lang="en-US" dirty="0"/>
              <a:t>Database Backup</a:t>
            </a:r>
            <a:endParaRPr lang="en-MY" dirty="0"/>
          </a:p>
        </p:txBody>
      </p:sp>
      <p:sp>
        <p:nvSpPr>
          <p:cNvPr id="19" name="Content Placeholder 2">
            <a:extLst>
              <a:ext uri="{FF2B5EF4-FFF2-40B4-BE49-F238E27FC236}">
                <a16:creationId xmlns:a16="http://schemas.microsoft.com/office/drawing/2014/main" id="{E339E9E2-0F8B-EF6F-3EED-8BD90F8C2FC9}"/>
              </a:ext>
            </a:extLst>
          </p:cNvPr>
          <p:cNvSpPr txBox="1">
            <a:spLocks/>
          </p:cNvSpPr>
          <p:nvPr/>
        </p:nvSpPr>
        <p:spPr bwMode="auto">
          <a:xfrm>
            <a:off x="250825" y="1268413"/>
            <a:ext cx="7978775"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US"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Comparison between binary backup and text-format backup </a:t>
            </a: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graphicFrame>
        <p:nvGraphicFramePr>
          <p:cNvPr id="3" name="Table 2">
            <a:extLst>
              <a:ext uri="{FF2B5EF4-FFF2-40B4-BE49-F238E27FC236}">
                <a16:creationId xmlns:a16="http://schemas.microsoft.com/office/drawing/2014/main" id="{9EFB3066-E358-5909-5E1D-34B2FD364BEF}"/>
              </a:ext>
            </a:extLst>
          </p:cNvPr>
          <p:cNvGraphicFramePr>
            <a:graphicFrameLocks noGrp="1"/>
          </p:cNvGraphicFramePr>
          <p:nvPr/>
        </p:nvGraphicFramePr>
        <p:xfrm>
          <a:off x="228600" y="2420938"/>
          <a:ext cx="7993063" cy="3810000"/>
        </p:xfrm>
        <a:graphic>
          <a:graphicData uri="http://schemas.openxmlformats.org/drawingml/2006/table">
            <a:tbl>
              <a:tblPr firstRow="1" bandRow="1">
                <a:tableStyleId>{21E4AEA4-8DFA-4A89-87EB-49C32662AFE0}</a:tableStyleId>
              </a:tblPr>
              <a:tblGrid>
                <a:gridCol w="1406187">
                  <a:extLst>
                    <a:ext uri="{9D8B030D-6E8A-4147-A177-3AD203B41FA5}">
                      <a16:colId xmlns:a16="http://schemas.microsoft.com/office/drawing/2014/main" val="20000"/>
                    </a:ext>
                  </a:extLst>
                </a:gridCol>
                <a:gridCol w="3293438">
                  <a:extLst>
                    <a:ext uri="{9D8B030D-6E8A-4147-A177-3AD203B41FA5}">
                      <a16:colId xmlns:a16="http://schemas.microsoft.com/office/drawing/2014/main" val="20001"/>
                    </a:ext>
                  </a:extLst>
                </a:gridCol>
                <a:gridCol w="3293438">
                  <a:extLst>
                    <a:ext uri="{9D8B030D-6E8A-4147-A177-3AD203B41FA5}">
                      <a16:colId xmlns:a16="http://schemas.microsoft.com/office/drawing/2014/main" val="20002"/>
                    </a:ext>
                  </a:extLst>
                </a:gridCol>
              </a:tblGrid>
              <a:tr h="370840">
                <a:tc>
                  <a:txBody>
                    <a:bodyPr/>
                    <a:lstStyle/>
                    <a:p>
                      <a:endParaRPr lang="en-CA" sz="2000" dirty="0"/>
                    </a:p>
                  </a:txBody>
                  <a:tcPr marL="91442" marR="91442"/>
                </a:tc>
                <a:tc>
                  <a:txBody>
                    <a:bodyPr/>
                    <a:lstStyle/>
                    <a:p>
                      <a:pPr algn="ctr"/>
                      <a:r>
                        <a:rPr lang="en-CA" sz="2000" dirty="0"/>
                        <a:t>Binary Backup</a:t>
                      </a:r>
                    </a:p>
                  </a:txBody>
                  <a:tcPr marL="91442" marR="91442"/>
                </a:tc>
                <a:tc>
                  <a:txBody>
                    <a:bodyPr/>
                    <a:lstStyle/>
                    <a:p>
                      <a:pPr algn="ctr"/>
                      <a:r>
                        <a:rPr lang="en-CA" sz="2000" dirty="0"/>
                        <a:t>Text-Format</a:t>
                      </a:r>
                      <a:r>
                        <a:rPr lang="en-CA" sz="2000" baseline="0" dirty="0"/>
                        <a:t> Backup</a:t>
                      </a:r>
                      <a:endParaRPr lang="en-CA" sz="2000" dirty="0"/>
                    </a:p>
                  </a:txBody>
                  <a:tcPr marL="91442" marR="91442"/>
                </a:tc>
                <a:extLst>
                  <a:ext uri="{0D108BD9-81ED-4DB2-BD59-A6C34878D82A}">
                    <a16:rowId xmlns:a16="http://schemas.microsoft.com/office/drawing/2014/main" val="10000"/>
                  </a:ext>
                </a:extLst>
              </a:tr>
              <a:tr h="370840">
                <a:tc>
                  <a:txBody>
                    <a:bodyPr/>
                    <a:lstStyle/>
                    <a:p>
                      <a:r>
                        <a:rPr lang="en-CA" sz="2000" dirty="0"/>
                        <a:t>Backup</a:t>
                      </a:r>
                    </a:p>
                  </a:txBody>
                  <a:tcPr marL="91442" marR="91442"/>
                </a:tc>
                <a:tc>
                  <a:txBody>
                    <a:bodyPr/>
                    <a:lstStyle/>
                    <a:p>
                      <a:r>
                        <a:rPr lang="en-CA" sz="2000" dirty="0"/>
                        <a:t>Copying of data files</a:t>
                      </a:r>
                    </a:p>
                  </a:txBody>
                  <a:tcPr marL="91442" marR="91442"/>
                </a:tc>
                <a:tc>
                  <a:txBody>
                    <a:bodyPr/>
                    <a:lstStyle/>
                    <a:p>
                      <a:r>
                        <a:rPr lang="en-CA" sz="2000" dirty="0"/>
                        <a:t>Creation of SQL</a:t>
                      </a:r>
                      <a:r>
                        <a:rPr lang="en-CA" sz="2000" baseline="0" dirty="0"/>
                        <a:t> files</a:t>
                      </a:r>
                      <a:endParaRPr lang="en-CA" sz="2000" dirty="0"/>
                    </a:p>
                  </a:txBody>
                  <a:tcPr marL="91442" marR="91442"/>
                </a:tc>
                <a:extLst>
                  <a:ext uri="{0D108BD9-81ED-4DB2-BD59-A6C34878D82A}">
                    <a16:rowId xmlns:a16="http://schemas.microsoft.com/office/drawing/2014/main" val="10001"/>
                  </a:ext>
                </a:extLst>
              </a:tr>
              <a:tr h="370840">
                <a:tc>
                  <a:txBody>
                    <a:bodyPr/>
                    <a:lstStyle/>
                    <a:p>
                      <a:r>
                        <a:rPr lang="en-CA" sz="2000" dirty="0"/>
                        <a:t>Restore</a:t>
                      </a:r>
                    </a:p>
                  </a:txBody>
                  <a:tcPr marL="91442" marR="91442"/>
                </a:tc>
                <a:tc>
                  <a:txBody>
                    <a:bodyPr/>
                    <a:lstStyle/>
                    <a:p>
                      <a:r>
                        <a:rPr lang="en-CA" sz="2000" dirty="0"/>
                        <a:t>Copying of data files</a:t>
                      </a:r>
                    </a:p>
                  </a:txBody>
                  <a:tcPr marL="91442" marR="91442"/>
                </a:tc>
                <a:tc>
                  <a:txBody>
                    <a:bodyPr/>
                    <a:lstStyle/>
                    <a:p>
                      <a:r>
                        <a:rPr lang="en-CA" sz="2000" dirty="0"/>
                        <a:t>Execute the SQL in the backup files</a:t>
                      </a:r>
                    </a:p>
                  </a:txBody>
                  <a:tcPr marL="91442" marR="91442"/>
                </a:tc>
                <a:extLst>
                  <a:ext uri="{0D108BD9-81ED-4DB2-BD59-A6C34878D82A}">
                    <a16:rowId xmlns:a16="http://schemas.microsoft.com/office/drawing/2014/main" val="10002"/>
                  </a:ext>
                </a:extLst>
              </a:tr>
              <a:tr h="370840">
                <a:tc>
                  <a:txBody>
                    <a:bodyPr/>
                    <a:lstStyle/>
                    <a:p>
                      <a:r>
                        <a:rPr lang="en-CA" sz="2000" dirty="0"/>
                        <a:t>Speed</a:t>
                      </a:r>
                    </a:p>
                  </a:txBody>
                  <a:tcPr marL="91442" marR="91442"/>
                </a:tc>
                <a:tc>
                  <a:txBody>
                    <a:bodyPr/>
                    <a:lstStyle/>
                    <a:p>
                      <a:r>
                        <a:rPr lang="en-CA" sz="2000" dirty="0"/>
                        <a:t>Fast</a:t>
                      </a:r>
                      <a:r>
                        <a:rPr lang="en-CA" sz="2000" baseline="0" dirty="0"/>
                        <a:t> (All one is doing is file copy)</a:t>
                      </a:r>
                      <a:endParaRPr lang="en-CA" sz="2000" dirty="0"/>
                    </a:p>
                  </a:txBody>
                  <a:tcPr marL="91442" marR="91442"/>
                </a:tc>
                <a:tc>
                  <a:txBody>
                    <a:bodyPr/>
                    <a:lstStyle/>
                    <a:p>
                      <a:r>
                        <a:rPr lang="en-CA" sz="2000" dirty="0"/>
                        <a:t>Slow</a:t>
                      </a:r>
                      <a:r>
                        <a:rPr lang="en-CA" sz="2000" baseline="0" dirty="0"/>
                        <a:t> (Generating SQL, not suitable for large database)</a:t>
                      </a:r>
                      <a:endParaRPr lang="en-CA" sz="2000" dirty="0"/>
                    </a:p>
                  </a:txBody>
                  <a:tcPr marL="91442" marR="91442"/>
                </a:tc>
                <a:extLst>
                  <a:ext uri="{0D108BD9-81ED-4DB2-BD59-A6C34878D82A}">
                    <a16:rowId xmlns:a16="http://schemas.microsoft.com/office/drawing/2014/main" val="10003"/>
                  </a:ext>
                </a:extLst>
              </a:tr>
              <a:tr h="370840">
                <a:tc>
                  <a:txBody>
                    <a:bodyPr/>
                    <a:lstStyle/>
                    <a:p>
                      <a:r>
                        <a:rPr lang="en-CA" sz="2000" dirty="0"/>
                        <a:t>Database server shutdown</a:t>
                      </a:r>
                    </a:p>
                  </a:txBody>
                  <a:tcPr marL="91442" marR="91442"/>
                </a:tc>
                <a:tc>
                  <a:txBody>
                    <a:bodyPr/>
                    <a:lstStyle/>
                    <a:p>
                      <a:r>
                        <a:rPr lang="en-CA" sz="2000" dirty="0"/>
                        <a:t>Often required</a:t>
                      </a:r>
                      <a:r>
                        <a:rPr lang="en-CA" sz="2000" baseline="0" dirty="0"/>
                        <a:t> (</a:t>
                      </a:r>
                      <a:r>
                        <a:rPr lang="en-CA" sz="2000" dirty="0"/>
                        <a:t>Copying database files while the files are being updated by DBMS may corrupt the database’s</a:t>
                      </a:r>
                      <a:r>
                        <a:rPr lang="en-CA" sz="2000" baseline="0" dirty="0"/>
                        <a:t> data)</a:t>
                      </a:r>
                      <a:endParaRPr lang="en-CA" sz="2000" dirty="0"/>
                    </a:p>
                  </a:txBody>
                  <a:tcPr marL="91442" marR="91442"/>
                </a:tc>
                <a:tc>
                  <a:txBody>
                    <a:bodyPr/>
                    <a:lstStyle/>
                    <a:p>
                      <a:r>
                        <a:rPr lang="en-CA" sz="2000" dirty="0"/>
                        <a:t>Not required</a:t>
                      </a:r>
                    </a:p>
                  </a:txBody>
                  <a:tcPr marL="91442" marR="91442"/>
                </a:tc>
                <a:extLst>
                  <a:ext uri="{0D108BD9-81ED-4DB2-BD59-A6C34878D82A}">
                    <a16:rowId xmlns:a16="http://schemas.microsoft.com/office/drawing/2014/main" val="10004"/>
                  </a:ext>
                </a:extLst>
              </a:tr>
            </a:tbl>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animEffect transition="in" filter="wipe(left)">
                                      <p:cBhvr>
                                        <p:cTn id="7" dur="500"/>
                                        <p:tgtEl>
                                          <p:spTgt spid="19">
                                            <p:txEl>
                                              <p:pRg st="0" end="0"/>
                                            </p:txEl>
                                          </p:spTgt>
                                        </p:tgtEl>
                                      </p:cBhvr>
                                    </p:animEffect>
                                  </p:childTnLst>
                                </p:cTn>
                              </p:par>
                            </p:childTnLst>
                          </p:cTn>
                        </p:par>
                        <p:par>
                          <p:cTn id="8" fill="hold" nodeType="afterGroup">
                            <p:stCondLst>
                              <p:cond delay="500"/>
                            </p:stCondLst>
                            <p:childTnLst>
                              <p:par>
                                <p:cTn id="9" presetID="16" presetClass="entr" presetSubtype="21"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barn(inVertical)">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build="p"/>
    </p:bldLst>
  </p:timing>
</p:sld>
</file>

<file path=ppt/slides/slide3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FDF3D-2232-EF72-CF1C-D3986FD6EA17}"/>
              </a:ext>
            </a:extLst>
          </p:cNvPr>
          <p:cNvSpPr>
            <a:spLocks noGrp="1"/>
          </p:cNvSpPr>
          <p:nvPr>
            <p:ph type="title"/>
          </p:nvPr>
        </p:nvSpPr>
        <p:spPr>
          <a:xfrm>
            <a:off x="457200" y="0"/>
            <a:ext cx="7620000" cy="1143000"/>
          </a:xfrm>
        </p:spPr>
        <p:txBody>
          <a:bodyPr/>
          <a:lstStyle/>
          <a:p>
            <a:pPr algn="ctr">
              <a:defRPr/>
            </a:pPr>
            <a:r>
              <a:rPr lang="en-US" dirty="0"/>
              <a:t>Database Replication</a:t>
            </a:r>
            <a:endParaRPr lang="en-MY" dirty="0"/>
          </a:p>
        </p:txBody>
      </p:sp>
      <p:sp>
        <p:nvSpPr>
          <p:cNvPr id="13" name="Content Placeholder 2">
            <a:extLst>
              <a:ext uri="{FF2B5EF4-FFF2-40B4-BE49-F238E27FC236}">
                <a16:creationId xmlns:a16="http://schemas.microsoft.com/office/drawing/2014/main" id="{96D2C187-862B-F03C-8EBF-A83ADED0AA87}"/>
              </a:ext>
            </a:extLst>
          </p:cNvPr>
          <p:cNvSpPr txBox="1">
            <a:spLocks/>
          </p:cNvSpPr>
          <p:nvPr/>
        </p:nvSpPr>
        <p:spPr bwMode="auto">
          <a:xfrm>
            <a:off x="250825" y="1219200"/>
            <a:ext cx="7902575"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US" altLang="en-US" sz="30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Database replication is a way to ensure data consistency among many database servers (i.e. servers should </a:t>
            </a:r>
            <a:r>
              <a:rPr kumimoji="0" lang="en-US" altLang="en-US" sz="3000" b="1" i="0" u="none" strike="noStrike" kern="1200" cap="none" spc="0" normalizeH="0" baseline="0" noProof="0">
                <a:ln>
                  <a:noFill/>
                </a:ln>
                <a:solidFill>
                  <a:srgbClr val="9CBEBD"/>
                </a:solidFill>
                <a:effectLst/>
                <a:uLnTx/>
                <a:uFillTx/>
                <a:latin typeface="Calibri" panose="020F0502020204030204" pitchFamily="34" charset="0"/>
                <a:ea typeface="+mn-ea"/>
                <a:cs typeface="Arial" panose="020B0604020202020204" pitchFamily="34" charset="0"/>
              </a:rPr>
              <a:t>eventually</a:t>
            </a:r>
            <a:r>
              <a:rPr kumimoji="0" lang="en-US" altLang="en-US" sz="30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 store the same data)</a:t>
            </a:r>
            <a:endParaRPr kumimoji="0" lang="en-CA" altLang="en-US" sz="30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sp>
        <p:nvSpPr>
          <p:cNvPr id="3" name="TextBox 2">
            <a:extLst>
              <a:ext uri="{FF2B5EF4-FFF2-40B4-BE49-F238E27FC236}">
                <a16:creationId xmlns:a16="http://schemas.microsoft.com/office/drawing/2014/main" id="{4FA77CAE-21D7-6C3D-ED1D-E8895CC97FC8}"/>
              </a:ext>
            </a:extLst>
          </p:cNvPr>
          <p:cNvSpPr txBox="1">
            <a:spLocks noChangeArrowheads="1"/>
          </p:cNvSpPr>
          <p:nvPr/>
        </p:nvSpPr>
        <p:spPr bwMode="auto">
          <a:xfrm>
            <a:off x="687388" y="3933825"/>
            <a:ext cx="16573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Master server</a:t>
            </a:r>
          </a:p>
        </p:txBody>
      </p:sp>
      <p:sp>
        <p:nvSpPr>
          <p:cNvPr id="38" name="Rectangle 37">
            <a:extLst>
              <a:ext uri="{FF2B5EF4-FFF2-40B4-BE49-F238E27FC236}">
                <a16:creationId xmlns:a16="http://schemas.microsoft.com/office/drawing/2014/main" id="{6278FFC8-6F00-D452-7C96-05F119338BBF}"/>
              </a:ext>
            </a:extLst>
          </p:cNvPr>
          <p:cNvSpPr>
            <a:spLocks noChangeArrowheads="1"/>
          </p:cNvSpPr>
          <p:nvPr/>
        </p:nvSpPr>
        <p:spPr bwMode="auto">
          <a:xfrm>
            <a:off x="722313" y="5589588"/>
            <a:ext cx="6973887" cy="701675"/>
          </a:xfrm>
          <a:prstGeom prst="rect">
            <a:avLst/>
          </a:prstGeom>
          <a:solidFill>
            <a:srgbClr val="FFFF00">
              <a:alpha val="30196"/>
            </a:srgbClr>
          </a:solidFill>
          <a:ln w="9525" algn="ctr">
            <a:solidFill>
              <a:srgbClr val="FFC000"/>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20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With database replication, a DBA needs to setup one of the many database servers as the </a:t>
            </a:r>
            <a:r>
              <a:rPr kumimoji="0" lang="en-CA" altLang="en-US" sz="2000" b="1"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master server</a:t>
            </a:r>
          </a:p>
        </p:txBody>
      </p:sp>
      <p:pic>
        <p:nvPicPr>
          <p:cNvPr id="73734" name="Picture 26">
            <a:extLst>
              <a:ext uri="{FF2B5EF4-FFF2-40B4-BE49-F238E27FC236}">
                <a16:creationId xmlns:a16="http://schemas.microsoft.com/office/drawing/2014/main" id="{A3652661-CCA6-FBA2-0083-A2900A4E1C8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426075" y="4191000"/>
            <a:ext cx="1347788" cy="108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3735" name="Picture 13">
            <a:extLst>
              <a:ext uri="{FF2B5EF4-FFF2-40B4-BE49-F238E27FC236}">
                <a16:creationId xmlns:a16="http://schemas.microsoft.com/office/drawing/2014/main" id="{5F0A3BC6-7244-773F-C875-903AD3CD128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453063" y="2852738"/>
            <a:ext cx="134620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3736" name="Picture 16">
            <a:extLst>
              <a:ext uri="{FF2B5EF4-FFF2-40B4-BE49-F238E27FC236}">
                <a16:creationId xmlns:a16="http://schemas.microsoft.com/office/drawing/2014/main" id="{B510E2EF-E55A-0B43-7626-52F557F12F4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416175" y="3581400"/>
            <a:ext cx="1346200"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wipe(left)">
                                      <p:cBhvr>
                                        <p:cTn id="7" dur="500"/>
                                        <p:tgtEl>
                                          <p:spTgt spid="1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8"/>
                                        </p:tgtEl>
                                        <p:attrNameLst>
                                          <p:attrName>style.visibility</p:attrName>
                                        </p:attrNameLst>
                                      </p:cBhvr>
                                      <p:to>
                                        <p:strVal val="visible"/>
                                      </p:to>
                                    </p:set>
                                    <p:animEffect transition="in" filter="barn(inVertical)">
                                      <p:cBhvr>
                                        <p:cTn id="12" dur="500"/>
                                        <p:tgtEl>
                                          <p:spTgt spid="38"/>
                                        </p:tgtEl>
                                      </p:cBhvr>
                                    </p:animEffect>
                                  </p:childTnLst>
                                </p:cTn>
                              </p:par>
                            </p:childTnLst>
                          </p:cTn>
                        </p:par>
                        <p:par>
                          <p:cTn id="13" fill="hold" nodeType="afterGroup">
                            <p:stCondLst>
                              <p:cond delay="500"/>
                            </p:stCondLst>
                            <p:childTnLst>
                              <p:par>
                                <p:cTn id="14" presetID="42" presetClass="entr" presetSubtype="0" fill="hold" grpId="0" nodeType="after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1000"/>
                                        <p:tgtEl>
                                          <p:spTgt spid="3"/>
                                        </p:tgtEl>
                                      </p:cBhvr>
                                    </p:animEffect>
                                    <p:anim calcmode="lin" valueType="num">
                                      <p:cBhvr>
                                        <p:cTn id="17" dur="1000" fill="hold"/>
                                        <p:tgtEl>
                                          <p:spTgt spid="3"/>
                                        </p:tgtEl>
                                        <p:attrNameLst>
                                          <p:attrName>ppt_x</p:attrName>
                                        </p:attrNameLst>
                                      </p:cBhvr>
                                      <p:tavLst>
                                        <p:tav tm="0">
                                          <p:val>
                                            <p:strVal val="#ppt_x"/>
                                          </p:val>
                                        </p:tav>
                                        <p:tav tm="100000">
                                          <p:val>
                                            <p:strVal val="#ppt_x"/>
                                          </p:val>
                                        </p:tav>
                                      </p:tavLst>
                                    </p:anim>
                                    <p:anim calcmode="lin" valueType="num">
                                      <p:cBhvr>
                                        <p:cTn id="18"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P spid="3" grpId="0"/>
      <p:bldP spid="38" grpId="0" animBg="1"/>
    </p:bldLst>
  </p:timing>
</p:sld>
</file>

<file path=ppt/slides/slide3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629FC2-93D4-1412-6B76-44F15A97A1C2}"/>
              </a:ext>
            </a:extLst>
          </p:cNvPr>
          <p:cNvSpPr>
            <a:spLocks noGrp="1"/>
          </p:cNvSpPr>
          <p:nvPr>
            <p:ph type="title"/>
          </p:nvPr>
        </p:nvSpPr>
        <p:spPr>
          <a:xfrm>
            <a:off x="457200" y="0"/>
            <a:ext cx="7620000" cy="1143000"/>
          </a:xfrm>
        </p:spPr>
        <p:txBody>
          <a:bodyPr/>
          <a:lstStyle/>
          <a:p>
            <a:pPr algn="ctr">
              <a:defRPr/>
            </a:pPr>
            <a:r>
              <a:rPr lang="en-US" dirty="0"/>
              <a:t>Database Replication</a:t>
            </a:r>
            <a:endParaRPr lang="en-MY" dirty="0"/>
          </a:p>
        </p:txBody>
      </p:sp>
      <p:sp>
        <p:nvSpPr>
          <p:cNvPr id="74755" name="Content Placeholder 2">
            <a:extLst>
              <a:ext uri="{FF2B5EF4-FFF2-40B4-BE49-F238E27FC236}">
                <a16:creationId xmlns:a16="http://schemas.microsoft.com/office/drawing/2014/main" id="{D268994A-2AC7-E9C0-1F97-18E127229DAA}"/>
              </a:ext>
            </a:extLst>
          </p:cNvPr>
          <p:cNvSpPr txBox="1">
            <a:spLocks/>
          </p:cNvSpPr>
          <p:nvPr/>
        </p:nvSpPr>
        <p:spPr bwMode="auto">
          <a:xfrm>
            <a:off x="250825" y="1268413"/>
            <a:ext cx="8054975"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US" altLang="en-US" sz="30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Database replication is a way to ensure data consistency among many database servers (i.e. all servers should eventually store the same data)</a:t>
            </a:r>
            <a:endParaRPr kumimoji="0" lang="en-CA" altLang="en-US" sz="30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sp>
        <p:nvSpPr>
          <p:cNvPr id="74756" name="TextBox 2">
            <a:extLst>
              <a:ext uri="{FF2B5EF4-FFF2-40B4-BE49-F238E27FC236}">
                <a16:creationId xmlns:a16="http://schemas.microsoft.com/office/drawing/2014/main" id="{49A38E41-163B-CD4A-179E-0CD96F117DA0}"/>
              </a:ext>
            </a:extLst>
          </p:cNvPr>
          <p:cNvSpPr txBox="1">
            <a:spLocks noChangeArrowheads="1"/>
          </p:cNvSpPr>
          <p:nvPr/>
        </p:nvSpPr>
        <p:spPr bwMode="auto">
          <a:xfrm>
            <a:off x="687388" y="3933825"/>
            <a:ext cx="16573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Master server</a:t>
            </a:r>
          </a:p>
        </p:txBody>
      </p:sp>
      <p:sp>
        <p:nvSpPr>
          <p:cNvPr id="38" name="Rectangle 37">
            <a:extLst>
              <a:ext uri="{FF2B5EF4-FFF2-40B4-BE49-F238E27FC236}">
                <a16:creationId xmlns:a16="http://schemas.microsoft.com/office/drawing/2014/main" id="{F4778B13-4F8E-B70C-BE24-0BEDAFFE7A20}"/>
              </a:ext>
            </a:extLst>
          </p:cNvPr>
          <p:cNvSpPr>
            <a:spLocks noChangeArrowheads="1"/>
          </p:cNvSpPr>
          <p:nvPr/>
        </p:nvSpPr>
        <p:spPr bwMode="auto">
          <a:xfrm>
            <a:off x="762000" y="5589588"/>
            <a:ext cx="6973888" cy="701675"/>
          </a:xfrm>
          <a:prstGeom prst="rect">
            <a:avLst/>
          </a:prstGeom>
          <a:solidFill>
            <a:srgbClr val="FFFF00">
              <a:alpha val="30196"/>
            </a:srgbClr>
          </a:solidFill>
          <a:ln w="9525" algn="ctr">
            <a:solidFill>
              <a:srgbClr val="FFC000"/>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20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The DBA should then setup the rest of the database servers as </a:t>
            </a:r>
            <a:r>
              <a:rPr kumimoji="0" lang="en-CA" altLang="en-US" sz="2000" b="1"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slave servers</a:t>
            </a:r>
          </a:p>
        </p:txBody>
      </p:sp>
      <p:pic>
        <p:nvPicPr>
          <p:cNvPr id="74758" name="Picture 26">
            <a:extLst>
              <a:ext uri="{FF2B5EF4-FFF2-40B4-BE49-F238E27FC236}">
                <a16:creationId xmlns:a16="http://schemas.microsoft.com/office/drawing/2014/main" id="{2F86338A-DF15-5C5D-025B-3F479B0FFE1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426075" y="4191000"/>
            <a:ext cx="1347788" cy="108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759" name="Picture 13">
            <a:extLst>
              <a:ext uri="{FF2B5EF4-FFF2-40B4-BE49-F238E27FC236}">
                <a16:creationId xmlns:a16="http://schemas.microsoft.com/office/drawing/2014/main" id="{33A57A73-4C71-A169-280F-1DAEB1904BA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453063" y="2852738"/>
            <a:ext cx="134620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760" name="Picture 16">
            <a:extLst>
              <a:ext uri="{FF2B5EF4-FFF2-40B4-BE49-F238E27FC236}">
                <a16:creationId xmlns:a16="http://schemas.microsoft.com/office/drawing/2014/main" id="{B293B473-08DA-FFDB-A4F4-20D049D94DD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416175" y="3581400"/>
            <a:ext cx="1346200"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TextBox 17">
            <a:extLst>
              <a:ext uri="{FF2B5EF4-FFF2-40B4-BE49-F238E27FC236}">
                <a16:creationId xmlns:a16="http://schemas.microsoft.com/office/drawing/2014/main" id="{F1CF98BA-1A48-B2EC-6784-93DE97062AD2}"/>
              </a:ext>
            </a:extLst>
          </p:cNvPr>
          <p:cNvSpPr txBox="1">
            <a:spLocks noChangeArrowheads="1"/>
          </p:cNvSpPr>
          <p:nvPr/>
        </p:nvSpPr>
        <p:spPr bwMode="auto">
          <a:xfrm>
            <a:off x="6402388" y="3059113"/>
            <a:ext cx="16557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Slave server</a:t>
            </a:r>
          </a:p>
        </p:txBody>
      </p:sp>
      <p:sp>
        <p:nvSpPr>
          <p:cNvPr id="19" name="TextBox 18">
            <a:extLst>
              <a:ext uri="{FF2B5EF4-FFF2-40B4-BE49-F238E27FC236}">
                <a16:creationId xmlns:a16="http://schemas.microsoft.com/office/drawing/2014/main" id="{C60F6472-9E15-C26B-2E1D-424B987DA9E3}"/>
              </a:ext>
            </a:extLst>
          </p:cNvPr>
          <p:cNvSpPr txBox="1">
            <a:spLocks noChangeArrowheads="1"/>
          </p:cNvSpPr>
          <p:nvPr/>
        </p:nvSpPr>
        <p:spPr bwMode="auto">
          <a:xfrm>
            <a:off x="6408738" y="4452938"/>
            <a:ext cx="165576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Slave server</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barn(inVertical)">
                                      <p:cBhvr>
                                        <p:cTn id="7" dur="500"/>
                                        <p:tgtEl>
                                          <p:spTgt spid="38"/>
                                        </p:tgtEl>
                                      </p:cBhvr>
                                    </p:animEffect>
                                  </p:childTnLst>
                                </p:cTn>
                              </p:par>
                            </p:childTnLst>
                          </p:cTn>
                        </p:par>
                        <p:par>
                          <p:cTn id="8" fill="hold" nodeType="afterGroup">
                            <p:stCondLst>
                              <p:cond delay="500"/>
                            </p:stCondLst>
                            <p:childTnLst>
                              <p:par>
                                <p:cTn id="9" presetID="42" presetClass="entr" presetSubtype="0" fill="hold" grpId="0"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fade">
                                      <p:cBhvr>
                                        <p:cTn id="11" dur="1000"/>
                                        <p:tgtEl>
                                          <p:spTgt spid="18"/>
                                        </p:tgtEl>
                                      </p:cBhvr>
                                    </p:animEffect>
                                    <p:anim calcmode="lin" valueType="num">
                                      <p:cBhvr>
                                        <p:cTn id="12" dur="1000" fill="hold"/>
                                        <p:tgtEl>
                                          <p:spTgt spid="18"/>
                                        </p:tgtEl>
                                        <p:attrNameLst>
                                          <p:attrName>ppt_x</p:attrName>
                                        </p:attrNameLst>
                                      </p:cBhvr>
                                      <p:tavLst>
                                        <p:tav tm="0">
                                          <p:val>
                                            <p:strVal val="#ppt_x"/>
                                          </p:val>
                                        </p:tav>
                                        <p:tav tm="100000">
                                          <p:val>
                                            <p:strVal val="#ppt_x"/>
                                          </p:val>
                                        </p:tav>
                                      </p:tavLst>
                                    </p:anim>
                                    <p:anim calcmode="lin" valueType="num">
                                      <p:cBhvr>
                                        <p:cTn id="13" dur="1000" fill="hold"/>
                                        <p:tgtEl>
                                          <p:spTgt spid="18"/>
                                        </p:tgtEl>
                                        <p:attrNameLst>
                                          <p:attrName>ppt_y</p:attrName>
                                        </p:attrNameLst>
                                      </p:cBhvr>
                                      <p:tavLst>
                                        <p:tav tm="0">
                                          <p:val>
                                            <p:strVal val="#ppt_y+.1"/>
                                          </p:val>
                                        </p:tav>
                                        <p:tav tm="100000">
                                          <p:val>
                                            <p:strVal val="#ppt_y"/>
                                          </p:val>
                                        </p:tav>
                                      </p:tavLst>
                                    </p:anim>
                                  </p:childTnLst>
                                </p:cTn>
                              </p:par>
                            </p:childTnLst>
                          </p:cTn>
                        </p:par>
                        <p:par>
                          <p:cTn id="14" fill="hold" nodeType="afterGroup">
                            <p:stCondLst>
                              <p:cond delay="1500"/>
                            </p:stCondLst>
                            <p:childTnLst>
                              <p:par>
                                <p:cTn id="15" presetID="42" presetClass="entr" presetSubtype="0" fill="hold" grpId="0" nodeType="after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1000"/>
                                        <p:tgtEl>
                                          <p:spTgt spid="19"/>
                                        </p:tgtEl>
                                      </p:cBhvr>
                                    </p:animEffect>
                                    <p:anim calcmode="lin" valueType="num">
                                      <p:cBhvr>
                                        <p:cTn id="18" dur="1000" fill="hold"/>
                                        <p:tgtEl>
                                          <p:spTgt spid="19"/>
                                        </p:tgtEl>
                                        <p:attrNameLst>
                                          <p:attrName>ppt_x</p:attrName>
                                        </p:attrNameLst>
                                      </p:cBhvr>
                                      <p:tavLst>
                                        <p:tav tm="0">
                                          <p:val>
                                            <p:strVal val="#ppt_x"/>
                                          </p:val>
                                        </p:tav>
                                        <p:tav tm="100000">
                                          <p:val>
                                            <p:strVal val="#ppt_x"/>
                                          </p:val>
                                        </p:tav>
                                      </p:tavLst>
                                    </p:anim>
                                    <p:anim calcmode="lin" valueType="num">
                                      <p:cBhvr>
                                        <p:cTn id="19"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18" grpId="0"/>
      <p:bldP spid="19" grpId="0"/>
    </p:bldLst>
  </p:timing>
</p:sld>
</file>

<file path=ppt/slides/slide3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07A68-F7E4-0511-7623-B6697FFC1E4B}"/>
              </a:ext>
            </a:extLst>
          </p:cNvPr>
          <p:cNvSpPr>
            <a:spLocks noGrp="1"/>
          </p:cNvSpPr>
          <p:nvPr>
            <p:ph type="title"/>
          </p:nvPr>
        </p:nvSpPr>
        <p:spPr>
          <a:xfrm>
            <a:off x="457200" y="0"/>
            <a:ext cx="7620000" cy="1143000"/>
          </a:xfrm>
        </p:spPr>
        <p:txBody>
          <a:bodyPr/>
          <a:lstStyle/>
          <a:p>
            <a:pPr algn="ctr">
              <a:defRPr/>
            </a:pPr>
            <a:r>
              <a:rPr lang="en-US" dirty="0"/>
              <a:t>Database Replication</a:t>
            </a:r>
            <a:endParaRPr lang="en-MY" dirty="0"/>
          </a:p>
        </p:txBody>
      </p:sp>
      <p:sp>
        <p:nvSpPr>
          <p:cNvPr id="75779" name="Content Placeholder 2">
            <a:extLst>
              <a:ext uri="{FF2B5EF4-FFF2-40B4-BE49-F238E27FC236}">
                <a16:creationId xmlns:a16="http://schemas.microsoft.com/office/drawing/2014/main" id="{3C95E626-B8DD-02BA-1EE7-CDD053461FCB}"/>
              </a:ext>
            </a:extLst>
          </p:cNvPr>
          <p:cNvSpPr txBox="1">
            <a:spLocks/>
          </p:cNvSpPr>
          <p:nvPr/>
        </p:nvSpPr>
        <p:spPr bwMode="auto">
          <a:xfrm>
            <a:off x="250825" y="1268413"/>
            <a:ext cx="7902575"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US" altLang="en-US" sz="30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Database replication is a way to ensure data consistency among many database servers (i.e. all servers should eventually store the same data)</a:t>
            </a:r>
            <a:endParaRPr kumimoji="0" lang="en-CA" altLang="en-US" sz="30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0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sp>
        <p:nvSpPr>
          <p:cNvPr id="75780" name="TextBox 2">
            <a:extLst>
              <a:ext uri="{FF2B5EF4-FFF2-40B4-BE49-F238E27FC236}">
                <a16:creationId xmlns:a16="http://schemas.microsoft.com/office/drawing/2014/main" id="{054F9B20-4021-6063-3B33-A7A02A4BA968}"/>
              </a:ext>
            </a:extLst>
          </p:cNvPr>
          <p:cNvSpPr txBox="1">
            <a:spLocks noChangeArrowheads="1"/>
          </p:cNvSpPr>
          <p:nvPr/>
        </p:nvSpPr>
        <p:spPr bwMode="auto">
          <a:xfrm>
            <a:off x="687388" y="3933825"/>
            <a:ext cx="16573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Master server</a:t>
            </a:r>
          </a:p>
        </p:txBody>
      </p:sp>
      <p:sp>
        <p:nvSpPr>
          <p:cNvPr id="38" name="Rectangle 37">
            <a:extLst>
              <a:ext uri="{FF2B5EF4-FFF2-40B4-BE49-F238E27FC236}">
                <a16:creationId xmlns:a16="http://schemas.microsoft.com/office/drawing/2014/main" id="{B9B2452B-1F62-BF70-239B-E6277CE6EBD9}"/>
              </a:ext>
            </a:extLst>
          </p:cNvPr>
          <p:cNvSpPr>
            <a:spLocks noChangeArrowheads="1"/>
          </p:cNvSpPr>
          <p:nvPr/>
        </p:nvSpPr>
        <p:spPr bwMode="auto">
          <a:xfrm>
            <a:off x="762000" y="5589588"/>
            <a:ext cx="6973888" cy="701675"/>
          </a:xfrm>
          <a:prstGeom prst="rect">
            <a:avLst/>
          </a:prstGeom>
          <a:solidFill>
            <a:srgbClr val="FFFF00">
              <a:alpha val="30196"/>
            </a:srgbClr>
          </a:solidFill>
          <a:ln w="9525" algn="ctr">
            <a:solidFill>
              <a:srgbClr val="FFC000"/>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20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The way database replication works is for all data insert/update/delete to always go through the master server</a:t>
            </a:r>
            <a:endParaRPr kumimoji="0" lang="en-CA" altLang="en-US" sz="2000" b="1"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endParaRPr>
          </a:p>
        </p:txBody>
      </p:sp>
      <p:pic>
        <p:nvPicPr>
          <p:cNvPr id="75782" name="Picture 26">
            <a:extLst>
              <a:ext uri="{FF2B5EF4-FFF2-40B4-BE49-F238E27FC236}">
                <a16:creationId xmlns:a16="http://schemas.microsoft.com/office/drawing/2014/main" id="{F55212F1-1180-2B21-0168-02537E0D651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426075" y="4191000"/>
            <a:ext cx="1347788" cy="108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5783" name="Picture 13">
            <a:extLst>
              <a:ext uri="{FF2B5EF4-FFF2-40B4-BE49-F238E27FC236}">
                <a16:creationId xmlns:a16="http://schemas.microsoft.com/office/drawing/2014/main" id="{F8407F6D-9931-5A24-BC78-A61EBADB2AB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453063" y="2852738"/>
            <a:ext cx="134620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5784" name="Picture 16">
            <a:extLst>
              <a:ext uri="{FF2B5EF4-FFF2-40B4-BE49-F238E27FC236}">
                <a16:creationId xmlns:a16="http://schemas.microsoft.com/office/drawing/2014/main" id="{48BEB602-3670-88A5-0347-D04DAA8A340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416175" y="3581400"/>
            <a:ext cx="1346200"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85" name="TextBox 17">
            <a:extLst>
              <a:ext uri="{FF2B5EF4-FFF2-40B4-BE49-F238E27FC236}">
                <a16:creationId xmlns:a16="http://schemas.microsoft.com/office/drawing/2014/main" id="{B79B4CD8-20E1-259B-B1D6-E311F6721936}"/>
              </a:ext>
            </a:extLst>
          </p:cNvPr>
          <p:cNvSpPr txBox="1">
            <a:spLocks noChangeArrowheads="1"/>
          </p:cNvSpPr>
          <p:nvPr/>
        </p:nvSpPr>
        <p:spPr bwMode="auto">
          <a:xfrm>
            <a:off x="6402388" y="3059113"/>
            <a:ext cx="16557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Slave server</a:t>
            </a:r>
          </a:p>
        </p:txBody>
      </p:sp>
      <p:sp>
        <p:nvSpPr>
          <p:cNvPr id="75786" name="TextBox 18">
            <a:extLst>
              <a:ext uri="{FF2B5EF4-FFF2-40B4-BE49-F238E27FC236}">
                <a16:creationId xmlns:a16="http://schemas.microsoft.com/office/drawing/2014/main" id="{DE9C37A8-4103-690D-9F00-F4DBC5FBFEC1}"/>
              </a:ext>
            </a:extLst>
          </p:cNvPr>
          <p:cNvSpPr txBox="1">
            <a:spLocks noChangeArrowheads="1"/>
          </p:cNvSpPr>
          <p:nvPr/>
        </p:nvSpPr>
        <p:spPr bwMode="auto">
          <a:xfrm>
            <a:off x="6408738" y="4452938"/>
            <a:ext cx="165576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Slave server</a:t>
            </a:r>
          </a:p>
        </p:txBody>
      </p:sp>
      <p:cxnSp>
        <p:nvCxnSpPr>
          <p:cNvPr id="21" name="Straight Arrow Connector 20">
            <a:extLst>
              <a:ext uri="{FF2B5EF4-FFF2-40B4-BE49-F238E27FC236}">
                <a16:creationId xmlns:a16="http://schemas.microsoft.com/office/drawing/2014/main" id="{11F9C633-2E8B-1264-9470-9EB3C188EFCF}"/>
              </a:ext>
            </a:extLst>
          </p:cNvPr>
          <p:cNvCxnSpPr>
            <a:cxnSpLocks noChangeShapeType="1"/>
          </p:cNvCxnSpPr>
          <p:nvPr/>
        </p:nvCxnSpPr>
        <p:spPr bwMode="auto">
          <a:xfrm>
            <a:off x="771525" y="4302125"/>
            <a:ext cx="1584325" cy="0"/>
          </a:xfrm>
          <a:prstGeom prst="straightConnector1">
            <a:avLst/>
          </a:prstGeom>
          <a:noFill/>
          <a:ln w="25400" algn="ctr">
            <a:solidFill>
              <a:schemeClr val="tx1"/>
            </a:solidFill>
            <a:round/>
            <a:headEnd/>
            <a:tailEnd type="triangle" w="med" len="med"/>
          </a:ln>
          <a:extLst>
            <a:ext uri="{909E8E84-426E-40DD-AFC4-6F175D3DCCD1}">
              <a14:hiddenFill xmlns:a14="http://schemas.microsoft.com/office/drawing/2010/main">
                <a:noFill/>
              </a14:hiddenFill>
            </a:ext>
          </a:extLst>
        </p:spPr>
      </p:cxn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barn(inVertical)">
                                      <p:cBhvr>
                                        <p:cTn id="7" dur="500"/>
                                        <p:tgtEl>
                                          <p:spTgt spid="38"/>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21"/>
                                        </p:tgtEl>
                                        <p:attrNameLst>
                                          <p:attrName>style.visibility</p:attrName>
                                        </p:attrNameLst>
                                      </p:cBhvr>
                                      <p:to>
                                        <p:strVal val="visible"/>
                                      </p:to>
                                    </p:set>
                                    <p:animEffect transition="in" filter="wipe(left)">
                                      <p:cBhvr>
                                        <p:cTn id="11"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Lst>
  </p:timing>
</p:sld>
</file>

<file path=ppt/slides/slide3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BE1D44-188D-5CCF-86A9-E97A9E264C07}"/>
              </a:ext>
            </a:extLst>
          </p:cNvPr>
          <p:cNvSpPr>
            <a:spLocks noGrp="1"/>
          </p:cNvSpPr>
          <p:nvPr>
            <p:ph type="title"/>
          </p:nvPr>
        </p:nvSpPr>
        <p:spPr>
          <a:xfrm>
            <a:off x="457200" y="0"/>
            <a:ext cx="7620000" cy="1143000"/>
          </a:xfrm>
        </p:spPr>
        <p:txBody>
          <a:bodyPr/>
          <a:lstStyle/>
          <a:p>
            <a:pPr algn="ctr">
              <a:defRPr/>
            </a:pPr>
            <a:r>
              <a:rPr lang="en-US" dirty="0"/>
              <a:t>Database Replication</a:t>
            </a:r>
            <a:endParaRPr lang="en-MY" dirty="0"/>
          </a:p>
        </p:txBody>
      </p:sp>
      <p:sp>
        <p:nvSpPr>
          <p:cNvPr id="76803" name="Content Placeholder 2">
            <a:extLst>
              <a:ext uri="{FF2B5EF4-FFF2-40B4-BE49-F238E27FC236}">
                <a16:creationId xmlns:a16="http://schemas.microsoft.com/office/drawing/2014/main" id="{767586F8-CCEC-46FF-BCE3-B279F9A03C30}"/>
              </a:ext>
            </a:extLst>
          </p:cNvPr>
          <p:cNvSpPr txBox="1">
            <a:spLocks/>
          </p:cNvSpPr>
          <p:nvPr/>
        </p:nvSpPr>
        <p:spPr bwMode="auto">
          <a:xfrm>
            <a:off x="250825" y="1268413"/>
            <a:ext cx="7902575"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US" altLang="en-US" sz="30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Database replication is a way to ensure data consistency among many database servers (i.e. all servers should eventually store the same data)</a:t>
            </a:r>
            <a:endParaRPr kumimoji="0" lang="en-CA" altLang="en-US" sz="30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sp>
        <p:nvSpPr>
          <p:cNvPr id="76804" name="TextBox 2">
            <a:extLst>
              <a:ext uri="{FF2B5EF4-FFF2-40B4-BE49-F238E27FC236}">
                <a16:creationId xmlns:a16="http://schemas.microsoft.com/office/drawing/2014/main" id="{C4C24007-3A27-82A0-CEF4-A212CE1901F5}"/>
              </a:ext>
            </a:extLst>
          </p:cNvPr>
          <p:cNvSpPr txBox="1">
            <a:spLocks noChangeArrowheads="1"/>
          </p:cNvSpPr>
          <p:nvPr/>
        </p:nvSpPr>
        <p:spPr bwMode="auto">
          <a:xfrm>
            <a:off x="687388" y="3933825"/>
            <a:ext cx="16573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Master server</a:t>
            </a:r>
          </a:p>
        </p:txBody>
      </p:sp>
      <p:sp>
        <p:nvSpPr>
          <p:cNvPr id="38" name="Rectangle 37">
            <a:extLst>
              <a:ext uri="{FF2B5EF4-FFF2-40B4-BE49-F238E27FC236}">
                <a16:creationId xmlns:a16="http://schemas.microsoft.com/office/drawing/2014/main" id="{CA2DF2F6-A23D-7E7E-9A63-0B35D2595D0C}"/>
              </a:ext>
            </a:extLst>
          </p:cNvPr>
          <p:cNvSpPr>
            <a:spLocks noChangeArrowheads="1"/>
          </p:cNvSpPr>
          <p:nvPr/>
        </p:nvSpPr>
        <p:spPr bwMode="auto">
          <a:xfrm>
            <a:off x="762000" y="5589588"/>
            <a:ext cx="6973888" cy="701675"/>
          </a:xfrm>
          <a:prstGeom prst="rect">
            <a:avLst/>
          </a:prstGeom>
          <a:solidFill>
            <a:srgbClr val="FFFF00">
              <a:alpha val="30196"/>
            </a:srgbClr>
          </a:solidFill>
          <a:ln w="9525" algn="ctr">
            <a:solidFill>
              <a:srgbClr val="FFC000"/>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20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After the master server has updated its database, it would then propagate the update to the slave servers</a:t>
            </a:r>
            <a:endParaRPr kumimoji="0" lang="en-CA" altLang="en-US" sz="2000" b="1"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endParaRPr>
          </a:p>
        </p:txBody>
      </p:sp>
      <p:pic>
        <p:nvPicPr>
          <p:cNvPr id="76806" name="Picture 26">
            <a:extLst>
              <a:ext uri="{FF2B5EF4-FFF2-40B4-BE49-F238E27FC236}">
                <a16:creationId xmlns:a16="http://schemas.microsoft.com/office/drawing/2014/main" id="{3C0B41A7-6E7A-E517-E3BA-A4DA3E40BD3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426075" y="4191000"/>
            <a:ext cx="1347788" cy="108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6807" name="Picture 13">
            <a:extLst>
              <a:ext uri="{FF2B5EF4-FFF2-40B4-BE49-F238E27FC236}">
                <a16:creationId xmlns:a16="http://schemas.microsoft.com/office/drawing/2014/main" id="{F98F5399-BC13-B19B-2DBB-5E0084313F1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453063" y="2852738"/>
            <a:ext cx="134620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6808" name="Picture 16">
            <a:extLst>
              <a:ext uri="{FF2B5EF4-FFF2-40B4-BE49-F238E27FC236}">
                <a16:creationId xmlns:a16="http://schemas.microsoft.com/office/drawing/2014/main" id="{FAA6BBBA-9CC0-8D33-79D7-7C7541F08B8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416175" y="3581400"/>
            <a:ext cx="1346200"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809" name="TextBox 17">
            <a:extLst>
              <a:ext uri="{FF2B5EF4-FFF2-40B4-BE49-F238E27FC236}">
                <a16:creationId xmlns:a16="http://schemas.microsoft.com/office/drawing/2014/main" id="{4C1C8ADF-9A5F-EB7C-A5D1-4059EC15CFB9}"/>
              </a:ext>
            </a:extLst>
          </p:cNvPr>
          <p:cNvSpPr txBox="1">
            <a:spLocks noChangeArrowheads="1"/>
          </p:cNvSpPr>
          <p:nvPr/>
        </p:nvSpPr>
        <p:spPr bwMode="auto">
          <a:xfrm>
            <a:off x="6402388" y="3059113"/>
            <a:ext cx="16557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Slave server</a:t>
            </a:r>
          </a:p>
        </p:txBody>
      </p:sp>
      <p:sp>
        <p:nvSpPr>
          <p:cNvPr id="76810" name="TextBox 18">
            <a:extLst>
              <a:ext uri="{FF2B5EF4-FFF2-40B4-BE49-F238E27FC236}">
                <a16:creationId xmlns:a16="http://schemas.microsoft.com/office/drawing/2014/main" id="{501F4476-E060-65A1-D704-EF4013A7465E}"/>
              </a:ext>
            </a:extLst>
          </p:cNvPr>
          <p:cNvSpPr txBox="1">
            <a:spLocks noChangeArrowheads="1"/>
          </p:cNvSpPr>
          <p:nvPr/>
        </p:nvSpPr>
        <p:spPr bwMode="auto">
          <a:xfrm>
            <a:off x="6408738" y="4452938"/>
            <a:ext cx="165576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Slave server</a:t>
            </a:r>
          </a:p>
        </p:txBody>
      </p:sp>
      <p:cxnSp>
        <p:nvCxnSpPr>
          <p:cNvPr id="76811" name="Straight Arrow Connector 20">
            <a:extLst>
              <a:ext uri="{FF2B5EF4-FFF2-40B4-BE49-F238E27FC236}">
                <a16:creationId xmlns:a16="http://schemas.microsoft.com/office/drawing/2014/main" id="{AB63FEB1-593E-0C60-81D2-CF991CEEC4E2}"/>
              </a:ext>
            </a:extLst>
          </p:cNvPr>
          <p:cNvCxnSpPr>
            <a:cxnSpLocks noChangeShapeType="1"/>
          </p:cNvCxnSpPr>
          <p:nvPr/>
        </p:nvCxnSpPr>
        <p:spPr bwMode="auto">
          <a:xfrm>
            <a:off x="771525" y="4302125"/>
            <a:ext cx="1584325" cy="0"/>
          </a:xfrm>
          <a:prstGeom prst="straightConnector1">
            <a:avLst/>
          </a:prstGeom>
          <a:noFill/>
          <a:ln w="2540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0" name="Straight Arrow Connector 19">
            <a:extLst>
              <a:ext uri="{FF2B5EF4-FFF2-40B4-BE49-F238E27FC236}">
                <a16:creationId xmlns:a16="http://schemas.microsoft.com/office/drawing/2014/main" id="{BF7C7369-A833-4FC5-DAC2-FF6E529EBCDD}"/>
              </a:ext>
            </a:extLst>
          </p:cNvPr>
          <p:cNvCxnSpPr>
            <a:cxnSpLocks noChangeShapeType="1"/>
          </p:cNvCxnSpPr>
          <p:nvPr/>
        </p:nvCxnSpPr>
        <p:spPr bwMode="auto">
          <a:xfrm>
            <a:off x="3382963" y="4191000"/>
            <a:ext cx="1971675" cy="590550"/>
          </a:xfrm>
          <a:prstGeom prst="straightConnector1">
            <a:avLst/>
          </a:prstGeom>
          <a:noFill/>
          <a:ln w="2540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2" name="Straight Arrow Connector 21">
            <a:extLst>
              <a:ext uri="{FF2B5EF4-FFF2-40B4-BE49-F238E27FC236}">
                <a16:creationId xmlns:a16="http://schemas.microsoft.com/office/drawing/2014/main" id="{43A990FD-EA95-58C2-C26E-28E2E6A26102}"/>
              </a:ext>
            </a:extLst>
          </p:cNvPr>
          <p:cNvCxnSpPr>
            <a:cxnSpLocks noChangeShapeType="1"/>
          </p:cNvCxnSpPr>
          <p:nvPr/>
        </p:nvCxnSpPr>
        <p:spPr bwMode="auto">
          <a:xfrm flipV="1">
            <a:off x="3387725" y="3392488"/>
            <a:ext cx="1966913" cy="711200"/>
          </a:xfrm>
          <a:prstGeom prst="straightConnector1">
            <a:avLst/>
          </a:prstGeom>
          <a:noFill/>
          <a:ln w="25400" algn="ctr">
            <a:solidFill>
              <a:schemeClr val="tx1"/>
            </a:solidFill>
            <a:round/>
            <a:headEnd/>
            <a:tailEnd type="triangle" w="med" len="med"/>
          </a:ln>
          <a:extLst>
            <a:ext uri="{909E8E84-426E-40DD-AFC4-6F175D3DCCD1}">
              <a14:hiddenFill xmlns:a14="http://schemas.microsoft.com/office/drawing/2010/main">
                <a:noFill/>
              </a14:hiddenFill>
            </a:ext>
          </a:extLst>
        </p:spPr>
      </p:cxn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barn(inVertical)">
                                      <p:cBhvr>
                                        <p:cTn id="7" dur="500"/>
                                        <p:tgtEl>
                                          <p:spTgt spid="38"/>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wipe(left)">
                                      <p:cBhvr>
                                        <p:cTn id="11" dur="500"/>
                                        <p:tgtEl>
                                          <p:spTgt spid="22"/>
                                        </p:tgtEl>
                                      </p:cBhvr>
                                    </p:animEffect>
                                  </p:childTnLst>
                                </p:cTn>
                              </p:par>
                              <p:par>
                                <p:cTn id="12" presetID="22" presetClass="entr" presetSubtype="8" fill="hold" nodeType="withEffect">
                                  <p:stCondLst>
                                    <p:cond delay="0"/>
                                  </p:stCondLst>
                                  <p:childTnLst>
                                    <p:set>
                                      <p:cBhvr>
                                        <p:cTn id="13" dur="1" fill="hold">
                                          <p:stCondLst>
                                            <p:cond delay="0"/>
                                          </p:stCondLst>
                                        </p:cTn>
                                        <p:tgtEl>
                                          <p:spTgt spid="20"/>
                                        </p:tgtEl>
                                        <p:attrNameLst>
                                          <p:attrName>style.visibility</p:attrName>
                                        </p:attrNameLst>
                                      </p:cBhvr>
                                      <p:to>
                                        <p:strVal val="visible"/>
                                      </p:to>
                                    </p:set>
                                    <p:animEffect transition="in" filter="wipe(left)">
                                      <p:cBhvr>
                                        <p:cTn id="14"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Lst>
  </p:timing>
</p:sld>
</file>

<file path=ppt/slides/slide3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4BA873-A590-5190-F9C5-86C51704DAF1}"/>
              </a:ext>
            </a:extLst>
          </p:cNvPr>
          <p:cNvSpPr>
            <a:spLocks noGrp="1"/>
          </p:cNvSpPr>
          <p:nvPr>
            <p:ph type="title"/>
          </p:nvPr>
        </p:nvSpPr>
        <p:spPr>
          <a:xfrm>
            <a:off x="457200" y="0"/>
            <a:ext cx="7620000" cy="1143000"/>
          </a:xfrm>
        </p:spPr>
        <p:txBody>
          <a:bodyPr/>
          <a:lstStyle/>
          <a:p>
            <a:pPr algn="ctr">
              <a:defRPr/>
            </a:pPr>
            <a:r>
              <a:rPr lang="en-US" dirty="0"/>
              <a:t>Database Replication</a:t>
            </a:r>
            <a:endParaRPr lang="en-MY" dirty="0"/>
          </a:p>
        </p:txBody>
      </p:sp>
      <p:sp>
        <p:nvSpPr>
          <p:cNvPr id="77827" name="Content Placeholder 2">
            <a:extLst>
              <a:ext uri="{FF2B5EF4-FFF2-40B4-BE49-F238E27FC236}">
                <a16:creationId xmlns:a16="http://schemas.microsoft.com/office/drawing/2014/main" id="{E0009BB7-EE5F-A8ED-1FBE-5FE1F7B8ECBA}"/>
              </a:ext>
            </a:extLst>
          </p:cNvPr>
          <p:cNvSpPr txBox="1">
            <a:spLocks/>
          </p:cNvSpPr>
          <p:nvPr/>
        </p:nvSpPr>
        <p:spPr bwMode="auto">
          <a:xfrm>
            <a:off x="250825" y="1268413"/>
            <a:ext cx="7978775"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US" altLang="en-US" sz="30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Database replication is a way to ensure data consistency among many database servers (i.e. all servers should eventually store the same data)</a:t>
            </a:r>
            <a:endParaRPr kumimoji="0" lang="en-CA" altLang="en-US" sz="30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sp>
        <p:nvSpPr>
          <p:cNvPr id="77828" name="TextBox 2">
            <a:extLst>
              <a:ext uri="{FF2B5EF4-FFF2-40B4-BE49-F238E27FC236}">
                <a16:creationId xmlns:a16="http://schemas.microsoft.com/office/drawing/2014/main" id="{E5665F6E-8423-47E6-6F83-86FABA31F758}"/>
              </a:ext>
            </a:extLst>
          </p:cNvPr>
          <p:cNvSpPr txBox="1">
            <a:spLocks noChangeArrowheads="1"/>
          </p:cNvSpPr>
          <p:nvPr/>
        </p:nvSpPr>
        <p:spPr bwMode="auto">
          <a:xfrm>
            <a:off x="687388" y="3933825"/>
            <a:ext cx="16573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Master server</a:t>
            </a:r>
          </a:p>
        </p:txBody>
      </p:sp>
      <p:sp>
        <p:nvSpPr>
          <p:cNvPr id="38" name="Rectangle 37">
            <a:extLst>
              <a:ext uri="{FF2B5EF4-FFF2-40B4-BE49-F238E27FC236}">
                <a16:creationId xmlns:a16="http://schemas.microsoft.com/office/drawing/2014/main" id="{337D3D65-A7B2-B32D-8415-24B1AE28F005}"/>
              </a:ext>
            </a:extLst>
          </p:cNvPr>
          <p:cNvSpPr>
            <a:spLocks noChangeArrowheads="1"/>
          </p:cNvSpPr>
          <p:nvPr/>
        </p:nvSpPr>
        <p:spPr bwMode="auto">
          <a:xfrm>
            <a:off x="762000" y="5589588"/>
            <a:ext cx="6973888" cy="701675"/>
          </a:xfrm>
          <a:prstGeom prst="rect">
            <a:avLst/>
          </a:prstGeom>
          <a:solidFill>
            <a:srgbClr val="FFFF00">
              <a:alpha val="30196"/>
            </a:srgbClr>
          </a:solidFill>
          <a:ln w="9525" algn="ctr">
            <a:solidFill>
              <a:srgbClr val="FFC000"/>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20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The slave servers would then update their database and now all the database servers would store the same data</a:t>
            </a:r>
            <a:endParaRPr kumimoji="0" lang="en-CA" altLang="en-US" sz="2000" b="1"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endParaRPr>
          </a:p>
        </p:txBody>
      </p:sp>
      <p:pic>
        <p:nvPicPr>
          <p:cNvPr id="77830" name="Picture 26">
            <a:extLst>
              <a:ext uri="{FF2B5EF4-FFF2-40B4-BE49-F238E27FC236}">
                <a16:creationId xmlns:a16="http://schemas.microsoft.com/office/drawing/2014/main" id="{DAEE7F74-C14C-D95F-0032-87BD8CE346C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426075" y="4191000"/>
            <a:ext cx="1347788" cy="108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7831" name="Picture 13">
            <a:extLst>
              <a:ext uri="{FF2B5EF4-FFF2-40B4-BE49-F238E27FC236}">
                <a16:creationId xmlns:a16="http://schemas.microsoft.com/office/drawing/2014/main" id="{F70113F4-4C5E-3463-941B-F5AE7AC6B98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453063" y="2852738"/>
            <a:ext cx="134620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7832" name="Picture 16">
            <a:extLst>
              <a:ext uri="{FF2B5EF4-FFF2-40B4-BE49-F238E27FC236}">
                <a16:creationId xmlns:a16="http://schemas.microsoft.com/office/drawing/2014/main" id="{B1B1D7F1-6BE5-CAA3-E81D-30143834081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416175" y="3581400"/>
            <a:ext cx="1346200"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833" name="TextBox 17">
            <a:extLst>
              <a:ext uri="{FF2B5EF4-FFF2-40B4-BE49-F238E27FC236}">
                <a16:creationId xmlns:a16="http://schemas.microsoft.com/office/drawing/2014/main" id="{EA515BE2-5662-5148-7666-5EF5B6BE21AD}"/>
              </a:ext>
            </a:extLst>
          </p:cNvPr>
          <p:cNvSpPr txBox="1">
            <a:spLocks noChangeArrowheads="1"/>
          </p:cNvSpPr>
          <p:nvPr/>
        </p:nvSpPr>
        <p:spPr bwMode="auto">
          <a:xfrm>
            <a:off x="6402388" y="3059113"/>
            <a:ext cx="16557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Slave server</a:t>
            </a:r>
          </a:p>
        </p:txBody>
      </p:sp>
      <p:sp>
        <p:nvSpPr>
          <p:cNvPr id="77834" name="TextBox 18">
            <a:extLst>
              <a:ext uri="{FF2B5EF4-FFF2-40B4-BE49-F238E27FC236}">
                <a16:creationId xmlns:a16="http://schemas.microsoft.com/office/drawing/2014/main" id="{5C201D2F-A5C1-C7BE-EB8D-E5AC204F4E54}"/>
              </a:ext>
            </a:extLst>
          </p:cNvPr>
          <p:cNvSpPr txBox="1">
            <a:spLocks noChangeArrowheads="1"/>
          </p:cNvSpPr>
          <p:nvPr/>
        </p:nvSpPr>
        <p:spPr bwMode="auto">
          <a:xfrm>
            <a:off x="6408738" y="4452938"/>
            <a:ext cx="165576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Slave server</a:t>
            </a:r>
          </a:p>
        </p:txBody>
      </p:sp>
      <p:cxnSp>
        <p:nvCxnSpPr>
          <p:cNvPr id="77835" name="Straight Arrow Connector 20">
            <a:extLst>
              <a:ext uri="{FF2B5EF4-FFF2-40B4-BE49-F238E27FC236}">
                <a16:creationId xmlns:a16="http://schemas.microsoft.com/office/drawing/2014/main" id="{0689BC55-D6E3-9C9B-E2C4-678042EF658C}"/>
              </a:ext>
            </a:extLst>
          </p:cNvPr>
          <p:cNvCxnSpPr>
            <a:cxnSpLocks noChangeShapeType="1"/>
          </p:cNvCxnSpPr>
          <p:nvPr/>
        </p:nvCxnSpPr>
        <p:spPr bwMode="auto">
          <a:xfrm>
            <a:off x="771525" y="4302125"/>
            <a:ext cx="1584325" cy="0"/>
          </a:xfrm>
          <a:prstGeom prst="straightConnector1">
            <a:avLst/>
          </a:prstGeom>
          <a:noFill/>
          <a:ln w="2540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7836" name="Straight Arrow Connector 19">
            <a:extLst>
              <a:ext uri="{FF2B5EF4-FFF2-40B4-BE49-F238E27FC236}">
                <a16:creationId xmlns:a16="http://schemas.microsoft.com/office/drawing/2014/main" id="{489E1690-8484-36E0-0AC1-7FA1BC7CAF7A}"/>
              </a:ext>
            </a:extLst>
          </p:cNvPr>
          <p:cNvCxnSpPr>
            <a:cxnSpLocks noChangeShapeType="1"/>
          </p:cNvCxnSpPr>
          <p:nvPr/>
        </p:nvCxnSpPr>
        <p:spPr bwMode="auto">
          <a:xfrm>
            <a:off x="3382963" y="4191000"/>
            <a:ext cx="1971675" cy="590550"/>
          </a:xfrm>
          <a:prstGeom prst="straightConnector1">
            <a:avLst/>
          </a:prstGeom>
          <a:noFill/>
          <a:ln w="2540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7837" name="Straight Arrow Connector 21">
            <a:extLst>
              <a:ext uri="{FF2B5EF4-FFF2-40B4-BE49-F238E27FC236}">
                <a16:creationId xmlns:a16="http://schemas.microsoft.com/office/drawing/2014/main" id="{69063728-6CDF-3105-B3FC-A28EC860E106}"/>
              </a:ext>
            </a:extLst>
          </p:cNvPr>
          <p:cNvCxnSpPr>
            <a:cxnSpLocks noChangeShapeType="1"/>
          </p:cNvCxnSpPr>
          <p:nvPr/>
        </p:nvCxnSpPr>
        <p:spPr bwMode="auto">
          <a:xfrm flipV="1">
            <a:off x="3387725" y="3392488"/>
            <a:ext cx="1966913" cy="711200"/>
          </a:xfrm>
          <a:prstGeom prst="straightConnector1">
            <a:avLst/>
          </a:prstGeom>
          <a:noFill/>
          <a:ln w="25400" algn="ctr">
            <a:solidFill>
              <a:schemeClr val="tx1"/>
            </a:solidFill>
            <a:round/>
            <a:headEnd/>
            <a:tailEnd type="triangle" w="med" len="med"/>
          </a:ln>
          <a:extLst>
            <a:ext uri="{909E8E84-426E-40DD-AFC4-6F175D3DCCD1}">
              <a14:hiddenFill xmlns:a14="http://schemas.microsoft.com/office/drawing/2010/main">
                <a:noFill/>
              </a14:hiddenFill>
            </a:ext>
          </a:extLst>
        </p:spPr>
      </p:cxn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barn(inVertical)">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Lst>
  </p:timing>
</p:sld>
</file>

<file path=ppt/slides/slide3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C6133-B30C-B0E3-A0BA-FE8F2429DEDE}"/>
              </a:ext>
            </a:extLst>
          </p:cNvPr>
          <p:cNvSpPr>
            <a:spLocks noGrp="1"/>
          </p:cNvSpPr>
          <p:nvPr>
            <p:ph type="title"/>
          </p:nvPr>
        </p:nvSpPr>
        <p:spPr>
          <a:xfrm>
            <a:off x="457200" y="0"/>
            <a:ext cx="7620000" cy="1143000"/>
          </a:xfrm>
        </p:spPr>
        <p:txBody>
          <a:bodyPr/>
          <a:lstStyle/>
          <a:p>
            <a:pPr algn="ctr">
              <a:defRPr/>
            </a:pPr>
            <a:r>
              <a:rPr lang="en-US" dirty="0"/>
              <a:t>Database Replication</a:t>
            </a:r>
            <a:endParaRPr lang="en-MY" dirty="0"/>
          </a:p>
        </p:txBody>
      </p:sp>
      <p:sp>
        <p:nvSpPr>
          <p:cNvPr id="78851" name="Content Placeholder 2">
            <a:extLst>
              <a:ext uri="{FF2B5EF4-FFF2-40B4-BE49-F238E27FC236}">
                <a16:creationId xmlns:a16="http://schemas.microsoft.com/office/drawing/2014/main" id="{F69F3AC1-9DE2-BDA6-7017-02C34E138AB7}"/>
              </a:ext>
            </a:extLst>
          </p:cNvPr>
          <p:cNvSpPr txBox="1">
            <a:spLocks/>
          </p:cNvSpPr>
          <p:nvPr/>
        </p:nvSpPr>
        <p:spPr bwMode="auto">
          <a:xfrm>
            <a:off x="250825" y="1268413"/>
            <a:ext cx="7978775"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US" altLang="en-US" sz="30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Database replication is a way to ensure data consistency among many database servers (i.e. all servers should eventually store the same data)</a:t>
            </a:r>
            <a:endParaRPr kumimoji="0" lang="en-CA" altLang="en-US" sz="30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sp>
        <p:nvSpPr>
          <p:cNvPr id="78852" name="TextBox 2">
            <a:extLst>
              <a:ext uri="{FF2B5EF4-FFF2-40B4-BE49-F238E27FC236}">
                <a16:creationId xmlns:a16="http://schemas.microsoft.com/office/drawing/2014/main" id="{EEB10434-DB74-FD40-EB4C-7AE276A0B1BF}"/>
              </a:ext>
            </a:extLst>
          </p:cNvPr>
          <p:cNvSpPr txBox="1">
            <a:spLocks noChangeArrowheads="1"/>
          </p:cNvSpPr>
          <p:nvPr/>
        </p:nvSpPr>
        <p:spPr bwMode="auto">
          <a:xfrm>
            <a:off x="687388" y="3933825"/>
            <a:ext cx="16573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Master server</a:t>
            </a:r>
          </a:p>
        </p:txBody>
      </p:sp>
      <p:sp>
        <p:nvSpPr>
          <p:cNvPr id="38" name="Rectangle 37">
            <a:extLst>
              <a:ext uri="{FF2B5EF4-FFF2-40B4-BE49-F238E27FC236}">
                <a16:creationId xmlns:a16="http://schemas.microsoft.com/office/drawing/2014/main" id="{7D4D7066-2321-37FA-2BDE-7E8182656D91}"/>
              </a:ext>
            </a:extLst>
          </p:cNvPr>
          <p:cNvSpPr>
            <a:spLocks noChangeArrowheads="1"/>
          </p:cNvSpPr>
          <p:nvPr/>
        </p:nvSpPr>
        <p:spPr bwMode="auto">
          <a:xfrm>
            <a:off x="762000" y="5541963"/>
            <a:ext cx="6973888" cy="977900"/>
          </a:xfrm>
          <a:prstGeom prst="rect">
            <a:avLst/>
          </a:prstGeom>
          <a:solidFill>
            <a:srgbClr val="FFFF00">
              <a:alpha val="30196"/>
            </a:srgbClr>
          </a:solidFill>
          <a:ln w="9525" algn="ctr">
            <a:solidFill>
              <a:srgbClr val="FFC000"/>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20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As for displaying data, you can display data from either master or slaves. Sometimes, you may display outdated data if a slave has not received its update from the master</a:t>
            </a:r>
            <a:endParaRPr kumimoji="0" lang="en-CA" altLang="en-US" sz="2000" b="1"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endParaRPr>
          </a:p>
        </p:txBody>
      </p:sp>
      <p:pic>
        <p:nvPicPr>
          <p:cNvPr id="78854" name="Picture 26">
            <a:extLst>
              <a:ext uri="{FF2B5EF4-FFF2-40B4-BE49-F238E27FC236}">
                <a16:creationId xmlns:a16="http://schemas.microsoft.com/office/drawing/2014/main" id="{3F1E09DC-193A-B3F3-A4C7-DBD4CB1347C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426075" y="4191000"/>
            <a:ext cx="1347788" cy="108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8855" name="Picture 13">
            <a:extLst>
              <a:ext uri="{FF2B5EF4-FFF2-40B4-BE49-F238E27FC236}">
                <a16:creationId xmlns:a16="http://schemas.microsoft.com/office/drawing/2014/main" id="{51539658-1185-C7C7-37F1-6225D5B1847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453063" y="2852738"/>
            <a:ext cx="134620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8856" name="Picture 16">
            <a:extLst>
              <a:ext uri="{FF2B5EF4-FFF2-40B4-BE49-F238E27FC236}">
                <a16:creationId xmlns:a16="http://schemas.microsoft.com/office/drawing/2014/main" id="{57409D12-5556-3E8F-ADB6-7C4FAF695F2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416175" y="3581400"/>
            <a:ext cx="1346200"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8857" name="TextBox 17">
            <a:extLst>
              <a:ext uri="{FF2B5EF4-FFF2-40B4-BE49-F238E27FC236}">
                <a16:creationId xmlns:a16="http://schemas.microsoft.com/office/drawing/2014/main" id="{22E541D1-68A5-35C3-5FF5-3D5EE9D7100C}"/>
              </a:ext>
            </a:extLst>
          </p:cNvPr>
          <p:cNvSpPr txBox="1">
            <a:spLocks noChangeArrowheads="1"/>
          </p:cNvSpPr>
          <p:nvPr/>
        </p:nvSpPr>
        <p:spPr bwMode="auto">
          <a:xfrm>
            <a:off x="6402388" y="3059113"/>
            <a:ext cx="16557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Slave server</a:t>
            </a:r>
          </a:p>
        </p:txBody>
      </p:sp>
      <p:sp>
        <p:nvSpPr>
          <p:cNvPr id="78858" name="TextBox 18">
            <a:extLst>
              <a:ext uri="{FF2B5EF4-FFF2-40B4-BE49-F238E27FC236}">
                <a16:creationId xmlns:a16="http://schemas.microsoft.com/office/drawing/2014/main" id="{F9F3658A-73A0-3F5B-5C2D-9DE543E27D55}"/>
              </a:ext>
            </a:extLst>
          </p:cNvPr>
          <p:cNvSpPr txBox="1">
            <a:spLocks noChangeArrowheads="1"/>
          </p:cNvSpPr>
          <p:nvPr/>
        </p:nvSpPr>
        <p:spPr bwMode="auto">
          <a:xfrm>
            <a:off x="6408738" y="4452938"/>
            <a:ext cx="165576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Slave server</a:t>
            </a:r>
          </a:p>
        </p:txBody>
      </p:sp>
      <p:cxnSp>
        <p:nvCxnSpPr>
          <p:cNvPr id="78859" name="Straight Arrow Connector 20">
            <a:extLst>
              <a:ext uri="{FF2B5EF4-FFF2-40B4-BE49-F238E27FC236}">
                <a16:creationId xmlns:a16="http://schemas.microsoft.com/office/drawing/2014/main" id="{90724FDE-A58C-F7F9-5BE4-24727B74F42C}"/>
              </a:ext>
            </a:extLst>
          </p:cNvPr>
          <p:cNvCxnSpPr>
            <a:cxnSpLocks noChangeShapeType="1"/>
          </p:cNvCxnSpPr>
          <p:nvPr/>
        </p:nvCxnSpPr>
        <p:spPr bwMode="auto">
          <a:xfrm>
            <a:off x="771525" y="4302125"/>
            <a:ext cx="1584325" cy="0"/>
          </a:xfrm>
          <a:prstGeom prst="straightConnector1">
            <a:avLst/>
          </a:prstGeom>
          <a:noFill/>
          <a:ln w="2540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8860" name="Straight Arrow Connector 19">
            <a:extLst>
              <a:ext uri="{FF2B5EF4-FFF2-40B4-BE49-F238E27FC236}">
                <a16:creationId xmlns:a16="http://schemas.microsoft.com/office/drawing/2014/main" id="{C29A7F79-599D-56F8-FBA1-AE548FF91FFA}"/>
              </a:ext>
            </a:extLst>
          </p:cNvPr>
          <p:cNvCxnSpPr>
            <a:cxnSpLocks noChangeShapeType="1"/>
          </p:cNvCxnSpPr>
          <p:nvPr/>
        </p:nvCxnSpPr>
        <p:spPr bwMode="auto">
          <a:xfrm>
            <a:off x="3382963" y="4191000"/>
            <a:ext cx="1971675" cy="590550"/>
          </a:xfrm>
          <a:prstGeom prst="straightConnector1">
            <a:avLst/>
          </a:prstGeom>
          <a:noFill/>
          <a:ln w="2540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8861" name="Straight Arrow Connector 21">
            <a:extLst>
              <a:ext uri="{FF2B5EF4-FFF2-40B4-BE49-F238E27FC236}">
                <a16:creationId xmlns:a16="http://schemas.microsoft.com/office/drawing/2014/main" id="{EC10D6FB-CBE6-9031-8C5F-F1D03DEC283D}"/>
              </a:ext>
            </a:extLst>
          </p:cNvPr>
          <p:cNvCxnSpPr>
            <a:cxnSpLocks noChangeShapeType="1"/>
          </p:cNvCxnSpPr>
          <p:nvPr/>
        </p:nvCxnSpPr>
        <p:spPr bwMode="auto">
          <a:xfrm flipV="1">
            <a:off x="3387725" y="3392488"/>
            <a:ext cx="1966913" cy="711200"/>
          </a:xfrm>
          <a:prstGeom prst="straightConnector1">
            <a:avLst/>
          </a:prstGeom>
          <a:noFill/>
          <a:ln w="2540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3" name="Straight Arrow Connector 22">
            <a:extLst>
              <a:ext uri="{FF2B5EF4-FFF2-40B4-BE49-F238E27FC236}">
                <a16:creationId xmlns:a16="http://schemas.microsoft.com/office/drawing/2014/main" id="{960DFCD3-684F-47BB-7DF9-8D401FF49527}"/>
              </a:ext>
            </a:extLst>
          </p:cNvPr>
          <p:cNvCxnSpPr>
            <a:cxnSpLocks noChangeShapeType="1"/>
          </p:cNvCxnSpPr>
          <p:nvPr/>
        </p:nvCxnSpPr>
        <p:spPr bwMode="auto">
          <a:xfrm>
            <a:off x="771525" y="3956050"/>
            <a:ext cx="1584325" cy="0"/>
          </a:xfrm>
          <a:prstGeom prst="straightConnector1">
            <a:avLst/>
          </a:prstGeom>
          <a:noFill/>
          <a:ln w="25400" algn="ctr">
            <a:solidFill>
              <a:schemeClr val="tx1"/>
            </a:solidFill>
            <a:round/>
            <a:headEnd type="triangle" w="med" len="med"/>
            <a:tailEnd/>
          </a:ln>
          <a:extLst>
            <a:ext uri="{909E8E84-426E-40DD-AFC4-6F175D3DCCD1}">
              <a14:hiddenFill xmlns:a14="http://schemas.microsoft.com/office/drawing/2010/main">
                <a:noFill/>
              </a14:hiddenFill>
            </a:ext>
          </a:extLst>
        </p:spPr>
      </p:cxnSp>
      <p:cxnSp>
        <p:nvCxnSpPr>
          <p:cNvPr id="24" name="Straight Arrow Connector 23">
            <a:extLst>
              <a:ext uri="{FF2B5EF4-FFF2-40B4-BE49-F238E27FC236}">
                <a16:creationId xmlns:a16="http://schemas.microsoft.com/office/drawing/2014/main" id="{51DBFAA3-B4A2-621F-CA5E-59ED3B2C6D05}"/>
              </a:ext>
            </a:extLst>
          </p:cNvPr>
          <p:cNvCxnSpPr>
            <a:cxnSpLocks noChangeShapeType="1"/>
          </p:cNvCxnSpPr>
          <p:nvPr/>
        </p:nvCxnSpPr>
        <p:spPr bwMode="auto">
          <a:xfrm>
            <a:off x="3762375" y="3244850"/>
            <a:ext cx="1584325" cy="0"/>
          </a:xfrm>
          <a:prstGeom prst="straightConnector1">
            <a:avLst/>
          </a:prstGeom>
          <a:noFill/>
          <a:ln w="25400" algn="ctr">
            <a:solidFill>
              <a:schemeClr val="tx1"/>
            </a:solidFill>
            <a:round/>
            <a:headEnd type="triangle" w="med" len="med"/>
            <a:tailEnd/>
          </a:ln>
          <a:extLst>
            <a:ext uri="{909E8E84-426E-40DD-AFC4-6F175D3DCCD1}">
              <a14:hiddenFill xmlns:a14="http://schemas.microsoft.com/office/drawing/2010/main">
                <a:noFill/>
              </a14:hiddenFill>
            </a:ext>
          </a:extLst>
        </p:spPr>
      </p:cxnSp>
      <p:cxnSp>
        <p:nvCxnSpPr>
          <p:cNvPr id="25" name="Straight Arrow Connector 24">
            <a:extLst>
              <a:ext uri="{FF2B5EF4-FFF2-40B4-BE49-F238E27FC236}">
                <a16:creationId xmlns:a16="http://schemas.microsoft.com/office/drawing/2014/main" id="{EA8F9E11-D4CC-8564-7BC7-98087BBC87E3}"/>
              </a:ext>
            </a:extLst>
          </p:cNvPr>
          <p:cNvCxnSpPr>
            <a:cxnSpLocks noChangeShapeType="1"/>
          </p:cNvCxnSpPr>
          <p:nvPr/>
        </p:nvCxnSpPr>
        <p:spPr bwMode="auto">
          <a:xfrm>
            <a:off x="3770313" y="4908550"/>
            <a:ext cx="1584325" cy="0"/>
          </a:xfrm>
          <a:prstGeom prst="straightConnector1">
            <a:avLst/>
          </a:prstGeom>
          <a:noFill/>
          <a:ln w="25400" algn="ctr">
            <a:solidFill>
              <a:schemeClr val="tx1"/>
            </a:solidFill>
            <a:round/>
            <a:headEnd type="triangle" w="med" len="med"/>
            <a:tailEnd/>
          </a:ln>
          <a:extLst>
            <a:ext uri="{909E8E84-426E-40DD-AFC4-6F175D3DCCD1}">
              <a14:hiddenFill xmlns:a14="http://schemas.microsoft.com/office/drawing/2010/main">
                <a:noFill/>
              </a14:hiddenFill>
            </a:ext>
          </a:extLst>
        </p:spPr>
      </p:cxn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barn(inVertical)">
                                      <p:cBhvr>
                                        <p:cTn id="7" dur="500"/>
                                        <p:tgtEl>
                                          <p:spTgt spid="38"/>
                                        </p:tgtEl>
                                      </p:cBhvr>
                                    </p:animEffect>
                                  </p:childTnLst>
                                </p:cTn>
                              </p:par>
                            </p:childTnLst>
                          </p:cTn>
                        </p:par>
                        <p:par>
                          <p:cTn id="8" fill="hold" nodeType="afterGroup">
                            <p:stCondLst>
                              <p:cond delay="500"/>
                            </p:stCondLst>
                            <p:childTnLst>
                              <p:par>
                                <p:cTn id="9" presetID="22" presetClass="entr" presetSubtype="2" fill="hold"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ipe(right)">
                                      <p:cBhvr>
                                        <p:cTn id="11" dur="500"/>
                                        <p:tgtEl>
                                          <p:spTgt spid="25"/>
                                        </p:tgtEl>
                                      </p:cBhvr>
                                    </p:animEffect>
                                  </p:childTnLst>
                                </p:cTn>
                              </p:par>
                              <p:par>
                                <p:cTn id="12" presetID="22" presetClass="entr" presetSubtype="2" fill="hold" nodeType="withEffect">
                                  <p:stCondLst>
                                    <p:cond delay="0"/>
                                  </p:stCondLst>
                                  <p:childTnLst>
                                    <p:set>
                                      <p:cBhvr>
                                        <p:cTn id="13" dur="1" fill="hold">
                                          <p:stCondLst>
                                            <p:cond delay="0"/>
                                          </p:stCondLst>
                                        </p:cTn>
                                        <p:tgtEl>
                                          <p:spTgt spid="24"/>
                                        </p:tgtEl>
                                        <p:attrNameLst>
                                          <p:attrName>style.visibility</p:attrName>
                                        </p:attrNameLst>
                                      </p:cBhvr>
                                      <p:to>
                                        <p:strVal val="visible"/>
                                      </p:to>
                                    </p:set>
                                    <p:animEffect transition="in" filter="wipe(right)">
                                      <p:cBhvr>
                                        <p:cTn id="14" dur="500"/>
                                        <p:tgtEl>
                                          <p:spTgt spid="24"/>
                                        </p:tgtEl>
                                      </p:cBhvr>
                                    </p:animEffect>
                                  </p:childTnLst>
                                </p:cTn>
                              </p:par>
                              <p:par>
                                <p:cTn id="15" presetID="22" presetClass="entr" presetSubtype="2" fill="hold" nodeType="with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wipe(right)">
                                      <p:cBhvr>
                                        <p:cTn id="1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Lst>
  </p:timing>
</p:sld>
</file>

<file path=ppt/slides/slide3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37921F-F877-F422-CE7D-CFC83B45A63B}"/>
              </a:ext>
            </a:extLst>
          </p:cNvPr>
          <p:cNvSpPr>
            <a:spLocks noGrp="1"/>
          </p:cNvSpPr>
          <p:nvPr>
            <p:ph type="title"/>
          </p:nvPr>
        </p:nvSpPr>
        <p:spPr>
          <a:xfrm>
            <a:off x="457200" y="0"/>
            <a:ext cx="7620000" cy="1143000"/>
          </a:xfrm>
        </p:spPr>
        <p:txBody>
          <a:bodyPr/>
          <a:lstStyle/>
          <a:p>
            <a:pPr algn="ctr">
              <a:defRPr/>
            </a:pPr>
            <a:r>
              <a:rPr lang="en-US" dirty="0"/>
              <a:t>Database Replication</a:t>
            </a:r>
            <a:endParaRPr lang="en-MY" dirty="0"/>
          </a:p>
        </p:txBody>
      </p:sp>
      <p:sp>
        <p:nvSpPr>
          <p:cNvPr id="13" name="Content Placeholder 2">
            <a:extLst>
              <a:ext uri="{FF2B5EF4-FFF2-40B4-BE49-F238E27FC236}">
                <a16:creationId xmlns:a16="http://schemas.microsoft.com/office/drawing/2014/main" id="{18A4CB68-B9FF-86E3-E1AA-36DA4FF07EEF}"/>
              </a:ext>
            </a:extLst>
          </p:cNvPr>
          <p:cNvSpPr txBox="1">
            <a:spLocks/>
          </p:cNvSpPr>
          <p:nvPr/>
        </p:nvSpPr>
        <p:spPr bwMode="auto">
          <a:xfrm>
            <a:off x="95250" y="1268413"/>
            <a:ext cx="813435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40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Why database replication?</a:t>
            </a: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 typeface="Wingdings 3" panose="05040102010807070707" pitchFamily="18" charset="2"/>
              <a:buNone/>
              <a:tabLst/>
              <a:defRPr/>
            </a:pPr>
            <a:r>
              <a:rPr kumimoji="0" lang="en-CA" altLang="en-US" sz="2600" b="0" i="0" u="none" strike="noStrike" kern="1200" cap="none" spc="0" normalizeH="0" baseline="0" noProof="0">
                <a:ln>
                  <a:noFill/>
                </a:ln>
                <a:solidFill>
                  <a:srgbClr val="9CBEBD"/>
                </a:solidFill>
                <a:effectLst/>
                <a:uLnTx/>
                <a:uFillTx/>
                <a:latin typeface="Arial" panose="020B0604020202020204" pitchFamily="34" charset="0"/>
                <a:ea typeface="+mn-ea"/>
                <a:cs typeface="Arial" panose="020B0604020202020204" pitchFamily="34" charset="0"/>
              </a:rPr>
              <a:t>Scenario: </a:t>
            </a:r>
            <a:r>
              <a:rPr kumimoji="0" lang="en-CA" altLang="en-US" sz="26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Suppose there is a network failure and the data are no longer consistent among servers</a:t>
            </a: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40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sp>
        <p:nvSpPr>
          <p:cNvPr id="38" name="Rectangle 37">
            <a:extLst>
              <a:ext uri="{FF2B5EF4-FFF2-40B4-BE49-F238E27FC236}">
                <a16:creationId xmlns:a16="http://schemas.microsoft.com/office/drawing/2014/main" id="{BED030DA-163B-9C49-1B3A-1A0F61A791B3}"/>
              </a:ext>
            </a:extLst>
          </p:cNvPr>
          <p:cNvSpPr>
            <a:spLocks noChangeArrowheads="1"/>
          </p:cNvSpPr>
          <p:nvPr/>
        </p:nvSpPr>
        <p:spPr bwMode="auto">
          <a:xfrm>
            <a:off x="722313" y="5876925"/>
            <a:ext cx="6973887" cy="428625"/>
          </a:xfrm>
          <a:prstGeom prst="rect">
            <a:avLst/>
          </a:prstGeom>
          <a:solidFill>
            <a:srgbClr val="FFFF00">
              <a:alpha val="30196"/>
            </a:srgbClr>
          </a:solidFill>
          <a:ln w="9525" algn="ctr">
            <a:solidFill>
              <a:srgbClr val="FFC000"/>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20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No way to tell which server contains latest data</a:t>
            </a:r>
            <a:endParaRPr kumimoji="0" lang="en-CA" altLang="en-US" sz="2000" b="1"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endParaRPr>
          </a:p>
        </p:txBody>
      </p:sp>
      <p:sp>
        <p:nvSpPr>
          <p:cNvPr id="23" name="Snip Single Corner Rectangle 22">
            <a:extLst>
              <a:ext uri="{FF2B5EF4-FFF2-40B4-BE49-F238E27FC236}">
                <a16:creationId xmlns:a16="http://schemas.microsoft.com/office/drawing/2014/main" id="{B8A60E13-FABD-0B01-8750-20BF3858C0F7}"/>
              </a:ext>
            </a:extLst>
          </p:cNvPr>
          <p:cNvSpPr/>
          <p:nvPr/>
        </p:nvSpPr>
        <p:spPr bwMode="auto">
          <a:xfrm>
            <a:off x="76200" y="3475038"/>
            <a:ext cx="2324100" cy="431800"/>
          </a:xfrm>
          <a:prstGeom prst="snip1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2000" b="1" i="0" u="none" strike="noStrike" kern="1200" cap="none" spc="0" normalizeH="0" baseline="0" noProof="0" dirty="0">
                <a:ln>
                  <a:noFill/>
                </a:ln>
                <a:solidFill>
                  <a:srgbClr val="2F2B20"/>
                </a:solidFill>
                <a:effectLst/>
                <a:uLnTx/>
                <a:uFillTx/>
                <a:latin typeface="Calibri"/>
                <a:ea typeface="+mn-ea"/>
                <a:cs typeface="+mn-cs"/>
              </a:rPr>
              <a:t>No master-slaves</a:t>
            </a:r>
          </a:p>
        </p:txBody>
      </p:sp>
      <p:pic>
        <p:nvPicPr>
          <p:cNvPr id="79878" name="Picture 26">
            <a:extLst>
              <a:ext uri="{FF2B5EF4-FFF2-40B4-BE49-F238E27FC236}">
                <a16:creationId xmlns:a16="http://schemas.microsoft.com/office/drawing/2014/main" id="{B341D9BC-8A40-6C35-20E4-1B8378B064F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948363" y="4787900"/>
            <a:ext cx="1346200"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9879" name="Picture 13">
            <a:extLst>
              <a:ext uri="{FF2B5EF4-FFF2-40B4-BE49-F238E27FC236}">
                <a16:creationId xmlns:a16="http://schemas.microsoft.com/office/drawing/2014/main" id="{B89500B1-9B5D-CBB7-92A5-6A7E7A20357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975350" y="3448050"/>
            <a:ext cx="1346200" cy="108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9880" name="Picture 16">
            <a:extLst>
              <a:ext uri="{FF2B5EF4-FFF2-40B4-BE49-F238E27FC236}">
                <a16:creationId xmlns:a16="http://schemas.microsoft.com/office/drawing/2014/main" id="{45EA147A-B7D6-B149-9754-16728ABB35E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938463" y="4176713"/>
            <a:ext cx="134620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1" name="Straight Arrow Connector 20">
            <a:extLst>
              <a:ext uri="{FF2B5EF4-FFF2-40B4-BE49-F238E27FC236}">
                <a16:creationId xmlns:a16="http://schemas.microsoft.com/office/drawing/2014/main" id="{EA15EE86-14B4-DCEE-5A90-BFECEB84C870}"/>
              </a:ext>
            </a:extLst>
          </p:cNvPr>
          <p:cNvCxnSpPr>
            <a:cxnSpLocks noChangeShapeType="1"/>
          </p:cNvCxnSpPr>
          <p:nvPr/>
        </p:nvCxnSpPr>
        <p:spPr bwMode="auto">
          <a:xfrm>
            <a:off x="1293813" y="4854575"/>
            <a:ext cx="1584325" cy="0"/>
          </a:xfrm>
          <a:prstGeom prst="straightConnector1">
            <a:avLst/>
          </a:prstGeom>
          <a:noFill/>
          <a:ln w="2540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5" name="Straight Arrow Connector 24">
            <a:extLst>
              <a:ext uri="{FF2B5EF4-FFF2-40B4-BE49-F238E27FC236}">
                <a16:creationId xmlns:a16="http://schemas.microsoft.com/office/drawing/2014/main" id="{00D4C4CC-A80B-4BCE-AC3C-004DAD7E1545}"/>
              </a:ext>
            </a:extLst>
          </p:cNvPr>
          <p:cNvCxnSpPr>
            <a:cxnSpLocks noChangeShapeType="1"/>
          </p:cNvCxnSpPr>
          <p:nvPr/>
        </p:nvCxnSpPr>
        <p:spPr bwMode="auto">
          <a:xfrm>
            <a:off x="1270000" y="4673600"/>
            <a:ext cx="1584325" cy="0"/>
          </a:xfrm>
          <a:prstGeom prst="straightConnector1">
            <a:avLst/>
          </a:prstGeom>
          <a:noFill/>
          <a:ln w="25400" algn="ctr">
            <a:solidFill>
              <a:schemeClr val="tx1"/>
            </a:solidFill>
            <a:round/>
            <a:headEnd type="triangle" w="med" len="med"/>
            <a:tailEnd/>
          </a:ln>
          <a:extLst>
            <a:ext uri="{909E8E84-426E-40DD-AFC4-6F175D3DCCD1}">
              <a14:hiddenFill xmlns:a14="http://schemas.microsoft.com/office/drawing/2010/main">
                <a:noFill/>
              </a14:hiddenFill>
            </a:ext>
          </a:extLst>
        </p:spPr>
      </p:cxnSp>
      <p:cxnSp>
        <p:nvCxnSpPr>
          <p:cNvPr id="28" name="Straight Arrow Connector 27">
            <a:extLst>
              <a:ext uri="{FF2B5EF4-FFF2-40B4-BE49-F238E27FC236}">
                <a16:creationId xmlns:a16="http://schemas.microsoft.com/office/drawing/2014/main" id="{EA124FA0-726F-FF1A-6D33-A302162897B1}"/>
              </a:ext>
            </a:extLst>
          </p:cNvPr>
          <p:cNvCxnSpPr>
            <a:cxnSpLocks noChangeShapeType="1"/>
          </p:cNvCxnSpPr>
          <p:nvPr/>
        </p:nvCxnSpPr>
        <p:spPr bwMode="auto">
          <a:xfrm>
            <a:off x="4284663" y="5418138"/>
            <a:ext cx="1584325" cy="0"/>
          </a:xfrm>
          <a:prstGeom prst="straightConnector1">
            <a:avLst/>
          </a:prstGeom>
          <a:noFill/>
          <a:ln w="2540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9" name="Straight Arrow Connector 28">
            <a:extLst>
              <a:ext uri="{FF2B5EF4-FFF2-40B4-BE49-F238E27FC236}">
                <a16:creationId xmlns:a16="http://schemas.microsoft.com/office/drawing/2014/main" id="{BEC83EB0-EA92-9464-0F48-681565816071}"/>
              </a:ext>
            </a:extLst>
          </p:cNvPr>
          <p:cNvCxnSpPr>
            <a:cxnSpLocks noChangeShapeType="1"/>
          </p:cNvCxnSpPr>
          <p:nvPr/>
        </p:nvCxnSpPr>
        <p:spPr bwMode="auto">
          <a:xfrm>
            <a:off x="4260850" y="5237163"/>
            <a:ext cx="1584325" cy="0"/>
          </a:xfrm>
          <a:prstGeom prst="straightConnector1">
            <a:avLst/>
          </a:prstGeom>
          <a:noFill/>
          <a:ln w="25400" algn="ctr">
            <a:solidFill>
              <a:schemeClr val="tx1"/>
            </a:solidFill>
            <a:round/>
            <a:headEnd type="triangle" w="med" len="med"/>
            <a:tailEnd/>
          </a:ln>
          <a:extLst>
            <a:ext uri="{909E8E84-426E-40DD-AFC4-6F175D3DCCD1}">
              <a14:hiddenFill xmlns:a14="http://schemas.microsoft.com/office/drawing/2010/main">
                <a:noFill/>
              </a14:hiddenFill>
            </a:ext>
          </a:extLst>
        </p:spPr>
      </p:cxnSp>
      <p:cxnSp>
        <p:nvCxnSpPr>
          <p:cNvPr id="30" name="Straight Arrow Connector 29">
            <a:extLst>
              <a:ext uri="{FF2B5EF4-FFF2-40B4-BE49-F238E27FC236}">
                <a16:creationId xmlns:a16="http://schemas.microsoft.com/office/drawing/2014/main" id="{D7B8E945-FE52-36B4-3338-1CBF4C62CEE8}"/>
              </a:ext>
            </a:extLst>
          </p:cNvPr>
          <p:cNvCxnSpPr>
            <a:cxnSpLocks noChangeShapeType="1"/>
          </p:cNvCxnSpPr>
          <p:nvPr/>
        </p:nvCxnSpPr>
        <p:spPr bwMode="auto">
          <a:xfrm>
            <a:off x="4284663" y="4095750"/>
            <a:ext cx="1584325" cy="0"/>
          </a:xfrm>
          <a:prstGeom prst="straightConnector1">
            <a:avLst/>
          </a:prstGeom>
          <a:noFill/>
          <a:ln w="2540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1" name="Straight Arrow Connector 30">
            <a:extLst>
              <a:ext uri="{FF2B5EF4-FFF2-40B4-BE49-F238E27FC236}">
                <a16:creationId xmlns:a16="http://schemas.microsoft.com/office/drawing/2014/main" id="{BF19CEA8-BFC7-7F4D-8ABC-09B2AAE73EEC}"/>
              </a:ext>
            </a:extLst>
          </p:cNvPr>
          <p:cNvCxnSpPr>
            <a:cxnSpLocks noChangeShapeType="1"/>
          </p:cNvCxnSpPr>
          <p:nvPr/>
        </p:nvCxnSpPr>
        <p:spPr bwMode="auto">
          <a:xfrm>
            <a:off x="4260850" y="3914775"/>
            <a:ext cx="1584325" cy="0"/>
          </a:xfrm>
          <a:prstGeom prst="straightConnector1">
            <a:avLst/>
          </a:prstGeom>
          <a:noFill/>
          <a:ln w="25400" algn="ctr">
            <a:solidFill>
              <a:schemeClr val="tx1"/>
            </a:solidFill>
            <a:round/>
            <a:headEnd type="triangle" w="med" len="med"/>
            <a:tailEnd/>
          </a:ln>
          <a:extLst>
            <a:ext uri="{909E8E84-426E-40DD-AFC4-6F175D3DCCD1}">
              <a14:hiddenFill xmlns:a14="http://schemas.microsoft.com/office/drawing/2010/main">
                <a:noFill/>
              </a14:hiddenFill>
            </a:ext>
          </a:extLst>
        </p:spPr>
      </p:cxnSp>
      <p:sp>
        <p:nvSpPr>
          <p:cNvPr id="32" name="TextBox 31">
            <a:extLst>
              <a:ext uri="{FF2B5EF4-FFF2-40B4-BE49-F238E27FC236}">
                <a16:creationId xmlns:a16="http://schemas.microsoft.com/office/drawing/2014/main" id="{2EDB79CC-C704-B171-A45E-464CA933CB79}"/>
              </a:ext>
            </a:extLst>
          </p:cNvPr>
          <p:cNvSpPr txBox="1"/>
          <p:nvPr/>
        </p:nvSpPr>
        <p:spPr>
          <a:xfrm>
            <a:off x="2543175" y="3689350"/>
            <a:ext cx="1657350" cy="407988"/>
          </a:xfrm>
          <a:prstGeom prst="roundRect">
            <a:avLst/>
          </a:prstGeom>
        </p:spPr>
        <p:style>
          <a:lnRef idx="3">
            <a:schemeClr val="lt1"/>
          </a:lnRef>
          <a:fillRef idx="1">
            <a:schemeClr val="accent6"/>
          </a:fillRef>
          <a:effectRef idx="1">
            <a:schemeClr val="accent6"/>
          </a:effectRef>
          <a:fontRef idx="minor">
            <a:schemeClr val="lt1"/>
          </a:fontRef>
        </p:style>
        <p:txBody>
          <a:bodyP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sz="1800" b="0" i="0" u="none" strike="noStrike" kern="1200" cap="none" spc="0" normalizeH="0" baseline="0" noProof="0" dirty="0">
                <a:ln>
                  <a:noFill/>
                </a:ln>
                <a:solidFill>
                  <a:srgbClr val="FFFFFF"/>
                </a:solidFill>
                <a:effectLst/>
                <a:uLnTx/>
                <a:uFillTx/>
                <a:latin typeface="Calibri"/>
                <a:ea typeface="+mn-ea"/>
                <a:cs typeface="+mn-cs"/>
              </a:rPr>
              <a:t>6 employees</a:t>
            </a:r>
          </a:p>
        </p:txBody>
      </p:sp>
      <p:sp>
        <p:nvSpPr>
          <p:cNvPr id="33" name="TextBox 32">
            <a:extLst>
              <a:ext uri="{FF2B5EF4-FFF2-40B4-BE49-F238E27FC236}">
                <a16:creationId xmlns:a16="http://schemas.microsoft.com/office/drawing/2014/main" id="{480BCF50-298A-FA27-BA53-AD03E33A7AE6}"/>
              </a:ext>
            </a:extLst>
          </p:cNvPr>
          <p:cNvSpPr txBox="1"/>
          <p:nvPr/>
        </p:nvSpPr>
        <p:spPr>
          <a:xfrm>
            <a:off x="6948488" y="3730625"/>
            <a:ext cx="1433512" cy="407988"/>
          </a:xfrm>
          <a:prstGeom prst="roundRect">
            <a:avLst/>
          </a:prstGeom>
        </p:spPr>
        <p:style>
          <a:lnRef idx="3">
            <a:schemeClr val="lt1"/>
          </a:lnRef>
          <a:fillRef idx="1">
            <a:schemeClr val="accent6"/>
          </a:fillRef>
          <a:effectRef idx="1">
            <a:schemeClr val="accent6"/>
          </a:effectRef>
          <a:fontRef idx="minor">
            <a:schemeClr val="lt1"/>
          </a:fontRef>
        </p:style>
        <p:txBody>
          <a:bodyP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1800" b="0" i="0" u="none" strike="noStrike" kern="1200" cap="none" spc="0" normalizeH="0" baseline="0" noProof="0" dirty="0">
                <a:ln>
                  <a:noFill/>
                </a:ln>
                <a:solidFill>
                  <a:srgbClr val="FFFFFF"/>
                </a:solidFill>
                <a:effectLst/>
                <a:uLnTx/>
                <a:uFillTx/>
                <a:latin typeface="Calibri"/>
                <a:ea typeface="+mn-ea"/>
                <a:cs typeface="+mn-cs"/>
              </a:rPr>
              <a:t>5 employees</a:t>
            </a:r>
          </a:p>
        </p:txBody>
      </p:sp>
      <p:sp>
        <p:nvSpPr>
          <p:cNvPr id="34" name="TextBox 33">
            <a:extLst>
              <a:ext uri="{FF2B5EF4-FFF2-40B4-BE49-F238E27FC236}">
                <a16:creationId xmlns:a16="http://schemas.microsoft.com/office/drawing/2014/main" id="{C1C60C9A-4A8F-49C8-80D8-EFDD0D360491}"/>
              </a:ext>
            </a:extLst>
          </p:cNvPr>
          <p:cNvSpPr txBox="1"/>
          <p:nvPr/>
        </p:nvSpPr>
        <p:spPr>
          <a:xfrm>
            <a:off x="6940550" y="5045075"/>
            <a:ext cx="1441450" cy="409575"/>
          </a:xfrm>
          <a:prstGeom prst="roundRect">
            <a:avLst/>
          </a:prstGeom>
        </p:spPr>
        <p:style>
          <a:lnRef idx="3">
            <a:schemeClr val="lt1"/>
          </a:lnRef>
          <a:fillRef idx="1">
            <a:schemeClr val="accent6"/>
          </a:fillRef>
          <a:effectRef idx="1">
            <a:schemeClr val="accent6"/>
          </a:effectRef>
          <a:fontRef idx="minor">
            <a:schemeClr val="lt1"/>
          </a:fontRef>
        </p:style>
        <p:txBody>
          <a:bodyP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1800" b="0" i="0" u="none" strike="noStrike" kern="1200" cap="none" spc="0" normalizeH="0" baseline="0" noProof="0" dirty="0">
                <a:ln>
                  <a:noFill/>
                </a:ln>
                <a:solidFill>
                  <a:srgbClr val="FFFFFF"/>
                </a:solidFill>
                <a:effectLst/>
                <a:uLnTx/>
                <a:uFillTx/>
                <a:latin typeface="Calibri"/>
                <a:ea typeface="+mn-ea"/>
                <a:cs typeface="+mn-cs"/>
              </a:rPr>
              <a:t>7 employees</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6" presetClass="entr" presetSubtype="21" fill="hold" nodeType="after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barn(inVertical)">
                                      <p:cBhvr>
                                        <p:cTn id="7" dur="500"/>
                                        <p:tgtEl>
                                          <p:spTgt spid="1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3">
                                            <p:txEl>
                                              <p:pRg st="2" end="2"/>
                                            </p:txEl>
                                          </p:spTgt>
                                        </p:tgtEl>
                                        <p:attrNameLst>
                                          <p:attrName>style.visibility</p:attrName>
                                        </p:attrNameLst>
                                      </p:cBhvr>
                                      <p:to>
                                        <p:strVal val="visible"/>
                                      </p:to>
                                    </p:set>
                                    <p:animEffect transition="in" filter="wipe(left)">
                                      <p:cBhvr>
                                        <p:cTn id="12" dur="500"/>
                                        <p:tgtEl>
                                          <p:spTgt spid="13">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wipe(left)">
                                      <p:cBhvr>
                                        <p:cTn id="17" dur="500"/>
                                        <p:tgtEl>
                                          <p:spTgt spid="23"/>
                                        </p:tgtEl>
                                      </p:cBhvr>
                                    </p:animEffect>
                                  </p:childTnLst>
                                </p:cTn>
                              </p:par>
                            </p:childTnLst>
                          </p:cTn>
                        </p:par>
                        <p:par>
                          <p:cTn id="18" fill="hold" nodeType="afterGroup">
                            <p:stCondLst>
                              <p:cond delay="500"/>
                            </p:stCondLst>
                            <p:childTnLst>
                              <p:par>
                                <p:cTn id="19" presetID="22" presetClass="entr" presetSubtype="8" fill="hold" nodeType="after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wipe(left)">
                                      <p:cBhvr>
                                        <p:cTn id="21" dur="500"/>
                                        <p:tgtEl>
                                          <p:spTgt spid="21"/>
                                        </p:tgtEl>
                                      </p:cBhvr>
                                    </p:animEffect>
                                  </p:childTnLst>
                                </p:cTn>
                              </p:par>
                              <p:par>
                                <p:cTn id="22" presetID="22" presetClass="entr" presetSubtype="8" fill="hold" nodeType="withEffect">
                                  <p:stCondLst>
                                    <p:cond delay="0"/>
                                  </p:stCondLst>
                                  <p:childTnLst>
                                    <p:set>
                                      <p:cBhvr>
                                        <p:cTn id="23" dur="1" fill="hold">
                                          <p:stCondLst>
                                            <p:cond delay="0"/>
                                          </p:stCondLst>
                                        </p:cTn>
                                        <p:tgtEl>
                                          <p:spTgt spid="30"/>
                                        </p:tgtEl>
                                        <p:attrNameLst>
                                          <p:attrName>style.visibility</p:attrName>
                                        </p:attrNameLst>
                                      </p:cBhvr>
                                      <p:to>
                                        <p:strVal val="visible"/>
                                      </p:to>
                                    </p:set>
                                    <p:animEffect transition="in" filter="wipe(left)">
                                      <p:cBhvr>
                                        <p:cTn id="24" dur="500"/>
                                        <p:tgtEl>
                                          <p:spTgt spid="30"/>
                                        </p:tgtEl>
                                      </p:cBhvr>
                                    </p:animEffect>
                                  </p:childTnLst>
                                </p:cTn>
                              </p:par>
                              <p:par>
                                <p:cTn id="25" presetID="22" presetClass="entr" presetSubtype="8" fill="hold" nodeType="with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wipe(left)">
                                      <p:cBhvr>
                                        <p:cTn id="27" dur="500"/>
                                        <p:tgtEl>
                                          <p:spTgt spid="28"/>
                                        </p:tgtEl>
                                      </p:cBhvr>
                                    </p:animEffect>
                                  </p:childTnLst>
                                </p:cTn>
                              </p:par>
                            </p:childTnLst>
                          </p:cTn>
                        </p:par>
                        <p:par>
                          <p:cTn id="28" fill="hold" nodeType="afterGroup">
                            <p:stCondLst>
                              <p:cond delay="1000"/>
                            </p:stCondLst>
                            <p:childTnLst>
                              <p:par>
                                <p:cTn id="29" presetID="22" presetClass="entr" presetSubtype="2" fill="hold" nodeType="afterEffect">
                                  <p:stCondLst>
                                    <p:cond delay="0"/>
                                  </p:stCondLst>
                                  <p:childTnLst>
                                    <p:set>
                                      <p:cBhvr>
                                        <p:cTn id="30" dur="1" fill="hold">
                                          <p:stCondLst>
                                            <p:cond delay="0"/>
                                          </p:stCondLst>
                                        </p:cTn>
                                        <p:tgtEl>
                                          <p:spTgt spid="29"/>
                                        </p:tgtEl>
                                        <p:attrNameLst>
                                          <p:attrName>style.visibility</p:attrName>
                                        </p:attrNameLst>
                                      </p:cBhvr>
                                      <p:to>
                                        <p:strVal val="visible"/>
                                      </p:to>
                                    </p:set>
                                    <p:animEffect transition="in" filter="wipe(right)">
                                      <p:cBhvr>
                                        <p:cTn id="31" dur="500"/>
                                        <p:tgtEl>
                                          <p:spTgt spid="29"/>
                                        </p:tgtEl>
                                      </p:cBhvr>
                                    </p:animEffect>
                                  </p:childTnLst>
                                </p:cTn>
                              </p:par>
                              <p:par>
                                <p:cTn id="32" presetID="22" presetClass="entr" presetSubtype="2" fill="hold" nodeType="withEffect">
                                  <p:stCondLst>
                                    <p:cond delay="0"/>
                                  </p:stCondLst>
                                  <p:childTnLst>
                                    <p:set>
                                      <p:cBhvr>
                                        <p:cTn id="33" dur="1" fill="hold">
                                          <p:stCondLst>
                                            <p:cond delay="0"/>
                                          </p:stCondLst>
                                        </p:cTn>
                                        <p:tgtEl>
                                          <p:spTgt spid="31"/>
                                        </p:tgtEl>
                                        <p:attrNameLst>
                                          <p:attrName>style.visibility</p:attrName>
                                        </p:attrNameLst>
                                      </p:cBhvr>
                                      <p:to>
                                        <p:strVal val="visible"/>
                                      </p:to>
                                    </p:set>
                                    <p:animEffect transition="in" filter="wipe(right)">
                                      <p:cBhvr>
                                        <p:cTn id="34" dur="500"/>
                                        <p:tgtEl>
                                          <p:spTgt spid="31"/>
                                        </p:tgtEl>
                                      </p:cBhvr>
                                    </p:animEffect>
                                  </p:childTnLst>
                                </p:cTn>
                              </p:par>
                              <p:par>
                                <p:cTn id="35" presetID="22" presetClass="entr" presetSubtype="2" fill="hold" nodeType="withEffect">
                                  <p:stCondLst>
                                    <p:cond delay="0"/>
                                  </p:stCondLst>
                                  <p:childTnLst>
                                    <p:set>
                                      <p:cBhvr>
                                        <p:cTn id="36" dur="1" fill="hold">
                                          <p:stCondLst>
                                            <p:cond delay="0"/>
                                          </p:stCondLst>
                                        </p:cTn>
                                        <p:tgtEl>
                                          <p:spTgt spid="25"/>
                                        </p:tgtEl>
                                        <p:attrNameLst>
                                          <p:attrName>style.visibility</p:attrName>
                                        </p:attrNameLst>
                                      </p:cBhvr>
                                      <p:to>
                                        <p:strVal val="visible"/>
                                      </p:to>
                                    </p:set>
                                    <p:animEffect transition="in" filter="wipe(right)">
                                      <p:cBhvr>
                                        <p:cTn id="37" dur="500"/>
                                        <p:tgtEl>
                                          <p:spTgt spid="25"/>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2"/>
                                        </p:tgtEl>
                                        <p:attrNameLst>
                                          <p:attrName>style.visibility</p:attrName>
                                        </p:attrNameLst>
                                      </p:cBhvr>
                                      <p:to>
                                        <p:strVal val="visible"/>
                                      </p:to>
                                    </p:set>
                                    <p:animEffect transition="in" filter="fade">
                                      <p:cBhvr>
                                        <p:cTn id="42" dur="1000"/>
                                        <p:tgtEl>
                                          <p:spTgt spid="32"/>
                                        </p:tgtEl>
                                      </p:cBhvr>
                                    </p:animEffect>
                                    <p:anim calcmode="lin" valueType="num">
                                      <p:cBhvr>
                                        <p:cTn id="43" dur="1000" fill="hold"/>
                                        <p:tgtEl>
                                          <p:spTgt spid="32"/>
                                        </p:tgtEl>
                                        <p:attrNameLst>
                                          <p:attrName>ppt_x</p:attrName>
                                        </p:attrNameLst>
                                      </p:cBhvr>
                                      <p:tavLst>
                                        <p:tav tm="0">
                                          <p:val>
                                            <p:strVal val="#ppt_x"/>
                                          </p:val>
                                        </p:tav>
                                        <p:tav tm="100000">
                                          <p:val>
                                            <p:strVal val="#ppt_x"/>
                                          </p:val>
                                        </p:tav>
                                      </p:tavLst>
                                    </p:anim>
                                    <p:anim calcmode="lin" valueType="num">
                                      <p:cBhvr>
                                        <p:cTn id="44" dur="1000" fill="hold"/>
                                        <p:tgtEl>
                                          <p:spTgt spid="32"/>
                                        </p:tgtEl>
                                        <p:attrNameLst>
                                          <p:attrName>ppt_y</p:attrName>
                                        </p:attrNameLst>
                                      </p:cBhvr>
                                      <p:tavLst>
                                        <p:tav tm="0">
                                          <p:val>
                                            <p:strVal val="#ppt_y+.1"/>
                                          </p:val>
                                        </p:tav>
                                        <p:tav tm="100000">
                                          <p:val>
                                            <p:strVal val="#ppt_y"/>
                                          </p:val>
                                        </p:tav>
                                      </p:tavLst>
                                    </p:anim>
                                  </p:childTnLst>
                                </p:cTn>
                              </p:par>
                            </p:childTnLst>
                          </p:cTn>
                        </p:par>
                        <p:par>
                          <p:cTn id="45" fill="hold" nodeType="afterGroup">
                            <p:stCondLst>
                              <p:cond delay="1000"/>
                            </p:stCondLst>
                            <p:childTnLst>
                              <p:par>
                                <p:cTn id="46" presetID="42" presetClass="entr" presetSubtype="0" fill="hold" grpId="0" nodeType="afterEffect">
                                  <p:stCondLst>
                                    <p:cond delay="0"/>
                                  </p:stCondLst>
                                  <p:childTnLst>
                                    <p:set>
                                      <p:cBhvr>
                                        <p:cTn id="47" dur="1" fill="hold">
                                          <p:stCondLst>
                                            <p:cond delay="0"/>
                                          </p:stCondLst>
                                        </p:cTn>
                                        <p:tgtEl>
                                          <p:spTgt spid="33"/>
                                        </p:tgtEl>
                                        <p:attrNameLst>
                                          <p:attrName>style.visibility</p:attrName>
                                        </p:attrNameLst>
                                      </p:cBhvr>
                                      <p:to>
                                        <p:strVal val="visible"/>
                                      </p:to>
                                    </p:set>
                                    <p:animEffect transition="in" filter="fade">
                                      <p:cBhvr>
                                        <p:cTn id="48" dur="1000"/>
                                        <p:tgtEl>
                                          <p:spTgt spid="33"/>
                                        </p:tgtEl>
                                      </p:cBhvr>
                                    </p:animEffect>
                                    <p:anim calcmode="lin" valueType="num">
                                      <p:cBhvr>
                                        <p:cTn id="49" dur="1000" fill="hold"/>
                                        <p:tgtEl>
                                          <p:spTgt spid="33"/>
                                        </p:tgtEl>
                                        <p:attrNameLst>
                                          <p:attrName>ppt_x</p:attrName>
                                        </p:attrNameLst>
                                      </p:cBhvr>
                                      <p:tavLst>
                                        <p:tav tm="0">
                                          <p:val>
                                            <p:strVal val="#ppt_x"/>
                                          </p:val>
                                        </p:tav>
                                        <p:tav tm="100000">
                                          <p:val>
                                            <p:strVal val="#ppt_x"/>
                                          </p:val>
                                        </p:tav>
                                      </p:tavLst>
                                    </p:anim>
                                    <p:anim calcmode="lin" valueType="num">
                                      <p:cBhvr>
                                        <p:cTn id="50" dur="1000" fill="hold"/>
                                        <p:tgtEl>
                                          <p:spTgt spid="33"/>
                                        </p:tgtEl>
                                        <p:attrNameLst>
                                          <p:attrName>ppt_y</p:attrName>
                                        </p:attrNameLst>
                                      </p:cBhvr>
                                      <p:tavLst>
                                        <p:tav tm="0">
                                          <p:val>
                                            <p:strVal val="#ppt_y+.1"/>
                                          </p:val>
                                        </p:tav>
                                        <p:tav tm="100000">
                                          <p:val>
                                            <p:strVal val="#ppt_y"/>
                                          </p:val>
                                        </p:tav>
                                      </p:tavLst>
                                    </p:anim>
                                  </p:childTnLst>
                                </p:cTn>
                              </p:par>
                            </p:childTnLst>
                          </p:cTn>
                        </p:par>
                        <p:par>
                          <p:cTn id="51" fill="hold" nodeType="afterGroup">
                            <p:stCondLst>
                              <p:cond delay="2000"/>
                            </p:stCondLst>
                            <p:childTnLst>
                              <p:par>
                                <p:cTn id="52" presetID="42" presetClass="entr" presetSubtype="0" fill="hold" grpId="0" nodeType="afterEffect">
                                  <p:stCondLst>
                                    <p:cond delay="0"/>
                                  </p:stCondLst>
                                  <p:childTnLst>
                                    <p:set>
                                      <p:cBhvr>
                                        <p:cTn id="53" dur="1" fill="hold">
                                          <p:stCondLst>
                                            <p:cond delay="0"/>
                                          </p:stCondLst>
                                        </p:cTn>
                                        <p:tgtEl>
                                          <p:spTgt spid="34"/>
                                        </p:tgtEl>
                                        <p:attrNameLst>
                                          <p:attrName>style.visibility</p:attrName>
                                        </p:attrNameLst>
                                      </p:cBhvr>
                                      <p:to>
                                        <p:strVal val="visible"/>
                                      </p:to>
                                    </p:set>
                                    <p:animEffect transition="in" filter="fade">
                                      <p:cBhvr>
                                        <p:cTn id="54" dur="1000"/>
                                        <p:tgtEl>
                                          <p:spTgt spid="34"/>
                                        </p:tgtEl>
                                      </p:cBhvr>
                                    </p:animEffect>
                                    <p:anim calcmode="lin" valueType="num">
                                      <p:cBhvr>
                                        <p:cTn id="55" dur="1000" fill="hold"/>
                                        <p:tgtEl>
                                          <p:spTgt spid="34"/>
                                        </p:tgtEl>
                                        <p:attrNameLst>
                                          <p:attrName>ppt_x</p:attrName>
                                        </p:attrNameLst>
                                      </p:cBhvr>
                                      <p:tavLst>
                                        <p:tav tm="0">
                                          <p:val>
                                            <p:strVal val="#ppt_x"/>
                                          </p:val>
                                        </p:tav>
                                        <p:tav tm="100000">
                                          <p:val>
                                            <p:strVal val="#ppt_x"/>
                                          </p:val>
                                        </p:tav>
                                      </p:tavLst>
                                    </p:anim>
                                    <p:anim calcmode="lin" valueType="num">
                                      <p:cBhvr>
                                        <p:cTn id="56" dur="1000" fill="hold"/>
                                        <p:tgtEl>
                                          <p:spTgt spid="34"/>
                                        </p:tgtEl>
                                        <p:attrNameLst>
                                          <p:attrName>ppt_y</p:attrName>
                                        </p:attrNameLst>
                                      </p:cBhvr>
                                      <p:tavLst>
                                        <p:tav tm="0">
                                          <p:val>
                                            <p:strVal val="#ppt_y+.1"/>
                                          </p:val>
                                        </p:tav>
                                        <p:tav tm="100000">
                                          <p:val>
                                            <p:strVal val="#ppt_y"/>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16" presetClass="entr" presetSubtype="21" fill="hold" grpId="0" nodeType="clickEffect">
                                  <p:stCondLst>
                                    <p:cond delay="0"/>
                                  </p:stCondLst>
                                  <p:childTnLst>
                                    <p:set>
                                      <p:cBhvr>
                                        <p:cTn id="60" dur="1" fill="hold">
                                          <p:stCondLst>
                                            <p:cond delay="0"/>
                                          </p:stCondLst>
                                        </p:cTn>
                                        <p:tgtEl>
                                          <p:spTgt spid="38"/>
                                        </p:tgtEl>
                                        <p:attrNameLst>
                                          <p:attrName>style.visibility</p:attrName>
                                        </p:attrNameLst>
                                      </p:cBhvr>
                                      <p:to>
                                        <p:strVal val="visible"/>
                                      </p:to>
                                    </p:set>
                                    <p:animEffect transition="in" filter="barn(inVertical)">
                                      <p:cBhvr>
                                        <p:cTn id="61"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23" grpId="0" animBg="1"/>
      <p:bldP spid="32" grpId="0" animBg="1"/>
      <p:bldP spid="33" grpId="0" animBg="1"/>
      <p:bldP spid="34" grpId="0" animBg="1"/>
    </p:bldLst>
  </p:timing>
</p:sld>
</file>

<file path=ppt/slides/slide3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TextBox 45">
            <a:extLst>
              <a:ext uri="{FF2B5EF4-FFF2-40B4-BE49-F238E27FC236}">
                <a16:creationId xmlns:a16="http://schemas.microsoft.com/office/drawing/2014/main" id="{24DE47A8-DCA2-FEB3-1CFB-821C2B4C097F}"/>
              </a:ext>
            </a:extLst>
          </p:cNvPr>
          <p:cNvSpPr txBox="1">
            <a:spLocks noChangeArrowheads="1"/>
          </p:cNvSpPr>
          <p:nvPr/>
        </p:nvSpPr>
        <p:spPr bwMode="auto">
          <a:xfrm>
            <a:off x="6707188" y="5048250"/>
            <a:ext cx="16557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Slave server</a:t>
            </a:r>
          </a:p>
        </p:txBody>
      </p:sp>
      <p:sp>
        <p:nvSpPr>
          <p:cNvPr id="2" name="Title 1">
            <a:extLst>
              <a:ext uri="{FF2B5EF4-FFF2-40B4-BE49-F238E27FC236}">
                <a16:creationId xmlns:a16="http://schemas.microsoft.com/office/drawing/2014/main" id="{38453923-40DC-5900-8A74-ACD3A39D996E}"/>
              </a:ext>
            </a:extLst>
          </p:cNvPr>
          <p:cNvSpPr>
            <a:spLocks noGrp="1"/>
          </p:cNvSpPr>
          <p:nvPr>
            <p:ph type="title"/>
          </p:nvPr>
        </p:nvSpPr>
        <p:spPr>
          <a:xfrm>
            <a:off x="457200" y="0"/>
            <a:ext cx="7620000" cy="1143000"/>
          </a:xfrm>
        </p:spPr>
        <p:txBody>
          <a:bodyPr/>
          <a:lstStyle/>
          <a:p>
            <a:pPr algn="ctr">
              <a:defRPr/>
            </a:pPr>
            <a:r>
              <a:rPr lang="en-US" dirty="0"/>
              <a:t>Database Replication</a:t>
            </a:r>
            <a:endParaRPr lang="en-MY" dirty="0"/>
          </a:p>
        </p:txBody>
      </p:sp>
      <p:sp>
        <p:nvSpPr>
          <p:cNvPr id="80900" name="Content Placeholder 2">
            <a:extLst>
              <a:ext uri="{FF2B5EF4-FFF2-40B4-BE49-F238E27FC236}">
                <a16:creationId xmlns:a16="http://schemas.microsoft.com/office/drawing/2014/main" id="{22BC57F0-2C53-B9BC-997E-D72BFA3971E9}"/>
              </a:ext>
            </a:extLst>
          </p:cNvPr>
          <p:cNvSpPr txBox="1">
            <a:spLocks/>
          </p:cNvSpPr>
          <p:nvPr/>
        </p:nvSpPr>
        <p:spPr bwMode="auto">
          <a:xfrm>
            <a:off x="250825" y="1268413"/>
            <a:ext cx="7978775"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40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Why database replication?</a:t>
            </a: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 typeface="Wingdings 3" panose="05040102010807070707" pitchFamily="18" charset="2"/>
              <a:buNone/>
              <a:tabLst/>
              <a:defRPr/>
            </a:pPr>
            <a:r>
              <a:rPr kumimoji="0" lang="en-CA" altLang="en-US" sz="2600" b="0" i="0" u="none" strike="noStrike" kern="1200" cap="none" spc="0" normalizeH="0" baseline="0" noProof="0">
                <a:ln>
                  <a:noFill/>
                </a:ln>
                <a:solidFill>
                  <a:srgbClr val="9CBEBD"/>
                </a:solidFill>
                <a:effectLst/>
                <a:uLnTx/>
                <a:uFillTx/>
                <a:latin typeface="Arial" panose="020B0604020202020204" pitchFamily="34" charset="0"/>
                <a:ea typeface="+mn-ea"/>
                <a:cs typeface="Arial" panose="020B0604020202020204" pitchFamily="34" charset="0"/>
              </a:rPr>
              <a:t>Scenario: </a:t>
            </a:r>
            <a:r>
              <a:rPr kumimoji="0" lang="en-CA" altLang="en-US" sz="26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Suppose there is a network failure and the data are no longer consistent among servers</a:t>
            </a: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40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sp>
        <p:nvSpPr>
          <p:cNvPr id="38" name="Rectangle 37">
            <a:extLst>
              <a:ext uri="{FF2B5EF4-FFF2-40B4-BE49-F238E27FC236}">
                <a16:creationId xmlns:a16="http://schemas.microsoft.com/office/drawing/2014/main" id="{82597C96-B939-0516-B974-6FD57EE7DF28}"/>
              </a:ext>
            </a:extLst>
          </p:cNvPr>
          <p:cNvSpPr>
            <a:spLocks noChangeArrowheads="1"/>
          </p:cNvSpPr>
          <p:nvPr/>
        </p:nvSpPr>
        <p:spPr bwMode="auto">
          <a:xfrm>
            <a:off x="685800" y="5943600"/>
            <a:ext cx="6973888" cy="708025"/>
          </a:xfrm>
          <a:prstGeom prst="rect">
            <a:avLst/>
          </a:prstGeom>
          <a:solidFill>
            <a:srgbClr val="FFFF00">
              <a:alpha val="30196"/>
            </a:srgbClr>
          </a:solidFill>
          <a:ln w="9525" algn="ctr">
            <a:solidFill>
              <a:srgbClr val="FFC000"/>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20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The master server would contain the latest data since we always write to the master server first</a:t>
            </a:r>
            <a:endParaRPr kumimoji="0" lang="en-CA" altLang="en-US" sz="2000" b="1"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endParaRPr>
          </a:p>
        </p:txBody>
      </p:sp>
      <p:sp>
        <p:nvSpPr>
          <p:cNvPr id="23" name="Snip Single Corner Rectangle 22">
            <a:extLst>
              <a:ext uri="{FF2B5EF4-FFF2-40B4-BE49-F238E27FC236}">
                <a16:creationId xmlns:a16="http://schemas.microsoft.com/office/drawing/2014/main" id="{8720DA25-0AD7-7697-B68D-A004AB606281}"/>
              </a:ext>
            </a:extLst>
          </p:cNvPr>
          <p:cNvSpPr/>
          <p:nvPr/>
        </p:nvSpPr>
        <p:spPr bwMode="auto">
          <a:xfrm>
            <a:off x="76200" y="3460750"/>
            <a:ext cx="1900238" cy="433388"/>
          </a:xfrm>
          <a:prstGeom prst="snip1Rect">
            <a:avLst/>
          </a:prstGeom>
          <a:ln>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2000" b="1" i="0" u="none" strike="noStrike" kern="1200" cap="none" spc="0" normalizeH="0" baseline="0" noProof="0" dirty="0">
                <a:ln>
                  <a:noFill/>
                </a:ln>
                <a:solidFill>
                  <a:srgbClr val="2F2B20"/>
                </a:solidFill>
                <a:effectLst/>
                <a:uLnTx/>
                <a:uFillTx/>
                <a:latin typeface="Calibri"/>
                <a:ea typeface="+mn-ea"/>
                <a:cs typeface="+mn-cs"/>
              </a:rPr>
              <a:t>Master-slaves</a:t>
            </a:r>
          </a:p>
        </p:txBody>
      </p:sp>
      <p:sp>
        <p:nvSpPr>
          <p:cNvPr id="24" name="TextBox 23">
            <a:extLst>
              <a:ext uri="{FF2B5EF4-FFF2-40B4-BE49-F238E27FC236}">
                <a16:creationId xmlns:a16="http://schemas.microsoft.com/office/drawing/2014/main" id="{8FB99F0F-460E-8B9F-FAFB-6B3B6233D7B5}"/>
              </a:ext>
            </a:extLst>
          </p:cNvPr>
          <p:cNvSpPr txBox="1">
            <a:spLocks noChangeArrowheads="1"/>
          </p:cNvSpPr>
          <p:nvPr/>
        </p:nvSpPr>
        <p:spPr bwMode="auto">
          <a:xfrm>
            <a:off x="985838" y="4529138"/>
            <a:ext cx="16573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Master server</a:t>
            </a:r>
          </a:p>
        </p:txBody>
      </p:sp>
      <p:pic>
        <p:nvPicPr>
          <p:cNvPr id="80904" name="Picture 36">
            <a:extLst>
              <a:ext uri="{FF2B5EF4-FFF2-40B4-BE49-F238E27FC236}">
                <a16:creationId xmlns:a16="http://schemas.microsoft.com/office/drawing/2014/main" id="{0C388284-BE06-F78F-452B-D08C82CACB6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724525" y="4787900"/>
            <a:ext cx="1347788"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0905" name="Picture 40">
            <a:extLst>
              <a:ext uri="{FF2B5EF4-FFF2-40B4-BE49-F238E27FC236}">
                <a16:creationId xmlns:a16="http://schemas.microsoft.com/office/drawing/2014/main" id="{B9963C32-1D80-BDA4-1869-DD561CD2379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751513" y="3448050"/>
            <a:ext cx="1347787" cy="108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0906" name="Picture 43">
            <a:extLst>
              <a:ext uri="{FF2B5EF4-FFF2-40B4-BE49-F238E27FC236}">
                <a16:creationId xmlns:a16="http://schemas.microsoft.com/office/drawing/2014/main" id="{3B356308-421B-D12D-ACBB-42BC3E764FB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714625" y="4176713"/>
            <a:ext cx="134620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 name="TextBox 44">
            <a:extLst>
              <a:ext uri="{FF2B5EF4-FFF2-40B4-BE49-F238E27FC236}">
                <a16:creationId xmlns:a16="http://schemas.microsoft.com/office/drawing/2014/main" id="{98069D59-D237-8A5D-1E49-13D84688DD3B}"/>
              </a:ext>
            </a:extLst>
          </p:cNvPr>
          <p:cNvSpPr txBox="1">
            <a:spLocks noChangeArrowheads="1"/>
          </p:cNvSpPr>
          <p:nvPr/>
        </p:nvSpPr>
        <p:spPr bwMode="auto">
          <a:xfrm>
            <a:off x="6700838" y="3654425"/>
            <a:ext cx="16557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Slave server</a:t>
            </a:r>
          </a:p>
        </p:txBody>
      </p:sp>
      <p:cxnSp>
        <p:nvCxnSpPr>
          <p:cNvPr id="47" name="Straight Arrow Connector 46">
            <a:extLst>
              <a:ext uri="{FF2B5EF4-FFF2-40B4-BE49-F238E27FC236}">
                <a16:creationId xmlns:a16="http://schemas.microsoft.com/office/drawing/2014/main" id="{35CE0C0A-CC46-4F62-352E-2DD7EC8E0504}"/>
              </a:ext>
            </a:extLst>
          </p:cNvPr>
          <p:cNvCxnSpPr>
            <a:cxnSpLocks noChangeShapeType="1"/>
          </p:cNvCxnSpPr>
          <p:nvPr/>
        </p:nvCxnSpPr>
        <p:spPr bwMode="auto">
          <a:xfrm>
            <a:off x="1069975" y="4897438"/>
            <a:ext cx="1584325" cy="0"/>
          </a:xfrm>
          <a:prstGeom prst="straightConnector1">
            <a:avLst/>
          </a:prstGeom>
          <a:noFill/>
          <a:ln w="2540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8" name="Straight Arrow Connector 47">
            <a:extLst>
              <a:ext uri="{FF2B5EF4-FFF2-40B4-BE49-F238E27FC236}">
                <a16:creationId xmlns:a16="http://schemas.microsoft.com/office/drawing/2014/main" id="{56EDEAB7-B474-3561-70FE-65ADE8344FC9}"/>
              </a:ext>
            </a:extLst>
          </p:cNvPr>
          <p:cNvCxnSpPr>
            <a:cxnSpLocks noChangeShapeType="1"/>
          </p:cNvCxnSpPr>
          <p:nvPr/>
        </p:nvCxnSpPr>
        <p:spPr bwMode="auto">
          <a:xfrm>
            <a:off x="3681413" y="4787900"/>
            <a:ext cx="1971675" cy="590550"/>
          </a:xfrm>
          <a:prstGeom prst="straightConnector1">
            <a:avLst/>
          </a:prstGeom>
          <a:noFill/>
          <a:ln w="2540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9" name="Straight Arrow Connector 48">
            <a:extLst>
              <a:ext uri="{FF2B5EF4-FFF2-40B4-BE49-F238E27FC236}">
                <a16:creationId xmlns:a16="http://schemas.microsoft.com/office/drawing/2014/main" id="{DBF920BE-366B-A477-2431-4B3A6B495F45}"/>
              </a:ext>
            </a:extLst>
          </p:cNvPr>
          <p:cNvCxnSpPr>
            <a:cxnSpLocks noChangeShapeType="1"/>
          </p:cNvCxnSpPr>
          <p:nvPr/>
        </p:nvCxnSpPr>
        <p:spPr bwMode="auto">
          <a:xfrm flipV="1">
            <a:off x="3686175" y="3989388"/>
            <a:ext cx="1966913" cy="709612"/>
          </a:xfrm>
          <a:prstGeom prst="straightConnector1">
            <a:avLst/>
          </a:prstGeom>
          <a:noFill/>
          <a:ln w="2540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0" name="Straight Arrow Connector 49">
            <a:extLst>
              <a:ext uri="{FF2B5EF4-FFF2-40B4-BE49-F238E27FC236}">
                <a16:creationId xmlns:a16="http://schemas.microsoft.com/office/drawing/2014/main" id="{EC2E60EC-82B6-F318-B867-A6211E845087}"/>
              </a:ext>
            </a:extLst>
          </p:cNvPr>
          <p:cNvCxnSpPr>
            <a:cxnSpLocks noChangeShapeType="1"/>
          </p:cNvCxnSpPr>
          <p:nvPr/>
        </p:nvCxnSpPr>
        <p:spPr bwMode="auto">
          <a:xfrm>
            <a:off x="1069975" y="4552950"/>
            <a:ext cx="1584325" cy="0"/>
          </a:xfrm>
          <a:prstGeom prst="straightConnector1">
            <a:avLst/>
          </a:prstGeom>
          <a:noFill/>
          <a:ln w="25400" algn="ctr">
            <a:solidFill>
              <a:schemeClr val="tx1"/>
            </a:solidFill>
            <a:round/>
            <a:headEnd type="triangle" w="med" len="med"/>
            <a:tailEnd/>
          </a:ln>
          <a:extLst>
            <a:ext uri="{909E8E84-426E-40DD-AFC4-6F175D3DCCD1}">
              <a14:hiddenFill xmlns:a14="http://schemas.microsoft.com/office/drawing/2010/main">
                <a:noFill/>
              </a14:hiddenFill>
            </a:ext>
          </a:extLst>
        </p:spPr>
      </p:cxnSp>
      <p:cxnSp>
        <p:nvCxnSpPr>
          <p:cNvPr id="51" name="Straight Arrow Connector 50">
            <a:extLst>
              <a:ext uri="{FF2B5EF4-FFF2-40B4-BE49-F238E27FC236}">
                <a16:creationId xmlns:a16="http://schemas.microsoft.com/office/drawing/2014/main" id="{4622D52A-BCE6-0830-2A16-9C479D2AAE8F}"/>
              </a:ext>
            </a:extLst>
          </p:cNvPr>
          <p:cNvCxnSpPr>
            <a:cxnSpLocks noChangeShapeType="1"/>
          </p:cNvCxnSpPr>
          <p:nvPr/>
        </p:nvCxnSpPr>
        <p:spPr bwMode="auto">
          <a:xfrm>
            <a:off x="4060825" y="3840163"/>
            <a:ext cx="1584325" cy="0"/>
          </a:xfrm>
          <a:prstGeom prst="straightConnector1">
            <a:avLst/>
          </a:prstGeom>
          <a:noFill/>
          <a:ln w="25400" algn="ctr">
            <a:solidFill>
              <a:schemeClr val="tx1"/>
            </a:solidFill>
            <a:round/>
            <a:headEnd type="triangle" w="med" len="med"/>
            <a:tailEnd/>
          </a:ln>
          <a:extLst>
            <a:ext uri="{909E8E84-426E-40DD-AFC4-6F175D3DCCD1}">
              <a14:hiddenFill xmlns:a14="http://schemas.microsoft.com/office/drawing/2010/main">
                <a:noFill/>
              </a14:hiddenFill>
            </a:ext>
          </a:extLst>
        </p:spPr>
      </p:cxnSp>
      <p:cxnSp>
        <p:nvCxnSpPr>
          <p:cNvPr id="52" name="Straight Arrow Connector 51">
            <a:extLst>
              <a:ext uri="{FF2B5EF4-FFF2-40B4-BE49-F238E27FC236}">
                <a16:creationId xmlns:a16="http://schemas.microsoft.com/office/drawing/2014/main" id="{61CDE492-0240-AD12-C302-FE54EA062AA0}"/>
              </a:ext>
            </a:extLst>
          </p:cNvPr>
          <p:cNvCxnSpPr>
            <a:cxnSpLocks noChangeShapeType="1"/>
          </p:cNvCxnSpPr>
          <p:nvPr/>
        </p:nvCxnSpPr>
        <p:spPr bwMode="auto">
          <a:xfrm>
            <a:off x="4068763" y="5503863"/>
            <a:ext cx="1584325" cy="0"/>
          </a:xfrm>
          <a:prstGeom prst="straightConnector1">
            <a:avLst/>
          </a:prstGeom>
          <a:noFill/>
          <a:ln w="25400" algn="ctr">
            <a:solidFill>
              <a:schemeClr val="tx1"/>
            </a:solidFill>
            <a:round/>
            <a:headEnd type="triangle" w="med" len="med"/>
            <a:tailEnd/>
          </a:ln>
          <a:extLst>
            <a:ext uri="{909E8E84-426E-40DD-AFC4-6F175D3DCCD1}">
              <a14:hiddenFill xmlns:a14="http://schemas.microsoft.com/office/drawing/2010/main">
                <a:noFill/>
              </a14:hiddenFill>
            </a:ext>
          </a:extLst>
        </p:spPr>
      </p:cxnSp>
      <p:sp>
        <p:nvSpPr>
          <p:cNvPr id="53" name="TextBox 52">
            <a:extLst>
              <a:ext uri="{FF2B5EF4-FFF2-40B4-BE49-F238E27FC236}">
                <a16:creationId xmlns:a16="http://schemas.microsoft.com/office/drawing/2014/main" id="{9FEB78EA-4A40-E0F3-C825-48A2845721FD}"/>
              </a:ext>
            </a:extLst>
          </p:cNvPr>
          <p:cNvSpPr txBox="1"/>
          <p:nvPr/>
        </p:nvSpPr>
        <p:spPr>
          <a:xfrm>
            <a:off x="2314575" y="3676650"/>
            <a:ext cx="1655763" cy="407988"/>
          </a:xfrm>
          <a:prstGeom prst="roundRect">
            <a:avLst/>
          </a:prstGeom>
        </p:spPr>
        <p:style>
          <a:lnRef idx="3">
            <a:schemeClr val="lt1"/>
          </a:lnRef>
          <a:fillRef idx="1">
            <a:schemeClr val="accent6"/>
          </a:fillRef>
          <a:effectRef idx="1">
            <a:schemeClr val="accent6"/>
          </a:effectRef>
          <a:fontRef idx="minor">
            <a:schemeClr val="lt1"/>
          </a:fontRef>
        </p:style>
        <p:txBody>
          <a:bodyP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sz="1800" b="0" i="0" u="none" strike="noStrike" kern="1200" cap="none" spc="0" normalizeH="0" baseline="0" noProof="0" dirty="0">
                <a:ln>
                  <a:noFill/>
                </a:ln>
                <a:solidFill>
                  <a:srgbClr val="FFFFFF"/>
                </a:solidFill>
                <a:effectLst/>
                <a:uLnTx/>
                <a:uFillTx/>
                <a:latin typeface="Calibri"/>
                <a:ea typeface="+mn-ea"/>
                <a:cs typeface="+mn-cs"/>
              </a:rPr>
              <a:t>6 employees</a:t>
            </a:r>
          </a:p>
        </p:txBody>
      </p:sp>
      <p:sp>
        <p:nvSpPr>
          <p:cNvPr id="54" name="TextBox 53">
            <a:extLst>
              <a:ext uri="{FF2B5EF4-FFF2-40B4-BE49-F238E27FC236}">
                <a16:creationId xmlns:a16="http://schemas.microsoft.com/office/drawing/2014/main" id="{7B1688DF-80EE-8F01-E400-7B867E78898E}"/>
              </a:ext>
            </a:extLst>
          </p:cNvPr>
          <p:cNvSpPr txBox="1"/>
          <p:nvPr/>
        </p:nvSpPr>
        <p:spPr>
          <a:xfrm>
            <a:off x="6778625" y="3963988"/>
            <a:ext cx="1657350" cy="409575"/>
          </a:xfrm>
          <a:prstGeom prst="roundRect">
            <a:avLst/>
          </a:prstGeom>
        </p:spPr>
        <p:style>
          <a:lnRef idx="3">
            <a:schemeClr val="lt1"/>
          </a:lnRef>
          <a:fillRef idx="1">
            <a:schemeClr val="accent6"/>
          </a:fillRef>
          <a:effectRef idx="1">
            <a:schemeClr val="accent6"/>
          </a:effectRef>
          <a:fontRef idx="minor">
            <a:schemeClr val="lt1"/>
          </a:fontRef>
        </p:style>
        <p:txBody>
          <a:bodyP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1800" b="0" i="0" u="none" strike="noStrike" kern="1200" cap="none" spc="0" normalizeH="0" baseline="0" noProof="0" dirty="0">
                <a:ln>
                  <a:noFill/>
                </a:ln>
                <a:solidFill>
                  <a:srgbClr val="FFFFFF"/>
                </a:solidFill>
                <a:effectLst/>
                <a:uLnTx/>
                <a:uFillTx/>
                <a:latin typeface="Calibri"/>
                <a:ea typeface="+mn-ea"/>
                <a:cs typeface="+mn-cs"/>
              </a:rPr>
              <a:t>5 employees</a:t>
            </a:r>
          </a:p>
        </p:txBody>
      </p:sp>
      <p:sp>
        <p:nvSpPr>
          <p:cNvPr id="55" name="TextBox 54">
            <a:extLst>
              <a:ext uri="{FF2B5EF4-FFF2-40B4-BE49-F238E27FC236}">
                <a16:creationId xmlns:a16="http://schemas.microsoft.com/office/drawing/2014/main" id="{18CBB197-6812-B5E2-BCC3-2A4E5C4951F9}"/>
              </a:ext>
            </a:extLst>
          </p:cNvPr>
          <p:cNvSpPr txBox="1"/>
          <p:nvPr/>
        </p:nvSpPr>
        <p:spPr>
          <a:xfrm>
            <a:off x="6778625" y="5405438"/>
            <a:ext cx="1657350" cy="407987"/>
          </a:xfrm>
          <a:prstGeom prst="roundRect">
            <a:avLst/>
          </a:prstGeom>
        </p:spPr>
        <p:style>
          <a:lnRef idx="3">
            <a:schemeClr val="lt1"/>
          </a:lnRef>
          <a:fillRef idx="1">
            <a:schemeClr val="accent6"/>
          </a:fillRef>
          <a:effectRef idx="1">
            <a:schemeClr val="accent6"/>
          </a:effectRef>
          <a:fontRef idx="minor">
            <a:schemeClr val="lt1"/>
          </a:fontRef>
        </p:style>
        <p:txBody>
          <a:bodyP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1800" b="0" i="0" u="none" strike="noStrike" kern="1200" cap="none" spc="0" normalizeH="0" baseline="0" noProof="0" dirty="0">
                <a:ln>
                  <a:noFill/>
                </a:ln>
                <a:solidFill>
                  <a:srgbClr val="FFFFFF"/>
                </a:solidFill>
                <a:effectLst/>
                <a:uLnTx/>
                <a:uFillTx/>
                <a:latin typeface="Calibri"/>
                <a:ea typeface="+mn-ea"/>
                <a:cs typeface="+mn-cs"/>
              </a:rPr>
              <a:t>7 employees</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left)">
                                      <p:cBhvr>
                                        <p:cTn id="7" dur="500"/>
                                        <p:tgtEl>
                                          <p:spTgt spid="23"/>
                                        </p:tgtEl>
                                      </p:cBhvr>
                                    </p:animEffect>
                                  </p:childTnLst>
                                </p:cTn>
                              </p:par>
                            </p:childTnLst>
                          </p:cTn>
                        </p:par>
                        <p:par>
                          <p:cTn id="8" fill="hold" nodeType="afterGroup">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wipe(down)">
                                      <p:cBhvr>
                                        <p:cTn id="11" dur="500"/>
                                        <p:tgtEl>
                                          <p:spTgt spid="24"/>
                                        </p:tgtEl>
                                      </p:cBhvr>
                                    </p:animEffect>
                                  </p:childTnLst>
                                </p:cTn>
                              </p:par>
                              <p:par>
                                <p:cTn id="12" presetID="22" presetClass="entr" presetSubtype="4" fill="hold" grpId="0" nodeType="withEffect">
                                  <p:stCondLst>
                                    <p:cond delay="0"/>
                                  </p:stCondLst>
                                  <p:childTnLst>
                                    <p:set>
                                      <p:cBhvr>
                                        <p:cTn id="13" dur="1" fill="hold">
                                          <p:stCondLst>
                                            <p:cond delay="0"/>
                                          </p:stCondLst>
                                        </p:cTn>
                                        <p:tgtEl>
                                          <p:spTgt spid="45"/>
                                        </p:tgtEl>
                                        <p:attrNameLst>
                                          <p:attrName>style.visibility</p:attrName>
                                        </p:attrNameLst>
                                      </p:cBhvr>
                                      <p:to>
                                        <p:strVal val="visible"/>
                                      </p:to>
                                    </p:set>
                                    <p:animEffect transition="in" filter="wipe(down)">
                                      <p:cBhvr>
                                        <p:cTn id="14" dur="500"/>
                                        <p:tgtEl>
                                          <p:spTgt spid="45"/>
                                        </p:tgtEl>
                                      </p:cBhvr>
                                    </p:animEffect>
                                  </p:childTnLst>
                                </p:cTn>
                              </p:par>
                              <p:par>
                                <p:cTn id="15" presetID="22" presetClass="entr" presetSubtype="4" fill="hold" grpId="0" nodeType="withEffect">
                                  <p:stCondLst>
                                    <p:cond delay="0"/>
                                  </p:stCondLst>
                                  <p:childTnLst>
                                    <p:set>
                                      <p:cBhvr>
                                        <p:cTn id="16" dur="1" fill="hold">
                                          <p:stCondLst>
                                            <p:cond delay="0"/>
                                          </p:stCondLst>
                                        </p:cTn>
                                        <p:tgtEl>
                                          <p:spTgt spid="46"/>
                                        </p:tgtEl>
                                        <p:attrNameLst>
                                          <p:attrName>style.visibility</p:attrName>
                                        </p:attrNameLst>
                                      </p:cBhvr>
                                      <p:to>
                                        <p:strVal val="visible"/>
                                      </p:to>
                                    </p:set>
                                    <p:animEffect transition="in" filter="wipe(down)">
                                      <p:cBhvr>
                                        <p:cTn id="17" dur="500"/>
                                        <p:tgtEl>
                                          <p:spTgt spid="46"/>
                                        </p:tgtEl>
                                      </p:cBhvr>
                                    </p:animEffect>
                                  </p:childTnLst>
                                </p:cTn>
                              </p:par>
                            </p:childTnLst>
                          </p:cTn>
                        </p:par>
                        <p:par>
                          <p:cTn id="18" fill="hold" nodeType="afterGroup">
                            <p:stCondLst>
                              <p:cond delay="1000"/>
                            </p:stCondLst>
                            <p:childTnLst>
                              <p:par>
                                <p:cTn id="19" presetID="22" presetClass="entr" presetSubtype="8" fill="hold" nodeType="afterEffect">
                                  <p:stCondLst>
                                    <p:cond delay="0"/>
                                  </p:stCondLst>
                                  <p:childTnLst>
                                    <p:set>
                                      <p:cBhvr>
                                        <p:cTn id="20" dur="1" fill="hold">
                                          <p:stCondLst>
                                            <p:cond delay="0"/>
                                          </p:stCondLst>
                                        </p:cTn>
                                        <p:tgtEl>
                                          <p:spTgt spid="47"/>
                                        </p:tgtEl>
                                        <p:attrNameLst>
                                          <p:attrName>style.visibility</p:attrName>
                                        </p:attrNameLst>
                                      </p:cBhvr>
                                      <p:to>
                                        <p:strVal val="visible"/>
                                      </p:to>
                                    </p:set>
                                    <p:animEffect transition="in" filter="wipe(left)">
                                      <p:cBhvr>
                                        <p:cTn id="21" dur="500"/>
                                        <p:tgtEl>
                                          <p:spTgt spid="47"/>
                                        </p:tgtEl>
                                      </p:cBhvr>
                                    </p:animEffect>
                                  </p:childTnLst>
                                </p:cTn>
                              </p:par>
                            </p:childTnLst>
                          </p:cTn>
                        </p:par>
                        <p:par>
                          <p:cTn id="22" fill="hold" nodeType="afterGroup">
                            <p:stCondLst>
                              <p:cond delay="1500"/>
                            </p:stCondLst>
                            <p:childTnLst>
                              <p:par>
                                <p:cTn id="23" presetID="22" presetClass="entr" presetSubtype="8" fill="hold" nodeType="afterEffect">
                                  <p:stCondLst>
                                    <p:cond delay="0"/>
                                  </p:stCondLst>
                                  <p:childTnLst>
                                    <p:set>
                                      <p:cBhvr>
                                        <p:cTn id="24" dur="1" fill="hold">
                                          <p:stCondLst>
                                            <p:cond delay="0"/>
                                          </p:stCondLst>
                                        </p:cTn>
                                        <p:tgtEl>
                                          <p:spTgt spid="49"/>
                                        </p:tgtEl>
                                        <p:attrNameLst>
                                          <p:attrName>style.visibility</p:attrName>
                                        </p:attrNameLst>
                                      </p:cBhvr>
                                      <p:to>
                                        <p:strVal val="visible"/>
                                      </p:to>
                                    </p:set>
                                    <p:animEffect transition="in" filter="wipe(left)">
                                      <p:cBhvr>
                                        <p:cTn id="25" dur="500"/>
                                        <p:tgtEl>
                                          <p:spTgt spid="49"/>
                                        </p:tgtEl>
                                      </p:cBhvr>
                                    </p:animEffect>
                                  </p:childTnLst>
                                </p:cTn>
                              </p:par>
                              <p:par>
                                <p:cTn id="26" presetID="22" presetClass="entr" presetSubtype="8" fill="hold" nodeType="withEffect">
                                  <p:stCondLst>
                                    <p:cond delay="0"/>
                                  </p:stCondLst>
                                  <p:childTnLst>
                                    <p:set>
                                      <p:cBhvr>
                                        <p:cTn id="27" dur="1" fill="hold">
                                          <p:stCondLst>
                                            <p:cond delay="0"/>
                                          </p:stCondLst>
                                        </p:cTn>
                                        <p:tgtEl>
                                          <p:spTgt spid="48"/>
                                        </p:tgtEl>
                                        <p:attrNameLst>
                                          <p:attrName>style.visibility</p:attrName>
                                        </p:attrNameLst>
                                      </p:cBhvr>
                                      <p:to>
                                        <p:strVal val="visible"/>
                                      </p:to>
                                    </p:set>
                                    <p:animEffect transition="in" filter="wipe(left)">
                                      <p:cBhvr>
                                        <p:cTn id="28" dur="500"/>
                                        <p:tgtEl>
                                          <p:spTgt spid="48"/>
                                        </p:tgtEl>
                                      </p:cBhvr>
                                    </p:animEffect>
                                  </p:childTnLst>
                                </p:cTn>
                              </p:par>
                            </p:childTnLst>
                          </p:cTn>
                        </p:par>
                        <p:par>
                          <p:cTn id="29" fill="hold" nodeType="afterGroup">
                            <p:stCondLst>
                              <p:cond delay="2000"/>
                            </p:stCondLst>
                            <p:childTnLst>
                              <p:par>
                                <p:cTn id="30" presetID="22" presetClass="entr" presetSubtype="2" fill="hold" nodeType="afterEffect">
                                  <p:stCondLst>
                                    <p:cond delay="0"/>
                                  </p:stCondLst>
                                  <p:childTnLst>
                                    <p:set>
                                      <p:cBhvr>
                                        <p:cTn id="31" dur="1" fill="hold">
                                          <p:stCondLst>
                                            <p:cond delay="0"/>
                                          </p:stCondLst>
                                        </p:cTn>
                                        <p:tgtEl>
                                          <p:spTgt spid="52"/>
                                        </p:tgtEl>
                                        <p:attrNameLst>
                                          <p:attrName>style.visibility</p:attrName>
                                        </p:attrNameLst>
                                      </p:cBhvr>
                                      <p:to>
                                        <p:strVal val="visible"/>
                                      </p:to>
                                    </p:set>
                                    <p:animEffect transition="in" filter="wipe(right)">
                                      <p:cBhvr>
                                        <p:cTn id="32" dur="500"/>
                                        <p:tgtEl>
                                          <p:spTgt spid="52"/>
                                        </p:tgtEl>
                                      </p:cBhvr>
                                    </p:animEffect>
                                  </p:childTnLst>
                                </p:cTn>
                              </p:par>
                              <p:par>
                                <p:cTn id="33" presetID="22" presetClass="entr" presetSubtype="2" fill="hold" nodeType="withEffect">
                                  <p:stCondLst>
                                    <p:cond delay="0"/>
                                  </p:stCondLst>
                                  <p:childTnLst>
                                    <p:set>
                                      <p:cBhvr>
                                        <p:cTn id="34" dur="1" fill="hold">
                                          <p:stCondLst>
                                            <p:cond delay="0"/>
                                          </p:stCondLst>
                                        </p:cTn>
                                        <p:tgtEl>
                                          <p:spTgt spid="51"/>
                                        </p:tgtEl>
                                        <p:attrNameLst>
                                          <p:attrName>style.visibility</p:attrName>
                                        </p:attrNameLst>
                                      </p:cBhvr>
                                      <p:to>
                                        <p:strVal val="visible"/>
                                      </p:to>
                                    </p:set>
                                    <p:animEffect transition="in" filter="wipe(right)">
                                      <p:cBhvr>
                                        <p:cTn id="35" dur="500"/>
                                        <p:tgtEl>
                                          <p:spTgt spid="51"/>
                                        </p:tgtEl>
                                      </p:cBhvr>
                                    </p:animEffect>
                                  </p:childTnLst>
                                </p:cTn>
                              </p:par>
                              <p:par>
                                <p:cTn id="36" presetID="22" presetClass="entr" presetSubtype="2" fill="hold" nodeType="withEffect">
                                  <p:stCondLst>
                                    <p:cond delay="0"/>
                                  </p:stCondLst>
                                  <p:childTnLst>
                                    <p:set>
                                      <p:cBhvr>
                                        <p:cTn id="37" dur="1" fill="hold">
                                          <p:stCondLst>
                                            <p:cond delay="0"/>
                                          </p:stCondLst>
                                        </p:cTn>
                                        <p:tgtEl>
                                          <p:spTgt spid="50"/>
                                        </p:tgtEl>
                                        <p:attrNameLst>
                                          <p:attrName>style.visibility</p:attrName>
                                        </p:attrNameLst>
                                      </p:cBhvr>
                                      <p:to>
                                        <p:strVal val="visible"/>
                                      </p:to>
                                    </p:set>
                                    <p:animEffect transition="in" filter="wipe(right)">
                                      <p:cBhvr>
                                        <p:cTn id="38" dur="500"/>
                                        <p:tgtEl>
                                          <p:spTgt spid="50"/>
                                        </p:tgtEl>
                                      </p:cBhvr>
                                    </p:animEffect>
                                  </p:childTnLst>
                                </p:cTn>
                              </p:par>
                            </p:childTnLst>
                          </p:cTn>
                        </p:par>
                        <p:par>
                          <p:cTn id="39" fill="hold" nodeType="afterGroup">
                            <p:stCondLst>
                              <p:cond delay="2500"/>
                            </p:stCondLst>
                            <p:childTnLst>
                              <p:par>
                                <p:cTn id="40" presetID="42" presetClass="entr" presetSubtype="0" fill="hold" grpId="0" nodeType="afterEffect">
                                  <p:stCondLst>
                                    <p:cond delay="0"/>
                                  </p:stCondLst>
                                  <p:childTnLst>
                                    <p:set>
                                      <p:cBhvr>
                                        <p:cTn id="41" dur="1" fill="hold">
                                          <p:stCondLst>
                                            <p:cond delay="0"/>
                                          </p:stCondLst>
                                        </p:cTn>
                                        <p:tgtEl>
                                          <p:spTgt spid="53"/>
                                        </p:tgtEl>
                                        <p:attrNameLst>
                                          <p:attrName>style.visibility</p:attrName>
                                        </p:attrNameLst>
                                      </p:cBhvr>
                                      <p:to>
                                        <p:strVal val="visible"/>
                                      </p:to>
                                    </p:set>
                                    <p:animEffect transition="in" filter="fade">
                                      <p:cBhvr>
                                        <p:cTn id="42" dur="1000"/>
                                        <p:tgtEl>
                                          <p:spTgt spid="53"/>
                                        </p:tgtEl>
                                      </p:cBhvr>
                                    </p:animEffect>
                                    <p:anim calcmode="lin" valueType="num">
                                      <p:cBhvr>
                                        <p:cTn id="43" dur="1000" fill="hold"/>
                                        <p:tgtEl>
                                          <p:spTgt spid="53"/>
                                        </p:tgtEl>
                                        <p:attrNameLst>
                                          <p:attrName>ppt_x</p:attrName>
                                        </p:attrNameLst>
                                      </p:cBhvr>
                                      <p:tavLst>
                                        <p:tav tm="0">
                                          <p:val>
                                            <p:strVal val="#ppt_x"/>
                                          </p:val>
                                        </p:tav>
                                        <p:tav tm="100000">
                                          <p:val>
                                            <p:strVal val="#ppt_x"/>
                                          </p:val>
                                        </p:tav>
                                      </p:tavLst>
                                    </p:anim>
                                    <p:anim calcmode="lin" valueType="num">
                                      <p:cBhvr>
                                        <p:cTn id="44" dur="1000" fill="hold"/>
                                        <p:tgtEl>
                                          <p:spTgt spid="53"/>
                                        </p:tgtEl>
                                        <p:attrNameLst>
                                          <p:attrName>ppt_y</p:attrName>
                                        </p:attrNameLst>
                                      </p:cBhvr>
                                      <p:tavLst>
                                        <p:tav tm="0">
                                          <p:val>
                                            <p:strVal val="#ppt_y+.1"/>
                                          </p:val>
                                        </p:tav>
                                        <p:tav tm="100000">
                                          <p:val>
                                            <p:strVal val="#ppt_y"/>
                                          </p:val>
                                        </p:tav>
                                      </p:tavLst>
                                    </p:anim>
                                  </p:childTnLst>
                                </p:cTn>
                              </p:par>
                            </p:childTnLst>
                          </p:cTn>
                        </p:par>
                        <p:par>
                          <p:cTn id="45" fill="hold" nodeType="afterGroup">
                            <p:stCondLst>
                              <p:cond delay="3500"/>
                            </p:stCondLst>
                            <p:childTnLst>
                              <p:par>
                                <p:cTn id="46" presetID="42" presetClass="entr" presetSubtype="0" fill="hold" grpId="0" nodeType="afterEffect">
                                  <p:stCondLst>
                                    <p:cond delay="0"/>
                                  </p:stCondLst>
                                  <p:childTnLst>
                                    <p:set>
                                      <p:cBhvr>
                                        <p:cTn id="47" dur="1" fill="hold">
                                          <p:stCondLst>
                                            <p:cond delay="0"/>
                                          </p:stCondLst>
                                        </p:cTn>
                                        <p:tgtEl>
                                          <p:spTgt spid="54"/>
                                        </p:tgtEl>
                                        <p:attrNameLst>
                                          <p:attrName>style.visibility</p:attrName>
                                        </p:attrNameLst>
                                      </p:cBhvr>
                                      <p:to>
                                        <p:strVal val="visible"/>
                                      </p:to>
                                    </p:set>
                                    <p:animEffect transition="in" filter="fade">
                                      <p:cBhvr>
                                        <p:cTn id="48" dur="1000"/>
                                        <p:tgtEl>
                                          <p:spTgt spid="54"/>
                                        </p:tgtEl>
                                      </p:cBhvr>
                                    </p:animEffect>
                                    <p:anim calcmode="lin" valueType="num">
                                      <p:cBhvr>
                                        <p:cTn id="49" dur="1000" fill="hold"/>
                                        <p:tgtEl>
                                          <p:spTgt spid="54"/>
                                        </p:tgtEl>
                                        <p:attrNameLst>
                                          <p:attrName>ppt_x</p:attrName>
                                        </p:attrNameLst>
                                      </p:cBhvr>
                                      <p:tavLst>
                                        <p:tav tm="0">
                                          <p:val>
                                            <p:strVal val="#ppt_x"/>
                                          </p:val>
                                        </p:tav>
                                        <p:tav tm="100000">
                                          <p:val>
                                            <p:strVal val="#ppt_x"/>
                                          </p:val>
                                        </p:tav>
                                      </p:tavLst>
                                    </p:anim>
                                    <p:anim calcmode="lin" valueType="num">
                                      <p:cBhvr>
                                        <p:cTn id="50" dur="1000" fill="hold"/>
                                        <p:tgtEl>
                                          <p:spTgt spid="54"/>
                                        </p:tgtEl>
                                        <p:attrNameLst>
                                          <p:attrName>ppt_y</p:attrName>
                                        </p:attrNameLst>
                                      </p:cBhvr>
                                      <p:tavLst>
                                        <p:tav tm="0">
                                          <p:val>
                                            <p:strVal val="#ppt_y+.1"/>
                                          </p:val>
                                        </p:tav>
                                        <p:tav tm="100000">
                                          <p:val>
                                            <p:strVal val="#ppt_y"/>
                                          </p:val>
                                        </p:tav>
                                      </p:tavLst>
                                    </p:anim>
                                  </p:childTnLst>
                                </p:cTn>
                              </p:par>
                            </p:childTnLst>
                          </p:cTn>
                        </p:par>
                        <p:par>
                          <p:cTn id="51" fill="hold" nodeType="afterGroup">
                            <p:stCondLst>
                              <p:cond delay="4500"/>
                            </p:stCondLst>
                            <p:childTnLst>
                              <p:par>
                                <p:cTn id="52" presetID="42" presetClass="entr" presetSubtype="0" fill="hold" grpId="0" nodeType="afterEffect">
                                  <p:stCondLst>
                                    <p:cond delay="0"/>
                                  </p:stCondLst>
                                  <p:childTnLst>
                                    <p:set>
                                      <p:cBhvr>
                                        <p:cTn id="53" dur="1" fill="hold">
                                          <p:stCondLst>
                                            <p:cond delay="0"/>
                                          </p:stCondLst>
                                        </p:cTn>
                                        <p:tgtEl>
                                          <p:spTgt spid="55"/>
                                        </p:tgtEl>
                                        <p:attrNameLst>
                                          <p:attrName>style.visibility</p:attrName>
                                        </p:attrNameLst>
                                      </p:cBhvr>
                                      <p:to>
                                        <p:strVal val="visible"/>
                                      </p:to>
                                    </p:set>
                                    <p:animEffect transition="in" filter="fade">
                                      <p:cBhvr>
                                        <p:cTn id="54" dur="1000"/>
                                        <p:tgtEl>
                                          <p:spTgt spid="55"/>
                                        </p:tgtEl>
                                      </p:cBhvr>
                                    </p:animEffect>
                                    <p:anim calcmode="lin" valueType="num">
                                      <p:cBhvr>
                                        <p:cTn id="55" dur="1000" fill="hold"/>
                                        <p:tgtEl>
                                          <p:spTgt spid="55"/>
                                        </p:tgtEl>
                                        <p:attrNameLst>
                                          <p:attrName>ppt_x</p:attrName>
                                        </p:attrNameLst>
                                      </p:cBhvr>
                                      <p:tavLst>
                                        <p:tav tm="0">
                                          <p:val>
                                            <p:strVal val="#ppt_x"/>
                                          </p:val>
                                        </p:tav>
                                        <p:tav tm="100000">
                                          <p:val>
                                            <p:strVal val="#ppt_x"/>
                                          </p:val>
                                        </p:tav>
                                      </p:tavLst>
                                    </p:anim>
                                    <p:anim calcmode="lin" valueType="num">
                                      <p:cBhvr>
                                        <p:cTn id="56" dur="1000" fill="hold"/>
                                        <p:tgtEl>
                                          <p:spTgt spid="55"/>
                                        </p:tgtEl>
                                        <p:attrNameLst>
                                          <p:attrName>ppt_y</p:attrName>
                                        </p:attrNameLst>
                                      </p:cBhvr>
                                      <p:tavLst>
                                        <p:tav tm="0">
                                          <p:val>
                                            <p:strVal val="#ppt_y+.1"/>
                                          </p:val>
                                        </p:tav>
                                        <p:tav tm="100000">
                                          <p:val>
                                            <p:strVal val="#ppt_y"/>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16" presetClass="entr" presetSubtype="21" fill="hold" grpId="0" nodeType="clickEffect">
                                  <p:stCondLst>
                                    <p:cond delay="0"/>
                                  </p:stCondLst>
                                  <p:childTnLst>
                                    <p:set>
                                      <p:cBhvr>
                                        <p:cTn id="60" dur="1" fill="hold">
                                          <p:stCondLst>
                                            <p:cond delay="0"/>
                                          </p:stCondLst>
                                        </p:cTn>
                                        <p:tgtEl>
                                          <p:spTgt spid="38"/>
                                        </p:tgtEl>
                                        <p:attrNameLst>
                                          <p:attrName>style.visibility</p:attrName>
                                        </p:attrNameLst>
                                      </p:cBhvr>
                                      <p:to>
                                        <p:strVal val="visible"/>
                                      </p:to>
                                    </p:set>
                                    <p:animEffect transition="in" filter="barn(inVertical)">
                                      <p:cBhvr>
                                        <p:cTn id="61"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38" grpId="0" animBg="1"/>
      <p:bldP spid="23" grpId="0" animBg="1"/>
      <p:bldP spid="24" grpId="0"/>
      <p:bldP spid="45" grpId="0"/>
      <p:bldP spid="53" grpId="0" animBg="1"/>
      <p:bldP spid="54" grpId="0" animBg="1"/>
      <p:bldP spid="55" grpId="0" animBg="1"/>
    </p:bldLst>
  </p:timing>
</p:sld>
</file>

<file path=ppt/slides/slide3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extBox 45">
            <a:extLst>
              <a:ext uri="{FF2B5EF4-FFF2-40B4-BE49-F238E27FC236}">
                <a16:creationId xmlns:a16="http://schemas.microsoft.com/office/drawing/2014/main" id="{4BE5ECE8-49D0-2D51-297F-C14DBB603B24}"/>
              </a:ext>
            </a:extLst>
          </p:cNvPr>
          <p:cNvSpPr txBox="1">
            <a:spLocks noChangeArrowheads="1"/>
          </p:cNvSpPr>
          <p:nvPr/>
        </p:nvSpPr>
        <p:spPr bwMode="auto">
          <a:xfrm>
            <a:off x="6707188" y="5048250"/>
            <a:ext cx="16557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Slave server</a:t>
            </a:r>
          </a:p>
        </p:txBody>
      </p:sp>
      <p:sp>
        <p:nvSpPr>
          <p:cNvPr id="2" name="Title 1">
            <a:extLst>
              <a:ext uri="{FF2B5EF4-FFF2-40B4-BE49-F238E27FC236}">
                <a16:creationId xmlns:a16="http://schemas.microsoft.com/office/drawing/2014/main" id="{DE27C77B-D51D-B761-3A96-B869F2E5C37B}"/>
              </a:ext>
            </a:extLst>
          </p:cNvPr>
          <p:cNvSpPr>
            <a:spLocks noGrp="1"/>
          </p:cNvSpPr>
          <p:nvPr>
            <p:ph type="title"/>
          </p:nvPr>
        </p:nvSpPr>
        <p:spPr>
          <a:xfrm>
            <a:off x="457200" y="0"/>
            <a:ext cx="7620000" cy="1143000"/>
          </a:xfrm>
        </p:spPr>
        <p:txBody>
          <a:bodyPr/>
          <a:lstStyle/>
          <a:p>
            <a:pPr algn="ctr">
              <a:defRPr/>
            </a:pPr>
            <a:r>
              <a:rPr lang="en-US" dirty="0"/>
              <a:t>Database Replication</a:t>
            </a:r>
            <a:endParaRPr lang="en-MY" dirty="0"/>
          </a:p>
        </p:txBody>
      </p:sp>
      <p:sp>
        <p:nvSpPr>
          <p:cNvPr id="81924" name="Content Placeholder 2">
            <a:extLst>
              <a:ext uri="{FF2B5EF4-FFF2-40B4-BE49-F238E27FC236}">
                <a16:creationId xmlns:a16="http://schemas.microsoft.com/office/drawing/2014/main" id="{8AD7874C-7FBE-6C46-0DF3-A7D2F3989FA7}"/>
              </a:ext>
            </a:extLst>
          </p:cNvPr>
          <p:cNvSpPr txBox="1">
            <a:spLocks/>
          </p:cNvSpPr>
          <p:nvPr/>
        </p:nvSpPr>
        <p:spPr bwMode="auto">
          <a:xfrm>
            <a:off x="250825" y="1268413"/>
            <a:ext cx="8054975"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40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Why database replication?</a:t>
            </a: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 typeface="Wingdings 3" panose="05040102010807070707" pitchFamily="18" charset="2"/>
              <a:buNone/>
              <a:tabLst/>
              <a:defRPr/>
            </a:pPr>
            <a:r>
              <a:rPr kumimoji="0" lang="en-CA" altLang="en-US" sz="2600" b="0" i="0" u="none" strike="noStrike" kern="1200" cap="none" spc="0" normalizeH="0" baseline="0" noProof="0">
                <a:ln>
                  <a:noFill/>
                </a:ln>
                <a:solidFill>
                  <a:srgbClr val="9CBEBD"/>
                </a:solidFill>
                <a:effectLst/>
                <a:uLnTx/>
                <a:uFillTx/>
                <a:latin typeface="Arial" panose="020B0604020202020204" pitchFamily="34" charset="0"/>
                <a:ea typeface="+mn-ea"/>
                <a:cs typeface="Arial" panose="020B0604020202020204" pitchFamily="34" charset="0"/>
              </a:rPr>
              <a:t>Scenario: </a:t>
            </a:r>
            <a:r>
              <a:rPr kumimoji="0" lang="en-CA" altLang="en-US" sz="26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Suppose there is a network failure and the data are no longer consistent among servers</a:t>
            </a: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40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sp>
        <p:nvSpPr>
          <p:cNvPr id="38" name="Rectangle 37">
            <a:extLst>
              <a:ext uri="{FF2B5EF4-FFF2-40B4-BE49-F238E27FC236}">
                <a16:creationId xmlns:a16="http://schemas.microsoft.com/office/drawing/2014/main" id="{FFC9602D-403E-7033-2D6F-454C2707FC88}"/>
              </a:ext>
            </a:extLst>
          </p:cNvPr>
          <p:cNvSpPr>
            <a:spLocks noChangeArrowheads="1"/>
          </p:cNvSpPr>
          <p:nvPr/>
        </p:nvSpPr>
        <p:spPr bwMode="auto">
          <a:xfrm>
            <a:off x="762000" y="5997575"/>
            <a:ext cx="6973888" cy="708025"/>
          </a:xfrm>
          <a:prstGeom prst="rect">
            <a:avLst/>
          </a:prstGeom>
          <a:solidFill>
            <a:srgbClr val="FFFF00">
              <a:alpha val="30196"/>
            </a:srgbClr>
          </a:solidFill>
          <a:ln w="9525" algn="ctr">
            <a:solidFill>
              <a:srgbClr val="FFC000"/>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20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To fix the data inconsistency, all the slave servers need to do is to update its database based on that of the master</a:t>
            </a:r>
            <a:endParaRPr kumimoji="0" lang="en-CA" altLang="en-US" sz="2000" b="1"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endParaRPr>
          </a:p>
        </p:txBody>
      </p:sp>
      <p:sp>
        <p:nvSpPr>
          <p:cNvPr id="23" name="Snip Single Corner Rectangle 22">
            <a:extLst>
              <a:ext uri="{FF2B5EF4-FFF2-40B4-BE49-F238E27FC236}">
                <a16:creationId xmlns:a16="http://schemas.microsoft.com/office/drawing/2014/main" id="{A099199D-4EAD-D9D7-8AF4-43376E93A111}"/>
              </a:ext>
            </a:extLst>
          </p:cNvPr>
          <p:cNvSpPr/>
          <p:nvPr/>
        </p:nvSpPr>
        <p:spPr bwMode="auto">
          <a:xfrm>
            <a:off x="76200" y="3460750"/>
            <a:ext cx="1900238" cy="433388"/>
          </a:xfrm>
          <a:prstGeom prst="snip1Rect">
            <a:avLst/>
          </a:prstGeom>
          <a:ln>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2000" b="1" i="0" u="none" strike="noStrike" kern="1200" cap="none" spc="0" normalizeH="0" baseline="0" noProof="0" dirty="0">
                <a:ln>
                  <a:noFill/>
                </a:ln>
                <a:solidFill>
                  <a:srgbClr val="2F2B20"/>
                </a:solidFill>
                <a:effectLst/>
                <a:uLnTx/>
                <a:uFillTx/>
                <a:latin typeface="Calibri"/>
                <a:ea typeface="+mn-ea"/>
                <a:cs typeface="+mn-cs"/>
              </a:rPr>
              <a:t>Master-slaves</a:t>
            </a:r>
          </a:p>
        </p:txBody>
      </p:sp>
      <p:sp>
        <p:nvSpPr>
          <p:cNvPr id="81927" name="TextBox 23">
            <a:extLst>
              <a:ext uri="{FF2B5EF4-FFF2-40B4-BE49-F238E27FC236}">
                <a16:creationId xmlns:a16="http://schemas.microsoft.com/office/drawing/2014/main" id="{2FBAF0A6-4C62-1F29-2F52-180D1D3D306B}"/>
              </a:ext>
            </a:extLst>
          </p:cNvPr>
          <p:cNvSpPr txBox="1">
            <a:spLocks noChangeArrowheads="1"/>
          </p:cNvSpPr>
          <p:nvPr/>
        </p:nvSpPr>
        <p:spPr bwMode="auto">
          <a:xfrm>
            <a:off x="985838" y="4529138"/>
            <a:ext cx="16573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Master server</a:t>
            </a:r>
          </a:p>
        </p:txBody>
      </p:sp>
      <p:pic>
        <p:nvPicPr>
          <p:cNvPr id="81928" name="Picture 36">
            <a:extLst>
              <a:ext uri="{FF2B5EF4-FFF2-40B4-BE49-F238E27FC236}">
                <a16:creationId xmlns:a16="http://schemas.microsoft.com/office/drawing/2014/main" id="{6871E951-BDEA-156B-E2AD-A46640DD1FC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724525" y="4787900"/>
            <a:ext cx="1347788"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29" name="Picture 40">
            <a:extLst>
              <a:ext uri="{FF2B5EF4-FFF2-40B4-BE49-F238E27FC236}">
                <a16:creationId xmlns:a16="http://schemas.microsoft.com/office/drawing/2014/main" id="{20F7B725-BFDA-C86E-36CA-B0EB5627D00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751513" y="3448050"/>
            <a:ext cx="1347787" cy="108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30" name="Picture 43">
            <a:extLst>
              <a:ext uri="{FF2B5EF4-FFF2-40B4-BE49-F238E27FC236}">
                <a16:creationId xmlns:a16="http://schemas.microsoft.com/office/drawing/2014/main" id="{D0232FE7-5FE6-05FA-7A8A-F1AFD4FD906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714625" y="4176713"/>
            <a:ext cx="134620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31" name="TextBox 44">
            <a:extLst>
              <a:ext uri="{FF2B5EF4-FFF2-40B4-BE49-F238E27FC236}">
                <a16:creationId xmlns:a16="http://schemas.microsoft.com/office/drawing/2014/main" id="{2E5DB3BD-5C07-F98F-4248-0D4F36DD06DD}"/>
              </a:ext>
            </a:extLst>
          </p:cNvPr>
          <p:cNvSpPr txBox="1">
            <a:spLocks noChangeArrowheads="1"/>
          </p:cNvSpPr>
          <p:nvPr/>
        </p:nvSpPr>
        <p:spPr bwMode="auto">
          <a:xfrm>
            <a:off x="6700838" y="3654425"/>
            <a:ext cx="16557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Slave server</a:t>
            </a:r>
          </a:p>
        </p:txBody>
      </p:sp>
      <p:cxnSp>
        <p:nvCxnSpPr>
          <p:cNvPr id="81932" name="Straight Arrow Connector 46">
            <a:extLst>
              <a:ext uri="{FF2B5EF4-FFF2-40B4-BE49-F238E27FC236}">
                <a16:creationId xmlns:a16="http://schemas.microsoft.com/office/drawing/2014/main" id="{A11BCEB6-900D-6955-AAB6-035CDDC4CA2D}"/>
              </a:ext>
            </a:extLst>
          </p:cNvPr>
          <p:cNvCxnSpPr>
            <a:cxnSpLocks noChangeShapeType="1"/>
          </p:cNvCxnSpPr>
          <p:nvPr/>
        </p:nvCxnSpPr>
        <p:spPr bwMode="auto">
          <a:xfrm>
            <a:off x="1069975" y="4897438"/>
            <a:ext cx="1584325" cy="0"/>
          </a:xfrm>
          <a:prstGeom prst="straightConnector1">
            <a:avLst/>
          </a:prstGeom>
          <a:noFill/>
          <a:ln w="2540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81933" name="Straight Arrow Connector 47">
            <a:extLst>
              <a:ext uri="{FF2B5EF4-FFF2-40B4-BE49-F238E27FC236}">
                <a16:creationId xmlns:a16="http://schemas.microsoft.com/office/drawing/2014/main" id="{8475335E-43D3-AE77-9B2C-B3166D704CCE}"/>
              </a:ext>
            </a:extLst>
          </p:cNvPr>
          <p:cNvCxnSpPr>
            <a:cxnSpLocks noChangeShapeType="1"/>
          </p:cNvCxnSpPr>
          <p:nvPr/>
        </p:nvCxnSpPr>
        <p:spPr bwMode="auto">
          <a:xfrm>
            <a:off x="3681413" y="4787900"/>
            <a:ext cx="1971675" cy="590550"/>
          </a:xfrm>
          <a:prstGeom prst="straightConnector1">
            <a:avLst/>
          </a:prstGeom>
          <a:noFill/>
          <a:ln w="2540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81934" name="Straight Arrow Connector 48">
            <a:extLst>
              <a:ext uri="{FF2B5EF4-FFF2-40B4-BE49-F238E27FC236}">
                <a16:creationId xmlns:a16="http://schemas.microsoft.com/office/drawing/2014/main" id="{0A515D37-8E73-CF81-3E66-B8080F72B7C0}"/>
              </a:ext>
            </a:extLst>
          </p:cNvPr>
          <p:cNvCxnSpPr>
            <a:cxnSpLocks noChangeShapeType="1"/>
          </p:cNvCxnSpPr>
          <p:nvPr/>
        </p:nvCxnSpPr>
        <p:spPr bwMode="auto">
          <a:xfrm flipV="1">
            <a:off x="3686175" y="3989388"/>
            <a:ext cx="1966913" cy="709612"/>
          </a:xfrm>
          <a:prstGeom prst="straightConnector1">
            <a:avLst/>
          </a:prstGeom>
          <a:noFill/>
          <a:ln w="2540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81935" name="Straight Arrow Connector 49">
            <a:extLst>
              <a:ext uri="{FF2B5EF4-FFF2-40B4-BE49-F238E27FC236}">
                <a16:creationId xmlns:a16="http://schemas.microsoft.com/office/drawing/2014/main" id="{DA48AFEF-9DCE-ADC9-063C-175B7016DD65}"/>
              </a:ext>
            </a:extLst>
          </p:cNvPr>
          <p:cNvCxnSpPr>
            <a:cxnSpLocks noChangeShapeType="1"/>
          </p:cNvCxnSpPr>
          <p:nvPr/>
        </p:nvCxnSpPr>
        <p:spPr bwMode="auto">
          <a:xfrm>
            <a:off x="1069975" y="4552950"/>
            <a:ext cx="1584325" cy="0"/>
          </a:xfrm>
          <a:prstGeom prst="straightConnector1">
            <a:avLst/>
          </a:prstGeom>
          <a:noFill/>
          <a:ln w="25400" algn="ctr">
            <a:solidFill>
              <a:schemeClr val="tx1"/>
            </a:solidFill>
            <a:round/>
            <a:headEnd type="triangle" w="med" len="med"/>
            <a:tailEnd/>
          </a:ln>
          <a:extLst>
            <a:ext uri="{909E8E84-426E-40DD-AFC4-6F175D3DCCD1}">
              <a14:hiddenFill xmlns:a14="http://schemas.microsoft.com/office/drawing/2010/main">
                <a:noFill/>
              </a14:hiddenFill>
            </a:ext>
          </a:extLst>
        </p:spPr>
      </p:cxnSp>
      <p:cxnSp>
        <p:nvCxnSpPr>
          <p:cNvPr id="81936" name="Straight Arrow Connector 50">
            <a:extLst>
              <a:ext uri="{FF2B5EF4-FFF2-40B4-BE49-F238E27FC236}">
                <a16:creationId xmlns:a16="http://schemas.microsoft.com/office/drawing/2014/main" id="{D90251B1-20A2-E0B5-AE42-40B911C56A93}"/>
              </a:ext>
            </a:extLst>
          </p:cNvPr>
          <p:cNvCxnSpPr>
            <a:cxnSpLocks noChangeShapeType="1"/>
          </p:cNvCxnSpPr>
          <p:nvPr/>
        </p:nvCxnSpPr>
        <p:spPr bwMode="auto">
          <a:xfrm>
            <a:off x="4060825" y="3840163"/>
            <a:ext cx="1584325" cy="0"/>
          </a:xfrm>
          <a:prstGeom prst="straightConnector1">
            <a:avLst/>
          </a:prstGeom>
          <a:noFill/>
          <a:ln w="25400" algn="ctr">
            <a:solidFill>
              <a:schemeClr val="tx1"/>
            </a:solidFill>
            <a:round/>
            <a:headEnd type="triangle" w="med" len="med"/>
            <a:tailEnd/>
          </a:ln>
          <a:extLst>
            <a:ext uri="{909E8E84-426E-40DD-AFC4-6F175D3DCCD1}">
              <a14:hiddenFill xmlns:a14="http://schemas.microsoft.com/office/drawing/2010/main">
                <a:noFill/>
              </a14:hiddenFill>
            </a:ext>
          </a:extLst>
        </p:spPr>
      </p:cxnSp>
      <p:cxnSp>
        <p:nvCxnSpPr>
          <p:cNvPr id="81937" name="Straight Arrow Connector 51">
            <a:extLst>
              <a:ext uri="{FF2B5EF4-FFF2-40B4-BE49-F238E27FC236}">
                <a16:creationId xmlns:a16="http://schemas.microsoft.com/office/drawing/2014/main" id="{D6F5246C-7107-7882-561F-70F3B74B55BD}"/>
              </a:ext>
            </a:extLst>
          </p:cNvPr>
          <p:cNvCxnSpPr>
            <a:cxnSpLocks noChangeShapeType="1"/>
          </p:cNvCxnSpPr>
          <p:nvPr/>
        </p:nvCxnSpPr>
        <p:spPr bwMode="auto">
          <a:xfrm>
            <a:off x="4068763" y="5503863"/>
            <a:ext cx="1584325" cy="0"/>
          </a:xfrm>
          <a:prstGeom prst="straightConnector1">
            <a:avLst/>
          </a:prstGeom>
          <a:noFill/>
          <a:ln w="25400" algn="ctr">
            <a:solidFill>
              <a:schemeClr val="tx1"/>
            </a:solidFill>
            <a:round/>
            <a:headEnd type="triangle" w="med" len="med"/>
            <a:tailEnd/>
          </a:ln>
          <a:extLst>
            <a:ext uri="{909E8E84-426E-40DD-AFC4-6F175D3DCCD1}">
              <a14:hiddenFill xmlns:a14="http://schemas.microsoft.com/office/drawing/2010/main">
                <a:noFill/>
              </a14:hiddenFill>
            </a:ext>
          </a:extLst>
        </p:spPr>
      </p:cxnSp>
      <p:sp>
        <p:nvSpPr>
          <p:cNvPr id="53" name="TextBox 52">
            <a:extLst>
              <a:ext uri="{FF2B5EF4-FFF2-40B4-BE49-F238E27FC236}">
                <a16:creationId xmlns:a16="http://schemas.microsoft.com/office/drawing/2014/main" id="{AF18BFCE-C169-8A99-5DEE-DFAC58B1A0F4}"/>
              </a:ext>
            </a:extLst>
          </p:cNvPr>
          <p:cNvSpPr txBox="1"/>
          <p:nvPr/>
        </p:nvSpPr>
        <p:spPr>
          <a:xfrm>
            <a:off x="2314575" y="3676650"/>
            <a:ext cx="1655763" cy="407988"/>
          </a:xfrm>
          <a:prstGeom prst="roundRect">
            <a:avLst/>
          </a:prstGeom>
        </p:spPr>
        <p:style>
          <a:lnRef idx="3">
            <a:schemeClr val="lt1"/>
          </a:lnRef>
          <a:fillRef idx="1">
            <a:schemeClr val="accent6"/>
          </a:fillRef>
          <a:effectRef idx="1">
            <a:schemeClr val="accent6"/>
          </a:effectRef>
          <a:fontRef idx="minor">
            <a:schemeClr val="lt1"/>
          </a:fontRef>
        </p:style>
        <p:txBody>
          <a:bodyP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sz="1800" b="0" i="0" u="none" strike="noStrike" kern="1200" cap="none" spc="0" normalizeH="0" baseline="0" noProof="0" dirty="0">
                <a:ln>
                  <a:noFill/>
                </a:ln>
                <a:solidFill>
                  <a:srgbClr val="FFFFFF"/>
                </a:solidFill>
                <a:effectLst/>
                <a:uLnTx/>
                <a:uFillTx/>
                <a:latin typeface="Calibri"/>
                <a:ea typeface="+mn-ea"/>
                <a:cs typeface="+mn-cs"/>
              </a:rPr>
              <a:t>6 employees</a:t>
            </a:r>
          </a:p>
        </p:txBody>
      </p:sp>
      <p:sp>
        <p:nvSpPr>
          <p:cNvPr id="54" name="TextBox 53">
            <a:extLst>
              <a:ext uri="{FF2B5EF4-FFF2-40B4-BE49-F238E27FC236}">
                <a16:creationId xmlns:a16="http://schemas.microsoft.com/office/drawing/2014/main" id="{7A34BDCD-E588-3C56-07C1-2867D3E3B330}"/>
              </a:ext>
            </a:extLst>
          </p:cNvPr>
          <p:cNvSpPr txBox="1"/>
          <p:nvPr/>
        </p:nvSpPr>
        <p:spPr>
          <a:xfrm>
            <a:off x="6778625" y="3963988"/>
            <a:ext cx="1657350" cy="409575"/>
          </a:xfrm>
          <a:prstGeom prst="roundRect">
            <a:avLst/>
          </a:prstGeom>
        </p:spPr>
        <p:style>
          <a:lnRef idx="3">
            <a:schemeClr val="lt1"/>
          </a:lnRef>
          <a:fillRef idx="1">
            <a:schemeClr val="accent6"/>
          </a:fillRef>
          <a:effectRef idx="1">
            <a:schemeClr val="accent6"/>
          </a:effectRef>
          <a:fontRef idx="minor">
            <a:schemeClr val="lt1"/>
          </a:fontRef>
        </p:style>
        <p:txBody>
          <a:bodyP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1800" b="0" i="0" u="none" strike="noStrike" kern="1200" cap="none" spc="0" normalizeH="0" baseline="0" noProof="0" dirty="0">
                <a:ln>
                  <a:noFill/>
                </a:ln>
                <a:solidFill>
                  <a:srgbClr val="FFFFFF"/>
                </a:solidFill>
                <a:effectLst/>
                <a:uLnTx/>
                <a:uFillTx/>
                <a:latin typeface="Calibri"/>
                <a:ea typeface="+mn-ea"/>
                <a:cs typeface="+mn-cs"/>
              </a:rPr>
              <a:t>6 employees</a:t>
            </a:r>
          </a:p>
        </p:txBody>
      </p:sp>
      <p:sp>
        <p:nvSpPr>
          <p:cNvPr id="55" name="TextBox 54">
            <a:extLst>
              <a:ext uri="{FF2B5EF4-FFF2-40B4-BE49-F238E27FC236}">
                <a16:creationId xmlns:a16="http://schemas.microsoft.com/office/drawing/2014/main" id="{C4013024-AB48-F7D7-2A41-4F7B339C0F46}"/>
              </a:ext>
            </a:extLst>
          </p:cNvPr>
          <p:cNvSpPr txBox="1"/>
          <p:nvPr/>
        </p:nvSpPr>
        <p:spPr>
          <a:xfrm>
            <a:off x="6778625" y="5405438"/>
            <a:ext cx="1657350" cy="407987"/>
          </a:xfrm>
          <a:prstGeom prst="roundRect">
            <a:avLst/>
          </a:prstGeom>
        </p:spPr>
        <p:style>
          <a:lnRef idx="3">
            <a:schemeClr val="lt1"/>
          </a:lnRef>
          <a:fillRef idx="1">
            <a:schemeClr val="accent6"/>
          </a:fillRef>
          <a:effectRef idx="1">
            <a:schemeClr val="accent6"/>
          </a:effectRef>
          <a:fontRef idx="minor">
            <a:schemeClr val="lt1"/>
          </a:fontRef>
        </p:style>
        <p:txBody>
          <a:bodyP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1800" b="0" i="0" u="none" strike="noStrike" kern="1200" cap="none" spc="0" normalizeH="0" baseline="0" noProof="0" dirty="0">
                <a:ln>
                  <a:noFill/>
                </a:ln>
                <a:solidFill>
                  <a:srgbClr val="FFFFFF"/>
                </a:solidFill>
                <a:effectLst/>
                <a:uLnTx/>
                <a:uFillTx/>
                <a:latin typeface="Calibri"/>
                <a:ea typeface="+mn-ea"/>
                <a:cs typeface="+mn-cs"/>
              </a:rPr>
              <a:t>6 employees</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barn(inVertical)">
                                      <p:cBhvr>
                                        <p:cTn id="7" dur="500"/>
                                        <p:tgtEl>
                                          <p:spTgt spid="3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54"/>
                                        </p:tgtEl>
                                        <p:attrNameLst>
                                          <p:attrName>style.visibility</p:attrName>
                                        </p:attrNameLst>
                                      </p:cBhvr>
                                      <p:to>
                                        <p:strVal val="visible"/>
                                      </p:to>
                                    </p:set>
                                    <p:animEffect transition="in" filter="fade">
                                      <p:cBhvr>
                                        <p:cTn id="12" dur="1000"/>
                                        <p:tgtEl>
                                          <p:spTgt spid="54"/>
                                        </p:tgtEl>
                                      </p:cBhvr>
                                    </p:animEffect>
                                    <p:anim calcmode="lin" valueType="num">
                                      <p:cBhvr>
                                        <p:cTn id="13" dur="1000" fill="hold"/>
                                        <p:tgtEl>
                                          <p:spTgt spid="54"/>
                                        </p:tgtEl>
                                        <p:attrNameLst>
                                          <p:attrName>ppt_x</p:attrName>
                                        </p:attrNameLst>
                                      </p:cBhvr>
                                      <p:tavLst>
                                        <p:tav tm="0">
                                          <p:val>
                                            <p:strVal val="#ppt_x"/>
                                          </p:val>
                                        </p:tav>
                                        <p:tav tm="100000">
                                          <p:val>
                                            <p:strVal val="#ppt_x"/>
                                          </p:val>
                                        </p:tav>
                                      </p:tavLst>
                                    </p:anim>
                                    <p:anim calcmode="lin" valueType="num">
                                      <p:cBhvr>
                                        <p:cTn id="14" dur="1000" fill="hold"/>
                                        <p:tgtEl>
                                          <p:spTgt spid="54"/>
                                        </p:tgtEl>
                                        <p:attrNameLst>
                                          <p:attrName>ppt_y</p:attrName>
                                        </p:attrNameLst>
                                      </p:cBhvr>
                                      <p:tavLst>
                                        <p:tav tm="0">
                                          <p:val>
                                            <p:strVal val="#ppt_y+.1"/>
                                          </p:val>
                                        </p:tav>
                                        <p:tav tm="100000">
                                          <p:val>
                                            <p:strVal val="#ppt_y"/>
                                          </p:val>
                                        </p:tav>
                                      </p:tavLst>
                                    </p:anim>
                                  </p:childTnLst>
                                </p:cTn>
                              </p:par>
                            </p:childTnLst>
                          </p:cTn>
                        </p:par>
                        <p:par>
                          <p:cTn id="15" fill="hold" nodeType="afterGroup">
                            <p:stCondLst>
                              <p:cond delay="1000"/>
                            </p:stCondLst>
                            <p:childTnLst>
                              <p:par>
                                <p:cTn id="16" presetID="42" presetClass="entr" presetSubtype="0" fill="hold" grpId="0" nodeType="afterEffect">
                                  <p:stCondLst>
                                    <p:cond delay="0"/>
                                  </p:stCondLst>
                                  <p:childTnLst>
                                    <p:set>
                                      <p:cBhvr>
                                        <p:cTn id="17" dur="1" fill="hold">
                                          <p:stCondLst>
                                            <p:cond delay="0"/>
                                          </p:stCondLst>
                                        </p:cTn>
                                        <p:tgtEl>
                                          <p:spTgt spid="55"/>
                                        </p:tgtEl>
                                        <p:attrNameLst>
                                          <p:attrName>style.visibility</p:attrName>
                                        </p:attrNameLst>
                                      </p:cBhvr>
                                      <p:to>
                                        <p:strVal val="visible"/>
                                      </p:to>
                                    </p:set>
                                    <p:animEffect transition="in" filter="fade">
                                      <p:cBhvr>
                                        <p:cTn id="18" dur="1000"/>
                                        <p:tgtEl>
                                          <p:spTgt spid="55"/>
                                        </p:tgtEl>
                                      </p:cBhvr>
                                    </p:animEffect>
                                    <p:anim calcmode="lin" valueType="num">
                                      <p:cBhvr>
                                        <p:cTn id="19" dur="1000" fill="hold"/>
                                        <p:tgtEl>
                                          <p:spTgt spid="55"/>
                                        </p:tgtEl>
                                        <p:attrNameLst>
                                          <p:attrName>ppt_x</p:attrName>
                                        </p:attrNameLst>
                                      </p:cBhvr>
                                      <p:tavLst>
                                        <p:tav tm="0">
                                          <p:val>
                                            <p:strVal val="#ppt_x"/>
                                          </p:val>
                                        </p:tav>
                                        <p:tav tm="100000">
                                          <p:val>
                                            <p:strVal val="#ppt_x"/>
                                          </p:val>
                                        </p:tav>
                                      </p:tavLst>
                                    </p:anim>
                                    <p:anim calcmode="lin" valueType="num">
                                      <p:cBhvr>
                                        <p:cTn id="20" dur="1000" fill="hold"/>
                                        <p:tgtEl>
                                          <p:spTgt spid="5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54" grpId="0" animBg="1"/>
      <p:bldP spid="55" grpId="0" animBg="1"/>
    </p:bldLst>
  </p:timing>
</p:sld>
</file>

<file path=ppt/slides/slide3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A28702-7528-B8D3-0895-3BB9969C8FA9}"/>
              </a:ext>
            </a:extLst>
          </p:cNvPr>
          <p:cNvSpPr>
            <a:spLocks noGrp="1"/>
          </p:cNvSpPr>
          <p:nvPr>
            <p:ph type="title"/>
          </p:nvPr>
        </p:nvSpPr>
        <p:spPr>
          <a:xfrm>
            <a:off x="457200" y="0"/>
            <a:ext cx="7620000" cy="1143000"/>
          </a:xfrm>
        </p:spPr>
        <p:txBody>
          <a:bodyPr/>
          <a:lstStyle/>
          <a:p>
            <a:pPr algn="ctr">
              <a:defRPr/>
            </a:pPr>
            <a:r>
              <a:rPr lang="en-US" dirty="0"/>
              <a:t>Database Replication</a:t>
            </a:r>
            <a:endParaRPr lang="en-MY" dirty="0"/>
          </a:p>
        </p:txBody>
      </p:sp>
      <p:sp>
        <p:nvSpPr>
          <p:cNvPr id="13" name="Content Placeholder 2">
            <a:extLst>
              <a:ext uri="{FF2B5EF4-FFF2-40B4-BE49-F238E27FC236}">
                <a16:creationId xmlns:a16="http://schemas.microsoft.com/office/drawing/2014/main" id="{39373D58-57AE-2C00-F6A8-1B2E759076B7}"/>
              </a:ext>
            </a:extLst>
          </p:cNvPr>
          <p:cNvSpPr txBox="1">
            <a:spLocks/>
          </p:cNvSpPr>
          <p:nvPr/>
        </p:nvSpPr>
        <p:spPr bwMode="auto">
          <a:xfrm>
            <a:off x="250825" y="1268413"/>
            <a:ext cx="865505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US"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Advantages of database replication</a:t>
            </a:r>
            <a:endParaRPr kumimoji="0" lang="en-US" altLang="en-US" sz="3200" b="0" i="0" u="none" strike="noStrike" kern="1200" cap="none" spc="0" normalizeH="0" baseline="0" noProof="0">
              <a:ln>
                <a:noFill/>
              </a:ln>
              <a:solidFill>
                <a:srgbClr val="00000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sp>
        <p:nvSpPr>
          <p:cNvPr id="37" name="Freeform 36">
            <a:hlinkClick r:id="rId2" action="ppaction://hlinksldjump"/>
            <a:extLst>
              <a:ext uri="{FF2B5EF4-FFF2-40B4-BE49-F238E27FC236}">
                <a16:creationId xmlns:a16="http://schemas.microsoft.com/office/drawing/2014/main" id="{5A650BE7-EBC8-E9BE-AA4B-A03AEDAB3802}"/>
              </a:ext>
            </a:extLst>
          </p:cNvPr>
          <p:cNvSpPr/>
          <p:nvPr/>
        </p:nvSpPr>
        <p:spPr>
          <a:xfrm>
            <a:off x="1524000" y="1989138"/>
            <a:ext cx="2660650" cy="1730375"/>
          </a:xfrm>
          <a:custGeom>
            <a:avLst/>
            <a:gdLst>
              <a:gd name="connsiteX0" fmla="*/ 0 w 3124501"/>
              <a:gd name="connsiteY0" fmla="*/ 0 h 1874701"/>
              <a:gd name="connsiteX1" fmla="*/ 3124501 w 3124501"/>
              <a:gd name="connsiteY1" fmla="*/ 0 h 1874701"/>
              <a:gd name="connsiteX2" fmla="*/ 3124501 w 3124501"/>
              <a:gd name="connsiteY2" fmla="*/ 1874701 h 1874701"/>
              <a:gd name="connsiteX3" fmla="*/ 0 w 3124501"/>
              <a:gd name="connsiteY3" fmla="*/ 1874701 h 1874701"/>
              <a:gd name="connsiteX4" fmla="*/ 0 w 3124501"/>
              <a:gd name="connsiteY4" fmla="*/ 0 h 18747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24501" h="1874701">
                <a:moveTo>
                  <a:pt x="0" y="0"/>
                </a:moveTo>
                <a:lnTo>
                  <a:pt x="3124501" y="0"/>
                </a:lnTo>
                <a:lnTo>
                  <a:pt x="3124501" y="1874701"/>
                </a:lnTo>
                <a:lnTo>
                  <a:pt x="0" y="1874701"/>
                </a:lnTo>
                <a:lnTo>
                  <a:pt x="0" y="0"/>
                </a:lnTo>
                <a:close/>
              </a:path>
            </a:pathLst>
          </a:custGeom>
          <a:solidFill>
            <a:srgbClr val="7F7B00">
              <a:alpha val="70000"/>
            </a:srgbClr>
          </a:solidFill>
          <a:ln>
            <a:solidFill>
              <a:srgbClr val="7F7B00"/>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247650" tIns="247650" rIns="247650" bIns="247650" spcCol="1270" anchor="ctr"/>
          <a:lstStyle/>
          <a:p>
            <a:pPr marL="0" marR="0" lvl="0" indent="0" algn="ctr" defTabSz="2889250" rtl="0" eaLnBrk="0" fontAlgn="base" latinLnBrk="0" hangingPunct="0">
              <a:lnSpc>
                <a:spcPct val="90000"/>
              </a:lnSpc>
              <a:spcBef>
                <a:spcPct val="0"/>
              </a:spcBef>
              <a:spcAft>
                <a:spcPct val="35000"/>
              </a:spcAft>
              <a:buClrTx/>
              <a:buSzTx/>
              <a:buFontTx/>
              <a:buNone/>
              <a:tabLst/>
              <a:defRPr/>
            </a:pPr>
            <a:r>
              <a:rPr kumimoji="0" lang="en-CA" sz="2800" b="0" i="0" u="none" strike="noStrike" kern="1200" cap="none" spc="0" normalizeH="0" baseline="0" noProof="0" dirty="0">
                <a:ln>
                  <a:noFill/>
                </a:ln>
                <a:solidFill>
                  <a:srgbClr val="FFFFFF"/>
                </a:solidFill>
                <a:effectLst/>
                <a:uLnTx/>
                <a:uFillTx/>
                <a:latin typeface="Calibri"/>
                <a:ea typeface="+mn-ea"/>
                <a:cs typeface="+mn-cs"/>
              </a:rPr>
              <a:t>Improve Availability</a:t>
            </a:r>
          </a:p>
        </p:txBody>
      </p:sp>
      <p:sp>
        <p:nvSpPr>
          <p:cNvPr id="38" name="Freeform 37">
            <a:hlinkClick r:id="rId3" action="ppaction://hlinksldjump"/>
            <a:extLst>
              <a:ext uri="{FF2B5EF4-FFF2-40B4-BE49-F238E27FC236}">
                <a16:creationId xmlns:a16="http://schemas.microsoft.com/office/drawing/2014/main" id="{49DDAC8E-E7DE-5285-70AD-F1D18DF830FC}"/>
              </a:ext>
            </a:extLst>
          </p:cNvPr>
          <p:cNvSpPr/>
          <p:nvPr/>
        </p:nvSpPr>
        <p:spPr>
          <a:xfrm>
            <a:off x="4471988" y="1989138"/>
            <a:ext cx="2663825" cy="1730375"/>
          </a:xfrm>
          <a:custGeom>
            <a:avLst/>
            <a:gdLst>
              <a:gd name="connsiteX0" fmla="*/ 0 w 3124501"/>
              <a:gd name="connsiteY0" fmla="*/ 0 h 1874701"/>
              <a:gd name="connsiteX1" fmla="*/ 3124501 w 3124501"/>
              <a:gd name="connsiteY1" fmla="*/ 0 h 1874701"/>
              <a:gd name="connsiteX2" fmla="*/ 3124501 w 3124501"/>
              <a:gd name="connsiteY2" fmla="*/ 1874701 h 1874701"/>
              <a:gd name="connsiteX3" fmla="*/ 0 w 3124501"/>
              <a:gd name="connsiteY3" fmla="*/ 1874701 h 1874701"/>
              <a:gd name="connsiteX4" fmla="*/ 0 w 3124501"/>
              <a:gd name="connsiteY4" fmla="*/ 0 h 18747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24501" h="1874701">
                <a:moveTo>
                  <a:pt x="0" y="0"/>
                </a:moveTo>
                <a:lnTo>
                  <a:pt x="3124501" y="0"/>
                </a:lnTo>
                <a:lnTo>
                  <a:pt x="3124501" y="1874701"/>
                </a:lnTo>
                <a:lnTo>
                  <a:pt x="0" y="1874701"/>
                </a:lnTo>
                <a:lnTo>
                  <a:pt x="0" y="0"/>
                </a:lnTo>
                <a:close/>
              </a:path>
            </a:pathLst>
          </a:custGeom>
          <a:solidFill>
            <a:srgbClr val="120B7C">
              <a:alpha val="70000"/>
            </a:srgbClr>
          </a:solidFill>
          <a:ln>
            <a:solidFill>
              <a:srgbClr val="120B7C"/>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247650" tIns="247650" rIns="247650" bIns="247650" spcCol="1270" anchor="ctr"/>
          <a:lstStyle/>
          <a:p>
            <a:pPr marL="0" marR="0" lvl="0" indent="0" algn="ctr" defTabSz="2889250" rtl="0" eaLnBrk="0" fontAlgn="base" latinLnBrk="0" hangingPunct="0">
              <a:lnSpc>
                <a:spcPct val="90000"/>
              </a:lnSpc>
              <a:spcBef>
                <a:spcPct val="0"/>
              </a:spcBef>
              <a:spcAft>
                <a:spcPct val="35000"/>
              </a:spcAft>
              <a:buClrTx/>
              <a:buSzTx/>
              <a:buFontTx/>
              <a:buNone/>
              <a:tabLst/>
              <a:defRPr/>
            </a:pPr>
            <a:r>
              <a:rPr kumimoji="0" lang="en-CA" sz="2800" b="0" i="0" u="none" strike="noStrike" kern="1200" cap="none" spc="0" normalizeH="0" baseline="0" noProof="0" dirty="0">
                <a:ln>
                  <a:noFill/>
                </a:ln>
                <a:solidFill>
                  <a:srgbClr val="FFFFFF"/>
                </a:solidFill>
                <a:effectLst/>
                <a:uLnTx/>
                <a:uFillTx/>
                <a:latin typeface="Calibri"/>
                <a:ea typeface="+mn-ea"/>
                <a:cs typeface="+mn-cs"/>
              </a:rPr>
              <a:t>Improve Performance</a:t>
            </a:r>
          </a:p>
        </p:txBody>
      </p:sp>
      <p:sp>
        <p:nvSpPr>
          <p:cNvPr id="39" name="Freeform 38">
            <a:hlinkClick r:id="rId4" action="ppaction://hlinksldjump"/>
            <a:extLst>
              <a:ext uri="{FF2B5EF4-FFF2-40B4-BE49-F238E27FC236}">
                <a16:creationId xmlns:a16="http://schemas.microsoft.com/office/drawing/2014/main" id="{06A7306C-99A7-BF73-BAC1-0499C8298D79}"/>
              </a:ext>
            </a:extLst>
          </p:cNvPr>
          <p:cNvSpPr/>
          <p:nvPr/>
        </p:nvSpPr>
        <p:spPr>
          <a:xfrm>
            <a:off x="1538288" y="3933825"/>
            <a:ext cx="2646362" cy="1730375"/>
          </a:xfrm>
          <a:custGeom>
            <a:avLst/>
            <a:gdLst>
              <a:gd name="connsiteX0" fmla="*/ 0 w 3124501"/>
              <a:gd name="connsiteY0" fmla="*/ 0 h 1874701"/>
              <a:gd name="connsiteX1" fmla="*/ 3124501 w 3124501"/>
              <a:gd name="connsiteY1" fmla="*/ 0 h 1874701"/>
              <a:gd name="connsiteX2" fmla="*/ 3124501 w 3124501"/>
              <a:gd name="connsiteY2" fmla="*/ 1874701 h 1874701"/>
              <a:gd name="connsiteX3" fmla="*/ 0 w 3124501"/>
              <a:gd name="connsiteY3" fmla="*/ 1874701 h 1874701"/>
              <a:gd name="connsiteX4" fmla="*/ 0 w 3124501"/>
              <a:gd name="connsiteY4" fmla="*/ 0 h 18747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24501" h="1874701">
                <a:moveTo>
                  <a:pt x="0" y="0"/>
                </a:moveTo>
                <a:lnTo>
                  <a:pt x="3124501" y="0"/>
                </a:lnTo>
                <a:lnTo>
                  <a:pt x="3124501" y="1874701"/>
                </a:lnTo>
                <a:lnTo>
                  <a:pt x="0" y="1874701"/>
                </a:lnTo>
                <a:lnTo>
                  <a:pt x="0" y="0"/>
                </a:lnTo>
                <a:close/>
              </a:path>
            </a:pathLst>
          </a:custGeom>
          <a:solidFill>
            <a:srgbClr val="B50C00">
              <a:alpha val="70000"/>
            </a:srgbClr>
          </a:solidFill>
          <a:ln>
            <a:solidFill>
              <a:srgbClr val="B50C00"/>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247650" tIns="247650" rIns="247650" bIns="247650" spcCol="1270" anchor="ctr"/>
          <a:lstStyle/>
          <a:p>
            <a:pPr marL="0" marR="0" lvl="0" indent="0" algn="ctr" defTabSz="2889250" rtl="0" eaLnBrk="0" fontAlgn="base" latinLnBrk="0" hangingPunct="0">
              <a:lnSpc>
                <a:spcPct val="90000"/>
              </a:lnSpc>
              <a:spcBef>
                <a:spcPct val="0"/>
              </a:spcBef>
              <a:spcAft>
                <a:spcPct val="35000"/>
              </a:spcAft>
              <a:buClrTx/>
              <a:buSzTx/>
              <a:buFontTx/>
              <a:buNone/>
              <a:tabLst/>
              <a:defRPr/>
            </a:pPr>
            <a:r>
              <a:rPr kumimoji="0" lang="en-CA" sz="2800" b="0" i="0" u="none" strike="noStrike" kern="1200" cap="none" spc="0" normalizeH="0" baseline="0" noProof="0" dirty="0">
                <a:ln>
                  <a:noFill/>
                </a:ln>
                <a:solidFill>
                  <a:srgbClr val="FFFFFF"/>
                </a:solidFill>
                <a:effectLst/>
                <a:uLnTx/>
                <a:uFillTx/>
                <a:latin typeface="Calibri"/>
                <a:ea typeface="+mn-ea"/>
                <a:cs typeface="+mn-cs"/>
              </a:rPr>
              <a:t>Local Database Access</a:t>
            </a:r>
          </a:p>
        </p:txBody>
      </p:sp>
      <p:sp>
        <p:nvSpPr>
          <p:cNvPr id="40" name="Freeform 39">
            <a:hlinkClick r:id="rId5" action="ppaction://hlinksldjump"/>
            <a:extLst>
              <a:ext uri="{FF2B5EF4-FFF2-40B4-BE49-F238E27FC236}">
                <a16:creationId xmlns:a16="http://schemas.microsoft.com/office/drawing/2014/main" id="{7BF77306-60D3-37BB-7E4E-16D51195BB41}"/>
              </a:ext>
            </a:extLst>
          </p:cNvPr>
          <p:cNvSpPr/>
          <p:nvPr/>
        </p:nvSpPr>
        <p:spPr>
          <a:xfrm>
            <a:off x="4471988" y="3933825"/>
            <a:ext cx="2660650" cy="1730375"/>
          </a:xfrm>
          <a:custGeom>
            <a:avLst/>
            <a:gdLst>
              <a:gd name="connsiteX0" fmla="*/ 0 w 3124501"/>
              <a:gd name="connsiteY0" fmla="*/ 0 h 1874701"/>
              <a:gd name="connsiteX1" fmla="*/ 3124501 w 3124501"/>
              <a:gd name="connsiteY1" fmla="*/ 0 h 1874701"/>
              <a:gd name="connsiteX2" fmla="*/ 3124501 w 3124501"/>
              <a:gd name="connsiteY2" fmla="*/ 1874701 h 1874701"/>
              <a:gd name="connsiteX3" fmla="*/ 0 w 3124501"/>
              <a:gd name="connsiteY3" fmla="*/ 1874701 h 1874701"/>
              <a:gd name="connsiteX4" fmla="*/ 0 w 3124501"/>
              <a:gd name="connsiteY4" fmla="*/ 0 h 18747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24501" h="1874701">
                <a:moveTo>
                  <a:pt x="0" y="0"/>
                </a:moveTo>
                <a:lnTo>
                  <a:pt x="3124501" y="0"/>
                </a:lnTo>
                <a:lnTo>
                  <a:pt x="3124501" y="1874701"/>
                </a:lnTo>
                <a:lnTo>
                  <a:pt x="0" y="1874701"/>
                </a:lnTo>
                <a:lnTo>
                  <a:pt x="0" y="0"/>
                </a:lnTo>
                <a:close/>
              </a:path>
            </a:pathLst>
          </a:custGeom>
          <a:solidFill>
            <a:srgbClr val="525759">
              <a:alpha val="70000"/>
            </a:srgbClr>
          </a:solidFill>
          <a:ln>
            <a:solidFill>
              <a:srgbClr val="525759"/>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247650" tIns="247650" rIns="247650" bIns="247650" spcCol="1270" anchor="ctr"/>
          <a:lstStyle/>
          <a:p>
            <a:pPr marL="0" marR="0" lvl="0" indent="0" algn="ctr" defTabSz="2889250" rtl="0" eaLnBrk="0" fontAlgn="base" latinLnBrk="0" hangingPunct="0">
              <a:lnSpc>
                <a:spcPct val="90000"/>
              </a:lnSpc>
              <a:spcBef>
                <a:spcPct val="0"/>
              </a:spcBef>
              <a:spcAft>
                <a:spcPct val="35000"/>
              </a:spcAft>
              <a:buClrTx/>
              <a:buSzTx/>
              <a:buFontTx/>
              <a:buNone/>
              <a:tabLst/>
              <a:defRPr/>
            </a:pPr>
            <a:r>
              <a:rPr kumimoji="0" lang="en-CA" sz="2800" b="0" i="0" u="none" strike="noStrike" kern="1200" cap="none" spc="0" normalizeH="0" baseline="0" noProof="0" dirty="0">
                <a:ln>
                  <a:noFill/>
                </a:ln>
                <a:solidFill>
                  <a:srgbClr val="FFFFFF"/>
                </a:solidFill>
                <a:effectLst/>
                <a:uLnTx/>
                <a:uFillTx/>
                <a:latin typeface="Calibri"/>
                <a:ea typeface="+mn-ea"/>
                <a:cs typeface="+mn-cs"/>
              </a:rPr>
              <a:t>Backup without Lost of Database Access</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wipe(left)">
                                      <p:cBhvr>
                                        <p:cTn id="7" dur="500"/>
                                        <p:tgtEl>
                                          <p:spTgt spid="13">
                                            <p:txEl>
                                              <p:pRg st="0" end="0"/>
                                            </p:txEl>
                                          </p:spTgt>
                                        </p:tgtEl>
                                      </p:cBhvr>
                                    </p:animEffect>
                                  </p:childTnLst>
                                </p:cTn>
                              </p:par>
                            </p:childTnLst>
                          </p:cTn>
                        </p:par>
                        <p:par>
                          <p:cTn id="8" fill="hold" nodeType="afterGroup">
                            <p:stCondLst>
                              <p:cond delay="500"/>
                            </p:stCondLst>
                            <p:childTnLst>
                              <p:par>
                                <p:cTn id="9" presetID="42" presetClass="entr" presetSubtype="0" fill="hold" grpId="0" nodeType="afterEffect">
                                  <p:stCondLst>
                                    <p:cond delay="0"/>
                                  </p:stCondLst>
                                  <p:childTnLst>
                                    <p:set>
                                      <p:cBhvr>
                                        <p:cTn id="10" dur="1" fill="hold">
                                          <p:stCondLst>
                                            <p:cond delay="0"/>
                                          </p:stCondLst>
                                        </p:cTn>
                                        <p:tgtEl>
                                          <p:spTgt spid="37"/>
                                        </p:tgtEl>
                                        <p:attrNameLst>
                                          <p:attrName>style.visibility</p:attrName>
                                        </p:attrNameLst>
                                      </p:cBhvr>
                                      <p:to>
                                        <p:strVal val="visible"/>
                                      </p:to>
                                    </p:set>
                                    <p:animEffect transition="in" filter="fade">
                                      <p:cBhvr>
                                        <p:cTn id="11" dur="1000"/>
                                        <p:tgtEl>
                                          <p:spTgt spid="37"/>
                                        </p:tgtEl>
                                      </p:cBhvr>
                                    </p:animEffect>
                                    <p:anim calcmode="lin" valueType="num">
                                      <p:cBhvr>
                                        <p:cTn id="12" dur="1000" fill="hold"/>
                                        <p:tgtEl>
                                          <p:spTgt spid="37"/>
                                        </p:tgtEl>
                                        <p:attrNameLst>
                                          <p:attrName>ppt_x</p:attrName>
                                        </p:attrNameLst>
                                      </p:cBhvr>
                                      <p:tavLst>
                                        <p:tav tm="0">
                                          <p:val>
                                            <p:strVal val="#ppt_x"/>
                                          </p:val>
                                        </p:tav>
                                        <p:tav tm="100000">
                                          <p:val>
                                            <p:strVal val="#ppt_x"/>
                                          </p:val>
                                        </p:tav>
                                      </p:tavLst>
                                    </p:anim>
                                    <p:anim calcmode="lin" valueType="num">
                                      <p:cBhvr>
                                        <p:cTn id="13" dur="1000" fill="hold"/>
                                        <p:tgtEl>
                                          <p:spTgt spid="37"/>
                                        </p:tgtEl>
                                        <p:attrNameLst>
                                          <p:attrName>ppt_y</p:attrName>
                                        </p:attrNameLst>
                                      </p:cBhvr>
                                      <p:tavLst>
                                        <p:tav tm="0">
                                          <p:val>
                                            <p:strVal val="#ppt_y+.1"/>
                                          </p:val>
                                        </p:tav>
                                        <p:tav tm="100000">
                                          <p:val>
                                            <p:strVal val="#ppt_y"/>
                                          </p:val>
                                        </p:tav>
                                      </p:tavLst>
                                    </p:anim>
                                  </p:childTnLst>
                                </p:cTn>
                              </p:par>
                            </p:childTnLst>
                          </p:cTn>
                        </p:par>
                        <p:par>
                          <p:cTn id="14" fill="hold" nodeType="afterGroup">
                            <p:stCondLst>
                              <p:cond delay="1500"/>
                            </p:stCondLst>
                            <p:childTnLst>
                              <p:par>
                                <p:cTn id="15" presetID="42" presetClass="entr" presetSubtype="0" fill="hold" grpId="0" nodeType="afterEffect">
                                  <p:stCondLst>
                                    <p:cond delay="0"/>
                                  </p:stCondLst>
                                  <p:childTnLst>
                                    <p:set>
                                      <p:cBhvr>
                                        <p:cTn id="16" dur="1" fill="hold">
                                          <p:stCondLst>
                                            <p:cond delay="0"/>
                                          </p:stCondLst>
                                        </p:cTn>
                                        <p:tgtEl>
                                          <p:spTgt spid="38"/>
                                        </p:tgtEl>
                                        <p:attrNameLst>
                                          <p:attrName>style.visibility</p:attrName>
                                        </p:attrNameLst>
                                      </p:cBhvr>
                                      <p:to>
                                        <p:strVal val="visible"/>
                                      </p:to>
                                    </p:set>
                                    <p:animEffect transition="in" filter="fade">
                                      <p:cBhvr>
                                        <p:cTn id="17" dur="1000"/>
                                        <p:tgtEl>
                                          <p:spTgt spid="38"/>
                                        </p:tgtEl>
                                      </p:cBhvr>
                                    </p:animEffect>
                                    <p:anim calcmode="lin" valueType="num">
                                      <p:cBhvr>
                                        <p:cTn id="18" dur="1000" fill="hold"/>
                                        <p:tgtEl>
                                          <p:spTgt spid="38"/>
                                        </p:tgtEl>
                                        <p:attrNameLst>
                                          <p:attrName>ppt_x</p:attrName>
                                        </p:attrNameLst>
                                      </p:cBhvr>
                                      <p:tavLst>
                                        <p:tav tm="0">
                                          <p:val>
                                            <p:strVal val="#ppt_x"/>
                                          </p:val>
                                        </p:tav>
                                        <p:tav tm="100000">
                                          <p:val>
                                            <p:strVal val="#ppt_x"/>
                                          </p:val>
                                        </p:tav>
                                      </p:tavLst>
                                    </p:anim>
                                    <p:anim calcmode="lin" valueType="num">
                                      <p:cBhvr>
                                        <p:cTn id="19" dur="1000" fill="hold"/>
                                        <p:tgtEl>
                                          <p:spTgt spid="38"/>
                                        </p:tgtEl>
                                        <p:attrNameLst>
                                          <p:attrName>ppt_y</p:attrName>
                                        </p:attrNameLst>
                                      </p:cBhvr>
                                      <p:tavLst>
                                        <p:tav tm="0">
                                          <p:val>
                                            <p:strVal val="#ppt_y+.1"/>
                                          </p:val>
                                        </p:tav>
                                        <p:tav tm="100000">
                                          <p:val>
                                            <p:strVal val="#ppt_y"/>
                                          </p:val>
                                        </p:tav>
                                      </p:tavLst>
                                    </p:anim>
                                  </p:childTnLst>
                                </p:cTn>
                              </p:par>
                            </p:childTnLst>
                          </p:cTn>
                        </p:par>
                        <p:par>
                          <p:cTn id="20" fill="hold" nodeType="afterGroup">
                            <p:stCondLst>
                              <p:cond delay="2500"/>
                            </p:stCondLst>
                            <p:childTnLst>
                              <p:par>
                                <p:cTn id="21" presetID="42" presetClass="entr" presetSubtype="0" fill="hold" grpId="0" nodeType="afterEffect">
                                  <p:stCondLst>
                                    <p:cond delay="0"/>
                                  </p:stCondLst>
                                  <p:childTnLst>
                                    <p:set>
                                      <p:cBhvr>
                                        <p:cTn id="22" dur="1" fill="hold">
                                          <p:stCondLst>
                                            <p:cond delay="0"/>
                                          </p:stCondLst>
                                        </p:cTn>
                                        <p:tgtEl>
                                          <p:spTgt spid="39"/>
                                        </p:tgtEl>
                                        <p:attrNameLst>
                                          <p:attrName>style.visibility</p:attrName>
                                        </p:attrNameLst>
                                      </p:cBhvr>
                                      <p:to>
                                        <p:strVal val="visible"/>
                                      </p:to>
                                    </p:set>
                                    <p:animEffect transition="in" filter="fade">
                                      <p:cBhvr>
                                        <p:cTn id="23" dur="1000"/>
                                        <p:tgtEl>
                                          <p:spTgt spid="39"/>
                                        </p:tgtEl>
                                      </p:cBhvr>
                                    </p:animEffect>
                                    <p:anim calcmode="lin" valueType="num">
                                      <p:cBhvr>
                                        <p:cTn id="24" dur="1000" fill="hold"/>
                                        <p:tgtEl>
                                          <p:spTgt spid="39"/>
                                        </p:tgtEl>
                                        <p:attrNameLst>
                                          <p:attrName>ppt_x</p:attrName>
                                        </p:attrNameLst>
                                      </p:cBhvr>
                                      <p:tavLst>
                                        <p:tav tm="0">
                                          <p:val>
                                            <p:strVal val="#ppt_x"/>
                                          </p:val>
                                        </p:tav>
                                        <p:tav tm="100000">
                                          <p:val>
                                            <p:strVal val="#ppt_x"/>
                                          </p:val>
                                        </p:tav>
                                      </p:tavLst>
                                    </p:anim>
                                    <p:anim calcmode="lin" valueType="num">
                                      <p:cBhvr>
                                        <p:cTn id="25" dur="1000" fill="hold"/>
                                        <p:tgtEl>
                                          <p:spTgt spid="39"/>
                                        </p:tgtEl>
                                        <p:attrNameLst>
                                          <p:attrName>ppt_y</p:attrName>
                                        </p:attrNameLst>
                                      </p:cBhvr>
                                      <p:tavLst>
                                        <p:tav tm="0">
                                          <p:val>
                                            <p:strVal val="#ppt_y+.1"/>
                                          </p:val>
                                        </p:tav>
                                        <p:tav tm="100000">
                                          <p:val>
                                            <p:strVal val="#ppt_y"/>
                                          </p:val>
                                        </p:tav>
                                      </p:tavLst>
                                    </p:anim>
                                  </p:childTnLst>
                                </p:cTn>
                              </p:par>
                            </p:childTnLst>
                          </p:cTn>
                        </p:par>
                        <p:par>
                          <p:cTn id="26" fill="hold" nodeType="afterGroup">
                            <p:stCondLst>
                              <p:cond delay="3500"/>
                            </p:stCondLst>
                            <p:childTnLst>
                              <p:par>
                                <p:cTn id="27" presetID="42" presetClass="entr" presetSubtype="0" fill="hold" grpId="0" nodeType="afterEffect">
                                  <p:stCondLst>
                                    <p:cond delay="0"/>
                                  </p:stCondLst>
                                  <p:childTnLst>
                                    <p:set>
                                      <p:cBhvr>
                                        <p:cTn id="28" dur="1" fill="hold">
                                          <p:stCondLst>
                                            <p:cond delay="0"/>
                                          </p:stCondLst>
                                        </p:cTn>
                                        <p:tgtEl>
                                          <p:spTgt spid="40"/>
                                        </p:tgtEl>
                                        <p:attrNameLst>
                                          <p:attrName>style.visibility</p:attrName>
                                        </p:attrNameLst>
                                      </p:cBhvr>
                                      <p:to>
                                        <p:strVal val="visible"/>
                                      </p:to>
                                    </p:set>
                                    <p:animEffect transition="in" filter="fade">
                                      <p:cBhvr>
                                        <p:cTn id="29" dur="1000"/>
                                        <p:tgtEl>
                                          <p:spTgt spid="40"/>
                                        </p:tgtEl>
                                      </p:cBhvr>
                                    </p:animEffect>
                                    <p:anim calcmode="lin" valueType="num">
                                      <p:cBhvr>
                                        <p:cTn id="30" dur="1000" fill="hold"/>
                                        <p:tgtEl>
                                          <p:spTgt spid="40"/>
                                        </p:tgtEl>
                                        <p:attrNameLst>
                                          <p:attrName>ppt_x</p:attrName>
                                        </p:attrNameLst>
                                      </p:cBhvr>
                                      <p:tavLst>
                                        <p:tav tm="0">
                                          <p:val>
                                            <p:strVal val="#ppt_x"/>
                                          </p:val>
                                        </p:tav>
                                        <p:tav tm="100000">
                                          <p:val>
                                            <p:strVal val="#ppt_x"/>
                                          </p:val>
                                        </p:tav>
                                      </p:tavLst>
                                    </p:anim>
                                    <p:anim calcmode="lin" valueType="num">
                                      <p:cBhvr>
                                        <p:cTn id="31" dur="1000" fill="hold"/>
                                        <p:tgtEl>
                                          <p:spTgt spid="4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P spid="37" grpId="0" animBg="1"/>
      <p:bldP spid="38" grpId="0" animBg="1"/>
      <p:bldP spid="39" grpId="0" animBg="1"/>
      <p:bldP spid="40" grpId="0" animBg="1"/>
    </p:bldLst>
  </p:timing>
</p:sld>
</file>

<file path=ppt/slides/slide3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87CB5C-C236-7C11-558D-C828DCF8FAE5}"/>
              </a:ext>
            </a:extLst>
          </p:cNvPr>
          <p:cNvSpPr>
            <a:spLocks noGrp="1"/>
          </p:cNvSpPr>
          <p:nvPr>
            <p:ph type="title"/>
          </p:nvPr>
        </p:nvSpPr>
        <p:spPr>
          <a:xfrm>
            <a:off x="457200" y="0"/>
            <a:ext cx="7620000" cy="1143000"/>
          </a:xfrm>
        </p:spPr>
        <p:txBody>
          <a:bodyPr/>
          <a:lstStyle/>
          <a:p>
            <a:pPr algn="ctr">
              <a:defRPr/>
            </a:pPr>
            <a:r>
              <a:rPr lang="en-US" dirty="0"/>
              <a:t>Database Replication</a:t>
            </a:r>
            <a:endParaRPr lang="en-CA" dirty="0"/>
          </a:p>
        </p:txBody>
      </p:sp>
      <p:sp>
        <p:nvSpPr>
          <p:cNvPr id="19" name="Snip Single Corner Rectangle 18">
            <a:extLst>
              <a:ext uri="{FF2B5EF4-FFF2-40B4-BE49-F238E27FC236}">
                <a16:creationId xmlns:a16="http://schemas.microsoft.com/office/drawing/2014/main" id="{2E4AD221-9ABE-E4C2-0124-02DB2D1EFCE6}"/>
              </a:ext>
            </a:extLst>
          </p:cNvPr>
          <p:cNvSpPr/>
          <p:nvPr/>
        </p:nvSpPr>
        <p:spPr>
          <a:xfrm>
            <a:off x="-36513" y="1196975"/>
            <a:ext cx="2305051" cy="401638"/>
          </a:xfrm>
          <a:prstGeom prst="snip1Rect">
            <a:avLst/>
          </a:prstGeom>
          <a:solidFill>
            <a:srgbClr val="7F7B00"/>
          </a:solidFill>
          <a:ln>
            <a:solidFill>
              <a:srgbClr val="7F7B00"/>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marR="0" lvl="0" indent="-342900" algn="just" defTabSz="914400" rtl="0" eaLnBrk="1" fontAlgn="base" latinLnBrk="0" hangingPunct="1">
              <a:lnSpc>
                <a:spcPct val="100000"/>
              </a:lnSpc>
              <a:spcBef>
                <a:spcPct val="20000"/>
              </a:spcBef>
              <a:spcAft>
                <a:spcPct val="0"/>
              </a:spcAft>
              <a:buClr>
                <a:srgbClr val="FF6600"/>
              </a:buClr>
              <a:buSzPct val="100000"/>
              <a:buFontTx/>
              <a:buNone/>
              <a:tabLst/>
              <a:defRPr/>
            </a:pPr>
            <a:r>
              <a:rPr kumimoji="0" lang="en-GB" sz="1800" b="0" i="0" u="none" strike="noStrike" kern="0" cap="none" spc="0" normalizeH="0" baseline="0" noProof="0" dirty="0">
                <a:ln>
                  <a:noFill/>
                </a:ln>
                <a:solidFill>
                  <a:srgbClr val="FFFFFF"/>
                </a:solidFill>
                <a:effectLst/>
                <a:uLnTx/>
                <a:uFillTx/>
                <a:latin typeface="Calibri"/>
                <a:ea typeface="+mn-ea"/>
                <a:cs typeface="+mn-cs"/>
              </a:rPr>
              <a:t>Improve Availability</a:t>
            </a:r>
          </a:p>
        </p:txBody>
      </p:sp>
      <p:sp>
        <p:nvSpPr>
          <p:cNvPr id="20" name="Content Placeholder 2">
            <a:extLst>
              <a:ext uri="{FF2B5EF4-FFF2-40B4-BE49-F238E27FC236}">
                <a16:creationId xmlns:a16="http://schemas.microsoft.com/office/drawing/2014/main" id="{1328C5A5-4599-1141-F185-4E0E64E98783}"/>
              </a:ext>
            </a:extLst>
          </p:cNvPr>
          <p:cNvSpPr txBox="1">
            <a:spLocks/>
          </p:cNvSpPr>
          <p:nvPr/>
        </p:nvSpPr>
        <p:spPr bwMode="auto">
          <a:xfrm>
            <a:off x="250825" y="1885950"/>
            <a:ext cx="8004175" cy="108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With one database server, if it crashes, you end up losing access to all of your data</a:t>
            </a: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4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With database replication</a:t>
            </a: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40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grpSp>
        <p:nvGrpSpPr>
          <p:cNvPr id="3" name="Group 3">
            <a:extLst>
              <a:ext uri="{FF2B5EF4-FFF2-40B4-BE49-F238E27FC236}">
                <a16:creationId xmlns:a16="http://schemas.microsoft.com/office/drawing/2014/main" id="{90B779B3-45E8-6840-2790-E1D1611CDF68}"/>
              </a:ext>
            </a:extLst>
          </p:cNvPr>
          <p:cNvGrpSpPr>
            <a:grpSpLocks/>
          </p:cNvGrpSpPr>
          <p:nvPr/>
        </p:nvGrpSpPr>
        <p:grpSpPr bwMode="auto">
          <a:xfrm>
            <a:off x="884238" y="3703638"/>
            <a:ext cx="7375525" cy="2419350"/>
            <a:chOff x="687760" y="3789040"/>
            <a:chExt cx="7377007" cy="2418639"/>
          </a:xfrm>
        </p:grpSpPr>
        <p:sp>
          <p:nvSpPr>
            <p:cNvPr id="83978" name="TextBox 41">
              <a:extLst>
                <a:ext uri="{FF2B5EF4-FFF2-40B4-BE49-F238E27FC236}">
                  <a16:creationId xmlns:a16="http://schemas.microsoft.com/office/drawing/2014/main" id="{63920CC1-3822-F46A-B581-A78D6EF636B9}"/>
                </a:ext>
              </a:extLst>
            </p:cNvPr>
            <p:cNvSpPr txBox="1">
              <a:spLocks noChangeArrowheads="1"/>
            </p:cNvSpPr>
            <p:nvPr/>
          </p:nvSpPr>
          <p:spPr bwMode="auto">
            <a:xfrm>
              <a:off x="687760" y="4869160"/>
              <a:ext cx="165618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Master server</a:t>
              </a:r>
            </a:p>
          </p:txBody>
        </p:sp>
        <p:pic>
          <p:nvPicPr>
            <p:cNvPr id="83979" name="Picture 44">
              <a:extLst>
                <a:ext uri="{FF2B5EF4-FFF2-40B4-BE49-F238E27FC236}">
                  <a16:creationId xmlns:a16="http://schemas.microsoft.com/office/drawing/2014/main" id="{753C9D07-226A-CE5F-6E6A-63C1AA76F85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426734" y="5127559"/>
              <a:ext cx="1346750" cy="1080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3980" name="Picture 47">
              <a:extLst>
                <a:ext uri="{FF2B5EF4-FFF2-40B4-BE49-F238E27FC236}">
                  <a16:creationId xmlns:a16="http://schemas.microsoft.com/office/drawing/2014/main" id="{A1EEA5F0-7AED-E7C8-486E-1E3E59F90FA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453306" y="3789040"/>
              <a:ext cx="1346750" cy="1080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3981" name="Picture 50">
              <a:extLst>
                <a:ext uri="{FF2B5EF4-FFF2-40B4-BE49-F238E27FC236}">
                  <a16:creationId xmlns:a16="http://schemas.microsoft.com/office/drawing/2014/main" id="{4CF936C1-6207-0B49-FD4C-BD760A454C6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415952" y="4517504"/>
              <a:ext cx="1346750" cy="1080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3982" name="TextBox 51">
              <a:extLst>
                <a:ext uri="{FF2B5EF4-FFF2-40B4-BE49-F238E27FC236}">
                  <a16:creationId xmlns:a16="http://schemas.microsoft.com/office/drawing/2014/main" id="{6E87C8BF-8577-C580-CD74-DAB496F0F15B}"/>
                </a:ext>
              </a:extLst>
            </p:cNvPr>
            <p:cNvSpPr txBox="1">
              <a:spLocks noChangeArrowheads="1"/>
            </p:cNvSpPr>
            <p:nvPr/>
          </p:nvSpPr>
          <p:spPr bwMode="auto">
            <a:xfrm>
              <a:off x="6402531" y="3995393"/>
              <a:ext cx="165618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Slave server</a:t>
              </a:r>
            </a:p>
          </p:txBody>
        </p:sp>
        <p:sp>
          <p:nvSpPr>
            <p:cNvPr id="83983" name="TextBox 52">
              <a:extLst>
                <a:ext uri="{FF2B5EF4-FFF2-40B4-BE49-F238E27FC236}">
                  <a16:creationId xmlns:a16="http://schemas.microsoft.com/office/drawing/2014/main" id="{25DCCB2F-2125-C22E-F441-92478A26A3CB}"/>
                </a:ext>
              </a:extLst>
            </p:cNvPr>
            <p:cNvSpPr txBox="1">
              <a:spLocks noChangeArrowheads="1"/>
            </p:cNvSpPr>
            <p:nvPr/>
          </p:nvSpPr>
          <p:spPr bwMode="auto">
            <a:xfrm>
              <a:off x="6408583" y="5388432"/>
              <a:ext cx="165618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Slave server</a:t>
              </a:r>
            </a:p>
          </p:txBody>
        </p:sp>
        <p:cxnSp>
          <p:nvCxnSpPr>
            <p:cNvPr id="83984" name="Straight Arrow Connector 53">
              <a:extLst>
                <a:ext uri="{FF2B5EF4-FFF2-40B4-BE49-F238E27FC236}">
                  <a16:creationId xmlns:a16="http://schemas.microsoft.com/office/drawing/2014/main" id="{A754EF44-A545-6248-21A8-5F5D7664DEDE}"/>
                </a:ext>
              </a:extLst>
            </p:cNvPr>
            <p:cNvCxnSpPr>
              <a:cxnSpLocks noChangeShapeType="1"/>
            </p:cNvCxnSpPr>
            <p:nvPr/>
          </p:nvCxnSpPr>
          <p:spPr bwMode="auto">
            <a:xfrm>
              <a:off x="771643" y="5238492"/>
              <a:ext cx="1584176" cy="0"/>
            </a:xfrm>
            <a:prstGeom prst="straightConnector1">
              <a:avLst/>
            </a:prstGeom>
            <a:noFill/>
            <a:ln w="2540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83985" name="Straight Arrow Connector 54">
              <a:extLst>
                <a:ext uri="{FF2B5EF4-FFF2-40B4-BE49-F238E27FC236}">
                  <a16:creationId xmlns:a16="http://schemas.microsoft.com/office/drawing/2014/main" id="{4F107FC0-A9FC-4668-851F-322C9BCC2682}"/>
                </a:ext>
              </a:extLst>
            </p:cNvPr>
            <p:cNvCxnSpPr>
              <a:cxnSpLocks noChangeShapeType="1"/>
            </p:cNvCxnSpPr>
            <p:nvPr/>
          </p:nvCxnSpPr>
          <p:spPr bwMode="auto">
            <a:xfrm>
              <a:off x="3382484" y="5127559"/>
              <a:ext cx="1972242" cy="590670"/>
            </a:xfrm>
            <a:prstGeom prst="straightConnector1">
              <a:avLst/>
            </a:prstGeom>
            <a:noFill/>
            <a:ln w="2540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83986" name="Straight Arrow Connector 55">
              <a:extLst>
                <a:ext uri="{FF2B5EF4-FFF2-40B4-BE49-F238E27FC236}">
                  <a16:creationId xmlns:a16="http://schemas.microsoft.com/office/drawing/2014/main" id="{6C99F77A-DC6A-D276-4436-0D8F21306741}"/>
                </a:ext>
              </a:extLst>
            </p:cNvPr>
            <p:cNvCxnSpPr>
              <a:cxnSpLocks noChangeShapeType="1"/>
            </p:cNvCxnSpPr>
            <p:nvPr/>
          </p:nvCxnSpPr>
          <p:spPr bwMode="auto">
            <a:xfrm flipV="1">
              <a:off x="3387555" y="4329100"/>
              <a:ext cx="1967171" cy="710768"/>
            </a:xfrm>
            <a:prstGeom prst="straightConnector1">
              <a:avLst/>
            </a:prstGeom>
            <a:noFill/>
            <a:ln w="2540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83987" name="Straight Arrow Connector 56">
              <a:extLst>
                <a:ext uri="{FF2B5EF4-FFF2-40B4-BE49-F238E27FC236}">
                  <a16:creationId xmlns:a16="http://schemas.microsoft.com/office/drawing/2014/main" id="{ED4CAA91-1678-64D5-CC02-63DA29ED879A}"/>
                </a:ext>
              </a:extLst>
            </p:cNvPr>
            <p:cNvCxnSpPr>
              <a:cxnSpLocks noChangeShapeType="1"/>
            </p:cNvCxnSpPr>
            <p:nvPr/>
          </p:nvCxnSpPr>
          <p:spPr bwMode="auto">
            <a:xfrm>
              <a:off x="771643" y="4892910"/>
              <a:ext cx="1584176" cy="0"/>
            </a:xfrm>
            <a:prstGeom prst="straightConnector1">
              <a:avLst/>
            </a:prstGeom>
            <a:noFill/>
            <a:ln w="25400" algn="ctr">
              <a:solidFill>
                <a:schemeClr val="tx1"/>
              </a:solidFill>
              <a:round/>
              <a:headEnd type="triangle" w="med" len="med"/>
              <a:tailEnd/>
            </a:ln>
            <a:extLst>
              <a:ext uri="{909E8E84-426E-40DD-AFC4-6F175D3DCCD1}">
                <a14:hiddenFill xmlns:a14="http://schemas.microsoft.com/office/drawing/2010/main">
                  <a:noFill/>
                </a14:hiddenFill>
              </a:ext>
            </a:extLst>
          </p:spPr>
        </p:cxnSp>
        <p:cxnSp>
          <p:nvCxnSpPr>
            <p:cNvPr id="83988" name="Straight Arrow Connector 57">
              <a:extLst>
                <a:ext uri="{FF2B5EF4-FFF2-40B4-BE49-F238E27FC236}">
                  <a16:creationId xmlns:a16="http://schemas.microsoft.com/office/drawing/2014/main" id="{2A22F83E-D7FA-82E6-324D-2C2CE00EB541}"/>
                </a:ext>
              </a:extLst>
            </p:cNvPr>
            <p:cNvCxnSpPr>
              <a:cxnSpLocks noChangeShapeType="1"/>
            </p:cNvCxnSpPr>
            <p:nvPr/>
          </p:nvCxnSpPr>
          <p:spPr bwMode="auto">
            <a:xfrm>
              <a:off x="3762702" y="4180403"/>
              <a:ext cx="1584176" cy="0"/>
            </a:xfrm>
            <a:prstGeom prst="straightConnector1">
              <a:avLst/>
            </a:prstGeom>
            <a:noFill/>
            <a:ln w="25400" algn="ctr">
              <a:solidFill>
                <a:schemeClr val="tx1"/>
              </a:solidFill>
              <a:round/>
              <a:headEnd type="triangle" w="med" len="med"/>
              <a:tailEnd/>
            </a:ln>
            <a:extLst>
              <a:ext uri="{909E8E84-426E-40DD-AFC4-6F175D3DCCD1}">
                <a14:hiddenFill xmlns:a14="http://schemas.microsoft.com/office/drawing/2010/main">
                  <a:noFill/>
                </a14:hiddenFill>
              </a:ext>
            </a:extLst>
          </p:spPr>
        </p:cxnSp>
        <p:cxnSp>
          <p:nvCxnSpPr>
            <p:cNvPr id="83989" name="Straight Arrow Connector 58">
              <a:extLst>
                <a:ext uri="{FF2B5EF4-FFF2-40B4-BE49-F238E27FC236}">
                  <a16:creationId xmlns:a16="http://schemas.microsoft.com/office/drawing/2014/main" id="{AD309CC6-763B-D8DF-9CE1-9168FBF489EF}"/>
                </a:ext>
              </a:extLst>
            </p:cNvPr>
            <p:cNvCxnSpPr>
              <a:cxnSpLocks noChangeShapeType="1"/>
            </p:cNvCxnSpPr>
            <p:nvPr/>
          </p:nvCxnSpPr>
          <p:spPr bwMode="auto">
            <a:xfrm>
              <a:off x="3770550" y="5844491"/>
              <a:ext cx="1584176" cy="0"/>
            </a:xfrm>
            <a:prstGeom prst="straightConnector1">
              <a:avLst/>
            </a:prstGeom>
            <a:noFill/>
            <a:ln w="25400" algn="ctr">
              <a:solidFill>
                <a:schemeClr val="tx1"/>
              </a:solidFill>
              <a:round/>
              <a:headEnd type="triangle" w="med" len="med"/>
              <a:tailEnd/>
            </a:ln>
            <a:extLst>
              <a:ext uri="{909E8E84-426E-40DD-AFC4-6F175D3DCCD1}">
                <a14:hiddenFill xmlns:a14="http://schemas.microsoft.com/office/drawing/2010/main">
                  <a:noFill/>
                </a14:hiddenFill>
              </a:ext>
            </a:extLst>
          </p:spPr>
        </p:cxnSp>
      </p:grpSp>
      <p:sp>
        <p:nvSpPr>
          <p:cNvPr id="60" name="Rectangle 59">
            <a:extLst>
              <a:ext uri="{FF2B5EF4-FFF2-40B4-BE49-F238E27FC236}">
                <a16:creationId xmlns:a16="http://schemas.microsoft.com/office/drawing/2014/main" id="{0B09F185-00F9-5C10-355C-CF88AD4927E6}"/>
              </a:ext>
            </a:extLst>
          </p:cNvPr>
          <p:cNvSpPr>
            <a:spLocks noChangeArrowheads="1"/>
          </p:cNvSpPr>
          <p:nvPr/>
        </p:nvSpPr>
        <p:spPr bwMode="auto">
          <a:xfrm>
            <a:off x="382588" y="5897563"/>
            <a:ext cx="3582987" cy="392112"/>
          </a:xfrm>
          <a:prstGeom prst="rect">
            <a:avLst/>
          </a:prstGeom>
          <a:solidFill>
            <a:srgbClr val="FFFF00">
              <a:alpha val="30196"/>
            </a:srgbClr>
          </a:solidFill>
          <a:ln w="9525" algn="ctr">
            <a:solidFill>
              <a:srgbClr val="FFC000"/>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20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If a slave server crashes</a:t>
            </a:r>
            <a:endParaRPr kumimoji="0" lang="en-CA" altLang="en-US" sz="2000" b="1"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endParaRPr>
          </a:p>
        </p:txBody>
      </p:sp>
      <p:sp>
        <p:nvSpPr>
          <p:cNvPr id="61" name="Multiply 60">
            <a:extLst>
              <a:ext uri="{FF2B5EF4-FFF2-40B4-BE49-F238E27FC236}">
                <a16:creationId xmlns:a16="http://schemas.microsoft.com/office/drawing/2014/main" id="{56EA4D91-8FE2-6234-1910-52C5FF251888}"/>
              </a:ext>
            </a:extLst>
          </p:cNvPr>
          <p:cNvSpPr/>
          <p:nvPr/>
        </p:nvSpPr>
        <p:spPr bwMode="auto">
          <a:xfrm>
            <a:off x="5657966" y="3806978"/>
            <a:ext cx="874744" cy="874744"/>
          </a:xfrm>
          <a:prstGeom prst="mathMultiply">
            <a:avLst>
              <a:gd name="adj1" fmla="val 14809"/>
            </a:avLst>
          </a:prstGeom>
          <a:solidFill>
            <a:srgbClr val="C00000"/>
          </a:solidFill>
          <a:ln w="9525" cap="flat" cmpd="sng" algn="ctr">
            <a:noFill/>
            <a:prstDash val="solid"/>
            <a:round/>
            <a:headEnd type="none" w="med" len="med"/>
            <a:tailEnd type="none" w="med" len="med"/>
          </a:ln>
          <a:effectLst/>
          <a:scene3d>
            <a:camera prst="orthographicFront"/>
            <a:lightRig rig="threePt" dir="t"/>
          </a:scene3d>
          <a:sp3d>
            <a:bevelT w="25400" h="25400"/>
          </a:sp3d>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MY" sz="1800" b="0" i="0" u="none" strike="noStrike" kern="1200" cap="none" spc="0" normalizeH="0" baseline="0" noProof="0">
              <a:ln>
                <a:noFill/>
              </a:ln>
              <a:solidFill>
                <a:srgbClr val="2F2B20"/>
              </a:solidFill>
              <a:effectLst/>
              <a:uLnTx/>
              <a:uFillTx/>
              <a:latin typeface="Arial" charset="0"/>
              <a:ea typeface="+mn-ea"/>
              <a:cs typeface="Arial" panose="020B0604020202020204" pitchFamily="3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ipe(left)">
                                      <p:cBhvr>
                                        <p:cTn id="7" dur="500"/>
                                        <p:tgtEl>
                                          <p:spTgt spid="19"/>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20">
                                            <p:txEl>
                                              <p:pRg st="0" end="0"/>
                                            </p:txEl>
                                          </p:spTgt>
                                        </p:tgtEl>
                                        <p:attrNameLst>
                                          <p:attrName>style.visibility</p:attrName>
                                        </p:attrNameLst>
                                      </p:cBhvr>
                                      <p:to>
                                        <p:strVal val="visible"/>
                                      </p:to>
                                    </p:set>
                                    <p:animEffect transition="in" filter="wipe(left)">
                                      <p:cBhvr>
                                        <p:cTn id="11" dur="500"/>
                                        <p:tgtEl>
                                          <p:spTgt spid="20">
                                            <p:txEl>
                                              <p:pRg st="0" end="0"/>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20">
                                            <p:txEl>
                                              <p:pRg st="2" end="2"/>
                                            </p:txEl>
                                          </p:spTgt>
                                        </p:tgtEl>
                                        <p:attrNameLst>
                                          <p:attrName>style.visibility</p:attrName>
                                        </p:attrNameLst>
                                      </p:cBhvr>
                                      <p:to>
                                        <p:strVal val="visible"/>
                                      </p:to>
                                    </p:set>
                                    <p:animEffect transition="in" filter="wipe(left)">
                                      <p:cBhvr>
                                        <p:cTn id="16" dur="500"/>
                                        <p:tgtEl>
                                          <p:spTgt spid="20">
                                            <p:txEl>
                                              <p:pRg st="2" end="2"/>
                                            </p:txEl>
                                          </p:spTgt>
                                        </p:tgtEl>
                                      </p:cBhvr>
                                    </p:animEffect>
                                  </p:childTnLst>
                                </p:cTn>
                              </p:par>
                            </p:childTnLst>
                          </p:cTn>
                        </p:par>
                        <p:par>
                          <p:cTn id="17" fill="hold" nodeType="afterGroup">
                            <p:stCondLst>
                              <p:cond delay="500"/>
                            </p:stCondLst>
                            <p:childTnLst>
                              <p:par>
                                <p:cTn id="18" presetID="22" presetClass="entr" presetSubtype="8" fill="hold" nodeType="after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wipe(left)">
                                      <p:cBhvr>
                                        <p:cTn id="20" dur="500"/>
                                        <p:tgtEl>
                                          <p:spTgt spid="3"/>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6" presetClass="entr" presetSubtype="21" fill="hold" grpId="0" nodeType="clickEffect">
                                  <p:stCondLst>
                                    <p:cond delay="0"/>
                                  </p:stCondLst>
                                  <p:childTnLst>
                                    <p:set>
                                      <p:cBhvr>
                                        <p:cTn id="24" dur="1" fill="hold">
                                          <p:stCondLst>
                                            <p:cond delay="0"/>
                                          </p:stCondLst>
                                        </p:cTn>
                                        <p:tgtEl>
                                          <p:spTgt spid="60"/>
                                        </p:tgtEl>
                                        <p:attrNameLst>
                                          <p:attrName>style.visibility</p:attrName>
                                        </p:attrNameLst>
                                      </p:cBhvr>
                                      <p:to>
                                        <p:strVal val="visible"/>
                                      </p:to>
                                    </p:set>
                                    <p:animEffect transition="in" filter="barn(inVertical)">
                                      <p:cBhvr>
                                        <p:cTn id="25" dur="500"/>
                                        <p:tgtEl>
                                          <p:spTgt spid="60"/>
                                        </p:tgtEl>
                                      </p:cBhvr>
                                    </p:animEffect>
                                  </p:childTnLst>
                                </p:cTn>
                              </p:par>
                            </p:childTnLst>
                          </p:cTn>
                        </p:par>
                        <p:par>
                          <p:cTn id="26" fill="hold" nodeType="afterGroup">
                            <p:stCondLst>
                              <p:cond delay="500"/>
                            </p:stCondLst>
                            <p:childTnLst>
                              <p:par>
                                <p:cTn id="27" presetID="10" presetClass="entr" presetSubtype="0" fill="hold" nodeType="afterEffect">
                                  <p:stCondLst>
                                    <p:cond delay="0"/>
                                  </p:stCondLst>
                                  <p:childTnLst>
                                    <p:set>
                                      <p:cBhvr>
                                        <p:cTn id="28" dur="1" fill="hold">
                                          <p:stCondLst>
                                            <p:cond delay="0"/>
                                          </p:stCondLst>
                                        </p:cTn>
                                        <p:tgtEl>
                                          <p:spTgt spid="61"/>
                                        </p:tgtEl>
                                        <p:attrNameLst>
                                          <p:attrName>style.visibility</p:attrName>
                                        </p:attrNameLst>
                                      </p:cBhvr>
                                      <p:to>
                                        <p:strVal val="visible"/>
                                      </p:to>
                                    </p:set>
                                    <p:animEffect transition="in" filter="fade">
                                      <p:cBhvr>
                                        <p:cTn id="29" dur="5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60" grpId="0" animBg="1"/>
    </p:bldLst>
  </p:timing>
</p:sld>
</file>

<file path=ppt/slides/slide3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AF4E0-A563-5076-B1CD-A3E45A45F8F4}"/>
              </a:ext>
            </a:extLst>
          </p:cNvPr>
          <p:cNvSpPr>
            <a:spLocks noGrp="1"/>
          </p:cNvSpPr>
          <p:nvPr>
            <p:ph type="title"/>
          </p:nvPr>
        </p:nvSpPr>
        <p:spPr>
          <a:xfrm>
            <a:off x="457200" y="0"/>
            <a:ext cx="7620000" cy="1143000"/>
          </a:xfrm>
        </p:spPr>
        <p:txBody>
          <a:bodyPr/>
          <a:lstStyle/>
          <a:p>
            <a:pPr algn="ctr">
              <a:defRPr/>
            </a:pPr>
            <a:r>
              <a:rPr lang="en-US" dirty="0"/>
              <a:t>Database Replication</a:t>
            </a:r>
            <a:endParaRPr lang="en-CA" dirty="0"/>
          </a:p>
        </p:txBody>
      </p:sp>
      <p:sp>
        <p:nvSpPr>
          <p:cNvPr id="19" name="Snip Single Corner Rectangle 18">
            <a:extLst>
              <a:ext uri="{FF2B5EF4-FFF2-40B4-BE49-F238E27FC236}">
                <a16:creationId xmlns:a16="http://schemas.microsoft.com/office/drawing/2014/main" id="{6199F904-3408-41DB-2F7E-FDC14B846EE4}"/>
              </a:ext>
            </a:extLst>
          </p:cNvPr>
          <p:cNvSpPr/>
          <p:nvPr/>
        </p:nvSpPr>
        <p:spPr>
          <a:xfrm>
            <a:off x="-36513" y="1196975"/>
            <a:ext cx="2305051" cy="401638"/>
          </a:xfrm>
          <a:prstGeom prst="snip1Rect">
            <a:avLst/>
          </a:prstGeom>
          <a:solidFill>
            <a:srgbClr val="7F7B00"/>
          </a:solidFill>
          <a:ln>
            <a:solidFill>
              <a:srgbClr val="7F7B00"/>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marR="0" lvl="0" indent="-342900" algn="just" defTabSz="914400" rtl="0" eaLnBrk="1" fontAlgn="base" latinLnBrk="0" hangingPunct="1">
              <a:lnSpc>
                <a:spcPct val="100000"/>
              </a:lnSpc>
              <a:spcBef>
                <a:spcPct val="20000"/>
              </a:spcBef>
              <a:spcAft>
                <a:spcPct val="0"/>
              </a:spcAft>
              <a:buClr>
                <a:srgbClr val="FF6600"/>
              </a:buClr>
              <a:buSzPct val="100000"/>
              <a:buFontTx/>
              <a:buNone/>
              <a:tabLst/>
              <a:defRPr/>
            </a:pPr>
            <a:r>
              <a:rPr kumimoji="0" lang="en-GB" sz="1800" b="0" i="0" u="none" strike="noStrike" kern="0" cap="none" spc="0" normalizeH="0" baseline="0" noProof="0" dirty="0">
                <a:ln>
                  <a:noFill/>
                </a:ln>
                <a:solidFill>
                  <a:srgbClr val="FFFFFF"/>
                </a:solidFill>
                <a:effectLst/>
                <a:uLnTx/>
                <a:uFillTx/>
                <a:latin typeface="Calibri"/>
                <a:ea typeface="+mn-ea"/>
                <a:cs typeface="+mn-cs"/>
              </a:rPr>
              <a:t>Improve Availability</a:t>
            </a:r>
          </a:p>
        </p:txBody>
      </p:sp>
      <p:sp>
        <p:nvSpPr>
          <p:cNvPr id="84996" name="Content Placeholder 2">
            <a:extLst>
              <a:ext uri="{FF2B5EF4-FFF2-40B4-BE49-F238E27FC236}">
                <a16:creationId xmlns:a16="http://schemas.microsoft.com/office/drawing/2014/main" id="{CD8B1578-EBD4-AC41-AA08-6046BA32C840}"/>
              </a:ext>
            </a:extLst>
          </p:cNvPr>
          <p:cNvSpPr txBox="1">
            <a:spLocks/>
          </p:cNvSpPr>
          <p:nvPr/>
        </p:nvSpPr>
        <p:spPr bwMode="auto">
          <a:xfrm>
            <a:off x="250825" y="1885950"/>
            <a:ext cx="8008938" cy="108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With one database server, if it crashes, you end up losing access to all of your data</a:t>
            </a: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4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With database replication</a:t>
            </a: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40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sp>
        <p:nvSpPr>
          <p:cNvPr id="60" name="Rectangle 59">
            <a:extLst>
              <a:ext uri="{FF2B5EF4-FFF2-40B4-BE49-F238E27FC236}">
                <a16:creationId xmlns:a16="http://schemas.microsoft.com/office/drawing/2014/main" id="{E94E93C9-1BED-E0B1-8D27-E1FA90BFF26A}"/>
              </a:ext>
            </a:extLst>
          </p:cNvPr>
          <p:cNvSpPr>
            <a:spLocks noChangeArrowheads="1"/>
          </p:cNvSpPr>
          <p:nvPr/>
        </p:nvSpPr>
        <p:spPr bwMode="auto">
          <a:xfrm>
            <a:off x="382588" y="5897563"/>
            <a:ext cx="4981575" cy="392112"/>
          </a:xfrm>
          <a:prstGeom prst="rect">
            <a:avLst/>
          </a:prstGeom>
          <a:solidFill>
            <a:srgbClr val="FFFF00">
              <a:alpha val="30196"/>
            </a:srgbClr>
          </a:solidFill>
          <a:ln w="9525" algn="ctr">
            <a:solidFill>
              <a:srgbClr val="FFC000"/>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20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The other servers would keep functioning</a:t>
            </a:r>
            <a:endParaRPr kumimoji="0" lang="en-CA" altLang="en-US" sz="2000" b="1"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endParaRPr>
          </a:p>
        </p:txBody>
      </p:sp>
      <p:grpSp>
        <p:nvGrpSpPr>
          <p:cNvPr id="3" name="Group 2">
            <a:extLst>
              <a:ext uri="{FF2B5EF4-FFF2-40B4-BE49-F238E27FC236}">
                <a16:creationId xmlns:a16="http://schemas.microsoft.com/office/drawing/2014/main" id="{87449F55-2C44-6B07-D324-A60CC9D79CE3}"/>
              </a:ext>
            </a:extLst>
          </p:cNvPr>
          <p:cNvGrpSpPr>
            <a:grpSpLocks/>
          </p:cNvGrpSpPr>
          <p:nvPr/>
        </p:nvGrpSpPr>
        <p:grpSpPr bwMode="auto">
          <a:xfrm>
            <a:off x="884238" y="3703638"/>
            <a:ext cx="7466012" cy="2419350"/>
            <a:chOff x="883497" y="3704290"/>
            <a:chExt cx="7466455" cy="2418639"/>
          </a:xfrm>
        </p:grpSpPr>
        <p:grpSp>
          <p:nvGrpSpPr>
            <p:cNvPr id="84999" name="Group 3">
              <a:extLst>
                <a:ext uri="{FF2B5EF4-FFF2-40B4-BE49-F238E27FC236}">
                  <a16:creationId xmlns:a16="http://schemas.microsoft.com/office/drawing/2014/main" id="{6D0D08C3-7D78-2D54-3817-E5DB854A8879}"/>
                </a:ext>
              </a:extLst>
            </p:cNvPr>
            <p:cNvGrpSpPr>
              <a:grpSpLocks/>
            </p:cNvGrpSpPr>
            <p:nvPr/>
          </p:nvGrpSpPr>
          <p:grpSpPr bwMode="auto">
            <a:xfrm>
              <a:off x="883497" y="3704290"/>
              <a:ext cx="7466455" cy="2418639"/>
              <a:chOff x="687760" y="3789040"/>
              <a:chExt cx="7466455" cy="2418639"/>
            </a:xfrm>
          </p:grpSpPr>
          <p:sp>
            <p:nvSpPr>
              <p:cNvPr id="85003" name="TextBox 41">
                <a:extLst>
                  <a:ext uri="{FF2B5EF4-FFF2-40B4-BE49-F238E27FC236}">
                    <a16:creationId xmlns:a16="http://schemas.microsoft.com/office/drawing/2014/main" id="{DD69DBC7-A35F-EEA3-543A-5756F6FAE86B}"/>
                  </a:ext>
                </a:extLst>
              </p:cNvPr>
              <p:cNvSpPr txBox="1">
                <a:spLocks noChangeArrowheads="1"/>
              </p:cNvSpPr>
              <p:nvPr/>
            </p:nvSpPr>
            <p:spPr bwMode="auto">
              <a:xfrm>
                <a:off x="687760" y="4869160"/>
                <a:ext cx="165618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Master server</a:t>
                </a:r>
              </a:p>
            </p:txBody>
          </p:sp>
          <p:pic>
            <p:nvPicPr>
              <p:cNvPr id="85004" name="Picture 44">
                <a:extLst>
                  <a:ext uri="{FF2B5EF4-FFF2-40B4-BE49-F238E27FC236}">
                    <a16:creationId xmlns:a16="http://schemas.microsoft.com/office/drawing/2014/main" id="{5281C38D-E6A4-D256-1C73-7D6591ECD6F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426734" y="5127559"/>
                <a:ext cx="1346750" cy="1080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5005" name="Picture 47">
                <a:extLst>
                  <a:ext uri="{FF2B5EF4-FFF2-40B4-BE49-F238E27FC236}">
                    <a16:creationId xmlns:a16="http://schemas.microsoft.com/office/drawing/2014/main" id="{82C369E2-6213-2358-BA48-B990419B966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453306" y="3789040"/>
                <a:ext cx="1346750" cy="1080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5006" name="Picture 50">
                <a:extLst>
                  <a:ext uri="{FF2B5EF4-FFF2-40B4-BE49-F238E27FC236}">
                    <a16:creationId xmlns:a16="http://schemas.microsoft.com/office/drawing/2014/main" id="{CE9B4A93-FF67-3618-FB26-4848A1A0777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415952" y="4517504"/>
                <a:ext cx="1346750" cy="1080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5007" name="TextBox 51">
                <a:extLst>
                  <a:ext uri="{FF2B5EF4-FFF2-40B4-BE49-F238E27FC236}">
                    <a16:creationId xmlns:a16="http://schemas.microsoft.com/office/drawing/2014/main" id="{F1D3F9C3-4B97-B455-2B3C-29D55BA73451}"/>
                  </a:ext>
                </a:extLst>
              </p:cNvPr>
              <p:cNvSpPr txBox="1">
                <a:spLocks noChangeArrowheads="1"/>
              </p:cNvSpPr>
              <p:nvPr/>
            </p:nvSpPr>
            <p:spPr bwMode="auto">
              <a:xfrm>
                <a:off x="6402530" y="3995393"/>
                <a:ext cx="175168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Crashed server</a:t>
                </a:r>
              </a:p>
            </p:txBody>
          </p:sp>
          <p:sp>
            <p:nvSpPr>
              <p:cNvPr id="85008" name="TextBox 52">
                <a:extLst>
                  <a:ext uri="{FF2B5EF4-FFF2-40B4-BE49-F238E27FC236}">
                    <a16:creationId xmlns:a16="http://schemas.microsoft.com/office/drawing/2014/main" id="{436A1538-D873-ACC9-29B4-85542073A492}"/>
                  </a:ext>
                </a:extLst>
              </p:cNvPr>
              <p:cNvSpPr txBox="1">
                <a:spLocks noChangeArrowheads="1"/>
              </p:cNvSpPr>
              <p:nvPr/>
            </p:nvSpPr>
            <p:spPr bwMode="auto">
              <a:xfrm>
                <a:off x="6408583" y="5388432"/>
                <a:ext cx="165618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Slave server</a:t>
                </a:r>
              </a:p>
            </p:txBody>
          </p:sp>
          <p:cxnSp>
            <p:nvCxnSpPr>
              <p:cNvPr id="85009" name="Straight Arrow Connector 53">
                <a:extLst>
                  <a:ext uri="{FF2B5EF4-FFF2-40B4-BE49-F238E27FC236}">
                    <a16:creationId xmlns:a16="http://schemas.microsoft.com/office/drawing/2014/main" id="{6CC7CE7A-845A-08E2-E6A6-2EBECF116BD4}"/>
                  </a:ext>
                </a:extLst>
              </p:cNvPr>
              <p:cNvCxnSpPr>
                <a:cxnSpLocks noChangeShapeType="1"/>
              </p:cNvCxnSpPr>
              <p:nvPr/>
            </p:nvCxnSpPr>
            <p:spPr bwMode="auto">
              <a:xfrm>
                <a:off x="771643" y="5238492"/>
                <a:ext cx="1584176" cy="0"/>
              </a:xfrm>
              <a:prstGeom prst="straightConnector1">
                <a:avLst/>
              </a:prstGeom>
              <a:noFill/>
              <a:ln w="2540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85010" name="Straight Arrow Connector 54">
                <a:extLst>
                  <a:ext uri="{FF2B5EF4-FFF2-40B4-BE49-F238E27FC236}">
                    <a16:creationId xmlns:a16="http://schemas.microsoft.com/office/drawing/2014/main" id="{75AC7748-072F-9601-440E-6B64E0CA8D56}"/>
                  </a:ext>
                </a:extLst>
              </p:cNvPr>
              <p:cNvCxnSpPr>
                <a:cxnSpLocks noChangeShapeType="1"/>
              </p:cNvCxnSpPr>
              <p:nvPr/>
            </p:nvCxnSpPr>
            <p:spPr bwMode="auto">
              <a:xfrm>
                <a:off x="3382484" y="5127559"/>
                <a:ext cx="1972242" cy="590670"/>
              </a:xfrm>
              <a:prstGeom prst="straightConnector1">
                <a:avLst/>
              </a:prstGeom>
              <a:noFill/>
              <a:ln w="2540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85011" name="Straight Arrow Connector 56">
                <a:extLst>
                  <a:ext uri="{FF2B5EF4-FFF2-40B4-BE49-F238E27FC236}">
                    <a16:creationId xmlns:a16="http://schemas.microsoft.com/office/drawing/2014/main" id="{7EA4E900-B25B-279D-8FD2-986F6B95D48E}"/>
                  </a:ext>
                </a:extLst>
              </p:cNvPr>
              <p:cNvCxnSpPr>
                <a:cxnSpLocks noChangeShapeType="1"/>
              </p:cNvCxnSpPr>
              <p:nvPr/>
            </p:nvCxnSpPr>
            <p:spPr bwMode="auto">
              <a:xfrm>
                <a:off x="771643" y="4892910"/>
                <a:ext cx="1584176" cy="0"/>
              </a:xfrm>
              <a:prstGeom prst="straightConnector1">
                <a:avLst/>
              </a:prstGeom>
              <a:noFill/>
              <a:ln w="25400" algn="ctr">
                <a:solidFill>
                  <a:schemeClr val="tx1"/>
                </a:solidFill>
                <a:round/>
                <a:headEnd type="triangle" w="med" len="med"/>
                <a:tailEnd/>
              </a:ln>
              <a:extLst>
                <a:ext uri="{909E8E84-426E-40DD-AFC4-6F175D3DCCD1}">
                  <a14:hiddenFill xmlns:a14="http://schemas.microsoft.com/office/drawing/2010/main">
                    <a:noFill/>
                  </a14:hiddenFill>
                </a:ext>
              </a:extLst>
            </p:spPr>
          </p:cxnSp>
          <p:cxnSp>
            <p:nvCxnSpPr>
              <p:cNvPr id="85012" name="Straight Arrow Connector 58">
                <a:extLst>
                  <a:ext uri="{FF2B5EF4-FFF2-40B4-BE49-F238E27FC236}">
                    <a16:creationId xmlns:a16="http://schemas.microsoft.com/office/drawing/2014/main" id="{AB6916EC-2DE2-240C-E72D-495D1CF1190C}"/>
                  </a:ext>
                </a:extLst>
              </p:cNvPr>
              <p:cNvCxnSpPr>
                <a:cxnSpLocks noChangeShapeType="1"/>
              </p:cNvCxnSpPr>
              <p:nvPr/>
            </p:nvCxnSpPr>
            <p:spPr bwMode="auto">
              <a:xfrm>
                <a:off x="3770550" y="5844491"/>
                <a:ext cx="1584176" cy="0"/>
              </a:xfrm>
              <a:prstGeom prst="straightConnector1">
                <a:avLst/>
              </a:prstGeom>
              <a:noFill/>
              <a:ln w="25400" algn="ctr">
                <a:solidFill>
                  <a:schemeClr val="tx1"/>
                </a:solidFill>
                <a:round/>
                <a:headEnd type="triangle" w="med" len="med"/>
                <a:tailEnd/>
              </a:ln>
              <a:extLst>
                <a:ext uri="{909E8E84-426E-40DD-AFC4-6F175D3DCCD1}">
                  <a14:hiddenFill xmlns:a14="http://schemas.microsoft.com/office/drawing/2010/main">
                    <a:noFill/>
                  </a14:hiddenFill>
                </a:ext>
              </a:extLst>
            </p:spPr>
          </p:cxnSp>
        </p:grpSp>
        <p:sp>
          <p:nvSpPr>
            <p:cNvPr id="61" name="Multiply 60">
              <a:extLst>
                <a:ext uri="{FF2B5EF4-FFF2-40B4-BE49-F238E27FC236}">
                  <a16:creationId xmlns:a16="http://schemas.microsoft.com/office/drawing/2014/main" id="{9DD10068-5C2C-FAAC-8E94-91951534F4A6}"/>
                </a:ext>
              </a:extLst>
            </p:cNvPr>
            <p:cNvSpPr/>
            <p:nvPr/>
          </p:nvSpPr>
          <p:spPr bwMode="auto">
            <a:xfrm>
              <a:off x="5657966" y="3806978"/>
              <a:ext cx="874744" cy="874744"/>
            </a:xfrm>
            <a:prstGeom prst="mathMultiply">
              <a:avLst>
                <a:gd name="adj1" fmla="val 14809"/>
              </a:avLst>
            </a:prstGeom>
            <a:solidFill>
              <a:srgbClr val="C00000"/>
            </a:solidFill>
            <a:ln w="9525" cap="flat" cmpd="sng" algn="ctr">
              <a:noFill/>
              <a:prstDash val="solid"/>
              <a:round/>
              <a:headEnd type="none" w="med" len="med"/>
              <a:tailEnd type="none" w="med" len="med"/>
            </a:ln>
            <a:effectLst/>
            <a:scene3d>
              <a:camera prst="orthographicFront"/>
              <a:lightRig rig="threePt" dir="t"/>
            </a:scene3d>
            <a:sp3d>
              <a:bevelT w="25400" h="25400"/>
            </a:sp3d>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MY" sz="1800" b="0" i="0" u="none" strike="noStrike" kern="1200" cap="none" spc="0" normalizeH="0" baseline="0" noProof="0">
                <a:ln>
                  <a:noFill/>
                </a:ln>
                <a:solidFill>
                  <a:srgbClr val="2F2B20"/>
                </a:solidFill>
                <a:effectLst/>
                <a:uLnTx/>
                <a:uFillTx/>
                <a:latin typeface="Arial" charset="0"/>
                <a:ea typeface="+mn-ea"/>
                <a:cs typeface="Arial" panose="020B0604020202020204" pitchFamily="34" charset="0"/>
              </a:endParaRPr>
            </a:p>
          </p:txBody>
        </p:sp>
      </p:gr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60"/>
                                        </p:tgtEl>
                                        <p:attrNameLst>
                                          <p:attrName>style.visibility</p:attrName>
                                        </p:attrNameLst>
                                      </p:cBhvr>
                                      <p:to>
                                        <p:strVal val="visible"/>
                                      </p:to>
                                    </p:set>
                                    <p:animEffect transition="in" filter="barn(inVertical)">
                                      <p:cBhvr>
                                        <p:cTn id="12"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animBg="1"/>
    </p:bldLst>
  </p:timing>
</p:sld>
</file>

<file path=ppt/slides/slide3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3DC3F-0CFF-AFD2-94C6-91D2C47F77FE}"/>
              </a:ext>
            </a:extLst>
          </p:cNvPr>
          <p:cNvSpPr>
            <a:spLocks noGrp="1"/>
          </p:cNvSpPr>
          <p:nvPr>
            <p:ph type="title"/>
          </p:nvPr>
        </p:nvSpPr>
        <p:spPr>
          <a:xfrm>
            <a:off x="457200" y="0"/>
            <a:ext cx="7620000" cy="1143000"/>
          </a:xfrm>
        </p:spPr>
        <p:txBody>
          <a:bodyPr/>
          <a:lstStyle/>
          <a:p>
            <a:pPr algn="ctr">
              <a:defRPr/>
            </a:pPr>
            <a:r>
              <a:rPr lang="en-US" dirty="0"/>
              <a:t>Database Replication</a:t>
            </a:r>
            <a:endParaRPr lang="en-CA" dirty="0"/>
          </a:p>
        </p:txBody>
      </p:sp>
      <p:sp>
        <p:nvSpPr>
          <p:cNvPr id="19" name="Snip Single Corner Rectangle 18">
            <a:extLst>
              <a:ext uri="{FF2B5EF4-FFF2-40B4-BE49-F238E27FC236}">
                <a16:creationId xmlns:a16="http://schemas.microsoft.com/office/drawing/2014/main" id="{701F2DEB-D127-E265-FFC9-8C964BEDD270}"/>
              </a:ext>
            </a:extLst>
          </p:cNvPr>
          <p:cNvSpPr/>
          <p:nvPr/>
        </p:nvSpPr>
        <p:spPr>
          <a:xfrm>
            <a:off x="-36513" y="1196975"/>
            <a:ext cx="2305051" cy="401638"/>
          </a:xfrm>
          <a:prstGeom prst="snip1Rect">
            <a:avLst/>
          </a:prstGeom>
          <a:solidFill>
            <a:srgbClr val="7F7B00"/>
          </a:solidFill>
          <a:ln>
            <a:solidFill>
              <a:srgbClr val="7F7B00"/>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marR="0" lvl="0" indent="-342900" algn="just" defTabSz="914400" rtl="0" eaLnBrk="1" fontAlgn="base" latinLnBrk="0" hangingPunct="1">
              <a:lnSpc>
                <a:spcPct val="100000"/>
              </a:lnSpc>
              <a:spcBef>
                <a:spcPct val="20000"/>
              </a:spcBef>
              <a:spcAft>
                <a:spcPct val="0"/>
              </a:spcAft>
              <a:buClr>
                <a:srgbClr val="FF6600"/>
              </a:buClr>
              <a:buSzPct val="100000"/>
              <a:buFontTx/>
              <a:buNone/>
              <a:tabLst/>
              <a:defRPr/>
            </a:pPr>
            <a:r>
              <a:rPr kumimoji="0" lang="en-GB" sz="1800" b="0" i="0" u="none" strike="noStrike" kern="0" cap="none" spc="0" normalizeH="0" baseline="0" noProof="0" dirty="0">
                <a:ln>
                  <a:noFill/>
                </a:ln>
                <a:solidFill>
                  <a:srgbClr val="FFFFFF"/>
                </a:solidFill>
                <a:effectLst/>
                <a:uLnTx/>
                <a:uFillTx/>
                <a:latin typeface="Calibri"/>
                <a:ea typeface="+mn-ea"/>
                <a:cs typeface="+mn-cs"/>
              </a:rPr>
              <a:t>Improve Availability</a:t>
            </a:r>
          </a:p>
        </p:txBody>
      </p:sp>
      <p:sp>
        <p:nvSpPr>
          <p:cNvPr id="86020" name="Content Placeholder 2">
            <a:extLst>
              <a:ext uri="{FF2B5EF4-FFF2-40B4-BE49-F238E27FC236}">
                <a16:creationId xmlns:a16="http://schemas.microsoft.com/office/drawing/2014/main" id="{3EF0EB60-801C-CF7A-1D91-44B0B0AFD9CE}"/>
              </a:ext>
            </a:extLst>
          </p:cNvPr>
          <p:cNvSpPr txBox="1">
            <a:spLocks/>
          </p:cNvSpPr>
          <p:nvPr/>
        </p:nvSpPr>
        <p:spPr bwMode="auto">
          <a:xfrm>
            <a:off x="250825" y="1885950"/>
            <a:ext cx="8008938" cy="108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With one database server, if it crashes, you end up losing access to all of your data</a:t>
            </a: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4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With database replication</a:t>
            </a: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40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sp>
        <p:nvSpPr>
          <p:cNvPr id="60" name="Rectangle 59">
            <a:extLst>
              <a:ext uri="{FF2B5EF4-FFF2-40B4-BE49-F238E27FC236}">
                <a16:creationId xmlns:a16="http://schemas.microsoft.com/office/drawing/2014/main" id="{667986DE-C45E-FFCC-C7BB-FC2075DC974D}"/>
              </a:ext>
            </a:extLst>
          </p:cNvPr>
          <p:cNvSpPr>
            <a:spLocks noChangeArrowheads="1"/>
          </p:cNvSpPr>
          <p:nvPr/>
        </p:nvSpPr>
        <p:spPr bwMode="auto">
          <a:xfrm>
            <a:off x="382588" y="5873750"/>
            <a:ext cx="4981575" cy="704850"/>
          </a:xfrm>
          <a:prstGeom prst="rect">
            <a:avLst/>
          </a:prstGeom>
          <a:solidFill>
            <a:srgbClr val="FFFF00">
              <a:alpha val="30196"/>
            </a:srgbClr>
          </a:solidFill>
          <a:ln w="9525" algn="ctr">
            <a:solidFill>
              <a:srgbClr val="FFC000"/>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20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Upon slave server recovery, it would simply get its updates from the master</a:t>
            </a:r>
            <a:endParaRPr kumimoji="0" lang="en-CA" altLang="en-US" sz="2000" b="1"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endParaRPr>
          </a:p>
        </p:txBody>
      </p:sp>
      <p:grpSp>
        <p:nvGrpSpPr>
          <p:cNvPr id="3" name="Group 3">
            <a:extLst>
              <a:ext uri="{FF2B5EF4-FFF2-40B4-BE49-F238E27FC236}">
                <a16:creationId xmlns:a16="http://schemas.microsoft.com/office/drawing/2014/main" id="{00C6486F-6A29-1075-9A2B-E4E4D73F6EC2}"/>
              </a:ext>
            </a:extLst>
          </p:cNvPr>
          <p:cNvGrpSpPr>
            <a:grpSpLocks/>
          </p:cNvGrpSpPr>
          <p:nvPr/>
        </p:nvGrpSpPr>
        <p:grpSpPr bwMode="auto">
          <a:xfrm>
            <a:off x="884238" y="3703638"/>
            <a:ext cx="7466012" cy="2419350"/>
            <a:chOff x="687760" y="3789040"/>
            <a:chExt cx="7466455" cy="2418639"/>
          </a:xfrm>
        </p:grpSpPr>
        <p:sp>
          <p:nvSpPr>
            <p:cNvPr id="86025" name="TextBox 41">
              <a:extLst>
                <a:ext uri="{FF2B5EF4-FFF2-40B4-BE49-F238E27FC236}">
                  <a16:creationId xmlns:a16="http://schemas.microsoft.com/office/drawing/2014/main" id="{B96EC984-59A1-D23C-158C-70994945EF25}"/>
                </a:ext>
              </a:extLst>
            </p:cNvPr>
            <p:cNvSpPr txBox="1">
              <a:spLocks noChangeArrowheads="1"/>
            </p:cNvSpPr>
            <p:nvPr/>
          </p:nvSpPr>
          <p:spPr bwMode="auto">
            <a:xfrm>
              <a:off x="687760" y="4869160"/>
              <a:ext cx="165618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Master server</a:t>
              </a:r>
            </a:p>
          </p:txBody>
        </p:sp>
        <p:pic>
          <p:nvPicPr>
            <p:cNvPr id="86026" name="Picture 44">
              <a:extLst>
                <a:ext uri="{FF2B5EF4-FFF2-40B4-BE49-F238E27FC236}">
                  <a16:creationId xmlns:a16="http://schemas.microsoft.com/office/drawing/2014/main" id="{2745C5B1-A40C-BB46-E7DF-D60B268D642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426734" y="5127559"/>
              <a:ext cx="1346750" cy="1080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6027" name="Picture 47">
              <a:extLst>
                <a:ext uri="{FF2B5EF4-FFF2-40B4-BE49-F238E27FC236}">
                  <a16:creationId xmlns:a16="http://schemas.microsoft.com/office/drawing/2014/main" id="{44C64290-82E2-D6BD-5502-D2C4AB9D599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453306" y="3789040"/>
              <a:ext cx="1346750" cy="1080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6028" name="Picture 50">
              <a:extLst>
                <a:ext uri="{FF2B5EF4-FFF2-40B4-BE49-F238E27FC236}">
                  <a16:creationId xmlns:a16="http://schemas.microsoft.com/office/drawing/2014/main" id="{747910C1-436F-BA72-AAA3-1E6D0A090F6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415952" y="4517504"/>
              <a:ext cx="1346750" cy="1080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6029" name="TextBox 51">
              <a:extLst>
                <a:ext uri="{FF2B5EF4-FFF2-40B4-BE49-F238E27FC236}">
                  <a16:creationId xmlns:a16="http://schemas.microsoft.com/office/drawing/2014/main" id="{90C3DD82-16AA-C6D3-BA2D-88404ADD01CA}"/>
                </a:ext>
              </a:extLst>
            </p:cNvPr>
            <p:cNvSpPr txBox="1">
              <a:spLocks noChangeArrowheads="1"/>
            </p:cNvSpPr>
            <p:nvPr/>
          </p:nvSpPr>
          <p:spPr bwMode="auto">
            <a:xfrm>
              <a:off x="6402530" y="3995393"/>
              <a:ext cx="175168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Slave server</a:t>
              </a:r>
            </a:p>
          </p:txBody>
        </p:sp>
        <p:sp>
          <p:nvSpPr>
            <p:cNvPr id="86030" name="TextBox 52">
              <a:extLst>
                <a:ext uri="{FF2B5EF4-FFF2-40B4-BE49-F238E27FC236}">
                  <a16:creationId xmlns:a16="http://schemas.microsoft.com/office/drawing/2014/main" id="{7E0E329B-5836-DC82-C0CF-C0BE88ABF99D}"/>
                </a:ext>
              </a:extLst>
            </p:cNvPr>
            <p:cNvSpPr txBox="1">
              <a:spLocks noChangeArrowheads="1"/>
            </p:cNvSpPr>
            <p:nvPr/>
          </p:nvSpPr>
          <p:spPr bwMode="auto">
            <a:xfrm>
              <a:off x="6408583" y="5388432"/>
              <a:ext cx="165618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Slave server</a:t>
              </a:r>
            </a:p>
          </p:txBody>
        </p:sp>
        <p:cxnSp>
          <p:nvCxnSpPr>
            <p:cNvPr id="86031" name="Straight Arrow Connector 53">
              <a:extLst>
                <a:ext uri="{FF2B5EF4-FFF2-40B4-BE49-F238E27FC236}">
                  <a16:creationId xmlns:a16="http://schemas.microsoft.com/office/drawing/2014/main" id="{18958331-53B6-06D9-1575-299E443E6BAA}"/>
                </a:ext>
              </a:extLst>
            </p:cNvPr>
            <p:cNvCxnSpPr>
              <a:cxnSpLocks noChangeShapeType="1"/>
            </p:cNvCxnSpPr>
            <p:nvPr/>
          </p:nvCxnSpPr>
          <p:spPr bwMode="auto">
            <a:xfrm>
              <a:off x="771643" y="5238492"/>
              <a:ext cx="1584176" cy="0"/>
            </a:xfrm>
            <a:prstGeom prst="straightConnector1">
              <a:avLst/>
            </a:prstGeom>
            <a:noFill/>
            <a:ln w="2540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86032" name="Straight Arrow Connector 54">
              <a:extLst>
                <a:ext uri="{FF2B5EF4-FFF2-40B4-BE49-F238E27FC236}">
                  <a16:creationId xmlns:a16="http://schemas.microsoft.com/office/drawing/2014/main" id="{6EBACD6E-948F-C9B3-5F8E-C230B1988780}"/>
                </a:ext>
              </a:extLst>
            </p:cNvPr>
            <p:cNvCxnSpPr>
              <a:cxnSpLocks noChangeShapeType="1"/>
            </p:cNvCxnSpPr>
            <p:nvPr/>
          </p:nvCxnSpPr>
          <p:spPr bwMode="auto">
            <a:xfrm>
              <a:off x="3382484" y="5127559"/>
              <a:ext cx="1972242" cy="590670"/>
            </a:xfrm>
            <a:prstGeom prst="straightConnector1">
              <a:avLst/>
            </a:prstGeom>
            <a:noFill/>
            <a:ln w="2540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86033" name="Straight Arrow Connector 56">
              <a:extLst>
                <a:ext uri="{FF2B5EF4-FFF2-40B4-BE49-F238E27FC236}">
                  <a16:creationId xmlns:a16="http://schemas.microsoft.com/office/drawing/2014/main" id="{1E015BBA-DA92-932B-757A-D3C1A28A0B03}"/>
                </a:ext>
              </a:extLst>
            </p:cNvPr>
            <p:cNvCxnSpPr>
              <a:cxnSpLocks noChangeShapeType="1"/>
            </p:cNvCxnSpPr>
            <p:nvPr/>
          </p:nvCxnSpPr>
          <p:spPr bwMode="auto">
            <a:xfrm>
              <a:off x="771643" y="4892910"/>
              <a:ext cx="1584176" cy="0"/>
            </a:xfrm>
            <a:prstGeom prst="straightConnector1">
              <a:avLst/>
            </a:prstGeom>
            <a:noFill/>
            <a:ln w="25400" algn="ctr">
              <a:solidFill>
                <a:schemeClr val="tx1"/>
              </a:solidFill>
              <a:round/>
              <a:headEnd type="triangle" w="med" len="med"/>
              <a:tailEnd/>
            </a:ln>
            <a:extLst>
              <a:ext uri="{909E8E84-426E-40DD-AFC4-6F175D3DCCD1}">
                <a14:hiddenFill xmlns:a14="http://schemas.microsoft.com/office/drawing/2010/main">
                  <a:noFill/>
                </a14:hiddenFill>
              </a:ext>
            </a:extLst>
          </p:spPr>
        </p:cxnSp>
        <p:cxnSp>
          <p:nvCxnSpPr>
            <p:cNvPr id="86034" name="Straight Arrow Connector 58">
              <a:extLst>
                <a:ext uri="{FF2B5EF4-FFF2-40B4-BE49-F238E27FC236}">
                  <a16:creationId xmlns:a16="http://schemas.microsoft.com/office/drawing/2014/main" id="{5ED7ABC0-AEA0-C28D-0210-BF6F2426A746}"/>
                </a:ext>
              </a:extLst>
            </p:cNvPr>
            <p:cNvCxnSpPr>
              <a:cxnSpLocks noChangeShapeType="1"/>
            </p:cNvCxnSpPr>
            <p:nvPr/>
          </p:nvCxnSpPr>
          <p:spPr bwMode="auto">
            <a:xfrm>
              <a:off x="3770550" y="5844491"/>
              <a:ext cx="1584176" cy="0"/>
            </a:xfrm>
            <a:prstGeom prst="straightConnector1">
              <a:avLst/>
            </a:prstGeom>
            <a:noFill/>
            <a:ln w="25400" algn="ctr">
              <a:solidFill>
                <a:schemeClr val="tx1"/>
              </a:solidFill>
              <a:round/>
              <a:headEnd type="triangle" w="med" len="med"/>
              <a:tailEnd/>
            </a:ln>
            <a:extLst>
              <a:ext uri="{909E8E84-426E-40DD-AFC4-6F175D3DCCD1}">
                <a14:hiddenFill xmlns:a14="http://schemas.microsoft.com/office/drawing/2010/main">
                  <a:noFill/>
                </a14:hiddenFill>
              </a:ext>
            </a:extLst>
          </p:spPr>
        </p:cxnSp>
      </p:grpSp>
      <p:cxnSp>
        <p:nvCxnSpPr>
          <p:cNvPr id="37" name="Straight Arrow Connector 36">
            <a:extLst>
              <a:ext uri="{FF2B5EF4-FFF2-40B4-BE49-F238E27FC236}">
                <a16:creationId xmlns:a16="http://schemas.microsoft.com/office/drawing/2014/main" id="{57ABE7A1-3479-B307-3083-759DFE5F8E89}"/>
              </a:ext>
            </a:extLst>
          </p:cNvPr>
          <p:cNvCxnSpPr>
            <a:cxnSpLocks noChangeShapeType="1"/>
          </p:cNvCxnSpPr>
          <p:nvPr/>
        </p:nvCxnSpPr>
        <p:spPr bwMode="auto">
          <a:xfrm flipV="1">
            <a:off x="3582988" y="4244975"/>
            <a:ext cx="1966912" cy="709613"/>
          </a:xfrm>
          <a:prstGeom prst="straightConnector1">
            <a:avLst/>
          </a:prstGeom>
          <a:noFill/>
          <a:ln w="2540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8" name="Straight Arrow Connector 37">
            <a:extLst>
              <a:ext uri="{FF2B5EF4-FFF2-40B4-BE49-F238E27FC236}">
                <a16:creationId xmlns:a16="http://schemas.microsoft.com/office/drawing/2014/main" id="{41A0847E-34CF-0E71-26B4-90C62033A19F}"/>
              </a:ext>
            </a:extLst>
          </p:cNvPr>
          <p:cNvCxnSpPr>
            <a:cxnSpLocks noChangeShapeType="1"/>
          </p:cNvCxnSpPr>
          <p:nvPr/>
        </p:nvCxnSpPr>
        <p:spPr bwMode="auto">
          <a:xfrm>
            <a:off x="3959225" y="4095750"/>
            <a:ext cx="1582738" cy="0"/>
          </a:xfrm>
          <a:prstGeom prst="straightConnector1">
            <a:avLst/>
          </a:prstGeom>
          <a:noFill/>
          <a:ln w="25400" algn="ctr">
            <a:solidFill>
              <a:schemeClr val="tx1"/>
            </a:solidFill>
            <a:round/>
            <a:headEnd type="triangle" w="med" len="med"/>
            <a:tailEnd/>
          </a:ln>
          <a:extLst>
            <a:ext uri="{909E8E84-426E-40DD-AFC4-6F175D3DCCD1}">
              <a14:hiddenFill xmlns:a14="http://schemas.microsoft.com/office/drawing/2010/main">
                <a:noFill/>
              </a14:hiddenFill>
            </a:ext>
          </a:extLst>
        </p:spPr>
      </p:cxn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par>
                          <p:cTn id="8" fill="hold" nodeType="afterGroup">
                            <p:stCondLst>
                              <p:cond delay="500"/>
                            </p:stCondLst>
                            <p:childTnLst>
                              <p:par>
                                <p:cTn id="9" presetID="16" presetClass="entr" presetSubtype="21" fill="hold" grpId="0" nodeType="afterEffect">
                                  <p:stCondLst>
                                    <p:cond delay="0"/>
                                  </p:stCondLst>
                                  <p:childTnLst>
                                    <p:set>
                                      <p:cBhvr>
                                        <p:cTn id="10" dur="1" fill="hold">
                                          <p:stCondLst>
                                            <p:cond delay="0"/>
                                          </p:stCondLst>
                                        </p:cTn>
                                        <p:tgtEl>
                                          <p:spTgt spid="60"/>
                                        </p:tgtEl>
                                        <p:attrNameLst>
                                          <p:attrName>style.visibility</p:attrName>
                                        </p:attrNameLst>
                                      </p:cBhvr>
                                      <p:to>
                                        <p:strVal val="visible"/>
                                      </p:to>
                                    </p:set>
                                    <p:animEffect transition="in" filter="barn(inVertical)">
                                      <p:cBhvr>
                                        <p:cTn id="11" dur="500"/>
                                        <p:tgtEl>
                                          <p:spTgt spid="60"/>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4" fill="hold" nodeType="clickEffect">
                                  <p:stCondLst>
                                    <p:cond delay="0"/>
                                  </p:stCondLst>
                                  <p:childTnLst>
                                    <p:set>
                                      <p:cBhvr>
                                        <p:cTn id="15" dur="1" fill="hold">
                                          <p:stCondLst>
                                            <p:cond delay="0"/>
                                          </p:stCondLst>
                                        </p:cTn>
                                        <p:tgtEl>
                                          <p:spTgt spid="37"/>
                                        </p:tgtEl>
                                        <p:attrNameLst>
                                          <p:attrName>style.visibility</p:attrName>
                                        </p:attrNameLst>
                                      </p:cBhvr>
                                      <p:to>
                                        <p:strVal val="visible"/>
                                      </p:to>
                                    </p:set>
                                    <p:animEffect transition="in" filter="wipe(down)">
                                      <p:cBhvr>
                                        <p:cTn id="16" dur="500"/>
                                        <p:tgtEl>
                                          <p:spTgt spid="37"/>
                                        </p:tgtEl>
                                      </p:cBhvr>
                                    </p:animEffect>
                                  </p:childTnLst>
                                </p:cTn>
                              </p:par>
                            </p:childTnLst>
                          </p:cTn>
                        </p:par>
                        <p:par>
                          <p:cTn id="17" fill="hold" nodeType="afterGroup">
                            <p:stCondLst>
                              <p:cond delay="500"/>
                            </p:stCondLst>
                            <p:childTnLst>
                              <p:par>
                                <p:cTn id="18" presetID="22" presetClass="entr" presetSubtype="2" fill="hold" nodeType="afterEffect">
                                  <p:stCondLst>
                                    <p:cond delay="0"/>
                                  </p:stCondLst>
                                  <p:childTnLst>
                                    <p:set>
                                      <p:cBhvr>
                                        <p:cTn id="19" dur="1" fill="hold">
                                          <p:stCondLst>
                                            <p:cond delay="0"/>
                                          </p:stCondLst>
                                        </p:cTn>
                                        <p:tgtEl>
                                          <p:spTgt spid="38"/>
                                        </p:tgtEl>
                                        <p:attrNameLst>
                                          <p:attrName>style.visibility</p:attrName>
                                        </p:attrNameLst>
                                      </p:cBhvr>
                                      <p:to>
                                        <p:strVal val="visible"/>
                                      </p:to>
                                    </p:set>
                                    <p:animEffect transition="in" filter="wipe(right)">
                                      <p:cBhvr>
                                        <p:cTn id="20"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animBg="1"/>
    </p:bldLst>
  </p:timing>
</p:sld>
</file>

<file path=ppt/slides/slide3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9AC915-E090-E074-62B6-DB1D27841983}"/>
              </a:ext>
            </a:extLst>
          </p:cNvPr>
          <p:cNvSpPr>
            <a:spLocks noGrp="1"/>
          </p:cNvSpPr>
          <p:nvPr>
            <p:ph type="title"/>
          </p:nvPr>
        </p:nvSpPr>
        <p:spPr>
          <a:xfrm>
            <a:off x="457200" y="0"/>
            <a:ext cx="7620000" cy="1143000"/>
          </a:xfrm>
        </p:spPr>
        <p:txBody>
          <a:bodyPr/>
          <a:lstStyle/>
          <a:p>
            <a:pPr algn="ctr">
              <a:defRPr/>
            </a:pPr>
            <a:r>
              <a:rPr lang="en-US" dirty="0"/>
              <a:t>Database Replication</a:t>
            </a:r>
            <a:endParaRPr lang="en-CA" dirty="0"/>
          </a:p>
        </p:txBody>
      </p:sp>
      <p:sp>
        <p:nvSpPr>
          <p:cNvPr id="19" name="Snip Single Corner Rectangle 18">
            <a:extLst>
              <a:ext uri="{FF2B5EF4-FFF2-40B4-BE49-F238E27FC236}">
                <a16:creationId xmlns:a16="http://schemas.microsoft.com/office/drawing/2014/main" id="{94A05482-2812-E8F0-54D2-EA1051A6770D}"/>
              </a:ext>
            </a:extLst>
          </p:cNvPr>
          <p:cNvSpPr/>
          <p:nvPr/>
        </p:nvSpPr>
        <p:spPr>
          <a:xfrm>
            <a:off x="-36513" y="1196975"/>
            <a:ext cx="2305051" cy="401638"/>
          </a:xfrm>
          <a:prstGeom prst="snip1Rect">
            <a:avLst/>
          </a:prstGeom>
          <a:solidFill>
            <a:srgbClr val="7F7B00"/>
          </a:solidFill>
          <a:ln>
            <a:solidFill>
              <a:srgbClr val="7F7B00"/>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marR="0" lvl="0" indent="-342900" algn="just" defTabSz="914400" rtl="0" eaLnBrk="1" fontAlgn="base" latinLnBrk="0" hangingPunct="1">
              <a:lnSpc>
                <a:spcPct val="100000"/>
              </a:lnSpc>
              <a:spcBef>
                <a:spcPct val="20000"/>
              </a:spcBef>
              <a:spcAft>
                <a:spcPct val="0"/>
              </a:spcAft>
              <a:buClr>
                <a:srgbClr val="FF6600"/>
              </a:buClr>
              <a:buSzPct val="100000"/>
              <a:buFontTx/>
              <a:buNone/>
              <a:tabLst/>
              <a:defRPr/>
            </a:pPr>
            <a:r>
              <a:rPr kumimoji="0" lang="en-GB" sz="1800" b="0" i="0" u="none" strike="noStrike" kern="0" cap="none" spc="0" normalizeH="0" baseline="0" noProof="0" dirty="0">
                <a:ln>
                  <a:noFill/>
                </a:ln>
                <a:solidFill>
                  <a:srgbClr val="FFFFFF"/>
                </a:solidFill>
                <a:effectLst/>
                <a:uLnTx/>
                <a:uFillTx/>
                <a:latin typeface="Calibri"/>
                <a:ea typeface="+mn-ea"/>
                <a:cs typeface="+mn-cs"/>
              </a:rPr>
              <a:t>Improve Availability</a:t>
            </a:r>
          </a:p>
        </p:txBody>
      </p:sp>
      <p:sp>
        <p:nvSpPr>
          <p:cNvPr id="87044" name="Content Placeholder 2">
            <a:extLst>
              <a:ext uri="{FF2B5EF4-FFF2-40B4-BE49-F238E27FC236}">
                <a16:creationId xmlns:a16="http://schemas.microsoft.com/office/drawing/2014/main" id="{7CB34425-A3C2-1B35-C0B3-61280347EE91}"/>
              </a:ext>
            </a:extLst>
          </p:cNvPr>
          <p:cNvSpPr txBox="1">
            <a:spLocks/>
          </p:cNvSpPr>
          <p:nvPr/>
        </p:nvSpPr>
        <p:spPr bwMode="auto">
          <a:xfrm>
            <a:off x="250825" y="1885950"/>
            <a:ext cx="8004175" cy="108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With one database server, if it crashes, you end up losing access to all of your data</a:t>
            </a: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4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With database replication</a:t>
            </a: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40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grpSp>
        <p:nvGrpSpPr>
          <p:cNvPr id="3" name="Group 3">
            <a:extLst>
              <a:ext uri="{FF2B5EF4-FFF2-40B4-BE49-F238E27FC236}">
                <a16:creationId xmlns:a16="http://schemas.microsoft.com/office/drawing/2014/main" id="{B5CA38A8-9515-48C2-DB1A-8BCF7E66C750}"/>
              </a:ext>
            </a:extLst>
          </p:cNvPr>
          <p:cNvGrpSpPr>
            <a:grpSpLocks/>
          </p:cNvGrpSpPr>
          <p:nvPr/>
        </p:nvGrpSpPr>
        <p:grpSpPr bwMode="auto">
          <a:xfrm>
            <a:off x="884238" y="3703638"/>
            <a:ext cx="7375525" cy="2419350"/>
            <a:chOff x="687760" y="3789040"/>
            <a:chExt cx="7377007" cy="2418639"/>
          </a:xfrm>
        </p:grpSpPr>
        <p:sp>
          <p:nvSpPr>
            <p:cNvPr id="87050" name="TextBox 41">
              <a:extLst>
                <a:ext uri="{FF2B5EF4-FFF2-40B4-BE49-F238E27FC236}">
                  <a16:creationId xmlns:a16="http://schemas.microsoft.com/office/drawing/2014/main" id="{C6CEB4F1-ACD6-FC90-7CEB-7D6C66F50D11}"/>
                </a:ext>
              </a:extLst>
            </p:cNvPr>
            <p:cNvSpPr txBox="1">
              <a:spLocks noChangeArrowheads="1"/>
            </p:cNvSpPr>
            <p:nvPr/>
          </p:nvSpPr>
          <p:spPr bwMode="auto">
            <a:xfrm>
              <a:off x="687760" y="4869160"/>
              <a:ext cx="165618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Master server</a:t>
              </a:r>
            </a:p>
          </p:txBody>
        </p:sp>
        <p:pic>
          <p:nvPicPr>
            <p:cNvPr id="87051" name="Picture 44">
              <a:extLst>
                <a:ext uri="{FF2B5EF4-FFF2-40B4-BE49-F238E27FC236}">
                  <a16:creationId xmlns:a16="http://schemas.microsoft.com/office/drawing/2014/main" id="{BF5A0BDE-7BB5-87BE-DA99-E3C9A0C96B2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426734" y="5127559"/>
              <a:ext cx="1346750" cy="1080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7052" name="Picture 47">
              <a:extLst>
                <a:ext uri="{FF2B5EF4-FFF2-40B4-BE49-F238E27FC236}">
                  <a16:creationId xmlns:a16="http://schemas.microsoft.com/office/drawing/2014/main" id="{344A70DE-0988-C287-BA4D-F90E4733E60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453306" y="3789040"/>
              <a:ext cx="1346750" cy="1080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7053" name="Picture 50">
              <a:extLst>
                <a:ext uri="{FF2B5EF4-FFF2-40B4-BE49-F238E27FC236}">
                  <a16:creationId xmlns:a16="http://schemas.microsoft.com/office/drawing/2014/main" id="{3515E9E9-E803-21D9-B949-F3DB361CCD4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415952" y="4517504"/>
              <a:ext cx="1346750" cy="1080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7054" name="TextBox 51">
              <a:extLst>
                <a:ext uri="{FF2B5EF4-FFF2-40B4-BE49-F238E27FC236}">
                  <a16:creationId xmlns:a16="http://schemas.microsoft.com/office/drawing/2014/main" id="{F478F9EE-76A2-FCBC-4948-509E4E67DA98}"/>
                </a:ext>
              </a:extLst>
            </p:cNvPr>
            <p:cNvSpPr txBox="1">
              <a:spLocks noChangeArrowheads="1"/>
            </p:cNvSpPr>
            <p:nvPr/>
          </p:nvSpPr>
          <p:spPr bwMode="auto">
            <a:xfrm>
              <a:off x="6402531" y="3995393"/>
              <a:ext cx="165618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Slave server</a:t>
              </a:r>
            </a:p>
          </p:txBody>
        </p:sp>
        <p:sp>
          <p:nvSpPr>
            <p:cNvPr id="87055" name="TextBox 52">
              <a:extLst>
                <a:ext uri="{FF2B5EF4-FFF2-40B4-BE49-F238E27FC236}">
                  <a16:creationId xmlns:a16="http://schemas.microsoft.com/office/drawing/2014/main" id="{21622CC5-B441-B0E0-7753-9180AA37FA8C}"/>
                </a:ext>
              </a:extLst>
            </p:cNvPr>
            <p:cNvSpPr txBox="1">
              <a:spLocks noChangeArrowheads="1"/>
            </p:cNvSpPr>
            <p:nvPr/>
          </p:nvSpPr>
          <p:spPr bwMode="auto">
            <a:xfrm>
              <a:off x="6408583" y="5388432"/>
              <a:ext cx="165618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Slave server</a:t>
              </a:r>
            </a:p>
          </p:txBody>
        </p:sp>
        <p:cxnSp>
          <p:nvCxnSpPr>
            <p:cNvPr id="87056" name="Straight Arrow Connector 53">
              <a:extLst>
                <a:ext uri="{FF2B5EF4-FFF2-40B4-BE49-F238E27FC236}">
                  <a16:creationId xmlns:a16="http://schemas.microsoft.com/office/drawing/2014/main" id="{25239224-16D6-17EF-370A-8FC5763EDE46}"/>
                </a:ext>
              </a:extLst>
            </p:cNvPr>
            <p:cNvCxnSpPr>
              <a:cxnSpLocks noChangeShapeType="1"/>
            </p:cNvCxnSpPr>
            <p:nvPr/>
          </p:nvCxnSpPr>
          <p:spPr bwMode="auto">
            <a:xfrm>
              <a:off x="771643" y="5238492"/>
              <a:ext cx="1584176" cy="0"/>
            </a:xfrm>
            <a:prstGeom prst="straightConnector1">
              <a:avLst/>
            </a:prstGeom>
            <a:noFill/>
            <a:ln w="2540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87057" name="Straight Arrow Connector 54">
              <a:extLst>
                <a:ext uri="{FF2B5EF4-FFF2-40B4-BE49-F238E27FC236}">
                  <a16:creationId xmlns:a16="http://schemas.microsoft.com/office/drawing/2014/main" id="{EB8F9FB7-5BA4-8524-0147-628E211ABE42}"/>
                </a:ext>
              </a:extLst>
            </p:cNvPr>
            <p:cNvCxnSpPr>
              <a:cxnSpLocks noChangeShapeType="1"/>
            </p:cNvCxnSpPr>
            <p:nvPr/>
          </p:nvCxnSpPr>
          <p:spPr bwMode="auto">
            <a:xfrm>
              <a:off x="3382484" y="5127559"/>
              <a:ext cx="1972242" cy="590670"/>
            </a:xfrm>
            <a:prstGeom prst="straightConnector1">
              <a:avLst/>
            </a:prstGeom>
            <a:noFill/>
            <a:ln w="2540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87058" name="Straight Arrow Connector 55">
              <a:extLst>
                <a:ext uri="{FF2B5EF4-FFF2-40B4-BE49-F238E27FC236}">
                  <a16:creationId xmlns:a16="http://schemas.microsoft.com/office/drawing/2014/main" id="{4B416C2F-F7D2-C542-D1E9-E6458BC9B1A5}"/>
                </a:ext>
              </a:extLst>
            </p:cNvPr>
            <p:cNvCxnSpPr>
              <a:cxnSpLocks noChangeShapeType="1"/>
            </p:cNvCxnSpPr>
            <p:nvPr/>
          </p:nvCxnSpPr>
          <p:spPr bwMode="auto">
            <a:xfrm flipV="1">
              <a:off x="3387555" y="4329100"/>
              <a:ext cx="1967171" cy="710768"/>
            </a:xfrm>
            <a:prstGeom prst="straightConnector1">
              <a:avLst/>
            </a:prstGeom>
            <a:noFill/>
            <a:ln w="2540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87059" name="Straight Arrow Connector 56">
              <a:extLst>
                <a:ext uri="{FF2B5EF4-FFF2-40B4-BE49-F238E27FC236}">
                  <a16:creationId xmlns:a16="http://schemas.microsoft.com/office/drawing/2014/main" id="{B50114E8-7F0B-9262-DC03-08A6F8336F15}"/>
                </a:ext>
              </a:extLst>
            </p:cNvPr>
            <p:cNvCxnSpPr>
              <a:cxnSpLocks noChangeShapeType="1"/>
            </p:cNvCxnSpPr>
            <p:nvPr/>
          </p:nvCxnSpPr>
          <p:spPr bwMode="auto">
            <a:xfrm>
              <a:off x="771643" y="4892910"/>
              <a:ext cx="1584176" cy="0"/>
            </a:xfrm>
            <a:prstGeom prst="straightConnector1">
              <a:avLst/>
            </a:prstGeom>
            <a:noFill/>
            <a:ln w="25400" algn="ctr">
              <a:solidFill>
                <a:schemeClr val="tx1"/>
              </a:solidFill>
              <a:round/>
              <a:headEnd type="triangle" w="med" len="med"/>
              <a:tailEnd/>
            </a:ln>
            <a:extLst>
              <a:ext uri="{909E8E84-426E-40DD-AFC4-6F175D3DCCD1}">
                <a14:hiddenFill xmlns:a14="http://schemas.microsoft.com/office/drawing/2010/main">
                  <a:noFill/>
                </a14:hiddenFill>
              </a:ext>
            </a:extLst>
          </p:spPr>
        </p:cxnSp>
        <p:cxnSp>
          <p:nvCxnSpPr>
            <p:cNvPr id="87060" name="Straight Arrow Connector 57">
              <a:extLst>
                <a:ext uri="{FF2B5EF4-FFF2-40B4-BE49-F238E27FC236}">
                  <a16:creationId xmlns:a16="http://schemas.microsoft.com/office/drawing/2014/main" id="{696F40ED-7130-5ED5-5DFB-A4DE29EAA03B}"/>
                </a:ext>
              </a:extLst>
            </p:cNvPr>
            <p:cNvCxnSpPr>
              <a:cxnSpLocks noChangeShapeType="1"/>
            </p:cNvCxnSpPr>
            <p:nvPr/>
          </p:nvCxnSpPr>
          <p:spPr bwMode="auto">
            <a:xfrm>
              <a:off x="3762702" y="4180403"/>
              <a:ext cx="1584176" cy="0"/>
            </a:xfrm>
            <a:prstGeom prst="straightConnector1">
              <a:avLst/>
            </a:prstGeom>
            <a:noFill/>
            <a:ln w="25400" algn="ctr">
              <a:solidFill>
                <a:schemeClr val="tx1"/>
              </a:solidFill>
              <a:round/>
              <a:headEnd type="triangle" w="med" len="med"/>
              <a:tailEnd/>
            </a:ln>
            <a:extLst>
              <a:ext uri="{909E8E84-426E-40DD-AFC4-6F175D3DCCD1}">
                <a14:hiddenFill xmlns:a14="http://schemas.microsoft.com/office/drawing/2010/main">
                  <a:noFill/>
                </a14:hiddenFill>
              </a:ext>
            </a:extLst>
          </p:spPr>
        </p:cxnSp>
        <p:cxnSp>
          <p:nvCxnSpPr>
            <p:cNvPr id="87061" name="Straight Arrow Connector 58">
              <a:extLst>
                <a:ext uri="{FF2B5EF4-FFF2-40B4-BE49-F238E27FC236}">
                  <a16:creationId xmlns:a16="http://schemas.microsoft.com/office/drawing/2014/main" id="{7C4AE171-4E50-F098-7A27-4E690A0CCA24}"/>
                </a:ext>
              </a:extLst>
            </p:cNvPr>
            <p:cNvCxnSpPr>
              <a:cxnSpLocks noChangeShapeType="1"/>
            </p:cNvCxnSpPr>
            <p:nvPr/>
          </p:nvCxnSpPr>
          <p:spPr bwMode="auto">
            <a:xfrm>
              <a:off x="3770550" y="5844491"/>
              <a:ext cx="1584176" cy="0"/>
            </a:xfrm>
            <a:prstGeom prst="straightConnector1">
              <a:avLst/>
            </a:prstGeom>
            <a:noFill/>
            <a:ln w="25400" algn="ctr">
              <a:solidFill>
                <a:schemeClr val="tx1"/>
              </a:solidFill>
              <a:round/>
              <a:headEnd type="triangle" w="med" len="med"/>
              <a:tailEnd/>
            </a:ln>
            <a:extLst>
              <a:ext uri="{909E8E84-426E-40DD-AFC4-6F175D3DCCD1}">
                <a14:hiddenFill xmlns:a14="http://schemas.microsoft.com/office/drawing/2010/main">
                  <a:noFill/>
                </a14:hiddenFill>
              </a:ext>
            </a:extLst>
          </p:spPr>
        </p:cxnSp>
      </p:grpSp>
      <p:sp>
        <p:nvSpPr>
          <p:cNvPr id="60" name="Rectangle 59">
            <a:extLst>
              <a:ext uri="{FF2B5EF4-FFF2-40B4-BE49-F238E27FC236}">
                <a16:creationId xmlns:a16="http://schemas.microsoft.com/office/drawing/2014/main" id="{5D6D2FE9-0379-CDFB-1EBB-AC0E2A461545}"/>
              </a:ext>
            </a:extLst>
          </p:cNvPr>
          <p:cNvSpPr>
            <a:spLocks noChangeArrowheads="1"/>
          </p:cNvSpPr>
          <p:nvPr/>
        </p:nvSpPr>
        <p:spPr bwMode="auto">
          <a:xfrm>
            <a:off x="382588" y="5897563"/>
            <a:ext cx="3582987" cy="392112"/>
          </a:xfrm>
          <a:prstGeom prst="rect">
            <a:avLst/>
          </a:prstGeom>
          <a:solidFill>
            <a:srgbClr val="FFFF00">
              <a:alpha val="30196"/>
            </a:srgbClr>
          </a:solidFill>
          <a:ln w="9525" algn="ctr">
            <a:solidFill>
              <a:srgbClr val="FFC000"/>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20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If the master server crashes</a:t>
            </a:r>
            <a:endParaRPr kumimoji="0" lang="en-CA" altLang="en-US" sz="2000" b="1"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endParaRPr>
          </a:p>
        </p:txBody>
      </p:sp>
      <p:sp>
        <p:nvSpPr>
          <p:cNvPr id="61" name="Multiply 60">
            <a:extLst>
              <a:ext uri="{FF2B5EF4-FFF2-40B4-BE49-F238E27FC236}">
                <a16:creationId xmlns:a16="http://schemas.microsoft.com/office/drawing/2014/main" id="{651E48CC-8149-DEBF-D1E6-F1987616D9BD}"/>
              </a:ext>
            </a:extLst>
          </p:cNvPr>
          <p:cNvSpPr/>
          <p:nvPr/>
        </p:nvSpPr>
        <p:spPr bwMode="auto">
          <a:xfrm>
            <a:off x="2665394" y="4561412"/>
            <a:ext cx="874744" cy="874744"/>
          </a:xfrm>
          <a:prstGeom prst="mathMultiply">
            <a:avLst>
              <a:gd name="adj1" fmla="val 14809"/>
            </a:avLst>
          </a:prstGeom>
          <a:solidFill>
            <a:srgbClr val="C00000"/>
          </a:solidFill>
          <a:ln w="9525" cap="flat" cmpd="sng" algn="ctr">
            <a:noFill/>
            <a:prstDash val="solid"/>
            <a:round/>
            <a:headEnd type="none" w="med" len="med"/>
            <a:tailEnd type="none" w="med" len="med"/>
          </a:ln>
          <a:effectLst/>
          <a:scene3d>
            <a:camera prst="orthographicFront"/>
            <a:lightRig rig="threePt" dir="t"/>
          </a:scene3d>
          <a:sp3d>
            <a:bevelT w="25400" h="25400"/>
          </a:sp3d>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MY" sz="1800" b="0" i="0" u="none" strike="noStrike" kern="1200" cap="none" spc="0" normalizeH="0" baseline="0" noProof="0">
              <a:ln>
                <a:noFill/>
              </a:ln>
              <a:solidFill>
                <a:srgbClr val="2F2B20"/>
              </a:solidFill>
              <a:effectLst/>
              <a:uLnTx/>
              <a:uFillTx/>
              <a:latin typeface="Arial" charset="0"/>
              <a:ea typeface="+mn-ea"/>
              <a:cs typeface="Arial" panose="020B0604020202020204" pitchFamily="3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60"/>
                                        </p:tgtEl>
                                        <p:attrNameLst>
                                          <p:attrName>style.visibility</p:attrName>
                                        </p:attrNameLst>
                                      </p:cBhvr>
                                      <p:to>
                                        <p:strVal val="visible"/>
                                      </p:to>
                                    </p:set>
                                    <p:animEffect transition="in" filter="barn(inVertical)">
                                      <p:cBhvr>
                                        <p:cTn id="12" dur="500"/>
                                        <p:tgtEl>
                                          <p:spTgt spid="60"/>
                                        </p:tgtEl>
                                      </p:cBhvr>
                                    </p:animEffect>
                                  </p:childTnLst>
                                </p:cTn>
                              </p:par>
                            </p:childTnLst>
                          </p:cTn>
                        </p:par>
                        <p:par>
                          <p:cTn id="13" fill="hold" nodeType="afterGroup">
                            <p:stCondLst>
                              <p:cond delay="500"/>
                            </p:stCondLst>
                            <p:childTnLst>
                              <p:par>
                                <p:cTn id="14" presetID="10" presetClass="entr" presetSubtype="0" fill="hold" nodeType="afterEffect">
                                  <p:stCondLst>
                                    <p:cond delay="0"/>
                                  </p:stCondLst>
                                  <p:childTnLst>
                                    <p:set>
                                      <p:cBhvr>
                                        <p:cTn id="15" dur="1" fill="hold">
                                          <p:stCondLst>
                                            <p:cond delay="0"/>
                                          </p:stCondLst>
                                        </p:cTn>
                                        <p:tgtEl>
                                          <p:spTgt spid="61"/>
                                        </p:tgtEl>
                                        <p:attrNameLst>
                                          <p:attrName>style.visibility</p:attrName>
                                        </p:attrNameLst>
                                      </p:cBhvr>
                                      <p:to>
                                        <p:strVal val="visible"/>
                                      </p:to>
                                    </p:set>
                                    <p:animEffect transition="in" filter="fade">
                                      <p:cBhvr>
                                        <p:cTn id="16" dur="5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animBg="1"/>
    </p:bldLst>
  </p:timing>
</p:sld>
</file>

<file path=ppt/slides/slide3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8CEDF3-740D-B583-EC37-698029033D34}"/>
              </a:ext>
            </a:extLst>
          </p:cNvPr>
          <p:cNvSpPr>
            <a:spLocks noGrp="1"/>
          </p:cNvSpPr>
          <p:nvPr>
            <p:ph type="title"/>
          </p:nvPr>
        </p:nvSpPr>
        <p:spPr>
          <a:xfrm>
            <a:off x="457200" y="0"/>
            <a:ext cx="7620000" cy="1143000"/>
          </a:xfrm>
        </p:spPr>
        <p:txBody>
          <a:bodyPr/>
          <a:lstStyle/>
          <a:p>
            <a:pPr algn="ctr">
              <a:defRPr/>
            </a:pPr>
            <a:r>
              <a:rPr lang="en-US" dirty="0"/>
              <a:t>Database Replication</a:t>
            </a:r>
            <a:endParaRPr lang="en-CA" dirty="0"/>
          </a:p>
        </p:txBody>
      </p:sp>
      <p:sp>
        <p:nvSpPr>
          <p:cNvPr id="19" name="Snip Single Corner Rectangle 18">
            <a:extLst>
              <a:ext uri="{FF2B5EF4-FFF2-40B4-BE49-F238E27FC236}">
                <a16:creationId xmlns:a16="http://schemas.microsoft.com/office/drawing/2014/main" id="{1BE5D33A-6DF6-9D22-FC72-FBCF4E329080}"/>
              </a:ext>
            </a:extLst>
          </p:cNvPr>
          <p:cNvSpPr/>
          <p:nvPr/>
        </p:nvSpPr>
        <p:spPr>
          <a:xfrm>
            <a:off x="-36513" y="1196975"/>
            <a:ext cx="2305051" cy="401638"/>
          </a:xfrm>
          <a:prstGeom prst="snip1Rect">
            <a:avLst/>
          </a:prstGeom>
          <a:solidFill>
            <a:srgbClr val="7F7B00"/>
          </a:solidFill>
          <a:ln>
            <a:solidFill>
              <a:srgbClr val="7F7B00"/>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marR="0" lvl="0" indent="-342900" algn="just" defTabSz="914400" rtl="0" eaLnBrk="1" fontAlgn="base" latinLnBrk="0" hangingPunct="1">
              <a:lnSpc>
                <a:spcPct val="100000"/>
              </a:lnSpc>
              <a:spcBef>
                <a:spcPct val="20000"/>
              </a:spcBef>
              <a:spcAft>
                <a:spcPct val="0"/>
              </a:spcAft>
              <a:buClr>
                <a:srgbClr val="FF6600"/>
              </a:buClr>
              <a:buSzPct val="100000"/>
              <a:buFontTx/>
              <a:buNone/>
              <a:tabLst/>
              <a:defRPr/>
            </a:pPr>
            <a:r>
              <a:rPr kumimoji="0" lang="en-GB" sz="1800" b="0" i="0" u="none" strike="noStrike" kern="0" cap="none" spc="0" normalizeH="0" baseline="0" noProof="0" dirty="0">
                <a:ln>
                  <a:noFill/>
                </a:ln>
                <a:solidFill>
                  <a:srgbClr val="FFFFFF"/>
                </a:solidFill>
                <a:effectLst/>
                <a:uLnTx/>
                <a:uFillTx/>
                <a:latin typeface="Calibri"/>
                <a:ea typeface="+mn-ea"/>
                <a:cs typeface="+mn-cs"/>
              </a:rPr>
              <a:t>Improve Availability</a:t>
            </a:r>
          </a:p>
        </p:txBody>
      </p:sp>
      <p:sp>
        <p:nvSpPr>
          <p:cNvPr id="88068" name="Content Placeholder 2">
            <a:extLst>
              <a:ext uri="{FF2B5EF4-FFF2-40B4-BE49-F238E27FC236}">
                <a16:creationId xmlns:a16="http://schemas.microsoft.com/office/drawing/2014/main" id="{E32B46BE-D4D2-740F-6F12-435516555CE6}"/>
              </a:ext>
            </a:extLst>
          </p:cNvPr>
          <p:cNvSpPr txBox="1">
            <a:spLocks/>
          </p:cNvSpPr>
          <p:nvPr/>
        </p:nvSpPr>
        <p:spPr bwMode="auto">
          <a:xfrm>
            <a:off x="250825" y="1885950"/>
            <a:ext cx="8004175" cy="108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With one database server, if it crashes, you end up losing access to all of your data</a:t>
            </a: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4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With database replication</a:t>
            </a: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40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sp>
        <p:nvSpPr>
          <p:cNvPr id="60" name="Rectangle 59">
            <a:extLst>
              <a:ext uri="{FF2B5EF4-FFF2-40B4-BE49-F238E27FC236}">
                <a16:creationId xmlns:a16="http://schemas.microsoft.com/office/drawing/2014/main" id="{04F679B2-B6CE-A575-007E-73974E2D1C13}"/>
              </a:ext>
            </a:extLst>
          </p:cNvPr>
          <p:cNvSpPr>
            <a:spLocks noChangeArrowheads="1"/>
          </p:cNvSpPr>
          <p:nvPr/>
        </p:nvSpPr>
        <p:spPr bwMode="auto">
          <a:xfrm>
            <a:off x="382588" y="5897563"/>
            <a:ext cx="4981575" cy="669925"/>
          </a:xfrm>
          <a:prstGeom prst="rect">
            <a:avLst/>
          </a:prstGeom>
          <a:solidFill>
            <a:srgbClr val="FFFF00">
              <a:alpha val="30196"/>
            </a:srgbClr>
          </a:solidFill>
          <a:ln w="9525" algn="ctr">
            <a:solidFill>
              <a:srgbClr val="FFC000"/>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20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Choose a new master server from among the slaves and continue on</a:t>
            </a:r>
            <a:endParaRPr kumimoji="0" lang="en-CA" altLang="en-US" sz="2000" b="1"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endParaRPr>
          </a:p>
        </p:txBody>
      </p:sp>
      <p:sp>
        <p:nvSpPr>
          <p:cNvPr id="53" name="TextBox 52">
            <a:extLst>
              <a:ext uri="{FF2B5EF4-FFF2-40B4-BE49-F238E27FC236}">
                <a16:creationId xmlns:a16="http://schemas.microsoft.com/office/drawing/2014/main" id="{AE9C53BE-0914-58E2-9DCC-7BE4E744A0A0}"/>
              </a:ext>
            </a:extLst>
          </p:cNvPr>
          <p:cNvSpPr txBox="1">
            <a:spLocks noChangeArrowheads="1"/>
          </p:cNvSpPr>
          <p:nvPr/>
        </p:nvSpPr>
        <p:spPr bwMode="auto">
          <a:xfrm>
            <a:off x="6604000" y="5303838"/>
            <a:ext cx="16557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Master server</a:t>
            </a:r>
          </a:p>
        </p:txBody>
      </p:sp>
      <p:cxnSp>
        <p:nvCxnSpPr>
          <p:cNvPr id="55" name="Straight Arrow Connector 54">
            <a:extLst>
              <a:ext uri="{FF2B5EF4-FFF2-40B4-BE49-F238E27FC236}">
                <a16:creationId xmlns:a16="http://schemas.microsoft.com/office/drawing/2014/main" id="{3CD124C4-3BD2-3E71-1BA1-3B2D065DBF29}"/>
              </a:ext>
            </a:extLst>
          </p:cNvPr>
          <p:cNvCxnSpPr>
            <a:cxnSpLocks noChangeShapeType="1"/>
          </p:cNvCxnSpPr>
          <p:nvPr/>
        </p:nvCxnSpPr>
        <p:spPr bwMode="auto">
          <a:xfrm>
            <a:off x="3965575" y="5634038"/>
            <a:ext cx="1584325" cy="0"/>
          </a:xfrm>
          <a:prstGeom prst="straightConnector1">
            <a:avLst/>
          </a:prstGeom>
          <a:noFill/>
          <a:ln w="25400"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52" name="TextBox 51">
            <a:extLst>
              <a:ext uri="{FF2B5EF4-FFF2-40B4-BE49-F238E27FC236}">
                <a16:creationId xmlns:a16="http://schemas.microsoft.com/office/drawing/2014/main" id="{B192A7BA-E0C4-D995-3082-1537AE8695FB}"/>
              </a:ext>
            </a:extLst>
          </p:cNvPr>
          <p:cNvSpPr txBox="1">
            <a:spLocks noChangeArrowheads="1"/>
          </p:cNvSpPr>
          <p:nvPr/>
        </p:nvSpPr>
        <p:spPr bwMode="auto">
          <a:xfrm>
            <a:off x="6597650" y="3910013"/>
            <a:ext cx="16573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Slave server</a:t>
            </a:r>
          </a:p>
        </p:txBody>
      </p:sp>
      <p:grpSp>
        <p:nvGrpSpPr>
          <p:cNvPr id="3" name="Group 23">
            <a:extLst>
              <a:ext uri="{FF2B5EF4-FFF2-40B4-BE49-F238E27FC236}">
                <a16:creationId xmlns:a16="http://schemas.microsoft.com/office/drawing/2014/main" id="{85527E70-1898-0F2C-7A52-10926E3F12EE}"/>
              </a:ext>
            </a:extLst>
          </p:cNvPr>
          <p:cNvGrpSpPr>
            <a:grpSpLocks/>
          </p:cNvGrpSpPr>
          <p:nvPr/>
        </p:nvGrpSpPr>
        <p:grpSpPr bwMode="auto">
          <a:xfrm>
            <a:off x="755650" y="3703638"/>
            <a:ext cx="6240463" cy="2419350"/>
            <a:chOff x="755576" y="3704290"/>
            <a:chExt cx="6240217" cy="2418639"/>
          </a:xfrm>
        </p:grpSpPr>
        <p:sp>
          <p:nvSpPr>
            <p:cNvPr id="88077" name="TextBox 41">
              <a:extLst>
                <a:ext uri="{FF2B5EF4-FFF2-40B4-BE49-F238E27FC236}">
                  <a16:creationId xmlns:a16="http://schemas.microsoft.com/office/drawing/2014/main" id="{F787D1BB-632E-10F2-9B68-E0D8CBBAC96A}"/>
                </a:ext>
              </a:extLst>
            </p:cNvPr>
            <p:cNvSpPr txBox="1">
              <a:spLocks noChangeArrowheads="1"/>
            </p:cNvSpPr>
            <p:nvPr/>
          </p:nvSpPr>
          <p:spPr bwMode="auto">
            <a:xfrm>
              <a:off x="755576" y="4784410"/>
              <a:ext cx="178410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Crashed server</a:t>
              </a:r>
            </a:p>
          </p:txBody>
        </p:sp>
        <p:pic>
          <p:nvPicPr>
            <p:cNvPr id="88078" name="Picture 44">
              <a:extLst>
                <a:ext uri="{FF2B5EF4-FFF2-40B4-BE49-F238E27FC236}">
                  <a16:creationId xmlns:a16="http://schemas.microsoft.com/office/drawing/2014/main" id="{6FE9F386-A454-5249-5B05-C3063DFADE2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622471" y="5042809"/>
              <a:ext cx="1346750" cy="1080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8079" name="Picture 47">
              <a:extLst>
                <a:ext uri="{FF2B5EF4-FFF2-40B4-BE49-F238E27FC236}">
                  <a16:creationId xmlns:a16="http://schemas.microsoft.com/office/drawing/2014/main" id="{8F95F5E3-FE2A-A06C-305E-08EE9D205BC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649043" y="3704290"/>
              <a:ext cx="1346750" cy="1080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8080" name="Picture 50">
              <a:extLst>
                <a:ext uri="{FF2B5EF4-FFF2-40B4-BE49-F238E27FC236}">
                  <a16:creationId xmlns:a16="http://schemas.microsoft.com/office/drawing/2014/main" id="{96FC28B9-9BEE-E6D0-5A4A-A1D93595795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611689" y="4432754"/>
              <a:ext cx="1346750" cy="1080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88081" name="Straight Arrow Connector 57">
              <a:extLst>
                <a:ext uri="{FF2B5EF4-FFF2-40B4-BE49-F238E27FC236}">
                  <a16:creationId xmlns:a16="http://schemas.microsoft.com/office/drawing/2014/main" id="{E4DBE1A3-B452-52F5-7C5E-885D272857A4}"/>
                </a:ext>
              </a:extLst>
            </p:cNvPr>
            <p:cNvCxnSpPr>
              <a:cxnSpLocks noChangeShapeType="1"/>
            </p:cNvCxnSpPr>
            <p:nvPr/>
          </p:nvCxnSpPr>
          <p:spPr bwMode="auto">
            <a:xfrm>
              <a:off x="3958439" y="4095653"/>
              <a:ext cx="1584176" cy="0"/>
            </a:xfrm>
            <a:prstGeom prst="straightConnector1">
              <a:avLst/>
            </a:prstGeom>
            <a:noFill/>
            <a:ln w="25400" algn="ctr">
              <a:solidFill>
                <a:schemeClr val="tx1"/>
              </a:solidFill>
              <a:round/>
              <a:headEnd type="triangle" w="med" len="med"/>
              <a:tailEnd/>
            </a:ln>
            <a:extLst>
              <a:ext uri="{909E8E84-426E-40DD-AFC4-6F175D3DCCD1}">
                <a14:hiddenFill xmlns:a14="http://schemas.microsoft.com/office/drawing/2010/main">
                  <a:noFill/>
                </a14:hiddenFill>
              </a:ext>
            </a:extLst>
          </p:spPr>
        </p:cxnSp>
        <p:cxnSp>
          <p:nvCxnSpPr>
            <p:cNvPr id="88082" name="Straight Arrow Connector 58">
              <a:extLst>
                <a:ext uri="{FF2B5EF4-FFF2-40B4-BE49-F238E27FC236}">
                  <a16:creationId xmlns:a16="http://schemas.microsoft.com/office/drawing/2014/main" id="{DFC861BA-7FAD-3F7C-7D5E-7623E523C362}"/>
                </a:ext>
              </a:extLst>
            </p:cNvPr>
            <p:cNvCxnSpPr>
              <a:cxnSpLocks noChangeShapeType="1"/>
            </p:cNvCxnSpPr>
            <p:nvPr/>
          </p:nvCxnSpPr>
          <p:spPr bwMode="auto">
            <a:xfrm>
              <a:off x="3966287" y="5759741"/>
              <a:ext cx="1584176" cy="0"/>
            </a:xfrm>
            <a:prstGeom prst="straightConnector1">
              <a:avLst/>
            </a:prstGeom>
            <a:noFill/>
            <a:ln w="25400" algn="ctr">
              <a:solidFill>
                <a:schemeClr val="tx1"/>
              </a:solidFill>
              <a:round/>
              <a:headEnd type="triangle" w="med" len="med"/>
              <a:tailEnd/>
            </a:ln>
            <a:extLst>
              <a:ext uri="{909E8E84-426E-40DD-AFC4-6F175D3DCCD1}">
                <a14:hiddenFill xmlns:a14="http://schemas.microsoft.com/office/drawing/2010/main">
                  <a:noFill/>
                </a14:hiddenFill>
              </a:ext>
            </a:extLst>
          </p:spPr>
        </p:cxnSp>
        <p:sp>
          <p:nvSpPr>
            <p:cNvPr id="61" name="Multiply 60">
              <a:extLst>
                <a:ext uri="{FF2B5EF4-FFF2-40B4-BE49-F238E27FC236}">
                  <a16:creationId xmlns:a16="http://schemas.microsoft.com/office/drawing/2014/main" id="{FDD88BB0-5E2B-8ABE-E05B-58C4E273A88A}"/>
                </a:ext>
              </a:extLst>
            </p:cNvPr>
            <p:cNvSpPr/>
            <p:nvPr/>
          </p:nvSpPr>
          <p:spPr bwMode="auto">
            <a:xfrm>
              <a:off x="2665394" y="4561412"/>
              <a:ext cx="874744" cy="874744"/>
            </a:xfrm>
            <a:prstGeom prst="mathMultiply">
              <a:avLst>
                <a:gd name="adj1" fmla="val 14809"/>
              </a:avLst>
            </a:prstGeom>
            <a:solidFill>
              <a:srgbClr val="C00000"/>
            </a:solidFill>
            <a:ln w="9525" cap="flat" cmpd="sng" algn="ctr">
              <a:noFill/>
              <a:prstDash val="solid"/>
              <a:round/>
              <a:headEnd type="none" w="med" len="med"/>
              <a:tailEnd type="none" w="med" len="med"/>
            </a:ln>
            <a:effectLst/>
            <a:scene3d>
              <a:camera prst="orthographicFront"/>
              <a:lightRig rig="threePt" dir="t"/>
            </a:scene3d>
            <a:sp3d>
              <a:bevelT w="25400" h="25400"/>
            </a:sp3d>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MY" sz="1800" b="0" i="0" u="none" strike="noStrike" kern="1200" cap="none" spc="0" normalizeH="0" baseline="0" noProof="0">
                <a:ln>
                  <a:noFill/>
                </a:ln>
                <a:solidFill>
                  <a:srgbClr val="2F2B20"/>
                </a:solidFill>
                <a:effectLst/>
                <a:uLnTx/>
                <a:uFillTx/>
                <a:latin typeface="Arial" charset="0"/>
                <a:ea typeface="+mn-ea"/>
                <a:cs typeface="Arial" panose="020B0604020202020204" pitchFamily="34" charset="0"/>
              </a:endParaRPr>
            </a:p>
          </p:txBody>
        </p:sp>
      </p:grpSp>
      <p:cxnSp>
        <p:nvCxnSpPr>
          <p:cNvPr id="17" name="Straight Arrow Connector 16">
            <a:extLst>
              <a:ext uri="{FF2B5EF4-FFF2-40B4-BE49-F238E27FC236}">
                <a16:creationId xmlns:a16="http://schemas.microsoft.com/office/drawing/2014/main" id="{D32021B1-26C6-2F7C-5D4F-EA281E93C936}"/>
              </a:ext>
            </a:extLst>
          </p:cNvPr>
          <p:cNvCxnSpPr>
            <a:cxnSpLocks noChangeShapeType="1"/>
          </p:cNvCxnSpPr>
          <p:nvPr/>
        </p:nvCxnSpPr>
        <p:spPr bwMode="auto">
          <a:xfrm>
            <a:off x="4932363" y="4279900"/>
            <a:ext cx="609600" cy="0"/>
          </a:xfrm>
          <a:prstGeom prst="straightConnector1">
            <a:avLst/>
          </a:prstGeom>
          <a:noFill/>
          <a:ln w="2540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1" name="Straight Connector 20">
            <a:extLst>
              <a:ext uri="{FF2B5EF4-FFF2-40B4-BE49-F238E27FC236}">
                <a16:creationId xmlns:a16="http://schemas.microsoft.com/office/drawing/2014/main" id="{A3591F9B-83EE-EE7D-581C-73C71430A6CD}"/>
              </a:ext>
            </a:extLst>
          </p:cNvPr>
          <p:cNvCxnSpPr>
            <a:cxnSpLocks noChangeShapeType="1"/>
          </p:cNvCxnSpPr>
          <p:nvPr/>
        </p:nvCxnSpPr>
        <p:spPr bwMode="auto">
          <a:xfrm>
            <a:off x="4943475" y="4268788"/>
            <a:ext cx="0" cy="1208087"/>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cxnSp>
        <p:nvCxnSpPr>
          <p:cNvPr id="62" name="Straight Arrow Connector 61">
            <a:extLst>
              <a:ext uri="{FF2B5EF4-FFF2-40B4-BE49-F238E27FC236}">
                <a16:creationId xmlns:a16="http://schemas.microsoft.com/office/drawing/2014/main" id="{69185578-5EDD-4D21-9EAC-31E43C4CFCD2}"/>
              </a:ext>
            </a:extLst>
          </p:cNvPr>
          <p:cNvCxnSpPr>
            <a:cxnSpLocks noChangeShapeType="1"/>
          </p:cNvCxnSpPr>
          <p:nvPr/>
        </p:nvCxnSpPr>
        <p:spPr bwMode="auto">
          <a:xfrm>
            <a:off x="4932363" y="5476875"/>
            <a:ext cx="609600" cy="0"/>
          </a:xfrm>
          <a:prstGeom prst="straightConnector1">
            <a:avLst/>
          </a:prstGeom>
          <a:noFill/>
          <a:ln w="25400" algn="ctr">
            <a:solidFill>
              <a:schemeClr val="tx1"/>
            </a:solidFill>
            <a:round/>
            <a:headEnd/>
            <a:tailEnd/>
          </a:ln>
          <a:extLst>
            <a:ext uri="{909E8E84-426E-40DD-AFC4-6F175D3DCCD1}">
              <a14:hiddenFill xmlns:a14="http://schemas.microsoft.com/office/drawing/2010/main">
                <a:noFill/>
              </a14:hiddenFill>
            </a:ext>
          </a:extLst>
        </p:spPr>
      </p:cxn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60"/>
                                        </p:tgtEl>
                                        <p:attrNameLst>
                                          <p:attrName>style.visibility</p:attrName>
                                        </p:attrNameLst>
                                      </p:cBhvr>
                                      <p:to>
                                        <p:strVal val="visible"/>
                                      </p:to>
                                    </p:set>
                                    <p:animEffect transition="in" filter="barn(inVertical)">
                                      <p:cBhvr>
                                        <p:cTn id="12" dur="500"/>
                                        <p:tgtEl>
                                          <p:spTgt spid="6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52"/>
                                        </p:tgtEl>
                                        <p:attrNameLst>
                                          <p:attrName>style.visibility</p:attrName>
                                        </p:attrNameLst>
                                      </p:cBhvr>
                                      <p:to>
                                        <p:strVal val="visible"/>
                                      </p:to>
                                    </p:set>
                                    <p:animEffect transition="in" filter="fade">
                                      <p:cBhvr>
                                        <p:cTn id="17" dur="1000"/>
                                        <p:tgtEl>
                                          <p:spTgt spid="52"/>
                                        </p:tgtEl>
                                      </p:cBhvr>
                                    </p:animEffect>
                                    <p:anim calcmode="lin" valueType="num">
                                      <p:cBhvr>
                                        <p:cTn id="18" dur="1000" fill="hold"/>
                                        <p:tgtEl>
                                          <p:spTgt spid="52"/>
                                        </p:tgtEl>
                                        <p:attrNameLst>
                                          <p:attrName>ppt_x</p:attrName>
                                        </p:attrNameLst>
                                      </p:cBhvr>
                                      <p:tavLst>
                                        <p:tav tm="0">
                                          <p:val>
                                            <p:strVal val="#ppt_x"/>
                                          </p:val>
                                        </p:tav>
                                        <p:tav tm="100000">
                                          <p:val>
                                            <p:strVal val="#ppt_x"/>
                                          </p:val>
                                        </p:tav>
                                      </p:tavLst>
                                    </p:anim>
                                    <p:anim calcmode="lin" valueType="num">
                                      <p:cBhvr>
                                        <p:cTn id="19" dur="1000" fill="hold"/>
                                        <p:tgtEl>
                                          <p:spTgt spid="52"/>
                                        </p:tgtEl>
                                        <p:attrNameLst>
                                          <p:attrName>ppt_y</p:attrName>
                                        </p:attrNameLst>
                                      </p:cBhvr>
                                      <p:tavLst>
                                        <p:tav tm="0">
                                          <p:val>
                                            <p:strVal val="#ppt_y+.1"/>
                                          </p:val>
                                        </p:tav>
                                        <p:tav tm="100000">
                                          <p:val>
                                            <p:strVal val="#ppt_y"/>
                                          </p:val>
                                        </p:tav>
                                      </p:tavLst>
                                    </p:anim>
                                  </p:childTnLst>
                                </p:cTn>
                              </p:par>
                            </p:childTnLst>
                          </p:cTn>
                        </p:par>
                        <p:par>
                          <p:cTn id="20" fill="hold" nodeType="afterGroup">
                            <p:stCondLst>
                              <p:cond delay="1000"/>
                            </p:stCondLst>
                            <p:childTnLst>
                              <p:par>
                                <p:cTn id="21" presetID="42" presetClass="entr" presetSubtype="0" fill="hold" grpId="0" nodeType="afterEffect">
                                  <p:stCondLst>
                                    <p:cond delay="0"/>
                                  </p:stCondLst>
                                  <p:childTnLst>
                                    <p:set>
                                      <p:cBhvr>
                                        <p:cTn id="22" dur="1" fill="hold">
                                          <p:stCondLst>
                                            <p:cond delay="0"/>
                                          </p:stCondLst>
                                        </p:cTn>
                                        <p:tgtEl>
                                          <p:spTgt spid="53"/>
                                        </p:tgtEl>
                                        <p:attrNameLst>
                                          <p:attrName>style.visibility</p:attrName>
                                        </p:attrNameLst>
                                      </p:cBhvr>
                                      <p:to>
                                        <p:strVal val="visible"/>
                                      </p:to>
                                    </p:set>
                                    <p:animEffect transition="in" filter="fade">
                                      <p:cBhvr>
                                        <p:cTn id="23" dur="1000"/>
                                        <p:tgtEl>
                                          <p:spTgt spid="53"/>
                                        </p:tgtEl>
                                      </p:cBhvr>
                                    </p:animEffect>
                                    <p:anim calcmode="lin" valueType="num">
                                      <p:cBhvr>
                                        <p:cTn id="24" dur="1000" fill="hold"/>
                                        <p:tgtEl>
                                          <p:spTgt spid="53"/>
                                        </p:tgtEl>
                                        <p:attrNameLst>
                                          <p:attrName>ppt_x</p:attrName>
                                        </p:attrNameLst>
                                      </p:cBhvr>
                                      <p:tavLst>
                                        <p:tav tm="0">
                                          <p:val>
                                            <p:strVal val="#ppt_x"/>
                                          </p:val>
                                        </p:tav>
                                        <p:tav tm="100000">
                                          <p:val>
                                            <p:strVal val="#ppt_x"/>
                                          </p:val>
                                        </p:tav>
                                      </p:tavLst>
                                    </p:anim>
                                    <p:anim calcmode="lin" valueType="num">
                                      <p:cBhvr>
                                        <p:cTn id="25" dur="1000" fill="hold"/>
                                        <p:tgtEl>
                                          <p:spTgt spid="53"/>
                                        </p:tgtEl>
                                        <p:attrNameLst>
                                          <p:attrName>ppt_y</p:attrName>
                                        </p:attrNameLst>
                                      </p:cBhvr>
                                      <p:tavLst>
                                        <p:tav tm="0">
                                          <p:val>
                                            <p:strVal val="#ppt_y+.1"/>
                                          </p:val>
                                        </p:tav>
                                        <p:tav tm="100000">
                                          <p:val>
                                            <p:strVal val="#ppt_y"/>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nodeType="clickEffect">
                                  <p:stCondLst>
                                    <p:cond delay="0"/>
                                  </p:stCondLst>
                                  <p:childTnLst>
                                    <p:set>
                                      <p:cBhvr>
                                        <p:cTn id="29" dur="1" fill="hold">
                                          <p:stCondLst>
                                            <p:cond delay="0"/>
                                          </p:stCondLst>
                                        </p:cTn>
                                        <p:tgtEl>
                                          <p:spTgt spid="55"/>
                                        </p:tgtEl>
                                        <p:attrNameLst>
                                          <p:attrName>style.visibility</p:attrName>
                                        </p:attrNameLst>
                                      </p:cBhvr>
                                      <p:to>
                                        <p:strVal val="visible"/>
                                      </p:to>
                                    </p:set>
                                    <p:animEffect transition="in" filter="wipe(left)">
                                      <p:cBhvr>
                                        <p:cTn id="30" dur="500"/>
                                        <p:tgtEl>
                                          <p:spTgt spid="55"/>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2" fill="hold" nodeType="clickEffect">
                                  <p:stCondLst>
                                    <p:cond delay="0"/>
                                  </p:stCondLst>
                                  <p:childTnLst>
                                    <p:set>
                                      <p:cBhvr>
                                        <p:cTn id="34" dur="1" fill="hold">
                                          <p:stCondLst>
                                            <p:cond delay="0"/>
                                          </p:stCondLst>
                                        </p:cTn>
                                        <p:tgtEl>
                                          <p:spTgt spid="62"/>
                                        </p:tgtEl>
                                        <p:attrNameLst>
                                          <p:attrName>style.visibility</p:attrName>
                                        </p:attrNameLst>
                                      </p:cBhvr>
                                      <p:to>
                                        <p:strVal val="visible"/>
                                      </p:to>
                                    </p:set>
                                    <p:animEffect transition="in" filter="wipe(right)">
                                      <p:cBhvr>
                                        <p:cTn id="35" dur="500"/>
                                        <p:tgtEl>
                                          <p:spTgt spid="62"/>
                                        </p:tgtEl>
                                      </p:cBhvr>
                                    </p:animEffect>
                                  </p:childTnLst>
                                </p:cTn>
                              </p:par>
                            </p:childTnLst>
                          </p:cTn>
                        </p:par>
                        <p:par>
                          <p:cTn id="36" fill="hold" nodeType="afterGroup">
                            <p:stCondLst>
                              <p:cond delay="500"/>
                            </p:stCondLst>
                            <p:childTnLst>
                              <p:par>
                                <p:cTn id="37" presetID="22" presetClass="entr" presetSubtype="4" fill="hold" nodeType="after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wipe(down)">
                                      <p:cBhvr>
                                        <p:cTn id="39" dur="500"/>
                                        <p:tgtEl>
                                          <p:spTgt spid="21"/>
                                        </p:tgtEl>
                                      </p:cBhvr>
                                    </p:animEffect>
                                  </p:childTnLst>
                                </p:cTn>
                              </p:par>
                            </p:childTnLst>
                          </p:cTn>
                        </p:par>
                        <p:par>
                          <p:cTn id="40" fill="hold" nodeType="afterGroup">
                            <p:stCondLst>
                              <p:cond delay="1000"/>
                            </p:stCondLst>
                            <p:childTnLst>
                              <p:par>
                                <p:cTn id="41" presetID="22" presetClass="entr" presetSubtype="8" fill="hold" nodeType="after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wipe(left)">
                                      <p:cBhvr>
                                        <p:cTn id="43"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animBg="1"/>
      <p:bldP spid="53" grpId="0"/>
      <p:bldP spid="52" grpId="0"/>
    </p:bldLst>
  </p:timing>
</p:sld>
</file>

<file path=ppt/slides/slide3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528A11-3CE8-5654-35E4-1FDE9657681A}"/>
              </a:ext>
            </a:extLst>
          </p:cNvPr>
          <p:cNvSpPr>
            <a:spLocks noGrp="1"/>
          </p:cNvSpPr>
          <p:nvPr>
            <p:ph type="title"/>
          </p:nvPr>
        </p:nvSpPr>
        <p:spPr>
          <a:xfrm>
            <a:off x="457200" y="0"/>
            <a:ext cx="7620000" cy="1143000"/>
          </a:xfrm>
        </p:spPr>
        <p:txBody>
          <a:bodyPr/>
          <a:lstStyle/>
          <a:p>
            <a:pPr algn="ctr">
              <a:defRPr/>
            </a:pPr>
            <a:r>
              <a:rPr lang="en-US" dirty="0"/>
              <a:t>Database Replication</a:t>
            </a:r>
            <a:endParaRPr lang="en-CA" dirty="0"/>
          </a:p>
        </p:txBody>
      </p:sp>
      <p:sp>
        <p:nvSpPr>
          <p:cNvPr id="19" name="Snip Single Corner Rectangle 18">
            <a:extLst>
              <a:ext uri="{FF2B5EF4-FFF2-40B4-BE49-F238E27FC236}">
                <a16:creationId xmlns:a16="http://schemas.microsoft.com/office/drawing/2014/main" id="{A4297067-D9B9-7FA7-C6E9-686733FE5782}"/>
              </a:ext>
            </a:extLst>
          </p:cNvPr>
          <p:cNvSpPr/>
          <p:nvPr/>
        </p:nvSpPr>
        <p:spPr>
          <a:xfrm>
            <a:off x="-36513" y="1196975"/>
            <a:ext cx="2520951" cy="401638"/>
          </a:xfrm>
          <a:prstGeom prst="snip1Rect">
            <a:avLst/>
          </a:prstGeom>
          <a:solidFill>
            <a:srgbClr val="120B7C"/>
          </a:solidFill>
          <a:ln>
            <a:solidFill>
              <a:srgbClr val="120B7C"/>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marR="0" lvl="0" indent="-342900" algn="just" defTabSz="914400" rtl="0" eaLnBrk="1" fontAlgn="base" latinLnBrk="0" hangingPunct="1">
              <a:lnSpc>
                <a:spcPct val="100000"/>
              </a:lnSpc>
              <a:spcBef>
                <a:spcPct val="20000"/>
              </a:spcBef>
              <a:spcAft>
                <a:spcPct val="0"/>
              </a:spcAft>
              <a:buClr>
                <a:srgbClr val="FF6600"/>
              </a:buClr>
              <a:buSzPct val="100000"/>
              <a:buFontTx/>
              <a:buNone/>
              <a:tabLst/>
              <a:defRPr/>
            </a:pPr>
            <a:r>
              <a:rPr kumimoji="0" lang="en-GB" sz="1800" b="0" i="0" u="none" strike="noStrike" kern="0" cap="none" spc="0" normalizeH="0" baseline="0" noProof="0" dirty="0">
                <a:ln>
                  <a:noFill/>
                </a:ln>
                <a:solidFill>
                  <a:srgbClr val="FFFFFF"/>
                </a:solidFill>
                <a:effectLst/>
                <a:uLnTx/>
                <a:uFillTx/>
                <a:latin typeface="Calibri"/>
                <a:ea typeface="+mn-ea"/>
                <a:cs typeface="+mn-cs"/>
              </a:rPr>
              <a:t>Improve Performance</a:t>
            </a:r>
          </a:p>
        </p:txBody>
      </p:sp>
      <p:sp>
        <p:nvSpPr>
          <p:cNvPr id="20" name="Content Placeholder 2">
            <a:extLst>
              <a:ext uri="{FF2B5EF4-FFF2-40B4-BE49-F238E27FC236}">
                <a16:creationId xmlns:a16="http://schemas.microsoft.com/office/drawing/2014/main" id="{6F11F9CA-FF75-CFB3-EC3C-849E23122ACB}"/>
              </a:ext>
            </a:extLst>
          </p:cNvPr>
          <p:cNvSpPr txBox="1">
            <a:spLocks/>
          </p:cNvSpPr>
          <p:nvPr/>
        </p:nvSpPr>
        <p:spPr bwMode="auto">
          <a:xfrm>
            <a:off x="250825" y="1885950"/>
            <a:ext cx="8655050" cy="108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As there are now multiple database servers, any request to display data can now be executed on the “best” server</a:t>
            </a: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40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sp>
        <p:nvSpPr>
          <p:cNvPr id="31" name="Rectangle 30">
            <a:extLst>
              <a:ext uri="{FF2B5EF4-FFF2-40B4-BE49-F238E27FC236}">
                <a16:creationId xmlns:a16="http://schemas.microsoft.com/office/drawing/2014/main" id="{ECC3E1B4-C416-19D5-1663-1D3A8FD35799}"/>
              </a:ext>
            </a:extLst>
          </p:cNvPr>
          <p:cNvSpPr/>
          <p:nvPr/>
        </p:nvSpPr>
        <p:spPr bwMode="auto">
          <a:xfrm>
            <a:off x="381000" y="5589588"/>
            <a:ext cx="7704138" cy="719137"/>
          </a:xfrm>
          <a:prstGeom prst="rect">
            <a:avLst/>
          </a:prstGeom>
          <a:ln>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sz="2000" b="0" i="0" u="none" strike="noStrike" kern="1200" cap="none" spc="0" normalizeH="0" baseline="0" noProof="0" dirty="0">
                <a:ln>
                  <a:noFill/>
                </a:ln>
                <a:solidFill>
                  <a:srgbClr val="2F2B20"/>
                </a:solidFill>
                <a:effectLst/>
                <a:uLnTx/>
                <a:uFillTx/>
                <a:latin typeface="Calibri"/>
                <a:ea typeface="+mn-ea"/>
                <a:cs typeface="+mn-cs"/>
              </a:rPr>
              <a:t>Displaying data from the </a:t>
            </a:r>
            <a:r>
              <a:rPr kumimoji="0" lang="en-CA" sz="2000" b="1" i="0" u="none" strike="noStrike" kern="1200" cap="none" spc="0" normalizeH="0" baseline="0" noProof="0" dirty="0">
                <a:ln>
                  <a:noFill/>
                </a:ln>
                <a:solidFill>
                  <a:srgbClr val="2F2B20"/>
                </a:solidFill>
                <a:effectLst/>
                <a:uLnTx/>
                <a:uFillTx/>
                <a:latin typeface="Calibri"/>
                <a:ea typeface="+mn-ea"/>
                <a:cs typeface="+mn-cs"/>
              </a:rPr>
              <a:t>free</a:t>
            </a:r>
            <a:r>
              <a:rPr kumimoji="0" lang="en-CA" sz="2000" b="0" i="0" u="none" strike="noStrike" kern="1200" cap="none" spc="0" normalizeH="0" baseline="0" noProof="0" dirty="0">
                <a:ln>
                  <a:noFill/>
                </a:ln>
                <a:solidFill>
                  <a:srgbClr val="2F2B20"/>
                </a:solidFill>
                <a:effectLst/>
                <a:uLnTx/>
                <a:uFillTx/>
                <a:latin typeface="Calibri"/>
                <a:ea typeface="+mn-ea"/>
                <a:cs typeface="+mn-cs"/>
              </a:rPr>
              <a:t> server should be faster since it is not busy. This is not possible if we only have one database server</a:t>
            </a:r>
            <a:endParaRPr kumimoji="0" lang="en-CA" sz="2000" b="0" i="0" u="none" strike="noStrike" kern="1200" cap="none" spc="0" normalizeH="0" baseline="0" noProof="0" dirty="0">
              <a:ln>
                <a:noFill/>
              </a:ln>
              <a:solidFill>
                <a:srgbClr val="2F2B20"/>
              </a:solidFill>
              <a:effectLst/>
              <a:uLnTx/>
              <a:uFillTx/>
              <a:latin typeface="Arial" charset="0"/>
              <a:ea typeface="+mn-ea"/>
              <a:cs typeface="+mn-cs"/>
            </a:endParaRPr>
          </a:p>
        </p:txBody>
      </p:sp>
      <p:grpSp>
        <p:nvGrpSpPr>
          <p:cNvPr id="3" name="Group 3">
            <a:extLst>
              <a:ext uri="{FF2B5EF4-FFF2-40B4-BE49-F238E27FC236}">
                <a16:creationId xmlns:a16="http://schemas.microsoft.com/office/drawing/2014/main" id="{7DA0EA2A-4153-66E7-CA44-F2FE8905B689}"/>
              </a:ext>
            </a:extLst>
          </p:cNvPr>
          <p:cNvGrpSpPr>
            <a:grpSpLocks/>
          </p:cNvGrpSpPr>
          <p:nvPr/>
        </p:nvGrpSpPr>
        <p:grpSpPr bwMode="auto">
          <a:xfrm>
            <a:off x="685800" y="3554413"/>
            <a:ext cx="7235825" cy="1128712"/>
            <a:chOff x="1153274" y="3593407"/>
            <a:chExt cx="7235150" cy="1127621"/>
          </a:xfrm>
        </p:grpSpPr>
        <p:pic>
          <p:nvPicPr>
            <p:cNvPr id="89100" name="Picture 28">
              <a:extLst>
                <a:ext uri="{FF2B5EF4-FFF2-40B4-BE49-F238E27FC236}">
                  <a16:creationId xmlns:a16="http://schemas.microsoft.com/office/drawing/2014/main" id="{73602813-0D2F-E81D-6A39-6958308E72A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53274" y="3594245"/>
              <a:ext cx="1346750" cy="1080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9101" name="Picture 32">
              <a:extLst>
                <a:ext uri="{FF2B5EF4-FFF2-40B4-BE49-F238E27FC236}">
                  <a16:creationId xmlns:a16="http://schemas.microsoft.com/office/drawing/2014/main" id="{3A892B23-9EDC-9B44-B1A0-92692889A89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625374" y="3617445"/>
              <a:ext cx="1346750" cy="1080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9102" name="Picture 35">
              <a:extLst>
                <a:ext uri="{FF2B5EF4-FFF2-40B4-BE49-F238E27FC236}">
                  <a16:creationId xmlns:a16="http://schemas.microsoft.com/office/drawing/2014/main" id="{FF05A1BA-4755-7D69-9E99-EC88E90978D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097474" y="3593407"/>
              <a:ext cx="1346750" cy="1080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9103" name="Picture 38">
              <a:extLst>
                <a:ext uri="{FF2B5EF4-FFF2-40B4-BE49-F238E27FC236}">
                  <a16:creationId xmlns:a16="http://schemas.microsoft.com/office/drawing/2014/main" id="{2B326E00-6AFB-986D-D359-84A6F0F7C5B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569574" y="3617445"/>
              <a:ext cx="1346750" cy="1080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9104" name="Picture 41">
              <a:extLst>
                <a:ext uri="{FF2B5EF4-FFF2-40B4-BE49-F238E27FC236}">
                  <a16:creationId xmlns:a16="http://schemas.microsoft.com/office/drawing/2014/main" id="{F5F6AAFB-746C-8C3E-3C59-338E0E68A4A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041674" y="3640908"/>
              <a:ext cx="1346750" cy="1080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5" name="Rounded Rectangle 4">
            <a:extLst>
              <a:ext uri="{FF2B5EF4-FFF2-40B4-BE49-F238E27FC236}">
                <a16:creationId xmlns:a16="http://schemas.microsoft.com/office/drawing/2014/main" id="{AC3D24AD-C2B8-4D3D-40A9-B244416D4E51}"/>
              </a:ext>
            </a:extLst>
          </p:cNvPr>
          <p:cNvSpPr/>
          <p:nvPr/>
        </p:nvSpPr>
        <p:spPr bwMode="auto">
          <a:xfrm>
            <a:off x="685800" y="4918075"/>
            <a:ext cx="884238" cy="401638"/>
          </a:xfrm>
          <a:prstGeom prst="roundRect">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sz="1800" b="0" i="0" u="none" strike="noStrike" kern="1200" cap="none" spc="0" normalizeH="0" baseline="0" noProof="0" dirty="0">
                <a:ln>
                  <a:noFill/>
                </a:ln>
                <a:solidFill>
                  <a:srgbClr val="FFFFFF"/>
                </a:solidFill>
                <a:effectLst/>
                <a:uLnTx/>
                <a:uFillTx/>
                <a:latin typeface="Arial" charset="0"/>
                <a:ea typeface="+mn-ea"/>
                <a:cs typeface="+mn-cs"/>
              </a:rPr>
              <a:t>Busy</a:t>
            </a:r>
          </a:p>
        </p:txBody>
      </p:sp>
      <p:sp>
        <p:nvSpPr>
          <p:cNvPr id="43" name="Rounded Rectangle 42">
            <a:extLst>
              <a:ext uri="{FF2B5EF4-FFF2-40B4-BE49-F238E27FC236}">
                <a16:creationId xmlns:a16="http://schemas.microsoft.com/office/drawing/2014/main" id="{60DA3333-A9EB-2FC0-4805-605508C69645}"/>
              </a:ext>
            </a:extLst>
          </p:cNvPr>
          <p:cNvSpPr/>
          <p:nvPr/>
        </p:nvSpPr>
        <p:spPr bwMode="auto">
          <a:xfrm>
            <a:off x="2157413" y="4941888"/>
            <a:ext cx="884237" cy="401637"/>
          </a:xfrm>
          <a:prstGeom prst="roundRect">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sz="1800" b="0" i="0" u="none" strike="noStrike" kern="1200" cap="none" spc="0" normalizeH="0" baseline="0" noProof="0" dirty="0">
                <a:ln>
                  <a:noFill/>
                </a:ln>
                <a:solidFill>
                  <a:srgbClr val="FFFFFF"/>
                </a:solidFill>
                <a:effectLst/>
                <a:uLnTx/>
                <a:uFillTx/>
                <a:latin typeface="Arial" charset="0"/>
                <a:ea typeface="+mn-ea"/>
                <a:cs typeface="+mn-cs"/>
              </a:rPr>
              <a:t>Busy</a:t>
            </a:r>
          </a:p>
        </p:txBody>
      </p:sp>
      <p:sp>
        <p:nvSpPr>
          <p:cNvPr id="44" name="Rounded Rectangle 43">
            <a:extLst>
              <a:ext uri="{FF2B5EF4-FFF2-40B4-BE49-F238E27FC236}">
                <a16:creationId xmlns:a16="http://schemas.microsoft.com/office/drawing/2014/main" id="{45B30E8D-DD7D-7C14-5863-7A5AC810ED77}"/>
              </a:ext>
            </a:extLst>
          </p:cNvPr>
          <p:cNvSpPr/>
          <p:nvPr/>
        </p:nvSpPr>
        <p:spPr bwMode="auto">
          <a:xfrm>
            <a:off x="3668713" y="4941888"/>
            <a:ext cx="884237" cy="401637"/>
          </a:xfrm>
          <a:prstGeom prst="roundRect">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sz="1800" b="0" i="0" u="none" strike="noStrike" kern="1200" cap="none" spc="0" normalizeH="0" baseline="0" noProof="0" dirty="0">
                <a:ln>
                  <a:noFill/>
                </a:ln>
                <a:solidFill>
                  <a:srgbClr val="FFFFFF"/>
                </a:solidFill>
                <a:effectLst/>
                <a:uLnTx/>
                <a:uFillTx/>
                <a:latin typeface="Arial" charset="0"/>
                <a:ea typeface="+mn-ea"/>
                <a:cs typeface="+mn-cs"/>
              </a:rPr>
              <a:t>Busy</a:t>
            </a:r>
          </a:p>
        </p:txBody>
      </p:sp>
      <p:sp>
        <p:nvSpPr>
          <p:cNvPr id="45" name="Rounded Rectangle 44">
            <a:extLst>
              <a:ext uri="{FF2B5EF4-FFF2-40B4-BE49-F238E27FC236}">
                <a16:creationId xmlns:a16="http://schemas.microsoft.com/office/drawing/2014/main" id="{71C29051-CDC0-CDDD-F8B6-C7E805697FB8}"/>
              </a:ext>
            </a:extLst>
          </p:cNvPr>
          <p:cNvSpPr/>
          <p:nvPr/>
        </p:nvSpPr>
        <p:spPr bwMode="auto">
          <a:xfrm>
            <a:off x="6616700" y="4941888"/>
            <a:ext cx="882650" cy="401637"/>
          </a:xfrm>
          <a:prstGeom prst="roundRect">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sz="1800" b="0" i="0" u="none" strike="noStrike" kern="1200" cap="none" spc="0" normalizeH="0" baseline="0" noProof="0" dirty="0">
                <a:ln>
                  <a:noFill/>
                </a:ln>
                <a:solidFill>
                  <a:srgbClr val="FFFFFF"/>
                </a:solidFill>
                <a:effectLst/>
                <a:uLnTx/>
                <a:uFillTx/>
                <a:latin typeface="Arial" charset="0"/>
                <a:ea typeface="+mn-ea"/>
                <a:cs typeface="+mn-cs"/>
              </a:rPr>
              <a:t>Busy</a:t>
            </a:r>
          </a:p>
        </p:txBody>
      </p:sp>
      <p:sp>
        <p:nvSpPr>
          <p:cNvPr id="46" name="Rounded Rectangle 45">
            <a:extLst>
              <a:ext uri="{FF2B5EF4-FFF2-40B4-BE49-F238E27FC236}">
                <a16:creationId xmlns:a16="http://schemas.microsoft.com/office/drawing/2014/main" id="{12B54B4C-ACAC-7719-0CE5-0047192719F9}"/>
              </a:ext>
            </a:extLst>
          </p:cNvPr>
          <p:cNvSpPr/>
          <p:nvPr/>
        </p:nvSpPr>
        <p:spPr bwMode="auto">
          <a:xfrm>
            <a:off x="5184775" y="4954588"/>
            <a:ext cx="884238" cy="401637"/>
          </a:xfrm>
          <a:prstGeom prst="roundRect">
            <a:avLst/>
          </a:prstGeom>
          <a:ln>
            <a:headEnd type="none" w="med" len="med"/>
            <a:tailEnd type="none" w="med" len="med"/>
          </a:ln>
        </p:spPr>
        <p:style>
          <a:lnRef idx="1">
            <a:schemeClr val="accent3"/>
          </a:lnRef>
          <a:fillRef idx="3">
            <a:schemeClr val="accent3"/>
          </a:fillRef>
          <a:effectRef idx="2">
            <a:schemeClr val="accent3"/>
          </a:effectRef>
          <a:fontRef idx="minor">
            <a:schemeClr val="lt1"/>
          </a:fontRef>
        </p:style>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sz="1800" b="0" i="0" u="none" strike="noStrike" kern="1200" cap="none" spc="0" normalizeH="0" baseline="0" noProof="0" dirty="0">
                <a:ln>
                  <a:noFill/>
                </a:ln>
                <a:solidFill>
                  <a:srgbClr val="FFFFFF"/>
                </a:solidFill>
                <a:effectLst/>
                <a:uLnTx/>
                <a:uFillTx/>
                <a:latin typeface="Arial" charset="0"/>
                <a:ea typeface="+mn-ea"/>
                <a:cs typeface="+mn-cs"/>
              </a:rPr>
              <a:t>Free</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ipe(left)">
                                      <p:cBhvr>
                                        <p:cTn id="7" dur="500"/>
                                        <p:tgtEl>
                                          <p:spTgt spid="19"/>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0">
                                            <p:txEl>
                                              <p:pRg st="0" end="0"/>
                                            </p:txEl>
                                          </p:spTgt>
                                        </p:tgtEl>
                                        <p:attrNameLst>
                                          <p:attrName>style.visibility</p:attrName>
                                        </p:attrNameLst>
                                      </p:cBhvr>
                                      <p:to>
                                        <p:strVal val="visible"/>
                                      </p:to>
                                    </p:set>
                                    <p:animEffect transition="in" filter="wipe(left)">
                                      <p:cBhvr>
                                        <p:cTn id="11" dur="500"/>
                                        <p:tgtEl>
                                          <p:spTgt spid="20">
                                            <p:txEl>
                                              <p:pRg st="0" end="0"/>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42" presetClass="entr" presetSubtype="0" fill="hold" nodeType="click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1000"/>
                                        <p:tgtEl>
                                          <p:spTgt spid="3"/>
                                        </p:tgtEl>
                                      </p:cBhvr>
                                    </p:animEffect>
                                    <p:anim calcmode="lin" valueType="num">
                                      <p:cBhvr>
                                        <p:cTn id="17" dur="1000" fill="hold"/>
                                        <p:tgtEl>
                                          <p:spTgt spid="3"/>
                                        </p:tgtEl>
                                        <p:attrNameLst>
                                          <p:attrName>ppt_x</p:attrName>
                                        </p:attrNameLst>
                                      </p:cBhvr>
                                      <p:tavLst>
                                        <p:tav tm="0">
                                          <p:val>
                                            <p:strVal val="#ppt_x"/>
                                          </p:val>
                                        </p:tav>
                                        <p:tav tm="100000">
                                          <p:val>
                                            <p:strVal val="#ppt_x"/>
                                          </p:val>
                                        </p:tav>
                                      </p:tavLst>
                                    </p:anim>
                                    <p:anim calcmode="lin" valueType="num">
                                      <p:cBhvr>
                                        <p:cTn id="18" dur="1000" fill="hold"/>
                                        <p:tgtEl>
                                          <p:spTgt spid="3"/>
                                        </p:tgtEl>
                                        <p:attrNameLst>
                                          <p:attrName>ppt_y</p:attrName>
                                        </p:attrNameLst>
                                      </p:cBhvr>
                                      <p:tavLst>
                                        <p:tav tm="0">
                                          <p:val>
                                            <p:strVal val="#ppt_y+.1"/>
                                          </p:val>
                                        </p:tav>
                                        <p:tav tm="100000">
                                          <p:val>
                                            <p:strVal val="#ppt_y"/>
                                          </p:val>
                                        </p:tav>
                                      </p:tavLst>
                                    </p:anim>
                                  </p:childTnLst>
                                </p:cTn>
                              </p:par>
                            </p:childTnLst>
                          </p:cTn>
                        </p:par>
                        <p:par>
                          <p:cTn id="19" fill="hold" nodeType="afterGroup">
                            <p:stCondLst>
                              <p:cond delay="1000"/>
                            </p:stCondLst>
                            <p:childTnLst>
                              <p:par>
                                <p:cTn id="20" presetID="22" presetClass="entr" presetSubtype="8" fill="hold" grpId="0" nodeType="after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left)">
                                      <p:cBhvr>
                                        <p:cTn id="22" dur="500"/>
                                        <p:tgtEl>
                                          <p:spTgt spid="5"/>
                                        </p:tgtEl>
                                      </p:cBhvr>
                                    </p:animEffect>
                                  </p:childTnLst>
                                </p:cTn>
                              </p:par>
                            </p:childTnLst>
                          </p:cTn>
                        </p:par>
                        <p:par>
                          <p:cTn id="23" fill="hold" nodeType="afterGroup">
                            <p:stCondLst>
                              <p:cond delay="1500"/>
                            </p:stCondLst>
                            <p:childTnLst>
                              <p:par>
                                <p:cTn id="24" presetID="22" presetClass="entr" presetSubtype="8" fill="hold" grpId="0" nodeType="afterEffect">
                                  <p:stCondLst>
                                    <p:cond delay="0"/>
                                  </p:stCondLst>
                                  <p:childTnLst>
                                    <p:set>
                                      <p:cBhvr>
                                        <p:cTn id="25" dur="1" fill="hold">
                                          <p:stCondLst>
                                            <p:cond delay="0"/>
                                          </p:stCondLst>
                                        </p:cTn>
                                        <p:tgtEl>
                                          <p:spTgt spid="43"/>
                                        </p:tgtEl>
                                        <p:attrNameLst>
                                          <p:attrName>style.visibility</p:attrName>
                                        </p:attrNameLst>
                                      </p:cBhvr>
                                      <p:to>
                                        <p:strVal val="visible"/>
                                      </p:to>
                                    </p:set>
                                    <p:animEffect transition="in" filter="wipe(left)">
                                      <p:cBhvr>
                                        <p:cTn id="26" dur="500"/>
                                        <p:tgtEl>
                                          <p:spTgt spid="43"/>
                                        </p:tgtEl>
                                      </p:cBhvr>
                                    </p:animEffect>
                                  </p:childTnLst>
                                </p:cTn>
                              </p:par>
                            </p:childTnLst>
                          </p:cTn>
                        </p:par>
                        <p:par>
                          <p:cTn id="27" fill="hold" nodeType="afterGroup">
                            <p:stCondLst>
                              <p:cond delay="2000"/>
                            </p:stCondLst>
                            <p:childTnLst>
                              <p:par>
                                <p:cTn id="28" presetID="22" presetClass="entr" presetSubtype="8" fill="hold" grpId="0" nodeType="afterEffect">
                                  <p:stCondLst>
                                    <p:cond delay="0"/>
                                  </p:stCondLst>
                                  <p:childTnLst>
                                    <p:set>
                                      <p:cBhvr>
                                        <p:cTn id="29" dur="1" fill="hold">
                                          <p:stCondLst>
                                            <p:cond delay="0"/>
                                          </p:stCondLst>
                                        </p:cTn>
                                        <p:tgtEl>
                                          <p:spTgt spid="44"/>
                                        </p:tgtEl>
                                        <p:attrNameLst>
                                          <p:attrName>style.visibility</p:attrName>
                                        </p:attrNameLst>
                                      </p:cBhvr>
                                      <p:to>
                                        <p:strVal val="visible"/>
                                      </p:to>
                                    </p:set>
                                    <p:animEffect transition="in" filter="wipe(left)">
                                      <p:cBhvr>
                                        <p:cTn id="30" dur="500"/>
                                        <p:tgtEl>
                                          <p:spTgt spid="44"/>
                                        </p:tgtEl>
                                      </p:cBhvr>
                                    </p:animEffect>
                                  </p:childTnLst>
                                </p:cTn>
                              </p:par>
                            </p:childTnLst>
                          </p:cTn>
                        </p:par>
                        <p:par>
                          <p:cTn id="31" fill="hold" nodeType="afterGroup">
                            <p:stCondLst>
                              <p:cond delay="2500"/>
                            </p:stCondLst>
                            <p:childTnLst>
                              <p:par>
                                <p:cTn id="32" presetID="22" presetClass="entr" presetSubtype="8" fill="hold" grpId="0" nodeType="afterEffect">
                                  <p:stCondLst>
                                    <p:cond delay="0"/>
                                  </p:stCondLst>
                                  <p:childTnLst>
                                    <p:set>
                                      <p:cBhvr>
                                        <p:cTn id="33" dur="1" fill="hold">
                                          <p:stCondLst>
                                            <p:cond delay="0"/>
                                          </p:stCondLst>
                                        </p:cTn>
                                        <p:tgtEl>
                                          <p:spTgt spid="46"/>
                                        </p:tgtEl>
                                        <p:attrNameLst>
                                          <p:attrName>style.visibility</p:attrName>
                                        </p:attrNameLst>
                                      </p:cBhvr>
                                      <p:to>
                                        <p:strVal val="visible"/>
                                      </p:to>
                                    </p:set>
                                    <p:animEffect transition="in" filter="wipe(left)">
                                      <p:cBhvr>
                                        <p:cTn id="34" dur="500"/>
                                        <p:tgtEl>
                                          <p:spTgt spid="46"/>
                                        </p:tgtEl>
                                      </p:cBhvr>
                                    </p:animEffect>
                                  </p:childTnLst>
                                </p:cTn>
                              </p:par>
                            </p:childTnLst>
                          </p:cTn>
                        </p:par>
                        <p:par>
                          <p:cTn id="35" fill="hold" nodeType="afterGroup">
                            <p:stCondLst>
                              <p:cond delay="3000"/>
                            </p:stCondLst>
                            <p:childTnLst>
                              <p:par>
                                <p:cTn id="36" presetID="22" presetClass="entr" presetSubtype="8" fill="hold" grpId="0" nodeType="afterEffect">
                                  <p:stCondLst>
                                    <p:cond delay="0"/>
                                  </p:stCondLst>
                                  <p:childTnLst>
                                    <p:set>
                                      <p:cBhvr>
                                        <p:cTn id="37" dur="1" fill="hold">
                                          <p:stCondLst>
                                            <p:cond delay="0"/>
                                          </p:stCondLst>
                                        </p:cTn>
                                        <p:tgtEl>
                                          <p:spTgt spid="45"/>
                                        </p:tgtEl>
                                        <p:attrNameLst>
                                          <p:attrName>style.visibility</p:attrName>
                                        </p:attrNameLst>
                                      </p:cBhvr>
                                      <p:to>
                                        <p:strVal val="visible"/>
                                      </p:to>
                                    </p:set>
                                    <p:animEffect transition="in" filter="wipe(left)">
                                      <p:cBhvr>
                                        <p:cTn id="38" dur="500"/>
                                        <p:tgtEl>
                                          <p:spTgt spid="45"/>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16" presetClass="entr" presetSubtype="21" fill="hold" grpId="0" nodeType="clickEffect">
                                  <p:stCondLst>
                                    <p:cond delay="0"/>
                                  </p:stCondLst>
                                  <p:childTnLst>
                                    <p:set>
                                      <p:cBhvr>
                                        <p:cTn id="42" dur="1" fill="hold">
                                          <p:stCondLst>
                                            <p:cond delay="0"/>
                                          </p:stCondLst>
                                        </p:cTn>
                                        <p:tgtEl>
                                          <p:spTgt spid="31"/>
                                        </p:tgtEl>
                                        <p:attrNameLst>
                                          <p:attrName>style.visibility</p:attrName>
                                        </p:attrNameLst>
                                      </p:cBhvr>
                                      <p:to>
                                        <p:strVal val="visible"/>
                                      </p:to>
                                    </p:set>
                                    <p:animEffect transition="in" filter="barn(inVertical)">
                                      <p:cBhvr>
                                        <p:cTn id="43"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build="p"/>
      <p:bldP spid="31" grpId="0" animBg="1"/>
      <p:bldP spid="5" grpId="0" animBg="1"/>
      <p:bldP spid="43" grpId="0" animBg="1"/>
      <p:bldP spid="44" grpId="0" animBg="1"/>
      <p:bldP spid="45" grpId="0" animBg="1"/>
      <p:bldP spid="46" grpId="0" animBg="1"/>
    </p:bldLst>
  </p:timing>
</p:sld>
</file>

<file path=ppt/slides/slide3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BDF4D-13C5-9C42-6B2A-3CDB2BE0C948}"/>
              </a:ext>
            </a:extLst>
          </p:cNvPr>
          <p:cNvSpPr>
            <a:spLocks noGrp="1"/>
          </p:cNvSpPr>
          <p:nvPr>
            <p:ph type="title"/>
          </p:nvPr>
        </p:nvSpPr>
        <p:spPr>
          <a:xfrm>
            <a:off x="457200" y="0"/>
            <a:ext cx="7620000" cy="1143000"/>
          </a:xfrm>
        </p:spPr>
        <p:txBody>
          <a:bodyPr/>
          <a:lstStyle/>
          <a:p>
            <a:pPr algn="ctr">
              <a:defRPr/>
            </a:pPr>
            <a:r>
              <a:rPr lang="en-US" dirty="0"/>
              <a:t>Database Replication</a:t>
            </a:r>
            <a:endParaRPr lang="en-CA" dirty="0"/>
          </a:p>
        </p:txBody>
      </p:sp>
      <p:sp>
        <p:nvSpPr>
          <p:cNvPr id="19" name="Snip Single Corner Rectangle 18">
            <a:extLst>
              <a:ext uri="{FF2B5EF4-FFF2-40B4-BE49-F238E27FC236}">
                <a16:creationId xmlns:a16="http://schemas.microsoft.com/office/drawing/2014/main" id="{26D718CE-D565-80DD-E000-B798168DAA69}"/>
              </a:ext>
            </a:extLst>
          </p:cNvPr>
          <p:cNvSpPr/>
          <p:nvPr/>
        </p:nvSpPr>
        <p:spPr>
          <a:xfrm>
            <a:off x="-36513" y="1196975"/>
            <a:ext cx="2663826" cy="401638"/>
          </a:xfrm>
          <a:prstGeom prst="snip1Rect">
            <a:avLst/>
          </a:prstGeom>
          <a:solidFill>
            <a:srgbClr val="B50C00"/>
          </a:solidFill>
          <a:ln>
            <a:solidFill>
              <a:srgbClr val="B50C00"/>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marR="0" lvl="0" indent="-342900" algn="just" defTabSz="914400" rtl="0" eaLnBrk="1" fontAlgn="base" latinLnBrk="0" hangingPunct="1">
              <a:lnSpc>
                <a:spcPct val="100000"/>
              </a:lnSpc>
              <a:spcBef>
                <a:spcPct val="20000"/>
              </a:spcBef>
              <a:spcAft>
                <a:spcPct val="0"/>
              </a:spcAft>
              <a:buClr>
                <a:srgbClr val="FF6600"/>
              </a:buClr>
              <a:buSzPct val="100000"/>
              <a:buFontTx/>
              <a:buNone/>
              <a:tabLst/>
              <a:defRPr/>
            </a:pPr>
            <a:r>
              <a:rPr kumimoji="0" lang="en-GB" sz="1800" b="0" i="0" u="none" strike="noStrike" kern="0" cap="none" spc="0" normalizeH="0" baseline="0" noProof="0" dirty="0">
                <a:ln>
                  <a:noFill/>
                </a:ln>
                <a:solidFill>
                  <a:srgbClr val="FFFFFF"/>
                </a:solidFill>
                <a:effectLst/>
                <a:uLnTx/>
                <a:uFillTx/>
                <a:latin typeface="Calibri"/>
                <a:ea typeface="+mn-ea"/>
                <a:cs typeface="+mn-cs"/>
              </a:rPr>
              <a:t>Local Database Access</a:t>
            </a:r>
          </a:p>
        </p:txBody>
      </p:sp>
      <p:sp>
        <p:nvSpPr>
          <p:cNvPr id="20" name="Content Placeholder 2">
            <a:extLst>
              <a:ext uri="{FF2B5EF4-FFF2-40B4-BE49-F238E27FC236}">
                <a16:creationId xmlns:a16="http://schemas.microsoft.com/office/drawing/2014/main" id="{B3F0CE2C-12D4-35CB-8481-7867469FF442}"/>
              </a:ext>
            </a:extLst>
          </p:cNvPr>
          <p:cNvSpPr txBox="1">
            <a:spLocks/>
          </p:cNvSpPr>
          <p:nvPr/>
        </p:nvSpPr>
        <p:spPr bwMode="auto">
          <a:xfrm>
            <a:off x="250825" y="1885950"/>
            <a:ext cx="7923213" cy="108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A slave database server can be placed anywhere in the world</a:t>
            </a: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6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For example</a:t>
            </a: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40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pic>
        <p:nvPicPr>
          <p:cNvPr id="3" name="Picture 2">
            <a:extLst>
              <a:ext uri="{FF2B5EF4-FFF2-40B4-BE49-F238E27FC236}">
                <a16:creationId xmlns:a16="http://schemas.microsoft.com/office/drawing/2014/main" id="{EFCC54B7-7A53-046C-03E5-C64A641ED17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46113" y="3873500"/>
            <a:ext cx="1849437" cy="206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a:extLst>
              <a:ext uri="{FF2B5EF4-FFF2-40B4-BE49-F238E27FC236}">
                <a16:creationId xmlns:a16="http://schemas.microsoft.com/office/drawing/2014/main" id="{4006D80E-55A4-4B9E-99FC-5A12EDB17C2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270500" y="3897313"/>
            <a:ext cx="2578100" cy="204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 name="Picture 32">
            <a:extLst>
              <a:ext uri="{FF2B5EF4-FFF2-40B4-BE49-F238E27FC236}">
                <a16:creationId xmlns:a16="http://schemas.microsoft.com/office/drawing/2014/main" id="{B52A0A60-C88F-8E8F-C4CA-3CAB8C0FCBE0}"/>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295400" y="4329113"/>
            <a:ext cx="968375" cy="963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 name="Rectangle 38">
            <a:extLst>
              <a:ext uri="{FF2B5EF4-FFF2-40B4-BE49-F238E27FC236}">
                <a16:creationId xmlns:a16="http://schemas.microsoft.com/office/drawing/2014/main" id="{8C3BF1E0-C26E-C71F-B7E8-F9C24519BCE8}"/>
              </a:ext>
            </a:extLst>
          </p:cNvPr>
          <p:cNvSpPr>
            <a:spLocks noChangeArrowheads="1"/>
          </p:cNvSpPr>
          <p:nvPr/>
        </p:nvSpPr>
        <p:spPr bwMode="auto">
          <a:xfrm>
            <a:off x="646113" y="3870325"/>
            <a:ext cx="1849437" cy="400050"/>
          </a:xfrm>
          <a:prstGeom prst="rect">
            <a:avLst/>
          </a:prstGeom>
          <a:solidFill>
            <a:srgbClr val="525759"/>
          </a:solidFill>
          <a:ln w="9525" algn="ctr">
            <a:solidFill>
              <a:srgbClr val="525759"/>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DFDCB7"/>
                </a:solidFill>
                <a:effectLst/>
                <a:uLnTx/>
                <a:uFillTx/>
                <a:latin typeface="Arial" panose="020B0604020202020204" pitchFamily="34" charset="0"/>
                <a:ea typeface="+mn-ea"/>
                <a:cs typeface="Arial" panose="020B0604020202020204" pitchFamily="34" charset="0"/>
              </a:rPr>
              <a:t>Master server</a:t>
            </a:r>
          </a:p>
        </p:txBody>
      </p:sp>
      <p:grpSp>
        <p:nvGrpSpPr>
          <p:cNvPr id="5" name="Group 20">
            <a:extLst>
              <a:ext uri="{FF2B5EF4-FFF2-40B4-BE49-F238E27FC236}">
                <a16:creationId xmlns:a16="http://schemas.microsoft.com/office/drawing/2014/main" id="{7226F2C6-42A5-5A19-A4B3-3015944BC8F7}"/>
              </a:ext>
            </a:extLst>
          </p:cNvPr>
          <p:cNvGrpSpPr>
            <a:grpSpLocks/>
          </p:cNvGrpSpPr>
          <p:nvPr/>
        </p:nvGrpSpPr>
        <p:grpSpPr bwMode="auto">
          <a:xfrm>
            <a:off x="2014538" y="3994150"/>
            <a:ext cx="4032250" cy="1006475"/>
            <a:chOff x="2339752" y="4293995"/>
            <a:chExt cx="4032448" cy="1007213"/>
          </a:xfrm>
        </p:grpSpPr>
        <p:cxnSp>
          <p:nvCxnSpPr>
            <p:cNvPr id="90122" name="Straight Arrow Connector 21">
              <a:extLst>
                <a:ext uri="{FF2B5EF4-FFF2-40B4-BE49-F238E27FC236}">
                  <a16:creationId xmlns:a16="http://schemas.microsoft.com/office/drawing/2014/main" id="{413E4409-BC74-8EA3-93E8-11138FCDB73A}"/>
                </a:ext>
              </a:extLst>
            </p:cNvPr>
            <p:cNvCxnSpPr>
              <a:cxnSpLocks noChangeShapeType="1"/>
            </p:cNvCxnSpPr>
            <p:nvPr/>
          </p:nvCxnSpPr>
          <p:spPr bwMode="auto">
            <a:xfrm flipH="1" flipV="1">
              <a:off x="2339752" y="5098675"/>
              <a:ext cx="4032448" cy="202533"/>
            </a:xfrm>
            <a:prstGeom prst="straightConnector1">
              <a:avLst/>
            </a:prstGeom>
            <a:noFill/>
            <a:ln w="25400" algn="ctr">
              <a:solidFill>
                <a:schemeClr val="tx1"/>
              </a:solidFill>
              <a:round/>
              <a:headEnd type="triangle" w="med" len="med"/>
              <a:tailEnd/>
            </a:ln>
            <a:extLst>
              <a:ext uri="{909E8E84-426E-40DD-AFC4-6F175D3DCCD1}">
                <a14:hiddenFill xmlns:a14="http://schemas.microsoft.com/office/drawing/2010/main">
                  <a:noFill/>
                </a14:hiddenFill>
              </a:ext>
            </a:extLst>
          </p:spPr>
        </p:cxnSp>
        <p:sp>
          <p:nvSpPr>
            <p:cNvPr id="90123" name="TextBox 22">
              <a:extLst>
                <a:ext uri="{FF2B5EF4-FFF2-40B4-BE49-F238E27FC236}">
                  <a16:creationId xmlns:a16="http://schemas.microsoft.com/office/drawing/2014/main" id="{04EE09A4-80DB-47F6-AC03-FD12840BD3DE}"/>
                </a:ext>
              </a:extLst>
            </p:cNvPr>
            <p:cNvSpPr txBox="1">
              <a:spLocks noChangeArrowheads="1"/>
            </p:cNvSpPr>
            <p:nvPr/>
          </p:nvSpPr>
          <p:spPr bwMode="auto">
            <a:xfrm>
              <a:off x="2843808" y="4293995"/>
              <a:ext cx="2736304"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Displaying data through such long distance can be slow</a:t>
              </a:r>
            </a:p>
          </p:txBody>
        </p:sp>
      </p:gr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ipe(left)">
                                      <p:cBhvr>
                                        <p:cTn id="7" dur="500"/>
                                        <p:tgtEl>
                                          <p:spTgt spid="19"/>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0">
                                            <p:txEl>
                                              <p:pRg st="0" end="0"/>
                                            </p:txEl>
                                          </p:spTgt>
                                        </p:tgtEl>
                                        <p:attrNameLst>
                                          <p:attrName>style.visibility</p:attrName>
                                        </p:attrNameLst>
                                      </p:cBhvr>
                                      <p:to>
                                        <p:strVal val="visible"/>
                                      </p:to>
                                    </p:set>
                                    <p:animEffect transition="in" filter="wipe(left)">
                                      <p:cBhvr>
                                        <p:cTn id="11" dur="500"/>
                                        <p:tgtEl>
                                          <p:spTgt spid="20">
                                            <p:txEl>
                                              <p:pRg st="0" end="0"/>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20">
                                            <p:txEl>
                                              <p:pRg st="2" end="2"/>
                                            </p:txEl>
                                          </p:spTgt>
                                        </p:tgtEl>
                                        <p:attrNameLst>
                                          <p:attrName>style.visibility</p:attrName>
                                        </p:attrNameLst>
                                      </p:cBhvr>
                                      <p:to>
                                        <p:strVal val="visible"/>
                                      </p:to>
                                    </p:set>
                                    <p:animEffect transition="in" filter="wipe(left)">
                                      <p:cBhvr>
                                        <p:cTn id="16" dur="500"/>
                                        <p:tgtEl>
                                          <p:spTgt spid="20">
                                            <p:txEl>
                                              <p:pRg st="2" end="2"/>
                                            </p:txEl>
                                          </p:spTgt>
                                        </p:tgtEl>
                                      </p:cBhvr>
                                    </p:animEffect>
                                  </p:childTnLst>
                                </p:cTn>
                              </p:par>
                            </p:childTnLst>
                          </p:cTn>
                        </p:par>
                        <p:par>
                          <p:cTn id="17" fill="hold" nodeType="afterGroup">
                            <p:stCondLst>
                              <p:cond delay="500"/>
                            </p:stCondLst>
                            <p:childTnLst>
                              <p:par>
                                <p:cTn id="18" presetID="22" presetClass="entr" presetSubtype="1" fill="hold" nodeType="after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wipe(up)">
                                      <p:cBhvr>
                                        <p:cTn id="20" dur="500"/>
                                        <p:tgtEl>
                                          <p:spTgt spid="3"/>
                                        </p:tgtEl>
                                      </p:cBhvr>
                                    </p:animEffect>
                                  </p:childTnLst>
                                </p:cTn>
                              </p:par>
                            </p:childTnLst>
                          </p:cTn>
                        </p:par>
                        <p:par>
                          <p:cTn id="21" fill="hold" nodeType="afterGroup">
                            <p:stCondLst>
                              <p:cond delay="1000"/>
                            </p:stCondLst>
                            <p:childTnLst>
                              <p:par>
                                <p:cTn id="22" presetID="22" presetClass="entr" presetSubtype="1" fill="hold" nodeType="after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wipe(up)">
                                      <p:cBhvr>
                                        <p:cTn id="24" dur="500"/>
                                        <p:tgtEl>
                                          <p:spTgt spid="4"/>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39"/>
                                        </p:tgtEl>
                                        <p:attrNameLst>
                                          <p:attrName>style.visibility</p:attrName>
                                        </p:attrNameLst>
                                      </p:cBhvr>
                                      <p:to>
                                        <p:strVal val="visible"/>
                                      </p:to>
                                    </p:set>
                                    <p:animEffect transition="in" filter="wipe(left)">
                                      <p:cBhvr>
                                        <p:cTn id="29" dur="500"/>
                                        <p:tgtEl>
                                          <p:spTgt spid="39"/>
                                        </p:tgtEl>
                                      </p:cBhvr>
                                    </p:animEffect>
                                  </p:childTnLst>
                                </p:cTn>
                              </p:par>
                            </p:childTnLst>
                          </p:cTn>
                        </p:par>
                        <p:par>
                          <p:cTn id="30" fill="hold" nodeType="afterGroup">
                            <p:stCondLst>
                              <p:cond delay="500"/>
                            </p:stCondLst>
                            <p:childTnLst>
                              <p:par>
                                <p:cTn id="31" presetID="22" presetClass="entr" presetSubtype="1" fill="hold" nodeType="afterEffect">
                                  <p:stCondLst>
                                    <p:cond delay="0"/>
                                  </p:stCondLst>
                                  <p:childTnLst>
                                    <p:set>
                                      <p:cBhvr>
                                        <p:cTn id="32" dur="1" fill="hold">
                                          <p:stCondLst>
                                            <p:cond delay="0"/>
                                          </p:stCondLst>
                                        </p:cTn>
                                        <p:tgtEl>
                                          <p:spTgt spid="33"/>
                                        </p:tgtEl>
                                        <p:attrNameLst>
                                          <p:attrName>style.visibility</p:attrName>
                                        </p:attrNameLst>
                                      </p:cBhvr>
                                      <p:to>
                                        <p:strVal val="visible"/>
                                      </p:to>
                                    </p:set>
                                    <p:animEffect transition="in" filter="wipe(up)">
                                      <p:cBhvr>
                                        <p:cTn id="33" dur="500"/>
                                        <p:tgtEl>
                                          <p:spTgt spid="33"/>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nodeType="clickEffect">
                                  <p:stCondLst>
                                    <p:cond delay="0"/>
                                  </p:stCondLst>
                                  <p:childTnLst>
                                    <p:set>
                                      <p:cBhvr>
                                        <p:cTn id="37" dur="1" fill="hold">
                                          <p:stCondLst>
                                            <p:cond delay="0"/>
                                          </p:stCondLst>
                                        </p:cTn>
                                        <p:tgtEl>
                                          <p:spTgt spid="5"/>
                                        </p:tgtEl>
                                        <p:attrNameLst>
                                          <p:attrName>style.visibility</p:attrName>
                                        </p:attrNameLst>
                                      </p:cBhvr>
                                      <p:to>
                                        <p:strVal val="visible"/>
                                      </p:to>
                                    </p:set>
                                    <p:animEffect transition="in" filter="wipe(left)">
                                      <p:cBhvr>
                                        <p:cTn id="3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build="p"/>
      <p:bldP spid="39" grpId="0" animBg="1"/>
    </p:bldLst>
  </p:timing>
</p:sld>
</file>

<file path=ppt/slides/slide3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8A472-6A54-28C4-EDCD-25F6C01FB083}"/>
              </a:ext>
            </a:extLst>
          </p:cNvPr>
          <p:cNvSpPr>
            <a:spLocks noGrp="1"/>
          </p:cNvSpPr>
          <p:nvPr>
            <p:ph type="title"/>
          </p:nvPr>
        </p:nvSpPr>
        <p:spPr>
          <a:xfrm>
            <a:off x="457200" y="0"/>
            <a:ext cx="7620000" cy="1143000"/>
          </a:xfrm>
        </p:spPr>
        <p:txBody>
          <a:bodyPr/>
          <a:lstStyle/>
          <a:p>
            <a:pPr algn="ctr">
              <a:defRPr/>
            </a:pPr>
            <a:r>
              <a:rPr lang="en-US" dirty="0"/>
              <a:t>Database Replication</a:t>
            </a:r>
            <a:endParaRPr lang="en-CA" dirty="0"/>
          </a:p>
        </p:txBody>
      </p:sp>
      <p:sp>
        <p:nvSpPr>
          <p:cNvPr id="19" name="Snip Single Corner Rectangle 18">
            <a:extLst>
              <a:ext uri="{FF2B5EF4-FFF2-40B4-BE49-F238E27FC236}">
                <a16:creationId xmlns:a16="http://schemas.microsoft.com/office/drawing/2014/main" id="{D4B16658-2392-C211-DA3A-A590F88D00A2}"/>
              </a:ext>
            </a:extLst>
          </p:cNvPr>
          <p:cNvSpPr/>
          <p:nvPr/>
        </p:nvSpPr>
        <p:spPr>
          <a:xfrm>
            <a:off x="-36513" y="1196975"/>
            <a:ext cx="2663826" cy="401638"/>
          </a:xfrm>
          <a:prstGeom prst="snip1Rect">
            <a:avLst/>
          </a:prstGeom>
          <a:solidFill>
            <a:srgbClr val="B50C00"/>
          </a:solidFill>
          <a:ln>
            <a:solidFill>
              <a:srgbClr val="B50C00"/>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342900" marR="0" lvl="0" indent="-342900" algn="just" defTabSz="914400" rtl="0" eaLnBrk="1" fontAlgn="base" latinLnBrk="0" hangingPunct="1">
              <a:lnSpc>
                <a:spcPct val="100000"/>
              </a:lnSpc>
              <a:spcBef>
                <a:spcPct val="20000"/>
              </a:spcBef>
              <a:spcAft>
                <a:spcPct val="0"/>
              </a:spcAft>
              <a:buClr>
                <a:srgbClr val="FF6600"/>
              </a:buClr>
              <a:buSzPct val="100000"/>
              <a:buFontTx/>
              <a:buNone/>
              <a:tabLst/>
              <a:defRPr/>
            </a:pPr>
            <a:r>
              <a:rPr kumimoji="0" lang="en-GB" sz="1800" b="0" i="0" u="none" strike="noStrike" kern="0" cap="none" spc="0" normalizeH="0" baseline="0" noProof="0" dirty="0">
                <a:ln>
                  <a:noFill/>
                </a:ln>
                <a:solidFill>
                  <a:srgbClr val="FFFFFF"/>
                </a:solidFill>
                <a:effectLst/>
                <a:uLnTx/>
                <a:uFillTx/>
                <a:latin typeface="Calibri"/>
                <a:ea typeface="+mn-ea"/>
                <a:cs typeface="+mn-cs"/>
              </a:rPr>
              <a:t>Local Database Access</a:t>
            </a:r>
          </a:p>
        </p:txBody>
      </p:sp>
      <p:sp>
        <p:nvSpPr>
          <p:cNvPr id="91140" name="Content Placeholder 2">
            <a:extLst>
              <a:ext uri="{FF2B5EF4-FFF2-40B4-BE49-F238E27FC236}">
                <a16:creationId xmlns:a16="http://schemas.microsoft.com/office/drawing/2014/main" id="{D06F77A7-5510-BC05-1B79-601DDA11C3A2}"/>
              </a:ext>
            </a:extLst>
          </p:cNvPr>
          <p:cNvSpPr txBox="1">
            <a:spLocks/>
          </p:cNvSpPr>
          <p:nvPr/>
        </p:nvSpPr>
        <p:spPr bwMode="auto">
          <a:xfrm>
            <a:off x="228600" y="1905000"/>
            <a:ext cx="7945438"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A slave database server can be placed anywhere in the world</a:t>
            </a: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6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For example</a:t>
            </a: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40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pic>
        <p:nvPicPr>
          <p:cNvPr id="4" name="Picture 3">
            <a:extLst>
              <a:ext uri="{FF2B5EF4-FFF2-40B4-BE49-F238E27FC236}">
                <a16:creationId xmlns:a16="http://schemas.microsoft.com/office/drawing/2014/main" id="{0EA43DD5-E6EB-E837-3F66-BBE8322BA4D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310188" y="3897313"/>
            <a:ext cx="2578100" cy="204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 name="Group 6">
            <a:extLst>
              <a:ext uri="{FF2B5EF4-FFF2-40B4-BE49-F238E27FC236}">
                <a16:creationId xmlns:a16="http://schemas.microsoft.com/office/drawing/2014/main" id="{7534BEAF-ACDE-1F40-F422-7509ACC07E80}"/>
              </a:ext>
            </a:extLst>
          </p:cNvPr>
          <p:cNvGrpSpPr>
            <a:grpSpLocks/>
          </p:cNvGrpSpPr>
          <p:nvPr/>
        </p:nvGrpSpPr>
        <p:grpSpPr bwMode="auto">
          <a:xfrm>
            <a:off x="685800" y="3870325"/>
            <a:ext cx="1849438" cy="2063750"/>
            <a:chOff x="971600" y="3869945"/>
            <a:chExt cx="1849650" cy="2063826"/>
          </a:xfrm>
        </p:grpSpPr>
        <p:pic>
          <p:nvPicPr>
            <p:cNvPr id="91150" name="Picture 2">
              <a:extLst>
                <a:ext uri="{FF2B5EF4-FFF2-40B4-BE49-F238E27FC236}">
                  <a16:creationId xmlns:a16="http://schemas.microsoft.com/office/drawing/2014/main" id="{2F3685C2-19F9-AB0E-1E32-81916B44F02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71600" y="3872923"/>
              <a:ext cx="1849650" cy="20608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1151" name="Picture 32">
              <a:extLst>
                <a:ext uri="{FF2B5EF4-FFF2-40B4-BE49-F238E27FC236}">
                  <a16:creationId xmlns:a16="http://schemas.microsoft.com/office/drawing/2014/main" id="{49EE2E2E-C348-B00D-756B-515C5B5A99A7}"/>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620619" y="4328515"/>
              <a:ext cx="968714" cy="964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152" name="Rectangle 38">
              <a:extLst>
                <a:ext uri="{FF2B5EF4-FFF2-40B4-BE49-F238E27FC236}">
                  <a16:creationId xmlns:a16="http://schemas.microsoft.com/office/drawing/2014/main" id="{03268D2E-E771-DD72-83F8-0B547F8D8F97}"/>
                </a:ext>
              </a:extLst>
            </p:cNvPr>
            <p:cNvSpPr>
              <a:spLocks noChangeArrowheads="1"/>
            </p:cNvSpPr>
            <p:nvPr/>
          </p:nvSpPr>
          <p:spPr bwMode="auto">
            <a:xfrm>
              <a:off x="971600" y="3869945"/>
              <a:ext cx="1849650" cy="400207"/>
            </a:xfrm>
            <a:prstGeom prst="rect">
              <a:avLst/>
            </a:prstGeom>
            <a:solidFill>
              <a:srgbClr val="525759"/>
            </a:solidFill>
            <a:ln w="9525" algn="ctr">
              <a:solidFill>
                <a:srgbClr val="525759"/>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DFDCB7"/>
                  </a:solidFill>
                  <a:effectLst/>
                  <a:uLnTx/>
                  <a:uFillTx/>
                  <a:latin typeface="Arial" panose="020B0604020202020204" pitchFamily="34" charset="0"/>
                  <a:ea typeface="+mn-ea"/>
                  <a:cs typeface="Arial" panose="020B0604020202020204" pitchFamily="34" charset="0"/>
                </a:rPr>
                <a:t>Master server</a:t>
              </a:r>
            </a:p>
          </p:txBody>
        </p:sp>
      </p:grpSp>
      <p:pic>
        <p:nvPicPr>
          <p:cNvPr id="25" name="Picture 24">
            <a:extLst>
              <a:ext uri="{FF2B5EF4-FFF2-40B4-BE49-F238E27FC236}">
                <a16:creationId xmlns:a16="http://schemas.microsoft.com/office/drawing/2014/main" id="{96270725-C94E-B03A-A738-652D061F6270}"/>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521450" y="4564063"/>
            <a:ext cx="968375" cy="96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Rectangle 25">
            <a:extLst>
              <a:ext uri="{FF2B5EF4-FFF2-40B4-BE49-F238E27FC236}">
                <a16:creationId xmlns:a16="http://schemas.microsoft.com/office/drawing/2014/main" id="{917B47F3-2643-F47D-D8AB-4329114D8A45}"/>
              </a:ext>
            </a:extLst>
          </p:cNvPr>
          <p:cNvSpPr>
            <a:spLocks noChangeArrowheads="1"/>
          </p:cNvSpPr>
          <p:nvPr/>
        </p:nvSpPr>
        <p:spPr bwMode="auto">
          <a:xfrm>
            <a:off x="5892800" y="4076700"/>
            <a:ext cx="1849438" cy="400050"/>
          </a:xfrm>
          <a:prstGeom prst="rect">
            <a:avLst/>
          </a:prstGeom>
          <a:solidFill>
            <a:srgbClr val="525759"/>
          </a:solidFill>
          <a:ln w="9525" algn="ctr">
            <a:solidFill>
              <a:srgbClr val="525759"/>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DFDCB7"/>
                </a:solidFill>
                <a:effectLst/>
                <a:uLnTx/>
                <a:uFillTx/>
                <a:latin typeface="Arial" panose="020B0604020202020204" pitchFamily="34" charset="0"/>
                <a:ea typeface="+mn-ea"/>
                <a:cs typeface="Arial" panose="020B0604020202020204" pitchFamily="34" charset="0"/>
              </a:rPr>
              <a:t>Slave server</a:t>
            </a:r>
          </a:p>
        </p:txBody>
      </p:sp>
      <p:cxnSp>
        <p:nvCxnSpPr>
          <p:cNvPr id="35" name="Straight Arrow Connector 34">
            <a:extLst>
              <a:ext uri="{FF2B5EF4-FFF2-40B4-BE49-F238E27FC236}">
                <a16:creationId xmlns:a16="http://schemas.microsoft.com/office/drawing/2014/main" id="{C7304AA7-D1C6-087D-41DD-51B7C275FD91}"/>
              </a:ext>
            </a:extLst>
          </p:cNvPr>
          <p:cNvCxnSpPr>
            <a:cxnSpLocks noChangeShapeType="1"/>
          </p:cNvCxnSpPr>
          <p:nvPr/>
        </p:nvCxnSpPr>
        <p:spPr bwMode="auto">
          <a:xfrm flipH="1" flipV="1">
            <a:off x="5892800" y="4810125"/>
            <a:ext cx="587375" cy="33338"/>
          </a:xfrm>
          <a:prstGeom prst="straightConnector1">
            <a:avLst/>
          </a:prstGeom>
          <a:noFill/>
          <a:ln w="25400" algn="ctr">
            <a:solidFill>
              <a:schemeClr val="tx1"/>
            </a:solidFill>
            <a:round/>
            <a:headEnd/>
            <a:tailEnd type="triangle" w="med" len="med"/>
          </a:ln>
          <a:extLst>
            <a:ext uri="{909E8E84-426E-40DD-AFC4-6F175D3DCCD1}">
              <a14:hiddenFill xmlns:a14="http://schemas.microsoft.com/office/drawing/2010/main">
                <a:noFill/>
              </a14:hiddenFill>
            </a:ext>
          </a:extLst>
        </p:spPr>
      </p:cxnSp>
      <p:grpSp>
        <p:nvGrpSpPr>
          <p:cNvPr id="5" name="Group 14">
            <a:extLst>
              <a:ext uri="{FF2B5EF4-FFF2-40B4-BE49-F238E27FC236}">
                <a16:creationId xmlns:a16="http://schemas.microsoft.com/office/drawing/2014/main" id="{E7BB705B-8BB0-D556-F198-0CE0C327C30B}"/>
              </a:ext>
            </a:extLst>
          </p:cNvPr>
          <p:cNvGrpSpPr>
            <a:grpSpLocks/>
          </p:cNvGrpSpPr>
          <p:nvPr/>
        </p:nvGrpSpPr>
        <p:grpSpPr bwMode="auto">
          <a:xfrm>
            <a:off x="2089150" y="3878263"/>
            <a:ext cx="4357688" cy="1168400"/>
            <a:chOff x="2374263" y="3878058"/>
            <a:chExt cx="4357978" cy="1168473"/>
          </a:xfrm>
        </p:grpSpPr>
        <p:cxnSp>
          <p:nvCxnSpPr>
            <p:cNvPr id="91148" name="Straight Arrow Connector 30">
              <a:extLst>
                <a:ext uri="{FF2B5EF4-FFF2-40B4-BE49-F238E27FC236}">
                  <a16:creationId xmlns:a16="http://schemas.microsoft.com/office/drawing/2014/main" id="{D60BADFF-7073-273A-5E8B-811C692C162F}"/>
                </a:ext>
              </a:extLst>
            </p:cNvPr>
            <p:cNvCxnSpPr>
              <a:cxnSpLocks noChangeShapeType="1"/>
            </p:cNvCxnSpPr>
            <p:nvPr/>
          </p:nvCxnSpPr>
          <p:spPr bwMode="auto">
            <a:xfrm flipH="1" flipV="1">
              <a:off x="2374263" y="4653136"/>
              <a:ext cx="4357978" cy="393395"/>
            </a:xfrm>
            <a:prstGeom prst="straightConnector1">
              <a:avLst/>
            </a:prstGeom>
            <a:noFill/>
            <a:ln w="25400" algn="ctr">
              <a:solidFill>
                <a:schemeClr val="tx1"/>
              </a:solidFill>
              <a:round/>
              <a:headEnd type="triangle" w="med" len="med"/>
              <a:tailEnd/>
            </a:ln>
            <a:extLst>
              <a:ext uri="{909E8E84-426E-40DD-AFC4-6F175D3DCCD1}">
                <a14:hiddenFill xmlns:a14="http://schemas.microsoft.com/office/drawing/2010/main">
                  <a:noFill/>
                </a14:hiddenFill>
              </a:ext>
            </a:extLst>
          </p:spPr>
        </p:cxnSp>
        <p:sp>
          <p:nvSpPr>
            <p:cNvPr id="91149" name="TextBox 44">
              <a:extLst>
                <a:ext uri="{FF2B5EF4-FFF2-40B4-BE49-F238E27FC236}">
                  <a16:creationId xmlns:a16="http://schemas.microsoft.com/office/drawing/2014/main" id="{F47BDE80-91BA-9265-2CA6-7D77C33300A8}"/>
                </a:ext>
              </a:extLst>
            </p:cNvPr>
            <p:cNvSpPr txBox="1">
              <a:spLocks noChangeArrowheads="1"/>
            </p:cNvSpPr>
            <p:nvPr/>
          </p:nvSpPr>
          <p:spPr bwMode="auto">
            <a:xfrm rot="279023">
              <a:off x="2847275" y="3878058"/>
              <a:ext cx="2736304"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Master server updates slave server with latest data</a:t>
              </a:r>
            </a:p>
          </p:txBody>
        </p:sp>
      </p:grpSp>
      <p:sp>
        <p:nvSpPr>
          <p:cNvPr id="47" name="Rectangle 46">
            <a:extLst>
              <a:ext uri="{FF2B5EF4-FFF2-40B4-BE49-F238E27FC236}">
                <a16:creationId xmlns:a16="http://schemas.microsoft.com/office/drawing/2014/main" id="{357570EC-F373-1037-6F9A-3A5751C59167}"/>
              </a:ext>
            </a:extLst>
          </p:cNvPr>
          <p:cNvSpPr>
            <a:spLocks noChangeArrowheads="1"/>
          </p:cNvSpPr>
          <p:nvPr/>
        </p:nvSpPr>
        <p:spPr bwMode="auto">
          <a:xfrm>
            <a:off x="2705100" y="5094288"/>
            <a:ext cx="2447925" cy="1217612"/>
          </a:xfrm>
          <a:prstGeom prst="rect">
            <a:avLst/>
          </a:prstGeom>
          <a:solidFill>
            <a:srgbClr val="FFFF00">
              <a:alpha val="30196"/>
            </a:srgbClr>
          </a:solidFill>
          <a:ln w="9525" algn="ctr">
            <a:solidFill>
              <a:srgbClr val="FFC000"/>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1800" b="1"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Displaying data in China through the slave server is faster since it is local</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up)">
                                      <p:cBhvr>
                                        <p:cTn id="11" dur="500"/>
                                        <p:tgtEl>
                                          <p:spTgt spid="4"/>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26"/>
                                        </p:tgtEl>
                                        <p:attrNameLst>
                                          <p:attrName>style.visibility</p:attrName>
                                        </p:attrNameLst>
                                      </p:cBhvr>
                                      <p:to>
                                        <p:strVal val="visible"/>
                                      </p:to>
                                    </p:set>
                                    <p:animEffect transition="in" filter="wipe(left)">
                                      <p:cBhvr>
                                        <p:cTn id="16" dur="500"/>
                                        <p:tgtEl>
                                          <p:spTgt spid="26"/>
                                        </p:tgtEl>
                                      </p:cBhvr>
                                    </p:animEffect>
                                  </p:childTnLst>
                                </p:cTn>
                              </p:par>
                            </p:childTnLst>
                          </p:cTn>
                        </p:par>
                        <p:par>
                          <p:cTn id="17" fill="hold" nodeType="afterGroup">
                            <p:stCondLst>
                              <p:cond delay="500"/>
                            </p:stCondLst>
                            <p:childTnLst>
                              <p:par>
                                <p:cTn id="18" presetID="22" presetClass="entr" presetSubtype="1" fill="hold" nodeType="after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wipe(up)">
                                      <p:cBhvr>
                                        <p:cTn id="20" dur="500"/>
                                        <p:tgtEl>
                                          <p:spTgt spid="25"/>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wipe(left)">
                                      <p:cBhvr>
                                        <p:cTn id="25" dur="500"/>
                                        <p:tgtEl>
                                          <p:spTgt spid="5"/>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2" fill="hold" nodeType="clickEffect">
                                  <p:stCondLst>
                                    <p:cond delay="0"/>
                                  </p:stCondLst>
                                  <p:childTnLst>
                                    <p:set>
                                      <p:cBhvr>
                                        <p:cTn id="29" dur="1" fill="hold">
                                          <p:stCondLst>
                                            <p:cond delay="0"/>
                                          </p:stCondLst>
                                        </p:cTn>
                                        <p:tgtEl>
                                          <p:spTgt spid="35"/>
                                        </p:tgtEl>
                                        <p:attrNameLst>
                                          <p:attrName>style.visibility</p:attrName>
                                        </p:attrNameLst>
                                      </p:cBhvr>
                                      <p:to>
                                        <p:strVal val="visible"/>
                                      </p:to>
                                    </p:set>
                                    <p:animEffect transition="in" filter="wipe(right)">
                                      <p:cBhvr>
                                        <p:cTn id="30" dur="500"/>
                                        <p:tgtEl>
                                          <p:spTgt spid="35"/>
                                        </p:tgtEl>
                                      </p:cBhvr>
                                    </p:animEffect>
                                  </p:childTnLst>
                                </p:cTn>
                              </p:par>
                            </p:childTnLst>
                          </p:cTn>
                        </p:par>
                        <p:par>
                          <p:cTn id="31" fill="hold" nodeType="afterGroup">
                            <p:stCondLst>
                              <p:cond delay="500"/>
                            </p:stCondLst>
                            <p:childTnLst>
                              <p:par>
                                <p:cTn id="32" presetID="16" presetClass="entr" presetSubtype="21" fill="hold" grpId="0" nodeType="afterEffect">
                                  <p:stCondLst>
                                    <p:cond delay="0"/>
                                  </p:stCondLst>
                                  <p:childTnLst>
                                    <p:set>
                                      <p:cBhvr>
                                        <p:cTn id="33" dur="1" fill="hold">
                                          <p:stCondLst>
                                            <p:cond delay="0"/>
                                          </p:stCondLst>
                                        </p:cTn>
                                        <p:tgtEl>
                                          <p:spTgt spid="47"/>
                                        </p:tgtEl>
                                        <p:attrNameLst>
                                          <p:attrName>style.visibility</p:attrName>
                                        </p:attrNameLst>
                                      </p:cBhvr>
                                      <p:to>
                                        <p:strVal val="visible"/>
                                      </p:to>
                                    </p:set>
                                    <p:animEffect transition="in" filter="barn(inVertical)">
                                      <p:cBhvr>
                                        <p:cTn id="34"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47" grpId="0" animBg="1"/>
    </p:bldLst>
  </p:timing>
</p:sld>
</file>

<file path=ppt/slides/slide3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F93C3-B4BF-DB70-5A5B-47A394373638}"/>
              </a:ext>
            </a:extLst>
          </p:cNvPr>
          <p:cNvSpPr>
            <a:spLocks noGrp="1"/>
          </p:cNvSpPr>
          <p:nvPr>
            <p:ph type="title"/>
          </p:nvPr>
        </p:nvSpPr>
        <p:spPr>
          <a:xfrm>
            <a:off x="457200" y="0"/>
            <a:ext cx="7620000" cy="1143000"/>
          </a:xfrm>
        </p:spPr>
        <p:txBody>
          <a:bodyPr/>
          <a:lstStyle/>
          <a:p>
            <a:pPr algn="ctr">
              <a:defRPr/>
            </a:pPr>
            <a:r>
              <a:rPr lang="en-US" dirty="0"/>
              <a:t>Database Replication</a:t>
            </a:r>
            <a:endParaRPr lang="en-CA" dirty="0"/>
          </a:p>
        </p:txBody>
      </p:sp>
      <p:sp>
        <p:nvSpPr>
          <p:cNvPr id="19" name="Snip Single Corner Rectangle 18">
            <a:extLst>
              <a:ext uri="{FF2B5EF4-FFF2-40B4-BE49-F238E27FC236}">
                <a16:creationId xmlns:a16="http://schemas.microsoft.com/office/drawing/2014/main" id="{9D098818-6B40-02F3-4D40-60A13E09B54B}"/>
              </a:ext>
            </a:extLst>
          </p:cNvPr>
          <p:cNvSpPr/>
          <p:nvPr/>
        </p:nvSpPr>
        <p:spPr>
          <a:xfrm>
            <a:off x="-36513" y="1211263"/>
            <a:ext cx="4392613" cy="371475"/>
          </a:xfrm>
          <a:prstGeom prst="snip1Rect">
            <a:avLst/>
          </a:prstGeom>
          <a:solidFill>
            <a:srgbClr val="525759"/>
          </a:solidFill>
          <a:ln>
            <a:solidFill>
              <a:srgbClr val="525759"/>
            </a:solidFill>
          </a:ln>
        </p:spPr>
        <p:style>
          <a:lnRef idx="1">
            <a:schemeClr val="accent2"/>
          </a:lnRef>
          <a:fillRef idx="3">
            <a:schemeClr val="accent2"/>
          </a:fillRef>
          <a:effectRef idx="2">
            <a:schemeClr val="accent2"/>
          </a:effectRef>
          <a:fontRef idx="minor">
            <a:schemeClr val="lt1"/>
          </a:fontRef>
        </p:style>
        <p:txBody>
          <a:bodyPr anchor="ctr">
            <a:spAutoFit/>
          </a:bodyPr>
          <a:lstStyle/>
          <a:p>
            <a:pPr marL="0" marR="0" lvl="0" indent="0" algn="ctr" defTabSz="2889250" rtl="0" eaLnBrk="0" fontAlgn="base" latinLnBrk="0" hangingPunct="0">
              <a:lnSpc>
                <a:spcPct val="90000"/>
              </a:lnSpc>
              <a:spcBef>
                <a:spcPct val="0"/>
              </a:spcBef>
              <a:spcAft>
                <a:spcPct val="35000"/>
              </a:spcAft>
              <a:buClrTx/>
              <a:buSzTx/>
              <a:buFontTx/>
              <a:buNone/>
              <a:tabLst/>
              <a:defRPr/>
            </a:pPr>
            <a:r>
              <a:rPr kumimoji="0" lang="en-CA" sz="1800" b="0" i="0" u="none" strike="noStrike" kern="1200" cap="none" spc="0" normalizeH="0" baseline="0" noProof="0" dirty="0">
                <a:ln>
                  <a:noFill/>
                </a:ln>
                <a:solidFill>
                  <a:srgbClr val="FFFFFF"/>
                </a:solidFill>
                <a:effectLst/>
                <a:uLnTx/>
                <a:uFillTx/>
                <a:latin typeface="Calibri"/>
                <a:ea typeface="+mn-ea"/>
                <a:cs typeface="+mn-cs"/>
              </a:rPr>
              <a:t>Backup without Lost of Database Access</a:t>
            </a:r>
          </a:p>
        </p:txBody>
      </p:sp>
      <p:sp>
        <p:nvSpPr>
          <p:cNvPr id="20" name="Content Placeholder 2">
            <a:extLst>
              <a:ext uri="{FF2B5EF4-FFF2-40B4-BE49-F238E27FC236}">
                <a16:creationId xmlns:a16="http://schemas.microsoft.com/office/drawing/2014/main" id="{014A5A16-93DE-6461-3773-3D51E4CADF36}"/>
              </a:ext>
            </a:extLst>
          </p:cNvPr>
          <p:cNvSpPr txBox="1">
            <a:spLocks/>
          </p:cNvSpPr>
          <p:nvPr/>
        </p:nvSpPr>
        <p:spPr bwMode="auto">
          <a:xfrm>
            <a:off x="250825" y="1885950"/>
            <a:ext cx="8004175" cy="108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Binary backup often means the lost of data access as the server needs to be shut down</a:t>
            </a: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r>
              <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rPr>
              <a:t>With database replication</a:t>
            </a: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32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40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ct val="20000"/>
              </a:spcBef>
              <a:spcAft>
                <a:spcPct val="0"/>
              </a:spcAft>
              <a:buClr>
                <a:srgbClr val="FF6600"/>
              </a:buClr>
              <a:buSzTx/>
              <a:buFont typeface="Wingdings 3" panose="05040102010807070707" pitchFamily="18" charset="2"/>
              <a:buNone/>
              <a:tabLst/>
              <a:defRPr/>
            </a:pPr>
            <a:endParaRPr kumimoji="0" lang="en-CA" altLang="en-US" sz="1800" b="0" i="0" u="none" strike="noStrike" kern="1200" cap="none" spc="0" normalizeH="0" baseline="0" noProof="0">
              <a:ln>
                <a:noFill/>
              </a:ln>
              <a:solidFill>
                <a:srgbClr val="2F2B20"/>
              </a:solidFill>
              <a:effectLst/>
              <a:uLnTx/>
              <a:uFillTx/>
              <a:latin typeface="Calibri" panose="020F0502020204030204" pitchFamily="34" charset="0"/>
              <a:ea typeface="+mn-ea"/>
              <a:cs typeface="Arial" panose="020B0604020202020204" pitchFamily="34" charset="0"/>
            </a:endParaRPr>
          </a:p>
        </p:txBody>
      </p:sp>
      <p:grpSp>
        <p:nvGrpSpPr>
          <p:cNvPr id="3" name="Group 36">
            <a:extLst>
              <a:ext uri="{FF2B5EF4-FFF2-40B4-BE49-F238E27FC236}">
                <a16:creationId xmlns:a16="http://schemas.microsoft.com/office/drawing/2014/main" id="{AA5FF246-DAC4-EF47-BA02-C4C69776F532}"/>
              </a:ext>
            </a:extLst>
          </p:cNvPr>
          <p:cNvGrpSpPr>
            <a:grpSpLocks/>
          </p:cNvGrpSpPr>
          <p:nvPr/>
        </p:nvGrpSpPr>
        <p:grpSpPr bwMode="auto">
          <a:xfrm>
            <a:off x="304800" y="3703638"/>
            <a:ext cx="7377113" cy="2419350"/>
            <a:chOff x="687760" y="3789040"/>
            <a:chExt cx="7377007" cy="2418639"/>
          </a:xfrm>
        </p:grpSpPr>
        <p:sp>
          <p:nvSpPr>
            <p:cNvPr id="92171" name="TextBox 37">
              <a:extLst>
                <a:ext uri="{FF2B5EF4-FFF2-40B4-BE49-F238E27FC236}">
                  <a16:creationId xmlns:a16="http://schemas.microsoft.com/office/drawing/2014/main" id="{2F2A8197-66CE-E54B-8C68-7200369279CB}"/>
                </a:ext>
              </a:extLst>
            </p:cNvPr>
            <p:cNvSpPr txBox="1">
              <a:spLocks noChangeArrowheads="1"/>
            </p:cNvSpPr>
            <p:nvPr/>
          </p:nvSpPr>
          <p:spPr bwMode="auto">
            <a:xfrm>
              <a:off x="687760" y="4869160"/>
              <a:ext cx="165618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Master server</a:t>
              </a:r>
            </a:p>
          </p:txBody>
        </p:sp>
        <p:pic>
          <p:nvPicPr>
            <p:cNvPr id="92172" name="Picture 54">
              <a:extLst>
                <a:ext uri="{FF2B5EF4-FFF2-40B4-BE49-F238E27FC236}">
                  <a16:creationId xmlns:a16="http://schemas.microsoft.com/office/drawing/2014/main" id="{301C21BF-B0CA-5507-727B-F257D4EA784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426734" y="5127559"/>
              <a:ext cx="1346750" cy="1080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173" name="Picture 52">
              <a:extLst>
                <a:ext uri="{FF2B5EF4-FFF2-40B4-BE49-F238E27FC236}">
                  <a16:creationId xmlns:a16="http://schemas.microsoft.com/office/drawing/2014/main" id="{D4460087-233F-AAC6-C492-57B4C80A180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453306" y="3789040"/>
              <a:ext cx="1346750" cy="1080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174" name="Picture 50">
              <a:extLst>
                <a:ext uri="{FF2B5EF4-FFF2-40B4-BE49-F238E27FC236}">
                  <a16:creationId xmlns:a16="http://schemas.microsoft.com/office/drawing/2014/main" id="{82017D00-7702-A62E-EABA-04369249025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415952" y="4517504"/>
              <a:ext cx="1346750" cy="1080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175" name="TextBox 41">
              <a:extLst>
                <a:ext uri="{FF2B5EF4-FFF2-40B4-BE49-F238E27FC236}">
                  <a16:creationId xmlns:a16="http://schemas.microsoft.com/office/drawing/2014/main" id="{280C42C0-18C7-685E-21A5-8935B1324232}"/>
                </a:ext>
              </a:extLst>
            </p:cNvPr>
            <p:cNvSpPr txBox="1">
              <a:spLocks noChangeArrowheads="1"/>
            </p:cNvSpPr>
            <p:nvPr/>
          </p:nvSpPr>
          <p:spPr bwMode="auto">
            <a:xfrm>
              <a:off x="6402531" y="3995393"/>
              <a:ext cx="165618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Slave server</a:t>
              </a:r>
            </a:p>
          </p:txBody>
        </p:sp>
        <p:sp>
          <p:nvSpPr>
            <p:cNvPr id="92176" name="TextBox 42">
              <a:extLst>
                <a:ext uri="{FF2B5EF4-FFF2-40B4-BE49-F238E27FC236}">
                  <a16:creationId xmlns:a16="http://schemas.microsoft.com/office/drawing/2014/main" id="{D5BAB87B-96FC-55E1-20CA-C7A49A617AA2}"/>
                </a:ext>
              </a:extLst>
            </p:cNvPr>
            <p:cNvSpPr txBox="1">
              <a:spLocks noChangeArrowheads="1"/>
            </p:cNvSpPr>
            <p:nvPr/>
          </p:nvSpPr>
          <p:spPr bwMode="auto">
            <a:xfrm>
              <a:off x="6408583" y="5388432"/>
              <a:ext cx="165618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alt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Slave server</a:t>
              </a:r>
            </a:p>
          </p:txBody>
        </p:sp>
        <p:cxnSp>
          <p:nvCxnSpPr>
            <p:cNvPr id="92177" name="Straight Arrow Connector 43">
              <a:extLst>
                <a:ext uri="{FF2B5EF4-FFF2-40B4-BE49-F238E27FC236}">
                  <a16:creationId xmlns:a16="http://schemas.microsoft.com/office/drawing/2014/main" id="{BCB441C9-FF7A-B0C8-7FF6-A76E9A61D62D}"/>
                </a:ext>
              </a:extLst>
            </p:cNvPr>
            <p:cNvCxnSpPr>
              <a:cxnSpLocks noChangeShapeType="1"/>
            </p:cNvCxnSpPr>
            <p:nvPr/>
          </p:nvCxnSpPr>
          <p:spPr bwMode="auto">
            <a:xfrm>
              <a:off x="771643" y="5238492"/>
              <a:ext cx="1584176" cy="0"/>
            </a:xfrm>
            <a:prstGeom prst="straightConnector1">
              <a:avLst/>
            </a:prstGeom>
            <a:noFill/>
            <a:ln w="2540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92178" name="Straight Arrow Connector 44">
              <a:extLst>
                <a:ext uri="{FF2B5EF4-FFF2-40B4-BE49-F238E27FC236}">
                  <a16:creationId xmlns:a16="http://schemas.microsoft.com/office/drawing/2014/main" id="{DAD47621-2FA7-1363-D154-968489DF3C51}"/>
                </a:ext>
              </a:extLst>
            </p:cNvPr>
            <p:cNvCxnSpPr>
              <a:cxnSpLocks noChangeShapeType="1"/>
            </p:cNvCxnSpPr>
            <p:nvPr/>
          </p:nvCxnSpPr>
          <p:spPr bwMode="auto">
            <a:xfrm>
              <a:off x="3382484" y="5127559"/>
              <a:ext cx="1972242" cy="590670"/>
            </a:xfrm>
            <a:prstGeom prst="straightConnector1">
              <a:avLst/>
            </a:prstGeom>
            <a:noFill/>
            <a:ln w="2540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92179" name="Straight Arrow Connector 45">
              <a:extLst>
                <a:ext uri="{FF2B5EF4-FFF2-40B4-BE49-F238E27FC236}">
                  <a16:creationId xmlns:a16="http://schemas.microsoft.com/office/drawing/2014/main" id="{F72A7F08-C630-1210-A8E7-A8024D170878}"/>
                </a:ext>
              </a:extLst>
            </p:cNvPr>
            <p:cNvCxnSpPr>
              <a:cxnSpLocks noChangeShapeType="1"/>
            </p:cNvCxnSpPr>
            <p:nvPr/>
          </p:nvCxnSpPr>
          <p:spPr bwMode="auto">
            <a:xfrm flipV="1">
              <a:off x="3387555" y="4329100"/>
              <a:ext cx="1967171" cy="710768"/>
            </a:xfrm>
            <a:prstGeom prst="straightConnector1">
              <a:avLst/>
            </a:prstGeom>
            <a:noFill/>
            <a:ln w="2540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92180" name="Straight Arrow Connector 46">
              <a:extLst>
                <a:ext uri="{FF2B5EF4-FFF2-40B4-BE49-F238E27FC236}">
                  <a16:creationId xmlns:a16="http://schemas.microsoft.com/office/drawing/2014/main" id="{9F39618E-1271-507C-8CD5-0D8519974473}"/>
                </a:ext>
              </a:extLst>
            </p:cNvPr>
            <p:cNvCxnSpPr>
              <a:cxnSpLocks noChangeShapeType="1"/>
            </p:cNvCxnSpPr>
            <p:nvPr/>
          </p:nvCxnSpPr>
          <p:spPr bwMode="auto">
            <a:xfrm>
              <a:off x="771643" y="4892910"/>
              <a:ext cx="1584176" cy="0"/>
            </a:xfrm>
            <a:prstGeom prst="straightConnector1">
              <a:avLst/>
            </a:prstGeom>
            <a:noFill/>
            <a:ln w="25400" algn="ctr">
              <a:solidFill>
                <a:schemeClr val="tx1"/>
              </a:solidFill>
              <a:round/>
              <a:headEnd type="triangle" w="med" len="med"/>
              <a:tailEnd/>
            </a:ln>
            <a:extLst>
              <a:ext uri="{909E8E84-426E-40DD-AFC4-6F175D3DCCD1}">
                <a14:hiddenFill xmlns:a14="http://schemas.microsoft.com/office/drawing/2010/main">
                  <a:noFill/>
                </a14:hiddenFill>
              </a:ext>
            </a:extLst>
          </p:spPr>
        </p:cxnSp>
        <p:cxnSp>
          <p:nvCxnSpPr>
            <p:cNvPr id="92181" name="Straight Arrow Connector 47">
              <a:extLst>
                <a:ext uri="{FF2B5EF4-FFF2-40B4-BE49-F238E27FC236}">
                  <a16:creationId xmlns:a16="http://schemas.microsoft.com/office/drawing/2014/main" id="{C5FCBD44-F0C5-E9E3-0076-A8DC8F2EB663}"/>
                </a:ext>
              </a:extLst>
            </p:cNvPr>
            <p:cNvCxnSpPr>
              <a:cxnSpLocks noChangeShapeType="1"/>
            </p:cNvCxnSpPr>
            <p:nvPr/>
          </p:nvCxnSpPr>
          <p:spPr bwMode="auto">
            <a:xfrm>
              <a:off x="3762702" y="4180403"/>
              <a:ext cx="1584176" cy="0"/>
            </a:xfrm>
            <a:prstGeom prst="straightConnector1">
              <a:avLst/>
            </a:prstGeom>
            <a:noFill/>
            <a:ln w="25400" algn="ctr">
              <a:solidFill>
                <a:schemeClr val="tx1"/>
              </a:solidFill>
              <a:round/>
              <a:headEnd type="triangle" w="med" len="med"/>
              <a:tailEnd/>
            </a:ln>
            <a:extLst>
              <a:ext uri="{909E8E84-426E-40DD-AFC4-6F175D3DCCD1}">
                <a14:hiddenFill xmlns:a14="http://schemas.microsoft.com/office/drawing/2010/main">
                  <a:noFill/>
                </a14:hiddenFill>
              </a:ext>
            </a:extLst>
          </p:spPr>
        </p:cxnSp>
        <p:cxnSp>
          <p:nvCxnSpPr>
            <p:cNvPr id="92182" name="Straight Arrow Connector 48">
              <a:extLst>
                <a:ext uri="{FF2B5EF4-FFF2-40B4-BE49-F238E27FC236}">
                  <a16:creationId xmlns:a16="http://schemas.microsoft.com/office/drawing/2014/main" id="{88D14353-0C53-9A33-CFE4-5949B725023D}"/>
                </a:ext>
              </a:extLst>
            </p:cNvPr>
            <p:cNvCxnSpPr>
              <a:cxnSpLocks noChangeShapeType="1"/>
            </p:cNvCxnSpPr>
            <p:nvPr/>
          </p:nvCxnSpPr>
          <p:spPr bwMode="auto">
            <a:xfrm>
              <a:off x="3770550" y="5844491"/>
              <a:ext cx="1584176" cy="0"/>
            </a:xfrm>
            <a:prstGeom prst="straightConnector1">
              <a:avLst/>
            </a:prstGeom>
            <a:noFill/>
            <a:ln w="25400" algn="ctr">
              <a:solidFill>
                <a:schemeClr val="tx1"/>
              </a:solidFill>
              <a:round/>
              <a:headEnd type="triangle" w="med" len="med"/>
              <a:tailEnd/>
            </a:ln>
            <a:extLst>
              <a:ext uri="{909E8E84-426E-40DD-AFC4-6F175D3DCCD1}">
                <a14:hiddenFill xmlns:a14="http://schemas.microsoft.com/office/drawing/2010/main">
                  <a:noFill/>
                </a14:hiddenFill>
              </a:ext>
            </a:extLst>
          </p:spPr>
        </p:cxnSp>
      </p:grpSp>
      <p:sp>
        <p:nvSpPr>
          <p:cNvPr id="85" name="Multiply 84">
            <a:extLst>
              <a:ext uri="{FF2B5EF4-FFF2-40B4-BE49-F238E27FC236}">
                <a16:creationId xmlns:a16="http://schemas.microsoft.com/office/drawing/2014/main" id="{82F1671F-E9EF-6DAB-4EBE-160CC36FF7E8}"/>
              </a:ext>
            </a:extLst>
          </p:cNvPr>
          <p:cNvSpPr/>
          <p:nvPr/>
        </p:nvSpPr>
        <p:spPr bwMode="auto">
          <a:xfrm>
            <a:off x="5079269" y="3806978"/>
            <a:ext cx="874744" cy="874744"/>
          </a:xfrm>
          <a:prstGeom prst="mathMultiply">
            <a:avLst>
              <a:gd name="adj1" fmla="val 14809"/>
            </a:avLst>
          </a:prstGeom>
          <a:solidFill>
            <a:srgbClr val="C00000"/>
          </a:solidFill>
          <a:ln w="9525" cap="flat" cmpd="sng" algn="ctr">
            <a:noFill/>
            <a:prstDash val="solid"/>
            <a:round/>
            <a:headEnd type="none" w="med" len="med"/>
            <a:tailEnd type="none" w="med" len="med"/>
          </a:ln>
          <a:effectLst/>
          <a:scene3d>
            <a:camera prst="orthographicFront"/>
            <a:lightRig rig="threePt" dir="t"/>
          </a:scene3d>
          <a:sp3d>
            <a:bevelT w="25400" h="25400"/>
          </a:sp3d>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MY" sz="1800" b="0" i="0" u="none" strike="noStrike" kern="1200" cap="none" spc="0" normalizeH="0" baseline="0" noProof="0">
              <a:ln>
                <a:noFill/>
              </a:ln>
              <a:solidFill>
                <a:srgbClr val="2F2B20"/>
              </a:solidFill>
              <a:effectLst/>
              <a:uLnTx/>
              <a:uFillTx/>
              <a:latin typeface="Arial" charset="0"/>
              <a:ea typeface="+mn-ea"/>
              <a:cs typeface="Arial" panose="020B0604020202020204" pitchFamily="34" charset="0"/>
            </a:endParaRPr>
          </a:p>
        </p:txBody>
      </p:sp>
      <p:sp>
        <p:nvSpPr>
          <p:cNvPr id="86" name="Rectangle 85">
            <a:extLst>
              <a:ext uri="{FF2B5EF4-FFF2-40B4-BE49-F238E27FC236}">
                <a16:creationId xmlns:a16="http://schemas.microsoft.com/office/drawing/2014/main" id="{87868390-7F79-51CA-D199-55E6AAF6DBF6}"/>
              </a:ext>
            </a:extLst>
          </p:cNvPr>
          <p:cNvSpPr>
            <a:spLocks noChangeArrowheads="1"/>
          </p:cNvSpPr>
          <p:nvPr/>
        </p:nvSpPr>
        <p:spPr bwMode="auto">
          <a:xfrm>
            <a:off x="76200" y="6083300"/>
            <a:ext cx="5053013" cy="698500"/>
          </a:xfrm>
          <a:prstGeom prst="rect">
            <a:avLst/>
          </a:prstGeom>
          <a:solidFill>
            <a:srgbClr val="FFFF00">
              <a:alpha val="30196"/>
            </a:srgbClr>
          </a:solidFill>
          <a:ln w="9525" algn="ctr">
            <a:solidFill>
              <a:srgbClr val="FFC000"/>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altLang="en-US" sz="20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Shutdown one slave server to perform binary backup. Data access not affected</a:t>
            </a:r>
            <a:endParaRPr kumimoji="0" lang="en-CA" altLang="en-US" sz="2000" b="1"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endParaRPr>
          </a:p>
        </p:txBody>
      </p:sp>
      <p:sp>
        <p:nvSpPr>
          <p:cNvPr id="29" name="TextBox 28">
            <a:extLst>
              <a:ext uri="{FF2B5EF4-FFF2-40B4-BE49-F238E27FC236}">
                <a16:creationId xmlns:a16="http://schemas.microsoft.com/office/drawing/2014/main" id="{20307CB3-F20C-0F10-FBDF-6F28623B0E6C}"/>
              </a:ext>
            </a:extLst>
          </p:cNvPr>
          <p:cNvSpPr txBox="1"/>
          <p:nvPr/>
        </p:nvSpPr>
        <p:spPr>
          <a:xfrm>
            <a:off x="6081713" y="4291013"/>
            <a:ext cx="2244725" cy="715962"/>
          </a:xfrm>
          <a:prstGeom prst="roundRect">
            <a:avLst/>
          </a:prstGeom>
        </p:spPr>
        <p:style>
          <a:lnRef idx="3">
            <a:schemeClr val="lt1"/>
          </a:lnRef>
          <a:fillRef idx="1">
            <a:schemeClr val="accent4"/>
          </a:fillRef>
          <a:effectRef idx="1">
            <a:schemeClr val="accent4"/>
          </a:effectRef>
          <a:fontRef idx="minor">
            <a:schemeClr val="lt1"/>
          </a:fontRef>
        </p:style>
        <p:txBody>
          <a:bodyP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1800" b="0" i="0" u="none" strike="noStrike" kern="1200" cap="none" spc="0" normalizeH="0" baseline="0" noProof="0" dirty="0">
                <a:ln>
                  <a:noFill/>
                </a:ln>
                <a:solidFill>
                  <a:srgbClr val="FFFFFF"/>
                </a:solidFill>
                <a:effectLst/>
                <a:uLnTx/>
                <a:uFillTx/>
                <a:latin typeface="Calibri"/>
                <a:ea typeface="+mn-ea"/>
                <a:cs typeface="+mn-cs"/>
              </a:rPr>
              <a:t>Performing binary backup…</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ipe(left)">
                                      <p:cBhvr>
                                        <p:cTn id="7" dur="500"/>
                                        <p:tgtEl>
                                          <p:spTgt spid="19"/>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0">
                                            <p:txEl>
                                              <p:pRg st="0" end="0"/>
                                            </p:txEl>
                                          </p:spTgt>
                                        </p:tgtEl>
                                        <p:attrNameLst>
                                          <p:attrName>style.visibility</p:attrName>
                                        </p:attrNameLst>
                                      </p:cBhvr>
                                      <p:to>
                                        <p:strVal val="visible"/>
                                      </p:to>
                                    </p:set>
                                    <p:animEffect transition="in" filter="wipe(left)">
                                      <p:cBhvr>
                                        <p:cTn id="11" dur="500"/>
                                        <p:tgtEl>
                                          <p:spTgt spid="20">
                                            <p:txEl>
                                              <p:pRg st="0" end="0"/>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20">
                                            <p:txEl>
                                              <p:pRg st="2" end="2"/>
                                            </p:txEl>
                                          </p:spTgt>
                                        </p:tgtEl>
                                        <p:attrNameLst>
                                          <p:attrName>style.visibility</p:attrName>
                                        </p:attrNameLst>
                                      </p:cBhvr>
                                      <p:to>
                                        <p:strVal val="visible"/>
                                      </p:to>
                                    </p:set>
                                    <p:animEffect transition="in" filter="wipe(left)">
                                      <p:cBhvr>
                                        <p:cTn id="16" dur="500"/>
                                        <p:tgtEl>
                                          <p:spTgt spid="20">
                                            <p:txEl>
                                              <p:pRg st="2" end="2"/>
                                            </p:txEl>
                                          </p:spTgt>
                                        </p:tgtEl>
                                      </p:cBhvr>
                                    </p:animEffect>
                                  </p:childTnLst>
                                </p:cTn>
                              </p:par>
                            </p:childTnLst>
                          </p:cTn>
                        </p:par>
                        <p:par>
                          <p:cTn id="17" fill="hold" nodeType="afterGroup">
                            <p:stCondLst>
                              <p:cond delay="500"/>
                            </p:stCondLst>
                            <p:childTnLst>
                              <p:par>
                                <p:cTn id="18" presetID="22" presetClass="entr" presetSubtype="8" fill="hold" nodeType="after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wipe(left)">
                                      <p:cBhvr>
                                        <p:cTn id="20" dur="500"/>
                                        <p:tgtEl>
                                          <p:spTgt spid="3"/>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6" presetClass="entr" presetSubtype="21" fill="hold" grpId="0" nodeType="clickEffect">
                                  <p:stCondLst>
                                    <p:cond delay="0"/>
                                  </p:stCondLst>
                                  <p:childTnLst>
                                    <p:set>
                                      <p:cBhvr>
                                        <p:cTn id="24" dur="1" fill="hold">
                                          <p:stCondLst>
                                            <p:cond delay="0"/>
                                          </p:stCondLst>
                                        </p:cTn>
                                        <p:tgtEl>
                                          <p:spTgt spid="86"/>
                                        </p:tgtEl>
                                        <p:attrNameLst>
                                          <p:attrName>style.visibility</p:attrName>
                                        </p:attrNameLst>
                                      </p:cBhvr>
                                      <p:to>
                                        <p:strVal val="visible"/>
                                      </p:to>
                                    </p:set>
                                    <p:animEffect transition="in" filter="barn(inVertical)">
                                      <p:cBhvr>
                                        <p:cTn id="25" dur="500"/>
                                        <p:tgtEl>
                                          <p:spTgt spid="86"/>
                                        </p:tgtEl>
                                      </p:cBhvr>
                                    </p:animEffect>
                                  </p:childTnLst>
                                </p:cTn>
                              </p:par>
                            </p:childTnLst>
                          </p:cTn>
                        </p:par>
                        <p:par>
                          <p:cTn id="26" fill="hold" nodeType="afterGroup">
                            <p:stCondLst>
                              <p:cond delay="500"/>
                            </p:stCondLst>
                            <p:childTnLst>
                              <p:par>
                                <p:cTn id="27" presetID="10" presetClass="entr" presetSubtype="0" fill="hold" nodeType="afterEffect">
                                  <p:stCondLst>
                                    <p:cond delay="0"/>
                                  </p:stCondLst>
                                  <p:childTnLst>
                                    <p:set>
                                      <p:cBhvr>
                                        <p:cTn id="28" dur="1" fill="hold">
                                          <p:stCondLst>
                                            <p:cond delay="0"/>
                                          </p:stCondLst>
                                        </p:cTn>
                                        <p:tgtEl>
                                          <p:spTgt spid="85"/>
                                        </p:tgtEl>
                                        <p:attrNameLst>
                                          <p:attrName>style.visibility</p:attrName>
                                        </p:attrNameLst>
                                      </p:cBhvr>
                                      <p:to>
                                        <p:strVal val="visible"/>
                                      </p:to>
                                    </p:set>
                                    <p:animEffect transition="in" filter="fade">
                                      <p:cBhvr>
                                        <p:cTn id="29" dur="500"/>
                                        <p:tgtEl>
                                          <p:spTgt spid="85"/>
                                        </p:tgtEl>
                                      </p:cBhvr>
                                    </p:animEffect>
                                  </p:childTnLst>
                                </p:cTn>
                              </p:par>
                            </p:childTnLst>
                          </p:cTn>
                        </p:par>
                        <p:par>
                          <p:cTn id="30" fill="hold" nodeType="afterGroup">
                            <p:stCondLst>
                              <p:cond delay="1000"/>
                            </p:stCondLst>
                            <p:childTnLst>
                              <p:par>
                                <p:cTn id="31" presetID="42" presetClass="entr" presetSubtype="0" fill="hold" grpId="0" nodeType="after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1000"/>
                                        <p:tgtEl>
                                          <p:spTgt spid="29"/>
                                        </p:tgtEl>
                                      </p:cBhvr>
                                    </p:animEffect>
                                    <p:anim calcmode="lin" valueType="num">
                                      <p:cBhvr>
                                        <p:cTn id="34" dur="1000" fill="hold"/>
                                        <p:tgtEl>
                                          <p:spTgt spid="29"/>
                                        </p:tgtEl>
                                        <p:attrNameLst>
                                          <p:attrName>ppt_x</p:attrName>
                                        </p:attrNameLst>
                                      </p:cBhvr>
                                      <p:tavLst>
                                        <p:tav tm="0">
                                          <p:val>
                                            <p:strVal val="#ppt_x"/>
                                          </p:val>
                                        </p:tav>
                                        <p:tav tm="100000">
                                          <p:val>
                                            <p:strVal val="#ppt_x"/>
                                          </p:val>
                                        </p:tav>
                                      </p:tavLst>
                                    </p:anim>
                                    <p:anim calcmode="lin" valueType="num">
                                      <p:cBhvr>
                                        <p:cTn id="35"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build="p"/>
      <p:bldP spid="86" grpId="0" animBg="1"/>
      <p:bldP spid="29" grpId="0" animBg="1"/>
    </p:bldLst>
  </p:timing>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8b1a36b56023622ad18ade3c9b46a7127bcb85a"/>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djacency">
  <a:themeElements>
    <a:clrScheme name="Adjacency">
      <a:dk1>
        <a:srgbClr val="2F2B20"/>
      </a:dk1>
      <a:lt1>
        <a:srgbClr val="FFFFFF"/>
      </a:lt1>
      <a:dk2>
        <a:srgbClr val="675E47"/>
      </a:dk2>
      <a:lt2>
        <a:srgbClr val="DFDCB7"/>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Office">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djacency">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90000"/>
              </a:schemeClr>
            </a:gs>
            <a:gs pos="75000">
              <a:schemeClr val="phClr">
                <a:shade val="100000"/>
                <a:satMod val="115000"/>
              </a:schemeClr>
            </a:gs>
            <a:gs pos="100000">
              <a:schemeClr val="phClr">
                <a:shade val="70000"/>
                <a:satMod val="130000"/>
              </a:schemeClr>
            </a:gs>
          </a:gsLst>
          <a:path path="circle">
            <a:fillToRect l="20000" t="50000" r="100000" b="50000"/>
          </a:path>
        </a:gradFill>
        <a:blipFill rotWithShape="1">
          <a:blip xmlns:r="http://schemas.openxmlformats.org/officeDocument/2006/relationships" r:embed="rId1">
            <a:duotone>
              <a:schemeClr val="phClr">
                <a:tint val="97000"/>
              </a:schemeClr>
              <a:schemeClr val="phClr">
                <a:shade val="96000"/>
              </a:schemeClr>
            </a:duotone>
          </a:blip>
          <a:tile tx="0" ty="0" sx="32000" sy="32000" flip="none" algn="tl"/>
        </a:blipFill>
      </a:bgFillStyleLst>
    </a:fmtScheme>
  </a:themeElements>
  <a:objectDefaults/>
  <a:extraClrSchemeLst/>
</a:theme>
</file>

<file path=ppt/theme/theme2.xml><?xml version="1.0" encoding="utf-8"?>
<a:theme xmlns:a="http://schemas.openxmlformats.org/drawingml/2006/main" name="1_Adjacency">
  <a:themeElements>
    <a:clrScheme name="Adjacency">
      <a:dk1>
        <a:srgbClr val="2F2B20"/>
      </a:dk1>
      <a:lt1>
        <a:srgbClr val="FFFFFF"/>
      </a:lt1>
      <a:dk2>
        <a:srgbClr val="675E47"/>
      </a:dk2>
      <a:lt2>
        <a:srgbClr val="DFDCB7"/>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Office">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djacency">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90000"/>
              </a:schemeClr>
            </a:gs>
            <a:gs pos="75000">
              <a:schemeClr val="phClr">
                <a:shade val="100000"/>
                <a:satMod val="115000"/>
              </a:schemeClr>
            </a:gs>
            <a:gs pos="100000">
              <a:schemeClr val="phClr">
                <a:shade val="70000"/>
                <a:satMod val="130000"/>
              </a:schemeClr>
            </a:gs>
          </a:gsLst>
          <a:path path="circle">
            <a:fillToRect l="20000" t="50000" r="100000" b="50000"/>
          </a:path>
        </a:gradFill>
        <a:blipFill rotWithShape="1">
          <a:blip xmlns:r="http://schemas.openxmlformats.org/officeDocument/2006/relationships" r:embed="rId1">
            <a:duotone>
              <a:schemeClr val="phClr">
                <a:tint val="97000"/>
              </a:schemeClr>
              <a:schemeClr val="phClr">
                <a:shade val="96000"/>
              </a:schemeClr>
            </a:duotone>
          </a:blip>
          <a:tile tx="0" ty="0" sx="32000" sy="32000" flip="none" algn="tl"/>
        </a:blipFill>
      </a:bgFillStyleLst>
    </a:fmtScheme>
  </a:themeElements>
  <a:objectDefaults/>
  <a:extraClrSchemeLst/>
</a:theme>
</file>

<file path=ppt/theme/theme3.xml><?xml version="1.0" encoding="utf-8"?>
<a:theme xmlns:a="http://schemas.openxmlformats.org/drawingml/2006/main" name="Pixel">
  <a:themeElements>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fontScheme name="Pixel">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Adjacency</Template>
  <TotalTime>9976</TotalTime>
  <Words>17906</Words>
  <Application>Microsoft Office PowerPoint</Application>
  <PresentationFormat>On-screen Show (4:3)</PresentationFormat>
  <Paragraphs>4841</Paragraphs>
  <Slides>325</Slides>
  <Notes>6</Notes>
  <HiddenSlides>0</HiddenSlides>
  <MMClips>0</MMClips>
  <ScaleCrop>false</ScaleCrop>
  <HeadingPairs>
    <vt:vector size="6" baseType="variant">
      <vt:variant>
        <vt:lpstr>Fonts Used</vt:lpstr>
      </vt:variant>
      <vt:variant>
        <vt:i4>15</vt:i4>
      </vt:variant>
      <vt:variant>
        <vt:lpstr>Theme</vt:lpstr>
      </vt:variant>
      <vt:variant>
        <vt:i4>3</vt:i4>
      </vt:variant>
      <vt:variant>
        <vt:lpstr>Slide Titles</vt:lpstr>
      </vt:variant>
      <vt:variant>
        <vt:i4>325</vt:i4>
      </vt:variant>
    </vt:vector>
  </HeadingPairs>
  <TitlesOfParts>
    <vt:vector size="343" baseType="lpstr">
      <vt:lpstr>-apple-system</vt:lpstr>
      <vt:lpstr>Arial</vt:lpstr>
      <vt:lpstr>Arial Black</vt:lpstr>
      <vt:lpstr>Calibri</vt:lpstr>
      <vt:lpstr>Cambria</vt:lpstr>
      <vt:lpstr>erdana</vt:lpstr>
      <vt:lpstr>inherit</vt:lpstr>
      <vt:lpstr>Lato</vt:lpstr>
      <vt:lpstr>Symbol</vt:lpstr>
      <vt:lpstr>Times New Roman</vt:lpstr>
      <vt:lpstr>Trebuchet MS</vt:lpstr>
      <vt:lpstr>Udemy Sans</vt:lpstr>
      <vt:lpstr>verdana</vt:lpstr>
      <vt:lpstr>Wingdings</vt:lpstr>
      <vt:lpstr>Wingdings 3</vt:lpstr>
      <vt:lpstr>Adjacency</vt:lpstr>
      <vt:lpstr>1_Adjacency</vt:lpstr>
      <vt:lpstr>Pixel</vt:lpstr>
      <vt:lpstr>Introduction</vt:lpstr>
      <vt:lpstr>PowerPoint Presentation</vt:lpstr>
      <vt:lpstr>History</vt:lpstr>
      <vt:lpstr>PowerPoint Presentation</vt:lpstr>
      <vt:lpstr>History</vt:lpstr>
      <vt:lpstr>Benefits of Standard SQL</vt:lpstr>
      <vt:lpstr>SQL</vt:lpstr>
      <vt:lpstr>SQL and DBMSs</vt:lpstr>
      <vt:lpstr>DBMS</vt:lpstr>
      <vt:lpstr>INTRODUCTION</vt:lpstr>
      <vt:lpstr>INTRODUCTION</vt:lpstr>
      <vt:lpstr>Structured Query Language (SQL)</vt:lpstr>
      <vt:lpstr>Structured Query Language (SQL)</vt:lpstr>
      <vt:lpstr>Structured Query Language (SQL)</vt:lpstr>
      <vt:lpstr>Manipulating Databases Using SQL</vt:lpstr>
      <vt:lpstr>Manipulating Databases Using SQL</vt:lpstr>
      <vt:lpstr>Manipulating Databases Using SQL</vt:lpstr>
      <vt:lpstr>Manipulating Databases Using SQL</vt:lpstr>
      <vt:lpstr>Manipulating Tables Using SQL</vt:lpstr>
      <vt:lpstr>Manipulating Tables Using SQL</vt:lpstr>
      <vt:lpstr>Manipulating Tables Using SQL</vt:lpstr>
      <vt:lpstr>Manipulating Tables Using SQL</vt:lpstr>
      <vt:lpstr>Manipulating Tables Using SQL</vt:lpstr>
      <vt:lpstr>Manipulating Tables Using SQL</vt:lpstr>
      <vt:lpstr>Manipulating Tables Using SQL</vt:lpstr>
      <vt:lpstr>Manipulating Tables Using SQL</vt:lpstr>
      <vt:lpstr>Manipulating Tables Using SQL</vt:lpstr>
      <vt:lpstr>Manipulating Tables Using SQL</vt:lpstr>
      <vt:lpstr>Manipulating Tables Using SQL</vt:lpstr>
      <vt:lpstr>Manipulating Tables Using SQL</vt:lpstr>
      <vt:lpstr>Manipulating Tables Using SQL</vt:lpstr>
      <vt:lpstr>Manipulating Tables Using SQL</vt:lpstr>
      <vt:lpstr>Manipulating Tables Using SQL</vt:lpstr>
      <vt:lpstr>Manipulating Tables Using SQL</vt:lpstr>
      <vt:lpstr>Manipulating Tables Using SQL</vt:lpstr>
      <vt:lpstr>Manipulating Tables Using SQL</vt:lpstr>
      <vt:lpstr>Manipulating Tables Using SQL</vt:lpstr>
      <vt:lpstr>Manipulating Tables Using SQL</vt:lpstr>
      <vt:lpstr>Manipulating Tables Using SQL</vt:lpstr>
      <vt:lpstr>Manipulating Tables Using SQL</vt:lpstr>
      <vt:lpstr>Manipulating Tables Using SQL</vt:lpstr>
      <vt:lpstr>Manipulating Tables Using SQL</vt:lpstr>
      <vt:lpstr>Manipulating Tables Using SQL</vt:lpstr>
      <vt:lpstr>Manipulating Tables Using SQL</vt:lpstr>
      <vt:lpstr>Manipulating Tables Using SQL</vt:lpstr>
      <vt:lpstr>Manipulating Tables Using SQL</vt:lpstr>
      <vt:lpstr>Manipulating Tables Using SQL</vt:lpstr>
      <vt:lpstr>Manipulating Tables Using SQL</vt:lpstr>
      <vt:lpstr>Manipulating Tables Using SQL</vt:lpstr>
      <vt:lpstr>Manipulating Tables Using SQL</vt:lpstr>
      <vt:lpstr>Manipulating Tables Using SQL</vt:lpstr>
      <vt:lpstr>Manipulating Tables Using SQL</vt:lpstr>
      <vt:lpstr>Manipulating Tables Using SQL</vt:lpstr>
      <vt:lpstr>Manipulating Tables Using SQL</vt:lpstr>
      <vt:lpstr>Manipulating Tables Using SQL</vt:lpstr>
      <vt:lpstr>Manipulating Tables Using SQL</vt:lpstr>
      <vt:lpstr>Manipulating Tables Using SQL</vt:lpstr>
      <vt:lpstr>Manipulating Tables Using SQL</vt:lpstr>
      <vt:lpstr>Manipulating Tables Using SQL</vt:lpstr>
      <vt:lpstr>Manipulating Tables Using SQL</vt:lpstr>
      <vt:lpstr>Activity 1</vt:lpstr>
      <vt:lpstr>Activity 1</vt:lpstr>
      <vt:lpstr>Manipulating Data Using SQL</vt:lpstr>
      <vt:lpstr>Manipulating Data Using SQL</vt:lpstr>
      <vt:lpstr>Manipulating Data Using SQL</vt:lpstr>
      <vt:lpstr>Manipulating Data Using SQL</vt:lpstr>
      <vt:lpstr>Manipulating Data Using SQL</vt:lpstr>
      <vt:lpstr>Manipulating Data Using SQL</vt:lpstr>
      <vt:lpstr>Manipulating Data Using SQL</vt:lpstr>
      <vt:lpstr>Manipulating Data Using SQL</vt:lpstr>
      <vt:lpstr>Manipulating Data Using SQL</vt:lpstr>
      <vt:lpstr>Manipulating Data Using SQL</vt:lpstr>
      <vt:lpstr>Activity 2</vt:lpstr>
      <vt:lpstr>Manipulating Data Using SQL</vt:lpstr>
      <vt:lpstr>Manipulating Data Using SQL</vt:lpstr>
      <vt:lpstr>Activity 3</vt:lpstr>
      <vt:lpstr>Manipulating Data Using SQL</vt:lpstr>
      <vt:lpstr>Manipulating Data Using SQL</vt:lpstr>
      <vt:lpstr>Manipulating Data Using SQL</vt:lpstr>
      <vt:lpstr>Manipulating Data Using SQL</vt:lpstr>
      <vt:lpstr>Manipulating Data Using SQL</vt:lpstr>
      <vt:lpstr>Manipulating Data Using SQL</vt:lpstr>
      <vt:lpstr>Manipulating Data Using SQL</vt:lpstr>
      <vt:lpstr>Relational Constraints</vt:lpstr>
      <vt:lpstr>Relational Constraints</vt:lpstr>
      <vt:lpstr>Relational Constraints</vt:lpstr>
      <vt:lpstr>Relational Constraints</vt:lpstr>
      <vt:lpstr>Relational Constraints</vt:lpstr>
      <vt:lpstr>Relational Constraints</vt:lpstr>
      <vt:lpstr>Relational Constraints</vt:lpstr>
      <vt:lpstr>Relational Constraints</vt:lpstr>
      <vt:lpstr>Relational Constraints</vt:lpstr>
      <vt:lpstr>Relational Constraints</vt:lpstr>
      <vt:lpstr>Relational Constraints</vt:lpstr>
      <vt:lpstr>Relational Constraints</vt:lpstr>
      <vt:lpstr>Relational Constraints</vt:lpstr>
      <vt:lpstr>Logical Database Design</vt:lpstr>
      <vt:lpstr>Two Major Strengths</vt:lpstr>
      <vt:lpstr>Relational Data Model</vt:lpstr>
      <vt:lpstr>Relational Data Model </vt:lpstr>
      <vt:lpstr>Relational Data Model </vt:lpstr>
      <vt:lpstr>PowerPoint Presentation</vt:lpstr>
      <vt:lpstr>Basics of RDM</vt:lpstr>
      <vt:lpstr>Basics of RDM</vt:lpstr>
      <vt:lpstr>Basic Properties of a Table</vt:lpstr>
      <vt:lpstr>PowerPoint Presentation</vt:lpstr>
      <vt:lpstr>Basic Properties of a Table</vt:lpstr>
      <vt:lpstr>A Table</vt:lpstr>
      <vt:lpstr>Components of RDM</vt:lpstr>
      <vt:lpstr>Mathematical Relations</vt:lpstr>
      <vt:lpstr>Mathematical Relations</vt:lpstr>
      <vt:lpstr>Mathematical Relations</vt:lpstr>
      <vt:lpstr>Database Relations</vt:lpstr>
      <vt:lpstr>Database Relations</vt:lpstr>
      <vt:lpstr>Database Relations</vt:lpstr>
      <vt:lpstr>Relation Scheme</vt:lpstr>
      <vt:lpstr>Database Relations</vt:lpstr>
      <vt:lpstr>Database Relations</vt:lpstr>
      <vt:lpstr>INTRODUCTION</vt:lpstr>
      <vt:lpstr>Characteristics of Relations</vt:lpstr>
      <vt:lpstr>Characteristics of Relations</vt:lpstr>
      <vt:lpstr>Characteristics of Relations</vt:lpstr>
      <vt:lpstr>Characteristics of Relations</vt:lpstr>
      <vt:lpstr>Characteristics of Relations</vt:lpstr>
      <vt:lpstr>Characteristics of Relations</vt:lpstr>
      <vt:lpstr>Characteristics of Relations</vt:lpstr>
      <vt:lpstr>Relational Constraints</vt:lpstr>
      <vt:lpstr>Relational Constraints</vt:lpstr>
      <vt:lpstr>Relational Constraints</vt:lpstr>
      <vt:lpstr>Relational Constraints</vt:lpstr>
      <vt:lpstr>Relational Constraints</vt:lpstr>
      <vt:lpstr>Relational Constraints</vt:lpstr>
      <vt:lpstr>Relational Constraints</vt:lpstr>
      <vt:lpstr>Relational Constraints</vt:lpstr>
      <vt:lpstr>Relational Constraints</vt:lpstr>
      <vt:lpstr>Relational Constraints</vt:lpstr>
      <vt:lpstr>Relational Constraints</vt:lpstr>
      <vt:lpstr>Relational Constraints</vt:lpstr>
      <vt:lpstr>Relational Constraints</vt:lpstr>
      <vt:lpstr>Relational Database Normalization</vt:lpstr>
      <vt:lpstr>Relational Database Normalization</vt:lpstr>
      <vt:lpstr>PowerPoint Presentation</vt:lpstr>
      <vt:lpstr>Relational Database Normalization</vt:lpstr>
      <vt:lpstr>Relational Database Normalization</vt:lpstr>
      <vt:lpstr>Relational Database Normalization</vt:lpstr>
      <vt:lpstr>Relational Database Normalization</vt:lpstr>
      <vt:lpstr>Relational Database Normalization</vt:lpstr>
      <vt:lpstr>Relational Database Normalization</vt:lpstr>
      <vt:lpstr>Relational Database Normalization</vt:lpstr>
      <vt:lpstr>Relational Database Normalization</vt:lpstr>
      <vt:lpstr>Relational Database Normalization</vt:lpstr>
      <vt:lpstr>Relational Database Normalization</vt:lpstr>
      <vt:lpstr>Activity 6</vt:lpstr>
      <vt:lpstr>Relational Database Normalization</vt:lpstr>
      <vt:lpstr>Relational Database Normalization</vt:lpstr>
      <vt:lpstr>Relational Database Normalization</vt:lpstr>
      <vt:lpstr>Relational Database Normalization</vt:lpstr>
      <vt:lpstr>Relational Database Normalization</vt:lpstr>
      <vt:lpstr>Relational Database Normalization</vt:lpstr>
      <vt:lpstr>Relational Database Normalization</vt:lpstr>
      <vt:lpstr>Relational Database Normalization</vt:lpstr>
      <vt:lpstr>Relational Database Normalization</vt:lpstr>
      <vt:lpstr>Relational Database Normalization</vt:lpstr>
      <vt:lpstr>Relational Database Normalization</vt:lpstr>
      <vt:lpstr>Relational Database Normalization</vt:lpstr>
      <vt:lpstr>Relational Database Normalization</vt:lpstr>
      <vt:lpstr>Relational Database Normalization</vt:lpstr>
      <vt:lpstr>Relational Database Normalization</vt:lpstr>
      <vt:lpstr>Relational Database Normalization</vt:lpstr>
      <vt:lpstr>Relational Database Normalization</vt:lpstr>
      <vt:lpstr>Relational Database Normalization</vt:lpstr>
      <vt:lpstr>Relational Database Normalization</vt:lpstr>
      <vt:lpstr>Relational Database Normalization</vt:lpstr>
      <vt:lpstr>Relational Database Normalization</vt:lpstr>
      <vt:lpstr>Activity 7</vt:lpstr>
      <vt:lpstr>Activity 7</vt:lpstr>
      <vt:lpstr>Activity 7</vt:lpstr>
      <vt:lpstr>Activity 7</vt:lpstr>
      <vt:lpstr>Relational Database Denormalization</vt:lpstr>
      <vt:lpstr>Relational Database Denormalization</vt:lpstr>
      <vt:lpstr>Relational Database Denormalization</vt:lpstr>
      <vt:lpstr>Relational Database Denormalization</vt:lpstr>
      <vt:lpstr>Relational Database Denormalization</vt:lpstr>
      <vt:lpstr>NORMALIZATION</vt:lpstr>
      <vt:lpstr>Normalisation Example</vt:lpstr>
      <vt:lpstr>Functional Dependencies</vt:lpstr>
      <vt:lpstr> 2NF Solution (I)</vt:lpstr>
      <vt:lpstr> 2NF Solution (II)</vt:lpstr>
      <vt:lpstr>3NF</vt:lpstr>
      <vt:lpstr>Normalisation to 2NF</vt:lpstr>
      <vt:lpstr>Normalisation to 2NF</vt:lpstr>
      <vt:lpstr>Normalisation to 3NF</vt:lpstr>
      <vt:lpstr>Normalisation</vt:lpstr>
      <vt:lpstr>An Example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An Example</vt:lpstr>
      <vt:lpstr>PowerPoint Presentation</vt:lpstr>
      <vt:lpstr>PowerPoint Presentation</vt:lpstr>
      <vt:lpstr>PowerPoint Presentation</vt:lpstr>
      <vt:lpstr>PowerPoint Presentation</vt:lpstr>
      <vt:lpstr>PowerPoint Presentation</vt:lpstr>
      <vt:lpstr>PowerPoint Presentation</vt:lpstr>
      <vt:lpstr>INTRODUCTION</vt:lpstr>
      <vt:lpstr>INTRODUCTION</vt:lpstr>
      <vt:lpstr>PowerPoint Presentation</vt:lpstr>
      <vt:lpstr>JOIN</vt:lpstr>
      <vt:lpstr>JOIN</vt:lpstr>
      <vt:lpstr>JOIN</vt:lpstr>
      <vt:lpstr>JOIN</vt:lpstr>
      <vt:lpstr>JOIN</vt:lpstr>
      <vt:lpstr>JOIN</vt:lpstr>
      <vt:lpstr>JOIN</vt:lpstr>
      <vt:lpstr>JOIN</vt:lpstr>
      <vt:lpstr>JOIN</vt:lpstr>
      <vt:lpstr>JOIN</vt:lpstr>
      <vt:lpstr>JOIN</vt:lpstr>
      <vt:lpstr>JOIN</vt:lpstr>
      <vt:lpstr>Activity 1</vt:lpstr>
      <vt:lpstr>Activity 1</vt:lpstr>
      <vt:lpstr>JOIN</vt:lpstr>
      <vt:lpstr>JOIN</vt:lpstr>
      <vt:lpstr>JOIN</vt:lpstr>
      <vt:lpstr>JOIN</vt:lpstr>
      <vt:lpstr>JOIN</vt:lpstr>
      <vt:lpstr>JOIN</vt:lpstr>
      <vt:lpstr>JOIN</vt:lpstr>
      <vt:lpstr>JOIN</vt:lpstr>
      <vt:lpstr>JOIN</vt:lpstr>
      <vt:lpstr>JOIN</vt:lpstr>
      <vt:lpstr>JOIN</vt:lpstr>
      <vt:lpstr>UNION</vt:lpstr>
      <vt:lpstr>UNION</vt:lpstr>
      <vt:lpstr>UNION</vt:lpstr>
      <vt:lpstr>INTRODUCTION</vt:lpstr>
      <vt:lpstr>INTRODUCTION</vt:lpstr>
      <vt:lpstr>INTRODUCTION</vt:lpstr>
      <vt:lpstr>Math Functions</vt:lpstr>
      <vt:lpstr>Math Functions</vt:lpstr>
      <vt:lpstr>Math Functions</vt:lpstr>
      <vt:lpstr>Math Functions</vt:lpstr>
      <vt:lpstr>Math Functions</vt:lpstr>
      <vt:lpstr>Math Functions</vt:lpstr>
      <vt:lpstr>Math Functions</vt:lpstr>
      <vt:lpstr>Math Functions</vt:lpstr>
      <vt:lpstr>Math Functions</vt:lpstr>
      <vt:lpstr>Math Functions</vt:lpstr>
      <vt:lpstr>Activity 1</vt:lpstr>
      <vt:lpstr>String Functions</vt:lpstr>
      <vt:lpstr>String Functions</vt:lpstr>
      <vt:lpstr>String Functions</vt:lpstr>
      <vt:lpstr>String Functions</vt:lpstr>
      <vt:lpstr>String Functions</vt:lpstr>
      <vt:lpstr>String Functions</vt:lpstr>
      <vt:lpstr>String Functions</vt:lpstr>
      <vt:lpstr>Activity 2</vt:lpstr>
      <vt:lpstr>Date Functions</vt:lpstr>
      <vt:lpstr>Date Functions</vt:lpstr>
      <vt:lpstr>Date Functions</vt:lpstr>
      <vt:lpstr>Date Functions</vt:lpstr>
      <vt:lpstr>Date Functions</vt:lpstr>
      <vt:lpstr>Date Functions</vt:lpstr>
      <vt:lpstr>Date Functions</vt:lpstr>
      <vt:lpstr>Date Functions</vt:lpstr>
      <vt:lpstr>Date Functions</vt:lpstr>
      <vt:lpstr>Activity 3</vt:lpstr>
      <vt:lpstr>Aggregate Functions</vt:lpstr>
      <vt:lpstr>Aggregate Functions</vt:lpstr>
      <vt:lpstr>Aggregate Functions</vt:lpstr>
      <vt:lpstr>Aggregate Functions</vt:lpstr>
      <vt:lpstr>Aggregate Functions</vt:lpstr>
      <vt:lpstr>Aggregate Functions</vt:lpstr>
      <vt:lpstr>Aggregate Functions</vt:lpstr>
      <vt:lpstr>Aggregate Functions</vt:lpstr>
      <vt:lpstr>Activity 4</vt:lpstr>
      <vt:lpstr>INTRODUCTION</vt:lpstr>
      <vt:lpstr>INTRODUCTION</vt:lpstr>
      <vt:lpstr>General Database Administration</vt:lpstr>
      <vt:lpstr>General Database Administration</vt:lpstr>
      <vt:lpstr>General Database Administration</vt:lpstr>
      <vt:lpstr>General Database Administration</vt:lpstr>
      <vt:lpstr>General Database Administration</vt:lpstr>
      <vt:lpstr>General Database Administration</vt:lpstr>
      <vt:lpstr>General Database Administration</vt:lpstr>
      <vt:lpstr>Database Security</vt:lpstr>
      <vt:lpstr>Database Security</vt:lpstr>
      <vt:lpstr>Database Security</vt:lpstr>
      <vt:lpstr>Database Security</vt:lpstr>
      <vt:lpstr>Database Security</vt:lpstr>
      <vt:lpstr>Database Security</vt:lpstr>
      <vt:lpstr>Database Security</vt:lpstr>
      <vt:lpstr>Database Security</vt:lpstr>
      <vt:lpstr>Database Security</vt:lpstr>
      <vt:lpstr>Database Security</vt:lpstr>
      <vt:lpstr>Database Backup</vt:lpstr>
      <vt:lpstr>Database Backup</vt:lpstr>
      <vt:lpstr>Database Backup</vt:lpstr>
      <vt:lpstr>Database Backup</vt:lpstr>
      <vt:lpstr>Database Backup</vt:lpstr>
      <vt:lpstr>Database Backup</vt:lpstr>
      <vt:lpstr>Database Backup</vt:lpstr>
      <vt:lpstr>Database Replication</vt:lpstr>
      <vt:lpstr>Database Replication</vt:lpstr>
      <vt:lpstr>Database Replication</vt:lpstr>
      <vt:lpstr>Database Replication</vt:lpstr>
      <vt:lpstr>Database Replication</vt:lpstr>
      <vt:lpstr>Database Replication</vt:lpstr>
      <vt:lpstr>Database Replication</vt:lpstr>
      <vt:lpstr>Database Replication</vt:lpstr>
      <vt:lpstr>Database Replication</vt:lpstr>
      <vt:lpstr>Database Replication</vt:lpstr>
      <vt:lpstr>Database Replication</vt:lpstr>
      <vt:lpstr>Database Replication</vt:lpstr>
      <vt:lpstr>Database Replication</vt:lpstr>
      <vt:lpstr>Database Replication</vt:lpstr>
      <vt:lpstr>Database Replication</vt:lpstr>
      <vt:lpstr>Database Replication</vt:lpstr>
      <vt:lpstr>Database Replication</vt:lpstr>
      <vt:lpstr>Database Replication</vt:lpstr>
      <vt:lpstr>Database Replication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SE-862 SOFTWARE REQUIREMENTS ENGINEERING</dc:title>
  <dc:creator>MY PC</dc:creator>
  <cp:lastModifiedBy>Dev Hamnah</cp:lastModifiedBy>
  <cp:revision>345</cp:revision>
  <cp:lastPrinted>2012-02-06T10:44:53Z</cp:lastPrinted>
  <dcterms:created xsi:type="dcterms:W3CDTF">2006-08-16T00:00:00Z</dcterms:created>
  <dcterms:modified xsi:type="dcterms:W3CDTF">2025-06-13T14:28:13Z</dcterms:modified>
</cp:coreProperties>
</file>