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9" r:id="rId3"/>
    <p:sldId id="258" r:id="rId4"/>
    <p:sldId id="260" r:id="rId5"/>
    <p:sldId id="261" r:id="rId6"/>
    <p:sldId id="262" r:id="rId7"/>
    <p:sldId id="263" r:id="rId8"/>
    <p:sldId id="274" r:id="rId9"/>
    <p:sldId id="265" r:id="rId10"/>
    <p:sldId id="278" r:id="rId11"/>
    <p:sldId id="279" r:id="rId12"/>
    <p:sldId id="280" r:id="rId13"/>
    <p:sldId id="281" r:id="rId14"/>
    <p:sldId id="282" r:id="rId15"/>
    <p:sldId id="283" r:id="rId16"/>
    <p:sldId id="284" r:id="rId17"/>
    <p:sldId id="268" r:id="rId18"/>
    <p:sldId id="285" r:id="rId19"/>
    <p:sldId id="286" r:id="rId20"/>
    <p:sldId id="290" r:id="rId21"/>
    <p:sldId id="287" r:id="rId22"/>
    <p:sldId id="288" r:id="rId23"/>
    <p:sldId id="289" r:id="rId24"/>
    <p:sldId id="291" r:id="rId25"/>
    <p:sldId id="292" r:id="rId26"/>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2A2A"/>
    <a:srgbClr val="C00000"/>
    <a:srgbClr val="FFFF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autoAdjust="0"/>
    <p:restoredTop sz="94660"/>
  </p:normalViewPr>
  <p:slideViewPr>
    <p:cSldViewPr snapToGrid="0">
      <p:cViewPr>
        <p:scale>
          <a:sx n="53" d="100"/>
          <a:sy n="53" d="100"/>
        </p:scale>
        <p:origin x="-1068" y="-340"/>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x-none" smtClean="0"/>
              <a:pPr/>
              <a:t>30-Sep-24</a:t>
            </a:fld>
            <a:endParaRPr lang="x-none"/>
          </a:p>
        </p:txBody>
      </p:sp>
      <p:sp>
        <p:nvSpPr>
          <p:cNvPr id="5" name="Footer Placeholder 4">
            <a:extLst>
              <a:ext uri="{FF2B5EF4-FFF2-40B4-BE49-F238E27FC236}">
                <a16:creationId xmlns="" xmlns:a16="http://schemas.microsoft.com/office/drawing/2014/main" id="{9DA69AAB-D032-4740-999C-6FECB3BEC83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D11BF5-D802-48A8-8681-E64C843E4622}"/>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x-none" smtClean="0"/>
              <a:pPr/>
              <a:t>30-Sep-24</a:t>
            </a:fld>
            <a:endParaRPr lang="x-none"/>
          </a:p>
        </p:txBody>
      </p:sp>
      <p:sp>
        <p:nvSpPr>
          <p:cNvPr id="5" name="Footer Placeholder 4">
            <a:extLst>
              <a:ext uri="{FF2B5EF4-FFF2-40B4-BE49-F238E27FC236}">
                <a16:creationId xmlns="" xmlns:a16="http://schemas.microsoft.com/office/drawing/2014/main" id="{E316D8A9-019D-413B-8A1E-F14D6EE3561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x-none" smtClean="0"/>
              <a:pPr/>
              <a:t>30-Sep-24</a:t>
            </a:fld>
            <a:endParaRPr lang="x-none"/>
          </a:p>
        </p:txBody>
      </p:sp>
      <p:sp>
        <p:nvSpPr>
          <p:cNvPr id="5" name="Footer Placeholder 4">
            <a:extLst>
              <a:ext uri="{FF2B5EF4-FFF2-40B4-BE49-F238E27FC236}">
                <a16:creationId xmlns="" xmlns:a16="http://schemas.microsoft.com/office/drawing/2014/main" id="{5AE7F1A7-FFC1-4BDE-908E-7A849372FAF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x-none" smtClean="0"/>
              <a:pPr/>
              <a:t>30-Sep-24</a:t>
            </a:fld>
            <a:endParaRPr lang="x-none"/>
          </a:p>
        </p:txBody>
      </p:sp>
      <p:sp>
        <p:nvSpPr>
          <p:cNvPr id="6" name="Footer Placeholder 5">
            <a:extLst>
              <a:ext uri="{FF2B5EF4-FFF2-40B4-BE49-F238E27FC236}">
                <a16:creationId xmlns="" xmlns:a16="http://schemas.microsoft.com/office/drawing/2014/main" id="{E8CB8FE9-ABD0-4AA5-986C-BC29ECC4F014}"/>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x-none" smtClean="0"/>
              <a:pPr/>
              <a:t>30-Sep-24</a:t>
            </a:fld>
            <a:endParaRPr lang="x-none"/>
          </a:p>
        </p:txBody>
      </p:sp>
      <p:sp>
        <p:nvSpPr>
          <p:cNvPr id="8" name="Footer Placeholder 7">
            <a:extLst>
              <a:ext uri="{FF2B5EF4-FFF2-40B4-BE49-F238E27FC236}">
                <a16:creationId xmlns="" xmlns:a16="http://schemas.microsoft.com/office/drawing/2014/main" id="{6A253149-4D4C-46D5-8100-4A3D9F41B000}"/>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x-none" smtClean="0"/>
              <a:pPr/>
              <a:t>30-Sep-24</a:t>
            </a:fld>
            <a:endParaRPr lang="x-none"/>
          </a:p>
        </p:txBody>
      </p:sp>
      <p:sp>
        <p:nvSpPr>
          <p:cNvPr id="4" name="Footer Placeholder 3">
            <a:extLst>
              <a:ext uri="{FF2B5EF4-FFF2-40B4-BE49-F238E27FC236}">
                <a16:creationId xmlns="" xmlns:a16="http://schemas.microsoft.com/office/drawing/2014/main" id="{CB3A80F5-1CBF-45BD-A6AD-6BE98C141DE2}"/>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x-none" smtClean="0"/>
              <a:pPr/>
              <a:t>30-Sep-24</a:t>
            </a:fld>
            <a:endParaRPr lang="x-none"/>
          </a:p>
        </p:txBody>
      </p:sp>
      <p:sp>
        <p:nvSpPr>
          <p:cNvPr id="3" name="Footer Placeholder 2">
            <a:extLst>
              <a:ext uri="{FF2B5EF4-FFF2-40B4-BE49-F238E27FC236}">
                <a16:creationId xmlns="" xmlns:a16="http://schemas.microsoft.com/office/drawing/2014/main" id="{C1CC15DB-F842-49C3-B55B-A16E3884385C}"/>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x-none" smtClean="0"/>
              <a:pPr/>
              <a:t>30-Sep-24</a:t>
            </a:fld>
            <a:endParaRPr lang="x-none"/>
          </a:p>
        </p:txBody>
      </p:sp>
      <p:sp>
        <p:nvSpPr>
          <p:cNvPr id="6" name="Footer Placeholder 5">
            <a:extLst>
              <a:ext uri="{FF2B5EF4-FFF2-40B4-BE49-F238E27FC236}">
                <a16:creationId xmlns="" xmlns:a16="http://schemas.microsoft.com/office/drawing/2014/main" id="{5BC35345-7A18-4D42-9681-50058B9D5D58}"/>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x-none" smtClean="0"/>
              <a:pPr/>
              <a:t>30-Sep-24</a:t>
            </a:fld>
            <a:endParaRPr lang="x-none"/>
          </a:p>
        </p:txBody>
      </p:sp>
      <p:sp>
        <p:nvSpPr>
          <p:cNvPr id="6" name="Footer Placeholder 5">
            <a:extLst>
              <a:ext uri="{FF2B5EF4-FFF2-40B4-BE49-F238E27FC236}">
                <a16:creationId xmlns="" xmlns:a16="http://schemas.microsoft.com/office/drawing/2014/main" id="{170AB588-D788-4246-8BC5-FC3FB748507C}"/>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x-none" smtClean="0"/>
              <a:pPr/>
              <a:t>30-Sep-24</a:t>
            </a:fld>
            <a:endParaRPr lang="x-none"/>
          </a:p>
        </p:txBody>
      </p:sp>
      <p:sp>
        <p:nvSpPr>
          <p:cNvPr id="5" name="Footer Placeholder 4">
            <a:extLst>
              <a:ext uri="{FF2B5EF4-FFF2-40B4-BE49-F238E27FC236}">
                <a16:creationId xmlns="" xmlns:a16="http://schemas.microsoft.com/office/drawing/2014/main" id="{A995553D-FD7D-4432-BC5C-F78462D738A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x-none" smtClean="0"/>
              <a:pPr/>
              <a:t>30-Sep-24</a:t>
            </a:fld>
            <a:endParaRPr lang="x-none"/>
          </a:p>
        </p:txBody>
      </p:sp>
      <p:sp>
        <p:nvSpPr>
          <p:cNvPr id="5" name="Footer Placeholder 4">
            <a:extLst>
              <a:ext uri="{FF2B5EF4-FFF2-40B4-BE49-F238E27FC236}">
                <a16:creationId xmlns="" xmlns:a16="http://schemas.microsoft.com/office/drawing/2014/main" id="{00B07A8C-6932-4260-BAAA-DBE1B12880F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x-none" smtClean="0"/>
              <a:pPr/>
              <a:t>‹#›</a:t>
            </a:fld>
            <a:endParaRPr lang="x-none"/>
          </a:p>
        </p:txBody>
      </p:sp>
    </p:spTree>
    <p:extLst>
      <p:ext uri="{BB962C8B-B14F-4D97-AF65-F5344CB8AC3E}">
        <p14:creationId xmlns=""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x-none" smtClean="0"/>
              <a:pPr/>
              <a:t>30-Sep-24</a:t>
            </a:fld>
            <a:endParaRPr lang="x-none"/>
          </a:p>
        </p:txBody>
      </p:sp>
      <p:sp>
        <p:nvSpPr>
          <p:cNvPr id="5" name="Footer Placeholder 4">
            <a:extLst>
              <a:ext uri="{FF2B5EF4-FFF2-40B4-BE49-F238E27FC236}">
                <a16:creationId xmlns=""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x-none" smtClean="0"/>
              <a:pPr/>
              <a:t>‹#›</a:t>
            </a:fld>
            <a:endParaRPr lang="x-none"/>
          </a:p>
        </p:txBody>
      </p:sp>
    </p:spTree>
    <p:extLst>
      <p:ext uri="{BB962C8B-B14F-4D97-AF65-F5344CB8AC3E}">
        <p14:creationId xmlns=""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7.svg"/><Relationship Id="rId4" Type="http://schemas.openxmlformats.org/officeDocument/2006/relationships/image" Target="../media/image4.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FBEF21E1-2D98-4671-AEAF-A201BC9C40D1}"/>
              </a:ext>
            </a:extLst>
          </p:cNvPr>
          <p:cNvSpPr/>
          <p:nvPr/>
        </p:nvSpPr>
        <p:spPr>
          <a:xfrm>
            <a:off x="0"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 xmlns:a16="http://schemas.microsoft.com/office/drawing/2014/main" id="{5946CD5F-621C-4899-B8C5-417BE3F1ECD0}"/>
              </a:ext>
            </a:extLst>
          </p:cNvPr>
          <p:cNvSpPr>
            <a:spLocks noGrp="1"/>
          </p:cNvSpPr>
          <p:nvPr>
            <p:ph type="ctrTitle"/>
          </p:nvPr>
        </p:nvSpPr>
        <p:spPr>
          <a:xfrm>
            <a:off x="1" y="2448878"/>
            <a:ext cx="11526252" cy="1153160"/>
          </a:xfrm>
        </p:spPr>
        <p:txBody>
          <a:bodyPr>
            <a:normAutofit fontScale="90000"/>
          </a:bodyPr>
          <a:lstStyle/>
          <a:p>
            <a:r>
              <a:rPr lang="en-GB" sz="6000" b="1" dirty="0" err="1" smtClean="0">
                <a:solidFill>
                  <a:schemeClr val="bg1"/>
                </a:solidFill>
                <a:latin typeface="Bahnschrift" panose="020B0502040204020203" pitchFamily="34" charset="0"/>
              </a:rPr>
              <a:t>DataBase</a:t>
            </a:r>
            <a:r>
              <a:rPr lang="en-GB" sz="6000" b="1" dirty="0" smtClean="0">
                <a:solidFill>
                  <a:schemeClr val="bg1"/>
                </a:solidFill>
                <a:latin typeface="Bahnschrift" panose="020B0502040204020203" pitchFamily="34" charset="0"/>
              </a:rPr>
              <a:t> Design and Development</a:t>
            </a:r>
            <a:endParaRPr lang="en-GB" dirty="0"/>
          </a:p>
        </p:txBody>
      </p:sp>
      <p:sp>
        <p:nvSpPr>
          <p:cNvPr id="3" name="Subtitle 2">
            <a:extLst>
              <a:ext uri="{FF2B5EF4-FFF2-40B4-BE49-F238E27FC236}">
                <a16:creationId xmlns="" xmlns:a16="http://schemas.microsoft.com/office/drawing/2014/main" id="{EC406DBB-5AF5-48F8-9377-D0A0ACE9B10B}"/>
              </a:ext>
            </a:extLst>
          </p:cNvPr>
          <p:cNvSpPr>
            <a:spLocks noGrp="1"/>
          </p:cNvSpPr>
          <p:nvPr>
            <p:ph type="subTitle" idx="1"/>
          </p:nvPr>
        </p:nvSpPr>
        <p:spPr>
          <a:xfrm>
            <a:off x="1030224" y="3602038"/>
            <a:ext cx="8955024" cy="1153160"/>
          </a:xfrm>
        </p:spPr>
        <p:txBody>
          <a:bodyPr>
            <a:noAutofit/>
          </a:bodyPr>
          <a:lstStyle/>
          <a:p>
            <a:pPr algn="l"/>
            <a:r>
              <a:rPr lang="en-US" sz="2800" b="1" dirty="0" smtClean="0">
                <a:solidFill>
                  <a:schemeClr val="bg1"/>
                </a:solidFill>
              </a:rPr>
              <a:t>Introduction to Databases</a:t>
            </a:r>
            <a:endParaRPr lang="en-GB" sz="2800" b="1" dirty="0">
              <a:solidFill>
                <a:schemeClr val="bg1"/>
              </a:solidFill>
              <a:latin typeface="Bahnschrift" panose="020B0502040204020203" pitchFamily="34" charset="0"/>
            </a:endParaRPr>
          </a:p>
        </p:txBody>
      </p:sp>
      <p:pic>
        <p:nvPicPr>
          <p:cNvPr id="10" name="Graphic 9">
            <a:extLst>
              <a:ext uri="{FF2B5EF4-FFF2-40B4-BE49-F238E27FC236}">
                <a16:creationId xmlns="" xmlns:a16="http://schemas.microsoft.com/office/drawing/2014/main" id="{1C869FE1-C1C4-48A8-AA9E-99CAE025BEAF}"/>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0"/>
            <a:ext cx="3611690" cy="3611690"/>
          </a:xfrm>
          <a:prstGeom prst="rect">
            <a:avLst/>
          </a:prstGeom>
        </p:spPr>
      </p:pic>
    </p:spTree>
    <p:extLst>
      <p:ext uri="{BB962C8B-B14F-4D97-AF65-F5344CB8AC3E}">
        <p14:creationId xmlns=""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5E409FE-0CBB-4EAD-8A22-C51F65DE1771}"/>
              </a:ext>
            </a:extLst>
          </p:cNvPr>
          <p:cNvSpPr>
            <a:spLocks noGrp="1"/>
          </p:cNvSpPr>
          <p:nvPr>
            <p:ph idx="1"/>
          </p:nvPr>
        </p:nvSpPr>
        <p:spPr/>
        <p:txBody>
          <a:bodyPr>
            <a:normAutofit fontScale="92500" lnSpcReduction="20000"/>
          </a:bodyPr>
          <a:lstStyle/>
          <a:p>
            <a:pPr marL="0" indent="0" algn="just">
              <a:lnSpc>
                <a:spcPct val="150000"/>
              </a:lnSpc>
              <a:buNone/>
            </a:pPr>
            <a:r>
              <a:rPr lang="en-US" dirty="0" smtClean="0">
                <a:latin typeface="Arial" pitchFamily="34" charset="0"/>
                <a:cs typeface="Arial" pitchFamily="34" charset="0"/>
              </a:rPr>
              <a:t>A </a:t>
            </a:r>
            <a:r>
              <a:rPr lang="en-US" b="1" dirty="0" smtClean="0">
                <a:latin typeface="Arial" pitchFamily="34" charset="0"/>
                <a:cs typeface="Arial" pitchFamily="34" charset="0"/>
              </a:rPr>
              <a:t>database</a:t>
            </a:r>
            <a:r>
              <a:rPr lang="en-US" dirty="0" smtClean="0">
                <a:latin typeface="Arial" pitchFamily="34" charset="0"/>
                <a:cs typeface="Arial" pitchFamily="34" charset="0"/>
              </a:rPr>
              <a:t> is an organized collection of data that is stored and accessed electronically. Databases are essential for storing, managing, and retrieving large amounts of data in a structured manner. They allow data to be stored in tables, rows, and columns for easy access and manipulation. Modern databases are often managed using </a:t>
            </a:r>
            <a:r>
              <a:rPr lang="en-US" b="1" dirty="0" smtClean="0">
                <a:latin typeface="Arial" pitchFamily="34" charset="0"/>
                <a:cs typeface="Arial" pitchFamily="34" charset="0"/>
              </a:rPr>
              <a:t>Database Management Systems (DBMS)</a:t>
            </a:r>
            <a:r>
              <a:rPr lang="en-US" dirty="0" smtClean="0">
                <a:latin typeface="Arial" pitchFamily="34" charset="0"/>
                <a:cs typeface="Arial" pitchFamily="34" charset="0"/>
              </a:rPr>
              <a:t>, software that interacts with users, applications, and the database itself to capture and analyze data.</a:t>
            </a:r>
            <a:endParaRPr lang="x-none" dirty="0">
              <a:latin typeface="Arial" pitchFamily="34" charset="0"/>
              <a:cs typeface="Arial" pitchFamily="34" charset="0"/>
            </a:endParaRPr>
          </a:p>
        </p:txBody>
      </p:sp>
      <p:grpSp>
        <p:nvGrpSpPr>
          <p:cNvPr id="8" name="Group 7">
            <a:extLst>
              <a:ext uri="{FF2B5EF4-FFF2-40B4-BE49-F238E27FC236}">
                <a16:creationId xmlns=""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279BBF0-3F01-4944-AF8F-73A34B5B9CEF}"/>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75FFEA7F-8809-458D-BE80-99F7CFB965CA}"/>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CED766F-A0E3-4D45-8A6E-86CCFAFA5D96}"/>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F83660F3-45D1-4CA0-BE2A-E7E6C1B794A4}"/>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1438584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 xmlns:a16="http://schemas.microsoft.com/office/drawing/2014/main" id="{FF7170C3-FB1F-4CF8-A115-23304150A008}"/>
              </a:ext>
            </a:extLst>
          </p:cNvPr>
          <p:cNvSpPr>
            <a:spLocks noGrp="1"/>
          </p:cNvSpPr>
          <p:nvPr>
            <p:ph idx="1"/>
          </p:nvPr>
        </p:nvSpPr>
        <p:spPr>
          <a:xfrm>
            <a:off x="906011" y="1275347"/>
            <a:ext cx="9961228" cy="4633609"/>
          </a:xfrm>
        </p:spPr>
        <p:txBody>
          <a:bodyPr>
            <a:noAutofit/>
          </a:bodyPr>
          <a:lstStyle/>
          <a:p>
            <a:pPr>
              <a:lnSpc>
                <a:spcPct val="170000"/>
              </a:lnSpc>
              <a:buNone/>
            </a:pPr>
            <a:r>
              <a:rPr lang="en-US" sz="2000" b="1" dirty="0" smtClean="0">
                <a:latin typeface="Arial" pitchFamily="34" charset="0"/>
                <a:cs typeface="Arial" pitchFamily="34" charset="0"/>
              </a:rPr>
              <a:t>Key Concepts:</a:t>
            </a:r>
          </a:p>
          <a:p>
            <a:pPr>
              <a:lnSpc>
                <a:spcPct val="170000"/>
              </a:lnSpc>
            </a:pPr>
            <a:r>
              <a:rPr lang="en-US" sz="2000" b="1" dirty="0" smtClean="0">
                <a:latin typeface="Arial" pitchFamily="34" charset="0"/>
                <a:cs typeface="Arial" pitchFamily="34" charset="0"/>
              </a:rPr>
              <a:t>Data</a:t>
            </a:r>
            <a:r>
              <a:rPr lang="en-US" sz="2000" dirty="0" smtClean="0">
                <a:latin typeface="Arial" pitchFamily="34" charset="0"/>
                <a:cs typeface="Arial" pitchFamily="34" charset="0"/>
              </a:rPr>
              <a:t>: Raw facts, like numbers, text, or media, which are stored in a database.</a:t>
            </a:r>
          </a:p>
          <a:p>
            <a:pPr>
              <a:lnSpc>
                <a:spcPct val="170000"/>
              </a:lnSpc>
            </a:pPr>
            <a:r>
              <a:rPr lang="en-US" sz="2000" b="1" dirty="0" smtClean="0">
                <a:latin typeface="Arial" pitchFamily="34" charset="0"/>
                <a:cs typeface="Arial" pitchFamily="34" charset="0"/>
              </a:rPr>
              <a:t>Database Management System (DBMS)</a:t>
            </a:r>
            <a:r>
              <a:rPr lang="en-US" sz="2000" dirty="0" smtClean="0">
                <a:latin typeface="Arial" pitchFamily="34" charset="0"/>
                <a:cs typeface="Arial" pitchFamily="34" charset="0"/>
              </a:rPr>
              <a:t>: Software that handles the storage, retrieval, and updating of data in a database.</a:t>
            </a:r>
          </a:p>
          <a:p>
            <a:pPr>
              <a:lnSpc>
                <a:spcPct val="170000"/>
              </a:lnSpc>
            </a:pPr>
            <a:r>
              <a:rPr lang="en-US" sz="2000" b="1" dirty="0" smtClean="0">
                <a:latin typeface="Arial" pitchFamily="34" charset="0"/>
                <a:cs typeface="Arial" pitchFamily="34" charset="0"/>
              </a:rPr>
              <a:t>Query Language</a:t>
            </a:r>
            <a:r>
              <a:rPr lang="en-US" sz="2000" dirty="0" smtClean="0">
                <a:latin typeface="Arial" pitchFamily="34" charset="0"/>
                <a:cs typeface="Arial" pitchFamily="34" charset="0"/>
              </a:rPr>
              <a:t>: Languages like SQL (Structured Query Language) are used to interact with a DBMS to retrieve and manipulate data.</a:t>
            </a:r>
          </a:p>
          <a:p>
            <a:pPr>
              <a:lnSpc>
                <a:spcPct val="170000"/>
              </a:lnSpc>
            </a:pPr>
            <a:r>
              <a:rPr lang="en-US" sz="2000" b="1" dirty="0" smtClean="0">
                <a:latin typeface="Arial" pitchFamily="34" charset="0"/>
                <a:cs typeface="Arial" pitchFamily="34" charset="0"/>
              </a:rPr>
              <a:t>Schema</a:t>
            </a:r>
            <a:r>
              <a:rPr lang="en-US" sz="2000" dirty="0" smtClean="0">
                <a:latin typeface="Arial" pitchFamily="34" charset="0"/>
                <a:cs typeface="Arial" pitchFamily="34" charset="0"/>
              </a:rPr>
              <a:t>: The structure of a database, describing how data is organized, including the tables, relationships, and constraints.</a:t>
            </a:r>
          </a:p>
          <a:p>
            <a:pPr>
              <a:lnSpc>
                <a:spcPct val="170000"/>
              </a:lnSpc>
            </a:pPr>
            <a:r>
              <a:rPr lang="en-US" sz="2000" b="1" dirty="0" smtClean="0">
                <a:latin typeface="Arial" pitchFamily="34" charset="0"/>
                <a:cs typeface="Arial" pitchFamily="34" charset="0"/>
              </a:rPr>
              <a:t>Indexes</a:t>
            </a:r>
            <a:r>
              <a:rPr lang="en-US" sz="2000" dirty="0" smtClean="0">
                <a:latin typeface="Arial" pitchFamily="34" charset="0"/>
                <a:cs typeface="Arial" pitchFamily="34" charset="0"/>
              </a:rPr>
              <a:t>: Structures that improve data retrieval speeds.</a:t>
            </a:r>
            <a:endParaRPr lang="en-US" sz="2000" dirty="0">
              <a:latin typeface="Arial" pitchFamily="34" charset="0"/>
              <a:cs typeface="Arial" pitchFamily="34" charset="0"/>
            </a:endParaRPr>
          </a:p>
        </p:txBody>
      </p:sp>
      <p:grpSp>
        <p:nvGrpSpPr>
          <p:cNvPr id="11" name="Group 10">
            <a:extLst>
              <a:ext uri="{FF2B5EF4-FFF2-40B4-BE49-F238E27FC236}">
                <a16:creationId xmlns=""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 xmlns:a16="http://schemas.microsoft.com/office/drawing/2014/main" id="{876FD797-A00B-49D8-A888-67D34967BA00}"/>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 xmlns:a16="http://schemas.microsoft.com/office/drawing/2014/main" id="{A532177C-F5A5-41C6-B8EF-E6DA142B50E7}"/>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 xmlns:a16="http://schemas.microsoft.com/office/drawing/2014/main" id="{085A7425-75D1-4518-8891-A639DA0C4AE8}"/>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 xmlns:a16="http://schemas.microsoft.com/office/drawing/2014/main" id="{19B401B7-B613-4C06-A492-7A7068249541}"/>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9847252" y="1519722"/>
            <a:ext cx="2039974" cy="5144283"/>
          </a:xfrm>
          <a:prstGeom prst="rect">
            <a:avLst/>
          </a:prstGeom>
        </p:spPr>
      </p:pic>
    </p:spTree>
    <p:extLst>
      <p:ext uri="{BB962C8B-B14F-4D97-AF65-F5344CB8AC3E}">
        <p14:creationId xmlns="" xmlns:p14="http://schemas.microsoft.com/office/powerpoint/2010/main" val="3239341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 xmlns:a16="http://schemas.microsoft.com/office/drawing/2014/main" id="{C26A3C55-3FA7-4FD7-A293-B1F56E297A25}"/>
              </a:ext>
            </a:extLst>
          </p:cNvPr>
          <p:cNvSpPr txBox="1"/>
          <p:nvPr/>
        </p:nvSpPr>
        <p:spPr>
          <a:xfrm>
            <a:off x="493295" y="1514474"/>
            <a:ext cx="11466093" cy="4190314"/>
          </a:xfrm>
          <a:prstGeom prst="rect">
            <a:avLst/>
          </a:prstGeom>
          <a:noFill/>
        </p:spPr>
        <p:txBody>
          <a:bodyPr wrap="square" rtlCol="0">
            <a:spAutoFit/>
          </a:bodyPr>
          <a:lstStyle/>
          <a:p>
            <a:pPr marL="457200" indent="-457200" algn="just">
              <a:lnSpc>
                <a:spcPct val="150000"/>
              </a:lnSpc>
            </a:pPr>
            <a:r>
              <a:rPr lang="en-US" sz="2000" b="1" dirty="0" smtClean="0">
                <a:latin typeface="Arial" pitchFamily="34" charset="0"/>
                <a:cs typeface="Arial" pitchFamily="34" charset="0"/>
              </a:rPr>
              <a:t>Types of Databases:</a:t>
            </a:r>
          </a:p>
          <a:p>
            <a:pPr marL="457200" indent="-457200" algn="just">
              <a:lnSpc>
                <a:spcPct val="150000"/>
              </a:lnSpc>
              <a:buFont typeface="+mj-lt"/>
              <a:buAutoNum type="arabicPeriod"/>
            </a:pPr>
            <a:r>
              <a:rPr lang="en-US" sz="2000" b="1" dirty="0" smtClean="0">
                <a:latin typeface="Arial" pitchFamily="34" charset="0"/>
                <a:cs typeface="Arial" pitchFamily="34" charset="0"/>
              </a:rPr>
              <a:t>Relational Databases (RDBMS)</a:t>
            </a:r>
            <a:r>
              <a:rPr lang="en-US" sz="2000" dirty="0" smtClean="0">
                <a:latin typeface="Arial" pitchFamily="34" charset="0"/>
                <a:cs typeface="Arial" pitchFamily="34" charset="0"/>
              </a:rPr>
              <a:t>: Organize data into tables with predefined relationships. SQL is commonly used (e.g., </a:t>
            </a:r>
            <a:r>
              <a:rPr lang="en-US" sz="2000" dirty="0" err="1" smtClean="0">
                <a:latin typeface="Arial" pitchFamily="34" charset="0"/>
                <a:cs typeface="Arial" pitchFamily="34" charset="0"/>
              </a:rPr>
              <a:t>MySQL</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PostgreSQL</a:t>
            </a:r>
            <a:r>
              <a:rPr lang="en-US" sz="2000" dirty="0" smtClean="0">
                <a:latin typeface="Arial" pitchFamily="34" charset="0"/>
                <a:cs typeface="Arial" pitchFamily="34" charset="0"/>
              </a:rPr>
              <a:t>, Oracle DB).</a:t>
            </a:r>
          </a:p>
          <a:p>
            <a:pPr marL="457200" indent="-457200" algn="just">
              <a:lnSpc>
                <a:spcPct val="150000"/>
              </a:lnSpc>
              <a:buFont typeface="+mj-lt"/>
              <a:buAutoNum type="arabicPeriod"/>
            </a:pPr>
            <a:r>
              <a:rPr lang="en-US" sz="2000" b="1" dirty="0" err="1" smtClean="0">
                <a:latin typeface="Arial" pitchFamily="34" charset="0"/>
                <a:cs typeface="Arial" pitchFamily="34" charset="0"/>
              </a:rPr>
              <a:t>NoSQL</a:t>
            </a:r>
            <a:r>
              <a:rPr lang="en-US" sz="2000" b="1" dirty="0" smtClean="0">
                <a:latin typeface="Arial" pitchFamily="34" charset="0"/>
                <a:cs typeface="Arial" pitchFamily="34" charset="0"/>
              </a:rPr>
              <a:t> Databases</a:t>
            </a:r>
            <a:r>
              <a:rPr lang="en-US" sz="2000" dirty="0" smtClean="0">
                <a:latin typeface="Arial" pitchFamily="34" charset="0"/>
                <a:cs typeface="Arial" pitchFamily="34" charset="0"/>
              </a:rPr>
              <a:t>: Handle unstructured data, supporting various data models such as key-value, document, graph, and columnar stores (e.g., </a:t>
            </a:r>
            <a:r>
              <a:rPr lang="en-US" sz="2000" dirty="0" err="1" smtClean="0">
                <a:latin typeface="Arial" pitchFamily="34" charset="0"/>
                <a:cs typeface="Arial" pitchFamily="34" charset="0"/>
              </a:rPr>
              <a:t>MongoDB</a:t>
            </a:r>
            <a:r>
              <a:rPr lang="en-US" sz="2000" dirty="0" smtClean="0">
                <a:latin typeface="Arial" pitchFamily="34" charset="0"/>
                <a:cs typeface="Arial" pitchFamily="34" charset="0"/>
              </a:rPr>
              <a:t>, Cassandra, </a:t>
            </a:r>
            <a:r>
              <a:rPr lang="en-US" sz="2000" dirty="0" err="1" smtClean="0">
                <a:latin typeface="Arial" pitchFamily="34" charset="0"/>
                <a:cs typeface="Arial" pitchFamily="34" charset="0"/>
              </a:rPr>
              <a:t>Redis</a:t>
            </a:r>
            <a:r>
              <a:rPr lang="en-US" sz="2000" dirty="0" smtClean="0">
                <a:latin typeface="Arial" pitchFamily="34" charset="0"/>
                <a:cs typeface="Arial" pitchFamily="34" charset="0"/>
              </a:rPr>
              <a:t>).</a:t>
            </a:r>
          </a:p>
          <a:p>
            <a:pPr marL="457200" indent="-457200" algn="just">
              <a:lnSpc>
                <a:spcPct val="150000"/>
              </a:lnSpc>
              <a:buFont typeface="+mj-lt"/>
              <a:buAutoNum type="arabicPeriod"/>
            </a:pPr>
            <a:r>
              <a:rPr lang="en-US" sz="2000" b="1" dirty="0" smtClean="0">
                <a:latin typeface="Arial" pitchFamily="34" charset="0"/>
                <a:cs typeface="Arial" pitchFamily="34" charset="0"/>
              </a:rPr>
              <a:t>Cloud Databases</a:t>
            </a:r>
            <a:r>
              <a:rPr lang="en-US" sz="2000" dirty="0" smtClean="0">
                <a:latin typeface="Arial" pitchFamily="34" charset="0"/>
                <a:cs typeface="Arial" pitchFamily="34" charset="0"/>
              </a:rPr>
              <a:t>: Databases offered as services on cloud platforms (e.g., Amazon RDS, Google Cloud SQL).</a:t>
            </a:r>
          </a:p>
          <a:p>
            <a:pPr marL="457200" indent="-457200" algn="just">
              <a:lnSpc>
                <a:spcPct val="150000"/>
              </a:lnSpc>
              <a:buFont typeface="+mj-lt"/>
              <a:buAutoNum type="arabicPeriod"/>
            </a:pPr>
            <a:r>
              <a:rPr lang="en-US" sz="2000" b="1" dirty="0" smtClean="0">
                <a:latin typeface="Arial" pitchFamily="34" charset="0"/>
                <a:cs typeface="Arial" pitchFamily="34" charset="0"/>
              </a:rPr>
              <a:t>Distributed Databases</a:t>
            </a:r>
            <a:r>
              <a:rPr lang="en-US" sz="2000" dirty="0" smtClean="0">
                <a:latin typeface="Arial" pitchFamily="34" charset="0"/>
                <a:cs typeface="Arial" pitchFamily="34" charset="0"/>
              </a:rPr>
              <a:t>: Spread across multiple locations or nodes, often used in large-scale, high-availability systems (e.g., Apache Cassandra, </a:t>
            </a:r>
            <a:r>
              <a:rPr lang="en-US" sz="2000" dirty="0" err="1" smtClean="0">
                <a:latin typeface="Arial" pitchFamily="34" charset="0"/>
                <a:cs typeface="Arial" pitchFamily="34" charset="0"/>
              </a:rPr>
              <a:t>CockroachDB</a:t>
            </a:r>
            <a:r>
              <a:rPr lang="en-US" sz="2000" dirty="0" smtClean="0">
                <a:latin typeface="Arial" pitchFamily="34" charset="0"/>
                <a:cs typeface="Arial" pitchFamily="34" charset="0"/>
              </a:rPr>
              <a:t>).</a:t>
            </a:r>
            <a:endParaRPr lang="en-US" sz="2000" dirty="0">
              <a:latin typeface="Arial" pitchFamily="34" charset="0"/>
              <a:cs typeface="Arial" pitchFamily="34" charset="0"/>
            </a:endParaRPr>
          </a:p>
        </p:txBody>
      </p:sp>
      <p:grpSp>
        <p:nvGrpSpPr>
          <p:cNvPr id="13" name="Group 12">
            <a:extLst>
              <a:ext uri="{FF2B5EF4-FFF2-40B4-BE49-F238E27FC236}">
                <a16:creationId xmlns="" xmlns:a16="http://schemas.microsoft.com/office/drawing/2014/main" id="{034DD2C6-4CC8-4F4C-9615-8F42757A1CE2}"/>
              </a:ext>
            </a:extLst>
          </p:cNvPr>
          <p:cNvGrpSpPr/>
          <p:nvPr/>
        </p:nvGrpSpPr>
        <p:grpSpPr>
          <a:xfrm>
            <a:off x="0" y="0"/>
            <a:ext cx="12749348" cy="1115736"/>
            <a:chOff x="0" y="0"/>
            <a:chExt cx="12749348" cy="1115736"/>
          </a:xfrm>
        </p:grpSpPr>
        <p:sp>
          <p:nvSpPr>
            <p:cNvPr id="14" name="Rectangle 13">
              <a:extLst>
                <a:ext uri="{FF2B5EF4-FFF2-40B4-BE49-F238E27FC236}">
                  <a16:creationId xmlns="" xmlns:a16="http://schemas.microsoft.com/office/drawing/2014/main" id="{4B7C661D-5448-402F-AD37-037DDA89EAE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5" name="TextBox 14">
              <a:extLst>
                <a:ext uri="{FF2B5EF4-FFF2-40B4-BE49-F238E27FC236}">
                  <a16:creationId xmlns="" xmlns:a16="http://schemas.microsoft.com/office/drawing/2014/main" id="{97AA08FC-35FB-44F1-BB8F-399F019CBF4F}"/>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6" name="Graphic 15">
              <a:extLst>
                <a:ext uri="{FF2B5EF4-FFF2-40B4-BE49-F238E27FC236}">
                  <a16:creationId xmlns="" xmlns:a16="http://schemas.microsoft.com/office/drawing/2014/main" id="{ABF06EB7-5284-4699-8F45-3C74960363D1}"/>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9906056" y="403986"/>
              <a:ext cx="261610" cy="261610"/>
            </a:xfrm>
            <a:prstGeom prst="rect">
              <a:avLst/>
            </a:prstGeom>
          </p:spPr>
        </p:pic>
        <p:sp>
          <p:nvSpPr>
            <p:cNvPr id="17" name="TextBox 16">
              <a:extLst>
                <a:ext uri="{FF2B5EF4-FFF2-40B4-BE49-F238E27FC236}">
                  <a16:creationId xmlns="" xmlns:a16="http://schemas.microsoft.com/office/drawing/2014/main" id="{FDFE4515-6F2B-4BB8-8018-36AFB06BA194}"/>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8" name="Graphic 17">
              <a:extLst>
                <a:ext uri="{FF2B5EF4-FFF2-40B4-BE49-F238E27FC236}">
                  <a16:creationId xmlns="" xmlns:a16="http://schemas.microsoft.com/office/drawing/2014/main" id="{10EB8B8D-6004-4AED-A244-C4DC6F8DA657}"/>
                </a:ext>
              </a:extLst>
            </p:cNvPr>
            <p:cNvPicPr>
              <a:picLocks noChangeAspect="1"/>
            </p:cNvPicPr>
            <p:nvPr/>
          </p:nvPicPr>
          <p:blipFill>
            <a:blip r:embed="rId4" cstate="print">
              <a:extLst>
                <a:ext uri="{96DAC541-7B7A-43D3-8B79-37D633B846F1}">
                  <asvg:svgBlip xmlns="" xmlns:asvg="http://schemas.microsoft.com/office/drawing/2016/SVG/main" r:embed="rId5"/>
                </a:ext>
              </a:extLst>
            </a:blip>
            <a:stretch>
              <a:fillRect/>
            </a:stretch>
          </p:blipFill>
          <p:spPr>
            <a:xfrm>
              <a:off x="10591033" y="741997"/>
              <a:ext cx="171450" cy="171450"/>
            </a:xfrm>
            <a:prstGeom prst="rect">
              <a:avLst/>
            </a:prstGeom>
          </p:spPr>
        </p:pic>
        <p:pic>
          <p:nvPicPr>
            <p:cNvPr id="19" name="Picture 18">
              <a:extLst>
                <a:ext uri="{FF2B5EF4-FFF2-40B4-BE49-F238E27FC236}">
                  <a16:creationId xmlns="" xmlns:a16="http://schemas.microsoft.com/office/drawing/2014/main" id="{B90D907E-CA01-4229-92EF-9ABBCFBA1E6C}"/>
                </a:ext>
              </a:extLst>
            </p:cNvPr>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pic>
        <p:nvPicPr>
          <p:cNvPr id="21" name="Picture 20">
            <a:extLst>
              <a:ext uri="{FF2B5EF4-FFF2-40B4-BE49-F238E27FC236}">
                <a16:creationId xmlns="" xmlns:a16="http://schemas.microsoft.com/office/drawing/2014/main" id="{3CE084BF-DF82-4A63-A9CB-4F517A8FDE95}"/>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945394" y="153305"/>
            <a:ext cx="1443969" cy="828208"/>
          </a:xfrm>
          <a:prstGeom prst="rect">
            <a:avLst/>
          </a:prstGeom>
        </p:spPr>
      </p:pic>
      <p:pic>
        <p:nvPicPr>
          <p:cNvPr id="11" name="Graphic 10">
            <a:extLst>
              <a:ext uri="{FF2B5EF4-FFF2-40B4-BE49-F238E27FC236}">
                <a16:creationId xmlns="" xmlns:a16="http://schemas.microsoft.com/office/drawing/2014/main" id="{066FF2A6-21EC-4DCA-B8DA-6528DF993417}"/>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71197" y="1514474"/>
            <a:ext cx="2039974" cy="5144283"/>
          </a:xfrm>
          <a:prstGeom prst="rect">
            <a:avLst/>
          </a:prstGeom>
        </p:spPr>
      </p:pic>
    </p:spTree>
    <p:extLst>
      <p:ext uri="{BB962C8B-B14F-4D97-AF65-F5344CB8AC3E}">
        <p14:creationId xmlns="" xmlns:p14="http://schemas.microsoft.com/office/powerpoint/2010/main" val="267439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6F19163-209C-4AAC-9D0B-A21627686F3E}"/>
              </a:ext>
            </a:extLst>
          </p:cNvPr>
          <p:cNvSpPr>
            <a:spLocks noGrp="1"/>
          </p:cNvSpPr>
          <p:nvPr>
            <p:ph idx="1"/>
          </p:nvPr>
        </p:nvSpPr>
        <p:spPr/>
        <p:txBody>
          <a:bodyPr>
            <a:normAutofit/>
          </a:bodyPr>
          <a:lstStyle/>
          <a:p>
            <a:pPr algn="ctr">
              <a:lnSpc>
                <a:spcPct val="100000"/>
              </a:lnSpc>
              <a:spcBef>
                <a:spcPts val="600"/>
              </a:spcBef>
              <a:buNone/>
            </a:pPr>
            <a:r>
              <a:rPr lang="en-US" sz="2400" b="1" dirty="0" smtClean="0">
                <a:latin typeface="Arial" pitchFamily="34" charset="0"/>
                <a:cs typeface="Arial" pitchFamily="34" charset="0"/>
              </a:rPr>
              <a:t>Definition and Purpose of Databases</a:t>
            </a:r>
          </a:p>
          <a:p>
            <a:pPr algn="just">
              <a:lnSpc>
                <a:spcPct val="150000"/>
              </a:lnSpc>
              <a:spcBef>
                <a:spcPts val="600"/>
              </a:spcBef>
              <a:buNone/>
            </a:pPr>
            <a:r>
              <a:rPr lang="en-US" dirty="0" smtClean="0"/>
              <a:t/>
            </a:r>
            <a:br>
              <a:rPr lang="en-US" dirty="0" smtClean="0"/>
            </a:br>
            <a:r>
              <a:rPr lang="en-US" dirty="0" smtClean="0">
                <a:latin typeface="Arial" pitchFamily="34" charset="0"/>
                <a:cs typeface="Arial" pitchFamily="34" charset="0"/>
              </a:rPr>
              <a:t>A database is a structured collection of data that is stored electronically and accessed through a DBMS, allowing for efficient storage, retrieval, modification, and deletion of information.</a:t>
            </a:r>
            <a:endParaRPr lang="x-none" b="1" dirty="0">
              <a:latin typeface="Arial" pitchFamily="34" charset="0"/>
              <a:cs typeface="Arial" pitchFamily="34" charset="0"/>
            </a:endParaRPr>
          </a:p>
        </p:txBody>
      </p:sp>
      <p:grpSp>
        <p:nvGrpSpPr>
          <p:cNvPr id="8" name="Group 7">
            <a:extLst>
              <a:ext uri="{FF2B5EF4-FFF2-40B4-BE49-F238E27FC236}">
                <a16:creationId xmlns="" xmlns:a16="http://schemas.microsoft.com/office/drawing/2014/main" id="{3DB829FF-4C37-46B6-B4E2-5F205C614DC1}"/>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67866F03-AB28-4076-A101-C05ED2916839}"/>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CFF2093B-3FF1-45E4-8236-0C753316ADF7}"/>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9BF863EB-B7C4-4845-A157-7BB371E924B3}"/>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86F0B4C8-CC62-4891-9C99-B146F4A850B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818007ED-0B2B-42D8-9394-014EC0497A35}"/>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26482E21-91A3-466E-88F0-0149ECFB73F8}"/>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7BBDC86F-ED38-4A71-B98D-BFBFB34B9A3B}"/>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777974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 xmlns:a16="http://schemas.microsoft.com/office/drawing/2014/main" id="{3E2889D4-75DA-4D6B-B8A6-BEC829D8F12B}"/>
              </a:ext>
            </a:extLst>
          </p:cNvPr>
          <p:cNvSpPr txBox="1"/>
          <p:nvPr/>
        </p:nvSpPr>
        <p:spPr>
          <a:xfrm>
            <a:off x="264696" y="1331995"/>
            <a:ext cx="11742820" cy="4062651"/>
          </a:xfrm>
          <a:prstGeom prst="rect">
            <a:avLst/>
          </a:prstGeom>
          <a:noFill/>
        </p:spPr>
        <p:txBody>
          <a:bodyPr wrap="square" rtlCol="0">
            <a:spAutoFit/>
          </a:bodyPr>
          <a:lstStyle/>
          <a:p>
            <a:pPr>
              <a:lnSpc>
                <a:spcPct val="150000"/>
              </a:lnSpc>
            </a:pPr>
            <a:r>
              <a:rPr lang="en-US" sz="2800" b="1" dirty="0" smtClean="0">
                <a:latin typeface="Arial" pitchFamily="34" charset="0"/>
                <a:cs typeface="Arial" pitchFamily="34" charset="0"/>
              </a:rPr>
              <a:t>Purpose</a:t>
            </a:r>
            <a:r>
              <a:rPr lang="en-US" sz="2800" dirty="0" smtClean="0">
                <a:latin typeface="Arial" pitchFamily="34" charset="0"/>
                <a:cs typeface="Arial" pitchFamily="34" charset="0"/>
              </a:rPr>
              <a:t>:</a:t>
            </a:r>
          </a:p>
          <a:p>
            <a:pPr>
              <a:lnSpc>
                <a:spcPct val="150000"/>
              </a:lnSpc>
            </a:pPr>
            <a:r>
              <a:rPr lang="en-US" sz="2400" b="1" dirty="0" smtClean="0">
                <a:latin typeface="Arial" pitchFamily="34" charset="0"/>
                <a:cs typeface="Arial" pitchFamily="34" charset="0"/>
              </a:rPr>
              <a:t>Data Storage</a:t>
            </a:r>
            <a:r>
              <a:rPr lang="en-US" sz="2400" dirty="0" smtClean="0">
                <a:latin typeface="Arial" pitchFamily="34" charset="0"/>
                <a:cs typeface="Arial" pitchFamily="34" charset="0"/>
              </a:rPr>
              <a:t>: Databases store large volumes of information in a consistent and organized way.</a:t>
            </a:r>
          </a:p>
          <a:p>
            <a:pPr>
              <a:lnSpc>
                <a:spcPct val="150000"/>
              </a:lnSpc>
            </a:pPr>
            <a:r>
              <a:rPr lang="en-US" sz="2400" b="1" dirty="0" smtClean="0">
                <a:latin typeface="Arial" pitchFamily="34" charset="0"/>
                <a:cs typeface="Arial" pitchFamily="34" charset="0"/>
              </a:rPr>
              <a:t>Data Retrieval</a:t>
            </a:r>
            <a:r>
              <a:rPr lang="en-US" sz="2400" dirty="0" smtClean="0">
                <a:latin typeface="Arial" pitchFamily="34" charset="0"/>
                <a:cs typeface="Arial" pitchFamily="34" charset="0"/>
              </a:rPr>
              <a:t>: Databases enable fast querying and retrieval of specific data, ensuring efficiency even with large datasets.</a:t>
            </a:r>
          </a:p>
          <a:p>
            <a:pPr>
              <a:lnSpc>
                <a:spcPct val="150000"/>
              </a:lnSpc>
            </a:pPr>
            <a:r>
              <a:rPr lang="en-US" sz="2400" b="1" dirty="0" smtClean="0">
                <a:latin typeface="Arial" pitchFamily="34" charset="0"/>
                <a:cs typeface="Arial" pitchFamily="34" charset="0"/>
              </a:rPr>
              <a:t>Data Integrity and Accuracy</a:t>
            </a:r>
            <a:r>
              <a:rPr lang="en-US" sz="2400" dirty="0" smtClean="0">
                <a:latin typeface="Arial" pitchFamily="34" charset="0"/>
                <a:cs typeface="Arial" pitchFamily="34" charset="0"/>
              </a:rPr>
              <a:t>: Databases enforce rules (constraints, primary keys) that maintain the accuracy, validity, and consistency of the stored data.</a:t>
            </a:r>
          </a:p>
        </p:txBody>
      </p:sp>
      <p:grpSp>
        <p:nvGrpSpPr>
          <p:cNvPr id="9" name="Group 8">
            <a:extLst>
              <a:ext uri="{FF2B5EF4-FFF2-40B4-BE49-F238E27FC236}">
                <a16:creationId xmlns="" xmlns:a16="http://schemas.microsoft.com/office/drawing/2014/main" id="{71001890-2D27-4C06-8608-762CAE8C86A2}"/>
              </a:ext>
            </a:extLst>
          </p:cNvPr>
          <p:cNvGrpSpPr/>
          <p:nvPr/>
        </p:nvGrpSpPr>
        <p:grpSpPr>
          <a:xfrm>
            <a:off x="0" y="0"/>
            <a:ext cx="12749348" cy="1115736"/>
            <a:chOff x="0" y="0"/>
            <a:chExt cx="12749348" cy="1115736"/>
          </a:xfrm>
        </p:grpSpPr>
        <p:sp>
          <p:nvSpPr>
            <p:cNvPr id="10" name="Rectangle 9">
              <a:extLst>
                <a:ext uri="{FF2B5EF4-FFF2-40B4-BE49-F238E27FC236}">
                  <a16:creationId xmlns="" xmlns:a16="http://schemas.microsoft.com/office/drawing/2014/main" id="{C44EECAA-E328-47D6-ACBC-7B6045FFBA9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1" name="Picture 10">
              <a:extLst>
                <a:ext uri="{FF2B5EF4-FFF2-40B4-BE49-F238E27FC236}">
                  <a16:creationId xmlns="" xmlns:a16="http://schemas.microsoft.com/office/drawing/2014/main" id="{BB310BC6-D369-40F7-9134-CA1AF26C1436}"/>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2" name="TextBox 11">
              <a:extLst>
                <a:ext uri="{FF2B5EF4-FFF2-40B4-BE49-F238E27FC236}">
                  <a16:creationId xmlns="" xmlns:a16="http://schemas.microsoft.com/office/drawing/2014/main" id="{1C4A534A-AF61-4A94-9BBB-ECD9B5E8BF56}"/>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3" name="Graphic 12">
              <a:extLst>
                <a:ext uri="{FF2B5EF4-FFF2-40B4-BE49-F238E27FC236}">
                  <a16:creationId xmlns="" xmlns:a16="http://schemas.microsoft.com/office/drawing/2014/main" id="{7FD3E16B-B08C-424B-B4E0-5F9C11D045A9}"/>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4" name="TextBox 13">
              <a:extLst>
                <a:ext uri="{FF2B5EF4-FFF2-40B4-BE49-F238E27FC236}">
                  <a16:creationId xmlns="" xmlns:a16="http://schemas.microsoft.com/office/drawing/2014/main" id="{1FF2B077-D3DF-4751-8D55-BD3BDAEDAB0F}"/>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5" name="Graphic 14">
              <a:extLst>
                <a:ext uri="{FF2B5EF4-FFF2-40B4-BE49-F238E27FC236}">
                  <a16:creationId xmlns="" xmlns:a16="http://schemas.microsoft.com/office/drawing/2014/main" id="{B35BA541-C933-4EB5-A6B6-39E31DDF920B}"/>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6" name="Picture 15">
              <a:extLst>
                <a:ext uri="{FF2B5EF4-FFF2-40B4-BE49-F238E27FC236}">
                  <a16:creationId xmlns="" xmlns:a16="http://schemas.microsoft.com/office/drawing/2014/main" id="{99D81B47-A520-4FD2-B153-D43C470F8259}"/>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2724179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 xmlns:a16="http://schemas.microsoft.com/office/drawing/2014/main" id="{9A5FA253-E6BC-4DC7-8473-349FAFA95F7E}"/>
              </a:ext>
            </a:extLst>
          </p:cNvPr>
          <p:cNvSpPr txBox="1"/>
          <p:nvPr/>
        </p:nvSpPr>
        <p:spPr>
          <a:xfrm>
            <a:off x="264694" y="1506955"/>
            <a:ext cx="11586411" cy="4616648"/>
          </a:xfrm>
          <a:prstGeom prst="rect">
            <a:avLst/>
          </a:prstGeom>
          <a:noFill/>
        </p:spPr>
        <p:txBody>
          <a:bodyPr wrap="square" rtlCol="0">
            <a:spAutoFit/>
          </a:bodyPr>
          <a:lstStyle/>
          <a:p>
            <a:pPr>
              <a:lnSpc>
                <a:spcPct val="150000"/>
              </a:lnSpc>
            </a:pPr>
            <a:r>
              <a:rPr lang="en-US" sz="2800" b="1" dirty="0" smtClean="0">
                <a:latin typeface="Arial" pitchFamily="34" charset="0"/>
                <a:cs typeface="Arial" pitchFamily="34" charset="0"/>
              </a:rPr>
              <a:t>Purpose</a:t>
            </a:r>
            <a:r>
              <a:rPr lang="en-US" sz="2800" dirty="0" smtClean="0">
                <a:latin typeface="Arial" pitchFamily="34" charset="0"/>
                <a:cs typeface="Arial" pitchFamily="34" charset="0"/>
              </a:rPr>
              <a:t>:</a:t>
            </a:r>
          </a:p>
          <a:p>
            <a:pPr>
              <a:lnSpc>
                <a:spcPct val="150000"/>
              </a:lnSpc>
            </a:pPr>
            <a:r>
              <a:rPr lang="en-US" sz="2400" b="1" dirty="0" smtClean="0">
                <a:latin typeface="Arial" pitchFamily="34" charset="0"/>
                <a:cs typeface="Arial" pitchFamily="34" charset="0"/>
              </a:rPr>
              <a:t>Data Security</a:t>
            </a:r>
            <a:r>
              <a:rPr lang="en-US" sz="2400" dirty="0" smtClean="0">
                <a:latin typeface="Arial" pitchFamily="34" charset="0"/>
                <a:cs typeface="Arial" pitchFamily="34" charset="0"/>
              </a:rPr>
              <a:t>: Databases offer layers of security, including authentication and encryption, to protect sensitive data.</a:t>
            </a:r>
          </a:p>
          <a:p>
            <a:pPr>
              <a:lnSpc>
                <a:spcPct val="150000"/>
              </a:lnSpc>
            </a:pPr>
            <a:r>
              <a:rPr lang="en-US" sz="2400" b="1" dirty="0" smtClean="0">
                <a:latin typeface="Arial" pitchFamily="34" charset="0"/>
                <a:cs typeface="Arial" pitchFamily="34" charset="0"/>
              </a:rPr>
              <a:t>Scalability</a:t>
            </a:r>
            <a:r>
              <a:rPr lang="en-US" sz="2400" dirty="0" smtClean="0">
                <a:latin typeface="Arial" pitchFamily="34" charset="0"/>
                <a:cs typeface="Arial" pitchFamily="34" charset="0"/>
              </a:rPr>
              <a:t>: Databases can handle growing amounts of data and users by scaling horizontally (adding more servers) or vertically (adding more power to existing servers).</a:t>
            </a:r>
          </a:p>
          <a:p>
            <a:pPr>
              <a:lnSpc>
                <a:spcPct val="150000"/>
              </a:lnSpc>
            </a:pPr>
            <a:r>
              <a:rPr lang="en-US" sz="2400" b="1" dirty="0" smtClean="0">
                <a:latin typeface="Arial" pitchFamily="34" charset="0"/>
                <a:cs typeface="Arial" pitchFamily="34" charset="0"/>
              </a:rPr>
              <a:t>Concurrency</a:t>
            </a:r>
            <a:r>
              <a:rPr lang="en-US" sz="2400" dirty="0" smtClean="0">
                <a:latin typeface="Arial" pitchFamily="34" charset="0"/>
                <a:cs typeface="Arial" pitchFamily="34" charset="0"/>
              </a:rPr>
              <a:t>: Modern databases allow multiple users to access and manipulate data simultaneously without conflict.</a:t>
            </a:r>
            <a:endParaRPr lang="en-US" sz="2400" dirty="0">
              <a:latin typeface="Arial" pitchFamily="34" charset="0"/>
              <a:cs typeface="Arial" pitchFamily="34" charset="0"/>
            </a:endParaRPr>
          </a:p>
        </p:txBody>
      </p:sp>
      <p:grpSp>
        <p:nvGrpSpPr>
          <p:cNvPr id="20" name="Group 19">
            <a:extLst>
              <a:ext uri="{FF2B5EF4-FFF2-40B4-BE49-F238E27FC236}">
                <a16:creationId xmlns="" xmlns:a16="http://schemas.microsoft.com/office/drawing/2014/main" id="{1EBEA25A-199D-4D78-B795-C46C85A52E0B}"/>
              </a:ext>
            </a:extLst>
          </p:cNvPr>
          <p:cNvGrpSpPr/>
          <p:nvPr/>
        </p:nvGrpSpPr>
        <p:grpSpPr>
          <a:xfrm>
            <a:off x="0" y="0"/>
            <a:ext cx="12749348" cy="1115736"/>
            <a:chOff x="0" y="0"/>
            <a:chExt cx="12749348" cy="1115736"/>
          </a:xfrm>
        </p:grpSpPr>
        <p:sp>
          <p:nvSpPr>
            <p:cNvPr id="21" name="Rectangle 20">
              <a:extLst>
                <a:ext uri="{FF2B5EF4-FFF2-40B4-BE49-F238E27FC236}">
                  <a16:creationId xmlns="" xmlns:a16="http://schemas.microsoft.com/office/drawing/2014/main" id="{670D3031-B614-4825-9EBF-C1E73C4E9DBB}"/>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22" name="Picture 21">
              <a:extLst>
                <a:ext uri="{FF2B5EF4-FFF2-40B4-BE49-F238E27FC236}">
                  <a16:creationId xmlns="" xmlns:a16="http://schemas.microsoft.com/office/drawing/2014/main" id="{D74C19F5-C6B4-4428-89D1-EB6EC79A5E9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23" name="TextBox 22">
              <a:extLst>
                <a:ext uri="{FF2B5EF4-FFF2-40B4-BE49-F238E27FC236}">
                  <a16:creationId xmlns="" xmlns:a16="http://schemas.microsoft.com/office/drawing/2014/main" id="{CA2AD84F-7748-4055-8715-3197B2C846C7}"/>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4" name="Graphic 23">
              <a:extLst>
                <a:ext uri="{FF2B5EF4-FFF2-40B4-BE49-F238E27FC236}">
                  <a16:creationId xmlns="" xmlns:a16="http://schemas.microsoft.com/office/drawing/2014/main" id="{C28E98CA-7A21-4AA3-9B8F-1799DD34823D}"/>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25" name="TextBox 24">
              <a:extLst>
                <a:ext uri="{FF2B5EF4-FFF2-40B4-BE49-F238E27FC236}">
                  <a16:creationId xmlns="" xmlns:a16="http://schemas.microsoft.com/office/drawing/2014/main" id="{ACDD3783-E879-4E85-BB51-871A7A8018E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6" name="Graphic 25">
              <a:extLst>
                <a:ext uri="{FF2B5EF4-FFF2-40B4-BE49-F238E27FC236}">
                  <a16:creationId xmlns="" xmlns:a16="http://schemas.microsoft.com/office/drawing/2014/main" id="{E5C669A3-D490-4746-8542-0EDF14F741F8}"/>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27" name="Picture 26">
              <a:extLst>
                <a:ext uri="{FF2B5EF4-FFF2-40B4-BE49-F238E27FC236}">
                  <a16:creationId xmlns="" xmlns:a16="http://schemas.microsoft.com/office/drawing/2014/main" id="{8F309829-A49F-4E58-8019-7A5F6A26DDC6}"/>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1140632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B420313-4D14-4A70-A7AC-836FE2E9F46E}"/>
              </a:ext>
            </a:extLst>
          </p:cNvPr>
          <p:cNvSpPr/>
          <p:nvPr/>
        </p:nvSpPr>
        <p:spPr>
          <a:xfrm>
            <a:off x="831850" y="694944"/>
            <a:ext cx="10528300" cy="5413248"/>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D32A2A"/>
              </a:solidFill>
            </a:endParaRPr>
          </a:p>
        </p:txBody>
      </p:sp>
      <p:sp>
        <p:nvSpPr>
          <p:cNvPr id="2" name="Title 1">
            <a:extLst>
              <a:ext uri="{FF2B5EF4-FFF2-40B4-BE49-F238E27FC236}">
                <a16:creationId xmlns="" xmlns:a16="http://schemas.microsoft.com/office/drawing/2014/main" id="{87906394-C5CE-42DD-B341-066A6E26D664}"/>
              </a:ext>
            </a:extLst>
          </p:cNvPr>
          <p:cNvSpPr>
            <a:spLocks noGrp="1"/>
          </p:cNvSpPr>
          <p:nvPr>
            <p:ph type="title"/>
          </p:nvPr>
        </p:nvSpPr>
        <p:spPr>
          <a:xfrm>
            <a:off x="1570703" y="2164532"/>
            <a:ext cx="9061958" cy="1500188"/>
          </a:xfrm>
        </p:spPr>
        <p:txBody>
          <a:bodyPr>
            <a:normAutofit/>
          </a:bodyPr>
          <a:lstStyle/>
          <a:p>
            <a:pPr algn="ctr"/>
            <a:r>
              <a:rPr lang="en-US" sz="3200" b="1" dirty="0" smtClean="0">
                <a:solidFill>
                  <a:schemeClr val="bg1"/>
                </a:solidFill>
                <a:latin typeface="Arial" pitchFamily="34" charset="0"/>
                <a:cs typeface="Arial" pitchFamily="34" charset="0"/>
              </a:rPr>
              <a:t>Examples of Database Applications</a:t>
            </a:r>
            <a:endParaRPr lang="en-GB" sz="3600" b="1" i="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2426235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FAC67F0B-6357-403C-A028-EA7626D8104E}"/>
              </a:ext>
            </a:extLst>
          </p:cNvPr>
          <p:cNvSpPr txBox="1"/>
          <p:nvPr/>
        </p:nvSpPr>
        <p:spPr>
          <a:xfrm>
            <a:off x="838199" y="1971675"/>
            <a:ext cx="10515599" cy="3359061"/>
          </a:xfrm>
          <a:prstGeom prst="rect">
            <a:avLst/>
          </a:prstGeom>
          <a:noFill/>
        </p:spPr>
        <p:txBody>
          <a:bodyPr wrap="square">
            <a:spAutoFit/>
          </a:bodyPr>
          <a:lstStyle/>
          <a:p>
            <a:pPr>
              <a:lnSpc>
                <a:spcPct val="150000"/>
              </a:lnSpc>
            </a:pPr>
            <a:r>
              <a:rPr lang="en-US" sz="2400" b="1" dirty="0" smtClean="0"/>
              <a:t>E-commerce Websites:</a:t>
            </a:r>
          </a:p>
          <a:p>
            <a:pPr>
              <a:lnSpc>
                <a:spcPct val="150000"/>
              </a:lnSpc>
            </a:pPr>
            <a:r>
              <a:rPr lang="en-US" sz="2400" dirty="0" smtClean="0"/>
              <a:t>Example: </a:t>
            </a:r>
            <a:r>
              <a:rPr lang="en-US" sz="2400" b="1" dirty="0" smtClean="0"/>
              <a:t>Amazon, eBay</a:t>
            </a:r>
            <a:endParaRPr lang="en-US" sz="2400" dirty="0" smtClean="0"/>
          </a:p>
          <a:p>
            <a:pPr>
              <a:lnSpc>
                <a:spcPct val="150000"/>
              </a:lnSpc>
            </a:pPr>
            <a:r>
              <a:rPr lang="en-US" sz="2400" dirty="0" smtClean="0"/>
              <a:t>Purpose: Store information about products, user accounts, orders, payments, reviews, and more.</a:t>
            </a:r>
          </a:p>
          <a:p>
            <a:pPr>
              <a:lnSpc>
                <a:spcPct val="150000"/>
              </a:lnSpc>
            </a:pPr>
            <a:r>
              <a:rPr lang="en-US" sz="2400" dirty="0" smtClean="0"/>
              <a:t>Database Type: Typically relational (RDBMS) or </a:t>
            </a:r>
            <a:r>
              <a:rPr lang="en-US" sz="2400" dirty="0" err="1" smtClean="0"/>
              <a:t>NoSQL</a:t>
            </a:r>
            <a:r>
              <a:rPr lang="en-US" sz="2400" dirty="0" smtClean="0"/>
              <a:t> (for flexible and fast data handling).</a:t>
            </a:r>
            <a:endParaRPr lang="en-US" sz="2400" dirty="0"/>
          </a:p>
        </p:txBody>
      </p:sp>
      <p:grpSp>
        <p:nvGrpSpPr>
          <p:cNvPr id="10" name="Group 9">
            <a:extLst>
              <a:ext uri="{FF2B5EF4-FFF2-40B4-BE49-F238E27FC236}">
                <a16:creationId xmlns="" xmlns:a16="http://schemas.microsoft.com/office/drawing/2014/main" id="{116CB3A1-2F0C-4B2E-B7CA-A23AA016B82A}"/>
              </a:ext>
            </a:extLst>
          </p:cNvPr>
          <p:cNvGrpSpPr/>
          <p:nvPr/>
        </p:nvGrpSpPr>
        <p:grpSpPr>
          <a:xfrm>
            <a:off x="0" y="0"/>
            <a:ext cx="12749348" cy="1115736"/>
            <a:chOff x="0" y="0"/>
            <a:chExt cx="12749348" cy="1115736"/>
          </a:xfrm>
        </p:grpSpPr>
        <p:sp>
          <p:nvSpPr>
            <p:cNvPr id="11" name="Rectangle 10">
              <a:extLst>
                <a:ext uri="{FF2B5EF4-FFF2-40B4-BE49-F238E27FC236}">
                  <a16:creationId xmlns="" xmlns:a16="http://schemas.microsoft.com/office/drawing/2014/main" id="{399DF749-C1DE-44F1-A0AE-4706451F9DC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2" name="Picture 11">
              <a:extLst>
                <a:ext uri="{FF2B5EF4-FFF2-40B4-BE49-F238E27FC236}">
                  <a16:creationId xmlns="" xmlns:a16="http://schemas.microsoft.com/office/drawing/2014/main" id="{D9D7FAC1-C050-44C3-A520-F7E0452EAE2D}"/>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3" name="TextBox 12">
              <a:extLst>
                <a:ext uri="{FF2B5EF4-FFF2-40B4-BE49-F238E27FC236}">
                  <a16:creationId xmlns="" xmlns:a16="http://schemas.microsoft.com/office/drawing/2014/main" id="{5A6F26BF-93C2-4599-8B3A-583CD8A06DE8}"/>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3">
              <a:extLst>
                <a:ext uri="{FF2B5EF4-FFF2-40B4-BE49-F238E27FC236}">
                  <a16:creationId xmlns="" xmlns:a16="http://schemas.microsoft.com/office/drawing/2014/main" id="{8181E826-520B-42BD-8798-DFC87C72714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 xmlns:a16="http://schemas.microsoft.com/office/drawing/2014/main" id="{5FDE77C3-8284-43D1-8BB9-0E1FE03DB50B}"/>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5">
              <a:extLst>
                <a:ext uri="{FF2B5EF4-FFF2-40B4-BE49-F238E27FC236}">
                  <a16:creationId xmlns="" xmlns:a16="http://schemas.microsoft.com/office/drawing/2014/main" id="{5905B5D0-B635-43DA-AFAC-C24406CF3BB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 xmlns:a16="http://schemas.microsoft.com/office/drawing/2014/main" id="{D51AB74C-8A70-4C3E-A650-D7E8022D40F0}"/>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83066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FAC67F0B-6357-403C-A028-EA7626D8104E}"/>
              </a:ext>
            </a:extLst>
          </p:cNvPr>
          <p:cNvSpPr txBox="1"/>
          <p:nvPr/>
        </p:nvSpPr>
        <p:spPr>
          <a:xfrm>
            <a:off x="838199" y="1971675"/>
            <a:ext cx="10515599" cy="2805063"/>
          </a:xfrm>
          <a:prstGeom prst="rect">
            <a:avLst/>
          </a:prstGeom>
          <a:noFill/>
        </p:spPr>
        <p:txBody>
          <a:bodyPr wrap="square">
            <a:spAutoFit/>
          </a:bodyPr>
          <a:lstStyle/>
          <a:p>
            <a:pPr>
              <a:lnSpc>
                <a:spcPct val="150000"/>
              </a:lnSpc>
            </a:pPr>
            <a:r>
              <a:rPr lang="en-US" sz="2400" b="1" dirty="0" smtClean="0"/>
              <a:t>Banking Systems:</a:t>
            </a:r>
          </a:p>
          <a:p>
            <a:pPr>
              <a:lnSpc>
                <a:spcPct val="150000"/>
              </a:lnSpc>
            </a:pPr>
            <a:r>
              <a:rPr lang="en-US" sz="2400" dirty="0" smtClean="0"/>
              <a:t>Example: </a:t>
            </a:r>
            <a:r>
              <a:rPr lang="en-US" sz="2400" b="1" dirty="0" smtClean="0"/>
              <a:t>JPMorgan Chase, Wells Fargo</a:t>
            </a:r>
            <a:endParaRPr lang="en-US" sz="2400" dirty="0" smtClean="0"/>
          </a:p>
          <a:p>
            <a:pPr>
              <a:lnSpc>
                <a:spcPct val="150000"/>
              </a:lnSpc>
            </a:pPr>
            <a:r>
              <a:rPr lang="en-US" sz="2400" dirty="0" smtClean="0"/>
              <a:t>Purpose: Handle financial transactions, account management, customer data, and real-time fund transfers.</a:t>
            </a:r>
          </a:p>
          <a:p>
            <a:pPr>
              <a:lnSpc>
                <a:spcPct val="150000"/>
              </a:lnSpc>
            </a:pPr>
            <a:r>
              <a:rPr lang="en-US" sz="2400" dirty="0" smtClean="0"/>
              <a:t>Database Type: Relational databases with high security and transactional integrity.</a:t>
            </a:r>
            <a:endParaRPr lang="en-US" sz="2400" dirty="0"/>
          </a:p>
        </p:txBody>
      </p:sp>
      <p:grpSp>
        <p:nvGrpSpPr>
          <p:cNvPr id="2" name="Group 9">
            <a:extLst>
              <a:ext uri="{FF2B5EF4-FFF2-40B4-BE49-F238E27FC236}">
                <a16:creationId xmlns="" xmlns:a16="http://schemas.microsoft.com/office/drawing/2014/main" id="{116CB3A1-2F0C-4B2E-B7CA-A23AA016B82A}"/>
              </a:ext>
            </a:extLst>
          </p:cNvPr>
          <p:cNvGrpSpPr/>
          <p:nvPr/>
        </p:nvGrpSpPr>
        <p:grpSpPr>
          <a:xfrm>
            <a:off x="0" y="0"/>
            <a:ext cx="12749348" cy="1115736"/>
            <a:chOff x="0" y="0"/>
            <a:chExt cx="12749348" cy="1115736"/>
          </a:xfrm>
        </p:grpSpPr>
        <p:sp>
          <p:nvSpPr>
            <p:cNvPr id="11" name="Rectangle 10">
              <a:extLst>
                <a:ext uri="{FF2B5EF4-FFF2-40B4-BE49-F238E27FC236}">
                  <a16:creationId xmlns="" xmlns:a16="http://schemas.microsoft.com/office/drawing/2014/main" id="{399DF749-C1DE-44F1-A0AE-4706451F9DC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2" name="Picture 11">
              <a:extLst>
                <a:ext uri="{FF2B5EF4-FFF2-40B4-BE49-F238E27FC236}">
                  <a16:creationId xmlns="" xmlns:a16="http://schemas.microsoft.com/office/drawing/2014/main" id="{D9D7FAC1-C050-44C3-A520-F7E0452EAE2D}"/>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3" name="TextBox 12">
              <a:extLst>
                <a:ext uri="{FF2B5EF4-FFF2-40B4-BE49-F238E27FC236}">
                  <a16:creationId xmlns="" xmlns:a16="http://schemas.microsoft.com/office/drawing/2014/main" id="{5A6F26BF-93C2-4599-8B3A-583CD8A06DE8}"/>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3">
              <a:extLst>
                <a:ext uri="{FF2B5EF4-FFF2-40B4-BE49-F238E27FC236}">
                  <a16:creationId xmlns="" xmlns:a16="http://schemas.microsoft.com/office/drawing/2014/main" id="{8181E826-520B-42BD-8798-DFC87C72714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 xmlns:a16="http://schemas.microsoft.com/office/drawing/2014/main" id="{5FDE77C3-8284-43D1-8BB9-0E1FE03DB50B}"/>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5">
              <a:extLst>
                <a:ext uri="{FF2B5EF4-FFF2-40B4-BE49-F238E27FC236}">
                  <a16:creationId xmlns="" xmlns:a16="http://schemas.microsoft.com/office/drawing/2014/main" id="{5905B5D0-B635-43DA-AFAC-C24406CF3BB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 xmlns:a16="http://schemas.microsoft.com/office/drawing/2014/main" id="{D51AB74C-8A70-4C3E-A650-D7E8022D40F0}"/>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83066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FAC67F0B-6357-403C-A028-EA7626D8104E}"/>
              </a:ext>
            </a:extLst>
          </p:cNvPr>
          <p:cNvSpPr txBox="1"/>
          <p:nvPr/>
        </p:nvSpPr>
        <p:spPr>
          <a:xfrm>
            <a:off x="838199" y="1971675"/>
            <a:ext cx="10515599" cy="3359061"/>
          </a:xfrm>
          <a:prstGeom prst="rect">
            <a:avLst/>
          </a:prstGeom>
          <a:noFill/>
        </p:spPr>
        <p:txBody>
          <a:bodyPr wrap="square">
            <a:spAutoFit/>
          </a:bodyPr>
          <a:lstStyle/>
          <a:p>
            <a:pPr>
              <a:lnSpc>
                <a:spcPct val="150000"/>
              </a:lnSpc>
            </a:pPr>
            <a:r>
              <a:rPr lang="en-US" sz="2400" b="1" dirty="0" smtClean="0"/>
              <a:t>Social Media Platforms:</a:t>
            </a:r>
          </a:p>
          <a:p>
            <a:pPr>
              <a:lnSpc>
                <a:spcPct val="150000"/>
              </a:lnSpc>
            </a:pPr>
            <a:r>
              <a:rPr lang="en-US" sz="2400" dirty="0" smtClean="0"/>
              <a:t>Example: </a:t>
            </a:r>
            <a:r>
              <a:rPr lang="en-US" sz="2400" b="1" dirty="0" err="1" smtClean="0"/>
              <a:t>Facebook</a:t>
            </a:r>
            <a:r>
              <a:rPr lang="en-US" sz="2400" b="1" dirty="0" smtClean="0"/>
              <a:t>, Twitter</a:t>
            </a:r>
            <a:endParaRPr lang="en-US" sz="2400" dirty="0" smtClean="0"/>
          </a:p>
          <a:p>
            <a:pPr>
              <a:lnSpc>
                <a:spcPct val="150000"/>
              </a:lnSpc>
            </a:pPr>
            <a:r>
              <a:rPr lang="en-US" sz="2400" dirty="0" smtClean="0"/>
              <a:t>Purpose: Manage large-scale, unstructured data, including posts, profiles, comments, likes, and relationships between users.</a:t>
            </a:r>
          </a:p>
          <a:p>
            <a:pPr>
              <a:lnSpc>
                <a:spcPct val="150000"/>
              </a:lnSpc>
            </a:pPr>
            <a:r>
              <a:rPr lang="en-US" sz="2400" dirty="0" smtClean="0"/>
              <a:t>Database Type: </a:t>
            </a:r>
            <a:r>
              <a:rPr lang="en-US" sz="2400" dirty="0" err="1" smtClean="0"/>
              <a:t>NoSQL</a:t>
            </a:r>
            <a:r>
              <a:rPr lang="en-US" sz="2400" dirty="0" smtClean="0"/>
              <a:t> databases like </a:t>
            </a:r>
            <a:r>
              <a:rPr lang="en-US" sz="2400" b="1" dirty="0" smtClean="0"/>
              <a:t>Cassandra</a:t>
            </a:r>
            <a:r>
              <a:rPr lang="en-US" sz="2400" dirty="0" smtClean="0"/>
              <a:t> and </a:t>
            </a:r>
            <a:r>
              <a:rPr lang="en-US" sz="2400" b="1" dirty="0" err="1" smtClean="0"/>
              <a:t>HBase</a:t>
            </a:r>
            <a:r>
              <a:rPr lang="en-US" sz="2400" dirty="0" smtClean="0"/>
              <a:t> for scalable, distributed data storage.</a:t>
            </a:r>
            <a:endParaRPr lang="en-US" sz="2400" dirty="0"/>
          </a:p>
        </p:txBody>
      </p:sp>
      <p:grpSp>
        <p:nvGrpSpPr>
          <p:cNvPr id="2" name="Group 9">
            <a:extLst>
              <a:ext uri="{FF2B5EF4-FFF2-40B4-BE49-F238E27FC236}">
                <a16:creationId xmlns="" xmlns:a16="http://schemas.microsoft.com/office/drawing/2014/main" id="{116CB3A1-2F0C-4B2E-B7CA-A23AA016B82A}"/>
              </a:ext>
            </a:extLst>
          </p:cNvPr>
          <p:cNvGrpSpPr/>
          <p:nvPr/>
        </p:nvGrpSpPr>
        <p:grpSpPr>
          <a:xfrm>
            <a:off x="0" y="0"/>
            <a:ext cx="12749348" cy="1115736"/>
            <a:chOff x="0" y="0"/>
            <a:chExt cx="12749348" cy="1115736"/>
          </a:xfrm>
        </p:grpSpPr>
        <p:sp>
          <p:nvSpPr>
            <p:cNvPr id="11" name="Rectangle 10">
              <a:extLst>
                <a:ext uri="{FF2B5EF4-FFF2-40B4-BE49-F238E27FC236}">
                  <a16:creationId xmlns="" xmlns:a16="http://schemas.microsoft.com/office/drawing/2014/main" id="{399DF749-C1DE-44F1-A0AE-4706451F9DC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2" name="Picture 11">
              <a:extLst>
                <a:ext uri="{FF2B5EF4-FFF2-40B4-BE49-F238E27FC236}">
                  <a16:creationId xmlns="" xmlns:a16="http://schemas.microsoft.com/office/drawing/2014/main" id="{D9D7FAC1-C050-44C3-A520-F7E0452EAE2D}"/>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3" name="TextBox 12">
              <a:extLst>
                <a:ext uri="{FF2B5EF4-FFF2-40B4-BE49-F238E27FC236}">
                  <a16:creationId xmlns="" xmlns:a16="http://schemas.microsoft.com/office/drawing/2014/main" id="{5A6F26BF-93C2-4599-8B3A-583CD8A06DE8}"/>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3">
              <a:extLst>
                <a:ext uri="{FF2B5EF4-FFF2-40B4-BE49-F238E27FC236}">
                  <a16:creationId xmlns="" xmlns:a16="http://schemas.microsoft.com/office/drawing/2014/main" id="{8181E826-520B-42BD-8798-DFC87C72714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 xmlns:a16="http://schemas.microsoft.com/office/drawing/2014/main" id="{5FDE77C3-8284-43D1-8BB9-0E1FE03DB50B}"/>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5">
              <a:extLst>
                <a:ext uri="{FF2B5EF4-FFF2-40B4-BE49-F238E27FC236}">
                  <a16:creationId xmlns="" xmlns:a16="http://schemas.microsoft.com/office/drawing/2014/main" id="{5905B5D0-B635-43DA-AFAC-C24406CF3BB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 xmlns:a16="http://schemas.microsoft.com/office/drawing/2014/main" id="{D51AB74C-8A70-4C3E-A650-D7E8022D40F0}"/>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83066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FAC67F0B-6357-403C-A028-EA7626D8104E}"/>
              </a:ext>
            </a:extLst>
          </p:cNvPr>
          <p:cNvSpPr txBox="1"/>
          <p:nvPr/>
        </p:nvSpPr>
        <p:spPr>
          <a:xfrm>
            <a:off x="838199" y="1971675"/>
            <a:ext cx="10515599" cy="3359061"/>
          </a:xfrm>
          <a:prstGeom prst="rect">
            <a:avLst/>
          </a:prstGeom>
          <a:noFill/>
        </p:spPr>
        <p:txBody>
          <a:bodyPr wrap="square">
            <a:spAutoFit/>
          </a:bodyPr>
          <a:lstStyle/>
          <a:p>
            <a:pPr>
              <a:lnSpc>
                <a:spcPct val="150000"/>
              </a:lnSpc>
            </a:pPr>
            <a:r>
              <a:rPr lang="en-US" sz="2400" b="1" dirty="0" smtClean="0"/>
              <a:t>Healthcare Systems:</a:t>
            </a:r>
          </a:p>
          <a:p>
            <a:pPr>
              <a:lnSpc>
                <a:spcPct val="150000"/>
              </a:lnSpc>
            </a:pPr>
            <a:r>
              <a:rPr lang="en-US" sz="2400" dirty="0" smtClean="0"/>
              <a:t>Example: </a:t>
            </a:r>
            <a:r>
              <a:rPr lang="en-US" sz="2400" b="1" dirty="0" smtClean="0"/>
              <a:t>Electronic Health Records (EHR) systems like Epic</a:t>
            </a:r>
            <a:endParaRPr lang="en-US" sz="2400" dirty="0" smtClean="0"/>
          </a:p>
          <a:p>
            <a:pPr>
              <a:lnSpc>
                <a:spcPct val="150000"/>
              </a:lnSpc>
            </a:pPr>
            <a:r>
              <a:rPr lang="en-US" sz="2400" dirty="0" smtClean="0"/>
              <a:t>Purpose: Store patient records, prescriptions, appointment schedules, and diagnostic information.</a:t>
            </a:r>
          </a:p>
          <a:p>
            <a:pPr>
              <a:lnSpc>
                <a:spcPct val="150000"/>
              </a:lnSpc>
            </a:pPr>
            <a:r>
              <a:rPr lang="en-US" sz="2400" dirty="0" smtClean="0"/>
              <a:t>Database Type: Relational databases, often paired with </a:t>
            </a:r>
            <a:r>
              <a:rPr lang="en-US" sz="2400" dirty="0" err="1" smtClean="0"/>
              <a:t>NoSQL</a:t>
            </a:r>
            <a:r>
              <a:rPr lang="en-US" sz="2400" dirty="0" smtClean="0"/>
              <a:t> systems for managing unstructured health data.</a:t>
            </a:r>
            <a:endParaRPr lang="en-US" sz="2400" dirty="0"/>
          </a:p>
        </p:txBody>
      </p:sp>
      <p:grpSp>
        <p:nvGrpSpPr>
          <p:cNvPr id="2" name="Group 9">
            <a:extLst>
              <a:ext uri="{FF2B5EF4-FFF2-40B4-BE49-F238E27FC236}">
                <a16:creationId xmlns="" xmlns:a16="http://schemas.microsoft.com/office/drawing/2014/main" id="{116CB3A1-2F0C-4B2E-B7CA-A23AA016B82A}"/>
              </a:ext>
            </a:extLst>
          </p:cNvPr>
          <p:cNvGrpSpPr/>
          <p:nvPr/>
        </p:nvGrpSpPr>
        <p:grpSpPr>
          <a:xfrm>
            <a:off x="0" y="0"/>
            <a:ext cx="12749348" cy="1115736"/>
            <a:chOff x="0" y="0"/>
            <a:chExt cx="12749348" cy="1115736"/>
          </a:xfrm>
        </p:grpSpPr>
        <p:sp>
          <p:nvSpPr>
            <p:cNvPr id="11" name="Rectangle 10">
              <a:extLst>
                <a:ext uri="{FF2B5EF4-FFF2-40B4-BE49-F238E27FC236}">
                  <a16:creationId xmlns="" xmlns:a16="http://schemas.microsoft.com/office/drawing/2014/main" id="{399DF749-C1DE-44F1-A0AE-4706451F9DC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2" name="Picture 11">
              <a:extLst>
                <a:ext uri="{FF2B5EF4-FFF2-40B4-BE49-F238E27FC236}">
                  <a16:creationId xmlns="" xmlns:a16="http://schemas.microsoft.com/office/drawing/2014/main" id="{D9D7FAC1-C050-44C3-A520-F7E0452EAE2D}"/>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3" name="TextBox 12">
              <a:extLst>
                <a:ext uri="{FF2B5EF4-FFF2-40B4-BE49-F238E27FC236}">
                  <a16:creationId xmlns="" xmlns:a16="http://schemas.microsoft.com/office/drawing/2014/main" id="{5A6F26BF-93C2-4599-8B3A-583CD8A06DE8}"/>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3">
              <a:extLst>
                <a:ext uri="{FF2B5EF4-FFF2-40B4-BE49-F238E27FC236}">
                  <a16:creationId xmlns="" xmlns:a16="http://schemas.microsoft.com/office/drawing/2014/main" id="{8181E826-520B-42BD-8798-DFC87C72714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 xmlns:a16="http://schemas.microsoft.com/office/drawing/2014/main" id="{5FDE77C3-8284-43D1-8BB9-0E1FE03DB50B}"/>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5">
              <a:extLst>
                <a:ext uri="{FF2B5EF4-FFF2-40B4-BE49-F238E27FC236}">
                  <a16:creationId xmlns="" xmlns:a16="http://schemas.microsoft.com/office/drawing/2014/main" id="{5905B5D0-B635-43DA-AFAC-C24406CF3BB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 xmlns:a16="http://schemas.microsoft.com/office/drawing/2014/main" id="{D51AB74C-8A70-4C3E-A650-D7E8022D40F0}"/>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83066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FAC67F0B-6357-403C-A028-EA7626D8104E}"/>
              </a:ext>
            </a:extLst>
          </p:cNvPr>
          <p:cNvSpPr txBox="1"/>
          <p:nvPr/>
        </p:nvSpPr>
        <p:spPr>
          <a:xfrm>
            <a:off x="838199" y="1971675"/>
            <a:ext cx="10515599" cy="2251065"/>
          </a:xfrm>
          <a:prstGeom prst="rect">
            <a:avLst/>
          </a:prstGeom>
          <a:noFill/>
        </p:spPr>
        <p:txBody>
          <a:bodyPr wrap="square">
            <a:spAutoFit/>
          </a:bodyPr>
          <a:lstStyle/>
          <a:p>
            <a:pPr>
              <a:lnSpc>
                <a:spcPct val="150000"/>
              </a:lnSpc>
            </a:pPr>
            <a:r>
              <a:rPr lang="en-US" sz="2400" b="1" dirty="0" smtClean="0"/>
              <a:t>Content Management Systems (CMS):</a:t>
            </a:r>
          </a:p>
          <a:p>
            <a:pPr>
              <a:lnSpc>
                <a:spcPct val="150000"/>
              </a:lnSpc>
            </a:pPr>
            <a:r>
              <a:rPr lang="en-US" sz="2400" dirty="0" smtClean="0"/>
              <a:t>Example: </a:t>
            </a:r>
            <a:r>
              <a:rPr lang="en-US" sz="2400" b="1" dirty="0" err="1" smtClean="0"/>
              <a:t>WordPress</a:t>
            </a:r>
            <a:r>
              <a:rPr lang="en-US" sz="2400" b="1" dirty="0" smtClean="0"/>
              <a:t>, </a:t>
            </a:r>
            <a:r>
              <a:rPr lang="en-US" sz="2400" b="1" dirty="0" err="1" smtClean="0"/>
              <a:t>Drupal</a:t>
            </a:r>
            <a:endParaRPr lang="en-US" sz="2400" dirty="0" smtClean="0"/>
          </a:p>
          <a:p>
            <a:pPr>
              <a:lnSpc>
                <a:spcPct val="150000"/>
              </a:lnSpc>
            </a:pPr>
            <a:r>
              <a:rPr lang="en-US" sz="2400" dirty="0" smtClean="0"/>
              <a:t>Purpose: Manage and organize web content, user information, and media assets.</a:t>
            </a:r>
          </a:p>
          <a:p>
            <a:pPr>
              <a:lnSpc>
                <a:spcPct val="150000"/>
              </a:lnSpc>
            </a:pPr>
            <a:r>
              <a:rPr lang="en-US" sz="2400" dirty="0" smtClean="0"/>
              <a:t>Database Type: </a:t>
            </a:r>
            <a:r>
              <a:rPr lang="en-US" sz="2400" dirty="0" err="1" smtClean="0"/>
              <a:t>MySQL</a:t>
            </a:r>
            <a:r>
              <a:rPr lang="en-US" sz="2400" dirty="0" smtClean="0"/>
              <a:t> or other relational databases.</a:t>
            </a:r>
            <a:endParaRPr lang="en-US" sz="2400" dirty="0"/>
          </a:p>
        </p:txBody>
      </p:sp>
      <p:grpSp>
        <p:nvGrpSpPr>
          <p:cNvPr id="2" name="Group 9">
            <a:extLst>
              <a:ext uri="{FF2B5EF4-FFF2-40B4-BE49-F238E27FC236}">
                <a16:creationId xmlns="" xmlns:a16="http://schemas.microsoft.com/office/drawing/2014/main" id="{116CB3A1-2F0C-4B2E-B7CA-A23AA016B82A}"/>
              </a:ext>
            </a:extLst>
          </p:cNvPr>
          <p:cNvGrpSpPr/>
          <p:nvPr/>
        </p:nvGrpSpPr>
        <p:grpSpPr>
          <a:xfrm>
            <a:off x="0" y="0"/>
            <a:ext cx="12749348" cy="1115736"/>
            <a:chOff x="0" y="0"/>
            <a:chExt cx="12749348" cy="1115736"/>
          </a:xfrm>
        </p:grpSpPr>
        <p:sp>
          <p:nvSpPr>
            <p:cNvPr id="11" name="Rectangle 10">
              <a:extLst>
                <a:ext uri="{FF2B5EF4-FFF2-40B4-BE49-F238E27FC236}">
                  <a16:creationId xmlns="" xmlns:a16="http://schemas.microsoft.com/office/drawing/2014/main" id="{399DF749-C1DE-44F1-A0AE-4706451F9DC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2" name="Picture 11">
              <a:extLst>
                <a:ext uri="{FF2B5EF4-FFF2-40B4-BE49-F238E27FC236}">
                  <a16:creationId xmlns="" xmlns:a16="http://schemas.microsoft.com/office/drawing/2014/main" id="{D9D7FAC1-C050-44C3-A520-F7E0452EAE2D}"/>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3" name="TextBox 12">
              <a:extLst>
                <a:ext uri="{FF2B5EF4-FFF2-40B4-BE49-F238E27FC236}">
                  <a16:creationId xmlns="" xmlns:a16="http://schemas.microsoft.com/office/drawing/2014/main" id="{5A6F26BF-93C2-4599-8B3A-583CD8A06DE8}"/>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3">
              <a:extLst>
                <a:ext uri="{FF2B5EF4-FFF2-40B4-BE49-F238E27FC236}">
                  <a16:creationId xmlns="" xmlns:a16="http://schemas.microsoft.com/office/drawing/2014/main" id="{8181E826-520B-42BD-8798-DFC87C72714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 xmlns:a16="http://schemas.microsoft.com/office/drawing/2014/main" id="{5FDE77C3-8284-43D1-8BB9-0E1FE03DB50B}"/>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5">
              <a:extLst>
                <a:ext uri="{FF2B5EF4-FFF2-40B4-BE49-F238E27FC236}">
                  <a16:creationId xmlns="" xmlns:a16="http://schemas.microsoft.com/office/drawing/2014/main" id="{5905B5D0-B635-43DA-AFAC-C24406CF3BB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 xmlns:a16="http://schemas.microsoft.com/office/drawing/2014/main" id="{D51AB74C-8A70-4C3E-A650-D7E8022D40F0}"/>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83066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FAC67F0B-6357-403C-A028-EA7626D8104E}"/>
              </a:ext>
            </a:extLst>
          </p:cNvPr>
          <p:cNvSpPr txBox="1"/>
          <p:nvPr/>
        </p:nvSpPr>
        <p:spPr>
          <a:xfrm>
            <a:off x="838199" y="1971675"/>
            <a:ext cx="10515599" cy="3359061"/>
          </a:xfrm>
          <a:prstGeom prst="rect">
            <a:avLst/>
          </a:prstGeom>
          <a:noFill/>
        </p:spPr>
        <p:txBody>
          <a:bodyPr wrap="square">
            <a:spAutoFit/>
          </a:bodyPr>
          <a:lstStyle/>
          <a:p>
            <a:pPr>
              <a:lnSpc>
                <a:spcPct val="150000"/>
              </a:lnSpc>
            </a:pPr>
            <a:r>
              <a:rPr lang="en-US" sz="2400" b="1" dirty="0" smtClean="0"/>
              <a:t>Customer Relationship Management (CRM) Systems:</a:t>
            </a:r>
          </a:p>
          <a:p>
            <a:pPr>
              <a:lnSpc>
                <a:spcPct val="150000"/>
              </a:lnSpc>
            </a:pPr>
            <a:r>
              <a:rPr lang="en-US" sz="2400" dirty="0" smtClean="0"/>
              <a:t>Example: </a:t>
            </a:r>
            <a:r>
              <a:rPr lang="en-US" sz="2400" b="1" dirty="0" err="1" smtClean="0"/>
              <a:t>Salesforce</a:t>
            </a:r>
            <a:r>
              <a:rPr lang="en-US" sz="2400" b="1" dirty="0" smtClean="0"/>
              <a:t>, </a:t>
            </a:r>
            <a:r>
              <a:rPr lang="en-US" sz="2400" b="1" dirty="0" err="1" smtClean="0"/>
              <a:t>HubSpot</a:t>
            </a:r>
            <a:endParaRPr lang="en-US" sz="2400" dirty="0" smtClean="0"/>
          </a:p>
          <a:p>
            <a:pPr>
              <a:lnSpc>
                <a:spcPct val="150000"/>
              </a:lnSpc>
            </a:pPr>
            <a:r>
              <a:rPr lang="en-US" sz="2400" dirty="0" smtClean="0"/>
              <a:t>Purpose: Store and analyze customer interaction data, manage sales pipelines, and support marketing efforts.</a:t>
            </a:r>
          </a:p>
          <a:p>
            <a:pPr>
              <a:lnSpc>
                <a:spcPct val="150000"/>
              </a:lnSpc>
            </a:pPr>
            <a:r>
              <a:rPr lang="en-US" sz="2400" dirty="0" smtClean="0"/>
              <a:t>Database Type: Relational databases or </a:t>
            </a:r>
            <a:r>
              <a:rPr lang="en-US" sz="2400" dirty="0" err="1" smtClean="0"/>
              <a:t>NoSQL</a:t>
            </a:r>
            <a:r>
              <a:rPr lang="en-US" sz="2400" dirty="0" smtClean="0"/>
              <a:t> for high flexibility and real-time analytics.</a:t>
            </a:r>
            <a:endParaRPr lang="en-US" sz="2400" dirty="0"/>
          </a:p>
        </p:txBody>
      </p:sp>
      <p:grpSp>
        <p:nvGrpSpPr>
          <p:cNvPr id="2" name="Group 9">
            <a:extLst>
              <a:ext uri="{FF2B5EF4-FFF2-40B4-BE49-F238E27FC236}">
                <a16:creationId xmlns="" xmlns:a16="http://schemas.microsoft.com/office/drawing/2014/main" id="{116CB3A1-2F0C-4B2E-B7CA-A23AA016B82A}"/>
              </a:ext>
            </a:extLst>
          </p:cNvPr>
          <p:cNvGrpSpPr/>
          <p:nvPr/>
        </p:nvGrpSpPr>
        <p:grpSpPr>
          <a:xfrm>
            <a:off x="0" y="0"/>
            <a:ext cx="12749348" cy="1115736"/>
            <a:chOff x="0" y="0"/>
            <a:chExt cx="12749348" cy="1115736"/>
          </a:xfrm>
        </p:grpSpPr>
        <p:sp>
          <p:nvSpPr>
            <p:cNvPr id="11" name="Rectangle 10">
              <a:extLst>
                <a:ext uri="{FF2B5EF4-FFF2-40B4-BE49-F238E27FC236}">
                  <a16:creationId xmlns="" xmlns:a16="http://schemas.microsoft.com/office/drawing/2014/main" id="{399DF749-C1DE-44F1-A0AE-4706451F9DC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2" name="Picture 11">
              <a:extLst>
                <a:ext uri="{FF2B5EF4-FFF2-40B4-BE49-F238E27FC236}">
                  <a16:creationId xmlns="" xmlns:a16="http://schemas.microsoft.com/office/drawing/2014/main" id="{D9D7FAC1-C050-44C3-A520-F7E0452EAE2D}"/>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3" name="TextBox 12">
              <a:extLst>
                <a:ext uri="{FF2B5EF4-FFF2-40B4-BE49-F238E27FC236}">
                  <a16:creationId xmlns="" xmlns:a16="http://schemas.microsoft.com/office/drawing/2014/main" id="{5A6F26BF-93C2-4599-8B3A-583CD8A06DE8}"/>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3">
              <a:extLst>
                <a:ext uri="{FF2B5EF4-FFF2-40B4-BE49-F238E27FC236}">
                  <a16:creationId xmlns="" xmlns:a16="http://schemas.microsoft.com/office/drawing/2014/main" id="{8181E826-520B-42BD-8798-DFC87C72714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 xmlns:a16="http://schemas.microsoft.com/office/drawing/2014/main" id="{5FDE77C3-8284-43D1-8BB9-0E1FE03DB50B}"/>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5">
              <a:extLst>
                <a:ext uri="{FF2B5EF4-FFF2-40B4-BE49-F238E27FC236}">
                  <a16:creationId xmlns="" xmlns:a16="http://schemas.microsoft.com/office/drawing/2014/main" id="{5905B5D0-B635-43DA-AFAC-C24406CF3BB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 xmlns:a16="http://schemas.microsoft.com/office/drawing/2014/main" id="{D51AB74C-8A70-4C3E-A650-D7E8022D40F0}"/>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83066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FAC67F0B-6357-403C-A028-EA7626D8104E}"/>
              </a:ext>
            </a:extLst>
          </p:cNvPr>
          <p:cNvSpPr txBox="1"/>
          <p:nvPr/>
        </p:nvSpPr>
        <p:spPr>
          <a:xfrm>
            <a:off x="838199" y="1971675"/>
            <a:ext cx="10515599" cy="3359061"/>
          </a:xfrm>
          <a:prstGeom prst="rect">
            <a:avLst/>
          </a:prstGeom>
          <a:noFill/>
        </p:spPr>
        <p:txBody>
          <a:bodyPr wrap="square">
            <a:spAutoFit/>
          </a:bodyPr>
          <a:lstStyle/>
          <a:p>
            <a:pPr>
              <a:lnSpc>
                <a:spcPct val="150000"/>
              </a:lnSpc>
            </a:pPr>
            <a:r>
              <a:rPr lang="en-US" sz="2400" b="1" dirty="0" smtClean="0"/>
              <a:t>Streaming Services:</a:t>
            </a:r>
          </a:p>
          <a:p>
            <a:pPr>
              <a:lnSpc>
                <a:spcPct val="150000"/>
              </a:lnSpc>
            </a:pPr>
            <a:r>
              <a:rPr lang="en-US" sz="2400" dirty="0" smtClean="0"/>
              <a:t>Example: </a:t>
            </a:r>
            <a:r>
              <a:rPr lang="en-US" sz="2400" b="1" dirty="0" smtClean="0"/>
              <a:t>Netflix, </a:t>
            </a:r>
            <a:r>
              <a:rPr lang="en-US" sz="2400" b="1" dirty="0" err="1" smtClean="0"/>
              <a:t>Spotify</a:t>
            </a:r>
            <a:endParaRPr lang="en-US" sz="2400" dirty="0" smtClean="0"/>
          </a:p>
          <a:p>
            <a:pPr>
              <a:lnSpc>
                <a:spcPct val="150000"/>
              </a:lnSpc>
            </a:pPr>
            <a:r>
              <a:rPr lang="en-US" sz="2400" dirty="0" smtClean="0"/>
              <a:t>Purpose: Store and deliver media content such as movies, music, and user preferences.</a:t>
            </a:r>
          </a:p>
          <a:p>
            <a:pPr>
              <a:lnSpc>
                <a:spcPct val="150000"/>
              </a:lnSpc>
            </a:pPr>
            <a:r>
              <a:rPr lang="en-US" sz="2400" dirty="0" smtClean="0"/>
              <a:t>Database Type: </a:t>
            </a:r>
            <a:r>
              <a:rPr lang="en-US" sz="2400" dirty="0" err="1" smtClean="0"/>
              <a:t>NoSQL</a:t>
            </a:r>
            <a:r>
              <a:rPr lang="en-US" sz="2400" dirty="0" smtClean="0"/>
              <a:t> databases like </a:t>
            </a:r>
            <a:r>
              <a:rPr lang="en-US" sz="2400" b="1" dirty="0" smtClean="0"/>
              <a:t>Cassandra</a:t>
            </a:r>
            <a:r>
              <a:rPr lang="en-US" sz="2400" dirty="0" smtClean="0"/>
              <a:t> (for scalability) and RDBMS (for transactional integrity).</a:t>
            </a:r>
            <a:endParaRPr lang="en-US" sz="2400" dirty="0"/>
          </a:p>
        </p:txBody>
      </p:sp>
      <p:grpSp>
        <p:nvGrpSpPr>
          <p:cNvPr id="2" name="Group 9">
            <a:extLst>
              <a:ext uri="{FF2B5EF4-FFF2-40B4-BE49-F238E27FC236}">
                <a16:creationId xmlns="" xmlns:a16="http://schemas.microsoft.com/office/drawing/2014/main" id="{116CB3A1-2F0C-4B2E-B7CA-A23AA016B82A}"/>
              </a:ext>
            </a:extLst>
          </p:cNvPr>
          <p:cNvGrpSpPr/>
          <p:nvPr/>
        </p:nvGrpSpPr>
        <p:grpSpPr>
          <a:xfrm>
            <a:off x="0" y="0"/>
            <a:ext cx="12749348" cy="1115736"/>
            <a:chOff x="0" y="0"/>
            <a:chExt cx="12749348" cy="1115736"/>
          </a:xfrm>
        </p:grpSpPr>
        <p:sp>
          <p:nvSpPr>
            <p:cNvPr id="11" name="Rectangle 10">
              <a:extLst>
                <a:ext uri="{FF2B5EF4-FFF2-40B4-BE49-F238E27FC236}">
                  <a16:creationId xmlns="" xmlns:a16="http://schemas.microsoft.com/office/drawing/2014/main" id="{399DF749-C1DE-44F1-A0AE-4706451F9DC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2" name="Picture 11">
              <a:extLst>
                <a:ext uri="{FF2B5EF4-FFF2-40B4-BE49-F238E27FC236}">
                  <a16:creationId xmlns="" xmlns:a16="http://schemas.microsoft.com/office/drawing/2014/main" id="{D9D7FAC1-C050-44C3-A520-F7E0452EAE2D}"/>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3" name="TextBox 12">
              <a:extLst>
                <a:ext uri="{FF2B5EF4-FFF2-40B4-BE49-F238E27FC236}">
                  <a16:creationId xmlns="" xmlns:a16="http://schemas.microsoft.com/office/drawing/2014/main" id="{5A6F26BF-93C2-4599-8B3A-583CD8A06DE8}"/>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4" name="Graphic 13">
              <a:extLst>
                <a:ext uri="{FF2B5EF4-FFF2-40B4-BE49-F238E27FC236}">
                  <a16:creationId xmlns="" xmlns:a16="http://schemas.microsoft.com/office/drawing/2014/main" id="{8181E826-520B-42BD-8798-DFC87C72714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5" name="TextBox 14">
              <a:extLst>
                <a:ext uri="{FF2B5EF4-FFF2-40B4-BE49-F238E27FC236}">
                  <a16:creationId xmlns="" xmlns:a16="http://schemas.microsoft.com/office/drawing/2014/main" id="{5FDE77C3-8284-43D1-8BB9-0E1FE03DB50B}"/>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6" name="Graphic 15">
              <a:extLst>
                <a:ext uri="{FF2B5EF4-FFF2-40B4-BE49-F238E27FC236}">
                  <a16:creationId xmlns="" xmlns:a16="http://schemas.microsoft.com/office/drawing/2014/main" id="{5905B5D0-B635-43DA-AFAC-C24406CF3BB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7" name="Picture 16">
              <a:extLst>
                <a:ext uri="{FF2B5EF4-FFF2-40B4-BE49-F238E27FC236}">
                  <a16:creationId xmlns="" xmlns:a16="http://schemas.microsoft.com/office/drawing/2014/main" id="{D51AB74C-8A70-4C3E-A650-D7E8022D40F0}"/>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83066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B420313-4D14-4A70-A7AC-836FE2E9F46E}"/>
              </a:ext>
            </a:extLst>
          </p:cNvPr>
          <p:cNvSpPr/>
          <p:nvPr/>
        </p:nvSpPr>
        <p:spPr>
          <a:xfrm>
            <a:off x="831850" y="694944"/>
            <a:ext cx="10528300" cy="5413248"/>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D32A2A"/>
              </a:solidFill>
            </a:endParaRPr>
          </a:p>
        </p:txBody>
      </p:sp>
      <p:sp>
        <p:nvSpPr>
          <p:cNvPr id="2" name="Title 1">
            <a:extLst>
              <a:ext uri="{FF2B5EF4-FFF2-40B4-BE49-F238E27FC236}">
                <a16:creationId xmlns="" xmlns:a16="http://schemas.microsoft.com/office/drawing/2014/main" id="{87906394-C5CE-42DD-B341-066A6E26D664}"/>
              </a:ext>
            </a:extLst>
          </p:cNvPr>
          <p:cNvSpPr>
            <a:spLocks noGrp="1"/>
          </p:cNvSpPr>
          <p:nvPr>
            <p:ph type="title"/>
          </p:nvPr>
        </p:nvSpPr>
        <p:spPr>
          <a:xfrm>
            <a:off x="1570703" y="2164532"/>
            <a:ext cx="9061958" cy="1500188"/>
          </a:xfrm>
        </p:spPr>
        <p:txBody>
          <a:bodyPr>
            <a:normAutofit/>
          </a:bodyPr>
          <a:lstStyle/>
          <a:p>
            <a:pPr algn="ctr"/>
            <a:r>
              <a:rPr lang="en-US" sz="3200" b="1" dirty="0" smtClean="0">
                <a:solidFill>
                  <a:schemeClr val="bg1"/>
                </a:solidFill>
                <a:latin typeface="Arial" pitchFamily="34" charset="0"/>
                <a:cs typeface="Arial" pitchFamily="34" charset="0"/>
              </a:rPr>
              <a:t>Data, Information, and Knowledge</a:t>
            </a:r>
            <a:endParaRPr lang="en-GB" sz="3600" b="1" i="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2426235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A4850E8-70C4-41E2-98DF-B4141888672A}"/>
              </a:ext>
            </a:extLst>
          </p:cNvPr>
          <p:cNvSpPr>
            <a:spLocks noGrp="1"/>
          </p:cNvSpPr>
          <p:nvPr>
            <p:ph idx="1"/>
          </p:nvPr>
        </p:nvSpPr>
        <p:spPr/>
        <p:txBody>
          <a:bodyPr>
            <a:normAutofit fontScale="85000" lnSpcReduction="20000"/>
          </a:bodyPr>
          <a:lstStyle/>
          <a:p>
            <a:pPr>
              <a:lnSpc>
                <a:spcPct val="150000"/>
              </a:lnSpc>
            </a:pPr>
            <a:r>
              <a:rPr lang="en-US" b="1" dirty="0" smtClean="0">
                <a:latin typeface="Arial" pitchFamily="34" charset="0"/>
                <a:cs typeface="Arial" pitchFamily="34" charset="0"/>
              </a:rPr>
              <a:t>Data:</a:t>
            </a:r>
          </a:p>
          <a:p>
            <a:pPr>
              <a:lnSpc>
                <a:spcPct val="150000"/>
              </a:lnSpc>
            </a:pPr>
            <a:r>
              <a:rPr lang="en-US" b="1" dirty="0" smtClean="0">
                <a:latin typeface="Arial" pitchFamily="34" charset="0"/>
                <a:cs typeface="Arial" pitchFamily="34" charset="0"/>
              </a:rPr>
              <a:t>Definition</a:t>
            </a:r>
            <a:r>
              <a:rPr lang="en-US" dirty="0" smtClean="0">
                <a:latin typeface="Arial" pitchFamily="34" charset="0"/>
                <a:cs typeface="Arial" pitchFamily="34" charset="0"/>
              </a:rPr>
              <a:t>: Data consists of raw, unprocessed facts and figures without context. Data can take the form of numbers, text, or symbols but lacks meaning by itself.</a:t>
            </a:r>
          </a:p>
          <a:p>
            <a:pPr>
              <a:lnSpc>
                <a:spcPct val="150000"/>
              </a:lnSpc>
            </a:pPr>
            <a:r>
              <a:rPr lang="en-US" b="1" dirty="0" smtClean="0">
                <a:latin typeface="Arial" pitchFamily="34" charset="0"/>
                <a:cs typeface="Arial" pitchFamily="34" charset="0"/>
              </a:rPr>
              <a:t>Examples</a:t>
            </a:r>
            <a:r>
              <a:rPr lang="en-US" dirty="0" smtClean="0">
                <a:latin typeface="Arial" pitchFamily="34" charset="0"/>
                <a:cs typeface="Arial" pitchFamily="34" charset="0"/>
              </a:rPr>
              <a:t>:</a:t>
            </a:r>
          </a:p>
          <a:p>
            <a:pPr lvl="1">
              <a:lnSpc>
                <a:spcPct val="150000"/>
              </a:lnSpc>
            </a:pPr>
            <a:r>
              <a:rPr lang="en-US" dirty="0" smtClean="0">
                <a:latin typeface="Arial" pitchFamily="34" charset="0"/>
                <a:cs typeface="Arial" pitchFamily="34" charset="0"/>
              </a:rPr>
              <a:t>A list of numbers: 45, 92, 33, 17</a:t>
            </a:r>
          </a:p>
          <a:p>
            <a:pPr lvl="1">
              <a:lnSpc>
                <a:spcPct val="150000"/>
              </a:lnSpc>
            </a:pPr>
            <a:r>
              <a:rPr lang="en-US" dirty="0" smtClean="0">
                <a:latin typeface="Arial" pitchFamily="34" charset="0"/>
                <a:cs typeface="Arial" pitchFamily="34" charset="0"/>
              </a:rPr>
              <a:t>A name or a date: John Doe, 12/12/2024</a:t>
            </a:r>
          </a:p>
          <a:p>
            <a:pPr lvl="1">
              <a:lnSpc>
                <a:spcPct val="150000"/>
              </a:lnSpc>
            </a:pPr>
            <a:r>
              <a:rPr lang="en-US" dirty="0" smtClean="0">
                <a:latin typeface="Arial" pitchFamily="34" charset="0"/>
                <a:cs typeface="Arial" pitchFamily="34" charset="0"/>
              </a:rPr>
              <a:t>Sensor readings: Temperature: 22°C</a:t>
            </a:r>
            <a:endParaRPr lang="en-US" dirty="0">
              <a:latin typeface="Arial" pitchFamily="34" charset="0"/>
              <a:cs typeface="Arial" pitchFamily="34" charset="0"/>
            </a:endParaRPr>
          </a:p>
        </p:txBody>
      </p:sp>
      <p:grpSp>
        <p:nvGrpSpPr>
          <p:cNvPr id="8" name="Group 7">
            <a:extLst>
              <a:ext uri="{FF2B5EF4-FFF2-40B4-BE49-F238E27FC236}">
                <a16:creationId xmlns="" xmlns:a16="http://schemas.microsoft.com/office/drawing/2014/main" id="{248EDEA5-6F4E-494E-815A-CCF1A7B833E7}"/>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EFABB0B-400F-480C-AFD9-ACEDEFA6AB0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DD1A806-05C4-4F48-A1AC-CA732FC0F86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7F8C439F-A762-48D2-B04B-2CCE741A517E}"/>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2873218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A4850E8-70C4-41E2-98DF-B4141888672A}"/>
              </a:ext>
            </a:extLst>
          </p:cNvPr>
          <p:cNvSpPr>
            <a:spLocks noGrp="1"/>
          </p:cNvSpPr>
          <p:nvPr>
            <p:ph idx="1"/>
          </p:nvPr>
        </p:nvSpPr>
        <p:spPr/>
        <p:txBody>
          <a:bodyPr>
            <a:normAutofit fontScale="85000" lnSpcReduction="20000"/>
          </a:bodyPr>
          <a:lstStyle/>
          <a:p>
            <a:pPr>
              <a:lnSpc>
                <a:spcPct val="150000"/>
              </a:lnSpc>
            </a:pPr>
            <a:r>
              <a:rPr lang="en-US" b="1" dirty="0" smtClean="0">
                <a:latin typeface="Arial" pitchFamily="34" charset="0"/>
                <a:cs typeface="Arial" pitchFamily="34" charset="0"/>
              </a:rPr>
              <a:t>Information:</a:t>
            </a:r>
          </a:p>
          <a:p>
            <a:pPr>
              <a:lnSpc>
                <a:spcPct val="150000"/>
              </a:lnSpc>
            </a:pPr>
            <a:r>
              <a:rPr lang="en-US" b="1" dirty="0" smtClean="0">
                <a:latin typeface="Arial" pitchFamily="34" charset="0"/>
                <a:cs typeface="Arial" pitchFamily="34" charset="0"/>
              </a:rPr>
              <a:t>Definition</a:t>
            </a:r>
            <a:r>
              <a:rPr lang="en-US" dirty="0" smtClean="0">
                <a:latin typeface="Arial" pitchFamily="34" charset="0"/>
                <a:cs typeface="Arial" pitchFamily="34" charset="0"/>
              </a:rPr>
              <a:t>: Information is data that has been processed, structured, or organized to provide meaning. It is data in context, making it more useful for decision-making.</a:t>
            </a:r>
          </a:p>
          <a:p>
            <a:pPr>
              <a:lnSpc>
                <a:spcPct val="150000"/>
              </a:lnSpc>
            </a:pPr>
            <a:r>
              <a:rPr lang="en-US" b="1" dirty="0" smtClean="0">
                <a:latin typeface="Arial" pitchFamily="34" charset="0"/>
                <a:cs typeface="Arial" pitchFamily="34" charset="0"/>
              </a:rPr>
              <a:t>Examples</a:t>
            </a:r>
            <a:r>
              <a:rPr lang="en-US" dirty="0" smtClean="0">
                <a:latin typeface="Arial" pitchFamily="34" charset="0"/>
                <a:cs typeface="Arial" pitchFamily="34" charset="0"/>
              </a:rPr>
              <a:t>:</a:t>
            </a:r>
          </a:p>
          <a:p>
            <a:pPr lvl="1">
              <a:lnSpc>
                <a:spcPct val="150000"/>
              </a:lnSpc>
            </a:pPr>
            <a:r>
              <a:rPr lang="en-US" dirty="0" smtClean="0">
                <a:latin typeface="Arial" pitchFamily="34" charset="0"/>
                <a:cs typeface="Arial" pitchFamily="34" charset="0"/>
              </a:rPr>
              <a:t>A table showing sales figures: Product A sold 45 units in July 2024.</a:t>
            </a:r>
          </a:p>
          <a:p>
            <a:pPr lvl="1">
              <a:lnSpc>
                <a:spcPct val="150000"/>
              </a:lnSpc>
            </a:pPr>
            <a:r>
              <a:rPr lang="en-US" dirty="0" smtClean="0">
                <a:latin typeface="Arial" pitchFamily="34" charset="0"/>
                <a:cs typeface="Arial" pitchFamily="34" charset="0"/>
              </a:rPr>
              <a:t>The temperature at different times of the day: 22°C at 9 AM, 26°C at noon</a:t>
            </a:r>
          </a:p>
          <a:p>
            <a:pPr lvl="1">
              <a:lnSpc>
                <a:spcPct val="150000"/>
              </a:lnSpc>
            </a:pPr>
            <a:r>
              <a:rPr lang="en-US" dirty="0" smtClean="0">
                <a:latin typeface="Arial" pitchFamily="34" charset="0"/>
                <a:cs typeface="Arial" pitchFamily="34" charset="0"/>
              </a:rPr>
              <a:t>A report summarizing customer purchases over time.</a:t>
            </a:r>
            <a:endParaRPr lang="en-US" dirty="0">
              <a:latin typeface="Arial" pitchFamily="34" charset="0"/>
              <a:cs typeface="Arial" pitchFamily="34" charset="0"/>
            </a:endParaRPr>
          </a:p>
        </p:txBody>
      </p:sp>
      <p:grpSp>
        <p:nvGrpSpPr>
          <p:cNvPr id="2" name="Group 7">
            <a:extLst>
              <a:ext uri="{FF2B5EF4-FFF2-40B4-BE49-F238E27FC236}">
                <a16:creationId xmlns="" xmlns:a16="http://schemas.microsoft.com/office/drawing/2014/main" id="{248EDEA5-6F4E-494E-815A-CCF1A7B833E7}"/>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EFABB0B-400F-480C-AFD9-ACEDEFA6AB0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DD1A806-05C4-4F48-A1AC-CA732FC0F86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7F8C439F-A762-48D2-B04B-2CCE741A517E}"/>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2873218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A4850E8-70C4-41E2-98DF-B4141888672A}"/>
              </a:ext>
            </a:extLst>
          </p:cNvPr>
          <p:cNvSpPr>
            <a:spLocks noGrp="1"/>
          </p:cNvSpPr>
          <p:nvPr>
            <p:ph idx="1"/>
          </p:nvPr>
        </p:nvSpPr>
        <p:spPr/>
        <p:txBody>
          <a:bodyPr>
            <a:normAutofit fontScale="70000" lnSpcReduction="20000"/>
          </a:bodyPr>
          <a:lstStyle/>
          <a:p>
            <a:pPr>
              <a:lnSpc>
                <a:spcPct val="160000"/>
              </a:lnSpc>
            </a:pPr>
            <a:r>
              <a:rPr lang="en-US" b="1" dirty="0" smtClean="0">
                <a:latin typeface="Arial" pitchFamily="34" charset="0"/>
                <a:cs typeface="Arial" pitchFamily="34" charset="0"/>
              </a:rPr>
              <a:t>Knowledge:</a:t>
            </a:r>
          </a:p>
          <a:p>
            <a:pPr>
              <a:lnSpc>
                <a:spcPct val="160000"/>
              </a:lnSpc>
            </a:pPr>
            <a:r>
              <a:rPr lang="en-US" b="1" dirty="0" smtClean="0">
                <a:latin typeface="Arial" pitchFamily="34" charset="0"/>
                <a:cs typeface="Arial" pitchFamily="34" charset="0"/>
              </a:rPr>
              <a:t>Definition</a:t>
            </a:r>
            <a:r>
              <a:rPr lang="en-US" dirty="0" smtClean="0">
                <a:latin typeface="Arial" pitchFamily="34" charset="0"/>
                <a:cs typeface="Arial" pitchFamily="34" charset="0"/>
              </a:rPr>
              <a:t>: Knowledge is derived from information when it is interpreted, connected with existing concepts, and applied in context. Knowledge is actionable insight that informs decisions and strategies.</a:t>
            </a:r>
          </a:p>
          <a:p>
            <a:pPr>
              <a:lnSpc>
                <a:spcPct val="160000"/>
              </a:lnSpc>
            </a:pPr>
            <a:r>
              <a:rPr lang="en-US" b="1" dirty="0" smtClean="0">
                <a:latin typeface="Arial" pitchFamily="34" charset="0"/>
                <a:cs typeface="Arial" pitchFamily="34" charset="0"/>
              </a:rPr>
              <a:t>Examples</a:t>
            </a:r>
            <a:r>
              <a:rPr lang="en-US" dirty="0" smtClean="0">
                <a:latin typeface="Arial" pitchFamily="34" charset="0"/>
                <a:cs typeface="Arial" pitchFamily="34" charset="0"/>
              </a:rPr>
              <a:t>:</a:t>
            </a:r>
          </a:p>
          <a:p>
            <a:pPr lvl="1">
              <a:lnSpc>
                <a:spcPct val="160000"/>
              </a:lnSpc>
            </a:pPr>
            <a:r>
              <a:rPr lang="en-US" dirty="0" smtClean="0">
                <a:latin typeface="Arial" pitchFamily="34" charset="0"/>
                <a:cs typeface="Arial" pitchFamily="34" charset="0"/>
              </a:rPr>
              <a:t>From the sales data, knowing that "Product A sells best during summer months" is knowledge.</a:t>
            </a:r>
          </a:p>
          <a:p>
            <a:pPr lvl="1">
              <a:lnSpc>
                <a:spcPct val="160000"/>
              </a:lnSpc>
            </a:pPr>
            <a:r>
              <a:rPr lang="en-US" dirty="0" smtClean="0">
                <a:latin typeface="Arial" pitchFamily="34" charset="0"/>
                <a:cs typeface="Arial" pitchFamily="34" charset="0"/>
              </a:rPr>
              <a:t>Observing weather patterns to conclude "temperatures tend to rise by noon during winter."</a:t>
            </a:r>
          </a:p>
          <a:p>
            <a:pPr lvl="1">
              <a:lnSpc>
                <a:spcPct val="160000"/>
              </a:lnSpc>
            </a:pPr>
            <a:r>
              <a:rPr lang="en-US" dirty="0" smtClean="0">
                <a:latin typeface="Arial" pitchFamily="34" charset="0"/>
                <a:cs typeface="Arial" pitchFamily="34" charset="0"/>
              </a:rPr>
              <a:t>Using customer purchase information to predict future buying behavior and create targeted marketing strategies.</a:t>
            </a:r>
            <a:endParaRPr lang="en-US" dirty="0">
              <a:latin typeface="Arial" pitchFamily="34" charset="0"/>
              <a:cs typeface="Arial" pitchFamily="34" charset="0"/>
            </a:endParaRPr>
          </a:p>
        </p:txBody>
      </p:sp>
      <p:grpSp>
        <p:nvGrpSpPr>
          <p:cNvPr id="2" name="Group 7">
            <a:extLst>
              <a:ext uri="{FF2B5EF4-FFF2-40B4-BE49-F238E27FC236}">
                <a16:creationId xmlns="" xmlns:a16="http://schemas.microsoft.com/office/drawing/2014/main" id="{248EDEA5-6F4E-494E-815A-CCF1A7B833E7}"/>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EFABB0B-400F-480C-AFD9-ACEDEFA6AB0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DD1A806-05C4-4F48-A1AC-CA732FC0F86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7F8C439F-A762-48D2-B04B-2CCE741A517E}"/>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2873218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B420313-4D14-4A70-A7AC-836FE2E9F46E}"/>
              </a:ext>
            </a:extLst>
          </p:cNvPr>
          <p:cNvSpPr/>
          <p:nvPr/>
        </p:nvSpPr>
        <p:spPr>
          <a:xfrm>
            <a:off x="831850" y="694944"/>
            <a:ext cx="10528300" cy="5413248"/>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D32A2A"/>
              </a:solidFill>
            </a:endParaRPr>
          </a:p>
        </p:txBody>
      </p:sp>
      <p:sp>
        <p:nvSpPr>
          <p:cNvPr id="2" name="Title 1">
            <a:extLst>
              <a:ext uri="{FF2B5EF4-FFF2-40B4-BE49-F238E27FC236}">
                <a16:creationId xmlns="" xmlns:a16="http://schemas.microsoft.com/office/drawing/2014/main" id="{87906394-C5CE-42DD-B341-066A6E26D664}"/>
              </a:ext>
            </a:extLst>
          </p:cNvPr>
          <p:cNvSpPr>
            <a:spLocks noGrp="1"/>
          </p:cNvSpPr>
          <p:nvPr>
            <p:ph type="title"/>
          </p:nvPr>
        </p:nvSpPr>
        <p:spPr>
          <a:xfrm>
            <a:off x="1570703" y="2164532"/>
            <a:ext cx="9061958" cy="1500188"/>
          </a:xfrm>
        </p:spPr>
        <p:txBody>
          <a:bodyPr>
            <a:normAutofit/>
          </a:bodyPr>
          <a:lstStyle/>
          <a:p>
            <a:pPr algn="ctr"/>
            <a:r>
              <a:rPr lang="en-US" sz="3200" b="1" dirty="0" smtClean="0">
                <a:solidFill>
                  <a:schemeClr val="bg1"/>
                </a:solidFill>
                <a:latin typeface="Arial" pitchFamily="34" charset="0"/>
                <a:cs typeface="Arial" pitchFamily="34" charset="0"/>
              </a:rPr>
              <a:t>Data Models, Schemas, and Instances</a:t>
            </a:r>
            <a:endParaRPr lang="en-GB" sz="3600" b="1" i="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2426235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A4850E8-70C4-41E2-98DF-B4141888672A}"/>
              </a:ext>
            </a:extLst>
          </p:cNvPr>
          <p:cNvSpPr>
            <a:spLocks noGrp="1"/>
          </p:cNvSpPr>
          <p:nvPr>
            <p:ph idx="1"/>
          </p:nvPr>
        </p:nvSpPr>
        <p:spPr>
          <a:xfrm>
            <a:off x="826169" y="1236077"/>
            <a:ext cx="10515600" cy="5008312"/>
          </a:xfrm>
        </p:spPr>
        <p:txBody>
          <a:bodyPr>
            <a:noAutofit/>
          </a:bodyPr>
          <a:lstStyle/>
          <a:p>
            <a:pPr>
              <a:lnSpc>
                <a:spcPct val="170000"/>
              </a:lnSpc>
              <a:buNone/>
            </a:pPr>
            <a:r>
              <a:rPr lang="en-US" sz="2000" b="1" dirty="0" smtClean="0">
                <a:latin typeface="Arial" pitchFamily="34" charset="0"/>
                <a:cs typeface="Arial" pitchFamily="34" charset="0"/>
              </a:rPr>
              <a:t>Data Models:</a:t>
            </a:r>
          </a:p>
          <a:p>
            <a:pPr>
              <a:lnSpc>
                <a:spcPct val="170000"/>
              </a:lnSpc>
            </a:pPr>
            <a:r>
              <a:rPr lang="en-US" sz="2000" b="1" dirty="0" smtClean="0">
                <a:latin typeface="Arial" pitchFamily="34" charset="0"/>
                <a:cs typeface="Arial" pitchFamily="34" charset="0"/>
              </a:rPr>
              <a:t>Definition</a:t>
            </a:r>
            <a:r>
              <a:rPr lang="en-US" sz="2000" dirty="0" smtClean="0">
                <a:latin typeface="Arial" pitchFamily="34" charset="0"/>
                <a:cs typeface="Arial" pitchFamily="34" charset="0"/>
              </a:rPr>
              <a:t>: A data model describes how data is logically structured and represented in a database. It defines how data is stored, organized, and manipulated.</a:t>
            </a:r>
          </a:p>
          <a:p>
            <a:pPr>
              <a:lnSpc>
                <a:spcPct val="170000"/>
              </a:lnSpc>
            </a:pPr>
            <a:r>
              <a:rPr lang="en-US" sz="2000" b="1" dirty="0" smtClean="0">
                <a:latin typeface="Arial" pitchFamily="34" charset="0"/>
                <a:cs typeface="Arial" pitchFamily="34" charset="0"/>
              </a:rPr>
              <a:t>Types of Data Models</a:t>
            </a:r>
            <a:r>
              <a:rPr lang="en-US" sz="2000" dirty="0" smtClean="0">
                <a:latin typeface="Arial" pitchFamily="34" charset="0"/>
                <a:cs typeface="Arial" pitchFamily="34" charset="0"/>
              </a:rPr>
              <a:t>:</a:t>
            </a:r>
          </a:p>
          <a:p>
            <a:pPr lvl="1">
              <a:lnSpc>
                <a:spcPct val="170000"/>
              </a:lnSpc>
            </a:pPr>
            <a:r>
              <a:rPr lang="en-US" sz="2000" b="1" dirty="0" smtClean="0">
                <a:latin typeface="Arial" pitchFamily="34" charset="0"/>
                <a:cs typeface="Arial" pitchFamily="34" charset="0"/>
              </a:rPr>
              <a:t>Hierarchical Model</a:t>
            </a:r>
            <a:r>
              <a:rPr lang="en-US" sz="2000" dirty="0" smtClean="0">
                <a:latin typeface="Arial" pitchFamily="34" charset="0"/>
                <a:cs typeface="Arial" pitchFamily="34" charset="0"/>
              </a:rPr>
              <a:t>: Organizes data in a tree-like structure, where data elements have parent-child relationships.</a:t>
            </a:r>
          </a:p>
          <a:p>
            <a:pPr lvl="1">
              <a:lnSpc>
                <a:spcPct val="170000"/>
              </a:lnSpc>
            </a:pPr>
            <a:r>
              <a:rPr lang="en-US" sz="2000" b="1" dirty="0" smtClean="0">
                <a:latin typeface="Arial" pitchFamily="34" charset="0"/>
                <a:cs typeface="Arial" pitchFamily="34" charset="0"/>
              </a:rPr>
              <a:t>Network Model</a:t>
            </a:r>
            <a:r>
              <a:rPr lang="en-US" sz="2000" dirty="0" smtClean="0">
                <a:latin typeface="Arial" pitchFamily="34" charset="0"/>
                <a:cs typeface="Arial" pitchFamily="34" charset="0"/>
              </a:rPr>
              <a:t>: A more flexible structure than the hierarchical model, allowing complex relationships with multiple parent and child records.</a:t>
            </a:r>
          </a:p>
        </p:txBody>
      </p:sp>
      <p:grpSp>
        <p:nvGrpSpPr>
          <p:cNvPr id="2" name="Group 7">
            <a:extLst>
              <a:ext uri="{FF2B5EF4-FFF2-40B4-BE49-F238E27FC236}">
                <a16:creationId xmlns="" xmlns:a16="http://schemas.microsoft.com/office/drawing/2014/main" id="{248EDEA5-6F4E-494E-815A-CCF1A7B833E7}"/>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EFABB0B-400F-480C-AFD9-ACEDEFA6AB0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DD1A806-05C4-4F48-A1AC-CA732FC0F86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7F8C439F-A762-48D2-B04B-2CCE741A517E}"/>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2873218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A4850E8-70C4-41E2-98DF-B4141888672A}"/>
              </a:ext>
            </a:extLst>
          </p:cNvPr>
          <p:cNvSpPr>
            <a:spLocks noGrp="1"/>
          </p:cNvSpPr>
          <p:nvPr>
            <p:ph idx="1"/>
          </p:nvPr>
        </p:nvSpPr>
        <p:spPr/>
        <p:txBody>
          <a:bodyPr>
            <a:normAutofit fontScale="92500" lnSpcReduction="10000"/>
          </a:bodyPr>
          <a:lstStyle/>
          <a:p>
            <a:pPr algn="l">
              <a:lnSpc>
                <a:spcPct val="150000"/>
              </a:lnSpc>
              <a:buNone/>
            </a:pPr>
            <a:r>
              <a:rPr lang="en-US" b="1" dirty="0" smtClean="0">
                <a:latin typeface="Arial" pitchFamily="34" charset="0"/>
                <a:cs typeface="Arial" pitchFamily="34" charset="0"/>
              </a:rPr>
              <a:t>Data Models:</a:t>
            </a:r>
          </a:p>
          <a:p>
            <a:pPr lvl="1" algn="l">
              <a:lnSpc>
                <a:spcPct val="150000"/>
              </a:lnSpc>
            </a:pPr>
            <a:r>
              <a:rPr lang="en-US" b="1" dirty="0" smtClean="0">
                <a:latin typeface="Arial" pitchFamily="34" charset="0"/>
                <a:cs typeface="Arial" pitchFamily="34" charset="0"/>
              </a:rPr>
              <a:t>Relational Model</a:t>
            </a:r>
            <a:r>
              <a:rPr lang="en-US" dirty="0" smtClean="0">
                <a:latin typeface="Arial" pitchFamily="34" charset="0"/>
                <a:cs typeface="Arial" pitchFamily="34" charset="0"/>
              </a:rPr>
              <a:t>: The most widely used model today, organizing data into tables (or relations) with rows (records) and columns (attributes). It uses keys to establish relationships between tables.</a:t>
            </a:r>
          </a:p>
          <a:p>
            <a:pPr lvl="1" algn="l">
              <a:lnSpc>
                <a:spcPct val="150000"/>
              </a:lnSpc>
            </a:pPr>
            <a:r>
              <a:rPr lang="en-US" b="1" dirty="0" smtClean="0">
                <a:latin typeface="Arial" pitchFamily="34" charset="0"/>
                <a:cs typeface="Arial" pitchFamily="34" charset="0"/>
              </a:rPr>
              <a:t>Object-Oriented Model</a:t>
            </a:r>
            <a:r>
              <a:rPr lang="en-US" dirty="0" smtClean="0">
                <a:latin typeface="Arial" pitchFamily="34" charset="0"/>
                <a:cs typeface="Arial" pitchFamily="34" charset="0"/>
              </a:rPr>
              <a:t>: Integrates object-oriented programming with database systems, storing data as objects with attributes and methods.</a:t>
            </a:r>
          </a:p>
          <a:p>
            <a:pPr lvl="1" algn="l">
              <a:lnSpc>
                <a:spcPct val="150000"/>
              </a:lnSpc>
            </a:pPr>
            <a:r>
              <a:rPr lang="en-US" b="1" dirty="0" err="1" smtClean="0">
                <a:latin typeface="Arial" pitchFamily="34" charset="0"/>
                <a:cs typeface="Arial" pitchFamily="34" charset="0"/>
              </a:rPr>
              <a:t>NoSQL</a:t>
            </a:r>
            <a:r>
              <a:rPr lang="en-US" b="1" dirty="0" smtClean="0">
                <a:latin typeface="Arial" pitchFamily="34" charset="0"/>
                <a:cs typeface="Arial" pitchFamily="34" charset="0"/>
              </a:rPr>
              <a:t> Models</a:t>
            </a:r>
            <a:r>
              <a:rPr lang="en-US" dirty="0" smtClean="0">
                <a:latin typeface="Arial" pitchFamily="34" charset="0"/>
                <a:cs typeface="Arial" pitchFamily="34" charset="0"/>
              </a:rPr>
              <a:t>: Used for non-relational databases, including key-value stores, document databases, column-family stores, and graph databases.</a:t>
            </a:r>
            <a:endParaRPr lang="en-US" dirty="0">
              <a:latin typeface="Arial" pitchFamily="34" charset="0"/>
              <a:cs typeface="Arial" pitchFamily="34" charset="0"/>
            </a:endParaRPr>
          </a:p>
        </p:txBody>
      </p:sp>
      <p:grpSp>
        <p:nvGrpSpPr>
          <p:cNvPr id="2" name="Group 7">
            <a:extLst>
              <a:ext uri="{FF2B5EF4-FFF2-40B4-BE49-F238E27FC236}">
                <a16:creationId xmlns="" xmlns:a16="http://schemas.microsoft.com/office/drawing/2014/main" id="{248EDEA5-6F4E-494E-815A-CCF1A7B833E7}"/>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EFABB0B-400F-480C-AFD9-ACEDEFA6AB0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DD1A806-05C4-4F48-A1AC-CA732FC0F86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7F8C439F-A762-48D2-B04B-2CCE741A517E}"/>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2873218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A4850E8-70C4-41E2-98DF-B4141888672A}"/>
              </a:ext>
            </a:extLst>
          </p:cNvPr>
          <p:cNvSpPr>
            <a:spLocks noGrp="1"/>
          </p:cNvSpPr>
          <p:nvPr>
            <p:ph idx="1"/>
          </p:nvPr>
        </p:nvSpPr>
        <p:spPr>
          <a:xfrm>
            <a:off x="766010" y="1332329"/>
            <a:ext cx="10515600" cy="4936123"/>
          </a:xfrm>
        </p:spPr>
        <p:txBody>
          <a:bodyPr>
            <a:noAutofit/>
          </a:bodyPr>
          <a:lstStyle/>
          <a:p>
            <a:pPr>
              <a:lnSpc>
                <a:spcPct val="150000"/>
              </a:lnSpc>
              <a:buNone/>
            </a:pPr>
            <a:r>
              <a:rPr lang="en-US" sz="2400" b="1" dirty="0" smtClean="0">
                <a:latin typeface="Arial" pitchFamily="34" charset="0"/>
                <a:cs typeface="Arial" pitchFamily="34" charset="0"/>
              </a:rPr>
              <a:t>Schema:</a:t>
            </a:r>
          </a:p>
          <a:p>
            <a:pPr>
              <a:lnSpc>
                <a:spcPct val="150000"/>
              </a:lnSpc>
            </a:pPr>
            <a:r>
              <a:rPr lang="en-US" sz="2000" b="1" dirty="0" smtClean="0">
                <a:latin typeface="Arial" pitchFamily="34" charset="0"/>
                <a:cs typeface="Arial" pitchFamily="34" charset="0"/>
              </a:rPr>
              <a:t>Definition</a:t>
            </a:r>
            <a:r>
              <a:rPr lang="en-US" sz="2000" dirty="0" smtClean="0">
                <a:latin typeface="Arial" pitchFamily="34" charset="0"/>
                <a:cs typeface="Arial" pitchFamily="34" charset="0"/>
              </a:rPr>
              <a:t>: A schema is the overall structure or blueprint of a database. It defines how the database is organized, including tables, fields, data types, relationships, and constraints.</a:t>
            </a:r>
          </a:p>
          <a:p>
            <a:pPr>
              <a:lnSpc>
                <a:spcPct val="150000"/>
              </a:lnSpc>
            </a:pPr>
            <a:r>
              <a:rPr lang="en-US" sz="2400" b="1" dirty="0" smtClean="0">
                <a:latin typeface="Arial" pitchFamily="34" charset="0"/>
                <a:cs typeface="Arial" pitchFamily="34" charset="0"/>
              </a:rPr>
              <a:t>Types of Schemas</a:t>
            </a:r>
            <a:r>
              <a:rPr lang="en-US" sz="2400" dirty="0" smtClean="0">
                <a:latin typeface="Arial" pitchFamily="34" charset="0"/>
                <a:cs typeface="Arial" pitchFamily="34" charset="0"/>
              </a:rPr>
              <a:t>:</a:t>
            </a:r>
          </a:p>
          <a:p>
            <a:pPr lvl="1">
              <a:lnSpc>
                <a:spcPct val="150000"/>
              </a:lnSpc>
            </a:pPr>
            <a:r>
              <a:rPr lang="en-US" sz="1800" b="1" dirty="0" smtClean="0">
                <a:latin typeface="Arial" pitchFamily="34" charset="0"/>
                <a:cs typeface="Arial" pitchFamily="34" charset="0"/>
              </a:rPr>
              <a:t>Logical Schema</a:t>
            </a:r>
            <a:r>
              <a:rPr lang="en-US" sz="1800" dirty="0" smtClean="0">
                <a:latin typeface="Arial" pitchFamily="34" charset="0"/>
                <a:cs typeface="Arial" pitchFamily="34" charset="0"/>
              </a:rPr>
              <a:t>: Describes the logical structure, such as the relationships between tables, data types, and constraints. It is database-agnostic and focuses on how data is organized at a higher level.</a:t>
            </a:r>
          </a:p>
          <a:p>
            <a:pPr lvl="1">
              <a:lnSpc>
                <a:spcPct val="150000"/>
              </a:lnSpc>
            </a:pPr>
            <a:r>
              <a:rPr lang="en-US" sz="1800" b="1" dirty="0" smtClean="0">
                <a:latin typeface="Arial" pitchFamily="34" charset="0"/>
                <a:cs typeface="Arial" pitchFamily="34" charset="0"/>
              </a:rPr>
              <a:t>Physical Schema</a:t>
            </a:r>
            <a:r>
              <a:rPr lang="en-US" sz="1800" dirty="0" smtClean="0">
                <a:latin typeface="Arial" pitchFamily="34" charset="0"/>
                <a:cs typeface="Arial" pitchFamily="34" charset="0"/>
              </a:rPr>
              <a:t>: Describes how the data is stored physically on storage media (hard disks, SSDs). This includes file formats, indexing, partitioning, etc.</a:t>
            </a:r>
          </a:p>
        </p:txBody>
      </p:sp>
      <p:grpSp>
        <p:nvGrpSpPr>
          <p:cNvPr id="2" name="Group 7">
            <a:extLst>
              <a:ext uri="{FF2B5EF4-FFF2-40B4-BE49-F238E27FC236}">
                <a16:creationId xmlns="" xmlns:a16="http://schemas.microsoft.com/office/drawing/2014/main" id="{248EDEA5-6F4E-494E-815A-CCF1A7B833E7}"/>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EFABB0B-400F-480C-AFD9-ACEDEFA6AB0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DD1A806-05C4-4F48-A1AC-CA732FC0F86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7F8C439F-A762-48D2-B04B-2CCE741A517E}"/>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28732185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A4850E8-70C4-41E2-98DF-B4141888672A}"/>
              </a:ext>
            </a:extLst>
          </p:cNvPr>
          <p:cNvSpPr>
            <a:spLocks noGrp="1"/>
          </p:cNvSpPr>
          <p:nvPr>
            <p:ph idx="1"/>
          </p:nvPr>
        </p:nvSpPr>
        <p:spPr>
          <a:xfrm>
            <a:off x="766010" y="1332329"/>
            <a:ext cx="10515600" cy="4936123"/>
          </a:xfrm>
        </p:spPr>
        <p:txBody>
          <a:bodyPr>
            <a:noAutofit/>
          </a:bodyPr>
          <a:lstStyle/>
          <a:p>
            <a:pPr>
              <a:lnSpc>
                <a:spcPct val="150000"/>
              </a:lnSpc>
              <a:buNone/>
            </a:pPr>
            <a:r>
              <a:rPr lang="en-US" sz="2400" b="1" dirty="0" smtClean="0">
                <a:latin typeface="Arial" pitchFamily="34" charset="0"/>
                <a:cs typeface="Arial" pitchFamily="34" charset="0"/>
              </a:rPr>
              <a:t>Schema:</a:t>
            </a:r>
          </a:p>
          <a:p>
            <a:pPr>
              <a:lnSpc>
                <a:spcPct val="150000"/>
              </a:lnSpc>
            </a:pPr>
            <a:r>
              <a:rPr lang="en-US" sz="2400" b="1" dirty="0" smtClean="0">
                <a:latin typeface="Arial" pitchFamily="34" charset="0"/>
                <a:cs typeface="Arial" pitchFamily="34" charset="0"/>
              </a:rPr>
              <a:t>Example</a:t>
            </a:r>
            <a:r>
              <a:rPr lang="en-US" sz="2400" dirty="0" smtClean="0">
                <a:latin typeface="Arial" pitchFamily="34" charset="0"/>
                <a:cs typeface="Arial" pitchFamily="34" charset="0"/>
              </a:rPr>
              <a:t>: In a relational database schema, you might define tables like:</a:t>
            </a:r>
          </a:p>
          <a:p>
            <a:pPr lvl="1">
              <a:lnSpc>
                <a:spcPct val="150000"/>
              </a:lnSpc>
            </a:pPr>
            <a:r>
              <a:rPr lang="en-US" sz="2000" dirty="0" smtClean="0">
                <a:latin typeface="Arial" pitchFamily="34" charset="0"/>
                <a:cs typeface="Arial" pitchFamily="34" charset="0"/>
              </a:rPr>
              <a:t>Customers (ID, Name, Email)</a:t>
            </a:r>
          </a:p>
          <a:p>
            <a:pPr lvl="1">
              <a:lnSpc>
                <a:spcPct val="150000"/>
              </a:lnSpc>
            </a:pPr>
            <a:r>
              <a:rPr lang="en-US" sz="2000" dirty="0" smtClean="0">
                <a:latin typeface="Arial" pitchFamily="34" charset="0"/>
                <a:cs typeface="Arial" pitchFamily="34" charset="0"/>
              </a:rPr>
              <a:t>Orders (</a:t>
            </a:r>
            <a:r>
              <a:rPr lang="en-US" sz="2000" dirty="0" err="1" smtClean="0">
                <a:latin typeface="Arial" pitchFamily="34" charset="0"/>
                <a:cs typeface="Arial" pitchFamily="34" charset="0"/>
              </a:rPr>
              <a:t>OrderID</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CustomerID</a:t>
            </a:r>
            <a:r>
              <a:rPr lang="en-US" sz="2000" dirty="0" smtClean="0">
                <a:latin typeface="Arial" pitchFamily="34" charset="0"/>
                <a:cs typeface="Arial" pitchFamily="34" charset="0"/>
              </a:rPr>
              <a:t>, Date, </a:t>
            </a:r>
            <a:r>
              <a:rPr lang="en-US" sz="2000" dirty="0" err="1" smtClean="0">
                <a:latin typeface="Arial" pitchFamily="34" charset="0"/>
                <a:cs typeface="Arial" pitchFamily="34" charset="0"/>
              </a:rPr>
              <a:t>TotalAmount</a:t>
            </a:r>
            <a:r>
              <a:rPr lang="en-US" sz="2000" dirty="0" smtClean="0">
                <a:latin typeface="Arial" pitchFamily="34" charset="0"/>
                <a:cs typeface="Arial" pitchFamily="34" charset="0"/>
              </a:rPr>
              <a:t>)</a:t>
            </a:r>
          </a:p>
          <a:p>
            <a:pPr>
              <a:lnSpc>
                <a:spcPct val="150000"/>
              </a:lnSpc>
            </a:pPr>
            <a:r>
              <a:rPr lang="en-US" sz="2400" b="1" dirty="0" smtClean="0">
                <a:latin typeface="Arial" pitchFamily="34" charset="0"/>
                <a:cs typeface="Arial" pitchFamily="34" charset="0"/>
              </a:rPr>
              <a:t>Schema diagram</a:t>
            </a:r>
            <a:r>
              <a:rPr lang="en-US" sz="2400" dirty="0" smtClean="0">
                <a:latin typeface="Arial" pitchFamily="34" charset="0"/>
                <a:cs typeface="Arial" pitchFamily="34" charset="0"/>
              </a:rPr>
              <a:t>: A visual representation of the structure showing tables and their relationships.</a:t>
            </a:r>
            <a:endParaRPr lang="en-US" sz="2400" dirty="0">
              <a:latin typeface="Arial" pitchFamily="34" charset="0"/>
              <a:cs typeface="Arial" pitchFamily="34" charset="0"/>
            </a:endParaRPr>
          </a:p>
        </p:txBody>
      </p:sp>
      <p:grpSp>
        <p:nvGrpSpPr>
          <p:cNvPr id="2" name="Group 7">
            <a:extLst>
              <a:ext uri="{FF2B5EF4-FFF2-40B4-BE49-F238E27FC236}">
                <a16:creationId xmlns="" xmlns:a16="http://schemas.microsoft.com/office/drawing/2014/main" id="{248EDEA5-6F4E-494E-815A-CCF1A7B833E7}"/>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EFABB0B-400F-480C-AFD9-ACEDEFA6AB0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DD1A806-05C4-4F48-A1AC-CA732FC0F86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7F8C439F-A762-48D2-B04B-2CCE741A517E}"/>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2873218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A4850E8-70C4-41E2-98DF-B4141888672A}"/>
              </a:ext>
            </a:extLst>
          </p:cNvPr>
          <p:cNvSpPr>
            <a:spLocks noGrp="1"/>
          </p:cNvSpPr>
          <p:nvPr>
            <p:ph idx="1"/>
          </p:nvPr>
        </p:nvSpPr>
        <p:spPr>
          <a:xfrm>
            <a:off x="766010" y="1332329"/>
            <a:ext cx="10515600" cy="4936123"/>
          </a:xfrm>
        </p:spPr>
        <p:txBody>
          <a:bodyPr>
            <a:noAutofit/>
          </a:bodyPr>
          <a:lstStyle/>
          <a:p>
            <a:pPr>
              <a:lnSpc>
                <a:spcPct val="150000"/>
              </a:lnSpc>
              <a:buNone/>
            </a:pPr>
            <a:r>
              <a:rPr lang="en-US" b="1" dirty="0" smtClean="0">
                <a:latin typeface="Arial" pitchFamily="34" charset="0"/>
                <a:cs typeface="Arial" pitchFamily="34" charset="0"/>
              </a:rPr>
              <a:t>Instance:</a:t>
            </a:r>
          </a:p>
          <a:p>
            <a:pPr>
              <a:lnSpc>
                <a:spcPct val="150000"/>
              </a:lnSpc>
              <a:buNone/>
            </a:pPr>
            <a:r>
              <a:rPr lang="en-US" sz="2400" b="1" dirty="0" smtClean="0">
                <a:latin typeface="Arial" pitchFamily="34" charset="0"/>
                <a:cs typeface="Arial" pitchFamily="34" charset="0"/>
              </a:rPr>
              <a:t>Definition</a:t>
            </a:r>
            <a:r>
              <a:rPr lang="en-US" sz="2400" dirty="0" smtClean="0">
                <a:latin typeface="Arial" pitchFamily="34" charset="0"/>
                <a:cs typeface="Arial" pitchFamily="34" charset="0"/>
              </a:rPr>
              <a:t>: An instance is a snapshot of the actual data in a database at a given point in time. It refers to the data stored in the tables according to the schema. The schema remains constant, but the instance changes as data is added, updated, or deleted.</a:t>
            </a:r>
          </a:p>
          <a:p>
            <a:pPr>
              <a:lnSpc>
                <a:spcPct val="150000"/>
              </a:lnSpc>
            </a:pPr>
            <a:r>
              <a:rPr lang="en-US" sz="2400" b="1" dirty="0" smtClean="0">
                <a:latin typeface="Arial" pitchFamily="34" charset="0"/>
                <a:cs typeface="Arial" pitchFamily="34" charset="0"/>
              </a:rPr>
              <a:t>Example</a:t>
            </a:r>
            <a:r>
              <a:rPr lang="en-US" sz="2400" dirty="0" smtClean="0">
                <a:latin typeface="Arial" pitchFamily="34" charset="0"/>
                <a:cs typeface="Arial" pitchFamily="34" charset="0"/>
              </a:rPr>
              <a:t>:</a:t>
            </a:r>
          </a:p>
          <a:p>
            <a:pPr lvl="1">
              <a:lnSpc>
                <a:spcPct val="150000"/>
              </a:lnSpc>
            </a:pPr>
            <a:r>
              <a:rPr lang="en-US" dirty="0" smtClean="0">
                <a:latin typeface="Arial" pitchFamily="34" charset="0"/>
                <a:cs typeface="Arial" pitchFamily="34" charset="0"/>
              </a:rPr>
              <a:t>In the Customers table, an instance could be:</a:t>
            </a:r>
          </a:p>
          <a:p>
            <a:pPr lvl="2">
              <a:lnSpc>
                <a:spcPct val="150000"/>
              </a:lnSpc>
            </a:pPr>
            <a:r>
              <a:rPr lang="en-US" dirty="0" smtClean="0">
                <a:latin typeface="Arial" pitchFamily="34" charset="0"/>
                <a:cs typeface="Arial" pitchFamily="34" charset="0"/>
              </a:rPr>
              <a:t>(1, John Doe, johndoe@example.com)</a:t>
            </a:r>
            <a:endParaRPr lang="en-US" dirty="0">
              <a:latin typeface="Arial" pitchFamily="34" charset="0"/>
              <a:cs typeface="Arial" pitchFamily="34" charset="0"/>
            </a:endParaRPr>
          </a:p>
        </p:txBody>
      </p:sp>
      <p:grpSp>
        <p:nvGrpSpPr>
          <p:cNvPr id="2" name="Group 7">
            <a:extLst>
              <a:ext uri="{FF2B5EF4-FFF2-40B4-BE49-F238E27FC236}">
                <a16:creationId xmlns="" xmlns:a16="http://schemas.microsoft.com/office/drawing/2014/main" id="{248EDEA5-6F4E-494E-815A-CCF1A7B833E7}"/>
              </a:ext>
            </a:extLst>
          </p:cNvPr>
          <p:cNvGrpSpPr/>
          <p:nvPr/>
        </p:nvGrpSpPr>
        <p:grpSpPr>
          <a:xfrm>
            <a:off x="0" y="0"/>
            <a:ext cx="12749348" cy="1115736"/>
            <a:chOff x="0" y="0"/>
            <a:chExt cx="12749348" cy="1115736"/>
          </a:xfrm>
        </p:grpSpPr>
        <p:sp>
          <p:nvSpPr>
            <p:cNvPr id="9" name="Rectangle 8">
              <a:extLst>
                <a:ext uri="{FF2B5EF4-FFF2-40B4-BE49-F238E27FC236}">
                  <a16:creationId xmlns="" xmlns:a16="http://schemas.microsoft.com/office/drawing/2014/main" id="{E23045AD-4842-4A8C-966A-35ECDC39C9B4}"/>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a:extLst>
                <a:ext uri="{FF2B5EF4-FFF2-40B4-BE49-F238E27FC236}">
                  <a16:creationId xmlns="" xmlns:a16="http://schemas.microsoft.com/office/drawing/2014/main" id="{DEFABB0B-400F-480C-AFD9-ACEDEFA6AB0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 xmlns:a16="http://schemas.microsoft.com/office/drawing/2014/main" id="{846C7A49-8B06-4148-A8B5-556500600B2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a:extLst>
                <a:ext uri="{FF2B5EF4-FFF2-40B4-BE49-F238E27FC236}">
                  <a16:creationId xmlns="" xmlns:a16="http://schemas.microsoft.com/office/drawing/2014/main" id="{9C074D21-17CF-4514-8D23-9EC41C17415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 xmlns:a16="http://schemas.microsoft.com/office/drawing/2014/main" id="{DF5F8CFF-608A-41D0-869F-D1E7BDD76C31}"/>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a:extLst>
                <a:ext uri="{FF2B5EF4-FFF2-40B4-BE49-F238E27FC236}">
                  <a16:creationId xmlns="" xmlns:a16="http://schemas.microsoft.com/office/drawing/2014/main" id="{ADD1A806-05C4-4F48-A1AC-CA732FC0F864}"/>
                </a:ext>
              </a:extLst>
            </p:cNvPr>
            <p:cNvPicPr>
              <a:picLocks noChangeAspect="1"/>
            </p:cNvPicPr>
            <p:nvPr/>
          </p:nvPicPr>
          <p:blipFill>
            <a:blip r:embed="rId5" cstate="print">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 xmlns:a16="http://schemas.microsoft.com/office/drawing/2014/main" id="{7F8C439F-A762-48D2-B04B-2CCE741A517E}"/>
                </a:ext>
              </a:extLst>
            </p:cNvPr>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 xmlns:p14="http://schemas.microsoft.com/office/powerpoint/2010/main" val="2873218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TotalTime>
  <Words>1659</Words>
  <Application>Microsoft Office PowerPoint</Application>
  <PresentationFormat>Custom</PresentationFormat>
  <Paragraphs>139</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DataBase Design and Development</vt:lpstr>
      <vt:lpstr>Slide 2</vt:lpstr>
      <vt:lpstr>Slide 3</vt:lpstr>
      <vt:lpstr>Slide 4</vt:lpstr>
      <vt:lpstr>Slide 5</vt:lpstr>
      <vt:lpstr>Slide 6</vt:lpstr>
      <vt:lpstr>Slide 7</vt:lpstr>
      <vt:lpstr>Examples of Database Applications</vt:lpstr>
      <vt:lpstr>Slide 9</vt:lpstr>
      <vt:lpstr>Slide 10</vt:lpstr>
      <vt:lpstr>Slide 11</vt:lpstr>
      <vt:lpstr>Slide 12</vt:lpstr>
      <vt:lpstr>Slide 13</vt:lpstr>
      <vt:lpstr>Slide 14</vt:lpstr>
      <vt:lpstr>Slide 15</vt:lpstr>
      <vt:lpstr>Data, Information, and Knowledge</vt:lpstr>
      <vt:lpstr>Slide 17</vt:lpstr>
      <vt:lpstr>Slide 18</vt:lpstr>
      <vt:lpstr>Slide 19</vt:lpstr>
      <vt:lpstr>Data Models, Schemas, and Instances</vt:lpstr>
      <vt:lpstr>Slide 21</vt:lpstr>
      <vt:lpstr>Slide 22</vt:lpstr>
      <vt:lpstr>Slide 23</vt:lpstr>
      <vt:lpstr>Slide 24</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WELLCOME</cp:lastModifiedBy>
  <cp:revision>40</cp:revision>
  <dcterms:created xsi:type="dcterms:W3CDTF">2024-06-21T09:49:54Z</dcterms:created>
  <dcterms:modified xsi:type="dcterms:W3CDTF">2024-09-30T09:20:17Z</dcterms:modified>
</cp:coreProperties>
</file>