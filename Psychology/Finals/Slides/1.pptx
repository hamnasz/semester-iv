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67" r:id="rId3"/>
    <p:sldId id="257" r:id="rId4"/>
    <p:sldId id="258" r:id="rId5"/>
    <p:sldId id="259" r:id="rId6"/>
    <p:sldId id="268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A0795-49B8-4307-8D1B-7229A0EAFDF8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11B3B-9168-48D2-B90B-2AFA78800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359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A0795-49B8-4307-8D1B-7229A0EAFDF8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11B3B-9168-48D2-B90B-2AFA78800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80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A0795-49B8-4307-8D1B-7229A0EAFDF8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11B3B-9168-48D2-B90B-2AFA78800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606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A0795-49B8-4307-8D1B-7229A0EAFDF8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11B3B-9168-48D2-B90B-2AFA78800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0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A0795-49B8-4307-8D1B-7229A0EAFDF8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11B3B-9168-48D2-B90B-2AFA78800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627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A0795-49B8-4307-8D1B-7229A0EAFDF8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11B3B-9168-48D2-B90B-2AFA78800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13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A0795-49B8-4307-8D1B-7229A0EAFDF8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11B3B-9168-48D2-B90B-2AFA78800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743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A0795-49B8-4307-8D1B-7229A0EAFDF8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11B3B-9168-48D2-B90B-2AFA78800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292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A0795-49B8-4307-8D1B-7229A0EAFDF8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11B3B-9168-48D2-B90B-2AFA78800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318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A0795-49B8-4307-8D1B-7229A0EAFDF8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11B3B-9168-48D2-B90B-2AFA78800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2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A0795-49B8-4307-8D1B-7229A0EAFDF8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11B3B-9168-48D2-B90B-2AFA78800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344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A0795-49B8-4307-8D1B-7229A0EAFDF8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11B3B-9168-48D2-B90B-2AFA78800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727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EF21E1-2D98-4671-AEAF-A201BC9C4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46CD5F-621C-4899-B8C5-417BE3F1E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629" y="239698"/>
            <a:ext cx="7649653" cy="2408146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/>
            </a:r>
            <a:br>
              <a:rPr lang="en-US" dirty="0" smtClean="0"/>
            </a:b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06DBB-5AF5-48F8-9377-D0A0ACE9B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124" y="3429000"/>
            <a:ext cx="10374923" cy="2901461"/>
          </a:xfrm>
        </p:spPr>
        <p:txBody>
          <a:bodyPr>
            <a:noAutofit/>
          </a:bodyPr>
          <a:lstStyle/>
          <a:p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Fakiha Shoukat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DA394B8-F89E-45AC-9E3F-FEC161BFAFAB}"/>
              </a:ext>
            </a:extLst>
          </p:cNvPr>
          <p:cNvSpPr txBox="1">
            <a:spLocks/>
          </p:cNvSpPr>
          <p:nvPr/>
        </p:nvSpPr>
        <p:spPr>
          <a:xfrm>
            <a:off x="907913" y="6166392"/>
            <a:ext cx="2800905" cy="68358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C869FE1-C1C4-48A8-AA9E-99CAE025B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9324" y="239698"/>
            <a:ext cx="3611690" cy="361169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8251" y="2103835"/>
            <a:ext cx="996412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1"/>
            <a:r>
              <a:rPr lang="en-US" sz="9600" b="1" dirty="0" smtClean="0">
                <a:latin typeface="Arial" pitchFamily="34" charset="0"/>
                <a:cs typeface="Arial" pitchFamily="34" charset="0"/>
              </a:rPr>
              <a:t>Emotion</a:t>
            </a:r>
            <a:endParaRPr lang="en-US" sz="96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009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36" y="1690688"/>
            <a:ext cx="9836727" cy="4761307"/>
          </a:xfrm>
        </p:spPr>
      </p:pic>
      <p:grpSp>
        <p:nvGrpSpPr>
          <p:cNvPr id="5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xmlns:lc="http://schemas.openxmlformats.org/drawingml/2006/lockedCanvas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0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xmlns:lc="http://schemas.openxmlformats.org/drawingml/2006/lockedCanvas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9516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Emotions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Emotions are mental states brought on by neurophysiological changes, variously associated with thoughts, feelings, behavioral responses, and a degree of pleasure 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displeasure.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Emotions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 very short-lived feelings that come from a known cause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displayed through sudden physical body language and facial expressions, such as by smiling when happy or crying when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sad.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emotions include: happiness, sadness, anger, fear, surprise, and disgust.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E332D8-FEE8-4AD2-B9E4-EC25C85A6F47}"/>
              </a:ext>
            </a:extLst>
          </p:cNvPr>
          <p:cNvSpPr/>
          <p:nvPr/>
        </p:nvSpPr>
        <p:spPr>
          <a:xfrm>
            <a:off x="0" y="0"/>
            <a:ext cx="12173832" cy="784611"/>
          </a:xfrm>
          <a:prstGeom prst="rect">
            <a:avLst/>
          </a:prstGeom>
          <a:solidFill>
            <a:srgbClr val="D3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875527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Emotions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ifferent Types of Emotions in Psychology - All Questions Answere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6327" y="1440872"/>
            <a:ext cx="6539345" cy="5223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CE332D8-FEE8-4AD2-B9E4-EC25C85A6F47}"/>
              </a:ext>
            </a:extLst>
          </p:cNvPr>
          <p:cNvSpPr/>
          <p:nvPr/>
        </p:nvSpPr>
        <p:spPr>
          <a:xfrm>
            <a:off x="0" y="0"/>
            <a:ext cx="12173832" cy="784611"/>
          </a:xfrm>
          <a:prstGeom prst="rect">
            <a:avLst/>
          </a:prstGeom>
          <a:solidFill>
            <a:srgbClr val="D3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205116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Cultural Expression of Emotions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Culture influences the expression of emotions by shaping the gestures that vary among different societies.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Cultural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of emotion refer to the effects that emotions have on the functioning and maintenance of societies and cultures.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the process whereby individuals look for information from others to clarify a situation, and then use that information to act.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Cross Cultural Expression: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Few expression has world wide universal meaning to a single world.  (Happy, Sad, Fear, Surprised)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E332D8-FEE8-4AD2-B9E4-EC25C85A6F47}"/>
              </a:ext>
            </a:extLst>
          </p:cNvPr>
          <p:cNvSpPr/>
          <p:nvPr/>
        </p:nvSpPr>
        <p:spPr>
          <a:xfrm>
            <a:off x="0" y="0"/>
            <a:ext cx="12173832" cy="784611"/>
          </a:xfrm>
          <a:prstGeom prst="rect">
            <a:avLst/>
          </a:prstGeom>
          <a:solidFill>
            <a:srgbClr val="D3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625366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Here's a logical chart for understanding your emotions. I think INTPs would  really get a kick out of this. | Emotions wheel, Feelings wheel, Emotion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04295"/>
            <a:ext cx="6553705" cy="6553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CE332D8-FEE8-4AD2-B9E4-EC25C85A6F47}"/>
              </a:ext>
            </a:extLst>
          </p:cNvPr>
          <p:cNvSpPr/>
          <p:nvPr/>
        </p:nvSpPr>
        <p:spPr>
          <a:xfrm>
            <a:off x="0" y="16042"/>
            <a:ext cx="12173832" cy="784611"/>
          </a:xfrm>
          <a:prstGeom prst="rect">
            <a:avLst/>
          </a:prstGeom>
          <a:solidFill>
            <a:srgbClr val="D3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6581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 and Emotions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expression is simply the acknowledgement of these emotions we are built 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feel.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Healthy expression allows us to understand the emotions, truly feel them and move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Emotions can be expressed verbally (through words and tone of voice) or by using nonverbal communication, including the use of body language or facial expressions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E332D8-FEE8-4AD2-B9E4-EC25C85A6F47}"/>
              </a:ext>
            </a:extLst>
          </p:cNvPr>
          <p:cNvSpPr/>
          <p:nvPr/>
        </p:nvSpPr>
        <p:spPr>
          <a:xfrm>
            <a:off x="0" y="0"/>
            <a:ext cx="12173832" cy="784611"/>
          </a:xfrm>
          <a:prstGeom prst="rect">
            <a:avLst/>
          </a:prstGeom>
          <a:solidFill>
            <a:srgbClr val="D3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025278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Facial expressions: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the most common form of expressing emotions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Body positions: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in many express how emotions are taken.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Criticism: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expression of disapproval of someone or something on the basis of perceived faults or mistakes.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Context: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circumstances that form the setting for an event, statement, or idea, and in terms of which it can be fully understood.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E332D8-FEE8-4AD2-B9E4-EC25C85A6F47}"/>
              </a:ext>
            </a:extLst>
          </p:cNvPr>
          <p:cNvSpPr/>
          <p:nvPr/>
        </p:nvSpPr>
        <p:spPr>
          <a:xfrm>
            <a:off x="0" y="0"/>
            <a:ext cx="12173832" cy="784611"/>
          </a:xfrm>
          <a:prstGeom prst="rect">
            <a:avLst/>
          </a:prstGeom>
          <a:solidFill>
            <a:srgbClr val="D3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974997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Social References: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wherein infants use the affective displays of an adult to regulate their behaviors toward environmental objects, persons, and situations.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Smile: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acial expression in which the eyes brighten and the corners of the mouth curve slightly upward and which expresses especially amusement, pleasure, approval, or sometimes scorn.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Voluntary Control: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management of acts or behaviors by intentional action.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E332D8-FEE8-4AD2-B9E4-EC25C85A6F47}"/>
              </a:ext>
            </a:extLst>
          </p:cNvPr>
          <p:cNvSpPr/>
          <p:nvPr/>
        </p:nvSpPr>
        <p:spPr>
          <a:xfrm>
            <a:off x="0" y="0"/>
            <a:ext cx="12173832" cy="784611"/>
          </a:xfrm>
          <a:prstGeom prst="rect">
            <a:avLst/>
          </a:prstGeom>
          <a:solidFill>
            <a:srgbClr val="D3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56164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Arousal and Emotions 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Arousal is a state of heightened physiological activity. This includes having strong emotions like anger and fear and we go to the emotional arousal state in response to our daily experiences.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 the fight, flight or freeze response is a state of emotional arousal.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E332D8-FEE8-4AD2-B9E4-EC25C85A6F47}"/>
              </a:ext>
            </a:extLst>
          </p:cNvPr>
          <p:cNvSpPr/>
          <p:nvPr/>
        </p:nvSpPr>
        <p:spPr>
          <a:xfrm>
            <a:off x="0" y="0"/>
            <a:ext cx="12173832" cy="784611"/>
          </a:xfrm>
          <a:prstGeom prst="rect">
            <a:avLst/>
          </a:prstGeom>
          <a:solidFill>
            <a:srgbClr val="D3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657436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James-Lange Theory of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Emotions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James-Lange Theory states that emotions result from physiological reactions in the body.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stimulus that causes a specific pattern of physiological arousal that causes an emotional response.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James-Lange theory suggests that different patterns of arousal lead to different emotions. 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James-Lange theory, predicts the facial feedback hypothesis the muscles you use to create a facial expression triggers your experience of emotion.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E332D8-FEE8-4AD2-B9E4-EC25C85A6F47}"/>
              </a:ext>
            </a:extLst>
          </p:cNvPr>
          <p:cNvSpPr/>
          <p:nvPr/>
        </p:nvSpPr>
        <p:spPr>
          <a:xfrm>
            <a:off x="0" y="0"/>
            <a:ext cx="12173832" cy="784611"/>
          </a:xfrm>
          <a:prstGeom prst="rect">
            <a:avLst/>
          </a:prstGeom>
          <a:solidFill>
            <a:srgbClr val="D3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141449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6" name="Picture 8" descr="File:James-Lange theory of emotion (anxiety example).png - Wikimedia Common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818" y="605322"/>
            <a:ext cx="4918364" cy="6111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CE332D8-FEE8-4AD2-B9E4-EC25C85A6F47}"/>
              </a:ext>
            </a:extLst>
          </p:cNvPr>
          <p:cNvSpPr/>
          <p:nvPr/>
        </p:nvSpPr>
        <p:spPr>
          <a:xfrm>
            <a:off x="0" y="0"/>
            <a:ext cx="12173832" cy="784611"/>
          </a:xfrm>
          <a:prstGeom prst="rect">
            <a:avLst/>
          </a:prstGeom>
          <a:solidFill>
            <a:srgbClr val="D3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66443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363</Words>
  <Application>Microsoft Office PowerPoint</Application>
  <PresentationFormat>Widescreen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 </vt:lpstr>
      <vt:lpstr>PowerPoint Presentation</vt:lpstr>
      <vt:lpstr>Emotions</vt:lpstr>
      <vt:lpstr>Types of Emotions</vt:lpstr>
      <vt:lpstr>Cultural Expression of Emotions</vt:lpstr>
      <vt:lpstr>PowerPoint Presentation</vt:lpstr>
      <vt:lpstr>Expression and Emotions</vt:lpstr>
      <vt:lpstr>PowerPoint Presentation</vt:lpstr>
      <vt:lpstr>PowerPoint Presentation</vt:lpstr>
      <vt:lpstr>Arousal and Emotions </vt:lpstr>
      <vt:lpstr>James-Lange Theory of Emotions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Aiman Ejaz</dc:creator>
  <cp:lastModifiedBy>fakiha Shoukat</cp:lastModifiedBy>
  <cp:revision>21</cp:revision>
  <dcterms:created xsi:type="dcterms:W3CDTF">2023-11-02T05:38:40Z</dcterms:created>
  <dcterms:modified xsi:type="dcterms:W3CDTF">2025-04-17T06:33:43Z</dcterms:modified>
</cp:coreProperties>
</file>