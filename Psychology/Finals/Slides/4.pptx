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68" r:id="rId3"/>
    <p:sldId id="258" r:id="rId4"/>
    <p:sldId id="262" r:id="rId5"/>
    <p:sldId id="259" r:id="rId6"/>
    <p:sldId id="260" r:id="rId7"/>
    <p:sldId id="267" r:id="rId8"/>
    <p:sldId id="261" r:id="rId9"/>
    <p:sldId id="269"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 y="4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D713F09-353E-48B5-B52E-9085DCEA4E8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850263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713F09-353E-48B5-B52E-9085DCEA4E8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60304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D713F09-353E-48B5-B52E-9085DCEA4E8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151152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D713F09-353E-48B5-B52E-9085DCEA4E85}" type="datetimeFigureOut">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2463994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D713F09-353E-48B5-B52E-9085DCEA4E85}" type="datetimeFigureOut">
              <a:rPr lang="en-US" smtClean="0"/>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3671728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713F09-353E-48B5-B52E-9085DCEA4E85}" type="datetimeFigureOut">
              <a:rPr lang="en-US" smtClean="0"/>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185006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713F09-353E-48B5-B52E-9085DCEA4E85}" type="datetimeFigureOut">
              <a:rPr lang="en-US" smtClean="0"/>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572102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D713F09-353E-48B5-B52E-9085DCEA4E85}" type="datetimeFigureOut">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2499596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D713F09-353E-48B5-B52E-9085DCEA4E85}" type="datetimeFigureOut">
              <a:rPr lang="en-US" smtClean="0"/>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3359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713F09-353E-48B5-B52E-9085DCEA4E8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276131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713F09-353E-48B5-B52E-9085DCEA4E85}" type="datetimeFigureOut">
              <a:rPr lang="en-US" smtClean="0"/>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E61CD1-60F4-4B3D-B979-C7672636FA9C}" type="slidenum">
              <a:rPr lang="en-US" smtClean="0"/>
              <a:t>‹#›</a:t>
            </a:fld>
            <a:endParaRPr lang="en-US"/>
          </a:p>
        </p:txBody>
      </p:sp>
    </p:spTree>
    <p:extLst>
      <p:ext uri="{BB962C8B-B14F-4D97-AF65-F5344CB8AC3E}">
        <p14:creationId xmlns:p14="http://schemas.microsoft.com/office/powerpoint/2010/main" val="3579366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713F09-353E-48B5-B52E-9085DCEA4E85}" type="datetimeFigureOut">
              <a:rPr lang="en-US" smtClean="0"/>
              <a:t>4/17/2025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61CD1-60F4-4B3D-B979-C7672636FA9C}" type="slidenum">
              <a:rPr lang="en-US" smtClean="0"/>
              <a:t>‹#›</a:t>
            </a:fld>
            <a:endParaRPr lang="en-US"/>
          </a:p>
        </p:txBody>
      </p:sp>
    </p:spTree>
    <p:extLst>
      <p:ext uri="{BB962C8B-B14F-4D97-AF65-F5344CB8AC3E}">
        <p14:creationId xmlns:p14="http://schemas.microsoft.com/office/powerpoint/2010/main" val="4234635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3.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5.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6.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8.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4.png"/><Relationship Id="rId4" Type="http://schemas.openxmlformats.org/officeDocument/2006/relationships/image" Target="NUL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712629" y="239698"/>
            <a:ext cx="7649653" cy="2408146"/>
          </a:xfrm>
        </p:spPr>
        <p:txBody>
          <a:bodyPr>
            <a:normAutofit/>
          </a:bodyPr>
          <a:lstStyle/>
          <a:p>
            <a:pPr lvl="0"/>
            <a:r>
              <a:rPr lang="en-US" dirty="0" smtClean="0"/>
              <a:t/>
            </a:r>
            <a:br>
              <a:rPr lang="en-US" dirty="0" smtClean="0"/>
            </a:br>
            <a:endParaRPr lang="en-GB"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545124" y="3429000"/>
            <a:ext cx="10374923" cy="2901461"/>
          </a:xfrm>
        </p:spPr>
        <p:txBody>
          <a:bodyPr>
            <a:noAutofit/>
          </a:bodyPr>
          <a:lstStyle/>
          <a:p>
            <a:r>
              <a:rPr lang="en-US" sz="1800" b="1" dirty="0" err="1" smtClean="0">
                <a:latin typeface="Arial" panose="020B0604020202020204" pitchFamily="34" charset="0"/>
                <a:cs typeface="Arial" panose="020B0604020202020204" pitchFamily="34" charset="0"/>
              </a:rPr>
              <a:t>Ms</a:t>
            </a:r>
            <a:r>
              <a:rPr lang="en-US" sz="1800" b="1" dirty="0" smtClean="0">
                <a:latin typeface="Arial" panose="020B0604020202020204" pitchFamily="34" charset="0"/>
                <a:cs typeface="Arial" panose="020B0604020202020204" pitchFamily="34" charset="0"/>
              </a:rPr>
              <a:t> Fakiha Shoukat</a:t>
            </a: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907913" y="6166392"/>
            <a:ext cx="2800905" cy="683582"/>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689324" y="239698"/>
            <a:ext cx="3611690" cy="3611690"/>
          </a:xfrm>
          <a:prstGeom prst="rect">
            <a:avLst/>
          </a:prstGeom>
        </p:spPr>
      </p:pic>
      <p:sp>
        <p:nvSpPr>
          <p:cNvPr id="6" name="Rectangle 5"/>
          <p:cNvSpPr/>
          <p:nvPr/>
        </p:nvSpPr>
        <p:spPr>
          <a:xfrm>
            <a:off x="-272716" y="2103835"/>
            <a:ext cx="12573729" cy="1015663"/>
          </a:xfrm>
          <a:prstGeom prst="rect">
            <a:avLst/>
          </a:prstGeom>
        </p:spPr>
        <p:txBody>
          <a:bodyPr wrap="square">
            <a:spAutoFit/>
          </a:bodyPr>
          <a:lstStyle/>
          <a:p>
            <a:pPr algn="ctr" latinLnBrk="1"/>
            <a:r>
              <a:rPr lang="en-US" sz="6000" b="1" dirty="0" smtClean="0">
                <a:latin typeface="Arial" pitchFamily="34" charset="0"/>
                <a:cs typeface="Arial" pitchFamily="34" charset="0"/>
              </a:rPr>
              <a:t>Counselling</a:t>
            </a:r>
            <a:endParaRPr lang="en-US" sz="6000" b="1" dirty="0">
              <a:latin typeface="Arial" pitchFamily="34" charset="0"/>
              <a:cs typeface="Arial" pitchFamily="34" charset="0"/>
            </a:endParaRPr>
          </a:p>
        </p:txBody>
      </p:sp>
    </p:spTree>
    <p:extLst>
      <p:ext uri="{BB962C8B-B14F-4D97-AF65-F5344CB8AC3E}">
        <p14:creationId xmlns:p14="http://schemas.microsoft.com/office/powerpoint/2010/main" val="139431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Types of Mental Health Counsel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3500" y="1910556"/>
            <a:ext cx="9525000" cy="418147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559587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smtClean="0">
                <a:latin typeface="Times New Roman" panose="02020603050405020304" pitchFamily="18" charset="0"/>
                <a:cs typeface="Times New Roman" panose="02020603050405020304" pitchFamily="18" charset="0"/>
              </a:rPr>
              <a:t>Counselling</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Counselling is a talking therapy that involves a trained therapist listening to you and helping you find ways to deal with emotional issues</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Sometimes the term "counselling" is used to refer to talking therapies in general, but counselling is also a type of therapy in its own right</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Counselling is a form of 'talk therapy'.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a process where an individual, couple or family meet with a trained professional counsellor to talk about issues and problems that they are facing in their lives.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606468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Counseling psychologists focus on normative developmental and mental health issues and challenges faced by individuals across their lifespan, as well as systemic challenges (such as prejudice and discrimination) experienced in groups, workplaces, organizations, institutions, and communities</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Professional counselling is confidential and non-judgmental</a:t>
            </a: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12934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latin typeface="Times New Roman" panose="02020603050405020304" pitchFamily="18" charset="0"/>
                <a:cs typeface="Times New Roman" panose="02020603050405020304" pitchFamily="18" charset="0"/>
              </a:rPr>
              <a:t>I</a:t>
            </a:r>
            <a:r>
              <a:rPr lang="en-US" sz="4800" b="1" dirty="0" smtClean="0">
                <a:latin typeface="Times New Roman" panose="02020603050405020304" pitchFamily="18" charset="0"/>
                <a:cs typeface="Times New Roman" panose="02020603050405020304" pitchFamily="18" charset="0"/>
              </a:rPr>
              <a:t>mportance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Counseling psychologists help people recognize their strengths and find resources to cope with everyday problems and </a:t>
            </a:r>
            <a:r>
              <a:rPr lang="en-US" dirty="0" smtClean="0">
                <a:latin typeface="Times New Roman" panose="02020603050405020304" pitchFamily="18" charset="0"/>
                <a:cs typeface="Times New Roman" panose="02020603050405020304" pitchFamily="18" charset="0"/>
              </a:rPr>
              <a:t>adversity.</a:t>
            </a:r>
          </a:p>
          <a:p>
            <a:r>
              <a:rPr lang="en-US" dirty="0" smtClean="0">
                <a:latin typeface="Times New Roman" panose="02020603050405020304" pitchFamily="18" charset="0"/>
                <a:cs typeface="Times New Roman" panose="02020603050405020304" pitchFamily="18" charset="0"/>
              </a:rPr>
              <a:t>Counseling </a:t>
            </a:r>
            <a:r>
              <a:rPr lang="en-US" dirty="0">
                <a:latin typeface="Times New Roman" panose="02020603050405020304" pitchFamily="18" charset="0"/>
                <a:cs typeface="Times New Roman" panose="02020603050405020304" pitchFamily="18" charset="0"/>
              </a:rPr>
              <a:t>psychologists focus on interactions between people and their environment, and on educational and career development.</a:t>
            </a: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9756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mproved </a:t>
            </a:r>
            <a:r>
              <a:rPr lang="en-US" dirty="0">
                <a:latin typeface="Times New Roman" panose="02020603050405020304" pitchFamily="18" charset="0"/>
                <a:cs typeface="Times New Roman" panose="02020603050405020304" pitchFamily="18" charset="0"/>
              </a:rPr>
              <a:t>communication and interpersonal skills</a:t>
            </a:r>
          </a:p>
          <a:p>
            <a:r>
              <a:rPr lang="en-US" dirty="0">
                <a:latin typeface="Times New Roman" panose="02020603050405020304" pitchFamily="18" charset="0"/>
                <a:cs typeface="Times New Roman" panose="02020603050405020304" pitchFamily="18" charset="0"/>
              </a:rPr>
              <a:t>G</a:t>
            </a:r>
            <a:r>
              <a:rPr lang="en-US" dirty="0" smtClean="0">
                <a:latin typeface="Times New Roman" panose="02020603050405020304" pitchFamily="18" charset="0"/>
                <a:cs typeface="Times New Roman" panose="02020603050405020304" pitchFamily="18" charset="0"/>
              </a:rPr>
              <a:t>reater </a:t>
            </a:r>
            <a:r>
              <a:rPr lang="en-US" dirty="0">
                <a:latin typeface="Times New Roman" panose="02020603050405020304" pitchFamily="18" charset="0"/>
                <a:cs typeface="Times New Roman" panose="02020603050405020304" pitchFamily="18" charset="0"/>
              </a:rPr>
              <a:t>self-acceptance and self-esteem</a:t>
            </a:r>
          </a:p>
          <a:p>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bility </a:t>
            </a:r>
            <a:r>
              <a:rPr lang="en-US" dirty="0">
                <a:latin typeface="Times New Roman" panose="02020603050405020304" pitchFamily="18" charset="0"/>
                <a:cs typeface="Times New Roman" panose="02020603050405020304" pitchFamily="18" charset="0"/>
              </a:rPr>
              <a:t>to change self-defeating behaviors/habits</a:t>
            </a:r>
          </a:p>
          <a:p>
            <a:r>
              <a:rPr lang="en-US" dirty="0">
                <a:latin typeface="Times New Roman" panose="02020603050405020304" pitchFamily="18" charset="0"/>
                <a:cs typeface="Times New Roman" panose="02020603050405020304" pitchFamily="18" charset="0"/>
              </a:rPr>
              <a:t>B</a:t>
            </a:r>
            <a:r>
              <a:rPr lang="en-US" dirty="0" smtClean="0">
                <a:latin typeface="Times New Roman" panose="02020603050405020304" pitchFamily="18" charset="0"/>
                <a:cs typeface="Times New Roman" panose="02020603050405020304" pitchFamily="18" charset="0"/>
              </a:rPr>
              <a:t>etter </a:t>
            </a:r>
            <a:r>
              <a:rPr lang="en-US" dirty="0">
                <a:latin typeface="Times New Roman" panose="02020603050405020304" pitchFamily="18" charset="0"/>
                <a:cs typeface="Times New Roman" panose="02020603050405020304" pitchFamily="18" charset="0"/>
              </a:rPr>
              <a:t>expression and management of emotions, including anger</a:t>
            </a:r>
          </a:p>
          <a:p>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elief </a:t>
            </a:r>
            <a:r>
              <a:rPr lang="en-US" dirty="0">
                <a:latin typeface="Times New Roman" panose="02020603050405020304" pitchFamily="18" charset="0"/>
                <a:cs typeface="Times New Roman" panose="02020603050405020304" pitchFamily="18" charset="0"/>
              </a:rPr>
              <a:t>from depression, anxiety or other mental health conditions</a:t>
            </a:r>
          </a:p>
          <a:p>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ncreased </a:t>
            </a:r>
            <a:r>
              <a:rPr lang="en-US" dirty="0">
                <a:latin typeface="Times New Roman" panose="02020603050405020304" pitchFamily="18" charset="0"/>
                <a:cs typeface="Times New Roman" panose="02020603050405020304" pitchFamily="18" charset="0"/>
              </a:rPr>
              <a:t>confidence and decision-making skills</a:t>
            </a:r>
          </a:p>
          <a:p>
            <a:r>
              <a:rPr lang="en-US" dirty="0">
                <a:latin typeface="Times New Roman" panose="02020603050405020304" pitchFamily="18" charset="0"/>
                <a:cs typeface="Times New Roman" panose="02020603050405020304" pitchFamily="18" charset="0"/>
              </a:rPr>
              <a:t>A</a:t>
            </a:r>
            <a:r>
              <a:rPr lang="en-US" dirty="0" smtClean="0">
                <a:latin typeface="Times New Roman" panose="02020603050405020304" pitchFamily="18" charset="0"/>
                <a:cs typeface="Times New Roman" panose="02020603050405020304" pitchFamily="18" charset="0"/>
              </a:rPr>
              <a:t>bility </a:t>
            </a:r>
            <a:r>
              <a:rPr lang="en-US" dirty="0">
                <a:latin typeface="Times New Roman" panose="02020603050405020304" pitchFamily="18" charset="0"/>
                <a:cs typeface="Times New Roman" panose="02020603050405020304" pitchFamily="18" charset="0"/>
              </a:rPr>
              <a:t>to manage stress effectively</a:t>
            </a:r>
          </a:p>
          <a:p>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mproved </a:t>
            </a:r>
            <a:r>
              <a:rPr lang="en-US" dirty="0">
                <a:latin typeface="Times New Roman" panose="02020603050405020304" pitchFamily="18" charset="0"/>
                <a:cs typeface="Times New Roman" panose="02020603050405020304" pitchFamily="18" charset="0"/>
              </a:rPr>
              <a:t>problem-solving and conflict resolution abilities</a:t>
            </a:r>
          </a:p>
          <a:p>
            <a:r>
              <a:rPr lang="en-US" dirty="0">
                <a:latin typeface="Times New Roman" panose="02020603050405020304" pitchFamily="18" charset="0"/>
                <a:cs typeface="Times New Roman" panose="02020603050405020304" pitchFamily="18" charset="0"/>
              </a:rPr>
              <a:t>G</a:t>
            </a:r>
            <a:r>
              <a:rPr lang="en-US" dirty="0" smtClean="0">
                <a:latin typeface="Times New Roman" panose="02020603050405020304" pitchFamily="18" charset="0"/>
                <a:cs typeface="Times New Roman" panose="02020603050405020304" pitchFamily="18" charset="0"/>
              </a:rPr>
              <a:t>reater </a:t>
            </a:r>
            <a:r>
              <a:rPr lang="en-US" dirty="0">
                <a:latin typeface="Times New Roman" panose="02020603050405020304" pitchFamily="18" charset="0"/>
                <a:cs typeface="Times New Roman" panose="02020603050405020304" pitchFamily="18" charset="0"/>
              </a:rPr>
              <a:t>sense of self and purpose</a:t>
            </a:r>
          </a:p>
          <a:p>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ecognition </a:t>
            </a:r>
            <a:r>
              <a:rPr lang="en-US" dirty="0">
                <a:latin typeface="Times New Roman" panose="02020603050405020304" pitchFamily="18" charset="0"/>
                <a:cs typeface="Times New Roman" panose="02020603050405020304" pitchFamily="18" charset="0"/>
              </a:rPr>
              <a:t>of distorted </a:t>
            </a:r>
            <a:r>
              <a:rPr lang="en-US" dirty="0" smtClean="0">
                <a:latin typeface="Times New Roman" panose="02020603050405020304" pitchFamily="18" charset="0"/>
                <a:cs typeface="Times New Roman" panose="02020603050405020304" pitchFamily="18" charset="0"/>
              </a:rPr>
              <a:t>thinking</a:t>
            </a:r>
            <a:endParaRPr lang="en-US" dirty="0">
              <a:latin typeface="Times New Roman" panose="02020603050405020304" pitchFamily="18" charset="0"/>
              <a:cs typeface="Times New Roman" panose="02020603050405020304" pitchFamily="18" charset="0"/>
            </a:endParaRP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60230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8" name="Picture 4" descr="How counselling is helpful for students in schools? - Saraswati Shishukunj"/>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5108" y="1825625"/>
            <a:ext cx="5801784" cy="435133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78806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smtClean="0">
                <a:latin typeface="Times New Roman" panose="02020603050405020304" pitchFamily="18" charset="0"/>
                <a:cs typeface="Times New Roman" panose="02020603050405020304" pitchFamily="18" charset="0"/>
              </a:rPr>
              <a:t>Scope</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Counselling is an interactive process between the counselor and the client or counselee to help the clients’ </a:t>
            </a:r>
            <a:r>
              <a:rPr lang="en-US" dirty="0" smtClean="0">
                <a:latin typeface="Times New Roman" panose="02020603050405020304" pitchFamily="18" charset="0"/>
                <a:cs typeface="Times New Roman" panose="02020603050405020304" pitchFamily="18" charset="0"/>
              </a:rPr>
              <a:t>needs. </a:t>
            </a:r>
            <a:r>
              <a:rPr lang="en-US" dirty="0">
                <a:latin typeface="Times New Roman" panose="02020603050405020304" pitchFamily="18" charset="0"/>
                <a:cs typeface="Times New Roman" panose="02020603050405020304" pitchFamily="18" charset="0"/>
              </a:rPr>
              <a:t>the relevance and the scope of counseling are inevitable. Each and every individual needs a positive and optimistic mind set. The major areas of counseling </a:t>
            </a:r>
            <a:r>
              <a:rPr lang="en-US" dirty="0" smtClean="0">
                <a:latin typeface="Times New Roman" panose="02020603050405020304" pitchFamily="18" charset="0"/>
                <a:cs typeface="Times New Roman" panose="02020603050405020304" pitchFamily="18" charset="0"/>
              </a:rPr>
              <a:t>in</a:t>
            </a:r>
          </a:p>
          <a:p>
            <a:pPr lvl="1"/>
            <a:r>
              <a:rPr lang="en-US" dirty="0">
                <a:latin typeface="Times New Roman" panose="02020603050405020304" pitchFamily="18" charset="0"/>
                <a:cs typeface="Times New Roman" panose="02020603050405020304" pitchFamily="18" charset="0"/>
              </a:rPr>
              <a:t>Life span </a:t>
            </a:r>
            <a:r>
              <a:rPr lang="en-US" dirty="0" smtClean="0">
                <a:latin typeface="Times New Roman" panose="02020603050405020304" pitchFamily="18" charset="0"/>
                <a:cs typeface="Times New Roman" panose="02020603050405020304" pitchFamily="18" charset="0"/>
              </a:rPr>
              <a:t>Developmental</a:t>
            </a:r>
          </a:p>
          <a:p>
            <a:pPr lvl="1"/>
            <a:r>
              <a:rPr lang="en-US" dirty="0">
                <a:latin typeface="Times New Roman" panose="02020603050405020304" pitchFamily="18" charset="0"/>
                <a:cs typeface="Times New Roman" panose="02020603050405020304" pitchFamily="18" charset="0"/>
              </a:rPr>
              <a:t>Cognitive </a:t>
            </a:r>
            <a:r>
              <a:rPr lang="en-US" dirty="0" smtClean="0">
                <a:latin typeface="Times New Roman" panose="02020603050405020304" pitchFamily="18" charset="0"/>
                <a:cs typeface="Times New Roman" panose="02020603050405020304" pitchFamily="18" charset="0"/>
              </a:rPr>
              <a:t>modification</a:t>
            </a:r>
          </a:p>
          <a:p>
            <a:pPr lvl="1"/>
            <a:r>
              <a:rPr lang="en-US" dirty="0">
                <a:latin typeface="Times New Roman" panose="02020603050405020304" pitchFamily="18" charset="0"/>
                <a:cs typeface="Times New Roman" panose="02020603050405020304" pitchFamily="18" charset="0"/>
              </a:rPr>
              <a:t>Behavior </a:t>
            </a:r>
            <a:r>
              <a:rPr lang="en-US" dirty="0" smtClean="0">
                <a:latin typeface="Times New Roman" panose="02020603050405020304" pitchFamily="18" charset="0"/>
                <a:cs typeface="Times New Roman" panose="02020603050405020304" pitchFamily="18" charset="0"/>
              </a:rPr>
              <a:t>modification</a:t>
            </a:r>
          </a:p>
          <a:p>
            <a:pPr lvl="1"/>
            <a:r>
              <a:rPr lang="en-US" dirty="0">
                <a:latin typeface="Times New Roman" panose="02020603050405020304" pitchFamily="18" charset="0"/>
                <a:cs typeface="Times New Roman" panose="02020603050405020304" pitchFamily="18" charset="0"/>
              </a:rPr>
              <a:t>Marital discord, child and family </a:t>
            </a:r>
            <a:r>
              <a:rPr lang="en-US" dirty="0" smtClean="0">
                <a:latin typeface="Times New Roman" panose="02020603050405020304" pitchFamily="18" charset="0"/>
                <a:cs typeface="Times New Roman" panose="02020603050405020304" pitchFamily="18" charset="0"/>
              </a:rPr>
              <a:t>crisis</a:t>
            </a:r>
          </a:p>
          <a:p>
            <a:pPr lvl="1"/>
            <a:r>
              <a:rPr lang="en-US" dirty="0">
                <a:latin typeface="Times New Roman" panose="02020603050405020304" pitchFamily="18" charset="0"/>
                <a:cs typeface="Times New Roman" panose="02020603050405020304" pitchFamily="18" charset="0"/>
              </a:rPr>
              <a:t>Career / Educational </a:t>
            </a:r>
            <a:r>
              <a:rPr lang="en-US" dirty="0" smtClean="0">
                <a:latin typeface="Times New Roman" panose="02020603050405020304" pitchFamily="18" charset="0"/>
                <a:cs typeface="Times New Roman" panose="02020603050405020304" pitchFamily="18" charset="0"/>
              </a:rPr>
              <a:t>Counselling</a:t>
            </a:r>
          </a:p>
          <a:p>
            <a:pPr lvl="1"/>
            <a:r>
              <a:rPr lang="en-US" dirty="0">
                <a:latin typeface="Times New Roman" panose="02020603050405020304" pitchFamily="18" charset="0"/>
                <a:cs typeface="Times New Roman" panose="02020603050405020304" pitchFamily="18" charset="0"/>
              </a:rPr>
              <a:t>Challenges Counselling</a:t>
            </a: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916895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Stages of Counseling</a:t>
            </a:r>
            <a:endParaRPr lang="en-US" sz="4800" dirty="0"/>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Directive counselling involves </a:t>
            </a:r>
            <a:r>
              <a:rPr lang="en-US" dirty="0" smtClean="0">
                <a:latin typeface="Times New Roman" panose="02020603050405020304" pitchFamily="18" charset="0"/>
                <a:cs typeface="Times New Roman" panose="02020603050405020304" pitchFamily="18" charset="0"/>
              </a:rPr>
              <a:t>five </a:t>
            </a:r>
            <a:r>
              <a:rPr lang="en-US" dirty="0">
                <a:latin typeface="Times New Roman" panose="02020603050405020304" pitchFamily="18" charset="0"/>
                <a:cs typeface="Times New Roman" panose="02020603050405020304" pitchFamily="18" charset="0"/>
              </a:rPr>
              <a:t>stages. They are as follows: </a:t>
            </a:r>
          </a:p>
          <a:p>
            <a:pPr lvl="1"/>
            <a:r>
              <a:rPr lang="en-US" sz="2800" dirty="0" smtClean="0">
                <a:latin typeface="Times New Roman" panose="02020603050405020304" pitchFamily="18" charset="0"/>
                <a:cs typeface="Times New Roman" panose="02020603050405020304" pitchFamily="18" charset="0"/>
              </a:rPr>
              <a:t>Analysis</a:t>
            </a:r>
          </a:p>
          <a:p>
            <a:pPr lvl="1"/>
            <a:r>
              <a:rPr lang="en-US" sz="2800" dirty="0" smtClean="0">
                <a:latin typeface="Times New Roman" panose="02020603050405020304" pitchFamily="18" charset="0"/>
                <a:cs typeface="Times New Roman" panose="02020603050405020304" pitchFamily="18" charset="0"/>
              </a:rPr>
              <a:t>Synthesis</a:t>
            </a:r>
          </a:p>
          <a:p>
            <a:pPr lvl="1"/>
            <a:r>
              <a:rPr lang="en-US" sz="2800" dirty="0" smtClean="0">
                <a:latin typeface="Times New Roman" panose="02020603050405020304" pitchFamily="18" charset="0"/>
                <a:cs typeface="Times New Roman" panose="02020603050405020304" pitchFamily="18" charset="0"/>
              </a:rPr>
              <a:t>Diagnosis</a:t>
            </a:r>
          </a:p>
          <a:p>
            <a:pPr lvl="1"/>
            <a:r>
              <a:rPr lang="en-US" sz="2800" dirty="0" smtClean="0">
                <a:latin typeface="Times New Roman" panose="02020603050405020304" pitchFamily="18" charset="0"/>
                <a:cs typeface="Times New Roman" panose="02020603050405020304" pitchFamily="18" charset="0"/>
              </a:rPr>
              <a:t>Prognosis</a:t>
            </a:r>
          </a:p>
          <a:p>
            <a:pPr lvl="1"/>
            <a:r>
              <a:rPr lang="en-US" sz="2800" dirty="0">
                <a:latin typeface="Times New Roman" panose="02020603050405020304" pitchFamily="18" charset="0"/>
                <a:cs typeface="Times New Roman" panose="02020603050405020304" pitchFamily="18" charset="0"/>
              </a:rPr>
              <a:t>Counselling</a:t>
            </a:r>
            <a:endParaRPr lang="en-US" sz="2800" dirty="0"/>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43974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smtClean="0">
                <a:latin typeface="Times New Roman" panose="02020603050405020304" pitchFamily="18" charset="0"/>
                <a:cs typeface="Times New Roman" panose="02020603050405020304" pitchFamily="18" charset="0"/>
              </a:rPr>
              <a:t>Stages </a:t>
            </a:r>
            <a:r>
              <a:rPr lang="en-US" sz="4800" b="1" dirty="0">
                <a:latin typeface="Times New Roman" panose="02020603050405020304" pitchFamily="18" charset="0"/>
                <a:cs typeface="Times New Roman" panose="02020603050405020304" pitchFamily="18" charset="0"/>
              </a:rPr>
              <a:t>of </a:t>
            </a:r>
            <a:r>
              <a:rPr lang="en-US" sz="4800" b="1" dirty="0" smtClean="0">
                <a:latin typeface="Times New Roman" panose="02020603050405020304" pitchFamily="18" charset="0"/>
                <a:cs typeface="Times New Roman" panose="02020603050405020304" pitchFamily="18" charset="0"/>
              </a:rPr>
              <a:t>Counseling</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Analysis:</a:t>
            </a:r>
          </a:p>
          <a:p>
            <a:pPr marL="457200" lvl="1" indent="0">
              <a:buNone/>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involves collecting from various sources the data needed for an adequate understanding of the client. </a:t>
            </a:r>
            <a:endParaRPr lang="en-US" sz="2800" dirty="0" smtClean="0">
              <a:latin typeface="Times New Roman" panose="02020603050405020304" pitchFamily="18" charset="0"/>
              <a:cs typeface="Times New Roman" panose="02020603050405020304" pitchFamily="18" charset="0"/>
            </a:endParaRPr>
          </a:p>
          <a:p>
            <a:pPr marL="457200" lvl="1" indent="0">
              <a:buNone/>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includes administration of psychological tests. </a:t>
            </a:r>
            <a:endParaRPr lang="en-US" sz="2800"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Synthesis</a:t>
            </a:r>
            <a:r>
              <a:rPr lang="en-US" dirty="0">
                <a:latin typeface="Times New Roman" panose="02020603050405020304" pitchFamily="18" charset="0"/>
                <a:cs typeface="Times New Roman" panose="02020603050405020304" pitchFamily="18" charset="0"/>
              </a:rPr>
              <a:t>:</a:t>
            </a:r>
          </a:p>
          <a:p>
            <a:pPr marL="457200" lvl="1" indent="0">
              <a:buNone/>
            </a:pPr>
            <a:r>
              <a:rPr lang="en-US" sz="2800" dirty="0">
                <a:latin typeface="Times New Roman" panose="02020603050405020304" pitchFamily="18" charset="0"/>
                <a:cs typeface="Times New Roman" panose="02020603050405020304" pitchFamily="18" charset="0"/>
              </a:rPr>
              <a:t>This refers to summarizing and organizing the data so obtained, as to reveal the assets, liabilities, adjustments and maladjustments of the counselee.</a:t>
            </a:r>
          </a:p>
          <a:p>
            <a:pPr marL="457200" lvl="1" indent="0">
              <a:buNone/>
            </a:pPr>
            <a:endParaRPr lang="en-US" sz="2800" dirty="0">
              <a:latin typeface="Times New Roman" panose="02020603050405020304" pitchFamily="18" charset="0"/>
              <a:cs typeface="Times New Roman" panose="02020603050405020304" pitchFamily="18" charset="0"/>
            </a:endParaRP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192430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Diagnosis:</a:t>
            </a:r>
          </a:p>
          <a:p>
            <a:pPr marL="457200" lvl="1" indent="0">
              <a:buNone/>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stage is concerned with formulating conclusions regarding the nature and the course of the problems exhibited by the student. </a:t>
            </a:r>
            <a:endParaRPr lang="en-US" sz="2800" dirty="0" smtClean="0">
              <a:latin typeface="Times New Roman" panose="02020603050405020304" pitchFamily="18" charset="0"/>
              <a:cs typeface="Times New Roman" panose="02020603050405020304" pitchFamily="18" charset="0"/>
            </a:endParaRPr>
          </a:p>
          <a:p>
            <a:pPr marL="457200" lvl="1" indent="0">
              <a:buNone/>
            </a:pPr>
            <a:r>
              <a:rPr lang="en-US" sz="2800" dirty="0" smtClean="0">
                <a:latin typeface="Times New Roman" panose="02020603050405020304" pitchFamily="18" charset="0"/>
                <a:cs typeface="Times New Roman" panose="02020603050405020304" pitchFamily="18" charset="0"/>
              </a:rPr>
              <a:t>Drawing </a:t>
            </a:r>
            <a:r>
              <a:rPr lang="en-US" sz="2800" dirty="0">
                <a:latin typeface="Times New Roman" panose="02020603050405020304" pitchFamily="18" charset="0"/>
                <a:cs typeface="Times New Roman" panose="02020603050405020304" pitchFamily="18" charset="0"/>
              </a:rPr>
              <a:t>conclusions from the results of psychological testing, administration of questionnaires are done here</a:t>
            </a:r>
            <a:r>
              <a:rPr lang="en-US" sz="2800"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Prognosis:</a:t>
            </a:r>
          </a:p>
          <a:p>
            <a:pPr marL="457200" lvl="1" indent="0">
              <a:buNone/>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refers to predicting the future course of development of the counselee’s problem in the light of conclusions as made earlier.</a:t>
            </a: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390693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Counselling:</a:t>
            </a:r>
          </a:p>
          <a:p>
            <a:pPr marL="457200" lvl="1" indent="0">
              <a:buNone/>
            </a:pP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is the most important and time consuming step in the whole process. </a:t>
            </a:r>
            <a:endParaRPr lang="en-US" sz="2800" dirty="0" smtClean="0">
              <a:latin typeface="Times New Roman" panose="02020603050405020304" pitchFamily="18" charset="0"/>
              <a:cs typeface="Times New Roman" panose="02020603050405020304" pitchFamily="18" charset="0"/>
            </a:endParaRPr>
          </a:p>
          <a:p>
            <a:pPr marL="457200" lvl="1" indent="0">
              <a:buNone/>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is where the expertise of the counsellor is needed </a:t>
            </a:r>
            <a:r>
              <a:rPr lang="en-US" sz="2800" dirty="0" smtClean="0">
                <a:latin typeface="Times New Roman" panose="02020603050405020304" pitchFamily="18" charset="0"/>
                <a:cs typeface="Times New Roman" panose="02020603050405020304" pitchFamily="18" charset="0"/>
              </a:rPr>
              <a:t>most.</a:t>
            </a:r>
          </a:p>
          <a:p>
            <a:pPr marL="457200" lvl="1" indent="0">
              <a:buNone/>
            </a:pPr>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is a highly </a:t>
            </a:r>
            <a:r>
              <a:rPr lang="en-US" sz="2800" dirty="0" smtClean="0">
                <a:latin typeface="Times New Roman" panose="02020603050405020304" pitchFamily="18" charset="0"/>
                <a:cs typeface="Times New Roman" panose="02020603050405020304" pitchFamily="18" charset="0"/>
              </a:rPr>
              <a:t>personalized </a:t>
            </a:r>
            <a:r>
              <a:rPr lang="en-US" sz="2800" dirty="0">
                <a:latin typeface="Times New Roman" panose="02020603050405020304" pitchFamily="18" charset="0"/>
                <a:cs typeface="Times New Roman" panose="02020603050405020304" pitchFamily="18" charset="0"/>
              </a:rPr>
              <a:t>teaching and learning </a:t>
            </a:r>
            <a:r>
              <a:rPr lang="en-US" sz="2800" dirty="0" smtClean="0">
                <a:latin typeface="Times New Roman" panose="02020603050405020304" pitchFamily="18" charset="0"/>
                <a:cs typeface="Times New Roman" panose="02020603050405020304" pitchFamily="18" charset="0"/>
              </a:rPr>
              <a:t>process.</a:t>
            </a:r>
          </a:p>
          <a:p>
            <a:pPr marL="457200" lvl="1" indent="0">
              <a:buNone/>
            </a:pPr>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may be direct teaching through explicit explanations, assistance in searching for relevant aptitudes and interest that illuminate the counselee’s problems and so </a:t>
            </a:r>
            <a:r>
              <a:rPr lang="en-US" sz="2800" dirty="0" smtClean="0">
                <a:latin typeface="Times New Roman" panose="02020603050405020304" pitchFamily="18" charset="0"/>
                <a:cs typeface="Times New Roman" panose="02020603050405020304" pitchFamily="18" charset="0"/>
              </a:rPr>
              <a:t>on.</a:t>
            </a:r>
          </a:p>
          <a:p>
            <a:pPr marL="457200" lvl="1" indent="0">
              <a:buNone/>
            </a:pPr>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may also involve practice sessions where with the warm support of the counsellor the counselee acts out the way he/she should. </a:t>
            </a:r>
            <a:endParaRPr lang="en-US" sz="2800" dirty="0" smtClean="0">
              <a:latin typeface="Times New Roman" panose="02020603050405020304" pitchFamily="18" charset="0"/>
              <a:cs typeface="Times New Roman" panose="02020603050405020304" pitchFamily="18" charset="0"/>
            </a:endParaRP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909721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Role of a </a:t>
            </a:r>
            <a:r>
              <a:rPr lang="en-US" sz="4800" b="1" dirty="0" smtClean="0">
                <a:latin typeface="Times New Roman" panose="02020603050405020304" pitchFamily="18" charset="0"/>
                <a:cs typeface="Times New Roman" panose="02020603050405020304" pitchFamily="18" charset="0"/>
              </a:rPr>
              <a:t>Counselor</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71600"/>
            <a:ext cx="10515600" cy="5486400"/>
          </a:xfrm>
        </p:spPr>
        <p:txBody>
          <a:bodyPr>
            <a:noAutofit/>
          </a:bodyPr>
          <a:lstStyle/>
          <a:p>
            <a:r>
              <a:rPr lang="en-US" sz="2400" dirty="0">
                <a:latin typeface="Times New Roman" panose="02020603050405020304" pitchFamily="18" charset="0"/>
                <a:cs typeface="Times New Roman" panose="02020603050405020304" pitchFamily="18" charset="0"/>
              </a:rPr>
              <a:t>Counsellors provide a valuable service to many different kinds of people. The responsibilities of a counsellor are largely person-facing, with a typical day involving working directly with people for most of the time. Some of the key responsibilities that a counsellor has can include</a:t>
            </a:r>
            <a:r>
              <a:rPr lang="en-US" sz="2400" dirty="0" smtClean="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Providing counselling </a:t>
            </a:r>
            <a:r>
              <a:rPr lang="en-US" dirty="0" smtClean="0">
                <a:latin typeface="Times New Roman" panose="02020603050405020304" pitchFamily="18" charset="0"/>
                <a:cs typeface="Times New Roman" panose="02020603050405020304" pitchFamily="18" charset="0"/>
              </a:rPr>
              <a:t>services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Leading group counselling </a:t>
            </a:r>
            <a:r>
              <a:rPr lang="en-US" dirty="0" smtClean="0">
                <a:latin typeface="Times New Roman" panose="02020603050405020304" pitchFamily="18" charset="0"/>
                <a:cs typeface="Times New Roman" panose="02020603050405020304" pitchFamily="18" charset="0"/>
              </a:rPr>
              <a:t>sessions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Working with families, groups and </a:t>
            </a:r>
            <a:r>
              <a:rPr lang="en-US" dirty="0" smtClean="0">
                <a:latin typeface="Times New Roman" panose="02020603050405020304" pitchFamily="18" charset="0"/>
                <a:cs typeface="Times New Roman" panose="02020603050405020304" pitchFamily="18" charset="0"/>
              </a:rPr>
              <a:t>individuals</a:t>
            </a:r>
            <a:endParaRPr lang="en-US" dirty="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Maintaining </a:t>
            </a:r>
            <a:r>
              <a:rPr lang="en-US" dirty="0">
                <a:latin typeface="Times New Roman" panose="02020603050405020304" pitchFamily="18" charset="0"/>
                <a:cs typeface="Times New Roman" panose="02020603050405020304" pitchFamily="18" charset="0"/>
              </a:rPr>
              <a:t>confidential </a:t>
            </a:r>
            <a:r>
              <a:rPr lang="en-US" dirty="0" smtClean="0">
                <a:latin typeface="Times New Roman" panose="02020603050405020304" pitchFamily="18" charset="0"/>
                <a:cs typeface="Times New Roman" panose="02020603050405020304" pitchFamily="18" charset="0"/>
              </a:rPr>
              <a:t>records</a:t>
            </a:r>
            <a:endParaRPr lang="en-US" dirty="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Listener</a:t>
            </a:r>
            <a:endParaRPr lang="en-US" dirty="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Empathy</a:t>
            </a:r>
            <a:endParaRPr lang="en-US" dirty="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Observer</a:t>
            </a:r>
          </a:p>
          <a:p>
            <a:pPr lvl="1"/>
            <a:r>
              <a:rPr lang="en-US" dirty="0">
                <a:latin typeface="Times New Roman" panose="02020603050405020304" pitchFamily="18" charset="0"/>
                <a:cs typeface="Times New Roman" panose="02020603050405020304" pitchFamily="18" charset="0"/>
              </a:rPr>
              <a:t>Patience</a:t>
            </a:r>
          </a:p>
          <a:p>
            <a:pPr lvl="1"/>
            <a:r>
              <a:rPr lang="en-US" dirty="0">
                <a:latin typeface="Times New Roman" panose="02020603050405020304" pitchFamily="18" charset="0"/>
                <a:cs typeface="Times New Roman" panose="02020603050405020304" pitchFamily="18" charset="0"/>
              </a:rPr>
              <a:t>Emotional control</a:t>
            </a:r>
          </a:p>
          <a:p>
            <a:pPr lvl="1"/>
            <a:r>
              <a:rPr lang="en-US" dirty="0">
                <a:latin typeface="Times New Roman" panose="02020603050405020304" pitchFamily="18" charset="0"/>
                <a:cs typeface="Times New Roman" panose="02020603050405020304" pitchFamily="18" charset="0"/>
              </a:rPr>
              <a:t>Good communication</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p:grpSp>
        <p:nvGrpSpPr>
          <p:cNvPr id="4" name="Title 3">
            <a:extLst>
              <a:ext uri="{FF2B5EF4-FFF2-40B4-BE49-F238E27FC236}">
                <a16:creationId xmlns:a16="http://schemas.microsoft.com/office/drawing/2014/main" id="{2CF01162-D0B6-4CEC-B999-30B23E8FE853}"/>
              </a:ext>
            </a:extLst>
          </p:cNvPr>
          <p:cNvGrpSpPr>
            <a:grpSpLocks noGrp="1"/>
          </p:cNvGrpSpPr>
          <p:nvPr/>
        </p:nvGrpSpPr>
        <p:grpSpPr>
          <a:xfrm>
            <a:off x="0" y="0"/>
            <a:ext cx="12730349" cy="784611"/>
            <a:chOff x="0" y="0"/>
            <a:chExt cx="12749348" cy="1115736"/>
          </a:xfrm>
        </p:grpSpPr>
        <p:sp>
          <p:nvSpPr>
            <p:cNvPr id="5" name="Rectangle 4">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sp>
          <p:nvSpPr>
            <p:cNvPr id="6" name="TextBox 5">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7" name="Graphic 14">
              <a:extLst>
                <a:ext uri="{FF2B5EF4-FFF2-40B4-BE49-F238E27FC236}">
                  <a16:creationId xmlns:a16="http://schemas.microsoft.com/office/drawing/2014/main" id="{71F90180-E346-4AF9-B3BC-F4B7007B4E02}"/>
                </a:ext>
              </a:extLst>
            </p:cNvPr>
            <p:cNvPicPr>
              <a:picLocks noChangeAspect="1"/>
            </p:cNvPicPr>
            <p:nvPr/>
          </p:nvPicPr>
          <p:blipFill>
            <a:blip r:embed="rId2">
              <a:extLst>
                <a:ext uri="{96DAC541-7B7A-43D3-8B79-37D633B846F1}">
                  <asvg:svgBlip xmlns:lc="http://schemas.openxmlformats.org/drawingml/2006/lockedCanvas" xmlns:asvg="http://schemas.microsoft.com/office/drawing/2016/SVG/main" xmlns="" r:embed="rId4"/>
                </a:ext>
              </a:extLst>
            </a:blip>
            <a:stretch>
              <a:fillRect/>
            </a:stretch>
          </p:blipFill>
          <p:spPr>
            <a:xfrm>
              <a:off x="9906056" y="403986"/>
              <a:ext cx="261610" cy="261610"/>
            </a:xfrm>
            <a:prstGeom prst="rect">
              <a:avLst/>
            </a:prstGeom>
          </p:spPr>
        </p:pic>
        <p:sp>
          <p:nvSpPr>
            <p:cNvPr id="8" name="TextBox 7">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9"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lc="http://schemas.openxmlformats.org/drawingml/2006/lockedCanvas" xmlns:asvg="http://schemas.microsoft.com/office/drawing/2016/SVG/main" xmlns="" r:embed="rId6"/>
                </a:ext>
              </a:extLst>
            </a:blip>
            <a:stretch>
              <a:fillRect/>
            </a:stretch>
          </p:blipFill>
          <p:spPr>
            <a:xfrm>
              <a:off x="10591033" y="741997"/>
              <a:ext cx="171450" cy="171450"/>
            </a:xfrm>
            <a:prstGeom prst="rect">
              <a:avLst/>
            </a:prstGeom>
          </p:spPr>
        </p:pic>
        <p:pic>
          <p:nvPicPr>
            <p:cNvPr id="10" name="Picture 9">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09296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695</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 </vt:lpstr>
      <vt:lpstr>PowerPoint Presentation</vt:lpstr>
      <vt:lpstr>Counselling</vt:lpstr>
      <vt:lpstr>PowerPoint Presentation</vt:lpstr>
      <vt:lpstr>Importance</vt:lpstr>
      <vt:lpstr>PowerPoint Presentation</vt:lpstr>
      <vt:lpstr>PowerPoint Presentation</vt:lpstr>
      <vt:lpstr>Scope</vt:lpstr>
      <vt:lpstr>Stages of Counseling</vt:lpstr>
      <vt:lpstr>Stages of Counseling</vt:lpstr>
      <vt:lpstr>PowerPoint Presentation</vt:lpstr>
      <vt:lpstr>PowerPoint Presentation</vt:lpstr>
      <vt:lpstr>Role of a Counselor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Aiman Ejaz</dc:creator>
  <cp:lastModifiedBy>fakiha Shoukat</cp:lastModifiedBy>
  <cp:revision>18</cp:revision>
  <dcterms:created xsi:type="dcterms:W3CDTF">2023-11-01T09:45:39Z</dcterms:created>
  <dcterms:modified xsi:type="dcterms:W3CDTF">2025-04-17T06:44:05Z</dcterms:modified>
</cp:coreProperties>
</file>