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3" r:id="rId2"/>
    <p:sldId id="259" r:id="rId3"/>
    <p:sldId id="816" r:id="rId4"/>
    <p:sldId id="813" r:id="rId5"/>
    <p:sldId id="258" r:id="rId6"/>
    <p:sldId id="812" r:id="rId7"/>
    <p:sldId id="814" r:id="rId8"/>
    <p:sldId id="260" r:id="rId9"/>
    <p:sldId id="261" r:id="rId10"/>
    <p:sldId id="262" r:id="rId11"/>
    <p:sldId id="811" r:id="rId12"/>
    <p:sldId id="815" r:id="rId13"/>
    <p:sldId id="263" r:id="rId14"/>
    <p:sldId id="274" r:id="rId15"/>
    <p:sldId id="821" r:id="rId16"/>
    <p:sldId id="266" r:id="rId17"/>
    <p:sldId id="817" r:id="rId18"/>
    <p:sldId id="818" r:id="rId19"/>
    <p:sldId id="819" r:id="rId20"/>
    <p:sldId id="820" r:id="rId21"/>
    <p:sldId id="267" r:id="rId22"/>
    <p:sldId id="822" r:id="rId23"/>
  </p:sldIdLst>
  <p:sldSz cx="12192000" cy="6858000"/>
  <p:notesSz cx="6858000" cy="9144000"/>
  <p:defaultText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32A2A"/>
    <a:srgbClr val="C000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73" d="100"/>
          <a:sy n="73" d="100"/>
        </p:scale>
        <p:origin x="58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8F304D-9FBF-4B4D-AB5C-790149BB44A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K"/>
          </a:p>
        </p:txBody>
      </p:sp>
      <p:sp>
        <p:nvSpPr>
          <p:cNvPr id="3" name="Subtitle 2">
            <a:extLst>
              <a:ext uri="{FF2B5EF4-FFF2-40B4-BE49-F238E27FC236}">
                <a16:creationId xmlns:a16="http://schemas.microsoft.com/office/drawing/2014/main" id="{000C0F5D-325B-4660-8632-EBB9EC084D3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K"/>
          </a:p>
        </p:txBody>
      </p:sp>
      <p:sp>
        <p:nvSpPr>
          <p:cNvPr id="4" name="Date Placeholder 3">
            <a:extLst>
              <a:ext uri="{FF2B5EF4-FFF2-40B4-BE49-F238E27FC236}">
                <a16:creationId xmlns:a16="http://schemas.microsoft.com/office/drawing/2014/main" id="{3FBC7CD5-CB98-4F1C-8F4E-14A8F9EE1811}"/>
              </a:ext>
            </a:extLst>
          </p:cNvPr>
          <p:cNvSpPr>
            <a:spLocks noGrp="1"/>
          </p:cNvSpPr>
          <p:nvPr>
            <p:ph type="dt" sz="half" idx="10"/>
          </p:nvPr>
        </p:nvSpPr>
        <p:spPr/>
        <p:txBody>
          <a:bodyPr/>
          <a:lstStyle/>
          <a:p>
            <a:fld id="{3237A82C-AEEE-48DB-A866-3B1CA0AC9D5D}" type="datetimeFigureOut">
              <a:rPr lang="en-PK" smtClean="0"/>
              <a:t>03/06/2025</a:t>
            </a:fld>
            <a:endParaRPr lang="en-PK"/>
          </a:p>
        </p:txBody>
      </p:sp>
      <p:sp>
        <p:nvSpPr>
          <p:cNvPr id="5" name="Footer Placeholder 4">
            <a:extLst>
              <a:ext uri="{FF2B5EF4-FFF2-40B4-BE49-F238E27FC236}">
                <a16:creationId xmlns:a16="http://schemas.microsoft.com/office/drawing/2014/main" id="{9DA69AAB-D032-4740-999C-6FECB3BEC838}"/>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F1F2CE2C-3FF8-4ED5-9A0F-6E35B87E8B6F}"/>
              </a:ext>
            </a:extLst>
          </p:cNvPr>
          <p:cNvSpPr>
            <a:spLocks noGrp="1"/>
          </p:cNvSpPr>
          <p:nvPr>
            <p:ph type="sldNum" sz="quarter" idx="12"/>
          </p:nvPr>
        </p:nvSpPr>
        <p:spPr/>
        <p:txBody>
          <a:bodyPr/>
          <a:lstStyle/>
          <a:p>
            <a:fld id="{6EB9F7D7-3C9C-4146-9FA1-B77DEB44278D}" type="slidenum">
              <a:rPr lang="en-PK" smtClean="0"/>
              <a:t>‹#›</a:t>
            </a:fld>
            <a:endParaRPr lang="en-PK"/>
          </a:p>
        </p:txBody>
      </p:sp>
    </p:spTree>
    <p:extLst>
      <p:ext uri="{BB962C8B-B14F-4D97-AF65-F5344CB8AC3E}">
        <p14:creationId xmlns:p14="http://schemas.microsoft.com/office/powerpoint/2010/main" val="16832143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11BF5-D802-48A8-8681-E64C843E4622}"/>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4D563E54-C420-46A7-95A3-D26D99CE95B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09E21E6C-72DA-4925-94EE-0D245623B79C}"/>
              </a:ext>
            </a:extLst>
          </p:cNvPr>
          <p:cNvSpPr>
            <a:spLocks noGrp="1"/>
          </p:cNvSpPr>
          <p:nvPr>
            <p:ph type="dt" sz="half" idx="10"/>
          </p:nvPr>
        </p:nvSpPr>
        <p:spPr/>
        <p:txBody>
          <a:bodyPr/>
          <a:lstStyle/>
          <a:p>
            <a:fld id="{3237A82C-AEEE-48DB-A866-3B1CA0AC9D5D}" type="datetimeFigureOut">
              <a:rPr lang="en-PK" smtClean="0"/>
              <a:t>03/06/2025</a:t>
            </a:fld>
            <a:endParaRPr lang="en-PK"/>
          </a:p>
        </p:txBody>
      </p:sp>
      <p:sp>
        <p:nvSpPr>
          <p:cNvPr id="5" name="Footer Placeholder 4">
            <a:extLst>
              <a:ext uri="{FF2B5EF4-FFF2-40B4-BE49-F238E27FC236}">
                <a16:creationId xmlns:a16="http://schemas.microsoft.com/office/drawing/2014/main" id="{E316D8A9-019D-413B-8A1E-F14D6EE35618}"/>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6050099F-8C38-444A-A7F8-21336A623DAA}"/>
              </a:ext>
            </a:extLst>
          </p:cNvPr>
          <p:cNvSpPr>
            <a:spLocks noGrp="1"/>
          </p:cNvSpPr>
          <p:nvPr>
            <p:ph type="sldNum" sz="quarter" idx="12"/>
          </p:nvPr>
        </p:nvSpPr>
        <p:spPr/>
        <p:txBody>
          <a:bodyPr/>
          <a:lstStyle/>
          <a:p>
            <a:fld id="{6EB9F7D7-3C9C-4146-9FA1-B77DEB44278D}" type="slidenum">
              <a:rPr lang="en-PK" smtClean="0"/>
              <a:t>‹#›</a:t>
            </a:fld>
            <a:endParaRPr lang="en-PK"/>
          </a:p>
        </p:txBody>
      </p:sp>
    </p:spTree>
    <p:extLst>
      <p:ext uri="{BB962C8B-B14F-4D97-AF65-F5344CB8AC3E}">
        <p14:creationId xmlns:p14="http://schemas.microsoft.com/office/powerpoint/2010/main" val="31759640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B43EB3-C47B-49A1-BB67-347B61A6D7F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K"/>
          </a:p>
        </p:txBody>
      </p:sp>
      <p:sp>
        <p:nvSpPr>
          <p:cNvPr id="3" name="Text Placeholder 2">
            <a:extLst>
              <a:ext uri="{FF2B5EF4-FFF2-40B4-BE49-F238E27FC236}">
                <a16:creationId xmlns:a16="http://schemas.microsoft.com/office/drawing/2014/main" id="{61CE9B96-3C04-415D-86F4-32630CB36F5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F7AA9B9-E771-49B5-9E2D-06EAF24C17E6}"/>
              </a:ext>
            </a:extLst>
          </p:cNvPr>
          <p:cNvSpPr>
            <a:spLocks noGrp="1"/>
          </p:cNvSpPr>
          <p:nvPr>
            <p:ph type="dt" sz="half" idx="10"/>
          </p:nvPr>
        </p:nvSpPr>
        <p:spPr/>
        <p:txBody>
          <a:bodyPr/>
          <a:lstStyle/>
          <a:p>
            <a:fld id="{3237A82C-AEEE-48DB-A866-3B1CA0AC9D5D}" type="datetimeFigureOut">
              <a:rPr lang="en-PK" smtClean="0"/>
              <a:t>03/06/2025</a:t>
            </a:fld>
            <a:endParaRPr lang="en-PK"/>
          </a:p>
        </p:txBody>
      </p:sp>
      <p:sp>
        <p:nvSpPr>
          <p:cNvPr id="5" name="Footer Placeholder 4">
            <a:extLst>
              <a:ext uri="{FF2B5EF4-FFF2-40B4-BE49-F238E27FC236}">
                <a16:creationId xmlns:a16="http://schemas.microsoft.com/office/drawing/2014/main" id="{5AE7F1A7-FFC1-4BDE-908E-7A849372FAFE}"/>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6BE47FAB-5890-41CE-8DA9-CB5788221706}"/>
              </a:ext>
            </a:extLst>
          </p:cNvPr>
          <p:cNvSpPr>
            <a:spLocks noGrp="1"/>
          </p:cNvSpPr>
          <p:nvPr>
            <p:ph type="sldNum" sz="quarter" idx="12"/>
          </p:nvPr>
        </p:nvSpPr>
        <p:spPr/>
        <p:txBody>
          <a:bodyPr/>
          <a:lstStyle/>
          <a:p>
            <a:fld id="{6EB9F7D7-3C9C-4146-9FA1-B77DEB44278D}" type="slidenum">
              <a:rPr lang="en-PK" smtClean="0"/>
              <a:t>‹#›</a:t>
            </a:fld>
            <a:endParaRPr lang="en-PK"/>
          </a:p>
        </p:txBody>
      </p:sp>
    </p:spTree>
    <p:extLst>
      <p:ext uri="{BB962C8B-B14F-4D97-AF65-F5344CB8AC3E}">
        <p14:creationId xmlns:p14="http://schemas.microsoft.com/office/powerpoint/2010/main" val="34649825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398E66-B67C-4351-89B6-A169553C061C}"/>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5C791AA4-B785-4E02-B612-05E57B25A9E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Content Placeholder 3">
            <a:extLst>
              <a:ext uri="{FF2B5EF4-FFF2-40B4-BE49-F238E27FC236}">
                <a16:creationId xmlns:a16="http://schemas.microsoft.com/office/drawing/2014/main" id="{E410E598-0767-477D-B9E8-2BCCF5C5114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Date Placeholder 4">
            <a:extLst>
              <a:ext uri="{FF2B5EF4-FFF2-40B4-BE49-F238E27FC236}">
                <a16:creationId xmlns:a16="http://schemas.microsoft.com/office/drawing/2014/main" id="{B86D8C23-6B26-4B19-BEEB-7AEFC2A18F66}"/>
              </a:ext>
            </a:extLst>
          </p:cNvPr>
          <p:cNvSpPr>
            <a:spLocks noGrp="1"/>
          </p:cNvSpPr>
          <p:nvPr>
            <p:ph type="dt" sz="half" idx="10"/>
          </p:nvPr>
        </p:nvSpPr>
        <p:spPr/>
        <p:txBody>
          <a:bodyPr/>
          <a:lstStyle/>
          <a:p>
            <a:fld id="{3237A82C-AEEE-48DB-A866-3B1CA0AC9D5D}" type="datetimeFigureOut">
              <a:rPr lang="en-PK" smtClean="0"/>
              <a:t>03/06/2025</a:t>
            </a:fld>
            <a:endParaRPr lang="en-PK"/>
          </a:p>
        </p:txBody>
      </p:sp>
      <p:sp>
        <p:nvSpPr>
          <p:cNvPr id="6" name="Footer Placeholder 5">
            <a:extLst>
              <a:ext uri="{FF2B5EF4-FFF2-40B4-BE49-F238E27FC236}">
                <a16:creationId xmlns:a16="http://schemas.microsoft.com/office/drawing/2014/main" id="{E8CB8FE9-ABD0-4AA5-986C-BC29ECC4F014}"/>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147F8042-F61C-495E-8C35-E7989AA7EE9D}"/>
              </a:ext>
            </a:extLst>
          </p:cNvPr>
          <p:cNvSpPr>
            <a:spLocks noGrp="1"/>
          </p:cNvSpPr>
          <p:nvPr>
            <p:ph type="sldNum" sz="quarter" idx="12"/>
          </p:nvPr>
        </p:nvSpPr>
        <p:spPr/>
        <p:txBody>
          <a:bodyPr/>
          <a:lstStyle/>
          <a:p>
            <a:fld id="{6EB9F7D7-3C9C-4146-9FA1-B77DEB44278D}" type="slidenum">
              <a:rPr lang="en-PK" smtClean="0"/>
              <a:t>‹#›</a:t>
            </a:fld>
            <a:endParaRPr lang="en-PK"/>
          </a:p>
        </p:txBody>
      </p:sp>
    </p:spTree>
    <p:extLst>
      <p:ext uri="{BB962C8B-B14F-4D97-AF65-F5344CB8AC3E}">
        <p14:creationId xmlns:p14="http://schemas.microsoft.com/office/powerpoint/2010/main" val="25619730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E21205-E47B-4E88-8DFD-1C6071B7AD79}"/>
              </a:ext>
            </a:extLst>
          </p:cNvPr>
          <p:cNvSpPr>
            <a:spLocks noGrp="1"/>
          </p:cNvSpPr>
          <p:nvPr>
            <p:ph type="title"/>
          </p:nvPr>
        </p:nvSpPr>
        <p:spPr>
          <a:xfrm>
            <a:off x="839788" y="365125"/>
            <a:ext cx="10515600" cy="1325563"/>
          </a:xfrm>
        </p:spPr>
        <p:txBody>
          <a:bodyPr/>
          <a:lstStyle/>
          <a:p>
            <a:r>
              <a:rPr lang="en-US"/>
              <a:t>Click to edit Master title style</a:t>
            </a:r>
            <a:endParaRPr lang="en-PK"/>
          </a:p>
        </p:txBody>
      </p:sp>
      <p:sp>
        <p:nvSpPr>
          <p:cNvPr id="3" name="Text Placeholder 2">
            <a:extLst>
              <a:ext uri="{FF2B5EF4-FFF2-40B4-BE49-F238E27FC236}">
                <a16:creationId xmlns:a16="http://schemas.microsoft.com/office/drawing/2014/main" id="{7C64C0F1-91A6-4158-8855-0C72083701B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4AB615B-6DBF-4632-94D0-3791085A6C9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Text Placeholder 4">
            <a:extLst>
              <a:ext uri="{FF2B5EF4-FFF2-40B4-BE49-F238E27FC236}">
                <a16:creationId xmlns:a16="http://schemas.microsoft.com/office/drawing/2014/main" id="{B7CB3133-8FE9-4883-B870-D642C1DF037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98078B5-E153-4D81-A163-C758FDB8978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7" name="Date Placeholder 6">
            <a:extLst>
              <a:ext uri="{FF2B5EF4-FFF2-40B4-BE49-F238E27FC236}">
                <a16:creationId xmlns:a16="http://schemas.microsoft.com/office/drawing/2014/main" id="{D5D200C8-3958-4AE2-85B4-16A6511DDDE9}"/>
              </a:ext>
            </a:extLst>
          </p:cNvPr>
          <p:cNvSpPr>
            <a:spLocks noGrp="1"/>
          </p:cNvSpPr>
          <p:nvPr>
            <p:ph type="dt" sz="half" idx="10"/>
          </p:nvPr>
        </p:nvSpPr>
        <p:spPr/>
        <p:txBody>
          <a:bodyPr/>
          <a:lstStyle/>
          <a:p>
            <a:fld id="{3237A82C-AEEE-48DB-A866-3B1CA0AC9D5D}" type="datetimeFigureOut">
              <a:rPr lang="en-PK" smtClean="0"/>
              <a:t>03/06/2025</a:t>
            </a:fld>
            <a:endParaRPr lang="en-PK"/>
          </a:p>
        </p:txBody>
      </p:sp>
      <p:sp>
        <p:nvSpPr>
          <p:cNvPr id="8" name="Footer Placeholder 7">
            <a:extLst>
              <a:ext uri="{FF2B5EF4-FFF2-40B4-BE49-F238E27FC236}">
                <a16:creationId xmlns:a16="http://schemas.microsoft.com/office/drawing/2014/main" id="{6A253149-4D4C-46D5-8100-4A3D9F41B000}"/>
              </a:ext>
            </a:extLst>
          </p:cNvPr>
          <p:cNvSpPr>
            <a:spLocks noGrp="1"/>
          </p:cNvSpPr>
          <p:nvPr>
            <p:ph type="ftr" sz="quarter" idx="11"/>
          </p:nvPr>
        </p:nvSpPr>
        <p:spPr/>
        <p:txBody>
          <a:bodyPr/>
          <a:lstStyle/>
          <a:p>
            <a:endParaRPr lang="en-PK"/>
          </a:p>
        </p:txBody>
      </p:sp>
      <p:sp>
        <p:nvSpPr>
          <p:cNvPr id="9" name="Slide Number Placeholder 8">
            <a:extLst>
              <a:ext uri="{FF2B5EF4-FFF2-40B4-BE49-F238E27FC236}">
                <a16:creationId xmlns:a16="http://schemas.microsoft.com/office/drawing/2014/main" id="{65B7D50A-B373-419E-9BDA-973DC1118760}"/>
              </a:ext>
            </a:extLst>
          </p:cNvPr>
          <p:cNvSpPr>
            <a:spLocks noGrp="1"/>
          </p:cNvSpPr>
          <p:nvPr>
            <p:ph type="sldNum" sz="quarter" idx="12"/>
          </p:nvPr>
        </p:nvSpPr>
        <p:spPr/>
        <p:txBody>
          <a:bodyPr/>
          <a:lstStyle/>
          <a:p>
            <a:fld id="{6EB9F7D7-3C9C-4146-9FA1-B77DEB44278D}" type="slidenum">
              <a:rPr lang="en-PK" smtClean="0"/>
              <a:t>‹#›</a:t>
            </a:fld>
            <a:endParaRPr lang="en-PK"/>
          </a:p>
        </p:txBody>
      </p:sp>
    </p:spTree>
    <p:extLst>
      <p:ext uri="{BB962C8B-B14F-4D97-AF65-F5344CB8AC3E}">
        <p14:creationId xmlns:p14="http://schemas.microsoft.com/office/powerpoint/2010/main" val="22766287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3C455-2666-47C6-BF3E-44EE0A2900AC}"/>
              </a:ext>
            </a:extLst>
          </p:cNvPr>
          <p:cNvSpPr>
            <a:spLocks noGrp="1"/>
          </p:cNvSpPr>
          <p:nvPr>
            <p:ph type="title"/>
          </p:nvPr>
        </p:nvSpPr>
        <p:spPr/>
        <p:txBody>
          <a:bodyPr/>
          <a:lstStyle/>
          <a:p>
            <a:r>
              <a:rPr lang="en-US"/>
              <a:t>Click to edit Master title style</a:t>
            </a:r>
            <a:endParaRPr lang="en-PK"/>
          </a:p>
        </p:txBody>
      </p:sp>
      <p:sp>
        <p:nvSpPr>
          <p:cNvPr id="3" name="Date Placeholder 2">
            <a:extLst>
              <a:ext uri="{FF2B5EF4-FFF2-40B4-BE49-F238E27FC236}">
                <a16:creationId xmlns:a16="http://schemas.microsoft.com/office/drawing/2014/main" id="{2BCDB8A3-54C9-4DF0-AF58-847CC781E947}"/>
              </a:ext>
            </a:extLst>
          </p:cNvPr>
          <p:cNvSpPr>
            <a:spLocks noGrp="1"/>
          </p:cNvSpPr>
          <p:nvPr>
            <p:ph type="dt" sz="half" idx="10"/>
          </p:nvPr>
        </p:nvSpPr>
        <p:spPr/>
        <p:txBody>
          <a:bodyPr/>
          <a:lstStyle/>
          <a:p>
            <a:fld id="{3237A82C-AEEE-48DB-A866-3B1CA0AC9D5D}" type="datetimeFigureOut">
              <a:rPr lang="en-PK" smtClean="0"/>
              <a:t>03/06/2025</a:t>
            </a:fld>
            <a:endParaRPr lang="en-PK"/>
          </a:p>
        </p:txBody>
      </p:sp>
      <p:sp>
        <p:nvSpPr>
          <p:cNvPr id="4" name="Footer Placeholder 3">
            <a:extLst>
              <a:ext uri="{FF2B5EF4-FFF2-40B4-BE49-F238E27FC236}">
                <a16:creationId xmlns:a16="http://schemas.microsoft.com/office/drawing/2014/main" id="{CB3A80F5-1CBF-45BD-A6AD-6BE98C141DE2}"/>
              </a:ext>
            </a:extLst>
          </p:cNvPr>
          <p:cNvSpPr>
            <a:spLocks noGrp="1"/>
          </p:cNvSpPr>
          <p:nvPr>
            <p:ph type="ftr" sz="quarter" idx="11"/>
          </p:nvPr>
        </p:nvSpPr>
        <p:spPr/>
        <p:txBody>
          <a:bodyPr/>
          <a:lstStyle/>
          <a:p>
            <a:endParaRPr lang="en-PK"/>
          </a:p>
        </p:txBody>
      </p:sp>
      <p:sp>
        <p:nvSpPr>
          <p:cNvPr id="5" name="Slide Number Placeholder 4">
            <a:extLst>
              <a:ext uri="{FF2B5EF4-FFF2-40B4-BE49-F238E27FC236}">
                <a16:creationId xmlns:a16="http://schemas.microsoft.com/office/drawing/2014/main" id="{67E03123-314A-4412-8618-E5C45344E1D4}"/>
              </a:ext>
            </a:extLst>
          </p:cNvPr>
          <p:cNvSpPr>
            <a:spLocks noGrp="1"/>
          </p:cNvSpPr>
          <p:nvPr>
            <p:ph type="sldNum" sz="quarter" idx="12"/>
          </p:nvPr>
        </p:nvSpPr>
        <p:spPr/>
        <p:txBody>
          <a:bodyPr/>
          <a:lstStyle/>
          <a:p>
            <a:fld id="{6EB9F7D7-3C9C-4146-9FA1-B77DEB44278D}" type="slidenum">
              <a:rPr lang="en-PK" smtClean="0"/>
              <a:t>‹#›</a:t>
            </a:fld>
            <a:endParaRPr lang="en-PK"/>
          </a:p>
        </p:txBody>
      </p:sp>
    </p:spTree>
    <p:extLst>
      <p:ext uri="{BB962C8B-B14F-4D97-AF65-F5344CB8AC3E}">
        <p14:creationId xmlns:p14="http://schemas.microsoft.com/office/powerpoint/2010/main" val="32143271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EFC5179-D82F-40FA-BF21-7AA507CE0823}"/>
              </a:ext>
            </a:extLst>
          </p:cNvPr>
          <p:cNvSpPr>
            <a:spLocks noGrp="1"/>
          </p:cNvSpPr>
          <p:nvPr>
            <p:ph type="dt" sz="half" idx="10"/>
          </p:nvPr>
        </p:nvSpPr>
        <p:spPr/>
        <p:txBody>
          <a:bodyPr/>
          <a:lstStyle/>
          <a:p>
            <a:fld id="{3237A82C-AEEE-48DB-A866-3B1CA0AC9D5D}" type="datetimeFigureOut">
              <a:rPr lang="en-PK" smtClean="0"/>
              <a:t>03/06/2025</a:t>
            </a:fld>
            <a:endParaRPr lang="en-PK"/>
          </a:p>
        </p:txBody>
      </p:sp>
      <p:sp>
        <p:nvSpPr>
          <p:cNvPr id="3" name="Footer Placeholder 2">
            <a:extLst>
              <a:ext uri="{FF2B5EF4-FFF2-40B4-BE49-F238E27FC236}">
                <a16:creationId xmlns:a16="http://schemas.microsoft.com/office/drawing/2014/main" id="{C1CC15DB-F842-49C3-B55B-A16E3884385C}"/>
              </a:ext>
            </a:extLst>
          </p:cNvPr>
          <p:cNvSpPr>
            <a:spLocks noGrp="1"/>
          </p:cNvSpPr>
          <p:nvPr>
            <p:ph type="ftr" sz="quarter" idx="11"/>
          </p:nvPr>
        </p:nvSpPr>
        <p:spPr/>
        <p:txBody>
          <a:bodyPr/>
          <a:lstStyle/>
          <a:p>
            <a:endParaRPr lang="en-PK"/>
          </a:p>
        </p:txBody>
      </p:sp>
      <p:sp>
        <p:nvSpPr>
          <p:cNvPr id="4" name="Slide Number Placeholder 3">
            <a:extLst>
              <a:ext uri="{FF2B5EF4-FFF2-40B4-BE49-F238E27FC236}">
                <a16:creationId xmlns:a16="http://schemas.microsoft.com/office/drawing/2014/main" id="{38FDBBF2-4194-4BEA-AC76-A5704F3BBC05}"/>
              </a:ext>
            </a:extLst>
          </p:cNvPr>
          <p:cNvSpPr>
            <a:spLocks noGrp="1"/>
          </p:cNvSpPr>
          <p:nvPr>
            <p:ph type="sldNum" sz="quarter" idx="12"/>
          </p:nvPr>
        </p:nvSpPr>
        <p:spPr/>
        <p:txBody>
          <a:bodyPr/>
          <a:lstStyle/>
          <a:p>
            <a:fld id="{6EB9F7D7-3C9C-4146-9FA1-B77DEB44278D}" type="slidenum">
              <a:rPr lang="en-PK" smtClean="0"/>
              <a:t>‹#›</a:t>
            </a:fld>
            <a:endParaRPr lang="en-PK"/>
          </a:p>
        </p:txBody>
      </p:sp>
    </p:spTree>
    <p:extLst>
      <p:ext uri="{BB962C8B-B14F-4D97-AF65-F5344CB8AC3E}">
        <p14:creationId xmlns:p14="http://schemas.microsoft.com/office/powerpoint/2010/main" val="31402277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B38F8C-D3DE-403C-AF37-746C3367B6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Content Placeholder 2">
            <a:extLst>
              <a:ext uri="{FF2B5EF4-FFF2-40B4-BE49-F238E27FC236}">
                <a16:creationId xmlns:a16="http://schemas.microsoft.com/office/drawing/2014/main" id="{58DF2B9D-4546-43D6-91C9-FFB86CF4EAF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Text Placeholder 3">
            <a:extLst>
              <a:ext uri="{FF2B5EF4-FFF2-40B4-BE49-F238E27FC236}">
                <a16:creationId xmlns:a16="http://schemas.microsoft.com/office/drawing/2014/main" id="{BF656608-3C52-495D-A214-A55C36D003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898E0AF-DD29-4C26-82C8-ACF8330BE670}"/>
              </a:ext>
            </a:extLst>
          </p:cNvPr>
          <p:cNvSpPr>
            <a:spLocks noGrp="1"/>
          </p:cNvSpPr>
          <p:nvPr>
            <p:ph type="dt" sz="half" idx="10"/>
          </p:nvPr>
        </p:nvSpPr>
        <p:spPr/>
        <p:txBody>
          <a:bodyPr/>
          <a:lstStyle/>
          <a:p>
            <a:fld id="{3237A82C-AEEE-48DB-A866-3B1CA0AC9D5D}" type="datetimeFigureOut">
              <a:rPr lang="en-PK" smtClean="0"/>
              <a:t>03/06/2025</a:t>
            </a:fld>
            <a:endParaRPr lang="en-PK"/>
          </a:p>
        </p:txBody>
      </p:sp>
      <p:sp>
        <p:nvSpPr>
          <p:cNvPr id="6" name="Footer Placeholder 5">
            <a:extLst>
              <a:ext uri="{FF2B5EF4-FFF2-40B4-BE49-F238E27FC236}">
                <a16:creationId xmlns:a16="http://schemas.microsoft.com/office/drawing/2014/main" id="{5BC35345-7A18-4D42-9681-50058B9D5D58}"/>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BCB22563-5A9D-4035-99DC-A96787B7BEA2}"/>
              </a:ext>
            </a:extLst>
          </p:cNvPr>
          <p:cNvSpPr>
            <a:spLocks noGrp="1"/>
          </p:cNvSpPr>
          <p:nvPr>
            <p:ph type="sldNum" sz="quarter" idx="12"/>
          </p:nvPr>
        </p:nvSpPr>
        <p:spPr/>
        <p:txBody>
          <a:bodyPr/>
          <a:lstStyle/>
          <a:p>
            <a:fld id="{6EB9F7D7-3C9C-4146-9FA1-B77DEB44278D}" type="slidenum">
              <a:rPr lang="en-PK" smtClean="0"/>
              <a:t>‹#›</a:t>
            </a:fld>
            <a:endParaRPr lang="en-PK"/>
          </a:p>
        </p:txBody>
      </p:sp>
    </p:spTree>
    <p:extLst>
      <p:ext uri="{BB962C8B-B14F-4D97-AF65-F5344CB8AC3E}">
        <p14:creationId xmlns:p14="http://schemas.microsoft.com/office/powerpoint/2010/main" val="42212643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AE83F7-E36A-48E5-8DCA-087E21BBE49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Picture Placeholder 2">
            <a:extLst>
              <a:ext uri="{FF2B5EF4-FFF2-40B4-BE49-F238E27FC236}">
                <a16:creationId xmlns:a16="http://schemas.microsoft.com/office/drawing/2014/main" id="{822A8EBF-99DA-4706-BCCE-9EBA54596A9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K"/>
          </a:p>
        </p:txBody>
      </p:sp>
      <p:sp>
        <p:nvSpPr>
          <p:cNvPr id="4" name="Text Placeholder 3">
            <a:extLst>
              <a:ext uri="{FF2B5EF4-FFF2-40B4-BE49-F238E27FC236}">
                <a16:creationId xmlns:a16="http://schemas.microsoft.com/office/drawing/2014/main" id="{124EF8FC-B1A6-401C-9069-13842D8C8AE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5A73258-FD4E-43EE-BF6C-3DADDEA90459}"/>
              </a:ext>
            </a:extLst>
          </p:cNvPr>
          <p:cNvSpPr>
            <a:spLocks noGrp="1"/>
          </p:cNvSpPr>
          <p:nvPr>
            <p:ph type="dt" sz="half" idx="10"/>
          </p:nvPr>
        </p:nvSpPr>
        <p:spPr/>
        <p:txBody>
          <a:bodyPr/>
          <a:lstStyle/>
          <a:p>
            <a:fld id="{3237A82C-AEEE-48DB-A866-3B1CA0AC9D5D}" type="datetimeFigureOut">
              <a:rPr lang="en-PK" smtClean="0"/>
              <a:t>03/06/2025</a:t>
            </a:fld>
            <a:endParaRPr lang="en-PK"/>
          </a:p>
        </p:txBody>
      </p:sp>
      <p:sp>
        <p:nvSpPr>
          <p:cNvPr id="6" name="Footer Placeholder 5">
            <a:extLst>
              <a:ext uri="{FF2B5EF4-FFF2-40B4-BE49-F238E27FC236}">
                <a16:creationId xmlns:a16="http://schemas.microsoft.com/office/drawing/2014/main" id="{170AB588-D788-4246-8BC5-FC3FB748507C}"/>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E7FFFD2F-0AC3-4390-8990-6C3DDE5525F5}"/>
              </a:ext>
            </a:extLst>
          </p:cNvPr>
          <p:cNvSpPr>
            <a:spLocks noGrp="1"/>
          </p:cNvSpPr>
          <p:nvPr>
            <p:ph type="sldNum" sz="quarter" idx="12"/>
          </p:nvPr>
        </p:nvSpPr>
        <p:spPr/>
        <p:txBody>
          <a:bodyPr/>
          <a:lstStyle/>
          <a:p>
            <a:fld id="{6EB9F7D7-3C9C-4146-9FA1-B77DEB44278D}" type="slidenum">
              <a:rPr lang="en-PK" smtClean="0"/>
              <a:t>‹#›</a:t>
            </a:fld>
            <a:endParaRPr lang="en-PK"/>
          </a:p>
        </p:txBody>
      </p:sp>
    </p:spTree>
    <p:extLst>
      <p:ext uri="{BB962C8B-B14F-4D97-AF65-F5344CB8AC3E}">
        <p14:creationId xmlns:p14="http://schemas.microsoft.com/office/powerpoint/2010/main" val="9162938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C9B165-E271-4702-AC6D-63BC723EAB6A}"/>
              </a:ext>
            </a:extLst>
          </p:cNvPr>
          <p:cNvSpPr>
            <a:spLocks noGrp="1"/>
          </p:cNvSpPr>
          <p:nvPr>
            <p:ph type="title"/>
          </p:nvPr>
        </p:nvSpPr>
        <p:spPr/>
        <p:txBody>
          <a:bodyPr/>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1555CA41-5CBD-4E65-95AA-B3EFB8BD3B4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E19ACED0-31DD-4C4F-B63A-02250626EB2F}"/>
              </a:ext>
            </a:extLst>
          </p:cNvPr>
          <p:cNvSpPr>
            <a:spLocks noGrp="1"/>
          </p:cNvSpPr>
          <p:nvPr>
            <p:ph type="dt" sz="half" idx="10"/>
          </p:nvPr>
        </p:nvSpPr>
        <p:spPr/>
        <p:txBody>
          <a:bodyPr/>
          <a:lstStyle/>
          <a:p>
            <a:fld id="{3237A82C-AEEE-48DB-A866-3B1CA0AC9D5D}" type="datetimeFigureOut">
              <a:rPr lang="en-PK" smtClean="0"/>
              <a:t>03/06/2025</a:t>
            </a:fld>
            <a:endParaRPr lang="en-PK"/>
          </a:p>
        </p:txBody>
      </p:sp>
      <p:sp>
        <p:nvSpPr>
          <p:cNvPr id="5" name="Footer Placeholder 4">
            <a:extLst>
              <a:ext uri="{FF2B5EF4-FFF2-40B4-BE49-F238E27FC236}">
                <a16:creationId xmlns:a16="http://schemas.microsoft.com/office/drawing/2014/main" id="{A995553D-FD7D-4432-BC5C-F78462D738A8}"/>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31E46CDF-12B4-4900-A154-E219D22E95BB}"/>
              </a:ext>
            </a:extLst>
          </p:cNvPr>
          <p:cNvSpPr>
            <a:spLocks noGrp="1"/>
          </p:cNvSpPr>
          <p:nvPr>
            <p:ph type="sldNum" sz="quarter" idx="12"/>
          </p:nvPr>
        </p:nvSpPr>
        <p:spPr/>
        <p:txBody>
          <a:bodyPr/>
          <a:lstStyle/>
          <a:p>
            <a:fld id="{6EB9F7D7-3C9C-4146-9FA1-B77DEB44278D}" type="slidenum">
              <a:rPr lang="en-PK" smtClean="0"/>
              <a:t>‹#›</a:t>
            </a:fld>
            <a:endParaRPr lang="en-PK"/>
          </a:p>
        </p:txBody>
      </p:sp>
    </p:spTree>
    <p:extLst>
      <p:ext uri="{BB962C8B-B14F-4D97-AF65-F5344CB8AC3E}">
        <p14:creationId xmlns:p14="http://schemas.microsoft.com/office/powerpoint/2010/main" val="576310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B29BF1E-BE8B-4353-B936-AE8071F91CD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DB322873-176A-4EA9-9941-DC9941F4750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DD35E231-43A9-48DA-833A-A8750A6CA7EC}"/>
              </a:ext>
            </a:extLst>
          </p:cNvPr>
          <p:cNvSpPr>
            <a:spLocks noGrp="1"/>
          </p:cNvSpPr>
          <p:nvPr>
            <p:ph type="dt" sz="half" idx="10"/>
          </p:nvPr>
        </p:nvSpPr>
        <p:spPr/>
        <p:txBody>
          <a:bodyPr/>
          <a:lstStyle/>
          <a:p>
            <a:fld id="{3237A82C-AEEE-48DB-A866-3B1CA0AC9D5D}" type="datetimeFigureOut">
              <a:rPr lang="en-PK" smtClean="0"/>
              <a:t>03/06/2025</a:t>
            </a:fld>
            <a:endParaRPr lang="en-PK"/>
          </a:p>
        </p:txBody>
      </p:sp>
      <p:sp>
        <p:nvSpPr>
          <p:cNvPr id="5" name="Footer Placeholder 4">
            <a:extLst>
              <a:ext uri="{FF2B5EF4-FFF2-40B4-BE49-F238E27FC236}">
                <a16:creationId xmlns:a16="http://schemas.microsoft.com/office/drawing/2014/main" id="{00B07A8C-6932-4260-BAAA-DBE1B12880FA}"/>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FAFE6F17-3B9F-4C75-98BF-F79F5D018AEB}"/>
              </a:ext>
            </a:extLst>
          </p:cNvPr>
          <p:cNvSpPr>
            <a:spLocks noGrp="1"/>
          </p:cNvSpPr>
          <p:nvPr>
            <p:ph type="sldNum" sz="quarter" idx="12"/>
          </p:nvPr>
        </p:nvSpPr>
        <p:spPr/>
        <p:txBody>
          <a:bodyPr/>
          <a:lstStyle/>
          <a:p>
            <a:fld id="{6EB9F7D7-3C9C-4146-9FA1-B77DEB44278D}" type="slidenum">
              <a:rPr lang="en-PK" smtClean="0"/>
              <a:t>‹#›</a:t>
            </a:fld>
            <a:endParaRPr lang="en-PK"/>
          </a:p>
        </p:txBody>
      </p:sp>
    </p:spTree>
    <p:extLst>
      <p:ext uri="{BB962C8B-B14F-4D97-AF65-F5344CB8AC3E}">
        <p14:creationId xmlns:p14="http://schemas.microsoft.com/office/powerpoint/2010/main" val="42108414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4339B51-54CA-49F5-8966-F46D83C4226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K"/>
          </a:p>
        </p:txBody>
      </p:sp>
      <p:sp>
        <p:nvSpPr>
          <p:cNvPr id="3" name="Text Placeholder 2">
            <a:extLst>
              <a:ext uri="{FF2B5EF4-FFF2-40B4-BE49-F238E27FC236}">
                <a16:creationId xmlns:a16="http://schemas.microsoft.com/office/drawing/2014/main" id="{2519CFAA-AD75-4697-91AC-85CEC6C6B26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54127230-2512-4F28-A281-14854D14747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237A82C-AEEE-48DB-A866-3B1CA0AC9D5D}" type="datetimeFigureOut">
              <a:rPr lang="en-PK" smtClean="0"/>
              <a:t>03/06/2025</a:t>
            </a:fld>
            <a:endParaRPr lang="en-PK"/>
          </a:p>
        </p:txBody>
      </p:sp>
      <p:sp>
        <p:nvSpPr>
          <p:cNvPr id="5" name="Footer Placeholder 4">
            <a:extLst>
              <a:ext uri="{FF2B5EF4-FFF2-40B4-BE49-F238E27FC236}">
                <a16:creationId xmlns:a16="http://schemas.microsoft.com/office/drawing/2014/main" id="{4FD06234-7A7A-4EED-8F6D-3D8EBC2D1F0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PK"/>
          </a:p>
        </p:txBody>
      </p:sp>
      <p:sp>
        <p:nvSpPr>
          <p:cNvPr id="6" name="Slide Number Placeholder 5">
            <a:extLst>
              <a:ext uri="{FF2B5EF4-FFF2-40B4-BE49-F238E27FC236}">
                <a16:creationId xmlns:a16="http://schemas.microsoft.com/office/drawing/2014/main" id="{AA549BF4-1286-4C31-9FB5-ED9DDFE1E62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EB9F7D7-3C9C-4146-9FA1-B77DEB44278D}" type="slidenum">
              <a:rPr lang="en-PK" smtClean="0"/>
              <a:t>‹#›</a:t>
            </a:fld>
            <a:endParaRPr lang="en-PK"/>
          </a:p>
        </p:txBody>
      </p:sp>
    </p:spTree>
    <p:extLst>
      <p:ext uri="{BB962C8B-B14F-4D97-AF65-F5344CB8AC3E}">
        <p14:creationId xmlns:p14="http://schemas.microsoft.com/office/powerpoint/2010/main" val="40133889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4.png"/><Relationship Id="rId4" Type="http://schemas.openxmlformats.org/officeDocument/2006/relationships/image" Target="../media/image5.sv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4.png"/><Relationship Id="rId4" Type="http://schemas.openxmlformats.org/officeDocument/2006/relationships/image" Target="../media/image5.svg"/></Relationships>
</file>

<file path=ppt/slides/_rels/slide4.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4.png"/><Relationship Id="rId4" Type="http://schemas.openxmlformats.org/officeDocument/2006/relationships/image" Target="../media/image5.svg"/></Relationships>
</file>

<file path=ppt/slides/_rels/slide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7.svg"/><Relationship Id="rId11" Type="http://schemas.openxmlformats.org/officeDocument/2006/relationships/image" Target="../media/image9.png"/><Relationship Id="rId5" Type="http://schemas.openxmlformats.org/officeDocument/2006/relationships/image" Target="../media/image4.png"/><Relationship Id="rId10" Type="http://schemas.openxmlformats.org/officeDocument/2006/relationships/image" Target="../media/image8.png"/><Relationship Id="rId4" Type="http://schemas.openxmlformats.org/officeDocument/2006/relationships/image" Target="../media/image5.svg"/><Relationship Id="rId9" Type="http://schemas.openxmlformats.org/officeDocument/2006/relationships/image" Target="../media/image11.svg"/></Relationships>
</file>

<file path=ppt/slides/_rels/slide6.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png"/><Relationship Id="rId7" Type="http://schemas.openxmlformats.org/officeDocument/2006/relationships/image" Target="../media/image7.svg"/><Relationship Id="rId2" Type="http://schemas.openxmlformats.org/officeDocument/2006/relationships/image" Target="../media/image10.png"/><Relationship Id="rId1" Type="http://schemas.openxmlformats.org/officeDocument/2006/relationships/slideLayout" Target="../slideLayouts/slideLayout9.xml"/><Relationship Id="rId6" Type="http://schemas.openxmlformats.org/officeDocument/2006/relationships/image" Target="../media/image4.png"/><Relationship Id="rId5" Type="http://schemas.openxmlformats.org/officeDocument/2006/relationships/image" Target="../media/image5.sv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9.xml"/><Relationship Id="rId6" Type="http://schemas.openxmlformats.org/officeDocument/2006/relationships/image" Target="../media/image7.svg"/><Relationship Id="rId5" Type="http://schemas.openxmlformats.org/officeDocument/2006/relationships/image" Target="../media/image4.png"/><Relationship Id="rId4" Type="http://schemas.openxmlformats.org/officeDocument/2006/relationships/image" Target="../media/image5.svg"/></Relationships>
</file>

<file path=ppt/slides/_rels/slide8.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5.svg"/><Relationship Id="rId7" Type="http://schemas.openxmlformats.org/officeDocument/2006/relationships/image" Target="../media/image11.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image" Target="../media/image13.png"/><Relationship Id="rId5" Type="http://schemas.openxmlformats.org/officeDocument/2006/relationships/image" Target="../media/image7.svg"/><Relationship Id="rId10" Type="http://schemas.openxmlformats.org/officeDocument/2006/relationships/image" Target="../media/image12.png"/><Relationship Id="rId4" Type="http://schemas.openxmlformats.org/officeDocument/2006/relationships/image" Target="../media/image4.png"/><Relationship Id="rId9" Type="http://schemas.openxmlformats.org/officeDocument/2006/relationships/image" Target="../media/image11.svg"/></Relationships>
</file>

<file path=ppt/slides/_rels/slide9.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png"/><Relationship Id="rId7" Type="http://schemas.openxmlformats.org/officeDocument/2006/relationships/image" Target="../media/image7.svg"/><Relationship Id="rId2" Type="http://schemas.openxmlformats.org/officeDocument/2006/relationships/image" Target="../media/image14.png"/><Relationship Id="rId1" Type="http://schemas.openxmlformats.org/officeDocument/2006/relationships/slideLayout" Target="../slideLayouts/slideLayout9.xml"/><Relationship Id="rId6" Type="http://schemas.openxmlformats.org/officeDocument/2006/relationships/image" Target="../media/image4.png"/><Relationship Id="rId5" Type="http://schemas.openxmlformats.org/officeDocument/2006/relationships/image" Target="../media/image5.sv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4.png"/><Relationship Id="rId4" Type="http://schemas.openxmlformats.org/officeDocument/2006/relationships/image" Target="../media/image5.svg"/></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4.xml"/><Relationship Id="rId6" Type="http://schemas.openxmlformats.org/officeDocument/2006/relationships/image" Target="../media/image7.svg"/><Relationship Id="rId5" Type="http://schemas.openxmlformats.org/officeDocument/2006/relationships/image" Target="../media/image4.png"/><Relationship Id="rId4" Type="http://schemas.openxmlformats.org/officeDocument/2006/relationships/image" Target="../media/image5.sv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png"/><Relationship Id="rId7" Type="http://schemas.openxmlformats.org/officeDocument/2006/relationships/image" Target="../media/image7.svg"/><Relationship Id="rId2" Type="http://schemas.openxmlformats.org/officeDocument/2006/relationships/image" Target="../media/image18.png"/><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5.sv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4.png"/><Relationship Id="rId4" Type="http://schemas.openxmlformats.org/officeDocument/2006/relationships/image" Target="../media/image5.sv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4.png"/><Relationship Id="rId4" Type="http://schemas.openxmlformats.org/officeDocument/2006/relationships/image" Target="../media/image5.sv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4.png"/><Relationship Id="rId4" Type="http://schemas.openxmlformats.org/officeDocument/2006/relationships/image" Target="../media/image5.sv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4.png"/><Relationship Id="rId4" Type="http://schemas.openxmlformats.org/officeDocument/2006/relationships/image" Target="../media/image5.sv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4.png"/><Relationship Id="rId4" Type="http://schemas.openxmlformats.org/officeDocument/2006/relationships/image" Target="../media/image5.svg"/></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4.png"/><Relationship Id="rId4" Type="http://schemas.openxmlformats.org/officeDocument/2006/relationships/image" Target="../media/image5.svg"/></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4.png"/><Relationship Id="rId4" Type="http://schemas.openxmlformats.org/officeDocument/2006/relationships/image" Target="../media/image5.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BEF21E1-2D98-4671-AEAF-A201BC9C40D1}"/>
              </a:ext>
            </a:extLst>
          </p:cNvPr>
          <p:cNvSpPr/>
          <p:nvPr/>
        </p:nvSpPr>
        <p:spPr>
          <a:xfrm>
            <a:off x="0" y="0"/>
            <a:ext cx="12192000" cy="6858000"/>
          </a:xfrm>
          <a:prstGeom prst="rect">
            <a:avLst/>
          </a:prstGeom>
          <a:solidFill>
            <a:srgbClr val="D32A2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a:extLst>
              <a:ext uri="{FF2B5EF4-FFF2-40B4-BE49-F238E27FC236}">
                <a16:creationId xmlns:a16="http://schemas.microsoft.com/office/drawing/2014/main" id="{5946CD5F-621C-4899-B8C5-417BE3F1ECD0}"/>
              </a:ext>
            </a:extLst>
          </p:cNvPr>
          <p:cNvSpPr>
            <a:spLocks noGrp="1"/>
          </p:cNvSpPr>
          <p:nvPr>
            <p:ph type="ctrTitle"/>
          </p:nvPr>
        </p:nvSpPr>
        <p:spPr>
          <a:xfrm>
            <a:off x="847344" y="2448878"/>
            <a:ext cx="9137904" cy="1153160"/>
          </a:xfrm>
        </p:spPr>
        <p:txBody>
          <a:bodyPr>
            <a:normAutofit/>
          </a:bodyPr>
          <a:lstStyle/>
          <a:p>
            <a:pPr algn="l"/>
            <a:r>
              <a:rPr lang="en-US" b="1" dirty="0"/>
              <a:t>Psychology</a:t>
            </a:r>
            <a:endParaRPr lang="en-GB" dirty="0"/>
          </a:p>
        </p:txBody>
      </p:sp>
      <p:sp>
        <p:nvSpPr>
          <p:cNvPr id="3" name="Subtitle 2">
            <a:extLst>
              <a:ext uri="{FF2B5EF4-FFF2-40B4-BE49-F238E27FC236}">
                <a16:creationId xmlns:a16="http://schemas.microsoft.com/office/drawing/2014/main" id="{EC406DBB-5AF5-48F8-9377-D0A0ACE9B10B}"/>
              </a:ext>
            </a:extLst>
          </p:cNvPr>
          <p:cNvSpPr>
            <a:spLocks noGrp="1"/>
          </p:cNvSpPr>
          <p:nvPr>
            <p:ph type="subTitle" idx="1"/>
          </p:nvPr>
        </p:nvSpPr>
        <p:spPr>
          <a:xfrm>
            <a:off x="1030224" y="3602038"/>
            <a:ext cx="8955024" cy="1153160"/>
          </a:xfrm>
        </p:spPr>
        <p:txBody>
          <a:bodyPr>
            <a:noAutofit/>
          </a:bodyPr>
          <a:lstStyle/>
          <a:p>
            <a:pPr algn="l"/>
            <a:r>
              <a:rPr lang="en-GB" sz="1800" b="1" dirty="0">
                <a:solidFill>
                  <a:schemeClr val="bg1"/>
                </a:solidFill>
                <a:latin typeface="Bahnschrift" panose="020B0502040204020203" pitchFamily="34" charset="0"/>
              </a:rPr>
              <a:t>Definition and laws of perception</a:t>
            </a:r>
          </a:p>
          <a:p>
            <a:pPr algn="l"/>
            <a:r>
              <a:rPr lang="en-GB" sz="1800" b="1" dirty="0">
                <a:solidFill>
                  <a:schemeClr val="bg1"/>
                </a:solidFill>
                <a:latin typeface="Bahnschrift" panose="020B0502040204020203" pitchFamily="34" charset="0"/>
              </a:rPr>
              <a:t>Factors affection the perception</a:t>
            </a:r>
          </a:p>
          <a:p>
            <a:pPr marL="457200" indent="-457200" algn="l">
              <a:buFont typeface="Arial" panose="020B0604020202020204" pitchFamily="34" charset="0"/>
              <a:buChar char="•"/>
            </a:pPr>
            <a:endParaRPr lang="en-GB" sz="1800" b="1" dirty="0">
              <a:solidFill>
                <a:schemeClr val="bg1"/>
              </a:solidFill>
              <a:latin typeface="Bahnschrift" panose="020B0502040204020203" pitchFamily="34" charset="0"/>
            </a:endParaRPr>
          </a:p>
          <a:p>
            <a:pPr marL="457200" indent="-457200" algn="l">
              <a:buFont typeface="Arial" panose="020B0604020202020204" pitchFamily="34" charset="0"/>
              <a:buChar char="•"/>
            </a:pPr>
            <a:endParaRPr lang="en-GB" sz="1800" b="1" dirty="0">
              <a:solidFill>
                <a:schemeClr val="bg1"/>
              </a:solidFill>
              <a:latin typeface="Bahnschrift" panose="020B0502040204020203" pitchFamily="34" charset="0"/>
            </a:endParaRPr>
          </a:p>
          <a:p>
            <a:pPr marL="457200" indent="-457200" algn="l">
              <a:buFont typeface="Arial" panose="020B0604020202020204" pitchFamily="34" charset="0"/>
              <a:buChar char="•"/>
            </a:pPr>
            <a:endParaRPr lang="en-GB" sz="1800" b="1" dirty="0">
              <a:solidFill>
                <a:schemeClr val="bg1"/>
              </a:solidFill>
              <a:latin typeface="Bahnschrift" panose="020B0502040204020203" pitchFamily="34" charset="0"/>
            </a:endParaRPr>
          </a:p>
          <a:p>
            <a:pPr marL="457200" indent="-457200" algn="l">
              <a:buFont typeface="Arial" panose="020B0604020202020204" pitchFamily="34" charset="0"/>
              <a:buChar char="•"/>
            </a:pPr>
            <a:endParaRPr lang="en-GB" sz="1800" b="1" dirty="0">
              <a:solidFill>
                <a:schemeClr val="bg1"/>
              </a:solidFill>
              <a:latin typeface="Bahnschrift" panose="020B0502040204020203" pitchFamily="34" charset="0"/>
            </a:endParaRPr>
          </a:p>
          <a:p>
            <a:pPr algn="l"/>
            <a:r>
              <a:rPr lang="en-GB" sz="1800" b="1" dirty="0">
                <a:solidFill>
                  <a:schemeClr val="bg1"/>
                </a:solidFill>
                <a:latin typeface="Bahnschrift" panose="020B0502040204020203" pitchFamily="34" charset="0"/>
              </a:rPr>
              <a:t>Ms. Noreena Younas ( week 4</a:t>
            </a:r>
            <a:r>
              <a:rPr lang="en-GB" sz="1800" b="1">
                <a:solidFill>
                  <a:schemeClr val="bg1"/>
                </a:solidFill>
                <a:latin typeface="Bahnschrift" panose="020B0502040204020203" pitchFamily="34" charset="0"/>
              </a:rPr>
              <a:t>) </a:t>
            </a:r>
            <a:endParaRPr lang="en-GB" sz="1800" b="1" dirty="0">
              <a:solidFill>
                <a:schemeClr val="bg1"/>
              </a:solidFill>
              <a:latin typeface="Bahnschrift" panose="020B0502040204020203" pitchFamily="34" charset="0"/>
            </a:endParaRPr>
          </a:p>
          <a:p>
            <a:pPr algn="l"/>
            <a:endParaRPr lang="en-GB" sz="1800" b="1" dirty="0">
              <a:solidFill>
                <a:schemeClr val="bg1"/>
              </a:solidFill>
              <a:latin typeface="Bahnschrift" panose="020B0502040204020203" pitchFamily="34" charset="0"/>
            </a:endParaRPr>
          </a:p>
        </p:txBody>
      </p:sp>
      <p:sp>
        <p:nvSpPr>
          <p:cNvPr id="5" name="Subtitle 2">
            <a:extLst>
              <a:ext uri="{FF2B5EF4-FFF2-40B4-BE49-F238E27FC236}">
                <a16:creationId xmlns:a16="http://schemas.microsoft.com/office/drawing/2014/main" id="{6DA394B8-F89E-45AC-9E3F-FEC161BFAFAB}"/>
              </a:ext>
            </a:extLst>
          </p:cNvPr>
          <p:cNvSpPr txBox="1">
            <a:spLocks/>
          </p:cNvSpPr>
          <p:nvPr/>
        </p:nvSpPr>
        <p:spPr>
          <a:xfrm>
            <a:off x="1158240" y="5331778"/>
            <a:ext cx="2828544" cy="719138"/>
          </a:xfrm>
          <a:prstGeom prst="rect">
            <a:avLst/>
          </a:prstGeom>
          <a:noFill/>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GB" sz="2000" b="1" dirty="0">
              <a:latin typeface="Arial" panose="020B0604020202020204" pitchFamily="34" charset="0"/>
              <a:cs typeface="Arial" panose="020B0604020202020204" pitchFamily="34" charset="0"/>
            </a:endParaRPr>
          </a:p>
        </p:txBody>
      </p:sp>
      <p:pic>
        <p:nvPicPr>
          <p:cNvPr id="10" name="Graphic 9">
            <a:extLst>
              <a:ext uri="{FF2B5EF4-FFF2-40B4-BE49-F238E27FC236}">
                <a16:creationId xmlns:a16="http://schemas.microsoft.com/office/drawing/2014/main" id="{1C869FE1-C1C4-48A8-AA9E-99CAE025BEAF}"/>
              </a:ext>
            </a:extLst>
          </p:cNvPr>
          <p:cNvPicPr>
            <a:picLocks noChangeAspect="1"/>
          </p:cNvPicPr>
          <p:nvPr/>
        </p:nvPicPr>
        <p:blipFill>
          <a:blip r:embed="rId2">
            <a:extLst>
              <a:ext uri="{96DAC541-7B7A-43D3-8B79-37D633B846F1}">
                <asvg:svgBlip xmlns:asvg="http://schemas.microsoft.com/office/drawing/2016/SVG/main" xmlns="" r:embed="rId3"/>
              </a:ext>
            </a:extLst>
          </a:blip>
          <a:stretch>
            <a:fillRect/>
          </a:stretch>
        </p:blipFill>
        <p:spPr>
          <a:xfrm>
            <a:off x="8362283" y="0"/>
            <a:ext cx="3611690" cy="3611690"/>
          </a:xfrm>
          <a:prstGeom prst="rect">
            <a:avLst/>
          </a:prstGeom>
        </p:spPr>
      </p:pic>
    </p:spTree>
    <p:extLst>
      <p:ext uri="{BB962C8B-B14F-4D97-AF65-F5344CB8AC3E}">
        <p14:creationId xmlns:p14="http://schemas.microsoft.com/office/powerpoint/2010/main" val="5247964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5E409FE-0CBB-4EAD-8A22-C51F65DE1771}"/>
              </a:ext>
            </a:extLst>
          </p:cNvPr>
          <p:cNvSpPr>
            <a:spLocks noGrp="1"/>
          </p:cNvSpPr>
          <p:nvPr>
            <p:ph idx="1"/>
          </p:nvPr>
        </p:nvSpPr>
        <p:spPr/>
        <p:txBody>
          <a:bodyPr>
            <a:normAutofit/>
          </a:bodyPr>
          <a:lstStyle/>
          <a:p>
            <a:pPr marL="0" indent="0" algn="just">
              <a:buNone/>
            </a:pPr>
            <a:r>
              <a:rPr lang="en-US" sz="3200" b="1" dirty="0">
                <a:latin typeface="Times New Roman" panose="02020603050405020304" pitchFamily="18" charset="0"/>
                <a:ea typeface="Arial" charset="0"/>
                <a:cs typeface="Times New Roman" panose="02020603050405020304" pitchFamily="18" charset="0"/>
              </a:rPr>
              <a:t>What is Perception?</a:t>
            </a:r>
          </a:p>
          <a:p>
            <a:pPr marL="0" indent="0" algn="just">
              <a:buNone/>
            </a:pPr>
            <a:endParaRPr lang="en-US" dirty="0">
              <a:latin typeface="Times New Roman" panose="02020603050405020304" pitchFamily="18" charset="0"/>
              <a:ea typeface="Arial" charset="0"/>
              <a:cs typeface="Times New Roman" panose="02020603050405020304" pitchFamily="18" charset="0"/>
            </a:endParaRPr>
          </a:p>
          <a:p>
            <a:pPr marL="0" indent="0" algn="just">
              <a:buNone/>
            </a:pPr>
            <a:r>
              <a:rPr lang="en-US" dirty="0">
                <a:latin typeface="Times New Roman" panose="02020603050405020304" pitchFamily="18" charset="0"/>
                <a:ea typeface="Arial" charset="0"/>
                <a:cs typeface="Times New Roman" panose="02020603050405020304" pitchFamily="18" charset="0"/>
              </a:rPr>
              <a:t>Perception in psychology can be defined as the sensory experience of the world, which includes how an individual recognizes and interpreter sensory information. This also includes how one responds to those stimuli. Perception includes these senses: vision, touch, sound, smell, taste, and proprioception. </a:t>
            </a:r>
            <a:endParaRPr lang="en-US" dirty="0">
              <a:latin typeface="Arial" charset="0"/>
              <a:ea typeface="Arial" charset="0"/>
              <a:cs typeface="Arial" charset="0"/>
            </a:endParaRPr>
          </a:p>
          <a:p>
            <a:pPr marL="0" indent="0">
              <a:buNone/>
            </a:pPr>
            <a:r>
              <a:rPr lang="en-US" sz="2800" dirty="0">
                <a:latin typeface="Arial" charset="0"/>
                <a:ea typeface="Arial" charset="0"/>
                <a:cs typeface="Arial" charset="0"/>
              </a:rPr>
              <a:t>.</a:t>
            </a:r>
          </a:p>
        </p:txBody>
      </p:sp>
      <p:grpSp>
        <p:nvGrpSpPr>
          <p:cNvPr id="8" name="Group 7">
            <a:extLst>
              <a:ext uri="{FF2B5EF4-FFF2-40B4-BE49-F238E27FC236}">
                <a16:creationId xmlns:a16="http://schemas.microsoft.com/office/drawing/2014/main" id="{BAEFE420-0C07-4D1B-9094-F2C452FF1011}"/>
              </a:ext>
            </a:extLst>
          </p:cNvPr>
          <p:cNvGrpSpPr/>
          <p:nvPr/>
        </p:nvGrpSpPr>
        <p:grpSpPr>
          <a:xfrm>
            <a:off x="0" y="0"/>
            <a:ext cx="12749348" cy="1115736"/>
            <a:chOff x="0" y="0"/>
            <a:chExt cx="12749348" cy="1115736"/>
          </a:xfrm>
        </p:grpSpPr>
        <p:sp>
          <p:nvSpPr>
            <p:cNvPr id="9" name="Rectangle 8">
              <a:extLst>
                <a:ext uri="{FF2B5EF4-FFF2-40B4-BE49-F238E27FC236}">
                  <a16:creationId xmlns:a16="http://schemas.microsoft.com/office/drawing/2014/main" id="{6FBB4837-678E-4FCE-A1B7-2AE1B9432890}"/>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pic>
          <p:nvPicPr>
            <p:cNvPr id="10" name="Picture 9">
              <a:extLst>
                <a:ext uri="{FF2B5EF4-FFF2-40B4-BE49-F238E27FC236}">
                  <a16:creationId xmlns:a16="http://schemas.microsoft.com/office/drawing/2014/main" id="{D279BBF0-3F01-4944-AF8F-73A34B5B9CEF}"/>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1" name="TextBox 10">
              <a:extLst>
                <a:ext uri="{FF2B5EF4-FFF2-40B4-BE49-F238E27FC236}">
                  <a16:creationId xmlns:a16="http://schemas.microsoft.com/office/drawing/2014/main" id="{650112A7-3B60-423A-8682-3EC1CCAA7ABE}"/>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12" name="Graphic 11">
              <a:extLst>
                <a:ext uri="{FF2B5EF4-FFF2-40B4-BE49-F238E27FC236}">
                  <a16:creationId xmlns:a16="http://schemas.microsoft.com/office/drawing/2014/main" id="{75FFEA7F-8809-458D-BE80-99F7CFB965CA}"/>
                </a:ext>
              </a:extLst>
            </p:cNvPr>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9906056" y="403986"/>
              <a:ext cx="261610" cy="261610"/>
            </a:xfrm>
            <a:prstGeom prst="rect">
              <a:avLst/>
            </a:prstGeom>
          </p:spPr>
        </p:pic>
        <p:sp>
          <p:nvSpPr>
            <p:cNvPr id="13" name="TextBox 12">
              <a:extLst>
                <a:ext uri="{FF2B5EF4-FFF2-40B4-BE49-F238E27FC236}">
                  <a16:creationId xmlns:a16="http://schemas.microsoft.com/office/drawing/2014/main" id="{B3F075CD-8CB0-4BD0-B756-BA559BF9DF2D}"/>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4" name="Graphic 13">
              <a:extLst>
                <a:ext uri="{FF2B5EF4-FFF2-40B4-BE49-F238E27FC236}">
                  <a16:creationId xmlns:a16="http://schemas.microsoft.com/office/drawing/2014/main" id="{ACED766F-A0E3-4D45-8A6E-86CCFAFA5D96}"/>
                </a:ext>
              </a:extLst>
            </p:cNvPr>
            <p:cNvPicPr>
              <a:picLocks noChangeAspect="1"/>
            </p:cNvPicPr>
            <p:nvPr/>
          </p:nvPicPr>
          <p:blipFill>
            <a:blip r:embed="rId5">
              <a:extLst>
                <a:ext uri="{96DAC541-7B7A-43D3-8B79-37D633B846F1}">
                  <asvg:svgBlip xmlns:asvg="http://schemas.microsoft.com/office/drawing/2016/SVG/main" xmlns="" r:embed="rId6"/>
                </a:ext>
              </a:extLst>
            </a:blip>
            <a:stretch>
              <a:fillRect/>
            </a:stretch>
          </p:blipFill>
          <p:spPr>
            <a:xfrm>
              <a:off x="10591033" y="741997"/>
              <a:ext cx="171450" cy="171450"/>
            </a:xfrm>
            <a:prstGeom prst="rect">
              <a:avLst/>
            </a:prstGeom>
          </p:spPr>
        </p:pic>
        <p:pic>
          <p:nvPicPr>
            <p:cNvPr id="15" name="Picture 14">
              <a:extLst>
                <a:ext uri="{FF2B5EF4-FFF2-40B4-BE49-F238E27FC236}">
                  <a16:creationId xmlns:a16="http://schemas.microsoft.com/office/drawing/2014/main" id="{F83660F3-45D1-4CA0-BE2A-E7E6C1B794A4}"/>
                </a:ext>
              </a:extLst>
            </p:cNvPr>
            <p:cNvPicPr>
              <a:picLocks noChangeAspect="1"/>
            </p:cNvPicPr>
            <p:nvPr/>
          </p:nvPicPr>
          <p:blipFill>
            <a:blip r:embed="rId7"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p14="http://schemas.microsoft.com/office/powerpoint/2010/main" val="14385840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5E409FE-0CBB-4EAD-8A22-C51F65DE1771}"/>
              </a:ext>
            </a:extLst>
          </p:cNvPr>
          <p:cNvSpPr>
            <a:spLocks noGrp="1"/>
          </p:cNvSpPr>
          <p:nvPr>
            <p:ph idx="1"/>
          </p:nvPr>
        </p:nvSpPr>
        <p:spPr>
          <a:xfrm>
            <a:off x="496389" y="1724297"/>
            <a:ext cx="10857411" cy="4452666"/>
          </a:xfrm>
        </p:spPr>
        <p:txBody>
          <a:bodyPr>
            <a:normAutofit fontScale="92500" lnSpcReduction="20000"/>
          </a:bodyPr>
          <a:lstStyle/>
          <a:p>
            <a:pPr marL="0" indent="0" algn="just">
              <a:buNone/>
            </a:pPr>
            <a:r>
              <a:rPr lang="en-US" sz="3300" b="1" dirty="0">
                <a:latin typeface="Times New Roman" panose="02020603050405020304" pitchFamily="18" charset="0"/>
                <a:ea typeface="Arial" charset="0"/>
                <a:cs typeface="Times New Roman" panose="02020603050405020304" pitchFamily="18" charset="0"/>
              </a:rPr>
              <a:t>Importance of Perception</a:t>
            </a:r>
          </a:p>
          <a:p>
            <a:pPr marL="0" indent="0" algn="just">
              <a:buNone/>
            </a:pPr>
            <a:r>
              <a:rPr lang="en-US" sz="3100" dirty="0">
                <a:latin typeface="Times New Roman" panose="02020603050405020304" pitchFamily="18" charset="0"/>
                <a:ea typeface="Arial" charset="0"/>
                <a:cs typeface="Times New Roman" panose="02020603050405020304" pitchFamily="18" charset="0"/>
              </a:rPr>
              <a:t>Perception is the way individuals recognize and interpret the environment. It is necessary for survival. For example, when one is walking on the street, an accurate and efficient perception of an out-of-control car that is speeding toward them will help them escape from possible injuries from getting hit. In this example, it involves the ability to see and hear the car and maybe people around shouting for the individual's </a:t>
            </a:r>
            <a:r>
              <a:rPr lang="en-US" sz="3100" dirty="0" err="1" smtClean="0">
                <a:latin typeface="Times New Roman" panose="02020603050405020304" pitchFamily="18" charset="0"/>
                <a:ea typeface="Arial" charset="0"/>
                <a:cs typeface="Times New Roman" panose="02020603050405020304" pitchFamily="18" charset="0"/>
              </a:rPr>
              <a:t>attention.Then</a:t>
            </a:r>
            <a:r>
              <a:rPr lang="en-US" sz="3100" dirty="0" smtClean="0">
                <a:latin typeface="Times New Roman" panose="02020603050405020304" pitchFamily="18" charset="0"/>
                <a:ea typeface="Arial" charset="0"/>
                <a:cs typeface="Times New Roman" panose="02020603050405020304" pitchFamily="18" charset="0"/>
              </a:rPr>
              <a:t> </a:t>
            </a:r>
            <a:r>
              <a:rPr lang="en-US" sz="3100" dirty="0">
                <a:latin typeface="Times New Roman" panose="02020603050405020304" pitchFamily="18" charset="0"/>
                <a:ea typeface="Arial" charset="0"/>
                <a:cs typeface="Times New Roman" panose="02020603050405020304" pitchFamily="18" charset="0"/>
              </a:rPr>
              <a:t>it requires the individual to put together all the perceptions of the car and derive meaning from them, </a:t>
            </a:r>
            <a:r>
              <a:rPr lang="en-US" sz="3100" dirty="0" err="1">
                <a:latin typeface="Times New Roman" panose="02020603050405020304" pitchFamily="18" charset="0"/>
                <a:ea typeface="Arial" charset="0"/>
                <a:cs typeface="Times New Roman" panose="02020603050405020304" pitchFamily="18" charset="0"/>
              </a:rPr>
              <a:t>ie</a:t>
            </a:r>
            <a:r>
              <a:rPr lang="en-US" sz="3100" dirty="0">
                <a:latin typeface="Times New Roman" panose="02020603050405020304" pitchFamily="18" charset="0"/>
                <a:ea typeface="Arial" charset="0"/>
                <a:cs typeface="Times New Roman" panose="02020603050405020304" pitchFamily="18" charset="0"/>
              </a:rPr>
              <a:t>. they should escape and stay away from the car. The individual will end up in danger if some of these skills are lacking. </a:t>
            </a:r>
          </a:p>
          <a:p>
            <a:pPr marL="0" indent="0">
              <a:buNone/>
            </a:pPr>
            <a:r>
              <a:rPr lang="en-US" sz="3100" dirty="0">
                <a:latin typeface="Times New Roman" panose="02020603050405020304" pitchFamily="18" charset="0"/>
                <a:ea typeface="Arial" charset="0"/>
                <a:cs typeface="Times New Roman" panose="02020603050405020304" pitchFamily="18" charset="0"/>
              </a:rPr>
              <a:t>.</a:t>
            </a:r>
          </a:p>
        </p:txBody>
      </p:sp>
      <p:grpSp>
        <p:nvGrpSpPr>
          <p:cNvPr id="8" name="Group 7">
            <a:extLst>
              <a:ext uri="{FF2B5EF4-FFF2-40B4-BE49-F238E27FC236}">
                <a16:creationId xmlns:a16="http://schemas.microsoft.com/office/drawing/2014/main" id="{BAEFE420-0C07-4D1B-9094-F2C452FF1011}"/>
              </a:ext>
            </a:extLst>
          </p:cNvPr>
          <p:cNvGrpSpPr/>
          <p:nvPr/>
        </p:nvGrpSpPr>
        <p:grpSpPr>
          <a:xfrm>
            <a:off x="0" y="0"/>
            <a:ext cx="12749348" cy="1115736"/>
            <a:chOff x="0" y="0"/>
            <a:chExt cx="12749348" cy="1115736"/>
          </a:xfrm>
        </p:grpSpPr>
        <p:sp>
          <p:nvSpPr>
            <p:cNvPr id="9" name="Rectangle 8">
              <a:extLst>
                <a:ext uri="{FF2B5EF4-FFF2-40B4-BE49-F238E27FC236}">
                  <a16:creationId xmlns:a16="http://schemas.microsoft.com/office/drawing/2014/main" id="{6FBB4837-678E-4FCE-A1B7-2AE1B9432890}"/>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pic>
          <p:nvPicPr>
            <p:cNvPr id="10" name="Picture 9">
              <a:extLst>
                <a:ext uri="{FF2B5EF4-FFF2-40B4-BE49-F238E27FC236}">
                  <a16:creationId xmlns:a16="http://schemas.microsoft.com/office/drawing/2014/main" id="{D279BBF0-3F01-4944-AF8F-73A34B5B9CEF}"/>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1" name="TextBox 10">
              <a:extLst>
                <a:ext uri="{FF2B5EF4-FFF2-40B4-BE49-F238E27FC236}">
                  <a16:creationId xmlns:a16="http://schemas.microsoft.com/office/drawing/2014/main" id="{650112A7-3B60-423A-8682-3EC1CCAA7ABE}"/>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12" name="Graphic 11">
              <a:extLst>
                <a:ext uri="{FF2B5EF4-FFF2-40B4-BE49-F238E27FC236}">
                  <a16:creationId xmlns:a16="http://schemas.microsoft.com/office/drawing/2014/main" id="{75FFEA7F-8809-458D-BE80-99F7CFB965CA}"/>
                </a:ext>
              </a:extLst>
            </p:cNvPr>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9906056" y="403986"/>
              <a:ext cx="261610" cy="261610"/>
            </a:xfrm>
            <a:prstGeom prst="rect">
              <a:avLst/>
            </a:prstGeom>
          </p:spPr>
        </p:pic>
        <p:sp>
          <p:nvSpPr>
            <p:cNvPr id="13" name="TextBox 12">
              <a:extLst>
                <a:ext uri="{FF2B5EF4-FFF2-40B4-BE49-F238E27FC236}">
                  <a16:creationId xmlns:a16="http://schemas.microsoft.com/office/drawing/2014/main" id="{B3F075CD-8CB0-4BD0-B756-BA559BF9DF2D}"/>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4" name="Graphic 13">
              <a:extLst>
                <a:ext uri="{FF2B5EF4-FFF2-40B4-BE49-F238E27FC236}">
                  <a16:creationId xmlns:a16="http://schemas.microsoft.com/office/drawing/2014/main" id="{ACED766F-A0E3-4D45-8A6E-86CCFAFA5D96}"/>
                </a:ext>
              </a:extLst>
            </p:cNvPr>
            <p:cNvPicPr>
              <a:picLocks noChangeAspect="1"/>
            </p:cNvPicPr>
            <p:nvPr/>
          </p:nvPicPr>
          <p:blipFill>
            <a:blip r:embed="rId5">
              <a:extLst>
                <a:ext uri="{96DAC541-7B7A-43D3-8B79-37D633B846F1}">
                  <asvg:svgBlip xmlns:asvg="http://schemas.microsoft.com/office/drawing/2016/SVG/main" xmlns="" r:embed="rId6"/>
                </a:ext>
              </a:extLst>
            </a:blip>
            <a:stretch>
              <a:fillRect/>
            </a:stretch>
          </p:blipFill>
          <p:spPr>
            <a:xfrm>
              <a:off x="10591033" y="741997"/>
              <a:ext cx="171450" cy="171450"/>
            </a:xfrm>
            <a:prstGeom prst="rect">
              <a:avLst/>
            </a:prstGeom>
          </p:spPr>
        </p:pic>
        <p:pic>
          <p:nvPicPr>
            <p:cNvPr id="15" name="Picture 14">
              <a:extLst>
                <a:ext uri="{FF2B5EF4-FFF2-40B4-BE49-F238E27FC236}">
                  <a16:creationId xmlns:a16="http://schemas.microsoft.com/office/drawing/2014/main" id="{F83660F3-45D1-4CA0-BE2A-E7E6C1B794A4}"/>
                </a:ext>
              </a:extLst>
            </p:cNvPr>
            <p:cNvPicPr>
              <a:picLocks noChangeAspect="1"/>
            </p:cNvPicPr>
            <p:nvPr/>
          </p:nvPicPr>
          <p:blipFill>
            <a:blip r:embed="rId7"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p14="http://schemas.microsoft.com/office/powerpoint/2010/main" val="23652946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5E409FE-0CBB-4EAD-8A22-C51F65DE1771}"/>
              </a:ext>
            </a:extLst>
          </p:cNvPr>
          <p:cNvSpPr>
            <a:spLocks noGrp="1"/>
          </p:cNvSpPr>
          <p:nvPr>
            <p:ph idx="1"/>
          </p:nvPr>
        </p:nvSpPr>
        <p:spPr>
          <a:xfrm>
            <a:off x="838200" y="1825625"/>
            <a:ext cx="5028344" cy="4351338"/>
          </a:xfrm>
        </p:spPr>
        <p:txBody>
          <a:bodyPr>
            <a:normAutofit fontScale="92500" lnSpcReduction="20000"/>
          </a:bodyPr>
          <a:lstStyle/>
          <a:p>
            <a:pPr algn="l"/>
            <a:r>
              <a:rPr lang="en-US" b="1" i="0" dirty="0">
                <a:solidFill>
                  <a:srgbClr val="FFFFFF"/>
                </a:solidFill>
                <a:effectLst/>
                <a:latin typeface="gilroySemibold"/>
              </a:rPr>
              <a:t>1. Law of Similarity</a:t>
            </a:r>
            <a:endParaRPr lang="en-US" b="0" i="0" dirty="0">
              <a:solidFill>
                <a:srgbClr val="FFFFFF"/>
              </a:solidFill>
              <a:effectLst/>
              <a:latin typeface="gilroySemibold"/>
            </a:endParaRPr>
          </a:p>
          <a:p>
            <a:pPr marL="0" indent="0">
              <a:buNone/>
            </a:pPr>
            <a:r>
              <a:rPr lang="en-US" sz="1600" b="1" i="0" dirty="0">
                <a:solidFill>
                  <a:srgbClr val="FFFFFF"/>
                </a:solidFill>
                <a:effectLst/>
                <a:latin typeface="gilroySemibold"/>
              </a:rPr>
              <a:t>1. Law of Similarity</a:t>
            </a:r>
            <a:endParaRPr lang="en-US" sz="1600" b="0" i="0" dirty="0">
              <a:solidFill>
                <a:srgbClr val="FFFFFF"/>
              </a:solidFill>
              <a:effectLst/>
              <a:latin typeface="gilroySemibold"/>
            </a:endParaRPr>
          </a:p>
          <a:p>
            <a:pPr marL="0" indent="0" algn="l">
              <a:buNone/>
            </a:pPr>
            <a:r>
              <a:rPr lang="en-US" sz="3000" b="1" i="0" dirty="0">
                <a:effectLst/>
                <a:latin typeface="Times New Roman" panose="02020603050405020304" pitchFamily="18" charset="0"/>
                <a:cs typeface="Times New Roman" panose="02020603050405020304" pitchFamily="18" charset="0"/>
              </a:rPr>
              <a:t>1. Law of Similarity</a:t>
            </a:r>
          </a:p>
          <a:p>
            <a:pPr algn="l"/>
            <a:r>
              <a:rPr lang="en-US" sz="2600" b="0" i="0" dirty="0">
                <a:effectLst/>
                <a:latin typeface="Times New Roman" panose="02020603050405020304" pitchFamily="18" charset="0"/>
                <a:cs typeface="Times New Roman" panose="02020603050405020304" pitchFamily="18" charset="0"/>
              </a:rPr>
              <a:t>This principle states that similar objects on the interface are often considered as a part of the same group, by the human eye. It is achieved by using similar shapes, sizes, or colors. It enables the user to figure out the functionality behind the various interface elements.</a:t>
            </a:r>
          </a:p>
          <a:p>
            <a:pPr marL="0" indent="0">
              <a:buNone/>
            </a:pPr>
            <a:endParaRPr lang="en-US" sz="2600" dirty="0">
              <a:latin typeface="Arial" charset="0"/>
              <a:ea typeface="Arial" charset="0"/>
              <a:cs typeface="Arial" charset="0"/>
            </a:endParaRPr>
          </a:p>
          <a:p>
            <a:pPr marL="0" indent="0">
              <a:buNone/>
            </a:pPr>
            <a:r>
              <a:rPr lang="en-US" sz="2800" dirty="0">
                <a:latin typeface="Arial" charset="0"/>
                <a:ea typeface="Arial" charset="0"/>
                <a:cs typeface="Arial" charset="0"/>
              </a:rPr>
              <a:t>.</a:t>
            </a:r>
          </a:p>
        </p:txBody>
      </p:sp>
      <p:grpSp>
        <p:nvGrpSpPr>
          <p:cNvPr id="8" name="Group 7">
            <a:extLst>
              <a:ext uri="{FF2B5EF4-FFF2-40B4-BE49-F238E27FC236}">
                <a16:creationId xmlns:a16="http://schemas.microsoft.com/office/drawing/2014/main" id="{BAEFE420-0C07-4D1B-9094-F2C452FF1011}"/>
              </a:ext>
            </a:extLst>
          </p:cNvPr>
          <p:cNvGrpSpPr/>
          <p:nvPr/>
        </p:nvGrpSpPr>
        <p:grpSpPr>
          <a:xfrm>
            <a:off x="0" y="0"/>
            <a:ext cx="12749348" cy="1115736"/>
            <a:chOff x="0" y="0"/>
            <a:chExt cx="12749348" cy="1115736"/>
          </a:xfrm>
        </p:grpSpPr>
        <p:sp>
          <p:nvSpPr>
            <p:cNvPr id="9" name="Rectangle 8">
              <a:extLst>
                <a:ext uri="{FF2B5EF4-FFF2-40B4-BE49-F238E27FC236}">
                  <a16:creationId xmlns:a16="http://schemas.microsoft.com/office/drawing/2014/main" id="{6FBB4837-678E-4FCE-A1B7-2AE1B9432890}"/>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pic>
          <p:nvPicPr>
            <p:cNvPr id="10" name="Picture 9">
              <a:extLst>
                <a:ext uri="{FF2B5EF4-FFF2-40B4-BE49-F238E27FC236}">
                  <a16:creationId xmlns:a16="http://schemas.microsoft.com/office/drawing/2014/main" id="{D279BBF0-3F01-4944-AF8F-73A34B5B9CEF}"/>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1" name="TextBox 10">
              <a:extLst>
                <a:ext uri="{FF2B5EF4-FFF2-40B4-BE49-F238E27FC236}">
                  <a16:creationId xmlns:a16="http://schemas.microsoft.com/office/drawing/2014/main" id="{650112A7-3B60-423A-8682-3EC1CCAA7ABE}"/>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12" name="Graphic 11">
              <a:extLst>
                <a:ext uri="{FF2B5EF4-FFF2-40B4-BE49-F238E27FC236}">
                  <a16:creationId xmlns:a16="http://schemas.microsoft.com/office/drawing/2014/main" id="{75FFEA7F-8809-458D-BE80-99F7CFB965CA}"/>
                </a:ext>
              </a:extLst>
            </p:cNvPr>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9906056" y="403986"/>
              <a:ext cx="261610" cy="261610"/>
            </a:xfrm>
            <a:prstGeom prst="rect">
              <a:avLst/>
            </a:prstGeom>
          </p:spPr>
        </p:pic>
        <p:sp>
          <p:nvSpPr>
            <p:cNvPr id="13" name="TextBox 12">
              <a:extLst>
                <a:ext uri="{FF2B5EF4-FFF2-40B4-BE49-F238E27FC236}">
                  <a16:creationId xmlns:a16="http://schemas.microsoft.com/office/drawing/2014/main" id="{B3F075CD-8CB0-4BD0-B756-BA559BF9DF2D}"/>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4" name="Graphic 13">
              <a:extLst>
                <a:ext uri="{FF2B5EF4-FFF2-40B4-BE49-F238E27FC236}">
                  <a16:creationId xmlns:a16="http://schemas.microsoft.com/office/drawing/2014/main" id="{ACED766F-A0E3-4D45-8A6E-86CCFAFA5D96}"/>
                </a:ext>
              </a:extLst>
            </p:cNvPr>
            <p:cNvPicPr>
              <a:picLocks noChangeAspect="1"/>
            </p:cNvPicPr>
            <p:nvPr/>
          </p:nvPicPr>
          <p:blipFill>
            <a:blip r:embed="rId5">
              <a:extLst>
                <a:ext uri="{96DAC541-7B7A-43D3-8B79-37D633B846F1}">
                  <asvg:svgBlip xmlns:asvg="http://schemas.microsoft.com/office/drawing/2016/SVG/main" xmlns="" r:embed="rId6"/>
                </a:ext>
              </a:extLst>
            </a:blip>
            <a:stretch>
              <a:fillRect/>
            </a:stretch>
          </p:blipFill>
          <p:spPr>
            <a:xfrm>
              <a:off x="10591033" y="741997"/>
              <a:ext cx="171450" cy="171450"/>
            </a:xfrm>
            <a:prstGeom prst="rect">
              <a:avLst/>
            </a:prstGeom>
          </p:spPr>
        </p:pic>
        <p:pic>
          <p:nvPicPr>
            <p:cNvPr id="15" name="Picture 14">
              <a:extLst>
                <a:ext uri="{FF2B5EF4-FFF2-40B4-BE49-F238E27FC236}">
                  <a16:creationId xmlns:a16="http://schemas.microsoft.com/office/drawing/2014/main" id="{F83660F3-45D1-4CA0-BE2A-E7E6C1B794A4}"/>
                </a:ext>
              </a:extLst>
            </p:cNvPr>
            <p:cNvPicPr>
              <a:picLocks noChangeAspect="1"/>
            </p:cNvPicPr>
            <p:nvPr/>
          </p:nvPicPr>
          <p:blipFill>
            <a:blip r:embed="rId7"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pic>
        <p:nvPicPr>
          <p:cNvPr id="2" name="Picture 1">
            <a:extLst>
              <a:ext uri="{FF2B5EF4-FFF2-40B4-BE49-F238E27FC236}">
                <a16:creationId xmlns:a16="http://schemas.microsoft.com/office/drawing/2014/main" id="{AD44B445-F194-93F4-B624-86353771A0F5}"/>
              </a:ext>
            </a:extLst>
          </p:cNvPr>
          <p:cNvPicPr>
            <a:picLocks noChangeAspect="1"/>
          </p:cNvPicPr>
          <p:nvPr/>
        </p:nvPicPr>
        <p:blipFill>
          <a:blip r:embed="rId8"/>
          <a:stretch>
            <a:fillRect/>
          </a:stretch>
        </p:blipFill>
        <p:spPr>
          <a:xfrm>
            <a:off x="6565186" y="1145455"/>
            <a:ext cx="5626813" cy="5457769"/>
          </a:xfrm>
          <a:prstGeom prst="rect">
            <a:avLst/>
          </a:prstGeom>
        </p:spPr>
      </p:pic>
    </p:spTree>
    <p:extLst>
      <p:ext uri="{BB962C8B-B14F-4D97-AF65-F5344CB8AC3E}">
        <p14:creationId xmlns:p14="http://schemas.microsoft.com/office/powerpoint/2010/main" val="18672887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FF7170C3-FB1F-4CF8-A115-23304150A008}"/>
              </a:ext>
            </a:extLst>
          </p:cNvPr>
          <p:cNvSpPr>
            <a:spLocks noGrp="1"/>
          </p:cNvSpPr>
          <p:nvPr>
            <p:ph idx="1"/>
          </p:nvPr>
        </p:nvSpPr>
        <p:spPr>
          <a:xfrm>
            <a:off x="906011" y="1519723"/>
            <a:ext cx="5022178" cy="4581740"/>
          </a:xfrm>
        </p:spPr>
        <p:txBody>
          <a:bodyPr>
            <a:normAutofit/>
          </a:bodyPr>
          <a:lstStyle/>
          <a:p>
            <a:pPr marL="0" indent="0">
              <a:buNone/>
            </a:pPr>
            <a:r>
              <a:rPr lang="en-US" b="1" dirty="0">
                <a:latin typeface="Times New Roman" panose="02020603050405020304" pitchFamily="18" charset="0"/>
                <a:ea typeface="Arial" charset="0"/>
                <a:cs typeface="Times New Roman" panose="02020603050405020304" pitchFamily="18" charset="0"/>
              </a:rPr>
              <a:t>Law of Similarity</a:t>
            </a:r>
          </a:p>
          <a:p>
            <a:pPr marL="0" indent="0">
              <a:buNone/>
            </a:pPr>
            <a:endParaRPr lang="en-US" b="1" dirty="0">
              <a:latin typeface="Times New Roman" panose="02020603050405020304" pitchFamily="18" charset="0"/>
              <a:ea typeface="Arial" charset="0"/>
              <a:cs typeface="Times New Roman" panose="02020603050405020304" pitchFamily="18" charset="0"/>
            </a:endParaRPr>
          </a:p>
          <a:p>
            <a:pPr marL="0" indent="0">
              <a:buNone/>
            </a:pPr>
            <a:r>
              <a:rPr lang="en-US" sz="2000" dirty="0" smtClean="0">
                <a:latin typeface="Times New Roman" panose="02020603050405020304" pitchFamily="18" charset="0"/>
                <a:ea typeface="Arial" charset="0"/>
                <a:cs typeface="Times New Roman" panose="02020603050405020304" pitchFamily="18" charset="0"/>
              </a:rPr>
              <a:t>e.g. </a:t>
            </a:r>
            <a:r>
              <a:rPr lang="en-US" sz="2000" dirty="0">
                <a:latin typeface="Times New Roman" panose="02020603050405020304" pitchFamily="18" charset="0"/>
                <a:ea typeface="Arial" charset="0"/>
                <a:cs typeface="Times New Roman" panose="02020603050405020304" pitchFamily="18" charset="0"/>
              </a:rPr>
              <a:t>If you look closely, you will see that the smiley face is made of individual characters. We are able to see each of the eyes and the mouth because they are made of similar characters that we combine in our minds using the law of the similarity. </a:t>
            </a:r>
          </a:p>
          <a:p>
            <a:pPr marL="0" indent="0">
              <a:buNone/>
            </a:pPr>
            <a:endParaRPr lang="en-US" sz="2000" dirty="0">
              <a:latin typeface="Times New Roman" panose="02020603050405020304" pitchFamily="18" charset="0"/>
              <a:ea typeface="Arial" charset="0"/>
              <a:cs typeface="Times New Roman" panose="02020603050405020304" pitchFamily="18" charset="0"/>
            </a:endParaRPr>
          </a:p>
          <a:p>
            <a:pPr marL="0" indent="0">
              <a:buNone/>
            </a:pPr>
            <a:r>
              <a:rPr lang="en-US" sz="2000" dirty="0" err="1">
                <a:latin typeface="Times New Roman" panose="02020603050405020304" pitchFamily="18" charset="0"/>
                <a:ea typeface="Arial" charset="0"/>
                <a:cs typeface="Times New Roman" panose="02020603050405020304" pitchFamily="18" charset="0"/>
              </a:rPr>
              <a:t>e.g</a:t>
            </a:r>
            <a:r>
              <a:rPr lang="en-US" sz="2000" dirty="0">
                <a:latin typeface="Times New Roman" panose="02020603050405020304" pitchFamily="18" charset="0"/>
                <a:ea typeface="Arial" charset="0"/>
                <a:cs typeface="Times New Roman" panose="02020603050405020304" pitchFamily="18" charset="0"/>
              </a:rPr>
              <a:t> Birds of the same feather stick together</a:t>
            </a:r>
          </a:p>
          <a:p>
            <a:pPr marL="0" indent="0">
              <a:buNone/>
            </a:pPr>
            <a:r>
              <a:rPr lang="en-US" sz="2000" b="0" i="0" dirty="0">
                <a:solidFill>
                  <a:srgbClr val="FFFFFF"/>
                </a:solidFill>
                <a:effectLst/>
                <a:latin typeface="Google Sans"/>
              </a:rPr>
              <a:t>Birds of the same feather stick </a:t>
            </a:r>
            <a:r>
              <a:rPr lang="en-US" sz="2000" b="0" i="0" dirty="0" err="1">
                <a:solidFill>
                  <a:srgbClr val="FFFFFF"/>
                </a:solidFill>
                <a:effectLst/>
                <a:latin typeface="Google Sans"/>
              </a:rPr>
              <a:t>togetherBirds</a:t>
            </a:r>
            <a:r>
              <a:rPr lang="en-US" sz="2000" b="0" i="0" dirty="0">
                <a:solidFill>
                  <a:srgbClr val="FFFFFF"/>
                </a:solidFill>
                <a:effectLst/>
                <a:latin typeface="Google Sans"/>
              </a:rPr>
              <a:t> of the same feather stick </a:t>
            </a:r>
            <a:r>
              <a:rPr lang="en-US" sz="2000" b="0" i="0" dirty="0" err="1">
                <a:solidFill>
                  <a:srgbClr val="FFFFFF"/>
                </a:solidFill>
                <a:effectLst/>
                <a:latin typeface="Google Sans"/>
              </a:rPr>
              <a:t>togetherBirds</a:t>
            </a:r>
            <a:r>
              <a:rPr lang="en-US" sz="2000" b="0" i="0" dirty="0">
                <a:solidFill>
                  <a:srgbClr val="FFFFFF"/>
                </a:solidFill>
                <a:effectLst/>
                <a:latin typeface="Google Sans"/>
              </a:rPr>
              <a:t> of the same </a:t>
            </a:r>
            <a:r>
              <a:rPr lang="en-US" sz="1100" b="0" i="0" dirty="0">
                <a:solidFill>
                  <a:srgbClr val="FFFFFF"/>
                </a:solidFill>
                <a:effectLst/>
                <a:latin typeface="Google Sans"/>
              </a:rPr>
              <a:t>feather stick together</a:t>
            </a:r>
            <a:endParaRPr lang="en-GB" sz="1600" dirty="0">
              <a:latin typeface="Times New Roman" panose="02020603050405020304" pitchFamily="18" charset="0"/>
              <a:ea typeface="Arial" charset="0"/>
              <a:cs typeface="Times New Roman" panose="02020603050405020304" pitchFamily="18" charset="0"/>
            </a:endParaRPr>
          </a:p>
        </p:txBody>
      </p:sp>
      <p:grpSp>
        <p:nvGrpSpPr>
          <p:cNvPr id="11" name="Group 10">
            <a:extLst>
              <a:ext uri="{FF2B5EF4-FFF2-40B4-BE49-F238E27FC236}">
                <a16:creationId xmlns:a16="http://schemas.microsoft.com/office/drawing/2014/main" id="{2CF01162-D0B6-4CEC-B999-30B23E8FE853}"/>
              </a:ext>
            </a:extLst>
          </p:cNvPr>
          <p:cNvGrpSpPr/>
          <p:nvPr/>
        </p:nvGrpSpPr>
        <p:grpSpPr>
          <a:xfrm>
            <a:off x="0" y="0"/>
            <a:ext cx="12749348" cy="1115736"/>
            <a:chOff x="0" y="0"/>
            <a:chExt cx="12749348" cy="1115736"/>
          </a:xfrm>
        </p:grpSpPr>
        <p:sp>
          <p:nvSpPr>
            <p:cNvPr id="12" name="Rectangle 11">
              <a:extLst>
                <a:ext uri="{FF2B5EF4-FFF2-40B4-BE49-F238E27FC236}">
                  <a16:creationId xmlns:a16="http://schemas.microsoft.com/office/drawing/2014/main" id="{DCE332D8-FEE8-4AD2-B9E4-EC25C85A6F47}"/>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pic>
          <p:nvPicPr>
            <p:cNvPr id="13" name="Picture 12">
              <a:extLst>
                <a:ext uri="{FF2B5EF4-FFF2-40B4-BE49-F238E27FC236}">
                  <a16:creationId xmlns:a16="http://schemas.microsoft.com/office/drawing/2014/main" id="{876FD797-A00B-49D8-A888-67D34967BA00}"/>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4" name="TextBox 13">
              <a:extLst>
                <a:ext uri="{FF2B5EF4-FFF2-40B4-BE49-F238E27FC236}">
                  <a16:creationId xmlns:a16="http://schemas.microsoft.com/office/drawing/2014/main" id="{6F868DCA-0E35-467D-A281-E7D4A2A332BD}"/>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15" name="Graphic 14">
              <a:extLst>
                <a:ext uri="{FF2B5EF4-FFF2-40B4-BE49-F238E27FC236}">
                  <a16:creationId xmlns:a16="http://schemas.microsoft.com/office/drawing/2014/main" id="{71F90180-E346-4AF9-B3BC-F4B7007B4E02}"/>
                </a:ext>
              </a:extLst>
            </p:cNvPr>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9906056" y="403986"/>
              <a:ext cx="261610" cy="261610"/>
            </a:xfrm>
            <a:prstGeom prst="rect">
              <a:avLst/>
            </a:prstGeom>
          </p:spPr>
        </p:pic>
        <p:sp>
          <p:nvSpPr>
            <p:cNvPr id="16" name="TextBox 15">
              <a:extLst>
                <a:ext uri="{FF2B5EF4-FFF2-40B4-BE49-F238E27FC236}">
                  <a16:creationId xmlns:a16="http://schemas.microsoft.com/office/drawing/2014/main" id="{70627AB0-0949-4DC3-9D55-6721F0EAD02C}"/>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7" name="Graphic 16">
              <a:extLst>
                <a:ext uri="{FF2B5EF4-FFF2-40B4-BE49-F238E27FC236}">
                  <a16:creationId xmlns:a16="http://schemas.microsoft.com/office/drawing/2014/main" id="{A532177C-F5A5-41C6-B8EF-E6DA142B50E7}"/>
                </a:ext>
              </a:extLst>
            </p:cNvPr>
            <p:cNvPicPr>
              <a:picLocks noChangeAspect="1"/>
            </p:cNvPicPr>
            <p:nvPr/>
          </p:nvPicPr>
          <p:blipFill>
            <a:blip r:embed="rId5">
              <a:extLst>
                <a:ext uri="{96DAC541-7B7A-43D3-8B79-37D633B846F1}">
                  <asvg:svgBlip xmlns:asvg="http://schemas.microsoft.com/office/drawing/2016/SVG/main" xmlns="" r:embed="rId6"/>
                </a:ext>
              </a:extLst>
            </a:blip>
            <a:stretch>
              <a:fillRect/>
            </a:stretch>
          </p:blipFill>
          <p:spPr>
            <a:xfrm>
              <a:off x="10591033" y="741997"/>
              <a:ext cx="171450" cy="171450"/>
            </a:xfrm>
            <a:prstGeom prst="rect">
              <a:avLst/>
            </a:prstGeom>
          </p:spPr>
        </p:pic>
        <p:pic>
          <p:nvPicPr>
            <p:cNvPr id="18" name="Picture 17">
              <a:extLst>
                <a:ext uri="{FF2B5EF4-FFF2-40B4-BE49-F238E27FC236}">
                  <a16:creationId xmlns:a16="http://schemas.microsoft.com/office/drawing/2014/main" id="{085A7425-75D1-4518-8891-A639DA0C4AE8}"/>
                </a:ext>
              </a:extLst>
            </p:cNvPr>
            <p:cNvPicPr>
              <a:picLocks noChangeAspect="1"/>
            </p:cNvPicPr>
            <p:nvPr/>
          </p:nvPicPr>
          <p:blipFill>
            <a:blip r:embed="rId7"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pic>
        <p:nvPicPr>
          <p:cNvPr id="6" name="Graphic 5">
            <a:extLst>
              <a:ext uri="{FF2B5EF4-FFF2-40B4-BE49-F238E27FC236}">
                <a16:creationId xmlns:a16="http://schemas.microsoft.com/office/drawing/2014/main" id="{19B401B7-B613-4C06-A492-7A7068249541}"/>
              </a:ext>
            </a:extLst>
          </p:cNvPr>
          <p:cNvPicPr>
            <a:picLocks noChangeAspect="1"/>
          </p:cNvPicPr>
          <p:nvPr/>
        </p:nvPicPr>
        <p:blipFill>
          <a:blip r:embed="rId8">
            <a:extLst>
              <a:ext uri="{96DAC541-7B7A-43D3-8B79-37D633B846F1}">
                <asvg:svgBlip xmlns:asvg="http://schemas.microsoft.com/office/drawing/2016/SVG/main" xmlns="" r:embed="rId9"/>
              </a:ext>
            </a:extLst>
          </a:blip>
          <a:stretch>
            <a:fillRect/>
          </a:stretch>
        </p:blipFill>
        <p:spPr>
          <a:xfrm>
            <a:off x="9847252" y="1519722"/>
            <a:ext cx="2039974" cy="5144283"/>
          </a:xfrm>
          <a:prstGeom prst="rect">
            <a:avLst/>
          </a:prstGeom>
        </p:spPr>
      </p:pic>
      <p:pic>
        <p:nvPicPr>
          <p:cNvPr id="3" name="Picture 2">
            <a:extLst>
              <a:ext uri="{FF2B5EF4-FFF2-40B4-BE49-F238E27FC236}">
                <a16:creationId xmlns:a16="http://schemas.microsoft.com/office/drawing/2014/main" id="{5FD87B23-8F4F-18FA-E022-5D37CF7273D6}"/>
              </a:ext>
            </a:extLst>
          </p:cNvPr>
          <p:cNvPicPr>
            <a:picLocks noChangeAspect="1"/>
          </p:cNvPicPr>
          <p:nvPr/>
        </p:nvPicPr>
        <p:blipFill>
          <a:blip r:embed="rId10"/>
          <a:stretch>
            <a:fillRect/>
          </a:stretch>
        </p:blipFill>
        <p:spPr>
          <a:xfrm>
            <a:off x="6816158" y="1263482"/>
            <a:ext cx="2143125" cy="2143125"/>
          </a:xfrm>
          <a:prstGeom prst="rect">
            <a:avLst/>
          </a:prstGeom>
        </p:spPr>
      </p:pic>
      <p:pic>
        <p:nvPicPr>
          <p:cNvPr id="5" name="Picture 4">
            <a:extLst>
              <a:ext uri="{FF2B5EF4-FFF2-40B4-BE49-F238E27FC236}">
                <a16:creationId xmlns:a16="http://schemas.microsoft.com/office/drawing/2014/main" id="{D8D88955-03D7-940A-DDAA-3DDD24AA45D1}"/>
              </a:ext>
            </a:extLst>
          </p:cNvPr>
          <p:cNvPicPr>
            <a:picLocks noChangeAspect="1"/>
          </p:cNvPicPr>
          <p:nvPr/>
        </p:nvPicPr>
        <p:blipFill>
          <a:blip r:embed="rId11"/>
          <a:stretch>
            <a:fillRect/>
          </a:stretch>
        </p:blipFill>
        <p:spPr>
          <a:xfrm>
            <a:off x="6263813" y="3810593"/>
            <a:ext cx="3814651" cy="2861353"/>
          </a:xfrm>
          <a:prstGeom prst="rect">
            <a:avLst/>
          </a:prstGeom>
        </p:spPr>
      </p:pic>
    </p:spTree>
    <p:extLst>
      <p:ext uri="{BB962C8B-B14F-4D97-AF65-F5344CB8AC3E}">
        <p14:creationId xmlns:p14="http://schemas.microsoft.com/office/powerpoint/2010/main" val="32393412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Placeholder 15">
            <a:extLst>
              <a:ext uri="{FF2B5EF4-FFF2-40B4-BE49-F238E27FC236}">
                <a16:creationId xmlns:a16="http://schemas.microsoft.com/office/drawing/2014/main" id="{11083BBF-3EDA-AE5F-3B2B-D3B384A5F71D}"/>
              </a:ext>
            </a:extLst>
          </p:cNvPr>
          <p:cNvPicPr>
            <a:picLocks noGrp="1" noChangeAspect="1"/>
          </p:cNvPicPr>
          <p:nvPr>
            <p:ph type="pic" idx="1"/>
          </p:nvPr>
        </p:nvPicPr>
        <p:blipFill>
          <a:blip r:embed="rId2"/>
          <a:srcRect l="3094" r="3094"/>
          <a:stretch>
            <a:fillRect/>
          </a:stretch>
        </p:blipFill>
        <p:spPr>
          <a:xfrm>
            <a:off x="5273946" y="1681071"/>
            <a:ext cx="6172200" cy="4873625"/>
          </a:xfrm>
          <a:prstGeom prst="rect">
            <a:avLst/>
          </a:prstGeom>
        </p:spPr>
      </p:pic>
      <p:sp>
        <p:nvSpPr>
          <p:cNvPr id="3" name="Content Placeholder 2"/>
          <p:cNvSpPr>
            <a:spLocks noGrp="1"/>
          </p:cNvSpPr>
          <p:nvPr>
            <p:ph type="body" sz="half" idx="2"/>
          </p:nvPr>
        </p:nvSpPr>
        <p:spPr/>
        <p:txBody>
          <a:bodyPr>
            <a:normAutofit fontScale="92500" lnSpcReduction="10000"/>
          </a:bodyPr>
          <a:lstStyle/>
          <a:p>
            <a:r>
              <a:rPr lang="en-US" sz="3200" b="1" dirty="0">
                <a:latin typeface="Times New Roman" panose="02020603050405020304" pitchFamily="18" charset="0"/>
                <a:cs typeface="Times New Roman" panose="02020603050405020304" pitchFamily="18" charset="0"/>
              </a:rPr>
              <a:t>2. Law of Proximity </a:t>
            </a:r>
          </a:p>
          <a:p>
            <a:r>
              <a:rPr lang="en-US" sz="2400" dirty="0">
                <a:latin typeface="Times New Roman" panose="02020603050405020304" pitchFamily="18" charset="0"/>
                <a:cs typeface="Times New Roman" panose="02020603050405020304" pitchFamily="18" charset="0"/>
              </a:rPr>
              <a:t>The principle states, that the objects placed closed on an interface are perceived to be related to those set far apart. It can even override the similarity created by using the same colors or sizes. Sometimes placing the objects far apart creates a sense of negative space, which is useful to distinguish the objects from the rest..</a:t>
            </a:r>
          </a:p>
        </p:txBody>
      </p:sp>
      <p:grpSp>
        <p:nvGrpSpPr>
          <p:cNvPr id="4" name="Group 3">
            <a:extLst>
              <a:ext uri="{FF2B5EF4-FFF2-40B4-BE49-F238E27FC236}">
                <a16:creationId xmlns:a16="http://schemas.microsoft.com/office/drawing/2014/main" id="{2CF01162-D0B6-4CEC-B999-30B23E8FE853}"/>
              </a:ext>
            </a:extLst>
          </p:cNvPr>
          <p:cNvGrpSpPr/>
          <p:nvPr/>
        </p:nvGrpSpPr>
        <p:grpSpPr>
          <a:xfrm>
            <a:off x="0" y="0"/>
            <a:ext cx="12749348" cy="1436914"/>
            <a:chOff x="0" y="0"/>
            <a:chExt cx="12749348" cy="1115736"/>
          </a:xfrm>
        </p:grpSpPr>
        <p:sp>
          <p:nvSpPr>
            <p:cNvPr id="5" name="Rectangle 4">
              <a:extLst>
                <a:ext uri="{FF2B5EF4-FFF2-40B4-BE49-F238E27FC236}">
                  <a16:creationId xmlns:a16="http://schemas.microsoft.com/office/drawing/2014/main" id="{DCE332D8-FEE8-4AD2-B9E4-EC25C85A6F47}"/>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pic>
          <p:nvPicPr>
            <p:cNvPr id="6" name="Picture 5">
              <a:extLst>
                <a:ext uri="{FF2B5EF4-FFF2-40B4-BE49-F238E27FC236}">
                  <a16:creationId xmlns:a16="http://schemas.microsoft.com/office/drawing/2014/main" id="{876FD797-A00B-49D8-A888-67D34967BA00}"/>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7" name="TextBox 6">
              <a:extLst>
                <a:ext uri="{FF2B5EF4-FFF2-40B4-BE49-F238E27FC236}">
                  <a16:creationId xmlns:a16="http://schemas.microsoft.com/office/drawing/2014/main" id="{6F868DCA-0E35-467D-A281-E7D4A2A332BD}"/>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8" name="Graphic 14">
              <a:extLst>
                <a:ext uri="{FF2B5EF4-FFF2-40B4-BE49-F238E27FC236}">
                  <a16:creationId xmlns:a16="http://schemas.microsoft.com/office/drawing/2014/main" id="{71F90180-E346-4AF9-B3BC-F4B7007B4E02}"/>
                </a:ext>
              </a:extLst>
            </p:cNvPr>
            <p:cNvPicPr>
              <a:picLocks noChangeAspect="1"/>
            </p:cNvPicPr>
            <p:nvPr/>
          </p:nvPicPr>
          <p:blipFill>
            <a:blip r:embed="rId4">
              <a:extLst>
                <a:ext uri="{96DAC541-7B7A-43D3-8B79-37D633B846F1}">
                  <asvg:svgBlip xmlns:asvg="http://schemas.microsoft.com/office/drawing/2016/SVG/main" xmlns="" r:embed="rId5"/>
                </a:ext>
              </a:extLst>
            </a:blip>
            <a:stretch>
              <a:fillRect/>
            </a:stretch>
          </p:blipFill>
          <p:spPr>
            <a:xfrm>
              <a:off x="9906056" y="403986"/>
              <a:ext cx="261610" cy="261610"/>
            </a:xfrm>
            <a:prstGeom prst="rect">
              <a:avLst/>
            </a:prstGeom>
          </p:spPr>
        </p:pic>
        <p:sp>
          <p:nvSpPr>
            <p:cNvPr id="9" name="TextBox 8">
              <a:extLst>
                <a:ext uri="{FF2B5EF4-FFF2-40B4-BE49-F238E27FC236}">
                  <a16:creationId xmlns:a16="http://schemas.microsoft.com/office/drawing/2014/main" id="{70627AB0-0949-4DC3-9D55-6721F0EAD02C}"/>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0" name="Graphic 16">
              <a:extLst>
                <a:ext uri="{FF2B5EF4-FFF2-40B4-BE49-F238E27FC236}">
                  <a16:creationId xmlns:a16="http://schemas.microsoft.com/office/drawing/2014/main" id="{A532177C-F5A5-41C6-B8EF-E6DA142B50E7}"/>
                </a:ext>
              </a:extLst>
            </p:cNvPr>
            <p:cNvPicPr>
              <a:picLocks noChangeAspect="1"/>
            </p:cNvPicPr>
            <p:nvPr/>
          </p:nvPicPr>
          <p:blipFill>
            <a:blip r:embed="rId6">
              <a:extLst>
                <a:ext uri="{96DAC541-7B7A-43D3-8B79-37D633B846F1}">
                  <asvg:svgBlip xmlns:asvg="http://schemas.microsoft.com/office/drawing/2016/SVG/main" xmlns="" r:embed="rId7"/>
                </a:ext>
              </a:extLst>
            </a:blip>
            <a:stretch>
              <a:fillRect/>
            </a:stretch>
          </p:blipFill>
          <p:spPr>
            <a:xfrm>
              <a:off x="10591033" y="741997"/>
              <a:ext cx="171450" cy="171450"/>
            </a:xfrm>
            <a:prstGeom prst="rect">
              <a:avLst/>
            </a:prstGeom>
          </p:spPr>
        </p:pic>
        <p:pic>
          <p:nvPicPr>
            <p:cNvPr id="11" name="Picture 10">
              <a:extLst>
                <a:ext uri="{FF2B5EF4-FFF2-40B4-BE49-F238E27FC236}">
                  <a16:creationId xmlns:a16="http://schemas.microsoft.com/office/drawing/2014/main" id="{085A7425-75D1-4518-8891-A639DA0C4AE8}"/>
                </a:ext>
              </a:extLst>
            </p:cNvPr>
            <p:cNvPicPr>
              <a:picLocks noChangeAspect="1"/>
            </p:cNvPicPr>
            <p:nvPr/>
          </p:nvPicPr>
          <p:blipFill>
            <a:blip r:embed="rId8"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p14="http://schemas.microsoft.com/office/powerpoint/2010/main" val="1053121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sz="half" idx="2"/>
          </p:nvPr>
        </p:nvSpPr>
        <p:spPr>
          <a:xfrm>
            <a:off x="839788" y="2057400"/>
            <a:ext cx="7974012" cy="3811588"/>
          </a:xfrm>
        </p:spPr>
        <p:txBody>
          <a:bodyPr>
            <a:normAutofit/>
          </a:bodyPr>
          <a:lstStyle/>
          <a:p>
            <a:r>
              <a:rPr lang="en-US" sz="3200" b="1" dirty="0">
                <a:latin typeface="Times New Roman" panose="02020603050405020304" pitchFamily="18" charset="0"/>
                <a:cs typeface="Times New Roman" panose="02020603050405020304" pitchFamily="18" charset="0"/>
              </a:rPr>
              <a:t>2. Law of Proximity </a:t>
            </a:r>
          </a:p>
          <a:p>
            <a:r>
              <a:rPr lang="en-US" sz="2400" dirty="0" err="1">
                <a:latin typeface="Times New Roman" panose="02020603050405020304" pitchFamily="18" charset="0"/>
                <a:cs typeface="Times New Roman" panose="02020603050405020304" pitchFamily="18" charset="0"/>
              </a:rPr>
              <a:t>e.g</a:t>
            </a:r>
            <a:r>
              <a:rPr lang="en-US" sz="2400" dirty="0">
                <a:latin typeface="Times New Roman" panose="02020603050405020304" pitchFamily="18" charset="0"/>
                <a:cs typeface="Times New Roman" panose="02020603050405020304" pitchFamily="18" charset="0"/>
              </a:rPr>
              <a:t> putting a blank space between paragraphs in a report or academic paper   helps the reader to understand that the next set of sentences will present a new idea.</a:t>
            </a:r>
          </a:p>
          <a:p>
            <a:r>
              <a:rPr lang="en-US" sz="2400" dirty="0" err="1">
                <a:latin typeface="Times New Roman" panose="02020603050405020304" pitchFamily="18" charset="0"/>
                <a:cs typeface="Times New Roman" panose="02020603050405020304" pitchFamily="18" charset="0"/>
              </a:rPr>
              <a:t>e.g</a:t>
            </a:r>
            <a:r>
              <a:rPr lang="en-US" sz="2400" dirty="0">
                <a:latin typeface="Times New Roman" panose="02020603050405020304" pitchFamily="18" charset="0"/>
                <a:cs typeface="Times New Roman" panose="02020603050405020304" pitchFamily="18" charset="0"/>
              </a:rPr>
              <a:t> pair of students sitting together daily in class same consider to be friends.</a:t>
            </a:r>
          </a:p>
        </p:txBody>
      </p:sp>
      <p:grpSp>
        <p:nvGrpSpPr>
          <p:cNvPr id="4" name="Group 3">
            <a:extLst>
              <a:ext uri="{FF2B5EF4-FFF2-40B4-BE49-F238E27FC236}">
                <a16:creationId xmlns:a16="http://schemas.microsoft.com/office/drawing/2014/main" id="{2CF01162-D0B6-4CEC-B999-30B23E8FE853}"/>
              </a:ext>
            </a:extLst>
          </p:cNvPr>
          <p:cNvGrpSpPr/>
          <p:nvPr/>
        </p:nvGrpSpPr>
        <p:grpSpPr>
          <a:xfrm>
            <a:off x="0" y="0"/>
            <a:ext cx="12749348" cy="1436914"/>
            <a:chOff x="0" y="0"/>
            <a:chExt cx="12749348" cy="1115736"/>
          </a:xfrm>
        </p:grpSpPr>
        <p:sp>
          <p:nvSpPr>
            <p:cNvPr id="5" name="Rectangle 4">
              <a:extLst>
                <a:ext uri="{FF2B5EF4-FFF2-40B4-BE49-F238E27FC236}">
                  <a16:creationId xmlns:a16="http://schemas.microsoft.com/office/drawing/2014/main" id="{DCE332D8-FEE8-4AD2-B9E4-EC25C85A6F47}"/>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pic>
          <p:nvPicPr>
            <p:cNvPr id="6" name="Picture 5">
              <a:extLst>
                <a:ext uri="{FF2B5EF4-FFF2-40B4-BE49-F238E27FC236}">
                  <a16:creationId xmlns:a16="http://schemas.microsoft.com/office/drawing/2014/main" id="{876FD797-A00B-49D8-A888-67D34967BA00}"/>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7" name="TextBox 6">
              <a:extLst>
                <a:ext uri="{FF2B5EF4-FFF2-40B4-BE49-F238E27FC236}">
                  <a16:creationId xmlns:a16="http://schemas.microsoft.com/office/drawing/2014/main" id="{6F868DCA-0E35-467D-A281-E7D4A2A332BD}"/>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8" name="Graphic 14">
              <a:extLst>
                <a:ext uri="{FF2B5EF4-FFF2-40B4-BE49-F238E27FC236}">
                  <a16:creationId xmlns:a16="http://schemas.microsoft.com/office/drawing/2014/main" id="{71F90180-E346-4AF9-B3BC-F4B7007B4E02}"/>
                </a:ext>
              </a:extLst>
            </p:cNvPr>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9906056" y="403986"/>
              <a:ext cx="261610" cy="261610"/>
            </a:xfrm>
            <a:prstGeom prst="rect">
              <a:avLst/>
            </a:prstGeom>
          </p:spPr>
        </p:pic>
        <p:sp>
          <p:nvSpPr>
            <p:cNvPr id="9" name="TextBox 8">
              <a:extLst>
                <a:ext uri="{FF2B5EF4-FFF2-40B4-BE49-F238E27FC236}">
                  <a16:creationId xmlns:a16="http://schemas.microsoft.com/office/drawing/2014/main" id="{70627AB0-0949-4DC3-9D55-6721F0EAD02C}"/>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0" name="Graphic 16">
              <a:extLst>
                <a:ext uri="{FF2B5EF4-FFF2-40B4-BE49-F238E27FC236}">
                  <a16:creationId xmlns:a16="http://schemas.microsoft.com/office/drawing/2014/main" id="{A532177C-F5A5-41C6-B8EF-E6DA142B50E7}"/>
                </a:ext>
              </a:extLst>
            </p:cNvPr>
            <p:cNvPicPr>
              <a:picLocks noChangeAspect="1"/>
            </p:cNvPicPr>
            <p:nvPr/>
          </p:nvPicPr>
          <p:blipFill>
            <a:blip r:embed="rId5">
              <a:extLst>
                <a:ext uri="{96DAC541-7B7A-43D3-8B79-37D633B846F1}">
                  <asvg:svgBlip xmlns:asvg="http://schemas.microsoft.com/office/drawing/2016/SVG/main" xmlns="" r:embed="rId6"/>
                </a:ext>
              </a:extLst>
            </a:blip>
            <a:stretch>
              <a:fillRect/>
            </a:stretch>
          </p:blipFill>
          <p:spPr>
            <a:xfrm>
              <a:off x="10591033" y="741997"/>
              <a:ext cx="171450" cy="171450"/>
            </a:xfrm>
            <a:prstGeom prst="rect">
              <a:avLst/>
            </a:prstGeom>
          </p:spPr>
        </p:pic>
        <p:pic>
          <p:nvPicPr>
            <p:cNvPr id="11" name="Picture 10">
              <a:extLst>
                <a:ext uri="{FF2B5EF4-FFF2-40B4-BE49-F238E27FC236}">
                  <a16:creationId xmlns:a16="http://schemas.microsoft.com/office/drawing/2014/main" id="{085A7425-75D1-4518-8891-A639DA0C4AE8}"/>
                </a:ext>
              </a:extLst>
            </p:cNvPr>
            <p:cNvPicPr>
              <a:picLocks noChangeAspect="1"/>
            </p:cNvPicPr>
            <p:nvPr/>
          </p:nvPicPr>
          <p:blipFill>
            <a:blip r:embed="rId7"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p14="http://schemas.microsoft.com/office/powerpoint/2010/main" val="19471159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C26A3C55-3FA7-4FD7-A293-B1F56E297A25}"/>
              </a:ext>
            </a:extLst>
          </p:cNvPr>
          <p:cNvSpPr txBox="1"/>
          <p:nvPr/>
        </p:nvSpPr>
        <p:spPr>
          <a:xfrm>
            <a:off x="3431568" y="1514475"/>
            <a:ext cx="7669247" cy="3877985"/>
          </a:xfrm>
          <a:prstGeom prst="rect">
            <a:avLst/>
          </a:prstGeom>
          <a:noFill/>
        </p:spPr>
        <p:txBody>
          <a:bodyPr wrap="square" rtlCol="0">
            <a:spAutoFit/>
          </a:bodyPr>
          <a:lstStyle/>
          <a:p>
            <a:pPr marL="342900" indent="-342900">
              <a:buFont typeface="Arial" panose="020B0604020202020204" pitchFamily="34" charset="0"/>
              <a:buChar char="•"/>
            </a:pPr>
            <a:r>
              <a:rPr lang="en-US" sz="2400" dirty="0">
                <a:solidFill>
                  <a:srgbClr val="002147"/>
                </a:solidFill>
                <a:latin typeface="Times New Roman" panose="02020603050405020304" pitchFamily="18" charset="0"/>
                <a:cs typeface="Times New Roman" panose="02020603050405020304" pitchFamily="18" charset="0"/>
              </a:rPr>
              <a:t>Table and chairs in the dining room are placed near each other and referred to as “dining room table and chairs.” If placed in the kitchen, their label is changed to “kitchen table and chairs.” Each grouping consists of the same items (table and chairs), but they are perceived as distinct groups when positioned in separate areas.</a:t>
            </a:r>
          </a:p>
          <a:p>
            <a:pPr marL="342900" indent="-342900">
              <a:buFont typeface="Arial" panose="020B0604020202020204" pitchFamily="34" charset="0"/>
              <a:buChar char="•"/>
            </a:pPr>
            <a:endParaRPr lang="en-US" sz="2400" dirty="0">
              <a:solidFill>
                <a:srgbClr val="002147"/>
              </a:solidFill>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b="0" i="0" dirty="0">
                <a:effectLst/>
                <a:latin typeface="Times New Roman" panose="02020603050405020304" pitchFamily="18" charset="0"/>
                <a:cs typeface="Times New Roman" panose="02020603050405020304" pitchFamily="18" charset="0"/>
              </a:rPr>
              <a:t>People that sit near each other in a section of a stadium are perceived as cheering for the same team.</a:t>
            </a:r>
          </a:p>
          <a:p>
            <a:pPr marL="342900" indent="-342900">
              <a:buFont typeface="Arial" panose="020B0604020202020204" pitchFamily="34" charset="0"/>
              <a:buChar char="•"/>
            </a:pPr>
            <a:endParaRPr lang="en-US" sz="2000" dirty="0">
              <a:solidFill>
                <a:srgbClr val="002147"/>
              </a:solidFill>
              <a:latin typeface="Times New Roman" panose="02020603050405020304" pitchFamily="18" charset="0"/>
              <a:cs typeface="Times New Roman" panose="02020603050405020304" pitchFamily="18" charset="0"/>
            </a:endParaRPr>
          </a:p>
          <a:p>
            <a:endParaRPr lang="en-US" b="0" i="0" dirty="0">
              <a:solidFill>
                <a:srgbClr val="121416"/>
              </a:solidFill>
              <a:effectLst/>
              <a:latin typeface="Times New Roman" panose="02020603050405020304" pitchFamily="18" charset="0"/>
              <a:cs typeface="Times New Roman" panose="02020603050405020304" pitchFamily="18" charset="0"/>
            </a:endParaRPr>
          </a:p>
        </p:txBody>
      </p:sp>
      <p:grpSp>
        <p:nvGrpSpPr>
          <p:cNvPr id="13" name="Group 12">
            <a:extLst>
              <a:ext uri="{FF2B5EF4-FFF2-40B4-BE49-F238E27FC236}">
                <a16:creationId xmlns:a16="http://schemas.microsoft.com/office/drawing/2014/main" id="{034DD2C6-4CC8-4F4C-9615-8F42757A1CE2}"/>
              </a:ext>
            </a:extLst>
          </p:cNvPr>
          <p:cNvGrpSpPr/>
          <p:nvPr/>
        </p:nvGrpSpPr>
        <p:grpSpPr>
          <a:xfrm>
            <a:off x="0" y="0"/>
            <a:ext cx="12749348" cy="1115736"/>
            <a:chOff x="0" y="0"/>
            <a:chExt cx="12749348" cy="1115736"/>
          </a:xfrm>
        </p:grpSpPr>
        <p:sp>
          <p:nvSpPr>
            <p:cNvPr id="14" name="Rectangle 13">
              <a:extLst>
                <a:ext uri="{FF2B5EF4-FFF2-40B4-BE49-F238E27FC236}">
                  <a16:creationId xmlns:a16="http://schemas.microsoft.com/office/drawing/2014/main" id="{4B7C661D-5448-402F-AD37-037DDA89EAE8}"/>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sp>
          <p:nvSpPr>
            <p:cNvPr id="15" name="TextBox 14">
              <a:extLst>
                <a:ext uri="{FF2B5EF4-FFF2-40B4-BE49-F238E27FC236}">
                  <a16:creationId xmlns:a16="http://schemas.microsoft.com/office/drawing/2014/main" id="{97AA08FC-35FB-44F1-BB8F-399F019CBF4F}"/>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16" name="Graphic 15">
              <a:extLst>
                <a:ext uri="{FF2B5EF4-FFF2-40B4-BE49-F238E27FC236}">
                  <a16:creationId xmlns:a16="http://schemas.microsoft.com/office/drawing/2014/main" id="{ABF06EB7-5284-4699-8F45-3C74960363D1}"/>
                </a:ext>
              </a:extLst>
            </p:cNvPr>
            <p:cNvPicPr>
              <a:picLocks noChangeAspect="1"/>
            </p:cNvPicPr>
            <p:nvPr/>
          </p:nvPicPr>
          <p:blipFill>
            <a:blip r:embed="rId2">
              <a:extLst>
                <a:ext uri="{96DAC541-7B7A-43D3-8B79-37D633B846F1}">
                  <asvg:svgBlip xmlns:asvg="http://schemas.microsoft.com/office/drawing/2016/SVG/main" xmlns="" r:embed="rId3"/>
                </a:ext>
              </a:extLst>
            </a:blip>
            <a:stretch>
              <a:fillRect/>
            </a:stretch>
          </p:blipFill>
          <p:spPr>
            <a:xfrm>
              <a:off x="9906056" y="403986"/>
              <a:ext cx="261610" cy="261610"/>
            </a:xfrm>
            <a:prstGeom prst="rect">
              <a:avLst/>
            </a:prstGeom>
          </p:spPr>
        </p:pic>
        <p:sp>
          <p:nvSpPr>
            <p:cNvPr id="17" name="TextBox 16">
              <a:extLst>
                <a:ext uri="{FF2B5EF4-FFF2-40B4-BE49-F238E27FC236}">
                  <a16:creationId xmlns:a16="http://schemas.microsoft.com/office/drawing/2014/main" id="{FDFE4515-6F2B-4BB8-8018-36AFB06BA194}"/>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8" name="Graphic 17">
              <a:extLst>
                <a:ext uri="{FF2B5EF4-FFF2-40B4-BE49-F238E27FC236}">
                  <a16:creationId xmlns:a16="http://schemas.microsoft.com/office/drawing/2014/main" id="{10EB8B8D-6004-4AED-A244-C4DC6F8DA657}"/>
                </a:ext>
              </a:extLst>
            </p:cNvPr>
            <p:cNvPicPr>
              <a:picLocks noChangeAspect="1"/>
            </p:cNvPicPr>
            <p:nvPr/>
          </p:nvPicPr>
          <p:blipFill>
            <a:blip r:embed="rId4">
              <a:extLst>
                <a:ext uri="{96DAC541-7B7A-43D3-8B79-37D633B846F1}">
                  <asvg:svgBlip xmlns:asvg="http://schemas.microsoft.com/office/drawing/2016/SVG/main" xmlns="" r:embed="rId5"/>
                </a:ext>
              </a:extLst>
            </a:blip>
            <a:stretch>
              <a:fillRect/>
            </a:stretch>
          </p:blipFill>
          <p:spPr>
            <a:xfrm>
              <a:off x="10591033" y="741997"/>
              <a:ext cx="171450" cy="171450"/>
            </a:xfrm>
            <a:prstGeom prst="rect">
              <a:avLst/>
            </a:prstGeom>
          </p:spPr>
        </p:pic>
        <p:pic>
          <p:nvPicPr>
            <p:cNvPr id="19" name="Picture 18">
              <a:extLst>
                <a:ext uri="{FF2B5EF4-FFF2-40B4-BE49-F238E27FC236}">
                  <a16:creationId xmlns:a16="http://schemas.microsoft.com/office/drawing/2014/main" id="{B90D907E-CA01-4229-92EF-9ABBCFBA1E6C}"/>
                </a:ext>
              </a:extLst>
            </p:cNvPr>
            <p:cNvPicPr>
              <a:picLocks noChangeAspect="1"/>
            </p:cNvPicPr>
            <p:nvPr/>
          </p:nvPicPr>
          <p:blipFill>
            <a:blip r:embed="rId6"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pic>
        <p:nvPicPr>
          <p:cNvPr id="21" name="Picture 20">
            <a:extLst>
              <a:ext uri="{FF2B5EF4-FFF2-40B4-BE49-F238E27FC236}">
                <a16:creationId xmlns:a16="http://schemas.microsoft.com/office/drawing/2014/main" id="{3CE084BF-DF82-4A63-A9CB-4F517A8FDE95}"/>
              </a:ext>
            </a:extLst>
          </p:cNvPr>
          <p:cNvPicPr>
            <a:picLocks noChangeAspect="1"/>
          </p:cNvPicPr>
          <p:nvPr/>
        </p:nvPicPr>
        <p:blipFill>
          <a:blip r:embed="rId7" cstate="hqprint">
            <a:extLst>
              <a:ext uri="{28A0092B-C50C-407E-A947-70E740481C1C}">
                <a14:useLocalDpi xmlns:a14="http://schemas.microsoft.com/office/drawing/2010/main" val="0"/>
              </a:ext>
            </a:extLst>
          </a:blip>
          <a:stretch>
            <a:fillRect/>
          </a:stretch>
        </p:blipFill>
        <p:spPr>
          <a:xfrm>
            <a:off x="945394" y="153305"/>
            <a:ext cx="1443969" cy="828208"/>
          </a:xfrm>
          <a:prstGeom prst="rect">
            <a:avLst/>
          </a:prstGeom>
        </p:spPr>
      </p:pic>
      <p:pic>
        <p:nvPicPr>
          <p:cNvPr id="11" name="Graphic 10">
            <a:extLst>
              <a:ext uri="{FF2B5EF4-FFF2-40B4-BE49-F238E27FC236}">
                <a16:creationId xmlns:a16="http://schemas.microsoft.com/office/drawing/2014/main" id="{066FF2A6-21EC-4DCA-B8DA-6528DF993417}"/>
              </a:ext>
            </a:extLst>
          </p:cNvPr>
          <p:cNvPicPr>
            <a:picLocks noChangeAspect="1"/>
          </p:cNvPicPr>
          <p:nvPr/>
        </p:nvPicPr>
        <p:blipFill>
          <a:blip r:embed="rId8">
            <a:extLst>
              <a:ext uri="{96DAC541-7B7A-43D3-8B79-37D633B846F1}">
                <asvg:svgBlip xmlns:asvg="http://schemas.microsoft.com/office/drawing/2016/SVG/main" xmlns="" r:embed="rId9"/>
              </a:ext>
            </a:extLst>
          </a:blip>
          <a:stretch>
            <a:fillRect/>
          </a:stretch>
        </p:blipFill>
        <p:spPr>
          <a:xfrm>
            <a:off x="71197" y="1514474"/>
            <a:ext cx="2039974" cy="5144283"/>
          </a:xfrm>
          <a:prstGeom prst="rect">
            <a:avLst/>
          </a:prstGeom>
        </p:spPr>
      </p:pic>
      <p:pic>
        <p:nvPicPr>
          <p:cNvPr id="2" name="Picture 1">
            <a:extLst>
              <a:ext uri="{FF2B5EF4-FFF2-40B4-BE49-F238E27FC236}">
                <a16:creationId xmlns:a16="http://schemas.microsoft.com/office/drawing/2014/main" id="{D444D240-C83E-1683-DED8-3B7DABF0E3DF}"/>
              </a:ext>
            </a:extLst>
          </p:cNvPr>
          <p:cNvPicPr>
            <a:picLocks noChangeAspect="1"/>
          </p:cNvPicPr>
          <p:nvPr/>
        </p:nvPicPr>
        <p:blipFill>
          <a:blip r:embed="rId10"/>
          <a:stretch>
            <a:fillRect/>
          </a:stretch>
        </p:blipFill>
        <p:spPr>
          <a:xfrm>
            <a:off x="0" y="1269041"/>
            <a:ext cx="3503488" cy="2608603"/>
          </a:xfrm>
          <a:prstGeom prst="rect">
            <a:avLst/>
          </a:prstGeom>
        </p:spPr>
      </p:pic>
      <p:pic>
        <p:nvPicPr>
          <p:cNvPr id="3" name="Picture 2">
            <a:extLst>
              <a:ext uri="{FF2B5EF4-FFF2-40B4-BE49-F238E27FC236}">
                <a16:creationId xmlns:a16="http://schemas.microsoft.com/office/drawing/2014/main" id="{C0CD7483-A0FE-DD0A-7673-BCF0D55909B8}"/>
              </a:ext>
            </a:extLst>
          </p:cNvPr>
          <p:cNvPicPr>
            <a:picLocks noChangeAspect="1"/>
          </p:cNvPicPr>
          <p:nvPr/>
        </p:nvPicPr>
        <p:blipFill>
          <a:blip r:embed="rId11"/>
          <a:stretch>
            <a:fillRect/>
          </a:stretch>
        </p:blipFill>
        <p:spPr>
          <a:xfrm>
            <a:off x="0" y="4087192"/>
            <a:ext cx="3503488" cy="2781113"/>
          </a:xfrm>
          <a:prstGeom prst="rect">
            <a:avLst/>
          </a:prstGeom>
        </p:spPr>
      </p:pic>
    </p:spTree>
    <p:extLst>
      <p:ext uri="{BB962C8B-B14F-4D97-AF65-F5344CB8AC3E}">
        <p14:creationId xmlns:p14="http://schemas.microsoft.com/office/powerpoint/2010/main" val="2674394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EBA890-D849-D867-5A18-C429D82E308F}"/>
              </a:ext>
            </a:extLst>
          </p:cNvPr>
          <p:cNvSpPr>
            <a:spLocks noGrp="1"/>
          </p:cNvSpPr>
          <p:nvPr>
            <p:ph type="title"/>
          </p:nvPr>
        </p:nvSpPr>
        <p:spPr/>
        <p:txBody>
          <a:bodyPr/>
          <a:lstStyle/>
          <a:p>
            <a:r>
              <a:rPr lang="en-US" b="1" dirty="0"/>
              <a:t>3. Law of Closure</a:t>
            </a:r>
            <a:r>
              <a:rPr lang="en-US" dirty="0"/>
              <a:t/>
            </a:r>
            <a:br>
              <a:rPr lang="en-US" dirty="0"/>
            </a:br>
            <a:endParaRPr lang="en-US" dirty="0"/>
          </a:p>
        </p:txBody>
      </p:sp>
      <p:pic>
        <p:nvPicPr>
          <p:cNvPr id="5" name="Picture Placeholder 4">
            <a:extLst>
              <a:ext uri="{FF2B5EF4-FFF2-40B4-BE49-F238E27FC236}">
                <a16:creationId xmlns:a16="http://schemas.microsoft.com/office/drawing/2014/main" id="{ACF10908-4C0A-2E3F-2BB1-45C65102D567}"/>
              </a:ext>
            </a:extLst>
          </p:cNvPr>
          <p:cNvPicPr>
            <a:picLocks noGrp="1" noChangeAspect="1"/>
          </p:cNvPicPr>
          <p:nvPr>
            <p:ph type="pic" idx="1"/>
          </p:nvPr>
        </p:nvPicPr>
        <p:blipFill>
          <a:blip r:embed="rId2"/>
          <a:srcRect l="3094" r="3094"/>
          <a:stretch>
            <a:fillRect/>
          </a:stretch>
        </p:blipFill>
        <p:spPr>
          <a:xfrm>
            <a:off x="5691883" y="1462528"/>
            <a:ext cx="6351874" cy="5236223"/>
          </a:xfrm>
          <a:prstGeom prst="rect">
            <a:avLst/>
          </a:prstGeom>
        </p:spPr>
      </p:pic>
      <p:sp>
        <p:nvSpPr>
          <p:cNvPr id="3" name="Content Placeholder 2">
            <a:extLst>
              <a:ext uri="{FF2B5EF4-FFF2-40B4-BE49-F238E27FC236}">
                <a16:creationId xmlns:a16="http://schemas.microsoft.com/office/drawing/2014/main" id="{76F19163-209C-4AAC-9D0B-A21627686F3E}"/>
              </a:ext>
            </a:extLst>
          </p:cNvPr>
          <p:cNvSpPr>
            <a:spLocks noGrp="1"/>
          </p:cNvSpPr>
          <p:nvPr>
            <p:ph type="body" sz="half" idx="2"/>
          </p:nvPr>
        </p:nvSpPr>
        <p:spPr/>
        <p:txBody>
          <a:bodyPr>
            <a:normAutofit lnSpcReduction="10000"/>
          </a:bodyPr>
          <a:lstStyle/>
          <a:p>
            <a:pPr marL="0" indent="0" algn="just">
              <a:lnSpc>
                <a:spcPct val="100000"/>
              </a:lnSpc>
              <a:spcBef>
                <a:spcPts val="600"/>
              </a:spcBef>
              <a:buNone/>
            </a:pPr>
            <a:r>
              <a:rPr lang="en-US" sz="2400" dirty="0">
                <a:latin typeface="Times New Roman" panose="02020603050405020304" pitchFamily="18" charset="0"/>
                <a:ea typeface="Arial" charset="0"/>
                <a:cs typeface="Times New Roman" panose="02020603050405020304" pitchFamily="18" charset="0"/>
              </a:rPr>
              <a:t>The principle states the eye can fulfill the gaps and patterns, perceiving the object as a whole. E.g., a triangle drawn using broken lines or empty spaces will still be understood as a triangle. This explains the brain’s capability of filling in the missing information to create recognizable details</a:t>
            </a:r>
            <a:r>
              <a:rPr lang="en-US" b="1" dirty="0">
                <a:latin typeface="Times New Roman" panose="02020603050405020304" pitchFamily="18" charset="0"/>
                <a:ea typeface="Arial" charset="0"/>
                <a:cs typeface="Times New Roman" panose="02020603050405020304" pitchFamily="18" charset="0"/>
              </a:rPr>
              <a:t>.</a:t>
            </a:r>
            <a:r>
              <a:rPr lang="en-US" sz="2000" dirty="0">
                <a:latin typeface="Times New Roman" panose="02020603050405020304" pitchFamily="18" charset="0"/>
                <a:cs typeface="Times New Roman" panose="02020603050405020304" pitchFamily="18" charset="0"/>
              </a:rPr>
              <a:t>. </a:t>
            </a:r>
            <a:endParaRPr lang="en-PK" sz="2000" dirty="0">
              <a:latin typeface="Times New Roman" panose="02020603050405020304" pitchFamily="18" charset="0"/>
              <a:cs typeface="Times New Roman" panose="02020603050405020304" pitchFamily="18" charset="0"/>
            </a:endParaRPr>
          </a:p>
        </p:txBody>
      </p:sp>
      <p:grpSp>
        <p:nvGrpSpPr>
          <p:cNvPr id="8" name="Group 7">
            <a:extLst>
              <a:ext uri="{FF2B5EF4-FFF2-40B4-BE49-F238E27FC236}">
                <a16:creationId xmlns:a16="http://schemas.microsoft.com/office/drawing/2014/main" id="{3DB829FF-4C37-46B6-B4E2-5F205C614DC1}"/>
              </a:ext>
            </a:extLst>
          </p:cNvPr>
          <p:cNvGrpSpPr/>
          <p:nvPr/>
        </p:nvGrpSpPr>
        <p:grpSpPr>
          <a:xfrm>
            <a:off x="0" y="0"/>
            <a:ext cx="12749348" cy="1115736"/>
            <a:chOff x="0" y="0"/>
            <a:chExt cx="12749348" cy="1115736"/>
          </a:xfrm>
        </p:grpSpPr>
        <p:sp>
          <p:nvSpPr>
            <p:cNvPr id="9" name="Rectangle 8">
              <a:extLst>
                <a:ext uri="{FF2B5EF4-FFF2-40B4-BE49-F238E27FC236}">
                  <a16:creationId xmlns:a16="http://schemas.microsoft.com/office/drawing/2014/main" id="{67866F03-AB28-4076-A101-C05ED2916839}"/>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pic>
          <p:nvPicPr>
            <p:cNvPr id="10" name="Picture 9">
              <a:extLst>
                <a:ext uri="{FF2B5EF4-FFF2-40B4-BE49-F238E27FC236}">
                  <a16:creationId xmlns:a16="http://schemas.microsoft.com/office/drawing/2014/main" id="{CFF2093B-3FF1-45E4-8236-0C753316ADF7}"/>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1" name="TextBox 10">
              <a:extLst>
                <a:ext uri="{FF2B5EF4-FFF2-40B4-BE49-F238E27FC236}">
                  <a16:creationId xmlns:a16="http://schemas.microsoft.com/office/drawing/2014/main" id="{9BF863EB-B7C4-4845-A157-7BB371E924B3}"/>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12" name="Graphic 11">
              <a:extLst>
                <a:ext uri="{FF2B5EF4-FFF2-40B4-BE49-F238E27FC236}">
                  <a16:creationId xmlns:a16="http://schemas.microsoft.com/office/drawing/2014/main" id="{86F0B4C8-CC62-4891-9C99-B146F4A850B2}"/>
                </a:ext>
              </a:extLst>
            </p:cNvPr>
            <p:cNvPicPr>
              <a:picLocks noChangeAspect="1"/>
            </p:cNvPicPr>
            <p:nvPr/>
          </p:nvPicPr>
          <p:blipFill>
            <a:blip r:embed="rId4">
              <a:extLst>
                <a:ext uri="{96DAC541-7B7A-43D3-8B79-37D633B846F1}">
                  <asvg:svgBlip xmlns:asvg="http://schemas.microsoft.com/office/drawing/2016/SVG/main" xmlns="" r:embed="rId5"/>
                </a:ext>
              </a:extLst>
            </a:blip>
            <a:stretch>
              <a:fillRect/>
            </a:stretch>
          </p:blipFill>
          <p:spPr>
            <a:xfrm>
              <a:off x="9906056" y="403986"/>
              <a:ext cx="261610" cy="261610"/>
            </a:xfrm>
            <a:prstGeom prst="rect">
              <a:avLst/>
            </a:prstGeom>
          </p:spPr>
        </p:pic>
        <p:sp>
          <p:nvSpPr>
            <p:cNvPr id="13" name="TextBox 12">
              <a:extLst>
                <a:ext uri="{FF2B5EF4-FFF2-40B4-BE49-F238E27FC236}">
                  <a16:creationId xmlns:a16="http://schemas.microsoft.com/office/drawing/2014/main" id="{818007ED-0B2B-42D8-9394-014EC0497A35}"/>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4" name="Graphic 13">
              <a:extLst>
                <a:ext uri="{FF2B5EF4-FFF2-40B4-BE49-F238E27FC236}">
                  <a16:creationId xmlns:a16="http://schemas.microsoft.com/office/drawing/2014/main" id="{26482E21-91A3-466E-88F0-0149ECFB73F8}"/>
                </a:ext>
              </a:extLst>
            </p:cNvPr>
            <p:cNvPicPr>
              <a:picLocks noChangeAspect="1"/>
            </p:cNvPicPr>
            <p:nvPr/>
          </p:nvPicPr>
          <p:blipFill>
            <a:blip r:embed="rId6">
              <a:extLst>
                <a:ext uri="{96DAC541-7B7A-43D3-8B79-37D633B846F1}">
                  <asvg:svgBlip xmlns:asvg="http://schemas.microsoft.com/office/drawing/2016/SVG/main" xmlns="" r:embed="rId7"/>
                </a:ext>
              </a:extLst>
            </a:blip>
            <a:stretch>
              <a:fillRect/>
            </a:stretch>
          </p:blipFill>
          <p:spPr>
            <a:xfrm>
              <a:off x="10591033" y="741997"/>
              <a:ext cx="171450" cy="171450"/>
            </a:xfrm>
            <a:prstGeom prst="rect">
              <a:avLst/>
            </a:prstGeom>
          </p:spPr>
        </p:pic>
        <p:pic>
          <p:nvPicPr>
            <p:cNvPr id="15" name="Picture 14">
              <a:extLst>
                <a:ext uri="{FF2B5EF4-FFF2-40B4-BE49-F238E27FC236}">
                  <a16:creationId xmlns:a16="http://schemas.microsoft.com/office/drawing/2014/main" id="{7BBDC86F-ED38-4A71-B98D-BFBFB34B9A3B}"/>
                </a:ext>
              </a:extLst>
            </p:cNvPr>
            <p:cNvPicPr>
              <a:picLocks noChangeAspect="1"/>
            </p:cNvPicPr>
            <p:nvPr/>
          </p:nvPicPr>
          <p:blipFill>
            <a:blip r:embed="rId8"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p14="http://schemas.microsoft.com/office/powerpoint/2010/main" val="7779748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3E2889D4-75DA-4D6B-B8A6-BEC829D8F12B}"/>
              </a:ext>
            </a:extLst>
          </p:cNvPr>
          <p:cNvSpPr txBox="1"/>
          <p:nvPr/>
        </p:nvSpPr>
        <p:spPr>
          <a:xfrm>
            <a:off x="809624" y="1704974"/>
            <a:ext cx="9333319" cy="2831544"/>
          </a:xfrm>
          <a:prstGeom prst="rect">
            <a:avLst/>
          </a:prstGeom>
          <a:noFill/>
        </p:spPr>
        <p:txBody>
          <a:bodyPr wrap="square" rtlCol="0">
            <a:spAutoFit/>
          </a:bodyPr>
          <a:lstStyle/>
          <a:p>
            <a:pPr>
              <a:spcBef>
                <a:spcPts val="600"/>
              </a:spcBef>
            </a:pPr>
            <a:r>
              <a:rPr lang="en-US" sz="2400" dirty="0">
                <a:latin typeface="Times New Roman" panose="02020603050405020304" pitchFamily="18" charset="0"/>
                <a:ea typeface="Arial" charset="0"/>
                <a:cs typeface="Times New Roman" panose="02020603050405020304" pitchFamily="18" charset="0"/>
              </a:rPr>
              <a:t>What Is Closure? Closure is a feeling of finality or resolution that people seek after an event or a relationship comes to an end. When we talk about needing closure, it means we're looking for answers to unresolved matters holding us back, preventing us from moving forward until they're dealt with.</a:t>
            </a:r>
          </a:p>
          <a:p>
            <a:pPr>
              <a:spcBef>
                <a:spcPts val="600"/>
              </a:spcBef>
            </a:pPr>
            <a:endParaRPr lang="en-US" sz="2400" dirty="0">
              <a:latin typeface="Times New Roman" panose="02020603050405020304" pitchFamily="18" charset="0"/>
              <a:ea typeface="Arial" charset="0"/>
              <a:cs typeface="Times New Roman" panose="02020603050405020304" pitchFamily="18" charset="0"/>
            </a:endParaRPr>
          </a:p>
          <a:p>
            <a:pPr>
              <a:spcBef>
                <a:spcPts val="600"/>
              </a:spcBef>
            </a:pPr>
            <a:r>
              <a:rPr lang="en-US" sz="2400" dirty="0">
                <a:latin typeface="Times New Roman" panose="02020603050405020304" pitchFamily="18" charset="0"/>
                <a:ea typeface="Arial" charset="0"/>
                <a:cs typeface="Times New Roman" panose="02020603050405020304" pitchFamily="18" charset="0"/>
              </a:rPr>
              <a:t>Child Father Example</a:t>
            </a:r>
            <a:endParaRPr lang="en-US" dirty="0">
              <a:latin typeface="Times New Roman" panose="02020603050405020304" pitchFamily="18" charset="0"/>
              <a:ea typeface="Arial" charset="0"/>
              <a:cs typeface="Times New Roman" panose="02020603050405020304" pitchFamily="18" charset="0"/>
            </a:endParaRPr>
          </a:p>
        </p:txBody>
      </p:sp>
      <p:grpSp>
        <p:nvGrpSpPr>
          <p:cNvPr id="9" name="Group 8">
            <a:extLst>
              <a:ext uri="{FF2B5EF4-FFF2-40B4-BE49-F238E27FC236}">
                <a16:creationId xmlns:a16="http://schemas.microsoft.com/office/drawing/2014/main" id="{71001890-2D27-4C06-8608-762CAE8C86A2}"/>
              </a:ext>
            </a:extLst>
          </p:cNvPr>
          <p:cNvGrpSpPr/>
          <p:nvPr/>
        </p:nvGrpSpPr>
        <p:grpSpPr>
          <a:xfrm>
            <a:off x="0" y="0"/>
            <a:ext cx="12749348" cy="1115736"/>
            <a:chOff x="0" y="0"/>
            <a:chExt cx="12749348" cy="1115736"/>
          </a:xfrm>
        </p:grpSpPr>
        <p:sp>
          <p:nvSpPr>
            <p:cNvPr id="10" name="Rectangle 9">
              <a:extLst>
                <a:ext uri="{FF2B5EF4-FFF2-40B4-BE49-F238E27FC236}">
                  <a16:creationId xmlns:a16="http://schemas.microsoft.com/office/drawing/2014/main" id="{C44EECAA-E328-47D6-ACBC-7B6045FFBA9E}"/>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pic>
          <p:nvPicPr>
            <p:cNvPr id="11" name="Picture 10">
              <a:extLst>
                <a:ext uri="{FF2B5EF4-FFF2-40B4-BE49-F238E27FC236}">
                  <a16:creationId xmlns:a16="http://schemas.microsoft.com/office/drawing/2014/main" id="{BB310BC6-D369-40F7-9134-CA1AF26C1436}"/>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2" name="TextBox 11">
              <a:extLst>
                <a:ext uri="{FF2B5EF4-FFF2-40B4-BE49-F238E27FC236}">
                  <a16:creationId xmlns:a16="http://schemas.microsoft.com/office/drawing/2014/main" id="{1C4A534A-AF61-4A94-9BBB-ECD9B5E8BF56}"/>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13" name="Graphic 12">
              <a:extLst>
                <a:ext uri="{FF2B5EF4-FFF2-40B4-BE49-F238E27FC236}">
                  <a16:creationId xmlns:a16="http://schemas.microsoft.com/office/drawing/2014/main" id="{7FD3E16B-B08C-424B-B4E0-5F9C11D045A9}"/>
                </a:ext>
              </a:extLst>
            </p:cNvPr>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9906056" y="403986"/>
              <a:ext cx="261610" cy="261610"/>
            </a:xfrm>
            <a:prstGeom prst="rect">
              <a:avLst/>
            </a:prstGeom>
          </p:spPr>
        </p:pic>
        <p:sp>
          <p:nvSpPr>
            <p:cNvPr id="14" name="TextBox 13">
              <a:extLst>
                <a:ext uri="{FF2B5EF4-FFF2-40B4-BE49-F238E27FC236}">
                  <a16:creationId xmlns:a16="http://schemas.microsoft.com/office/drawing/2014/main" id="{1FF2B077-D3DF-4751-8D55-BD3BDAEDAB0F}"/>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5" name="Graphic 14">
              <a:extLst>
                <a:ext uri="{FF2B5EF4-FFF2-40B4-BE49-F238E27FC236}">
                  <a16:creationId xmlns:a16="http://schemas.microsoft.com/office/drawing/2014/main" id="{B35BA541-C933-4EB5-A6B6-39E31DDF920B}"/>
                </a:ext>
              </a:extLst>
            </p:cNvPr>
            <p:cNvPicPr>
              <a:picLocks noChangeAspect="1"/>
            </p:cNvPicPr>
            <p:nvPr/>
          </p:nvPicPr>
          <p:blipFill>
            <a:blip r:embed="rId5">
              <a:extLst>
                <a:ext uri="{96DAC541-7B7A-43D3-8B79-37D633B846F1}">
                  <asvg:svgBlip xmlns:asvg="http://schemas.microsoft.com/office/drawing/2016/SVG/main" xmlns="" r:embed="rId6"/>
                </a:ext>
              </a:extLst>
            </a:blip>
            <a:stretch>
              <a:fillRect/>
            </a:stretch>
          </p:blipFill>
          <p:spPr>
            <a:xfrm>
              <a:off x="10591033" y="741997"/>
              <a:ext cx="171450" cy="171450"/>
            </a:xfrm>
            <a:prstGeom prst="rect">
              <a:avLst/>
            </a:prstGeom>
          </p:spPr>
        </p:pic>
        <p:pic>
          <p:nvPicPr>
            <p:cNvPr id="16" name="Picture 15">
              <a:extLst>
                <a:ext uri="{FF2B5EF4-FFF2-40B4-BE49-F238E27FC236}">
                  <a16:creationId xmlns:a16="http://schemas.microsoft.com/office/drawing/2014/main" id="{99D81B47-A520-4FD2-B153-D43C470F8259}"/>
                </a:ext>
              </a:extLst>
            </p:cNvPr>
            <p:cNvPicPr>
              <a:picLocks noChangeAspect="1"/>
            </p:cNvPicPr>
            <p:nvPr/>
          </p:nvPicPr>
          <p:blipFill>
            <a:blip r:embed="rId7"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p14="http://schemas.microsoft.com/office/powerpoint/2010/main" val="27241798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78A1557-3EFD-4F2A-9AEA-05F5519BBF5C}"/>
              </a:ext>
            </a:extLst>
          </p:cNvPr>
          <p:cNvSpPr/>
          <p:nvPr/>
        </p:nvSpPr>
        <p:spPr>
          <a:xfrm>
            <a:off x="6327648" y="0"/>
            <a:ext cx="6327648" cy="6858000"/>
          </a:xfrm>
          <a:prstGeom prst="rect">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bg1"/>
              </a:solidFill>
            </a:endParaRPr>
          </a:p>
        </p:txBody>
      </p:sp>
      <p:sp>
        <p:nvSpPr>
          <p:cNvPr id="5" name="Rectangle 4">
            <a:extLst>
              <a:ext uri="{FF2B5EF4-FFF2-40B4-BE49-F238E27FC236}">
                <a16:creationId xmlns:a16="http://schemas.microsoft.com/office/drawing/2014/main" id="{A45F290B-4C84-4A6D-9994-992A743D6648}"/>
              </a:ext>
            </a:extLst>
          </p:cNvPr>
          <p:cNvSpPr/>
          <p:nvPr/>
        </p:nvSpPr>
        <p:spPr>
          <a:xfrm>
            <a:off x="10061933" y="1667015"/>
            <a:ext cx="652000" cy="3151674"/>
          </a:xfrm>
          <a:prstGeom prst="rect">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dirty="0"/>
          </a:p>
        </p:txBody>
      </p:sp>
      <p:sp>
        <p:nvSpPr>
          <p:cNvPr id="7" name="TextBox 6">
            <a:extLst>
              <a:ext uri="{FF2B5EF4-FFF2-40B4-BE49-F238E27FC236}">
                <a16:creationId xmlns:a16="http://schemas.microsoft.com/office/drawing/2014/main" id="{4D6C4B0E-1C67-4D6A-9D17-B263518BC377}"/>
              </a:ext>
            </a:extLst>
          </p:cNvPr>
          <p:cNvSpPr txBox="1"/>
          <p:nvPr/>
        </p:nvSpPr>
        <p:spPr>
          <a:xfrm>
            <a:off x="4987088" y="617235"/>
            <a:ext cx="1340560" cy="1631216"/>
          </a:xfrm>
          <a:prstGeom prst="rect">
            <a:avLst/>
          </a:prstGeom>
          <a:noFill/>
        </p:spPr>
        <p:txBody>
          <a:bodyPr wrap="square">
            <a:spAutoFit/>
          </a:bodyPr>
          <a:lstStyle/>
          <a:p>
            <a:pPr lvl="0"/>
            <a:r>
              <a:rPr lang="en-US" sz="10000" b="1" i="0" dirty="0">
                <a:solidFill>
                  <a:schemeClr val="bg1"/>
                </a:solidFill>
                <a:latin typeface="Candara" panose="020E0502030303020204" pitchFamily="34" charset="0"/>
                <a:cs typeface="Arial" panose="020B0604020202020204" pitchFamily="34" charset="0"/>
              </a:rPr>
              <a:t>“</a:t>
            </a:r>
          </a:p>
        </p:txBody>
      </p:sp>
      <p:sp>
        <p:nvSpPr>
          <p:cNvPr id="10" name="TextBox 9">
            <a:extLst>
              <a:ext uri="{FF2B5EF4-FFF2-40B4-BE49-F238E27FC236}">
                <a16:creationId xmlns:a16="http://schemas.microsoft.com/office/drawing/2014/main" id="{4A10EA7E-0419-48AB-B4DB-361A5129D2B1}"/>
              </a:ext>
            </a:extLst>
          </p:cNvPr>
          <p:cNvSpPr txBox="1"/>
          <p:nvPr/>
        </p:nvSpPr>
        <p:spPr>
          <a:xfrm>
            <a:off x="7461224" y="1502229"/>
            <a:ext cx="4730776" cy="3908762"/>
          </a:xfrm>
          <a:prstGeom prst="rect">
            <a:avLst/>
          </a:prstGeom>
          <a:noFill/>
        </p:spPr>
        <p:txBody>
          <a:bodyPr wrap="square">
            <a:spAutoFit/>
          </a:bodyPr>
          <a:lstStyle/>
          <a:p>
            <a:r>
              <a:rPr lang="en-US" sz="2800" dirty="0">
                <a:solidFill>
                  <a:schemeClr val="bg1"/>
                </a:solidFill>
                <a:latin typeface="Times New Roman" panose="02020603050405020304" pitchFamily="18" charset="0"/>
                <a:cs typeface="Times New Roman" panose="02020603050405020304" pitchFamily="18" charset="0"/>
              </a:rPr>
              <a:t>9. Political Sociology</a:t>
            </a:r>
          </a:p>
          <a:p>
            <a:endParaRPr lang="en-US" sz="2000" dirty="0">
              <a:solidFill>
                <a:schemeClr val="bg1"/>
              </a:solidFill>
              <a:latin typeface="Times New Roman" panose="02020603050405020304" pitchFamily="18" charset="0"/>
              <a:cs typeface="Times New Roman" panose="02020603050405020304" pitchFamily="18" charset="0"/>
            </a:endParaRPr>
          </a:p>
          <a:p>
            <a:r>
              <a:rPr lang="en-US" sz="2000" dirty="0">
                <a:solidFill>
                  <a:schemeClr val="bg1"/>
                </a:solidFill>
                <a:latin typeface="Times New Roman" panose="02020603050405020304" pitchFamily="18" charset="0"/>
                <a:cs typeface="Times New Roman" panose="02020603050405020304" pitchFamily="18" charset="0"/>
              </a:rPr>
              <a:t>This branch of sociology studies different political moments in society. It includes the study of different political ideologies of individuals, their origin, development and functions. In this study, different political parties are considered as social institutions. Various activities and </a:t>
            </a:r>
            <a:r>
              <a:rPr lang="en-US" sz="2000" dirty="0" err="1">
                <a:solidFill>
                  <a:schemeClr val="bg1"/>
                </a:solidFill>
                <a:latin typeface="Times New Roman" panose="02020603050405020304" pitchFamily="18" charset="0"/>
                <a:cs typeface="Times New Roman" panose="02020603050405020304" pitchFamily="18" charset="0"/>
              </a:rPr>
              <a:t>behaviour</a:t>
            </a:r>
            <a:r>
              <a:rPr lang="en-US" sz="2000" dirty="0">
                <a:solidFill>
                  <a:schemeClr val="bg1"/>
                </a:solidFill>
                <a:latin typeface="Times New Roman" panose="02020603050405020304" pitchFamily="18" charset="0"/>
                <a:cs typeface="Times New Roman" panose="02020603050405020304" pitchFamily="18" charset="0"/>
              </a:rPr>
              <a:t> of political parties are studied in this branch. It helps to understand the factors on which the political decisions are taken. </a:t>
            </a:r>
            <a:endParaRPr lang="en-GB" sz="2000" dirty="0">
              <a:solidFill>
                <a:schemeClr val="bg1"/>
              </a:solidFill>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A4DBDB69-9A1B-4125-B361-592B756106E7}"/>
              </a:ext>
            </a:extLst>
          </p:cNvPr>
          <p:cNvSpPr txBox="1"/>
          <p:nvPr/>
        </p:nvSpPr>
        <p:spPr>
          <a:xfrm>
            <a:off x="1018903" y="992777"/>
            <a:ext cx="4175169" cy="4216539"/>
          </a:xfrm>
          <a:prstGeom prst="rect">
            <a:avLst/>
          </a:prstGeom>
          <a:noFill/>
        </p:spPr>
        <p:txBody>
          <a:bodyPr wrap="square">
            <a:spAutoFit/>
          </a:bodyPr>
          <a:lstStyle/>
          <a:p>
            <a:endParaRPr lang="en-US" sz="2400" b="1" dirty="0">
              <a:solidFill>
                <a:srgbClr val="002147"/>
              </a:solidFill>
              <a:latin typeface="Times New Roman" panose="02020603050405020304" pitchFamily="18" charset="0"/>
              <a:cs typeface="Times New Roman" panose="02020603050405020304" pitchFamily="18" charset="0"/>
            </a:endParaRPr>
          </a:p>
          <a:p>
            <a:r>
              <a:rPr lang="en-US" sz="2800" b="1" dirty="0">
                <a:solidFill>
                  <a:srgbClr val="121416"/>
                </a:solidFill>
                <a:latin typeface="Times New Roman" panose="02020603050405020304" pitchFamily="18" charset="0"/>
                <a:cs typeface="Times New Roman" panose="02020603050405020304" pitchFamily="18" charset="0"/>
              </a:rPr>
              <a:t>4. Law of Figure Ground</a:t>
            </a:r>
          </a:p>
          <a:p>
            <a:r>
              <a:rPr lang="en-US" sz="2400" dirty="0">
                <a:solidFill>
                  <a:srgbClr val="121416"/>
                </a:solidFill>
                <a:latin typeface="Times New Roman" panose="02020603050405020304" pitchFamily="18" charset="0"/>
                <a:cs typeface="Times New Roman" panose="02020603050405020304" pitchFamily="18" charset="0"/>
              </a:rPr>
              <a:t>The principle states that we divide any visual into figure and ground. The image is of the pro app logo which refers to the object in the foreground with the focus, and the ground is the background of the visual. This law is widely used in creating logos for brands.</a:t>
            </a:r>
            <a:endParaRPr lang="en-US" sz="2400" b="0" i="0" dirty="0">
              <a:solidFill>
                <a:srgbClr val="121416"/>
              </a:solidFill>
              <a:effectLst/>
              <a:latin typeface="roboto"/>
            </a:endParaRPr>
          </a:p>
        </p:txBody>
      </p:sp>
      <p:sp>
        <p:nvSpPr>
          <p:cNvPr id="12" name="TextBox 11">
            <a:extLst>
              <a:ext uri="{FF2B5EF4-FFF2-40B4-BE49-F238E27FC236}">
                <a16:creationId xmlns:a16="http://schemas.microsoft.com/office/drawing/2014/main" id="{B0E02EC8-4E1B-4EAD-BFE0-D13411E81EFD}"/>
              </a:ext>
            </a:extLst>
          </p:cNvPr>
          <p:cNvSpPr txBox="1"/>
          <p:nvPr/>
        </p:nvSpPr>
        <p:spPr>
          <a:xfrm>
            <a:off x="5194072" y="485647"/>
            <a:ext cx="1340560" cy="1631216"/>
          </a:xfrm>
          <a:prstGeom prst="rect">
            <a:avLst/>
          </a:prstGeom>
          <a:noFill/>
        </p:spPr>
        <p:txBody>
          <a:bodyPr wrap="square">
            <a:spAutoFit/>
          </a:bodyPr>
          <a:lstStyle/>
          <a:p>
            <a:pPr lvl="0"/>
            <a:r>
              <a:rPr lang="en-US" sz="10000" b="1" i="0" dirty="0">
                <a:solidFill>
                  <a:srgbClr val="D32A2A"/>
                </a:solidFill>
                <a:latin typeface="Candara" panose="020E0502030303020204" pitchFamily="34" charset="0"/>
                <a:cs typeface="Arial" panose="020B0604020202020204" pitchFamily="34" charset="0"/>
              </a:rPr>
              <a:t>“</a:t>
            </a:r>
          </a:p>
        </p:txBody>
      </p:sp>
      <p:pic>
        <p:nvPicPr>
          <p:cNvPr id="2" name="Picture 1">
            <a:extLst>
              <a:ext uri="{FF2B5EF4-FFF2-40B4-BE49-F238E27FC236}">
                <a16:creationId xmlns:a16="http://schemas.microsoft.com/office/drawing/2014/main" id="{42B73CDA-4011-ECF6-1AA2-E4FADF29ABF2}"/>
              </a:ext>
            </a:extLst>
          </p:cNvPr>
          <p:cNvPicPr>
            <a:picLocks noChangeAspect="1"/>
          </p:cNvPicPr>
          <p:nvPr/>
        </p:nvPicPr>
        <p:blipFill>
          <a:blip r:embed="rId2"/>
          <a:stretch>
            <a:fillRect/>
          </a:stretch>
        </p:blipFill>
        <p:spPr>
          <a:xfrm>
            <a:off x="6327649" y="0"/>
            <a:ext cx="6327648" cy="6858000"/>
          </a:xfrm>
          <a:prstGeom prst="rect">
            <a:avLst/>
          </a:prstGeom>
        </p:spPr>
      </p:pic>
    </p:spTree>
    <p:extLst>
      <p:ext uri="{BB962C8B-B14F-4D97-AF65-F5344CB8AC3E}">
        <p14:creationId xmlns:p14="http://schemas.microsoft.com/office/powerpoint/2010/main" val="32964427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78A1557-3EFD-4F2A-9AEA-05F5519BBF5C}"/>
              </a:ext>
            </a:extLst>
          </p:cNvPr>
          <p:cNvSpPr/>
          <p:nvPr/>
        </p:nvSpPr>
        <p:spPr>
          <a:xfrm>
            <a:off x="6327648" y="0"/>
            <a:ext cx="6327648" cy="6858000"/>
          </a:xfrm>
          <a:prstGeom prst="rect">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bg1"/>
              </a:solidFill>
            </a:endParaRPr>
          </a:p>
        </p:txBody>
      </p:sp>
      <p:sp>
        <p:nvSpPr>
          <p:cNvPr id="5" name="Rectangle 4">
            <a:extLst>
              <a:ext uri="{FF2B5EF4-FFF2-40B4-BE49-F238E27FC236}">
                <a16:creationId xmlns:a16="http://schemas.microsoft.com/office/drawing/2014/main" id="{A45F290B-4C84-4A6D-9994-992A743D6648}"/>
              </a:ext>
            </a:extLst>
          </p:cNvPr>
          <p:cNvSpPr/>
          <p:nvPr/>
        </p:nvSpPr>
        <p:spPr>
          <a:xfrm>
            <a:off x="10061933" y="1667015"/>
            <a:ext cx="652000" cy="3151674"/>
          </a:xfrm>
          <a:prstGeom prst="rect">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dirty="0"/>
          </a:p>
        </p:txBody>
      </p:sp>
      <p:sp>
        <p:nvSpPr>
          <p:cNvPr id="7" name="TextBox 6">
            <a:extLst>
              <a:ext uri="{FF2B5EF4-FFF2-40B4-BE49-F238E27FC236}">
                <a16:creationId xmlns:a16="http://schemas.microsoft.com/office/drawing/2014/main" id="{4D6C4B0E-1C67-4D6A-9D17-B263518BC377}"/>
              </a:ext>
            </a:extLst>
          </p:cNvPr>
          <p:cNvSpPr txBox="1"/>
          <p:nvPr/>
        </p:nvSpPr>
        <p:spPr>
          <a:xfrm>
            <a:off x="4987088" y="617235"/>
            <a:ext cx="1340560" cy="1631216"/>
          </a:xfrm>
          <a:prstGeom prst="rect">
            <a:avLst/>
          </a:prstGeom>
          <a:noFill/>
        </p:spPr>
        <p:txBody>
          <a:bodyPr wrap="square">
            <a:spAutoFit/>
          </a:bodyPr>
          <a:lstStyle/>
          <a:p>
            <a:pPr lvl="0"/>
            <a:r>
              <a:rPr lang="en-US" sz="10000" b="1" i="0" dirty="0">
                <a:solidFill>
                  <a:schemeClr val="bg1"/>
                </a:solidFill>
                <a:latin typeface="Candara" panose="020E0502030303020204" pitchFamily="34" charset="0"/>
                <a:cs typeface="Arial" panose="020B0604020202020204" pitchFamily="34" charset="0"/>
              </a:rPr>
              <a:t>“</a:t>
            </a:r>
          </a:p>
        </p:txBody>
      </p:sp>
      <p:sp>
        <p:nvSpPr>
          <p:cNvPr id="11" name="TextBox 10">
            <a:extLst>
              <a:ext uri="{FF2B5EF4-FFF2-40B4-BE49-F238E27FC236}">
                <a16:creationId xmlns:a16="http://schemas.microsoft.com/office/drawing/2014/main" id="{A4DBDB69-9A1B-4125-B361-592B756106E7}"/>
              </a:ext>
            </a:extLst>
          </p:cNvPr>
          <p:cNvSpPr txBox="1"/>
          <p:nvPr/>
        </p:nvSpPr>
        <p:spPr>
          <a:xfrm>
            <a:off x="1225887" y="1667015"/>
            <a:ext cx="4175169" cy="4216539"/>
          </a:xfrm>
          <a:prstGeom prst="rect">
            <a:avLst/>
          </a:prstGeom>
          <a:noFill/>
        </p:spPr>
        <p:txBody>
          <a:bodyPr wrap="square">
            <a:spAutoFit/>
          </a:bodyPr>
          <a:lstStyle/>
          <a:p>
            <a:endParaRPr lang="en-US" sz="2400" b="1" dirty="0">
              <a:solidFill>
                <a:srgbClr val="002147"/>
              </a:solidFill>
              <a:latin typeface="Times New Roman" panose="02020603050405020304" pitchFamily="18" charset="0"/>
              <a:cs typeface="Times New Roman" panose="02020603050405020304" pitchFamily="18" charset="0"/>
            </a:endParaRPr>
          </a:p>
          <a:p>
            <a:r>
              <a:rPr lang="en-US" sz="2800" b="1" dirty="0">
                <a:solidFill>
                  <a:srgbClr val="121416"/>
                </a:solidFill>
                <a:latin typeface="Times New Roman" panose="02020603050405020304" pitchFamily="18" charset="0"/>
                <a:cs typeface="Times New Roman" panose="02020603050405020304" pitchFamily="18" charset="0"/>
              </a:rPr>
              <a:t>5. Law of Continuity</a:t>
            </a:r>
          </a:p>
          <a:p>
            <a:r>
              <a:rPr lang="en-US" sz="2400" dirty="0">
                <a:solidFill>
                  <a:srgbClr val="121416"/>
                </a:solidFill>
                <a:latin typeface="Times New Roman" panose="02020603050405020304" pitchFamily="18" charset="0"/>
                <a:cs typeface="Times New Roman" panose="02020603050405020304" pitchFamily="18" charset="0"/>
              </a:rPr>
              <a:t> </a:t>
            </a:r>
          </a:p>
          <a:p>
            <a:r>
              <a:rPr lang="en-US" sz="2400" dirty="0">
                <a:solidFill>
                  <a:srgbClr val="121416"/>
                </a:solidFill>
                <a:latin typeface="Times New Roman" panose="02020603050405020304" pitchFamily="18" charset="0"/>
                <a:cs typeface="Times New Roman" panose="02020603050405020304" pitchFamily="18" charset="0"/>
              </a:rPr>
              <a:t>The eye tends to follow the objects placed on a straight or curved line more smoothly than at broken lines or angles. They are even perceived as connected and help in the smooth navigation of a website or an application.</a:t>
            </a:r>
            <a:endParaRPr lang="en-US" sz="2400" b="0" i="0" dirty="0">
              <a:solidFill>
                <a:srgbClr val="121416"/>
              </a:solidFill>
              <a:effectLst/>
              <a:latin typeface="roboto"/>
            </a:endParaRPr>
          </a:p>
        </p:txBody>
      </p:sp>
      <p:sp>
        <p:nvSpPr>
          <p:cNvPr id="12" name="TextBox 11">
            <a:extLst>
              <a:ext uri="{FF2B5EF4-FFF2-40B4-BE49-F238E27FC236}">
                <a16:creationId xmlns:a16="http://schemas.microsoft.com/office/drawing/2014/main" id="{B0E02EC8-4E1B-4EAD-BFE0-D13411E81EFD}"/>
              </a:ext>
            </a:extLst>
          </p:cNvPr>
          <p:cNvSpPr txBox="1"/>
          <p:nvPr/>
        </p:nvSpPr>
        <p:spPr>
          <a:xfrm>
            <a:off x="5194072" y="485647"/>
            <a:ext cx="1340560" cy="1631216"/>
          </a:xfrm>
          <a:prstGeom prst="rect">
            <a:avLst/>
          </a:prstGeom>
          <a:noFill/>
        </p:spPr>
        <p:txBody>
          <a:bodyPr wrap="square">
            <a:spAutoFit/>
          </a:bodyPr>
          <a:lstStyle/>
          <a:p>
            <a:pPr lvl="0"/>
            <a:r>
              <a:rPr lang="en-US" sz="10000" b="1" i="0" dirty="0">
                <a:solidFill>
                  <a:srgbClr val="D32A2A"/>
                </a:solidFill>
                <a:latin typeface="Candara" panose="020E0502030303020204" pitchFamily="34" charset="0"/>
                <a:cs typeface="Arial" panose="020B0604020202020204" pitchFamily="34" charset="0"/>
              </a:rPr>
              <a:t>“</a:t>
            </a:r>
          </a:p>
        </p:txBody>
      </p:sp>
      <p:pic>
        <p:nvPicPr>
          <p:cNvPr id="6" name="Picture 5">
            <a:extLst>
              <a:ext uri="{FF2B5EF4-FFF2-40B4-BE49-F238E27FC236}">
                <a16:creationId xmlns:a16="http://schemas.microsoft.com/office/drawing/2014/main" id="{126C735C-5A9C-B4CF-4ED2-97C98EF60909}"/>
              </a:ext>
            </a:extLst>
          </p:cNvPr>
          <p:cNvPicPr>
            <a:picLocks noChangeAspect="1"/>
          </p:cNvPicPr>
          <p:nvPr/>
        </p:nvPicPr>
        <p:blipFill>
          <a:blip r:embed="rId2"/>
          <a:stretch>
            <a:fillRect/>
          </a:stretch>
        </p:blipFill>
        <p:spPr>
          <a:xfrm>
            <a:off x="6327647" y="0"/>
            <a:ext cx="6327647" cy="6858000"/>
          </a:xfrm>
          <a:prstGeom prst="rect">
            <a:avLst/>
          </a:prstGeom>
        </p:spPr>
      </p:pic>
    </p:spTree>
    <p:extLst>
      <p:ext uri="{BB962C8B-B14F-4D97-AF65-F5344CB8AC3E}">
        <p14:creationId xmlns:p14="http://schemas.microsoft.com/office/powerpoint/2010/main" val="5488168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a:extLst>
              <a:ext uri="{FF2B5EF4-FFF2-40B4-BE49-F238E27FC236}">
                <a16:creationId xmlns:a16="http://schemas.microsoft.com/office/drawing/2014/main" id="{9A5FA253-E6BC-4DC7-8473-349FAFA95F7E}"/>
              </a:ext>
            </a:extLst>
          </p:cNvPr>
          <p:cNvSpPr txBox="1"/>
          <p:nvPr/>
        </p:nvSpPr>
        <p:spPr>
          <a:xfrm>
            <a:off x="628650" y="1371600"/>
            <a:ext cx="7842250" cy="5247590"/>
          </a:xfrm>
          <a:prstGeom prst="rect">
            <a:avLst/>
          </a:prstGeom>
          <a:noFill/>
        </p:spPr>
        <p:txBody>
          <a:bodyPr wrap="square" rtlCol="0">
            <a:spAutoFit/>
          </a:bodyPr>
          <a:lstStyle/>
          <a:p>
            <a:pPr>
              <a:spcBef>
                <a:spcPts val="600"/>
              </a:spcBef>
            </a:pPr>
            <a:r>
              <a:rPr lang="en-US" sz="3200" b="1" dirty="0">
                <a:latin typeface="Times New Roman" panose="02020603050405020304" pitchFamily="18" charset="0"/>
                <a:ea typeface="Arial" charset="0"/>
                <a:cs typeface="Times New Roman" panose="02020603050405020304" pitchFamily="18" charset="0"/>
              </a:rPr>
              <a:t>Examples </a:t>
            </a:r>
          </a:p>
          <a:p>
            <a:pPr marL="342900" indent="-342900">
              <a:spcBef>
                <a:spcPts val="600"/>
              </a:spcBef>
              <a:buFont typeface="Arial" panose="020B0604020202020204" pitchFamily="34" charset="0"/>
              <a:buChar char="•"/>
            </a:pPr>
            <a:r>
              <a:rPr lang="en-US" sz="2400" dirty="0">
                <a:latin typeface="Times New Roman" panose="02020603050405020304" pitchFamily="18" charset="0"/>
                <a:ea typeface="Arial" charset="0"/>
                <a:cs typeface="Times New Roman" panose="02020603050405020304" pitchFamily="18" charset="0"/>
              </a:rPr>
              <a:t>of continuity theory might include any instance of an older adult engaging in tasks, thoughts, or goals that align with their younger self. The theory asserts that older adults maintain similar patterns of behaviors and relationships as when they were young.</a:t>
            </a:r>
            <a:endParaRPr lang="en-US" sz="2400" dirty="0">
              <a:latin typeface="Times New Roman" panose="02020603050405020304" pitchFamily="18" charset="0"/>
              <a:cs typeface="Times New Roman" panose="02020603050405020304" pitchFamily="18" charset="0"/>
            </a:endParaRPr>
          </a:p>
          <a:p>
            <a:pPr marL="342900" indent="-342900">
              <a:spcBef>
                <a:spcPts val="600"/>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Continuity is that our brains tend to see objects as continuous or smooth rather than disjointed or discontinuous. A great example of this phenomenon is a movie.</a:t>
            </a:r>
          </a:p>
          <a:p>
            <a:pPr marL="342900" indent="-342900">
              <a:spcBef>
                <a:spcPts val="600"/>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Similar objects in a line, smooth flow of water like rivers, straight and uninterrupted roads are some of the examples of continuation in the real world</a:t>
            </a:r>
            <a:endParaRPr lang="en-PK" sz="2400" dirty="0">
              <a:latin typeface="Times New Roman" panose="02020603050405020304" pitchFamily="18" charset="0"/>
              <a:cs typeface="Times New Roman" panose="02020603050405020304" pitchFamily="18" charset="0"/>
            </a:endParaRPr>
          </a:p>
        </p:txBody>
      </p:sp>
      <p:grpSp>
        <p:nvGrpSpPr>
          <p:cNvPr id="20" name="Group 19">
            <a:extLst>
              <a:ext uri="{FF2B5EF4-FFF2-40B4-BE49-F238E27FC236}">
                <a16:creationId xmlns:a16="http://schemas.microsoft.com/office/drawing/2014/main" id="{1EBEA25A-199D-4D78-B795-C46C85A52E0B}"/>
              </a:ext>
            </a:extLst>
          </p:cNvPr>
          <p:cNvGrpSpPr/>
          <p:nvPr/>
        </p:nvGrpSpPr>
        <p:grpSpPr>
          <a:xfrm>
            <a:off x="0" y="0"/>
            <a:ext cx="12749348" cy="1115736"/>
            <a:chOff x="0" y="0"/>
            <a:chExt cx="12749348" cy="1115736"/>
          </a:xfrm>
        </p:grpSpPr>
        <p:sp>
          <p:nvSpPr>
            <p:cNvPr id="21" name="Rectangle 20">
              <a:extLst>
                <a:ext uri="{FF2B5EF4-FFF2-40B4-BE49-F238E27FC236}">
                  <a16:creationId xmlns:a16="http://schemas.microsoft.com/office/drawing/2014/main" id="{670D3031-B614-4825-9EBF-C1E73C4E9DBB}"/>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pic>
          <p:nvPicPr>
            <p:cNvPr id="22" name="Picture 21">
              <a:extLst>
                <a:ext uri="{FF2B5EF4-FFF2-40B4-BE49-F238E27FC236}">
                  <a16:creationId xmlns:a16="http://schemas.microsoft.com/office/drawing/2014/main" id="{D74C19F5-C6B4-4428-89D1-EB6EC79A5E95}"/>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23" name="TextBox 22">
              <a:extLst>
                <a:ext uri="{FF2B5EF4-FFF2-40B4-BE49-F238E27FC236}">
                  <a16:creationId xmlns:a16="http://schemas.microsoft.com/office/drawing/2014/main" id="{CA2AD84F-7748-4055-8715-3197B2C846C7}"/>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24" name="Graphic 23">
              <a:extLst>
                <a:ext uri="{FF2B5EF4-FFF2-40B4-BE49-F238E27FC236}">
                  <a16:creationId xmlns:a16="http://schemas.microsoft.com/office/drawing/2014/main" id="{C28E98CA-7A21-4AA3-9B8F-1799DD34823D}"/>
                </a:ext>
              </a:extLst>
            </p:cNvPr>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9906056" y="403986"/>
              <a:ext cx="261610" cy="261610"/>
            </a:xfrm>
            <a:prstGeom prst="rect">
              <a:avLst/>
            </a:prstGeom>
          </p:spPr>
        </p:pic>
        <p:sp>
          <p:nvSpPr>
            <p:cNvPr id="25" name="TextBox 24">
              <a:extLst>
                <a:ext uri="{FF2B5EF4-FFF2-40B4-BE49-F238E27FC236}">
                  <a16:creationId xmlns:a16="http://schemas.microsoft.com/office/drawing/2014/main" id="{ACDD3783-E879-4E85-BB51-871A7A8018E0}"/>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26" name="Graphic 25">
              <a:extLst>
                <a:ext uri="{FF2B5EF4-FFF2-40B4-BE49-F238E27FC236}">
                  <a16:creationId xmlns:a16="http://schemas.microsoft.com/office/drawing/2014/main" id="{E5C669A3-D490-4746-8542-0EDF14F741F8}"/>
                </a:ext>
              </a:extLst>
            </p:cNvPr>
            <p:cNvPicPr>
              <a:picLocks noChangeAspect="1"/>
            </p:cNvPicPr>
            <p:nvPr/>
          </p:nvPicPr>
          <p:blipFill>
            <a:blip r:embed="rId5">
              <a:extLst>
                <a:ext uri="{96DAC541-7B7A-43D3-8B79-37D633B846F1}">
                  <asvg:svgBlip xmlns:asvg="http://schemas.microsoft.com/office/drawing/2016/SVG/main" xmlns="" r:embed="rId6"/>
                </a:ext>
              </a:extLst>
            </a:blip>
            <a:stretch>
              <a:fillRect/>
            </a:stretch>
          </p:blipFill>
          <p:spPr>
            <a:xfrm>
              <a:off x="10591033" y="741997"/>
              <a:ext cx="171450" cy="171450"/>
            </a:xfrm>
            <a:prstGeom prst="rect">
              <a:avLst/>
            </a:prstGeom>
          </p:spPr>
        </p:pic>
        <p:pic>
          <p:nvPicPr>
            <p:cNvPr id="27" name="Picture 26">
              <a:extLst>
                <a:ext uri="{FF2B5EF4-FFF2-40B4-BE49-F238E27FC236}">
                  <a16:creationId xmlns:a16="http://schemas.microsoft.com/office/drawing/2014/main" id="{8F309829-A49F-4E58-8019-7A5F6A26DDC6}"/>
                </a:ext>
              </a:extLst>
            </p:cNvPr>
            <p:cNvPicPr>
              <a:picLocks noChangeAspect="1"/>
            </p:cNvPicPr>
            <p:nvPr/>
          </p:nvPicPr>
          <p:blipFill>
            <a:blip r:embed="rId7"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pic>
        <p:nvPicPr>
          <p:cNvPr id="6" name="Picture 5">
            <a:extLst>
              <a:ext uri="{FF2B5EF4-FFF2-40B4-BE49-F238E27FC236}">
                <a16:creationId xmlns:a16="http://schemas.microsoft.com/office/drawing/2014/main" id="{AAF0B542-D66D-B49D-91DE-CCF052472C36}"/>
              </a:ext>
            </a:extLst>
          </p:cNvPr>
          <p:cNvPicPr>
            <a:picLocks noChangeAspect="1"/>
          </p:cNvPicPr>
          <p:nvPr/>
        </p:nvPicPr>
        <p:blipFill>
          <a:blip r:embed="rId8"/>
          <a:stretch>
            <a:fillRect/>
          </a:stretch>
        </p:blipFill>
        <p:spPr>
          <a:xfrm>
            <a:off x="8470900" y="2197100"/>
            <a:ext cx="3434583" cy="3238500"/>
          </a:xfrm>
          <a:prstGeom prst="rect">
            <a:avLst/>
          </a:prstGeom>
        </p:spPr>
      </p:pic>
    </p:spTree>
    <p:extLst>
      <p:ext uri="{BB962C8B-B14F-4D97-AF65-F5344CB8AC3E}">
        <p14:creationId xmlns:p14="http://schemas.microsoft.com/office/powerpoint/2010/main" val="11406326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B420313-4D14-4A70-A7AC-836FE2E9F46E}"/>
              </a:ext>
            </a:extLst>
          </p:cNvPr>
          <p:cNvSpPr/>
          <p:nvPr/>
        </p:nvSpPr>
        <p:spPr>
          <a:xfrm>
            <a:off x="831850" y="694944"/>
            <a:ext cx="10528300" cy="5413248"/>
          </a:xfrm>
          <a:prstGeom prst="rect">
            <a:avLst/>
          </a:prstGeom>
          <a:solidFill>
            <a:srgbClr val="D32A2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D32A2A"/>
              </a:solidFill>
            </a:endParaRPr>
          </a:p>
        </p:txBody>
      </p:sp>
      <p:sp>
        <p:nvSpPr>
          <p:cNvPr id="2" name="Title 1">
            <a:extLst>
              <a:ext uri="{FF2B5EF4-FFF2-40B4-BE49-F238E27FC236}">
                <a16:creationId xmlns:a16="http://schemas.microsoft.com/office/drawing/2014/main" id="{87906394-C5CE-42DD-B341-066A6E26D664}"/>
              </a:ext>
            </a:extLst>
          </p:cNvPr>
          <p:cNvSpPr>
            <a:spLocks noGrp="1"/>
          </p:cNvSpPr>
          <p:nvPr>
            <p:ph type="title"/>
          </p:nvPr>
        </p:nvSpPr>
        <p:spPr>
          <a:xfrm>
            <a:off x="1558671" y="1526859"/>
            <a:ext cx="9061958" cy="863644"/>
          </a:xfrm>
        </p:spPr>
        <p:txBody>
          <a:bodyPr>
            <a:normAutofit/>
          </a:bodyPr>
          <a:lstStyle/>
          <a:p>
            <a:pPr algn="ctr"/>
            <a:r>
              <a:rPr lang="en-GB" sz="3600" i="1" dirty="0"/>
              <a:t>Factors effecting the Perception</a:t>
            </a:r>
          </a:p>
        </p:txBody>
      </p:sp>
      <p:cxnSp>
        <p:nvCxnSpPr>
          <p:cNvPr id="6" name="Straight Connector 5">
            <a:extLst>
              <a:ext uri="{FF2B5EF4-FFF2-40B4-BE49-F238E27FC236}">
                <a16:creationId xmlns:a16="http://schemas.microsoft.com/office/drawing/2014/main" id="{99F09E0A-6668-4C26-83CB-C97A0AF9773E}"/>
              </a:ext>
            </a:extLst>
          </p:cNvPr>
          <p:cNvCxnSpPr>
            <a:cxnSpLocks/>
          </p:cNvCxnSpPr>
          <p:nvPr/>
        </p:nvCxnSpPr>
        <p:spPr>
          <a:xfrm>
            <a:off x="1558671" y="3484247"/>
            <a:ext cx="9212961"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8" name="Title 1">
            <a:extLst>
              <a:ext uri="{FF2B5EF4-FFF2-40B4-BE49-F238E27FC236}">
                <a16:creationId xmlns:a16="http://schemas.microsoft.com/office/drawing/2014/main" id="{63469167-935F-4853-A76C-2FA002B9FDCE}"/>
              </a:ext>
            </a:extLst>
          </p:cNvPr>
          <p:cNvSpPr txBox="1">
            <a:spLocks/>
          </p:cNvSpPr>
          <p:nvPr/>
        </p:nvSpPr>
        <p:spPr>
          <a:xfrm>
            <a:off x="1782572" y="2612571"/>
            <a:ext cx="9061958" cy="2746579"/>
          </a:xfrm>
          <a:prstGeom prst="rect">
            <a:avLst/>
          </a:prstGeom>
        </p:spPr>
        <p:txBody>
          <a:bodyPr vert="horz" lIns="91440" tIns="45720" rIns="91440" bIns="45720" rtlCol="0" anchor="b">
            <a:normAutofit fontScale="97500"/>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342900" indent="-342900">
              <a:buFont typeface="Arial" panose="020B0604020202020204" pitchFamily="34" charset="0"/>
              <a:buChar char="•"/>
            </a:pPr>
            <a:r>
              <a:rPr lang="en-US" sz="2400" dirty="0">
                <a:solidFill>
                  <a:schemeClr val="bg1"/>
                </a:solidFill>
                <a:latin typeface="Times New Roman" panose="02020603050405020304" pitchFamily="18" charset="0"/>
                <a:cs typeface="Times New Roman" panose="02020603050405020304" pitchFamily="18" charset="0"/>
              </a:rPr>
              <a:t>Perception is a cognitive process that is used to understand and interpret information that we get from our senses, and certain factors affect perception, such as emotion, motivation, culture, and expectations.</a:t>
            </a:r>
          </a:p>
          <a:p>
            <a:pPr marL="342900" indent="-342900">
              <a:buFont typeface="Arial" panose="020B0604020202020204" pitchFamily="34" charset="0"/>
              <a:buChar char="•"/>
            </a:pPr>
            <a:r>
              <a:rPr lang="en-GB" sz="2400" b="1" dirty="0">
                <a:solidFill>
                  <a:schemeClr val="bg1"/>
                </a:solidFill>
                <a:latin typeface="Times New Roman" panose="02020603050405020304" pitchFamily="18" charset="0"/>
                <a:cs typeface="Times New Roman" panose="02020603050405020304" pitchFamily="18" charset="0"/>
              </a:rPr>
              <a:t>External factors</a:t>
            </a:r>
          </a:p>
          <a:p>
            <a:pPr marL="342900" indent="-342900">
              <a:buFont typeface="Arial" panose="020B0604020202020204" pitchFamily="34" charset="0"/>
              <a:buChar char="•"/>
            </a:pPr>
            <a:r>
              <a:rPr lang="en-GB" sz="2400" b="1" dirty="0">
                <a:solidFill>
                  <a:schemeClr val="bg1"/>
                </a:solidFill>
                <a:latin typeface="Times New Roman" panose="02020603050405020304" pitchFamily="18" charset="0"/>
                <a:cs typeface="Times New Roman" panose="02020603050405020304" pitchFamily="18" charset="0"/>
              </a:rPr>
              <a:t>Psychological factors</a:t>
            </a:r>
          </a:p>
        </p:txBody>
      </p:sp>
    </p:spTree>
    <p:extLst>
      <p:ext uri="{BB962C8B-B14F-4D97-AF65-F5344CB8AC3E}">
        <p14:creationId xmlns:p14="http://schemas.microsoft.com/office/powerpoint/2010/main" val="24262356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DB05C64-FEF6-6E2D-DABA-8B28398FAC2F}"/>
              </a:ext>
            </a:extLst>
          </p:cNvPr>
          <p:cNvPicPr>
            <a:picLocks noChangeAspect="1"/>
          </p:cNvPicPr>
          <p:nvPr/>
        </p:nvPicPr>
        <p:blipFill>
          <a:blip r:embed="rId2"/>
          <a:stretch>
            <a:fillRect/>
          </a:stretch>
        </p:blipFill>
        <p:spPr>
          <a:xfrm>
            <a:off x="1262743" y="1581150"/>
            <a:ext cx="10199914" cy="4591050"/>
          </a:xfrm>
          <a:prstGeom prst="rect">
            <a:avLst/>
          </a:prstGeom>
        </p:spPr>
      </p:pic>
      <p:grpSp>
        <p:nvGrpSpPr>
          <p:cNvPr id="5" name="Group 4">
            <a:extLst>
              <a:ext uri="{FF2B5EF4-FFF2-40B4-BE49-F238E27FC236}">
                <a16:creationId xmlns:a16="http://schemas.microsoft.com/office/drawing/2014/main" id="{177ED61F-B57E-D40B-960D-271318634F64}"/>
              </a:ext>
            </a:extLst>
          </p:cNvPr>
          <p:cNvGrpSpPr/>
          <p:nvPr/>
        </p:nvGrpSpPr>
        <p:grpSpPr>
          <a:xfrm>
            <a:off x="0" y="0"/>
            <a:ext cx="12749348" cy="1115736"/>
            <a:chOff x="0" y="0"/>
            <a:chExt cx="12749348" cy="1115736"/>
          </a:xfrm>
        </p:grpSpPr>
        <p:sp>
          <p:nvSpPr>
            <p:cNvPr id="6" name="Rectangle 5">
              <a:extLst>
                <a:ext uri="{FF2B5EF4-FFF2-40B4-BE49-F238E27FC236}">
                  <a16:creationId xmlns:a16="http://schemas.microsoft.com/office/drawing/2014/main" id="{437CDB69-A8EE-62CA-3919-96E54A85830E}"/>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pic>
          <p:nvPicPr>
            <p:cNvPr id="7" name="Picture 6">
              <a:extLst>
                <a:ext uri="{FF2B5EF4-FFF2-40B4-BE49-F238E27FC236}">
                  <a16:creationId xmlns:a16="http://schemas.microsoft.com/office/drawing/2014/main" id="{FF69FD0C-4D08-A1C5-91EB-2DAF41281DF3}"/>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8" name="TextBox 7">
              <a:extLst>
                <a:ext uri="{FF2B5EF4-FFF2-40B4-BE49-F238E27FC236}">
                  <a16:creationId xmlns:a16="http://schemas.microsoft.com/office/drawing/2014/main" id="{B7DF1A91-0388-E5B3-2286-B9B5E12A9BE1}"/>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9" name="Graphic 8">
              <a:extLst>
                <a:ext uri="{FF2B5EF4-FFF2-40B4-BE49-F238E27FC236}">
                  <a16:creationId xmlns:a16="http://schemas.microsoft.com/office/drawing/2014/main" id="{D1F994EF-E266-08B3-986C-DE177A1AFFB4}"/>
                </a:ext>
              </a:extLst>
            </p:cNvPr>
            <p:cNvPicPr>
              <a:picLocks noChangeAspect="1"/>
            </p:cNvPicPr>
            <p:nvPr/>
          </p:nvPicPr>
          <p:blipFill>
            <a:blip r:embed="rId4">
              <a:extLst>
                <a:ext uri="{96DAC541-7B7A-43D3-8B79-37D633B846F1}">
                  <asvg:svgBlip xmlns:asvg="http://schemas.microsoft.com/office/drawing/2016/SVG/main" xmlns="" r:embed="rId5"/>
                </a:ext>
              </a:extLst>
            </a:blip>
            <a:stretch>
              <a:fillRect/>
            </a:stretch>
          </p:blipFill>
          <p:spPr>
            <a:xfrm>
              <a:off x="9906056" y="403986"/>
              <a:ext cx="261610" cy="261610"/>
            </a:xfrm>
            <a:prstGeom prst="rect">
              <a:avLst/>
            </a:prstGeom>
          </p:spPr>
        </p:pic>
        <p:sp>
          <p:nvSpPr>
            <p:cNvPr id="10" name="TextBox 9">
              <a:extLst>
                <a:ext uri="{FF2B5EF4-FFF2-40B4-BE49-F238E27FC236}">
                  <a16:creationId xmlns:a16="http://schemas.microsoft.com/office/drawing/2014/main" id="{9FB54C32-4635-3FBE-3E82-6B63E5AC972F}"/>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1" name="Graphic 10">
              <a:extLst>
                <a:ext uri="{FF2B5EF4-FFF2-40B4-BE49-F238E27FC236}">
                  <a16:creationId xmlns:a16="http://schemas.microsoft.com/office/drawing/2014/main" id="{3341F589-A313-1494-435C-6B78121E5A32}"/>
                </a:ext>
              </a:extLst>
            </p:cNvPr>
            <p:cNvPicPr>
              <a:picLocks noChangeAspect="1"/>
            </p:cNvPicPr>
            <p:nvPr/>
          </p:nvPicPr>
          <p:blipFill>
            <a:blip r:embed="rId6">
              <a:extLst>
                <a:ext uri="{96DAC541-7B7A-43D3-8B79-37D633B846F1}">
                  <asvg:svgBlip xmlns:asvg="http://schemas.microsoft.com/office/drawing/2016/SVG/main" xmlns="" r:embed="rId7"/>
                </a:ext>
              </a:extLst>
            </a:blip>
            <a:stretch>
              <a:fillRect/>
            </a:stretch>
          </p:blipFill>
          <p:spPr>
            <a:xfrm>
              <a:off x="10591033" y="741997"/>
              <a:ext cx="171450" cy="171450"/>
            </a:xfrm>
            <a:prstGeom prst="rect">
              <a:avLst/>
            </a:prstGeom>
          </p:spPr>
        </p:pic>
        <p:pic>
          <p:nvPicPr>
            <p:cNvPr id="12" name="Picture 11">
              <a:extLst>
                <a:ext uri="{FF2B5EF4-FFF2-40B4-BE49-F238E27FC236}">
                  <a16:creationId xmlns:a16="http://schemas.microsoft.com/office/drawing/2014/main" id="{1CDF887D-3F7B-8AC2-FE42-3788C89EEEE5}"/>
                </a:ext>
              </a:extLst>
            </p:cNvPr>
            <p:cNvPicPr>
              <a:picLocks noChangeAspect="1"/>
            </p:cNvPicPr>
            <p:nvPr/>
          </p:nvPicPr>
          <p:blipFill>
            <a:blip r:embed="rId8"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p14="http://schemas.microsoft.com/office/powerpoint/2010/main" val="7019583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0398FBFF-3402-44AC-9CFF-71D3C76E053A}"/>
              </a:ext>
            </a:extLst>
          </p:cNvPr>
          <p:cNvSpPr txBox="1">
            <a:spLocks/>
          </p:cNvSpPr>
          <p:nvPr/>
        </p:nvSpPr>
        <p:spPr>
          <a:xfrm>
            <a:off x="411710" y="1595211"/>
            <a:ext cx="10923027" cy="4087132"/>
          </a:xfrm>
          <a:prstGeom prst="rect">
            <a:avLst/>
          </a:prstGeom>
        </p:spPr>
        <p:txBody>
          <a:bodyPr vert="horz" lIns="91440" tIns="45720" rIns="91440" bIns="45720" rtlCol="0" anchor="ctr"/>
          <a:lstStyle>
            <a:defPPr>
              <a:defRPr lang="en-PK"/>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400" b="1" dirty="0">
                <a:solidFill>
                  <a:schemeClr val="tx1"/>
                </a:solidFill>
                <a:latin typeface="Times New Roman" panose="02020603050405020304" pitchFamily="18" charset="0"/>
                <a:cs typeface="Times New Roman" panose="02020603050405020304" pitchFamily="18" charset="0"/>
              </a:rPr>
              <a:t>External Factors:</a:t>
            </a:r>
            <a:endParaRPr lang="en-US" sz="2400" dirty="0">
              <a:solidFill>
                <a:schemeClr val="tx1"/>
              </a:solidFill>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400" b="1" dirty="0">
                <a:solidFill>
                  <a:schemeClr val="tx1"/>
                </a:solidFill>
                <a:latin typeface="Times New Roman" panose="02020603050405020304" pitchFamily="18" charset="0"/>
                <a:cs typeface="Times New Roman" panose="02020603050405020304" pitchFamily="18" charset="0"/>
              </a:rPr>
              <a:t>Intensity</a:t>
            </a:r>
          </a:p>
          <a:p>
            <a:r>
              <a:rPr lang="en-US" sz="2000" dirty="0">
                <a:solidFill>
                  <a:schemeClr val="tx1"/>
                </a:solidFill>
                <a:latin typeface="Times New Roman" panose="02020603050405020304" pitchFamily="18" charset="0"/>
                <a:cs typeface="Times New Roman" panose="02020603050405020304" pitchFamily="18" charset="0"/>
              </a:rPr>
              <a:t>The more intense something is, the more likely it is that it will be perceived. For example, people are more likely to perceive a loud noise rather than a quiet background noise.</a:t>
            </a:r>
            <a:endParaRPr lang="en-US" sz="2400" b="1" dirty="0">
              <a:solidFill>
                <a:srgbClr val="000000"/>
              </a:solidFill>
              <a:latin typeface="Times New Roman" panose="02020603050405020304" pitchFamily="18" charset="0"/>
              <a:cs typeface="Times New Roman" panose="02020603050405020304" pitchFamily="18" charset="0"/>
            </a:endParaRPr>
          </a:p>
          <a:p>
            <a:endParaRPr lang="en-US" sz="2000" dirty="0">
              <a:solidFill>
                <a:srgbClr val="000000"/>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400" dirty="0">
                <a:solidFill>
                  <a:schemeClr val="tx1"/>
                </a:solidFill>
                <a:latin typeface="Times New Roman" panose="02020603050405020304" pitchFamily="18" charset="0"/>
                <a:cs typeface="Times New Roman" panose="02020603050405020304" pitchFamily="18" charset="0"/>
              </a:rPr>
              <a:t> </a:t>
            </a:r>
            <a:r>
              <a:rPr lang="en-US" sz="2400" b="1" dirty="0">
                <a:solidFill>
                  <a:schemeClr val="tx1"/>
                </a:solidFill>
                <a:latin typeface="Times New Roman" panose="02020603050405020304" pitchFamily="18" charset="0"/>
                <a:cs typeface="Times New Roman" panose="02020603050405020304" pitchFamily="18" charset="0"/>
              </a:rPr>
              <a:t>Changes</a:t>
            </a:r>
          </a:p>
          <a:p>
            <a:r>
              <a:rPr lang="en-US" sz="2000" dirty="0">
                <a:solidFill>
                  <a:schemeClr val="tx1"/>
                </a:solidFill>
                <a:latin typeface="Times New Roman" panose="02020603050405020304" pitchFamily="18" charset="0"/>
                <a:cs typeface="Times New Roman" panose="02020603050405020304" pitchFamily="18" charset="0"/>
              </a:rPr>
              <a:t>When driving in a car, there are constant changes in visual stimuli. So, what we see/perceive constantly changes.</a:t>
            </a:r>
          </a:p>
          <a:p>
            <a:endParaRPr lang="en-US" sz="2000" dirty="0">
              <a:solidFill>
                <a:schemeClr val="tx1"/>
              </a:solidFill>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400" b="1" dirty="0">
                <a:solidFill>
                  <a:schemeClr val="tx1"/>
                </a:solidFill>
                <a:latin typeface="Times New Roman" panose="02020603050405020304" pitchFamily="18" charset="0"/>
                <a:cs typeface="Times New Roman" panose="02020603050405020304" pitchFamily="18" charset="0"/>
              </a:rPr>
              <a:t>Magnitude</a:t>
            </a:r>
          </a:p>
          <a:p>
            <a:r>
              <a:rPr lang="en-US" sz="2000" dirty="0">
                <a:solidFill>
                  <a:schemeClr val="tx1"/>
                </a:solidFill>
                <a:latin typeface="Times New Roman" panose="02020603050405020304" pitchFamily="18" charset="0"/>
                <a:cs typeface="Times New Roman" panose="02020603050405020304" pitchFamily="18" charset="0"/>
              </a:rPr>
              <a:t>The larger the size of an object, the more likely it is to be seen/perceived.</a:t>
            </a:r>
          </a:p>
        </p:txBody>
      </p:sp>
      <p:grpSp>
        <p:nvGrpSpPr>
          <p:cNvPr id="10" name="Group 9">
            <a:extLst>
              <a:ext uri="{FF2B5EF4-FFF2-40B4-BE49-F238E27FC236}">
                <a16:creationId xmlns:a16="http://schemas.microsoft.com/office/drawing/2014/main" id="{9147A9A5-6E4B-45B5-A1D6-2E2CC3DACA54}"/>
              </a:ext>
            </a:extLst>
          </p:cNvPr>
          <p:cNvGrpSpPr/>
          <p:nvPr/>
        </p:nvGrpSpPr>
        <p:grpSpPr>
          <a:xfrm>
            <a:off x="0" y="0"/>
            <a:ext cx="12749348" cy="1115736"/>
            <a:chOff x="0" y="0"/>
            <a:chExt cx="12749348" cy="1115736"/>
          </a:xfrm>
        </p:grpSpPr>
        <p:sp>
          <p:nvSpPr>
            <p:cNvPr id="11" name="Rectangle 10">
              <a:extLst>
                <a:ext uri="{FF2B5EF4-FFF2-40B4-BE49-F238E27FC236}">
                  <a16:creationId xmlns:a16="http://schemas.microsoft.com/office/drawing/2014/main" id="{4CAEB2B4-072D-4229-94BD-E34FA4C1D4E6}"/>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pic>
          <p:nvPicPr>
            <p:cNvPr id="12" name="Picture 11">
              <a:extLst>
                <a:ext uri="{FF2B5EF4-FFF2-40B4-BE49-F238E27FC236}">
                  <a16:creationId xmlns:a16="http://schemas.microsoft.com/office/drawing/2014/main" id="{92AEB78D-C3B4-4A7A-80CA-53543A5D4435}"/>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3" name="TextBox 12">
              <a:extLst>
                <a:ext uri="{FF2B5EF4-FFF2-40B4-BE49-F238E27FC236}">
                  <a16:creationId xmlns:a16="http://schemas.microsoft.com/office/drawing/2014/main" id="{8D93294A-2F98-4A5A-A82E-005CD9D43DFD}"/>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14" name="Graphic 13">
              <a:extLst>
                <a:ext uri="{FF2B5EF4-FFF2-40B4-BE49-F238E27FC236}">
                  <a16:creationId xmlns:a16="http://schemas.microsoft.com/office/drawing/2014/main" id="{85894A6D-0713-42B1-893C-A4CD02806E10}"/>
                </a:ext>
              </a:extLst>
            </p:cNvPr>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9906056" y="403986"/>
              <a:ext cx="261610" cy="261610"/>
            </a:xfrm>
            <a:prstGeom prst="rect">
              <a:avLst/>
            </a:prstGeom>
          </p:spPr>
        </p:pic>
        <p:sp>
          <p:nvSpPr>
            <p:cNvPr id="15" name="TextBox 14">
              <a:extLst>
                <a:ext uri="{FF2B5EF4-FFF2-40B4-BE49-F238E27FC236}">
                  <a16:creationId xmlns:a16="http://schemas.microsoft.com/office/drawing/2014/main" id="{AC0DCD85-05B0-4260-866F-C0E865F08F86}"/>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6" name="Graphic 15">
              <a:extLst>
                <a:ext uri="{FF2B5EF4-FFF2-40B4-BE49-F238E27FC236}">
                  <a16:creationId xmlns:a16="http://schemas.microsoft.com/office/drawing/2014/main" id="{691E0CCE-CC2F-48D8-BD6A-164BA1890E8E}"/>
                </a:ext>
              </a:extLst>
            </p:cNvPr>
            <p:cNvPicPr>
              <a:picLocks noChangeAspect="1"/>
            </p:cNvPicPr>
            <p:nvPr/>
          </p:nvPicPr>
          <p:blipFill>
            <a:blip r:embed="rId5">
              <a:extLst>
                <a:ext uri="{96DAC541-7B7A-43D3-8B79-37D633B846F1}">
                  <asvg:svgBlip xmlns:asvg="http://schemas.microsoft.com/office/drawing/2016/SVG/main" xmlns="" r:embed="rId6"/>
                </a:ext>
              </a:extLst>
            </a:blip>
            <a:stretch>
              <a:fillRect/>
            </a:stretch>
          </p:blipFill>
          <p:spPr>
            <a:xfrm>
              <a:off x="10591033" y="741997"/>
              <a:ext cx="171450" cy="171450"/>
            </a:xfrm>
            <a:prstGeom prst="rect">
              <a:avLst/>
            </a:prstGeom>
          </p:spPr>
        </p:pic>
        <p:pic>
          <p:nvPicPr>
            <p:cNvPr id="17" name="Picture 16">
              <a:extLst>
                <a:ext uri="{FF2B5EF4-FFF2-40B4-BE49-F238E27FC236}">
                  <a16:creationId xmlns:a16="http://schemas.microsoft.com/office/drawing/2014/main" id="{1AE0E661-5285-4714-81F2-35134892A6F9}"/>
                </a:ext>
              </a:extLst>
            </p:cNvPr>
            <p:cNvPicPr>
              <a:picLocks noChangeAspect="1"/>
            </p:cNvPicPr>
            <p:nvPr/>
          </p:nvPicPr>
          <p:blipFill>
            <a:blip r:embed="rId7"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p14="http://schemas.microsoft.com/office/powerpoint/2010/main" val="13220073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0398FBFF-3402-44AC-9CFF-71D3C76E053A}"/>
              </a:ext>
            </a:extLst>
          </p:cNvPr>
          <p:cNvSpPr txBox="1">
            <a:spLocks/>
          </p:cNvSpPr>
          <p:nvPr/>
        </p:nvSpPr>
        <p:spPr>
          <a:xfrm>
            <a:off x="402832" y="1519722"/>
            <a:ext cx="10923027" cy="4087132"/>
          </a:xfrm>
          <a:prstGeom prst="rect">
            <a:avLst/>
          </a:prstGeom>
        </p:spPr>
        <p:txBody>
          <a:bodyPr vert="horz" lIns="91440" tIns="45720" rIns="91440" bIns="45720" rtlCol="0" anchor="ctr"/>
          <a:lstStyle>
            <a:defPPr>
              <a:defRPr lang="en-PK"/>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2400" dirty="0">
              <a:solidFill>
                <a:schemeClr val="tx1"/>
              </a:solidFill>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400" b="1" dirty="0">
                <a:solidFill>
                  <a:schemeClr val="tx1"/>
                </a:solidFill>
                <a:latin typeface="Times New Roman" panose="02020603050405020304" pitchFamily="18" charset="0"/>
                <a:cs typeface="Times New Roman" panose="02020603050405020304" pitchFamily="18" charset="0"/>
              </a:rPr>
              <a:t>Repetition</a:t>
            </a:r>
          </a:p>
          <a:p>
            <a:r>
              <a:rPr lang="en-US" sz="2000" dirty="0">
                <a:solidFill>
                  <a:schemeClr val="tx1"/>
                </a:solidFill>
                <a:latin typeface="Times New Roman" panose="02020603050405020304" pitchFamily="18" charset="0"/>
                <a:cs typeface="Times New Roman" panose="02020603050405020304" pitchFamily="18" charset="0"/>
              </a:rPr>
              <a:t>Repetition increases our sensitivity to the stimuli. This means that we become more aware of stimuli because it has been perceived frequently.</a:t>
            </a:r>
          </a:p>
          <a:p>
            <a:endParaRPr lang="en-US" sz="2000" dirty="0">
              <a:solidFill>
                <a:srgbClr val="000000"/>
              </a:solidFill>
              <a:latin typeface="Times New Roman" panose="02020603050405020304" pitchFamily="18" charset="0"/>
              <a:cs typeface="Times New Roman" panose="02020603050405020304" pitchFamily="18" charset="0"/>
            </a:endParaRPr>
          </a:p>
          <a:p>
            <a:r>
              <a:rPr lang="en-US" sz="2800" b="1" dirty="0">
                <a:solidFill>
                  <a:schemeClr val="tx1"/>
                </a:solidFill>
                <a:latin typeface="Times New Roman" panose="02020603050405020304" pitchFamily="18" charset="0"/>
                <a:cs typeface="Times New Roman" panose="02020603050405020304" pitchFamily="18" charset="0"/>
              </a:rPr>
              <a:t>Psychological factors affecting perception</a:t>
            </a:r>
          </a:p>
          <a:p>
            <a:endParaRPr lang="en-US" sz="2800" b="1" dirty="0">
              <a:solidFill>
                <a:schemeClr val="tx1"/>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400" b="1" dirty="0">
                <a:solidFill>
                  <a:schemeClr val="tx1"/>
                </a:solidFill>
                <a:latin typeface="Times New Roman" panose="02020603050405020304" pitchFamily="18" charset="0"/>
                <a:cs typeface="Times New Roman" panose="02020603050405020304" pitchFamily="18" charset="0"/>
              </a:rPr>
              <a:t>Motivation</a:t>
            </a:r>
          </a:p>
          <a:p>
            <a:pPr marL="285750" indent="-285750">
              <a:buFont typeface="Arial" panose="020B0604020202020204" pitchFamily="34" charset="0"/>
              <a:buChar char="•"/>
            </a:pPr>
            <a:endParaRPr lang="en-US" sz="2000" dirty="0">
              <a:solidFill>
                <a:schemeClr val="tx1"/>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dirty="0">
                <a:solidFill>
                  <a:schemeClr val="tx1"/>
                </a:solidFill>
                <a:latin typeface="Times New Roman" panose="02020603050405020304" pitchFamily="18" charset="0"/>
                <a:cs typeface="Times New Roman" panose="02020603050405020304" pitchFamily="18" charset="0"/>
              </a:rPr>
              <a:t>We are more likely to perceive and see objects or aspects of objects that are of interest to us. Going to the shop when hungry can lead you to buy more food than you normally would</a:t>
            </a:r>
          </a:p>
        </p:txBody>
      </p:sp>
      <p:grpSp>
        <p:nvGrpSpPr>
          <p:cNvPr id="10" name="Group 9">
            <a:extLst>
              <a:ext uri="{FF2B5EF4-FFF2-40B4-BE49-F238E27FC236}">
                <a16:creationId xmlns:a16="http://schemas.microsoft.com/office/drawing/2014/main" id="{9147A9A5-6E4B-45B5-A1D6-2E2CC3DACA54}"/>
              </a:ext>
            </a:extLst>
          </p:cNvPr>
          <p:cNvGrpSpPr/>
          <p:nvPr/>
        </p:nvGrpSpPr>
        <p:grpSpPr>
          <a:xfrm>
            <a:off x="0" y="0"/>
            <a:ext cx="12749348" cy="1115736"/>
            <a:chOff x="0" y="0"/>
            <a:chExt cx="12749348" cy="1115736"/>
          </a:xfrm>
        </p:grpSpPr>
        <p:sp>
          <p:nvSpPr>
            <p:cNvPr id="11" name="Rectangle 10">
              <a:extLst>
                <a:ext uri="{FF2B5EF4-FFF2-40B4-BE49-F238E27FC236}">
                  <a16:creationId xmlns:a16="http://schemas.microsoft.com/office/drawing/2014/main" id="{4CAEB2B4-072D-4229-94BD-E34FA4C1D4E6}"/>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pic>
          <p:nvPicPr>
            <p:cNvPr id="12" name="Picture 11">
              <a:extLst>
                <a:ext uri="{FF2B5EF4-FFF2-40B4-BE49-F238E27FC236}">
                  <a16:creationId xmlns:a16="http://schemas.microsoft.com/office/drawing/2014/main" id="{92AEB78D-C3B4-4A7A-80CA-53543A5D4435}"/>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3" name="TextBox 12">
              <a:extLst>
                <a:ext uri="{FF2B5EF4-FFF2-40B4-BE49-F238E27FC236}">
                  <a16:creationId xmlns:a16="http://schemas.microsoft.com/office/drawing/2014/main" id="{8D93294A-2F98-4A5A-A82E-005CD9D43DFD}"/>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14" name="Graphic 13">
              <a:extLst>
                <a:ext uri="{FF2B5EF4-FFF2-40B4-BE49-F238E27FC236}">
                  <a16:creationId xmlns:a16="http://schemas.microsoft.com/office/drawing/2014/main" id="{85894A6D-0713-42B1-893C-A4CD02806E10}"/>
                </a:ext>
              </a:extLst>
            </p:cNvPr>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9906056" y="403986"/>
              <a:ext cx="261610" cy="261610"/>
            </a:xfrm>
            <a:prstGeom prst="rect">
              <a:avLst/>
            </a:prstGeom>
          </p:spPr>
        </p:pic>
        <p:sp>
          <p:nvSpPr>
            <p:cNvPr id="15" name="TextBox 14">
              <a:extLst>
                <a:ext uri="{FF2B5EF4-FFF2-40B4-BE49-F238E27FC236}">
                  <a16:creationId xmlns:a16="http://schemas.microsoft.com/office/drawing/2014/main" id="{AC0DCD85-05B0-4260-866F-C0E865F08F86}"/>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6" name="Graphic 15">
              <a:extLst>
                <a:ext uri="{FF2B5EF4-FFF2-40B4-BE49-F238E27FC236}">
                  <a16:creationId xmlns:a16="http://schemas.microsoft.com/office/drawing/2014/main" id="{691E0CCE-CC2F-48D8-BD6A-164BA1890E8E}"/>
                </a:ext>
              </a:extLst>
            </p:cNvPr>
            <p:cNvPicPr>
              <a:picLocks noChangeAspect="1"/>
            </p:cNvPicPr>
            <p:nvPr/>
          </p:nvPicPr>
          <p:blipFill>
            <a:blip r:embed="rId5">
              <a:extLst>
                <a:ext uri="{96DAC541-7B7A-43D3-8B79-37D633B846F1}">
                  <asvg:svgBlip xmlns:asvg="http://schemas.microsoft.com/office/drawing/2016/SVG/main" xmlns="" r:embed="rId6"/>
                </a:ext>
              </a:extLst>
            </a:blip>
            <a:stretch>
              <a:fillRect/>
            </a:stretch>
          </p:blipFill>
          <p:spPr>
            <a:xfrm>
              <a:off x="10591033" y="741997"/>
              <a:ext cx="171450" cy="171450"/>
            </a:xfrm>
            <a:prstGeom prst="rect">
              <a:avLst/>
            </a:prstGeom>
          </p:spPr>
        </p:pic>
        <p:pic>
          <p:nvPicPr>
            <p:cNvPr id="17" name="Picture 16">
              <a:extLst>
                <a:ext uri="{FF2B5EF4-FFF2-40B4-BE49-F238E27FC236}">
                  <a16:creationId xmlns:a16="http://schemas.microsoft.com/office/drawing/2014/main" id="{1AE0E661-5285-4714-81F2-35134892A6F9}"/>
                </a:ext>
              </a:extLst>
            </p:cNvPr>
            <p:cNvPicPr>
              <a:picLocks noChangeAspect="1"/>
            </p:cNvPicPr>
            <p:nvPr/>
          </p:nvPicPr>
          <p:blipFill>
            <a:blip r:embed="rId7"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p14="http://schemas.microsoft.com/office/powerpoint/2010/main" val="37117365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0398FBFF-3402-44AC-9CFF-71D3C76E053A}"/>
              </a:ext>
            </a:extLst>
          </p:cNvPr>
          <p:cNvSpPr txBox="1">
            <a:spLocks/>
          </p:cNvSpPr>
          <p:nvPr/>
        </p:nvSpPr>
        <p:spPr>
          <a:xfrm>
            <a:off x="662730" y="1519722"/>
            <a:ext cx="10663129" cy="4087132"/>
          </a:xfrm>
          <a:prstGeom prst="rect">
            <a:avLst/>
          </a:prstGeom>
        </p:spPr>
        <p:txBody>
          <a:bodyPr vert="horz" lIns="91440" tIns="45720" rIns="91440" bIns="45720" rtlCol="0" anchor="ctr"/>
          <a:lstStyle>
            <a:defPPr>
              <a:defRPr lang="en-PK"/>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2400" b="1" dirty="0">
              <a:solidFill>
                <a:schemeClr val="tx1"/>
              </a:solidFill>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b="1" dirty="0">
                <a:solidFill>
                  <a:schemeClr val="tx1"/>
                </a:solidFill>
                <a:latin typeface="Times New Roman" panose="02020603050405020304" pitchFamily="18" charset="0"/>
                <a:cs typeface="Times New Roman" panose="02020603050405020304" pitchFamily="18" charset="0"/>
              </a:rPr>
              <a:t>Emotion</a:t>
            </a:r>
          </a:p>
          <a:p>
            <a:endParaRPr lang="en-US" sz="2000" dirty="0">
              <a:solidFill>
                <a:schemeClr val="tx1"/>
              </a:solidFill>
              <a:latin typeface="Times New Roman" panose="02020603050405020304" pitchFamily="18" charset="0"/>
              <a:cs typeface="Times New Roman" panose="02020603050405020304" pitchFamily="18" charset="0"/>
            </a:endParaRPr>
          </a:p>
          <a:p>
            <a:r>
              <a:rPr lang="en-US" sz="2400" dirty="0">
                <a:solidFill>
                  <a:schemeClr val="tx1"/>
                </a:solidFill>
                <a:latin typeface="Times New Roman" panose="02020603050405020304" pitchFamily="18" charset="0"/>
                <a:cs typeface="Times New Roman" panose="02020603050405020304" pitchFamily="18" charset="0"/>
              </a:rPr>
              <a:t>it is still debated how emotion affects perception. Generally, it is </a:t>
            </a:r>
            <a:r>
              <a:rPr lang="en-US" sz="2400" dirty="0" smtClean="0">
                <a:solidFill>
                  <a:schemeClr val="tx1"/>
                </a:solidFill>
                <a:latin typeface="Times New Roman" panose="02020603050405020304" pitchFamily="18" charset="0"/>
                <a:cs typeface="Times New Roman" panose="02020603050405020304" pitchFamily="18" charset="0"/>
              </a:rPr>
              <a:t>theorized </a:t>
            </a:r>
            <a:r>
              <a:rPr lang="en-US" sz="2400" dirty="0">
                <a:solidFill>
                  <a:schemeClr val="tx1"/>
                </a:solidFill>
                <a:latin typeface="Times New Roman" panose="02020603050405020304" pitchFamily="18" charset="0"/>
                <a:cs typeface="Times New Roman" panose="02020603050405020304" pitchFamily="18" charset="0"/>
              </a:rPr>
              <a:t>that heightened states and emotions such as stress and anxiety can influence how much and what we perceive</a:t>
            </a:r>
          </a:p>
          <a:p>
            <a:r>
              <a:rPr lang="en-US" sz="2400" dirty="0">
                <a:solidFill>
                  <a:schemeClr val="tx1"/>
                </a:solidFill>
                <a:latin typeface="Times New Roman" panose="02020603050405020304" pitchFamily="18" charset="0"/>
                <a:cs typeface="Times New Roman" panose="02020603050405020304" pitchFamily="18" charset="0"/>
              </a:rPr>
              <a:t>Sad or happy feelings can affect how stimuli are interpreted when sad, we may notice events or situations that are more upsetting.</a:t>
            </a:r>
          </a:p>
          <a:p>
            <a:r>
              <a:rPr lang="en-US" sz="2400" dirty="0">
                <a:solidFill>
                  <a:schemeClr val="tx1"/>
                </a:solidFill>
                <a:latin typeface="Times New Roman" panose="02020603050405020304" pitchFamily="18" charset="0"/>
                <a:cs typeface="Times New Roman" panose="02020603050405020304" pitchFamily="18" charset="0"/>
              </a:rPr>
              <a:t>For example Selye's GAS (General Adaptation Syndrome) model suggests that senses are heightened when stressed due to a perceived threat. The body's response is to become hypervigilant (increased perception) so that the person can deal with the threat.</a:t>
            </a:r>
          </a:p>
        </p:txBody>
      </p:sp>
      <p:grpSp>
        <p:nvGrpSpPr>
          <p:cNvPr id="10" name="Group 9">
            <a:extLst>
              <a:ext uri="{FF2B5EF4-FFF2-40B4-BE49-F238E27FC236}">
                <a16:creationId xmlns:a16="http://schemas.microsoft.com/office/drawing/2014/main" id="{9147A9A5-6E4B-45B5-A1D6-2E2CC3DACA54}"/>
              </a:ext>
            </a:extLst>
          </p:cNvPr>
          <p:cNvGrpSpPr/>
          <p:nvPr/>
        </p:nvGrpSpPr>
        <p:grpSpPr>
          <a:xfrm>
            <a:off x="0" y="0"/>
            <a:ext cx="12749348" cy="1115736"/>
            <a:chOff x="0" y="0"/>
            <a:chExt cx="12749348" cy="1115736"/>
          </a:xfrm>
        </p:grpSpPr>
        <p:sp>
          <p:nvSpPr>
            <p:cNvPr id="11" name="Rectangle 10">
              <a:extLst>
                <a:ext uri="{FF2B5EF4-FFF2-40B4-BE49-F238E27FC236}">
                  <a16:creationId xmlns:a16="http://schemas.microsoft.com/office/drawing/2014/main" id="{4CAEB2B4-072D-4229-94BD-E34FA4C1D4E6}"/>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pic>
          <p:nvPicPr>
            <p:cNvPr id="12" name="Picture 11">
              <a:extLst>
                <a:ext uri="{FF2B5EF4-FFF2-40B4-BE49-F238E27FC236}">
                  <a16:creationId xmlns:a16="http://schemas.microsoft.com/office/drawing/2014/main" id="{92AEB78D-C3B4-4A7A-80CA-53543A5D4435}"/>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3" name="TextBox 12">
              <a:extLst>
                <a:ext uri="{FF2B5EF4-FFF2-40B4-BE49-F238E27FC236}">
                  <a16:creationId xmlns:a16="http://schemas.microsoft.com/office/drawing/2014/main" id="{8D93294A-2F98-4A5A-A82E-005CD9D43DFD}"/>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14" name="Graphic 13">
              <a:extLst>
                <a:ext uri="{FF2B5EF4-FFF2-40B4-BE49-F238E27FC236}">
                  <a16:creationId xmlns:a16="http://schemas.microsoft.com/office/drawing/2014/main" id="{85894A6D-0713-42B1-893C-A4CD02806E10}"/>
                </a:ext>
              </a:extLst>
            </p:cNvPr>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9906056" y="403986"/>
              <a:ext cx="261610" cy="261610"/>
            </a:xfrm>
            <a:prstGeom prst="rect">
              <a:avLst/>
            </a:prstGeom>
          </p:spPr>
        </p:pic>
        <p:sp>
          <p:nvSpPr>
            <p:cNvPr id="15" name="TextBox 14">
              <a:extLst>
                <a:ext uri="{FF2B5EF4-FFF2-40B4-BE49-F238E27FC236}">
                  <a16:creationId xmlns:a16="http://schemas.microsoft.com/office/drawing/2014/main" id="{AC0DCD85-05B0-4260-866F-C0E865F08F86}"/>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6" name="Graphic 15">
              <a:extLst>
                <a:ext uri="{FF2B5EF4-FFF2-40B4-BE49-F238E27FC236}">
                  <a16:creationId xmlns:a16="http://schemas.microsoft.com/office/drawing/2014/main" id="{691E0CCE-CC2F-48D8-BD6A-164BA1890E8E}"/>
                </a:ext>
              </a:extLst>
            </p:cNvPr>
            <p:cNvPicPr>
              <a:picLocks noChangeAspect="1"/>
            </p:cNvPicPr>
            <p:nvPr/>
          </p:nvPicPr>
          <p:blipFill>
            <a:blip r:embed="rId5">
              <a:extLst>
                <a:ext uri="{96DAC541-7B7A-43D3-8B79-37D633B846F1}">
                  <asvg:svgBlip xmlns:asvg="http://schemas.microsoft.com/office/drawing/2016/SVG/main" xmlns="" r:embed="rId6"/>
                </a:ext>
              </a:extLst>
            </a:blip>
            <a:stretch>
              <a:fillRect/>
            </a:stretch>
          </p:blipFill>
          <p:spPr>
            <a:xfrm>
              <a:off x="10591033" y="741997"/>
              <a:ext cx="171450" cy="171450"/>
            </a:xfrm>
            <a:prstGeom prst="rect">
              <a:avLst/>
            </a:prstGeom>
          </p:spPr>
        </p:pic>
        <p:pic>
          <p:nvPicPr>
            <p:cNvPr id="17" name="Picture 16">
              <a:extLst>
                <a:ext uri="{FF2B5EF4-FFF2-40B4-BE49-F238E27FC236}">
                  <a16:creationId xmlns:a16="http://schemas.microsoft.com/office/drawing/2014/main" id="{1AE0E661-5285-4714-81F2-35134892A6F9}"/>
                </a:ext>
              </a:extLst>
            </p:cNvPr>
            <p:cNvPicPr>
              <a:picLocks noChangeAspect="1"/>
            </p:cNvPicPr>
            <p:nvPr/>
          </p:nvPicPr>
          <p:blipFill>
            <a:blip r:embed="rId7"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p14="http://schemas.microsoft.com/office/powerpoint/2010/main" val="1847649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0398FBFF-3402-44AC-9CFF-71D3C76E053A}"/>
              </a:ext>
            </a:extLst>
          </p:cNvPr>
          <p:cNvSpPr txBox="1">
            <a:spLocks/>
          </p:cNvSpPr>
          <p:nvPr/>
        </p:nvSpPr>
        <p:spPr>
          <a:xfrm>
            <a:off x="402832" y="1519722"/>
            <a:ext cx="10923027" cy="4087132"/>
          </a:xfrm>
          <a:prstGeom prst="rect">
            <a:avLst/>
          </a:prstGeom>
        </p:spPr>
        <p:txBody>
          <a:bodyPr vert="horz" lIns="91440" tIns="45720" rIns="91440" bIns="45720" rtlCol="0" anchor="ctr"/>
          <a:lstStyle>
            <a:defPPr>
              <a:defRPr lang="en-PK"/>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buFont typeface="Arial" panose="020B0604020202020204" pitchFamily="34" charset="0"/>
              <a:buChar char="•"/>
            </a:pPr>
            <a:r>
              <a:rPr lang="en-US" sz="2400" b="1" dirty="0">
                <a:solidFill>
                  <a:schemeClr val="tx1"/>
                </a:solidFill>
                <a:latin typeface="Times New Roman" panose="02020603050405020304" pitchFamily="18" charset="0"/>
                <a:cs typeface="Times New Roman" panose="02020603050405020304" pitchFamily="18" charset="0"/>
              </a:rPr>
              <a:t>Expectation</a:t>
            </a:r>
          </a:p>
          <a:p>
            <a:endParaRPr lang="en-US" sz="2000" dirty="0">
              <a:solidFill>
                <a:schemeClr val="tx1"/>
              </a:solidFill>
              <a:latin typeface="Times New Roman" panose="02020603050405020304" pitchFamily="18" charset="0"/>
              <a:cs typeface="Times New Roman" panose="02020603050405020304" pitchFamily="18" charset="0"/>
            </a:endParaRPr>
          </a:p>
          <a:p>
            <a:r>
              <a:rPr lang="en-US" sz="2000" dirty="0">
                <a:solidFill>
                  <a:schemeClr val="tx1"/>
                </a:solidFill>
                <a:latin typeface="Times New Roman" panose="02020603050405020304" pitchFamily="18" charset="0"/>
                <a:cs typeface="Times New Roman" panose="02020603050405020304" pitchFamily="18" charset="0"/>
              </a:rPr>
              <a:t>We have a tendency/bias to see things of how we expect to see them.</a:t>
            </a:r>
          </a:p>
          <a:p>
            <a:r>
              <a:rPr lang="en-US" sz="2000" dirty="0">
                <a:solidFill>
                  <a:schemeClr val="tx1"/>
                </a:solidFill>
                <a:latin typeface="Times New Roman" panose="02020603050405020304" pitchFamily="18" charset="0"/>
                <a:cs typeface="Times New Roman" panose="02020603050405020304" pitchFamily="18" charset="0"/>
              </a:rPr>
              <a:t>When someone thinks of an apple, they might expect it to be red or green. However, apples can also be yellow or white.</a:t>
            </a:r>
          </a:p>
          <a:p>
            <a:endParaRPr lang="en-US" sz="2000" dirty="0">
              <a:solidFill>
                <a:schemeClr val="tx1"/>
              </a:solidFill>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b="1" dirty="0">
                <a:solidFill>
                  <a:schemeClr val="tx1"/>
                </a:solidFill>
                <a:latin typeface="Times New Roman" panose="02020603050405020304" pitchFamily="18" charset="0"/>
                <a:cs typeface="Times New Roman" panose="02020603050405020304" pitchFamily="18" charset="0"/>
              </a:rPr>
              <a:t>Culture</a:t>
            </a:r>
          </a:p>
          <a:p>
            <a:endParaRPr lang="en-US" sz="2000" dirty="0">
              <a:solidFill>
                <a:schemeClr val="tx1"/>
              </a:solidFill>
              <a:latin typeface="Times New Roman" panose="02020603050405020304" pitchFamily="18" charset="0"/>
              <a:cs typeface="Times New Roman" panose="02020603050405020304" pitchFamily="18" charset="0"/>
            </a:endParaRPr>
          </a:p>
          <a:p>
            <a:r>
              <a:rPr lang="en-US" sz="2000" dirty="0">
                <a:solidFill>
                  <a:schemeClr val="tx1"/>
                </a:solidFill>
                <a:latin typeface="Times New Roman" panose="02020603050405020304" pitchFamily="18" charset="0"/>
                <a:cs typeface="Times New Roman" panose="02020603050405020304" pitchFamily="18" charset="0"/>
              </a:rPr>
              <a:t>Social norms, rules, beliefs and standards set by the society/culture we live in can affect how stimuli are perceived. This can affect how we process and interpret information that is perceived.</a:t>
            </a:r>
          </a:p>
          <a:p>
            <a:r>
              <a:rPr lang="en-US" sz="2000" dirty="0">
                <a:solidFill>
                  <a:schemeClr val="tx1"/>
                </a:solidFill>
                <a:latin typeface="Times New Roman" panose="02020603050405020304" pitchFamily="18" charset="0"/>
                <a:cs typeface="Times New Roman" panose="02020603050405020304" pitchFamily="18" charset="0"/>
              </a:rPr>
              <a:t>Culture affects the type of stimuli children are exposed to. For example, in western societies, children may be accustomed to </a:t>
            </a:r>
            <a:r>
              <a:rPr lang="en-US" sz="2000" dirty="0" smtClean="0">
                <a:solidFill>
                  <a:schemeClr val="tx1"/>
                </a:solidFill>
                <a:latin typeface="Times New Roman" panose="02020603050405020304" pitchFamily="18" charset="0"/>
                <a:cs typeface="Times New Roman" panose="02020603050405020304" pitchFamily="18" charset="0"/>
              </a:rPr>
              <a:t>coloring </a:t>
            </a:r>
            <a:r>
              <a:rPr lang="en-US" sz="2000" dirty="0">
                <a:solidFill>
                  <a:schemeClr val="tx1"/>
                </a:solidFill>
                <a:latin typeface="Times New Roman" panose="02020603050405020304" pitchFamily="18" charset="0"/>
                <a:cs typeface="Times New Roman" panose="02020603050405020304" pitchFamily="18" charset="0"/>
              </a:rPr>
              <a:t>in 2D images and seeing pictures and cartoons of people and objects, so tend to draw them in a 2D format.</a:t>
            </a:r>
          </a:p>
        </p:txBody>
      </p:sp>
      <p:grpSp>
        <p:nvGrpSpPr>
          <p:cNvPr id="10" name="Group 9">
            <a:extLst>
              <a:ext uri="{FF2B5EF4-FFF2-40B4-BE49-F238E27FC236}">
                <a16:creationId xmlns:a16="http://schemas.microsoft.com/office/drawing/2014/main" id="{9147A9A5-6E4B-45B5-A1D6-2E2CC3DACA54}"/>
              </a:ext>
            </a:extLst>
          </p:cNvPr>
          <p:cNvGrpSpPr/>
          <p:nvPr/>
        </p:nvGrpSpPr>
        <p:grpSpPr>
          <a:xfrm>
            <a:off x="0" y="0"/>
            <a:ext cx="12749348" cy="1115736"/>
            <a:chOff x="0" y="0"/>
            <a:chExt cx="12749348" cy="1115736"/>
          </a:xfrm>
        </p:grpSpPr>
        <p:sp>
          <p:nvSpPr>
            <p:cNvPr id="11" name="Rectangle 10">
              <a:extLst>
                <a:ext uri="{FF2B5EF4-FFF2-40B4-BE49-F238E27FC236}">
                  <a16:creationId xmlns:a16="http://schemas.microsoft.com/office/drawing/2014/main" id="{4CAEB2B4-072D-4229-94BD-E34FA4C1D4E6}"/>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pic>
          <p:nvPicPr>
            <p:cNvPr id="12" name="Picture 11">
              <a:extLst>
                <a:ext uri="{FF2B5EF4-FFF2-40B4-BE49-F238E27FC236}">
                  <a16:creationId xmlns:a16="http://schemas.microsoft.com/office/drawing/2014/main" id="{92AEB78D-C3B4-4A7A-80CA-53543A5D4435}"/>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3" name="TextBox 12">
              <a:extLst>
                <a:ext uri="{FF2B5EF4-FFF2-40B4-BE49-F238E27FC236}">
                  <a16:creationId xmlns:a16="http://schemas.microsoft.com/office/drawing/2014/main" id="{8D93294A-2F98-4A5A-A82E-005CD9D43DFD}"/>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14" name="Graphic 13">
              <a:extLst>
                <a:ext uri="{FF2B5EF4-FFF2-40B4-BE49-F238E27FC236}">
                  <a16:creationId xmlns:a16="http://schemas.microsoft.com/office/drawing/2014/main" id="{85894A6D-0713-42B1-893C-A4CD02806E10}"/>
                </a:ext>
              </a:extLst>
            </p:cNvPr>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9906056" y="403986"/>
              <a:ext cx="261610" cy="261610"/>
            </a:xfrm>
            <a:prstGeom prst="rect">
              <a:avLst/>
            </a:prstGeom>
          </p:spPr>
        </p:pic>
        <p:sp>
          <p:nvSpPr>
            <p:cNvPr id="15" name="TextBox 14">
              <a:extLst>
                <a:ext uri="{FF2B5EF4-FFF2-40B4-BE49-F238E27FC236}">
                  <a16:creationId xmlns:a16="http://schemas.microsoft.com/office/drawing/2014/main" id="{AC0DCD85-05B0-4260-866F-C0E865F08F86}"/>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6" name="Graphic 15">
              <a:extLst>
                <a:ext uri="{FF2B5EF4-FFF2-40B4-BE49-F238E27FC236}">
                  <a16:creationId xmlns:a16="http://schemas.microsoft.com/office/drawing/2014/main" id="{691E0CCE-CC2F-48D8-BD6A-164BA1890E8E}"/>
                </a:ext>
              </a:extLst>
            </p:cNvPr>
            <p:cNvPicPr>
              <a:picLocks noChangeAspect="1"/>
            </p:cNvPicPr>
            <p:nvPr/>
          </p:nvPicPr>
          <p:blipFill>
            <a:blip r:embed="rId5">
              <a:extLst>
                <a:ext uri="{96DAC541-7B7A-43D3-8B79-37D633B846F1}">
                  <asvg:svgBlip xmlns:asvg="http://schemas.microsoft.com/office/drawing/2016/SVG/main" xmlns="" r:embed="rId6"/>
                </a:ext>
              </a:extLst>
            </a:blip>
            <a:stretch>
              <a:fillRect/>
            </a:stretch>
          </p:blipFill>
          <p:spPr>
            <a:xfrm>
              <a:off x="10591033" y="741997"/>
              <a:ext cx="171450" cy="171450"/>
            </a:xfrm>
            <a:prstGeom prst="rect">
              <a:avLst/>
            </a:prstGeom>
          </p:spPr>
        </p:pic>
        <p:pic>
          <p:nvPicPr>
            <p:cNvPr id="17" name="Picture 16">
              <a:extLst>
                <a:ext uri="{FF2B5EF4-FFF2-40B4-BE49-F238E27FC236}">
                  <a16:creationId xmlns:a16="http://schemas.microsoft.com/office/drawing/2014/main" id="{1AE0E661-5285-4714-81F2-35134892A6F9}"/>
                </a:ext>
              </a:extLst>
            </p:cNvPr>
            <p:cNvPicPr>
              <a:picLocks noChangeAspect="1"/>
            </p:cNvPicPr>
            <p:nvPr/>
          </p:nvPicPr>
          <p:blipFill>
            <a:blip r:embed="rId7"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p14="http://schemas.microsoft.com/office/powerpoint/2010/main" val="36066796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0398FBFF-3402-44AC-9CFF-71D3C76E053A}"/>
              </a:ext>
            </a:extLst>
          </p:cNvPr>
          <p:cNvSpPr txBox="1">
            <a:spLocks/>
          </p:cNvSpPr>
          <p:nvPr/>
        </p:nvSpPr>
        <p:spPr>
          <a:xfrm>
            <a:off x="402832" y="1519722"/>
            <a:ext cx="10923027" cy="4087132"/>
          </a:xfrm>
          <a:prstGeom prst="rect">
            <a:avLst/>
          </a:prstGeom>
        </p:spPr>
        <p:txBody>
          <a:bodyPr vert="horz" lIns="91440" tIns="45720" rIns="91440" bIns="45720" rtlCol="0" anchor="ctr"/>
          <a:lstStyle>
            <a:defPPr>
              <a:defRPr lang="en-PK"/>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2000" dirty="0">
              <a:solidFill>
                <a:schemeClr val="tx1"/>
              </a:solidFill>
              <a:latin typeface="Times New Roman" panose="02020603050405020304" pitchFamily="18" charset="0"/>
              <a:cs typeface="Times New Roman" panose="02020603050405020304" pitchFamily="18" charset="0"/>
            </a:endParaRPr>
          </a:p>
          <a:p>
            <a:r>
              <a:rPr lang="en-US" sz="2800" b="1" dirty="0">
                <a:solidFill>
                  <a:schemeClr val="tx1"/>
                </a:solidFill>
                <a:latin typeface="Times New Roman" panose="02020603050405020304" pitchFamily="18" charset="0"/>
                <a:cs typeface="Times New Roman" panose="02020603050405020304" pitchFamily="18" charset="0"/>
              </a:rPr>
              <a:t>Individual Differences</a:t>
            </a:r>
          </a:p>
          <a:p>
            <a:r>
              <a:rPr lang="en-US" sz="2000" dirty="0">
                <a:solidFill>
                  <a:schemeClr val="tx1"/>
                </a:solidFill>
                <a:latin typeface="Times New Roman" panose="02020603050405020304" pitchFamily="18" charset="0"/>
                <a:cs typeface="Times New Roman" panose="02020603050405020304" pitchFamily="18" charset="0"/>
              </a:rPr>
              <a:t>Every person is unique and brings different attitudes to a team. You may work well when collaborating with others while your coworker prefers to work in isolation. Each of these differences affects your perception of your team and organization. You’ll behave differently when you’re working with your colleague as opposed to someone else. Your perception of your coworker shapes the way you work as well. In the workplace, it’s necessary to respect these differences and work with others to create harmony.</a:t>
            </a:r>
          </a:p>
          <a:p>
            <a:endParaRPr lang="en-US" sz="2000" dirty="0">
              <a:solidFill>
                <a:schemeClr val="tx1"/>
              </a:solidFill>
              <a:latin typeface="Times New Roman" panose="02020603050405020304" pitchFamily="18" charset="0"/>
              <a:cs typeface="Times New Roman" panose="02020603050405020304" pitchFamily="18" charset="0"/>
            </a:endParaRPr>
          </a:p>
          <a:p>
            <a:r>
              <a:rPr lang="en-US" sz="2800" b="1" dirty="0">
                <a:solidFill>
                  <a:schemeClr val="tx1"/>
                </a:solidFill>
                <a:latin typeface="Times New Roman" panose="02020603050405020304" pitchFamily="18" charset="0"/>
                <a:cs typeface="Times New Roman" panose="02020603050405020304" pitchFamily="18" charset="0"/>
              </a:rPr>
              <a:t>Past Experiences</a:t>
            </a:r>
          </a:p>
          <a:p>
            <a:r>
              <a:rPr lang="en-US" sz="2000" dirty="0">
                <a:solidFill>
                  <a:schemeClr val="tx1"/>
                </a:solidFill>
                <a:latin typeface="Times New Roman" panose="02020603050405020304" pitchFamily="18" charset="0"/>
                <a:cs typeface="Times New Roman" panose="02020603050405020304" pitchFamily="18" charset="0"/>
              </a:rPr>
              <a:t>Our past experiences shape us into who we are today. We can’t separate ourselves from them. Past experiences are also significant factors influencing perception. They shape our personal biases and opinions as well as our expectations from others and ourselves. It’s important to be open to changing our perceptions when situations change. For instance, the Earth wasn’t always considered to be round.</a:t>
            </a:r>
          </a:p>
        </p:txBody>
      </p:sp>
      <p:grpSp>
        <p:nvGrpSpPr>
          <p:cNvPr id="10" name="Group 9">
            <a:extLst>
              <a:ext uri="{FF2B5EF4-FFF2-40B4-BE49-F238E27FC236}">
                <a16:creationId xmlns:a16="http://schemas.microsoft.com/office/drawing/2014/main" id="{9147A9A5-6E4B-45B5-A1D6-2E2CC3DACA54}"/>
              </a:ext>
            </a:extLst>
          </p:cNvPr>
          <p:cNvGrpSpPr/>
          <p:nvPr/>
        </p:nvGrpSpPr>
        <p:grpSpPr>
          <a:xfrm>
            <a:off x="0" y="0"/>
            <a:ext cx="12749348" cy="1115736"/>
            <a:chOff x="0" y="0"/>
            <a:chExt cx="12749348" cy="1115736"/>
          </a:xfrm>
        </p:grpSpPr>
        <p:sp>
          <p:nvSpPr>
            <p:cNvPr id="11" name="Rectangle 10">
              <a:extLst>
                <a:ext uri="{FF2B5EF4-FFF2-40B4-BE49-F238E27FC236}">
                  <a16:creationId xmlns:a16="http://schemas.microsoft.com/office/drawing/2014/main" id="{4CAEB2B4-072D-4229-94BD-E34FA4C1D4E6}"/>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pic>
          <p:nvPicPr>
            <p:cNvPr id="12" name="Picture 11">
              <a:extLst>
                <a:ext uri="{FF2B5EF4-FFF2-40B4-BE49-F238E27FC236}">
                  <a16:creationId xmlns:a16="http://schemas.microsoft.com/office/drawing/2014/main" id="{92AEB78D-C3B4-4A7A-80CA-53543A5D4435}"/>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3" name="TextBox 12">
              <a:extLst>
                <a:ext uri="{FF2B5EF4-FFF2-40B4-BE49-F238E27FC236}">
                  <a16:creationId xmlns:a16="http://schemas.microsoft.com/office/drawing/2014/main" id="{8D93294A-2F98-4A5A-A82E-005CD9D43DFD}"/>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14" name="Graphic 13">
              <a:extLst>
                <a:ext uri="{FF2B5EF4-FFF2-40B4-BE49-F238E27FC236}">
                  <a16:creationId xmlns:a16="http://schemas.microsoft.com/office/drawing/2014/main" id="{85894A6D-0713-42B1-893C-A4CD02806E10}"/>
                </a:ext>
              </a:extLst>
            </p:cNvPr>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9906056" y="403986"/>
              <a:ext cx="261610" cy="261610"/>
            </a:xfrm>
            <a:prstGeom prst="rect">
              <a:avLst/>
            </a:prstGeom>
          </p:spPr>
        </p:pic>
        <p:sp>
          <p:nvSpPr>
            <p:cNvPr id="15" name="TextBox 14">
              <a:extLst>
                <a:ext uri="{FF2B5EF4-FFF2-40B4-BE49-F238E27FC236}">
                  <a16:creationId xmlns:a16="http://schemas.microsoft.com/office/drawing/2014/main" id="{AC0DCD85-05B0-4260-866F-C0E865F08F86}"/>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6" name="Graphic 15">
              <a:extLst>
                <a:ext uri="{FF2B5EF4-FFF2-40B4-BE49-F238E27FC236}">
                  <a16:creationId xmlns:a16="http://schemas.microsoft.com/office/drawing/2014/main" id="{691E0CCE-CC2F-48D8-BD6A-164BA1890E8E}"/>
                </a:ext>
              </a:extLst>
            </p:cNvPr>
            <p:cNvPicPr>
              <a:picLocks noChangeAspect="1"/>
            </p:cNvPicPr>
            <p:nvPr/>
          </p:nvPicPr>
          <p:blipFill>
            <a:blip r:embed="rId5">
              <a:extLst>
                <a:ext uri="{96DAC541-7B7A-43D3-8B79-37D633B846F1}">
                  <asvg:svgBlip xmlns:asvg="http://schemas.microsoft.com/office/drawing/2016/SVG/main" xmlns="" r:embed="rId6"/>
                </a:ext>
              </a:extLst>
            </a:blip>
            <a:stretch>
              <a:fillRect/>
            </a:stretch>
          </p:blipFill>
          <p:spPr>
            <a:xfrm>
              <a:off x="10591033" y="741997"/>
              <a:ext cx="171450" cy="171450"/>
            </a:xfrm>
            <a:prstGeom prst="rect">
              <a:avLst/>
            </a:prstGeom>
          </p:spPr>
        </p:pic>
        <p:pic>
          <p:nvPicPr>
            <p:cNvPr id="17" name="Picture 16">
              <a:extLst>
                <a:ext uri="{FF2B5EF4-FFF2-40B4-BE49-F238E27FC236}">
                  <a16:creationId xmlns:a16="http://schemas.microsoft.com/office/drawing/2014/main" id="{1AE0E661-5285-4714-81F2-35134892A6F9}"/>
                </a:ext>
              </a:extLst>
            </p:cNvPr>
            <p:cNvPicPr>
              <a:picLocks noChangeAspect="1"/>
            </p:cNvPicPr>
            <p:nvPr/>
          </p:nvPicPr>
          <p:blipFill>
            <a:blip r:embed="rId7"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p14="http://schemas.microsoft.com/office/powerpoint/2010/main" val="9418180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1">
            <a:extLst>
              <a:ext uri="{FF2B5EF4-FFF2-40B4-BE49-F238E27FC236}">
                <a16:creationId xmlns:a16="http://schemas.microsoft.com/office/drawing/2014/main" id="{421FF376-B888-4520-95B3-184812E27A5A}"/>
              </a:ext>
            </a:extLst>
          </p:cNvPr>
          <p:cNvSpPr txBox="1">
            <a:spLocks/>
          </p:cNvSpPr>
          <p:nvPr/>
        </p:nvSpPr>
        <p:spPr>
          <a:xfrm>
            <a:off x="550877" y="1271053"/>
            <a:ext cx="10211606" cy="4515793"/>
          </a:xfrm>
          <a:prstGeom prst="rect">
            <a:avLst/>
          </a:prstGeom>
        </p:spPr>
        <p:txBody>
          <a:bodyPr vert="horz" lIns="91440" tIns="45720" rIns="91440" bIns="45720" rtlCol="0" anchor="ctr"/>
          <a:lstStyle>
            <a:defPPr>
              <a:defRPr lang="en-PK"/>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2000" dirty="0">
              <a:solidFill>
                <a:schemeClr val="tx1"/>
              </a:solidFill>
              <a:latin typeface="Times New Roman" panose="02020603050405020304" pitchFamily="18" charset="0"/>
              <a:cs typeface="Times New Roman" panose="02020603050405020304" pitchFamily="18" charset="0"/>
            </a:endParaRPr>
          </a:p>
          <a:p>
            <a:r>
              <a:rPr lang="en-US" sz="2800" b="1" dirty="0">
                <a:solidFill>
                  <a:schemeClr val="tx1"/>
                </a:solidFill>
                <a:latin typeface="Times New Roman" panose="02020603050405020304" pitchFamily="18" charset="0"/>
                <a:cs typeface="Times New Roman" panose="02020603050405020304" pitchFamily="18" charset="0"/>
              </a:rPr>
              <a:t>Attitudes </a:t>
            </a:r>
            <a:r>
              <a:rPr lang="en-US" sz="2000" dirty="0">
                <a:solidFill>
                  <a:schemeClr val="tx1"/>
                </a:solidFill>
                <a:latin typeface="Times New Roman" panose="02020603050405020304" pitchFamily="18" charset="0"/>
                <a:cs typeface="Times New Roman" panose="02020603050405020304" pitchFamily="18" charset="0"/>
              </a:rPr>
              <a:t>− Our attitudes towards anything or anyone have a great impact on our perception. And our attitudes are developed around our living background. Our childhood, our upbringing, and the nature of the people around us form and nurture our attitudes. So our attitude towards a particular target is one of the major factors that influence perception.</a:t>
            </a:r>
          </a:p>
          <a:p>
            <a:endParaRPr lang="en-US" sz="2000" dirty="0">
              <a:solidFill>
                <a:schemeClr val="tx1"/>
              </a:solidFill>
              <a:latin typeface="Times New Roman" panose="02020603050405020304" pitchFamily="18" charset="0"/>
              <a:cs typeface="Times New Roman" panose="02020603050405020304" pitchFamily="18" charset="0"/>
            </a:endParaRPr>
          </a:p>
          <a:p>
            <a:r>
              <a:rPr lang="en-US" sz="2800" b="1" dirty="0">
                <a:solidFill>
                  <a:schemeClr val="tx1"/>
                </a:solidFill>
                <a:latin typeface="Times New Roman" panose="02020603050405020304" pitchFamily="18" charset="0"/>
                <a:cs typeface="Times New Roman" panose="02020603050405020304" pitchFamily="18" charset="0"/>
              </a:rPr>
              <a:t>Motives </a:t>
            </a:r>
            <a:r>
              <a:rPr lang="en-US" sz="2000" dirty="0">
                <a:solidFill>
                  <a:schemeClr val="tx1"/>
                </a:solidFill>
                <a:latin typeface="Times New Roman" panose="02020603050405020304" pitchFamily="18" charset="0"/>
                <a:cs typeface="Times New Roman" panose="02020603050405020304" pitchFamily="18" charset="0"/>
              </a:rPr>
              <a:t>− The motive behind anything helps to shape and sometimes distort our perception. Suppose we go for an interview and the motive behind the interview is to get an urgent job, we will perceive everything to be decent and good, and if we already have many options and our motive is to choose anyone among them, then we will start encountering good aspects as well as bad aspects.</a:t>
            </a:r>
            <a:endParaRPr lang="en-US" sz="2800" dirty="0">
              <a:solidFill>
                <a:schemeClr val="tx1"/>
              </a:solidFill>
              <a:latin typeface="Times New Roman" panose="02020603050405020304" pitchFamily="18" charset="0"/>
              <a:ea typeface="Arial" charset="0"/>
              <a:cs typeface="Times New Roman" panose="02020603050405020304" pitchFamily="18" charset="0"/>
            </a:endParaRPr>
          </a:p>
        </p:txBody>
      </p:sp>
      <p:grpSp>
        <p:nvGrpSpPr>
          <p:cNvPr id="11" name="Group 10">
            <a:extLst>
              <a:ext uri="{FF2B5EF4-FFF2-40B4-BE49-F238E27FC236}">
                <a16:creationId xmlns:a16="http://schemas.microsoft.com/office/drawing/2014/main" id="{D902F2AF-6212-4EBD-91DC-0A31C66CC177}"/>
              </a:ext>
            </a:extLst>
          </p:cNvPr>
          <p:cNvGrpSpPr/>
          <p:nvPr/>
        </p:nvGrpSpPr>
        <p:grpSpPr>
          <a:xfrm>
            <a:off x="0" y="0"/>
            <a:ext cx="12749348" cy="1115736"/>
            <a:chOff x="0" y="0"/>
            <a:chExt cx="12749348" cy="1115736"/>
          </a:xfrm>
        </p:grpSpPr>
        <p:sp>
          <p:nvSpPr>
            <p:cNvPr id="12" name="Rectangle 11">
              <a:extLst>
                <a:ext uri="{FF2B5EF4-FFF2-40B4-BE49-F238E27FC236}">
                  <a16:creationId xmlns:a16="http://schemas.microsoft.com/office/drawing/2014/main" id="{2107BFA9-1FBC-4994-94F4-F8E048555E33}"/>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pic>
          <p:nvPicPr>
            <p:cNvPr id="13" name="Picture 12">
              <a:extLst>
                <a:ext uri="{FF2B5EF4-FFF2-40B4-BE49-F238E27FC236}">
                  <a16:creationId xmlns:a16="http://schemas.microsoft.com/office/drawing/2014/main" id="{7DAE626E-39CF-4929-AEBD-F99D85693C24}"/>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4" name="TextBox 13">
              <a:extLst>
                <a:ext uri="{FF2B5EF4-FFF2-40B4-BE49-F238E27FC236}">
                  <a16:creationId xmlns:a16="http://schemas.microsoft.com/office/drawing/2014/main" id="{C01A20DA-2C51-458B-8DF2-9A31ADB10865}"/>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15" name="Graphic 14">
              <a:extLst>
                <a:ext uri="{FF2B5EF4-FFF2-40B4-BE49-F238E27FC236}">
                  <a16:creationId xmlns:a16="http://schemas.microsoft.com/office/drawing/2014/main" id="{085CEA25-F483-4C30-B74C-7F72BED483D8}"/>
                </a:ext>
              </a:extLst>
            </p:cNvPr>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9906056" y="403986"/>
              <a:ext cx="261610" cy="261610"/>
            </a:xfrm>
            <a:prstGeom prst="rect">
              <a:avLst/>
            </a:prstGeom>
          </p:spPr>
        </p:pic>
        <p:sp>
          <p:nvSpPr>
            <p:cNvPr id="16" name="TextBox 15">
              <a:extLst>
                <a:ext uri="{FF2B5EF4-FFF2-40B4-BE49-F238E27FC236}">
                  <a16:creationId xmlns:a16="http://schemas.microsoft.com/office/drawing/2014/main" id="{5AE3EF58-064F-430D-8AF4-B50903602484}"/>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7" name="Graphic 16">
              <a:extLst>
                <a:ext uri="{FF2B5EF4-FFF2-40B4-BE49-F238E27FC236}">
                  <a16:creationId xmlns:a16="http://schemas.microsoft.com/office/drawing/2014/main" id="{900A4B43-9A67-4050-B066-DDA0AAA31A18}"/>
                </a:ext>
              </a:extLst>
            </p:cNvPr>
            <p:cNvPicPr>
              <a:picLocks noChangeAspect="1"/>
            </p:cNvPicPr>
            <p:nvPr/>
          </p:nvPicPr>
          <p:blipFill>
            <a:blip r:embed="rId5">
              <a:extLst>
                <a:ext uri="{96DAC541-7B7A-43D3-8B79-37D633B846F1}">
                  <asvg:svgBlip xmlns:asvg="http://schemas.microsoft.com/office/drawing/2016/SVG/main" xmlns="" r:embed="rId6"/>
                </a:ext>
              </a:extLst>
            </a:blip>
            <a:stretch>
              <a:fillRect/>
            </a:stretch>
          </p:blipFill>
          <p:spPr>
            <a:xfrm>
              <a:off x="10591033" y="741997"/>
              <a:ext cx="171450" cy="171450"/>
            </a:xfrm>
            <a:prstGeom prst="rect">
              <a:avLst/>
            </a:prstGeom>
          </p:spPr>
        </p:pic>
        <p:pic>
          <p:nvPicPr>
            <p:cNvPr id="18" name="Picture 17">
              <a:extLst>
                <a:ext uri="{FF2B5EF4-FFF2-40B4-BE49-F238E27FC236}">
                  <a16:creationId xmlns:a16="http://schemas.microsoft.com/office/drawing/2014/main" id="{B5C0BAE4-239E-4E7D-98AE-3F6AEE48AD8C}"/>
                </a:ext>
              </a:extLst>
            </p:cNvPr>
            <p:cNvPicPr>
              <a:picLocks noChangeAspect="1"/>
            </p:cNvPicPr>
            <p:nvPr/>
          </p:nvPicPr>
          <p:blipFill>
            <a:blip r:embed="rId7"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p14="http://schemas.microsoft.com/office/powerpoint/2010/main" val="11289903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1">
            <a:extLst>
              <a:ext uri="{FF2B5EF4-FFF2-40B4-BE49-F238E27FC236}">
                <a16:creationId xmlns:a16="http://schemas.microsoft.com/office/drawing/2014/main" id="{421FF376-B888-4520-95B3-184812E27A5A}"/>
              </a:ext>
            </a:extLst>
          </p:cNvPr>
          <p:cNvSpPr txBox="1">
            <a:spLocks/>
          </p:cNvSpPr>
          <p:nvPr/>
        </p:nvSpPr>
        <p:spPr>
          <a:xfrm>
            <a:off x="550877" y="1271053"/>
            <a:ext cx="10211606" cy="4515793"/>
          </a:xfrm>
          <a:prstGeom prst="rect">
            <a:avLst/>
          </a:prstGeom>
        </p:spPr>
        <p:txBody>
          <a:bodyPr vert="horz" lIns="91440" tIns="45720" rIns="91440" bIns="45720" rtlCol="0" anchor="ctr"/>
          <a:lstStyle>
            <a:defPPr>
              <a:defRPr lang="en-PK"/>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800" b="1" dirty="0">
                <a:solidFill>
                  <a:schemeClr val="tx1"/>
                </a:solidFill>
                <a:latin typeface="Times New Roman" panose="02020603050405020304" pitchFamily="18" charset="0"/>
                <a:cs typeface="Times New Roman" panose="02020603050405020304" pitchFamily="18" charset="0"/>
              </a:rPr>
              <a:t>Interest</a:t>
            </a:r>
            <a:r>
              <a:rPr lang="en-US" sz="2000" dirty="0">
                <a:solidFill>
                  <a:schemeClr val="tx1"/>
                </a:solidFill>
                <a:latin typeface="Times New Roman" panose="02020603050405020304" pitchFamily="18" charset="0"/>
                <a:cs typeface="Times New Roman" panose="02020603050405020304" pitchFamily="18" charset="0"/>
              </a:rPr>
              <a:t> − We perceive the target as favorable and good if we have an interest in it. For example, if we choose a particular college because it offers scholarships, we will perceive it to be better than other colleges.</a:t>
            </a:r>
          </a:p>
          <a:p>
            <a:endParaRPr lang="en-US" sz="2800" b="1" dirty="0">
              <a:solidFill>
                <a:schemeClr val="tx1"/>
              </a:solidFill>
              <a:latin typeface="Times New Roman" panose="02020603050405020304" pitchFamily="18" charset="0"/>
              <a:cs typeface="Times New Roman" panose="02020603050405020304" pitchFamily="18" charset="0"/>
            </a:endParaRPr>
          </a:p>
          <a:p>
            <a:r>
              <a:rPr lang="en-US" sz="2800" b="1" dirty="0">
                <a:solidFill>
                  <a:schemeClr val="tx1"/>
                </a:solidFill>
                <a:latin typeface="Times New Roman" panose="02020603050405020304" pitchFamily="18" charset="0"/>
                <a:cs typeface="Times New Roman" panose="02020603050405020304" pitchFamily="18" charset="0"/>
              </a:rPr>
              <a:t>Experience </a:t>
            </a:r>
            <a:r>
              <a:rPr lang="en-US" sz="2000" dirty="0">
                <a:solidFill>
                  <a:schemeClr val="tx1"/>
                </a:solidFill>
                <a:latin typeface="Times New Roman" panose="02020603050405020304" pitchFamily="18" charset="0"/>
                <a:cs typeface="Times New Roman" panose="02020603050405020304" pitchFamily="18" charset="0"/>
              </a:rPr>
              <a:t>− Our experience and expertise also shape our perceptions. A particular child can view a cartoon as the best thing to enjoy, but a youngster may or may not have any interest in it; he or she may like rock music instead of that, and an old person may not have any interest in any of them. So years of experience shape and modulate our perception towards anything.</a:t>
            </a:r>
            <a:endParaRPr lang="en-US" sz="2800" dirty="0">
              <a:solidFill>
                <a:schemeClr val="tx1"/>
              </a:solidFill>
              <a:latin typeface="Times New Roman" panose="02020603050405020304" pitchFamily="18" charset="0"/>
              <a:ea typeface="Arial" charset="0"/>
              <a:cs typeface="Times New Roman" panose="02020603050405020304" pitchFamily="18" charset="0"/>
            </a:endParaRPr>
          </a:p>
        </p:txBody>
      </p:sp>
      <p:grpSp>
        <p:nvGrpSpPr>
          <p:cNvPr id="11" name="Group 10">
            <a:extLst>
              <a:ext uri="{FF2B5EF4-FFF2-40B4-BE49-F238E27FC236}">
                <a16:creationId xmlns:a16="http://schemas.microsoft.com/office/drawing/2014/main" id="{D902F2AF-6212-4EBD-91DC-0A31C66CC177}"/>
              </a:ext>
            </a:extLst>
          </p:cNvPr>
          <p:cNvGrpSpPr/>
          <p:nvPr/>
        </p:nvGrpSpPr>
        <p:grpSpPr>
          <a:xfrm>
            <a:off x="0" y="0"/>
            <a:ext cx="12749348" cy="1115736"/>
            <a:chOff x="0" y="0"/>
            <a:chExt cx="12749348" cy="1115736"/>
          </a:xfrm>
        </p:grpSpPr>
        <p:sp>
          <p:nvSpPr>
            <p:cNvPr id="12" name="Rectangle 11">
              <a:extLst>
                <a:ext uri="{FF2B5EF4-FFF2-40B4-BE49-F238E27FC236}">
                  <a16:creationId xmlns:a16="http://schemas.microsoft.com/office/drawing/2014/main" id="{2107BFA9-1FBC-4994-94F4-F8E048555E33}"/>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pic>
          <p:nvPicPr>
            <p:cNvPr id="13" name="Picture 12">
              <a:extLst>
                <a:ext uri="{FF2B5EF4-FFF2-40B4-BE49-F238E27FC236}">
                  <a16:creationId xmlns:a16="http://schemas.microsoft.com/office/drawing/2014/main" id="{7DAE626E-39CF-4929-AEBD-F99D85693C24}"/>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4" name="TextBox 13">
              <a:extLst>
                <a:ext uri="{FF2B5EF4-FFF2-40B4-BE49-F238E27FC236}">
                  <a16:creationId xmlns:a16="http://schemas.microsoft.com/office/drawing/2014/main" id="{C01A20DA-2C51-458B-8DF2-9A31ADB10865}"/>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15" name="Graphic 14">
              <a:extLst>
                <a:ext uri="{FF2B5EF4-FFF2-40B4-BE49-F238E27FC236}">
                  <a16:creationId xmlns:a16="http://schemas.microsoft.com/office/drawing/2014/main" id="{085CEA25-F483-4C30-B74C-7F72BED483D8}"/>
                </a:ext>
              </a:extLst>
            </p:cNvPr>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9906056" y="403986"/>
              <a:ext cx="261610" cy="261610"/>
            </a:xfrm>
            <a:prstGeom prst="rect">
              <a:avLst/>
            </a:prstGeom>
          </p:spPr>
        </p:pic>
        <p:sp>
          <p:nvSpPr>
            <p:cNvPr id="16" name="TextBox 15">
              <a:extLst>
                <a:ext uri="{FF2B5EF4-FFF2-40B4-BE49-F238E27FC236}">
                  <a16:creationId xmlns:a16="http://schemas.microsoft.com/office/drawing/2014/main" id="{5AE3EF58-064F-430D-8AF4-B50903602484}"/>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7" name="Graphic 16">
              <a:extLst>
                <a:ext uri="{FF2B5EF4-FFF2-40B4-BE49-F238E27FC236}">
                  <a16:creationId xmlns:a16="http://schemas.microsoft.com/office/drawing/2014/main" id="{900A4B43-9A67-4050-B066-DDA0AAA31A18}"/>
                </a:ext>
              </a:extLst>
            </p:cNvPr>
            <p:cNvPicPr>
              <a:picLocks noChangeAspect="1"/>
            </p:cNvPicPr>
            <p:nvPr/>
          </p:nvPicPr>
          <p:blipFill>
            <a:blip r:embed="rId5">
              <a:extLst>
                <a:ext uri="{96DAC541-7B7A-43D3-8B79-37D633B846F1}">
                  <asvg:svgBlip xmlns:asvg="http://schemas.microsoft.com/office/drawing/2016/SVG/main" xmlns="" r:embed="rId6"/>
                </a:ext>
              </a:extLst>
            </a:blip>
            <a:stretch>
              <a:fillRect/>
            </a:stretch>
          </p:blipFill>
          <p:spPr>
            <a:xfrm>
              <a:off x="10591033" y="741997"/>
              <a:ext cx="171450" cy="171450"/>
            </a:xfrm>
            <a:prstGeom prst="rect">
              <a:avLst/>
            </a:prstGeom>
          </p:spPr>
        </p:pic>
        <p:pic>
          <p:nvPicPr>
            <p:cNvPr id="18" name="Picture 17">
              <a:extLst>
                <a:ext uri="{FF2B5EF4-FFF2-40B4-BE49-F238E27FC236}">
                  <a16:creationId xmlns:a16="http://schemas.microsoft.com/office/drawing/2014/main" id="{B5C0BAE4-239E-4E7D-98AE-3F6AEE48AD8C}"/>
                </a:ext>
              </a:extLst>
            </p:cNvPr>
            <p:cNvPicPr>
              <a:picLocks noChangeAspect="1"/>
            </p:cNvPicPr>
            <p:nvPr/>
          </p:nvPicPr>
          <p:blipFill>
            <a:blip r:embed="rId7"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p14="http://schemas.microsoft.com/office/powerpoint/2010/main" val="24852037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464</TotalTime>
  <Words>2051</Words>
  <Application>Microsoft Office PowerPoint</Application>
  <PresentationFormat>Widescreen</PresentationFormat>
  <Paragraphs>144</Paragraphs>
  <Slides>22</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22</vt:i4>
      </vt:variant>
    </vt:vector>
  </HeadingPairs>
  <TitlesOfParts>
    <vt:vector size="32" baseType="lpstr">
      <vt:lpstr>Arial</vt:lpstr>
      <vt:lpstr>Bahnschrift</vt:lpstr>
      <vt:lpstr>Calibri</vt:lpstr>
      <vt:lpstr>Calibri Light</vt:lpstr>
      <vt:lpstr>Candara</vt:lpstr>
      <vt:lpstr>gilroySemibold</vt:lpstr>
      <vt:lpstr>Google Sans</vt:lpstr>
      <vt:lpstr>roboto</vt:lpstr>
      <vt:lpstr>Times New Roman</vt:lpstr>
      <vt:lpstr>Office Theme</vt:lpstr>
      <vt:lpstr>Psychology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3. Law of Closure </vt:lpstr>
      <vt:lpstr>PowerPoint Presentation</vt:lpstr>
      <vt:lpstr>PowerPoint Presentation</vt:lpstr>
      <vt:lpstr>PowerPoint Presentation</vt:lpstr>
      <vt:lpstr>PowerPoint Presentation</vt:lpstr>
      <vt:lpstr>Factors effecting the Perception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Sofia Sultana</dc:creator>
  <cp:lastModifiedBy>Aqsa</cp:lastModifiedBy>
  <cp:revision>104</cp:revision>
  <dcterms:created xsi:type="dcterms:W3CDTF">2024-06-21T09:49:54Z</dcterms:created>
  <dcterms:modified xsi:type="dcterms:W3CDTF">2025-03-06T04:55:53Z</dcterms:modified>
</cp:coreProperties>
</file>