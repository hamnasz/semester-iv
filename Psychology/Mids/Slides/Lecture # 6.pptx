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324" r:id="rId5"/>
    <p:sldId id="313" r:id="rId6"/>
    <p:sldId id="314" r:id="rId7"/>
    <p:sldId id="315" r:id="rId8"/>
    <p:sldId id="316" r:id="rId9"/>
    <p:sldId id="317" r:id="rId10"/>
    <p:sldId id="318" r:id="rId11"/>
    <p:sldId id="319" r:id="rId12"/>
    <p:sldId id="320" r:id="rId13"/>
    <p:sldId id="321" r:id="rId14"/>
    <p:sldId id="322" r:id="rId15"/>
    <p:sldId id="32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81" d="100"/>
          <a:sy n="81" d="100"/>
        </p:scale>
        <p:origin x="-18" y="6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3/21/2025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3/21/2025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84701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7588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3/21/2025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3/21/2025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0058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3/21/2025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073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3/21/2025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358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3/21/2025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7532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3/21/2025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3216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3/21/2025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9103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3/21/2025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090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712629" y="239698"/>
            <a:ext cx="7649653" cy="2408146"/>
          </a:xfrm>
        </p:spPr>
        <p:txBody>
          <a:bodyPr>
            <a:normAutofit/>
          </a:bodyPr>
          <a:lstStyle/>
          <a:p>
            <a:pPr lvl="0"/>
            <a:r>
              <a:rPr lang="en-US" dirty="0" smtClean="0"/>
              <a:t/>
            </a:r>
            <a:br>
              <a:rPr lang="en-US" dirty="0" smtClean="0"/>
            </a:br>
            <a:endParaRPr lang="en-GB"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545124" y="3429000"/>
            <a:ext cx="10374923" cy="2901461"/>
          </a:xfrm>
        </p:spPr>
        <p:txBody>
          <a:bodyPr>
            <a:noAutofit/>
          </a:bodyPr>
          <a:lstStyle/>
          <a:p>
            <a:pPr marL="457200" indent="-457200">
              <a:buFont typeface="Wingdings" pitchFamily="2" charset="2"/>
              <a:buChar char="ü"/>
            </a:pPr>
            <a:r>
              <a:rPr lang="en-US" sz="4400" b="1" dirty="0" smtClean="0">
                <a:latin typeface="Arial" panose="020B0604020202020204" pitchFamily="34" charset="0"/>
                <a:cs typeface="Arial" panose="020B0604020202020204" pitchFamily="34" charset="0"/>
              </a:rPr>
              <a:t>Define Personality</a:t>
            </a:r>
          </a:p>
          <a:p>
            <a:pPr marL="457200" indent="-457200">
              <a:buFont typeface="Wingdings" pitchFamily="2" charset="2"/>
              <a:buChar char="ü"/>
            </a:pPr>
            <a:r>
              <a:rPr lang="en-US" sz="4400" b="1" dirty="0" smtClean="0">
                <a:latin typeface="Arial" panose="020B0604020202020204" pitchFamily="34" charset="0"/>
                <a:cs typeface="Arial" panose="020B0604020202020204" pitchFamily="34" charset="0"/>
              </a:rPr>
              <a:t>Types of personality</a:t>
            </a:r>
          </a:p>
          <a:p>
            <a:pPr marL="457200" indent="-457200">
              <a:buFont typeface="Wingdings" pitchFamily="2" charset="2"/>
              <a:buChar char="ü"/>
            </a:pPr>
            <a:r>
              <a:rPr lang="en-US" sz="4400" b="1" dirty="0" smtClean="0">
                <a:latin typeface="Arial" panose="020B0604020202020204" pitchFamily="34" charset="0"/>
                <a:cs typeface="Arial" panose="020B0604020202020204" pitchFamily="34" charset="0"/>
              </a:rPr>
              <a:t>Cluster of personality</a:t>
            </a:r>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907913" y="6166392"/>
            <a:ext cx="2800905" cy="683582"/>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580310" y="228599"/>
            <a:ext cx="3611690" cy="3611690"/>
          </a:xfrm>
          <a:prstGeom prst="rect">
            <a:avLst/>
          </a:prstGeom>
        </p:spPr>
      </p:pic>
      <p:sp>
        <p:nvSpPr>
          <p:cNvPr id="6" name="Rectangle 5"/>
          <p:cNvSpPr/>
          <p:nvPr/>
        </p:nvSpPr>
        <p:spPr>
          <a:xfrm>
            <a:off x="545124" y="1308103"/>
            <a:ext cx="9964123" cy="1569660"/>
          </a:xfrm>
          <a:prstGeom prst="rect">
            <a:avLst/>
          </a:prstGeom>
        </p:spPr>
        <p:txBody>
          <a:bodyPr wrap="square">
            <a:spAutoFit/>
          </a:bodyPr>
          <a:lstStyle/>
          <a:p>
            <a:pPr algn="ctr" latinLnBrk="1"/>
            <a:r>
              <a:rPr lang="en-US" sz="9600" b="1" dirty="0" smtClean="0">
                <a:latin typeface="Arial" pitchFamily="34" charset="0"/>
                <a:cs typeface="Arial" pitchFamily="34" charset="0"/>
              </a:rPr>
              <a:t>Personality</a:t>
            </a:r>
            <a:endParaRPr lang="en-US" sz="9600" b="1" dirty="0">
              <a:latin typeface="Arial" pitchFamily="34" charset="0"/>
              <a:cs typeface="Arial" pitchFamily="34" charset="0"/>
            </a:endParaRPr>
          </a:p>
        </p:txBody>
      </p:sp>
    </p:spTree>
    <p:extLst>
      <p:ext uri="{BB962C8B-B14F-4D97-AF65-F5344CB8AC3E}">
        <p14:creationId xmlns:p14="http://schemas.microsoft.com/office/powerpoint/2010/main" val="81090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723B-980E-3537-CA45-6559A06423CC}"/>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E9D52518-B8FB-165F-68F0-A6DE103C223B}"/>
              </a:ext>
            </a:extLst>
          </p:cNvPr>
          <p:cNvSpPr>
            <a:spLocks noGrp="1"/>
          </p:cNvSpPr>
          <p:nvPr>
            <p:ph idx="1"/>
          </p:nvPr>
        </p:nvSpPr>
        <p:spPr/>
        <p:txBody>
          <a:bodyPr/>
          <a:lstStyle/>
          <a:p>
            <a:endParaRPr lang="en-US" dirty="0"/>
          </a:p>
          <a:p>
            <a:r>
              <a:rPr lang="en-US" sz="4800" dirty="0"/>
              <a:t>The combination of characteristics or qualities that form an individual's distinctive character.</a:t>
            </a: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626779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7ABC-879B-B814-F8EB-9C2918E7049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44C2F48-3781-7D13-2309-EC7153C4C1C6}"/>
              </a:ext>
            </a:extLst>
          </p:cNvPr>
          <p:cNvSpPr>
            <a:spLocks noGrp="1"/>
          </p:cNvSpPr>
          <p:nvPr>
            <p:ph idx="1"/>
          </p:nvPr>
        </p:nvSpPr>
        <p:spPr/>
        <p:txBody>
          <a:bodyPr>
            <a:normAutofit lnSpcReduction="10000"/>
          </a:bodyPr>
          <a:lstStyle/>
          <a:p>
            <a:r>
              <a:rPr lang="en-US" sz="4000" b="0" i="0" dirty="0">
                <a:solidFill>
                  <a:srgbClr val="474747"/>
                </a:solidFill>
                <a:effectLst/>
                <a:latin typeface="Google Sans"/>
              </a:rPr>
              <a:t>Personality refers to the enduring characteristics and behavior that comprise a person's unique adjustment to life, including major traits, interests, drives, values, self-concept, abilities, and emotional patterns.</a:t>
            </a:r>
            <a:endParaRPr lang="en-US" sz="4000" dirty="0"/>
          </a:p>
        </p:txBody>
      </p:sp>
      <p:grpSp>
        <p:nvGrpSpPr>
          <p:cNvPr id="18"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9" name="Rectangle 18">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20" name="TextBox 19">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22" name="TextBox 21">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24" name="Picture 23">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44776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9B728-0734-B03D-FFFF-5CD5310C2FC8}"/>
              </a:ext>
            </a:extLst>
          </p:cNvPr>
          <p:cNvSpPr>
            <a:spLocks noGrp="1"/>
          </p:cNvSpPr>
          <p:nvPr>
            <p:ph type="title"/>
          </p:nvPr>
        </p:nvSpPr>
        <p:spPr/>
        <p:txBody>
          <a:bodyPr/>
          <a:lstStyle/>
          <a:p>
            <a:r>
              <a:rPr lang="en-US" dirty="0"/>
              <a:t>DETERMINENTS OF PERSONALITY</a:t>
            </a:r>
          </a:p>
        </p:txBody>
      </p:sp>
      <p:pic>
        <p:nvPicPr>
          <p:cNvPr id="4" name="Content Placeholder 3">
            <a:extLst>
              <a:ext uri="{FF2B5EF4-FFF2-40B4-BE49-F238E27FC236}">
                <a16:creationId xmlns:a16="http://schemas.microsoft.com/office/drawing/2014/main" id="{77615A1B-7C9A-33D1-41A6-DB1E358F8301}"/>
              </a:ext>
            </a:extLst>
          </p:cNvPr>
          <p:cNvPicPr>
            <a:picLocks noGrp="1" noChangeAspect="1"/>
          </p:cNvPicPr>
          <p:nvPr>
            <p:ph idx="1"/>
          </p:nvPr>
        </p:nvPicPr>
        <p:blipFill>
          <a:blip r:embed="rId2"/>
          <a:stretch>
            <a:fillRect/>
          </a:stretch>
        </p:blipFill>
        <p:spPr>
          <a:xfrm>
            <a:off x="3016250" y="2103438"/>
            <a:ext cx="6159499" cy="3849687"/>
          </a:xfrm>
          <a:prstGeom prst="rect">
            <a:avLst/>
          </a:prstGeom>
        </p:spPr>
      </p:pic>
      <p:grpSp>
        <p:nvGrpSpPr>
          <p:cNvPr id="12"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3" name="Rectangle 12">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412939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D03E-EA15-43B5-A4D3-B45FA0A251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D8B6EE-FE37-49EF-AAF2-4C2CCA989796}"/>
              </a:ext>
            </a:extLst>
          </p:cNvPr>
          <p:cNvSpPr>
            <a:spLocks noGrp="1"/>
          </p:cNvSpPr>
          <p:nvPr>
            <p:ph idx="1"/>
          </p:nvPr>
        </p:nvSpPr>
        <p:spPr/>
        <p:txBody>
          <a:bodyPr>
            <a:noAutofit/>
          </a:bodyPr>
          <a:lstStyle/>
          <a:p>
            <a:r>
              <a:rPr lang="en-US" sz="2400" dirty="0"/>
              <a:t>There are four major determinants of personality:</a:t>
            </a:r>
          </a:p>
          <a:p>
            <a:endParaRPr lang="en-US" sz="2400" dirty="0"/>
          </a:p>
          <a:p>
            <a:r>
              <a:rPr lang="en-US" sz="2400" dirty="0"/>
              <a:t>Biological/Physical Determinants: Hereditary and physical features</a:t>
            </a:r>
          </a:p>
          <a:p>
            <a:r>
              <a:rPr lang="en-US" sz="2400" dirty="0"/>
              <a:t>Social Determinants: Sociological aspects related to the community and his/her role in the community</a:t>
            </a:r>
          </a:p>
          <a:p>
            <a:r>
              <a:rPr lang="en-US" sz="2400" dirty="0"/>
              <a:t>Psychological Determinants: </a:t>
            </a:r>
            <a:r>
              <a:rPr lang="en-US" sz="2400" dirty="0" err="1"/>
              <a:t>Behaviour</a:t>
            </a:r>
            <a:r>
              <a:rPr lang="en-US" sz="2400" dirty="0"/>
              <a:t>, emotions, sentiments, thought patterns and complexes of an individual</a:t>
            </a:r>
          </a:p>
          <a:p>
            <a:r>
              <a:rPr lang="en-US" sz="2400" dirty="0"/>
              <a:t>Intellectual Determinants: Values, </a:t>
            </a:r>
            <a:r>
              <a:rPr lang="en-US" sz="2400" dirty="0" err="1"/>
              <a:t>Humour</a:t>
            </a:r>
            <a:r>
              <a:rPr lang="en-US" sz="2400" dirty="0"/>
              <a:t>, Morality, etc.</a:t>
            </a:r>
          </a:p>
        </p:txBody>
      </p:sp>
      <p:grpSp>
        <p:nvGrpSpPr>
          <p:cNvPr id="11"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3" name="TextBox 12">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455015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7E7A-AD16-20AB-FFFE-360B2B4030F9}"/>
              </a:ext>
            </a:extLst>
          </p:cNvPr>
          <p:cNvSpPr>
            <a:spLocks noGrp="1"/>
          </p:cNvSpPr>
          <p:nvPr>
            <p:ph type="title"/>
          </p:nvPr>
        </p:nvSpPr>
        <p:spPr/>
        <p:txBody>
          <a:bodyPr/>
          <a:lstStyle/>
          <a:p>
            <a:r>
              <a:rPr lang="en-US" dirty="0"/>
              <a:t>TYPES OF PERSONALITY</a:t>
            </a:r>
          </a:p>
        </p:txBody>
      </p:sp>
      <p:sp>
        <p:nvSpPr>
          <p:cNvPr id="3" name="Content Placeholder 2">
            <a:extLst>
              <a:ext uri="{FF2B5EF4-FFF2-40B4-BE49-F238E27FC236}">
                <a16:creationId xmlns:a16="http://schemas.microsoft.com/office/drawing/2014/main" id="{67303FEA-3FCD-2C12-2532-E112A5D23010}"/>
              </a:ext>
            </a:extLst>
          </p:cNvPr>
          <p:cNvSpPr>
            <a:spLocks noGrp="1"/>
          </p:cNvSpPr>
          <p:nvPr>
            <p:ph idx="1"/>
          </p:nvPr>
        </p:nvSpPr>
        <p:spPr/>
        <p:txBody>
          <a:bodyPr>
            <a:normAutofit lnSpcReduction="10000"/>
          </a:bodyPr>
          <a:lstStyle/>
          <a:p>
            <a:r>
              <a:rPr lang="en-US" sz="2800" b="1" dirty="0"/>
              <a:t>Realistic (Doer)</a:t>
            </a:r>
          </a:p>
          <a:p>
            <a:r>
              <a:rPr lang="en-US" sz="2800" dirty="0"/>
              <a:t>Someone who likes to work mainly with their hands by making and fixing things, assembling or operating equipment. They sometimes prefer working outdoors and find joy in a career that performs various manual labor. The Realistic individual works well with tools, machines, and mechanical drawings. Valuing practical things they can see and touch, they often see themselves as practical, mechanical, and goal oriented.</a:t>
            </a:r>
          </a:p>
        </p:txBody>
      </p:sp>
      <p:grpSp>
        <p:nvGrpSpPr>
          <p:cNvPr id="11"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3" name="TextBox 12">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615004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1803E-11B0-A6CE-CE17-A955F632A5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496B6F-CE44-4752-CD33-E89B4327581B}"/>
              </a:ext>
            </a:extLst>
          </p:cNvPr>
          <p:cNvSpPr>
            <a:spLocks noGrp="1"/>
          </p:cNvSpPr>
          <p:nvPr>
            <p:ph idx="1"/>
          </p:nvPr>
        </p:nvSpPr>
        <p:spPr/>
        <p:txBody>
          <a:bodyPr>
            <a:normAutofit/>
          </a:bodyPr>
          <a:lstStyle/>
          <a:p>
            <a:r>
              <a:rPr lang="en-US" sz="2800" b="1" dirty="0"/>
              <a:t>Investigative (Thinker)</a:t>
            </a:r>
          </a:p>
          <a:p>
            <a:r>
              <a:rPr lang="en-US" sz="2800" dirty="0"/>
              <a:t>The most analytical of the six personalities, this detail oriented group loves to study and solve math or science-related problems. They aren’t skilled negotiators but work best in a career choice that lets them work with others who are grounded. They see themselves as precise, intellectual, and goal oriented people that like to be acknowledged for their achievements.</a:t>
            </a:r>
          </a:p>
        </p:txBody>
      </p:sp>
      <p:grpSp>
        <p:nvGrpSpPr>
          <p:cNvPr id="11"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3" name="TextBox 12">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398719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82648-AB2D-D780-99EA-4375D61042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20757C-2608-C829-AAD3-4FAC25FC482A}"/>
              </a:ext>
            </a:extLst>
          </p:cNvPr>
          <p:cNvSpPr>
            <a:spLocks noGrp="1"/>
          </p:cNvSpPr>
          <p:nvPr>
            <p:ph idx="1"/>
          </p:nvPr>
        </p:nvSpPr>
        <p:spPr/>
        <p:txBody>
          <a:bodyPr>
            <a:normAutofit lnSpcReduction="10000"/>
          </a:bodyPr>
          <a:lstStyle/>
          <a:p>
            <a:r>
              <a:rPr lang="en-US" sz="2800" b="1" dirty="0"/>
              <a:t>Artistic (Creator)</a:t>
            </a:r>
          </a:p>
          <a:p>
            <a:r>
              <a:rPr lang="en-US" sz="2800" dirty="0"/>
              <a:t>This group of individuals values others who are expressive and independent with an openness to experience. They naturally admire the creative arts, including writing and music, and have high levels of creativity. They see themselves as expressive and original and prefer to avoid a career choice that requires highly ordered or repetitive activities. They enjoy working in groups, but only if they are allowed expressive freedom and are encouraged to share their ideas.</a:t>
            </a:r>
          </a:p>
          <a:p>
            <a:endParaRPr lang="en-US" sz="2800" dirty="0"/>
          </a:p>
          <a:p>
            <a:endParaRPr lang="en-US" sz="2800" dirty="0"/>
          </a:p>
        </p:txBody>
      </p:sp>
      <p:grpSp>
        <p:nvGrpSpPr>
          <p:cNvPr id="11"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3" name="TextBox 12">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54132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FA9E2-D7B0-722E-8779-C7FCDD4EEB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1D944C-ECCA-D2D9-3752-D903D4556107}"/>
              </a:ext>
            </a:extLst>
          </p:cNvPr>
          <p:cNvSpPr>
            <a:spLocks noGrp="1"/>
          </p:cNvSpPr>
          <p:nvPr>
            <p:ph idx="1"/>
          </p:nvPr>
        </p:nvSpPr>
        <p:spPr/>
        <p:txBody>
          <a:bodyPr>
            <a:normAutofit lnSpcReduction="10000"/>
          </a:bodyPr>
          <a:lstStyle/>
          <a:p>
            <a:r>
              <a:rPr lang="en-US" sz="2800" b="1" dirty="0"/>
              <a:t>Social (Helper)</a:t>
            </a:r>
          </a:p>
          <a:p>
            <a:r>
              <a:rPr lang="en-US" sz="2800" dirty="0"/>
              <a:t>Those with a Social personality type like to “dominate” their environment. This is the most common category of the six, and many people have traits of this category along with their others. They particularly value providing services for others and enjoy a career choice that enables them to work closely with people. Their ideal working conditions are with other people who are also trustworthy, helpful, and show appreciation.</a:t>
            </a:r>
          </a:p>
        </p:txBody>
      </p:sp>
      <p:grpSp>
        <p:nvGrpSpPr>
          <p:cNvPr id="11"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3" name="TextBox 12">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063934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8F13-9E2F-AD68-1B3A-07BAAB8B78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9B4DA5-FBCC-9AB7-CDFE-6E3A9317D7FF}"/>
              </a:ext>
            </a:extLst>
          </p:cNvPr>
          <p:cNvSpPr>
            <a:spLocks noGrp="1"/>
          </p:cNvSpPr>
          <p:nvPr>
            <p:ph idx="1"/>
          </p:nvPr>
        </p:nvSpPr>
        <p:spPr/>
        <p:txBody>
          <a:bodyPr/>
          <a:lstStyle/>
          <a:p>
            <a:r>
              <a:rPr lang="en-US" sz="2800" b="1" dirty="0"/>
              <a:t>Enterprising (Persuader)</a:t>
            </a:r>
          </a:p>
          <a:p>
            <a:r>
              <a:rPr lang="en-US" sz="2800" dirty="0"/>
              <a:t>Enterprising personalities are the people you want on your team when it comes to getting things done. They’re energetic, confident and assertive, and they don’t shy away from a challenge. They can be extroverted or introverted, but they all share some common traits: they’re ambitious, hard-working and willing to try new things.</a:t>
            </a:r>
          </a:p>
          <a:p>
            <a:endParaRPr lang="en-US" dirty="0"/>
          </a:p>
          <a:p>
            <a:endParaRPr lang="en-US" dirty="0"/>
          </a:p>
        </p:txBody>
      </p:sp>
      <p:grpSp>
        <p:nvGrpSpPr>
          <p:cNvPr id="11"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3" name="TextBox 12">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561423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47CE0-A645-1A57-A055-6B6ACE8E31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0203A3-44C0-5F6F-02DB-5CF1C7BF9DC2}"/>
              </a:ext>
            </a:extLst>
          </p:cNvPr>
          <p:cNvSpPr>
            <a:spLocks noGrp="1"/>
          </p:cNvSpPr>
          <p:nvPr>
            <p:ph idx="1"/>
          </p:nvPr>
        </p:nvSpPr>
        <p:spPr/>
        <p:txBody>
          <a:bodyPr>
            <a:normAutofit lnSpcReduction="10000"/>
          </a:bodyPr>
          <a:lstStyle/>
          <a:p>
            <a:r>
              <a:rPr lang="en-US" sz="2800" b="1" dirty="0"/>
              <a:t>Conventional (Organizer)</a:t>
            </a:r>
          </a:p>
          <a:p>
            <a:r>
              <a:rPr lang="en-US" sz="2800" dirty="0"/>
              <a:t>A member of this group would prefer a career choice where they can work with numbers, records, or machines. They enjoy repetitive tasks done in an orderly fashion and like to avoid ambiguous activities. They see themselves as organized and good at following directions. They value success in business and enjoy working with other people. However, they do best in small, systematic groups where they know their responsibilities.</a:t>
            </a:r>
          </a:p>
          <a:p>
            <a:endParaRPr lang="en-US" dirty="0"/>
          </a:p>
          <a:p>
            <a:endParaRPr lang="en-US" dirty="0"/>
          </a:p>
        </p:txBody>
      </p:sp>
      <p:grpSp>
        <p:nvGrpSpPr>
          <p:cNvPr id="11"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3" name="TextBox 12">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576418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65053-2A7F-5093-B8CD-5607B2805AFC}"/>
              </a:ext>
            </a:extLst>
          </p:cNvPr>
          <p:cNvSpPr>
            <a:spLocks noGrp="1"/>
          </p:cNvSpPr>
          <p:nvPr>
            <p:ph type="title"/>
          </p:nvPr>
        </p:nvSpPr>
        <p:spPr/>
        <p:txBody>
          <a:bodyPr/>
          <a:lstStyle/>
          <a:p>
            <a:r>
              <a:rPr lang="en-US" dirty="0"/>
              <a:t>PERSONALITY DISORDER</a:t>
            </a:r>
          </a:p>
        </p:txBody>
      </p:sp>
      <p:pic>
        <p:nvPicPr>
          <p:cNvPr id="4" name="Content Placeholder 3">
            <a:extLst>
              <a:ext uri="{FF2B5EF4-FFF2-40B4-BE49-F238E27FC236}">
                <a16:creationId xmlns:a16="http://schemas.microsoft.com/office/drawing/2014/main" id="{4EDE13C5-391E-56A9-3D31-358DA1B28488}"/>
              </a:ext>
            </a:extLst>
          </p:cNvPr>
          <p:cNvPicPr>
            <a:picLocks noGrp="1" noChangeAspect="1"/>
          </p:cNvPicPr>
          <p:nvPr>
            <p:ph idx="1"/>
          </p:nvPr>
        </p:nvPicPr>
        <p:blipFill>
          <a:blip r:embed="rId2"/>
          <a:stretch>
            <a:fillRect/>
          </a:stretch>
        </p:blipFill>
        <p:spPr>
          <a:xfrm>
            <a:off x="1066800" y="817977"/>
            <a:ext cx="8848677" cy="4987083"/>
          </a:xfrm>
          <a:prstGeom prst="rect">
            <a:avLst/>
          </a:prstGeom>
        </p:spPr>
      </p:pic>
      <p:grpSp>
        <p:nvGrpSpPr>
          <p:cNvPr id="12" name="Title 3">
            <a:extLst>
              <a:ext uri="{FF2B5EF4-FFF2-40B4-BE49-F238E27FC236}">
                <a16:creationId xmlns:a16="http://schemas.microsoft.com/office/drawing/2014/main" id="{2CF01162-D0B6-4CEC-B999-30B23E8FE853}"/>
              </a:ext>
            </a:extLst>
          </p:cNvPr>
          <p:cNvGrpSpPr>
            <a:grpSpLocks noGrp="1"/>
          </p:cNvGrpSpPr>
          <p:nvPr/>
        </p:nvGrpSpPr>
        <p:grpSpPr>
          <a:xfrm>
            <a:off x="0" y="-12715"/>
            <a:ext cx="12730349" cy="1069619"/>
            <a:chOff x="0" y="0"/>
            <a:chExt cx="12749348" cy="1115736"/>
          </a:xfrm>
        </p:grpSpPr>
        <p:sp>
          <p:nvSpPr>
            <p:cNvPr id="13" name="Rectangle 12">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2752499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259D436-C82E-43E0-8A01-53DF9CED6032}">
  <ds:schemaRefs>
    <ds:schemaRef ds:uri="http://schemas.microsoft.com/sharepoint/v3/contenttype/forms"/>
  </ds:schemaRefs>
</ds:datastoreItem>
</file>

<file path=customXml/itemProps2.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46BCBFB-BBC7-42F1-95CD-058E172363A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{0B9F2465-0941-40D1-8EF5-1B2C05387C1E}tf11531919_win32</Template>
  <TotalTime>21</TotalTime>
  <Words>732</Words>
  <Application>Microsoft Office PowerPoint</Application>
  <PresentationFormat>Widescreen</PresentationFormat>
  <Paragraphs>52</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Avenir Next LT Pro</vt:lpstr>
      <vt:lpstr>Avenir Next LT Pro Light</vt:lpstr>
      <vt:lpstr>Calibri</vt:lpstr>
      <vt:lpstr>Garamond</vt:lpstr>
      <vt:lpstr>Google Sans</vt:lpstr>
      <vt:lpstr>Wingdings</vt:lpstr>
      <vt:lpstr>SavonVTI</vt:lpstr>
      <vt:lpstr> </vt:lpstr>
      <vt:lpstr>definition</vt:lpstr>
      <vt:lpstr>PowerPoint Presentation</vt:lpstr>
      <vt:lpstr>DETERMINENTS OF PERSONALITY</vt:lpstr>
      <vt:lpstr>PowerPoint Presentation</vt:lpstr>
      <vt:lpstr>TYPES OF PERSONALITY</vt:lpstr>
      <vt:lpstr>PowerPoint Presentation</vt:lpstr>
      <vt:lpstr>PowerPoint Presentation</vt:lpstr>
      <vt:lpstr>PowerPoint Presentation</vt:lpstr>
      <vt:lpstr>PowerPoint Presentation</vt:lpstr>
      <vt:lpstr>PowerPoint Presentation</vt:lpstr>
      <vt:lpstr>PERSONALITY DISORDER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PERSONALITY</dc:title>
  <dc:creator>Faikiha Shoukat</dc:creator>
  <cp:lastModifiedBy>fakiha Shoukat</cp:lastModifiedBy>
  <cp:revision>3</cp:revision>
  <dcterms:created xsi:type="dcterms:W3CDTF">2023-10-12T02:41:04Z</dcterms:created>
  <dcterms:modified xsi:type="dcterms:W3CDTF">2025-03-21T07:33:19Z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