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813" r:id="rId3"/>
    <p:sldId id="260" r:id="rId4"/>
    <p:sldId id="820" r:id="rId5"/>
    <p:sldId id="826" r:id="rId6"/>
    <p:sldId id="827" r:id="rId7"/>
    <p:sldId id="828" r:id="rId8"/>
    <p:sldId id="829" r:id="rId9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2A2A"/>
    <a:srgbClr val="C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582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F304D-9FBF-4B4D-AB5C-790149BB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C0F5D-325B-4660-8632-EBB9EC084D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C7CD5-CB98-4F1C-8F4E-14A8F9EE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69AAB-D032-4740-999C-6FECB3BEC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2CE2C-3FF8-4ED5-9A0F-6E35B87E8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83214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11BF5-D802-48A8-8681-E64C843E4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63E54-C420-46A7-95A3-D26D99CE9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21E6C-72DA-4925-94EE-0D245623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6D8A9-019D-413B-8A1E-F14D6EE35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0099F-8C38-444A-A7F8-21336A623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75964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43EB3-C47B-49A1-BB67-347B61A6D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E9B96-3C04-415D-86F4-32630CB36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AA9B9-E771-49B5-9E2D-06EAF24C1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7F1A7-FFC1-4BDE-908E-7A849372F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47FAB-5890-41CE-8DA9-CB5788221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4982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98E66-B67C-4351-89B6-A169553C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91AA4-B785-4E02-B612-05E57B25A9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0E598-0767-477D-B9E8-2BCCF5C51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D8C23-6B26-4B19-BEEB-7AEFC2A18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B8FE9-ABD0-4AA5-986C-BC29ECC4F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8042-F61C-495E-8C35-E7989AA7E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61973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205-E47B-4E88-8DFD-1C6071B7A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64C0F1-91A6-4158-8855-0C7208370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B615B-6DBF-4632-94D0-3791085A6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CB3133-8FE9-4883-B870-D642C1DF03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8078B5-E153-4D81-A163-C758FDB897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D200C8-3958-4AE2-85B4-16A6511DD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53149-4D4C-46D5-8100-4A3D9F41B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B7D50A-B373-419E-9BDA-973DC111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76628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3C455-2666-47C6-BF3E-44EE0A290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CDB8A3-54C9-4DF0-AF58-847CC781E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3A80F5-1CBF-45BD-A6AD-6BE98C141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E03123-314A-4412-8618-E5C45344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14327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FC5179-D82F-40FA-BF21-7AA507CE0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C15DB-F842-49C3-B55B-A16E38843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DBBF2-4194-4BEA-AC76-A5704F3BB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0227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38F8C-D3DE-403C-AF37-746C3367B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F2B9D-4546-43D6-91C9-FFB86CF4E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56608-3C52-495D-A214-A55C36D003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8E0AF-DD29-4C26-82C8-ACF8330BE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35345-7A18-4D42-9681-50058B9D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22563-5A9D-4035-99DC-A96787B7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221264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E83F7-E36A-48E5-8DCA-087E21BB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A8EBF-99DA-4706-BCCE-9EBA54596A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4EF8FC-B1A6-401C-9069-13842D8C8A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73258-FD4E-43EE-BF6C-3DADDEA90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0AB588-D788-4246-8BC5-FC3FB7485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FFD2F-0AC3-4390-8990-6C3DDE552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16293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B165-E271-4702-AC6D-63BC723EA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55CA41-5CBD-4E65-95AA-B3EFB8BD3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ACED0-31DD-4C4F-B63A-02250626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5553D-FD7D-4432-BC5C-F78462D73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CDF-12B4-4900-A154-E219D22E9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7631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29BF1E-BE8B-4353-B936-AE8071F91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322873-176A-4EA9-9941-DC9941F475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5E231-43A9-48DA-833A-A8750A6C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07A8C-6932-4260-BAAA-DBE1B1288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E6F17-3B9F-4C75-98BF-F79F5D018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210841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339B51-54CA-49F5-8966-F46D83C42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9CFAA-AD75-4697-91AC-85CEC6C6B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127230-2512-4F28-A281-14854D1474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7A82C-AEEE-48DB-A866-3B1CA0AC9D5D}" type="datetimeFigureOut">
              <a:rPr lang="x-none" smtClean="0"/>
              <a:pPr/>
              <a:t>2/28/2025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06234-7A7A-4EED-8F6D-3D8EBC2D1F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9BF4-1286-4C31-9FB5-ED9DDFE1E6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9F7D7-3C9C-4146-9FA1-B77DEB44278D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13388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EF21E1-2D98-4671-AEAF-A201BC9C40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32A2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46CD5F-621C-4899-B8C5-417BE3F1EC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629" y="239698"/>
            <a:ext cx="7649653" cy="2408146"/>
          </a:xfrm>
        </p:spPr>
        <p:txBody>
          <a:bodyPr>
            <a:normAutofit/>
          </a:bodyPr>
          <a:lstStyle/>
          <a:p>
            <a:pPr lvl="0"/>
            <a:r>
              <a:rPr lang="en-US" dirty="0" smtClean="0"/>
              <a:t/>
            </a:r>
            <a:br>
              <a:rPr lang="en-US" dirty="0" smtClean="0"/>
            </a:b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406DBB-5AF5-48F8-9377-D0A0ACE9B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2" y="2877763"/>
            <a:ext cx="11207261" cy="2901461"/>
          </a:xfrm>
        </p:spPr>
        <p:txBody>
          <a:bodyPr>
            <a:noAutofit/>
          </a:bodyPr>
          <a:lstStyle/>
          <a:p>
            <a:pPr marL="685800" indent="-685800">
              <a:buFont typeface="Wingdings" pitchFamily="2" charset="2"/>
              <a:buChar char="ü"/>
            </a:pP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Definition </a:t>
            </a:r>
            <a:endParaRPr lang="en-US" sz="54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Wingdings" pitchFamily="2" charset="2"/>
              <a:buChar char="ü"/>
            </a:pPr>
            <a:r>
              <a:rPr lang="en-US" sz="5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causes </a:t>
            </a: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5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Symptoms </a:t>
            </a: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of </a:t>
            </a:r>
            <a:r>
              <a:rPr lang="en-US" sz="5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Anxiety</a:t>
            </a:r>
            <a:endParaRPr lang="en-US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Wingdings" pitchFamily="2" charset="2"/>
              <a:buChar char="ü"/>
            </a:pP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Coping </a:t>
            </a:r>
            <a:r>
              <a:rPr lang="en-US" sz="5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DA394B8-F89E-45AC-9E3F-FEC161BFAFAB}"/>
              </a:ext>
            </a:extLst>
          </p:cNvPr>
          <p:cNvSpPr txBox="1">
            <a:spLocks/>
          </p:cNvSpPr>
          <p:nvPr/>
        </p:nvSpPr>
        <p:spPr>
          <a:xfrm>
            <a:off x="907913" y="6166392"/>
            <a:ext cx="2800905" cy="683582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C869FE1-C1C4-48A8-AA9E-99CAE025B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8580310" y="228599"/>
            <a:ext cx="3611690" cy="36116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5124" y="710226"/>
            <a:ext cx="9964123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latinLnBrk="1"/>
            <a:r>
              <a:rPr lang="en-US" sz="13800" b="1" dirty="0" smtClean="0">
                <a:latin typeface="Arial" pitchFamily="34" charset="0"/>
                <a:cs typeface="Arial" pitchFamily="34" charset="0"/>
              </a:rPr>
              <a:t>Anxiety</a:t>
            </a:r>
            <a:r>
              <a:rPr lang="en-US" sz="9600" b="1" dirty="0" smtClean="0">
                <a:latin typeface="Arial" pitchFamily="34" charset="0"/>
                <a:cs typeface="Arial" pitchFamily="34" charset="0"/>
              </a:rPr>
              <a:t>   </a:t>
            </a:r>
            <a:endParaRPr lang="en-US" sz="96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796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6701" y="1385668"/>
            <a:ext cx="11869615" cy="4979563"/>
          </a:xfrm>
        </p:spPr>
        <p:txBody>
          <a:bodyPr>
            <a:noAutofit/>
          </a:bodyPr>
          <a:lstStyle/>
          <a:p>
            <a:pPr marL="0" lvl="0" indent="0">
              <a:lnSpc>
                <a:spcPct val="100000"/>
              </a:lnSpc>
              <a:spcBef>
                <a:spcPct val="20000"/>
              </a:spcBef>
              <a:buClr>
                <a:srgbClr val="AA2B1E"/>
              </a:buClr>
              <a:buSzPct val="85000"/>
              <a:buNone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Anxiety is a psychological state characterized by feelings of worry, fear, and apprehension. It is a normal response to stress but can become a disorder when it is excessive, persistent, and interferes with daily functioning. Anxiety disorders include generalized anxiety disorder (GAD), panic disorder, social anxiety disorder, and specific phobias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4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Title 3">
            <a:extLst>
              <a:ext uri="{FF2B5EF4-FFF2-40B4-BE49-F238E27FC236}">
                <a16:creationId xmlns:a16="http://schemas.microsoft.com/office/drawing/2014/main" id="{2CF01162-D0B6-4CEC-B999-30B23E8FE853}"/>
              </a:ext>
            </a:extLst>
          </p:cNvPr>
          <p:cNvGrpSpPr>
            <a:grpSpLocks noGrp="1"/>
          </p:cNvGrpSpPr>
          <p:nvPr/>
        </p:nvGrpSpPr>
        <p:grpSpPr>
          <a:xfrm>
            <a:off x="0" y="-27418"/>
            <a:ext cx="12739955" cy="1325563"/>
            <a:chOff x="0" y="0"/>
            <a:chExt cx="12749348" cy="11157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E332D8-FEE8-4AD2-B9E4-EC25C85A6F47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F868DCA-0E35-467D-A281-E7D4A2A332BD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8" name="Graphic 14">
              <a:extLst>
                <a:ext uri="{FF2B5EF4-FFF2-40B4-BE49-F238E27FC236}">
                  <a16:creationId xmlns:a16="http://schemas.microsoft.com/office/drawing/2014/main" id="{71F90180-E346-4AF9-B3BC-F4B7007B4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627AB0-0949-4DC3-9D55-6721F0EAD02C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0" name="Graphic 16">
              <a:extLst>
                <a:ext uri="{FF2B5EF4-FFF2-40B4-BE49-F238E27FC236}">
                  <a16:creationId xmlns:a16="http://schemas.microsoft.com/office/drawing/2014/main" id="{A532177C-F5A5-41C6-B8EF-E6DA142B5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85A7425-75D1-4518-8891-A639DA0C4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sp>
        <p:nvSpPr>
          <p:cNvPr id="12" name="Rectangle 11"/>
          <p:cNvSpPr/>
          <p:nvPr/>
        </p:nvSpPr>
        <p:spPr>
          <a:xfrm>
            <a:off x="2547992" y="462338"/>
            <a:ext cx="729406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sz="3600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547992" y="195054"/>
            <a:ext cx="7159652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latin typeface="Arial" panose="020B0604020202020204" pitchFamily="34" charset="0"/>
                <a:cs typeface="Arial" panose="020B0604020202020204" pitchFamily="34" charset="0"/>
              </a:rPr>
              <a:t>Definition</a:t>
            </a:r>
            <a:r>
              <a:rPr lang="en-US" sz="2800" dirty="0"/>
              <a:t/>
            </a:r>
            <a:br>
              <a:rPr lang="en-US" sz="2800" dirty="0"/>
            </a:br>
            <a:endParaRPr lang="en-US" sz="28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5" name="Picture 14"/>
          <p:cNvPicPr/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0"/>
            <a:ext cx="2180492" cy="1298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-14898" y="2086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-19072" y="1185064"/>
            <a:ext cx="2039974" cy="51442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114" y="1185064"/>
            <a:ext cx="11992708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1. Genetic </a:t>
            </a:r>
            <a:r>
              <a:rPr lang="en-US" sz="32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Factors:</a:t>
            </a:r>
          </a:p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Family history of anxiety disorders or other mental health conditions can increase the likelihood of developing anxiety.</a:t>
            </a:r>
          </a:p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2. Biological </a:t>
            </a:r>
            <a:r>
              <a:rPr lang="en-US" sz="32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Factors:</a:t>
            </a:r>
          </a:p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Neurotransmitter imbalances (e.g., serotonin, dopamine) can contribute to </a:t>
            </a:r>
            <a:r>
              <a:rPr lang="en-US" sz="32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anxiety.</a:t>
            </a:r>
          </a:p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3. Environmental </a:t>
            </a:r>
            <a:r>
              <a:rPr lang="en-US" sz="32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Stressors:</a:t>
            </a:r>
          </a:p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32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Exposure to stressful life events (e.g., trauma, loss, major life changes) can trigger anxiety.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2376770" y="29045"/>
            <a:ext cx="6826228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ct val="20000"/>
              </a:spcBef>
              <a:buClr>
                <a:srgbClr val="AA2B1E"/>
              </a:buClr>
              <a:buSzPct val="85000"/>
            </a:pPr>
            <a:r>
              <a:rPr lang="en-US" sz="60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Causes of Anxiety</a:t>
            </a: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114" y="139060"/>
            <a:ext cx="1557655" cy="943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439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589" y="-36072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512701" y="1483391"/>
            <a:ext cx="2039974" cy="51442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57274" y="1332015"/>
            <a:ext cx="1187862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617470" y="325365"/>
            <a:ext cx="18473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57274" y="1033251"/>
            <a:ext cx="1203472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4</a:t>
            </a:r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. Psychological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Factors:</a:t>
            </a:r>
          </a:p>
          <a:p>
            <a:pPr lvl="0"/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Cognitive distortions, such as </a:t>
            </a: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catastrophizing </a:t>
            </a:r>
            <a:r>
              <a:rPr lang="en-US" dirty="0"/>
              <a:t> </a:t>
            </a:r>
            <a:r>
              <a:rPr lang="en-US" dirty="0" smtClean="0"/>
              <a:t>(</a:t>
            </a:r>
            <a:r>
              <a:rPr lang="en-US" sz="2400" dirty="0" smtClean="0"/>
              <a:t>imagine </a:t>
            </a:r>
            <a:r>
              <a:rPr lang="en-US" sz="2400" dirty="0"/>
              <a:t>the worst possible outcome of an </a:t>
            </a:r>
            <a:r>
              <a:rPr lang="en-US" sz="2400" dirty="0" smtClean="0"/>
              <a:t>action) </a:t>
            </a:r>
            <a:r>
              <a:rPr lang="en-US" sz="2400" dirty="0"/>
              <a:t>or event</a:t>
            </a:r>
            <a:r>
              <a:rPr lang="en-US" dirty="0"/>
              <a:t> </a:t>
            </a: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or excessive worrying, can </a:t>
            </a: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cause </a:t>
            </a: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anxiety</a:t>
            </a: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5. Personality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Traits:</a:t>
            </a:r>
          </a:p>
          <a:p>
            <a:pPr lvl="0"/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Certain personality traits, such as high sensitivity or low self-esteem, may </a:t>
            </a: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leads individuals </a:t>
            </a: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to anxiety.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6. Substance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Abuse:</a:t>
            </a:r>
          </a:p>
          <a:p>
            <a:pPr lvl="0"/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Alcohol, drugs, and withdrawal from substances can lead to heightened anxiety symptoms.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7655" y="-385596"/>
            <a:ext cx="8348990" cy="34470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endParaRPr lang="en-US" sz="4000" b="1" dirty="0" smtClea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ctr"/>
            <a:r>
              <a:rPr lang="en-US" sz="54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Causes of Anxiety</a:t>
            </a:r>
          </a:p>
          <a:p>
            <a:pPr algn="ctr"/>
            <a:endParaRPr lang="en-US" sz="40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ctr"/>
            <a:endParaRPr lang="en-US" sz="4400" b="1" dirty="0" smtClea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88949"/>
            <a:ext cx="1557655" cy="943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2669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589" y="-36072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1197" y="1514474"/>
            <a:ext cx="2039974" cy="51442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57274" y="1332015"/>
            <a:ext cx="1187862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617470" y="325365"/>
            <a:ext cx="18473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57275" y="1146273"/>
            <a:ext cx="6436956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2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1</a:t>
            </a:r>
            <a:r>
              <a:rPr lang="en-US" sz="28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. Emotional </a:t>
            </a:r>
            <a:r>
              <a:rPr lang="en-US" sz="28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Symptoms: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Excessive worry or fear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Restlessness or feeling on edge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Irritability</a:t>
            </a:r>
          </a:p>
          <a:p>
            <a:pPr lvl="0"/>
            <a:r>
              <a:rPr lang="en-US" sz="28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2. Physical </a:t>
            </a:r>
            <a:r>
              <a:rPr lang="en-US" sz="28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Symptoms: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Increased heart rate </a:t>
            </a:r>
            <a:endParaRPr lang="en-US" sz="2400" dirty="0" smtClean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Sweating</a:t>
            </a:r>
            <a:endParaRPr lang="en-US" sz="24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Trembling or shaking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Muscle tension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Fatigue</a:t>
            </a:r>
          </a:p>
          <a:p>
            <a:pPr marL="457200" lvl="0" indent="-457200">
              <a:buFont typeface="Arial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Sleep disturbances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73278" y="18610"/>
            <a:ext cx="8217587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Symptoms of Anxiety</a:t>
            </a:r>
          </a:p>
          <a:p>
            <a:pPr lvl="0" algn="ctr"/>
            <a:endParaRPr lang="en-US" sz="48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40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88949"/>
            <a:ext cx="1557655" cy="94361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7227277" y="1032558"/>
            <a:ext cx="527538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>
                <a:latin typeface="Arial" pitchFamily="34" charset="0"/>
                <a:cs typeface="Arial" pitchFamily="34" charset="0"/>
              </a:rPr>
              <a:t>3. Cognitive </a:t>
            </a:r>
            <a:r>
              <a:rPr lang="en-US" sz="3200" b="1" dirty="0">
                <a:latin typeface="Arial" pitchFamily="34" charset="0"/>
                <a:cs typeface="Arial" pitchFamily="34" charset="0"/>
              </a:rPr>
              <a:t>Symptoms: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Difficulty concentrating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Mind going blank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Arial" pitchFamily="34" charset="0"/>
                <a:cs typeface="Arial" pitchFamily="34" charset="0"/>
              </a:rPr>
              <a:t>Indecisiveness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Arial" pitchFamily="34" charset="0"/>
                <a:cs typeface="Arial" pitchFamily="34" charset="0"/>
              </a:rPr>
              <a:t>overthinking</a:t>
            </a: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491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589" y="-36072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1197" y="1514474"/>
            <a:ext cx="2039974" cy="51442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57274" y="1332015"/>
            <a:ext cx="1187862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617470" y="325365"/>
            <a:ext cx="18473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" y="1079665"/>
            <a:ext cx="12174136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1. Breathing Techniques:</a:t>
            </a:r>
          </a:p>
          <a:p>
            <a:pPr lvl="0"/>
            <a:r>
              <a:rPr lang="en-US" sz="28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Practice </a:t>
            </a: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deep breathing exercises to calm the nervous </a:t>
            </a:r>
            <a:r>
              <a:rPr lang="en-US" sz="28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system.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2. Mindfulness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and Meditation: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Engage in mindfulness practices to stay present and reduce racing </a:t>
            </a:r>
            <a:r>
              <a:rPr lang="en-US" sz="28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thoughts.</a:t>
            </a:r>
            <a:endParaRPr lang="en-US" sz="3600" dirty="0" smtClean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3. Physical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Activity: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Regular exercise can help reduce anxiety levels and improve mood.</a:t>
            </a:r>
          </a:p>
          <a:p>
            <a:pPr lvl="0"/>
            <a:endParaRPr lang="en-US" sz="36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80685" y="129930"/>
            <a:ext cx="7885283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48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Coping Skills for Anxiety</a:t>
            </a:r>
          </a:p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88949"/>
            <a:ext cx="1557655" cy="943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3520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589" y="-36072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1197" y="1514474"/>
            <a:ext cx="2039974" cy="51442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57274" y="1332015"/>
            <a:ext cx="1187862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617470" y="325365"/>
            <a:ext cx="18473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" y="1079665"/>
            <a:ext cx="12174136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4. Cognitive-Behavioral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Techniques: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Challenge negative thoughts and cognitive distortions.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Use positive self-talk to reframe anxious thoughts.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5. Time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Management: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Organize tasks and set realistic goals to reduce feelings of overwhelm.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6. Social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Support: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Reach out to friends, family, or support groups for connection and understanding.</a:t>
            </a:r>
          </a:p>
          <a:p>
            <a:pPr lvl="0"/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57655" y="129930"/>
            <a:ext cx="820831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44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Coping </a:t>
            </a:r>
            <a:r>
              <a:rPr lang="en-US" sz="44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 for Anxiety</a:t>
            </a:r>
            <a:endParaRPr lang="en-US" sz="40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88949"/>
            <a:ext cx="1557655" cy="943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2663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34DD2C6-4CC8-4F4C-9615-8F42757A1CE2}"/>
              </a:ext>
            </a:extLst>
          </p:cNvPr>
          <p:cNvGrpSpPr/>
          <p:nvPr/>
        </p:nvGrpSpPr>
        <p:grpSpPr>
          <a:xfrm>
            <a:off x="589" y="-36072"/>
            <a:ext cx="12749348" cy="1115736"/>
            <a:chOff x="0" y="0"/>
            <a:chExt cx="12749348" cy="111573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7C661D-5448-402F-AD37-037DDA89EAE8}"/>
                </a:ext>
              </a:extLst>
            </p:cNvPr>
            <p:cNvSpPr/>
            <p:nvPr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x-none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AA08FC-35FB-44F1-BB8F-399F019CBF4F}"/>
                </a:ext>
              </a:extLst>
            </p:cNvPr>
            <p:cNvSpPr txBox="1"/>
            <p:nvPr/>
          </p:nvSpPr>
          <p:spPr>
            <a:xfrm>
              <a:off x="10719753" y="69691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BF06EB7-5284-4699-8F45-3C749603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DFE4515-6F2B-4BB8-8018-36AFB06BA194}"/>
                </a:ext>
              </a:extLst>
            </p:cNvPr>
            <p:cNvSpPr txBox="1"/>
            <p:nvPr/>
          </p:nvSpPr>
          <p:spPr>
            <a:xfrm>
              <a:off x="10142944" y="350125"/>
              <a:ext cx="2606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0EB8B8D-6004-4AED-A244-C4DC6F8DA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90D907E-CA01-4229-92EF-9ABBCFBA1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066FF2A6-21EC-4DCA-B8DA-6528DF9934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1197" y="1514474"/>
            <a:ext cx="2039974" cy="51442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57274" y="1332015"/>
            <a:ext cx="1187862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617470" y="325365"/>
            <a:ext cx="18473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" y="1079665"/>
            <a:ext cx="12174136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7. Limit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Caffeine and Alcohol: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Reduce intake of stimulants that can </a:t>
            </a:r>
            <a:r>
              <a:rPr lang="en-US" sz="2800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provoke anxiety </a:t>
            </a: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symptoms.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8. Establish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 Routine: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Create a daily schedule to provide structure and predictability.</a:t>
            </a:r>
          </a:p>
          <a:p>
            <a:pPr lvl="0"/>
            <a:r>
              <a:rPr lang="en-US" sz="3600" b="1" dirty="0" smtClean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9. Professional </a:t>
            </a:r>
            <a:r>
              <a:rPr lang="en-US" sz="3600" b="1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Help:</a:t>
            </a:r>
          </a:p>
          <a:p>
            <a:pPr lvl="0"/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Seek therapy (e.g., cognitive-behavioral therapy) or medication from a mental health professional if anxiety becomes unmanageable.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0685" y="129930"/>
            <a:ext cx="788528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44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Coping </a:t>
            </a:r>
            <a:r>
              <a:rPr lang="en-US" sz="44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 for Anxiety</a:t>
            </a:r>
            <a:endParaRPr lang="en-US" sz="40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en-US" sz="4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/>
          <p:cNvPicPr/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88949"/>
            <a:ext cx="1557655" cy="943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56953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478</Words>
  <Application>Microsoft Office PowerPoint</Application>
  <PresentationFormat>Widescreen</PresentationFormat>
  <Paragraphs>77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Wingdings</vt:lpstr>
      <vt:lpstr>Office Theme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Sofia Sultana</dc:creator>
  <cp:lastModifiedBy>Aqsa</cp:lastModifiedBy>
  <cp:revision>248</cp:revision>
  <dcterms:created xsi:type="dcterms:W3CDTF">2024-06-21T09:49:54Z</dcterms:created>
  <dcterms:modified xsi:type="dcterms:W3CDTF">2025-02-28T06:09:17Z</dcterms:modified>
</cp:coreProperties>
</file>