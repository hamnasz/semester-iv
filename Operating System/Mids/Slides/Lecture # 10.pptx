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 id="2147483684" r:id="rId3"/>
  </p:sldMasterIdLst>
  <p:sldIdLst>
    <p:sldId id="273" r:id="rId4"/>
    <p:sldId id="888" r:id="rId5"/>
    <p:sldId id="905" r:id="rId6"/>
    <p:sldId id="906" r:id="rId7"/>
    <p:sldId id="907" r:id="rId8"/>
    <p:sldId id="908" r:id="rId9"/>
    <p:sldId id="909" r:id="rId10"/>
    <p:sldId id="910" r:id="rId11"/>
    <p:sldId id="911" r:id="rId12"/>
    <p:sldId id="912" r:id="rId13"/>
    <p:sldId id="913" r:id="rId14"/>
    <p:sldId id="914" r:id="rId15"/>
    <p:sldId id="915" r:id="rId16"/>
    <p:sldId id="916" r:id="rId17"/>
    <p:sldId id="917" r:id="rId18"/>
    <p:sldId id="918" r:id="rId19"/>
    <p:sldId id="919" r:id="rId20"/>
    <p:sldId id="920" r:id="rId21"/>
    <p:sldId id="921" r:id="rId22"/>
    <p:sldId id="938" r:id="rId23"/>
    <p:sldId id="922" r:id="rId24"/>
    <p:sldId id="923" r:id="rId25"/>
    <p:sldId id="924" r:id="rId26"/>
    <p:sldId id="925" r:id="rId27"/>
    <p:sldId id="926" r:id="rId28"/>
    <p:sldId id="927" r:id="rId29"/>
    <p:sldId id="928" r:id="rId30"/>
    <p:sldId id="929" r:id="rId31"/>
    <p:sldId id="930" r:id="rId32"/>
    <p:sldId id="931" r:id="rId33"/>
    <p:sldId id="932" r:id="rId34"/>
    <p:sldId id="933" r:id="rId35"/>
    <p:sldId id="934" r:id="rId36"/>
    <p:sldId id="935" r:id="rId37"/>
    <p:sldId id="936" r:id="rId38"/>
    <p:sldId id="937" r:id="rId39"/>
    <p:sldId id="902" r:id="rId40"/>
  </p:sldIdLst>
  <p:sldSz cx="12192000" cy="6858000"/>
  <p:notesSz cx="6858000" cy="9144000"/>
  <p:defaultText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09" autoAdjust="0"/>
    <p:restoredTop sz="94660"/>
  </p:normalViewPr>
  <p:slideViewPr>
    <p:cSldViewPr snapToGrid="0">
      <p:cViewPr>
        <p:scale>
          <a:sx n="70" d="100"/>
          <a:sy n="70" d="100"/>
        </p:scale>
        <p:origin x="-2406" y="-111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3/11/2025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3/11/2025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3/11/2025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3/11/2025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83471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15652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56261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3/11/2025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678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3/11/2025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50870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3/11/2025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12735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3/11/2025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856373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7433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47715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32222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95477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72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6326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527605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3/11/2025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8830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3/11/2025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76943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3/11/2025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4188601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3/11/2025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9472795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26497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3/11/2025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2410426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069766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3/11/2025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8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7.svg"/><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5.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3/11/2025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3/11/2025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grpSp>
        <p:nvGrpSpPr>
          <p:cNvPr id="7" name="Group 6">
            <a:extLst>
              <a:ext uri="{FF2B5EF4-FFF2-40B4-BE49-F238E27FC236}">
                <a16:creationId xmlns="" xmlns:a16="http://schemas.microsoft.com/office/drawing/2014/main" id="{BAEFE420-0C07-4D1B-9094-F2C452FF1011}"/>
              </a:ext>
            </a:extLst>
          </p:cNvPr>
          <p:cNvGrpSpPr/>
          <p:nvPr userDrawn="1"/>
        </p:nvGrpSpPr>
        <p:grpSpPr>
          <a:xfrm>
            <a:off x="0" y="0"/>
            <a:ext cx="12749348" cy="1115736"/>
            <a:chOff x="0" y="0"/>
            <a:chExt cx="12749348" cy="1115736"/>
          </a:xfrm>
        </p:grpSpPr>
        <p:sp>
          <p:nvSpPr>
            <p:cNvPr id="8" name="Rectangle 7">
              <a:extLst>
                <a:ext uri="{FF2B5EF4-FFF2-40B4-BE49-F238E27FC236}">
                  <a16:creationId xmlns="" xmlns:a16="http://schemas.microsoft.com/office/drawing/2014/main" id="{6FBB4837-678E-4FCE-A1B7-2AE1B9432890}"/>
                </a:ext>
              </a:extLst>
            </p:cNvPr>
            <p:cNvSpPr/>
            <p:nvPr userDrawn="1"/>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9" name="Picture 8">
              <a:extLst>
                <a:ext uri="{FF2B5EF4-FFF2-40B4-BE49-F238E27FC236}">
                  <a16:creationId xmlns="" xmlns:a16="http://schemas.microsoft.com/office/drawing/2014/main" id="{D279BBF0-3F01-4944-AF8F-73A34B5B9CE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10">
              <a:extLst>
                <a:ext uri="{FF2B5EF4-FFF2-40B4-BE49-F238E27FC236}">
                  <a16:creationId xmlns="" xmlns:a16="http://schemas.microsoft.com/office/drawing/2014/main" id="{650112A7-3B60-423A-8682-3EC1CCAA7ABE}"/>
                </a:ext>
              </a:extLst>
            </p:cNvPr>
            <p:cNvSpPr txBox="1"/>
            <p:nvPr userDrawn="1"/>
          </p:nvSpPr>
          <p:spPr>
            <a:xfrm>
              <a:off x="10719753" y="696917"/>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1" name="Graphic 11">
              <a:extLst>
                <a:ext uri="{FF2B5EF4-FFF2-40B4-BE49-F238E27FC236}">
                  <a16:creationId xmlns="" xmlns:a16="http://schemas.microsoft.com/office/drawing/2014/main" id="{75FFEA7F-8809-458D-BE80-99F7CFB965CA}"/>
                </a:ext>
              </a:extLst>
            </p:cNvPr>
            <p:cNvPicPr>
              <a:picLocks noChangeAspect="1"/>
            </p:cNvPicPr>
            <p:nvPr userDrawn="1"/>
          </p:nvPicPr>
          <p:blipFill>
            <a:blip r:embed="rId14">
              <a:extLst>
                <a:ext uri="{96DAC541-7B7A-43D3-8B79-37D633B846F1}">
                  <asvg:svgBlip xmlns="" xmlns:asvg="http://schemas.microsoft.com/office/drawing/2016/SVG/main" xmlns:lc="http://schemas.openxmlformats.org/drawingml/2006/lockedCanvas" r:embed="rId15"/>
                </a:ext>
              </a:extLst>
            </a:blip>
            <a:stretch>
              <a:fillRect/>
            </a:stretch>
          </p:blipFill>
          <p:spPr>
            <a:xfrm>
              <a:off x="9906056" y="403986"/>
              <a:ext cx="261610" cy="261610"/>
            </a:xfrm>
            <a:prstGeom prst="rect">
              <a:avLst/>
            </a:prstGeom>
          </p:spPr>
        </p:pic>
        <p:sp>
          <p:nvSpPr>
            <p:cNvPr id="12" name="TextBox 12">
              <a:extLst>
                <a:ext uri="{FF2B5EF4-FFF2-40B4-BE49-F238E27FC236}">
                  <a16:creationId xmlns="" xmlns:a16="http://schemas.microsoft.com/office/drawing/2014/main" id="{B3F075CD-8CB0-4BD0-B756-BA559BF9DF2D}"/>
                </a:ext>
              </a:extLst>
            </p:cNvPr>
            <p:cNvSpPr txBox="1"/>
            <p:nvPr userDrawn="1"/>
          </p:nvSpPr>
          <p:spPr>
            <a:xfrm>
              <a:off x="10142944" y="350125"/>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3" name="Graphic 13">
              <a:extLst>
                <a:ext uri="{FF2B5EF4-FFF2-40B4-BE49-F238E27FC236}">
                  <a16:creationId xmlns="" xmlns:a16="http://schemas.microsoft.com/office/drawing/2014/main" id="{ACED766F-A0E3-4D45-8A6E-86CCFAFA5D96}"/>
                </a:ext>
              </a:extLst>
            </p:cNvPr>
            <p:cNvPicPr>
              <a:picLocks noChangeAspect="1"/>
            </p:cNvPicPr>
            <p:nvPr userDrawn="1"/>
          </p:nvPicPr>
          <p:blipFill>
            <a:blip r:embed="rId16">
              <a:extLst>
                <a:ext uri="{96DAC541-7B7A-43D3-8B79-37D633B846F1}">
                  <asvg:svgBlip xmlns="" xmlns:asvg="http://schemas.microsoft.com/office/drawing/2016/SVG/main" xmlns:lc="http://schemas.openxmlformats.org/drawingml/2006/lockedCanvas"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 xmlns:a16="http://schemas.microsoft.com/office/drawing/2014/main" id="{F83660F3-45D1-4CA0-BE2A-E7E6C1B794A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42409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3/11/2025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21057689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175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en-GB" dirty="0"/>
          </a:p>
        </p:txBody>
      </p:sp>
      <p:sp>
        <p:nvSpPr>
          <p:cNvPr id="2" name="Title 1"/>
          <p:cNvSpPr>
            <a:spLocks noGrp="1"/>
          </p:cNvSpPr>
          <p:nvPr>
            <p:ph type="ctrTitle"/>
          </p:nvPr>
        </p:nvSpPr>
        <p:spPr>
          <a:xfrm>
            <a:off x="168275" y="3253104"/>
            <a:ext cx="12023725" cy="2271395"/>
          </a:xfrm>
        </p:spPr>
        <p:txBody>
          <a:bodyPr>
            <a:noAutofit/>
          </a:bodyPr>
          <a:lstStyle/>
          <a:p>
            <a:pPr>
              <a:lnSpc>
                <a:spcPct val="200000"/>
              </a:lnSpc>
              <a:defRPr/>
            </a:pPr>
            <a:r>
              <a:rPr lang="en-US" altLang="ko-KR" sz="2800" b="1" dirty="0" smtClean="0">
                <a:solidFill>
                  <a:schemeClr val="accent4"/>
                </a:solidFill>
                <a:cs typeface="Arial" pitchFamily="34" charset="0"/>
              </a:rPr>
              <a:t>Lecture #9</a:t>
            </a:r>
            <a:endParaRPr lang="en-US" altLang="ko-KR" sz="2800" b="1" dirty="0">
              <a:solidFill>
                <a:schemeClr val="accent4"/>
              </a:solidFill>
              <a:cs typeface="Arial" pitchFamily="34" charset="0"/>
            </a:endParaRPr>
          </a:p>
        </p:txBody>
      </p:sp>
      <p:pic>
        <p:nvPicPr>
          <p:cNvPr id="10" name="Graphic 9"/>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362283" y="0"/>
            <a:ext cx="3611691" cy="3611691"/>
          </a:xfrm>
          <a:prstGeom prst="rect">
            <a:avLst/>
          </a:prstGeom>
        </p:spPr>
      </p:pic>
      <p:pic>
        <p:nvPicPr>
          <p:cNvPr id="1026" name="Picture 2" descr="C:\Users\Administrator\Downloads\Screenshot__117_-removebg-preview.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63" y="393485"/>
            <a:ext cx="3067051" cy="16192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15533" y="1943629"/>
            <a:ext cx="9144000" cy="2387600"/>
          </a:xfrm>
        </p:spPr>
        <p:txBody>
          <a:bodyPr>
            <a:normAutofit fontScale="90000"/>
          </a:bodyPr>
          <a:lstStyle/>
          <a:p>
            <a:pPr algn="ctr"/>
            <a:r>
              <a:rPr lang="en-US" dirty="0" smtClean="0"/>
              <a:t>Operating system </a:t>
            </a:r>
            <a:br>
              <a:rPr lang="en-US" dirty="0" smtClean="0"/>
            </a:br>
            <a:r>
              <a:rPr lang="en-US" dirty="0" smtClean="0"/>
              <a:t>by </a:t>
            </a:r>
            <a:br>
              <a:rPr lang="en-US" dirty="0" smtClean="0"/>
            </a:br>
            <a:r>
              <a:rPr lang="en-US" dirty="0" err="1" smtClean="0"/>
              <a:t>Saima</a:t>
            </a:r>
            <a:r>
              <a:rPr lang="en-US" dirty="0" smtClean="0"/>
              <a:t> </a:t>
            </a:r>
            <a:r>
              <a:rPr lang="en-US" dirty="0" err="1" smtClean="0"/>
              <a:t>Kanwal</a:t>
            </a:r>
            <a:endParaRPr lang="en-US" dirty="0"/>
          </a:p>
        </p:txBody>
      </p:sp>
      <p:sp>
        <p:nvSpPr>
          <p:cNvPr id="3" name="Subtitle 2"/>
          <p:cNvSpPr>
            <a:spLocks noGrp="1"/>
          </p:cNvSpPr>
          <p:nvPr>
            <p:ph type="subTitle" idx="1"/>
          </p:nvPr>
        </p:nvSpPr>
        <p:spPr>
          <a:xfrm>
            <a:off x="1490133" y="4448704"/>
            <a:ext cx="9144000" cy="1655763"/>
          </a:xfrm>
        </p:spPr>
        <p:txBody>
          <a:bodyPr/>
          <a:lstStyle/>
          <a:p>
            <a:r>
              <a:rPr lang="en-US" dirty="0" smtClean="0"/>
              <a:t>Lecture </a:t>
            </a:r>
            <a:r>
              <a:rPr lang="en-US" smtClean="0"/>
              <a:t># 10</a:t>
            </a:r>
            <a:endParaRPr lang="en-US" dirty="0"/>
          </a:p>
        </p:txBody>
      </p:sp>
    </p:spTree>
    <p:extLst>
      <p:ext uri="{BB962C8B-B14F-4D97-AF65-F5344CB8AC3E}">
        <p14:creationId xmlns:p14="http://schemas.microsoft.com/office/powerpoint/2010/main" val="1938175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1363" y="78046"/>
            <a:ext cx="10515600" cy="1325563"/>
          </a:xfrm>
        </p:spPr>
        <p:txBody>
          <a:bodyPr/>
          <a:lstStyle/>
          <a:p>
            <a:pPr algn="ctr"/>
            <a:r>
              <a:rPr lang="en-US" b="1" dirty="0">
                <a:solidFill>
                  <a:schemeClr val="accent4"/>
                </a:solidFill>
              </a:rPr>
              <a:t>Process Concept</a:t>
            </a:r>
          </a:p>
        </p:txBody>
      </p:sp>
      <p:sp>
        <p:nvSpPr>
          <p:cNvPr id="3" name="Content Placeholder 2"/>
          <p:cNvSpPr>
            <a:spLocks noGrp="1"/>
          </p:cNvSpPr>
          <p:nvPr>
            <p:ph idx="1"/>
          </p:nvPr>
        </p:nvSpPr>
        <p:spPr>
          <a:xfrm>
            <a:off x="1251678" y="1385047"/>
            <a:ext cx="10178322" cy="4935071"/>
          </a:xfrm>
        </p:spPr>
        <p:txBody>
          <a:bodyPr>
            <a:noAutofit/>
          </a:bodyPr>
          <a:lstStyle/>
          <a:p>
            <a:pPr algn="just"/>
            <a:r>
              <a:rPr lang="en-US" sz="2200" b="1" i="1" dirty="0" smtClean="0"/>
              <a:t>Process </a:t>
            </a:r>
            <a:r>
              <a:rPr lang="en-US" sz="2200" b="1" i="1" dirty="0"/>
              <a:t>is a program in execution</a:t>
            </a:r>
            <a:r>
              <a:rPr lang="en-US" sz="2200" dirty="0"/>
              <a:t>. </a:t>
            </a:r>
            <a:endParaRPr lang="en-US" sz="2200" dirty="0" smtClean="0"/>
          </a:p>
          <a:p>
            <a:pPr algn="just"/>
            <a:r>
              <a:rPr lang="en-US" sz="2200" dirty="0" smtClean="0"/>
              <a:t>A process is </a:t>
            </a:r>
            <a:r>
              <a:rPr lang="en-US" sz="2200" dirty="0"/>
              <a:t>more than the program code, which is sometimes known as the </a:t>
            </a:r>
            <a:r>
              <a:rPr lang="en-US" sz="2200" b="1" dirty="0"/>
              <a:t>text </a:t>
            </a:r>
            <a:r>
              <a:rPr lang="en-US" sz="2200" b="1" dirty="0" smtClean="0"/>
              <a:t>section</a:t>
            </a:r>
            <a:r>
              <a:rPr lang="en-US" sz="2200" dirty="0" smtClean="0"/>
              <a:t>. </a:t>
            </a:r>
          </a:p>
          <a:p>
            <a:pPr algn="just"/>
            <a:r>
              <a:rPr lang="en-US" sz="2200" dirty="0" smtClean="0"/>
              <a:t>It </a:t>
            </a:r>
            <a:r>
              <a:rPr lang="en-US" sz="2200" dirty="0"/>
              <a:t>also includes the current activity, as represented by the value of the </a:t>
            </a:r>
            <a:r>
              <a:rPr lang="en-US" sz="2200" b="1" dirty="0" smtClean="0"/>
              <a:t>program counter </a:t>
            </a:r>
            <a:r>
              <a:rPr lang="en-US" sz="2200" dirty="0"/>
              <a:t>and the contents of the processor’s registers</a:t>
            </a:r>
            <a:r>
              <a:rPr lang="en-US" sz="2200" dirty="0" smtClean="0"/>
              <a:t>.</a:t>
            </a:r>
          </a:p>
          <a:p>
            <a:pPr algn="just"/>
            <a:r>
              <a:rPr lang="en-US" sz="2200" dirty="0"/>
              <a:t>A process generally </a:t>
            </a:r>
            <a:r>
              <a:rPr lang="en-US" sz="2200" dirty="0" smtClean="0"/>
              <a:t>also includes </a:t>
            </a:r>
            <a:r>
              <a:rPr lang="en-US" sz="2200" dirty="0"/>
              <a:t>the process </a:t>
            </a:r>
            <a:r>
              <a:rPr lang="en-US" sz="2200" b="1" dirty="0"/>
              <a:t>stack</a:t>
            </a:r>
            <a:r>
              <a:rPr lang="en-US" sz="2200" dirty="0"/>
              <a:t>, which contains temporary data (such as </a:t>
            </a:r>
            <a:r>
              <a:rPr lang="en-US" sz="2200" dirty="0" smtClean="0"/>
              <a:t>function parameters</a:t>
            </a:r>
            <a:r>
              <a:rPr lang="en-US" sz="2200" dirty="0"/>
              <a:t>, return addresses, and local variables), and a </a:t>
            </a:r>
            <a:r>
              <a:rPr lang="en-US" sz="2200" b="1" dirty="0"/>
              <a:t>data section</a:t>
            </a:r>
            <a:r>
              <a:rPr lang="en-US" sz="2200" dirty="0"/>
              <a:t>, </a:t>
            </a:r>
            <a:r>
              <a:rPr lang="en-US" sz="2200" dirty="0" smtClean="0"/>
              <a:t>which contains </a:t>
            </a:r>
            <a:r>
              <a:rPr lang="en-US" sz="2200" dirty="0"/>
              <a:t>global </a:t>
            </a:r>
            <a:r>
              <a:rPr lang="en-US" sz="2200" dirty="0" smtClean="0"/>
              <a:t>variables.</a:t>
            </a:r>
          </a:p>
          <a:p>
            <a:pPr algn="just"/>
            <a:r>
              <a:rPr lang="en-US" sz="2200" dirty="0" smtClean="0">
                <a:solidFill>
                  <a:srgbClr val="FF0000"/>
                </a:solidFill>
              </a:rPr>
              <a:t>Program </a:t>
            </a:r>
            <a:r>
              <a:rPr lang="en-US" sz="2200" dirty="0">
                <a:solidFill>
                  <a:srgbClr val="FF0000"/>
                </a:solidFill>
              </a:rPr>
              <a:t>by itself is not a process</a:t>
            </a:r>
            <a:r>
              <a:rPr lang="en-US" sz="2200" dirty="0"/>
              <a:t>. </a:t>
            </a:r>
            <a:endParaRPr lang="en-US" sz="2200" dirty="0" smtClean="0"/>
          </a:p>
          <a:p>
            <a:pPr algn="just"/>
            <a:r>
              <a:rPr lang="en-US" sz="2200" dirty="0" smtClean="0"/>
              <a:t>A </a:t>
            </a:r>
            <a:r>
              <a:rPr lang="en-US" sz="2200" dirty="0"/>
              <a:t>program is </a:t>
            </a:r>
            <a:r>
              <a:rPr lang="en-US" sz="2200" dirty="0" smtClean="0"/>
              <a:t>a </a:t>
            </a:r>
            <a:r>
              <a:rPr lang="en-US" sz="2200" b="1" i="1" dirty="0" smtClean="0"/>
              <a:t>passive </a:t>
            </a:r>
            <a:r>
              <a:rPr lang="en-US" sz="2200" dirty="0"/>
              <a:t>entity, such as a file containing a list of instructions stored on </a:t>
            </a:r>
            <a:r>
              <a:rPr lang="en-US" sz="2200" dirty="0" smtClean="0"/>
              <a:t>disk.</a:t>
            </a:r>
          </a:p>
          <a:p>
            <a:pPr algn="just"/>
            <a:r>
              <a:rPr lang="en-US" sz="2200" dirty="0" smtClean="0"/>
              <a:t>Process </a:t>
            </a:r>
            <a:r>
              <a:rPr lang="en-US" sz="2200" dirty="0"/>
              <a:t>is an </a:t>
            </a:r>
            <a:r>
              <a:rPr lang="en-US" sz="2200" b="1" i="1" dirty="0"/>
              <a:t>active </a:t>
            </a:r>
            <a:r>
              <a:rPr lang="en-US" sz="2200" dirty="0" smtClean="0"/>
              <a:t>entity, with </a:t>
            </a:r>
            <a:r>
              <a:rPr lang="en-US" sz="2200" dirty="0"/>
              <a:t>a program counter specifying the next instruction to execute and a </a:t>
            </a:r>
            <a:r>
              <a:rPr lang="en-US" sz="2200" dirty="0" smtClean="0"/>
              <a:t>set of </a:t>
            </a:r>
            <a:r>
              <a:rPr lang="en-US" sz="2200" dirty="0"/>
              <a:t>associated resources.</a:t>
            </a:r>
          </a:p>
        </p:txBody>
      </p:sp>
    </p:spTree>
    <p:extLst>
      <p:ext uri="{BB962C8B-B14F-4D97-AF65-F5344CB8AC3E}">
        <p14:creationId xmlns:p14="http://schemas.microsoft.com/office/powerpoint/2010/main" val="3182328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637"/>
            <a:ext cx="10515600" cy="1325563"/>
          </a:xfrm>
        </p:spPr>
        <p:txBody>
          <a:bodyPr/>
          <a:lstStyle/>
          <a:p>
            <a:pPr algn="ctr"/>
            <a:r>
              <a:rPr lang="en-US" dirty="0" smtClean="0">
                <a:solidFill>
                  <a:schemeClr val="accent4"/>
                </a:solidFill>
              </a:rPr>
              <a:t>Example</a:t>
            </a:r>
            <a:endParaRPr lang="en-US" dirty="0">
              <a:solidFill>
                <a:schemeClr val="accent4"/>
              </a:solidFill>
            </a:endParaRPr>
          </a:p>
        </p:txBody>
      </p:sp>
      <p:sp>
        <p:nvSpPr>
          <p:cNvPr id="3" name="Content Placeholder 2"/>
          <p:cNvSpPr>
            <a:spLocks noGrp="1"/>
          </p:cNvSpPr>
          <p:nvPr>
            <p:ph idx="1"/>
          </p:nvPr>
        </p:nvSpPr>
        <p:spPr>
          <a:xfrm>
            <a:off x="1251678" y="1378857"/>
            <a:ext cx="10178322" cy="4500735"/>
          </a:xfrm>
        </p:spPr>
        <p:txBody>
          <a:bodyPr>
            <a:normAutofit/>
          </a:bodyPr>
          <a:lstStyle/>
          <a:p>
            <a:pPr algn="just"/>
            <a:r>
              <a:rPr lang="en-US" sz="2800" dirty="0"/>
              <a:t>Although two processes may be associated with the same program, </a:t>
            </a:r>
            <a:r>
              <a:rPr lang="en-US" sz="2800" dirty="0" smtClean="0"/>
              <a:t>they are </a:t>
            </a:r>
            <a:r>
              <a:rPr lang="en-US" sz="2800" dirty="0"/>
              <a:t>nevertheless considered two separate execution sequences. </a:t>
            </a:r>
            <a:endParaRPr lang="en-US" sz="2800" dirty="0" smtClean="0"/>
          </a:p>
          <a:p>
            <a:pPr algn="just"/>
            <a:r>
              <a:rPr lang="en-US" sz="2800" dirty="0" smtClean="0"/>
              <a:t>For instance, several </a:t>
            </a:r>
            <a:r>
              <a:rPr lang="en-US" sz="2800" dirty="0"/>
              <a:t>users may be running different copies of the mail program, or the </a:t>
            </a:r>
            <a:r>
              <a:rPr lang="en-US" sz="2800" dirty="0" smtClean="0"/>
              <a:t>same user </a:t>
            </a:r>
            <a:r>
              <a:rPr lang="en-US" sz="2800" dirty="0"/>
              <a:t>may invoke many copies of the web browser program. </a:t>
            </a:r>
            <a:endParaRPr lang="en-US" sz="2800" dirty="0" smtClean="0"/>
          </a:p>
          <a:p>
            <a:pPr algn="just"/>
            <a:r>
              <a:rPr lang="en-US" sz="2800" dirty="0" smtClean="0"/>
              <a:t>Each </a:t>
            </a:r>
            <a:r>
              <a:rPr lang="en-US" sz="2800" dirty="0"/>
              <a:t>of these is </a:t>
            </a:r>
            <a:r>
              <a:rPr lang="en-US" sz="2800" dirty="0" smtClean="0"/>
              <a:t>a separate </a:t>
            </a:r>
            <a:r>
              <a:rPr lang="en-US" sz="2800" dirty="0"/>
              <a:t>process</a:t>
            </a:r>
          </a:p>
        </p:txBody>
      </p:sp>
    </p:spTree>
    <p:extLst>
      <p:ext uri="{BB962C8B-B14F-4D97-AF65-F5344CB8AC3E}">
        <p14:creationId xmlns:p14="http://schemas.microsoft.com/office/powerpoint/2010/main" val="1287806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68" y="163107"/>
            <a:ext cx="10515600" cy="1325563"/>
          </a:xfrm>
        </p:spPr>
        <p:txBody>
          <a:bodyPr/>
          <a:lstStyle/>
          <a:p>
            <a:pPr algn="ctr"/>
            <a:r>
              <a:rPr lang="en-US" b="1" dirty="0">
                <a:solidFill>
                  <a:schemeClr val="accent4"/>
                </a:solidFill>
              </a:rPr>
              <a:t>Process State</a:t>
            </a:r>
          </a:p>
        </p:txBody>
      </p:sp>
      <p:sp>
        <p:nvSpPr>
          <p:cNvPr id="3" name="Content Placeholder 2"/>
          <p:cNvSpPr>
            <a:spLocks noGrp="1"/>
          </p:cNvSpPr>
          <p:nvPr>
            <p:ph idx="1"/>
          </p:nvPr>
        </p:nvSpPr>
        <p:spPr>
          <a:xfrm>
            <a:off x="1251678" y="1196789"/>
            <a:ext cx="10178322" cy="5109882"/>
          </a:xfrm>
        </p:spPr>
        <p:txBody>
          <a:bodyPr>
            <a:noAutofit/>
          </a:bodyPr>
          <a:lstStyle/>
          <a:p>
            <a:pPr algn="just"/>
            <a:r>
              <a:rPr lang="en-US" dirty="0"/>
              <a:t>As a process executes, it changes </a:t>
            </a:r>
            <a:r>
              <a:rPr lang="en-US" b="1" dirty="0"/>
              <a:t>state</a:t>
            </a:r>
            <a:r>
              <a:rPr lang="en-US" dirty="0"/>
              <a:t>. The state of a process is defined in </a:t>
            </a:r>
            <a:r>
              <a:rPr lang="en-US" dirty="0" smtClean="0"/>
              <a:t>part by </a:t>
            </a:r>
            <a:r>
              <a:rPr lang="en-US" dirty="0"/>
              <a:t>the current activity of that process. A process may be in one of the </a:t>
            </a:r>
            <a:r>
              <a:rPr lang="en-US" dirty="0" smtClean="0"/>
              <a:t>following states:</a:t>
            </a:r>
          </a:p>
          <a:p>
            <a:pPr algn="just"/>
            <a:r>
              <a:rPr lang="en-US" b="1" dirty="0" smtClean="0">
                <a:solidFill>
                  <a:schemeClr val="tx1"/>
                </a:solidFill>
              </a:rPr>
              <a:t>New</a:t>
            </a:r>
            <a:r>
              <a:rPr lang="en-US" dirty="0"/>
              <a:t> </a:t>
            </a:r>
            <a:r>
              <a:rPr lang="en-US" dirty="0" smtClean="0"/>
              <a:t>The </a:t>
            </a:r>
            <a:r>
              <a:rPr lang="en-US" dirty="0"/>
              <a:t>process is being created</a:t>
            </a:r>
            <a:r>
              <a:rPr lang="en-US" dirty="0" smtClean="0"/>
              <a:t>.</a:t>
            </a:r>
          </a:p>
          <a:p>
            <a:pPr algn="just"/>
            <a:r>
              <a:rPr lang="en-US" b="1" dirty="0" smtClean="0">
                <a:solidFill>
                  <a:schemeClr val="tx1"/>
                </a:solidFill>
              </a:rPr>
              <a:t>Ready</a:t>
            </a:r>
            <a:r>
              <a:rPr lang="en-US" dirty="0">
                <a:solidFill>
                  <a:schemeClr val="tx1"/>
                </a:solidFill>
              </a:rPr>
              <a:t> </a:t>
            </a:r>
            <a:r>
              <a:rPr lang="en-US" dirty="0" smtClean="0"/>
              <a:t>The </a:t>
            </a:r>
            <a:r>
              <a:rPr lang="en-US" dirty="0"/>
              <a:t>process is waiting to be assigned to a processor</a:t>
            </a:r>
            <a:r>
              <a:rPr lang="en-US" dirty="0" smtClean="0"/>
              <a:t>.</a:t>
            </a:r>
            <a:endParaRPr lang="en-US" dirty="0"/>
          </a:p>
          <a:p>
            <a:pPr algn="just"/>
            <a:r>
              <a:rPr lang="en-US" b="1" dirty="0" smtClean="0">
                <a:solidFill>
                  <a:schemeClr val="tx1"/>
                </a:solidFill>
              </a:rPr>
              <a:t>Running</a:t>
            </a:r>
            <a:r>
              <a:rPr lang="en-US" dirty="0"/>
              <a:t> </a:t>
            </a:r>
            <a:r>
              <a:rPr lang="en-US" dirty="0" smtClean="0"/>
              <a:t>Instructions </a:t>
            </a:r>
            <a:r>
              <a:rPr lang="en-US" dirty="0"/>
              <a:t>are being executed.</a:t>
            </a:r>
          </a:p>
          <a:p>
            <a:pPr algn="just"/>
            <a:r>
              <a:rPr lang="en-US" b="1" dirty="0" smtClean="0">
                <a:solidFill>
                  <a:schemeClr val="tx1"/>
                </a:solidFill>
              </a:rPr>
              <a:t>Waiting</a:t>
            </a:r>
            <a:r>
              <a:rPr lang="en-US" b="1" dirty="0" smtClean="0"/>
              <a:t> </a:t>
            </a:r>
            <a:r>
              <a:rPr lang="en-US" dirty="0" smtClean="0"/>
              <a:t>The </a:t>
            </a:r>
            <a:r>
              <a:rPr lang="en-US" dirty="0"/>
              <a:t>process is waiting for some event to occur (such as an </a:t>
            </a:r>
            <a:r>
              <a:rPr lang="en-US" dirty="0" smtClean="0"/>
              <a:t>I/O completion </a:t>
            </a:r>
            <a:r>
              <a:rPr lang="en-US" dirty="0"/>
              <a:t>or reception of a signal).</a:t>
            </a:r>
          </a:p>
          <a:p>
            <a:pPr algn="just"/>
            <a:r>
              <a:rPr lang="en-US" b="1" dirty="0" smtClean="0">
                <a:solidFill>
                  <a:schemeClr val="tx1"/>
                </a:solidFill>
              </a:rPr>
              <a:t>Terminated</a:t>
            </a:r>
            <a:r>
              <a:rPr lang="en-US" dirty="0">
                <a:solidFill>
                  <a:schemeClr val="tx1"/>
                </a:solidFill>
              </a:rPr>
              <a:t> </a:t>
            </a:r>
            <a:r>
              <a:rPr lang="en-US" dirty="0" smtClean="0"/>
              <a:t>The </a:t>
            </a:r>
            <a:r>
              <a:rPr lang="en-US" dirty="0"/>
              <a:t>process has finished execution</a:t>
            </a:r>
            <a:r>
              <a:rPr lang="en-US" dirty="0" smtClean="0"/>
              <a:t>.</a:t>
            </a:r>
          </a:p>
          <a:p>
            <a:endParaRPr lang="en-US" dirty="0" smtClean="0"/>
          </a:p>
          <a:p>
            <a:r>
              <a:rPr lang="en-US" sz="2400" dirty="0" smtClean="0"/>
              <a:t>It </a:t>
            </a:r>
            <a:r>
              <a:rPr lang="en-US" sz="2400" dirty="0"/>
              <a:t>is important to </a:t>
            </a:r>
            <a:r>
              <a:rPr lang="en-US" sz="2400" dirty="0" smtClean="0"/>
              <a:t>realize that </a:t>
            </a:r>
            <a:r>
              <a:rPr lang="en-US" sz="2400" dirty="0"/>
              <a:t>only one process can be </a:t>
            </a:r>
            <a:r>
              <a:rPr lang="en-US" sz="2400" i="1" dirty="0"/>
              <a:t>running </a:t>
            </a:r>
            <a:r>
              <a:rPr lang="en-US" sz="2400" dirty="0"/>
              <a:t>on any processor at any instant. </a:t>
            </a:r>
            <a:r>
              <a:rPr lang="en-US" sz="2400" dirty="0" smtClean="0"/>
              <a:t>Many processes </a:t>
            </a:r>
            <a:r>
              <a:rPr lang="en-US" sz="2400" dirty="0"/>
              <a:t>may be </a:t>
            </a:r>
            <a:r>
              <a:rPr lang="en-US" sz="2400" i="1" dirty="0"/>
              <a:t>ready </a:t>
            </a:r>
            <a:r>
              <a:rPr lang="en-US" sz="2400" dirty="0"/>
              <a:t>and </a:t>
            </a:r>
            <a:r>
              <a:rPr lang="en-US" sz="2400" i="1" dirty="0"/>
              <a:t>waiting, </a:t>
            </a:r>
            <a:r>
              <a:rPr lang="en-US" sz="2400" dirty="0"/>
              <a:t>however.</a:t>
            </a:r>
          </a:p>
        </p:txBody>
      </p:sp>
    </p:spTree>
    <p:extLst>
      <p:ext uri="{BB962C8B-B14F-4D97-AF65-F5344CB8AC3E}">
        <p14:creationId xmlns:p14="http://schemas.microsoft.com/office/powerpoint/2010/main" val="709789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b="10518"/>
          <a:stretch/>
        </p:blipFill>
        <p:spPr>
          <a:xfrm>
            <a:off x="1471610" y="1126471"/>
            <a:ext cx="9960960" cy="4319588"/>
          </a:xfrm>
          <a:prstGeom prst="rect">
            <a:avLst/>
          </a:prstGeom>
        </p:spPr>
      </p:pic>
    </p:spTree>
    <p:extLst>
      <p:ext uri="{BB962C8B-B14F-4D97-AF65-F5344CB8AC3E}">
        <p14:creationId xmlns:p14="http://schemas.microsoft.com/office/powerpoint/2010/main" val="61308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9465" y="173739"/>
            <a:ext cx="10515600" cy="1325563"/>
          </a:xfrm>
        </p:spPr>
        <p:txBody>
          <a:bodyPr/>
          <a:lstStyle/>
          <a:p>
            <a:pPr algn="ctr"/>
            <a:r>
              <a:rPr lang="en-US" b="1" dirty="0">
                <a:solidFill>
                  <a:schemeClr val="accent4"/>
                </a:solidFill>
              </a:rPr>
              <a:t>Process Control Block</a:t>
            </a:r>
          </a:p>
        </p:txBody>
      </p:sp>
      <p:sp>
        <p:nvSpPr>
          <p:cNvPr id="5" name="Content Placeholder 4"/>
          <p:cNvSpPr>
            <a:spLocks noGrp="1"/>
          </p:cNvSpPr>
          <p:nvPr>
            <p:ph idx="1"/>
          </p:nvPr>
        </p:nvSpPr>
        <p:spPr>
          <a:xfrm>
            <a:off x="1251678" y="1480457"/>
            <a:ext cx="10178322" cy="5027920"/>
          </a:xfrm>
        </p:spPr>
        <p:txBody>
          <a:bodyPr>
            <a:normAutofit/>
          </a:bodyPr>
          <a:lstStyle/>
          <a:p>
            <a:pPr algn="just"/>
            <a:r>
              <a:rPr lang="en-US" sz="2400" dirty="0"/>
              <a:t>Each process is represented in the operating system by a </a:t>
            </a:r>
            <a:r>
              <a:rPr lang="en-US" sz="2400" b="1" dirty="0"/>
              <a:t>process control </a:t>
            </a:r>
            <a:r>
              <a:rPr lang="en-US" sz="2400" b="1" dirty="0" smtClean="0"/>
              <a:t>block (PCB</a:t>
            </a:r>
            <a:r>
              <a:rPr lang="en-US" sz="2400" b="1" dirty="0"/>
              <a:t>)</a:t>
            </a:r>
            <a:r>
              <a:rPr lang="en-US" sz="2400" dirty="0"/>
              <a:t>—also called a </a:t>
            </a:r>
            <a:r>
              <a:rPr lang="en-US" sz="2400" b="1" dirty="0"/>
              <a:t>task control block</a:t>
            </a:r>
            <a:r>
              <a:rPr lang="en-US" sz="2400" dirty="0" smtClean="0"/>
              <a:t>.</a:t>
            </a:r>
          </a:p>
          <a:p>
            <a:pPr algn="just"/>
            <a:r>
              <a:rPr lang="en-US" sz="2400" dirty="0"/>
              <a:t>It </a:t>
            </a:r>
            <a:r>
              <a:rPr lang="en-US" sz="2400" dirty="0" smtClean="0"/>
              <a:t>contains many </a:t>
            </a:r>
            <a:r>
              <a:rPr lang="en-US" sz="2400" dirty="0"/>
              <a:t>pieces of information associated with a specific process, including these</a:t>
            </a:r>
            <a:r>
              <a:rPr lang="en-US" sz="2400" dirty="0" smtClean="0"/>
              <a:t>:</a:t>
            </a:r>
          </a:p>
          <a:p>
            <a:pPr lvl="1" algn="just"/>
            <a:r>
              <a:rPr lang="en-US" sz="2000" b="1" dirty="0"/>
              <a:t>Process </a:t>
            </a:r>
            <a:r>
              <a:rPr lang="en-US" sz="2000" b="1" dirty="0" smtClean="0"/>
              <a:t>state</a:t>
            </a:r>
          </a:p>
          <a:p>
            <a:pPr lvl="1" algn="just"/>
            <a:r>
              <a:rPr lang="en-US" sz="2000" b="1" dirty="0"/>
              <a:t>Program </a:t>
            </a:r>
            <a:r>
              <a:rPr lang="en-US" sz="2000" b="1" dirty="0" smtClean="0"/>
              <a:t>counter</a:t>
            </a:r>
            <a:endParaRPr lang="en-US" sz="2000" dirty="0"/>
          </a:p>
          <a:p>
            <a:pPr lvl="1" algn="just"/>
            <a:r>
              <a:rPr lang="en-US" sz="2000" b="1" dirty="0"/>
              <a:t>CPU </a:t>
            </a:r>
            <a:r>
              <a:rPr lang="en-US" sz="2000" b="1" dirty="0" smtClean="0"/>
              <a:t>registers</a:t>
            </a:r>
          </a:p>
          <a:p>
            <a:pPr lvl="1" algn="just"/>
            <a:r>
              <a:rPr lang="en-US" sz="2000" b="1" dirty="0"/>
              <a:t>CPU-scheduling </a:t>
            </a:r>
            <a:r>
              <a:rPr lang="en-US" sz="2000" b="1" dirty="0" smtClean="0"/>
              <a:t>information</a:t>
            </a:r>
          </a:p>
          <a:p>
            <a:pPr lvl="1" algn="just"/>
            <a:r>
              <a:rPr lang="en-US" sz="2000" b="1" dirty="0"/>
              <a:t>Memory-management </a:t>
            </a:r>
            <a:r>
              <a:rPr lang="en-US" sz="2000" b="1" dirty="0" smtClean="0"/>
              <a:t>information</a:t>
            </a:r>
          </a:p>
          <a:p>
            <a:pPr lvl="1" algn="just"/>
            <a:r>
              <a:rPr lang="en-US" sz="2000" b="1" dirty="0"/>
              <a:t>Accounting information</a:t>
            </a:r>
            <a:r>
              <a:rPr lang="en-US" sz="2000" dirty="0" smtClean="0"/>
              <a:t>.</a:t>
            </a:r>
          </a:p>
          <a:p>
            <a:pPr lvl="1" algn="just"/>
            <a:r>
              <a:rPr lang="en-US" sz="2000" b="1" dirty="0"/>
              <a:t>I/O status information</a:t>
            </a:r>
            <a:endParaRPr lang="en-US" sz="2000" dirty="0"/>
          </a:p>
        </p:txBody>
      </p:sp>
    </p:spTree>
    <p:extLst>
      <p:ext uri="{BB962C8B-B14F-4D97-AF65-F5344CB8AC3E}">
        <p14:creationId xmlns:p14="http://schemas.microsoft.com/office/powerpoint/2010/main" val="2849280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0731" y="120576"/>
            <a:ext cx="10515600" cy="1325563"/>
          </a:xfrm>
        </p:spPr>
        <p:txBody>
          <a:bodyPr/>
          <a:lstStyle/>
          <a:p>
            <a:pPr algn="ctr"/>
            <a:r>
              <a:rPr lang="en-US" dirty="0" smtClean="0">
                <a:solidFill>
                  <a:schemeClr val="accent4"/>
                </a:solidFill>
              </a:rPr>
              <a:t>Cont</a:t>
            </a:r>
            <a:r>
              <a:rPr lang="en-US" dirty="0" smtClean="0"/>
              <a:t>.</a:t>
            </a:r>
            <a:endParaRPr lang="en-US" dirty="0"/>
          </a:p>
        </p:txBody>
      </p:sp>
      <p:sp>
        <p:nvSpPr>
          <p:cNvPr id="3" name="Content Placeholder 2"/>
          <p:cNvSpPr>
            <a:spLocks noGrp="1"/>
          </p:cNvSpPr>
          <p:nvPr>
            <p:ph idx="1"/>
          </p:nvPr>
        </p:nvSpPr>
        <p:spPr>
          <a:xfrm>
            <a:off x="1076866" y="1358153"/>
            <a:ext cx="8575134" cy="5173275"/>
          </a:xfrm>
        </p:spPr>
        <p:txBody>
          <a:bodyPr>
            <a:noAutofit/>
          </a:bodyPr>
          <a:lstStyle/>
          <a:p>
            <a:pPr algn="just"/>
            <a:r>
              <a:rPr lang="en-US" sz="2400" b="1" dirty="0"/>
              <a:t>Process </a:t>
            </a:r>
            <a:r>
              <a:rPr lang="en-US" sz="2400" b="1" dirty="0" smtClean="0"/>
              <a:t>state</a:t>
            </a:r>
            <a:r>
              <a:rPr lang="en-US" sz="2400" dirty="0" smtClean="0"/>
              <a:t>:  The </a:t>
            </a:r>
            <a:r>
              <a:rPr lang="en-US" sz="2400" dirty="0"/>
              <a:t>state may be new, ready, running, waiting, halted, </a:t>
            </a:r>
            <a:r>
              <a:rPr lang="en-US" sz="2400" dirty="0" smtClean="0"/>
              <a:t>and so </a:t>
            </a:r>
            <a:r>
              <a:rPr lang="en-US" sz="2400" dirty="0"/>
              <a:t>on.</a:t>
            </a:r>
          </a:p>
          <a:p>
            <a:pPr algn="just"/>
            <a:r>
              <a:rPr lang="en-US" sz="2400" b="1" dirty="0" smtClean="0"/>
              <a:t>Program counter</a:t>
            </a:r>
            <a:r>
              <a:rPr lang="en-US" sz="2400" dirty="0" smtClean="0"/>
              <a:t>:  The </a:t>
            </a:r>
            <a:r>
              <a:rPr lang="en-US" sz="2400" dirty="0"/>
              <a:t>counter indicates the address of the next </a:t>
            </a:r>
            <a:r>
              <a:rPr lang="en-US" sz="2400" dirty="0" smtClean="0"/>
              <a:t>instruction to </a:t>
            </a:r>
            <a:r>
              <a:rPr lang="en-US" sz="2400" dirty="0"/>
              <a:t>be executed for this process</a:t>
            </a:r>
            <a:r>
              <a:rPr lang="en-US" sz="2400" dirty="0" smtClean="0"/>
              <a:t>.</a:t>
            </a:r>
          </a:p>
          <a:p>
            <a:pPr algn="just"/>
            <a:r>
              <a:rPr lang="en-US" sz="2400" b="1" dirty="0"/>
              <a:t>CPU registers</a:t>
            </a:r>
            <a:r>
              <a:rPr lang="en-US" sz="2400" dirty="0"/>
              <a:t>. The registers vary in number and type, depending </a:t>
            </a:r>
            <a:r>
              <a:rPr lang="en-US" sz="2400" dirty="0" smtClean="0"/>
              <a:t>on the </a:t>
            </a:r>
            <a:r>
              <a:rPr lang="en-US" sz="2400" dirty="0"/>
              <a:t>computer architecture. They include accumulators, index </a:t>
            </a:r>
            <a:r>
              <a:rPr lang="en-US" sz="2400" dirty="0" smtClean="0"/>
              <a:t>registers, stack </a:t>
            </a:r>
            <a:r>
              <a:rPr lang="en-US" sz="2400" dirty="0"/>
              <a:t>pointers, and general-purpose registers, plus any </a:t>
            </a:r>
            <a:r>
              <a:rPr lang="en-US" sz="2400" dirty="0" smtClean="0"/>
              <a:t>condition-code information</a:t>
            </a:r>
            <a:r>
              <a:rPr lang="en-US" sz="2400" dirty="0"/>
              <a:t>. Along with the program counter, this state information </a:t>
            </a:r>
            <a:r>
              <a:rPr lang="en-US" sz="2400" dirty="0" smtClean="0"/>
              <a:t>must be </a:t>
            </a:r>
            <a:r>
              <a:rPr lang="en-US" sz="2400" dirty="0"/>
              <a:t>saved when an interrupt occurs, to allow the process to be </a:t>
            </a:r>
            <a:r>
              <a:rPr lang="en-US" sz="2400" dirty="0" smtClean="0"/>
              <a:t>continued correctly afterward</a:t>
            </a:r>
          </a:p>
        </p:txBody>
      </p:sp>
      <p:pic>
        <p:nvPicPr>
          <p:cNvPr id="2050" name="Picture 2" descr="Image result for process control block"/>
          <p:cNvPicPr>
            <a:picLocks noChangeAspect="1" noChangeArrowheads="1"/>
          </p:cNvPicPr>
          <p:nvPr/>
        </p:nvPicPr>
        <p:blipFill rotWithShape="1">
          <a:blip r:embed="rId2">
            <a:extLst>
              <a:ext uri="{28A0092B-C50C-407E-A947-70E740481C1C}">
                <a14:useLocalDpi xmlns:a14="http://schemas.microsoft.com/office/drawing/2010/main" val="0"/>
              </a:ext>
            </a:extLst>
          </a:blip>
          <a:srcRect l="10860" t="5392" r="8985" b="5744"/>
          <a:stretch/>
        </p:blipFill>
        <p:spPr bwMode="auto">
          <a:xfrm>
            <a:off x="9816353" y="1358154"/>
            <a:ext cx="2084295" cy="3563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4752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098" y="195004"/>
            <a:ext cx="10515600" cy="1325563"/>
          </a:xfrm>
        </p:spPr>
        <p:txBody>
          <a:bodyPr/>
          <a:lstStyle/>
          <a:p>
            <a:pPr algn="ctr"/>
            <a:r>
              <a:rPr lang="en-US" dirty="0" smtClean="0">
                <a:solidFill>
                  <a:schemeClr val="accent4"/>
                </a:solidFill>
              </a:rPr>
              <a:t>Cont</a:t>
            </a:r>
            <a:r>
              <a:rPr lang="en-US" dirty="0" smtClean="0"/>
              <a:t>.</a:t>
            </a:r>
            <a:endParaRPr lang="en-US" dirty="0"/>
          </a:p>
        </p:txBody>
      </p:sp>
      <p:sp>
        <p:nvSpPr>
          <p:cNvPr id="3" name="Content Placeholder 2"/>
          <p:cNvSpPr>
            <a:spLocks noGrp="1"/>
          </p:cNvSpPr>
          <p:nvPr>
            <p:ph idx="1"/>
          </p:nvPr>
        </p:nvSpPr>
        <p:spPr>
          <a:xfrm>
            <a:off x="986971" y="1191698"/>
            <a:ext cx="10668000" cy="5682343"/>
          </a:xfrm>
        </p:spPr>
        <p:txBody>
          <a:bodyPr>
            <a:normAutofit/>
          </a:bodyPr>
          <a:lstStyle/>
          <a:p>
            <a:pPr algn="just"/>
            <a:r>
              <a:rPr lang="en-US" sz="2400" b="1" dirty="0"/>
              <a:t>CPU-scheduling I</a:t>
            </a:r>
            <a:r>
              <a:rPr lang="en-US" sz="2400" b="1" dirty="0" smtClean="0"/>
              <a:t>nformation</a:t>
            </a:r>
            <a:r>
              <a:rPr lang="en-US" sz="2400" dirty="0" smtClean="0"/>
              <a:t>.</a:t>
            </a:r>
          </a:p>
          <a:p>
            <a:pPr lvl="1" algn="just"/>
            <a:r>
              <a:rPr lang="en-US" sz="2400" dirty="0" smtClean="0"/>
              <a:t>This </a:t>
            </a:r>
            <a:r>
              <a:rPr lang="en-US" sz="2400" dirty="0"/>
              <a:t>information includes a process </a:t>
            </a:r>
            <a:r>
              <a:rPr lang="en-US" sz="2400" dirty="0" smtClean="0"/>
              <a:t>priority, pointers </a:t>
            </a:r>
            <a:r>
              <a:rPr lang="en-US" sz="2400" dirty="0"/>
              <a:t>to scheduling queues, and any other scheduling parameters</a:t>
            </a:r>
            <a:r>
              <a:rPr lang="en-US" sz="2400" dirty="0" smtClean="0"/>
              <a:t>. </a:t>
            </a:r>
          </a:p>
          <a:p>
            <a:pPr algn="just"/>
            <a:r>
              <a:rPr lang="en-US" sz="2400" b="1" dirty="0" smtClean="0"/>
              <a:t>Memory-management </a:t>
            </a:r>
            <a:r>
              <a:rPr lang="en-US" sz="2400" b="1" dirty="0"/>
              <a:t>I</a:t>
            </a:r>
            <a:r>
              <a:rPr lang="en-US" sz="2400" b="1" dirty="0" smtClean="0"/>
              <a:t>nformation</a:t>
            </a:r>
            <a:r>
              <a:rPr lang="en-US" sz="2400" dirty="0" smtClean="0"/>
              <a:t>. </a:t>
            </a:r>
          </a:p>
          <a:p>
            <a:pPr lvl="1" algn="just"/>
            <a:r>
              <a:rPr lang="en-US" sz="2400" dirty="0" smtClean="0"/>
              <a:t>This </a:t>
            </a:r>
            <a:r>
              <a:rPr lang="en-US" sz="2400" dirty="0"/>
              <a:t>information may include </a:t>
            </a:r>
            <a:r>
              <a:rPr lang="en-US" sz="2400" dirty="0" smtClean="0"/>
              <a:t>such items </a:t>
            </a:r>
            <a:r>
              <a:rPr lang="en-US" sz="2400" dirty="0"/>
              <a:t>as the value of the base and limit registers and the page tables, or </a:t>
            </a:r>
            <a:r>
              <a:rPr lang="en-US" sz="2400" dirty="0" smtClean="0"/>
              <a:t>the segment </a:t>
            </a:r>
            <a:r>
              <a:rPr lang="en-US" sz="2400" dirty="0"/>
              <a:t>tables, depending on the memory system used by the </a:t>
            </a:r>
            <a:r>
              <a:rPr lang="en-US" sz="2400" dirty="0" smtClean="0"/>
              <a:t>operating system.</a:t>
            </a:r>
          </a:p>
          <a:p>
            <a:pPr algn="just"/>
            <a:r>
              <a:rPr lang="en-US" sz="2400" b="1" dirty="0"/>
              <a:t>Accounting </a:t>
            </a:r>
            <a:r>
              <a:rPr lang="en-US" sz="2400" b="1" dirty="0" smtClean="0"/>
              <a:t>information</a:t>
            </a:r>
            <a:endParaRPr lang="en-US" sz="2400" dirty="0"/>
          </a:p>
          <a:p>
            <a:pPr lvl="1" algn="just"/>
            <a:r>
              <a:rPr lang="en-US" sz="2400" dirty="0" smtClean="0"/>
              <a:t>This </a:t>
            </a:r>
            <a:r>
              <a:rPr lang="en-US" sz="2400" dirty="0"/>
              <a:t>information includes the amount of </a:t>
            </a:r>
            <a:r>
              <a:rPr lang="en-US" sz="2400" dirty="0" smtClean="0"/>
              <a:t>CPU and </a:t>
            </a:r>
            <a:r>
              <a:rPr lang="en-US" sz="2400" dirty="0"/>
              <a:t>real time used, time limits, account numbers, job or process </a:t>
            </a:r>
            <a:r>
              <a:rPr lang="en-US" sz="2400" dirty="0" smtClean="0"/>
              <a:t>numbers, and </a:t>
            </a:r>
            <a:r>
              <a:rPr lang="en-US" sz="2400" dirty="0"/>
              <a:t>so </a:t>
            </a:r>
            <a:r>
              <a:rPr lang="en-US" sz="2400" dirty="0" smtClean="0"/>
              <a:t>on</a:t>
            </a:r>
          </a:p>
          <a:p>
            <a:pPr algn="just"/>
            <a:r>
              <a:rPr lang="en-US" sz="2400" b="1" dirty="0" smtClean="0"/>
              <a:t>I/O </a:t>
            </a:r>
            <a:r>
              <a:rPr lang="en-US" sz="2400" b="1" dirty="0"/>
              <a:t>status </a:t>
            </a:r>
            <a:r>
              <a:rPr lang="en-US" sz="2400" b="1" dirty="0" smtClean="0"/>
              <a:t>information</a:t>
            </a:r>
            <a:r>
              <a:rPr lang="en-US" sz="2400" dirty="0" smtClean="0"/>
              <a:t>.</a:t>
            </a:r>
          </a:p>
          <a:p>
            <a:pPr lvl="1" algn="just"/>
            <a:r>
              <a:rPr lang="en-US" sz="2400" dirty="0" smtClean="0"/>
              <a:t>This </a:t>
            </a:r>
            <a:r>
              <a:rPr lang="en-US" sz="2400" dirty="0"/>
              <a:t>information includes the list of I/O </a:t>
            </a:r>
            <a:r>
              <a:rPr lang="en-US" sz="2400" dirty="0" smtClean="0"/>
              <a:t>devices allocated </a:t>
            </a:r>
            <a:r>
              <a:rPr lang="en-US" sz="2400" dirty="0"/>
              <a:t>to the process, a list of open files, and so on.</a:t>
            </a:r>
          </a:p>
        </p:txBody>
      </p:sp>
    </p:spTree>
    <p:extLst>
      <p:ext uri="{BB962C8B-B14F-4D97-AF65-F5344CB8AC3E}">
        <p14:creationId xmlns:p14="http://schemas.microsoft.com/office/powerpoint/2010/main" val="833871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098" y="226902"/>
            <a:ext cx="10515600" cy="1325563"/>
          </a:xfrm>
        </p:spPr>
        <p:txBody>
          <a:bodyPr/>
          <a:lstStyle/>
          <a:p>
            <a:pPr algn="ctr"/>
            <a:r>
              <a:rPr lang="en-US" b="1" dirty="0">
                <a:solidFill>
                  <a:schemeClr val="accent4"/>
                </a:solidFill>
              </a:rPr>
              <a:t>Threads</a:t>
            </a:r>
          </a:p>
        </p:txBody>
      </p:sp>
      <p:sp>
        <p:nvSpPr>
          <p:cNvPr id="3" name="Content Placeholder 2"/>
          <p:cNvSpPr>
            <a:spLocks noGrp="1"/>
          </p:cNvSpPr>
          <p:nvPr>
            <p:ph idx="1"/>
          </p:nvPr>
        </p:nvSpPr>
        <p:spPr>
          <a:xfrm>
            <a:off x="1251678" y="1422400"/>
            <a:ext cx="10178322" cy="4457193"/>
          </a:xfrm>
        </p:spPr>
        <p:txBody>
          <a:bodyPr>
            <a:noAutofit/>
          </a:bodyPr>
          <a:lstStyle/>
          <a:p>
            <a:pPr algn="just"/>
            <a:r>
              <a:rPr lang="en-US" sz="3200" dirty="0"/>
              <a:t>A thread is the smallest unit of processing that can be performed in an OS. </a:t>
            </a:r>
            <a:endParaRPr lang="en-US" sz="3200" dirty="0" smtClean="0"/>
          </a:p>
          <a:p>
            <a:pPr algn="just"/>
            <a:r>
              <a:rPr lang="en-US" sz="3200" dirty="0" smtClean="0"/>
              <a:t>In </a:t>
            </a:r>
            <a:r>
              <a:rPr lang="en-US" sz="3200" dirty="0"/>
              <a:t>most modern operating systems, a thread exists within a process - that is, a single process may contain multiple threads</a:t>
            </a:r>
            <a:r>
              <a:rPr lang="en-US" sz="3200" dirty="0" smtClean="0"/>
              <a:t>.</a:t>
            </a:r>
          </a:p>
          <a:p>
            <a:pPr algn="just"/>
            <a:r>
              <a:rPr lang="en-US" sz="3200" dirty="0"/>
              <a:t>A thread is also called a lightweight process. </a:t>
            </a:r>
            <a:endParaRPr lang="en-US" sz="3200" dirty="0" smtClean="0"/>
          </a:p>
          <a:p>
            <a:pPr algn="just"/>
            <a:r>
              <a:rPr lang="en-US" sz="3200" dirty="0" smtClean="0"/>
              <a:t>Threads </a:t>
            </a:r>
            <a:r>
              <a:rPr lang="en-US" sz="3200" dirty="0"/>
              <a:t>provide a way to improve application performance through parallelism.</a:t>
            </a:r>
          </a:p>
        </p:txBody>
      </p:sp>
    </p:spTree>
    <p:extLst>
      <p:ext uri="{BB962C8B-B14F-4D97-AF65-F5344CB8AC3E}">
        <p14:creationId xmlns:p14="http://schemas.microsoft.com/office/powerpoint/2010/main" val="849442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1362" y="131209"/>
            <a:ext cx="10515600" cy="1325563"/>
          </a:xfrm>
        </p:spPr>
        <p:txBody>
          <a:bodyPr/>
          <a:lstStyle/>
          <a:p>
            <a:pPr algn="ctr"/>
            <a:r>
              <a:rPr lang="en-US" b="1" dirty="0">
                <a:solidFill>
                  <a:schemeClr val="accent4"/>
                </a:solidFill>
              </a:rPr>
              <a:t>Process Scheduling</a:t>
            </a:r>
          </a:p>
        </p:txBody>
      </p:sp>
      <p:sp>
        <p:nvSpPr>
          <p:cNvPr id="3" name="Content Placeholder 2"/>
          <p:cNvSpPr>
            <a:spLocks noGrp="1"/>
          </p:cNvSpPr>
          <p:nvPr>
            <p:ph idx="1"/>
          </p:nvPr>
        </p:nvSpPr>
        <p:spPr>
          <a:xfrm>
            <a:off x="1251678" y="1398495"/>
            <a:ext cx="10178322" cy="5263562"/>
          </a:xfrm>
        </p:spPr>
        <p:txBody>
          <a:bodyPr/>
          <a:lstStyle/>
          <a:p>
            <a:pPr algn="just"/>
            <a:r>
              <a:rPr lang="en-US" sz="2400" dirty="0"/>
              <a:t>The objective of multiprogramming is to have some process running at </a:t>
            </a:r>
            <a:r>
              <a:rPr lang="en-US" sz="2400" dirty="0" smtClean="0"/>
              <a:t>all times</a:t>
            </a:r>
            <a:r>
              <a:rPr lang="en-US" sz="2400" dirty="0"/>
              <a:t>, to maximize CPU utilization. </a:t>
            </a:r>
            <a:endParaRPr lang="en-US" sz="2400" dirty="0" smtClean="0"/>
          </a:p>
          <a:p>
            <a:pPr algn="just"/>
            <a:r>
              <a:rPr lang="en-US" sz="2400" dirty="0" smtClean="0"/>
              <a:t>The </a:t>
            </a:r>
            <a:r>
              <a:rPr lang="en-US" sz="2400" b="1" i="1" dirty="0"/>
              <a:t>objective of time sharing </a:t>
            </a:r>
            <a:r>
              <a:rPr lang="en-US" sz="2400" dirty="0"/>
              <a:t>is to switch </a:t>
            </a:r>
            <a:r>
              <a:rPr lang="en-US" sz="2400" dirty="0" smtClean="0"/>
              <a:t>the CPU </a:t>
            </a:r>
            <a:r>
              <a:rPr lang="en-US" sz="2400" dirty="0"/>
              <a:t>among processes so frequently that users can interact with each </a:t>
            </a:r>
            <a:r>
              <a:rPr lang="en-US" sz="2400" dirty="0" smtClean="0"/>
              <a:t>program while </a:t>
            </a:r>
            <a:r>
              <a:rPr lang="en-US" sz="2400" dirty="0"/>
              <a:t>it is running. </a:t>
            </a:r>
            <a:endParaRPr lang="en-US" sz="2400" dirty="0" smtClean="0"/>
          </a:p>
          <a:p>
            <a:pPr algn="just"/>
            <a:r>
              <a:rPr lang="en-US" sz="2400" dirty="0" smtClean="0"/>
              <a:t>To </a:t>
            </a:r>
            <a:r>
              <a:rPr lang="en-US" sz="2400" dirty="0"/>
              <a:t>meet these objectives, the </a:t>
            </a:r>
            <a:r>
              <a:rPr lang="en-US" sz="2400" b="1" dirty="0">
                <a:solidFill>
                  <a:schemeClr val="tx1"/>
                </a:solidFill>
              </a:rPr>
              <a:t>process scheduler </a:t>
            </a:r>
            <a:r>
              <a:rPr lang="en-US" sz="2400" dirty="0" smtClean="0"/>
              <a:t>selects an </a:t>
            </a:r>
            <a:r>
              <a:rPr lang="en-US" sz="2400" dirty="0"/>
              <a:t>available process (possibly from a set of several available processes) </a:t>
            </a:r>
            <a:r>
              <a:rPr lang="en-US" sz="2400" dirty="0" smtClean="0"/>
              <a:t>for program </a:t>
            </a:r>
            <a:r>
              <a:rPr lang="en-US" sz="2400" dirty="0"/>
              <a:t>execution on the CPU. </a:t>
            </a:r>
            <a:endParaRPr lang="en-US" sz="2400" dirty="0" smtClean="0"/>
          </a:p>
          <a:p>
            <a:pPr algn="just"/>
            <a:r>
              <a:rPr lang="en-US" sz="2400" dirty="0" smtClean="0"/>
              <a:t>For </a:t>
            </a:r>
            <a:r>
              <a:rPr lang="en-US" sz="2400" dirty="0"/>
              <a:t>a single-processor system, there will </a:t>
            </a:r>
            <a:r>
              <a:rPr lang="en-US" sz="2400" dirty="0" smtClean="0"/>
              <a:t>never be </a:t>
            </a:r>
            <a:r>
              <a:rPr lang="en-US" sz="2400" dirty="0"/>
              <a:t>more than one running process. </a:t>
            </a:r>
            <a:endParaRPr lang="en-US" sz="2400" dirty="0" smtClean="0"/>
          </a:p>
          <a:p>
            <a:pPr algn="just"/>
            <a:r>
              <a:rPr lang="en-US" sz="2400" dirty="0" smtClean="0"/>
              <a:t>If </a:t>
            </a:r>
            <a:r>
              <a:rPr lang="en-US" sz="2400" dirty="0"/>
              <a:t>there are more processes, the rest </a:t>
            </a:r>
            <a:r>
              <a:rPr lang="en-US" sz="2400" dirty="0" smtClean="0"/>
              <a:t>will have </a:t>
            </a:r>
            <a:r>
              <a:rPr lang="en-US" sz="2400" dirty="0"/>
              <a:t>to wait until the CPU is free and can be rescheduled</a:t>
            </a:r>
            <a:r>
              <a:rPr lang="en-US" sz="2400" dirty="0" smtClean="0"/>
              <a:t>.</a:t>
            </a:r>
          </a:p>
        </p:txBody>
      </p:sp>
    </p:spTree>
    <p:extLst>
      <p:ext uri="{BB962C8B-B14F-4D97-AF65-F5344CB8AC3E}">
        <p14:creationId xmlns:p14="http://schemas.microsoft.com/office/powerpoint/2010/main" val="2425051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222896"/>
            <a:ext cx="10178322" cy="1029556"/>
          </a:xfrm>
        </p:spPr>
        <p:txBody>
          <a:bodyPr/>
          <a:lstStyle/>
          <a:p>
            <a:pPr algn="ctr"/>
            <a:r>
              <a:rPr lang="en-US" b="1" dirty="0">
                <a:solidFill>
                  <a:schemeClr val="accent4"/>
                </a:solidFill>
              </a:rPr>
              <a:t>Scheduling Queues</a:t>
            </a:r>
          </a:p>
        </p:txBody>
      </p:sp>
      <p:sp>
        <p:nvSpPr>
          <p:cNvPr id="3" name="Content Placeholder 2"/>
          <p:cNvSpPr>
            <a:spLocks noGrp="1"/>
          </p:cNvSpPr>
          <p:nvPr>
            <p:ph idx="1"/>
          </p:nvPr>
        </p:nvSpPr>
        <p:spPr>
          <a:xfrm>
            <a:off x="1251678" y="1393371"/>
            <a:ext cx="10178322" cy="5036458"/>
          </a:xfrm>
        </p:spPr>
        <p:txBody>
          <a:bodyPr>
            <a:normAutofit/>
          </a:bodyPr>
          <a:lstStyle/>
          <a:p>
            <a:pPr algn="just"/>
            <a:r>
              <a:rPr lang="en-US" sz="3200" dirty="0"/>
              <a:t>As processes enter the system, they are put into a </a:t>
            </a:r>
            <a:r>
              <a:rPr lang="en-US" sz="3200" b="1" dirty="0">
                <a:solidFill>
                  <a:schemeClr val="tx2">
                    <a:lumMod val="50000"/>
                    <a:lumOff val="50000"/>
                  </a:schemeClr>
                </a:solidFill>
              </a:rPr>
              <a:t>job queue</a:t>
            </a:r>
            <a:r>
              <a:rPr lang="en-US" sz="3200" dirty="0"/>
              <a:t>, which </a:t>
            </a:r>
            <a:r>
              <a:rPr lang="en-US" sz="3200" dirty="0" smtClean="0"/>
              <a:t>consists of </a:t>
            </a:r>
            <a:r>
              <a:rPr lang="en-US" sz="3200" dirty="0"/>
              <a:t>all processes in the system. </a:t>
            </a:r>
            <a:endParaRPr lang="en-US" sz="3200" dirty="0" smtClean="0"/>
          </a:p>
          <a:p>
            <a:pPr algn="just"/>
            <a:r>
              <a:rPr lang="en-US" sz="3200" dirty="0" smtClean="0"/>
              <a:t>The </a:t>
            </a:r>
            <a:r>
              <a:rPr lang="en-US" sz="3200" dirty="0"/>
              <a:t>processes that are residing in main </a:t>
            </a:r>
            <a:r>
              <a:rPr lang="en-US" sz="3200" dirty="0" smtClean="0"/>
              <a:t>memory and </a:t>
            </a:r>
            <a:r>
              <a:rPr lang="en-US" sz="3200" dirty="0"/>
              <a:t>are ready and waiting to execute are kept on a list called the </a:t>
            </a:r>
            <a:r>
              <a:rPr lang="en-US" sz="3200" b="1" dirty="0">
                <a:solidFill>
                  <a:schemeClr val="tx2">
                    <a:lumMod val="50000"/>
                    <a:lumOff val="50000"/>
                  </a:schemeClr>
                </a:solidFill>
              </a:rPr>
              <a:t>ready </a:t>
            </a:r>
            <a:r>
              <a:rPr lang="en-US" sz="3200" b="1" dirty="0" smtClean="0">
                <a:solidFill>
                  <a:schemeClr val="tx2">
                    <a:lumMod val="50000"/>
                    <a:lumOff val="50000"/>
                  </a:schemeClr>
                </a:solidFill>
              </a:rPr>
              <a:t>queue</a:t>
            </a:r>
            <a:r>
              <a:rPr lang="en-US" sz="3200" dirty="0" smtClean="0"/>
              <a:t>. </a:t>
            </a:r>
          </a:p>
          <a:p>
            <a:pPr algn="just"/>
            <a:r>
              <a:rPr lang="en-US" sz="3200" dirty="0" smtClean="0"/>
              <a:t>This </a:t>
            </a:r>
            <a:r>
              <a:rPr lang="en-US" sz="3200" dirty="0"/>
              <a:t>queue is generally stored as a </a:t>
            </a:r>
            <a:r>
              <a:rPr lang="en-US" sz="3200" b="1" dirty="0"/>
              <a:t>linked list</a:t>
            </a:r>
            <a:r>
              <a:rPr lang="en-US" sz="3200" dirty="0" smtClean="0"/>
              <a:t>.</a:t>
            </a:r>
          </a:p>
          <a:p>
            <a:pPr algn="just"/>
            <a:r>
              <a:rPr lang="en-US" sz="3200" dirty="0" smtClean="0"/>
              <a:t>Each </a:t>
            </a:r>
            <a:r>
              <a:rPr lang="en-US" sz="3200" dirty="0"/>
              <a:t>PCB includes a pointer </a:t>
            </a:r>
            <a:r>
              <a:rPr lang="en-US" sz="3200" dirty="0" smtClean="0"/>
              <a:t>field that </a:t>
            </a:r>
            <a:r>
              <a:rPr lang="en-US" sz="3200" dirty="0"/>
              <a:t>points to the next PCB in the ready </a:t>
            </a:r>
            <a:r>
              <a:rPr lang="en-US" sz="3200" dirty="0" smtClean="0"/>
              <a:t>queue. </a:t>
            </a:r>
          </a:p>
        </p:txBody>
      </p:sp>
    </p:spTree>
    <p:extLst>
      <p:ext uri="{BB962C8B-B14F-4D97-AF65-F5344CB8AC3E}">
        <p14:creationId xmlns:p14="http://schemas.microsoft.com/office/powerpoint/2010/main" val="1868164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Process Scheduling"/>
          <p:cNvPicPr>
            <a:picLocks noChangeAspect="1" noChangeArrowheads="1"/>
          </p:cNvPicPr>
          <p:nvPr/>
        </p:nvPicPr>
        <p:blipFill rotWithShape="1">
          <a:blip r:embed="rId2">
            <a:extLst>
              <a:ext uri="{28A0092B-C50C-407E-A947-70E740481C1C}">
                <a14:useLocalDpi xmlns:a14="http://schemas.microsoft.com/office/drawing/2010/main" val="0"/>
              </a:ext>
            </a:extLst>
          </a:blip>
          <a:srcRect b="8193"/>
          <a:stretch/>
        </p:blipFill>
        <p:spPr bwMode="auto">
          <a:xfrm>
            <a:off x="1255593" y="1382010"/>
            <a:ext cx="9184075" cy="469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64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832" y="237534"/>
            <a:ext cx="10515600" cy="1325563"/>
          </a:xfrm>
        </p:spPr>
        <p:txBody>
          <a:bodyPr/>
          <a:lstStyle/>
          <a:p>
            <a:pPr algn="ctr"/>
            <a:r>
              <a:rPr lang="en-US" b="1" dirty="0" smtClean="0">
                <a:solidFill>
                  <a:schemeClr val="accent4"/>
                </a:solidFill>
              </a:rPr>
              <a:t>Cont.</a:t>
            </a:r>
            <a:endParaRPr lang="en-US" b="1" dirty="0">
              <a:solidFill>
                <a:schemeClr val="accent4"/>
              </a:solidFill>
            </a:endParaRPr>
          </a:p>
        </p:txBody>
      </p:sp>
      <p:sp>
        <p:nvSpPr>
          <p:cNvPr id="3" name="Content Placeholder 2"/>
          <p:cNvSpPr>
            <a:spLocks noGrp="1"/>
          </p:cNvSpPr>
          <p:nvPr>
            <p:ph idx="1"/>
          </p:nvPr>
        </p:nvSpPr>
        <p:spPr>
          <a:xfrm>
            <a:off x="1251678" y="1233714"/>
            <a:ext cx="10178322" cy="5326743"/>
          </a:xfrm>
        </p:spPr>
        <p:txBody>
          <a:bodyPr>
            <a:noAutofit/>
          </a:bodyPr>
          <a:lstStyle/>
          <a:p>
            <a:pPr algn="just"/>
            <a:r>
              <a:rPr lang="en-US" sz="2800" dirty="0"/>
              <a:t>When a process is allocated the CPU, it executes for a while and eventually quits, is interrupted, or waits for the occurrence of a particular event, such as the completion of an I/O request. </a:t>
            </a:r>
          </a:p>
          <a:p>
            <a:pPr algn="just"/>
            <a:r>
              <a:rPr lang="en-US" sz="2800" dirty="0"/>
              <a:t>Suppose the process makes an I/O request to a shared device, such as a disk. </a:t>
            </a:r>
          </a:p>
          <a:p>
            <a:pPr algn="just"/>
            <a:r>
              <a:rPr lang="en-US" sz="2800" dirty="0"/>
              <a:t>Since there are many processes in the system, the disk may be busy with the I/O request of some other process. </a:t>
            </a:r>
          </a:p>
          <a:p>
            <a:pPr algn="just"/>
            <a:r>
              <a:rPr lang="en-US" sz="2800" dirty="0"/>
              <a:t>The process therefore may have to wait for the disk. </a:t>
            </a:r>
          </a:p>
          <a:p>
            <a:pPr algn="just"/>
            <a:r>
              <a:rPr lang="en-US" sz="2800" dirty="0"/>
              <a:t>The list of processes waiting for a particular I/O device is called a </a:t>
            </a:r>
            <a:r>
              <a:rPr lang="en-US" sz="2800" b="1" dirty="0">
                <a:solidFill>
                  <a:schemeClr val="tx2">
                    <a:lumMod val="50000"/>
                    <a:lumOff val="50000"/>
                  </a:schemeClr>
                </a:solidFill>
              </a:rPr>
              <a:t>device queue</a:t>
            </a:r>
            <a:r>
              <a:rPr lang="en-US" sz="2800" dirty="0">
                <a:solidFill>
                  <a:schemeClr val="tx2">
                    <a:lumMod val="50000"/>
                    <a:lumOff val="50000"/>
                  </a:schemeClr>
                </a:solidFill>
              </a:rPr>
              <a:t>. </a:t>
            </a:r>
          </a:p>
          <a:p>
            <a:pPr algn="just"/>
            <a:r>
              <a:rPr lang="en-US" sz="2800" dirty="0"/>
              <a:t>Each device has its own device </a:t>
            </a:r>
            <a:r>
              <a:rPr lang="en-US" sz="2800" dirty="0" smtClean="0"/>
              <a:t>queue</a:t>
            </a:r>
            <a:endParaRPr lang="en-US" sz="2800" dirty="0"/>
          </a:p>
        </p:txBody>
      </p:sp>
    </p:spTree>
    <p:extLst>
      <p:ext uri="{BB962C8B-B14F-4D97-AF65-F5344CB8AC3E}">
        <p14:creationId xmlns:p14="http://schemas.microsoft.com/office/powerpoint/2010/main" val="1985974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1678" y="3594734"/>
            <a:ext cx="10178322" cy="3142242"/>
          </a:xfrm>
        </p:spPr>
        <p:txBody>
          <a:bodyPr>
            <a:normAutofit fontScale="92500" lnSpcReduction="20000"/>
          </a:bodyPr>
          <a:lstStyle/>
          <a:p>
            <a:pPr algn="just"/>
            <a:r>
              <a:rPr lang="en-US" dirty="0"/>
              <a:t>A common representation of process scheduling is a </a:t>
            </a:r>
            <a:r>
              <a:rPr lang="en-US" b="1" dirty="0">
                <a:solidFill>
                  <a:schemeClr val="tx2">
                    <a:lumMod val="50000"/>
                    <a:lumOff val="50000"/>
                  </a:schemeClr>
                </a:solidFill>
              </a:rPr>
              <a:t>queueing </a:t>
            </a:r>
            <a:r>
              <a:rPr lang="en-US" b="1" dirty="0" smtClean="0">
                <a:solidFill>
                  <a:schemeClr val="tx2">
                    <a:lumMod val="50000"/>
                    <a:lumOff val="50000"/>
                  </a:schemeClr>
                </a:solidFill>
              </a:rPr>
              <a:t>diagram.</a:t>
            </a:r>
          </a:p>
          <a:p>
            <a:pPr algn="just"/>
            <a:r>
              <a:rPr lang="en-US" dirty="0" smtClean="0"/>
              <a:t>Each </a:t>
            </a:r>
            <a:r>
              <a:rPr lang="en-US" dirty="0"/>
              <a:t>rectangular box represents a queue. </a:t>
            </a:r>
            <a:endParaRPr lang="en-US" dirty="0" smtClean="0"/>
          </a:p>
          <a:p>
            <a:pPr algn="just"/>
            <a:r>
              <a:rPr lang="en-US" dirty="0" smtClean="0"/>
              <a:t>Two types of </a:t>
            </a:r>
            <a:r>
              <a:rPr lang="en-US" dirty="0"/>
              <a:t>queues are present: the </a:t>
            </a:r>
            <a:r>
              <a:rPr lang="en-US" b="1" i="1" dirty="0">
                <a:solidFill>
                  <a:schemeClr val="tx2">
                    <a:lumMod val="50000"/>
                    <a:lumOff val="50000"/>
                  </a:schemeClr>
                </a:solidFill>
              </a:rPr>
              <a:t>ready queue </a:t>
            </a:r>
            <a:r>
              <a:rPr lang="en-US" dirty="0"/>
              <a:t>and a set of </a:t>
            </a:r>
            <a:r>
              <a:rPr lang="en-US" b="1" i="1" dirty="0">
                <a:solidFill>
                  <a:schemeClr val="tx2">
                    <a:lumMod val="50000"/>
                    <a:lumOff val="50000"/>
                  </a:schemeClr>
                </a:solidFill>
              </a:rPr>
              <a:t>device queues</a:t>
            </a:r>
            <a:r>
              <a:rPr lang="en-US" dirty="0"/>
              <a:t>. </a:t>
            </a:r>
            <a:endParaRPr lang="en-US" dirty="0" smtClean="0"/>
          </a:p>
          <a:p>
            <a:pPr algn="just"/>
            <a:r>
              <a:rPr lang="en-US" dirty="0" smtClean="0"/>
              <a:t>The circles represent </a:t>
            </a:r>
            <a:r>
              <a:rPr lang="en-US" dirty="0"/>
              <a:t>the </a:t>
            </a:r>
            <a:r>
              <a:rPr lang="en-US" b="1" i="1" dirty="0">
                <a:solidFill>
                  <a:schemeClr val="tx2">
                    <a:lumMod val="50000"/>
                    <a:lumOff val="50000"/>
                  </a:schemeClr>
                </a:solidFill>
              </a:rPr>
              <a:t>resources</a:t>
            </a:r>
            <a:r>
              <a:rPr lang="en-US" dirty="0"/>
              <a:t> that serve the queues, and the arrows indicate the </a:t>
            </a:r>
            <a:r>
              <a:rPr lang="en-US" dirty="0" smtClean="0"/>
              <a:t>flow of </a:t>
            </a:r>
            <a:r>
              <a:rPr lang="en-US" dirty="0"/>
              <a:t>processes in the </a:t>
            </a:r>
            <a:r>
              <a:rPr lang="en-US" dirty="0" smtClean="0"/>
              <a:t>system. </a:t>
            </a:r>
          </a:p>
          <a:p>
            <a:pPr algn="just"/>
            <a:r>
              <a:rPr lang="en-US" dirty="0" smtClean="0"/>
              <a:t>A </a:t>
            </a:r>
            <a:r>
              <a:rPr lang="en-US" dirty="0"/>
              <a:t>new process is initially put in the ready queue. </a:t>
            </a:r>
            <a:endParaRPr lang="en-US" dirty="0" smtClean="0"/>
          </a:p>
          <a:p>
            <a:pPr algn="just"/>
            <a:r>
              <a:rPr lang="en-US" dirty="0" smtClean="0"/>
              <a:t>It </a:t>
            </a:r>
            <a:r>
              <a:rPr lang="en-US" dirty="0"/>
              <a:t>waits there until it </a:t>
            </a:r>
            <a:r>
              <a:rPr lang="en-US" dirty="0" smtClean="0"/>
              <a:t>is selected </a:t>
            </a:r>
            <a:r>
              <a:rPr lang="en-US" dirty="0"/>
              <a:t>for execution, or </a:t>
            </a:r>
            <a:r>
              <a:rPr lang="en-US" b="1" i="1" dirty="0">
                <a:solidFill>
                  <a:schemeClr val="tx2">
                    <a:lumMod val="50000"/>
                    <a:lumOff val="50000"/>
                  </a:schemeClr>
                </a:solidFill>
              </a:rPr>
              <a:t>dispatched.</a:t>
            </a:r>
          </a:p>
        </p:txBody>
      </p:sp>
      <p:pic>
        <p:nvPicPr>
          <p:cNvPr id="4" name="Picture 3"/>
          <p:cNvPicPr>
            <a:picLocks noChangeAspect="1"/>
          </p:cNvPicPr>
          <p:nvPr/>
        </p:nvPicPr>
        <p:blipFill>
          <a:blip r:embed="rId2"/>
          <a:stretch>
            <a:fillRect/>
          </a:stretch>
        </p:blipFill>
        <p:spPr>
          <a:xfrm>
            <a:off x="3407442" y="916658"/>
            <a:ext cx="4652038" cy="2631601"/>
          </a:xfrm>
          <a:prstGeom prst="rect">
            <a:avLst/>
          </a:prstGeom>
        </p:spPr>
      </p:pic>
    </p:spTree>
    <p:extLst>
      <p:ext uri="{BB962C8B-B14F-4D97-AF65-F5344CB8AC3E}">
        <p14:creationId xmlns:p14="http://schemas.microsoft.com/office/powerpoint/2010/main" val="4157917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098" y="152474"/>
            <a:ext cx="10515600" cy="1325563"/>
          </a:xfrm>
        </p:spPr>
        <p:txBody>
          <a:bodyPr/>
          <a:lstStyle/>
          <a:p>
            <a:pPr algn="ctr"/>
            <a:r>
              <a:rPr lang="en-US" b="1" dirty="0" smtClean="0">
                <a:solidFill>
                  <a:schemeClr val="accent4"/>
                </a:solidFill>
              </a:rPr>
              <a:t>Cont.</a:t>
            </a:r>
            <a:endParaRPr lang="en-US" b="1" dirty="0">
              <a:solidFill>
                <a:schemeClr val="accent4"/>
              </a:solidFill>
            </a:endParaRPr>
          </a:p>
        </p:txBody>
      </p:sp>
      <p:sp>
        <p:nvSpPr>
          <p:cNvPr id="3" name="Content Placeholder 2"/>
          <p:cNvSpPr>
            <a:spLocks noGrp="1"/>
          </p:cNvSpPr>
          <p:nvPr>
            <p:ph idx="1"/>
          </p:nvPr>
        </p:nvSpPr>
        <p:spPr>
          <a:xfrm>
            <a:off x="1251678" y="1393371"/>
            <a:ext cx="10178322" cy="4789715"/>
          </a:xfrm>
        </p:spPr>
        <p:txBody>
          <a:bodyPr>
            <a:normAutofit/>
          </a:bodyPr>
          <a:lstStyle/>
          <a:p>
            <a:r>
              <a:rPr lang="en-US" sz="2800" dirty="0"/>
              <a:t>Once the process is allocated the </a:t>
            </a:r>
            <a:r>
              <a:rPr lang="en-US" sz="2800" dirty="0" smtClean="0"/>
              <a:t>CPU and </a:t>
            </a:r>
            <a:r>
              <a:rPr lang="en-US" sz="2800" dirty="0"/>
              <a:t>is </a:t>
            </a:r>
            <a:r>
              <a:rPr lang="en-US" sz="2800" dirty="0" smtClean="0"/>
              <a:t>executing one </a:t>
            </a:r>
            <a:r>
              <a:rPr lang="en-US" sz="2800" dirty="0"/>
              <a:t>of several events could occur</a:t>
            </a:r>
            <a:r>
              <a:rPr lang="en-US" sz="2800" dirty="0" smtClean="0"/>
              <a:t>:</a:t>
            </a:r>
          </a:p>
          <a:p>
            <a:pPr lvl="1" indent="-403225" algn="just">
              <a:buFont typeface="Wingdings" panose="05000000000000000000" pitchFamily="2" charset="2"/>
              <a:buChar char="ü"/>
            </a:pPr>
            <a:r>
              <a:rPr lang="en-US" sz="2400" dirty="0"/>
              <a:t>The process could issue an I/O request and then be placed in an I/O queue.</a:t>
            </a:r>
          </a:p>
          <a:p>
            <a:pPr lvl="1" indent="-403225" algn="just">
              <a:buFont typeface="Wingdings" panose="05000000000000000000" pitchFamily="2" charset="2"/>
              <a:buChar char="ü"/>
            </a:pPr>
            <a:r>
              <a:rPr lang="en-US" sz="2400" dirty="0" smtClean="0"/>
              <a:t>The </a:t>
            </a:r>
            <a:r>
              <a:rPr lang="en-US" sz="2400" dirty="0"/>
              <a:t>process could create a new child process and wait for the </a:t>
            </a:r>
            <a:r>
              <a:rPr lang="en-US" sz="2400" dirty="0" smtClean="0"/>
              <a:t>child’s termination</a:t>
            </a:r>
            <a:r>
              <a:rPr lang="en-US" sz="2400" dirty="0"/>
              <a:t>.</a:t>
            </a:r>
          </a:p>
          <a:p>
            <a:pPr lvl="1" indent="-403225" algn="just">
              <a:buFont typeface="Wingdings" panose="05000000000000000000" pitchFamily="2" charset="2"/>
              <a:buChar char="ü"/>
            </a:pPr>
            <a:r>
              <a:rPr lang="en-US" sz="2400" dirty="0" smtClean="0"/>
              <a:t>The </a:t>
            </a:r>
            <a:r>
              <a:rPr lang="en-US" sz="2400" dirty="0"/>
              <a:t>process could be removed forcibly from the CPU, as a result of </a:t>
            </a:r>
            <a:r>
              <a:rPr lang="en-US" sz="2400" dirty="0" smtClean="0"/>
              <a:t>an interrupt</a:t>
            </a:r>
            <a:r>
              <a:rPr lang="en-US" sz="2400" dirty="0"/>
              <a:t>, and be put back in the ready queue</a:t>
            </a:r>
            <a:r>
              <a:rPr lang="en-US" sz="2400" dirty="0" smtClean="0"/>
              <a:t>.</a:t>
            </a:r>
          </a:p>
        </p:txBody>
      </p:sp>
    </p:spTree>
    <p:extLst>
      <p:ext uri="{BB962C8B-B14F-4D97-AF65-F5344CB8AC3E}">
        <p14:creationId xmlns:p14="http://schemas.microsoft.com/office/powerpoint/2010/main" val="1896656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865844"/>
          </a:xfrm>
        </p:spPr>
        <p:txBody>
          <a:bodyPr/>
          <a:lstStyle/>
          <a:p>
            <a:pPr algn="ctr"/>
            <a:r>
              <a:rPr lang="en-US" b="1" dirty="0">
                <a:solidFill>
                  <a:schemeClr val="accent4"/>
                </a:solidFill>
              </a:rPr>
              <a:t>Schedulers</a:t>
            </a:r>
          </a:p>
        </p:txBody>
      </p:sp>
      <p:sp>
        <p:nvSpPr>
          <p:cNvPr id="3" name="Content Placeholder 2"/>
          <p:cNvSpPr>
            <a:spLocks noGrp="1"/>
          </p:cNvSpPr>
          <p:nvPr>
            <p:ph idx="1"/>
          </p:nvPr>
        </p:nvSpPr>
        <p:spPr>
          <a:xfrm>
            <a:off x="986971" y="1237129"/>
            <a:ext cx="10711543" cy="5337842"/>
          </a:xfrm>
        </p:spPr>
        <p:txBody>
          <a:bodyPr>
            <a:noAutofit/>
          </a:bodyPr>
          <a:lstStyle/>
          <a:p>
            <a:pPr algn="just"/>
            <a:r>
              <a:rPr lang="en-US" sz="2400" dirty="0"/>
              <a:t>A process migrates among the various scheduling queues throughout </a:t>
            </a:r>
            <a:r>
              <a:rPr lang="en-US" sz="2400" dirty="0" smtClean="0"/>
              <a:t>its lifetime</a:t>
            </a:r>
            <a:r>
              <a:rPr lang="en-US" sz="2400" dirty="0"/>
              <a:t>. </a:t>
            </a:r>
            <a:endParaRPr lang="en-US" sz="2400" dirty="0" smtClean="0"/>
          </a:p>
          <a:p>
            <a:pPr algn="just"/>
            <a:r>
              <a:rPr lang="en-US" sz="2400" dirty="0" smtClean="0"/>
              <a:t>The </a:t>
            </a:r>
            <a:r>
              <a:rPr lang="en-US" sz="2400" dirty="0"/>
              <a:t>operating system must select, for scheduling purposes, </a:t>
            </a:r>
            <a:r>
              <a:rPr lang="en-US" sz="2400" dirty="0" smtClean="0"/>
              <a:t>processes from </a:t>
            </a:r>
            <a:r>
              <a:rPr lang="en-US" sz="2400" dirty="0"/>
              <a:t>these queues in some fashion. </a:t>
            </a:r>
            <a:endParaRPr lang="en-US" sz="2400" dirty="0" smtClean="0"/>
          </a:p>
          <a:p>
            <a:pPr algn="just"/>
            <a:r>
              <a:rPr lang="en-US" sz="2400" dirty="0" smtClean="0"/>
              <a:t>The </a:t>
            </a:r>
            <a:r>
              <a:rPr lang="en-US" sz="2400" dirty="0"/>
              <a:t>selection process is carried out by </a:t>
            </a:r>
            <a:r>
              <a:rPr lang="en-US" sz="2400" dirty="0" smtClean="0"/>
              <a:t>the appropriate </a:t>
            </a:r>
            <a:r>
              <a:rPr lang="en-US" sz="2400" b="1" i="1" dirty="0">
                <a:solidFill>
                  <a:schemeClr val="tx2">
                    <a:lumMod val="50000"/>
                    <a:lumOff val="50000"/>
                  </a:schemeClr>
                </a:solidFill>
              </a:rPr>
              <a:t>scheduler</a:t>
            </a:r>
            <a:r>
              <a:rPr lang="en-US" sz="2400" i="1" dirty="0" smtClean="0">
                <a:solidFill>
                  <a:schemeClr val="tx2">
                    <a:lumMod val="50000"/>
                    <a:lumOff val="50000"/>
                  </a:schemeClr>
                </a:solidFill>
              </a:rPr>
              <a:t>.</a:t>
            </a:r>
          </a:p>
          <a:p>
            <a:pPr algn="just"/>
            <a:r>
              <a:rPr lang="en-US" sz="2400" dirty="0"/>
              <a:t>Often, in a batch system, more processes are submitted than can be </a:t>
            </a:r>
            <a:r>
              <a:rPr lang="en-US" sz="2400" dirty="0" smtClean="0"/>
              <a:t>executed immediately</a:t>
            </a:r>
            <a:r>
              <a:rPr lang="en-US" sz="2400" dirty="0"/>
              <a:t>. </a:t>
            </a:r>
            <a:endParaRPr lang="en-US" sz="2400" dirty="0" smtClean="0"/>
          </a:p>
          <a:p>
            <a:pPr algn="just"/>
            <a:r>
              <a:rPr lang="en-US" sz="2400" dirty="0" smtClean="0"/>
              <a:t>These </a:t>
            </a:r>
            <a:r>
              <a:rPr lang="en-US" sz="2400" dirty="0"/>
              <a:t>processes are spooled to a mass-storage device (typically </a:t>
            </a:r>
            <a:r>
              <a:rPr lang="en-US" sz="2400" dirty="0" smtClean="0"/>
              <a:t>a disk</a:t>
            </a:r>
            <a:r>
              <a:rPr lang="en-US" sz="2400" dirty="0"/>
              <a:t>), where they are kept for later execution. </a:t>
            </a:r>
            <a:endParaRPr lang="en-US" sz="2400" dirty="0" smtClean="0"/>
          </a:p>
          <a:p>
            <a:pPr algn="just"/>
            <a:r>
              <a:rPr lang="en-US" sz="2400" dirty="0" smtClean="0"/>
              <a:t>The </a:t>
            </a:r>
            <a:r>
              <a:rPr lang="en-US" sz="2400" b="1" i="1" dirty="0">
                <a:solidFill>
                  <a:schemeClr val="tx2">
                    <a:lumMod val="50000"/>
                    <a:lumOff val="50000"/>
                  </a:schemeClr>
                </a:solidFill>
              </a:rPr>
              <a:t>long-term scheduler</a:t>
            </a:r>
            <a:r>
              <a:rPr lang="en-US" sz="2400" dirty="0"/>
              <a:t>, or </a:t>
            </a:r>
            <a:r>
              <a:rPr lang="en-US" sz="2400" b="1" i="1" dirty="0" smtClean="0">
                <a:solidFill>
                  <a:schemeClr val="tx2">
                    <a:lumMod val="50000"/>
                    <a:lumOff val="50000"/>
                  </a:schemeClr>
                </a:solidFill>
              </a:rPr>
              <a:t>job scheduler</a:t>
            </a:r>
            <a:r>
              <a:rPr lang="en-US" sz="2400" dirty="0"/>
              <a:t>, selects processes from this pool and loads them into memory </a:t>
            </a:r>
            <a:r>
              <a:rPr lang="en-US" sz="2400" dirty="0" smtClean="0"/>
              <a:t>for </a:t>
            </a:r>
            <a:r>
              <a:rPr lang="en-US" sz="2400" dirty="0"/>
              <a:t>execution</a:t>
            </a:r>
            <a:r>
              <a:rPr lang="en-US" sz="2400" dirty="0" smtClean="0"/>
              <a:t>.</a:t>
            </a:r>
          </a:p>
        </p:txBody>
      </p:sp>
    </p:spTree>
    <p:extLst>
      <p:ext uri="{BB962C8B-B14F-4D97-AF65-F5344CB8AC3E}">
        <p14:creationId xmlns:p14="http://schemas.microsoft.com/office/powerpoint/2010/main" val="3967990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158" y="141842"/>
            <a:ext cx="10515600" cy="1325563"/>
          </a:xfrm>
        </p:spPr>
        <p:txBody>
          <a:bodyPr/>
          <a:lstStyle/>
          <a:p>
            <a:pPr algn="ctr"/>
            <a:r>
              <a:rPr lang="en-US" sz="5400" b="1" dirty="0" smtClean="0">
                <a:solidFill>
                  <a:schemeClr val="accent4"/>
                </a:solidFill>
              </a:rPr>
              <a:t>short-term </a:t>
            </a:r>
            <a:r>
              <a:rPr lang="en-US" sz="5400" b="1" dirty="0">
                <a:solidFill>
                  <a:schemeClr val="accent4"/>
                </a:solidFill>
              </a:rPr>
              <a:t>scheduler</a:t>
            </a:r>
            <a:endParaRPr lang="en-US" dirty="0">
              <a:solidFill>
                <a:schemeClr val="accent4"/>
              </a:solidFill>
            </a:endParaRPr>
          </a:p>
        </p:txBody>
      </p:sp>
      <p:sp>
        <p:nvSpPr>
          <p:cNvPr id="3" name="Content Placeholder 2"/>
          <p:cNvSpPr>
            <a:spLocks noGrp="1"/>
          </p:cNvSpPr>
          <p:nvPr>
            <p:ph idx="1"/>
          </p:nvPr>
        </p:nvSpPr>
        <p:spPr>
          <a:xfrm>
            <a:off x="1251678" y="1393371"/>
            <a:ext cx="10178322" cy="4486221"/>
          </a:xfrm>
        </p:spPr>
        <p:txBody>
          <a:bodyPr>
            <a:normAutofit/>
          </a:bodyPr>
          <a:lstStyle/>
          <a:p>
            <a:pPr algn="just"/>
            <a:r>
              <a:rPr lang="en-US" sz="3200" dirty="0"/>
              <a:t>The </a:t>
            </a:r>
            <a:r>
              <a:rPr lang="en-US" sz="3200" b="1" i="1" dirty="0">
                <a:solidFill>
                  <a:schemeClr val="tx2">
                    <a:lumMod val="50000"/>
                    <a:lumOff val="50000"/>
                  </a:schemeClr>
                </a:solidFill>
              </a:rPr>
              <a:t>short-term scheduler</a:t>
            </a:r>
            <a:r>
              <a:rPr lang="en-US" sz="3200" dirty="0"/>
              <a:t>, or </a:t>
            </a:r>
            <a:r>
              <a:rPr lang="en-US" sz="3200" b="1" i="1" dirty="0">
                <a:solidFill>
                  <a:schemeClr val="tx2">
                    <a:lumMod val="50000"/>
                    <a:lumOff val="50000"/>
                  </a:schemeClr>
                </a:solidFill>
              </a:rPr>
              <a:t>CPU scheduler</a:t>
            </a:r>
            <a:r>
              <a:rPr lang="en-US" sz="3200" dirty="0"/>
              <a:t>, selects from </a:t>
            </a:r>
            <a:r>
              <a:rPr lang="en-US" sz="3200" dirty="0" smtClean="0"/>
              <a:t>among the </a:t>
            </a:r>
            <a:r>
              <a:rPr lang="en-US" sz="3200" dirty="0"/>
              <a:t>processes that are ready to execute and allocates the CPU to one of them</a:t>
            </a:r>
            <a:r>
              <a:rPr lang="en-US" sz="3200" dirty="0" smtClean="0"/>
              <a:t>.</a:t>
            </a:r>
          </a:p>
          <a:p>
            <a:pPr algn="just"/>
            <a:r>
              <a:rPr lang="en-US" sz="3200" dirty="0"/>
              <a:t>The short-term scheduler must select a new process for the </a:t>
            </a:r>
            <a:r>
              <a:rPr lang="en-US" sz="3200" dirty="0" smtClean="0"/>
              <a:t>CPU frequently</a:t>
            </a:r>
            <a:r>
              <a:rPr lang="en-US" sz="3200" dirty="0"/>
              <a:t>. </a:t>
            </a:r>
            <a:endParaRPr lang="en-US" sz="3200" dirty="0" smtClean="0"/>
          </a:p>
          <a:p>
            <a:pPr algn="just"/>
            <a:r>
              <a:rPr lang="en-US" sz="3200" dirty="0" smtClean="0"/>
              <a:t>A </a:t>
            </a:r>
            <a:r>
              <a:rPr lang="en-US" sz="3200" dirty="0"/>
              <a:t>process may execute for only a few milliseconds before </a:t>
            </a:r>
            <a:r>
              <a:rPr lang="en-US" sz="3200" dirty="0" smtClean="0"/>
              <a:t>waiting for </a:t>
            </a:r>
            <a:r>
              <a:rPr lang="en-US" sz="3200" dirty="0"/>
              <a:t>an I/O request</a:t>
            </a:r>
            <a:r>
              <a:rPr lang="en-US" sz="3200" dirty="0" smtClean="0"/>
              <a:t>.</a:t>
            </a:r>
          </a:p>
        </p:txBody>
      </p:sp>
    </p:spTree>
    <p:extLst>
      <p:ext uri="{BB962C8B-B14F-4D97-AF65-F5344CB8AC3E}">
        <p14:creationId xmlns:p14="http://schemas.microsoft.com/office/powerpoint/2010/main" val="1485326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628" y="195004"/>
            <a:ext cx="10515600" cy="1325563"/>
          </a:xfrm>
        </p:spPr>
        <p:txBody>
          <a:bodyPr/>
          <a:lstStyle/>
          <a:p>
            <a:pPr algn="ctr"/>
            <a:r>
              <a:rPr lang="en-US" b="1" dirty="0">
                <a:solidFill>
                  <a:schemeClr val="accent4"/>
                </a:solidFill>
              </a:rPr>
              <a:t>long-term scheduler</a:t>
            </a:r>
          </a:p>
        </p:txBody>
      </p:sp>
      <p:sp>
        <p:nvSpPr>
          <p:cNvPr id="3" name="Content Placeholder 2"/>
          <p:cNvSpPr>
            <a:spLocks noGrp="1"/>
          </p:cNvSpPr>
          <p:nvPr>
            <p:ph idx="1"/>
          </p:nvPr>
        </p:nvSpPr>
        <p:spPr>
          <a:xfrm>
            <a:off x="1251678" y="1407886"/>
            <a:ext cx="10178322" cy="4934857"/>
          </a:xfrm>
        </p:spPr>
        <p:txBody>
          <a:bodyPr>
            <a:normAutofit/>
          </a:bodyPr>
          <a:lstStyle/>
          <a:p>
            <a:pPr algn="just"/>
            <a:r>
              <a:rPr lang="en-US" sz="2400" dirty="0"/>
              <a:t>It is also called a </a:t>
            </a:r>
            <a:r>
              <a:rPr lang="en-US" sz="2400" b="1" i="1" dirty="0">
                <a:solidFill>
                  <a:schemeClr val="tx2">
                    <a:lumMod val="50000"/>
                    <a:lumOff val="50000"/>
                  </a:schemeClr>
                </a:solidFill>
              </a:rPr>
              <a:t>job scheduler</a:t>
            </a:r>
            <a:r>
              <a:rPr lang="en-US" sz="2400" dirty="0"/>
              <a:t>. </a:t>
            </a:r>
            <a:endParaRPr lang="en-US" sz="2400" dirty="0" smtClean="0"/>
          </a:p>
          <a:p>
            <a:pPr algn="just"/>
            <a:r>
              <a:rPr lang="en-US" sz="2400" dirty="0" smtClean="0"/>
              <a:t>A </a:t>
            </a:r>
            <a:r>
              <a:rPr lang="en-US" sz="2400" dirty="0"/>
              <a:t>long-term scheduler determines which programs are admitted to the system for processing. </a:t>
            </a:r>
            <a:endParaRPr lang="en-US" sz="2400" dirty="0" smtClean="0"/>
          </a:p>
          <a:p>
            <a:pPr algn="just"/>
            <a:r>
              <a:rPr lang="en-US" sz="2400" dirty="0" smtClean="0"/>
              <a:t>It </a:t>
            </a:r>
            <a:r>
              <a:rPr lang="en-US" sz="2400" dirty="0"/>
              <a:t>selects processes from the queue and loads them into memory for execution. </a:t>
            </a:r>
            <a:endParaRPr lang="en-US" sz="2400" dirty="0" smtClean="0"/>
          </a:p>
          <a:p>
            <a:pPr algn="just"/>
            <a:r>
              <a:rPr lang="en-US" sz="2400" dirty="0" smtClean="0"/>
              <a:t>Process </a:t>
            </a:r>
            <a:r>
              <a:rPr lang="en-US" sz="2400" dirty="0"/>
              <a:t>loads into the memory for CPU scheduling.</a:t>
            </a:r>
          </a:p>
          <a:p>
            <a:pPr algn="just"/>
            <a:r>
              <a:rPr lang="en-US" sz="2400" dirty="0"/>
              <a:t>The primary objective of the job scheduler is to provide a balanced mix of jobs, such as I/O bound and processor bound. </a:t>
            </a:r>
            <a:endParaRPr lang="en-US" sz="2400" dirty="0" smtClean="0"/>
          </a:p>
          <a:p>
            <a:pPr algn="just"/>
            <a:r>
              <a:rPr lang="en-US" sz="2400" dirty="0" smtClean="0"/>
              <a:t>It </a:t>
            </a:r>
            <a:r>
              <a:rPr lang="en-US" sz="2400" dirty="0"/>
              <a:t>also controls the degree of multiprogramming. If the degree of multiprogramming is stable, then the average rate of process creation must be equal to the average departure rate of processes leaving the system.</a:t>
            </a:r>
          </a:p>
          <a:p>
            <a:endParaRPr lang="en-US" dirty="0"/>
          </a:p>
        </p:txBody>
      </p:sp>
    </p:spTree>
    <p:extLst>
      <p:ext uri="{BB962C8B-B14F-4D97-AF65-F5344CB8AC3E}">
        <p14:creationId xmlns:p14="http://schemas.microsoft.com/office/powerpoint/2010/main" val="3259015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143" y="187704"/>
            <a:ext cx="10515600" cy="1325563"/>
          </a:xfrm>
        </p:spPr>
        <p:txBody>
          <a:bodyPr/>
          <a:lstStyle/>
          <a:p>
            <a:pPr algn="ctr"/>
            <a:r>
              <a:rPr lang="en-US" b="1" dirty="0">
                <a:solidFill>
                  <a:schemeClr val="accent4"/>
                </a:solidFill>
              </a:rPr>
              <a:t>Context Switch</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7126" y="1225598"/>
            <a:ext cx="9029700" cy="549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6772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0731" y="163106"/>
            <a:ext cx="10515600" cy="1325563"/>
          </a:xfrm>
        </p:spPr>
        <p:txBody>
          <a:bodyPr/>
          <a:lstStyle/>
          <a:p>
            <a:pPr algn="ctr"/>
            <a:r>
              <a:rPr lang="en-US" b="1" dirty="0">
                <a:solidFill>
                  <a:schemeClr val="accent4"/>
                </a:solidFill>
              </a:rPr>
              <a:t>Context Switch</a:t>
            </a:r>
          </a:p>
        </p:txBody>
      </p:sp>
      <p:sp>
        <p:nvSpPr>
          <p:cNvPr id="3" name="Content Placeholder 2"/>
          <p:cNvSpPr>
            <a:spLocks noGrp="1"/>
          </p:cNvSpPr>
          <p:nvPr>
            <p:ph idx="1"/>
          </p:nvPr>
        </p:nvSpPr>
        <p:spPr>
          <a:xfrm>
            <a:off x="1251678" y="1538627"/>
            <a:ext cx="10178322" cy="4854388"/>
          </a:xfrm>
        </p:spPr>
        <p:txBody>
          <a:bodyPr>
            <a:normAutofit/>
          </a:bodyPr>
          <a:lstStyle/>
          <a:p>
            <a:pPr algn="just"/>
            <a:r>
              <a:rPr lang="en-US" sz="2400" dirty="0"/>
              <a:t>When an interrupt occurs, the </a:t>
            </a:r>
            <a:r>
              <a:rPr lang="en-US" sz="2400" dirty="0" smtClean="0"/>
              <a:t>system needs </a:t>
            </a:r>
            <a:r>
              <a:rPr lang="en-US" sz="2400" dirty="0"/>
              <a:t>to save the current </a:t>
            </a:r>
            <a:r>
              <a:rPr lang="en-US" sz="2400" b="1" dirty="0"/>
              <a:t>context </a:t>
            </a:r>
            <a:r>
              <a:rPr lang="en-US" sz="2400" dirty="0"/>
              <a:t>of the process running on the CPU so </a:t>
            </a:r>
            <a:r>
              <a:rPr lang="en-US" sz="2400" dirty="0" smtClean="0"/>
              <a:t>that it </a:t>
            </a:r>
            <a:r>
              <a:rPr lang="en-US" sz="2400" dirty="0"/>
              <a:t>can restore that context when its processing is done, essentially </a:t>
            </a:r>
            <a:r>
              <a:rPr lang="en-US" sz="2400" dirty="0" smtClean="0"/>
              <a:t>suspending the </a:t>
            </a:r>
            <a:r>
              <a:rPr lang="en-US" sz="2400" dirty="0"/>
              <a:t>process and then resuming it. </a:t>
            </a:r>
            <a:endParaRPr lang="en-US" sz="2400" dirty="0" smtClean="0"/>
          </a:p>
          <a:p>
            <a:pPr algn="just"/>
            <a:r>
              <a:rPr lang="en-US" sz="2400" dirty="0" smtClean="0"/>
              <a:t>The </a:t>
            </a:r>
            <a:r>
              <a:rPr lang="en-US" sz="2400" dirty="0"/>
              <a:t>context is represented in the PCB of </a:t>
            </a:r>
            <a:r>
              <a:rPr lang="en-US" sz="2400" dirty="0" smtClean="0"/>
              <a:t>the process</a:t>
            </a:r>
            <a:r>
              <a:rPr lang="en-US" sz="2400" dirty="0"/>
              <a:t>. It includes the value of the CPU registers, the process </a:t>
            </a:r>
            <a:r>
              <a:rPr lang="en-US" sz="2400" dirty="0" smtClean="0"/>
              <a:t>state, </a:t>
            </a:r>
            <a:r>
              <a:rPr lang="en-US" sz="2400" dirty="0"/>
              <a:t>and memory-management information. </a:t>
            </a:r>
            <a:endParaRPr lang="en-US" sz="2400" dirty="0" smtClean="0"/>
          </a:p>
          <a:p>
            <a:pPr algn="just"/>
            <a:r>
              <a:rPr lang="en-US" sz="2400" dirty="0" smtClean="0"/>
              <a:t>Generically</a:t>
            </a:r>
            <a:r>
              <a:rPr lang="en-US" sz="2400" dirty="0"/>
              <a:t>, we perform a </a:t>
            </a:r>
            <a:r>
              <a:rPr lang="en-US" sz="2400" b="1" i="1" dirty="0" smtClean="0">
                <a:solidFill>
                  <a:schemeClr val="tx2">
                    <a:lumMod val="50000"/>
                    <a:lumOff val="50000"/>
                  </a:schemeClr>
                </a:solidFill>
              </a:rPr>
              <a:t>state save </a:t>
            </a:r>
            <a:r>
              <a:rPr lang="en-US" sz="2400" dirty="0"/>
              <a:t>of the current state of the CPU, be it in kernel or user mode, and then </a:t>
            </a:r>
            <a:r>
              <a:rPr lang="en-US" sz="2400" dirty="0" smtClean="0"/>
              <a:t>a </a:t>
            </a:r>
            <a:r>
              <a:rPr lang="en-US" sz="2400" b="1" i="1" dirty="0" smtClean="0">
                <a:solidFill>
                  <a:schemeClr val="tx2">
                    <a:lumMod val="50000"/>
                    <a:lumOff val="50000"/>
                  </a:schemeClr>
                </a:solidFill>
              </a:rPr>
              <a:t>state </a:t>
            </a:r>
            <a:r>
              <a:rPr lang="en-US" sz="2400" b="1" i="1" dirty="0">
                <a:solidFill>
                  <a:schemeClr val="tx2">
                    <a:lumMod val="50000"/>
                    <a:lumOff val="50000"/>
                  </a:schemeClr>
                </a:solidFill>
              </a:rPr>
              <a:t>restore </a:t>
            </a:r>
            <a:r>
              <a:rPr lang="en-US" sz="2400" dirty="0"/>
              <a:t>to resume operations</a:t>
            </a:r>
            <a:r>
              <a:rPr lang="en-US" sz="2400" dirty="0" smtClean="0"/>
              <a:t>.</a:t>
            </a:r>
          </a:p>
          <a:p>
            <a:pPr algn="just"/>
            <a:r>
              <a:rPr lang="en-US" sz="2400" dirty="0"/>
              <a:t>Switching the CPU to another process requires performing a state save of the current process and a state restore of a different process. </a:t>
            </a:r>
          </a:p>
          <a:p>
            <a:pPr algn="just"/>
            <a:r>
              <a:rPr lang="en-US" sz="2400" dirty="0"/>
              <a:t>This task is known as a </a:t>
            </a:r>
            <a:r>
              <a:rPr lang="en-US" sz="2400" b="1" dirty="0">
                <a:solidFill>
                  <a:schemeClr val="tx2">
                    <a:lumMod val="50000"/>
                    <a:lumOff val="50000"/>
                  </a:schemeClr>
                </a:solidFill>
              </a:rPr>
              <a:t>context switch</a:t>
            </a:r>
            <a:r>
              <a:rPr lang="en-US" sz="2400" dirty="0" smtClean="0"/>
              <a:t>.</a:t>
            </a:r>
            <a:endParaRPr lang="en-US" sz="2400" dirty="0"/>
          </a:p>
        </p:txBody>
      </p:sp>
    </p:spTree>
    <p:extLst>
      <p:ext uri="{BB962C8B-B14F-4D97-AF65-F5344CB8AC3E}">
        <p14:creationId xmlns:p14="http://schemas.microsoft.com/office/powerpoint/2010/main" val="3111471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098" y="173739"/>
            <a:ext cx="10515600" cy="1325563"/>
          </a:xfrm>
        </p:spPr>
        <p:txBody>
          <a:bodyPr/>
          <a:lstStyle/>
          <a:p>
            <a:pPr algn="ctr"/>
            <a:r>
              <a:rPr lang="en-US" b="1" dirty="0" smtClean="0">
                <a:solidFill>
                  <a:schemeClr val="accent4"/>
                </a:solidFill>
              </a:rPr>
              <a:t>Cont.</a:t>
            </a:r>
            <a:endParaRPr lang="en-US" b="1" dirty="0">
              <a:solidFill>
                <a:schemeClr val="accent4"/>
              </a:solidFill>
            </a:endParaRPr>
          </a:p>
        </p:txBody>
      </p:sp>
      <p:sp>
        <p:nvSpPr>
          <p:cNvPr id="3" name="Content Placeholder 2"/>
          <p:cNvSpPr>
            <a:spLocks noGrp="1"/>
          </p:cNvSpPr>
          <p:nvPr>
            <p:ph idx="1"/>
          </p:nvPr>
        </p:nvSpPr>
        <p:spPr>
          <a:xfrm>
            <a:off x="1251678" y="1507959"/>
            <a:ext cx="10178322" cy="4684294"/>
          </a:xfrm>
        </p:spPr>
        <p:txBody>
          <a:bodyPr>
            <a:normAutofit/>
          </a:bodyPr>
          <a:lstStyle/>
          <a:p>
            <a:pPr algn="just"/>
            <a:r>
              <a:rPr lang="en-US" sz="2800" dirty="0"/>
              <a:t>When a context switch occurs, the kernel saves the </a:t>
            </a:r>
            <a:r>
              <a:rPr lang="en-US" sz="2800" dirty="0" smtClean="0"/>
              <a:t>context of </a:t>
            </a:r>
            <a:r>
              <a:rPr lang="en-US" sz="2800" dirty="0"/>
              <a:t>the old process in its PCB and loads the saved context of the new </a:t>
            </a:r>
            <a:r>
              <a:rPr lang="en-US" sz="2800" dirty="0" smtClean="0"/>
              <a:t>process scheduled </a:t>
            </a:r>
            <a:r>
              <a:rPr lang="en-US" sz="2800" dirty="0"/>
              <a:t>to run. </a:t>
            </a:r>
            <a:endParaRPr lang="en-US" sz="2800" dirty="0" smtClean="0"/>
          </a:p>
          <a:p>
            <a:pPr algn="just"/>
            <a:r>
              <a:rPr lang="en-US" sz="2800" dirty="0" smtClean="0"/>
              <a:t>Context-switch </a:t>
            </a:r>
            <a:r>
              <a:rPr lang="en-US" sz="2800" dirty="0"/>
              <a:t>time is pure overhead, because the </a:t>
            </a:r>
            <a:r>
              <a:rPr lang="en-US" sz="2800" dirty="0" smtClean="0"/>
              <a:t>system does </a:t>
            </a:r>
            <a:r>
              <a:rPr lang="en-US" sz="2800" dirty="0"/>
              <a:t>no useful work while switching. </a:t>
            </a:r>
            <a:endParaRPr lang="en-US" sz="2800" dirty="0" smtClean="0"/>
          </a:p>
          <a:p>
            <a:pPr algn="just"/>
            <a:r>
              <a:rPr lang="en-US" sz="2800" dirty="0" smtClean="0"/>
              <a:t>Switching </a:t>
            </a:r>
            <a:r>
              <a:rPr lang="en-US" sz="2800" dirty="0"/>
              <a:t>speed varies from machine </a:t>
            </a:r>
            <a:r>
              <a:rPr lang="en-US" sz="2800" dirty="0" smtClean="0"/>
              <a:t>to machine</a:t>
            </a:r>
            <a:r>
              <a:rPr lang="en-US" sz="2800" dirty="0"/>
              <a:t>, depending on the memory speed, the number of registers that </a:t>
            </a:r>
            <a:r>
              <a:rPr lang="en-US" sz="2800" dirty="0" smtClean="0"/>
              <a:t>must be </a:t>
            </a:r>
            <a:r>
              <a:rPr lang="en-US" sz="2800" dirty="0"/>
              <a:t>copied, and the existence of special instructions (such as a single </a:t>
            </a:r>
            <a:r>
              <a:rPr lang="en-US" sz="2800" dirty="0" smtClean="0"/>
              <a:t>instruction.</a:t>
            </a:r>
          </a:p>
          <a:p>
            <a:pPr algn="just"/>
            <a:r>
              <a:rPr lang="en-US" sz="2800" dirty="0"/>
              <a:t>A typical speed is a few milliseconds.</a:t>
            </a:r>
          </a:p>
        </p:txBody>
      </p:sp>
    </p:spTree>
    <p:extLst>
      <p:ext uri="{BB962C8B-B14F-4D97-AF65-F5344CB8AC3E}">
        <p14:creationId xmlns:p14="http://schemas.microsoft.com/office/powerpoint/2010/main" val="2199798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832" y="237535"/>
            <a:ext cx="10515600" cy="1325563"/>
          </a:xfrm>
        </p:spPr>
        <p:txBody>
          <a:bodyPr/>
          <a:lstStyle/>
          <a:p>
            <a:pPr algn="ctr"/>
            <a:r>
              <a:rPr lang="en-US" b="1" dirty="0" smtClean="0">
                <a:solidFill>
                  <a:schemeClr val="accent4"/>
                </a:solidFill>
              </a:rPr>
              <a:t>Homework</a:t>
            </a:r>
            <a:endParaRPr lang="en-US" b="1" dirty="0">
              <a:solidFill>
                <a:schemeClr val="accent4"/>
              </a:solidFill>
            </a:endParaRPr>
          </a:p>
        </p:txBody>
      </p:sp>
      <p:sp>
        <p:nvSpPr>
          <p:cNvPr id="3" name="Content Placeholder 2"/>
          <p:cNvSpPr>
            <a:spLocks noGrp="1"/>
          </p:cNvSpPr>
          <p:nvPr>
            <p:ph idx="1"/>
          </p:nvPr>
        </p:nvSpPr>
        <p:spPr/>
        <p:txBody>
          <a:bodyPr>
            <a:normAutofit/>
          </a:bodyPr>
          <a:lstStyle/>
          <a:p>
            <a:r>
              <a:rPr lang="en-US" sz="2400" dirty="0" smtClean="0"/>
              <a:t>Degree of multiprogramming</a:t>
            </a:r>
          </a:p>
          <a:p>
            <a:r>
              <a:rPr lang="en-US" sz="2400" dirty="0"/>
              <a:t>I/O-bound </a:t>
            </a:r>
            <a:r>
              <a:rPr lang="en-US" sz="2400" dirty="0" smtClean="0"/>
              <a:t>process</a:t>
            </a:r>
          </a:p>
          <a:p>
            <a:r>
              <a:rPr lang="en-US" sz="2400" dirty="0"/>
              <a:t>CPU-bound </a:t>
            </a:r>
            <a:r>
              <a:rPr lang="en-US" sz="2400" dirty="0" smtClean="0"/>
              <a:t>process</a:t>
            </a:r>
          </a:p>
          <a:p>
            <a:r>
              <a:rPr lang="en-US" sz="2400" b="1" i="1" dirty="0"/>
              <a:t>MULTITASKING IN MOBILE SYSTEMS</a:t>
            </a:r>
            <a:endParaRPr lang="en-US" sz="2400" dirty="0"/>
          </a:p>
        </p:txBody>
      </p:sp>
    </p:spTree>
    <p:extLst>
      <p:ext uri="{BB962C8B-B14F-4D97-AF65-F5344CB8AC3E}">
        <p14:creationId xmlns:p14="http://schemas.microsoft.com/office/powerpoint/2010/main" val="4332128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832" y="163107"/>
            <a:ext cx="10515600" cy="1325563"/>
          </a:xfrm>
        </p:spPr>
        <p:txBody>
          <a:bodyPr/>
          <a:lstStyle/>
          <a:p>
            <a:pPr algn="ctr"/>
            <a:r>
              <a:rPr lang="en-US" b="1" dirty="0">
                <a:solidFill>
                  <a:schemeClr val="accent4"/>
                </a:solidFill>
              </a:rPr>
              <a:t>Operations on Processes</a:t>
            </a:r>
          </a:p>
        </p:txBody>
      </p:sp>
      <p:sp>
        <p:nvSpPr>
          <p:cNvPr id="3" name="Content Placeholder 2"/>
          <p:cNvSpPr>
            <a:spLocks noGrp="1"/>
          </p:cNvSpPr>
          <p:nvPr>
            <p:ph idx="1"/>
          </p:nvPr>
        </p:nvSpPr>
        <p:spPr>
          <a:xfrm>
            <a:off x="1251678" y="1364343"/>
            <a:ext cx="10178322" cy="4515249"/>
          </a:xfrm>
        </p:spPr>
        <p:txBody>
          <a:bodyPr>
            <a:normAutofit/>
          </a:bodyPr>
          <a:lstStyle/>
          <a:p>
            <a:pPr algn="just"/>
            <a:r>
              <a:rPr lang="en-US" sz="3200" dirty="0"/>
              <a:t>The processes in most systems can execute concurrently, and they </a:t>
            </a:r>
            <a:r>
              <a:rPr lang="en-US" sz="3200" dirty="0" smtClean="0"/>
              <a:t>may be </a:t>
            </a:r>
            <a:r>
              <a:rPr lang="en-US" sz="3200" dirty="0"/>
              <a:t>created and deleted dynamically. </a:t>
            </a:r>
            <a:endParaRPr lang="en-US" sz="3200" dirty="0" smtClean="0"/>
          </a:p>
          <a:p>
            <a:pPr algn="just"/>
            <a:r>
              <a:rPr lang="en-US" sz="3200" dirty="0" smtClean="0"/>
              <a:t>Thus</a:t>
            </a:r>
            <a:r>
              <a:rPr lang="en-US" sz="3200" dirty="0"/>
              <a:t>, these systems must provide </a:t>
            </a:r>
            <a:r>
              <a:rPr lang="en-US" sz="3200" dirty="0" smtClean="0"/>
              <a:t>a mechanism </a:t>
            </a:r>
            <a:r>
              <a:rPr lang="en-US" sz="3200" dirty="0"/>
              <a:t>for process creation and </a:t>
            </a:r>
            <a:r>
              <a:rPr lang="en-US" sz="3200" dirty="0" smtClean="0"/>
              <a:t>termination</a:t>
            </a:r>
          </a:p>
        </p:txBody>
      </p:sp>
    </p:spTree>
    <p:extLst>
      <p:ext uri="{BB962C8B-B14F-4D97-AF65-F5344CB8AC3E}">
        <p14:creationId xmlns:p14="http://schemas.microsoft.com/office/powerpoint/2010/main" val="31895328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2311" y="254794"/>
            <a:ext cx="10178322" cy="1056450"/>
          </a:xfrm>
        </p:spPr>
        <p:txBody>
          <a:bodyPr/>
          <a:lstStyle/>
          <a:p>
            <a:pPr algn="ctr"/>
            <a:r>
              <a:rPr lang="en-US" b="1" dirty="0">
                <a:solidFill>
                  <a:schemeClr val="accent4"/>
                </a:solidFill>
              </a:rPr>
              <a:t>Process Creation</a:t>
            </a:r>
          </a:p>
        </p:txBody>
      </p:sp>
      <p:sp>
        <p:nvSpPr>
          <p:cNvPr id="3" name="Content Placeholder 2"/>
          <p:cNvSpPr>
            <a:spLocks noGrp="1"/>
          </p:cNvSpPr>
          <p:nvPr>
            <p:ph idx="1"/>
          </p:nvPr>
        </p:nvSpPr>
        <p:spPr>
          <a:xfrm>
            <a:off x="1251678" y="1290919"/>
            <a:ext cx="10178322" cy="4588674"/>
          </a:xfrm>
        </p:spPr>
        <p:txBody>
          <a:bodyPr>
            <a:noAutofit/>
          </a:bodyPr>
          <a:lstStyle/>
          <a:p>
            <a:pPr algn="just"/>
            <a:r>
              <a:rPr lang="en-US" sz="2400" dirty="0"/>
              <a:t>During the course of execution, a process may create several new processes</a:t>
            </a:r>
            <a:r>
              <a:rPr lang="en-US" sz="2400" dirty="0" smtClean="0"/>
              <a:t>.</a:t>
            </a:r>
          </a:p>
          <a:p>
            <a:pPr algn="just"/>
            <a:r>
              <a:rPr lang="en-US" sz="2400" dirty="0" smtClean="0"/>
              <a:t>As mentioned </a:t>
            </a:r>
            <a:r>
              <a:rPr lang="en-US" sz="2400" dirty="0"/>
              <a:t>earlier, the creating process is called a parent process, and the </a:t>
            </a:r>
            <a:r>
              <a:rPr lang="en-US" sz="2400" dirty="0" smtClean="0"/>
              <a:t>new processes </a:t>
            </a:r>
            <a:r>
              <a:rPr lang="en-US" sz="2400" dirty="0"/>
              <a:t>are called the children of that process. </a:t>
            </a:r>
            <a:endParaRPr lang="en-US" sz="2400" dirty="0" smtClean="0"/>
          </a:p>
          <a:p>
            <a:pPr algn="just"/>
            <a:r>
              <a:rPr lang="en-US" sz="2400" dirty="0" smtClean="0"/>
              <a:t>Each </a:t>
            </a:r>
            <a:r>
              <a:rPr lang="en-US" sz="2400" dirty="0"/>
              <a:t>of these new </a:t>
            </a:r>
            <a:r>
              <a:rPr lang="en-US" sz="2400" dirty="0" smtClean="0"/>
              <a:t>processes may </a:t>
            </a:r>
            <a:r>
              <a:rPr lang="en-US" sz="2400" dirty="0"/>
              <a:t>in turn create other processes, forming a </a:t>
            </a:r>
            <a:r>
              <a:rPr lang="en-US" sz="2400" b="1" dirty="0"/>
              <a:t>tree </a:t>
            </a:r>
            <a:r>
              <a:rPr lang="en-US" sz="2400" dirty="0"/>
              <a:t>of processes</a:t>
            </a:r>
            <a:r>
              <a:rPr lang="en-US" sz="2400" dirty="0" smtClean="0"/>
              <a:t>.</a:t>
            </a:r>
          </a:p>
          <a:p>
            <a:pPr algn="just"/>
            <a:r>
              <a:rPr lang="en-US" sz="2400" dirty="0"/>
              <a:t>A child process can have only one parent but a parent process may have many children. </a:t>
            </a:r>
            <a:endParaRPr lang="en-US" sz="2400" dirty="0" smtClean="0"/>
          </a:p>
          <a:p>
            <a:pPr algn="just"/>
            <a:r>
              <a:rPr lang="en-US" sz="2400" dirty="0"/>
              <a:t>Due to the name of the fork function, the act of creating a new process is sometimes called forking a process. </a:t>
            </a:r>
            <a:endParaRPr lang="en-US" sz="2400" dirty="0" smtClean="0"/>
          </a:p>
          <a:p>
            <a:pPr algn="just"/>
            <a:r>
              <a:rPr lang="en-US" sz="2400" dirty="0" smtClean="0"/>
              <a:t>Each </a:t>
            </a:r>
            <a:r>
              <a:rPr lang="en-US" sz="2400" dirty="0"/>
              <a:t>new process (the child process or </a:t>
            </a:r>
            <a:r>
              <a:rPr lang="en-US" sz="2400" dirty="0" err="1"/>
              <a:t>subprocess</a:t>
            </a:r>
            <a:r>
              <a:rPr lang="en-US" sz="2400" dirty="0"/>
              <a:t>) is allocated a process ID, distinct from the process ID of the parent process. </a:t>
            </a:r>
          </a:p>
        </p:txBody>
      </p:sp>
    </p:spTree>
    <p:extLst>
      <p:ext uri="{BB962C8B-B14F-4D97-AF65-F5344CB8AC3E}">
        <p14:creationId xmlns:p14="http://schemas.microsoft.com/office/powerpoint/2010/main" val="3725008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9465" y="258800"/>
            <a:ext cx="10515600" cy="1325563"/>
          </a:xfrm>
        </p:spPr>
        <p:txBody>
          <a:bodyPr/>
          <a:lstStyle/>
          <a:p>
            <a:pPr algn="ctr"/>
            <a:r>
              <a:rPr lang="en-US" dirty="0" smtClean="0">
                <a:solidFill>
                  <a:schemeClr val="accent4"/>
                </a:solidFill>
              </a:rPr>
              <a:t>Cont.</a:t>
            </a:r>
            <a:endParaRPr lang="en-US" dirty="0">
              <a:solidFill>
                <a:schemeClr val="accent4"/>
              </a:solidFill>
            </a:endParaRPr>
          </a:p>
        </p:txBody>
      </p:sp>
      <p:sp>
        <p:nvSpPr>
          <p:cNvPr id="3" name="Content Placeholder 2"/>
          <p:cNvSpPr>
            <a:spLocks noGrp="1"/>
          </p:cNvSpPr>
          <p:nvPr>
            <p:ph idx="1"/>
          </p:nvPr>
        </p:nvSpPr>
        <p:spPr>
          <a:xfrm>
            <a:off x="1251678" y="1506071"/>
            <a:ext cx="10178322" cy="4373521"/>
          </a:xfrm>
        </p:spPr>
        <p:txBody>
          <a:bodyPr>
            <a:noAutofit/>
          </a:bodyPr>
          <a:lstStyle/>
          <a:p>
            <a:pPr algn="just"/>
            <a:r>
              <a:rPr lang="en-US" sz="2800" dirty="0"/>
              <a:t>In general, when a process creates a child process, that child process </a:t>
            </a:r>
            <a:r>
              <a:rPr lang="en-US" sz="2800" dirty="0" smtClean="0"/>
              <a:t>will need </a:t>
            </a:r>
            <a:r>
              <a:rPr lang="en-US" sz="2800" dirty="0"/>
              <a:t>certain resources (CPU time, memory, files, I/O devices) to </a:t>
            </a:r>
            <a:r>
              <a:rPr lang="en-US" sz="2800" dirty="0" smtClean="0"/>
              <a:t>accomplish its </a:t>
            </a:r>
            <a:r>
              <a:rPr lang="en-US" sz="2800" dirty="0"/>
              <a:t>task. </a:t>
            </a:r>
            <a:endParaRPr lang="en-US" sz="2800" dirty="0" smtClean="0"/>
          </a:p>
          <a:p>
            <a:pPr algn="just"/>
            <a:r>
              <a:rPr lang="en-US" sz="2800" dirty="0" smtClean="0"/>
              <a:t>The </a:t>
            </a:r>
            <a:r>
              <a:rPr lang="en-US" sz="2800" dirty="0"/>
              <a:t>parent may have to partition its resources </a:t>
            </a:r>
            <a:r>
              <a:rPr lang="en-US" sz="2800" dirty="0" smtClean="0"/>
              <a:t>among its </a:t>
            </a:r>
            <a:r>
              <a:rPr lang="en-US" sz="2800" dirty="0"/>
              <a:t>children, or it may be able to share some resources (such as memory </a:t>
            </a:r>
            <a:r>
              <a:rPr lang="en-US" sz="2800" dirty="0" smtClean="0"/>
              <a:t>or files</a:t>
            </a:r>
            <a:r>
              <a:rPr lang="en-US" sz="2800" dirty="0"/>
              <a:t>) among several of its children. </a:t>
            </a:r>
            <a:endParaRPr lang="en-US" sz="2800" dirty="0" smtClean="0"/>
          </a:p>
        </p:txBody>
      </p:sp>
    </p:spTree>
    <p:extLst>
      <p:ext uri="{BB962C8B-B14F-4D97-AF65-F5344CB8AC3E}">
        <p14:creationId xmlns:p14="http://schemas.microsoft.com/office/powerpoint/2010/main" val="15903021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212264"/>
            <a:ext cx="10178322" cy="1126913"/>
          </a:xfrm>
        </p:spPr>
        <p:txBody>
          <a:bodyPr/>
          <a:lstStyle/>
          <a:p>
            <a:pPr algn="ctr"/>
            <a:r>
              <a:rPr lang="en-US" b="1" dirty="0" err="1">
                <a:solidFill>
                  <a:schemeClr val="accent4"/>
                </a:solidFill>
              </a:rPr>
              <a:t>Interprocess</a:t>
            </a:r>
            <a:r>
              <a:rPr lang="en-US" b="1" dirty="0">
                <a:solidFill>
                  <a:schemeClr val="accent4"/>
                </a:solidFill>
              </a:rPr>
              <a:t> Communication</a:t>
            </a:r>
          </a:p>
        </p:txBody>
      </p:sp>
      <p:sp>
        <p:nvSpPr>
          <p:cNvPr id="3" name="Content Placeholder 2"/>
          <p:cNvSpPr>
            <a:spLocks noGrp="1"/>
          </p:cNvSpPr>
          <p:nvPr>
            <p:ph idx="1"/>
          </p:nvPr>
        </p:nvSpPr>
        <p:spPr>
          <a:xfrm>
            <a:off x="1251678" y="1734671"/>
            <a:ext cx="10178322" cy="4144921"/>
          </a:xfrm>
        </p:spPr>
        <p:txBody>
          <a:bodyPr>
            <a:normAutofit fontScale="92500" lnSpcReduction="20000"/>
          </a:bodyPr>
          <a:lstStyle/>
          <a:p>
            <a:pPr algn="just"/>
            <a:r>
              <a:rPr lang="en-US" dirty="0"/>
              <a:t>Any process that does not share data with any other process is independent. </a:t>
            </a:r>
            <a:endParaRPr lang="en-US" dirty="0" smtClean="0"/>
          </a:p>
          <a:p>
            <a:pPr algn="just"/>
            <a:r>
              <a:rPr lang="en-US" dirty="0" smtClean="0"/>
              <a:t>A process </a:t>
            </a:r>
            <a:r>
              <a:rPr lang="en-US" dirty="0"/>
              <a:t>is </a:t>
            </a:r>
            <a:r>
              <a:rPr lang="en-US" b="1" i="1" dirty="0"/>
              <a:t>cooperating </a:t>
            </a:r>
            <a:r>
              <a:rPr lang="en-US" dirty="0"/>
              <a:t>if it can affect or be affected by the other </a:t>
            </a:r>
            <a:r>
              <a:rPr lang="en-US" dirty="0" smtClean="0"/>
              <a:t>processes executing </a:t>
            </a:r>
            <a:r>
              <a:rPr lang="en-US" dirty="0"/>
              <a:t>in the system. </a:t>
            </a:r>
            <a:endParaRPr lang="en-US" dirty="0" smtClean="0"/>
          </a:p>
          <a:p>
            <a:pPr algn="just"/>
            <a:r>
              <a:rPr lang="en-US" dirty="0" smtClean="0"/>
              <a:t>Clearly</a:t>
            </a:r>
            <a:r>
              <a:rPr lang="en-US" dirty="0"/>
              <a:t>, any process that shares data with </a:t>
            </a:r>
            <a:r>
              <a:rPr lang="en-US" dirty="0" smtClean="0"/>
              <a:t>other processes </a:t>
            </a:r>
            <a:r>
              <a:rPr lang="en-US" dirty="0"/>
              <a:t>is a cooperating process</a:t>
            </a:r>
            <a:r>
              <a:rPr lang="en-US" dirty="0" smtClean="0"/>
              <a:t>.</a:t>
            </a:r>
          </a:p>
          <a:p>
            <a:pPr algn="just"/>
            <a:r>
              <a:rPr lang="en-US" dirty="0"/>
              <a:t>There are several reasons for providing an environment that allows </a:t>
            </a:r>
            <a:r>
              <a:rPr lang="en-US" dirty="0" smtClean="0"/>
              <a:t>process cooperation:</a:t>
            </a:r>
          </a:p>
          <a:p>
            <a:pPr lvl="1" algn="just"/>
            <a:r>
              <a:rPr lang="en-US" b="1" dirty="0"/>
              <a:t>Information </a:t>
            </a:r>
            <a:r>
              <a:rPr lang="en-US" b="1" dirty="0" smtClean="0"/>
              <a:t>sharing</a:t>
            </a:r>
          </a:p>
          <a:p>
            <a:pPr lvl="1" algn="just"/>
            <a:r>
              <a:rPr lang="en-US" b="1" dirty="0"/>
              <a:t>Computation </a:t>
            </a:r>
            <a:r>
              <a:rPr lang="en-US" b="1" dirty="0" smtClean="0"/>
              <a:t>speedup</a:t>
            </a:r>
          </a:p>
          <a:p>
            <a:pPr lvl="1" algn="just"/>
            <a:r>
              <a:rPr lang="en-US" b="1" dirty="0" smtClean="0"/>
              <a:t>Modularity</a:t>
            </a:r>
          </a:p>
          <a:p>
            <a:pPr lvl="1" algn="just"/>
            <a:r>
              <a:rPr lang="en-US" b="1" dirty="0"/>
              <a:t>Convenience</a:t>
            </a:r>
            <a:endParaRPr lang="en-US" dirty="0"/>
          </a:p>
        </p:txBody>
      </p:sp>
      <p:pic>
        <p:nvPicPr>
          <p:cNvPr id="4" name="Picture 3"/>
          <p:cNvPicPr>
            <a:picLocks noChangeAspect="1"/>
          </p:cNvPicPr>
          <p:nvPr/>
        </p:nvPicPr>
        <p:blipFill>
          <a:blip r:embed="rId2"/>
          <a:stretch>
            <a:fillRect/>
          </a:stretch>
        </p:blipFill>
        <p:spPr>
          <a:xfrm>
            <a:off x="6201486" y="4654924"/>
            <a:ext cx="5228514" cy="1450041"/>
          </a:xfrm>
          <a:prstGeom prst="rect">
            <a:avLst/>
          </a:prstGeom>
        </p:spPr>
      </p:pic>
    </p:spTree>
    <p:extLst>
      <p:ext uri="{BB962C8B-B14F-4D97-AF65-F5344CB8AC3E}">
        <p14:creationId xmlns:p14="http://schemas.microsoft.com/office/powerpoint/2010/main" val="4114721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833" y="109944"/>
            <a:ext cx="10515600" cy="1325563"/>
          </a:xfrm>
        </p:spPr>
        <p:txBody>
          <a:bodyPr/>
          <a:lstStyle/>
          <a:p>
            <a:pPr algn="ctr"/>
            <a:r>
              <a:rPr lang="en-US" dirty="0" smtClean="0">
                <a:solidFill>
                  <a:schemeClr val="accent4"/>
                </a:solidFill>
              </a:rPr>
              <a:t>Cont.</a:t>
            </a:r>
            <a:endParaRPr lang="en-US" dirty="0">
              <a:solidFill>
                <a:schemeClr val="accent4"/>
              </a:solidFill>
            </a:endParaRPr>
          </a:p>
        </p:txBody>
      </p:sp>
      <p:sp>
        <p:nvSpPr>
          <p:cNvPr id="3" name="Content Placeholder 2"/>
          <p:cNvSpPr>
            <a:spLocks noGrp="1"/>
          </p:cNvSpPr>
          <p:nvPr>
            <p:ph idx="1"/>
          </p:nvPr>
        </p:nvSpPr>
        <p:spPr>
          <a:xfrm>
            <a:off x="1251678" y="1196789"/>
            <a:ext cx="10178322" cy="5136776"/>
          </a:xfrm>
        </p:spPr>
        <p:txBody>
          <a:bodyPr>
            <a:normAutofit fontScale="92500" lnSpcReduction="20000"/>
          </a:bodyPr>
          <a:lstStyle/>
          <a:p>
            <a:pPr algn="just"/>
            <a:r>
              <a:rPr lang="en-US" b="1" u="sng" dirty="0">
                <a:solidFill>
                  <a:schemeClr val="tx2">
                    <a:lumMod val="50000"/>
                    <a:lumOff val="50000"/>
                  </a:schemeClr>
                </a:solidFill>
              </a:rPr>
              <a:t>Information </a:t>
            </a:r>
            <a:r>
              <a:rPr lang="en-US" b="1" u="sng" dirty="0" smtClean="0">
                <a:solidFill>
                  <a:schemeClr val="tx2">
                    <a:lumMod val="50000"/>
                    <a:lumOff val="50000"/>
                  </a:schemeClr>
                </a:solidFill>
              </a:rPr>
              <a:t>sharing</a:t>
            </a:r>
            <a:r>
              <a:rPr lang="en-US" dirty="0" smtClean="0">
                <a:solidFill>
                  <a:schemeClr val="tx2">
                    <a:lumMod val="50000"/>
                    <a:lumOff val="50000"/>
                  </a:schemeClr>
                </a:solidFill>
              </a:rPr>
              <a:t> </a:t>
            </a:r>
            <a:r>
              <a:rPr lang="en-US" dirty="0" smtClean="0"/>
              <a:t>Since </a:t>
            </a:r>
            <a:r>
              <a:rPr lang="en-US" dirty="0"/>
              <a:t>several users may be interested in the </a:t>
            </a:r>
            <a:r>
              <a:rPr lang="en-US" dirty="0" smtClean="0"/>
              <a:t>same piece </a:t>
            </a:r>
            <a:r>
              <a:rPr lang="en-US" dirty="0"/>
              <a:t>of information (for instance, a shared file), we must provide </a:t>
            </a:r>
            <a:r>
              <a:rPr lang="en-US" dirty="0" smtClean="0"/>
              <a:t>an environment </a:t>
            </a:r>
            <a:r>
              <a:rPr lang="en-US" dirty="0"/>
              <a:t>to allow concurrent access to such information</a:t>
            </a:r>
            <a:r>
              <a:rPr lang="en-US" dirty="0" smtClean="0"/>
              <a:t>. </a:t>
            </a:r>
          </a:p>
          <a:p>
            <a:pPr marL="0" indent="0" algn="just">
              <a:buNone/>
            </a:pPr>
            <a:endParaRPr lang="en-US" dirty="0" smtClean="0"/>
          </a:p>
          <a:p>
            <a:pPr algn="just"/>
            <a:r>
              <a:rPr lang="en-US" b="1" u="sng" dirty="0" smtClean="0">
                <a:solidFill>
                  <a:schemeClr val="tx2">
                    <a:lumMod val="50000"/>
                    <a:lumOff val="50000"/>
                  </a:schemeClr>
                </a:solidFill>
              </a:rPr>
              <a:t>Computation speedup</a:t>
            </a:r>
            <a:r>
              <a:rPr lang="en-US" dirty="0" smtClean="0">
                <a:solidFill>
                  <a:schemeClr val="tx2">
                    <a:lumMod val="50000"/>
                    <a:lumOff val="50000"/>
                  </a:schemeClr>
                </a:solidFill>
              </a:rPr>
              <a:t> </a:t>
            </a:r>
            <a:r>
              <a:rPr lang="en-US" dirty="0"/>
              <a:t>If we want a particular task to run faster, we </a:t>
            </a:r>
            <a:r>
              <a:rPr lang="en-US" dirty="0" smtClean="0"/>
              <a:t>must break </a:t>
            </a:r>
            <a:r>
              <a:rPr lang="en-US" dirty="0"/>
              <a:t>it into subtasks, each of which will be executing in parallel with </a:t>
            </a:r>
            <a:r>
              <a:rPr lang="en-US" dirty="0" smtClean="0"/>
              <a:t>the others</a:t>
            </a:r>
            <a:r>
              <a:rPr lang="en-US" dirty="0"/>
              <a:t>. Notice that such a speedup can be achieved only if the </a:t>
            </a:r>
            <a:r>
              <a:rPr lang="en-US" dirty="0" smtClean="0"/>
              <a:t>computer has </a:t>
            </a:r>
            <a:r>
              <a:rPr lang="en-US" dirty="0"/>
              <a:t>multiple processing cores</a:t>
            </a:r>
            <a:r>
              <a:rPr lang="en-US" dirty="0" smtClean="0"/>
              <a:t>.</a:t>
            </a:r>
          </a:p>
          <a:p>
            <a:pPr algn="just"/>
            <a:endParaRPr lang="en-US" dirty="0" smtClean="0"/>
          </a:p>
          <a:p>
            <a:pPr algn="just"/>
            <a:r>
              <a:rPr lang="en-US" b="1" u="sng" dirty="0" smtClean="0">
                <a:solidFill>
                  <a:schemeClr val="tx2">
                    <a:lumMod val="50000"/>
                    <a:lumOff val="50000"/>
                  </a:schemeClr>
                </a:solidFill>
              </a:rPr>
              <a:t>Modularity</a:t>
            </a:r>
            <a:r>
              <a:rPr lang="en-US" dirty="0"/>
              <a:t> </a:t>
            </a:r>
            <a:r>
              <a:rPr lang="en-US" dirty="0" smtClean="0"/>
              <a:t>We </a:t>
            </a:r>
            <a:r>
              <a:rPr lang="en-US" dirty="0"/>
              <a:t>may want to construct the system in a modular </a:t>
            </a:r>
            <a:r>
              <a:rPr lang="en-US" dirty="0" smtClean="0"/>
              <a:t>fashion, dividing </a:t>
            </a:r>
            <a:r>
              <a:rPr lang="en-US" dirty="0"/>
              <a:t>the system functions into separate processes or </a:t>
            </a:r>
            <a:r>
              <a:rPr lang="en-US" dirty="0" smtClean="0"/>
              <a:t>threads.</a:t>
            </a:r>
          </a:p>
          <a:p>
            <a:pPr algn="just"/>
            <a:endParaRPr lang="en-US" dirty="0" smtClean="0"/>
          </a:p>
          <a:p>
            <a:pPr algn="just"/>
            <a:r>
              <a:rPr lang="en-US" b="1" u="sng" dirty="0" smtClean="0">
                <a:solidFill>
                  <a:schemeClr val="tx2">
                    <a:lumMod val="50000"/>
                    <a:lumOff val="50000"/>
                  </a:schemeClr>
                </a:solidFill>
              </a:rPr>
              <a:t>Convenience</a:t>
            </a:r>
            <a:r>
              <a:rPr lang="en-US" dirty="0">
                <a:solidFill>
                  <a:schemeClr val="tx2">
                    <a:lumMod val="50000"/>
                    <a:lumOff val="50000"/>
                  </a:schemeClr>
                </a:solidFill>
              </a:rPr>
              <a:t> </a:t>
            </a:r>
            <a:r>
              <a:rPr lang="en-US" dirty="0" smtClean="0"/>
              <a:t>Even </a:t>
            </a:r>
            <a:r>
              <a:rPr lang="en-US" dirty="0"/>
              <a:t>an individual user may work on many tasks at </a:t>
            </a:r>
            <a:r>
              <a:rPr lang="en-US" dirty="0" smtClean="0"/>
              <a:t>the same </a:t>
            </a:r>
            <a:r>
              <a:rPr lang="en-US" dirty="0"/>
              <a:t>time. For instance, a user may be editing, listening to music, </a:t>
            </a:r>
            <a:r>
              <a:rPr lang="en-US" dirty="0" smtClean="0"/>
              <a:t>and compiling </a:t>
            </a:r>
            <a:r>
              <a:rPr lang="en-US" dirty="0"/>
              <a:t>in parallel.</a:t>
            </a:r>
          </a:p>
        </p:txBody>
      </p:sp>
    </p:spTree>
    <p:extLst>
      <p:ext uri="{BB962C8B-B14F-4D97-AF65-F5344CB8AC3E}">
        <p14:creationId xmlns:p14="http://schemas.microsoft.com/office/powerpoint/2010/main" val="25366076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06827"/>
          </a:xfrm>
        </p:spPr>
        <p:txBody>
          <a:bodyPr>
            <a:normAutofit/>
          </a:bodyPr>
          <a:lstStyle/>
          <a:p>
            <a:pPr algn="ctr"/>
            <a:r>
              <a:rPr lang="en-US" dirty="0" smtClean="0">
                <a:solidFill>
                  <a:schemeClr val="accent4"/>
                </a:solidFill>
              </a:rPr>
              <a:t>Cont.</a:t>
            </a:r>
            <a:endParaRPr lang="en-US" dirty="0">
              <a:solidFill>
                <a:schemeClr val="accent4"/>
              </a:solidFill>
            </a:endParaRPr>
          </a:p>
        </p:txBody>
      </p:sp>
      <p:sp>
        <p:nvSpPr>
          <p:cNvPr id="3" name="Content Placeholder 2"/>
          <p:cNvSpPr>
            <a:spLocks noGrp="1"/>
          </p:cNvSpPr>
          <p:nvPr>
            <p:ph idx="1"/>
          </p:nvPr>
        </p:nvSpPr>
        <p:spPr>
          <a:xfrm>
            <a:off x="1251678" y="1250576"/>
            <a:ext cx="10178322" cy="4894729"/>
          </a:xfrm>
        </p:spPr>
        <p:txBody>
          <a:bodyPr>
            <a:noAutofit/>
          </a:bodyPr>
          <a:lstStyle/>
          <a:p>
            <a:pPr algn="just"/>
            <a:r>
              <a:rPr lang="en-US" sz="2400" dirty="0"/>
              <a:t>Cooperating processes require an </a:t>
            </a:r>
            <a:r>
              <a:rPr lang="en-US" sz="2400" b="1" dirty="0" err="1"/>
              <a:t>interprocess</a:t>
            </a:r>
            <a:r>
              <a:rPr lang="en-US" sz="2400" b="1" dirty="0"/>
              <a:t> communication (IPC) </a:t>
            </a:r>
            <a:r>
              <a:rPr lang="en-US" sz="2400" dirty="0" smtClean="0"/>
              <a:t>mechanism that </a:t>
            </a:r>
            <a:r>
              <a:rPr lang="en-US" sz="2400" dirty="0"/>
              <a:t>will allow them to exchange data and information. </a:t>
            </a:r>
            <a:endParaRPr lang="en-US" sz="2400" dirty="0" smtClean="0"/>
          </a:p>
          <a:p>
            <a:pPr algn="just"/>
            <a:r>
              <a:rPr lang="en-US" sz="2400" dirty="0" smtClean="0"/>
              <a:t>There </a:t>
            </a:r>
            <a:r>
              <a:rPr lang="en-US" sz="2400" dirty="0"/>
              <a:t>are </a:t>
            </a:r>
            <a:r>
              <a:rPr lang="en-US" sz="2400" dirty="0" smtClean="0"/>
              <a:t>two fundamental </a:t>
            </a:r>
            <a:r>
              <a:rPr lang="en-US" sz="2400" dirty="0"/>
              <a:t>models of </a:t>
            </a:r>
            <a:r>
              <a:rPr lang="en-US" sz="2400" dirty="0" err="1"/>
              <a:t>interprocess</a:t>
            </a:r>
            <a:r>
              <a:rPr lang="en-US" sz="2400" dirty="0"/>
              <a:t> communication: </a:t>
            </a:r>
            <a:endParaRPr lang="en-US" sz="2400" dirty="0" smtClean="0"/>
          </a:p>
          <a:p>
            <a:pPr lvl="1" algn="just"/>
            <a:r>
              <a:rPr lang="en-US" sz="2000" b="1" dirty="0" smtClean="0"/>
              <a:t>Shared Memory</a:t>
            </a:r>
            <a:endParaRPr lang="en-US" sz="2000" dirty="0" smtClean="0"/>
          </a:p>
          <a:p>
            <a:pPr lvl="1" algn="just"/>
            <a:r>
              <a:rPr lang="en-US" sz="2000" b="1" dirty="0" smtClean="0"/>
              <a:t>Message Passing</a:t>
            </a:r>
          </a:p>
          <a:p>
            <a:pPr algn="just"/>
            <a:r>
              <a:rPr lang="en-US" sz="2400" i="1" dirty="0">
                <a:solidFill>
                  <a:schemeClr val="tx2">
                    <a:lumMod val="50000"/>
                    <a:lumOff val="50000"/>
                  </a:schemeClr>
                </a:solidFill>
              </a:rPr>
              <a:t>In the shared-memory model</a:t>
            </a:r>
            <a:r>
              <a:rPr lang="en-US" sz="2400" dirty="0"/>
              <a:t>, a region of memory that is </a:t>
            </a:r>
            <a:r>
              <a:rPr lang="en-US" sz="2400" dirty="0" smtClean="0"/>
              <a:t>shared by </a:t>
            </a:r>
            <a:r>
              <a:rPr lang="en-US" sz="2400" dirty="0"/>
              <a:t>cooperating processes is established. </a:t>
            </a:r>
            <a:endParaRPr lang="en-US" sz="2400" dirty="0" smtClean="0"/>
          </a:p>
          <a:p>
            <a:pPr algn="just"/>
            <a:r>
              <a:rPr lang="en-US" sz="2400" dirty="0" smtClean="0"/>
              <a:t>Processes </a:t>
            </a:r>
            <a:r>
              <a:rPr lang="en-US" sz="2400" dirty="0"/>
              <a:t>can then exchange </a:t>
            </a:r>
            <a:r>
              <a:rPr lang="en-US" sz="2400" dirty="0" smtClean="0"/>
              <a:t>information by </a:t>
            </a:r>
            <a:r>
              <a:rPr lang="en-US" sz="2400" dirty="0"/>
              <a:t>reading and writing data to the shared region. </a:t>
            </a:r>
            <a:endParaRPr lang="en-US" sz="2400" dirty="0" smtClean="0"/>
          </a:p>
          <a:p>
            <a:pPr algn="just"/>
            <a:r>
              <a:rPr lang="en-US" sz="2400" i="1" dirty="0" smtClean="0">
                <a:solidFill>
                  <a:schemeClr val="tx2">
                    <a:lumMod val="50000"/>
                    <a:lumOff val="50000"/>
                  </a:schemeClr>
                </a:solidFill>
              </a:rPr>
              <a:t>In </a:t>
            </a:r>
            <a:r>
              <a:rPr lang="en-US" sz="2400" i="1" dirty="0">
                <a:solidFill>
                  <a:schemeClr val="tx2">
                    <a:lumMod val="50000"/>
                    <a:lumOff val="50000"/>
                  </a:schemeClr>
                </a:solidFill>
              </a:rPr>
              <a:t>the </a:t>
            </a:r>
            <a:r>
              <a:rPr lang="en-US" sz="2400" i="1" dirty="0" smtClean="0">
                <a:solidFill>
                  <a:schemeClr val="tx2">
                    <a:lumMod val="50000"/>
                    <a:lumOff val="50000"/>
                  </a:schemeClr>
                </a:solidFill>
              </a:rPr>
              <a:t>message-passing model</a:t>
            </a:r>
            <a:r>
              <a:rPr lang="en-US" sz="2400" dirty="0"/>
              <a:t>, communication takes place by means of messages exchanged </a:t>
            </a:r>
            <a:r>
              <a:rPr lang="en-US" sz="2400" dirty="0" smtClean="0"/>
              <a:t>between the </a:t>
            </a:r>
            <a:r>
              <a:rPr lang="en-US" sz="2400" dirty="0"/>
              <a:t>cooperating processes.</a:t>
            </a:r>
          </a:p>
        </p:txBody>
      </p:sp>
    </p:spTree>
    <p:extLst>
      <p:ext uri="{BB962C8B-B14F-4D97-AF65-F5344CB8AC3E}">
        <p14:creationId xmlns:p14="http://schemas.microsoft.com/office/powerpoint/2010/main" val="62477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674" y="184371"/>
            <a:ext cx="10515600" cy="1325563"/>
          </a:xfrm>
        </p:spPr>
        <p:txBody>
          <a:bodyPr>
            <a:noAutofit/>
          </a:bodyPr>
          <a:lstStyle/>
          <a:p>
            <a:pPr algn="ctr"/>
            <a:r>
              <a:rPr lang="en-US" sz="4400" b="1" dirty="0" smtClean="0">
                <a:solidFill>
                  <a:schemeClr val="accent4"/>
                </a:solidFill>
              </a:rPr>
              <a:t>Messaging passing</a:t>
            </a:r>
            <a:br>
              <a:rPr lang="en-US" sz="4400" b="1" dirty="0" smtClean="0">
                <a:solidFill>
                  <a:schemeClr val="accent4"/>
                </a:solidFill>
              </a:rPr>
            </a:br>
            <a:r>
              <a:rPr lang="en-US" sz="4400" b="1" dirty="0" smtClean="0">
                <a:solidFill>
                  <a:schemeClr val="accent4"/>
                </a:solidFill>
              </a:rPr>
              <a:t>vs</a:t>
            </a:r>
            <a:br>
              <a:rPr lang="en-US" sz="4400" b="1" dirty="0" smtClean="0">
                <a:solidFill>
                  <a:schemeClr val="accent4"/>
                </a:solidFill>
              </a:rPr>
            </a:br>
            <a:r>
              <a:rPr lang="en-US" sz="4400" b="1" dirty="0" smtClean="0">
                <a:solidFill>
                  <a:schemeClr val="accent4"/>
                </a:solidFill>
              </a:rPr>
              <a:t>shared memory</a:t>
            </a:r>
            <a:endParaRPr lang="en-US" sz="4400" b="1" dirty="0">
              <a:solidFill>
                <a:schemeClr val="accent4"/>
              </a:solidFill>
            </a:endParaRPr>
          </a:p>
        </p:txBody>
      </p:sp>
      <p:pic>
        <p:nvPicPr>
          <p:cNvPr id="4" name="Picture 3"/>
          <p:cNvPicPr>
            <a:picLocks noChangeAspect="1"/>
          </p:cNvPicPr>
          <p:nvPr/>
        </p:nvPicPr>
        <p:blipFill>
          <a:blip r:embed="rId2"/>
          <a:stretch>
            <a:fillRect/>
          </a:stretch>
        </p:blipFill>
        <p:spPr>
          <a:xfrm>
            <a:off x="2791935" y="2352736"/>
            <a:ext cx="7097807" cy="4505264"/>
          </a:xfrm>
          <a:prstGeom prst="rect">
            <a:avLst/>
          </a:prstGeom>
        </p:spPr>
      </p:pic>
    </p:spTree>
    <p:extLst>
      <p:ext uri="{BB962C8B-B14F-4D97-AF65-F5344CB8AC3E}">
        <p14:creationId xmlns:p14="http://schemas.microsoft.com/office/powerpoint/2010/main" val="15183236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096791"/>
          </a:xfrm>
        </p:spPr>
        <p:txBody>
          <a:bodyPr/>
          <a:lstStyle/>
          <a:p>
            <a:pPr algn="ctr"/>
            <a:r>
              <a:rPr lang="en-US" dirty="0" smtClean="0">
                <a:solidFill>
                  <a:schemeClr val="accent4"/>
                </a:solidFill>
              </a:rPr>
              <a:t>Cont.</a:t>
            </a:r>
            <a:endParaRPr lang="en-US" dirty="0">
              <a:solidFill>
                <a:schemeClr val="accent4"/>
              </a:solidFill>
            </a:endParaRPr>
          </a:p>
        </p:txBody>
      </p:sp>
      <p:sp>
        <p:nvSpPr>
          <p:cNvPr id="3" name="Content Placeholder 2"/>
          <p:cNvSpPr>
            <a:spLocks noGrp="1"/>
          </p:cNvSpPr>
          <p:nvPr>
            <p:ph idx="1"/>
          </p:nvPr>
        </p:nvSpPr>
        <p:spPr>
          <a:xfrm>
            <a:off x="1251678" y="1479177"/>
            <a:ext cx="10178322" cy="4908176"/>
          </a:xfrm>
        </p:spPr>
        <p:txBody>
          <a:bodyPr>
            <a:normAutofit fontScale="92500" lnSpcReduction="10000"/>
          </a:bodyPr>
          <a:lstStyle/>
          <a:p>
            <a:pPr algn="just"/>
            <a:r>
              <a:rPr lang="en-US" dirty="0"/>
              <a:t>Both of the models just mentioned are common in operating </a:t>
            </a:r>
            <a:r>
              <a:rPr lang="en-US" dirty="0" smtClean="0"/>
              <a:t>systems, and </a:t>
            </a:r>
            <a:r>
              <a:rPr lang="en-US" dirty="0"/>
              <a:t>many systems implement both. </a:t>
            </a:r>
            <a:endParaRPr lang="en-US" dirty="0" smtClean="0"/>
          </a:p>
          <a:p>
            <a:pPr algn="just"/>
            <a:r>
              <a:rPr lang="en-US" dirty="0" smtClean="0"/>
              <a:t>Message </a:t>
            </a:r>
            <a:r>
              <a:rPr lang="en-US" dirty="0"/>
              <a:t>passing is useful for </a:t>
            </a:r>
            <a:r>
              <a:rPr lang="en-US" dirty="0" smtClean="0"/>
              <a:t>exchanging smaller </a:t>
            </a:r>
            <a:r>
              <a:rPr lang="en-US" dirty="0"/>
              <a:t>amounts of data, because no conflicts need be avoided. </a:t>
            </a:r>
            <a:endParaRPr lang="en-US" dirty="0" smtClean="0"/>
          </a:p>
          <a:p>
            <a:pPr algn="just"/>
            <a:r>
              <a:rPr lang="en-US" dirty="0" smtClean="0"/>
              <a:t>Message passing </a:t>
            </a:r>
            <a:r>
              <a:rPr lang="en-US" dirty="0"/>
              <a:t>is also easier to implement in a distributed system than shared memory</a:t>
            </a:r>
            <a:r>
              <a:rPr lang="en-US" dirty="0" smtClean="0"/>
              <a:t>. </a:t>
            </a:r>
          </a:p>
          <a:p>
            <a:pPr algn="just"/>
            <a:r>
              <a:rPr lang="en-US" dirty="0" smtClean="0"/>
              <a:t>Shared </a:t>
            </a:r>
            <a:r>
              <a:rPr lang="en-US" dirty="0"/>
              <a:t>memory can be faster than message </a:t>
            </a:r>
            <a:r>
              <a:rPr lang="en-US" dirty="0" smtClean="0"/>
              <a:t>passing, since </a:t>
            </a:r>
            <a:r>
              <a:rPr lang="en-US" dirty="0"/>
              <a:t>message-passing systems are typically implemented using system </a:t>
            </a:r>
            <a:r>
              <a:rPr lang="en-US" dirty="0" smtClean="0"/>
              <a:t>calls </a:t>
            </a:r>
            <a:r>
              <a:rPr lang="en-US" dirty="0"/>
              <a:t>and thus require the more time-consuming task of kernel intervention. </a:t>
            </a:r>
            <a:endParaRPr lang="en-US" dirty="0" smtClean="0"/>
          </a:p>
          <a:p>
            <a:r>
              <a:rPr lang="en-US" dirty="0" smtClean="0"/>
              <a:t>In shared-memory </a:t>
            </a:r>
            <a:r>
              <a:rPr lang="en-US" dirty="0"/>
              <a:t>systems, system calls are required only to establish </a:t>
            </a:r>
            <a:r>
              <a:rPr lang="en-US" dirty="0" smtClean="0"/>
              <a:t>shared </a:t>
            </a:r>
            <a:r>
              <a:rPr lang="en-US" dirty="0"/>
              <a:t>memory regions. </a:t>
            </a:r>
            <a:endParaRPr lang="en-US" dirty="0" smtClean="0"/>
          </a:p>
          <a:p>
            <a:r>
              <a:rPr lang="en-US" dirty="0" smtClean="0"/>
              <a:t>Once </a:t>
            </a:r>
            <a:r>
              <a:rPr lang="en-US" dirty="0"/>
              <a:t>shared memory is established, all accesses are </a:t>
            </a:r>
            <a:r>
              <a:rPr lang="en-US" dirty="0" smtClean="0"/>
              <a:t>treated as </a:t>
            </a:r>
            <a:r>
              <a:rPr lang="en-US" dirty="0"/>
              <a:t>routine memory accesses, and no assistance from the kernel is required.</a:t>
            </a:r>
          </a:p>
        </p:txBody>
      </p:sp>
    </p:spTree>
    <p:extLst>
      <p:ext uri="{BB962C8B-B14F-4D97-AF65-F5344CB8AC3E}">
        <p14:creationId xmlns:p14="http://schemas.microsoft.com/office/powerpoint/2010/main" val="1949726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2943" y="190999"/>
            <a:ext cx="10178322" cy="1040015"/>
          </a:xfrm>
        </p:spPr>
        <p:txBody>
          <a:bodyPr/>
          <a:lstStyle/>
          <a:p>
            <a:pPr algn="ctr"/>
            <a:r>
              <a:rPr lang="en-US" b="1" dirty="0">
                <a:solidFill>
                  <a:schemeClr val="accent4"/>
                </a:solidFill>
              </a:rPr>
              <a:t>Shared-Memory Systems</a:t>
            </a:r>
          </a:p>
        </p:txBody>
      </p:sp>
      <p:sp>
        <p:nvSpPr>
          <p:cNvPr id="3" name="Content Placeholder 2"/>
          <p:cNvSpPr>
            <a:spLocks noGrp="1"/>
          </p:cNvSpPr>
          <p:nvPr>
            <p:ph idx="1"/>
          </p:nvPr>
        </p:nvSpPr>
        <p:spPr>
          <a:xfrm>
            <a:off x="1251678" y="1422401"/>
            <a:ext cx="10178322" cy="5152570"/>
          </a:xfrm>
        </p:spPr>
        <p:txBody>
          <a:bodyPr>
            <a:normAutofit fontScale="92500" lnSpcReduction="20000"/>
          </a:bodyPr>
          <a:lstStyle/>
          <a:p>
            <a:pPr algn="just"/>
            <a:r>
              <a:rPr lang="en-US" dirty="0" smtClean="0"/>
              <a:t>Typically</a:t>
            </a:r>
            <a:r>
              <a:rPr lang="en-US" dirty="0"/>
              <a:t>, a </a:t>
            </a:r>
            <a:r>
              <a:rPr lang="en-US" dirty="0" smtClean="0"/>
              <a:t>shared-memory region </a:t>
            </a:r>
            <a:r>
              <a:rPr lang="en-US" dirty="0"/>
              <a:t>resides in the address space of the process creating the </a:t>
            </a:r>
            <a:r>
              <a:rPr lang="en-US" dirty="0" smtClean="0"/>
              <a:t>shared-memory segment</a:t>
            </a:r>
            <a:r>
              <a:rPr lang="en-US" dirty="0"/>
              <a:t>. </a:t>
            </a:r>
            <a:endParaRPr lang="en-US" dirty="0" smtClean="0"/>
          </a:p>
          <a:p>
            <a:pPr algn="just"/>
            <a:r>
              <a:rPr lang="en-US" dirty="0" smtClean="0"/>
              <a:t>Other </a:t>
            </a:r>
            <a:r>
              <a:rPr lang="en-US" dirty="0"/>
              <a:t>processes that wish to communicate using this </a:t>
            </a:r>
            <a:r>
              <a:rPr lang="en-US" dirty="0" smtClean="0"/>
              <a:t>shared-memory segment </a:t>
            </a:r>
            <a:r>
              <a:rPr lang="en-US" dirty="0"/>
              <a:t>must attach it to their address space. </a:t>
            </a:r>
            <a:endParaRPr lang="en-US" dirty="0" smtClean="0"/>
          </a:p>
          <a:p>
            <a:pPr algn="just"/>
            <a:r>
              <a:rPr lang="en-US" dirty="0" smtClean="0"/>
              <a:t>Recall </a:t>
            </a:r>
            <a:r>
              <a:rPr lang="en-US" dirty="0"/>
              <a:t>that, normally, </a:t>
            </a:r>
            <a:r>
              <a:rPr lang="en-US" dirty="0" smtClean="0"/>
              <a:t>the operating </a:t>
            </a:r>
            <a:r>
              <a:rPr lang="en-US" dirty="0"/>
              <a:t>system tries to prevent one process from accessing another </a:t>
            </a:r>
            <a:r>
              <a:rPr lang="en-US" dirty="0" smtClean="0"/>
              <a:t>process’s memory</a:t>
            </a:r>
            <a:r>
              <a:rPr lang="en-US" dirty="0"/>
              <a:t>. </a:t>
            </a:r>
            <a:endParaRPr lang="en-US" dirty="0" smtClean="0"/>
          </a:p>
          <a:p>
            <a:pPr algn="just"/>
            <a:r>
              <a:rPr lang="en-US" dirty="0" smtClean="0"/>
              <a:t>Shared </a:t>
            </a:r>
            <a:r>
              <a:rPr lang="en-US" dirty="0"/>
              <a:t>memory requires that two or more processes agree to </a:t>
            </a:r>
            <a:r>
              <a:rPr lang="en-US" dirty="0" smtClean="0"/>
              <a:t>remove this </a:t>
            </a:r>
            <a:r>
              <a:rPr lang="en-US" dirty="0"/>
              <a:t>restriction. </a:t>
            </a:r>
            <a:endParaRPr lang="en-US" dirty="0" smtClean="0"/>
          </a:p>
          <a:p>
            <a:pPr algn="just"/>
            <a:r>
              <a:rPr lang="en-US" dirty="0" smtClean="0"/>
              <a:t>They </a:t>
            </a:r>
            <a:r>
              <a:rPr lang="en-US" dirty="0"/>
              <a:t>can then exchange information by reading and </a:t>
            </a:r>
            <a:r>
              <a:rPr lang="en-US" dirty="0" smtClean="0"/>
              <a:t>writing data </a:t>
            </a:r>
            <a:r>
              <a:rPr lang="en-US" dirty="0"/>
              <a:t>in the shared areas. </a:t>
            </a:r>
            <a:endParaRPr lang="en-US" dirty="0" smtClean="0"/>
          </a:p>
          <a:p>
            <a:pPr algn="just"/>
            <a:r>
              <a:rPr lang="en-US" dirty="0" smtClean="0"/>
              <a:t>The </a:t>
            </a:r>
            <a:r>
              <a:rPr lang="en-US" dirty="0"/>
              <a:t>form of the data and the location are determined </a:t>
            </a:r>
            <a:r>
              <a:rPr lang="en-US" dirty="0" smtClean="0"/>
              <a:t>by these </a:t>
            </a:r>
            <a:r>
              <a:rPr lang="en-US" dirty="0"/>
              <a:t>processes and are not under the operating system’s control. </a:t>
            </a:r>
            <a:endParaRPr lang="en-US" dirty="0" smtClean="0"/>
          </a:p>
          <a:p>
            <a:pPr algn="just"/>
            <a:r>
              <a:rPr lang="en-US" dirty="0" smtClean="0"/>
              <a:t>The processes are </a:t>
            </a:r>
            <a:r>
              <a:rPr lang="en-US" dirty="0"/>
              <a:t>also responsible for ensuring that they are not writing to the same </a:t>
            </a:r>
            <a:r>
              <a:rPr lang="en-US" dirty="0" smtClean="0"/>
              <a:t>location simultaneously</a:t>
            </a:r>
            <a:r>
              <a:rPr lang="en-US" dirty="0"/>
              <a:t>.</a:t>
            </a:r>
          </a:p>
        </p:txBody>
      </p:sp>
    </p:spTree>
    <p:extLst>
      <p:ext uri="{BB962C8B-B14F-4D97-AF65-F5344CB8AC3E}">
        <p14:creationId xmlns:p14="http://schemas.microsoft.com/office/powerpoint/2010/main" val="3442770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6618" y="1117601"/>
            <a:ext cx="10178322" cy="5210628"/>
          </a:xfrm>
        </p:spPr>
        <p:txBody>
          <a:bodyPr>
            <a:normAutofit lnSpcReduction="10000"/>
          </a:bodyPr>
          <a:lstStyle/>
          <a:p>
            <a:pPr algn="just"/>
            <a:r>
              <a:rPr lang="en-US" sz="2400" dirty="0"/>
              <a:t>To illustrate the concept of cooperating processes, let’s consider </a:t>
            </a:r>
            <a:r>
              <a:rPr lang="en-US" sz="2400" dirty="0" smtClean="0"/>
              <a:t>the </a:t>
            </a:r>
            <a:r>
              <a:rPr lang="en-US" sz="2400" i="1" dirty="0" smtClean="0">
                <a:solidFill>
                  <a:schemeClr val="tx2">
                    <a:lumMod val="50000"/>
                    <a:lumOff val="50000"/>
                  </a:schemeClr>
                </a:solidFill>
              </a:rPr>
              <a:t>producer–consumer </a:t>
            </a:r>
            <a:r>
              <a:rPr lang="en-US" sz="2400" i="1" dirty="0">
                <a:solidFill>
                  <a:schemeClr val="tx2">
                    <a:lumMod val="50000"/>
                    <a:lumOff val="50000"/>
                  </a:schemeClr>
                </a:solidFill>
              </a:rPr>
              <a:t>problem</a:t>
            </a:r>
            <a:r>
              <a:rPr lang="en-US" sz="2400" dirty="0"/>
              <a:t>, which is a common paradigm for </a:t>
            </a:r>
            <a:r>
              <a:rPr lang="en-US" sz="2400" dirty="0" smtClean="0"/>
              <a:t>cooperating processes</a:t>
            </a:r>
            <a:r>
              <a:rPr lang="en-US" sz="2400" dirty="0"/>
              <a:t>. </a:t>
            </a:r>
            <a:endParaRPr lang="en-US" sz="2400" dirty="0" smtClean="0"/>
          </a:p>
          <a:p>
            <a:pPr algn="just"/>
            <a:r>
              <a:rPr lang="en-US" sz="2400" dirty="0" smtClean="0"/>
              <a:t>A </a:t>
            </a:r>
            <a:r>
              <a:rPr lang="en-US" sz="2400" b="1" dirty="0"/>
              <a:t>producer </a:t>
            </a:r>
            <a:r>
              <a:rPr lang="en-US" sz="2400" dirty="0"/>
              <a:t>process produces information that is consumed by </a:t>
            </a:r>
            <a:r>
              <a:rPr lang="en-US" sz="2400" dirty="0" smtClean="0"/>
              <a:t>a </a:t>
            </a:r>
            <a:r>
              <a:rPr lang="en-US" sz="2400" b="1" dirty="0" smtClean="0"/>
              <a:t>consumer </a:t>
            </a:r>
            <a:r>
              <a:rPr lang="en-US" sz="2400" dirty="0"/>
              <a:t>process. </a:t>
            </a:r>
            <a:endParaRPr lang="en-US" sz="2400" dirty="0" smtClean="0"/>
          </a:p>
          <a:p>
            <a:pPr algn="just"/>
            <a:r>
              <a:rPr lang="en-US" sz="2400" dirty="0" smtClean="0"/>
              <a:t>For </a:t>
            </a:r>
            <a:r>
              <a:rPr lang="en-US" sz="2400" dirty="0"/>
              <a:t>example, a compiler may produce assembly code </a:t>
            </a:r>
            <a:r>
              <a:rPr lang="en-US" sz="2400" dirty="0" smtClean="0"/>
              <a:t>that is </a:t>
            </a:r>
            <a:r>
              <a:rPr lang="en-US" sz="2400" dirty="0"/>
              <a:t>consumed by an assembler. </a:t>
            </a:r>
            <a:endParaRPr lang="en-US" sz="2400" dirty="0" smtClean="0"/>
          </a:p>
          <a:p>
            <a:pPr algn="just"/>
            <a:r>
              <a:rPr lang="en-US" sz="2400" dirty="0" smtClean="0"/>
              <a:t>The </a:t>
            </a:r>
            <a:r>
              <a:rPr lang="en-US" sz="2400" dirty="0"/>
              <a:t>assembler, in turn, may produce </a:t>
            </a:r>
            <a:r>
              <a:rPr lang="en-US" sz="2400" dirty="0" smtClean="0"/>
              <a:t>object modules </a:t>
            </a:r>
            <a:r>
              <a:rPr lang="en-US" sz="2400" dirty="0"/>
              <a:t>that are consumed by the loader. </a:t>
            </a:r>
            <a:endParaRPr lang="en-US" sz="2400" dirty="0" smtClean="0"/>
          </a:p>
          <a:p>
            <a:pPr algn="just"/>
            <a:r>
              <a:rPr lang="en-US" sz="2400" dirty="0" smtClean="0"/>
              <a:t>The </a:t>
            </a:r>
            <a:r>
              <a:rPr lang="en-US" sz="2400" dirty="0"/>
              <a:t>producer–consumer </a:t>
            </a:r>
            <a:r>
              <a:rPr lang="en-US" sz="2400" dirty="0" smtClean="0"/>
              <a:t>problem </a:t>
            </a:r>
            <a:r>
              <a:rPr lang="en-US" sz="2400" dirty="0"/>
              <a:t>also provides a useful metaphor for the client–server paradigm</a:t>
            </a:r>
            <a:r>
              <a:rPr lang="en-US" sz="2400" dirty="0" smtClean="0"/>
              <a:t>.</a:t>
            </a:r>
          </a:p>
          <a:p>
            <a:pPr algn="just"/>
            <a:r>
              <a:rPr lang="en-US" sz="2400" dirty="0" smtClean="0"/>
              <a:t>We generally think </a:t>
            </a:r>
            <a:r>
              <a:rPr lang="en-US" sz="2400" dirty="0"/>
              <a:t>of a server as a producer and a client as a consumer. For example, a </a:t>
            </a:r>
            <a:r>
              <a:rPr lang="en-US" sz="2400" dirty="0" smtClean="0"/>
              <a:t>web server </a:t>
            </a:r>
            <a:r>
              <a:rPr lang="en-US" sz="2400" dirty="0"/>
              <a:t>produces (that is, provides) HTML files and images, which are </a:t>
            </a:r>
            <a:r>
              <a:rPr lang="en-US" sz="2400" dirty="0" smtClean="0"/>
              <a:t>consumed (that </a:t>
            </a:r>
            <a:r>
              <a:rPr lang="en-US" sz="2400" dirty="0"/>
              <a:t>is, read) by the client web browser requesting the resource.</a:t>
            </a:r>
            <a:endParaRPr lang="en-US" sz="2400" dirty="0" smtClean="0"/>
          </a:p>
          <a:p>
            <a:endParaRPr lang="en-US" dirty="0"/>
          </a:p>
        </p:txBody>
      </p:sp>
    </p:spTree>
    <p:extLst>
      <p:ext uri="{BB962C8B-B14F-4D97-AF65-F5344CB8AC3E}">
        <p14:creationId xmlns:p14="http://schemas.microsoft.com/office/powerpoint/2010/main" val="11656213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4733" y="1197430"/>
            <a:ext cx="10842171" cy="5660570"/>
          </a:xfrm>
        </p:spPr>
        <p:txBody>
          <a:bodyPr>
            <a:noAutofit/>
          </a:bodyPr>
          <a:lstStyle/>
          <a:p>
            <a:pPr algn="just"/>
            <a:r>
              <a:rPr lang="en-US" sz="2400" dirty="0"/>
              <a:t>One solution to the producer–consumer problem uses shared memory. </a:t>
            </a:r>
            <a:endParaRPr lang="en-US" sz="2400" dirty="0" smtClean="0"/>
          </a:p>
          <a:p>
            <a:pPr algn="just"/>
            <a:r>
              <a:rPr lang="en-US" sz="2400" dirty="0" smtClean="0"/>
              <a:t>To allow </a:t>
            </a:r>
            <a:r>
              <a:rPr lang="en-US" sz="2400" dirty="0"/>
              <a:t>producer and consumer processes to run concurrently, we must </a:t>
            </a:r>
            <a:r>
              <a:rPr lang="en-US" sz="2400" dirty="0" smtClean="0"/>
              <a:t>have available </a:t>
            </a:r>
            <a:r>
              <a:rPr lang="en-US" sz="2400" dirty="0"/>
              <a:t>a buffer of items that can be filled by the producer and emptied </a:t>
            </a:r>
            <a:r>
              <a:rPr lang="en-US" sz="2400" dirty="0" smtClean="0"/>
              <a:t>by the </a:t>
            </a:r>
            <a:r>
              <a:rPr lang="en-US" sz="2400" dirty="0"/>
              <a:t>consumer</a:t>
            </a:r>
            <a:r>
              <a:rPr lang="en-US" sz="2400" dirty="0" smtClean="0"/>
              <a:t>.</a:t>
            </a:r>
          </a:p>
          <a:p>
            <a:pPr algn="just"/>
            <a:r>
              <a:rPr lang="en-US" sz="2400" dirty="0"/>
              <a:t>The producer and consumer </a:t>
            </a:r>
            <a:r>
              <a:rPr lang="en-US" sz="2400" dirty="0" smtClean="0"/>
              <a:t>must be </a:t>
            </a:r>
            <a:r>
              <a:rPr lang="en-US" sz="2400" dirty="0"/>
              <a:t>synchronized, so that the consumer does not try to consume an item </a:t>
            </a:r>
            <a:r>
              <a:rPr lang="en-US" sz="2400" dirty="0" smtClean="0"/>
              <a:t>that has </a:t>
            </a:r>
            <a:r>
              <a:rPr lang="en-US" sz="2400" dirty="0"/>
              <a:t>not yet been produced</a:t>
            </a:r>
            <a:r>
              <a:rPr lang="en-US" sz="2400" dirty="0" smtClean="0"/>
              <a:t>.</a:t>
            </a:r>
          </a:p>
          <a:p>
            <a:pPr algn="just"/>
            <a:r>
              <a:rPr lang="en-US" sz="2400" dirty="0"/>
              <a:t>Two types of buffers can be used. </a:t>
            </a:r>
            <a:endParaRPr lang="en-US" sz="2400" dirty="0" smtClean="0"/>
          </a:p>
          <a:p>
            <a:pPr algn="just"/>
            <a:r>
              <a:rPr lang="en-US" sz="2400" dirty="0" smtClean="0"/>
              <a:t>The </a:t>
            </a:r>
            <a:r>
              <a:rPr lang="en-US" sz="2400" b="1" i="1" dirty="0">
                <a:solidFill>
                  <a:schemeClr val="tx2">
                    <a:lumMod val="50000"/>
                    <a:lumOff val="50000"/>
                  </a:schemeClr>
                </a:solidFill>
              </a:rPr>
              <a:t>unbounded buffer </a:t>
            </a:r>
            <a:r>
              <a:rPr lang="en-US" sz="2400" dirty="0"/>
              <a:t>places no </a:t>
            </a:r>
            <a:r>
              <a:rPr lang="en-US" sz="2400" dirty="0" smtClean="0"/>
              <a:t>practical limit </a:t>
            </a:r>
            <a:r>
              <a:rPr lang="en-US" sz="2400" dirty="0"/>
              <a:t>on the size of the buffer. </a:t>
            </a:r>
            <a:endParaRPr lang="en-US" sz="2400" dirty="0" smtClean="0"/>
          </a:p>
          <a:p>
            <a:pPr algn="just"/>
            <a:r>
              <a:rPr lang="en-US" sz="2400" dirty="0" smtClean="0"/>
              <a:t>The </a:t>
            </a:r>
            <a:r>
              <a:rPr lang="en-US" sz="2400" dirty="0"/>
              <a:t>consumer may have to wait for new </a:t>
            </a:r>
            <a:r>
              <a:rPr lang="en-US" sz="2400" dirty="0" smtClean="0"/>
              <a:t>items, but </a:t>
            </a:r>
            <a:r>
              <a:rPr lang="en-US" sz="2400" dirty="0"/>
              <a:t>the producer can always produce new items. </a:t>
            </a:r>
            <a:endParaRPr lang="en-US" sz="2400" dirty="0" smtClean="0"/>
          </a:p>
          <a:p>
            <a:pPr algn="just"/>
            <a:r>
              <a:rPr lang="en-US" sz="2400" dirty="0" smtClean="0"/>
              <a:t>The </a:t>
            </a:r>
            <a:r>
              <a:rPr lang="en-US" sz="2400" b="1" i="1" dirty="0">
                <a:solidFill>
                  <a:schemeClr val="tx2">
                    <a:lumMod val="50000"/>
                    <a:lumOff val="50000"/>
                  </a:schemeClr>
                </a:solidFill>
              </a:rPr>
              <a:t>bounded buffer </a:t>
            </a:r>
            <a:r>
              <a:rPr lang="en-US" sz="2400" dirty="0" smtClean="0"/>
              <a:t>assumes a </a:t>
            </a:r>
            <a:r>
              <a:rPr lang="en-US" sz="2400" dirty="0"/>
              <a:t>fixed buffer size</a:t>
            </a:r>
            <a:r>
              <a:rPr lang="en-US" sz="2400" dirty="0" smtClean="0"/>
              <a:t>.</a:t>
            </a:r>
          </a:p>
          <a:p>
            <a:pPr algn="just"/>
            <a:r>
              <a:rPr lang="en-US" sz="2400" dirty="0" smtClean="0"/>
              <a:t> </a:t>
            </a:r>
            <a:r>
              <a:rPr lang="en-US" sz="2400" dirty="0"/>
              <a:t>In this case, the consumer must wait if the buffer is </a:t>
            </a:r>
            <a:r>
              <a:rPr lang="en-US" sz="2400" dirty="0" smtClean="0"/>
              <a:t>empty, and </a:t>
            </a:r>
            <a:r>
              <a:rPr lang="en-US" sz="2400" dirty="0"/>
              <a:t>the producer must wait if the buffer is full.</a:t>
            </a:r>
          </a:p>
        </p:txBody>
      </p:sp>
    </p:spTree>
    <p:extLst>
      <p:ext uri="{BB962C8B-B14F-4D97-AF65-F5344CB8AC3E}">
        <p14:creationId xmlns:p14="http://schemas.microsoft.com/office/powerpoint/2010/main" val="3204288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78758"/>
          </a:xfrm>
        </p:spPr>
        <p:txBody>
          <a:bodyPr>
            <a:normAutofit/>
          </a:bodyPr>
          <a:lstStyle/>
          <a:p>
            <a:pPr algn="ctr"/>
            <a:r>
              <a:rPr lang="en-US" b="1" dirty="0">
                <a:solidFill>
                  <a:schemeClr val="accent4"/>
                </a:solidFill>
              </a:rPr>
              <a:t>Message-Passing Systems</a:t>
            </a:r>
          </a:p>
        </p:txBody>
      </p:sp>
      <p:sp>
        <p:nvSpPr>
          <p:cNvPr id="3" name="Content Placeholder 2"/>
          <p:cNvSpPr>
            <a:spLocks noGrp="1"/>
          </p:cNvSpPr>
          <p:nvPr>
            <p:ph idx="1"/>
          </p:nvPr>
        </p:nvSpPr>
        <p:spPr>
          <a:xfrm>
            <a:off x="1030514" y="1161143"/>
            <a:ext cx="10399486" cy="4718449"/>
          </a:xfrm>
        </p:spPr>
        <p:txBody>
          <a:bodyPr>
            <a:noAutofit/>
          </a:bodyPr>
          <a:lstStyle/>
          <a:p>
            <a:pPr algn="just"/>
            <a:r>
              <a:rPr lang="en-US" sz="2400" dirty="0"/>
              <a:t>The scheme requires that these processes share </a:t>
            </a:r>
            <a:r>
              <a:rPr lang="en-US" sz="2400" dirty="0" smtClean="0"/>
              <a:t>a region </a:t>
            </a:r>
            <a:r>
              <a:rPr lang="en-US" sz="2400" dirty="0"/>
              <a:t>of memory and that the code for accessing and manipulating the </a:t>
            </a:r>
            <a:r>
              <a:rPr lang="en-US" sz="2400" dirty="0" smtClean="0"/>
              <a:t>shared memory </a:t>
            </a:r>
            <a:r>
              <a:rPr lang="en-US" sz="2400" dirty="0"/>
              <a:t>be written explicitly by the application programmer. </a:t>
            </a:r>
            <a:endParaRPr lang="en-US" sz="2400" dirty="0" smtClean="0"/>
          </a:p>
          <a:p>
            <a:pPr algn="just"/>
            <a:r>
              <a:rPr lang="en-US" sz="2400" dirty="0" smtClean="0"/>
              <a:t>Another </a:t>
            </a:r>
            <a:r>
              <a:rPr lang="en-US" sz="2400" dirty="0"/>
              <a:t>way </a:t>
            </a:r>
            <a:r>
              <a:rPr lang="en-US" sz="2400" dirty="0" smtClean="0"/>
              <a:t>to achieve </a:t>
            </a:r>
            <a:r>
              <a:rPr lang="en-US" sz="2400" dirty="0"/>
              <a:t>the same effect is for the operating system to provide the means </a:t>
            </a:r>
            <a:r>
              <a:rPr lang="en-US" sz="2400" dirty="0" smtClean="0"/>
              <a:t>for cooperating </a:t>
            </a:r>
            <a:r>
              <a:rPr lang="en-US" sz="2400" dirty="0"/>
              <a:t>processes to communicate with each other via a </a:t>
            </a:r>
            <a:r>
              <a:rPr lang="en-US" sz="2400" dirty="0" smtClean="0"/>
              <a:t>message-passing facility.</a:t>
            </a:r>
          </a:p>
          <a:p>
            <a:pPr algn="just"/>
            <a:r>
              <a:rPr lang="en-US" sz="2400" dirty="0"/>
              <a:t>Message passing provides a mechanism to allow processes to </a:t>
            </a:r>
            <a:r>
              <a:rPr lang="en-US" sz="2400" dirty="0" smtClean="0"/>
              <a:t>communicate and </a:t>
            </a:r>
            <a:r>
              <a:rPr lang="en-US" sz="2400" dirty="0"/>
              <a:t>to synchronize their actions without sharing the same address space. </a:t>
            </a:r>
            <a:endParaRPr lang="en-US" sz="2400" dirty="0" smtClean="0"/>
          </a:p>
          <a:p>
            <a:pPr algn="just"/>
            <a:r>
              <a:rPr lang="en-US" sz="2400" dirty="0" smtClean="0"/>
              <a:t>It is particularly </a:t>
            </a:r>
            <a:r>
              <a:rPr lang="en-US" sz="2400" dirty="0"/>
              <a:t>useful in a distributed environment, where the </a:t>
            </a:r>
            <a:r>
              <a:rPr lang="en-US" sz="2400" dirty="0" smtClean="0"/>
              <a:t>communicating processes </a:t>
            </a:r>
            <a:r>
              <a:rPr lang="en-US" sz="2400" dirty="0"/>
              <a:t>may reside on different computers connected by a network. </a:t>
            </a:r>
            <a:endParaRPr lang="en-US" sz="2400" dirty="0" smtClean="0"/>
          </a:p>
          <a:p>
            <a:pPr algn="just"/>
            <a:r>
              <a:rPr lang="en-US" sz="2400" dirty="0" smtClean="0"/>
              <a:t>For example</a:t>
            </a:r>
            <a:r>
              <a:rPr lang="en-US" sz="2400" dirty="0"/>
              <a:t>, an Internet chat program could be designed so that chat </a:t>
            </a:r>
            <a:r>
              <a:rPr lang="en-US" sz="2400" dirty="0" smtClean="0"/>
              <a:t>participants communicate </a:t>
            </a:r>
            <a:r>
              <a:rPr lang="en-US" sz="2400" dirty="0"/>
              <a:t>with one another by exchanging messages.</a:t>
            </a:r>
          </a:p>
        </p:txBody>
      </p:sp>
    </p:spTree>
    <p:extLst>
      <p:ext uri="{BB962C8B-B14F-4D97-AF65-F5344CB8AC3E}">
        <p14:creationId xmlns:p14="http://schemas.microsoft.com/office/powerpoint/2010/main" val="28491796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1678" y="1175657"/>
            <a:ext cx="10178322" cy="5558972"/>
          </a:xfrm>
        </p:spPr>
        <p:txBody>
          <a:bodyPr>
            <a:noAutofit/>
          </a:bodyPr>
          <a:lstStyle/>
          <a:p>
            <a:pPr algn="just"/>
            <a:r>
              <a:rPr lang="en-US" sz="2400" dirty="0"/>
              <a:t>A message-passing facility provides at least two </a:t>
            </a:r>
            <a:r>
              <a:rPr lang="en-US" sz="2400" dirty="0" smtClean="0"/>
              <a:t>operations:</a:t>
            </a:r>
          </a:p>
          <a:p>
            <a:pPr algn="just"/>
            <a:r>
              <a:rPr lang="en-US" sz="2400" dirty="0" smtClean="0"/>
              <a:t>send(message</a:t>
            </a:r>
            <a:r>
              <a:rPr lang="en-US" sz="2400" dirty="0"/>
              <a:t>) </a:t>
            </a:r>
            <a:r>
              <a:rPr lang="en-US" sz="2400" dirty="0" smtClean="0"/>
              <a:t>		receive(message)</a:t>
            </a:r>
          </a:p>
          <a:p>
            <a:pPr algn="just"/>
            <a:r>
              <a:rPr lang="en-US" sz="2400" dirty="0"/>
              <a:t>Messages sent by a process can be either fixed or variable in size. </a:t>
            </a:r>
            <a:endParaRPr lang="en-US" sz="2400" dirty="0" smtClean="0"/>
          </a:p>
          <a:p>
            <a:pPr algn="just"/>
            <a:r>
              <a:rPr lang="en-US" sz="2400" dirty="0" smtClean="0"/>
              <a:t>If only fixed-sized </a:t>
            </a:r>
            <a:r>
              <a:rPr lang="en-US" sz="2400" dirty="0"/>
              <a:t>messages can be sent, the system-level implementation is </a:t>
            </a:r>
            <a:r>
              <a:rPr lang="en-US" sz="2400" dirty="0" smtClean="0"/>
              <a:t>straightforward. This </a:t>
            </a:r>
            <a:r>
              <a:rPr lang="en-US" sz="2400" dirty="0"/>
              <a:t>restriction, however, makes the task of programming </a:t>
            </a:r>
            <a:r>
              <a:rPr lang="en-US" sz="2400" dirty="0" smtClean="0"/>
              <a:t>more difficult</a:t>
            </a:r>
            <a:r>
              <a:rPr lang="en-US" sz="2400" dirty="0"/>
              <a:t>. </a:t>
            </a:r>
            <a:endParaRPr lang="en-US" sz="2400" dirty="0" smtClean="0"/>
          </a:p>
          <a:p>
            <a:pPr algn="just"/>
            <a:r>
              <a:rPr lang="en-US" sz="2400" dirty="0" smtClean="0"/>
              <a:t>Conversely</a:t>
            </a:r>
            <a:r>
              <a:rPr lang="en-US" sz="2400" dirty="0"/>
              <a:t>, variable-sized messages require a more complex </a:t>
            </a:r>
            <a:r>
              <a:rPr lang="en-US" sz="2400" dirty="0" smtClean="0"/>
              <a:t>system </a:t>
            </a:r>
            <a:r>
              <a:rPr lang="en-US" sz="2400" dirty="0"/>
              <a:t>level implementation, but the programming task becomes simpler. This is </a:t>
            </a:r>
            <a:r>
              <a:rPr lang="en-US" sz="2400" dirty="0" smtClean="0"/>
              <a:t>a common </a:t>
            </a:r>
            <a:r>
              <a:rPr lang="en-US" sz="2400" dirty="0"/>
              <a:t>kind of tradeoff seen throughout operating-system design.</a:t>
            </a:r>
          </a:p>
        </p:txBody>
      </p:sp>
    </p:spTree>
    <p:extLst>
      <p:ext uri="{BB962C8B-B14F-4D97-AF65-F5344CB8AC3E}">
        <p14:creationId xmlns:p14="http://schemas.microsoft.com/office/powerpoint/2010/main" val="1573599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6400" y="3124200"/>
            <a:ext cx="6299200" cy="990600"/>
          </a:xfrm>
        </p:spPr>
        <p:txBody>
          <a:bodyPr>
            <a:noAutofit/>
          </a:bodyPr>
          <a:lstStyle/>
          <a:p>
            <a:r>
              <a:rPr lang="en-US" sz="6600" b="1" dirty="0" smtClean="0"/>
              <a:t>Questions?</a:t>
            </a:r>
            <a:endParaRPr lang="en-US" sz="6600" b="1" dirty="0"/>
          </a:p>
        </p:txBody>
      </p:sp>
    </p:spTree>
    <p:extLst>
      <p:ext uri="{BB962C8B-B14F-4D97-AF65-F5344CB8AC3E}">
        <p14:creationId xmlns:p14="http://schemas.microsoft.com/office/powerpoint/2010/main" val="1657673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cture 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TotalTime>
  <Words>2729</Words>
  <Application>Microsoft Office PowerPoint</Application>
  <PresentationFormat>Custom</PresentationFormat>
  <Paragraphs>196</Paragraphs>
  <Slides>37</Slides>
  <Notes>0</Notes>
  <HiddenSlides>0</HiddenSlides>
  <MMClips>0</MMClips>
  <ScaleCrop>false</ScaleCrop>
  <HeadingPairs>
    <vt:vector size="4" baseType="variant">
      <vt:variant>
        <vt:lpstr>Theme</vt:lpstr>
      </vt:variant>
      <vt:variant>
        <vt:i4>3</vt:i4>
      </vt:variant>
      <vt:variant>
        <vt:lpstr>Slide Titles</vt:lpstr>
      </vt:variant>
      <vt:variant>
        <vt:i4>37</vt:i4>
      </vt:variant>
    </vt:vector>
  </HeadingPairs>
  <TitlesOfParts>
    <vt:vector size="40" baseType="lpstr">
      <vt:lpstr>Office Theme</vt:lpstr>
      <vt:lpstr>Lecture 6</vt:lpstr>
      <vt:lpstr>1_Office Theme</vt:lpstr>
      <vt:lpstr>Lecture #9</vt:lpstr>
      <vt:lpstr>Operating system  by  Saima Kanwal</vt:lpstr>
      <vt:lpstr>Process Concept</vt:lpstr>
      <vt:lpstr>Example</vt:lpstr>
      <vt:lpstr>Process State</vt:lpstr>
      <vt:lpstr>PowerPoint Presentation</vt:lpstr>
      <vt:lpstr>Process Control Block</vt:lpstr>
      <vt:lpstr>Cont.</vt:lpstr>
      <vt:lpstr>Cont.</vt:lpstr>
      <vt:lpstr>Threads</vt:lpstr>
      <vt:lpstr>Process Scheduling</vt:lpstr>
      <vt:lpstr>Scheduling Queues</vt:lpstr>
      <vt:lpstr>PowerPoint Presentation</vt:lpstr>
      <vt:lpstr>Cont.</vt:lpstr>
      <vt:lpstr>PowerPoint Presentation</vt:lpstr>
      <vt:lpstr>Cont.</vt:lpstr>
      <vt:lpstr>Schedulers</vt:lpstr>
      <vt:lpstr>short-term scheduler</vt:lpstr>
      <vt:lpstr>long-term scheduler</vt:lpstr>
      <vt:lpstr>Context Switch</vt:lpstr>
      <vt:lpstr>Context Switch</vt:lpstr>
      <vt:lpstr>Cont.</vt:lpstr>
      <vt:lpstr>Homework</vt:lpstr>
      <vt:lpstr>Operations on Processes</vt:lpstr>
      <vt:lpstr>Process Creation</vt:lpstr>
      <vt:lpstr>Cont.</vt:lpstr>
      <vt:lpstr>Interprocess Communication</vt:lpstr>
      <vt:lpstr>Cont.</vt:lpstr>
      <vt:lpstr>Cont.</vt:lpstr>
      <vt:lpstr>Messaging passing vs shared memory</vt:lpstr>
      <vt:lpstr>Cont.</vt:lpstr>
      <vt:lpstr>Shared-Memory Systems</vt:lpstr>
      <vt:lpstr>PowerPoint Presentation</vt:lpstr>
      <vt:lpstr>PowerPoint Presentation</vt:lpstr>
      <vt:lpstr>Message-Passing Systems</vt:lpstr>
      <vt:lpstr>PowerPoint Presentation</vt:lpstr>
      <vt:lpstr>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Saima Kanwal</cp:lastModifiedBy>
  <cp:revision>157</cp:revision>
  <dcterms:created xsi:type="dcterms:W3CDTF">2024-06-21T09:49:00Z</dcterms:created>
  <dcterms:modified xsi:type="dcterms:W3CDTF">2025-03-12T05:31:16Z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D61AE8DE3F6049F98ADA58C240837B38_12</vt:lpwstr>
  </property>
  <property fmtid="{D5CDD505-2E9C-101B-9397-08002B2CF9AE}" pid="3" name="KSOProductBuildVer">
    <vt:lpwstr>1033-12.2.0.13472</vt:lpwstr>
  </property>
</Properties>
</file>