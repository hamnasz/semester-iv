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notesMasterIdLst>
    <p:notesMasterId r:id="rId19"/>
  </p:notesMasterIdLst>
  <p:sldIdLst>
    <p:sldId id="273" r:id="rId4"/>
    <p:sldId id="952" r:id="rId5"/>
    <p:sldId id="953" r:id="rId6"/>
    <p:sldId id="954" r:id="rId7"/>
    <p:sldId id="955" r:id="rId8"/>
    <p:sldId id="956" r:id="rId9"/>
    <p:sldId id="957" r:id="rId10"/>
    <p:sldId id="958" r:id="rId11"/>
    <p:sldId id="959" r:id="rId12"/>
    <p:sldId id="960" r:id="rId13"/>
    <p:sldId id="961" r:id="rId14"/>
    <p:sldId id="962" r:id="rId15"/>
    <p:sldId id="963" r:id="rId16"/>
    <p:sldId id="964" r:id="rId17"/>
    <p:sldId id="965" r:id="rId18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9" autoAdjust="0"/>
    <p:restoredTop sz="90326" autoAdjust="0"/>
  </p:normalViewPr>
  <p:slideViewPr>
    <p:cSldViewPr snapToGrid="0">
      <p:cViewPr>
        <p:scale>
          <a:sx n="90" d="100"/>
          <a:sy n="90" d="100"/>
        </p:scale>
        <p:origin x="-1644" y="-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DD3B8-2E01-4CE0-B02F-91BFC8CDC8FD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2658C-66DA-4116-8E6C-1579936CD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7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7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="" xmlns:a16="http://schemas.microsoft.com/office/drawing/2014/main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=""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="" xmlns:a16="http://schemas.microsoft.com/office/drawing/2014/main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=""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=""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=""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3/6/2025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3" y="393485"/>
            <a:ext cx="3067051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accent4"/>
                </a:solidFill>
              </a:rPr>
              <a:t>User and Operating-System Interface, </a:t>
            </a:r>
            <a:r>
              <a:rPr lang="en-US" sz="3600" b="1">
                <a:solidFill>
                  <a:schemeClr val="accent4"/>
                </a:solidFill>
              </a:rPr>
              <a:t>System </a:t>
            </a:r>
            <a:r>
              <a:rPr lang="en-US" sz="3600" b="1" smtClean="0">
                <a:solidFill>
                  <a:schemeClr val="accent4"/>
                </a:solidFill>
              </a:rPr>
              <a:t>Calls</a:t>
            </a:r>
            <a:endParaRPr lang="en-US" sz="3600" b="1" dirty="0">
              <a:solidFill>
                <a:schemeClr val="accent4"/>
              </a:solidFill>
            </a:endParaRP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4"/>
                </a:solidFill>
              </a:rPr>
              <a:t>Lecture #6</a:t>
            </a:r>
            <a:endParaRPr lang="en-US" b="1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733" y="19579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4"/>
                </a:solidFill>
              </a:rPr>
              <a:t>User and Operating-System Interface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Users interact with the operating system through a </a:t>
            </a:r>
            <a:r>
              <a:rPr lang="en-US" b="1" dirty="0"/>
              <a:t>command-line interface (CLI)</a:t>
            </a:r>
            <a:r>
              <a:rPr lang="en-US" dirty="0"/>
              <a:t> or a </a:t>
            </a:r>
            <a:r>
              <a:rPr lang="en-US" b="1" dirty="0"/>
              <a:t>graphical user interface (GUI)</a:t>
            </a:r>
            <a:r>
              <a:rPr lang="en-US" dirty="0"/>
              <a:t>. The CLI lets users enter text commands directly, while the GUI provides a visual interface with icons and windows for easier navigation.</a:t>
            </a:r>
          </a:p>
        </p:txBody>
      </p:sp>
    </p:spTree>
    <p:extLst>
      <p:ext uri="{BB962C8B-B14F-4D97-AF65-F5344CB8AC3E}">
        <p14:creationId xmlns:p14="http://schemas.microsoft.com/office/powerpoint/2010/main" val="317126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733" y="1619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Command Interpreters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Low">
              <a:buNone/>
            </a:pPr>
            <a:r>
              <a:rPr lang="en-US" dirty="0"/>
              <a:t>A </a:t>
            </a:r>
            <a:r>
              <a:rPr lang="en-US" b="1" dirty="0"/>
              <a:t>command interpreter</a:t>
            </a:r>
            <a:r>
              <a:rPr lang="en-US" dirty="0"/>
              <a:t> (or shell) allows users to enter commands. Some </a:t>
            </a:r>
            <a:r>
              <a:rPr lang="en-US" dirty="0" err="1"/>
              <a:t>OSes</a:t>
            </a:r>
            <a:r>
              <a:rPr lang="en-US" dirty="0"/>
              <a:t> have it built into the kernel, while others run it as a separate program. UNIX and Linux offer different shells like Bourne, C, and </a:t>
            </a:r>
            <a:r>
              <a:rPr lang="en-US" dirty="0" err="1"/>
              <a:t>Korn</a:t>
            </a:r>
            <a:r>
              <a:rPr lang="en-US" dirty="0"/>
              <a:t>. Shells mainly manage files and run commands, either directly or by calling system functions.</a:t>
            </a:r>
          </a:p>
        </p:txBody>
      </p:sp>
    </p:spTree>
    <p:extLst>
      <p:ext uri="{BB962C8B-B14F-4D97-AF65-F5344CB8AC3E}">
        <p14:creationId xmlns:p14="http://schemas.microsoft.com/office/powerpoint/2010/main" val="2976590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Low">
              <a:buNone/>
            </a:pPr>
            <a:r>
              <a:rPr lang="en-US" dirty="0"/>
              <a:t>In UNIX and similar operating systems, most commands are separate programs rather than built into the shell. When a user enters a command, the shell searches for the corresponding program, loads it into memory, and runs it with any given parameters</a:t>
            </a:r>
            <a:r>
              <a:rPr lang="en-US" dirty="0" smtClean="0"/>
              <a:t>.</a:t>
            </a:r>
          </a:p>
          <a:p>
            <a:pPr marL="0" indent="0" algn="justLow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56" y="3429000"/>
            <a:ext cx="2309812" cy="1165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89000" y="4544594"/>
            <a:ext cx="11303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tells the shell to find the </a:t>
            </a: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rm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program, load it, and execute it with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file.txt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as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This approach allows users to add new commands easily by creating new programs without modifying the shell itself.</a:t>
            </a:r>
          </a:p>
        </p:txBody>
      </p:sp>
    </p:spTree>
    <p:extLst>
      <p:ext uri="{BB962C8B-B14F-4D97-AF65-F5344CB8AC3E}">
        <p14:creationId xmlns:p14="http://schemas.microsoft.com/office/powerpoint/2010/main" val="157752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345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Graphical User Interface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dirty="0"/>
              <a:t>Graphical User Interface (GUI)</a:t>
            </a:r>
            <a:r>
              <a:rPr lang="en-US" dirty="0"/>
              <a:t> allows users to interact with the OS using a mouse or touchscreen instead of typing commands. The </a:t>
            </a:r>
            <a:r>
              <a:rPr lang="en-US" b="1" dirty="0"/>
              <a:t>desktop</a:t>
            </a:r>
            <a:r>
              <a:rPr lang="en-US" dirty="0"/>
              <a:t> displays icons for programs, files, and system functions, which users can open by clicking or tapping.</a:t>
            </a:r>
          </a:p>
          <a:p>
            <a:pPr algn="just"/>
            <a:r>
              <a:rPr lang="en-US" dirty="0"/>
              <a:t>GUIs became popular with the </a:t>
            </a:r>
            <a:r>
              <a:rPr lang="en-US" b="1" dirty="0"/>
              <a:t>Apple Macintosh</a:t>
            </a:r>
            <a:r>
              <a:rPr lang="en-US" dirty="0"/>
              <a:t> in the 1980s and </a:t>
            </a:r>
            <a:r>
              <a:rPr lang="en-US" b="1" dirty="0"/>
              <a:t>Microsoft Windows</a:t>
            </a:r>
            <a:r>
              <a:rPr lang="en-US" dirty="0"/>
              <a:t>, which added a GUI to MS-DOS. Mobile devices use </a:t>
            </a:r>
            <a:r>
              <a:rPr lang="en-US" b="1" dirty="0"/>
              <a:t>touchscreens</a:t>
            </a:r>
            <a:r>
              <a:rPr lang="en-US" dirty="0"/>
              <a:t> with gestures like tapping and swiping.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783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UNIX traditionally used a </a:t>
            </a:r>
            <a:r>
              <a:rPr lang="en-US" b="1" dirty="0"/>
              <a:t>command-line interface (CLI)</a:t>
            </a:r>
            <a:r>
              <a:rPr lang="en-US" dirty="0"/>
              <a:t> but now supports GUIs like </a:t>
            </a:r>
            <a:r>
              <a:rPr lang="en-US" b="1" dirty="0"/>
              <a:t>CDE, X-Windows, KDE, and GNOME</a:t>
            </a:r>
            <a:r>
              <a:rPr lang="en-US" dirty="0"/>
              <a:t>, especially on Linux. Many of these are open-source, allowing customization and development.</a:t>
            </a:r>
          </a:p>
        </p:txBody>
      </p:sp>
    </p:spTree>
    <p:extLst>
      <p:ext uri="{BB962C8B-B14F-4D97-AF65-F5344CB8AC3E}">
        <p14:creationId xmlns:p14="http://schemas.microsoft.com/office/powerpoint/2010/main" val="3040897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choice between </a:t>
            </a:r>
            <a:r>
              <a:rPr lang="en-US" b="1" dirty="0"/>
              <a:t>CLI (Command-Line Interface) and GUI (Graphical User Interface)</a:t>
            </a:r>
            <a:r>
              <a:rPr lang="en-US" dirty="0"/>
              <a:t> depends on user needs.</a:t>
            </a:r>
          </a:p>
          <a:p>
            <a:pPr algn="just"/>
            <a:r>
              <a:rPr lang="en-US" b="1" dirty="0"/>
              <a:t>CLI</a:t>
            </a:r>
            <a:r>
              <a:rPr lang="en-US" dirty="0"/>
              <a:t> is preferred by system administrators and advanced users because it is </a:t>
            </a:r>
            <a:r>
              <a:rPr lang="en-US" b="1" dirty="0"/>
              <a:t>faster, more powerful, and allows automation</a:t>
            </a:r>
            <a:r>
              <a:rPr lang="en-US" dirty="0"/>
              <a:t> through </a:t>
            </a:r>
            <a:r>
              <a:rPr lang="en-US" b="1" dirty="0"/>
              <a:t>shell scripts</a:t>
            </a:r>
            <a:r>
              <a:rPr lang="en-US" dirty="0"/>
              <a:t> (common in UNIX and Linux).</a:t>
            </a:r>
          </a:p>
          <a:p>
            <a:pPr algn="just"/>
            <a:r>
              <a:rPr lang="en-US" b="1" dirty="0"/>
              <a:t>GUI</a:t>
            </a:r>
            <a:r>
              <a:rPr lang="en-US" dirty="0"/>
              <a:t> is easier for general users, like those on </a:t>
            </a:r>
            <a:r>
              <a:rPr lang="en-US" b="1" dirty="0"/>
              <a:t>Windows and Mac</a:t>
            </a:r>
            <a:r>
              <a:rPr lang="en-US" dirty="0"/>
              <a:t>, who rarely use the command line.</a:t>
            </a:r>
          </a:p>
          <a:p>
            <a:pPr algn="just"/>
            <a:r>
              <a:rPr lang="en-US" dirty="0"/>
              <a:t>Mac OS originally had only a GUI but introduced a CLI with </a:t>
            </a:r>
            <a:r>
              <a:rPr lang="en-US" b="1" dirty="0"/>
              <a:t>Mac OS X</a:t>
            </a:r>
            <a:r>
              <a:rPr lang="en-US" dirty="0"/>
              <a:t>, since it is based on a UNIX kernel.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273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User interfaces vary by system and user but are separate from the OS's core structure. Designing a user-friendly interface is not the OS's main function.</a:t>
            </a:r>
          </a:p>
        </p:txBody>
      </p:sp>
    </p:spTree>
    <p:extLst>
      <p:ext uri="{BB962C8B-B14F-4D97-AF65-F5344CB8AC3E}">
        <p14:creationId xmlns:p14="http://schemas.microsoft.com/office/powerpoint/2010/main" val="3476032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866" y="14499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System calls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System calls</a:t>
            </a:r>
            <a:r>
              <a:rPr lang="en-US" dirty="0"/>
              <a:t> allow programs to request services from the operating system. They are usually written in </a:t>
            </a:r>
            <a:r>
              <a:rPr lang="en-US" b="1" dirty="0"/>
              <a:t>C or C++</a:t>
            </a:r>
            <a:r>
              <a:rPr lang="en-US" dirty="0"/>
              <a:t>, with some low-level tasks using </a:t>
            </a:r>
            <a:r>
              <a:rPr lang="en-US" b="1" dirty="0"/>
              <a:t>assembly language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For example, copying data from one file to another requires multiple </a:t>
            </a:r>
            <a:r>
              <a:rPr lang="en-US" b="1" dirty="0"/>
              <a:t>system calls</a:t>
            </a:r>
            <a:r>
              <a:rPr lang="en-US" dirty="0"/>
              <a:t>:</a:t>
            </a:r>
          </a:p>
          <a:p>
            <a:pPr algn="just"/>
            <a:r>
              <a:rPr lang="en-US" b="1" dirty="0"/>
              <a:t>Getting file names</a:t>
            </a:r>
            <a:r>
              <a:rPr lang="en-US" dirty="0"/>
              <a:t> – The program may prompt the user or display a file menu.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12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Opening the input file</a:t>
            </a:r>
            <a:r>
              <a:rPr lang="en-US" dirty="0"/>
              <a:t> – If the file is missing or restricted, an error message and termination may be needed.</a:t>
            </a:r>
          </a:p>
          <a:p>
            <a:pPr algn="just"/>
            <a:r>
              <a:rPr lang="en-US" b="1" dirty="0"/>
              <a:t>Creating the output file</a:t>
            </a:r>
            <a:r>
              <a:rPr lang="en-US" dirty="0"/>
              <a:t> – If a file with the same name exists, the program may delete it, replace it, or ask the user for action.</a:t>
            </a:r>
          </a:p>
          <a:p>
            <a:pPr algn="just"/>
            <a:r>
              <a:rPr lang="en-US" dirty="0"/>
              <a:t>Each step involves system calls for </a:t>
            </a:r>
            <a:r>
              <a:rPr lang="en-US" b="1" dirty="0"/>
              <a:t>I/O operations, error handling, and user interaction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258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After setting up both files, the program </a:t>
            </a:r>
            <a:r>
              <a:rPr lang="en-US" b="1" dirty="0"/>
              <a:t>reads</a:t>
            </a:r>
            <a:r>
              <a:rPr lang="en-US" dirty="0"/>
              <a:t> from the input file and </a:t>
            </a:r>
            <a:r>
              <a:rPr lang="en-US" b="1" dirty="0"/>
              <a:t>writes</a:t>
            </a:r>
            <a:r>
              <a:rPr lang="en-US" dirty="0"/>
              <a:t> to the output file using system calls. Each operation checks for errors, such as </a:t>
            </a:r>
            <a:r>
              <a:rPr lang="en-US" b="1" dirty="0"/>
              <a:t>end of file, hardware failure, or no disk space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When copying is complete, the program </a:t>
            </a:r>
            <a:r>
              <a:rPr lang="en-US" b="1" dirty="0"/>
              <a:t>closes</a:t>
            </a:r>
            <a:r>
              <a:rPr lang="en-US" dirty="0"/>
              <a:t> both files, </a:t>
            </a:r>
            <a:r>
              <a:rPr lang="en-US" b="1" dirty="0"/>
              <a:t>displays a message</a:t>
            </a:r>
            <a:r>
              <a:rPr lang="en-US" dirty="0"/>
              <a:t>, and </a:t>
            </a:r>
            <a:r>
              <a:rPr lang="en-US" b="1" dirty="0"/>
              <a:t>terminates</a:t>
            </a:r>
            <a:r>
              <a:rPr lang="en-US" dirty="0"/>
              <a:t>, all through system calls.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920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To simplify system calls, programs use </a:t>
            </a:r>
            <a:r>
              <a:rPr lang="en-US" b="1" dirty="0"/>
              <a:t>APIs (Application Programming Interfaces)</a:t>
            </a:r>
            <a:r>
              <a:rPr lang="en-US" dirty="0"/>
              <a:t> like:</a:t>
            </a:r>
          </a:p>
          <a:p>
            <a:pPr algn="just"/>
            <a:r>
              <a:rPr lang="en-US" b="1" dirty="0"/>
              <a:t>Windows API</a:t>
            </a:r>
            <a:r>
              <a:rPr lang="en-US" dirty="0"/>
              <a:t> (for Windows)</a:t>
            </a:r>
          </a:p>
          <a:p>
            <a:pPr algn="just"/>
            <a:r>
              <a:rPr lang="en-US" b="1" dirty="0"/>
              <a:t>POSIX API</a:t>
            </a:r>
            <a:r>
              <a:rPr lang="en-US" dirty="0"/>
              <a:t> (for UNIX, Linux, </a:t>
            </a:r>
            <a:r>
              <a:rPr lang="en-US" dirty="0" err="1"/>
              <a:t>macOS</a:t>
            </a:r>
            <a:r>
              <a:rPr lang="en-US" dirty="0"/>
              <a:t>)</a:t>
            </a:r>
          </a:p>
          <a:p>
            <a:pPr algn="just"/>
            <a:r>
              <a:rPr lang="en-US" b="1" dirty="0"/>
              <a:t>Java API</a:t>
            </a:r>
            <a:r>
              <a:rPr lang="en-US" dirty="0"/>
              <a:t> (for Java programs)</a:t>
            </a:r>
          </a:p>
          <a:p>
            <a:pPr algn="just"/>
            <a:r>
              <a:rPr lang="en-US" dirty="0"/>
              <a:t>APIs handle system calls behind the scenes. For example, Windows’ </a:t>
            </a:r>
            <a:r>
              <a:rPr lang="en-US" b="1" dirty="0" err="1"/>
              <a:t>CreateProcess</a:t>
            </a:r>
            <a:r>
              <a:rPr lang="en-US" b="1" dirty="0"/>
              <a:t>()</a:t>
            </a:r>
            <a:r>
              <a:rPr lang="en-US" dirty="0"/>
              <a:t> function calls the kernel’s </a:t>
            </a:r>
            <a:r>
              <a:rPr lang="en-US" b="1" dirty="0" err="1"/>
              <a:t>NTCreateProcess</a:t>
            </a:r>
            <a:r>
              <a:rPr lang="en-US" b="1" dirty="0"/>
              <a:t>()</a:t>
            </a:r>
            <a:r>
              <a:rPr lang="en-US" dirty="0"/>
              <a:t> to create a new process.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811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chemeClr val="accent4"/>
                </a:solidFill>
              </a:rPr>
              <a:t>Why Use an API Instead of Direct System Calls?</a:t>
            </a:r>
            <a:br>
              <a:rPr lang="en-US" sz="2000" b="1" dirty="0">
                <a:solidFill>
                  <a:schemeClr val="accent4"/>
                </a:solidFill>
              </a:rPr>
            </a:b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Portability</a:t>
            </a:r>
            <a:r>
              <a:rPr lang="en-US" dirty="0" smtClean="0"/>
              <a:t> </a:t>
            </a:r>
            <a:r>
              <a:rPr lang="en-US" dirty="0"/>
              <a:t>– Programs using an API can run on any system supporting that API.</a:t>
            </a:r>
          </a:p>
          <a:p>
            <a:r>
              <a:rPr lang="en-US" b="1" dirty="0"/>
              <a:t>Simplicity</a:t>
            </a:r>
            <a:r>
              <a:rPr lang="en-US" dirty="0"/>
              <a:t> – APIs are easier to use than complex system calls.</a:t>
            </a:r>
          </a:p>
          <a:p>
            <a:r>
              <a:rPr lang="en-US" b="1" dirty="0"/>
              <a:t>Standardization</a:t>
            </a:r>
            <a:r>
              <a:rPr lang="en-US" dirty="0"/>
              <a:t> – Many APIs (POSIX, Windows API) closely match system calls but are more user-friendly.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989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How APIs Work</a:t>
            </a:r>
            <a:br>
              <a:rPr lang="en-US" b="1" dirty="0">
                <a:solidFill>
                  <a:schemeClr val="accent4"/>
                </a:solidFill>
              </a:rPr>
            </a:b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Run-time </a:t>
            </a:r>
            <a:r>
              <a:rPr lang="en-US" b="1" dirty="0"/>
              <a:t>support system</a:t>
            </a:r>
            <a:r>
              <a:rPr lang="en-US" dirty="0"/>
              <a:t> (libraries) provides a link between APIs and system calls.</a:t>
            </a:r>
          </a:p>
          <a:p>
            <a:r>
              <a:rPr lang="en-US" b="1" dirty="0"/>
              <a:t>System-call interface</a:t>
            </a:r>
            <a:r>
              <a:rPr lang="en-US" dirty="0"/>
              <a:t> intercepts API calls and invokes the correct system call.</a:t>
            </a:r>
          </a:p>
          <a:p>
            <a:r>
              <a:rPr lang="en-US" dirty="0"/>
              <a:t>Each system call has a </a:t>
            </a:r>
            <a:r>
              <a:rPr lang="en-US" b="1" dirty="0"/>
              <a:t>unique number</a:t>
            </a:r>
            <a:r>
              <a:rPr lang="en-US" dirty="0"/>
              <a:t>, and a table maps API functions to system calls.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050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Passing Parameters to the OS</a:t>
            </a:r>
            <a:br>
              <a:rPr lang="en-US" b="1" dirty="0">
                <a:solidFill>
                  <a:schemeClr val="accent4"/>
                </a:solidFill>
              </a:rPr>
            </a:b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System </a:t>
            </a:r>
            <a:r>
              <a:rPr lang="en-US" dirty="0"/>
              <a:t>calls need details like </a:t>
            </a:r>
            <a:r>
              <a:rPr lang="en-US" b="1" dirty="0"/>
              <a:t>file names, memory locations, and buffer sizes</a:t>
            </a:r>
            <a:r>
              <a:rPr lang="en-US" dirty="0"/>
              <a:t>. These details can be sent in three ways:</a:t>
            </a:r>
          </a:p>
          <a:p>
            <a:r>
              <a:rPr lang="en-US" b="1" dirty="0"/>
              <a:t>Registers</a:t>
            </a:r>
            <a:r>
              <a:rPr lang="en-US" dirty="0"/>
              <a:t> – Fast and simple, but limited space.</a:t>
            </a:r>
          </a:p>
          <a:p>
            <a:r>
              <a:rPr lang="en-US" b="1" dirty="0"/>
              <a:t>Memory Block/Table</a:t>
            </a:r>
            <a:r>
              <a:rPr lang="en-US" dirty="0"/>
              <a:t> – Store all details in memory and pass its address (used in Linux &amp; Solaris).</a:t>
            </a:r>
          </a:p>
          <a:p>
            <a:r>
              <a:rPr lang="en-US" b="1" dirty="0"/>
              <a:t>Stack</a:t>
            </a:r>
            <a:r>
              <a:rPr lang="en-US" dirty="0"/>
              <a:t> – Push details onto the stack; the OS reads them (no size limits).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81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890</Words>
  <Application>Microsoft Office PowerPoint</Application>
  <PresentationFormat>Custom</PresentationFormat>
  <Paragraphs>45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Office Theme</vt:lpstr>
      <vt:lpstr>Lecture 6</vt:lpstr>
      <vt:lpstr>1_Office Theme</vt:lpstr>
      <vt:lpstr>User and Operating-System Interface, System Calls</vt:lpstr>
      <vt:lpstr>User and Operating-System Interface</vt:lpstr>
      <vt:lpstr>Command Interpreters</vt:lpstr>
      <vt:lpstr>PowerPoint Presentation</vt:lpstr>
      <vt:lpstr>Graphical User Interface</vt:lpstr>
      <vt:lpstr>PowerPoint Presentation</vt:lpstr>
      <vt:lpstr>PowerPoint Presentation</vt:lpstr>
      <vt:lpstr>PowerPoint Presentation</vt:lpstr>
      <vt:lpstr>System calls</vt:lpstr>
      <vt:lpstr>PowerPoint Presentation</vt:lpstr>
      <vt:lpstr>PowerPoint Presentation</vt:lpstr>
      <vt:lpstr>PowerPoint Presentation</vt:lpstr>
      <vt:lpstr>Why Use an API Instead of Direct System Calls? </vt:lpstr>
      <vt:lpstr>How APIs Work </vt:lpstr>
      <vt:lpstr>Passing Parameters to the OS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Saima Kanwal</cp:lastModifiedBy>
  <cp:revision>165</cp:revision>
  <dcterms:created xsi:type="dcterms:W3CDTF">2024-06-21T09:49:00Z</dcterms:created>
  <dcterms:modified xsi:type="dcterms:W3CDTF">2025-03-07T05:28:43Z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