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sldIdLst>
    <p:sldId id="273" r:id="rId4"/>
    <p:sldId id="888" r:id="rId5"/>
    <p:sldId id="891" r:id="rId6"/>
    <p:sldId id="892" r:id="rId7"/>
    <p:sldId id="893" r:id="rId8"/>
    <p:sldId id="894" r:id="rId9"/>
    <p:sldId id="895" r:id="rId10"/>
    <p:sldId id="896" r:id="rId11"/>
    <p:sldId id="897" r:id="rId12"/>
    <p:sldId id="898" r:id="rId13"/>
    <p:sldId id="899" r:id="rId14"/>
    <p:sldId id="900" r:id="rId15"/>
    <p:sldId id="901" r:id="rId16"/>
    <p:sldId id="902" r:id="rId1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>
        <p:scale>
          <a:sx n="90" d="100"/>
          <a:sy n="90" d="100"/>
        </p:scale>
        <p:origin x="-1644" y="-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75" y="3253104"/>
            <a:ext cx="12023725" cy="227139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2800" b="1" dirty="0" smtClean="0">
                <a:solidFill>
                  <a:schemeClr val="accent4"/>
                </a:solidFill>
                <a:cs typeface="Arial" pitchFamily="34" charset="0"/>
              </a:rPr>
              <a:t>Lecture </a:t>
            </a:r>
            <a:r>
              <a:rPr lang="en-US" altLang="ko-KR" sz="2800" b="1" dirty="0" smtClean="0">
                <a:solidFill>
                  <a:schemeClr val="accent4"/>
                </a:solidFill>
                <a:cs typeface="Arial" pitchFamily="34" charset="0"/>
              </a:rPr>
              <a:t>#9</a:t>
            </a:r>
            <a:endParaRPr lang="en-US" altLang="ko-KR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5533" y="1943629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Operating system </a:t>
            </a:r>
            <a:br>
              <a:rPr lang="en-US" dirty="0" smtClean="0"/>
            </a:br>
            <a:r>
              <a:rPr lang="en-US" dirty="0" smtClean="0"/>
              <a:t>by </a:t>
            </a:r>
            <a:br>
              <a:rPr lang="en-US" dirty="0" smtClean="0"/>
            </a:br>
            <a:r>
              <a:rPr lang="en-US" dirty="0" err="1" smtClean="0"/>
              <a:t>Saima</a:t>
            </a:r>
            <a:r>
              <a:rPr lang="en-US" dirty="0" smtClean="0"/>
              <a:t> </a:t>
            </a:r>
            <a:r>
              <a:rPr lang="en-US" dirty="0" err="1" smtClean="0"/>
              <a:t>Kanwal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0133" y="4448704"/>
            <a:ext cx="9144000" cy="1655763"/>
          </a:xfrm>
        </p:spPr>
        <p:txBody>
          <a:bodyPr/>
          <a:lstStyle/>
          <a:p>
            <a:r>
              <a:rPr lang="en-US" dirty="0" smtClean="0"/>
              <a:t>Lecture # </a:t>
            </a:r>
            <a:r>
              <a:rPr lang="en-US" dirty="0" smtClean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7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832" y="195004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process is defined as an entity which represents the basic unit of work to be implemented in the system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To put it in simple terms, we write our computer programs in a text file and when we execute this program, it becomes a process which performs all the tasks mentioned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74044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833" y="2162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 Life Cycle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When a process executes, it passes through different states.</a:t>
            </a:r>
          </a:p>
          <a:p>
            <a:pPr algn="just"/>
            <a:r>
              <a:rPr lang="en-US" dirty="0" smtClean="0"/>
              <a:t>In general, a process can have one of the following five states at a time.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Start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Ready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Running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Waiting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Terminated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07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94" y="160338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 Life Cycle (Cont.)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026" name="AutoShape 2" descr="Process States"/>
          <p:cNvSpPr>
            <a:spLocks noChangeAspect="1" noChangeArrowheads="1"/>
          </p:cNvSpPr>
          <p:nvPr/>
        </p:nvSpPr>
        <p:spPr bwMode="auto">
          <a:xfrm>
            <a:off x="207434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1" y="2362200"/>
            <a:ext cx="1167398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393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465" y="173739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 Life Cycle (Cont.)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Start -- </a:t>
            </a:r>
            <a:r>
              <a:rPr lang="en-US" dirty="0" smtClean="0"/>
              <a:t>This is the initial state when a process is first started/created.</a:t>
            </a:r>
          </a:p>
          <a:p>
            <a:pPr algn="just"/>
            <a:r>
              <a:rPr lang="en-US" b="1" dirty="0" smtClean="0"/>
              <a:t>Ready -- </a:t>
            </a:r>
            <a:r>
              <a:rPr lang="en-US" dirty="0" smtClean="0"/>
              <a:t>Ready processes are waiting to have the processor allocated to them by the operating system so that they can run. </a:t>
            </a:r>
          </a:p>
          <a:p>
            <a:pPr algn="just"/>
            <a:r>
              <a:rPr lang="en-US" b="1" dirty="0" smtClean="0"/>
              <a:t>Running -- </a:t>
            </a:r>
            <a:r>
              <a:rPr lang="en-US" dirty="0" smtClean="0"/>
              <a:t>When the Process is Running under the CPU, or When the Program is Executed by the CPU , then this is called as the Running process 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1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5637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 Life Cycle (Cont.)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Waiting -- </a:t>
            </a:r>
            <a:r>
              <a:rPr lang="en-US" dirty="0" smtClean="0"/>
              <a:t>Process moves into the waiting state if it needs to wait for a resource, such as waiting for user input, or waiting for a file to become available.</a:t>
            </a:r>
          </a:p>
          <a:p>
            <a:pPr algn="just"/>
            <a:r>
              <a:rPr lang="en-US" b="1" dirty="0" smtClean="0"/>
              <a:t>Terminated -- </a:t>
            </a:r>
            <a:r>
              <a:rPr lang="en-US" dirty="0" smtClean="0"/>
              <a:t>After the Completion of the Process , the Process will be Automatically terminated by the CPU . So this is also called as the Terminated State of the Process.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8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098" y="205637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Thread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thread is the smallest unit of processing that can be performed in an OS. </a:t>
            </a:r>
          </a:p>
          <a:p>
            <a:pPr algn="just"/>
            <a:r>
              <a:rPr lang="en-US" dirty="0" smtClean="0"/>
              <a:t>In most modern operating systems, a thread exists within a process - that is, a single process may contain multiple threads.</a:t>
            </a:r>
          </a:p>
          <a:p>
            <a:pPr algn="just"/>
            <a:r>
              <a:rPr lang="en-US" dirty="0" smtClean="0"/>
              <a:t>You can imagine </a:t>
            </a:r>
            <a:r>
              <a:rPr lang="en-US" b="1" dirty="0" smtClean="0"/>
              <a:t>multitasking</a:t>
            </a:r>
            <a:r>
              <a:rPr lang="en-US" dirty="0" smtClean="0"/>
              <a:t> as something that allows processes to run concurrently, while multithreading allows sub-processes(threads) to run concurrently.</a:t>
            </a:r>
          </a:p>
        </p:txBody>
      </p:sp>
    </p:spTree>
    <p:extLst>
      <p:ext uri="{BB962C8B-B14F-4D97-AF65-F5344CB8AC3E}">
        <p14:creationId xmlns:p14="http://schemas.microsoft.com/office/powerpoint/2010/main" val="894929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372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Example of Multithreading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One example of multithreading is downloading a video while playing it at the same time. Multithreading is also used extensively in computer-generated animation.</a:t>
            </a:r>
          </a:p>
        </p:txBody>
      </p:sp>
      <p:pic>
        <p:nvPicPr>
          <p:cNvPr id="2050" name="Picture 2" descr="Image result for youtube video playing"/>
          <p:cNvPicPr>
            <a:picLocks noChangeAspect="1" noChangeArrowheads="1"/>
          </p:cNvPicPr>
          <p:nvPr/>
        </p:nvPicPr>
        <p:blipFill>
          <a:blip r:embed="rId2"/>
          <a:srcRect l="11200" t="8399" r="12000" b="9711"/>
          <a:stretch>
            <a:fillRect/>
          </a:stretch>
        </p:blipFill>
        <p:spPr bwMode="auto">
          <a:xfrm>
            <a:off x="5994400" y="3276602"/>
            <a:ext cx="5486400" cy="3343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332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73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Process Control Block is a data structure maintained by the Operating System for every process.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PCB is identified by an integer process ID (PID).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PCB keeps all the information needed to keep track of a process</a:t>
            </a:r>
          </a:p>
        </p:txBody>
      </p:sp>
    </p:spTree>
    <p:extLst>
      <p:ext uri="{BB962C8B-B14F-4D97-AF65-F5344CB8AC3E}">
        <p14:creationId xmlns:p14="http://schemas.microsoft.com/office/powerpoint/2010/main" val="380667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833" y="216269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</a:rPr>
              <a:t>Cont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865" y="1600200"/>
            <a:ext cx="10867136" cy="5029200"/>
          </a:xfrm>
        </p:spPr>
        <p:txBody>
          <a:bodyPr>
            <a:noAutofit/>
          </a:bodyPr>
          <a:lstStyle/>
          <a:p>
            <a:r>
              <a:rPr lang="en-US" sz="2000" b="1" dirty="0"/>
              <a:t>Process </a:t>
            </a:r>
            <a:r>
              <a:rPr lang="en-US" sz="2000" b="1" dirty="0" smtClean="0"/>
              <a:t>State</a:t>
            </a:r>
          </a:p>
          <a:p>
            <a:pPr lvl="1"/>
            <a:r>
              <a:rPr lang="en-US" sz="1800" dirty="0"/>
              <a:t>The current state of the process i.e., whether it is ready, </a:t>
            </a:r>
            <a:r>
              <a:rPr lang="en-US" sz="1800" dirty="0" smtClean="0"/>
              <a:t>running</a:t>
            </a:r>
            <a:r>
              <a:rPr lang="en-US" sz="1800" dirty="0"/>
              <a:t>, waiting, or whatever</a:t>
            </a:r>
            <a:r>
              <a:rPr lang="en-US" sz="1800" dirty="0" smtClean="0"/>
              <a:t>.</a:t>
            </a:r>
          </a:p>
          <a:p>
            <a:r>
              <a:rPr lang="en-US" sz="2000" b="1" dirty="0"/>
              <a:t>Process </a:t>
            </a:r>
            <a:r>
              <a:rPr lang="en-US" sz="2000" b="1" dirty="0" smtClean="0"/>
              <a:t>privileges</a:t>
            </a:r>
          </a:p>
          <a:p>
            <a:pPr lvl="1"/>
            <a:r>
              <a:rPr lang="en-US" sz="1800" dirty="0"/>
              <a:t>This is required to allow/disallow access to system resources</a:t>
            </a:r>
            <a:r>
              <a:rPr lang="en-US" sz="1800" dirty="0" smtClean="0"/>
              <a:t>.</a:t>
            </a:r>
          </a:p>
          <a:p>
            <a:r>
              <a:rPr lang="en-US" sz="2000" b="1" dirty="0"/>
              <a:t>Process </a:t>
            </a:r>
            <a:r>
              <a:rPr lang="en-US" sz="2000" b="1" dirty="0" smtClean="0"/>
              <a:t>ID</a:t>
            </a:r>
          </a:p>
          <a:p>
            <a:pPr lvl="1"/>
            <a:r>
              <a:rPr lang="en-US" sz="1800" dirty="0"/>
              <a:t>Unique identification for each of the process in the operating system</a:t>
            </a:r>
            <a:r>
              <a:rPr lang="en-US" sz="1800" dirty="0" smtClean="0"/>
              <a:t>.</a:t>
            </a:r>
          </a:p>
          <a:p>
            <a:r>
              <a:rPr lang="en-US" sz="2000" b="1" dirty="0" smtClean="0"/>
              <a:t>Pointer</a:t>
            </a:r>
          </a:p>
          <a:p>
            <a:pPr lvl="1"/>
            <a:r>
              <a:rPr lang="en-US" sz="1800" dirty="0" smtClean="0"/>
              <a:t>A </a:t>
            </a:r>
            <a:r>
              <a:rPr lang="en-US" sz="1800" dirty="0"/>
              <a:t>pointer to parent process</a:t>
            </a:r>
            <a:r>
              <a:rPr lang="en-US" sz="1800" dirty="0" smtClean="0"/>
              <a:t>.</a:t>
            </a:r>
          </a:p>
          <a:p>
            <a:r>
              <a:rPr lang="en-US" sz="2000" b="1" dirty="0"/>
              <a:t>Program Counter</a:t>
            </a:r>
            <a:endParaRPr lang="en-US" sz="2000" dirty="0"/>
          </a:p>
          <a:p>
            <a:pPr lvl="1"/>
            <a:r>
              <a:rPr lang="en-US" sz="1800" dirty="0"/>
              <a:t>Program Counter is a pointer to the address of the next instruction to be executed for this process.</a:t>
            </a:r>
          </a:p>
          <a:p>
            <a:r>
              <a:rPr lang="en-US" sz="2000" b="1" dirty="0"/>
              <a:t>CPU registers</a:t>
            </a:r>
            <a:endParaRPr lang="en-US" sz="2000" dirty="0"/>
          </a:p>
          <a:p>
            <a:pPr lvl="1"/>
            <a:r>
              <a:rPr lang="en-US" sz="1800" dirty="0"/>
              <a:t>Various CPU registers where process need to be stored for execution for running state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18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35" y="237534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</a:rPr>
              <a:t>Cont.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CPU Scheduling Information</a:t>
            </a:r>
            <a:endParaRPr lang="en-US" sz="2400" dirty="0"/>
          </a:p>
          <a:p>
            <a:pPr lvl="1"/>
            <a:r>
              <a:rPr lang="en-US" sz="2000" dirty="0"/>
              <a:t>Process priority and other scheduling information which is required to schedule the process.</a:t>
            </a:r>
          </a:p>
          <a:p>
            <a:r>
              <a:rPr lang="en-US" sz="2400" b="1" dirty="0"/>
              <a:t>Memory management information</a:t>
            </a:r>
            <a:endParaRPr lang="en-US" sz="2400" dirty="0"/>
          </a:p>
          <a:p>
            <a:pPr lvl="1"/>
            <a:r>
              <a:rPr lang="en-US" sz="2000" dirty="0"/>
              <a:t>This includes the information of page table, memory limits, Segment table depending on memory used by the operating system.</a:t>
            </a:r>
          </a:p>
          <a:p>
            <a:r>
              <a:rPr lang="en-US" sz="2400" b="1" dirty="0"/>
              <a:t>Accounting information</a:t>
            </a:r>
            <a:endParaRPr lang="en-US" sz="2400" dirty="0"/>
          </a:p>
          <a:p>
            <a:pPr lvl="1"/>
            <a:r>
              <a:rPr lang="en-US" sz="2000" dirty="0"/>
              <a:t>This includes the amount of CPU used for process execution, time limits, execution ID etc.</a:t>
            </a:r>
          </a:p>
          <a:p>
            <a:r>
              <a:rPr lang="en-US" sz="2400" b="1" dirty="0"/>
              <a:t>IO status information</a:t>
            </a:r>
            <a:endParaRPr lang="en-US" sz="2400" dirty="0"/>
          </a:p>
          <a:p>
            <a:pPr lvl="1"/>
            <a:r>
              <a:rPr lang="en-US" sz="2000" dirty="0"/>
              <a:t>This includes a list of I/O devices allocated to the process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2369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833" y="248167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4"/>
                </a:solidFill>
              </a:rPr>
              <a:t>Homework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out the difference between Process and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34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0" y="3124200"/>
            <a:ext cx="6299200" cy="990600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Questions?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657673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548</Words>
  <Application>Microsoft Office PowerPoint</Application>
  <PresentationFormat>Custom</PresentationFormat>
  <Paragraphs>57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Office Theme</vt:lpstr>
      <vt:lpstr>Lecture 6</vt:lpstr>
      <vt:lpstr>1_Office Theme</vt:lpstr>
      <vt:lpstr>Lecture #9</vt:lpstr>
      <vt:lpstr>Operating system  by  Saima Kanwal</vt:lpstr>
      <vt:lpstr>Process</vt:lpstr>
      <vt:lpstr>Process Life Cycle</vt:lpstr>
      <vt:lpstr>Process Life Cycle (Cont.)</vt:lpstr>
      <vt:lpstr>Process Life Cycle (Cont.)</vt:lpstr>
      <vt:lpstr>Process Life Cycle (Cont.)</vt:lpstr>
      <vt:lpstr>Thread</vt:lpstr>
      <vt:lpstr>Example of Multithreading</vt:lpstr>
      <vt:lpstr>Process Control Block (PCB)</vt:lpstr>
      <vt:lpstr>Cont.</vt:lpstr>
      <vt:lpstr>Cont.</vt:lpstr>
      <vt:lpstr>Homework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153</cp:revision>
  <dcterms:created xsi:type="dcterms:W3CDTF">2024-06-21T09:49:00Z</dcterms:created>
  <dcterms:modified xsi:type="dcterms:W3CDTF">2025-03-03T09:39:55Z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