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 id="2147483684" r:id="rId3"/>
  </p:sldMasterIdLst>
  <p:notesMasterIdLst>
    <p:notesMasterId r:id="rId24"/>
  </p:notesMasterIdLst>
  <p:sldIdLst>
    <p:sldId id="273" r:id="rId4"/>
    <p:sldId id="954" r:id="rId5"/>
    <p:sldId id="955" r:id="rId6"/>
    <p:sldId id="956" r:id="rId7"/>
    <p:sldId id="957" r:id="rId8"/>
    <p:sldId id="958" r:id="rId9"/>
    <p:sldId id="959" r:id="rId10"/>
    <p:sldId id="960" r:id="rId11"/>
    <p:sldId id="961" r:id="rId12"/>
    <p:sldId id="962" r:id="rId13"/>
    <p:sldId id="966" r:id="rId14"/>
    <p:sldId id="967" r:id="rId15"/>
    <p:sldId id="968" r:id="rId16"/>
    <p:sldId id="969" r:id="rId17"/>
    <p:sldId id="970" r:id="rId18"/>
    <p:sldId id="971" r:id="rId19"/>
    <p:sldId id="972" r:id="rId20"/>
    <p:sldId id="973" r:id="rId21"/>
    <p:sldId id="974" r:id="rId22"/>
    <p:sldId id="953" r:id="rId23"/>
  </p:sldIdLst>
  <p:sldSz cx="12192000" cy="6858000"/>
  <p:notesSz cx="6858000" cy="9144000"/>
  <p:defaultText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9" autoAdjust="0"/>
    <p:restoredTop sz="92140" autoAdjust="0"/>
  </p:normalViewPr>
  <p:slideViewPr>
    <p:cSldViewPr snapToGrid="0">
      <p:cViewPr>
        <p:scale>
          <a:sx n="90" d="100"/>
          <a:sy n="90" d="100"/>
        </p:scale>
        <p:origin x="-1644" y="-48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FDD3B8-2E01-4CE0-B02F-91BFC8CDC8FD}" type="datetimeFigureOut">
              <a:rPr lang="en-US" smtClean="0"/>
              <a:t>3/12/2025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A72658C-66DA-4116-8E6C-1579936CD62C}" type="slidenum">
              <a:rPr lang="en-US" smtClean="0"/>
              <a:t>‹#›</a:t>
            </a:fld>
            <a:endParaRPr lang="en-US"/>
          </a:p>
        </p:txBody>
      </p:sp>
    </p:spTree>
    <p:extLst>
      <p:ext uri="{BB962C8B-B14F-4D97-AF65-F5344CB8AC3E}">
        <p14:creationId xmlns:p14="http://schemas.microsoft.com/office/powerpoint/2010/main" val="2076372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3/12/2025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3/12/2025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3/12/2025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3/12/2025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83471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15652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56261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3/12/2025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6781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3/12/2025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350870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3/12/2025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12735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3/12/2025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8563733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7433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4771562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3222281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95477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x-none"/>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722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6326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smtClean="0"/>
              <a:t>Click to edit Master title style</a:t>
            </a:r>
            <a:endParaRPr lang="x-non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5276056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Content Placeholder 2"/>
          <p:cNvSpPr>
            <a:spLocks noGrp="1"/>
          </p:cNvSpPr>
          <p:nvPr>
            <p:ph sz="half" idx="1"/>
          </p:nvPr>
        </p:nvSpPr>
        <p:spPr>
          <a:xfrm>
            <a:off x="838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Content Placeholder 3"/>
          <p:cNvSpPr>
            <a:spLocks noGrp="1"/>
          </p:cNvSpPr>
          <p:nvPr>
            <p:ph sz="half" idx="2"/>
          </p:nvPr>
        </p:nvSpPr>
        <p:spPr>
          <a:xfrm>
            <a:off x="6172200" y="1825625"/>
            <a:ext cx="5181600" cy="435133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3/12/2025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588303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x-non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3/12/2025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769436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3/12/2025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4188601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3/12/2025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9472795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82649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x-none"/>
          </a:p>
        </p:txBody>
      </p:sp>
      <p:sp>
        <p:nvSpPr>
          <p:cNvPr id="3" name="Picture Placeholder 2"/>
          <p:cNvSpPr>
            <a:spLocks noGrp="1"/>
          </p:cNvSpPr>
          <p:nvPr>
            <p:ph type="pic" idx="1"/>
          </p:nvPr>
        </p:nvSpPr>
        <p:spPr>
          <a:xfrm>
            <a:off x="5183188"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x-none"/>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3/12/2025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24104260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6069766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smtClean="0"/>
              <a:t>Click to edit Master title style</a:t>
            </a:r>
            <a:endParaRPr lang="x-none"/>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3/12/2025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08658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18" Type="http://schemas.openxmlformats.org/officeDocument/2006/relationships/image" Target="../media/image4.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image" Target="../media/image7.svg"/><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5.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3/12/2025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3/12/2025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grpSp>
        <p:nvGrpSpPr>
          <p:cNvPr id="7" name="Group 6">
            <a:extLst>
              <a:ext uri="{FF2B5EF4-FFF2-40B4-BE49-F238E27FC236}">
                <a16:creationId xmlns="" xmlns:a16="http://schemas.microsoft.com/office/drawing/2014/main" id="{BAEFE420-0C07-4D1B-9094-F2C452FF1011}"/>
              </a:ext>
            </a:extLst>
          </p:cNvPr>
          <p:cNvGrpSpPr/>
          <p:nvPr userDrawn="1"/>
        </p:nvGrpSpPr>
        <p:grpSpPr>
          <a:xfrm>
            <a:off x="0" y="0"/>
            <a:ext cx="12749348" cy="1115736"/>
            <a:chOff x="0" y="0"/>
            <a:chExt cx="12749348" cy="1115736"/>
          </a:xfrm>
        </p:grpSpPr>
        <p:sp>
          <p:nvSpPr>
            <p:cNvPr id="8" name="Rectangle 7">
              <a:extLst>
                <a:ext uri="{FF2B5EF4-FFF2-40B4-BE49-F238E27FC236}">
                  <a16:creationId xmlns="" xmlns:a16="http://schemas.microsoft.com/office/drawing/2014/main" id="{6FBB4837-678E-4FCE-A1B7-2AE1B9432890}"/>
                </a:ext>
              </a:extLst>
            </p:cNvPr>
            <p:cNvSpPr/>
            <p:nvPr userDrawn="1"/>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x-non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x-none" dirty="0"/>
            </a:p>
          </p:txBody>
        </p:sp>
        <p:pic>
          <p:nvPicPr>
            <p:cNvPr id="9" name="Picture 8">
              <a:extLst>
                <a:ext uri="{FF2B5EF4-FFF2-40B4-BE49-F238E27FC236}">
                  <a16:creationId xmlns="" xmlns:a16="http://schemas.microsoft.com/office/drawing/2014/main" id="{D279BBF0-3F01-4944-AF8F-73A34B5B9CEF}"/>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0" name="TextBox 10">
              <a:extLst>
                <a:ext uri="{FF2B5EF4-FFF2-40B4-BE49-F238E27FC236}">
                  <a16:creationId xmlns="" xmlns:a16="http://schemas.microsoft.com/office/drawing/2014/main" id="{650112A7-3B60-423A-8682-3EC1CCAA7ABE}"/>
                </a:ext>
              </a:extLst>
            </p:cNvPr>
            <p:cNvSpPr txBox="1"/>
            <p:nvPr userDrawn="1"/>
          </p:nvSpPr>
          <p:spPr>
            <a:xfrm>
              <a:off x="10719753" y="696917"/>
              <a:ext cx="1619033" cy="261610"/>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err="1">
                  <a:solidFill>
                    <a:schemeClr val="bg1"/>
                  </a:solidFill>
                </a:rPr>
                <a:t>unioffaisalabad</a:t>
              </a:r>
              <a:endParaRPr lang="x-none" sz="1100" dirty="0">
                <a:solidFill>
                  <a:schemeClr val="bg1"/>
                </a:solidFill>
              </a:endParaRPr>
            </a:p>
          </p:txBody>
        </p:sp>
        <p:pic>
          <p:nvPicPr>
            <p:cNvPr id="11" name="Graphic 11">
              <a:extLst>
                <a:ext uri="{FF2B5EF4-FFF2-40B4-BE49-F238E27FC236}">
                  <a16:creationId xmlns="" xmlns:a16="http://schemas.microsoft.com/office/drawing/2014/main" id="{75FFEA7F-8809-458D-BE80-99F7CFB965CA}"/>
                </a:ext>
              </a:extLst>
            </p:cNvPr>
            <p:cNvPicPr>
              <a:picLocks noChangeAspect="1"/>
            </p:cNvPicPr>
            <p:nvPr userDrawn="1"/>
          </p:nvPicPr>
          <p:blipFill>
            <a:blip r:embed="rId14">
              <a:extLst>
                <a:ext uri="{96DAC541-7B7A-43D3-8B79-37D633B846F1}">
                  <asvg:svgBlip xmlns="" xmlns:asvg="http://schemas.microsoft.com/office/drawing/2016/SVG/main" xmlns:lc="http://schemas.openxmlformats.org/drawingml/2006/lockedCanvas" r:embed="rId15"/>
                </a:ext>
              </a:extLst>
            </a:blip>
            <a:stretch>
              <a:fillRect/>
            </a:stretch>
          </p:blipFill>
          <p:spPr>
            <a:xfrm>
              <a:off x="9906056" y="403986"/>
              <a:ext cx="261610" cy="261610"/>
            </a:xfrm>
            <a:prstGeom prst="rect">
              <a:avLst/>
            </a:prstGeom>
          </p:spPr>
        </p:pic>
        <p:sp>
          <p:nvSpPr>
            <p:cNvPr id="12" name="TextBox 12">
              <a:extLst>
                <a:ext uri="{FF2B5EF4-FFF2-40B4-BE49-F238E27FC236}">
                  <a16:creationId xmlns="" xmlns:a16="http://schemas.microsoft.com/office/drawing/2014/main" id="{B3F075CD-8CB0-4BD0-B756-BA559BF9DF2D}"/>
                </a:ext>
              </a:extLst>
            </p:cNvPr>
            <p:cNvSpPr txBox="1"/>
            <p:nvPr userDrawn="1"/>
          </p:nvSpPr>
          <p:spPr>
            <a:xfrm>
              <a:off x="10142944" y="350125"/>
              <a:ext cx="2606404" cy="369332"/>
            </a:xfrm>
            <a:prstGeom prst="rect">
              <a:avLst/>
            </a:prstGeom>
            <a:noFill/>
          </p:spPr>
          <p:txBody>
            <a:bodyPr wrap="square" rtlCol="0">
              <a:spAutoFit/>
            </a:bodyPr>
            <a:ls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3" name="Graphic 13">
              <a:extLst>
                <a:ext uri="{FF2B5EF4-FFF2-40B4-BE49-F238E27FC236}">
                  <a16:creationId xmlns="" xmlns:a16="http://schemas.microsoft.com/office/drawing/2014/main" id="{ACED766F-A0E3-4D45-8A6E-86CCFAFA5D96}"/>
                </a:ext>
              </a:extLst>
            </p:cNvPr>
            <p:cNvPicPr>
              <a:picLocks noChangeAspect="1"/>
            </p:cNvPicPr>
            <p:nvPr userDrawn="1"/>
          </p:nvPicPr>
          <p:blipFill>
            <a:blip r:embed="rId16">
              <a:extLst>
                <a:ext uri="{96DAC541-7B7A-43D3-8B79-37D633B846F1}">
                  <asvg:svgBlip xmlns="" xmlns:asvg="http://schemas.microsoft.com/office/drawing/2016/SVG/main" xmlns:lc="http://schemas.openxmlformats.org/drawingml/2006/lockedCanvas" r:embed="rId17"/>
                </a:ext>
              </a:extLst>
            </a:blip>
            <a:stretch>
              <a:fillRect/>
            </a:stretch>
          </p:blipFill>
          <p:spPr>
            <a:xfrm>
              <a:off x="10591033" y="741997"/>
              <a:ext cx="171450" cy="171450"/>
            </a:xfrm>
            <a:prstGeom prst="rect">
              <a:avLst/>
            </a:prstGeom>
          </p:spPr>
        </p:pic>
        <p:pic>
          <p:nvPicPr>
            <p:cNvPr id="14" name="Picture 13">
              <a:extLst>
                <a:ext uri="{FF2B5EF4-FFF2-40B4-BE49-F238E27FC236}">
                  <a16:creationId xmlns="" xmlns:a16="http://schemas.microsoft.com/office/drawing/2014/main" id="{F83660F3-45D1-4CA0-BE2A-E7E6C1B794A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extLst>
      <p:ext uri="{BB962C8B-B14F-4D97-AF65-F5344CB8AC3E}">
        <p14:creationId xmlns:p14="http://schemas.microsoft.com/office/powerpoint/2010/main" val="354240947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38" tIns="45719" rIns="91438" bIns="45719" rtlCol="0" anchor="ctr">
            <a:normAutofit/>
          </a:bodyPr>
          <a:lstStyle/>
          <a:p>
            <a:r>
              <a:rPr lang="en-US" smtClean="0"/>
              <a:t>Click to edit Master title style</a:t>
            </a:r>
            <a:endParaRPr lang="x-none"/>
          </a:p>
        </p:txBody>
      </p:sp>
      <p:sp>
        <p:nvSpPr>
          <p:cNvPr id="3" name="Text Placeholder 2"/>
          <p:cNvSpPr>
            <a:spLocks noGrp="1"/>
          </p:cNvSpPr>
          <p:nvPr>
            <p:ph type="body" idx="1"/>
          </p:nvPr>
        </p:nvSpPr>
        <p:spPr>
          <a:xfrm>
            <a:off x="838200" y="1825625"/>
            <a:ext cx="10515600" cy="4351339"/>
          </a:xfrm>
          <a:prstGeom prst="rect">
            <a:avLst/>
          </a:prstGeom>
        </p:spPr>
        <p:txBody>
          <a:bodyPr vert="horz" lIns="91438" tIns="45719" rIns="91438" bIns="45719"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x-none"/>
          </a:p>
        </p:txBody>
      </p:sp>
      <p:sp>
        <p:nvSpPr>
          <p:cNvPr id="4" name="Date Placeholder 3"/>
          <p:cNvSpPr>
            <a:spLocks noGrp="1"/>
          </p:cNvSpPr>
          <p:nvPr>
            <p:ph type="dt" sz="half" idx="2"/>
          </p:nvPr>
        </p:nvSpPr>
        <p:spPr>
          <a:xfrm>
            <a:off x="838200" y="6356351"/>
            <a:ext cx="2743200" cy="365125"/>
          </a:xfrm>
          <a:prstGeom prst="rect">
            <a:avLst/>
          </a:prstGeom>
        </p:spPr>
        <p:txBody>
          <a:bodyPr vert="horz" lIns="91438" tIns="45719" rIns="91438" bIns="45719" rtlCol="0" anchor="ctr"/>
          <a:lstStyle>
            <a:lvl1pPr algn="l">
              <a:defRPr sz="1200">
                <a:solidFill>
                  <a:schemeClr val="tx1">
                    <a:tint val="75000"/>
                  </a:schemeClr>
                </a:solidFill>
              </a:defRPr>
            </a:lvl1pPr>
          </a:lstStyle>
          <a:p>
            <a:fld id="{3237A82C-AEEE-48DB-A866-3B1CA0AC9D5D}" type="datetimeFigureOut">
              <a:rPr lang="x-none" smtClean="0"/>
              <a:t>3/12/2025</a:t>
            </a:fld>
            <a:endParaRPr lang="x-none"/>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38" tIns="45719" rIns="91438" bIns="45719"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38" tIns="45719" rIns="91438" bIns="45719"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210576896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x-none"/>
      </a:defPPr>
      <a:lvl1pPr marL="0" algn="l" defTabSz="914400" rtl="0" eaLnBrk="1" latinLnBrk="0" hangingPunct="1">
        <a:defRPr sz="1900" kern="1200">
          <a:solidFill>
            <a:schemeClr val="tx1"/>
          </a:solidFill>
          <a:latin typeface="+mn-lt"/>
          <a:ea typeface="+mn-ea"/>
          <a:cs typeface="+mn-cs"/>
        </a:defRPr>
      </a:lvl1pPr>
      <a:lvl2pPr marL="457200" algn="l" defTabSz="914400" rtl="0" eaLnBrk="1" latinLnBrk="0" hangingPunct="1">
        <a:defRPr sz="1900" kern="1200">
          <a:solidFill>
            <a:schemeClr val="tx1"/>
          </a:solidFill>
          <a:latin typeface="+mn-lt"/>
          <a:ea typeface="+mn-ea"/>
          <a:cs typeface="+mn-cs"/>
        </a:defRPr>
      </a:lvl2pPr>
      <a:lvl3pPr marL="914400" algn="l" defTabSz="914400" rtl="0" eaLnBrk="1" latinLnBrk="0" hangingPunct="1">
        <a:defRPr sz="1900" kern="1200">
          <a:solidFill>
            <a:schemeClr val="tx1"/>
          </a:solidFill>
          <a:latin typeface="+mn-lt"/>
          <a:ea typeface="+mn-ea"/>
          <a:cs typeface="+mn-cs"/>
        </a:defRPr>
      </a:lvl3pPr>
      <a:lvl4pPr marL="1371600" algn="l" defTabSz="914400" rtl="0" eaLnBrk="1" latinLnBrk="0" hangingPunct="1">
        <a:defRPr sz="1900" kern="1200">
          <a:solidFill>
            <a:schemeClr val="tx1"/>
          </a:solidFill>
          <a:latin typeface="+mn-lt"/>
          <a:ea typeface="+mn-ea"/>
          <a:cs typeface="+mn-cs"/>
        </a:defRPr>
      </a:lvl4pPr>
      <a:lvl5pPr marL="1828800" algn="l" defTabSz="914400" rtl="0" eaLnBrk="1" latinLnBrk="0" hangingPunct="1">
        <a:defRPr sz="1900" kern="1200">
          <a:solidFill>
            <a:schemeClr val="tx1"/>
          </a:solidFill>
          <a:latin typeface="+mn-lt"/>
          <a:ea typeface="+mn-ea"/>
          <a:cs typeface="+mn-cs"/>
        </a:defRPr>
      </a:lvl5pPr>
      <a:lvl6pPr marL="2286000" algn="l" defTabSz="914400" rtl="0" eaLnBrk="1" latinLnBrk="0" hangingPunct="1">
        <a:defRPr sz="1900" kern="1200">
          <a:solidFill>
            <a:schemeClr val="tx1"/>
          </a:solidFill>
          <a:latin typeface="+mn-lt"/>
          <a:ea typeface="+mn-ea"/>
          <a:cs typeface="+mn-cs"/>
        </a:defRPr>
      </a:lvl6pPr>
      <a:lvl7pPr marL="2743200" algn="l" defTabSz="914400" rtl="0" eaLnBrk="1" latinLnBrk="0" hangingPunct="1">
        <a:defRPr sz="1900" kern="1200">
          <a:solidFill>
            <a:schemeClr val="tx1"/>
          </a:solidFill>
          <a:latin typeface="+mn-lt"/>
          <a:ea typeface="+mn-ea"/>
          <a:cs typeface="+mn-cs"/>
        </a:defRPr>
      </a:lvl7pPr>
      <a:lvl8pPr marL="3200400" algn="l" defTabSz="914400" rtl="0" eaLnBrk="1" latinLnBrk="0" hangingPunct="1">
        <a:defRPr sz="1900" kern="1200">
          <a:solidFill>
            <a:schemeClr val="tx1"/>
          </a:solidFill>
          <a:latin typeface="+mn-lt"/>
          <a:ea typeface="+mn-ea"/>
          <a:cs typeface="+mn-cs"/>
        </a:defRPr>
      </a:lvl8pPr>
      <a:lvl9pPr marL="3657600" algn="l" defTabSz="914400"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3175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en-GB" dirty="0"/>
          </a:p>
        </p:txBody>
      </p:sp>
      <p:pic>
        <p:nvPicPr>
          <p:cNvPr id="10" name="Graphic 9"/>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1" cy="3611691"/>
          </a:xfrm>
          <a:prstGeom prst="rect">
            <a:avLst/>
          </a:prstGeom>
        </p:spPr>
      </p:pic>
      <p:pic>
        <p:nvPicPr>
          <p:cNvPr id="1026" name="Picture 2" descr="C:\Users\Administrator\Downloads\Screenshot__117_-removebg-preview.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63" y="393485"/>
            <a:ext cx="3067051" cy="161925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ctrTitle"/>
          </p:nvPr>
        </p:nvSpPr>
        <p:spPr>
          <a:xfrm>
            <a:off x="1524000" y="1122363"/>
            <a:ext cx="9144000" cy="2387600"/>
          </a:xfrm>
        </p:spPr>
        <p:txBody>
          <a:bodyPr/>
          <a:lstStyle/>
          <a:p>
            <a:pPr algn="l"/>
            <a:r>
              <a:rPr lang="en-US" b="1" dirty="0">
                <a:solidFill>
                  <a:schemeClr val="bg1"/>
                </a:solidFill>
              </a:rPr>
              <a:t>Process Synchronization</a:t>
            </a:r>
            <a:endParaRPr lang="en-US" b="1" dirty="0">
              <a:solidFill>
                <a:schemeClr val="bg1"/>
              </a:solidFill>
            </a:endParaRPr>
          </a:p>
        </p:txBody>
      </p:sp>
      <p:sp>
        <p:nvSpPr>
          <p:cNvPr id="7" name="Subtitle 2"/>
          <p:cNvSpPr>
            <a:spLocks noGrp="1"/>
          </p:cNvSpPr>
          <p:nvPr>
            <p:ph type="subTitle" idx="1"/>
          </p:nvPr>
        </p:nvSpPr>
        <p:spPr>
          <a:xfrm>
            <a:off x="1524000" y="3602037"/>
            <a:ext cx="9144000" cy="1655763"/>
          </a:xfrm>
        </p:spPr>
        <p:txBody>
          <a:bodyPr>
            <a:normAutofit/>
          </a:bodyPr>
          <a:lstStyle/>
          <a:p>
            <a:r>
              <a:rPr lang="en-US" b="1" dirty="0" smtClean="0">
                <a:solidFill>
                  <a:schemeClr val="bg1"/>
                </a:solidFill>
              </a:rPr>
              <a:t>Lecture #11</a:t>
            </a:r>
            <a:endParaRPr lang="en-US"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004"/>
            <a:ext cx="10515600" cy="1325563"/>
          </a:xfrm>
        </p:spPr>
        <p:txBody>
          <a:bodyPr/>
          <a:lstStyle/>
          <a:p>
            <a:pPr algn="ctr"/>
            <a:r>
              <a:rPr lang="en-US" b="1" dirty="0">
                <a:solidFill>
                  <a:schemeClr val="bg1"/>
                </a:solidFill>
              </a:rPr>
              <a:t>Process </a:t>
            </a:r>
            <a:r>
              <a:rPr lang="en-US" b="1" dirty="0" smtClean="0">
                <a:solidFill>
                  <a:schemeClr val="bg1"/>
                </a:solidFill>
              </a:rPr>
              <a:t>Synchronization</a:t>
            </a:r>
            <a:endParaRPr lang="en-US" b="1" dirty="0">
              <a:solidFill>
                <a:schemeClr val="bg1"/>
              </a:solidFill>
            </a:endParaRPr>
          </a:p>
        </p:txBody>
      </p:sp>
      <p:sp>
        <p:nvSpPr>
          <p:cNvPr id="3" name="Content Placeholder 2"/>
          <p:cNvSpPr>
            <a:spLocks noGrp="1"/>
          </p:cNvSpPr>
          <p:nvPr>
            <p:ph idx="1"/>
          </p:nvPr>
        </p:nvSpPr>
        <p:spPr>
          <a:xfrm>
            <a:off x="1097280" y="1904253"/>
            <a:ext cx="10058400" cy="3797300"/>
          </a:xfrm>
        </p:spPr>
        <p:txBody>
          <a:bodyPr>
            <a:normAutofit/>
          </a:bodyPr>
          <a:lstStyle/>
          <a:p>
            <a:pPr algn="just"/>
            <a:r>
              <a:rPr lang="en-US" sz="2800" dirty="0"/>
              <a:t>Process Synchronization means </a:t>
            </a:r>
            <a:r>
              <a:rPr lang="en-US" sz="2800" b="1" i="1" dirty="0"/>
              <a:t>sharing system resources by processes </a:t>
            </a:r>
            <a:r>
              <a:rPr lang="en-US" sz="2800" dirty="0"/>
              <a:t>in a such a way that, Concurrent access to shared data is handled thereby minimizing the chance of inconsistent data. </a:t>
            </a:r>
            <a:endParaRPr lang="en-US" sz="2800" dirty="0" smtClean="0"/>
          </a:p>
          <a:p>
            <a:pPr algn="just"/>
            <a:r>
              <a:rPr lang="en-US" sz="2800" dirty="0" smtClean="0"/>
              <a:t>Maintaining </a:t>
            </a:r>
            <a:r>
              <a:rPr lang="en-US" sz="2800" dirty="0"/>
              <a:t>data consistency demands mechanisms to ensure synchronized execution of cooperating processes.</a:t>
            </a:r>
          </a:p>
          <a:p>
            <a:pPr algn="just"/>
            <a:endParaRPr lang="en-US" sz="2800" dirty="0"/>
          </a:p>
          <a:p>
            <a:pPr algn="just"/>
            <a:r>
              <a:rPr lang="en-US" sz="2800" dirty="0"/>
              <a:t>Process Synchronization was introduced to handle problems that arose while multiple process executions.</a:t>
            </a:r>
          </a:p>
        </p:txBody>
      </p:sp>
    </p:spTree>
    <p:extLst>
      <p:ext uri="{BB962C8B-B14F-4D97-AF65-F5344CB8AC3E}">
        <p14:creationId xmlns:p14="http://schemas.microsoft.com/office/powerpoint/2010/main" val="1651082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0730" y="269432"/>
            <a:ext cx="10515600" cy="1325563"/>
          </a:xfrm>
        </p:spPr>
        <p:txBody>
          <a:bodyPr/>
          <a:lstStyle/>
          <a:p>
            <a:pPr algn="ctr"/>
            <a:r>
              <a:rPr lang="en-US" b="1" dirty="0" smtClean="0">
                <a:solidFill>
                  <a:schemeClr val="bg1"/>
                </a:solidFill>
              </a:rPr>
              <a:t>Producer Consumer Problem</a:t>
            </a:r>
            <a:endParaRPr lang="en-US" b="1" dirty="0">
              <a:solidFill>
                <a:schemeClr val="bg1"/>
              </a:solidFill>
            </a:endParaRPr>
          </a:p>
        </p:txBody>
      </p:sp>
      <p:sp>
        <p:nvSpPr>
          <p:cNvPr id="3" name="Content Placeholder 2"/>
          <p:cNvSpPr>
            <a:spLocks noGrp="1"/>
          </p:cNvSpPr>
          <p:nvPr>
            <p:ph idx="1"/>
          </p:nvPr>
        </p:nvSpPr>
        <p:spPr>
          <a:xfrm>
            <a:off x="1097280" y="1984936"/>
            <a:ext cx="9844739" cy="3972112"/>
          </a:xfrm>
        </p:spPr>
        <p:txBody>
          <a:bodyPr>
            <a:normAutofit/>
          </a:bodyPr>
          <a:lstStyle/>
          <a:p>
            <a:pPr marL="282575" indent="-282575" algn="just">
              <a:buFont typeface="Wingdings" panose="05000000000000000000" pitchFamily="2" charset="2"/>
              <a:buChar char="§"/>
            </a:pPr>
            <a:r>
              <a:rPr lang="en-US" sz="2400" dirty="0"/>
              <a:t>The producer consumer problem is a synchronization problem. </a:t>
            </a:r>
            <a:endParaRPr lang="en-US" sz="2400" dirty="0" smtClean="0"/>
          </a:p>
          <a:p>
            <a:pPr marL="282575" indent="-282575" algn="just">
              <a:buFont typeface="Wingdings" panose="05000000000000000000" pitchFamily="2" charset="2"/>
              <a:buChar char="§"/>
            </a:pPr>
            <a:r>
              <a:rPr lang="en-US" sz="2400" dirty="0" smtClean="0"/>
              <a:t>There </a:t>
            </a:r>
            <a:r>
              <a:rPr lang="en-US" sz="2400" dirty="0"/>
              <a:t>is a </a:t>
            </a:r>
            <a:r>
              <a:rPr lang="en-US" sz="2400" b="1" dirty="0"/>
              <a:t>fixed size buffer </a:t>
            </a:r>
            <a:r>
              <a:rPr lang="en-US" sz="2400" dirty="0"/>
              <a:t>and the producer produces items and enters them into the buffer. </a:t>
            </a:r>
            <a:endParaRPr lang="en-US" sz="2400" dirty="0" smtClean="0"/>
          </a:p>
          <a:p>
            <a:pPr marL="282575" indent="-282575" algn="just">
              <a:buFont typeface="Wingdings" panose="05000000000000000000" pitchFamily="2" charset="2"/>
              <a:buChar char="§"/>
            </a:pPr>
            <a:r>
              <a:rPr lang="en-US" sz="2400" dirty="0" smtClean="0"/>
              <a:t>The </a:t>
            </a:r>
            <a:r>
              <a:rPr lang="en-US" sz="2400" dirty="0"/>
              <a:t>consumer removes the items from the buffer and consumes them</a:t>
            </a:r>
            <a:r>
              <a:rPr lang="en-US" sz="2400" dirty="0" smtClean="0"/>
              <a:t>.</a:t>
            </a:r>
            <a:endParaRPr lang="en-US" sz="2400" dirty="0"/>
          </a:p>
          <a:p>
            <a:pPr marL="282575" indent="-282575" algn="just">
              <a:buFont typeface="Wingdings" panose="05000000000000000000" pitchFamily="2" charset="2"/>
              <a:buChar char="§"/>
            </a:pPr>
            <a:r>
              <a:rPr lang="en-US" sz="2400" i="1" dirty="0">
                <a:solidFill>
                  <a:srgbClr val="FF0000"/>
                </a:solidFill>
              </a:rPr>
              <a:t>A producer should not produce items into the buffer when the consumer is consuming an item from the buffer and vice versa. </a:t>
            </a:r>
            <a:endParaRPr lang="en-US" sz="2400" i="1" dirty="0" smtClean="0">
              <a:solidFill>
                <a:srgbClr val="FF0000"/>
              </a:solidFill>
            </a:endParaRPr>
          </a:p>
          <a:p>
            <a:pPr marL="282575" indent="-282575" algn="just">
              <a:buFont typeface="Wingdings" panose="05000000000000000000" pitchFamily="2" charset="2"/>
              <a:buChar char="§"/>
            </a:pPr>
            <a:r>
              <a:rPr lang="en-US" sz="2400" dirty="0" smtClean="0"/>
              <a:t>So </a:t>
            </a:r>
            <a:r>
              <a:rPr lang="en-US" sz="2400" dirty="0"/>
              <a:t>the buffer should only be accessed by the producer or consumer at a time.</a:t>
            </a:r>
          </a:p>
        </p:txBody>
      </p:sp>
      <p:sp>
        <p:nvSpPr>
          <p:cNvPr id="4" name="Rectangle 3"/>
          <p:cNvSpPr/>
          <p:nvPr/>
        </p:nvSpPr>
        <p:spPr>
          <a:xfrm>
            <a:off x="1187302" y="5706055"/>
            <a:ext cx="10093842" cy="969496"/>
          </a:xfrm>
          <a:prstGeom prst="rect">
            <a:avLst/>
          </a:prstGeom>
        </p:spPr>
        <p:txBody>
          <a:bodyPr wrap="square">
            <a:spAutoFit/>
          </a:bodyPr>
          <a:lstStyle/>
          <a:p>
            <a:r>
              <a:rPr lang="en-US" b="1" dirty="0" smtClean="0">
                <a:solidFill>
                  <a:srgbClr val="C00000"/>
                </a:solidFill>
              </a:rPr>
              <a:t>Video: </a:t>
            </a:r>
            <a:r>
              <a:rPr lang="en-US" dirty="0" smtClean="0"/>
              <a:t>https</a:t>
            </a:r>
            <a:r>
              <a:rPr lang="en-US" dirty="0"/>
              <a:t>://www.youtube.com/watch?v=iMD1Z3f9ioI&amp;list=PLxCzCOWd7aiGz9donHRrE9I3Mwn6XdP8p&amp;index=27</a:t>
            </a:r>
          </a:p>
        </p:txBody>
      </p:sp>
    </p:spTree>
    <p:extLst>
      <p:ext uri="{BB962C8B-B14F-4D97-AF65-F5344CB8AC3E}">
        <p14:creationId xmlns:p14="http://schemas.microsoft.com/office/powerpoint/2010/main" val="3543147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114"/>
            <a:ext cx="10515600" cy="1325563"/>
          </a:xfrm>
        </p:spPr>
        <p:txBody>
          <a:bodyPr/>
          <a:lstStyle/>
          <a:p>
            <a:pPr algn="ctr"/>
            <a:r>
              <a:rPr lang="en-US" b="1" dirty="0">
                <a:solidFill>
                  <a:schemeClr val="bg1"/>
                </a:solidFill>
              </a:rPr>
              <a:t>Producer Consumer Problem</a:t>
            </a:r>
            <a:endParaRPr lang="en-US" dirty="0">
              <a:solidFill>
                <a:schemeClr val="bg1"/>
              </a:solidFill>
            </a:endParaRPr>
          </a:p>
        </p:txBody>
      </p:sp>
      <p:pic>
        <p:nvPicPr>
          <p:cNvPr id="4" name="Picture 3"/>
          <p:cNvPicPr>
            <a:picLocks noChangeAspect="1"/>
          </p:cNvPicPr>
          <p:nvPr/>
        </p:nvPicPr>
        <p:blipFill>
          <a:blip r:embed="rId2"/>
          <a:stretch>
            <a:fillRect/>
          </a:stretch>
        </p:blipFill>
        <p:spPr>
          <a:xfrm>
            <a:off x="464656" y="2539252"/>
            <a:ext cx="5895305" cy="2691653"/>
          </a:xfrm>
          <a:prstGeom prst="rect">
            <a:avLst/>
          </a:prstGeom>
        </p:spPr>
      </p:pic>
      <p:pic>
        <p:nvPicPr>
          <p:cNvPr id="2050"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8832" y="1446677"/>
            <a:ext cx="3448050" cy="4876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5282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67" y="163106"/>
            <a:ext cx="10515600" cy="1325563"/>
          </a:xfrm>
        </p:spPr>
        <p:txBody>
          <a:bodyPr/>
          <a:lstStyle/>
          <a:p>
            <a:pPr algn="ctr"/>
            <a:r>
              <a:rPr lang="en-US" b="1" dirty="0" smtClean="0">
                <a:solidFill>
                  <a:schemeClr val="bg1"/>
                </a:solidFill>
              </a:rPr>
              <a:t>Cont.. </a:t>
            </a:r>
            <a:endParaRPr lang="en-US" b="1" dirty="0">
              <a:solidFill>
                <a:schemeClr val="bg1"/>
              </a:solidFill>
            </a:endParaRPr>
          </a:p>
        </p:txBody>
      </p:sp>
      <p:sp>
        <p:nvSpPr>
          <p:cNvPr id="3" name="Content Placeholder 2"/>
          <p:cNvSpPr>
            <a:spLocks noGrp="1"/>
          </p:cNvSpPr>
          <p:nvPr>
            <p:ph idx="1"/>
          </p:nvPr>
        </p:nvSpPr>
        <p:spPr>
          <a:xfrm>
            <a:off x="1154955" y="2003612"/>
            <a:ext cx="8761412" cy="4195482"/>
          </a:xfrm>
        </p:spPr>
        <p:txBody>
          <a:bodyPr>
            <a:noAutofit/>
          </a:bodyPr>
          <a:lstStyle/>
          <a:p>
            <a:pPr marL="282575" indent="-282575" algn="just">
              <a:buFont typeface="Wingdings" panose="05000000000000000000" pitchFamily="2" charset="2"/>
              <a:buChar char="§"/>
            </a:pPr>
            <a:r>
              <a:rPr lang="en-US" sz="2400" dirty="0" smtClean="0"/>
              <a:t>One solution to the producer-consumer problem uses shared memory. </a:t>
            </a:r>
          </a:p>
          <a:p>
            <a:pPr marL="282575" indent="-282575" algn="just">
              <a:buFont typeface="Wingdings" panose="05000000000000000000" pitchFamily="2" charset="2"/>
              <a:buChar char="§"/>
            </a:pPr>
            <a:r>
              <a:rPr lang="en-US" sz="2400" dirty="0" smtClean="0"/>
              <a:t>To allow producer and consumer processes to run concurrently, we must have available a buffer of items that can be filled by the producer and emptied by the consumer. </a:t>
            </a:r>
          </a:p>
          <a:p>
            <a:pPr marL="282575" indent="-282575" algn="just">
              <a:buFont typeface="Wingdings" panose="05000000000000000000" pitchFamily="2" charset="2"/>
              <a:buChar char="§"/>
            </a:pPr>
            <a:r>
              <a:rPr lang="en-US" sz="2400" dirty="0" smtClean="0"/>
              <a:t>This buffer will reside in a region of memory that is shared by the producer and consumer processes. </a:t>
            </a:r>
          </a:p>
          <a:p>
            <a:pPr algn="just">
              <a:buNone/>
            </a:pPr>
            <a:endParaRPr lang="en-US" dirty="0"/>
          </a:p>
        </p:txBody>
      </p:sp>
    </p:spTree>
    <p:extLst>
      <p:ext uri="{BB962C8B-B14F-4D97-AF65-F5344CB8AC3E}">
        <p14:creationId xmlns:p14="http://schemas.microsoft.com/office/powerpoint/2010/main" val="61642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67" y="226902"/>
            <a:ext cx="10515600" cy="1325563"/>
          </a:xfrm>
        </p:spPr>
        <p:txBody>
          <a:bodyPr/>
          <a:lstStyle/>
          <a:p>
            <a:pPr algn="ctr"/>
            <a:r>
              <a:rPr lang="en-US" b="1" dirty="0" smtClean="0">
                <a:solidFill>
                  <a:schemeClr val="bg1"/>
                </a:solidFill>
              </a:rPr>
              <a:t>Cont...</a:t>
            </a:r>
            <a:endParaRPr lang="en-US" b="1" dirty="0">
              <a:solidFill>
                <a:schemeClr val="bg1"/>
              </a:solidFill>
            </a:endParaRPr>
          </a:p>
        </p:txBody>
      </p:sp>
      <p:sp>
        <p:nvSpPr>
          <p:cNvPr id="3" name="Content Placeholder 2"/>
          <p:cNvSpPr>
            <a:spLocks noGrp="1"/>
          </p:cNvSpPr>
          <p:nvPr>
            <p:ph idx="1"/>
          </p:nvPr>
        </p:nvSpPr>
        <p:spPr/>
        <p:txBody>
          <a:bodyPr>
            <a:normAutofit/>
          </a:bodyPr>
          <a:lstStyle/>
          <a:p>
            <a:pPr marL="228600" indent="-228600" algn="just">
              <a:buFont typeface="Wingdings" panose="05000000000000000000" pitchFamily="2" charset="2"/>
              <a:buChar char="§"/>
            </a:pPr>
            <a:r>
              <a:rPr lang="en-US" sz="2400" dirty="0" smtClean="0"/>
              <a:t>This buffer will reside in a region of memory that is shared by the producer and consumer processes. </a:t>
            </a:r>
          </a:p>
          <a:p>
            <a:pPr marL="228600" indent="-228600" algn="just">
              <a:buFont typeface="Wingdings" panose="05000000000000000000" pitchFamily="2" charset="2"/>
              <a:buChar char="§"/>
            </a:pPr>
            <a:r>
              <a:rPr lang="en-US" sz="2400" dirty="0" smtClean="0"/>
              <a:t>A producer can produce one item while the consumer is consuming another item. </a:t>
            </a:r>
          </a:p>
          <a:p>
            <a:pPr marL="228600" indent="-228600" algn="just">
              <a:buFont typeface="Wingdings" panose="05000000000000000000" pitchFamily="2" charset="2"/>
              <a:buChar char="§"/>
            </a:pPr>
            <a:r>
              <a:rPr lang="en-US" sz="2400" dirty="0" smtClean="0"/>
              <a:t>The producer and consumer must be synchronized, so that the consumer does not try to consume an item that has not yet been produced.</a:t>
            </a:r>
          </a:p>
        </p:txBody>
      </p:sp>
    </p:spTree>
    <p:extLst>
      <p:ext uri="{BB962C8B-B14F-4D97-AF65-F5344CB8AC3E}">
        <p14:creationId xmlns:p14="http://schemas.microsoft.com/office/powerpoint/2010/main" val="2979480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5037" y="195004"/>
            <a:ext cx="10515600" cy="1325563"/>
          </a:xfrm>
        </p:spPr>
        <p:txBody>
          <a:bodyPr/>
          <a:lstStyle/>
          <a:p>
            <a:pPr algn="ctr"/>
            <a:r>
              <a:rPr lang="en-US" dirty="0" smtClean="0">
                <a:solidFill>
                  <a:schemeClr val="bg1"/>
                </a:solidFill>
              </a:rPr>
              <a:t>Cont..</a:t>
            </a:r>
            <a:endParaRPr lang="en-US" dirty="0">
              <a:solidFill>
                <a:schemeClr val="bg1"/>
              </a:solidFill>
            </a:endParaRPr>
          </a:p>
        </p:txBody>
      </p:sp>
      <p:sp>
        <p:nvSpPr>
          <p:cNvPr id="3" name="Content Placeholder 2"/>
          <p:cNvSpPr>
            <a:spLocks noGrp="1"/>
          </p:cNvSpPr>
          <p:nvPr>
            <p:ph idx="1"/>
          </p:nvPr>
        </p:nvSpPr>
        <p:spPr>
          <a:xfrm>
            <a:off x="1097280" y="1998383"/>
            <a:ext cx="10355727" cy="3416300"/>
          </a:xfrm>
        </p:spPr>
        <p:txBody>
          <a:bodyPr>
            <a:noAutofit/>
          </a:bodyPr>
          <a:lstStyle/>
          <a:p>
            <a:pPr marL="228600" indent="-228600" algn="just">
              <a:buFont typeface="Wingdings" panose="05000000000000000000" pitchFamily="2" charset="2"/>
              <a:buChar char="§"/>
            </a:pPr>
            <a:r>
              <a:rPr lang="en-US" sz="2800" dirty="0" smtClean="0"/>
              <a:t>Two types of buffers can be used. </a:t>
            </a:r>
          </a:p>
          <a:p>
            <a:pPr marL="228600" indent="-228600" algn="just">
              <a:buFont typeface="Wingdings" panose="05000000000000000000" pitchFamily="2" charset="2"/>
              <a:buChar char="§"/>
            </a:pPr>
            <a:r>
              <a:rPr lang="en-US" sz="2800" dirty="0" smtClean="0"/>
              <a:t>The </a:t>
            </a:r>
            <a:r>
              <a:rPr lang="en-US" sz="2800" b="1" dirty="0" smtClean="0"/>
              <a:t>unbounded buffer </a:t>
            </a:r>
            <a:r>
              <a:rPr lang="en-US" sz="2800" dirty="0" smtClean="0"/>
              <a:t>places no practical limit on the size of the buffer. The consumer may have to wait for new items, but the producer can always produce new items. </a:t>
            </a:r>
          </a:p>
          <a:p>
            <a:pPr marL="228600" indent="-228600" algn="just">
              <a:buFont typeface="Wingdings" panose="05000000000000000000" pitchFamily="2" charset="2"/>
              <a:buChar char="§"/>
            </a:pPr>
            <a:r>
              <a:rPr lang="en-US" sz="2800" dirty="0" smtClean="0"/>
              <a:t>The </a:t>
            </a:r>
            <a:r>
              <a:rPr lang="en-US" sz="2800" b="1" dirty="0" smtClean="0"/>
              <a:t>bounded buffer </a:t>
            </a:r>
            <a:r>
              <a:rPr lang="en-US" sz="2800" dirty="0" smtClean="0"/>
              <a:t>assumes a fixed buffer size. In this case, the consumer must wait if the buffer is empty, and the producer must wait if the buffer is full.</a:t>
            </a:r>
          </a:p>
        </p:txBody>
      </p:sp>
    </p:spTree>
    <p:extLst>
      <p:ext uri="{BB962C8B-B14F-4D97-AF65-F5344CB8AC3E}">
        <p14:creationId xmlns:p14="http://schemas.microsoft.com/office/powerpoint/2010/main" val="2705604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935" y="184371"/>
            <a:ext cx="10515600" cy="1325563"/>
          </a:xfrm>
        </p:spPr>
        <p:txBody>
          <a:bodyPr/>
          <a:lstStyle/>
          <a:p>
            <a:pPr algn="ctr"/>
            <a:r>
              <a:rPr lang="en-US" b="1" dirty="0" smtClean="0">
                <a:solidFill>
                  <a:schemeClr val="bg1"/>
                </a:solidFill>
              </a:rPr>
              <a:t>Process Synchronization</a:t>
            </a:r>
            <a:endParaRPr lang="en-US" b="1" dirty="0">
              <a:solidFill>
                <a:schemeClr val="bg1"/>
              </a:solidFill>
            </a:endParaRPr>
          </a:p>
        </p:txBody>
      </p:sp>
      <p:sp>
        <p:nvSpPr>
          <p:cNvPr id="3" name="Content Placeholder 2"/>
          <p:cNvSpPr>
            <a:spLocks noGrp="1"/>
          </p:cNvSpPr>
          <p:nvPr>
            <p:ph idx="1"/>
          </p:nvPr>
        </p:nvSpPr>
        <p:spPr>
          <a:xfrm>
            <a:off x="968188" y="2138082"/>
            <a:ext cx="10636623" cy="3881718"/>
          </a:xfrm>
        </p:spPr>
        <p:txBody>
          <a:bodyPr/>
          <a:lstStyle/>
          <a:p>
            <a:pPr marL="228600" indent="-228600" algn="just">
              <a:buFont typeface="Wingdings" panose="05000000000000000000" pitchFamily="2" charset="2"/>
              <a:buChar char="§"/>
            </a:pPr>
            <a:r>
              <a:rPr lang="en-US" sz="2800" dirty="0" smtClean="0"/>
              <a:t>Suppose that we wanted to provide a solution to the consumer-producer problem that fills </a:t>
            </a:r>
            <a:r>
              <a:rPr lang="en-US" sz="2800" dirty="0" smtClean="0">
                <a:solidFill>
                  <a:srgbClr val="FF0000"/>
                </a:solidFill>
              </a:rPr>
              <a:t>all </a:t>
            </a:r>
            <a:r>
              <a:rPr lang="en-US" sz="2800" dirty="0" smtClean="0"/>
              <a:t>the buffers. </a:t>
            </a:r>
          </a:p>
          <a:p>
            <a:pPr marL="228600" indent="-228600" algn="just">
              <a:buFont typeface="Wingdings" panose="05000000000000000000" pitchFamily="2" charset="2"/>
              <a:buChar char="§"/>
            </a:pPr>
            <a:r>
              <a:rPr lang="en-US" sz="2800" dirty="0" smtClean="0"/>
              <a:t>We can do so by having an integer </a:t>
            </a:r>
            <a:r>
              <a:rPr lang="en-US" sz="2800" dirty="0" smtClean="0">
                <a:solidFill>
                  <a:srgbClr val="FF0000"/>
                </a:solidFill>
              </a:rPr>
              <a:t>count</a:t>
            </a:r>
            <a:r>
              <a:rPr lang="en-US" sz="2800" dirty="0" smtClean="0"/>
              <a:t> that keeps track of the number of full buffers. </a:t>
            </a:r>
          </a:p>
          <a:p>
            <a:pPr marL="228600" indent="-228600" algn="just">
              <a:buFont typeface="Wingdings" panose="05000000000000000000" pitchFamily="2" charset="2"/>
              <a:buChar char="§"/>
            </a:pPr>
            <a:r>
              <a:rPr lang="en-US" sz="2800" dirty="0" smtClean="0"/>
              <a:t>Initially, count is set to 0.</a:t>
            </a:r>
          </a:p>
          <a:p>
            <a:pPr marL="228600" indent="-228600" algn="just">
              <a:buFont typeface="Wingdings" panose="05000000000000000000" pitchFamily="2" charset="2"/>
              <a:buChar char="§"/>
            </a:pPr>
            <a:r>
              <a:rPr lang="en-US" sz="2800" dirty="0" smtClean="0"/>
              <a:t>It is incremented by the producer after it produces a new buffer and is decremented by the consumer after it consumes a buffer.</a:t>
            </a:r>
          </a:p>
          <a:p>
            <a:pPr algn="just"/>
            <a:endParaRPr lang="en-US" dirty="0"/>
          </a:p>
        </p:txBody>
      </p:sp>
    </p:spTree>
    <p:extLst>
      <p:ext uri="{BB962C8B-B14F-4D97-AF65-F5344CB8AC3E}">
        <p14:creationId xmlns:p14="http://schemas.microsoft.com/office/powerpoint/2010/main" val="956658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1963"/>
            <a:ext cx="10515600" cy="1325563"/>
          </a:xfrm>
        </p:spPr>
        <p:txBody>
          <a:bodyPr>
            <a:noAutofit/>
          </a:bodyPr>
          <a:lstStyle/>
          <a:p>
            <a:pPr algn="ctr"/>
            <a:r>
              <a:rPr lang="en-US" sz="2400" b="1" dirty="0">
                <a:solidFill>
                  <a:schemeClr val="bg1"/>
                </a:solidFill>
              </a:rPr>
              <a:t>Proposed solutions to the Single Producer-Consumer Problem</a:t>
            </a:r>
          </a:p>
        </p:txBody>
      </p:sp>
      <p:sp>
        <p:nvSpPr>
          <p:cNvPr id="3" name="Content Placeholder 2"/>
          <p:cNvSpPr>
            <a:spLocks noGrp="1"/>
          </p:cNvSpPr>
          <p:nvPr>
            <p:ph idx="1"/>
          </p:nvPr>
        </p:nvSpPr>
        <p:spPr>
          <a:xfrm>
            <a:off x="1154953" y="2377315"/>
            <a:ext cx="9750612" cy="3805518"/>
          </a:xfrm>
        </p:spPr>
        <p:txBody>
          <a:bodyPr>
            <a:noAutofit/>
          </a:bodyPr>
          <a:lstStyle/>
          <a:p>
            <a:pPr marL="228600" indent="-228600" algn="just">
              <a:buFont typeface="Wingdings" panose="05000000000000000000" pitchFamily="2" charset="2"/>
              <a:buChar char="§"/>
            </a:pPr>
            <a:r>
              <a:rPr lang="en-US" sz="2800" dirty="0" smtClean="0"/>
              <a:t>Assume a scenario with identical characteristics as those which form the basic Producer-Consumer problem, i.e. two processes, one Producer, one Consumer and a shared data area.</a:t>
            </a:r>
          </a:p>
          <a:p>
            <a:pPr marL="228600" indent="-228600" algn="just">
              <a:buFont typeface="Wingdings" panose="05000000000000000000" pitchFamily="2" charset="2"/>
              <a:buChar char="§"/>
            </a:pPr>
            <a:r>
              <a:rPr lang="en-US" sz="2800" dirty="0" smtClean="0"/>
              <a:t>Furthermore, assume that the code executed by the Producer and the Consumer follows the same pattern as outlined below…</a:t>
            </a:r>
          </a:p>
        </p:txBody>
      </p:sp>
    </p:spTree>
    <p:extLst>
      <p:ext uri="{BB962C8B-B14F-4D97-AF65-F5344CB8AC3E}">
        <p14:creationId xmlns:p14="http://schemas.microsoft.com/office/powerpoint/2010/main" val="1440733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820302"/>
          </a:xfrm>
        </p:spPr>
        <p:txBody>
          <a:bodyPr/>
          <a:lstStyle/>
          <a:p>
            <a:pPr algn="ctr"/>
            <a:r>
              <a:rPr lang="en-US" b="1" dirty="0">
                <a:solidFill>
                  <a:schemeClr val="bg1"/>
                </a:solidFill>
              </a:rPr>
              <a:t>Race Condition</a:t>
            </a:r>
            <a:endParaRPr lang="en-US" dirty="0">
              <a:solidFill>
                <a:schemeClr val="bg1"/>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1837" y="1312195"/>
            <a:ext cx="4867275" cy="5324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59299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993786"/>
          </a:xfrm>
        </p:spPr>
        <p:txBody>
          <a:bodyPr/>
          <a:lstStyle/>
          <a:p>
            <a:pPr algn="ctr"/>
            <a:r>
              <a:rPr lang="en-US" b="1" dirty="0" smtClean="0">
                <a:solidFill>
                  <a:schemeClr val="bg1"/>
                </a:solidFill>
              </a:rPr>
              <a:t>Race Condition</a:t>
            </a:r>
            <a:endParaRPr lang="en-US" b="1" dirty="0">
              <a:solidFill>
                <a:schemeClr val="bg1"/>
              </a:solidFill>
            </a:endParaRPr>
          </a:p>
        </p:txBody>
      </p:sp>
      <p:pic>
        <p:nvPicPr>
          <p:cNvPr id="4" name="Picture 2"/>
          <p:cNvPicPr>
            <a:picLocks noChangeAspect="1" noChangeArrowheads="1"/>
          </p:cNvPicPr>
          <p:nvPr/>
        </p:nvPicPr>
        <p:blipFill>
          <a:blip r:embed="rId2"/>
          <a:srcRect/>
          <a:stretch>
            <a:fillRect/>
          </a:stretch>
        </p:blipFill>
        <p:spPr bwMode="auto">
          <a:xfrm>
            <a:off x="1821180" y="1280389"/>
            <a:ext cx="8610600" cy="4959046"/>
          </a:xfrm>
          <a:prstGeom prst="rect">
            <a:avLst/>
          </a:prstGeom>
          <a:noFill/>
          <a:ln w="9525">
            <a:noFill/>
            <a:miter lim="800000"/>
            <a:headEnd/>
            <a:tailEnd/>
          </a:ln>
          <a:effectLst/>
        </p:spPr>
      </p:pic>
    </p:spTree>
    <p:extLst>
      <p:ext uri="{BB962C8B-B14F-4D97-AF65-F5344CB8AC3E}">
        <p14:creationId xmlns:p14="http://schemas.microsoft.com/office/powerpoint/2010/main" val="2175570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772" y="152474"/>
            <a:ext cx="10515600" cy="1325563"/>
          </a:xfrm>
        </p:spPr>
        <p:txBody>
          <a:bodyPr/>
          <a:lstStyle/>
          <a:p>
            <a:pPr algn="ctr"/>
            <a:r>
              <a:rPr lang="en-US" b="1" dirty="0" smtClean="0">
                <a:solidFill>
                  <a:schemeClr val="bg1"/>
                </a:solidFill>
              </a:rPr>
              <a:t>Race Condition</a:t>
            </a:r>
            <a:endParaRPr lang="en-US" b="1" dirty="0">
              <a:solidFill>
                <a:schemeClr val="bg1"/>
              </a:solidFill>
            </a:endParaRPr>
          </a:p>
        </p:txBody>
      </p:sp>
      <p:sp>
        <p:nvSpPr>
          <p:cNvPr id="3" name="Content Placeholder 2"/>
          <p:cNvSpPr>
            <a:spLocks noGrp="1"/>
          </p:cNvSpPr>
          <p:nvPr>
            <p:ph idx="1"/>
          </p:nvPr>
        </p:nvSpPr>
        <p:spPr>
          <a:xfrm>
            <a:off x="1097280" y="1845734"/>
            <a:ext cx="10058400" cy="3223807"/>
          </a:xfrm>
        </p:spPr>
        <p:txBody>
          <a:bodyPr/>
          <a:lstStyle/>
          <a:p>
            <a:pPr algn="ctr"/>
            <a:r>
              <a:rPr lang="en-US" sz="4000" dirty="0" smtClean="0">
                <a:solidFill>
                  <a:schemeClr val="tx1">
                    <a:lumMod val="65000"/>
                    <a:lumOff val="35000"/>
                  </a:schemeClr>
                </a:solidFill>
              </a:rPr>
              <a:t>“A situation, where several processes access and manipulate the same data concurrently and the outcome of the execution depends on the particular order in which the access takes place, is called a </a:t>
            </a:r>
            <a:r>
              <a:rPr lang="en-US" sz="4000" b="1" i="1" dirty="0" smtClean="0">
                <a:solidFill>
                  <a:schemeClr val="tx1">
                    <a:lumMod val="65000"/>
                    <a:lumOff val="35000"/>
                  </a:schemeClr>
                </a:solidFill>
              </a:rPr>
              <a:t>race condition</a:t>
            </a:r>
            <a:r>
              <a:rPr lang="en-US" sz="4000" dirty="0" smtClean="0">
                <a:solidFill>
                  <a:schemeClr val="tx1">
                    <a:lumMod val="65000"/>
                    <a:lumOff val="35000"/>
                  </a:schemeClr>
                </a:solidFill>
              </a:rPr>
              <a:t>.”</a:t>
            </a:r>
          </a:p>
          <a:p>
            <a:pPr algn="just">
              <a:buNone/>
            </a:pPr>
            <a:endParaRPr lang="en-US" dirty="0"/>
          </a:p>
        </p:txBody>
      </p:sp>
    </p:spTree>
    <p:extLst>
      <p:ext uri="{BB962C8B-B14F-4D97-AF65-F5344CB8AC3E}">
        <p14:creationId xmlns:p14="http://schemas.microsoft.com/office/powerpoint/2010/main" val="1041112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371"/>
            <a:ext cx="10515600" cy="1325563"/>
          </a:xfrm>
        </p:spPr>
        <p:txBody>
          <a:bodyPr/>
          <a:lstStyle/>
          <a:p>
            <a:pPr algn="ctr"/>
            <a:r>
              <a:rPr lang="en-US" b="1" dirty="0">
                <a:solidFill>
                  <a:schemeClr val="bg1"/>
                </a:solidFill>
              </a:rPr>
              <a:t>Critical Section Problem</a:t>
            </a:r>
          </a:p>
        </p:txBody>
      </p:sp>
      <p:sp>
        <p:nvSpPr>
          <p:cNvPr id="3" name="Content Placeholder 2"/>
          <p:cNvSpPr>
            <a:spLocks noGrp="1"/>
          </p:cNvSpPr>
          <p:nvPr>
            <p:ph idx="1"/>
          </p:nvPr>
        </p:nvSpPr>
        <p:spPr/>
        <p:txBody>
          <a:bodyPr>
            <a:normAutofit/>
          </a:bodyPr>
          <a:lstStyle/>
          <a:p>
            <a:pPr marL="228600" indent="-228600" algn="just">
              <a:buFont typeface="Wingdings" panose="05000000000000000000" pitchFamily="2" charset="2"/>
              <a:buChar char="§"/>
            </a:pPr>
            <a:r>
              <a:rPr lang="en-US" sz="2400" dirty="0"/>
              <a:t>A </a:t>
            </a:r>
            <a:r>
              <a:rPr lang="en-US" sz="2400" b="1" u="sng" dirty="0"/>
              <a:t>Critical Section </a:t>
            </a:r>
            <a:r>
              <a:rPr lang="en-US" sz="2400" dirty="0"/>
              <a:t>is a code segment that accesses shared variables and has to be executed as an atomic action</a:t>
            </a:r>
            <a:r>
              <a:rPr lang="en-US" sz="2400" dirty="0" smtClean="0"/>
              <a:t>.</a:t>
            </a:r>
          </a:p>
          <a:p>
            <a:pPr marL="228600" indent="-228600" algn="just">
              <a:buFont typeface="Wingdings" panose="05000000000000000000" pitchFamily="2" charset="2"/>
              <a:buChar char="§"/>
            </a:pPr>
            <a:r>
              <a:rPr lang="en-US" sz="2400" dirty="0" smtClean="0"/>
              <a:t> </a:t>
            </a:r>
            <a:r>
              <a:rPr lang="en-US" sz="2400" dirty="0"/>
              <a:t>It means that in a group of cooperating processes, at a given point of time, only one process must be executing its critical section. </a:t>
            </a:r>
            <a:endParaRPr lang="en-US" sz="2400" dirty="0" smtClean="0"/>
          </a:p>
          <a:p>
            <a:pPr marL="228600" indent="-228600" algn="just">
              <a:buFont typeface="Wingdings" panose="05000000000000000000" pitchFamily="2" charset="2"/>
              <a:buChar char="§"/>
            </a:pPr>
            <a:r>
              <a:rPr lang="en-US" sz="2400" dirty="0" smtClean="0"/>
              <a:t>If </a:t>
            </a:r>
            <a:r>
              <a:rPr lang="en-US" sz="2400" dirty="0"/>
              <a:t>any other process also wants to execute its critical section, it must wait until the first one finishes.</a:t>
            </a:r>
          </a:p>
        </p:txBody>
      </p:sp>
    </p:spTree>
    <p:extLst>
      <p:ext uri="{BB962C8B-B14F-4D97-AF65-F5344CB8AC3E}">
        <p14:creationId xmlns:p14="http://schemas.microsoft.com/office/powerpoint/2010/main" val="3916408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910185"/>
          </a:xfrm>
        </p:spPr>
        <p:txBody>
          <a:bodyPr/>
          <a:lstStyle/>
          <a:p>
            <a:pPr algn="ctr"/>
            <a:r>
              <a:rPr lang="en-US" b="1" dirty="0">
                <a:solidFill>
                  <a:schemeClr val="bg1"/>
                </a:solidFill>
              </a:rPr>
              <a:t>Critical Section Problem</a:t>
            </a:r>
          </a:p>
        </p:txBody>
      </p:sp>
      <p:pic>
        <p:nvPicPr>
          <p:cNvPr id="4" name="Picture 3"/>
          <p:cNvPicPr>
            <a:picLocks noChangeAspect="1"/>
          </p:cNvPicPr>
          <p:nvPr/>
        </p:nvPicPr>
        <p:blipFill rotWithShape="1">
          <a:blip r:embed="rId2"/>
          <a:srcRect t="6538" b="9629"/>
          <a:stretch/>
        </p:blipFill>
        <p:spPr>
          <a:xfrm>
            <a:off x="2000379" y="1737360"/>
            <a:ext cx="8252201" cy="4477871"/>
          </a:xfrm>
          <a:prstGeom prst="rect">
            <a:avLst/>
          </a:prstGeom>
        </p:spPr>
      </p:pic>
    </p:spTree>
    <p:extLst>
      <p:ext uri="{BB962C8B-B14F-4D97-AF65-F5344CB8AC3E}">
        <p14:creationId xmlns:p14="http://schemas.microsoft.com/office/powerpoint/2010/main" val="3953880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935" y="216269"/>
            <a:ext cx="10515600" cy="1325563"/>
          </a:xfrm>
        </p:spPr>
        <p:txBody>
          <a:bodyPr/>
          <a:lstStyle/>
          <a:p>
            <a:pPr algn="ctr"/>
            <a:r>
              <a:rPr lang="en-US" dirty="0" smtClean="0">
                <a:solidFill>
                  <a:schemeClr val="bg1"/>
                </a:solidFill>
              </a:rPr>
              <a:t>Cont.</a:t>
            </a:r>
            <a:endParaRPr lang="en-US" dirty="0">
              <a:solidFill>
                <a:schemeClr val="bg1"/>
              </a:solidFill>
            </a:endParaRPr>
          </a:p>
        </p:txBody>
      </p:sp>
      <p:pic>
        <p:nvPicPr>
          <p:cNvPr id="4" name="Picture 3"/>
          <p:cNvPicPr>
            <a:picLocks noChangeAspect="1"/>
          </p:cNvPicPr>
          <p:nvPr/>
        </p:nvPicPr>
        <p:blipFill>
          <a:blip r:embed="rId2"/>
          <a:stretch>
            <a:fillRect/>
          </a:stretch>
        </p:blipFill>
        <p:spPr>
          <a:xfrm>
            <a:off x="3426408" y="1737360"/>
            <a:ext cx="4110925" cy="4599470"/>
          </a:xfrm>
          <a:prstGeom prst="rect">
            <a:avLst/>
          </a:prstGeom>
        </p:spPr>
      </p:pic>
    </p:spTree>
    <p:extLst>
      <p:ext uri="{BB962C8B-B14F-4D97-AF65-F5344CB8AC3E}">
        <p14:creationId xmlns:p14="http://schemas.microsoft.com/office/powerpoint/2010/main" val="1547963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0064"/>
            <a:ext cx="10515600" cy="1325563"/>
          </a:xfrm>
        </p:spPr>
        <p:txBody>
          <a:bodyPr/>
          <a:lstStyle/>
          <a:p>
            <a:pPr algn="ctr"/>
            <a:r>
              <a:rPr lang="en-US" dirty="0" smtClean="0">
                <a:solidFill>
                  <a:schemeClr val="bg1"/>
                </a:solidFill>
              </a:rPr>
              <a:t>Cont.</a:t>
            </a:r>
            <a:endParaRPr lang="en-US" dirty="0">
              <a:solidFill>
                <a:schemeClr val="bg1"/>
              </a:solidFill>
            </a:endParaRPr>
          </a:p>
        </p:txBody>
      </p:sp>
      <p:sp>
        <p:nvSpPr>
          <p:cNvPr id="3" name="Content Placeholder 2"/>
          <p:cNvSpPr>
            <a:spLocks noGrp="1"/>
          </p:cNvSpPr>
          <p:nvPr>
            <p:ph idx="1"/>
          </p:nvPr>
        </p:nvSpPr>
        <p:spPr>
          <a:xfrm>
            <a:off x="1154955" y="2299447"/>
            <a:ext cx="9683374" cy="4343400"/>
          </a:xfrm>
        </p:spPr>
        <p:txBody>
          <a:bodyPr>
            <a:noAutofit/>
          </a:bodyPr>
          <a:lstStyle/>
          <a:p>
            <a:pPr algn="just"/>
            <a:r>
              <a:rPr lang="en-US" sz="2200" dirty="0"/>
              <a:t>Any solution to the critical section problem must satisfy three requirements</a:t>
            </a:r>
            <a:r>
              <a:rPr lang="en-US" sz="2200" dirty="0" smtClean="0"/>
              <a:t>:</a:t>
            </a:r>
          </a:p>
          <a:p>
            <a:pPr marL="0" indent="0" algn="just">
              <a:buNone/>
            </a:pPr>
            <a:endParaRPr lang="en-US" sz="2200" dirty="0" smtClean="0"/>
          </a:p>
          <a:p>
            <a:pPr marL="457200" indent="-457200" algn="just">
              <a:buFont typeface="+mj-lt"/>
              <a:buAutoNum type="arabicPeriod"/>
            </a:pPr>
            <a:r>
              <a:rPr lang="en-US" sz="2400" b="1" dirty="0"/>
              <a:t>Mutual </a:t>
            </a:r>
            <a:r>
              <a:rPr lang="en-US" sz="2400" b="1" dirty="0" smtClean="0"/>
              <a:t>Exclusion</a:t>
            </a:r>
          </a:p>
          <a:p>
            <a:pPr marL="457200" indent="-457200" algn="just">
              <a:buFont typeface="+mj-lt"/>
              <a:buAutoNum type="arabicPeriod"/>
            </a:pPr>
            <a:r>
              <a:rPr lang="en-US" sz="2400" b="1" dirty="0" smtClean="0"/>
              <a:t>Progress</a:t>
            </a:r>
          </a:p>
          <a:p>
            <a:pPr marL="457200" indent="-457200" algn="just">
              <a:buFont typeface="+mj-lt"/>
              <a:buAutoNum type="arabicPeriod"/>
            </a:pPr>
            <a:r>
              <a:rPr lang="en-US" sz="2400" b="1" dirty="0"/>
              <a:t>Bounded Waiting</a:t>
            </a:r>
            <a:endParaRPr lang="en-US" sz="2200" dirty="0" smtClean="0"/>
          </a:p>
        </p:txBody>
      </p:sp>
    </p:spTree>
    <p:extLst>
      <p:ext uri="{BB962C8B-B14F-4D97-AF65-F5344CB8AC3E}">
        <p14:creationId xmlns:p14="http://schemas.microsoft.com/office/powerpoint/2010/main" val="3794101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833" y="163107"/>
            <a:ext cx="10515600" cy="1325563"/>
          </a:xfrm>
        </p:spPr>
        <p:txBody>
          <a:bodyPr/>
          <a:lstStyle/>
          <a:p>
            <a:pPr algn="ctr"/>
            <a:r>
              <a:rPr lang="en-US" b="1" dirty="0" smtClean="0">
                <a:solidFill>
                  <a:schemeClr val="bg1"/>
                </a:solidFill>
              </a:rPr>
              <a:t>Cont.</a:t>
            </a:r>
            <a:endParaRPr lang="en-US" b="1" dirty="0">
              <a:solidFill>
                <a:schemeClr val="bg1"/>
              </a:solidFill>
            </a:endParaRPr>
          </a:p>
        </p:txBody>
      </p:sp>
      <p:sp>
        <p:nvSpPr>
          <p:cNvPr id="3" name="Content Placeholder 2"/>
          <p:cNvSpPr>
            <a:spLocks noGrp="1"/>
          </p:cNvSpPr>
          <p:nvPr>
            <p:ph idx="1"/>
          </p:nvPr>
        </p:nvSpPr>
        <p:spPr>
          <a:xfrm>
            <a:off x="711201" y="1936376"/>
            <a:ext cx="10275045" cy="4558554"/>
          </a:xfrm>
        </p:spPr>
        <p:txBody>
          <a:bodyPr/>
          <a:lstStyle/>
          <a:p>
            <a:pPr algn="just"/>
            <a:r>
              <a:rPr lang="en-US" sz="2400" dirty="0">
                <a:solidFill>
                  <a:schemeClr val="accent1"/>
                </a:solidFill>
              </a:rPr>
              <a:t>1. </a:t>
            </a:r>
            <a:r>
              <a:rPr lang="en-US" sz="2400" b="1" dirty="0">
                <a:solidFill>
                  <a:schemeClr val="accent1"/>
                </a:solidFill>
              </a:rPr>
              <a:t>Mutual Exclusion </a:t>
            </a:r>
            <a:r>
              <a:rPr lang="en-US" sz="2400" dirty="0"/>
              <a:t>- If process Pi is executing in its critical section, then no other processes can be executing in their critical sections </a:t>
            </a:r>
          </a:p>
          <a:p>
            <a:pPr algn="just"/>
            <a:r>
              <a:rPr lang="en-US" sz="2400" dirty="0">
                <a:solidFill>
                  <a:schemeClr val="accent1"/>
                </a:solidFill>
              </a:rPr>
              <a:t>2. </a:t>
            </a:r>
            <a:r>
              <a:rPr lang="en-US" sz="2400" b="1" dirty="0">
                <a:solidFill>
                  <a:schemeClr val="accent1"/>
                </a:solidFill>
              </a:rPr>
              <a:t>Progress </a:t>
            </a:r>
            <a:r>
              <a:rPr lang="en-US" sz="2400" dirty="0"/>
              <a:t>- If no process is executing in its critical section and there exist some processes that wish to enter their critical section, then the selection of the processes that will enter the critical section next cannot be postponed indefinitely </a:t>
            </a:r>
            <a:endParaRPr lang="en-US" sz="2400" dirty="0" smtClean="0"/>
          </a:p>
          <a:p>
            <a:pPr algn="just"/>
            <a:r>
              <a:rPr lang="en-US" sz="2400" dirty="0" smtClean="0">
                <a:solidFill>
                  <a:schemeClr val="accent1"/>
                </a:solidFill>
              </a:rPr>
              <a:t>3</a:t>
            </a:r>
            <a:r>
              <a:rPr lang="en-US" sz="2400" dirty="0">
                <a:solidFill>
                  <a:schemeClr val="accent1"/>
                </a:solidFill>
              </a:rPr>
              <a:t>. </a:t>
            </a:r>
            <a:r>
              <a:rPr lang="en-US" sz="2400" b="1" dirty="0" smtClean="0">
                <a:solidFill>
                  <a:schemeClr val="accent1"/>
                </a:solidFill>
              </a:rPr>
              <a:t>Bounded </a:t>
            </a:r>
            <a:r>
              <a:rPr lang="en-US" sz="2400" b="1" dirty="0">
                <a:solidFill>
                  <a:schemeClr val="accent1"/>
                </a:solidFill>
              </a:rPr>
              <a:t>Waiting </a:t>
            </a:r>
            <a:r>
              <a:rPr lang="en-US" sz="2400" dirty="0"/>
              <a:t>- A bound must exist on the number of times that other processes are allowed to enter their critical sections after a process has made a request to enter its critical section and before that request is </a:t>
            </a:r>
            <a:r>
              <a:rPr lang="en-US" sz="2400" dirty="0" smtClean="0"/>
              <a:t>granted</a:t>
            </a:r>
          </a:p>
          <a:p>
            <a:pPr lvl="1" algn="just"/>
            <a:r>
              <a:rPr lang="en-US" sz="2000" dirty="0" smtClean="0"/>
              <a:t>Assume </a:t>
            </a:r>
            <a:r>
              <a:rPr lang="en-US" sz="2000" dirty="0"/>
              <a:t>that each process executes at a nonzero </a:t>
            </a:r>
            <a:r>
              <a:rPr lang="en-US" sz="2000" dirty="0" smtClean="0"/>
              <a:t>speed</a:t>
            </a:r>
          </a:p>
          <a:p>
            <a:pPr lvl="1" algn="just"/>
            <a:r>
              <a:rPr lang="en-US" sz="2000" dirty="0" smtClean="0"/>
              <a:t>No </a:t>
            </a:r>
            <a:r>
              <a:rPr lang="en-US" sz="2000" dirty="0"/>
              <a:t>assumption concerning </a:t>
            </a:r>
            <a:r>
              <a:rPr lang="en-US" sz="2000" b="1" dirty="0"/>
              <a:t>relative speed </a:t>
            </a:r>
            <a:r>
              <a:rPr lang="en-US" sz="2000" dirty="0"/>
              <a:t>of the n processes</a:t>
            </a:r>
          </a:p>
          <a:p>
            <a:endParaRPr lang="en-US" dirty="0"/>
          </a:p>
        </p:txBody>
      </p:sp>
    </p:spTree>
    <p:extLst>
      <p:ext uri="{BB962C8B-B14F-4D97-AF65-F5344CB8AC3E}">
        <p14:creationId xmlns:p14="http://schemas.microsoft.com/office/powerpoint/2010/main" val="40723293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5636"/>
            <a:ext cx="10515600" cy="1325563"/>
          </a:xfrm>
        </p:spPr>
        <p:txBody>
          <a:bodyPr/>
          <a:lstStyle/>
          <a:p>
            <a:pPr algn="ctr"/>
            <a:r>
              <a:rPr lang="en-US" b="1" dirty="0">
                <a:solidFill>
                  <a:schemeClr val="bg1"/>
                </a:solidFill>
              </a:rPr>
              <a:t>Peterson’s Solution</a:t>
            </a:r>
          </a:p>
        </p:txBody>
      </p:sp>
      <p:sp>
        <p:nvSpPr>
          <p:cNvPr id="3" name="Content Placeholder 2"/>
          <p:cNvSpPr>
            <a:spLocks noGrp="1"/>
          </p:cNvSpPr>
          <p:nvPr>
            <p:ph idx="1"/>
          </p:nvPr>
        </p:nvSpPr>
        <p:spPr/>
        <p:txBody>
          <a:bodyPr>
            <a:noAutofit/>
          </a:bodyPr>
          <a:lstStyle/>
          <a:p>
            <a:pPr marL="228600" indent="-228600" algn="just">
              <a:buFont typeface="Wingdings" panose="05000000000000000000" pitchFamily="2" charset="2"/>
              <a:buChar char="§"/>
            </a:pPr>
            <a:r>
              <a:rPr lang="en-US" sz="2400" dirty="0"/>
              <a:t>Peterson's solution is restricted to two processes that alternate execution between their critical sections and remainder sections</a:t>
            </a:r>
            <a:r>
              <a:rPr lang="en-US" sz="2400" dirty="0" smtClean="0"/>
              <a:t>.</a:t>
            </a:r>
          </a:p>
          <a:p>
            <a:pPr marL="228600" indent="-228600" algn="just">
              <a:buFont typeface="Wingdings" panose="05000000000000000000" pitchFamily="2" charset="2"/>
              <a:buChar char="§"/>
            </a:pPr>
            <a:r>
              <a:rPr lang="en-US" sz="2400" dirty="0" smtClean="0"/>
              <a:t>Assume </a:t>
            </a:r>
            <a:r>
              <a:rPr lang="en-US" sz="2400" dirty="0"/>
              <a:t>that the LOAD and STORE instructions are atomic; that is, cannot be </a:t>
            </a:r>
            <a:r>
              <a:rPr lang="en-US" sz="2400" dirty="0" smtClean="0"/>
              <a:t>interrupted.</a:t>
            </a:r>
            <a:endParaRPr lang="en-US" sz="2400" dirty="0"/>
          </a:p>
        </p:txBody>
      </p:sp>
    </p:spTree>
    <p:extLst>
      <p:ext uri="{BB962C8B-B14F-4D97-AF65-F5344CB8AC3E}">
        <p14:creationId xmlns:p14="http://schemas.microsoft.com/office/powerpoint/2010/main" val="1768049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6269"/>
            <a:ext cx="10515600" cy="1325563"/>
          </a:xfrm>
        </p:spPr>
        <p:txBody>
          <a:bodyPr/>
          <a:lstStyle/>
          <a:p>
            <a:pPr algn="ctr"/>
            <a:r>
              <a:rPr lang="en-US" dirty="0" smtClean="0">
                <a:solidFill>
                  <a:schemeClr val="bg1"/>
                </a:solidFill>
              </a:rPr>
              <a:t>Conti</a:t>
            </a:r>
            <a:r>
              <a:rPr lang="en-US" dirty="0" smtClean="0"/>
              <a:t>.</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389" y="1416407"/>
            <a:ext cx="3914775" cy="3857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9164" y="1416407"/>
            <a:ext cx="3762125" cy="4786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0" y="6236251"/>
            <a:ext cx="6055504" cy="384721"/>
          </a:xfrm>
          <a:prstGeom prst="rect">
            <a:avLst/>
          </a:prstGeom>
        </p:spPr>
        <p:txBody>
          <a:bodyPr wrap="none">
            <a:spAutoFit/>
          </a:bodyPr>
          <a:lstStyle/>
          <a:p>
            <a:r>
              <a:rPr lang="en-US" b="1" dirty="0" smtClean="0">
                <a:solidFill>
                  <a:srgbClr val="C00000"/>
                </a:solidFill>
              </a:rPr>
              <a:t>Video</a:t>
            </a:r>
            <a:r>
              <a:rPr lang="en-US" dirty="0" smtClean="0"/>
              <a:t>: https</a:t>
            </a:r>
            <a:r>
              <a:rPr lang="en-US" dirty="0"/>
              <a:t>://www.youtube.com/watch?v=7_h04U_VU5w</a:t>
            </a:r>
          </a:p>
        </p:txBody>
      </p:sp>
    </p:spTree>
    <p:extLst>
      <p:ext uri="{BB962C8B-B14F-4D97-AF65-F5344CB8AC3E}">
        <p14:creationId xmlns:p14="http://schemas.microsoft.com/office/powerpoint/2010/main" val="2558003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5497" y="2582370"/>
            <a:ext cx="10515600" cy="1690085"/>
          </a:xfrm>
        </p:spPr>
        <p:txBody>
          <a:bodyPr>
            <a:normAutofit/>
          </a:bodyPr>
          <a:lstStyle/>
          <a:p>
            <a:pPr marL="0" indent="0" algn="ctr">
              <a:buNone/>
            </a:pPr>
            <a:r>
              <a:rPr lang="en-US" sz="7200" b="1" dirty="0" smtClean="0"/>
              <a:t>Question?</a:t>
            </a:r>
            <a:endParaRPr lang="en-US" sz="7200" b="1" dirty="0"/>
          </a:p>
        </p:txBody>
      </p:sp>
    </p:spTree>
    <p:extLst>
      <p:ext uri="{BB962C8B-B14F-4D97-AF65-F5344CB8AC3E}">
        <p14:creationId xmlns:p14="http://schemas.microsoft.com/office/powerpoint/2010/main" val="122292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ecture 6">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549</TotalTime>
  <Words>801</Words>
  <Application>Microsoft Office PowerPoint</Application>
  <PresentationFormat>Custom</PresentationFormat>
  <Paragraphs>63</Paragraphs>
  <Slides>20</Slides>
  <Notes>0</Notes>
  <HiddenSlides>0</HiddenSlides>
  <MMClips>0</MMClips>
  <ScaleCrop>false</ScaleCrop>
  <HeadingPairs>
    <vt:vector size="4" baseType="variant">
      <vt:variant>
        <vt:lpstr>Theme</vt:lpstr>
      </vt:variant>
      <vt:variant>
        <vt:i4>3</vt:i4>
      </vt:variant>
      <vt:variant>
        <vt:lpstr>Slide Titles</vt:lpstr>
      </vt:variant>
      <vt:variant>
        <vt:i4>20</vt:i4>
      </vt:variant>
    </vt:vector>
  </HeadingPairs>
  <TitlesOfParts>
    <vt:vector size="23" baseType="lpstr">
      <vt:lpstr>Office Theme</vt:lpstr>
      <vt:lpstr>Lecture 6</vt:lpstr>
      <vt:lpstr>1_Office Theme</vt:lpstr>
      <vt:lpstr>Process Synchronization</vt:lpstr>
      <vt:lpstr>Process Synchronization</vt:lpstr>
      <vt:lpstr>Producer Consumer Problem</vt:lpstr>
      <vt:lpstr>Producer Consumer Problem</vt:lpstr>
      <vt:lpstr>Cont.. </vt:lpstr>
      <vt:lpstr>Cont...</vt:lpstr>
      <vt:lpstr>Cont..</vt:lpstr>
      <vt:lpstr>Process Synchronization</vt:lpstr>
      <vt:lpstr>Proposed solutions to the Single Producer-Consumer Problem</vt:lpstr>
      <vt:lpstr>Race Condition</vt:lpstr>
      <vt:lpstr>Race Condition</vt:lpstr>
      <vt:lpstr>Race Condition</vt:lpstr>
      <vt:lpstr>Critical Section Problem</vt:lpstr>
      <vt:lpstr>Critical Section Problem</vt:lpstr>
      <vt:lpstr>Cont.</vt:lpstr>
      <vt:lpstr>Cont.</vt:lpstr>
      <vt:lpstr>Cont.</vt:lpstr>
      <vt:lpstr>Peterson’s Solution</vt:lpstr>
      <vt:lpstr>Conti.</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Saima Kanwal</cp:lastModifiedBy>
  <cp:revision>162</cp:revision>
  <dcterms:created xsi:type="dcterms:W3CDTF">2024-06-21T09:49:00Z</dcterms:created>
  <dcterms:modified xsi:type="dcterms:W3CDTF">2025-03-13T07:20:14Z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D61AE8DE3F6049F98ADA58C240837B38_12</vt:lpwstr>
  </property>
  <property fmtid="{D5CDD505-2E9C-101B-9397-08002B2CF9AE}" pid="3" name="KSOProductBuildVer">
    <vt:lpwstr>1033-12.2.0.13472</vt:lpwstr>
  </property>
</Properties>
</file>