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  <p:sldMasterId id="2147483684" r:id="rId3"/>
  </p:sldMasterIdLst>
  <p:notesMasterIdLst>
    <p:notesMasterId r:id="rId19"/>
  </p:notesMasterIdLst>
  <p:sldIdLst>
    <p:sldId id="273" r:id="rId4"/>
    <p:sldId id="965" r:id="rId5"/>
    <p:sldId id="966" r:id="rId6"/>
    <p:sldId id="967" r:id="rId7"/>
    <p:sldId id="968" r:id="rId8"/>
    <p:sldId id="969" r:id="rId9"/>
    <p:sldId id="970" r:id="rId10"/>
    <p:sldId id="971" r:id="rId11"/>
    <p:sldId id="972" r:id="rId12"/>
    <p:sldId id="973" r:id="rId13"/>
    <p:sldId id="974" r:id="rId14"/>
    <p:sldId id="975" r:id="rId15"/>
    <p:sldId id="976" r:id="rId16"/>
    <p:sldId id="977" r:id="rId17"/>
    <p:sldId id="962" r:id="rId18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9" autoAdjust="0"/>
    <p:restoredTop sz="92140" autoAdjust="0"/>
  </p:normalViewPr>
  <p:slideViewPr>
    <p:cSldViewPr snapToGrid="0">
      <p:cViewPr>
        <p:scale>
          <a:sx n="80" d="100"/>
          <a:sy n="80" d="100"/>
        </p:scale>
        <p:origin x="-984" y="-10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FDD3B8-2E01-4CE0-B02F-91BFC8CDC8FD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2658C-66DA-4116-8E6C-1579936CD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72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83471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5652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56261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678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50870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2735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563733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174338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771562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22281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95477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722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6326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276056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8830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769436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188601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472795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26497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410426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069766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8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7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5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BAEFE420-0C07-4D1B-9094-F2C452FF1011}"/>
              </a:ext>
            </a:extLst>
          </p:cNvPr>
          <p:cNvGrpSpPr/>
          <p:nvPr userDrawn="1"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8" name="Rectangle 7">
              <a:extLst>
                <a:ext uri="{FF2B5EF4-FFF2-40B4-BE49-F238E27FC236}">
                  <a16:creationId xmlns="" xmlns:a16="http://schemas.microsoft.com/office/drawing/2014/main" id="{6FBB4837-678E-4FCE-A1B7-2AE1B9432890}"/>
                </a:ext>
              </a:extLst>
            </p:cNvPr>
            <p:cNvSpPr/>
            <p:nvPr userDrawn="1"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=""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0" name="TextBox 10">
              <a:extLst>
                <a:ext uri="{FF2B5EF4-FFF2-40B4-BE49-F238E27FC236}">
                  <a16:creationId xmlns="" xmlns:a16="http://schemas.microsoft.com/office/drawing/2014/main" id="{650112A7-3B60-423A-8682-3EC1CCAA7ABE}"/>
                </a:ext>
              </a:extLst>
            </p:cNvPr>
            <p:cNvSpPr txBox="1"/>
            <p:nvPr userDrawn="1"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1" name="Graphic 11">
              <a:extLst>
                <a:ext uri="{FF2B5EF4-FFF2-40B4-BE49-F238E27FC236}">
                  <a16:creationId xmlns=""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xmlns:lc="http://schemas.openxmlformats.org/drawingml/2006/lockedCanvas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B3F075CD-8CB0-4BD0-B756-BA559BF9DF2D}"/>
                </a:ext>
              </a:extLst>
            </p:cNvPr>
            <p:cNvSpPr txBox="1"/>
            <p:nvPr userDrawn="1"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3" name="Graphic 13">
              <a:extLst>
                <a:ext uri="{FF2B5EF4-FFF2-40B4-BE49-F238E27FC236}">
                  <a16:creationId xmlns=""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="" xmlns:asvg="http://schemas.microsoft.com/office/drawing/2016/SVG/main" xmlns:lc="http://schemas.openxmlformats.org/drawingml/2006/lockedCanvas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=""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240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05768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175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GB" dirty="0"/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1" cy="3611691"/>
          </a:xfrm>
          <a:prstGeom prst="rect">
            <a:avLst/>
          </a:prstGeom>
        </p:spPr>
      </p:pic>
      <p:pic>
        <p:nvPicPr>
          <p:cNvPr id="1026" name="Picture 2" descr="C:\Users\Administrator\Downloads\Screenshot__117_-removebg-previe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63" y="393485"/>
            <a:ext cx="3067051" cy="161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accent4"/>
                </a:solidFill>
              </a:rPr>
              <a:t>Types of Operating System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4"/>
                </a:solidFill>
              </a:rPr>
              <a:t>Lecture </a:t>
            </a:r>
            <a:r>
              <a:rPr lang="en-US" b="1" smtClean="0">
                <a:solidFill>
                  <a:schemeClr val="accent4"/>
                </a:solidFill>
              </a:rPr>
              <a:t>#</a:t>
            </a:r>
            <a:r>
              <a:rPr lang="en-US" b="1" smtClean="0">
                <a:solidFill>
                  <a:schemeClr val="accent4"/>
                </a:solidFill>
              </a:rPr>
              <a:t>2 and 3</a:t>
            </a:r>
            <a:endParaRPr lang="en-US" b="1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575" y="203200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Types of Operating System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Single User System</a:t>
            </a:r>
          </a:p>
          <a:p>
            <a:r>
              <a:rPr lang="en-US" dirty="0" smtClean="0"/>
              <a:t>Batch System</a:t>
            </a:r>
          </a:p>
          <a:p>
            <a:r>
              <a:rPr lang="en-US" dirty="0" err="1" smtClean="0"/>
              <a:t>Multiprogrammed</a:t>
            </a:r>
            <a:r>
              <a:rPr lang="en-US" dirty="0" smtClean="0"/>
              <a:t> System</a:t>
            </a:r>
          </a:p>
          <a:p>
            <a:r>
              <a:rPr lang="en-US" dirty="0" smtClean="0"/>
              <a:t>Time Sharing system</a:t>
            </a:r>
          </a:p>
          <a:p>
            <a:r>
              <a:rPr lang="en-US" dirty="0" smtClean="0"/>
              <a:t>Real-Time system</a:t>
            </a:r>
          </a:p>
        </p:txBody>
      </p:sp>
    </p:spTree>
    <p:extLst>
      <p:ext uri="{BB962C8B-B14F-4D97-AF65-F5344CB8AC3E}">
        <p14:creationId xmlns:p14="http://schemas.microsoft.com/office/powerpoint/2010/main" val="1618175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98425"/>
            <a:ext cx="10515600" cy="132556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accent4"/>
                </a:solidFill>
                <a:latin typeface="Arial Black" pitchFamily="34" charset="0"/>
              </a:rPr>
              <a:t>Single User Systems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An operating system that is usable by only one user at a time.</a:t>
            </a:r>
          </a:p>
          <a:p>
            <a:pPr algn="just"/>
            <a:r>
              <a:rPr lang="en-US" dirty="0" smtClean="0"/>
              <a:t>For example: Early p</a:t>
            </a:r>
            <a:r>
              <a:rPr lang="en-US" i="1" dirty="0" smtClean="0"/>
              <a:t>ersonal computers</a:t>
            </a:r>
            <a:r>
              <a:rPr lang="en-US" dirty="0" smtClean="0"/>
              <a:t> </a:t>
            </a:r>
          </a:p>
          <a:p>
            <a:pPr algn="just"/>
            <a:r>
              <a:rPr lang="en-US" dirty="0" smtClean="0"/>
              <a:t>Interactive (i.e. whenever you want to run a software on a computer system you can interact with it)</a:t>
            </a:r>
          </a:p>
          <a:p>
            <a:pPr algn="just"/>
            <a:r>
              <a:rPr lang="en-US" dirty="0" smtClean="0"/>
              <a:t>Basic goal of single user system is to be convenient and responsive. (i.e. easy to use, friendly graphics etc.)</a:t>
            </a:r>
          </a:p>
          <a:p>
            <a:pPr algn="just"/>
            <a:endParaRPr lang="en-US" dirty="0" smtClean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95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52400"/>
            <a:ext cx="10871200" cy="990600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Types of Single User System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Single user operating systems can be split into two types:</a:t>
            </a:r>
          </a:p>
          <a:p>
            <a:pPr>
              <a:buNone/>
            </a:pPr>
            <a:r>
              <a:rPr lang="en-US" b="1" dirty="0" smtClean="0"/>
              <a:t>1</a:t>
            </a:r>
            <a:r>
              <a:rPr lang="en-US" dirty="0" smtClean="0"/>
              <a:t>- single user, single task</a:t>
            </a:r>
          </a:p>
          <a:p>
            <a:pPr>
              <a:buNone/>
            </a:pPr>
            <a:r>
              <a:rPr lang="en-US" b="1" dirty="0" smtClean="0"/>
              <a:t>2</a:t>
            </a:r>
            <a:r>
              <a:rPr lang="en-US" dirty="0" smtClean="0"/>
              <a:t>- single user, multiple tasks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530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625" y="165100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Types of Single User System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smtClean="0"/>
              <a:t>Single user, single tasks -- </a:t>
            </a:r>
            <a:r>
              <a:rPr lang="en-US" dirty="0" smtClean="0"/>
              <a:t>This type of operating system only has to deal with one person at a time, running one user application at a time.</a:t>
            </a:r>
          </a:p>
          <a:p>
            <a:pPr algn="just">
              <a:buNone/>
            </a:pPr>
            <a:r>
              <a:rPr lang="en-US" dirty="0" smtClean="0"/>
              <a:t>	E.g. Mobile phone</a:t>
            </a:r>
          </a:p>
          <a:p>
            <a:pPr algn="just"/>
            <a:r>
              <a:rPr lang="en-US" b="1" dirty="0" smtClean="0"/>
              <a:t>Single user, multiple tasks -- </a:t>
            </a:r>
            <a:r>
              <a:rPr lang="en-US" dirty="0" smtClean="0"/>
              <a:t>The operating system is designed mainly with a single user in mind, but it can deal with many applications running at the same time. </a:t>
            </a:r>
          </a:p>
          <a:p>
            <a:pPr algn="just">
              <a:buNone/>
            </a:pPr>
            <a:r>
              <a:rPr lang="en-US" b="1" dirty="0" smtClean="0"/>
              <a:t>	</a:t>
            </a:r>
            <a:r>
              <a:rPr lang="en-US" dirty="0" smtClean="0"/>
              <a:t>E.g. searching the internet, downloading a video file and also listening to a piece of music.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23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625" y="1936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Multi-programmed System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Multiprogramming is a technique to execute number of programs simultaneously by a single processor.</a:t>
            </a:r>
          </a:p>
          <a:p>
            <a:pPr algn="just"/>
            <a:r>
              <a:rPr lang="en-US" dirty="0" smtClean="0"/>
              <a:t>In Multiprogramming, number of processes reside in main memory at a time.</a:t>
            </a:r>
          </a:p>
          <a:p>
            <a:pPr algn="just"/>
            <a:r>
              <a:rPr lang="en-US" dirty="0" smtClean="0"/>
              <a:t>The OS picks and begins to executes one of the jobs in the main memory.</a:t>
            </a:r>
          </a:p>
          <a:p>
            <a:pPr algn="just"/>
            <a:r>
              <a:rPr lang="en-US" dirty="0" smtClean="0"/>
              <a:t>If any I/O wait happened in a process, then CPU switches from that job to another job.</a:t>
            </a:r>
          </a:p>
          <a:p>
            <a:pPr algn="just"/>
            <a:r>
              <a:rPr lang="en-US" dirty="0" smtClean="0"/>
              <a:t>Hence CPU in not idle at any time.</a:t>
            </a:r>
          </a:p>
        </p:txBody>
      </p:sp>
    </p:spTree>
    <p:extLst>
      <p:ext uri="{BB962C8B-B14F-4D97-AF65-F5344CB8AC3E}">
        <p14:creationId xmlns:p14="http://schemas.microsoft.com/office/powerpoint/2010/main" val="2259233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675" y="160338"/>
            <a:ext cx="10515600" cy="132556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accent4"/>
                </a:solidFill>
              </a:rPr>
              <a:t>Multiprogramming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026" name="AutoShape 2" descr="Image result for multiprogramming and multitasking"/>
          <p:cNvSpPr>
            <a:spLocks noChangeAspect="1" noChangeArrowheads="1"/>
          </p:cNvSpPr>
          <p:nvPr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Image result for multiprogramming and multitasking"/>
          <p:cNvSpPr>
            <a:spLocks noChangeAspect="1" noChangeArrowheads="1"/>
          </p:cNvSpPr>
          <p:nvPr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828800"/>
            <a:ext cx="9753600" cy="4488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54763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675" y="165100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Batch Processing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In this type of system, there is no direct interaction between user and the computer. </a:t>
            </a:r>
          </a:p>
          <a:p>
            <a:pPr algn="just"/>
            <a:r>
              <a:rPr lang="en-US" dirty="0" smtClean="0"/>
              <a:t>The user has to submit a job (written on cards or tape) to a computer operator. </a:t>
            </a:r>
          </a:p>
          <a:p>
            <a:pPr algn="just"/>
            <a:r>
              <a:rPr lang="en-US" dirty="0" smtClean="0"/>
              <a:t>Each user prepares his job on an off-line device like punch cards and submits it to the computer operator.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518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0825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Cont..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 smtClean="0"/>
              <a:t>OS defines a job which has predefined sequence of commands, programs and data as a single unit.</a:t>
            </a:r>
          </a:p>
          <a:p>
            <a:pPr lvl="0" algn="just"/>
            <a:r>
              <a:rPr lang="en-US" dirty="0" smtClean="0"/>
              <a:t>OS keeps a number of jobs in memory and executes them without any manual information.</a:t>
            </a:r>
          </a:p>
          <a:p>
            <a:pPr lvl="0" algn="just"/>
            <a:r>
              <a:rPr lang="en-US" dirty="0" smtClean="0"/>
              <a:t>Jobs are processed in the order of submission </a:t>
            </a:r>
            <a:r>
              <a:rPr lang="en-US" dirty="0" err="1" smtClean="0"/>
              <a:t>i.e</a:t>
            </a:r>
            <a:r>
              <a:rPr lang="en-US" dirty="0" smtClean="0"/>
              <a:t> first come first served fashion.</a:t>
            </a:r>
          </a:p>
          <a:p>
            <a:pPr lvl="0" algn="just"/>
            <a:r>
              <a:rPr lang="en-US" dirty="0" smtClean="0"/>
              <a:t>When job completes its execution, its memory is released and the output for the job gets copied into an output spool for later printing or processing.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573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428" y="174625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Punch Card</a:t>
            </a:r>
            <a:endParaRPr lang="en-US" b="1" dirty="0">
              <a:solidFill>
                <a:schemeClr val="accent4"/>
              </a:solidFill>
            </a:endParaRPr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6400" y="2286000"/>
            <a:ext cx="11465656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3725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84150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Batch Processing</a:t>
            </a:r>
            <a:endParaRPr lang="en-US" b="1" dirty="0">
              <a:solidFill>
                <a:schemeClr val="accent4"/>
              </a:solidFill>
            </a:endParaRPr>
          </a:p>
        </p:txBody>
      </p:sp>
      <p:pic>
        <p:nvPicPr>
          <p:cNvPr id="4" name="Picture 3" descr="Batch Processi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2800" y="1981200"/>
            <a:ext cx="10769600" cy="44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20676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184150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  <a:latin typeface="Arial" pitchFamily="34" charset="0"/>
              </a:rPr>
              <a:t>Time Sharing Systems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Time sharing, or multitasking, is a logical extension of multiprogramming.</a:t>
            </a:r>
          </a:p>
          <a:p>
            <a:r>
              <a:rPr lang="en-US" dirty="0" smtClean="0"/>
              <a:t>Multiple jobs are executed by switching the CPU between them.</a:t>
            </a:r>
          </a:p>
          <a:p>
            <a:r>
              <a:rPr lang="en-US" dirty="0" smtClean="0"/>
              <a:t>In this, the CPU time is shared by different processes, so it is called as “Time sharing Systems”.</a:t>
            </a:r>
          </a:p>
          <a:p>
            <a:r>
              <a:rPr lang="en-US" dirty="0" smtClean="0"/>
              <a:t>Time slice is defined by the OS, for sharing CPU time between processes.</a:t>
            </a:r>
          </a:p>
        </p:txBody>
      </p:sp>
    </p:spTree>
    <p:extLst>
      <p:ext uri="{BB962C8B-B14F-4D97-AF65-F5344CB8AC3E}">
        <p14:creationId xmlns:p14="http://schemas.microsoft.com/office/powerpoint/2010/main" val="2387325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625" y="203200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  <a:latin typeface="Arial" pitchFamily="34" charset="0"/>
              </a:rPr>
              <a:t>Real-Time Systems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5176" lvl="1" indent="-265176" algn="just">
              <a:buSzPct val="80000"/>
              <a:buFont typeface="Wingdings" pitchFamily="2" charset="2"/>
              <a:buChar char="q"/>
            </a:pPr>
            <a:r>
              <a:rPr lang="en-US" dirty="0" smtClean="0"/>
              <a:t>A real-time operating system is an operating system (OS) intended to serve real-time application by processing data as it comes in, typically without buffering delays.</a:t>
            </a:r>
          </a:p>
          <a:p>
            <a:pPr marL="265176" lvl="1" indent="-265176" algn="just">
              <a:buSzPct val="80000"/>
              <a:buFont typeface="Wingdings" pitchFamily="2" charset="2"/>
              <a:buChar char="q"/>
            </a:pPr>
            <a:r>
              <a:rPr lang="en-US" dirty="0" smtClean="0"/>
              <a:t>Often used as a control device in a dedicated application such as controlling scientific experiments, medical imaging systems, industrial control systems, and some display systems.</a:t>
            </a:r>
          </a:p>
          <a:p>
            <a:pPr algn="just"/>
            <a:r>
              <a:rPr lang="en-US" sz="2400" dirty="0" smtClean="0"/>
              <a:t>If it does not produce output in a defined time then the output will be useless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0249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0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Time Sharing System</a:t>
            </a:r>
            <a:endParaRPr lang="en-US" b="1" dirty="0">
              <a:solidFill>
                <a:schemeClr val="accent4"/>
              </a:solidFill>
            </a:endParaRP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16001" y="2066926"/>
            <a:ext cx="9825180" cy="405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60526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124200"/>
            <a:ext cx="10871200" cy="990600"/>
          </a:xfrm>
        </p:spPr>
        <p:txBody>
          <a:bodyPr>
            <a:noAutofit/>
          </a:bodyPr>
          <a:lstStyle/>
          <a:p>
            <a:pPr algn="ctr"/>
            <a:r>
              <a:rPr lang="en-US" sz="9600" b="1" dirty="0" smtClean="0"/>
              <a:t>Questions?</a:t>
            </a:r>
            <a:endParaRPr 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1413193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ecture 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359</Words>
  <Application>Microsoft Office PowerPoint</Application>
  <PresentationFormat>Custom</PresentationFormat>
  <Paragraphs>51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Office Theme</vt:lpstr>
      <vt:lpstr>Lecture 6</vt:lpstr>
      <vt:lpstr>1_Office Theme</vt:lpstr>
      <vt:lpstr>Types of Operating System</vt:lpstr>
      <vt:lpstr>Types of Operating System</vt:lpstr>
      <vt:lpstr>Single User Systems</vt:lpstr>
      <vt:lpstr>Types of Single User System</vt:lpstr>
      <vt:lpstr>Types of Single User System</vt:lpstr>
      <vt:lpstr>Multi-programmed System</vt:lpstr>
      <vt:lpstr>Multiprogramming</vt:lpstr>
      <vt:lpstr>Batch Processing</vt:lpstr>
      <vt:lpstr>Cont..</vt:lpstr>
      <vt:lpstr>Punch Card</vt:lpstr>
      <vt:lpstr>Batch Processing</vt:lpstr>
      <vt:lpstr>Time Sharing Systems</vt:lpstr>
      <vt:lpstr>Real-Time Systems</vt:lpstr>
      <vt:lpstr>Time Sharing System</vt:lpstr>
      <vt:lpstr>Questions?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Saima Kanwal</cp:lastModifiedBy>
  <cp:revision>161</cp:revision>
  <dcterms:created xsi:type="dcterms:W3CDTF">2024-06-21T09:49:00Z</dcterms:created>
  <dcterms:modified xsi:type="dcterms:W3CDTF">2025-02-18T11:52:42Z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D61AE8DE3F6049F98ADA58C240837B38_12</vt:lpwstr>
  </property>
  <property fmtid="{D5CDD505-2E9C-101B-9397-08002B2CF9AE}" pid="3" name="KSOProductBuildVer">
    <vt:lpwstr>1033-12.2.0.13472</vt:lpwstr>
  </property>
</Properties>
</file>