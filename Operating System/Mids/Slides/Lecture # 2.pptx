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2" r:id="rId2"/>
    <p:sldMasterId id="2147483684" r:id="rId3"/>
  </p:sldMasterIdLst>
  <p:notesMasterIdLst>
    <p:notesMasterId r:id="rId18"/>
  </p:notesMasterIdLst>
  <p:sldIdLst>
    <p:sldId id="273" r:id="rId4"/>
    <p:sldId id="965" r:id="rId5"/>
    <p:sldId id="966" r:id="rId6"/>
    <p:sldId id="967" r:id="rId7"/>
    <p:sldId id="968" r:id="rId8"/>
    <p:sldId id="969" r:id="rId9"/>
    <p:sldId id="970" r:id="rId10"/>
    <p:sldId id="971" r:id="rId11"/>
    <p:sldId id="972" r:id="rId12"/>
    <p:sldId id="973" r:id="rId13"/>
    <p:sldId id="974" r:id="rId14"/>
    <p:sldId id="975" r:id="rId15"/>
    <p:sldId id="976" r:id="rId16"/>
    <p:sldId id="977" r:id="rId17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2A2A"/>
    <a:srgbClr val="C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09" autoAdjust="0"/>
    <p:restoredTop sz="92140" autoAdjust="0"/>
  </p:normalViewPr>
  <p:slideViewPr>
    <p:cSldViewPr snapToGrid="0">
      <p:cViewPr varScale="1">
        <p:scale>
          <a:sx n="63" d="100"/>
          <a:sy n="63" d="100"/>
        </p:scale>
        <p:origin x="972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FDD3B8-2E01-4CE0-B02F-91BFC8CDC8FD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72658C-66DA-4116-8E6C-1579936CD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372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4/8/2025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4/8/2025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4/8/2025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4/8/2025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4/8/2025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4/8/2025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4/8/2025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4/8/2025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4/8/2025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4/8/2025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4/8/2025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4/8/2025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83471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4/8/2025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15652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4/8/2025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562610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4/8/2025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6781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4/8/2025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50870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4/8/2025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27357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4/8/2025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563733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4/8/2025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174338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4/8/2025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771562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4/8/2025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222281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4/8/2025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954773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4/8/2025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865722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4/8/2025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863264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4/8/2025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276056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4/8/2025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8830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4/8/2025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769436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4/8/2025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188601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4/8/2025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472795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4/8/2025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826497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4/8/2025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2410426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4/8/2025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069766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4/8/2025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86589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4/8/2025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4/8/2025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 userDrawn="1"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 userDrawn="1"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 userDrawn="1"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1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 userDrawn="1"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3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2409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4/8/2025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05768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175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GB" dirty="0"/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62283" y="0"/>
            <a:ext cx="3611691" cy="3611691"/>
          </a:xfrm>
          <a:prstGeom prst="rect">
            <a:avLst/>
          </a:prstGeom>
        </p:spPr>
      </p:pic>
      <p:pic>
        <p:nvPicPr>
          <p:cNvPr id="1026" name="Picture 2" descr="C:\Users\Administrator\Downloads\Screenshot__117_-removebg-preview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063" y="393485"/>
            <a:ext cx="3067051" cy="1619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accent4"/>
                </a:solidFill>
              </a:rPr>
              <a:t>Types of Operating System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Lecture </a:t>
            </a:r>
            <a:r>
              <a:rPr lang="en-US" b="1">
                <a:solidFill>
                  <a:schemeClr val="accent4"/>
                </a:solidFill>
              </a:rPr>
              <a:t>#2 and 3</a:t>
            </a:r>
            <a:endParaRPr lang="en-US" b="1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575" y="20320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4"/>
                </a:solidFill>
              </a:rPr>
              <a:t>Types of Operating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 User System</a:t>
            </a:r>
          </a:p>
          <a:p>
            <a:r>
              <a:rPr lang="en-US" dirty="0"/>
              <a:t>Batch System</a:t>
            </a:r>
          </a:p>
          <a:p>
            <a:r>
              <a:rPr lang="en-US" dirty="0" err="1"/>
              <a:t>Multiprogrammed</a:t>
            </a:r>
            <a:r>
              <a:rPr lang="en-US" dirty="0"/>
              <a:t> System</a:t>
            </a:r>
          </a:p>
          <a:p>
            <a:r>
              <a:rPr lang="en-US" dirty="0"/>
              <a:t>Time Sharing system</a:t>
            </a:r>
          </a:p>
          <a:p>
            <a:r>
              <a:rPr lang="en-US" dirty="0"/>
              <a:t>Real-Time system</a:t>
            </a:r>
          </a:p>
        </p:txBody>
      </p:sp>
    </p:spTree>
    <p:extLst>
      <p:ext uri="{BB962C8B-B14F-4D97-AF65-F5344CB8AC3E}">
        <p14:creationId xmlns:p14="http://schemas.microsoft.com/office/powerpoint/2010/main" val="1618175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525" y="9842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4"/>
                </a:solidFill>
                <a:latin typeface="Arial Black" pitchFamily="34" charset="0"/>
              </a:rPr>
              <a:t>Single User Systems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An operating system that is usable by only one user at a time.</a:t>
            </a:r>
          </a:p>
          <a:p>
            <a:pPr algn="just"/>
            <a:r>
              <a:rPr lang="en-US" dirty="0"/>
              <a:t>For example: Early p</a:t>
            </a:r>
            <a:r>
              <a:rPr lang="en-US" i="1" dirty="0"/>
              <a:t>ersonal computers</a:t>
            </a:r>
            <a:r>
              <a:rPr lang="en-US" dirty="0"/>
              <a:t> </a:t>
            </a:r>
          </a:p>
          <a:p>
            <a:pPr algn="just"/>
            <a:r>
              <a:rPr lang="en-US" dirty="0"/>
              <a:t>Interactive (i.e. whenever you want to run a software on a computer system you can interact with it)</a:t>
            </a:r>
          </a:p>
          <a:p>
            <a:pPr algn="just"/>
            <a:r>
              <a:rPr lang="en-US" dirty="0"/>
              <a:t>Basic goal of single user system is to be convenient and responsive. (i.e. easy to use, friendly graphics etc.)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95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52400"/>
            <a:ext cx="10871200" cy="99060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4"/>
                </a:solidFill>
              </a:rPr>
              <a:t>Types of Single User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Single user operating systems can be split into two types:</a:t>
            </a:r>
          </a:p>
          <a:p>
            <a:pPr>
              <a:buNone/>
            </a:pPr>
            <a:r>
              <a:rPr lang="en-US" b="1" dirty="0"/>
              <a:t>1</a:t>
            </a:r>
            <a:r>
              <a:rPr lang="en-US" dirty="0"/>
              <a:t>- single user, single task</a:t>
            </a:r>
          </a:p>
          <a:p>
            <a:pPr>
              <a:buNone/>
            </a:pPr>
            <a:r>
              <a:rPr lang="en-US" b="1" dirty="0"/>
              <a:t>2</a:t>
            </a:r>
            <a:r>
              <a:rPr lang="en-US" dirty="0"/>
              <a:t>- single user, multiple tasks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530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625" y="16510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4"/>
                </a:solidFill>
              </a:rPr>
              <a:t>Types of Single User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/>
              <a:t>Single user, single tasks -- </a:t>
            </a:r>
            <a:r>
              <a:rPr lang="en-US" dirty="0"/>
              <a:t>This type of operating system only has to deal with one person at a time, running one user application at a time.</a:t>
            </a:r>
          </a:p>
          <a:p>
            <a:pPr algn="just">
              <a:buNone/>
            </a:pPr>
            <a:r>
              <a:rPr lang="en-US" dirty="0"/>
              <a:t>	E.g. Mobile phone</a:t>
            </a:r>
          </a:p>
          <a:p>
            <a:pPr algn="just"/>
            <a:r>
              <a:rPr lang="en-US" b="1" dirty="0"/>
              <a:t>Single user, multiple tasks -- </a:t>
            </a:r>
            <a:r>
              <a:rPr lang="en-US" dirty="0"/>
              <a:t>The operating system is designed mainly with a single user in mind, but it can deal with many applications running at the same time. </a:t>
            </a:r>
          </a:p>
          <a:p>
            <a:pPr algn="just">
              <a:buNone/>
            </a:pPr>
            <a:r>
              <a:rPr lang="en-US" b="1" dirty="0"/>
              <a:t>	</a:t>
            </a:r>
            <a:r>
              <a:rPr lang="en-US" dirty="0"/>
              <a:t>E.g. searching the internet, downloading a video file and also listening to a piece of music.</a:t>
            </a:r>
          </a:p>
        </p:txBody>
      </p:sp>
    </p:spTree>
    <p:extLst>
      <p:ext uri="{BB962C8B-B14F-4D97-AF65-F5344CB8AC3E}">
        <p14:creationId xmlns:p14="http://schemas.microsoft.com/office/powerpoint/2010/main" val="84123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625" y="19367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accent4"/>
                </a:solidFill>
              </a:rPr>
              <a:t>Multi-programmed System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Multiprogramming is a technique to execute number of programs simultaneously by a single processor.</a:t>
            </a:r>
          </a:p>
          <a:p>
            <a:pPr algn="just"/>
            <a:r>
              <a:rPr lang="en-US" dirty="0"/>
              <a:t>In Multiprogramming, number of processes reside in main memory at a time.</a:t>
            </a:r>
          </a:p>
          <a:p>
            <a:pPr algn="just"/>
            <a:r>
              <a:rPr lang="en-US" dirty="0"/>
              <a:t>The OS picks and begins to executes one of the jobs in the main memory.</a:t>
            </a:r>
          </a:p>
          <a:p>
            <a:pPr algn="just"/>
            <a:r>
              <a:rPr lang="en-US" dirty="0"/>
              <a:t>If any I/O wait happened in a process, then CPU switches from that job to another job.</a:t>
            </a:r>
          </a:p>
          <a:p>
            <a:pPr algn="just"/>
            <a:r>
              <a:rPr lang="en-US" dirty="0"/>
              <a:t>Hence CPU in not idle at any time.</a:t>
            </a:r>
          </a:p>
        </p:txBody>
      </p:sp>
    </p:spTree>
    <p:extLst>
      <p:ext uri="{BB962C8B-B14F-4D97-AF65-F5344CB8AC3E}">
        <p14:creationId xmlns:p14="http://schemas.microsoft.com/office/powerpoint/2010/main" val="2259233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675" y="160338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Multiprogramming</a:t>
            </a:r>
          </a:p>
        </p:txBody>
      </p:sp>
      <p:sp>
        <p:nvSpPr>
          <p:cNvPr id="1026" name="AutoShape 2" descr="Image result for multiprogramming and multitasking"/>
          <p:cNvSpPr>
            <a:spLocks noChangeAspect="1" noChangeArrowheads="1"/>
          </p:cNvSpPr>
          <p:nvPr/>
        </p:nvSpPr>
        <p:spPr bwMode="auto">
          <a:xfrm>
            <a:off x="207433" y="-144463"/>
            <a:ext cx="4064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8" name="AutoShape 4" descr="Image result for multiprogramming and multitasking"/>
          <p:cNvSpPr>
            <a:spLocks noChangeAspect="1" noChangeArrowheads="1"/>
          </p:cNvSpPr>
          <p:nvPr/>
        </p:nvSpPr>
        <p:spPr bwMode="auto">
          <a:xfrm>
            <a:off x="207433" y="-144463"/>
            <a:ext cx="4064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1828800"/>
            <a:ext cx="9753600" cy="4488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54763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675" y="16510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4"/>
                </a:solidFill>
              </a:rPr>
              <a:t>Batch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In this type of system, there is no direct interaction between user and the computer. </a:t>
            </a:r>
          </a:p>
          <a:p>
            <a:pPr algn="just"/>
            <a:r>
              <a:rPr lang="en-US" dirty="0"/>
              <a:t>The user has to submit a job (written on cards or tape) to a computer operator. </a:t>
            </a:r>
          </a:p>
          <a:p>
            <a:pPr algn="just"/>
            <a:r>
              <a:rPr lang="en-US" dirty="0"/>
              <a:t>Each user prepares his job on an off-line device like punch cards and submits it to the computer operator. </a:t>
            </a:r>
          </a:p>
        </p:txBody>
      </p:sp>
    </p:spTree>
    <p:extLst>
      <p:ext uri="{BB962C8B-B14F-4D97-AF65-F5344CB8AC3E}">
        <p14:creationId xmlns:p14="http://schemas.microsoft.com/office/powerpoint/2010/main" val="873518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082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4"/>
                </a:solidFill>
              </a:rPr>
              <a:t>Cont..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dirty="0"/>
              <a:t>OS defines a job which has predefined sequence of commands, programs and data as a single unit.</a:t>
            </a:r>
          </a:p>
          <a:p>
            <a:pPr lvl="0" algn="just"/>
            <a:r>
              <a:rPr lang="en-US" dirty="0"/>
              <a:t>OS keeps a number of jobs in memory and executes them without any manual information.</a:t>
            </a:r>
          </a:p>
          <a:p>
            <a:pPr lvl="0" algn="just"/>
            <a:r>
              <a:rPr lang="en-US" dirty="0"/>
              <a:t>Jobs are processed in the order of submission </a:t>
            </a:r>
            <a:r>
              <a:rPr lang="en-US" dirty="0" err="1"/>
              <a:t>i.e</a:t>
            </a:r>
            <a:r>
              <a:rPr lang="en-US" dirty="0"/>
              <a:t> first come first served fashion.</a:t>
            </a:r>
          </a:p>
          <a:p>
            <a:pPr lvl="0" algn="just"/>
            <a:r>
              <a:rPr lang="en-US" dirty="0"/>
              <a:t>When job completes its execution, its memory is released and the output for the job gets copied into an output spool for later printing or processing.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573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428" y="17462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4"/>
                </a:solidFill>
              </a:rPr>
              <a:t>Punch Card</a:t>
            </a:r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6400" y="2286000"/>
            <a:ext cx="11465656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3725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8415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4"/>
                </a:solidFill>
              </a:rPr>
              <a:t>Batch Processing</a:t>
            </a:r>
          </a:p>
        </p:txBody>
      </p:sp>
      <p:pic>
        <p:nvPicPr>
          <p:cNvPr id="4" name="Picture 3" descr="Batch Processin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2800" y="1981200"/>
            <a:ext cx="10769600" cy="44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20676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525" y="18415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4"/>
                </a:solidFill>
                <a:latin typeface="Arial" pitchFamily="34" charset="0"/>
              </a:rPr>
              <a:t>Time Sharing Systems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Time sharing, or multitasking, is a logical extension of multiprogramming.</a:t>
            </a:r>
          </a:p>
          <a:p>
            <a:r>
              <a:rPr lang="en-US" dirty="0"/>
              <a:t>Multiple jobs are executed by switching the CPU between them.</a:t>
            </a:r>
          </a:p>
          <a:p>
            <a:r>
              <a:rPr lang="en-US" dirty="0"/>
              <a:t>In this, the CPU time is shared by different processes, so it is called as “Time sharing Systems”.</a:t>
            </a:r>
          </a:p>
          <a:p>
            <a:r>
              <a:rPr lang="en-US" dirty="0"/>
              <a:t>Time slice is defined by the OS, for sharing CPU time between processes.</a:t>
            </a:r>
          </a:p>
        </p:txBody>
      </p:sp>
    </p:spTree>
    <p:extLst>
      <p:ext uri="{BB962C8B-B14F-4D97-AF65-F5344CB8AC3E}">
        <p14:creationId xmlns:p14="http://schemas.microsoft.com/office/powerpoint/2010/main" val="2387325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625" y="20320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4"/>
                </a:solidFill>
                <a:latin typeface="Arial" pitchFamily="34" charset="0"/>
              </a:rPr>
              <a:t>Real-Time Systems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65176" lvl="1" indent="-265176" algn="just">
              <a:buSzPct val="80000"/>
              <a:buFont typeface="Wingdings" pitchFamily="2" charset="2"/>
              <a:buChar char="q"/>
            </a:pPr>
            <a:r>
              <a:rPr lang="en-US" dirty="0"/>
              <a:t>A real-time operating system is an operating system (OS) intended to serve real-time application by processing data as it comes in, typically without buffering delays.</a:t>
            </a:r>
          </a:p>
          <a:p>
            <a:pPr marL="265176" lvl="1" indent="-265176" algn="just">
              <a:buSzPct val="80000"/>
              <a:buFont typeface="Wingdings" pitchFamily="2" charset="2"/>
              <a:buChar char="q"/>
            </a:pPr>
            <a:r>
              <a:rPr lang="en-US" dirty="0"/>
              <a:t>Often used as a control device in a dedicated application such as controlling scientific experiments, medical imaging systems, industrial control systems, and some display systems.</a:t>
            </a:r>
          </a:p>
          <a:p>
            <a:pPr algn="just"/>
            <a:r>
              <a:rPr lang="en-US" sz="2400" dirty="0"/>
              <a:t>If it does not produce output in a defined time then the output will be useless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0249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0" y="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4"/>
                </a:solidFill>
              </a:rPr>
              <a:t>Time Sharing System</a:t>
            </a: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16001" y="2066926"/>
            <a:ext cx="9825180" cy="405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160526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ecture 6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</TotalTime>
  <Words>588</Words>
  <Application>Microsoft Office PowerPoint</Application>
  <PresentationFormat>Widescreen</PresentationFormat>
  <Paragraphs>50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Arial Black</vt:lpstr>
      <vt:lpstr>Calibri</vt:lpstr>
      <vt:lpstr>Calibri Light</vt:lpstr>
      <vt:lpstr>Wingdings</vt:lpstr>
      <vt:lpstr>Office Theme</vt:lpstr>
      <vt:lpstr>Lecture 6</vt:lpstr>
      <vt:lpstr>1_Office Theme</vt:lpstr>
      <vt:lpstr>Types of Operating System</vt:lpstr>
      <vt:lpstr>Types of Operating System</vt:lpstr>
      <vt:lpstr>Single User Systems</vt:lpstr>
      <vt:lpstr>Types of Single User System</vt:lpstr>
      <vt:lpstr>Types of Single User System</vt:lpstr>
      <vt:lpstr>Multi-programmed System</vt:lpstr>
      <vt:lpstr>Multiprogramming</vt:lpstr>
      <vt:lpstr>Batch Processing</vt:lpstr>
      <vt:lpstr>Cont..</vt:lpstr>
      <vt:lpstr>Punch Card</vt:lpstr>
      <vt:lpstr>Batch Processing</vt:lpstr>
      <vt:lpstr>Time Sharing Systems</vt:lpstr>
      <vt:lpstr>Real-Time Systems</vt:lpstr>
      <vt:lpstr>Time Sharing System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Sofia Sultana</dc:creator>
  <cp:lastModifiedBy>Hamna Mirza</cp:lastModifiedBy>
  <cp:revision>162</cp:revision>
  <dcterms:created xsi:type="dcterms:W3CDTF">2024-06-21T09:49:00Z</dcterms:created>
  <dcterms:modified xsi:type="dcterms:W3CDTF">2025-04-08T14:03:33Z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D61AE8DE3F6049F98ADA58C240837B38_12</vt:lpwstr>
  </property>
  <property fmtid="{D5CDD505-2E9C-101B-9397-08002B2CF9AE}" pid="3" name="KSOProductBuildVer">
    <vt:lpwstr>1033-12.2.0.13472</vt:lpwstr>
  </property>
</Properties>
</file>