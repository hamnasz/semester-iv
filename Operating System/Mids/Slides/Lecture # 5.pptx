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 id="2147483684" r:id="rId3"/>
  </p:sldMasterIdLst>
  <p:notesMasterIdLst>
    <p:notesMasterId r:id="rId22"/>
  </p:notesMasterIdLst>
  <p:sldIdLst>
    <p:sldId id="273" r:id="rId4"/>
    <p:sldId id="952" r:id="rId5"/>
    <p:sldId id="953" r:id="rId6"/>
    <p:sldId id="954" r:id="rId7"/>
    <p:sldId id="955" r:id="rId8"/>
    <p:sldId id="956" r:id="rId9"/>
    <p:sldId id="957" r:id="rId10"/>
    <p:sldId id="958" r:id="rId11"/>
    <p:sldId id="959" r:id="rId12"/>
    <p:sldId id="960" r:id="rId13"/>
    <p:sldId id="961" r:id="rId14"/>
    <p:sldId id="962" r:id="rId15"/>
    <p:sldId id="963" r:id="rId16"/>
    <p:sldId id="964" r:id="rId17"/>
    <p:sldId id="965" r:id="rId18"/>
    <p:sldId id="966" r:id="rId19"/>
    <p:sldId id="967" r:id="rId20"/>
    <p:sldId id="968" r:id="rId21"/>
  </p:sldIdLst>
  <p:sldSz cx="12192000" cy="6858000"/>
  <p:notesSz cx="6858000" cy="9144000"/>
  <p:defaultText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09" autoAdjust="0"/>
    <p:restoredTop sz="92140" autoAdjust="0"/>
  </p:normalViewPr>
  <p:slideViewPr>
    <p:cSldViewPr snapToGrid="0">
      <p:cViewPr>
        <p:scale>
          <a:sx n="50" d="100"/>
          <a:sy n="50" d="100"/>
        </p:scale>
        <p:origin x="-2136" y="-749"/>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FDD3B8-2E01-4CE0-B02F-91BFC8CDC8FD}" type="datetimeFigureOut">
              <a:rPr lang="en-US" smtClean="0"/>
              <a:t>2/18/2025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72658C-66DA-4116-8E6C-1579936CD62C}" type="slidenum">
              <a:rPr lang="en-US" smtClean="0"/>
              <a:t>‹#›</a:t>
            </a:fld>
            <a:endParaRPr lang="en-US"/>
          </a:p>
        </p:txBody>
      </p:sp>
    </p:spTree>
    <p:extLst>
      <p:ext uri="{BB962C8B-B14F-4D97-AF65-F5344CB8AC3E}">
        <p14:creationId xmlns:p14="http://schemas.microsoft.com/office/powerpoint/2010/main" val="2076372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2/18/2025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2/18/2025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2/18/2025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2/18/2025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2/18/2025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83471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15652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2/18/2025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56261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2/18/2025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678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2/18/2025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50870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2/18/2025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12735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2/18/2025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856373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7433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477156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32222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smtClean="0"/>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95477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72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6326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2/18/2025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527605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2/18/2025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8830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2/18/2025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769436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2/18/2025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4188601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2/18/2025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9472795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26497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2410426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069766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smtClean="0"/>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8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7.svg"/><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5.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2/18/2025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smtClean="0"/>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2/18/2025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grpSp>
        <p:nvGrpSpPr>
          <p:cNvPr id="7" name="Group 6">
            <a:extLst>
              <a:ext uri="{FF2B5EF4-FFF2-40B4-BE49-F238E27FC236}">
                <a16:creationId xmlns:a16="http://schemas.microsoft.com/office/drawing/2014/main" xmlns="" id="{BAEFE420-0C07-4D1B-9094-F2C452FF1011}"/>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xmlns="" id="{6FBB4837-678E-4FCE-A1B7-2AE1B9432890}"/>
                </a:ext>
              </a:extLst>
            </p:cNvPr>
            <p:cNvSpPr/>
            <p:nvPr userDrawn="1"/>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9" name="Picture 8">
              <a:extLst>
                <a:ext uri="{FF2B5EF4-FFF2-40B4-BE49-F238E27FC236}">
                  <a16:creationId xmlns:a16="http://schemas.microsoft.com/office/drawing/2014/main" xmlns="" id="{D279BBF0-3F01-4944-AF8F-73A34B5B9CE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10">
              <a:extLst>
                <a:ext uri="{FF2B5EF4-FFF2-40B4-BE49-F238E27FC236}">
                  <a16:creationId xmlns:a16="http://schemas.microsoft.com/office/drawing/2014/main" xmlns="" id="{650112A7-3B60-423A-8682-3EC1CCAA7ABE}"/>
                </a:ext>
              </a:extLst>
            </p:cNvPr>
            <p:cNvSpPr txBox="1"/>
            <p:nvPr userDrawn="1"/>
          </p:nvSpPr>
          <p:spPr>
            <a:xfrm>
              <a:off x="10719753" y="696917"/>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11" name="Graphic 11">
              <a:extLst>
                <a:ext uri="{FF2B5EF4-FFF2-40B4-BE49-F238E27FC236}">
                  <a16:creationId xmlns:a16="http://schemas.microsoft.com/office/drawing/2014/main" xmlns="" id="{75FFEA7F-8809-458D-BE80-99F7CFB965CA}"/>
                </a:ext>
              </a:extLst>
            </p:cNvPr>
            <p:cNvPicPr>
              <a:picLocks noChangeAspect="1"/>
            </p:cNvPicPr>
            <p:nvPr userDrawn="1"/>
          </p:nvPicPr>
          <p:blipFill>
            <a:blip r:embed="rId14">
              <a:extLst>
                <a:ext uri="{96DAC541-7B7A-43D3-8B79-37D633B846F1}">
                  <asvg:svgBlip xmlns:lc="http://schemas.openxmlformats.org/drawingml/2006/lockedCanvas" xmlns:asvg="http://schemas.microsoft.com/office/drawing/2016/SVG/main" xmlns="" r:embed="rId15"/>
                </a:ext>
              </a:extLst>
            </a:blip>
            <a:stretch>
              <a:fillRect/>
            </a:stretch>
          </p:blipFill>
          <p:spPr>
            <a:xfrm>
              <a:off x="9906056" y="403986"/>
              <a:ext cx="261610" cy="261610"/>
            </a:xfrm>
            <a:prstGeom prst="rect">
              <a:avLst/>
            </a:prstGeom>
          </p:spPr>
        </p:pic>
        <p:sp>
          <p:nvSpPr>
            <p:cNvPr id="12" name="TextBox 12">
              <a:extLst>
                <a:ext uri="{FF2B5EF4-FFF2-40B4-BE49-F238E27FC236}">
                  <a16:creationId xmlns:a16="http://schemas.microsoft.com/office/drawing/2014/main" xmlns="" id="{B3F075CD-8CB0-4BD0-B756-BA559BF9DF2D}"/>
                </a:ext>
              </a:extLst>
            </p:cNvPr>
            <p:cNvSpPr txBox="1"/>
            <p:nvPr userDrawn="1"/>
          </p:nvSpPr>
          <p:spPr>
            <a:xfrm>
              <a:off x="10142944" y="350125"/>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3" name="Graphic 13">
              <a:extLst>
                <a:ext uri="{FF2B5EF4-FFF2-40B4-BE49-F238E27FC236}">
                  <a16:creationId xmlns:a16="http://schemas.microsoft.com/office/drawing/2014/main" xmlns="" id="{ACED766F-A0E3-4D45-8A6E-86CCFAFA5D96}"/>
                </a:ext>
              </a:extLst>
            </p:cNvPr>
            <p:cNvPicPr>
              <a:picLocks noChangeAspect="1"/>
            </p:cNvPicPr>
            <p:nvPr userDrawn="1"/>
          </p:nvPicPr>
          <p:blipFill>
            <a:blip r:embed="rId16">
              <a:extLst>
                <a:ext uri="{96DAC541-7B7A-43D3-8B79-37D633B846F1}">
                  <asvg:svgBlip xmlns:lc="http://schemas.openxmlformats.org/drawingml/2006/lockedCanvas" xmlns:asvg="http://schemas.microsoft.com/office/drawing/2016/SVG/main" xmlns=""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xmlns="" id="{F83660F3-45D1-4CA0-BE2A-E7E6C1B794A4}"/>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5424094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smtClean="0"/>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2/18/2025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21057689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175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en-GB" dirty="0"/>
          </a:p>
        </p:txBody>
      </p:sp>
      <p:pic>
        <p:nvPicPr>
          <p:cNvPr id="10" name="Graphic 9"/>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8362283" y="0"/>
            <a:ext cx="3611691" cy="3611691"/>
          </a:xfrm>
          <a:prstGeom prst="rect">
            <a:avLst/>
          </a:prstGeom>
        </p:spPr>
      </p:pic>
      <p:pic>
        <p:nvPicPr>
          <p:cNvPr id="1026" name="Picture 2" descr="C:\Users\Administrator\Downloads\Screenshot__117_-removebg-preview.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63" y="393485"/>
            <a:ext cx="3067051" cy="161925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a:spLocks noGrp="1"/>
          </p:cNvSpPr>
          <p:nvPr>
            <p:ph type="ctrTitle"/>
          </p:nvPr>
        </p:nvSpPr>
        <p:spPr>
          <a:xfrm>
            <a:off x="1524000" y="1122363"/>
            <a:ext cx="9144000" cy="2387600"/>
          </a:xfrm>
        </p:spPr>
        <p:txBody>
          <a:bodyPr/>
          <a:lstStyle/>
          <a:p>
            <a:pPr algn="l"/>
            <a:r>
              <a:rPr lang="en-US" b="1" dirty="0">
                <a:solidFill>
                  <a:schemeClr val="accent4"/>
                </a:solidFill>
              </a:rPr>
              <a:t>Operating-System Services</a:t>
            </a:r>
            <a:endParaRPr lang="en-US" b="1" dirty="0">
              <a:solidFill>
                <a:schemeClr val="accent4"/>
              </a:solidFill>
            </a:endParaRPr>
          </a:p>
        </p:txBody>
      </p:sp>
      <p:sp>
        <p:nvSpPr>
          <p:cNvPr id="7" name="Subtitle 2"/>
          <p:cNvSpPr>
            <a:spLocks noGrp="1"/>
          </p:cNvSpPr>
          <p:nvPr>
            <p:ph type="subTitle" idx="1"/>
          </p:nvPr>
        </p:nvSpPr>
        <p:spPr>
          <a:xfrm>
            <a:off x="1524000" y="3602037"/>
            <a:ext cx="9144000" cy="1655763"/>
          </a:xfrm>
        </p:spPr>
        <p:txBody>
          <a:bodyPr>
            <a:normAutofit/>
          </a:bodyPr>
          <a:lstStyle/>
          <a:p>
            <a:r>
              <a:rPr lang="en-US" b="1" dirty="0" smtClean="0">
                <a:solidFill>
                  <a:schemeClr val="accent4"/>
                </a:solidFill>
              </a:rPr>
              <a:t>Lecture #5</a:t>
            </a:r>
            <a:endParaRPr lang="en-US" b="1" dirty="0">
              <a:solidFill>
                <a:schemeClr val="accent4"/>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pPr algn="ctr"/>
            <a:r>
              <a:rPr lang="en-US" b="1" dirty="0" smtClean="0">
                <a:solidFill>
                  <a:schemeClr val="accent4"/>
                </a:solidFill>
              </a:rPr>
              <a:t>Operating System services </a:t>
            </a:r>
            <a:endParaRPr lang="en-US" b="1" dirty="0">
              <a:solidFill>
                <a:schemeClr val="accent4"/>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0725" y="1331913"/>
            <a:ext cx="8210550" cy="475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1269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b="1" dirty="0">
                <a:solidFill>
                  <a:schemeClr val="accent4"/>
                </a:solidFill>
              </a:rPr>
              <a:t>user interface (UI)</a:t>
            </a:r>
          </a:p>
        </p:txBody>
      </p:sp>
      <p:sp>
        <p:nvSpPr>
          <p:cNvPr id="3" name="Content Placeholder 2"/>
          <p:cNvSpPr>
            <a:spLocks noGrp="1"/>
          </p:cNvSpPr>
          <p:nvPr>
            <p:ph idx="1"/>
          </p:nvPr>
        </p:nvSpPr>
        <p:spPr/>
        <p:txBody>
          <a:bodyPr/>
          <a:lstStyle/>
          <a:p>
            <a:r>
              <a:rPr lang="en-US" dirty="0"/>
              <a:t>Most operating systems have a </a:t>
            </a:r>
            <a:r>
              <a:rPr lang="en-US" b="1" dirty="0"/>
              <a:t>user interface (UI)</a:t>
            </a:r>
            <a:r>
              <a:rPr lang="en-US" dirty="0"/>
              <a:t> that allows users to interact with the system. There are three main types:</a:t>
            </a:r>
          </a:p>
          <a:p>
            <a:r>
              <a:rPr lang="en-US" b="1" dirty="0"/>
              <a:t>Command-Line Interface (CLI):</a:t>
            </a:r>
            <a:r>
              <a:rPr lang="en-US" dirty="0"/>
              <a:t> Users type text commands using a keyboard</a:t>
            </a:r>
            <a:r>
              <a:rPr lang="en-US" dirty="0" smtClean="0"/>
              <a:t>..</a:t>
            </a:r>
            <a:endParaRPr lang="en-US" dirty="0"/>
          </a:p>
          <a:p>
            <a:r>
              <a:rPr lang="en-US" b="1" dirty="0"/>
              <a:t>Graphical User Interface (GUI):</a:t>
            </a:r>
            <a:r>
              <a:rPr lang="en-US" dirty="0"/>
              <a:t> Users interact with windows, menus, and icons using a mouse and keyboard.</a:t>
            </a:r>
          </a:p>
          <a:p>
            <a:pPr marL="0" indent="0">
              <a:buNone/>
            </a:pPr>
            <a:endParaRPr lang="en-US" dirty="0"/>
          </a:p>
        </p:txBody>
      </p:sp>
    </p:spTree>
    <p:extLst>
      <p:ext uri="{BB962C8B-B14F-4D97-AF65-F5344CB8AC3E}">
        <p14:creationId xmlns:p14="http://schemas.microsoft.com/office/powerpoint/2010/main" val="13840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49681"/>
            <a:ext cx="10515600" cy="4297679"/>
          </a:xfrm>
        </p:spPr>
        <p:txBody>
          <a:bodyPr/>
          <a:lstStyle/>
          <a:p>
            <a:pPr marL="0" indent="0">
              <a:buNone/>
            </a:pPr>
            <a:r>
              <a:rPr lang="en-US" b="1" dirty="0"/>
              <a:t>Batch Interface:</a:t>
            </a:r>
            <a:r>
              <a:rPr lang="en-US" dirty="0"/>
              <a:t> Commands are written in files and executed </a:t>
            </a:r>
            <a:r>
              <a:rPr lang="en-US" dirty="0" smtClean="0"/>
              <a:t>automatically.</a:t>
            </a:r>
          </a:p>
          <a:p>
            <a:pPr marL="0" indent="0">
              <a:buNone/>
            </a:pPr>
            <a:r>
              <a:rPr lang="en-US" b="1" dirty="0"/>
              <a:t>Example:</a:t>
            </a:r>
          </a:p>
          <a:p>
            <a:r>
              <a:rPr lang="en-US" dirty="0"/>
              <a:t>Imagine you need to back up files every day. Instead of copying them manually, you can create a </a:t>
            </a:r>
            <a:r>
              <a:rPr lang="en-US" b="1" dirty="0"/>
              <a:t>batch file</a:t>
            </a:r>
            <a:r>
              <a:rPr lang="en-US" dirty="0"/>
              <a:t> (backup.bat in Windows) with commands like</a:t>
            </a:r>
            <a:r>
              <a:rPr lang="en-US" dirty="0" smtClean="0"/>
              <a:t>:</a:t>
            </a:r>
          </a:p>
          <a:p>
            <a:pPr marL="0" indent="0">
              <a:buNone/>
            </a:pP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480" y="3947160"/>
            <a:ext cx="36576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92480" y="5432852"/>
            <a:ext cx="10058400" cy="954107"/>
          </a:xfrm>
          <a:prstGeom prst="rect">
            <a:avLst/>
          </a:prstGeom>
        </p:spPr>
        <p:txBody>
          <a:bodyPr wrap="square">
            <a:spAutoFit/>
          </a:bodyPr>
          <a:lstStyle/>
          <a:p>
            <a:r>
              <a:rPr lang="en-US" sz="2800" b="1" dirty="0"/>
              <a:t>When you run the file, it automatically copies all documents to the backup folder without needing further input.</a:t>
            </a:r>
          </a:p>
        </p:txBody>
      </p:sp>
    </p:spTree>
    <p:extLst>
      <p:ext uri="{BB962C8B-B14F-4D97-AF65-F5344CB8AC3E}">
        <p14:creationId xmlns:p14="http://schemas.microsoft.com/office/powerpoint/2010/main" val="290291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b="1" dirty="0">
                <a:solidFill>
                  <a:schemeClr val="accent4"/>
                </a:solidFill>
              </a:rPr>
              <a:t>Program execution.</a:t>
            </a:r>
          </a:p>
        </p:txBody>
      </p:sp>
      <p:sp>
        <p:nvSpPr>
          <p:cNvPr id="3" name="Content Placeholder 2"/>
          <p:cNvSpPr>
            <a:spLocks noGrp="1"/>
          </p:cNvSpPr>
          <p:nvPr>
            <p:ph idx="1"/>
          </p:nvPr>
        </p:nvSpPr>
        <p:spPr/>
        <p:txBody>
          <a:bodyPr/>
          <a:lstStyle/>
          <a:p>
            <a:r>
              <a:rPr lang="en-US" dirty="0" smtClean="0"/>
              <a:t>The </a:t>
            </a:r>
            <a:r>
              <a:rPr lang="en-US" dirty="0"/>
              <a:t>system must be able to load a program </a:t>
            </a:r>
            <a:r>
              <a:rPr lang="en-US" dirty="0" smtClean="0"/>
              <a:t>into memory </a:t>
            </a:r>
            <a:r>
              <a:rPr lang="en-US" dirty="0"/>
              <a:t>and to run that program. The program must be able to end </a:t>
            </a:r>
            <a:r>
              <a:rPr lang="en-US" dirty="0" smtClean="0"/>
              <a:t>its execution</a:t>
            </a:r>
            <a:r>
              <a:rPr lang="en-US" dirty="0"/>
              <a:t>, either normally or abnormally (indicating error).</a:t>
            </a:r>
            <a:endParaRPr lang="en-US" dirty="0"/>
          </a:p>
        </p:txBody>
      </p:sp>
    </p:spTree>
    <p:extLst>
      <p:ext uri="{BB962C8B-B14F-4D97-AF65-F5344CB8AC3E}">
        <p14:creationId xmlns:p14="http://schemas.microsoft.com/office/powerpoint/2010/main" val="2250282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720" y="167005"/>
            <a:ext cx="10515600" cy="1325563"/>
          </a:xfrm>
        </p:spPr>
        <p:txBody>
          <a:bodyPr/>
          <a:lstStyle/>
          <a:p>
            <a:pPr algn="ctr"/>
            <a:r>
              <a:rPr lang="en-US" b="1" dirty="0">
                <a:solidFill>
                  <a:schemeClr val="accent4"/>
                </a:solidFill>
              </a:rPr>
              <a:t>I/O operations</a:t>
            </a:r>
          </a:p>
        </p:txBody>
      </p:sp>
      <p:sp>
        <p:nvSpPr>
          <p:cNvPr id="3" name="Content Placeholder 2"/>
          <p:cNvSpPr>
            <a:spLocks noGrp="1"/>
          </p:cNvSpPr>
          <p:nvPr>
            <p:ph idx="1"/>
          </p:nvPr>
        </p:nvSpPr>
        <p:spPr/>
        <p:txBody>
          <a:bodyPr/>
          <a:lstStyle/>
          <a:p>
            <a:pPr algn="just"/>
            <a:r>
              <a:rPr lang="en-US" dirty="0"/>
              <a:t>A running program often needs to </a:t>
            </a:r>
            <a:r>
              <a:rPr lang="en-US" b="1" dirty="0"/>
              <a:t>input or output (I/O) data</a:t>
            </a:r>
            <a:r>
              <a:rPr lang="en-US" dirty="0"/>
              <a:t>, such as reading a file or using a device like a printer. Some devices need special actions, like burning a CD or turning off a screen.</a:t>
            </a:r>
          </a:p>
          <a:p>
            <a:pPr algn="just"/>
            <a:r>
              <a:rPr lang="en-US" dirty="0"/>
              <a:t>For security and efficiency, users </a:t>
            </a:r>
            <a:r>
              <a:rPr lang="en-US" b="1" dirty="0"/>
              <a:t>can’t control hardware directly</a:t>
            </a:r>
            <a:r>
              <a:rPr lang="en-US" dirty="0"/>
              <a:t>. Instead, the </a:t>
            </a:r>
            <a:r>
              <a:rPr lang="en-US" b="1" dirty="0"/>
              <a:t>operating system manages I/O operations</a:t>
            </a:r>
            <a:r>
              <a:rPr lang="en-US" dirty="0"/>
              <a:t>.</a:t>
            </a:r>
          </a:p>
          <a:p>
            <a:pPr algn="just"/>
            <a:r>
              <a:rPr lang="en-US" b="1" dirty="0"/>
              <a:t>Example:</a:t>
            </a:r>
          </a:p>
          <a:p>
            <a:pPr algn="just"/>
            <a:r>
              <a:rPr lang="en-US" dirty="0"/>
              <a:t>When you print a document, your computer doesn’t send data straight to the printer. The </a:t>
            </a:r>
            <a:r>
              <a:rPr lang="en-US" b="1" dirty="0"/>
              <a:t>OS handles the request</a:t>
            </a:r>
            <a:r>
              <a:rPr lang="en-US" dirty="0"/>
              <a:t>, sends the data in the right format, and ensures the printer gets it correctly.</a:t>
            </a:r>
          </a:p>
          <a:p>
            <a:pPr marL="0" indent="0" algn="just">
              <a:buNone/>
            </a:pPr>
            <a:endParaRPr lang="en-US" dirty="0"/>
          </a:p>
        </p:txBody>
      </p:sp>
    </p:spTree>
    <p:extLst>
      <p:ext uri="{BB962C8B-B14F-4D97-AF65-F5344CB8AC3E}">
        <p14:creationId xmlns:p14="http://schemas.microsoft.com/office/powerpoint/2010/main" val="2454009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0"/>
            <a:ext cx="10515600" cy="1325563"/>
          </a:xfrm>
        </p:spPr>
        <p:txBody>
          <a:bodyPr/>
          <a:lstStyle/>
          <a:p>
            <a:pPr algn="ctr"/>
            <a:r>
              <a:rPr lang="en-US" b="1" dirty="0">
                <a:solidFill>
                  <a:schemeClr val="accent4"/>
                </a:solidFill>
              </a:rPr>
              <a:t>File-system manipulation</a:t>
            </a:r>
          </a:p>
        </p:txBody>
      </p:sp>
      <p:sp>
        <p:nvSpPr>
          <p:cNvPr id="3" name="Content Placeholder 2"/>
          <p:cNvSpPr>
            <a:spLocks noGrp="1"/>
          </p:cNvSpPr>
          <p:nvPr>
            <p:ph idx="1"/>
          </p:nvPr>
        </p:nvSpPr>
        <p:spPr/>
        <p:txBody>
          <a:bodyPr/>
          <a:lstStyle/>
          <a:p>
            <a:pPr algn="just"/>
            <a:r>
              <a:rPr lang="en-US" dirty="0"/>
              <a:t>The </a:t>
            </a:r>
            <a:r>
              <a:rPr lang="en-US" b="1" dirty="0"/>
              <a:t>file system</a:t>
            </a:r>
            <a:r>
              <a:rPr lang="en-US" dirty="0"/>
              <a:t> helps programs manage files and folders. Programs can </a:t>
            </a:r>
            <a:r>
              <a:rPr lang="en-US" b="1" dirty="0"/>
              <a:t>create, delete, read, and write files</a:t>
            </a:r>
            <a:r>
              <a:rPr lang="en-US" dirty="0"/>
              <a:t>, search for specific files, and view file details.</a:t>
            </a:r>
          </a:p>
          <a:p>
            <a:pPr algn="just"/>
            <a:r>
              <a:rPr lang="en-US" dirty="0"/>
              <a:t>Many operating systems also have </a:t>
            </a:r>
            <a:r>
              <a:rPr lang="en-US" b="1" dirty="0"/>
              <a:t>permissions</a:t>
            </a:r>
            <a:r>
              <a:rPr lang="en-US" dirty="0"/>
              <a:t> to control who can access or edit files, ensuring security. Different types of </a:t>
            </a:r>
            <a:r>
              <a:rPr lang="en-US" b="1" dirty="0"/>
              <a:t>file systems</a:t>
            </a:r>
            <a:r>
              <a:rPr lang="en-US" dirty="0"/>
              <a:t> exist, offering different features and performance.</a:t>
            </a:r>
          </a:p>
          <a:p>
            <a:pPr algn="just"/>
            <a:r>
              <a:rPr lang="en-US" b="1" dirty="0"/>
              <a:t>Example:</a:t>
            </a:r>
          </a:p>
          <a:p>
            <a:pPr algn="just"/>
            <a:r>
              <a:rPr lang="en-US" dirty="0"/>
              <a:t>On a Windows computer, you can </a:t>
            </a:r>
            <a:r>
              <a:rPr lang="en-US" b="1" dirty="0"/>
              <a:t>create a folder</a:t>
            </a:r>
            <a:r>
              <a:rPr lang="en-US" dirty="0"/>
              <a:t>, save a document inside it, rename it, or delete it. If the file is private, you can </a:t>
            </a:r>
            <a:r>
              <a:rPr lang="en-US" b="1" dirty="0"/>
              <a:t>set permissions</a:t>
            </a:r>
            <a:r>
              <a:rPr lang="en-US" dirty="0"/>
              <a:t> so only you can open it.</a:t>
            </a:r>
          </a:p>
          <a:p>
            <a:pPr marL="0" indent="0" algn="just">
              <a:buNone/>
            </a:pPr>
            <a:endParaRPr lang="en-US" dirty="0"/>
          </a:p>
        </p:txBody>
      </p:sp>
    </p:spTree>
    <p:extLst>
      <p:ext uri="{BB962C8B-B14F-4D97-AF65-F5344CB8AC3E}">
        <p14:creationId xmlns:p14="http://schemas.microsoft.com/office/powerpoint/2010/main" val="1960435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0"/>
            <a:ext cx="10515600" cy="1325563"/>
          </a:xfrm>
        </p:spPr>
        <p:txBody>
          <a:bodyPr/>
          <a:lstStyle/>
          <a:p>
            <a:pPr algn="ctr"/>
            <a:r>
              <a:rPr lang="en-US" b="1" dirty="0">
                <a:solidFill>
                  <a:schemeClr val="accent4"/>
                </a:solidFill>
              </a:rPr>
              <a:t>Communications</a:t>
            </a:r>
          </a:p>
        </p:txBody>
      </p:sp>
      <p:sp>
        <p:nvSpPr>
          <p:cNvPr id="3" name="Content Placeholder 2"/>
          <p:cNvSpPr>
            <a:spLocks noGrp="1"/>
          </p:cNvSpPr>
          <p:nvPr>
            <p:ph idx="1"/>
          </p:nvPr>
        </p:nvSpPr>
        <p:spPr/>
        <p:txBody>
          <a:bodyPr>
            <a:normAutofit/>
          </a:bodyPr>
          <a:lstStyle/>
          <a:p>
            <a:pPr algn="just"/>
            <a:r>
              <a:rPr lang="en-US" dirty="0"/>
              <a:t>Sometimes, </a:t>
            </a:r>
            <a:r>
              <a:rPr lang="en-US" b="1" dirty="0"/>
              <a:t>programs need to share information</a:t>
            </a:r>
            <a:r>
              <a:rPr lang="en-US" dirty="0"/>
              <a:t> with each other. This can happen on the </a:t>
            </a:r>
            <a:r>
              <a:rPr lang="en-US" b="1" dirty="0"/>
              <a:t>same computer</a:t>
            </a:r>
            <a:r>
              <a:rPr lang="en-US" dirty="0"/>
              <a:t> or between </a:t>
            </a:r>
            <a:r>
              <a:rPr lang="en-US" b="1" dirty="0"/>
              <a:t>different computers</a:t>
            </a:r>
            <a:r>
              <a:rPr lang="en-US" dirty="0"/>
              <a:t> connected by a network.</a:t>
            </a:r>
          </a:p>
          <a:p>
            <a:pPr algn="just"/>
            <a:r>
              <a:rPr lang="en-US" dirty="0"/>
              <a:t>There are two main ways programs can communicate:</a:t>
            </a:r>
          </a:p>
          <a:p>
            <a:pPr algn="just"/>
            <a:r>
              <a:rPr lang="en-US" b="1" dirty="0"/>
              <a:t>Shared Memory:</a:t>
            </a:r>
            <a:r>
              <a:rPr lang="en-US" dirty="0"/>
              <a:t> Two or more programs can read and write data in the same memory space.</a:t>
            </a:r>
          </a:p>
          <a:p>
            <a:pPr algn="just"/>
            <a:r>
              <a:rPr lang="en-US" b="1" dirty="0"/>
              <a:t>Message Passing:</a:t>
            </a:r>
            <a:r>
              <a:rPr lang="en-US" dirty="0"/>
              <a:t> Programs send and receive messages in a specific format through the operating system.</a:t>
            </a:r>
          </a:p>
          <a:p>
            <a:pPr marL="0" indent="0" algn="just">
              <a:buNone/>
            </a:pPr>
            <a:endParaRPr lang="en-US" dirty="0"/>
          </a:p>
        </p:txBody>
      </p:sp>
    </p:spTree>
    <p:extLst>
      <p:ext uri="{BB962C8B-B14F-4D97-AF65-F5344CB8AC3E}">
        <p14:creationId xmlns:p14="http://schemas.microsoft.com/office/powerpoint/2010/main" val="3850508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b="1" dirty="0"/>
              <a:t>Example:</a:t>
            </a:r>
          </a:p>
          <a:p>
            <a:pPr algn="just"/>
            <a:r>
              <a:rPr lang="en-US" dirty="0"/>
              <a:t>When you </a:t>
            </a:r>
            <a:r>
              <a:rPr lang="en-US" b="1" dirty="0"/>
              <a:t>chat on </a:t>
            </a:r>
            <a:r>
              <a:rPr lang="en-US" b="1" dirty="0" err="1"/>
              <a:t>WhatsApp</a:t>
            </a:r>
            <a:r>
              <a:rPr lang="en-US" dirty="0"/>
              <a:t>, your message is sent from your phone to </a:t>
            </a:r>
            <a:r>
              <a:rPr lang="en-US" dirty="0" err="1"/>
              <a:t>WhatsApp's</a:t>
            </a:r>
            <a:r>
              <a:rPr lang="en-US" dirty="0"/>
              <a:t> server and then delivered to your friend's phone. This is an example of </a:t>
            </a:r>
            <a:r>
              <a:rPr lang="en-US" b="1" dirty="0"/>
              <a:t>message passing</a:t>
            </a:r>
            <a:r>
              <a:rPr lang="en-US" dirty="0"/>
              <a:t> between different devices over a network.</a:t>
            </a:r>
          </a:p>
          <a:p>
            <a:endParaRPr lang="en-US" dirty="0"/>
          </a:p>
        </p:txBody>
      </p:sp>
    </p:spTree>
    <p:extLst>
      <p:ext uri="{BB962C8B-B14F-4D97-AF65-F5344CB8AC3E}">
        <p14:creationId xmlns:p14="http://schemas.microsoft.com/office/powerpoint/2010/main" val="1733331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b="1" dirty="0">
                <a:solidFill>
                  <a:schemeClr val="accent4"/>
                </a:solidFill>
              </a:rPr>
              <a:t>Error detection</a:t>
            </a:r>
          </a:p>
        </p:txBody>
      </p:sp>
      <p:sp>
        <p:nvSpPr>
          <p:cNvPr id="3" name="Content Placeholder 2"/>
          <p:cNvSpPr>
            <a:spLocks noGrp="1"/>
          </p:cNvSpPr>
          <p:nvPr>
            <p:ph idx="1"/>
          </p:nvPr>
        </p:nvSpPr>
        <p:spPr/>
        <p:txBody>
          <a:bodyPr>
            <a:normAutofit fontScale="92500"/>
          </a:bodyPr>
          <a:lstStyle/>
          <a:p>
            <a:pPr algn="just"/>
            <a:r>
              <a:rPr lang="en-US" dirty="0"/>
              <a:t>The </a:t>
            </a:r>
            <a:r>
              <a:rPr lang="en-US" b="1" dirty="0"/>
              <a:t>operating system</a:t>
            </a:r>
            <a:r>
              <a:rPr lang="en-US" dirty="0"/>
              <a:t> constantly checks for errors to keep things running smoothly. Errors can happen in different areas, such as:</a:t>
            </a:r>
          </a:p>
          <a:p>
            <a:pPr algn="just"/>
            <a:r>
              <a:rPr lang="en-US" b="1" dirty="0"/>
              <a:t>Hardware issues</a:t>
            </a:r>
            <a:r>
              <a:rPr lang="en-US" dirty="0"/>
              <a:t> (like memory problems or a power failure)</a:t>
            </a:r>
          </a:p>
          <a:p>
            <a:pPr algn="just"/>
            <a:r>
              <a:rPr lang="en-US" b="1" dirty="0"/>
              <a:t>I/O device issues</a:t>
            </a:r>
            <a:r>
              <a:rPr lang="en-US" dirty="0"/>
              <a:t> (like a printer running out of paper or a network disconnect)</a:t>
            </a:r>
          </a:p>
          <a:p>
            <a:pPr algn="just"/>
            <a:r>
              <a:rPr lang="en-US" b="1" dirty="0"/>
              <a:t>Program issues</a:t>
            </a:r>
            <a:r>
              <a:rPr lang="en-US" dirty="0"/>
              <a:t> (like a math mistake or trying to use too much CPU power)</a:t>
            </a:r>
          </a:p>
          <a:p>
            <a:pPr algn="just"/>
            <a:r>
              <a:rPr lang="en-US" dirty="0"/>
              <a:t>When the OS detects an error, it takes action to fix it, such as stopping the problem process or sending an error message for the program to handle. In some cases, the OS may need to </a:t>
            </a:r>
            <a:r>
              <a:rPr lang="en-US" b="1" dirty="0"/>
              <a:t>shut down the system</a:t>
            </a:r>
            <a:r>
              <a:rPr lang="en-US" dirty="0"/>
              <a:t> to avoid further issues.</a:t>
            </a:r>
          </a:p>
          <a:p>
            <a:pPr marL="0" indent="0" algn="just">
              <a:buNone/>
            </a:pPr>
            <a:endParaRPr lang="en-US" dirty="0"/>
          </a:p>
        </p:txBody>
      </p:sp>
    </p:spTree>
    <p:extLst>
      <p:ext uri="{BB962C8B-B14F-4D97-AF65-F5344CB8AC3E}">
        <p14:creationId xmlns:p14="http://schemas.microsoft.com/office/powerpoint/2010/main" val="2132561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b="1" dirty="0"/>
              <a:t>Example:</a:t>
            </a:r>
          </a:p>
          <a:p>
            <a:pPr algn="just"/>
            <a:r>
              <a:rPr lang="en-US" dirty="0"/>
              <a:t>If your printer runs out of paper while printing, the OS might show an </a:t>
            </a:r>
            <a:r>
              <a:rPr lang="en-US" b="1" dirty="0"/>
              <a:t>error message</a:t>
            </a:r>
            <a:r>
              <a:rPr lang="en-US" dirty="0"/>
              <a:t> asking you to reload paper. If a program tries to use too much memory, the OS might </a:t>
            </a:r>
            <a:r>
              <a:rPr lang="en-US" b="1" dirty="0"/>
              <a:t>stop</a:t>
            </a:r>
            <a:r>
              <a:rPr lang="en-US" dirty="0"/>
              <a:t> that program to prevent a crash.</a:t>
            </a:r>
          </a:p>
        </p:txBody>
      </p:sp>
    </p:spTree>
    <p:extLst>
      <p:ext uri="{BB962C8B-B14F-4D97-AF65-F5344CB8AC3E}">
        <p14:creationId xmlns:p14="http://schemas.microsoft.com/office/powerpoint/2010/main" val="526176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2667000"/>
            <a:ext cx="10515600" cy="2839404"/>
          </a:xfrm>
        </p:spPr>
        <p:txBody>
          <a:bodyPr/>
          <a:lstStyle/>
          <a:p>
            <a:pPr marL="0" indent="0" algn="ctr">
              <a:buNone/>
            </a:pPr>
            <a:r>
              <a:rPr lang="en-US" dirty="0"/>
              <a:t>Some operating system functions focus on making the system run efficiently, especially in </a:t>
            </a:r>
            <a:r>
              <a:rPr lang="en-US" b="1" dirty="0"/>
              <a:t>multi-user systems</a:t>
            </a:r>
            <a:r>
              <a:rPr lang="en-US" dirty="0"/>
              <a:t>. These functions help </a:t>
            </a:r>
            <a:r>
              <a:rPr lang="en-US" b="1" dirty="0"/>
              <a:t>share resources</a:t>
            </a:r>
            <a:r>
              <a:rPr lang="en-US" dirty="0"/>
              <a:t> like CPU and memory among users to improve overall performance.</a:t>
            </a:r>
          </a:p>
        </p:txBody>
      </p:sp>
    </p:spTree>
    <p:extLst>
      <p:ext uri="{BB962C8B-B14F-4D97-AF65-F5344CB8AC3E}">
        <p14:creationId xmlns:p14="http://schemas.microsoft.com/office/powerpoint/2010/main" val="1956217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480" y="0"/>
            <a:ext cx="10515600" cy="1325563"/>
          </a:xfrm>
        </p:spPr>
        <p:txBody>
          <a:bodyPr/>
          <a:lstStyle/>
          <a:p>
            <a:pPr algn="ctr"/>
            <a:r>
              <a:rPr lang="en-US" b="1" dirty="0" smtClean="0">
                <a:solidFill>
                  <a:schemeClr val="accent4"/>
                </a:solidFill>
              </a:rPr>
              <a:t>Resource Allocation</a:t>
            </a:r>
            <a:endParaRPr lang="en-US" b="1" dirty="0">
              <a:solidFill>
                <a:schemeClr val="accent4"/>
              </a:solidFill>
            </a:endParaRPr>
          </a:p>
        </p:txBody>
      </p:sp>
      <p:sp>
        <p:nvSpPr>
          <p:cNvPr id="3" name="Content Placeholder 2"/>
          <p:cNvSpPr>
            <a:spLocks noGrp="1"/>
          </p:cNvSpPr>
          <p:nvPr>
            <p:ph idx="1"/>
          </p:nvPr>
        </p:nvSpPr>
        <p:spPr/>
        <p:txBody>
          <a:bodyPr>
            <a:normAutofit/>
          </a:bodyPr>
          <a:lstStyle/>
          <a:p>
            <a:pPr algn="just"/>
            <a:r>
              <a:rPr lang="en-US" dirty="0"/>
              <a:t>When multiple users or jobs are running at the same time, the </a:t>
            </a:r>
            <a:r>
              <a:rPr lang="en-US" b="1" dirty="0"/>
              <a:t>operating system</a:t>
            </a:r>
            <a:r>
              <a:rPr lang="en-US" dirty="0"/>
              <a:t> makes sure each one gets the resources it needs. These resources can include things like </a:t>
            </a:r>
            <a:r>
              <a:rPr lang="en-US" b="1" dirty="0"/>
              <a:t>CPU time</a:t>
            </a:r>
            <a:r>
              <a:rPr lang="en-US" dirty="0"/>
              <a:t>, </a:t>
            </a:r>
            <a:r>
              <a:rPr lang="en-US" b="1" dirty="0"/>
              <a:t>memory</a:t>
            </a:r>
            <a:r>
              <a:rPr lang="en-US" dirty="0"/>
              <a:t>, and </a:t>
            </a:r>
            <a:r>
              <a:rPr lang="en-US" b="1" dirty="0"/>
              <a:t>storage</a:t>
            </a:r>
            <a:r>
              <a:rPr lang="en-US" dirty="0"/>
              <a:t>.</a:t>
            </a:r>
          </a:p>
          <a:p>
            <a:pPr algn="just"/>
            <a:r>
              <a:rPr lang="en-US" dirty="0"/>
              <a:t>For example, the OS uses </a:t>
            </a:r>
            <a:r>
              <a:rPr lang="en-US" b="1" dirty="0"/>
              <a:t>CPU scheduling</a:t>
            </a:r>
            <a:r>
              <a:rPr lang="en-US" dirty="0"/>
              <a:t> to decide which jobs get time on the CPU, considering factors like speed and available memory. It also manages other devices, like printers or USB drives, making sure they are allocated when needed.</a:t>
            </a:r>
          </a:p>
          <a:p>
            <a:pPr marL="0" indent="0" algn="just">
              <a:buNone/>
            </a:pPr>
            <a:endParaRPr lang="en-US" dirty="0"/>
          </a:p>
        </p:txBody>
      </p:sp>
    </p:spTree>
    <p:extLst>
      <p:ext uri="{BB962C8B-B14F-4D97-AF65-F5344CB8AC3E}">
        <p14:creationId xmlns:p14="http://schemas.microsoft.com/office/powerpoint/2010/main" val="1048605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b="1" dirty="0"/>
              <a:t>Example:</a:t>
            </a:r>
          </a:p>
          <a:p>
            <a:pPr algn="just"/>
            <a:r>
              <a:rPr lang="en-US" dirty="0"/>
              <a:t>If you are running a word processor and a music player at the same time, the OS will make sure both programs get the CPU time they need without interfering with each other.</a:t>
            </a:r>
          </a:p>
          <a:p>
            <a:pPr marL="0" indent="0" algn="just">
              <a:buNone/>
            </a:pPr>
            <a:endParaRPr lang="en-US" dirty="0"/>
          </a:p>
        </p:txBody>
      </p:sp>
    </p:spTree>
    <p:extLst>
      <p:ext uri="{BB962C8B-B14F-4D97-AF65-F5344CB8AC3E}">
        <p14:creationId xmlns:p14="http://schemas.microsoft.com/office/powerpoint/2010/main" val="1632077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43205"/>
            <a:ext cx="10515600" cy="1325563"/>
          </a:xfrm>
        </p:spPr>
        <p:txBody>
          <a:bodyPr/>
          <a:lstStyle/>
          <a:p>
            <a:pPr algn="ctr"/>
            <a:r>
              <a:rPr lang="en-US" b="1" dirty="0">
                <a:solidFill>
                  <a:schemeClr val="accent4"/>
                </a:solidFill>
              </a:rPr>
              <a:t>Accounting</a:t>
            </a:r>
            <a:endParaRPr lang="en-US" dirty="0">
              <a:solidFill>
                <a:schemeClr val="accent4"/>
              </a:solidFill>
            </a:endParaRPr>
          </a:p>
        </p:txBody>
      </p:sp>
      <p:sp>
        <p:nvSpPr>
          <p:cNvPr id="3" name="Content Placeholder 2"/>
          <p:cNvSpPr>
            <a:spLocks noGrp="1"/>
          </p:cNvSpPr>
          <p:nvPr>
            <p:ph idx="1"/>
          </p:nvPr>
        </p:nvSpPr>
        <p:spPr/>
        <p:txBody>
          <a:bodyPr/>
          <a:lstStyle/>
          <a:p>
            <a:pPr algn="just"/>
            <a:r>
              <a:rPr lang="en-US" b="1" dirty="0"/>
              <a:t>Accounting</a:t>
            </a:r>
            <a:r>
              <a:rPr lang="en-US" dirty="0"/>
              <a:t> in an operating system keeps track of how much and what kind of resources each user is using. This information can be used for things like </a:t>
            </a:r>
            <a:r>
              <a:rPr lang="en-US" b="1" dirty="0"/>
              <a:t>billing</a:t>
            </a:r>
            <a:r>
              <a:rPr lang="en-US" dirty="0"/>
              <a:t> or to collect </a:t>
            </a:r>
            <a:r>
              <a:rPr lang="en-US" b="1" dirty="0"/>
              <a:t>usage statistics</a:t>
            </a:r>
            <a:r>
              <a:rPr lang="en-US" dirty="0"/>
              <a:t> to improve the system.</a:t>
            </a:r>
          </a:p>
          <a:p>
            <a:pPr algn="just"/>
            <a:r>
              <a:rPr lang="en-US" b="1" dirty="0"/>
              <a:t>Example:</a:t>
            </a:r>
          </a:p>
          <a:p>
            <a:pPr algn="just"/>
            <a:r>
              <a:rPr lang="en-US" dirty="0"/>
              <a:t>In a shared computer system, the OS might track how much CPU time or storage each user uses. This way, if users are billed for usage, the OS can calculate how much each user owes. It can also help improve the system by showing which resources are most used.</a:t>
            </a:r>
          </a:p>
          <a:p>
            <a:pPr marL="0" indent="0" algn="just">
              <a:buNone/>
            </a:pPr>
            <a:endParaRPr lang="en-US" dirty="0"/>
          </a:p>
        </p:txBody>
      </p:sp>
    </p:spTree>
    <p:extLst>
      <p:ext uri="{BB962C8B-B14F-4D97-AF65-F5344CB8AC3E}">
        <p14:creationId xmlns:p14="http://schemas.microsoft.com/office/powerpoint/2010/main" val="1903350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151765"/>
            <a:ext cx="10515600" cy="1325563"/>
          </a:xfrm>
        </p:spPr>
        <p:txBody>
          <a:bodyPr/>
          <a:lstStyle/>
          <a:p>
            <a:pPr algn="ctr"/>
            <a:r>
              <a:rPr lang="en-US" b="1" dirty="0">
                <a:solidFill>
                  <a:schemeClr val="accent4"/>
                </a:solidFill>
              </a:rPr>
              <a:t>Protection and security</a:t>
            </a:r>
            <a:endParaRPr lang="en-US" dirty="0">
              <a:solidFill>
                <a:schemeClr val="accent4"/>
              </a:solidFill>
            </a:endParaRPr>
          </a:p>
        </p:txBody>
      </p:sp>
      <p:sp>
        <p:nvSpPr>
          <p:cNvPr id="3" name="Content Placeholder 2"/>
          <p:cNvSpPr>
            <a:spLocks noGrp="1"/>
          </p:cNvSpPr>
          <p:nvPr>
            <p:ph idx="1"/>
          </p:nvPr>
        </p:nvSpPr>
        <p:spPr/>
        <p:txBody>
          <a:bodyPr>
            <a:normAutofit/>
          </a:bodyPr>
          <a:lstStyle/>
          <a:p>
            <a:pPr algn="just"/>
            <a:r>
              <a:rPr lang="en-US" b="1" dirty="0"/>
              <a:t>Protection and security</a:t>
            </a:r>
            <a:r>
              <a:rPr lang="en-US" dirty="0"/>
              <a:t> ensure that users and processes can't interfere with each other's data or the system itself.</a:t>
            </a:r>
          </a:p>
          <a:p>
            <a:pPr algn="just"/>
            <a:r>
              <a:rPr lang="en-US" b="1" dirty="0"/>
              <a:t>Protection</a:t>
            </a:r>
            <a:r>
              <a:rPr lang="en-US" dirty="0"/>
              <a:t> makes sure only authorized users can access certain system resources.</a:t>
            </a:r>
          </a:p>
          <a:p>
            <a:pPr algn="just"/>
            <a:r>
              <a:rPr lang="en-US" b="1" dirty="0"/>
              <a:t>Security</a:t>
            </a:r>
            <a:r>
              <a:rPr lang="en-US" dirty="0"/>
              <a:t> focuses on preventing outsiders from breaking into the system by requiring things like </a:t>
            </a:r>
            <a:r>
              <a:rPr lang="en-US" b="1" dirty="0"/>
              <a:t>passwords</a:t>
            </a:r>
            <a:r>
              <a:rPr lang="en-US" dirty="0"/>
              <a:t> for access and </a:t>
            </a:r>
            <a:r>
              <a:rPr lang="en-US" b="1" dirty="0"/>
              <a:t>monitoring</a:t>
            </a:r>
            <a:r>
              <a:rPr lang="en-US" dirty="0"/>
              <a:t> for suspicious activity.</a:t>
            </a:r>
          </a:p>
          <a:p>
            <a:pPr marL="0" indent="0" algn="just">
              <a:buNone/>
            </a:pPr>
            <a:endParaRPr lang="en-US" dirty="0"/>
          </a:p>
        </p:txBody>
      </p:sp>
    </p:spTree>
    <p:extLst>
      <p:ext uri="{BB962C8B-B14F-4D97-AF65-F5344CB8AC3E}">
        <p14:creationId xmlns:p14="http://schemas.microsoft.com/office/powerpoint/2010/main" val="3899132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b="1" dirty="0"/>
              <a:t>Example:</a:t>
            </a:r>
          </a:p>
          <a:p>
            <a:pPr algn="just"/>
            <a:r>
              <a:rPr lang="en-US" dirty="0"/>
              <a:t>When you log into your computer, you use a </a:t>
            </a:r>
            <a:r>
              <a:rPr lang="en-US" b="1" dirty="0"/>
              <a:t>password</a:t>
            </a:r>
            <a:r>
              <a:rPr lang="en-US" dirty="0"/>
              <a:t> to prove your identity. The operating system makes sure only you or other authorized users can access your files. If someone tries to hack into your system, the OS will block the attempt and may even record the event to help catch the intruder.</a:t>
            </a:r>
          </a:p>
          <a:p>
            <a:pPr marL="0" indent="0" algn="just">
              <a:buNone/>
            </a:pPr>
            <a:endParaRPr lang="en-US" dirty="0"/>
          </a:p>
        </p:txBody>
      </p:sp>
    </p:spTree>
    <p:extLst>
      <p:ext uri="{BB962C8B-B14F-4D97-AF65-F5344CB8AC3E}">
        <p14:creationId xmlns:p14="http://schemas.microsoft.com/office/powerpoint/2010/main" val="2437850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3440" y="3258185"/>
            <a:ext cx="10515600" cy="1572895"/>
          </a:xfrm>
        </p:spPr>
        <p:txBody>
          <a:bodyPr>
            <a:normAutofit/>
          </a:bodyPr>
          <a:lstStyle/>
          <a:p>
            <a:pPr marL="0" indent="0" algn="ctr">
              <a:buNone/>
            </a:pPr>
            <a:r>
              <a:rPr lang="en-US" sz="6000" b="1" dirty="0" smtClean="0"/>
              <a:t>Question?</a:t>
            </a:r>
            <a:endParaRPr lang="en-US" sz="6000" b="1" dirty="0"/>
          </a:p>
        </p:txBody>
      </p:sp>
    </p:spTree>
    <p:extLst>
      <p:ext uri="{BB962C8B-B14F-4D97-AF65-F5344CB8AC3E}">
        <p14:creationId xmlns:p14="http://schemas.microsoft.com/office/powerpoint/2010/main" val="476927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Lecture 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543</TotalTime>
  <Words>1037</Words>
  <Application>Microsoft Office PowerPoint</Application>
  <PresentationFormat>Custom</PresentationFormat>
  <Paragraphs>55</Paragraphs>
  <Slides>18</Slides>
  <Notes>0</Notes>
  <HiddenSlides>0</HiddenSlides>
  <MMClips>0</MMClips>
  <ScaleCrop>false</ScaleCrop>
  <HeadingPairs>
    <vt:vector size="4" baseType="variant">
      <vt:variant>
        <vt:lpstr>Theme</vt:lpstr>
      </vt:variant>
      <vt:variant>
        <vt:i4>3</vt:i4>
      </vt:variant>
      <vt:variant>
        <vt:lpstr>Slide Titles</vt:lpstr>
      </vt:variant>
      <vt:variant>
        <vt:i4>18</vt:i4>
      </vt:variant>
    </vt:vector>
  </HeadingPairs>
  <TitlesOfParts>
    <vt:vector size="21" baseType="lpstr">
      <vt:lpstr>Office Theme</vt:lpstr>
      <vt:lpstr>Lecture 6</vt:lpstr>
      <vt:lpstr>1_Office Theme</vt:lpstr>
      <vt:lpstr>Operating-System Services</vt:lpstr>
      <vt:lpstr>Operating System services </vt:lpstr>
      <vt:lpstr>user interface (UI)</vt:lpstr>
      <vt:lpstr>PowerPoint Presentation</vt:lpstr>
      <vt:lpstr>Program execution.</vt:lpstr>
      <vt:lpstr>I/O operations</vt:lpstr>
      <vt:lpstr>File-system manipulation</vt:lpstr>
      <vt:lpstr>Communications</vt:lpstr>
      <vt:lpstr>PowerPoint Presentation</vt:lpstr>
      <vt:lpstr>Error detection</vt:lpstr>
      <vt:lpstr>PowerPoint Presentation</vt:lpstr>
      <vt:lpstr>PowerPoint Presentation</vt:lpstr>
      <vt:lpstr>Resource Allocation</vt:lpstr>
      <vt:lpstr>PowerPoint Presentation</vt:lpstr>
      <vt:lpstr>Accounting</vt:lpstr>
      <vt:lpstr>Protection and security</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Saima Kanwal</cp:lastModifiedBy>
  <cp:revision>160</cp:revision>
  <dcterms:created xsi:type="dcterms:W3CDTF">2024-06-21T09:49:00Z</dcterms:created>
  <dcterms:modified xsi:type="dcterms:W3CDTF">2025-02-18T12:42:40Z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D61AE8DE3F6049F98ADA58C240837B38_12</vt:lpwstr>
  </property>
  <property fmtid="{D5CDD505-2E9C-101B-9397-08002B2CF9AE}" pid="3" name="KSOProductBuildVer">
    <vt:lpwstr>1033-12.2.0.13472</vt:lpwstr>
  </property>
</Properties>
</file>