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46"/>
  </p:notesMasterIdLst>
  <p:sldIdLst>
    <p:sldId id="273" r:id="rId4"/>
    <p:sldId id="983" r:id="rId5"/>
    <p:sldId id="984" r:id="rId6"/>
    <p:sldId id="985" r:id="rId7"/>
    <p:sldId id="986" r:id="rId8"/>
    <p:sldId id="987" r:id="rId9"/>
    <p:sldId id="988" r:id="rId10"/>
    <p:sldId id="989" r:id="rId11"/>
    <p:sldId id="990" r:id="rId12"/>
    <p:sldId id="991" r:id="rId13"/>
    <p:sldId id="992" r:id="rId14"/>
    <p:sldId id="993" r:id="rId15"/>
    <p:sldId id="994" r:id="rId16"/>
    <p:sldId id="995" r:id="rId17"/>
    <p:sldId id="955" r:id="rId18"/>
    <p:sldId id="956" r:id="rId19"/>
    <p:sldId id="957" r:id="rId20"/>
    <p:sldId id="958" r:id="rId21"/>
    <p:sldId id="959" r:id="rId22"/>
    <p:sldId id="960" r:id="rId23"/>
    <p:sldId id="961" r:id="rId24"/>
    <p:sldId id="962" r:id="rId25"/>
    <p:sldId id="963" r:id="rId26"/>
    <p:sldId id="964" r:id="rId27"/>
    <p:sldId id="965" r:id="rId28"/>
    <p:sldId id="966" r:id="rId29"/>
    <p:sldId id="967" r:id="rId30"/>
    <p:sldId id="968" r:id="rId31"/>
    <p:sldId id="969" r:id="rId32"/>
    <p:sldId id="970" r:id="rId33"/>
    <p:sldId id="971" r:id="rId34"/>
    <p:sldId id="972" r:id="rId35"/>
    <p:sldId id="973" r:id="rId36"/>
    <p:sldId id="974" r:id="rId37"/>
    <p:sldId id="975" r:id="rId38"/>
    <p:sldId id="976" r:id="rId39"/>
    <p:sldId id="977" r:id="rId40"/>
    <p:sldId id="978" r:id="rId41"/>
    <p:sldId id="979" r:id="rId42"/>
    <p:sldId id="980" r:id="rId43"/>
    <p:sldId id="981" r:id="rId44"/>
    <p:sldId id="953" r:id="rId4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2140" autoAdjust="0"/>
  </p:normalViewPr>
  <p:slideViewPr>
    <p:cSldViewPr snapToGrid="0">
      <p:cViewPr>
        <p:scale>
          <a:sx n="90" d="100"/>
          <a:sy n="90" d="100"/>
        </p:scale>
        <p:origin x="-1644" y="-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3/13/2025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smtClean="0">
                <a:solidFill>
                  <a:schemeClr val="bg1"/>
                </a:solidFill>
              </a:rPr>
              <a:t>MUTX &amp; Deadlocks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902"/>
            <a:ext cx="10515600" cy="1325563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03612"/>
            <a:ext cx="10252038" cy="4549588"/>
          </a:xfrm>
        </p:spPr>
        <p:txBody>
          <a:bodyPr>
            <a:normAutofit/>
          </a:bodyPr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Short for 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MUT</a:t>
            </a:r>
            <a:r>
              <a:rPr lang="en-US" sz="2400" i="1" dirty="0" err="1" smtClean="0"/>
              <a:t>ual</a:t>
            </a:r>
            <a:r>
              <a:rPr lang="en-US" sz="2400" i="1" dirty="0" smtClean="0"/>
              <a:t> 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EX</a:t>
            </a:r>
            <a:r>
              <a:rPr lang="en-US" sz="2400" i="1" dirty="0" err="1" smtClean="0"/>
              <a:t>clusion</a:t>
            </a:r>
            <a:r>
              <a:rPr lang="en-US" sz="2400" i="1" dirty="0" smtClean="0"/>
              <a:t> object</a:t>
            </a:r>
            <a:r>
              <a:rPr lang="en-US" sz="2400" dirty="0" smtClean="0"/>
              <a:t>. 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In computer programming, a 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mutex</a:t>
            </a:r>
            <a:r>
              <a:rPr lang="en-US" sz="2400" dirty="0" smtClean="0"/>
              <a:t> is a program object that allows multiple program threads to share the same resource, such as file access, but not simultaneously. 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When a program is started, a </a:t>
            </a:r>
            <a:r>
              <a:rPr lang="en-US" sz="2400" b="1" i="1" dirty="0" err="1" smtClean="0">
                <a:solidFill>
                  <a:schemeClr val="accent1"/>
                </a:solidFill>
              </a:rPr>
              <a:t>mutex</a:t>
            </a:r>
            <a:r>
              <a:rPr lang="en-US" sz="2400" dirty="0" smtClean="0"/>
              <a:t> is created with a unique name. 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After this stage, any thread that needs the resource must lock the </a:t>
            </a:r>
            <a:r>
              <a:rPr lang="en-US" sz="2400" b="1" i="1" dirty="0" err="1" smtClean="0"/>
              <a:t>mutex</a:t>
            </a:r>
            <a:r>
              <a:rPr lang="en-US" sz="2400" dirty="0" smtClean="0"/>
              <a:t> from other threads while it is using the resource. 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b="1" i="1" dirty="0" err="1" smtClean="0"/>
              <a:t>mutex</a:t>
            </a:r>
            <a:r>
              <a:rPr lang="en-US" sz="2400" dirty="0" smtClean="0"/>
              <a:t> is set to unlock when the data is no longer needed or the routine is finished.</a:t>
            </a:r>
          </a:p>
        </p:txBody>
      </p:sp>
    </p:spTree>
    <p:extLst>
      <p:ext uri="{BB962C8B-B14F-4D97-AF65-F5344CB8AC3E}">
        <p14:creationId xmlns:p14="http://schemas.microsoft.com/office/powerpoint/2010/main" val="396784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739"/>
            <a:ext cx="10515600" cy="1325563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err="1" smtClean="0"/>
              <a:t>Mutex</a:t>
            </a:r>
            <a:r>
              <a:rPr lang="en-US" sz="2400" dirty="0" smtClean="0"/>
              <a:t> lock is used to protect the critical region and thus prevent race condition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A process must acquire the lock before entering a critical-section.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It release the lock when it exits the critical section.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acquire()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/>
              <a:t>function acquire the lock and the 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release()</a:t>
            </a:r>
            <a:r>
              <a:rPr lang="en-US" sz="2400" b="1" dirty="0" smtClean="0"/>
              <a:t> </a:t>
            </a:r>
            <a:r>
              <a:rPr lang="en-US" sz="2400" dirty="0" smtClean="0"/>
              <a:t>function release the lock.</a:t>
            </a:r>
          </a:p>
        </p:txBody>
      </p:sp>
    </p:spTree>
    <p:extLst>
      <p:ext uri="{BB962C8B-B14F-4D97-AF65-F5344CB8AC3E}">
        <p14:creationId xmlns:p14="http://schemas.microsoft.com/office/powerpoint/2010/main" val="172691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35" y="99311"/>
            <a:ext cx="10515600" cy="1325563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 err="1" smtClean="0"/>
              <a:t>mutex</a:t>
            </a:r>
            <a:r>
              <a:rPr lang="en-US" sz="2800" dirty="0" smtClean="0"/>
              <a:t> lock has a </a:t>
            </a:r>
            <a:r>
              <a:rPr lang="en-US" sz="2800" dirty="0" err="1" smtClean="0"/>
              <a:t>boolean</a:t>
            </a:r>
            <a:r>
              <a:rPr lang="en-US" sz="2800" dirty="0" smtClean="0"/>
              <a:t> variable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available</a:t>
            </a:r>
            <a:r>
              <a:rPr lang="en-US" sz="2800" b="1" dirty="0" smtClean="0">
                <a:cs typeface="Calibri" pitchFamily="34" charset="0"/>
              </a:rPr>
              <a:t> </a:t>
            </a:r>
            <a:r>
              <a:rPr lang="en-US" sz="2800" dirty="0" smtClean="0">
                <a:cs typeface="Calibri" pitchFamily="34" charset="0"/>
              </a:rPr>
              <a:t>whose value indicates if the lock is available or not.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cs typeface="Calibri" pitchFamily="34" charset="0"/>
              </a:rPr>
              <a:t>If the lock is available, a call to acquire() succeeds, and then the lock is considered unavailable.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cs typeface="Calibri" pitchFamily="34" charset="0"/>
              </a:rPr>
              <a:t>A process that attempts to acquire an unavailable lock is blocked until the lock is released.</a:t>
            </a:r>
          </a:p>
        </p:txBody>
      </p:sp>
    </p:spTree>
    <p:extLst>
      <p:ext uri="{BB962C8B-B14F-4D97-AF65-F5344CB8AC3E}">
        <p14:creationId xmlns:p14="http://schemas.microsoft.com/office/powerpoint/2010/main" val="1605272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991" y="111538"/>
            <a:ext cx="8183880" cy="1051560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2600" y="1981200"/>
            <a:ext cx="3931920" cy="438912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The definition of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acquire() </a:t>
            </a:r>
            <a:r>
              <a:rPr lang="en-US" sz="2400" dirty="0" smtClean="0"/>
              <a:t>is as follows: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acquire()</a:t>
            </a:r>
          </a:p>
          <a:p>
            <a:pPr>
              <a:buNone/>
            </a:pPr>
            <a:r>
              <a:rPr lang="en-US" sz="2400" dirty="0" smtClean="0"/>
              <a:t>{</a:t>
            </a:r>
          </a:p>
          <a:p>
            <a:pPr>
              <a:buNone/>
            </a:pPr>
            <a:r>
              <a:rPr lang="en-US" sz="2400" dirty="0" smtClean="0"/>
              <a:t>while (!available);</a:t>
            </a:r>
          </a:p>
          <a:p>
            <a:pPr>
              <a:buNone/>
            </a:pPr>
            <a:r>
              <a:rPr lang="en-US" sz="2400" dirty="0" smtClean="0"/>
              <a:t>available = false;</a:t>
            </a:r>
          </a:p>
          <a:p>
            <a:pPr>
              <a:buNone/>
            </a:pPr>
            <a:r>
              <a:rPr lang="en-US" sz="2400" dirty="0" smtClean="0"/>
              <a:t>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324600" y="1905000"/>
            <a:ext cx="3931920" cy="438912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definition of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release() </a:t>
            </a:r>
            <a:r>
              <a:rPr lang="en-US" sz="2800" dirty="0" smtClean="0"/>
              <a:t>is as follows: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release()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en-US" sz="2800" dirty="0" smtClean="0"/>
              <a:t>available = true;</a:t>
            </a:r>
          </a:p>
          <a:p>
            <a:pPr>
              <a:buNone/>
            </a:pPr>
            <a:r>
              <a:rPr lang="en-US" sz="28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739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04800"/>
            <a:ext cx="8183880" cy="1051560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C:\Users\Aesha Anwar\Documents\5_08_Locks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34437" y="1887071"/>
            <a:ext cx="3572434" cy="42616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96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7876" y="271026"/>
            <a:ext cx="8183880" cy="1051560"/>
          </a:xfrm>
        </p:spPr>
        <p:txBody>
          <a:bodyPr/>
          <a:lstStyle/>
          <a:p>
            <a:pPr algn="ctr"/>
            <a:r>
              <a:rPr lang="en-US" b="1" dirty="0" err="1" smtClean="0">
                <a:solidFill>
                  <a:schemeClr val="bg1"/>
                </a:solidFill>
              </a:rPr>
              <a:t>Mutex</a:t>
            </a:r>
            <a:r>
              <a:rPr lang="en-US" b="1" dirty="0" smtClean="0">
                <a:solidFill>
                  <a:schemeClr val="bg1"/>
                </a:solidFill>
              </a:rPr>
              <a:t> Lock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918" y="2097742"/>
            <a:ext cx="8874162" cy="3690410"/>
          </a:xfrm>
        </p:spPr>
        <p:txBody>
          <a:bodyPr/>
          <a:lstStyle/>
          <a:p>
            <a:r>
              <a:rPr lang="en-US" sz="2400" dirty="0" smtClean="0"/>
              <a:t>Calls to either acquire() or release() must be performed atomically.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1519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4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6258"/>
            <a:ext cx="10515600" cy="4351339"/>
          </a:xfrm>
        </p:spPr>
        <p:txBody>
          <a:bodyPr/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err="1"/>
              <a:t>Dijkestra</a:t>
            </a:r>
            <a:r>
              <a:rPr lang="en-US" sz="2800" dirty="0"/>
              <a:t> proposed a significant technique for managing concurrent processes for complex mutual exclusion problems. He introduced a new synchronization tool called Semaphore.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/>
              <a:t>Semaphores are of two types −</a:t>
            </a:r>
          </a:p>
          <a:p>
            <a:pPr marL="521208" lvl="1" indent="-2286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1"/>
                </a:solidFill>
              </a:rPr>
              <a:t>Binary semaphore</a:t>
            </a:r>
          </a:p>
          <a:p>
            <a:pPr marL="521208" lvl="1" indent="-2286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1"/>
                </a:solidFill>
              </a:rPr>
              <a:t>Counting semaphore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4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18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Counting </a:t>
            </a:r>
            <a:r>
              <a:rPr lang="en-US" b="1" dirty="0" smtClean="0">
                <a:solidFill>
                  <a:schemeClr val="bg1"/>
                </a:solidFill>
              </a:rPr>
              <a:t>Semaphores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These </a:t>
            </a:r>
            <a:r>
              <a:rPr lang="en-US" sz="2800" dirty="0"/>
              <a:t>are integer value semaphores and have an unrestricted value domain. </a:t>
            </a:r>
            <a:endParaRPr lang="en-US" sz="2800" dirty="0" smtClean="0"/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These </a:t>
            </a:r>
            <a:r>
              <a:rPr lang="en-US" sz="2800" dirty="0"/>
              <a:t>semaphores are used to coordinate the resource access, where the semaphore count is the number of available resources</a:t>
            </a:r>
            <a:r>
              <a:rPr lang="en-US" sz="2800" dirty="0" smtClean="0"/>
              <a:t>.</a:t>
            </a:r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If the resources are added, semaphore count automatically incremented and if the resources are removed, the count is decremented.</a:t>
            </a:r>
          </a:p>
        </p:txBody>
      </p:sp>
    </p:spTree>
    <p:extLst>
      <p:ext uri="{BB962C8B-B14F-4D97-AF65-F5344CB8AC3E}">
        <p14:creationId xmlns:p14="http://schemas.microsoft.com/office/powerpoint/2010/main" val="42564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guru99.com/images/1/120319_0858_WhatisSemap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83"/>
          <a:stretch/>
        </p:blipFill>
        <p:spPr bwMode="auto">
          <a:xfrm>
            <a:off x="551360" y="1331771"/>
            <a:ext cx="11088263" cy="425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17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098" y="17373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Binary </a:t>
            </a:r>
            <a:r>
              <a:rPr lang="en-US" b="1" dirty="0" smtClean="0">
                <a:solidFill>
                  <a:schemeClr val="bg1"/>
                </a:solidFill>
              </a:rPr>
              <a:t>Semaphores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3200" dirty="0"/>
              <a:t>The binary semaphores are like counting semaphores but their value is restricted to 0 and 1. </a:t>
            </a:r>
            <a:endParaRPr lang="en-US" sz="3200" dirty="0" smtClean="0"/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The </a:t>
            </a:r>
            <a:r>
              <a:rPr lang="en-US" sz="3200" dirty="0"/>
              <a:t>wait operation only works when the semaphore is 1 and the signal operation succeeds when semaphore is 0. </a:t>
            </a:r>
            <a:endParaRPr lang="en-US" sz="3200" dirty="0" smtClean="0"/>
          </a:p>
          <a:p>
            <a:pPr marL="228600" indent="-228600"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It </a:t>
            </a:r>
            <a:r>
              <a:rPr lang="en-US" sz="3200" dirty="0"/>
              <a:t>is sometimes easier to implement binary semaphores than counting semaphores.</a:t>
            </a:r>
          </a:p>
        </p:txBody>
      </p:sp>
    </p:spTree>
    <p:extLst>
      <p:ext uri="{BB962C8B-B14F-4D97-AF65-F5344CB8AC3E}">
        <p14:creationId xmlns:p14="http://schemas.microsoft.com/office/powerpoint/2010/main" val="178076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Cont.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456356" cy="402336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/>
              <a:t>WAIT</a:t>
            </a:r>
          </a:p>
          <a:p>
            <a:pPr algn="just"/>
            <a:r>
              <a:rPr lang="en-US" sz="2400" dirty="0" smtClean="0"/>
              <a:t>The </a:t>
            </a:r>
            <a:r>
              <a:rPr lang="en-US" sz="2400" dirty="0"/>
              <a:t>wait operation decrements the value of its argument S, if it is positive. If S is negative or zero, then no operation is performed.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521824" y="1845735"/>
            <a:ext cx="4633856" cy="402336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Signal</a:t>
            </a:r>
          </a:p>
          <a:p>
            <a:r>
              <a:rPr lang="en-US" sz="2400" dirty="0"/>
              <a:t>The signal operation increments the value of its argument 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688" y="3708027"/>
            <a:ext cx="2483224" cy="26384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47" y="3708026"/>
            <a:ext cx="2344271" cy="255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4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27370"/>
          <a:stretch/>
        </p:blipFill>
        <p:spPr>
          <a:xfrm>
            <a:off x="57486" y="1492083"/>
            <a:ext cx="12134514" cy="335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6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8865" y="2551813"/>
            <a:ext cx="5135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/>
              <a:t>DEADLOCK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83436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792" y="29221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65" y="1492625"/>
            <a:ext cx="11161059" cy="4814046"/>
          </a:xfrm>
        </p:spPr>
        <p:txBody>
          <a:bodyPr>
            <a:noAutofit/>
          </a:bodyPr>
          <a:lstStyle/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The earliest computer operating systems ran only one program at a time. 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All of the resources of the system were available to this one program. 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Later, operating systems ran multiple programs at once, interleaving them. 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Programs were required to specify in advance what resources they needed so that they could avoid conflicts with other programs running at the same time. </a:t>
            </a:r>
          </a:p>
        </p:txBody>
      </p:sp>
    </p:spTree>
    <p:extLst>
      <p:ext uri="{BB962C8B-B14F-4D97-AF65-F5344CB8AC3E}">
        <p14:creationId xmlns:p14="http://schemas.microsoft.com/office/powerpoint/2010/main" val="2764603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297514"/>
            <a:ext cx="10772775" cy="123513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Background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Eventually some operating systems offered dynamic allocation of resources. </a:t>
            </a:r>
          </a:p>
          <a:p>
            <a: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Programs could request further allocations of resources after they had begun running.</a:t>
            </a:r>
          </a:p>
          <a:p>
            <a: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This led to the problem of the deadlock. </a:t>
            </a:r>
          </a:p>
        </p:txBody>
      </p:sp>
    </p:spTree>
    <p:extLst>
      <p:ext uri="{BB962C8B-B14F-4D97-AF65-F5344CB8AC3E}">
        <p14:creationId xmlns:p14="http://schemas.microsoft.com/office/powerpoint/2010/main" val="29768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122" y="286882"/>
            <a:ext cx="10772775" cy="107377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761565"/>
            <a:ext cx="10753725" cy="4258347"/>
          </a:xfrm>
        </p:spPr>
        <p:txBody>
          <a:bodyPr>
            <a:normAutofit/>
          </a:bodyPr>
          <a:lstStyle/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In a multiprogramming environment, several processes may compete for </a:t>
            </a:r>
            <a:r>
              <a:rPr lang="en-US" sz="2800" dirty="0" smtClean="0"/>
              <a:t>a finite </a:t>
            </a:r>
            <a:r>
              <a:rPr lang="en-US" sz="2800" dirty="0"/>
              <a:t>number of resources. </a:t>
            </a:r>
            <a:endParaRPr lang="en-US" sz="2800" dirty="0" smtClean="0"/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/>
              <a:t>process requests resources; if the resources </a:t>
            </a:r>
            <a:r>
              <a:rPr lang="en-US" sz="2800" dirty="0" smtClean="0"/>
              <a:t>are not </a:t>
            </a:r>
            <a:r>
              <a:rPr lang="en-US" sz="2800" dirty="0"/>
              <a:t>available at that time, the process enters a waiting state. </a:t>
            </a:r>
            <a:endParaRPr lang="en-US" sz="2800" dirty="0" smtClean="0"/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Sometimes</a:t>
            </a:r>
            <a:r>
              <a:rPr lang="en-US" sz="2800" dirty="0"/>
              <a:t>, </a:t>
            </a:r>
            <a:r>
              <a:rPr lang="en-US" sz="2800" dirty="0" smtClean="0"/>
              <a:t>a waiting </a:t>
            </a:r>
            <a:r>
              <a:rPr lang="en-US" sz="2800" dirty="0"/>
              <a:t>process is never again able to change state, because the resources </a:t>
            </a:r>
            <a:r>
              <a:rPr lang="en-US" sz="2800" dirty="0" smtClean="0"/>
              <a:t>it has </a:t>
            </a:r>
            <a:r>
              <a:rPr lang="en-US" sz="2800" dirty="0"/>
              <a:t>requested are held by other waiting processes. </a:t>
            </a:r>
            <a:endParaRPr lang="en-US" sz="2800" dirty="0" smtClean="0"/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This </a:t>
            </a:r>
            <a:r>
              <a:rPr lang="en-US" sz="2800" dirty="0"/>
              <a:t>situation is </a:t>
            </a:r>
            <a:r>
              <a:rPr lang="en-US" sz="2800" dirty="0" smtClean="0"/>
              <a:t>called a </a:t>
            </a:r>
            <a:r>
              <a:rPr lang="en-US" sz="2800" dirty="0"/>
              <a:t>deadlock.</a:t>
            </a:r>
          </a:p>
        </p:txBody>
      </p:sp>
      <p:pic>
        <p:nvPicPr>
          <p:cNvPr id="1026" name="Picture 2" descr="Image result for multiprogramming environmen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32" t="36729" r="3621" b="13744"/>
          <a:stretch/>
        </p:blipFill>
        <p:spPr bwMode="auto">
          <a:xfrm>
            <a:off x="9324305" y="4342477"/>
            <a:ext cx="2867696" cy="251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205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42" y="160337"/>
            <a:ext cx="10772775" cy="107377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761565"/>
            <a:ext cx="10753725" cy="4258347"/>
          </a:xfrm>
        </p:spPr>
        <p:txBody>
          <a:bodyPr>
            <a:normAutofit fontScale="92500" lnSpcReduction="10000"/>
          </a:bodyPr>
          <a:lstStyle/>
          <a:p>
            <a:pPr marL="282575" indent="-282575" algn="just">
              <a:buClr>
                <a:schemeClr val="accent1"/>
              </a:buClr>
              <a:buFont typeface="Wingdings" pitchFamily="2" charset="2"/>
              <a:buChar char="q"/>
            </a:pPr>
            <a:r>
              <a:rPr lang="en-US" dirty="0"/>
              <a:t>Examples of computer resources </a:t>
            </a:r>
          </a:p>
          <a:p>
            <a:pPr marL="282575" indent="-282575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US" dirty="0"/>
              <a:t>Printers</a:t>
            </a:r>
          </a:p>
          <a:p>
            <a:pPr marL="282575" indent="-282575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US" dirty="0" smtClean="0"/>
              <a:t>Storage</a:t>
            </a:r>
            <a:endParaRPr lang="en-US" dirty="0"/>
          </a:p>
          <a:p>
            <a:pPr marL="282575" indent="-282575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US" dirty="0"/>
              <a:t>Tables in a database</a:t>
            </a:r>
          </a:p>
          <a:p>
            <a:pPr marL="282575" indent="-282575" algn="just">
              <a:buClr>
                <a:schemeClr val="accent1"/>
              </a:buClr>
              <a:buFont typeface="Wingdings" pitchFamily="2" charset="2"/>
              <a:buChar char="q"/>
            </a:pPr>
            <a:r>
              <a:rPr lang="en-US" dirty="0"/>
              <a:t>A process must request a resource before using it and must release the resource after using it.</a:t>
            </a:r>
          </a:p>
          <a:p>
            <a:pPr marL="282575" indent="-282575" algn="just">
              <a:buClr>
                <a:schemeClr val="accent1"/>
              </a:buClr>
              <a:buFont typeface="Wingdings" pitchFamily="2" charset="2"/>
              <a:buChar char="q"/>
            </a:pPr>
            <a:r>
              <a:rPr lang="en-US" dirty="0"/>
              <a:t> A process may request as many resources as it requires to carry out its designated task.</a:t>
            </a:r>
          </a:p>
          <a:p>
            <a:pPr marL="282575" indent="-282575" algn="just">
              <a:buClr>
                <a:schemeClr val="accent1"/>
              </a:buClr>
              <a:buFont typeface="Wingdings" pitchFamily="2" charset="2"/>
              <a:buChar char="q"/>
            </a:pPr>
            <a:r>
              <a:rPr lang="en-US" dirty="0"/>
              <a:t>The number of resources requested may not exceed the total number of resources available in the system.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0" y="2336778"/>
            <a:ext cx="1428749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Image result for CPU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8" r="17028"/>
          <a:stretch/>
        </p:blipFill>
        <p:spPr bwMode="auto">
          <a:xfrm rot="20766352">
            <a:off x="11045271" y="1250460"/>
            <a:ext cx="912913" cy="94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computer stor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719" y="1246704"/>
            <a:ext cx="1347281" cy="109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printer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5" b="13856"/>
          <a:stretch/>
        </p:blipFill>
        <p:spPr bwMode="auto">
          <a:xfrm>
            <a:off x="9319019" y="2336778"/>
            <a:ext cx="1254815" cy="9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0" descr="Image result for shared resources in compu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2" descr="Image result for shared resources in compu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" t="3248" r="2101"/>
          <a:stretch/>
        </p:blipFill>
        <p:spPr bwMode="auto">
          <a:xfrm>
            <a:off x="7384530" y="2024834"/>
            <a:ext cx="1519707" cy="135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3" name="Picture 15" descr="Image result for shared resources in computer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9" r="18392"/>
          <a:stretch/>
        </p:blipFill>
        <p:spPr bwMode="auto">
          <a:xfrm>
            <a:off x="8441386" y="1167854"/>
            <a:ext cx="925702" cy="9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Image result for table in databas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571" y="1145738"/>
            <a:ext cx="1684700" cy="106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586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489" y="297515"/>
            <a:ext cx="10772775" cy="101998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System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680882"/>
            <a:ext cx="10753725" cy="4096983"/>
          </a:xfrm>
        </p:spPr>
        <p:txBody>
          <a:bodyPr/>
          <a:lstStyle/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A system consists of a finite number of resources to be distributed among </a:t>
            </a:r>
            <a:r>
              <a:rPr lang="en-US" dirty="0" smtClean="0">
                <a:solidFill>
                  <a:schemeClr val="tx1"/>
                </a:solidFill>
              </a:rPr>
              <a:t>a number </a:t>
            </a:r>
            <a:r>
              <a:rPr lang="en-US" dirty="0">
                <a:solidFill>
                  <a:schemeClr val="tx1"/>
                </a:solidFill>
              </a:rPr>
              <a:t>of competing </a:t>
            </a:r>
            <a:r>
              <a:rPr lang="en-US" dirty="0" smtClean="0">
                <a:solidFill>
                  <a:schemeClr val="tx1"/>
                </a:solidFill>
              </a:rPr>
              <a:t>processes.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resources may be partitioned into </a:t>
            </a:r>
            <a:r>
              <a:rPr lang="en-US" dirty="0" smtClean="0">
                <a:solidFill>
                  <a:schemeClr val="tx1"/>
                </a:solidFill>
              </a:rPr>
              <a:t>several </a:t>
            </a:r>
            <a:r>
              <a:rPr lang="en-US" dirty="0">
                <a:solidFill>
                  <a:schemeClr val="tx1"/>
                </a:solidFill>
              </a:rPr>
              <a:t>types (or classes), each consisting of some number of identical instances. </a:t>
            </a:r>
            <a:endParaRPr lang="en-US" dirty="0" smtClean="0">
              <a:solidFill>
                <a:schemeClr val="tx1"/>
              </a:solidFill>
            </a:endParaRP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CPU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cycles</a:t>
            </a:r>
            <a:r>
              <a:rPr lang="en-US" dirty="0">
                <a:solidFill>
                  <a:schemeClr val="tx1"/>
                </a:solidFill>
              </a:rPr>
              <a:t>, files, and I/O devices (such as printers and DVD drives) are examples </a:t>
            </a:r>
            <a:r>
              <a:rPr lang="en-US" dirty="0" smtClean="0">
                <a:solidFill>
                  <a:schemeClr val="tx1"/>
                </a:solidFill>
              </a:rPr>
              <a:t>of resource </a:t>
            </a:r>
            <a:r>
              <a:rPr lang="en-US" dirty="0">
                <a:solidFill>
                  <a:schemeClr val="tx1"/>
                </a:solidFill>
              </a:rPr>
              <a:t>types. </a:t>
            </a:r>
            <a:endParaRPr lang="en-US" dirty="0" smtClean="0">
              <a:solidFill>
                <a:schemeClr val="tx1"/>
              </a:solidFill>
            </a:endParaRP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chemeClr val="tx1"/>
                </a:solidFill>
              </a:rPr>
              <a:t>a system has two CPUs, then the resource type </a:t>
            </a:r>
            <a:r>
              <a:rPr lang="en-US" i="1" dirty="0">
                <a:solidFill>
                  <a:schemeClr val="tx1"/>
                </a:solidFill>
              </a:rPr>
              <a:t>CPU </a:t>
            </a:r>
            <a:r>
              <a:rPr lang="en-US" dirty="0">
                <a:solidFill>
                  <a:schemeClr val="tx1"/>
                </a:solidFill>
              </a:rPr>
              <a:t>has </a:t>
            </a:r>
            <a:r>
              <a:rPr lang="en-US" dirty="0" smtClean="0">
                <a:solidFill>
                  <a:schemeClr val="tx1"/>
                </a:solidFill>
              </a:rPr>
              <a:t>two instances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Similarly</a:t>
            </a:r>
            <a:r>
              <a:rPr lang="en-US" dirty="0">
                <a:solidFill>
                  <a:schemeClr val="tx1"/>
                </a:solidFill>
              </a:rPr>
              <a:t>, the resource type </a:t>
            </a:r>
            <a:r>
              <a:rPr lang="en-US" i="1" dirty="0">
                <a:solidFill>
                  <a:schemeClr val="tx1"/>
                </a:solidFill>
              </a:rPr>
              <a:t>printer </a:t>
            </a:r>
            <a:r>
              <a:rPr lang="en-US" dirty="0">
                <a:solidFill>
                  <a:schemeClr val="tx1"/>
                </a:solidFill>
              </a:rPr>
              <a:t>may have five instances.</a:t>
            </a:r>
          </a:p>
        </p:txBody>
      </p:sp>
    </p:spTree>
    <p:extLst>
      <p:ext uri="{BB962C8B-B14F-4D97-AF65-F5344CB8AC3E}">
        <p14:creationId xmlns:p14="http://schemas.microsoft.com/office/powerpoint/2010/main" val="3275733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244351"/>
            <a:ext cx="10772775" cy="107377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Resources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761565"/>
            <a:ext cx="10753725" cy="4258347"/>
          </a:xfrm>
        </p:spPr>
        <p:txBody>
          <a:bodyPr/>
          <a:lstStyle/>
          <a:p>
            <a:pPr marL="174625" indent="-17462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Under the normal mode of operation, a process may utilize a resource in only the following sequence:</a:t>
            </a:r>
          </a:p>
          <a:p>
            <a:pPr marL="174625" indent="-17462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1. Request</a:t>
            </a:r>
            <a:r>
              <a:rPr lang="en-US" dirty="0"/>
              <a:t>: If the request cannot be granted immediately (for example, if the resource is being used by another process), then the requesting process must wait until it can acquire the resource.</a:t>
            </a:r>
          </a:p>
          <a:p>
            <a:pPr marL="174625" indent="-17462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2. Use: </a:t>
            </a:r>
            <a:r>
              <a:rPr lang="en-US" dirty="0"/>
              <a:t>The process can operate on the resource (for example, if the resource is a printer, the process can print on the printer).</a:t>
            </a:r>
          </a:p>
          <a:p>
            <a:pPr marL="174625" indent="-17462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3. Release: </a:t>
            </a:r>
            <a:r>
              <a:rPr lang="en-US" dirty="0"/>
              <a:t>The process releases the resource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354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59" y="276250"/>
            <a:ext cx="10772775" cy="107377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Deadlock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761565"/>
            <a:ext cx="10753725" cy="4258347"/>
          </a:xfrm>
        </p:spPr>
        <p:txBody>
          <a:bodyPr>
            <a:normAutofit/>
          </a:bodyPr>
          <a:lstStyle/>
          <a:p>
            <a:pPr algn="ctr"/>
            <a:r>
              <a:rPr lang="en-US" sz="5400" i="1" dirty="0"/>
              <a:t>“A situation in which a set of blocked processes each holding a resource and waiting to acquire a resource held by another process in the set is called deadlock</a:t>
            </a:r>
            <a:r>
              <a:rPr lang="en-US" sz="5400" i="1" dirty="0" smtClean="0"/>
              <a:t>.”</a:t>
            </a:r>
            <a:endParaRPr lang="en-US" sz="5400" i="1" dirty="0"/>
          </a:p>
        </p:txBody>
      </p:sp>
    </p:spTree>
    <p:extLst>
      <p:ext uri="{BB962C8B-B14F-4D97-AF65-F5344CB8AC3E}">
        <p14:creationId xmlns:p14="http://schemas.microsoft.com/office/powerpoint/2010/main" val="790502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929" y="253409"/>
            <a:ext cx="9537551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565" y="1600200"/>
            <a:ext cx="9622715" cy="4187952"/>
          </a:xfrm>
        </p:spPr>
        <p:txBody>
          <a:bodyPr/>
          <a:lstStyle/>
          <a:p>
            <a:r>
              <a:rPr lang="en-US" b="1" dirty="0"/>
              <a:t>Program 1 </a:t>
            </a:r>
            <a:r>
              <a:rPr lang="en-US" dirty="0"/>
              <a:t>requests resource A and receives it. </a:t>
            </a:r>
          </a:p>
          <a:p>
            <a:r>
              <a:rPr lang="en-US" b="1" dirty="0"/>
              <a:t>Program 2 </a:t>
            </a:r>
            <a:r>
              <a:rPr lang="en-US" dirty="0"/>
              <a:t>requests resource B and receives it. </a:t>
            </a:r>
          </a:p>
          <a:p>
            <a:r>
              <a:rPr lang="en-US" b="1" dirty="0"/>
              <a:t>Program 1 </a:t>
            </a:r>
            <a:r>
              <a:rPr lang="en-US" dirty="0"/>
              <a:t>requests resource B and is queued up, pending the release of B. </a:t>
            </a:r>
          </a:p>
          <a:p>
            <a:r>
              <a:rPr lang="en-US" b="1" dirty="0"/>
              <a:t>Program 2 </a:t>
            </a:r>
            <a:r>
              <a:rPr lang="en-US" dirty="0"/>
              <a:t>requests resource A and is queued up, pending the release of A. 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Example: </a:t>
            </a:r>
            <a:r>
              <a:rPr lang="en-US" dirty="0"/>
              <a:t>System has 2 tape drives. P0 and P1 each hold one tape drive and each needs another one.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840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0480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 smtClean="0">
                <a:solidFill>
                  <a:schemeClr val="bg1"/>
                </a:solidFill>
              </a:rPr>
              <a:t>Bridge Crossing Example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3" name="Group 4"/>
          <p:cNvGrpSpPr>
            <a:grpSpLocks noGrp="1"/>
          </p:cNvGrpSpPr>
          <p:nvPr/>
        </p:nvGrpSpPr>
        <p:grpSpPr bwMode="auto">
          <a:xfrm>
            <a:off x="3124201" y="1600200"/>
            <a:ext cx="5668963" cy="1524000"/>
            <a:chOff x="798" y="1008"/>
            <a:chExt cx="3954" cy="864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816" y="1008"/>
              <a:ext cx="3936" cy="240"/>
              <a:chOff x="672" y="1008"/>
              <a:chExt cx="3936" cy="240"/>
            </a:xfrm>
          </p:grpSpPr>
          <p:sp>
            <p:nvSpPr>
              <p:cNvPr id="29" name="Line 6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7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8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9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10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 flipV="1">
              <a:off x="816" y="1632"/>
              <a:ext cx="3936" cy="240"/>
              <a:chOff x="672" y="1008"/>
              <a:chExt cx="3936" cy="240"/>
            </a:xfrm>
          </p:grpSpPr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3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4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5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16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512" y="1614"/>
              <a:ext cx="288" cy="162"/>
              <a:chOff x="1056" y="1614"/>
              <a:chExt cx="288" cy="162"/>
            </a:xfrm>
          </p:grpSpPr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sp>
          <p:nvSpPr>
            <p:cNvPr id="8" name="Line 20"/>
            <p:cNvSpPr>
              <a:spLocks noChangeShapeType="1"/>
            </p:cNvSpPr>
            <p:nvPr/>
          </p:nvSpPr>
          <p:spPr bwMode="auto">
            <a:xfrm>
              <a:off x="798" y="1428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1"/>
            <p:cNvSpPr>
              <a:spLocks noChangeShapeType="1"/>
            </p:cNvSpPr>
            <p:nvPr/>
          </p:nvSpPr>
          <p:spPr bwMode="auto">
            <a:xfrm>
              <a:off x="3444" y="1422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2382" y="1344"/>
              <a:ext cx="288" cy="162"/>
              <a:chOff x="1056" y="1614"/>
              <a:chExt cx="288" cy="162"/>
            </a:xfrm>
          </p:grpSpPr>
          <p:sp>
            <p:nvSpPr>
              <p:cNvPr id="20" name="Rectangle 23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21" name="Rectangle 24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 flipH="1">
              <a:off x="2838" y="1344"/>
              <a:ext cx="288" cy="162"/>
              <a:chOff x="1056" y="1614"/>
              <a:chExt cx="288" cy="162"/>
            </a:xfrm>
          </p:grpSpPr>
          <p:sp>
            <p:nvSpPr>
              <p:cNvPr id="18" name="Rectangle 26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9" name="Rectangle 27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1" name="Group 28"/>
            <p:cNvGrpSpPr>
              <a:grpSpLocks/>
            </p:cNvGrpSpPr>
            <p:nvPr/>
          </p:nvGrpSpPr>
          <p:grpSpPr bwMode="auto">
            <a:xfrm flipH="1">
              <a:off x="3822" y="1140"/>
              <a:ext cx="288" cy="162"/>
              <a:chOff x="1056" y="1614"/>
              <a:chExt cx="288" cy="162"/>
            </a:xfrm>
          </p:grpSpPr>
          <p:sp>
            <p:nvSpPr>
              <p:cNvPr id="16" name="Rectangle 29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7" name="Rectangle 30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 flipH="1">
              <a:off x="4248" y="1140"/>
              <a:ext cx="288" cy="162"/>
              <a:chOff x="1056" y="1614"/>
              <a:chExt cx="288" cy="162"/>
            </a:xfrm>
          </p:grpSpPr>
          <p:sp>
            <p:nvSpPr>
              <p:cNvPr id="14" name="Rectangle 32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15" name="Rectangle 33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</p:grpSp>
      <p:sp>
        <p:nvSpPr>
          <p:cNvPr id="34" name="Rectangle 33"/>
          <p:cNvSpPr/>
          <p:nvPr/>
        </p:nvSpPr>
        <p:spPr>
          <a:xfrm>
            <a:off x="1699152" y="3685115"/>
            <a:ext cx="911262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2800" dirty="0"/>
              <a:t>Traffic only in one direction.</a:t>
            </a:r>
          </a:p>
          <a:p>
            <a:pPr marL="457200" indent="-457200" algn="just"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2800" dirty="0"/>
              <a:t>Each section of a bridge can be viewed as a resource.</a:t>
            </a:r>
          </a:p>
          <a:p>
            <a:pPr marL="457200" indent="-457200" algn="just"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2800" dirty="0"/>
              <a:t>If a deadlock occurs, it can be resolved if one car backs up (preempt resources and rollback).</a:t>
            </a:r>
          </a:p>
          <a:p>
            <a:pPr marL="457200" indent="-457200" algn="just"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2800" dirty="0"/>
              <a:t>Several cars may have to be backed up if a deadlock occurs.</a:t>
            </a:r>
          </a:p>
          <a:p>
            <a:pPr marL="457200" indent="-457200" algn="just"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en-US" sz="2800" b="1" i="1" dirty="0"/>
              <a:t>Starvation</a:t>
            </a:r>
            <a:r>
              <a:rPr lang="en-US" altLang="en-US" sz="2800" dirty="0"/>
              <a:t> is possible.</a:t>
            </a:r>
          </a:p>
        </p:txBody>
      </p:sp>
    </p:spTree>
    <p:extLst>
      <p:ext uri="{BB962C8B-B14F-4D97-AF65-F5344CB8AC3E}">
        <p14:creationId xmlns:p14="http://schemas.microsoft.com/office/powerpoint/2010/main" val="2738946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deadlo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3320" y="1041990"/>
            <a:ext cx="7754679" cy="58160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3105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Image result for deadlo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6484" y="1081862"/>
            <a:ext cx="7701517" cy="5776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8598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59" y="223086"/>
            <a:ext cx="10772775" cy="122169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System </a:t>
            </a:r>
            <a:r>
              <a:rPr lang="en-US" b="1" dirty="0" smtClean="0">
                <a:solidFill>
                  <a:schemeClr val="bg1"/>
                </a:solidFill>
              </a:rPr>
              <a:t>Model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4625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A set of processes is in a deadlocked state when every process in the set </a:t>
            </a:r>
            <a:r>
              <a:rPr lang="en-US" dirty="0" smtClean="0"/>
              <a:t>is waiting </a:t>
            </a:r>
            <a:r>
              <a:rPr lang="en-US" dirty="0"/>
              <a:t>for an event that can be caused only by another process in the </a:t>
            </a:r>
            <a:r>
              <a:rPr lang="en-US" dirty="0" smtClean="0"/>
              <a:t>set.</a:t>
            </a:r>
          </a:p>
          <a:p>
            <a:pPr marL="174625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events with which we are mainly concerned here are resource acquisition </a:t>
            </a:r>
            <a:r>
              <a:rPr lang="en-US" dirty="0" smtClean="0"/>
              <a:t>and release</a:t>
            </a:r>
            <a:r>
              <a:rPr lang="en-US" dirty="0"/>
              <a:t>. </a:t>
            </a:r>
            <a:endParaRPr lang="en-US" dirty="0" smtClean="0"/>
          </a:p>
          <a:p>
            <a:pPr marL="174625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resources may be either physical resources (for example, </a:t>
            </a:r>
            <a:r>
              <a:rPr lang="en-US" dirty="0" smtClean="0"/>
              <a:t>printers, tape </a:t>
            </a:r>
            <a:r>
              <a:rPr lang="en-US" dirty="0"/>
              <a:t>drives, memory space, and CPU cycles) or logical resources (for </a:t>
            </a:r>
            <a:r>
              <a:rPr lang="en-US" dirty="0" smtClean="0"/>
              <a:t>example, semaphores</a:t>
            </a:r>
            <a:r>
              <a:rPr lang="en-US" dirty="0"/>
              <a:t>, </a:t>
            </a:r>
            <a:r>
              <a:rPr lang="en-US" dirty="0" err="1"/>
              <a:t>mutex</a:t>
            </a:r>
            <a:r>
              <a:rPr lang="en-US" dirty="0"/>
              <a:t> locks, and files). </a:t>
            </a:r>
            <a:endParaRPr lang="en-US" dirty="0" smtClean="0"/>
          </a:p>
          <a:p>
            <a:pPr marL="174625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However</a:t>
            </a:r>
            <a:r>
              <a:rPr lang="en-US" dirty="0"/>
              <a:t>, other types of events may </a:t>
            </a:r>
            <a:r>
              <a:rPr lang="en-US" dirty="0" smtClean="0"/>
              <a:t>result in </a:t>
            </a:r>
            <a:r>
              <a:rPr lang="en-US" dirty="0"/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2656973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592" y="350677"/>
            <a:ext cx="10772775" cy="1100667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Deadlock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To illustrate a deadlocked state, consider a system with three CD </a:t>
            </a:r>
            <a:r>
              <a:rPr lang="en-US" dirty="0" err="1" smtClean="0"/>
              <a:t>RWdrives</a:t>
            </a:r>
            <a:r>
              <a:rPr lang="en-US" dirty="0" smtClean="0"/>
              <a:t>. </a:t>
            </a:r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Suppose </a:t>
            </a:r>
            <a:r>
              <a:rPr lang="en-US" dirty="0"/>
              <a:t>each of three processes holds one of these </a:t>
            </a:r>
            <a:r>
              <a:rPr lang="en-US" dirty="0" err="1"/>
              <a:t>CDRWdrives</a:t>
            </a:r>
            <a:r>
              <a:rPr lang="en-US" dirty="0" smtClean="0"/>
              <a:t>.</a:t>
            </a:r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/>
              <a:t>If each </a:t>
            </a:r>
            <a:r>
              <a:rPr lang="en-US" dirty="0" smtClean="0"/>
              <a:t>process now </a:t>
            </a:r>
            <a:r>
              <a:rPr lang="en-US" dirty="0"/>
              <a:t>requests another drive, the three processes will be in a deadlocked </a:t>
            </a:r>
            <a:r>
              <a:rPr lang="en-US" dirty="0" smtClean="0"/>
              <a:t>state. </a:t>
            </a:r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Each </a:t>
            </a:r>
            <a:r>
              <a:rPr lang="en-US" dirty="0"/>
              <a:t>is waiting for the event “CD RW is released,” which can be caused </a:t>
            </a:r>
            <a:r>
              <a:rPr lang="en-US" dirty="0" smtClean="0"/>
              <a:t>only by </a:t>
            </a:r>
            <a:r>
              <a:rPr lang="en-US" dirty="0"/>
              <a:t>one of the other waiting processes. </a:t>
            </a:r>
            <a:endParaRPr lang="en-US" dirty="0" smtClean="0"/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example illustrates a </a:t>
            </a:r>
            <a:r>
              <a:rPr lang="en-US" dirty="0" smtClean="0"/>
              <a:t>deadlock involving </a:t>
            </a:r>
            <a:r>
              <a:rPr lang="en-US" dirty="0"/>
              <a:t>the same resource type.</a:t>
            </a:r>
          </a:p>
        </p:txBody>
      </p:sp>
    </p:spTree>
    <p:extLst>
      <p:ext uri="{BB962C8B-B14F-4D97-AF65-F5344CB8AC3E}">
        <p14:creationId xmlns:p14="http://schemas.microsoft.com/office/powerpoint/2010/main" val="3647931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 smtClean="0">
                <a:solidFill>
                  <a:schemeClr val="bg1"/>
                </a:solidFill>
              </a:rPr>
              <a:t>DEADLOCK CHARACTERISATION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871" y="1676400"/>
            <a:ext cx="9116209" cy="4187952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In a deadlock, processes never finish executing, and system resources are tied up, preventing other jobs from starting.</a:t>
            </a:r>
          </a:p>
          <a:p>
            <a:pPr algn="just"/>
            <a:r>
              <a:rPr lang="en-US" sz="2800" dirty="0" smtClean="0"/>
              <a:t>A deadlock situation can arise if the following four conditions hold simultaneously in a system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b="1" dirty="0"/>
              <a:t>Mutual Exclusion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b="1" dirty="0"/>
              <a:t>Hold and wait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b="1" dirty="0"/>
              <a:t>No preemption</a:t>
            </a:r>
          </a:p>
          <a:p>
            <a:pPr algn="just">
              <a:buClr>
                <a:schemeClr val="accent1"/>
              </a:buClr>
              <a:buFont typeface="Wingdings" pitchFamily="2" charset="2"/>
              <a:buChar char="Ø"/>
            </a:pPr>
            <a:r>
              <a:rPr lang="en-US" sz="2800" b="1" dirty="0"/>
              <a:t>Circular Wait</a:t>
            </a:r>
          </a:p>
        </p:txBody>
      </p:sp>
    </p:spTree>
    <p:extLst>
      <p:ext uri="{BB962C8B-B14F-4D97-AF65-F5344CB8AC3E}">
        <p14:creationId xmlns:p14="http://schemas.microsoft.com/office/powerpoint/2010/main" val="1817478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18388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Necessary Conditions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825" y="1815352"/>
            <a:ext cx="10919010" cy="3896599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>
                <a:solidFill>
                  <a:schemeClr val="accent1"/>
                </a:solidFill>
              </a:rPr>
              <a:t>Mutual exclusion: </a:t>
            </a:r>
            <a:r>
              <a:rPr lang="en-US" sz="3200" dirty="0" smtClean="0"/>
              <a:t>At least one resource must be held in a non-sharable mode; that is, only one process at a time can use the resource.</a:t>
            </a:r>
          </a:p>
          <a:p>
            <a:pPr algn="just"/>
            <a:r>
              <a:rPr lang="en-US" sz="3200" dirty="0" smtClean="0"/>
              <a:t>If another process requests that resource, the requesting process must be delayed until the resource has been released.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3740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9302" y="350875"/>
            <a:ext cx="818388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Necessary Conditions (Cont.)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29" y="1676400"/>
            <a:ext cx="11241742" cy="418795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 smtClean="0">
                <a:solidFill>
                  <a:schemeClr val="accent1"/>
                </a:solidFill>
              </a:rPr>
              <a:t>Hold and wait: </a:t>
            </a:r>
            <a:r>
              <a:rPr lang="en-US" sz="3600" dirty="0" smtClean="0"/>
              <a:t>A process must be holding at least one resource and waiting to acquire additional resources that are currently being held by other processes.</a:t>
            </a:r>
          </a:p>
          <a:p>
            <a:pPr algn="just"/>
            <a:r>
              <a:rPr lang="en-US" sz="3600" b="1" dirty="0" smtClean="0">
                <a:solidFill>
                  <a:schemeClr val="accent1"/>
                </a:solidFill>
              </a:rPr>
              <a:t>No preemption:</a:t>
            </a:r>
            <a:r>
              <a:rPr lang="en-US" sz="3600" b="1" dirty="0" smtClean="0"/>
              <a:t> </a:t>
            </a:r>
            <a:r>
              <a:rPr lang="en-US" sz="3600" dirty="0" smtClean="0"/>
              <a:t>Resources cannot be preempted; that is, a resource can be released only voluntarily by the process holding it, after that process has completed its task.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58834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27" y="393207"/>
            <a:ext cx="10772775" cy="101998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Necessary Conditions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>
                <a:solidFill>
                  <a:schemeClr val="accent1"/>
                </a:solidFill>
              </a:rPr>
              <a:t>Circular </a:t>
            </a:r>
            <a:r>
              <a:rPr lang="en-US" sz="3200" b="1" dirty="0" smtClean="0">
                <a:solidFill>
                  <a:schemeClr val="accent1"/>
                </a:solidFill>
              </a:rPr>
              <a:t>wait </a:t>
            </a:r>
            <a:r>
              <a:rPr lang="en-US" sz="3200" dirty="0" smtClean="0"/>
              <a:t>A </a:t>
            </a:r>
            <a:r>
              <a:rPr lang="en-US" sz="3200" dirty="0"/>
              <a:t>set {P0, P1, ..., </a:t>
            </a:r>
            <a:r>
              <a:rPr lang="en-US" sz="3200" dirty="0" err="1"/>
              <a:t>Pn</a:t>
            </a:r>
            <a:r>
              <a:rPr lang="en-US" sz="3200" dirty="0"/>
              <a:t>} of waiting processes must exist </a:t>
            </a:r>
            <a:r>
              <a:rPr lang="en-US" sz="3200" dirty="0" smtClean="0"/>
              <a:t>such that </a:t>
            </a:r>
            <a:r>
              <a:rPr lang="en-US" sz="3200" dirty="0"/>
              <a:t>P0 is waiting for a resource held by P1, P1 is waiting for a </a:t>
            </a:r>
            <a:r>
              <a:rPr lang="en-US" sz="3200" dirty="0" smtClean="0"/>
              <a:t>resource held </a:t>
            </a:r>
            <a:r>
              <a:rPr lang="en-US" sz="3200" dirty="0"/>
              <a:t>by P2, ..., Pn−1 is waiting for a resource held by </a:t>
            </a:r>
            <a:r>
              <a:rPr lang="en-US" sz="3200" dirty="0" err="1"/>
              <a:t>Pn</a:t>
            </a:r>
            <a:r>
              <a:rPr lang="en-US" sz="3200" dirty="0"/>
              <a:t>, and </a:t>
            </a:r>
            <a:r>
              <a:rPr lang="en-US" sz="3200" dirty="0" err="1"/>
              <a:t>Pn</a:t>
            </a:r>
            <a:r>
              <a:rPr lang="en-US" sz="3200" dirty="0"/>
              <a:t> is </a:t>
            </a:r>
            <a:r>
              <a:rPr lang="en-US" sz="3200" dirty="0" smtClean="0"/>
              <a:t>waiting for </a:t>
            </a:r>
            <a:r>
              <a:rPr lang="en-US" sz="3200" dirty="0"/>
              <a:t>a resource held by P0.</a:t>
            </a:r>
          </a:p>
        </p:txBody>
      </p:sp>
    </p:spTree>
    <p:extLst>
      <p:ext uri="{BB962C8B-B14F-4D97-AF65-F5344CB8AC3E}">
        <p14:creationId xmlns:p14="http://schemas.microsoft.com/office/powerpoint/2010/main" val="103065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4" y="308147"/>
            <a:ext cx="10772775" cy="135616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Resource-Allocation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2546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What is a Resource Allocation Graph</a:t>
            </a:r>
            <a:r>
              <a:rPr lang="en-US" b="1" dirty="0" smtClean="0">
                <a:solidFill>
                  <a:schemeClr val="accent1"/>
                </a:solidFill>
              </a:rPr>
              <a:t>?</a:t>
            </a:r>
          </a:p>
          <a:p>
            <a:pPr marL="228600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</a:rPr>
              <a:t>A resource allocation graph tracks which resource is held by which process and which process is waiting for a resource of a particular </a:t>
            </a:r>
            <a:r>
              <a:rPr lang="en-US" sz="2800" dirty="0" smtClean="0">
                <a:solidFill>
                  <a:schemeClr val="tx1"/>
                </a:solidFill>
              </a:rPr>
              <a:t>type.</a:t>
            </a:r>
          </a:p>
          <a:p>
            <a:pPr marL="228600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It </a:t>
            </a:r>
            <a:r>
              <a:rPr lang="en-US" sz="2800" dirty="0">
                <a:solidFill>
                  <a:schemeClr val="tx1"/>
                </a:solidFill>
              </a:rPr>
              <a:t>is very powerful and simple tool to illustrate how interacting processes can deadlock.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28600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If </a:t>
            </a:r>
            <a:r>
              <a:rPr lang="en-US" sz="2800" dirty="0">
                <a:solidFill>
                  <a:schemeClr val="tx1"/>
                </a:solidFill>
              </a:rPr>
              <a:t>a process is using a resource, an arrow is drawn from the resource node to the process node.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228600" indent="-17462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</a:rPr>
              <a:t>If </a:t>
            </a:r>
            <a:r>
              <a:rPr lang="en-US" sz="2800" dirty="0">
                <a:solidFill>
                  <a:schemeClr val="tx1"/>
                </a:solidFill>
              </a:rPr>
              <a:t>a process is requesting a resource, an arrow is drawn from the process node to the resource node.</a:t>
            </a:r>
          </a:p>
        </p:txBody>
      </p:sp>
    </p:spTree>
    <p:extLst>
      <p:ext uri="{BB962C8B-B14F-4D97-AF65-F5344CB8AC3E}">
        <p14:creationId xmlns:p14="http://schemas.microsoft.com/office/powerpoint/2010/main" val="622054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18388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Resource Allocation Graph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682" y="1524000"/>
            <a:ext cx="10327342" cy="5105400"/>
          </a:xfrm>
        </p:spPr>
        <p:txBody>
          <a:bodyPr>
            <a:noAutofit/>
          </a:bodyPr>
          <a:lstStyle/>
          <a:p>
            <a:pPr marL="282575" indent="-282575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In some cases deadlocks can be understood more clearly through the use of Resource-Allocation Graphs, having the following properties:</a:t>
            </a:r>
          </a:p>
          <a:p>
            <a:pPr marL="282575" indent="-282575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A set of resource categories, { R1, R2, R3, . . ., RN }, which appear as square nodes on the graph. </a:t>
            </a:r>
          </a:p>
          <a:p>
            <a:pPr marL="282575" indent="-282575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200" b="1" i="1" dirty="0"/>
              <a:t>Dots inside the resource nodes indicate specific instances of the resource</a:t>
            </a:r>
            <a:r>
              <a:rPr lang="en-US" sz="3200" dirty="0"/>
              <a:t> (E.g. two dots might represent two laser printers)</a:t>
            </a:r>
          </a:p>
          <a:p>
            <a:pPr marL="282575" indent="-282575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200" dirty="0"/>
              <a:t>A set of processes { P1, P2, P3, . . ., PN }</a:t>
            </a:r>
          </a:p>
        </p:txBody>
      </p:sp>
    </p:spTree>
    <p:extLst>
      <p:ext uri="{BB962C8B-B14F-4D97-AF65-F5344CB8AC3E}">
        <p14:creationId xmlns:p14="http://schemas.microsoft.com/office/powerpoint/2010/main" val="1306230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735" y="0"/>
            <a:ext cx="10772775" cy="1658198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Resource Allocation Graph (Cont.)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4079838"/>
          </a:xfrm>
        </p:spPr>
        <p:txBody>
          <a:bodyPr>
            <a:noAutofit/>
          </a:bodyPr>
          <a:lstStyle/>
          <a:p>
            <a:pPr algn="just"/>
            <a:r>
              <a:rPr lang="en-US" sz="3600" b="1" dirty="0">
                <a:solidFill>
                  <a:schemeClr val="accent1"/>
                </a:solidFill>
              </a:rPr>
              <a:t>Request Edges </a:t>
            </a:r>
            <a:r>
              <a:rPr lang="en-US" sz="3600" b="1" dirty="0"/>
              <a:t>- </a:t>
            </a:r>
            <a:r>
              <a:rPr lang="en-US" sz="3600" dirty="0"/>
              <a:t>A set of directed arcs from Pi to </a:t>
            </a:r>
            <a:r>
              <a:rPr lang="en-US" sz="3600" dirty="0" err="1"/>
              <a:t>Rj</a:t>
            </a:r>
            <a:r>
              <a:rPr lang="en-US" sz="3600" dirty="0"/>
              <a:t>, indicating that process Pi has requested </a:t>
            </a:r>
            <a:r>
              <a:rPr lang="en-US" sz="3600" dirty="0" err="1"/>
              <a:t>Rj</a:t>
            </a:r>
            <a:r>
              <a:rPr lang="en-US" sz="3600" dirty="0"/>
              <a:t>, and is currently waiting for that resource to become available.</a:t>
            </a:r>
          </a:p>
          <a:p>
            <a:pPr algn="just"/>
            <a:r>
              <a:rPr lang="en-US" sz="3600" b="1" dirty="0">
                <a:solidFill>
                  <a:schemeClr val="accent1"/>
                </a:solidFill>
              </a:rPr>
              <a:t>Assignment Edges </a:t>
            </a:r>
            <a:r>
              <a:rPr lang="en-US" sz="3600" b="1" dirty="0"/>
              <a:t>- </a:t>
            </a:r>
            <a:r>
              <a:rPr lang="en-US" sz="3600" dirty="0"/>
              <a:t>A set of directed arcs from </a:t>
            </a:r>
            <a:r>
              <a:rPr lang="en-US" sz="3600" dirty="0" err="1"/>
              <a:t>Rj</a:t>
            </a:r>
            <a:r>
              <a:rPr lang="en-US" sz="3600" dirty="0"/>
              <a:t> to Pi indicating that resource </a:t>
            </a:r>
            <a:r>
              <a:rPr lang="en-US" sz="3600" dirty="0" err="1"/>
              <a:t>Rj</a:t>
            </a:r>
            <a:r>
              <a:rPr lang="en-US" sz="3600" dirty="0"/>
              <a:t> has been allocated to process Pi, and that Pi is currently holding resource </a:t>
            </a:r>
            <a:r>
              <a:rPr lang="en-US" sz="3600" dirty="0" err="1"/>
              <a:t>Rj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6386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81000"/>
            <a:ext cx="8183880" cy="105156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Resource Allocation Graph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553" y="1676400"/>
            <a:ext cx="10448365" cy="4187952"/>
          </a:xfrm>
        </p:spPr>
        <p:txBody>
          <a:bodyPr>
            <a:normAutofit/>
          </a:bodyPr>
          <a:lstStyle/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 smtClean="0"/>
              <a:t>Note that a </a:t>
            </a:r>
            <a:r>
              <a:rPr lang="en-US" sz="3200" b="1" dirty="0" smtClean="0"/>
              <a:t>request edge</a:t>
            </a:r>
            <a:r>
              <a:rPr lang="en-US" sz="3200" dirty="0" smtClean="0"/>
              <a:t> can be converted into an </a:t>
            </a:r>
            <a:r>
              <a:rPr lang="en-US" sz="3200" b="1" dirty="0" smtClean="0"/>
              <a:t>assignment edge</a:t>
            </a:r>
            <a:r>
              <a:rPr lang="en-US" sz="3200" dirty="0" smtClean="0"/>
              <a:t> by reversing the direction of the arc when the request is granted.</a:t>
            </a:r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 smtClean="0"/>
              <a:t>However note also that request edges point to the category box, whereas assignment edges emanate from a particular instance dot within the box.</a:t>
            </a:r>
          </a:p>
        </p:txBody>
      </p:sp>
    </p:spTree>
    <p:extLst>
      <p:ext uri="{BB962C8B-B14F-4D97-AF65-F5344CB8AC3E}">
        <p14:creationId xmlns:p14="http://schemas.microsoft.com/office/powerpoint/2010/main" val="1876534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330" y="297827"/>
            <a:ext cx="10772775" cy="670361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Graphical Representation of Process and Resource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67" y="1328632"/>
            <a:ext cx="4492998" cy="515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84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81000"/>
            <a:ext cx="8183880" cy="105156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Resource Allocation Graph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682" y="1600200"/>
            <a:ext cx="10125636" cy="4724400"/>
          </a:xfrm>
        </p:spPr>
        <p:txBody>
          <a:bodyPr>
            <a:normAutofit/>
          </a:bodyPr>
          <a:lstStyle/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If a resource-allocation graph contains no cycles, then the system is not deadlocked. ( When looking for cycles, remember that these are </a:t>
            </a:r>
            <a:r>
              <a:rPr lang="en-US" sz="2800" b="1" i="1" dirty="0" smtClean="0"/>
              <a:t>directed</a:t>
            </a:r>
            <a:r>
              <a:rPr lang="en-US" sz="2800" dirty="0" smtClean="0"/>
              <a:t> graphs).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If a resource-allocation graph does contain cycles </a:t>
            </a:r>
            <a:r>
              <a:rPr lang="en-US" sz="2800" b="1" dirty="0" smtClean="0"/>
              <a:t>AND</a:t>
            </a:r>
            <a:r>
              <a:rPr lang="en-US" sz="2800" dirty="0" smtClean="0"/>
              <a:t> each resource category contains only a single instance, then a deadlock exists.</a:t>
            </a:r>
          </a:p>
          <a:p>
            <a:pPr marL="228600" indent="-228600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800" dirty="0" smtClean="0"/>
              <a:t>If a resource category contains more than one instance, then the presence of a cycle in the resource-allocation graph indicates the </a:t>
            </a:r>
            <a:r>
              <a:rPr lang="en-US" sz="2800" i="1" dirty="0" smtClean="0"/>
              <a:t>possibility</a:t>
            </a:r>
            <a:r>
              <a:rPr lang="en-US" sz="2800" dirty="0" smtClean="0"/>
              <a:t> of a deadlock, but does not guarantee one.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085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2340" y="297711"/>
            <a:ext cx="8183880" cy="105156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Example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s://www.cs.uic.edu/~jbell/CourseNotes/OperatingSystems/images/Chapter7/7_01_ResourceAllocati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600200"/>
            <a:ext cx="3962400" cy="495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2341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8686800" cy="105156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Resource allocation graph with a deadlock</a:t>
            </a:r>
          </a:p>
        </p:txBody>
      </p:sp>
      <p:pic>
        <p:nvPicPr>
          <p:cNvPr id="29698" name="Picture 2" descr="https://www.cs.uic.edu/~jbell/CourseNotes/OperatingSystems/images/Chapter7/7_02_Deadloc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1752601"/>
            <a:ext cx="3505200" cy="50474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84880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8183880" cy="10515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Resource allocation graph with a cycle but no deadlock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1746" name="Picture 2" descr="https://www.cs.uic.edu/~jbell/CourseNotes/OperatingSystems/images/Chapter7/7_03_CycleNoDeadlock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600200"/>
            <a:ext cx="3962400" cy="525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1147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59" y="106128"/>
            <a:ext cx="10772775" cy="1194796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Basic Facts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If graph contains no cycles ⇒ no deadlock. </a:t>
            </a:r>
            <a:endParaRPr lang="en-US" sz="3200" dirty="0" smtClean="0"/>
          </a:p>
          <a:p>
            <a:pPr marL="0" indent="0" algn="just">
              <a:buClr>
                <a:schemeClr val="accent1"/>
              </a:buClr>
              <a:buNone/>
            </a:pPr>
            <a:endParaRPr lang="en-US" sz="3200" dirty="0" smtClean="0"/>
          </a:p>
          <a:p>
            <a:pPr marL="282575" indent="-282575" algn="just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3200" dirty="0" smtClean="0"/>
              <a:t>If </a:t>
            </a:r>
            <a:r>
              <a:rPr lang="en-US" sz="3200" dirty="0"/>
              <a:t>graph contains a cycle ⇒ </a:t>
            </a:r>
            <a:r>
              <a:rPr lang="en-US" sz="3200" dirty="0" smtClean="0"/>
              <a:t> </a:t>
            </a:r>
          </a:p>
          <a:p>
            <a:pPr marL="827088" lvl="1" indent="-249238" algn="just">
              <a:buClr>
                <a:schemeClr val="accent1"/>
              </a:buClr>
              <a:buFont typeface="+mj-lt"/>
              <a:buAutoNum type="romanLcPeriod"/>
            </a:pPr>
            <a:r>
              <a:rPr lang="en-US" sz="3200" dirty="0" smtClean="0"/>
              <a:t>if </a:t>
            </a:r>
            <a:r>
              <a:rPr lang="en-US" sz="3200" dirty="0"/>
              <a:t>only one instance per resource type, then </a:t>
            </a:r>
            <a:r>
              <a:rPr lang="en-US" sz="3200" dirty="0" smtClean="0"/>
              <a:t>deadlock.</a:t>
            </a:r>
          </a:p>
          <a:p>
            <a:pPr marL="827088" lvl="1" indent="-249238" algn="just">
              <a:buClr>
                <a:schemeClr val="accent1"/>
              </a:buClr>
              <a:buFont typeface="+mj-lt"/>
              <a:buAutoNum type="romanLcPeriod"/>
            </a:pPr>
            <a:r>
              <a:rPr lang="en-US" sz="3200" dirty="0" smtClean="0"/>
              <a:t>if </a:t>
            </a:r>
            <a:r>
              <a:rPr lang="en-US" sz="3200" dirty="0"/>
              <a:t>several instances per resource type, possibility of deadlock.</a:t>
            </a:r>
          </a:p>
        </p:txBody>
      </p:sp>
    </p:spTree>
    <p:extLst>
      <p:ext uri="{BB962C8B-B14F-4D97-AF65-F5344CB8AC3E}">
        <p14:creationId xmlns:p14="http://schemas.microsoft.com/office/powerpoint/2010/main" val="1234159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497" y="2582370"/>
            <a:ext cx="10515600" cy="169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 smtClean="0"/>
              <a:t>Question?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1222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1604</Words>
  <Application>Microsoft Office PowerPoint</Application>
  <PresentationFormat>Custom</PresentationFormat>
  <Paragraphs>158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Office Theme</vt:lpstr>
      <vt:lpstr>Lecture 6</vt:lpstr>
      <vt:lpstr>1_Office Theme</vt:lpstr>
      <vt:lpstr>MUTX &amp; Deadlocks</vt:lpstr>
      <vt:lpstr>Mutex Lock (cont.)</vt:lpstr>
      <vt:lpstr>Mutex Lock (cont.)</vt:lpstr>
      <vt:lpstr>Mutex Lock (cont.)</vt:lpstr>
      <vt:lpstr>Mutex Lock (cont.)</vt:lpstr>
      <vt:lpstr>Mutex Lock (cont.)</vt:lpstr>
      <vt:lpstr>Mutex Lock (cont.)</vt:lpstr>
      <vt:lpstr>Semaphores</vt:lpstr>
      <vt:lpstr>Counting Semaphores</vt:lpstr>
      <vt:lpstr>PowerPoint Presentation</vt:lpstr>
      <vt:lpstr>Binary Semaphores</vt:lpstr>
      <vt:lpstr>Cont.</vt:lpstr>
      <vt:lpstr>PowerPoint Presentation</vt:lpstr>
      <vt:lpstr>PowerPoint Presentation</vt:lpstr>
      <vt:lpstr>Background</vt:lpstr>
      <vt:lpstr>Background (Cont.)</vt:lpstr>
      <vt:lpstr>Introduction</vt:lpstr>
      <vt:lpstr>Resources</vt:lpstr>
      <vt:lpstr>System Model</vt:lpstr>
      <vt:lpstr>Resources Access</vt:lpstr>
      <vt:lpstr>Deadlock </vt:lpstr>
      <vt:lpstr>Example</vt:lpstr>
      <vt:lpstr>Bridge Crossing Example</vt:lpstr>
      <vt:lpstr>PowerPoint Presentation</vt:lpstr>
      <vt:lpstr>PowerPoint Presentation</vt:lpstr>
      <vt:lpstr>System Model (Cont.)</vt:lpstr>
      <vt:lpstr>Deadlock Example</vt:lpstr>
      <vt:lpstr>DEADLOCK CHARACTERISATION</vt:lpstr>
      <vt:lpstr>Necessary Conditions</vt:lpstr>
      <vt:lpstr>Necessary Conditions (Cont.)</vt:lpstr>
      <vt:lpstr>Necessary Conditions (Cont.)</vt:lpstr>
      <vt:lpstr>Resource-Allocation Graph</vt:lpstr>
      <vt:lpstr>Resource Allocation Graph</vt:lpstr>
      <vt:lpstr>Resource Allocation Graph (Cont.)</vt:lpstr>
      <vt:lpstr>Resource Allocation Graph</vt:lpstr>
      <vt:lpstr>Graphical Representation of Process and Resource</vt:lpstr>
      <vt:lpstr>Resource Allocation Graph</vt:lpstr>
      <vt:lpstr>Example</vt:lpstr>
      <vt:lpstr>Resource allocation graph with a deadlock</vt:lpstr>
      <vt:lpstr>Resource allocation graph with a cycle but no deadlock</vt:lpstr>
      <vt:lpstr>Basic Facts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160</cp:revision>
  <dcterms:created xsi:type="dcterms:W3CDTF">2024-06-21T09:49:00Z</dcterms:created>
  <dcterms:modified xsi:type="dcterms:W3CDTF">2025-03-13T07:36:48Z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