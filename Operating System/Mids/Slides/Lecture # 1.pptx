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5.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sldIdLst>
    <p:sldId id="273" r:id="rId5"/>
    <p:sldId id="888" r:id="rId6"/>
    <p:sldId id="889" r:id="rId7"/>
    <p:sldId id="890" r:id="rId8"/>
    <p:sldId id="891" r:id="rId9"/>
    <p:sldId id="892" r:id="rId10"/>
    <p:sldId id="917" r:id="rId11"/>
    <p:sldId id="904" r:id="rId12"/>
    <p:sldId id="905" r:id="rId13"/>
    <p:sldId id="906" r:id="rId14"/>
    <p:sldId id="894" r:id="rId15"/>
    <p:sldId id="895" r:id="rId16"/>
    <p:sldId id="896" r:id="rId17"/>
    <p:sldId id="897" r:id="rId18"/>
    <p:sldId id="898" r:id="rId19"/>
    <p:sldId id="899" r:id="rId20"/>
    <p:sldId id="900" r:id="rId21"/>
    <p:sldId id="901" r:id="rId22"/>
    <p:sldId id="907" r:id="rId23"/>
    <p:sldId id="908" r:id="rId24"/>
    <p:sldId id="909" r:id="rId25"/>
    <p:sldId id="910" r:id="rId26"/>
    <p:sldId id="911" r:id="rId27"/>
    <p:sldId id="912" r:id="rId28"/>
    <p:sldId id="913" r:id="rId29"/>
    <p:sldId id="914" r:id="rId30"/>
    <p:sldId id="915" r:id="rId31"/>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9" autoAdjust="0"/>
    <p:restoredTop sz="94660"/>
  </p:normalViewPr>
  <p:slideViewPr>
    <p:cSldViewPr snapToGrid="0" showGuides="1">
      <p:cViewPr>
        <p:scale>
          <a:sx n="90" d="100"/>
          <a:sy n="90" d="100"/>
        </p:scale>
        <p:origin x="-600"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3237A82C-AEEE-48DB-A866-3B1CA0AC9D5D}"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fld>
            <a:endParaRPr lang="x-non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image" Target="../media/image6.png"/><Relationship Id="rId16" Type="http://schemas.openxmlformats.org/officeDocument/2006/relationships/image" Target="../media/image5.svg"/><Relationship Id="rId15" Type="http://schemas.openxmlformats.org/officeDocument/2006/relationships/image" Target="../media/image4.png"/><Relationship Id="rId14" Type="http://schemas.openxmlformats.org/officeDocument/2006/relationships/image" Target="../media/image3.sv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fld>
            <a:endParaRPr lang="x-none"/>
          </a:p>
        </p:txBody>
      </p:sp>
      <p:grpSp>
        <p:nvGrpSpPr>
          <p:cNvPr id="7" name="Group 6"/>
          <p:cNvGrpSpPr/>
          <p:nvPr userDrawn="1"/>
        </p:nvGrpSpPr>
        <p:grpSpPr>
          <a:xfrm>
            <a:off x="0" y="0"/>
            <a:ext cx="12749348" cy="1115736"/>
            <a:chOff x="0" y="0"/>
            <a:chExt cx="12749348" cy="1115736"/>
          </a:xfrm>
        </p:grpSpPr>
        <p:sp>
          <p:nvSpPr>
            <p:cNvPr id="8" name="Rectangle 7"/>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906056" y="403986"/>
              <a:ext cx="261610" cy="261610"/>
            </a:xfrm>
            <a:prstGeom prst="rect">
              <a:avLst/>
            </a:prstGeom>
          </p:spPr>
        </p:pic>
        <p:sp>
          <p:nvSpPr>
            <p:cNvPr id="12" name="TextBox 12"/>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endParaRPr lang="x-none" dirty="0">
                <a:solidFill>
                  <a:schemeClr val="bg1"/>
                </a:solidFill>
              </a:endParaRPr>
            </a:p>
          </p:txBody>
        </p:sp>
        <p:pic>
          <p:nvPicPr>
            <p:cNvPr id="13" name="Graphic 1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591033" y="741997"/>
              <a:ext cx="171450" cy="171450"/>
            </a:xfrm>
            <a:prstGeom prst="rect">
              <a:avLst/>
            </a:prstGeom>
          </p:spPr>
        </p:pic>
        <p:pic>
          <p:nvPicPr>
            <p:cNvPr id="14" name="Picture 1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fld>
            <a:endParaRPr lang="x-non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168275" y="3253104"/>
            <a:ext cx="12023725" cy="2271395"/>
          </a:xfrm>
        </p:spPr>
        <p:txBody>
          <a:bodyPr>
            <a:noAutofit/>
          </a:bodyPr>
          <a:lstStyle/>
          <a:p>
            <a:pPr>
              <a:lnSpc>
                <a:spcPct val="200000"/>
              </a:lnSpc>
              <a:defRPr/>
            </a:pPr>
            <a:r>
              <a:rPr lang="en-US" altLang="ko-KR" sz="2800" b="1" dirty="0" smtClean="0">
                <a:solidFill>
                  <a:schemeClr val="accent4"/>
                </a:solidFill>
                <a:cs typeface="Arial" panose="020B0604020202020204" pitchFamily="34" charset="0"/>
              </a:rPr>
              <a:t>Lecture #1</a:t>
            </a:r>
            <a:endParaRPr lang="en-US" altLang="ko-KR" sz="2800" b="1" dirty="0">
              <a:solidFill>
                <a:schemeClr val="accent4"/>
              </a:solidFill>
              <a:cs typeface="Arial" panose="020B0604020202020204" pitchFamily="34" charset="0"/>
            </a:endParaRPr>
          </a:p>
        </p:txBody>
      </p:sp>
      <p:pic>
        <p:nvPicPr>
          <p:cNvPr id="10" name="Graphic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5533" y="1943629"/>
            <a:ext cx="9144000" cy="2387600"/>
          </a:xfrm>
        </p:spPr>
        <p:txBody>
          <a:bodyPr>
            <a:normAutofit fontScale="90000"/>
          </a:bodyPr>
          <a:lstStyle/>
          <a:p>
            <a:pPr algn="ctr"/>
            <a:r>
              <a:rPr lang="en-US" dirty="0" smtClean="0"/>
              <a:t>Operating system </a:t>
            </a:r>
            <a:br>
              <a:rPr lang="en-US" dirty="0" smtClean="0"/>
            </a:br>
            <a:r>
              <a:rPr lang="en-US" dirty="0" smtClean="0"/>
              <a:t>by </a:t>
            </a:r>
            <a:br>
              <a:rPr lang="en-US" dirty="0" smtClean="0"/>
            </a:br>
            <a:r>
              <a:rPr lang="en-US" dirty="0" smtClean="0"/>
              <a:t>Tahmina Asghar</a:t>
            </a:r>
            <a:endParaRPr lang="en-US" dirty="0"/>
          </a:p>
        </p:txBody>
      </p:sp>
      <p:sp>
        <p:nvSpPr>
          <p:cNvPr id="3" name="Subtitle 2"/>
          <p:cNvSpPr>
            <a:spLocks noGrp="1"/>
          </p:cNvSpPr>
          <p:nvPr>
            <p:ph type="subTitle" idx="1"/>
          </p:nvPr>
        </p:nvSpPr>
        <p:spPr>
          <a:xfrm>
            <a:off x="1490133" y="4448704"/>
            <a:ext cx="9144000" cy="1655763"/>
          </a:xfrm>
        </p:spPr>
        <p:txBody>
          <a:bodyPr/>
          <a:lstStyle/>
          <a:p>
            <a:r>
              <a:rPr lang="en-US" dirty="0" smtClean="0"/>
              <a:t>Lecture # 1</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333" y="119591"/>
            <a:ext cx="10515600" cy="1325563"/>
          </a:xfrm>
        </p:spPr>
        <p:txBody>
          <a:bodyPr/>
          <a:lstStyle/>
          <a:p>
            <a:pPr algn="ctr"/>
            <a:r>
              <a:rPr lang="en-US" b="1" dirty="0" smtClean="0">
                <a:solidFill>
                  <a:schemeClr val="accent4"/>
                </a:solidFill>
              </a:rPr>
              <a:t>Marks Distribution</a:t>
            </a:r>
            <a:endParaRPr lang="en-US" b="1" dirty="0">
              <a:solidFill>
                <a:schemeClr val="accent4"/>
              </a:solidFill>
            </a:endParaRPr>
          </a:p>
        </p:txBody>
      </p:sp>
      <p:sp>
        <p:nvSpPr>
          <p:cNvPr id="3" name="Content Placeholder 2"/>
          <p:cNvSpPr>
            <a:spLocks noGrp="1"/>
          </p:cNvSpPr>
          <p:nvPr>
            <p:ph idx="1"/>
          </p:nvPr>
        </p:nvSpPr>
        <p:spPr/>
        <p:txBody>
          <a:bodyPr/>
          <a:lstStyle/>
          <a:p>
            <a:r>
              <a:rPr lang="en-US" dirty="0"/>
              <a:t>Internal Assessment</a:t>
            </a:r>
            <a:r>
              <a:rPr lang="en-US" dirty="0" smtClean="0"/>
              <a:t>: 35 Marks</a:t>
            </a:r>
            <a:endParaRPr lang="en-US" dirty="0" smtClean="0"/>
          </a:p>
          <a:p>
            <a:r>
              <a:rPr lang="en-US" dirty="0"/>
              <a:t>Mid Semester Examination</a:t>
            </a:r>
            <a:r>
              <a:rPr lang="en-US" dirty="0" smtClean="0"/>
              <a:t>: 25 Marks</a:t>
            </a:r>
            <a:endParaRPr lang="en-US" dirty="0" smtClean="0"/>
          </a:p>
          <a:p>
            <a:r>
              <a:rPr lang="en-US" dirty="0"/>
              <a:t>Final Semester Examination</a:t>
            </a:r>
            <a:r>
              <a:rPr lang="en-US" dirty="0" smtClean="0"/>
              <a:t>: 40 Marks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325"/>
            <a:ext cx="10515600" cy="1325563"/>
          </a:xfrm>
        </p:spPr>
        <p:txBody>
          <a:bodyPr/>
          <a:lstStyle/>
          <a:p>
            <a:pPr algn="ctr"/>
            <a:r>
              <a:rPr lang="en-US" b="1" dirty="0" smtClean="0">
                <a:solidFill>
                  <a:schemeClr val="accent4"/>
                </a:solidFill>
              </a:rPr>
              <a:t>Rules to Remember</a:t>
            </a:r>
            <a:endParaRPr lang="en-US" b="1"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Come to class prepared to </a:t>
            </a:r>
            <a:r>
              <a:rPr lang="en-US" dirty="0" smtClean="0"/>
              <a:t>learn.</a:t>
            </a:r>
            <a:endParaRPr lang="en-US" dirty="0" smtClean="0"/>
          </a:p>
          <a:p>
            <a:pPr algn="just"/>
            <a:r>
              <a:rPr lang="en-US" dirty="0" smtClean="0"/>
              <a:t>Keep your mobiles </a:t>
            </a:r>
            <a:r>
              <a:rPr lang="en-US" b="1" dirty="0" smtClean="0"/>
              <a:t>Silent</a:t>
            </a:r>
            <a:r>
              <a:rPr lang="en-US" dirty="0" smtClean="0"/>
              <a:t> and keep it inside your bag.</a:t>
            </a:r>
            <a:endParaRPr lang="en-US" dirty="0"/>
          </a:p>
          <a:p>
            <a:pPr algn="just"/>
            <a:r>
              <a:rPr lang="en-US" dirty="0" smtClean="0"/>
              <a:t>Late arrival in my class will be marked </a:t>
            </a:r>
            <a:r>
              <a:rPr lang="en-US" b="1" dirty="0" smtClean="0"/>
              <a:t>Absent</a:t>
            </a:r>
            <a:endParaRPr lang="en-US" b="1" dirty="0" smtClean="0"/>
          </a:p>
          <a:p>
            <a:pPr algn="just"/>
            <a:r>
              <a:rPr lang="en-US" b="1" dirty="0"/>
              <a:t>Raise your hand </a:t>
            </a:r>
            <a:r>
              <a:rPr lang="en-US" dirty="0"/>
              <a:t>before speaking or leaving your seat</a:t>
            </a:r>
            <a:r>
              <a:rPr lang="en-US" dirty="0" smtClean="0"/>
              <a:t>.</a:t>
            </a:r>
            <a:endParaRPr lang="en-US" dirty="0" smtClean="0"/>
          </a:p>
          <a:p>
            <a:pPr algn="just"/>
            <a:r>
              <a:rPr lang="en-US" dirty="0"/>
              <a:t>Listen and follow directions</a:t>
            </a:r>
            <a:r>
              <a:rPr lang="en-US" dirty="0" smtClean="0"/>
              <a:t>.</a:t>
            </a:r>
            <a:endParaRPr lang="en-US" dirty="0" smtClean="0"/>
          </a:p>
          <a:p>
            <a:pPr algn="just"/>
            <a:r>
              <a:rPr lang="en-US" dirty="0"/>
              <a:t>Actively participate in classroom </a:t>
            </a:r>
            <a:r>
              <a:rPr lang="en-US" dirty="0" smtClean="0"/>
              <a:t>activities</a:t>
            </a:r>
            <a:endParaRPr lang="en-US" dirty="0" smtClean="0"/>
          </a:p>
          <a:p>
            <a:pPr algn="just"/>
            <a:r>
              <a:rPr lang="en-US" dirty="0" smtClean="0"/>
              <a:t>Ask Questions. </a:t>
            </a:r>
            <a:endParaRPr lang="en-US" dirty="0" smtClean="0"/>
          </a:p>
          <a:p>
            <a:pPr algn="just"/>
            <a:r>
              <a:rPr lang="en-US" dirty="0" smtClean="0"/>
              <a:t>Convey your issue to your instructor through your CR. </a:t>
            </a: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dirty="0" smtClean="0">
                <a:solidFill>
                  <a:schemeClr val="accent4"/>
                </a:solidFill>
              </a:rPr>
              <a:t>Rules for Assignments</a:t>
            </a:r>
            <a:endParaRPr lang="en-US" b="1" dirty="0">
              <a:solidFill>
                <a:schemeClr val="accent4"/>
              </a:solidFill>
            </a:endParaRPr>
          </a:p>
        </p:txBody>
      </p:sp>
      <p:sp>
        <p:nvSpPr>
          <p:cNvPr id="3" name="Content Placeholder 2"/>
          <p:cNvSpPr>
            <a:spLocks noGrp="1"/>
          </p:cNvSpPr>
          <p:nvPr>
            <p:ph idx="1"/>
          </p:nvPr>
        </p:nvSpPr>
        <p:spPr/>
        <p:txBody>
          <a:bodyPr/>
          <a:lstStyle/>
          <a:p>
            <a:r>
              <a:rPr lang="en-US" dirty="0"/>
              <a:t>No extensions will be granted for submission of assignments.</a:t>
            </a:r>
            <a:endParaRPr lang="en-US" dirty="0"/>
          </a:p>
          <a:p>
            <a:r>
              <a:rPr lang="en-US" dirty="0" smtClean="0"/>
              <a:t>Once deadline is over, no assignment will be accepted. </a:t>
            </a:r>
            <a:endParaRPr lang="en-US" dirty="0" smtClean="0"/>
          </a:p>
          <a:p>
            <a:r>
              <a:rPr lang="en-US" dirty="0" smtClean="0"/>
              <a:t>Plagiarism will be checked for each assignment (Where Applicable).</a:t>
            </a:r>
            <a:endParaRPr lang="en-US" dirty="0" smtClean="0"/>
          </a:p>
          <a:p>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smtClean="0"/>
              <a:t>Operating System</a:t>
            </a:r>
            <a:endParaRPr lang="en-US" sz="4800" b="1" dirty="0"/>
          </a:p>
        </p:txBody>
      </p:sp>
      <p:sp>
        <p:nvSpPr>
          <p:cNvPr id="5" name="Text Placeholder 4"/>
          <p:cNvSpPr>
            <a:spLocks noGrp="1"/>
          </p:cNvSpPr>
          <p:nvPr>
            <p:ph type="body" idx="1"/>
          </p:nvPr>
        </p:nvSpPr>
        <p:spPr/>
        <p:txBody>
          <a:bodyPr>
            <a:normAutofit/>
          </a:bodyPr>
          <a:lstStyle/>
          <a:p>
            <a:r>
              <a:rPr lang="en-US" sz="3600" b="1" dirty="0" smtClean="0"/>
              <a:t>Background</a:t>
            </a:r>
            <a:endParaRPr lang="en-US" sz="3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217"/>
            <a:ext cx="10515600" cy="1325563"/>
          </a:xfrm>
        </p:spPr>
        <p:txBody>
          <a:bodyPr>
            <a:normAutofit/>
          </a:bodyPr>
          <a:lstStyle/>
          <a:p>
            <a:pPr algn="ctr"/>
            <a:r>
              <a:rPr lang="en-US" sz="3600" b="1" dirty="0" smtClean="0">
                <a:solidFill>
                  <a:schemeClr val="accent4"/>
                </a:solidFill>
              </a:rPr>
              <a:t>Four Components of a Computer System</a:t>
            </a:r>
            <a:endParaRPr lang="en-US" sz="3600" b="1" dirty="0">
              <a:solidFill>
                <a:schemeClr val="accent4"/>
              </a:solidFill>
            </a:endParaRPr>
          </a:p>
        </p:txBody>
      </p:sp>
      <p:pic>
        <p:nvPicPr>
          <p:cNvPr id="4" name="Picture 4"/>
          <p:cNvPicPr>
            <a:picLocks noChangeAspect="1" noChangeArrowheads="1"/>
          </p:cNvPicPr>
          <p:nvPr/>
        </p:nvPicPr>
        <p:blipFill>
          <a:blip r:embed="rId1"/>
          <a:srcRect/>
          <a:stretch>
            <a:fillRect/>
          </a:stretch>
        </p:blipFill>
        <p:spPr bwMode="auto">
          <a:xfrm>
            <a:off x="1659466" y="1259313"/>
            <a:ext cx="9144000" cy="546322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70392"/>
            <a:ext cx="10515600" cy="1325563"/>
          </a:xfrm>
        </p:spPr>
        <p:txBody>
          <a:bodyPr/>
          <a:lstStyle/>
          <a:p>
            <a:pPr algn="ctr"/>
            <a:r>
              <a:rPr lang="en-US" b="1" dirty="0" smtClean="0">
                <a:solidFill>
                  <a:schemeClr val="accent4"/>
                </a:solidFill>
              </a:rPr>
              <a:t>Overview</a:t>
            </a:r>
            <a:endParaRPr lang="en-US" b="1"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A computer system has many resources (hardware and software), which may be require to complete a task. </a:t>
            </a:r>
            <a:endParaRPr lang="en-US" dirty="0" smtClean="0"/>
          </a:p>
          <a:p>
            <a:pPr algn="just"/>
            <a:r>
              <a:rPr lang="en-US" dirty="0" smtClean="0"/>
              <a:t>The </a:t>
            </a:r>
            <a:r>
              <a:rPr lang="en-US" dirty="0"/>
              <a:t>commonly required resources are input/output devices, memory, file storage space, CPU etc</a:t>
            </a:r>
            <a:r>
              <a:rPr lang="en-US" dirty="0" smtClean="0"/>
              <a:t>.</a:t>
            </a:r>
            <a:endParaRPr lang="en-US" dirty="0" smtClean="0"/>
          </a:p>
          <a:p>
            <a:pPr algn="just"/>
            <a:r>
              <a:rPr lang="en-US" dirty="0" smtClean="0"/>
              <a:t>Software also plays a vital role in a computer system</a:t>
            </a:r>
            <a:endParaRPr lang="en-US" dirty="0" smtClean="0"/>
          </a:p>
          <a:p>
            <a:pPr lvl="1" algn="just"/>
            <a:r>
              <a:rPr lang="en-US" dirty="0" smtClean="0"/>
              <a:t>Application Software</a:t>
            </a:r>
            <a:endParaRPr lang="en-US" dirty="0" smtClean="0"/>
          </a:p>
          <a:p>
            <a:pPr lvl="1" algn="just"/>
            <a:r>
              <a:rPr lang="en-US" dirty="0" smtClean="0"/>
              <a:t>System Software</a:t>
            </a:r>
            <a:endParaRPr lang="en-US" dirty="0" smtClean="0"/>
          </a:p>
          <a:p>
            <a:pPr algn="just"/>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92"/>
            <a:ext cx="10515600" cy="1325563"/>
          </a:xfrm>
        </p:spPr>
        <p:txBody>
          <a:bodyPr>
            <a:normAutofit/>
          </a:bodyPr>
          <a:lstStyle/>
          <a:p>
            <a:pPr algn="ctr"/>
            <a:r>
              <a:rPr lang="en-US" b="1" dirty="0" smtClean="0">
                <a:solidFill>
                  <a:schemeClr val="accent4"/>
                </a:solidFill>
              </a:rPr>
              <a:t>What is Operating System?</a:t>
            </a:r>
            <a:endParaRPr lang="en-US" b="1" dirty="0">
              <a:solidFill>
                <a:schemeClr val="accent4"/>
              </a:solidFill>
            </a:endParaRPr>
          </a:p>
        </p:txBody>
      </p:sp>
      <p:sp>
        <p:nvSpPr>
          <p:cNvPr id="3" name="Content Placeholder 2"/>
          <p:cNvSpPr>
            <a:spLocks noGrp="1"/>
          </p:cNvSpPr>
          <p:nvPr>
            <p:ph idx="1"/>
          </p:nvPr>
        </p:nvSpPr>
        <p:spPr/>
        <p:txBody>
          <a:bodyPr/>
          <a:lstStyle/>
          <a:p>
            <a:pPr algn="just"/>
            <a:r>
              <a:rPr lang="en-US" dirty="0" smtClean="0"/>
              <a:t>A program that acts as an intermediary between a user of a computer and the computer hardware</a:t>
            </a:r>
            <a:endParaRPr lang="en-US" dirty="0" smtClean="0"/>
          </a:p>
          <a:p>
            <a:pPr algn="just"/>
            <a:r>
              <a:rPr lang="en-US" dirty="0" smtClean="0"/>
              <a:t>All computers and computer-like devices have operating systems, including your laptop, tablet, desktop, Smartphone, smart watch, router</a:t>
            </a:r>
            <a:endParaRPr lang="en-US" dirty="0" smtClean="0"/>
          </a:p>
          <a:p>
            <a:endParaRPr lang="en-US" dirty="0"/>
          </a:p>
        </p:txBody>
      </p:sp>
      <p:pic>
        <p:nvPicPr>
          <p:cNvPr id="4" name="Picture 11"/>
          <p:cNvPicPr>
            <a:picLocks noChangeAspect="1"/>
          </p:cNvPicPr>
          <p:nvPr/>
        </p:nvPicPr>
        <p:blipFill>
          <a:blip r:embed="rId1" cstate="print"/>
          <a:srcRect/>
          <a:stretch>
            <a:fillRect/>
          </a:stretch>
        </p:blipFill>
        <p:spPr bwMode="auto">
          <a:xfrm>
            <a:off x="8940800" y="4419600"/>
            <a:ext cx="2743200" cy="2057400"/>
          </a:xfrm>
          <a:prstGeom prst="rect">
            <a:avLst/>
          </a:prstGeom>
          <a:noFill/>
          <a:ln w="9525">
            <a:noFill/>
            <a:miter lim="800000"/>
            <a:headEnd/>
            <a:tailEnd/>
          </a:ln>
        </p:spPr>
      </p:pic>
      <p:sp>
        <p:nvSpPr>
          <p:cNvPr id="5" name="Rectangle 4"/>
          <p:cNvSpPr/>
          <p:nvPr/>
        </p:nvSpPr>
        <p:spPr>
          <a:xfrm>
            <a:off x="1524000" y="5911334"/>
            <a:ext cx="7213600" cy="384721"/>
          </a:xfrm>
          <a:prstGeom prst="rect">
            <a:avLst/>
          </a:prstGeom>
        </p:spPr>
        <p:txBody>
          <a:bodyPr wrap="square">
            <a:spAutoFit/>
          </a:bodyPr>
          <a:lstStyle/>
          <a:p>
            <a:r>
              <a:rPr lang="en-US" dirty="0"/>
              <a:t>https://www.youtube.com/watch?v=fkGCLIQx1MI</a:t>
            </a:r>
            <a:endParaRPr lang="en-US" dirty="0"/>
          </a:p>
        </p:txBody>
      </p:sp>
      <p:sp>
        <p:nvSpPr>
          <p:cNvPr id="6" name="Rectangle 5"/>
          <p:cNvSpPr/>
          <p:nvPr/>
        </p:nvSpPr>
        <p:spPr>
          <a:xfrm>
            <a:off x="1524000" y="5627727"/>
            <a:ext cx="7213600" cy="384721"/>
          </a:xfrm>
          <a:prstGeom prst="rect">
            <a:avLst/>
          </a:prstGeom>
        </p:spPr>
        <p:txBody>
          <a:bodyPr wrap="square">
            <a:spAutoFit/>
          </a:bodyPr>
          <a:lstStyle/>
          <a:p>
            <a:r>
              <a:rPr lang="en-US" dirty="0" smtClean="0"/>
              <a:t>Homework: Watch the following video</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85725"/>
            <a:ext cx="10515600" cy="1325563"/>
          </a:xfrm>
        </p:spPr>
        <p:txBody>
          <a:bodyPr/>
          <a:lstStyle/>
          <a:p>
            <a:pPr algn="ctr"/>
            <a:r>
              <a:rPr lang="en-US" b="1" dirty="0" smtClean="0">
                <a:solidFill>
                  <a:schemeClr val="accent4"/>
                </a:solidFill>
              </a:rPr>
              <a:t>Operating System</a:t>
            </a:r>
            <a:endParaRPr lang="en-US" b="1" dirty="0">
              <a:solidFill>
                <a:schemeClr val="accent4"/>
              </a:solidFill>
            </a:endParaRPr>
          </a:p>
        </p:txBody>
      </p:sp>
      <p:sp>
        <p:nvSpPr>
          <p:cNvPr id="3" name="Content Placeholder 2"/>
          <p:cNvSpPr>
            <a:spLocks noGrp="1"/>
          </p:cNvSpPr>
          <p:nvPr>
            <p:ph idx="1"/>
          </p:nvPr>
        </p:nvSpPr>
        <p:spPr/>
        <p:txBody>
          <a:bodyPr/>
          <a:lstStyle/>
          <a:p>
            <a:pPr algn="just"/>
            <a:r>
              <a:rPr lang="en-US" dirty="0" smtClean="0"/>
              <a:t>In technical terms, </a:t>
            </a:r>
            <a:r>
              <a:rPr lang="en-US" dirty="0"/>
              <a:t>operating system is the resource manager i.e. it can manage the resource of a computer system internally</a:t>
            </a:r>
            <a:r>
              <a:rPr lang="en-US" dirty="0" smtClean="0"/>
              <a:t>.</a:t>
            </a:r>
            <a:endParaRPr lang="en-US" dirty="0" smtClean="0"/>
          </a:p>
          <a:p>
            <a:pPr algn="just"/>
            <a:r>
              <a:rPr lang="en-US" dirty="0" smtClean="0"/>
              <a:t>The resources are; processor, memory, storage, I/O Devices, files etc.</a:t>
            </a:r>
            <a:endParaRPr lang="en-US" dirty="0" smtClean="0"/>
          </a:p>
        </p:txBody>
      </p:sp>
      <p:pic>
        <p:nvPicPr>
          <p:cNvPr id="4" name="Picture 5" descr="rhpe0090bx"/>
          <p:cNvPicPr>
            <a:picLocks noChangeAspect="1" noChangeArrowheads="1"/>
          </p:cNvPicPr>
          <p:nvPr/>
        </p:nvPicPr>
        <p:blipFill>
          <a:blip r:embed="rId1" cstate="print"/>
          <a:srcRect/>
          <a:stretch>
            <a:fillRect/>
          </a:stretch>
        </p:blipFill>
        <p:spPr bwMode="auto">
          <a:xfrm>
            <a:off x="8331200" y="4038600"/>
            <a:ext cx="2971800" cy="22288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accent4"/>
                </a:solidFill>
              </a:rPr>
              <a:t>Computer-System Organization</a:t>
            </a:r>
            <a:br>
              <a:rPr lang="en-US" sz="3200" b="1" dirty="0">
                <a:solidFill>
                  <a:schemeClr val="accent4"/>
                </a:solidFill>
              </a:rPr>
            </a:br>
            <a:endParaRPr lang="en-US" sz="3200"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smtClean="0"/>
              <a:t>A </a:t>
            </a:r>
            <a:r>
              <a:rPr lang="en-US" dirty="0"/>
              <a:t>modern computer system consists of one or more CPUs and multiple device controllers, all connected via a common bus to shared memory. Each device controller manages a specific type of device (e.g., disk drives, audio, video). The CPU and controllers operate in parallel, with a memory controller ensuring synchronized access.</a:t>
            </a:r>
            <a:endParaRPr lang="en-US" dirty="0"/>
          </a:p>
          <a:p>
            <a:pPr algn="just"/>
            <a:r>
              <a:rPr lang="en-US" dirty="0"/>
              <a:t>When powered on or rebooted, the system runs a bootstrap program stored in ROM or EEPROM (firmware). This program initializes the system, sets up hardware components, and loads the operating system for execution</a:t>
            </a:r>
            <a:r>
              <a:rPr lang="en-US" dirty="0" smtClean="0"/>
              <a:t>.</a:t>
            </a:r>
            <a:r>
              <a:rPr lang="en-US" dirty="0"/>
              <a:t> </a:t>
            </a:r>
            <a:r>
              <a:rPr lang="en-US" dirty="0" smtClean="0"/>
              <a:t>For completing this </a:t>
            </a:r>
            <a:r>
              <a:rPr lang="en-US" dirty="0"/>
              <a:t>goal, the bootstrap program must locate the operating-system kernel </a:t>
            </a:r>
            <a:r>
              <a:rPr lang="en-US" dirty="0" smtClean="0"/>
              <a:t>and load </a:t>
            </a:r>
            <a:r>
              <a:rPr lang="en-US" dirty="0"/>
              <a:t>it into memory.</a:t>
            </a:r>
            <a:endParaRPr lang="en-US" dirty="0"/>
          </a:p>
          <a:p>
            <a:pPr marL="0" indent="0" algn="just">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916007" y="1947281"/>
            <a:ext cx="7818120" cy="4023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4"/>
                </a:solidFill>
              </a:rPr>
              <a:t>System Boot and Interrupts</a:t>
            </a:r>
            <a:br>
              <a:rPr lang="en-US" b="1" dirty="0">
                <a:solidFill>
                  <a:schemeClr val="accent4"/>
                </a:solidFill>
              </a:rPr>
            </a:br>
            <a:endParaRPr lang="en-US" dirty="0">
              <a:solidFill>
                <a:schemeClr val="accent4"/>
              </a:solidFill>
            </a:endParaRPr>
          </a:p>
        </p:txBody>
      </p:sp>
      <p:sp>
        <p:nvSpPr>
          <p:cNvPr id="3" name="Content Placeholder 2"/>
          <p:cNvSpPr>
            <a:spLocks noGrp="1"/>
          </p:cNvSpPr>
          <p:nvPr>
            <p:ph idx="1"/>
          </p:nvPr>
        </p:nvSpPr>
        <p:spPr/>
        <p:txBody>
          <a:bodyPr>
            <a:normAutofit fontScale="92500"/>
          </a:bodyPr>
          <a:lstStyle/>
          <a:p>
            <a:pPr algn="just"/>
            <a:r>
              <a:rPr lang="en-US" dirty="0" smtClean="0"/>
              <a:t>After </a:t>
            </a:r>
            <a:r>
              <a:rPr lang="en-US" dirty="0"/>
              <a:t>loading, the </a:t>
            </a:r>
            <a:r>
              <a:rPr lang="en-US" b="1" dirty="0"/>
              <a:t>kernel</a:t>
            </a:r>
            <a:r>
              <a:rPr lang="en-US" dirty="0"/>
              <a:t> starts system processes (</a:t>
            </a:r>
            <a:r>
              <a:rPr lang="en-US" b="1" dirty="0"/>
              <a:t>daemons</a:t>
            </a:r>
            <a:r>
              <a:rPr lang="en-US" dirty="0"/>
              <a:t>) to provide services. On UNIX, the </a:t>
            </a:r>
            <a:r>
              <a:rPr lang="en-US" b="1" dirty="0"/>
              <a:t>"</a:t>
            </a:r>
            <a:r>
              <a:rPr lang="en-US" b="1" dirty="0" err="1"/>
              <a:t>init</a:t>
            </a:r>
            <a:r>
              <a:rPr lang="en-US" b="1" dirty="0"/>
              <a:t>"</a:t>
            </a:r>
            <a:r>
              <a:rPr lang="en-US" dirty="0"/>
              <a:t> process launches other daemons. Once booted, the system waits for events, usually triggered by </a:t>
            </a:r>
            <a:r>
              <a:rPr lang="en-US" b="1" dirty="0"/>
              <a:t>interrupts</a:t>
            </a:r>
            <a:r>
              <a:rPr lang="en-US" dirty="0"/>
              <a:t> from hardware or software.</a:t>
            </a:r>
            <a:endParaRPr lang="en-US" dirty="0"/>
          </a:p>
          <a:p>
            <a:pPr algn="just"/>
            <a:r>
              <a:rPr lang="en-US" b="1" dirty="0"/>
              <a:t>Hardware interrupts</a:t>
            </a:r>
            <a:r>
              <a:rPr lang="en-US" dirty="0"/>
              <a:t> come via the system bus, while </a:t>
            </a:r>
            <a:r>
              <a:rPr lang="en-US" b="1" dirty="0"/>
              <a:t>software interrupts</a:t>
            </a:r>
            <a:r>
              <a:rPr lang="en-US" dirty="0"/>
              <a:t> occur through </a:t>
            </a:r>
            <a:r>
              <a:rPr lang="en-US" b="1" dirty="0"/>
              <a:t>system calls</a:t>
            </a:r>
            <a:r>
              <a:rPr lang="en-US" dirty="0"/>
              <a:t>. When interrupted, the CPU pauses execution, jumps to an </a:t>
            </a:r>
            <a:r>
              <a:rPr lang="en-US" b="1" dirty="0"/>
              <a:t>interrupt service routine (ISR)</a:t>
            </a:r>
            <a:r>
              <a:rPr lang="en-US" dirty="0"/>
              <a:t> via an </a:t>
            </a:r>
            <a:r>
              <a:rPr lang="en-US" b="1" dirty="0"/>
              <a:t>interrupt vector table</a:t>
            </a:r>
            <a:r>
              <a:rPr lang="en-US" dirty="0"/>
              <a:t>, processes the request, then resumes the previous task.</a:t>
            </a:r>
            <a:endParaRPr lang="en-US" dirty="0"/>
          </a:p>
          <a:p>
            <a:pPr algn="just"/>
            <a:r>
              <a:rPr lang="en-US" dirty="0"/>
              <a:t>Modern systems store the return address on the </a:t>
            </a:r>
            <a:r>
              <a:rPr lang="en-US" b="1" dirty="0"/>
              <a:t>system stack</a:t>
            </a:r>
            <a:r>
              <a:rPr lang="en-US" dirty="0"/>
              <a:t>. If the ISR modifies processor state, it must save and restore it before returning to ensure smooth execution.</a:t>
            </a:r>
            <a:endParaRPr lang="en-US" dirty="0"/>
          </a:p>
          <a:p>
            <a:pPr marL="0"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4"/>
                </a:solidFill>
              </a:rPr>
              <a:t>Storage Structure</a:t>
            </a:r>
            <a:br>
              <a:rPr lang="en-US" b="1" dirty="0">
                <a:solidFill>
                  <a:schemeClr val="accent4"/>
                </a:solidFill>
              </a:rPr>
            </a:br>
            <a:endParaRPr lang="en-US" dirty="0">
              <a:solidFill>
                <a:schemeClr val="accent4"/>
              </a:solidFill>
            </a:endParaRPr>
          </a:p>
        </p:txBody>
      </p:sp>
      <p:sp>
        <p:nvSpPr>
          <p:cNvPr id="3" name="Content Placeholder 2"/>
          <p:cNvSpPr>
            <a:spLocks noGrp="1"/>
          </p:cNvSpPr>
          <p:nvPr>
            <p:ph idx="1"/>
          </p:nvPr>
        </p:nvSpPr>
        <p:spPr/>
        <p:txBody>
          <a:bodyPr/>
          <a:lstStyle/>
          <a:p>
            <a:pPr algn="just"/>
            <a:r>
              <a:rPr lang="en-US" dirty="0" smtClean="0"/>
              <a:t>The </a:t>
            </a:r>
            <a:r>
              <a:rPr lang="en-US" b="1" dirty="0"/>
              <a:t>CPU</a:t>
            </a:r>
            <a:r>
              <a:rPr lang="en-US" dirty="0"/>
              <a:t> can only execute instructions from </a:t>
            </a:r>
            <a:r>
              <a:rPr lang="en-US" b="1" dirty="0"/>
              <a:t>main memory</a:t>
            </a:r>
            <a:r>
              <a:rPr lang="en-US" dirty="0"/>
              <a:t> (RAM), typically </a:t>
            </a:r>
            <a:r>
              <a:rPr lang="en-US" b="1" dirty="0"/>
              <a:t>DRAM</a:t>
            </a:r>
            <a:r>
              <a:rPr lang="en-US" dirty="0"/>
              <a:t>. General-purpose computers store programs in </a:t>
            </a:r>
            <a:r>
              <a:rPr lang="en-US" b="1" dirty="0"/>
              <a:t>rewritable memory</a:t>
            </a:r>
            <a:r>
              <a:rPr lang="en-US" dirty="0"/>
              <a:t>, while </a:t>
            </a:r>
            <a:r>
              <a:rPr lang="en-US" b="1" dirty="0"/>
              <a:t>ROM</a:t>
            </a:r>
            <a:r>
              <a:rPr lang="en-US" dirty="0"/>
              <a:t> and </a:t>
            </a:r>
            <a:r>
              <a:rPr lang="en-US" b="1" dirty="0"/>
              <a:t>EEPROM</a:t>
            </a:r>
            <a:r>
              <a:rPr lang="en-US" dirty="0"/>
              <a:t> store static programs like the </a:t>
            </a:r>
            <a:r>
              <a:rPr lang="en-US" b="1" dirty="0"/>
              <a:t>bootstrap program</a:t>
            </a:r>
            <a:r>
              <a:rPr lang="en-US" dirty="0"/>
              <a:t>.</a:t>
            </a:r>
            <a:endParaRPr lang="en-US" dirty="0"/>
          </a:p>
          <a:p>
            <a:pPr algn="just"/>
            <a:r>
              <a:rPr lang="en-US" dirty="0"/>
              <a:t>Memory consists of </a:t>
            </a:r>
            <a:r>
              <a:rPr lang="en-US" b="1" dirty="0"/>
              <a:t>bytes</a:t>
            </a:r>
            <a:r>
              <a:rPr lang="en-US" dirty="0"/>
              <a:t> with unique addresses, accessed via </a:t>
            </a:r>
            <a:r>
              <a:rPr lang="en-US" b="1" dirty="0"/>
              <a:t>load</a:t>
            </a:r>
            <a:r>
              <a:rPr lang="en-US" dirty="0"/>
              <a:t> and </a:t>
            </a:r>
            <a:r>
              <a:rPr lang="en-US" b="1" dirty="0"/>
              <a:t>store</a:t>
            </a:r>
            <a:r>
              <a:rPr lang="en-US" dirty="0"/>
              <a:t> instructions. The </a:t>
            </a:r>
            <a:r>
              <a:rPr lang="en-US" b="1" dirty="0"/>
              <a:t>CPU</a:t>
            </a:r>
            <a:r>
              <a:rPr lang="en-US" dirty="0"/>
              <a:t> loads data from memory into registers and stores data back when needed. It also automatically fetches instructions from memory for execution.</a:t>
            </a:r>
            <a:endParaRPr lang="en-US" dirty="0"/>
          </a:p>
          <a:p>
            <a:pPr marL="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A computer’s instruction-execution cycle fetches, decodes, and executes instructions, storing results in memory. Main memory is limited and volatile, so secondary storage (like magnetic disks) is used for permanent data storage. Storage systems vary in speed, cost, size, and volatility, including registers, cache, RAM, disks, and CDs. Efficient storage management is crucial for system performance.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090762" y="1393825"/>
            <a:ext cx="5451676"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Storage systems are organized in a hierarchy based on speed and cost. Faster storage (e.g., registers and cache) is more expensive and volatile, while slower storage (e.g., magnetic disks and tapes) is cheaper and nonvolatile. Solid-state drives (SSDs) are faster than magnetic disks and nonvolatile. Flash memory and NVRAM provide nonvolatile storage, with flash being slower than DRAM and NVRAM using batteries for backup power. The hierarchy balances speed, cost, and </a:t>
            </a:r>
            <a:r>
              <a:rPr lang="en-US" dirty="0" smtClean="0"/>
              <a:t>reliability.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0515600" cy="1325563"/>
          </a:xfrm>
        </p:spPr>
        <p:txBody>
          <a:bodyPr/>
          <a:lstStyle/>
          <a:p>
            <a:pPr algn="ctr"/>
            <a:r>
              <a:rPr lang="en-US" b="1" dirty="0">
                <a:solidFill>
                  <a:schemeClr val="accent4"/>
                </a:solidFill>
              </a:rPr>
              <a:t>I/O Structure</a:t>
            </a:r>
            <a:endParaRPr lang="en-US" b="1" dirty="0">
              <a:solidFill>
                <a:schemeClr val="accent4"/>
              </a:solidFill>
            </a:endParaRPr>
          </a:p>
        </p:txBody>
      </p:sp>
      <p:sp>
        <p:nvSpPr>
          <p:cNvPr id="3" name="Content Placeholder 2"/>
          <p:cNvSpPr>
            <a:spLocks noGrp="1"/>
          </p:cNvSpPr>
          <p:nvPr>
            <p:ph idx="1"/>
          </p:nvPr>
        </p:nvSpPr>
        <p:spPr/>
        <p:txBody>
          <a:bodyPr/>
          <a:lstStyle/>
          <a:p>
            <a:pPr algn="just"/>
            <a:r>
              <a:rPr lang="en-US" dirty="0"/>
              <a:t>I/O devices in a computer are managed by device controllers and device drivers. Controllers handle specific devices and transfer data to their local buffers, while drivers provide a standard interface for the operating system.</a:t>
            </a:r>
            <a:endParaRPr lang="en-US" dirty="0"/>
          </a:p>
          <a:p>
            <a:pPr algn="just"/>
            <a:r>
              <a:rPr lang="en-US" dirty="0"/>
              <a:t>For I/O operations, the driver sets up the controller, which performs the data transfer. The controller signals completion via an interrupt. For large data transfers, </a:t>
            </a:r>
            <a:r>
              <a:rPr lang="en-US" b="1" dirty="0"/>
              <a:t>Direct Memory Access (DMA)</a:t>
            </a:r>
            <a:r>
              <a:rPr lang="en-US" dirty="0"/>
              <a:t> allows controllers to transfer entire blocks of data directly to or from memory with minimal CPU involvement, reducing overhead and improving efficiency.</a:t>
            </a:r>
            <a:endParaRPr lang="en-US" dirty="0"/>
          </a:p>
          <a:p>
            <a:pPr marL="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02658"/>
            <a:ext cx="10515600" cy="1325563"/>
          </a:xfrm>
        </p:spPr>
        <p:txBody>
          <a:bodyPr/>
          <a:lstStyle/>
          <a:p>
            <a:pPr algn="ctr"/>
            <a:r>
              <a:rPr lang="en-US" b="1" dirty="0" smtClean="0">
                <a:solidFill>
                  <a:schemeClr val="accent4"/>
                </a:solidFill>
              </a:rPr>
              <a:t>Computer System Structure</a:t>
            </a:r>
            <a:endParaRPr lang="en-US" b="1" dirty="0">
              <a:solidFill>
                <a:schemeClr val="accent4"/>
              </a:solidFill>
            </a:endParaRPr>
          </a:p>
        </p:txBody>
      </p:sp>
      <p:sp>
        <p:nvSpPr>
          <p:cNvPr id="3" name="Content Placeholder 2"/>
          <p:cNvSpPr>
            <a:spLocks noGrp="1"/>
          </p:cNvSpPr>
          <p:nvPr>
            <p:ph idx="1"/>
          </p:nvPr>
        </p:nvSpPr>
        <p:spPr>
          <a:xfrm>
            <a:off x="816864" y="1600200"/>
            <a:ext cx="10871200" cy="5029200"/>
          </a:xfrm>
        </p:spPr>
        <p:txBody>
          <a:bodyPr>
            <a:normAutofit/>
          </a:bodyPr>
          <a:lstStyle/>
          <a:p>
            <a:pPr algn="just"/>
            <a:r>
              <a:rPr lang="en-US" dirty="0" smtClean="0"/>
              <a:t>Computer system can be divided into four components:</a:t>
            </a:r>
            <a:endParaRPr lang="en-US" dirty="0" smtClean="0"/>
          </a:p>
          <a:p>
            <a:pPr lvl="1" algn="just"/>
            <a:r>
              <a:rPr lang="en-US" b="1" dirty="0" smtClean="0"/>
              <a:t>Hardware</a:t>
            </a:r>
            <a:r>
              <a:rPr lang="en-US" dirty="0" smtClean="0"/>
              <a:t> – provides basic computing resources</a:t>
            </a:r>
            <a:endParaRPr lang="en-US" dirty="0" smtClean="0"/>
          </a:p>
          <a:p>
            <a:pPr lvl="2" algn="just"/>
            <a:r>
              <a:rPr lang="en-US" dirty="0" smtClean="0"/>
              <a:t>CPU, memory, I/O devices</a:t>
            </a:r>
            <a:endParaRPr lang="en-US" dirty="0" smtClean="0"/>
          </a:p>
          <a:p>
            <a:pPr lvl="1" algn="just"/>
            <a:r>
              <a:rPr lang="en-US" b="1" dirty="0" smtClean="0"/>
              <a:t>Operating system</a:t>
            </a:r>
            <a:endParaRPr lang="en-US" b="1" dirty="0" smtClean="0"/>
          </a:p>
          <a:p>
            <a:pPr lvl="2" algn="just"/>
            <a:r>
              <a:rPr lang="en-US" dirty="0" smtClean="0"/>
              <a:t>Controls and coordinates use of hardware among various applications and users</a:t>
            </a:r>
            <a:endParaRPr lang="en-US" dirty="0" smtClean="0"/>
          </a:p>
          <a:p>
            <a:pPr lvl="1" algn="just"/>
            <a:r>
              <a:rPr lang="en-US" b="1" dirty="0" smtClean="0"/>
              <a:t>Application programs </a:t>
            </a:r>
            <a:r>
              <a:rPr lang="en-US" dirty="0" smtClean="0"/>
              <a:t>– define the ways in which the system resources are used to solve the computing problems of the users</a:t>
            </a:r>
            <a:endParaRPr lang="en-US" dirty="0" smtClean="0"/>
          </a:p>
          <a:p>
            <a:pPr lvl="2" algn="just"/>
            <a:r>
              <a:rPr lang="en-US" dirty="0" smtClean="0"/>
              <a:t>Word processors, compilers, web browsers, database systems, video games</a:t>
            </a:r>
            <a:endParaRPr lang="en-US" dirty="0" smtClean="0"/>
          </a:p>
          <a:p>
            <a:pPr lvl="1" algn="just"/>
            <a:r>
              <a:rPr lang="en-US" b="1" dirty="0" smtClean="0"/>
              <a:t>Users</a:t>
            </a:r>
            <a:endParaRPr lang="en-US" b="1" dirty="0" smtClean="0"/>
          </a:p>
          <a:p>
            <a:pPr lvl="2" algn="just"/>
            <a:r>
              <a:rPr lang="en-US" dirty="0" smtClean="0"/>
              <a:t>People, machines, other computers</a:t>
            </a:r>
            <a:endParaRPr lang="en-US" dirty="0" smtClean="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217"/>
            <a:ext cx="10515600" cy="1325563"/>
          </a:xfrm>
        </p:spPr>
        <p:txBody>
          <a:bodyPr>
            <a:normAutofit/>
          </a:bodyPr>
          <a:lstStyle/>
          <a:p>
            <a:pPr algn="ctr"/>
            <a:r>
              <a:rPr lang="en-US" sz="3600" b="1" dirty="0" smtClean="0">
                <a:solidFill>
                  <a:schemeClr val="accent4"/>
                </a:solidFill>
              </a:rPr>
              <a:t>Four Components of a Computer System</a:t>
            </a:r>
            <a:endParaRPr lang="en-US" sz="3600" b="1" dirty="0">
              <a:solidFill>
                <a:schemeClr val="accent4"/>
              </a:solidFill>
            </a:endParaRPr>
          </a:p>
        </p:txBody>
      </p:sp>
      <p:pic>
        <p:nvPicPr>
          <p:cNvPr id="4" name="Picture 4"/>
          <p:cNvPicPr>
            <a:picLocks noChangeAspect="1" noChangeArrowheads="1"/>
          </p:cNvPicPr>
          <p:nvPr/>
        </p:nvPicPr>
        <p:blipFill>
          <a:blip r:embed="rId1"/>
          <a:srcRect/>
          <a:stretch>
            <a:fillRect/>
          </a:stretch>
        </p:blipFill>
        <p:spPr bwMode="auto">
          <a:xfrm>
            <a:off x="1422400" y="1394780"/>
            <a:ext cx="9144000" cy="546322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27309" y="1781175"/>
            <a:ext cx="3326191" cy="1905000"/>
          </a:xfrm>
          <a:prstGeom prst="rect">
            <a:avLst/>
          </a:prstGeom>
        </p:spPr>
      </p:pic>
      <p:pic>
        <p:nvPicPr>
          <p:cNvPr id="5" name="Picture 4"/>
          <p:cNvPicPr>
            <a:picLocks noChangeAspect="1"/>
          </p:cNvPicPr>
          <p:nvPr/>
        </p:nvPicPr>
        <p:blipFill>
          <a:blip r:embed="rId2"/>
          <a:stretch>
            <a:fillRect/>
          </a:stretch>
        </p:blipFill>
        <p:spPr>
          <a:xfrm>
            <a:off x="4088796" y="2128420"/>
            <a:ext cx="3429605" cy="1529180"/>
          </a:xfrm>
          <a:prstGeom prst="rect">
            <a:avLst/>
          </a:prstGeom>
        </p:spPr>
      </p:pic>
      <p:pic>
        <p:nvPicPr>
          <p:cNvPr id="6" name="Picture 5"/>
          <p:cNvPicPr>
            <a:picLocks noChangeAspect="1"/>
          </p:cNvPicPr>
          <p:nvPr/>
        </p:nvPicPr>
        <p:blipFill rotWithShape="1">
          <a:blip r:embed="rId3"/>
          <a:srcRect l="13200" t="5200" r="13200" b="5200"/>
          <a:stretch>
            <a:fillRect/>
          </a:stretch>
        </p:blipFill>
        <p:spPr>
          <a:xfrm>
            <a:off x="8591549" y="1752600"/>
            <a:ext cx="3149600" cy="2156792"/>
          </a:xfrm>
          <a:prstGeom prst="rect">
            <a:avLst/>
          </a:prstGeom>
        </p:spPr>
      </p:pic>
      <p:sp>
        <p:nvSpPr>
          <p:cNvPr id="7" name="TextBox 6"/>
          <p:cNvSpPr txBox="1"/>
          <p:nvPr/>
        </p:nvSpPr>
        <p:spPr>
          <a:xfrm>
            <a:off x="565149" y="4219576"/>
            <a:ext cx="1410386" cy="461665"/>
          </a:xfrm>
          <a:prstGeom prst="rect">
            <a:avLst/>
          </a:prstGeom>
          <a:noFill/>
        </p:spPr>
        <p:txBody>
          <a:bodyPr wrap="none" rtlCol="0">
            <a:spAutoFit/>
          </a:bodyPr>
          <a:lstStyle/>
          <a:p>
            <a:r>
              <a:rPr lang="en-US" sz="2400" b="1" dirty="0" smtClean="0"/>
              <a:t>Hard Disk</a:t>
            </a:r>
            <a:endParaRPr lang="en-US" sz="2400" b="1" dirty="0"/>
          </a:p>
        </p:txBody>
      </p:sp>
      <p:sp>
        <p:nvSpPr>
          <p:cNvPr id="8" name="TextBox 7"/>
          <p:cNvSpPr txBox="1"/>
          <p:nvPr/>
        </p:nvSpPr>
        <p:spPr>
          <a:xfrm>
            <a:off x="5189431" y="4205288"/>
            <a:ext cx="813043" cy="461665"/>
          </a:xfrm>
          <a:prstGeom prst="rect">
            <a:avLst/>
          </a:prstGeom>
          <a:noFill/>
        </p:spPr>
        <p:txBody>
          <a:bodyPr wrap="none" rtlCol="0">
            <a:spAutoFit/>
          </a:bodyPr>
          <a:lstStyle/>
          <a:p>
            <a:r>
              <a:rPr lang="en-US" sz="2400" b="1" dirty="0" smtClean="0"/>
              <a:t>RAM</a:t>
            </a:r>
            <a:endParaRPr lang="en-US" sz="2400" b="1" dirty="0"/>
          </a:p>
        </p:txBody>
      </p:sp>
      <p:sp>
        <p:nvSpPr>
          <p:cNvPr id="9" name="TextBox 8"/>
          <p:cNvSpPr txBox="1"/>
          <p:nvPr/>
        </p:nvSpPr>
        <p:spPr>
          <a:xfrm>
            <a:off x="9302750" y="4205288"/>
            <a:ext cx="1423210" cy="461665"/>
          </a:xfrm>
          <a:prstGeom prst="rect">
            <a:avLst/>
          </a:prstGeom>
          <a:noFill/>
        </p:spPr>
        <p:txBody>
          <a:bodyPr wrap="none" rtlCol="0">
            <a:spAutoFit/>
          </a:bodyPr>
          <a:lstStyle/>
          <a:p>
            <a:r>
              <a:rPr lang="en-US" sz="2400" b="1" dirty="0" smtClean="0"/>
              <a:t>Processor</a:t>
            </a:r>
            <a:endParaRPr lang="en-US" sz="2400" b="1" dirty="0"/>
          </a:p>
        </p:txBody>
      </p:sp>
      <p:sp>
        <p:nvSpPr>
          <p:cNvPr id="10" name="Right Arrow 9"/>
          <p:cNvSpPr/>
          <p:nvPr/>
        </p:nvSpPr>
        <p:spPr>
          <a:xfrm>
            <a:off x="3328099" y="4288631"/>
            <a:ext cx="1016000" cy="323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7364811" y="4295478"/>
            <a:ext cx="1016000" cy="323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28059"/>
            <a:ext cx="10515600" cy="1325563"/>
          </a:xfrm>
        </p:spPr>
        <p:txBody>
          <a:bodyPr>
            <a:normAutofit fontScale="90000"/>
          </a:bodyPr>
          <a:lstStyle/>
          <a:p>
            <a:pPr algn="ctr"/>
            <a:br>
              <a:rPr lang="en-US" b="1" dirty="0">
                <a:solidFill>
                  <a:schemeClr val="accent4"/>
                </a:solidFill>
              </a:rPr>
            </a:br>
            <a:r>
              <a:rPr lang="en-US" b="1" dirty="0">
                <a:solidFill>
                  <a:schemeClr val="accent4"/>
                </a:solidFill>
              </a:rPr>
              <a:t>Basic </a:t>
            </a:r>
            <a:r>
              <a:rPr lang="en-US" b="1" dirty="0" smtClean="0">
                <a:solidFill>
                  <a:schemeClr val="accent4"/>
                </a:solidFill>
              </a:rPr>
              <a:t>components of </a:t>
            </a:r>
            <a:r>
              <a:rPr lang="en-US" b="1" dirty="0">
                <a:solidFill>
                  <a:schemeClr val="accent4"/>
                </a:solidFill>
              </a:rPr>
              <a:t>a </a:t>
            </a:r>
            <a:r>
              <a:rPr lang="en-US" b="1" dirty="0" smtClean="0">
                <a:solidFill>
                  <a:schemeClr val="accent4"/>
                </a:solidFill>
              </a:rPr>
              <a:t>CPU</a:t>
            </a:r>
            <a:br>
              <a:rPr lang="en-US" b="1" dirty="0">
                <a:solidFill>
                  <a:schemeClr val="accent4"/>
                </a:solidFill>
              </a:rPr>
            </a:br>
            <a:endParaRPr lang="en-US" b="1" dirty="0">
              <a:solidFill>
                <a:schemeClr val="accent4"/>
              </a:solidFill>
            </a:endParaRPr>
          </a:p>
        </p:txBody>
      </p:sp>
      <p:sp>
        <p:nvSpPr>
          <p:cNvPr id="3" name="Content Placeholder 2"/>
          <p:cNvSpPr>
            <a:spLocks noGrp="1"/>
          </p:cNvSpPr>
          <p:nvPr>
            <p:ph idx="1"/>
          </p:nvPr>
        </p:nvSpPr>
        <p:spPr>
          <a:xfrm>
            <a:off x="838200" y="1834092"/>
            <a:ext cx="10515600" cy="4351339"/>
          </a:xfrm>
        </p:spPr>
        <p:txBody>
          <a:bodyPr>
            <a:normAutofit/>
          </a:bodyPr>
          <a:lstStyle/>
          <a:p>
            <a:r>
              <a:rPr lang="en-US" b="1" dirty="0" smtClean="0"/>
              <a:t>Program </a:t>
            </a:r>
            <a:r>
              <a:rPr lang="en-US" b="1" dirty="0"/>
              <a:t>Counter (PC) </a:t>
            </a:r>
            <a:endParaRPr lang="en-US" dirty="0"/>
          </a:p>
          <a:p>
            <a:pPr lvl="1"/>
            <a:r>
              <a:rPr lang="en-US" dirty="0" smtClean="0"/>
              <a:t>Holds </a:t>
            </a:r>
            <a:r>
              <a:rPr lang="en-US" dirty="0"/>
              <a:t>the memory address of the next instruction </a:t>
            </a:r>
            <a:endParaRPr lang="en-US" dirty="0"/>
          </a:p>
          <a:p>
            <a:r>
              <a:rPr lang="en-US" b="1" dirty="0" smtClean="0"/>
              <a:t>Instruction </a:t>
            </a:r>
            <a:r>
              <a:rPr lang="en-US" b="1" dirty="0"/>
              <a:t>Register (IR) </a:t>
            </a:r>
            <a:endParaRPr lang="en-US" dirty="0"/>
          </a:p>
          <a:p>
            <a:pPr lvl="1"/>
            <a:r>
              <a:rPr lang="en-US" dirty="0" smtClean="0"/>
              <a:t>holds </a:t>
            </a:r>
            <a:r>
              <a:rPr lang="en-US" dirty="0"/>
              <a:t>the instruction currently being executed </a:t>
            </a:r>
            <a:endParaRPr lang="en-US" dirty="0"/>
          </a:p>
          <a:p>
            <a:r>
              <a:rPr lang="en-US" b="1" dirty="0" smtClean="0"/>
              <a:t>General </a:t>
            </a:r>
            <a:r>
              <a:rPr lang="en-US" b="1" dirty="0"/>
              <a:t>Registers (Reg. 1..n) </a:t>
            </a:r>
            <a:endParaRPr lang="en-US" dirty="0"/>
          </a:p>
          <a:p>
            <a:pPr lvl="1"/>
            <a:r>
              <a:rPr lang="en-US" dirty="0" smtClean="0"/>
              <a:t>hold </a:t>
            </a:r>
            <a:r>
              <a:rPr lang="en-US" dirty="0"/>
              <a:t>variables and temporary results </a:t>
            </a:r>
            <a:endParaRPr lang="en-US" dirty="0"/>
          </a:p>
          <a:p>
            <a:r>
              <a:rPr lang="en-US" b="1" dirty="0" smtClean="0"/>
              <a:t>Arithmetic </a:t>
            </a:r>
            <a:r>
              <a:rPr lang="en-US" b="1" dirty="0"/>
              <a:t>and Logic Unit (ALU) </a:t>
            </a:r>
            <a:endParaRPr lang="en-US" dirty="0"/>
          </a:p>
          <a:p>
            <a:pPr lvl="1"/>
            <a:r>
              <a:rPr lang="en-US" dirty="0" smtClean="0"/>
              <a:t>performs </a:t>
            </a:r>
            <a:r>
              <a:rPr lang="en-US" dirty="0"/>
              <a:t>arithmetic functions and logic operations </a:t>
            </a:r>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Stack </a:t>
            </a:r>
            <a:r>
              <a:rPr lang="en-US" b="1" dirty="0"/>
              <a:t>Pointer (SP) </a:t>
            </a:r>
            <a:endParaRPr lang="en-US" dirty="0"/>
          </a:p>
          <a:p>
            <a:pPr lvl="1"/>
            <a:r>
              <a:rPr lang="en-US" dirty="0" smtClean="0"/>
              <a:t>holds </a:t>
            </a:r>
            <a:r>
              <a:rPr lang="en-US" dirty="0"/>
              <a:t>memory address of a stack with a frame for each active procedure’s parameters &amp; local variables </a:t>
            </a:r>
            <a:endParaRPr lang="en-US" dirty="0"/>
          </a:p>
          <a:p>
            <a:r>
              <a:rPr lang="en-US" b="1" dirty="0" smtClean="0"/>
              <a:t>Processor </a:t>
            </a:r>
            <a:r>
              <a:rPr lang="en-US" b="1" dirty="0"/>
              <a:t>Status Word (PSW) </a:t>
            </a:r>
            <a:endParaRPr lang="en-US" dirty="0"/>
          </a:p>
          <a:p>
            <a:pPr lvl="1"/>
            <a:r>
              <a:rPr lang="en-US" dirty="0" smtClean="0"/>
              <a:t>contains </a:t>
            </a:r>
            <a:r>
              <a:rPr lang="en-US" dirty="0"/>
              <a:t>various control bits including the mode bit which determines whether privileged instructions can be executed </a:t>
            </a:r>
            <a:endParaRPr lang="en-US" dirty="0"/>
          </a:p>
          <a:p>
            <a:r>
              <a:rPr lang="en-US" b="1" dirty="0" smtClean="0"/>
              <a:t>Memory </a:t>
            </a:r>
            <a:r>
              <a:rPr lang="en-US" b="1" dirty="0"/>
              <a:t>Address Register (MAR) </a:t>
            </a:r>
            <a:endParaRPr lang="en-US" dirty="0"/>
          </a:p>
          <a:p>
            <a:pPr lvl="1"/>
            <a:r>
              <a:rPr lang="en-US" dirty="0" smtClean="0"/>
              <a:t>contains </a:t>
            </a:r>
            <a:r>
              <a:rPr lang="en-US" dirty="0"/>
              <a:t>address of memory to be loaded from/stored to </a:t>
            </a:r>
            <a:endParaRPr lang="en-US" dirty="0"/>
          </a:p>
          <a:p>
            <a:r>
              <a:rPr lang="en-US" b="1" dirty="0" smtClean="0"/>
              <a:t>Memory </a:t>
            </a:r>
            <a:r>
              <a:rPr lang="en-US" b="1" dirty="0"/>
              <a:t>Data Register (MDR) </a:t>
            </a:r>
            <a:endParaRPr lang="en-US" dirty="0"/>
          </a:p>
          <a:p>
            <a:pPr lvl="1"/>
            <a:r>
              <a:rPr lang="en-US" dirty="0" smtClean="0"/>
              <a:t>contains </a:t>
            </a:r>
            <a:r>
              <a:rPr lang="en-US" dirty="0"/>
              <a:t>memory data loaded or to be stored </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392"/>
            <a:ext cx="10515600" cy="1325563"/>
          </a:xfrm>
        </p:spPr>
        <p:txBody>
          <a:bodyPr>
            <a:normAutofit/>
          </a:bodyPr>
          <a:lstStyle/>
          <a:p>
            <a:pPr algn="ctr"/>
            <a:r>
              <a:rPr lang="en-US" b="1" dirty="0">
                <a:solidFill>
                  <a:schemeClr val="accent4"/>
                </a:solidFill>
              </a:rPr>
              <a:t>Two Views of Operating System</a:t>
            </a:r>
            <a:endParaRPr lang="en-US" b="1" dirty="0">
              <a:solidFill>
                <a:schemeClr val="accent4"/>
              </a:solidFill>
            </a:endParaRPr>
          </a:p>
        </p:txBody>
      </p:sp>
      <p:sp>
        <p:nvSpPr>
          <p:cNvPr id="3" name="Content Placeholder 2"/>
          <p:cNvSpPr>
            <a:spLocks noGrp="1"/>
          </p:cNvSpPr>
          <p:nvPr>
            <p:ph idx="1"/>
          </p:nvPr>
        </p:nvSpPr>
        <p:spPr/>
        <p:txBody>
          <a:bodyPr>
            <a:normAutofit/>
          </a:bodyPr>
          <a:lstStyle/>
          <a:p>
            <a:r>
              <a:rPr lang="en-US" sz="4400" b="1" dirty="0"/>
              <a:t>User's View</a:t>
            </a:r>
            <a:endParaRPr lang="en-US" sz="4400" b="1" dirty="0"/>
          </a:p>
          <a:p>
            <a:r>
              <a:rPr lang="en-US" sz="4400" b="1" dirty="0"/>
              <a:t>System View</a:t>
            </a:r>
            <a:endParaRPr lang="en-US" sz="4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133" y="77258"/>
            <a:ext cx="10515600" cy="1325563"/>
          </a:xfrm>
        </p:spPr>
        <p:txBody>
          <a:bodyPr/>
          <a:lstStyle/>
          <a:p>
            <a:pPr algn="ctr"/>
            <a:r>
              <a:rPr lang="en-US" b="1" dirty="0">
                <a:solidFill>
                  <a:schemeClr val="accent4"/>
                </a:solidFill>
              </a:rPr>
              <a:t>Operating System: </a:t>
            </a:r>
            <a:r>
              <a:rPr lang="en-US" dirty="0">
                <a:solidFill>
                  <a:schemeClr val="accent4"/>
                </a:solidFill>
              </a:rPr>
              <a:t>User View</a:t>
            </a:r>
            <a:endParaRPr lang="en-US"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The user view of the computer refers to the interface being used. </a:t>
            </a:r>
            <a:endParaRPr lang="en-US" dirty="0" smtClean="0"/>
          </a:p>
          <a:p>
            <a:pPr algn="just"/>
            <a:r>
              <a:rPr lang="en-US" dirty="0" smtClean="0"/>
              <a:t>Such </a:t>
            </a:r>
            <a:r>
              <a:rPr lang="en-US" dirty="0"/>
              <a:t>systems are designed for one user to monopolize its resources, to maximize the work that the user is performing</a:t>
            </a:r>
            <a:r>
              <a:rPr lang="en-US" dirty="0" smtClean="0"/>
              <a:t>.</a:t>
            </a:r>
            <a:endParaRPr lang="en-US" dirty="0" smtClean="0"/>
          </a:p>
          <a:p>
            <a:pPr algn="just"/>
            <a:r>
              <a:rPr lang="en-US" dirty="0" smtClean="0"/>
              <a:t> </a:t>
            </a:r>
            <a:r>
              <a:rPr lang="en-US" dirty="0"/>
              <a:t>In these cases, the operating system is designed mostly for ease of use, with some attention paid to performance, and none paid to resource utilization.</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58"/>
            <a:ext cx="10515600" cy="1325563"/>
          </a:xfrm>
        </p:spPr>
        <p:txBody>
          <a:bodyPr>
            <a:normAutofit/>
          </a:bodyPr>
          <a:lstStyle/>
          <a:p>
            <a:pPr algn="ctr"/>
            <a:r>
              <a:rPr lang="en-US" b="1" dirty="0">
                <a:solidFill>
                  <a:schemeClr val="accent4"/>
                </a:solidFill>
              </a:rPr>
              <a:t>Operating System: </a:t>
            </a:r>
            <a:r>
              <a:rPr lang="en-US" dirty="0">
                <a:solidFill>
                  <a:schemeClr val="accent4"/>
                </a:solidFill>
              </a:rPr>
              <a:t>System </a:t>
            </a:r>
            <a:r>
              <a:rPr lang="en-US" dirty="0" smtClean="0">
                <a:solidFill>
                  <a:schemeClr val="accent4"/>
                </a:solidFill>
              </a:rPr>
              <a:t>View</a:t>
            </a:r>
            <a:endParaRPr lang="en-US" dirty="0">
              <a:solidFill>
                <a:schemeClr val="accent4"/>
              </a:solidFill>
            </a:endParaRPr>
          </a:p>
        </p:txBody>
      </p:sp>
      <p:sp>
        <p:nvSpPr>
          <p:cNvPr id="3" name="Content Placeholder 2"/>
          <p:cNvSpPr>
            <a:spLocks noGrp="1"/>
          </p:cNvSpPr>
          <p:nvPr>
            <p:ph idx="1"/>
          </p:nvPr>
        </p:nvSpPr>
        <p:spPr/>
        <p:txBody>
          <a:bodyPr/>
          <a:lstStyle/>
          <a:p>
            <a:pPr algn="just"/>
            <a:r>
              <a:rPr lang="en-US" dirty="0"/>
              <a:t>Operating system can be viewed as a resource allocator also. </a:t>
            </a:r>
            <a:endParaRPr lang="en-US" dirty="0" smtClean="0"/>
          </a:p>
          <a:p>
            <a:pPr algn="just"/>
            <a:r>
              <a:rPr lang="en-US" dirty="0" smtClean="0"/>
              <a:t>A </a:t>
            </a:r>
            <a:r>
              <a:rPr lang="en-US" dirty="0"/>
              <a:t>computer system consists of many resources like - hardware and software - that must be managed efficiently. </a:t>
            </a:r>
            <a:endParaRPr lang="en-US" dirty="0" smtClean="0"/>
          </a:p>
          <a:p>
            <a:pPr algn="just"/>
            <a:r>
              <a:rPr lang="en-US" dirty="0" smtClean="0"/>
              <a:t>The </a:t>
            </a:r>
            <a:r>
              <a:rPr lang="en-US" dirty="0"/>
              <a:t>operating system acts as the manager of the resources, decides between conflicting requests, controls execution of programs etc.</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0"/>
            <a:ext cx="10515600" cy="1325563"/>
          </a:xfrm>
        </p:spPr>
        <p:txBody>
          <a:bodyPr/>
          <a:lstStyle/>
          <a:p>
            <a:pPr algn="ctr"/>
            <a:r>
              <a:rPr lang="en-US" b="1" dirty="0" smtClean="0">
                <a:solidFill>
                  <a:schemeClr val="accent4"/>
                </a:solidFill>
              </a:rPr>
              <a:t>What Operating Systems Do</a:t>
            </a:r>
            <a:endParaRPr lang="en-US" b="1" dirty="0">
              <a:solidFill>
                <a:schemeClr val="accent4"/>
              </a:solidFill>
            </a:endParaRPr>
          </a:p>
        </p:txBody>
      </p:sp>
      <p:sp>
        <p:nvSpPr>
          <p:cNvPr id="3" name="Content Placeholder 2"/>
          <p:cNvSpPr>
            <a:spLocks noGrp="1"/>
          </p:cNvSpPr>
          <p:nvPr>
            <p:ph idx="1"/>
          </p:nvPr>
        </p:nvSpPr>
        <p:spPr>
          <a:xfrm>
            <a:off x="816864" y="1600200"/>
            <a:ext cx="10871200" cy="5105400"/>
          </a:xfrm>
        </p:spPr>
        <p:txBody>
          <a:bodyPr>
            <a:noAutofit/>
          </a:bodyPr>
          <a:lstStyle/>
          <a:p>
            <a:pPr algn="just"/>
            <a:r>
              <a:rPr lang="en-US" sz="2200" dirty="0" smtClean="0"/>
              <a:t>Depends on the point of view</a:t>
            </a:r>
            <a:endParaRPr lang="en-US" sz="2200" dirty="0" smtClean="0"/>
          </a:p>
          <a:p>
            <a:pPr algn="just"/>
            <a:r>
              <a:rPr lang="en-US" sz="2200" dirty="0" smtClean="0"/>
              <a:t>Users want convenience, </a:t>
            </a:r>
            <a:r>
              <a:rPr lang="en-US" sz="2200" b="1" dirty="0" smtClean="0">
                <a:solidFill>
                  <a:srgbClr val="3366FF"/>
                </a:solidFill>
              </a:rPr>
              <a:t>ease</a:t>
            </a:r>
            <a:r>
              <a:rPr lang="en-US" sz="2200" dirty="0" smtClean="0">
                <a:solidFill>
                  <a:srgbClr val="3366FF"/>
                </a:solidFill>
              </a:rPr>
              <a:t> </a:t>
            </a:r>
            <a:r>
              <a:rPr lang="en-US" sz="2200" b="1" dirty="0" smtClean="0">
                <a:solidFill>
                  <a:srgbClr val="3366FF"/>
                </a:solidFill>
              </a:rPr>
              <a:t>of</a:t>
            </a:r>
            <a:r>
              <a:rPr lang="en-US" sz="2200" dirty="0" smtClean="0">
                <a:solidFill>
                  <a:srgbClr val="3366FF"/>
                </a:solidFill>
              </a:rPr>
              <a:t> </a:t>
            </a:r>
            <a:r>
              <a:rPr lang="en-US" sz="2200" b="1" dirty="0" smtClean="0">
                <a:solidFill>
                  <a:srgbClr val="3366FF"/>
                </a:solidFill>
              </a:rPr>
              <a:t>use </a:t>
            </a:r>
            <a:r>
              <a:rPr lang="en-US" sz="2200" dirty="0" smtClean="0"/>
              <a:t>and</a:t>
            </a:r>
            <a:r>
              <a:rPr lang="en-US" sz="2200" b="1" dirty="0" smtClean="0">
                <a:solidFill>
                  <a:srgbClr val="3366FF"/>
                </a:solidFill>
              </a:rPr>
              <a:t> good performance </a:t>
            </a:r>
            <a:endParaRPr lang="en-US" sz="2200" b="1" dirty="0" smtClean="0">
              <a:solidFill>
                <a:srgbClr val="3366FF"/>
              </a:solidFill>
            </a:endParaRPr>
          </a:p>
          <a:p>
            <a:pPr lvl="1" algn="just"/>
            <a:r>
              <a:rPr lang="en-US" sz="2200" dirty="0" smtClean="0"/>
              <a:t>Don</a:t>
            </a:r>
            <a:r>
              <a:rPr lang="ja-JP" altLang="en-US" sz="2200" dirty="0" smtClean="0"/>
              <a:t>’</a:t>
            </a:r>
            <a:r>
              <a:rPr lang="en-US" altLang="ja-JP" sz="2200" dirty="0" smtClean="0"/>
              <a:t>t care about </a:t>
            </a:r>
            <a:r>
              <a:rPr lang="en-US" altLang="ja-JP" sz="2200" b="1" dirty="0" smtClean="0">
                <a:solidFill>
                  <a:srgbClr val="3366FF"/>
                </a:solidFill>
              </a:rPr>
              <a:t>resource</a:t>
            </a:r>
            <a:r>
              <a:rPr lang="en-US" altLang="ja-JP" sz="2200" dirty="0" smtClean="0">
                <a:solidFill>
                  <a:srgbClr val="3366FF"/>
                </a:solidFill>
              </a:rPr>
              <a:t> </a:t>
            </a:r>
            <a:r>
              <a:rPr lang="en-US" altLang="ja-JP" sz="2200" b="1" dirty="0" smtClean="0">
                <a:solidFill>
                  <a:srgbClr val="3366FF"/>
                </a:solidFill>
              </a:rPr>
              <a:t>utilization</a:t>
            </a:r>
            <a:endParaRPr lang="en-US" altLang="ja-JP" sz="2200" b="1" dirty="0" smtClean="0">
              <a:solidFill>
                <a:srgbClr val="3366FF"/>
              </a:solidFill>
            </a:endParaRPr>
          </a:p>
          <a:p>
            <a:pPr algn="just"/>
            <a:r>
              <a:rPr lang="en-US" sz="2200" dirty="0" smtClean="0"/>
              <a:t>But shared computer such as </a:t>
            </a:r>
            <a:r>
              <a:rPr lang="en-US" sz="2200" b="1" dirty="0" smtClean="0">
                <a:solidFill>
                  <a:srgbClr val="3366FF"/>
                </a:solidFill>
              </a:rPr>
              <a:t>mainframe</a:t>
            </a:r>
            <a:r>
              <a:rPr lang="en-US" sz="2200" dirty="0" smtClean="0"/>
              <a:t> or </a:t>
            </a:r>
            <a:r>
              <a:rPr lang="en-US" sz="2200" b="1" dirty="0" smtClean="0">
                <a:solidFill>
                  <a:srgbClr val="3366FF"/>
                </a:solidFill>
              </a:rPr>
              <a:t>minicomputer</a:t>
            </a:r>
            <a:r>
              <a:rPr lang="en-US" sz="2200" dirty="0" smtClean="0"/>
              <a:t> must keep all users happy</a:t>
            </a:r>
            <a:endParaRPr lang="en-US" sz="2200" dirty="0" smtClean="0"/>
          </a:p>
          <a:p>
            <a:pPr algn="just"/>
            <a:r>
              <a:rPr lang="en-US" sz="2200" dirty="0" smtClean="0"/>
              <a:t>Users of dedicate systems such as </a:t>
            </a:r>
            <a:r>
              <a:rPr lang="en-US" sz="2200" b="1" dirty="0" smtClean="0">
                <a:solidFill>
                  <a:srgbClr val="3366FF"/>
                </a:solidFill>
              </a:rPr>
              <a:t>workstations</a:t>
            </a:r>
            <a:r>
              <a:rPr lang="en-US" sz="2200" dirty="0" smtClean="0"/>
              <a:t> have dedicated resources but frequently use shared resources from </a:t>
            </a:r>
            <a:r>
              <a:rPr lang="en-US" sz="2200" b="1" dirty="0" smtClean="0">
                <a:solidFill>
                  <a:srgbClr val="3366FF"/>
                </a:solidFill>
              </a:rPr>
              <a:t>servers</a:t>
            </a:r>
            <a:endParaRPr lang="en-US" sz="2200" b="1" dirty="0" smtClean="0">
              <a:solidFill>
                <a:srgbClr val="3366FF"/>
              </a:solidFill>
            </a:endParaRPr>
          </a:p>
          <a:p>
            <a:pPr algn="just"/>
            <a:r>
              <a:rPr lang="en-US" sz="2200" dirty="0" smtClean="0">
                <a:solidFill>
                  <a:srgbClr val="000000"/>
                </a:solidFill>
              </a:rPr>
              <a:t>Handheld computers are resource poor,  optimized for usability and battery life</a:t>
            </a:r>
            <a:endParaRPr lang="en-US" sz="2200" dirty="0" smtClean="0">
              <a:solidFill>
                <a:srgbClr val="000000"/>
              </a:solidFill>
            </a:endParaRPr>
          </a:p>
          <a:p>
            <a:pPr algn="just"/>
            <a:r>
              <a:rPr lang="en-US" sz="2200" dirty="0" smtClean="0">
                <a:solidFill>
                  <a:srgbClr val="000000"/>
                </a:solidFill>
              </a:rPr>
              <a:t>Some computers have little or no user interface, such as embedded computers in devices and automobiles</a:t>
            </a:r>
            <a:endParaRPr lang="en-US" sz="2200" dirty="0" smtClean="0">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7479</Words>
  <Application>WPS Presentation</Application>
  <PresentationFormat>Custom</PresentationFormat>
  <Paragraphs>159</Paragraphs>
  <Slides>27</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27</vt:i4>
      </vt:variant>
    </vt:vector>
  </HeadingPairs>
  <TitlesOfParts>
    <vt:vector size="39" baseType="lpstr">
      <vt:lpstr>Arial</vt:lpstr>
      <vt:lpstr>SimSun</vt:lpstr>
      <vt:lpstr>Wingdings</vt:lpstr>
      <vt:lpstr>Calibri</vt:lpstr>
      <vt:lpstr>Calibri Light</vt:lpstr>
      <vt:lpstr>Microsoft YaHei</vt:lpstr>
      <vt:lpstr>Arial Unicode MS</vt:lpstr>
      <vt:lpstr>Malgun Gothic</vt:lpstr>
      <vt:lpstr>Yu Gothic</vt:lpstr>
      <vt:lpstr>Office Theme</vt:lpstr>
      <vt:lpstr>Lecture 6</vt:lpstr>
      <vt:lpstr>1_Office Theme</vt:lpstr>
      <vt:lpstr>Lecture #1</vt:lpstr>
      <vt:lpstr>Operating system  by  Saima Kanwal</vt:lpstr>
      <vt:lpstr>Marks Distribution</vt:lpstr>
      <vt:lpstr>Rules to Remember</vt:lpstr>
      <vt:lpstr>Rules for Assignments</vt:lpstr>
      <vt:lpstr>Operating System</vt:lpstr>
      <vt:lpstr>Four Components of a Computer System</vt:lpstr>
      <vt:lpstr>Overview</vt:lpstr>
      <vt:lpstr>What is Operating System?</vt:lpstr>
      <vt:lpstr>Operating System</vt:lpstr>
      <vt:lpstr>Computer-System Organization </vt:lpstr>
      <vt:lpstr>PowerPoint 演示文稿</vt:lpstr>
      <vt:lpstr>System Boot and Interrupts </vt:lpstr>
      <vt:lpstr>Storage Structure </vt:lpstr>
      <vt:lpstr>PowerPoint 演示文稿</vt:lpstr>
      <vt:lpstr>PowerPoint 演示文稿</vt:lpstr>
      <vt:lpstr>PowerPoint 演示文稿</vt:lpstr>
      <vt:lpstr>I/O Structure</vt:lpstr>
      <vt:lpstr>Computer System Structure</vt:lpstr>
      <vt:lpstr>Four Components of a Computer System</vt:lpstr>
      <vt:lpstr>PowerPoint 演示文稿</vt:lpstr>
      <vt:lpstr> Basic components of a CPU </vt:lpstr>
      <vt:lpstr>PowerPoint 演示文稿</vt:lpstr>
      <vt:lpstr>Two Views of Operating System</vt:lpstr>
      <vt:lpstr>Operating System: User View</vt:lpstr>
      <vt:lpstr>Operating System: System View</vt:lpstr>
      <vt:lpstr>What Operating Systems Do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Tahmina</cp:lastModifiedBy>
  <cp:revision>152</cp:revision>
  <dcterms:created xsi:type="dcterms:W3CDTF">2024-06-21T09:49:00Z</dcterms:created>
  <dcterms:modified xsi:type="dcterms:W3CDTF">2025-03-15T07:57:29Z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1033-12.2.0.20326</vt:lpwstr>
  </property>
</Properties>
</file>