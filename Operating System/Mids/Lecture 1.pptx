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sldIdLst>
    <p:sldId id="273" r:id="rId4"/>
    <p:sldId id="888" r:id="rId5"/>
    <p:sldId id="889" r:id="rId6"/>
    <p:sldId id="890" r:id="rId7"/>
    <p:sldId id="891" r:id="rId8"/>
    <p:sldId id="892" r:id="rId9"/>
    <p:sldId id="917" r:id="rId10"/>
    <p:sldId id="904" r:id="rId11"/>
    <p:sldId id="905" r:id="rId12"/>
    <p:sldId id="906" r:id="rId13"/>
    <p:sldId id="894" r:id="rId14"/>
    <p:sldId id="895" r:id="rId15"/>
    <p:sldId id="896" r:id="rId16"/>
    <p:sldId id="897" r:id="rId17"/>
    <p:sldId id="898" r:id="rId18"/>
    <p:sldId id="899" r:id="rId19"/>
    <p:sldId id="900" r:id="rId20"/>
    <p:sldId id="901" r:id="rId21"/>
    <p:sldId id="907" r:id="rId22"/>
    <p:sldId id="908" r:id="rId23"/>
    <p:sldId id="909" r:id="rId24"/>
    <p:sldId id="910" r:id="rId25"/>
    <p:sldId id="911" r:id="rId26"/>
    <p:sldId id="912" r:id="rId27"/>
    <p:sldId id="913" r:id="rId28"/>
    <p:sldId id="914" r:id="rId29"/>
    <p:sldId id="915" r:id="rId30"/>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9" autoAdjust="0"/>
    <p:restoredTop sz="94660"/>
  </p:normalViewPr>
  <p:slideViewPr>
    <p:cSldViewPr snapToGrid="0">
      <p:cViewPr>
        <p:scale>
          <a:sx n="90" d="100"/>
          <a:sy n="90" d="100"/>
        </p:scale>
        <p:origin x="-600"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2/11/2025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2/11/2025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2/11/2025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2/11/2025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2/11/2025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2/11/2025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2/11/2025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2/11/2025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2/11/2025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7.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2/11/2025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2/11/2025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 xmlns:a16="http://schemas.microsoft.com/office/drawing/2014/main" id="{75FFEA7F-8809-458D-BE80-99F7CFB965CA}"/>
                </a:ext>
              </a:extLst>
            </p:cNvPr>
            <p:cNvPicPr>
              <a:picLocks noChangeAspect="1"/>
            </p:cNvPicPr>
            <p:nvPr userDrawn="1"/>
          </p:nvPicPr>
          <p:blipFill>
            <a:blip r:embed="rId14">
              <a:extLst>
                <a:ext uri="{96DAC541-7B7A-43D3-8B79-37D633B846F1}">
                  <asvg:svgBlip xmlns="" xmlns:asvg="http://schemas.microsoft.com/office/drawing/2016/SVG/main" xmlns:lc="http://schemas.openxmlformats.org/drawingml/2006/lockedCanva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 xmlns:a16="http://schemas.microsoft.com/office/drawing/2014/main" id="{ACED766F-A0E3-4D45-8A6E-86CCFAFA5D96}"/>
                </a:ext>
              </a:extLst>
            </p:cNvPr>
            <p:cNvPicPr>
              <a:picLocks noChangeAspect="1"/>
            </p:cNvPicPr>
            <p:nvPr userDrawn="1"/>
          </p:nvPicPr>
          <p:blipFill>
            <a:blip r:embed="rId16">
              <a:extLst>
                <a:ext uri="{96DAC541-7B7A-43D3-8B79-37D633B846F1}">
                  <asvg:svgBlip xmlns="" xmlns:asvg="http://schemas.microsoft.com/office/drawing/2016/SVG/main" xmlns:lc="http://schemas.openxmlformats.org/drawingml/2006/lockedCanva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2/11/2025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168275" y="3253104"/>
            <a:ext cx="12023725" cy="2271395"/>
          </a:xfrm>
        </p:spPr>
        <p:txBody>
          <a:bodyPr>
            <a:noAutofit/>
          </a:bodyPr>
          <a:lstStyle/>
          <a:p>
            <a:pPr>
              <a:lnSpc>
                <a:spcPct val="200000"/>
              </a:lnSpc>
              <a:defRPr/>
            </a:pPr>
            <a:r>
              <a:rPr lang="en-US" altLang="ko-KR" sz="2800" b="1" dirty="0" smtClean="0">
                <a:solidFill>
                  <a:schemeClr val="accent4"/>
                </a:solidFill>
                <a:cs typeface="Arial" pitchFamily="34" charset="0"/>
              </a:rPr>
              <a:t>Lecture #1</a:t>
            </a:r>
            <a:endParaRPr lang="en-US" altLang="ko-KR" sz="2800" b="1" dirty="0">
              <a:solidFill>
                <a:schemeClr val="accent4"/>
              </a:solidFill>
              <a:cs typeface="Arial"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5533" y="1943629"/>
            <a:ext cx="9144000" cy="2387600"/>
          </a:xfrm>
        </p:spPr>
        <p:txBody>
          <a:bodyPr>
            <a:normAutofit fontScale="90000"/>
          </a:bodyPr>
          <a:lstStyle/>
          <a:p>
            <a:pPr algn="ctr"/>
            <a:r>
              <a:rPr lang="en-US" dirty="0" smtClean="0"/>
              <a:t>Operating system </a:t>
            </a:r>
            <a:br>
              <a:rPr lang="en-US" dirty="0" smtClean="0"/>
            </a:br>
            <a:r>
              <a:rPr lang="en-US" dirty="0" smtClean="0"/>
              <a:t>by </a:t>
            </a:r>
            <a:br>
              <a:rPr lang="en-US" dirty="0" smtClean="0"/>
            </a:br>
            <a:r>
              <a:rPr lang="en-US" dirty="0" err="1" smtClean="0"/>
              <a:t>Saima</a:t>
            </a:r>
            <a:r>
              <a:rPr lang="en-US" dirty="0" smtClean="0"/>
              <a:t> </a:t>
            </a:r>
            <a:r>
              <a:rPr lang="en-US" dirty="0" err="1" smtClean="0"/>
              <a:t>Kanwal</a:t>
            </a:r>
            <a:endParaRPr lang="en-US" dirty="0"/>
          </a:p>
        </p:txBody>
      </p:sp>
      <p:sp>
        <p:nvSpPr>
          <p:cNvPr id="3" name="Subtitle 2"/>
          <p:cNvSpPr>
            <a:spLocks noGrp="1"/>
          </p:cNvSpPr>
          <p:nvPr>
            <p:ph type="subTitle" idx="1"/>
          </p:nvPr>
        </p:nvSpPr>
        <p:spPr>
          <a:xfrm>
            <a:off x="1490133" y="4448704"/>
            <a:ext cx="9144000" cy="1655763"/>
          </a:xfrm>
        </p:spPr>
        <p:txBody>
          <a:bodyPr/>
          <a:lstStyle/>
          <a:p>
            <a:r>
              <a:rPr lang="en-US" dirty="0" smtClean="0"/>
              <a:t>Lecture # 1</a:t>
            </a:r>
            <a:endParaRPr lang="en-US" dirty="0"/>
          </a:p>
        </p:txBody>
      </p:sp>
    </p:spTree>
    <p:extLst>
      <p:ext uri="{BB962C8B-B14F-4D97-AF65-F5344CB8AC3E}">
        <p14:creationId xmlns:p14="http://schemas.microsoft.com/office/powerpoint/2010/main" val="193817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333" y="119591"/>
            <a:ext cx="10515600" cy="1325563"/>
          </a:xfrm>
        </p:spPr>
        <p:txBody>
          <a:bodyPr/>
          <a:lstStyle/>
          <a:p>
            <a:pPr algn="ctr"/>
            <a:r>
              <a:rPr lang="en-US" b="1" dirty="0" smtClean="0">
                <a:solidFill>
                  <a:schemeClr val="accent4"/>
                </a:solidFill>
              </a:rPr>
              <a:t>Marks Distribution</a:t>
            </a:r>
            <a:endParaRPr lang="en-US" b="1" dirty="0">
              <a:solidFill>
                <a:schemeClr val="accent4"/>
              </a:solidFill>
            </a:endParaRPr>
          </a:p>
        </p:txBody>
      </p:sp>
      <p:sp>
        <p:nvSpPr>
          <p:cNvPr id="3" name="Content Placeholder 2"/>
          <p:cNvSpPr>
            <a:spLocks noGrp="1"/>
          </p:cNvSpPr>
          <p:nvPr>
            <p:ph idx="1"/>
          </p:nvPr>
        </p:nvSpPr>
        <p:spPr/>
        <p:txBody>
          <a:bodyPr/>
          <a:lstStyle/>
          <a:p>
            <a:r>
              <a:rPr lang="en-US" dirty="0"/>
              <a:t>Internal Assessment</a:t>
            </a:r>
            <a:r>
              <a:rPr lang="en-US" dirty="0" smtClean="0"/>
              <a:t>: 35 Marks</a:t>
            </a:r>
          </a:p>
          <a:p>
            <a:r>
              <a:rPr lang="en-US" dirty="0"/>
              <a:t>Mid Semester Examination</a:t>
            </a:r>
            <a:r>
              <a:rPr lang="en-US" dirty="0" smtClean="0"/>
              <a:t>: 25 Marks</a:t>
            </a:r>
          </a:p>
          <a:p>
            <a:r>
              <a:rPr lang="en-US" dirty="0"/>
              <a:t>Final Semester Examination</a:t>
            </a:r>
            <a:r>
              <a:rPr lang="en-US" dirty="0" smtClean="0"/>
              <a:t>: 40 Marks</a:t>
            </a:r>
            <a:endParaRPr lang="en-US" dirty="0"/>
          </a:p>
        </p:txBody>
      </p:sp>
    </p:spTree>
    <p:extLst>
      <p:ext uri="{BB962C8B-B14F-4D97-AF65-F5344CB8AC3E}">
        <p14:creationId xmlns:p14="http://schemas.microsoft.com/office/powerpoint/2010/main" val="3066132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325"/>
            <a:ext cx="10515600" cy="1325563"/>
          </a:xfrm>
        </p:spPr>
        <p:txBody>
          <a:bodyPr/>
          <a:lstStyle/>
          <a:p>
            <a:pPr algn="ctr"/>
            <a:r>
              <a:rPr lang="en-US" b="1" dirty="0" smtClean="0">
                <a:solidFill>
                  <a:schemeClr val="accent4"/>
                </a:solidFill>
              </a:rPr>
              <a:t>Rules to Remember</a:t>
            </a:r>
            <a:endParaRPr lang="en-US" b="1"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Come to class prepared to </a:t>
            </a:r>
            <a:r>
              <a:rPr lang="en-US" dirty="0" smtClean="0"/>
              <a:t>learn.</a:t>
            </a:r>
          </a:p>
          <a:p>
            <a:pPr algn="just"/>
            <a:r>
              <a:rPr lang="en-US" dirty="0" smtClean="0"/>
              <a:t>Keep your mobiles </a:t>
            </a:r>
            <a:r>
              <a:rPr lang="en-US" b="1" dirty="0" smtClean="0"/>
              <a:t>Silent</a:t>
            </a:r>
            <a:r>
              <a:rPr lang="en-US" dirty="0" smtClean="0"/>
              <a:t> and keep it inside your bag.</a:t>
            </a:r>
            <a:endParaRPr lang="en-US" dirty="0"/>
          </a:p>
          <a:p>
            <a:pPr algn="just"/>
            <a:r>
              <a:rPr lang="en-US" dirty="0" smtClean="0"/>
              <a:t>Late arrival in my class will be marked </a:t>
            </a:r>
            <a:r>
              <a:rPr lang="en-US" b="1" dirty="0" smtClean="0"/>
              <a:t>Absent</a:t>
            </a:r>
          </a:p>
          <a:p>
            <a:pPr algn="just"/>
            <a:r>
              <a:rPr lang="en-US" b="1" dirty="0"/>
              <a:t>Raise your hand </a:t>
            </a:r>
            <a:r>
              <a:rPr lang="en-US" dirty="0"/>
              <a:t>before speaking or leaving your seat</a:t>
            </a:r>
            <a:r>
              <a:rPr lang="en-US" dirty="0" smtClean="0"/>
              <a:t>.</a:t>
            </a:r>
          </a:p>
          <a:p>
            <a:pPr algn="just"/>
            <a:r>
              <a:rPr lang="en-US" dirty="0"/>
              <a:t>Listen and follow directions</a:t>
            </a:r>
            <a:r>
              <a:rPr lang="en-US" dirty="0" smtClean="0"/>
              <a:t>.</a:t>
            </a:r>
          </a:p>
          <a:p>
            <a:pPr algn="just"/>
            <a:r>
              <a:rPr lang="en-US" dirty="0"/>
              <a:t>Actively participate in classroom </a:t>
            </a:r>
            <a:r>
              <a:rPr lang="en-US" dirty="0" smtClean="0"/>
              <a:t>activities</a:t>
            </a:r>
          </a:p>
          <a:p>
            <a:pPr algn="just"/>
            <a:r>
              <a:rPr lang="en-US" dirty="0" smtClean="0"/>
              <a:t>Ask Questions. </a:t>
            </a:r>
          </a:p>
          <a:p>
            <a:pPr algn="just"/>
            <a:r>
              <a:rPr lang="en-US" dirty="0" smtClean="0"/>
              <a:t>Convey your issue to your instructor through your CR. </a:t>
            </a:r>
          </a:p>
        </p:txBody>
      </p:sp>
    </p:spTree>
    <p:extLst>
      <p:ext uri="{BB962C8B-B14F-4D97-AF65-F5344CB8AC3E}">
        <p14:creationId xmlns:p14="http://schemas.microsoft.com/office/powerpoint/2010/main" val="1006190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lgn="ctr"/>
            <a:r>
              <a:rPr lang="en-US" b="1" dirty="0" smtClean="0">
                <a:solidFill>
                  <a:schemeClr val="accent4"/>
                </a:solidFill>
              </a:rPr>
              <a:t>Rules for Assignments</a:t>
            </a:r>
            <a:endParaRPr lang="en-US" b="1" dirty="0">
              <a:solidFill>
                <a:schemeClr val="accent4"/>
              </a:solidFill>
            </a:endParaRPr>
          </a:p>
        </p:txBody>
      </p:sp>
      <p:sp>
        <p:nvSpPr>
          <p:cNvPr id="3" name="Content Placeholder 2"/>
          <p:cNvSpPr>
            <a:spLocks noGrp="1"/>
          </p:cNvSpPr>
          <p:nvPr>
            <p:ph idx="1"/>
          </p:nvPr>
        </p:nvSpPr>
        <p:spPr/>
        <p:txBody>
          <a:bodyPr/>
          <a:lstStyle/>
          <a:p>
            <a:r>
              <a:rPr lang="en-US" dirty="0"/>
              <a:t>No extensions will be granted for submission of assignments.</a:t>
            </a:r>
          </a:p>
          <a:p>
            <a:r>
              <a:rPr lang="en-US" dirty="0" smtClean="0"/>
              <a:t>Once deadline is over, no assignment will be accepted. </a:t>
            </a:r>
          </a:p>
          <a:p>
            <a:r>
              <a:rPr lang="en-US" dirty="0" smtClean="0"/>
              <a:t>Plagiarism will be checked for each assignment (Where Applicable).</a:t>
            </a:r>
          </a:p>
          <a:p>
            <a:endParaRPr lang="en-US" dirty="0" smtClean="0"/>
          </a:p>
        </p:txBody>
      </p:sp>
    </p:spTree>
    <p:extLst>
      <p:ext uri="{BB962C8B-B14F-4D97-AF65-F5344CB8AC3E}">
        <p14:creationId xmlns:p14="http://schemas.microsoft.com/office/powerpoint/2010/main" val="2807175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smtClean="0"/>
              <a:t>Operating System</a:t>
            </a:r>
            <a:endParaRPr lang="en-US" sz="4800" b="1" dirty="0"/>
          </a:p>
        </p:txBody>
      </p:sp>
      <p:sp>
        <p:nvSpPr>
          <p:cNvPr id="5" name="Text Placeholder 4"/>
          <p:cNvSpPr>
            <a:spLocks noGrp="1"/>
          </p:cNvSpPr>
          <p:nvPr>
            <p:ph type="body" idx="1"/>
          </p:nvPr>
        </p:nvSpPr>
        <p:spPr/>
        <p:txBody>
          <a:bodyPr>
            <a:normAutofit/>
          </a:bodyPr>
          <a:lstStyle/>
          <a:p>
            <a:r>
              <a:rPr lang="en-US" sz="3600" b="1" dirty="0" smtClean="0"/>
              <a:t>Background</a:t>
            </a:r>
            <a:endParaRPr lang="en-US" sz="3600" b="1" dirty="0"/>
          </a:p>
        </p:txBody>
      </p:sp>
    </p:spTree>
    <p:extLst>
      <p:ext uri="{BB962C8B-B14F-4D97-AF65-F5344CB8AC3E}">
        <p14:creationId xmlns:p14="http://schemas.microsoft.com/office/powerpoint/2010/main" val="38035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217"/>
            <a:ext cx="10515600" cy="1325563"/>
          </a:xfrm>
        </p:spPr>
        <p:txBody>
          <a:bodyPr>
            <a:normAutofit/>
          </a:bodyPr>
          <a:lstStyle/>
          <a:p>
            <a:pPr algn="ctr"/>
            <a:r>
              <a:rPr lang="en-US" sz="3600" b="1" dirty="0" smtClean="0">
                <a:solidFill>
                  <a:schemeClr val="accent4"/>
                </a:solidFill>
              </a:rPr>
              <a:t>Four Components of a Computer System</a:t>
            </a:r>
            <a:endParaRPr lang="en-US" sz="3600" b="1" dirty="0">
              <a:solidFill>
                <a:schemeClr val="accent4"/>
              </a:solidFill>
            </a:endParaRPr>
          </a:p>
        </p:txBody>
      </p:sp>
      <p:pic>
        <p:nvPicPr>
          <p:cNvPr id="4" name="Picture 4"/>
          <p:cNvPicPr>
            <a:picLocks noChangeAspect="1" noChangeArrowheads="1"/>
          </p:cNvPicPr>
          <p:nvPr/>
        </p:nvPicPr>
        <p:blipFill>
          <a:blip r:embed="rId2"/>
          <a:srcRect/>
          <a:stretch>
            <a:fillRect/>
          </a:stretch>
        </p:blipFill>
        <p:spPr bwMode="auto">
          <a:xfrm>
            <a:off x="1659466" y="1259313"/>
            <a:ext cx="9144000" cy="5463220"/>
          </a:xfrm>
          <a:prstGeom prst="rect">
            <a:avLst/>
          </a:prstGeom>
          <a:noFill/>
          <a:ln w="9525">
            <a:noFill/>
            <a:miter lim="800000"/>
            <a:headEnd/>
            <a:tailEnd/>
          </a:ln>
        </p:spPr>
      </p:pic>
    </p:spTree>
    <p:extLst>
      <p:ext uri="{BB962C8B-B14F-4D97-AF65-F5344CB8AC3E}">
        <p14:creationId xmlns:p14="http://schemas.microsoft.com/office/powerpoint/2010/main" val="3971874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3" y="170392"/>
            <a:ext cx="10515600" cy="1325563"/>
          </a:xfrm>
        </p:spPr>
        <p:txBody>
          <a:bodyPr/>
          <a:lstStyle/>
          <a:p>
            <a:pPr algn="ctr"/>
            <a:r>
              <a:rPr lang="en-US" b="1" dirty="0" smtClean="0">
                <a:solidFill>
                  <a:schemeClr val="accent4"/>
                </a:solidFill>
              </a:rPr>
              <a:t>Overview</a:t>
            </a:r>
            <a:endParaRPr lang="en-US" b="1"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A computer system has many resources (hardware and software), which may be require to complete a task. </a:t>
            </a:r>
            <a:endParaRPr lang="en-US" dirty="0" smtClean="0"/>
          </a:p>
          <a:p>
            <a:pPr algn="just"/>
            <a:r>
              <a:rPr lang="en-US" dirty="0" smtClean="0"/>
              <a:t>The </a:t>
            </a:r>
            <a:r>
              <a:rPr lang="en-US" dirty="0"/>
              <a:t>commonly required resources are input/output devices, memory, file storage space, CPU etc</a:t>
            </a:r>
            <a:r>
              <a:rPr lang="en-US" dirty="0" smtClean="0"/>
              <a:t>.</a:t>
            </a:r>
          </a:p>
          <a:p>
            <a:pPr algn="just"/>
            <a:r>
              <a:rPr lang="en-US" dirty="0" smtClean="0"/>
              <a:t>Software also plays a vital role in a computer system</a:t>
            </a:r>
          </a:p>
          <a:p>
            <a:pPr lvl="1" algn="just"/>
            <a:r>
              <a:rPr lang="en-US" dirty="0" smtClean="0"/>
              <a:t>Application Software</a:t>
            </a:r>
          </a:p>
          <a:p>
            <a:pPr lvl="1" algn="just"/>
            <a:r>
              <a:rPr lang="en-US" dirty="0" smtClean="0"/>
              <a:t>System Software</a:t>
            </a:r>
          </a:p>
          <a:p>
            <a:pPr algn="just"/>
            <a:endParaRPr lang="en-US" dirty="0"/>
          </a:p>
        </p:txBody>
      </p:sp>
    </p:spTree>
    <p:extLst>
      <p:ext uri="{BB962C8B-B14F-4D97-AF65-F5344CB8AC3E}">
        <p14:creationId xmlns:p14="http://schemas.microsoft.com/office/powerpoint/2010/main" val="3674757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92"/>
            <a:ext cx="10515600" cy="1325563"/>
          </a:xfrm>
        </p:spPr>
        <p:txBody>
          <a:bodyPr>
            <a:normAutofit/>
          </a:bodyPr>
          <a:lstStyle/>
          <a:p>
            <a:pPr algn="ctr"/>
            <a:r>
              <a:rPr lang="en-US" b="1" dirty="0" smtClean="0">
                <a:solidFill>
                  <a:schemeClr val="accent4"/>
                </a:solidFill>
              </a:rPr>
              <a:t>What is Operating System?</a:t>
            </a:r>
            <a:endParaRPr lang="en-US" b="1" dirty="0">
              <a:solidFill>
                <a:schemeClr val="accent4"/>
              </a:solidFill>
            </a:endParaRPr>
          </a:p>
        </p:txBody>
      </p:sp>
      <p:sp>
        <p:nvSpPr>
          <p:cNvPr id="3" name="Content Placeholder 2"/>
          <p:cNvSpPr>
            <a:spLocks noGrp="1"/>
          </p:cNvSpPr>
          <p:nvPr>
            <p:ph idx="1"/>
          </p:nvPr>
        </p:nvSpPr>
        <p:spPr/>
        <p:txBody>
          <a:bodyPr/>
          <a:lstStyle/>
          <a:p>
            <a:pPr algn="just"/>
            <a:r>
              <a:rPr lang="en-US" dirty="0" smtClean="0"/>
              <a:t>A program that acts as an intermediary between a user of a computer and the computer hardware</a:t>
            </a:r>
          </a:p>
          <a:p>
            <a:pPr algn="just"/>
            <a:r>
              <a:rPr lang="en-US" dirty="0" smtClean="0"/>
              <a:t>All computers and computer-like devices have operating systems, including your laptop, tablet, desktop, Smartphone, smart watch, router</a:t>
            </a:r>
          </a:p>
          <a:p>
            <a:endParaRPr lang="en-US" dirty="0"/>
          </a:p>
        </p:txBody>
      </p:sp>
      <p:pic>
        <p:nvPicPr>
          <p:cNvPr id="4" name="Picture 11"/>
          <p:cNvPicPr>
            <a:picLocks noChangeAspect="1"/>
          </p:cNvPicPr>
          <p:nvPr/>
        </p:nvPicPr>
        <p:blipFill>
          <a:blip r:embed="rId2" cstate="print"/>
          <a:srcRect/>
          <a:stretch>
            <a:fillRect/>
          </a:stretch>
        </p:blipFill>
        <p:spPr bwMode="auto">
          <a:xfrm>
            <a:off x="8940800" y="4419600"/>
            <a:ext cx="2743200" cy="2057400"/>
          </a:xfrm>
          <a:prstGeom prst="rect">
            <a:avLst/>
          </a:prstGeom>
          <a:noFill/>
          <a:ln w="9525">
            <a:noFill/>
            <a:miter lim="800000"/>
            <a:headEnd/>
            <a:tailEnd/>
          </a:ln>
        </p:spPr>
      </p:pic>
      <p:sp>
        <p:nvSpPr>
          <p:cNvPr id="5" name="Rectangle 4"/>
          <p:cNvSpPr/>
          <p:nvPr/>
        </p:nvSpPr>
        <p:spPr>
          <a:xfrm>
            <a:off x="1524000" y="5911334"/>
            <a:ext cx="7213600" cy="384721"/>
          </a:xfrm>
          <a:prstGeom prst="rect">
            <a:avLst/>
          </a:prstGeom>
        </p:spPr>
        <p:txBody>
          <a:bodyPr wrap="square">
            <a:spAutoFit/>
          </a:bodyPr>
          <a:lstStyle/>
          <a:p>
            <a:r>
              <a:rPr lang="en-US" dirty="0"/>
              <a:t>https://www.youtube.com/watch?v=fkGCLIQx1MI</a:t>
            </a:r>
          </a:p>
        </p:txBody>
      </p:sp>
      <p:sp>
        <p:nvSpPr>
          <p:cNvPr id="6" name="Rectangle 5"/>
          <p:cNvSpPr/>
          <p:nvPr/>
        </p:nvSpPr>
        <p:spPr>
          <a:xfrm>
            <a:off x="1524000" y="5627727"/>
            <a:ext cx="7213600" cy="384721"/>
          </a:xfrm>
          <a:prstGeom prst="rect">
            <a:avLst/>
          </a:prstGeom>
        </p:spPr>
        <p:txBody>
          <a:bodyPr wrap="square">
            <a:spAutoFit/>
          </a:bodyPr>
          <a:lstStyle/>
          <a:p>
            <a:r>
              <a:rPr lang="en-US" dirty="0" smtClean="0"/>
              <a:t>Homework: Watch the following video</a:t>
            </a:r>
            <a:endParaRPr lang="en-US" dirty="0"/>
          </a:p>
        </p:txBody>
      </p:sp>
    </p:spTree>
    <p:extLst>
      <p:ext uri="{BB962C8B-B14F-4D97-AF65-F5344CB8AC3E}">
        <p14:creationId xmlns:p14="http://schemas.microsoft.com/office/powerpoint/2010/main" val="327584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0" y="85725"/>
            <a:ext cx="10515600" cy="1325563"/>
          </a:xfrm>
        </p:spPr>
        <p:txBody>
          <a:bodyPr/>
          <a:lstStyle/>
          <a:p>
            <a:pPr algn="ctr"/>
            <a:r>
              <a:rPr lang="en-US" b="1" dirty="0" smtClean="0">
                <a:solidFill>
                  <a:schemeClr val="accent4"/>
                </a:solidFill>
              </a:rPr>
              <a:t>Operating System</a:t>
            </a:r>
            <a:endParaRPr lang="en-US" b="1" dirty="0">
              <a:solidFill>
                <a:schemeClr val="accent4"/>
              </a:solidFill>
            </a:endParaRPr>
          </a:p>
        </p:txBody>
      </p:sp>
      <p:sp>
        <p:nvSpPr>
          <p:cNvPr id="3" name="Content Placeholder 2"/>
          <p:cNvSpPr>
            <a:spLocks noGrp="1"/>
          </p:cNvSpPr>
          <p:nvPr>
            <p:ph idx="1"/>
          </p:nvPr>
        </p:nvSpPr>
        <p:spPr/>
        <p:txBody>
          <a:bodyPr/>
          <a:lstStyle/>
          <a:p>
            <a:pPr algn="just"/>
            <a:r>
              <a:rPr lang="en-US" dirty="0" smtClean="0"/>
              <a:t>In technical terms, </a:t>
            </a:r>
            <a:r>
              <a:rPr lang="en-US" dirty="0"/>
              <a:t>operating system is the resource manager i.e. it can manage the resource of a computer system internally</a:t>
            </a:r>
            <a:r>
              <a:rPr lang="en-US" dirty="0" smtClean="0"/>
              <a:t>.</a:t>
            </a:r>
          </a:p>
          <a:p>
            <a:pPr algn="just"/>
            <a:r>
              <a:rPr lang="en-US" dirty="0" smtClean="0"/>
              <a:t>The resources are; processor, memory, storage, I/O Devices, files etc.</a:t>
            </a:r>
          </a:p>
        </p:txBody>
      </p:sp>
      <p:pic>
        <p:nvPicPr>
          <p:cNvPr id="4" name="Picture 5" descr="rhpe0090bx"/>
          <p:cNvPicPr>
            <a:picLocks noChangeAspect="1" noChangeArrowheads="1"/>
          </p:cNvPicPr>
          <p:nvPr/>
        </p:nvPicPr>
        <p:blipFill>
          <a:blip r:embed="rId2" cstate="print"/>
          <a:srcRect/>
          <a:stretch>
            <a:fillRect/>
          </a:stretch>
        </p:blipFill>
        <p:spPr bwMode="auto">
          <a:xfrm>
            <a:off x="8331200" y="4038600"/>
            <a:ext cx="2971800" cy="2228850"/>
          </a:xfrm>
          <a:prstGeom prst="rect">
            <a:avLst/>
          </a:prstGeom>
          <a:noFill/>
          <a:ln w="9525">
            <a:noFill/>
            <a:miter lim="800000"/>
            <a:headEnd/>
            <a:tailEnd/>
          </a:ln>
        </p:spPr>
      </p:pic>
    </p:spTree>
    <p:extLst>
      <p:ext uri="{BB962C8B-B14F-4D97-AF65-F5344CB8AC3E}">
        <p14:creationId xmlns:p14="http://schemas.microsoft.com/office/powerpoint/2010/main" val="29466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chemeClr val="accent4"/>
                </a:solidFill>
              </a:rPr>
              <a:t>Computer-System Organization</a:t>
            </a:r>
            <a:br>
              <a:rPr lang="en-US" sz="3200" b="1" dirty="0">
                <a:solidFill>
                  <a:schemeClr val="accent4"/>
                </a:solidFill>
              </a:rPr>
            </a:br>
            <a:endParaRPr lang="en-US" sz="3200"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smtClean="0"/>
              <a:t>A </a:t>
            </a:r>
            <a:r>
              <a:rPr lang="en-US" dirty="0"/>
              <a:t>modern computer system consists of one or more CPUs and multiple device controllers, all connected via a common bus to shared memory. Each device controller manages a specific type of device (e.g., disk drives, audio, video). The CPU and controllers operate in parallel, with a memory controller ensuring synchronized access.</a:t>
            </a:r>
          </a:p>
          <a:p>
            <a:pPr algn="just"/>
            <a:r>
              <a:rPr lang="en-US" dirty="0"/>
              <a:t>When powered on or rebooted, the system runs a bootstrap program stored in ROM or EEPROM (firmware). This program initializes the system, sets up hardware components, and loads the operating system for execution</a:t>
            </a:r>
            <a:r>
              <a:rPr lang="en-US" dirty="0" smtClean="0"/>
              <a:t>.</a:t>
            </a:r>
            <a:r>
              <a:rPr lang="en-US" dirty="0"/>
              <a:t> </a:t>
            </a:r>
            <a:r>
              <a:rPr lang="en-US" dirty="0" smtClean="0"/>
              <a:t>For completing this </a:t>
            </a:r>
            <a:r>
              <a:rPr lang="en-US" dirty="0"/>
              <a:t>goal, the bootstrap program must locate the operating-system kernel </a:t>
            </a:r>
            <a:r>
              <a:rPr lang="en-US" dirty="0" smtClean="0"/>
              <a:t>and load </a:t>
            </a:r>
            <a:r>
              <a:rPr lang="en-US" dirty="0"/>
              <a:t>it into memory.</a:t>
            </a:r>
          </a:p>
          <a:p>
            <a:pPr marL="0" indent="0" algn="just">
              <a:buNone/>
            </a:pPr>
            <a:endParaRPr lang="en-US" dirty="0"/>
          </a:p>
        </p:txBody>
      </p:sp>
    </p:spTree>
    <p:extLst>
      <p:ext uri="{BB962C8B-B14F-4D97-AF65-F5344CB8AC3E}">
        <p14:creationId xmlns:p14="http://schemas.microsoft.com/office/powerpoint/2010/main" val="2219977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6007" y="1947281"/>
            <a:ext cx="7818120" cy="4023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408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4"/>
                </a:solidFill>
              </a:rPr>
              <a:t>System Boot and Interrupts</a:t>
            </a:r>
            <a:br>
              <a:rPr lang="en-US" b="1" dirty="0">
                <a:solidFill>
                  <a:schemeClr val="accent4"/>
                </a:solidFill>
              </a:rPr>
            </a:br>
            <a:endParaRPr lang="en-US" dirty="0">
              <a:solidFill>
                <a:schemeClr val="accent4"/>
              </a:solidFill>
            </a:endParaRPr>
          </a:p>
        </p:txBody>
      </p:sp>
      <p:sp>
        <p:nvSpPr>
          <p:cNvPr id="3" name="Content Placeholder 2"/>
          <p:cNvSpPr>
            <a:spLocks noGrp="1"/>
          </p:cNvSpPr>
          <p:nvPr>
            <p:ph idx="1"/>
          </p:nvPr>
        </p:nvSpPr>
        <p:spPr/>
        <p:txBody>
          <a:bodyPr>
            <a:normAutofit fontScale="92500"/>
          </a:bodyPr>
          <a:lstStyle/>
          <a:p>
            <a:pPr algn="just"/>
            <a:r>
              <a:rPr lang="en-US" dirty="0" smtClean="0"/>
              <a:t>After </a:t>
            </a:r>
            <a:r>
              <a:rPr lang="en-US" dirty="0"/>
              <a:t>loading, the </a:t>
            </a:r>
            <a:r>
              <a:rPr lang="en-US" b="1" dirty="0"/>
              <a:t>kernel</a:t>
            </a:r>
            <a:r>
              <a:rPr lang="en-US" dirty="0"/>
              <a:t> starts system processes (</a:t>
            </a:r>
            <a:r>
              <a:rPr lang="en-US" b="1" dirty="0"/>
              <a:t>daemons</a:t>
            </a:r>
            <a:r>
              <a:rPr lang="en-US" dirty="0"/>
              <a:t>) to provide services. On UNIX, the </a:t>
            </a:r>
            <a:r>
              <a:rPr lang="en-US" b="1" dirty="0"/>
              <a:t>"</a:t>
            </a:r>
            <a:r>
              <a:rPr lang="en-US" b="1" dirty="0" err="1"/>
              <a:t>init</a:t>
            </a:r>
            <a:r>
              <a:rPr lang="en-US" b="1" dirty="0"/>
              <a:t>"</a:t>
            </a:r>
            <a:r>
              <a:rPr lang="en-US" dirty="0"/>
              <a:t> process launches other daemons. Once booted, the system waits for events, usually triggered by </a:t>
            </a:r>
            <a:r>
              <a:rPr lang="en-US" b="1" dirty="0"/>
              <a:t>interrupts</a:t>
            </a:r>
            <a:r>
              <a:rPr lang="en-US" dirty="0"/>
              <a:t> from hardware or software.</a:t>
            </a:r>
          </a:p>
          <a:p>
            <a:pPr algn="just"/>
            <a:r>
              <a:rPr lang="en-US" b="1" dirty="0"/>
              <a:t>Hardware interrupts</a:t>
            </a:r>
            <a:r>
              <a:rPr lang="en-US" dirty="0"/>
              <a:t> come via the system bus, while </a:t>
            </a:r>
            <a:r>
              <a:rPr lang="en-US" b="1" dirty="0"/>
              <a:t>software interrupts</a:t>
            </a:r>
            <a:r>
              <a:rPr lang="en-US" dirty="0"/>
              <a:t> occur through </a:t>
            </a:r>
            <a:r>
              <a:rPr lang="en-US" b="1" dirty="0"/>
              <a:t>system calls</a:t>
            </a:r>
            <a:r>
              <a:rPr lang="en-US" dirty="0"/>
              <a:t>. When interrupted, the CPU pauses execution, jumps to an </a:t>
            </a:r>
            <a:r>
              <a:rPr lang="en-US" b="1" dirty="0"/>
              <a:t>interrupt service routine (ISR)</a:t>
            </a:r>
            <a:r>
              <a:rPr lang="en-US" dirty="0"/>
              <a:t> via an </a:t>
            </a:r>
            <a:r>
              <a:rPr lang="en-US" b="1" dirty="0"/>
              <a:t>interrupt vector table</a:t>
            </a:r>
            <a:r>
              <a:rPr lang="en-US" dirty="0"/>
              <a:t>, processes the request, then resumes the previous task.</a:t>
            </a:r>
          </a:p>
          <a:p>
            <a:pPr algn="just"/>
            <a:r>
              <a:rPr lang="en-US" dirty="0"/>
              <a:t>Modern systems store the return address on the </a:t>
            </a:r>
            <a:r>
              <a:rPr lang="en-US" b="1" dirty="0"/>
              <a:t>system stack</a:t>
            </a:r>
            <a:r>
              <a:rPr lang="en-US" dirty="0"/>
              <a:t>. If the ISR modifies processor state, it must save and restore it before returning to ensure smooth execution.</a:t>
            </a:r>
          </a:p>
          <a:p>
            <a:pPr marL="0" indent="0">
              <a:buNone/>
            </a:pPr>
            <a:endParaRPr lang="en-US" dirty="0"/>
          </a:p>
        </p:txBody>
      </p:sp>
    </p:spTree>
    <p:extLst>
      <p:ext uri="{BB962C8B-B14F-4D97-AF65-F5344CB8AC3E}">
        <p14:creationId xmlns:p14="http://schemas.microsoft.com/office/powerpoint/2010/main" val="967275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4"/>
                </a:solidFill>
              </a:rPr>
              <a:t>Storage Structure</a:t>
            </a:r>
            <a:br>
              <a:rPr lang="en-US" b="1" dirty="0">
                <a:solidFill>
                  <a:schemeClr val="accent4"/>
                </a:solidFill>
              </a:rPr>
            </a:br>
            <a:endParaRPr lang="en-US" dirty="0">
              <a:solidFill>
                <a:schemeClr val="accent4"/>
              </a:solidFill>
            </a:endParaRPr>
          </a:p>
        </p:txBody>
      </p:sp>
      <p:sp>
        <p:nvSpPr>
          <p:cNvPr id="3" name="Content Placeholder 2"/>
          <p:cNvSpPr>
            <a:spLocks noGrp="1"/>
          </p:cNvSpPr>
          <p:nvPr>
            <p:ph idx="1"/>
          </p:nvPr>
        </p:nvSpPr>
        <p:spPr/>
        <p:txBody>
          <a:bodyPr/>
          <a:lstStyle/>
          <a:p>
            <a:pPr algn="just"/>
            <a:r>
              <a:rPr lang="en-US" dirty="0" smtClean="0"/>
              <a:t>The </a:t>
            </a:r>
            <a:r>
              <a:rPr lang="en-US" b="1" dirty="0"/>
              <a:t>CPU</a:t>
            </a:r>
            <a:r>
              <a:rPr lang="en-US" dirty="0"/>
              <a:t> can only execute instructions from </a:t>
            </a:r>
            <a:r>
              <a:rPr lang="en-US" b="1" dirty="0"/>
              <a:t>main memory</a:t>
            </a:r>
            <a:r>
              <a:rPr lang="en-US" dirty="0"/>
              <a:t> (RAM), typically </a:t>
            </a:r>
            <a:r>
              <a:rPr lang="en-US" b="1" dirty="0"/>
              <a:t>DRAM</a:t>
            </a:r>
            <a:r>
              <a:rPr lang="en-US" dirty="0"/>
              <a:t>. General-purpose computers store programs in </a:t>
            </a:r>
            <a:r>
              <a:rPr lang="en-US" b="1" dirty="0"/>
              <a:t>rewritable memory</a:t>
            </a:r>
            <a:r>
              <a:rPr lang="en-US" dirty="0"/>
              <a:t>, while </a:t>
            </a:r>
            <a:r>
              <a:rPr lang="en-US" b="1" dirty="0"/>
              <a:t>ROM</a:t>
            </a:r>
            <a:r>
              <a:rPr lang="en-US" dirty="0"/>
              <a:t> and </a:t>
            </a:r>
            <a:r>
              <a:rPr lang="en-US" b="1" dirty="0"/>
              <a:t>EEPROM</a:t>
            </a:r>
            <a:r>
              <a:rPr lang="en-US" dirty="0"/>
              <a:t> store static programs like the </a:t>
            </a:r>
            <a:r>
              <a:rPr lang="en-US" b="1" dirty="0"/>
              <a:t>bootstrap program</a:t>
            </a:r>
            <a:r>
              <a:rPr lang="en-US" dirty="0"/>
              <a:t>.</a:t>
            </a:r>
          </a:p>
          <a:p>
            <a:pPr algn="just"/>
            <a:r>
              <a:rPr lang="en-US" dirty="0"/>
              <a:t>Memory consists of </a:t>
            </a:r>
            <a:r>
              <a:rPr lang="en-US" b="1" dirty="0"/>
              <a:t>bytes</a:t>
            </a:r>
            <a:r>
              <a:rPr lang="en-US" dirty="0"/>
              <a:t> with unique addresses, accessed via </a:t>
            </a:r>
            <a:r>
              <a:rPr lang="en-US" b="1" dirty="0"/>
              <a:t>load</a:t>
            </a:r>
            <a:r>
              <a:rPr lang="en-US" dirty="0"/>
              <a:t> and </a:t>
            </a:r>
            <a:r>
              <a:rPr lang="en-US" b="1" dirty="0"/>
              <a:t>store</a:t>
            </a:r>
            <a:r>
              <a:rPr lang="en-US" dirty="0"/>
              <a:t> instructions. The </a:t>
            </a:r>
            <a:r>
              <a:rPr lang="en-US" b="1" dirty="0"/>
              <a:t>CPU</a:t>
            </a:r>
            <a:r>
              <a:rPr lang="en-US" dirty="0"/>
              <a:t> loads data from memory into registers and stores data back when needed. It also automatically fetches instructions from memory for execution.</a:t>
            </a:r>
          </a:p>
          <a:p>
            <a:pPr marL="0" indent="0">
              <a:buNone/>
            </a:pPr>
            <a:endParaRPr lang="en-US" dirty="0"/>
          </a:p>
        </p:txBody>
      </p:sp>
    </p:spTree>
    <p:extLst>
      <p:ext uri="{BB962C8B-B14F-4D97-AF65-F5344CB8AC3E}">
        <p14:creationId xmlns:p14="http://schemas.microsoft.com/office/powerpoint/2010/main" val="410578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A computer’s instruction-execution cycle fetches, decodes, and executes instructions, storing results in memory. Main memory is limited and volatile, so secondary storage (like magnetic disks) is used for permanent data storage. Storage systems vary in speed, cost, size, and volatility, including registers, cache, RAM, disks, and CDs. Efficient storage management is crucial for system performance.</a:t>
            </a:r>
          </a:p>
        </p:txBody>
      </p:sp>
    </p:spTree>
    <p:extLst>
      <p:ext uri="{BB962C8B-B14F-4D97-AF65-F5344CB8AC3E}">
        <p14:creationId xmlns:p14="http://schemas.microsoft.com/office/powerpoint/2010/main" val="1076094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0762" y="1393825"/>
            <a:ext cx="5451676"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4117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Storage systems are organized in a hierarchy based on speed and cost. Faster storage (e.g., registers and cache) is more expensive and volatile, while slower storage (e.g., magnetic disks and tapes) is cheaper and nonvolatile. Solid-state drives (SSDs) are faster than magnetic disks and nonvolatile. Flash memory and NVRAM provide nonvolatile storage, with flash being slower than DRAM and NVRAM using batteries for backup power. The hierarchy balances speed, cost, and </a:t>
            </a:r>
            <a:r>
              <a:rPr lang="en-US" dirty="0" smtClean="0"/>
              <a:t>reliability.</a:t>
            </a:r>
            <a:endParaRPr lang="en-US" dirty="0"/>
          </a:p>
        </p:txBody>
      </p:sp>
    </p:spTree>
    <p:extLst>
      <p:ext uri="{BB962C8B-B14F-4D97-AF65-F5344CB8AC3E}">
        <p14:creationId xmlns:p14="http://schemas.microsoft.com/office/powerpoint/2010/main" val="1063007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0515600" cy="1325563"/>
          </a:xfrm>
        </p:spPr>
        <p:txBody>
          <a:bodyPr/>
          <a:lstStyle/>
          <a:p>
            <a:pPr algn="ctr"/>
            <a:r>
              <a:rPr lang="en-US" b="1" dirty="0">
                <a:solidFill>
                  <a:schemeClr val="accent4"/>
                </a:solidFill>
              </a:rPr>
              <a:t>I/O Structure</a:t>
            </a:r>
          </a:p>
        </p:txBody>
      </p:sp>
      <p:sp>
        <p:nvSpPr>
          <p:cNvPr id="3" name="Content Placeholder 2"/>
          <p:cNvSpPr>
            <a:spLocks noGrp="1"/>
          </p:cNvSpPr>
          <p:nvPr>
            <p:ph idx="1"/>
          </p:nvPr>
        </p:nvSpPr>
        <p:spPr/>
        <p:txBody>
          <a:bodyPr/>
          <a:lstStyle/>
          <a:p>
            <a:pPr algn="just"/>
            <a:r>
              <a:rPr lang="en-US" dirty="0"/>
              <a:t>I/O devices in a computer are managed by device controllers and device drivers. Controllers handle specific devices and transfer data to their local buffers, while drivers provide a standard interface for the operating system.</a:t>
            </a:r>
          </a:p>
          <a:p>
            <a:pPr algn="just"/>
            <a:r>
              <a:rPr lang="en-US" dirty="0"/>
              <a:t>For I/O operations, the driver sets up the controller, which performs the data transfer. The controller signals completion via an interrupt. For large data transfers, </a:t>
            </a:r>
            <a:r>
              <a:rPr lang="en-US" b="1" dirty="0"/>
              <a:t>Direct Memory Access (DMA)</a:t>
            </a:r>
            <a:r>
              <a:rPr lang="en-US" dirty="0"/>
              <a:t> allows controllers to transfer entire blocks of data directly to or from memory with minimal CPU involvement, reducing overhead and improving efficiency.</a:t>
            </a:r>
          </a:p>
          <a:p>
            <a:pPr marL="0" indent="0">
              <a:buNone/>
            </a:pPr>
            <a:endParaRPr lang="en-US" dirty="0"/>
          </a:p>
        </p:txBody>
      </p:sp>
    </p:spTree>
    <p:extLst>
      <p:ext uri="{BB962C8B-B14F-4D97-AF65-F5344CB8AC3E}">
        <p14:creationId xmlns:p14="http://schemas.microsoft.com/office/powerpoint/2010/main" val="1908353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3" y="102658"/>
            <a:ext cx="10515600" cy="1325563"/>
          </a:xfrm>
        </p:spPr>
        <p:txBody>
          <a:bodyPr/>
          <a:lstStyle/>
          <a:p>
            <a:pPr algn="ctr"/>
            <a:r>
              <a:rPr lang="en-US" b="1" dirty="0" smtClean="0">
                <a:solidFill>
                  <a:schemeClr val="accent4"/>
                </a:solidFill>
              </a:rPr>
              <a:t>Computer System Structure</a:t>
            </a:r>
            <a:endParaRPr lang="en-US" b="1" dirty="0">
              <a:solidFill>
                <a:schemeClr val="accent4"/>
              </a:solidFill>
            </a:endParaRPr>
          </a:p>
        </p:txBody>
      </p:sp>
      <p:sp>
        <p:nvSpPr>
          <p:cNvPr id="3" name="Content Placeholder 2"/>
          <p:cNvSpPr>
            <a:spLocks noGrp="1"/>
          </p:cNvSpPr>
          <p:nvPr>
            <p:ph idx="1"/>
          </p:nvPr>
        </p:nvSpPr>
        <p:spPr>
          <a:xfrm>
            <a:off x="816864" y="1600200"/>
            <a:ext cx="10871200" cy="5029200"/>
          </a:xfrm>
        </p:spPr>
        <p:txBody>
          <a:bodyPr>
            <a:normAutofit/>
          </a:bodyPr>
          <a:lstStyle/>
          <a:p>
            <a:pPr algn="just"/>
            <a:r>
              <a:rPr lang="en-US" dirty="0" smtClean="0"/>
              <a:t>Computer system can be divided into four components:</a:t>
            </a:r>
          </a:p>
          <a:p>
            <a:pPr lvl="1" algn="just"/>
            <a:r>
              <a:rPr lang="en-US" b="1" dirty="0" smtClean="0"/>
              <a:t>Hardware</a:t>
            </a:r>
            <a:r>
              <a:rPr lang="en-US" dirty="0" smtClean="0"/>
              <a:t> – provides basic computing resources</a:t>
            </a:r>
          </a:p>
          <a:p>
            <a:pPr lvl="2" algn="just"/>
            <a:r>
              <a:rPr lang="en-US" dirty="0" smtClean="0"/>
              <a:t>CPU, memory, I/O devices</a:t>
            </a:r>
          </a:p>
          <a:p>
            <a:pPr lvl="1" algn="just"/>
            <a:r>
              <a:rPr lang="en-US" b="1" dirty="0" smtClean="0"/>
              <a:t>Operating system</a:t>
            </a:r>
          </a:p>
          <a:p>
            <a:pPr lvl="2" algn="just"/>
            <a:r>
              <a:rPr lang="en-US" dirty="0" smtClean="0"/>
              <a:t>Controls and coordinates use of hardware among various applications and users</a:t>
            </a:r>
          </a:p>
          <a:p>
            <a:pPr lvl="1" algn="just"/>
            <a:r>
              <a:rPr lang="en-US" b="1" dirty="0" smtClean="0"/>
              <a:t>Application programs </a:t>
            </a:r>
            <a:r>
              <a:rPr lang="en-US" dirty="0" smtClean="0"/>
              <a:t>– define the ways in which the system resources are used to solve the computing problems of the users</a:t>
            </a:r>
          </a:p>
          <a:p>
            <a:pPr lvl="2" algn="just"/>
            <a:r>
              <a:rPr lang="en-US" dirty="0" smtClean="0"/>
              <a:t>Word processors, compilers, web browsers, database systems, video games</a:t>
            </a:r>
          </a:p>
          <a:p>
            <a:pPr lvl="1" algn="just"/>
            <a:r>
              <a:rPr lang="en-US" b="1" dirty="0" smtClean="0"/>
              <a:t>Users</a:t>
            </a:r>
          </a:p>
          <a:p>
            <a:pPr lvl="2" algn="just"/>
            <a:r>
              <a:rPr lang="en-US" dirty="0" smtClean="0"/>
              <a:t>People, machines, other computers</a:t>
            </a:r>
          </a:p>
          <a:p>
            <a:endParaRPr lang="en-US" dirty="0"/>
          </a:p>
        </p:txBody>
      </p:sp>
    </p:spTree>
    <p:extLst>
      <p:ext uri="{BB962C8B-B14F-4D97-AF65-F5344CB8AC3E}">
        <p14:creationId xmlns:p14="http://schemas.microsoft.com/office/powerpoint/2010/main" val="2230405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217"/>
            <a:ext cx="10515600" cy="1325563"/>
          </a:xfrm>
        </p:spPr>
        <p:txBody>
          <a:bodyPr>
            <a:normAutofit/>
          </a:bodyPr>
          <a:lstStyle/>
          <a:p>
            <a:pPr algn="ctr"/>
            <a:r>
              <a:rPr lang="en-US" sz="3600" b="1" dirty="0" smtClean="0">
                <a:solidFill>
                  <a:schemeClr val="accent4"/>
                </a:solidFill>
              </a:rPr>
              <a:t>Four Components of a Computer System</a:t>
            </a:r>
            <a:endParaRPr lang="en-US" sz="3600" b="1" dirty="0">
              <a:solidFill>
                <a:schemeClr val="accent4"/>
              </a:solidFill>
            </a:endParaRPr>
          </a:p>
        </p:txBody>
      </p:sp>
      <p:pic>
        <p:nvPicPr>
          <p:cNvPr id="4" name="Picture 4"/>
          <p:cNvPicPr>
            <a:picLocks noChangeAspect="1" noChangeArrowheads="1"/>
          </p:cNvPicPr>
          <p:nvPr/>
        </p:nvPicPr>
        <p:blipFill>
          <a:blip r:embed="rId2"/>
          <a:srcRect/>
          <a:stretch>
            <a:fillRect/>
          </a:stretch>
        </p:blipFill>
        <p:spPr bwMode="auto">
          <a:xfrm>
            <a:off x="1422400" y="1394780"/>
            <a:ext cx="9144000" cy="5463220"/>
          </a:xfrm>
          <a:prstGeom prst="rect">
            <a:avLst/>
          </a:prstGeom>
          <a:noFill/>
          <a:ln w="9525">
            <a:noFill/>
            <a:miter lim="800000"/>
            <a:headEnd/>
            <a:tailEnd/>
          </a:ln>
        </p:spPr>
      </p:pic>
    </p:spTree>
    <p:extLst>
      <p:ext uri="{BB962C8B-B14F-4D97-AF65-F5344CB8AC3E}">
        <p14:creationId xmlns:p14="http://schemas.microsoft.com/office/powerpoint/2010/main" val="1646516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309" y="1781175"/>
            <a:ext cx="3326191" cy="1905000"/>
          </a:xfrm>
          <a:prstGeom prst="rect">
            <a:avLst/>
          </a:prstGeom>
        </p:spPr>
      </p:pic>
      <p:pic>
        <p:nvPicPr>
          <p:cNvPr id="5" name="Picture 4"/>
          <p:cNvPicPr>
            <a:picLocks noChangeAspect="1"/>
          </p:cNvPicPr>
          <p:nvPr/>
        </p:nvPicPr>
        <p:blipFill>
          <a:blip r:embed="rId3"/>
          <a:stretch>
            <a:fillRect/>
          </a:stretch>
        </p:blipFill>
        <p:spPr>
          <a:xfrm>
            <a:off x="4088796" y="2128420"/>
            <a:ext cx="3429605" cy="1529180"/>
          </a:xfrm>
          <a:prstGeom prst="rect">
            <a:avLst/>
          </a:prstGeom>
        </p:spPr>
      </p:pic>
      <p:pic>
        <p:nvPicPr>
          <p:cNvPr id="6" name="Picture 5"/>
          <p:cNvPicPr>
            <a:picLocks noChangeAspect="1"/>
          </p:cNvPicPr>
          <p:nvPr/>
        </p:nvPicPr>
        <p:blipFill rotWithShape="1">
          <a:blip r:embed="rId4"/>
          <a:srcRect l="13200" t="5200" r="13200" b="5200"/>
          <a:stretch/>
        </p:blipFill>
        <p:spPr>
          <a:xfrm>
            <a:off x="8591549" y="1752600"/>
            <a:ext cx="3149600" cy="2156792"/>
          </a:xfrm>
          <a:prstGeom prst="rect">
            <a:avLst/>
          </a:prstGeom>
        </p:spPr>
      </p:pic>
      <p:sp>
        <p:nvSpPr>
          <p:cNvPr id="7" name="TextBox 6"/>
          <p:cNvSpPr txBox="1"/>
          <p:nvPr/>
        </p:nvSpPr>
        <p:spPr>
          <a:xfrm>
            <a:off x="565149" y="4219576"/>
            <a:ext cx="1410386" cy="461665"/>
          </a:xfrm>
          <a:prstGeom prst="rect">
            <a:avLst/>
          </a:prstGeom>
          <a:noFill/>
        </p:spPr>
        <p:txBody>
          <a:bodyPr wrap="none" rtlCol="0">
            <a:spAutoFit/>
          </a:bodyPr>
          <a:lstStyle/>
          <a:p>
            <a:r>
              <a:rPr lang="en-US" sz="2400" b="1" dirty="0" smtClean="0"/>
              <a:t>Hard Disk</a:t>
            </a:r>
            <a:endParaRPr lang="en-US" sz="2400" b="1" dirty="0"/>
          </a:p>
        </p:txBody>
      </p:sp>
      <p:sp>
        <p:nvSpPr>
          <p:cNvPr id="8" name="TextBox 7"/>
          <p:cNvSpPr txBox="1"/>
          <p:nvPr/>
        </p:nvSpPr>
        <p:spPr>
          <a:xfrm>
            <a:off x="5189431" y="4205288"/>
            <a:ext cx="813043" cy="461665"/>
          </a:xfrm>
          <a:prstGeom prst="rect">
            <a:avLst/>
          </a:prstGeom>
          <a:noFill/>
        </p:spPr>
        <p:txBody>
          <a:bodyPr wrap="none" rtlCol="0">
            <a:spAutoFit/>
          </a:bodyPr>
          <a:lstStyle/>
          <a:p>
            <a:r>
              <a:rPr lang="en-US" sz="2400" b="1" dirty="0" smtClean="0"/>
              <a:t>RAM</a:t>
            </a:r>
            <a:endParaRPr lang="en-US" sz="2400" b="1" dirty="0"/>
          </a:p>
        </p:txBody>
      </p:sp>
      <p:sp>
        <p:nvSpPr>
          <p:cNvPr id="9" name="TextBox 8"/>
          <p:cNvSpPr txBox="1"/>
          <p:nvPr/>
        </p:nvSpPr>
        <p:spPr>
          <a:xfrm>
            <a:off x="9302750" y="4205288"/>
            <a:ext cx="1423210" cy="461665"/>
          </a:xfrm>
          <a:prstGeom prst="rect">
            <a:avLst/>
          </a:prstGeom>
          <a:noFill/>
        </p:spPr>
        <p:txBody>
          <a:bodyPr wrap="none" rtlCol="0">
            <a:spAutoFit/>
          </a:bodyPr>
          <a:lstStyle/>
          <a:p>
            <a:r>
              <a:rPr lang="en-US" sz="2400" b="1" dirty="0" smtClean="0"/>
              <a:t>Processor</a:t>
            </a:r>
            <a:endParaRPr lang="en-US" sz="2400" b="1" dirty="0"/>
          </a:p>
        </p:txBody>
      </p:sp>
      <p:sp>
        <p:nvSpPr>
          <p:cNvPr id="10" name="Right Arrow 9"/>
          <p:cNvSpPr/>
          <p:nvPr/>
        </p:nvSpPr>
        <p:spPr>
          <a:xfrm>
            <a:off x="3328099" y="4288631"/>
            <a:ext cx="1016000" cy="3235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7364811" y="4295478"/>
            <a:ext cx="1016000" cy="3235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4398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128059"/>
            <a:ext cx="10515600" cy="1325563"/>
          </a:xfrm>
        </p:spPr>
        <p:txBody>
          <a:bodyPr>
            <a:normAutofit fontScale="90000"/>
          </a:bodyPr>
          <a:lstStyle/>
          <a:p>
            <a:pPr algn="ctr"/>
            <a:r>
              <a:rPr lang="en-US" b="1" dirty="0">
                <a:solidFill>
                  <a:schemeClr val="accent4"/>
                </a:solidFill>
              </a:rPr>
              <a:t/>
            </a:r>
            <a:br>
              <a:rPr lang="en-US" b="1" dirty="0">
                <a:solidFill>
                  <a:schemeClr val="accent4"/>
                </a:solidFill>
              </a:rPr>
            </a:br>
            <a:r>
              <a:rPr lang="en-US" b="1" dirty="0">
                <a:solidFill>
                  <a:schemeClr val="accent4"/>
                </a:solidFill>
              </a:rPr>
              <a:t>Basic </a:t>
            </a:r>
            <a:r>
              <a:rPr lang="en-US" b="1" dirty="0" smtClean="0">
                <a:solidFill>
                  <a:schemeClr val="accent4"/>
                </a:solidFill>
              </a:rPr>
              <a:t>components of </a:t>
            </a:r>
            <a:r>
              <a:rPr lang="en-US" b="1" dirty="0">
                <a:solidFill>
                  <a:schemeClr val="accent4"/>
                </a:solidFill>
              </a:rPr>
              <a:t>a </a:t>
            </a:r>
            <a:r>
              <a:rPr lang="en-US" b="1" dirty="0" smtClean="0">
                <a:solidFill>
                  <a:schemeClr val="accent4"/>
                </a:solidFill>
              </a:rPr>
              <a:t>CPU</a:t>
            </a:r>
            <a:r>
              <a:rPr lang="en-US" b="1" dirty="0">
                <a:solidFill>
                  <a:schemeClr val="accent4"/>
                </a:solidFill>
              </a:rPr>
              <a:t/>
            </a:r>
            <a:br>
              <a:rPr lang="en-US" b="1" dirty="0">
                <a:solidFill>
                  <a:schemeClr val="accent4"/>
                </a:solidFill>
              </a:rPr>
            </a:br>
            <a:endParaRPr lang="en-US" b="1" dirty="0">
              <a:solidFill>
                <a:schemeClr val="accent4"/>
              </a:solidFill>
            </a:endParaRPr>
          </a:p>
        </p:txBody>
      </p:sp>
      <p:sp>
        <p:nvSpPr>
          <p:cNvPr id="3" name="Content Placeholder 2"/>
          <p:cNvSpPr>
            <a:spLocks noGrp="1"/>
          </p:cNvSpPr>
          <p:nvPr>
            <p:ph idx="1"/>
          </p:nvPr>
        </p:nvSpPr>
        <p:spPr>
          <a:xfrm>
            <a:off x="838200" y="1834092"/>
            <a:ext cx="10515600" cy="4351339"/>
          </a:xfrm>
        </p:spPr>
        <p:txBody>
          <a:bodyPr>
            <a:normAutofit/>
          </a:bodyPr>
          <a:lstStyle/>
          <a:p>
            <a:r>
              <a:rPr lang="en-US" b="1" dirty="0" smtClean="0"/>
              <a:t>Program </a:t>
            </a:r>
            <a:r>
              <a:rPr lang="en-US" b="1" dirty="0"/>
              <a:t>Counter (PC) </a:t>
            </a:r>
            <a:endParaRPr lang="en-US" dirty="0"/>
          </a:p>
          <a:p>
            <a:pPr lvl="1"/>
            <a:r>
              <a:rPr lang="en-US" dirty="0" smtClean="0"/>
              <a:t>Holds </a:t>
            </a:r>
            <a:r>
              <a:rPr lang="en-US" dirty="0"/>
              <a:t>the memory address of the next instruction </a:t>
            </a:r>
          </a:p>
          <a:p>
            <a:r>
              <a:rPr lang="en-US" b="1" dirty="0" smtClean="0"/>
              <a:t>Instruction </a:t>
            </a:r>
            <a:r>
              <a:rPr lang="en-US" b="1" dirty="0"/>
              <a:t>Register (IR) </a:t>
            </a:r>
            <a:endParaRPr lang="en-US" dirty="0"/>
          </a:p>
          <a:p>
            <a:pPr lvl="1"/>
            <a:r>
              <a:rPr lang="en-US" dirty="0" smtClean="0"/>
              <a:t>holds </a:t>
            </a:r>
            <a:r>
              <a:rPr lang="en-US" dirty="0"/>
              <a:t>the instruction currently being executed </a:t>
            </a:r>
          </a:p>
          <a:p>
            <a:r>
              <a:rPr lang="en-US" b="1" dirty="0" smtClean="0"/>
              <a:t>General </a:t>
            </a:r>
            <a:r>
              <a:rPr lang="en-US" b="1" dirty="0"/>
              <a:t>Registers (Reg. 1..n) </a:t>
            </a:r>
            <a:endParaRPr lang="en-US" dirty="0"/>
          </a:p>
          <a:p>
            <a:pPr lvl="1"/>
            <a:r>
              <a:rPr lang="en-US" dirty="0" smtClean="0"/>
              <a:t>hold </a:t>
            </a:r>
            <a:r>
              <a:rPr lang="en-US" dirty="0"/>
              <a:t>variables and temporary results </a:t>
            </a:r>
          </a:p>
          <a:p>
            <a:r>
              <a:rPr lang="en-US" b="1" dirty="0" smtClean="0"/>
              <a:t>Arithmetic </a:t>
            </a:r>
            <a:r>
              <a:rPr lang="en-US" b="1" dirty="0"/>
              <a:t>and Logic Unit (ALU) </a:t>
            </a:r>
            <a:endParaRPr lang="en-US" dirty="0"/>
          </a:p>
          <a:p>
            <a:pPr lvl="1"/>
            <a:r>
              <a:rPr lang="en-US" dirty="0" smtClean="0"/>
              <a:t>performs </a:t>
            </a:r>
            <a:r>
              <a:rPr lang="en-US" dirty="0"/>
              <a:t>arithmetic functions and logic operations </a:t>
            </a:r>
          </a:p>
          <a:p>
            <a:endParaRPr lang="en-US" dirty="0"/>
          </a:p>
        </p:txBody>
      </p:sp>
    </p:spTree>
    <p:extLst>
      <p:ext uri="{BB962C8B-B14F-4D97-AF65-F5344CB8AC3E}">
        <p14:creationId xmlns:p14="http://schemas.microsoft.com/office/powerpoint/2010/main" val="2348423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Stack </a:t>
            </a:r>
            <a:r>
              <a:rPr lang="en-US" b="1" dirty="0"/>
              <a:t>Pointer (SP) </a:t>
            </a:r>
            <a:endParaRPr lang="en-US" dirty="0"/>
          </a:p>
          <a:p>
            <a:pPr lvl="1"/>
            <a:r>
              <a:rPr lang="en-US" dirty="0" smtClean="0"/>
              <a:t>holds </a:t>
            </a:r>
            <a:r>
              <a:rPr lang="en-US" dirty="0"/>
              <a:t>memory address of a stack with a frame for each active procedure’s parameters &amp; local variables </a:t>
            </a:r>
          </a:p>
          <a:p>
            <a:r>
              <a:rPr lang="en-US" b="1" dirty="0" smtClean="0"/>
              <a:t>Processor </a:t>
            </a:r>
            <a:r>
              <a:rPr lang="en-US" b="1" dirty="0"/>
              <a:t>Status Word (PSW) </a:t>
            </a:r>
            <a:endParaRPr lang="en-US" dirty="0"/>
          </a:p>
          <a:p>
            <a:pPr lvl="1"/>
            <a:r>
              <a:rPr lang="en-US" dirty="0" smtClean="0"/>
              <a:t>contains </a:t>
            </a:r>
            <a:r>
              <a:rPr lang="en-US" dirty="0"/>
              <a:t>various control bits including the mode bit which determines whether privileged instructions can be executed </a:t>
            </a:r>
          </a:p>
          <a:p>
            <a:r>
              <a:rPr lang="en-US" b="1" dirty="0" smtClean="0"/>
              <a:t>Memory </a:t>
            </a:r>
            <a:r>
              <a:rPr lang="en-US" b="1" dirty="0"/>
              <a:t>Address Register (MAR) </a:t>
            </a:r>
            <a:endParaRPr lang="en-US" dirty="0"/>
          </a:p>
          <a:p>
            <a:pPr lvl="1"/>
            <a:r>
              <a:rPr lang="en-US" dirty="0" smtClean="0"/>
              <a:t>contains </a:t>
            </a:r>
            <a:r>
              <a:rPr lang="en-US" dirty="0"/>
              <a:t>address of memory to be loaded from/stored to </a:t>
            </a:r>
          </a:p>
          <a:p>
            <a:r>
              <a:rPr lang="en-US" b="1" dirty="0" smtClean="0"/>
              <a:t>Memory </a:t>
            </a:r>
            <a:r>
              <a:rPr lang="en-US" b="1" dirty="0"/>
              <a:t>Data Register (MDR) </a:t>
            </a:r>
            <a:endParaRPr lang="en-US" dirty="0"/>
          </a:p>
          <a:p>
            <a:pPr lvl="1"/>
            <a:r>
              <a:rPr lang="en-US" dirty="0" smtClean="0"/>
              <a:t>contains </a:t>
            </a:r>
            <a:r>
              <a:rPr lang="en-US" dirty="0"/>
              <a:t>memory data loaded or to be stored </a:t>
            </a:r>
          </a:p>
          <a:p>
            <a:endParaRPr lang="en-US" dirty="0"/>
          </a:p>
        </p:txBody>
      </p:sp>
    </p:spTree>
    <p:extLst>
      <p:ext uri="{BB962C8B-B14F-4D97-AF65-F5344CB8AC3E}">
        <p14:creationId xmlns:p14="http://schemas.microsoft.com/office/powerpoint/2010/main" val="1530728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392"/>
            <a:ext cx="10515600" cy="1325563"/>
          </a:xfrm>
        </p:spPr>
        <p:txBody>
          <a:bodyPr>
            <a:normAutofit/>
          </a:bodyPr>
          <a:lstStyle/>
          <a:p>
            <a:pPr algn="ctr"/>
            <a:r>
              <a:rPr lang="en-US" b="1" dirty="0">
                <a:solidFill>
                  <a:schemeClr val="accent4"/>
                </a:solidFill>
              </a:rPr>
              <a:t>Two Views of Operating System</a:t>
            </a:r>
          </a:p>
        </p:txBody>
      </p:sp>
      <p:sp>
        <p:nvSpPr>
          <p:cNvPr id="3" name="Content Placeholder 2"/>
          <p:cNvSpPr>
            <a:spLocks noGrp="1"/>
          </p:cNvSpPr>
          <p:nvPr>
            <p:ph idx="1"/>
          </p:nvPr>
        </p:nvSpPr>
        <p:spPr/>
        <p:txBody>
          <a:bodyPr>
            <a:normAutofit/>
          </a:bodyPr>
          <a:lstStyle/>
          <a:p>
            <a:r>
              <a:rPr lang="en-US" sz="4400" b="1" dirty="0"/>
              <a:t>User's View</a:t>
            </a:r>
          </a:p>
          <a:p>
            <a:r>
              <a:rPr lang="en-US" sz="4400" b="1" dirty="0"/>
              <a:t>System View</a:t>
            </a:r>
          </a:p>
        </p:txBody>
      </p:sp>
    </p:spTree>
    <p:extLst>
      <p:ext uri="{BB962C8B-B14F-4D97-AF65-F5344CB8AC3E}">
        <p14:creationId xmlns:p14="http://schemas.microsoft.com/office/powerpoint/2010/main" val="1062678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133" y="77258"/>
            <a:ext cx="10515600" cy="1325563"/>
          </a:xfrm>
        </p:spPr>
        <p:txBody>
          <a:bodyPr/>
          <a:lstStyle/>
          <a:p>
            <a:pPr algn="ctr"/>
            <a:r>
              <a:rPr lang="en-US" b="1" dirty="0">
                <a:solidFill>
                  <a:schemeClr val="accent4"/>
                </a:solidFill>
              </a:rPr>
              <a:t>Operating System: </a:t>
            </a:r>
            <a:r>
              <a:rPr lang="en-US" dirty="0">
                <a:solidFill>
                  <a:schemeClr val="accent4"/>
                </a:solidFill>
              </a:rPr>
              <a:t>User View</a:t>
            </a:r>
          </a:p>
        </p:txBody>
      </p:sp>
      <p:sp>
        <p:nvSpPr>
          <p:cNvPr id="3" name="Content Placeholder 2"/>
          <p:cNvSpPr>
            <a:spLocks noGrp="1"/>
          </p:cNvSpPr>
          <p:nvPr>
            <p:ph idx="1"/>
          </p:nvPr>
        </p:nvSpPr>
        <p:spPr/>
        <p:txBody>
          <a:bodyPr>
            <a:normAutofit/>
          </a:bodyPr>
          <a:lstStyle/>
          <a:p>
            <a:pPr algn="just"/>
            <a:r>
              <a:rPr lang="en-US" dirty="0"/>
              <a:t>The user view of the computer refers to the interface being used. </a:t>
            </a:r>
            <a:endParaRPr lang="en-US" dirty="0" smtClean="0"/>
          </a:p>
          <a:p>
            <a:pPr algn="just"/>
            <a:r>
              <a:rPr lang="en-US" dirty="0" smtClean="0"/>
              <a:t>Such </a:t>
            </a:r>
            <a:r>
              <a:rPr lang="en-US" dirty="0"/>
              <a:t>systems are designed for one user to monopolize its resources, to maximize the work that the user is performing</a:t>
            </a:r>
            <a:r>
              <a:rPr lang="en-US" dirty="0" smtClean="0"/>
              <a:t>.</a:t>
            </a:r>
          </a:p>
          <a:p>
            <a:pPr algn="just"/>
            <a:r>
              <a:rPr lang="en-US" dirty="0" smtClean="0"/>
              <a:t> </a:t>
            </a:r>
            <a:r>
              <a:rPr lang="en-US" dirty="0"/>
              <a:t>In these cases, the operating system is designed mostly for ease of use, with some attention paid to performance, and none paid to resource utilization.</a:t>
            </a:r>
          </a:p>
        </p:txBody>
      </p:sp>
    </p:spTree>
    <p:extLst>
      <p:ext uri="{BB962C8B-B14F-4D97-AF65-F5344CB8AC3E}">
        <p14:creationId xmlns:p14="http://schemas.microsoft.com/office/powerpoint/2010/main" val="2382606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58"/>
            <a:ext cx="10515600" cy="1325563"/>
          </a:xfrm>
        </p:spPr>
        <p:txBody>
          <a:bodyPr>
            <a:normAutofit/>
          </a:bodyPr>
          <a:lstStyle/>
          <a:p>
            <a:pPr algn="ctr"/>
            <a:r>
              <a:rPr lang="en-US" b="1" dirty="0">
                <a:solidFill>
                  <a:schemeClr val="accent4"/>
                </a:solidFill>
              </a:rPr>
              <a:t>Operating System: </a:t>
            </a:r>
            <a:r>
              <a:rPr lang="en-US" dirty="0">
                <a:solidFill>
                  <a:schemeClr val="accent4"/>
                </a:solidFill>
              </a:rPr>
              <a:t>System </a:t>
            </a:r>
            <a:r>
              <a:rPr lang="en-US" dirty="0" smtClean="0">
                <a:solidFill>
                  <a:schemeClr val="accent4"/>
                </a:solidFill>
              </a:rPr>
              <a:t>View</a:t>
            </a:r>
            <a:endParaRPr lang="en-US" dirty="0">
              <a:solidFill>
                <a:schemeClr val="accent4"/>
              </a:solidFill>
            </a:endParaRPr>
          </a:p>
        </p:txBody>
      </p:sp>
      <p:sp>
        <p:nvSpPr>
          <p:cNvPr id="3" name="Content Placeholder 2"/>
          <p:cNvSpPr>
            <a:spLocks noGrp="1"/>
          </p:cNvSpPr>
          <p:nvPr>
            <p:ph idx="1"/>
          </p:nvPr>
        </p:nvSpPr>
        <p:spPr/>
        <p:txBody>
          <a:bodyPr/>
          <a:lstStyle/>
          <a:p>
            <a:pPr algn="just"/>
            <a:r>
              <a:rPr lang="en-US" dirty="0"/>
              <a:t>Operating system can be viewed as a resource allocator also. </a:t>
            </a:r>
            <a:endParaRPr lang="en-US" dirty="0" smtClean="0"/>
          </a:p>
          <a:p>
            <a:pPr algn="just"/>
            <a:r>
              <a:rPr lang="en-US" dirty="0" smtClean="0"/>
              <a:t>A </a:t>
            </a:r>
            <a:r>
              <a:rPr lang="en-US" dirty="0"/>
              <a:t>computer system consists of many resources like - hardware and software - that must be managed efficiently. </a:t>
            </a:r>
            <a:endParaRPr lang="en-US" dirty="0" smtClean="0"/>
          </a:p>
          <a:p>
            <a:pPr algn="just"/>
            <a:r>
              <a:rPr lang="en-US" dirty="0" smtClean="0"/>
              <a:t>The </a:t>
            </a:r>
            <a:r>
              <a:rPr lang="en-US" dirty="0"/>
              <a:t>operating system acts as the manager of the resources, decides between conflicting requests, controls execution of programs etc.</a:t>
            </a:r>
          </a:p>
        </p:txBody>
      </p:sp>
    </p:spTree>
    <p:extLst>
      <p:ext uri="{BB962C8B-B14F-4D97-AF65-F5344CB8AC3E}">
        <p14:creationId xmlns:p14="http://schemas.microsoft.com/office/powerpoint/2010/main" val="478372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0"/>
            <a:ext cx="10515600" cy="1325563"/>
          </a:xfrm>
        </p:spPr>
        <p:txBody>
          <a:bodyPr/>
          <a:lstStyle/>
          <a:p>
            <a:pPr algn="ctr"/>
            <a:r>
              <a:rPr lang="en-US" b="1" dirty="0" smtClean="0">
                <a:solidFill>
                  <a:schemeClr val="accent4"/>
                </a:solidFill>
              </a:rPr>
              <a:t>What Operating Systems Do</a:t>
            </a:r>
            <a:endParaRPr lang="en-US" b="1" dirty="0">
              <a:solidFill>
                <a:schemeClr val="accent4"/>
              </a:solidFill>
            </a:endParaRPr>
          </a:p>
        </p:txBody>
      </p:sp>
      <p:sp>
        <p:nvSpPr>
          <p:cNvPr id="3" name="Content Placeholder 2"/>
          <p:cNvSpPr>
            <a:spLocks noGrp="1"/>
          </p:cNvSpPr>
          <p:nvPr>
            <p:ph idx="1"/>
          </p:nvPr>
        </p:nvSpPr>
        <p:spPr>
          <a:xfrm>
            <a:off x="816864" y="1600200"/>
            <a:ext cx="10871200" cy="5105400"/>
          </a:xfrm>
        </p:spPr>
        <p:txBody>
          <a:bodyPr>
            <a:noAutofit/>
          </a:bodyPr>
          <a:lstStyle/>
          <a:p>
            <a:pPr algn="just"/>
            <a:r>
              <a:rPr lang="en-US" sz="2200" dirty="0" smtClean="0"/>
              <a:t>Depends on the point of view</a:t>
            </a:r>
          </a:p>
          <a:p>
            <a:pPr algn="just"/>
            <a:r>
              <a:rPr lang="en-US" sz="2200" dirty="0" smtClean="0"/>
              <a:t>Users want convenience, </a:t>
            </a:r>
            <a:r>
              <a:rPr lang="en-US" sz="2200" b="1" dirty="0" smtClean="0">
                <a:solidFill>
                  <a:srgbClr val="3366FF"/>
                </a:solidFill>
              </a:rPr>
              <a:t>ease</a:t>
            </a:r>
            <a:r>
              <a:rPr lang="en-US" sz="2200" dirty="0" smtClean="0">
                <a:solidFill>
                  <a:srgbClr val="3366FF"/>
                </a:solidFill>
              </a:rPr>
              <a:t> </a:t>
            </a:r>
            <a:r>
              <a:rPr lang="en-US" sz="2200" b="1" dirty="0" smtClean="0">
                <a:solidFill>
                  <a:srgbClr val="3366FF"/>
                </a:solidFill>
              </a:rPr>
              <a:t>of</a:t>
            </a:r>
            <a:r>
              <a:rPr lang="en-US" sz="2200" dirty="0" smtClean="0">
                <a:solidFill>
                  <a:srgbClr val="3366FF"/>
                </a:solidFill>
              </a:rPr>
              <a:t> </a:t>
            </a:r>
            <a:r>
              <a:rPr lang="en-US" sz="2200" b="1" dirty="0" smtClean="0">
                <a:solidFill>
                  <a:srgbClr val="3366FF"/>
                </a:solidFill>
              </a:rPr>
              <a:t>use </a:t>
            </a:r>
            <a:r>
              <a:rPr lang="en-US" sz="2200" dirty="0" smtClean="0"/>
              <a:t>and</a:t>
            </a:r>
            <a:r>
              <a:rPr lang="en-US" sz="2200" b="1" dirty="0" smtClean="0">
                <a:solidFill>
                  <a:srgbClr val="3366FF"/>
                </a:solidFill>
              </a:rPr>
              <a:t> good performance </a:t>
            </a:r>
          </a:p>
          <a:p>
            <a:pPr lvl="1" algn="just"/>
            <a:r>
              <a:rPr lang="en-US" sz="2200" dirty="0" smtClean="0"/>
              <a:t>Don</a:t>
            </a:r>
            <a:r>
              <a:rPr lang="ja-JP" altLang="en-US" sz="2200" dirty="0" smtClean="0"/>
              <a:t>’</a:t>
            </a:r>
            <a:r>
              <a:rPr lang="en-US" altLang="ja-JP" sz="2200" dirty="0" smtClean="0"/>
              <a:t>t care about </a:t>
            </a:r>
            <a:r>
              <a:rPr lang="en-US" altLang="ja-JP" sz="2200" b="1" dirty="0" smtClean="0">
                <a:solidFill>
                  <a:srgbClr val="3366FF"/>
                </a:solidFill>
              </a:rPr>
              <a:t>resource</a:t>
            </a:r>
            <a:r>
              <a:rPr lang="en-US" altLang="ja-JP" sz="2200" dirty="0" smtClean="0">
                <a:solidFill>
                  <a:srgbClr val="3366FF"/>
                </a:solidFill>
              </a:rPr>
              <a:t> </a:t>
            </a:r>
            <a:r>
              <a:rPr lang="en-US" altLang="ja-JP" sz="2200" b="1" dirty="0" smtClean="0">
                <a:solidFill>
                  <a:srgbClr val="3366FF"/>
                </a:solidFill>
              </a:rPr>
              <a:t>utilization</a:t>
            </a:r>
          </a:p>
          <a:p>
            <a:pPr algn="just"/>
            <a:r>
              <a:rPr lang="en-US" sz="2200" dirty="0" smtClean="0"/>
              <a:t>But shared computer such as </a:t>
            </a:r>
            <a:r>
              <a:rPr lang="en-US" sz="2200" b="1" dirty="0" smtClean="0">
                <a:solidFill>
                  <a:srgbClr val="3366FF"/>
                </a:solidFill>
              </a:rPr>
              <a:t>mainframe</a:t>
            </a:r>
            <a:r>
              <a:rPr lang="en-US" sz="2200" dirty="0" smtClean="0"/>
              <a:t> or </a:t>
            </a:r>
            <a:r>
              <a:rPr lang="en-US" sz="2200" b="1" dirty="0" smtClean="0">
                <a:solidFill>
                  <a:srgbClr val="3366FF"/>
                </a:solidFill>
              </a:rPr>
              <a:t>minicomputer</a:t>
            </a:r>
            <a:r>
              <a:rPr lang="en-US" sz="2200" dirty="0" smtClean="0"/>
              <a:t> must keep all users happy</a:t>
            </a:r>
          </a:p>
          <a:p>
            <a:pPr algn="just"/>
            <a:r>
              <a:rPr lang="en-US" sz="2200" dirty="0" smtClean="0"/>
              <a:t>Users of dedicate systems such as </a:t>
            </a:r>
            <a:r>
              <a:rPr lang="en-US" sz="2200" b="1" dirty="0" smtClean="0">
                <a:solidFill>
                  <a:srgbClr val="3366FF"/>
                </a:solidFill>
              </a:rPr>
              <a:t>workstations</a:t>
            </a:r>
            <a:r>
              <a:rPr lang="en-US" sz="2200" dirty="0" smtClean="0"/>
              <a:t> have dedicated resources but frequently use shared resources from </a:t>
            </a:r>
            <a:r>
              <a:rPr lang="en-US" sz="2200" b="1" dirty="0" smtClean="0">
                <a:solidFill>
                  <a:srgbClr val="3366FF"/>
                </a:solidFill>
              </a:rPr>
              <a:t>servers</a:t>
            </a:r>
          </a:p>
          <a:p>
            <a:pPr algn="just"/>
            <a:r>
              <a:rPr lang="en-US" sz="2200" dirty="0" smtClean="0">
                <a:solidFill>
                  <a:srgbClr val="000000"/>
                </a:solidFill>
              </a:rPr>
              <a:t>Handheld computers are resource poor,  optimized for usability and battery life</a:t>
            </a:r>
          </a:p>
          <a:p>
            <a:pPr algn="just"/>
            <a:r>
              <a:rPr lang="en-US" sz="2200" dirty="0" smtClean="0">
                <a:solidFill>
                  <a:srgbClr val="000000"/>
                </a:solidFill>
              </a:rPr>
              <a:t>Some computers have little or no user interface, such as embedded computers in devices and automobiles</a:t>
            </a:r>
          </a:p>
        </p:txBody>
      </p:sp>
    </p:spTree>
    <p:extLst>
      <p:ext uri="{BB962C8B-B14F-4D97-AF65-F5344CB8AC3E}">
        <p14:creationId xmlns:p14="http://schemas.microsoft.com/office/powerpoint/2010/main" val="2140227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TotalTime>
  <Words>1301</Words>
  <Application>Microsoft Office PowerPoint</Application>
  <PresentationFormat>Custom</PresentationFormat>
  <Paragraphs>102</Paragraphs>
  <Slides>27</Slides>
  <Notes>0</Notes>
  <HiddenSlides>0</HiddenSlides>
  <MMClips>0</MMClips>
  <ScaleCrop>false</ScaleCrop>
  <HeadingPairs>
    <vt:vector size="4" baseType="variant">
      <vt:variant>
        <vt:lpstr>Theme</vt:lpstr>
      </vt:variant>
      <vt:variant>
        <vt:i4>3</vt:i4>
      </vt:variant>
      <vt:variant>
        <vt:lpstr>Slide Titles</vt:lpstr>
      </vt:variant>
      <vt:variant>
        <vt:i4>27</vt:i4>
      </vt:variant>
    </vt:vector>
  </HeadingPairs>
  <TitlesOfParts>
    <vt:vector size="30" baseType="lpstr">
      <vt:lpstr>Office Theme</vt:lpstr>
      <vt:lpstr>Lecture 6</vt:lpstr>
      <vt:lpstr>1_Office Theme</vt:lpstr>
      <vt:lpstr>Lecture #1</vt:lpstr>
      <vt:lpstr>Operating system  by  Saima Kanwal</vt:lpstr>
      <vt:lpstr>Marks Distribution</vt:lpstr>
      <vt:lpstr>Rules to Remember</vt:lpstr>
      <vt:lpstr>Rules for Assignments</vt:lpstr>
      <vt:lpstr>Operating System</vt:lpstr>
      <vt:lpstr>Four Components of a Computer System</vt:lpstr>
      <vt:lpstr>Overview</vt:lpstr>
      <vt:lpstr>What is Operating System?</vt:lpstr>
      <vt:lpstr>Operating System</vt:lpstr>
      <vt:lpstr>Computer-System Organization </vt:lpstr>
      <vt:lpstr>PowerPoint Presentation</vt:lpstr>
      <vt:lpstr>System Boot and Interrupts </vt:lpstr>
      <vt:lpstr>Storage Structure </vt:lpstr>
      <vt:lpstr>PowerPoint Presentation</vt:lpstr>
      <vt:lpstr>PowerPoint Presentation</vt:lpstr>
      <vt:lpstr>PowerPoint Presentation</vt:lpstr>
      <vt:lpstr>I/O Structure</vt:lpstr>
      <vt:lpstr>Computer System Structure</vt:lpstr>
      <vt:lpstr>Four Components of a Computer System</vt:lpstr>
      <vt:lpstr>PowerPoint Presentation</vt:lpstr>
      <vt:lpstr> Basic components of a CPU </vt:lpstr>
      <vt:lpstr>PowerPoint Presentation</vt:lpstr>
      <vt:lpstr>Two Views of Operating System</vt:lpstr>
      <vt:lpstr>Operating System: User View</vt:lpstr>
      <vt:lpstr>Operating System: System View</vt:lpstr>
      <vt:lpstr>What Operating Systems Do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151</cp:revision>
  <dcterms:created xsi:type="dcterms:W3CDTF">2024-06-21T09:49:00Z</dcterms:created>
  <dcterms:modified xsi:type="dcterms:W3CDTF">2025-02-11T11:29:49Z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