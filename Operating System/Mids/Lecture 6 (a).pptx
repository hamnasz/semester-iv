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2" r:id="rId2"/>
    <p:sldMasterId id="2147483684" r:id="rId3"/>
  </p:sldMasterIdLst>
  <p:notesMasterIdLst>
    <p:notesMasterId r:id="rId19"/>
  </p:notesMasterIdLst>
  <p:sldIdLst>
    <p:sldId id="273" r:id="rId4"/>
    <p:sldId id="952" r:id="rId5"/>
    <p:sldId id="953" r:id="rId6"/>
    <p:sldId id="954" r:id="rId7"/>
    <p:sldId id="955" r:id="rId8"/>
    <p:sldId id="956" r:id="rId9"/>
    <p:sldId id="957" r:id="rId10"/>
    <p:sldId id="958" r:id="rId11"/>
    <p:sldId id="959" r:id="rId12"/>
    <p:sldId id="960" r:id="rId13"/>
    <p:sldId id="961" r:id="rId14"/>
    <p:sldId id="962" r:id="rId15"/>
    <p:sldId id="963" r:id="rId16"/>
    <p:sldId id="964" r:id="rId17"/>
    <p:sldId id="965" r:id="rId18"/>
  </p:sldIdLst>
  <p:sldSz cx="12192000" cy="6858000"/>
  <p:notesSz cx="6858000" cy="9144000"/>
  <p:defaultTextStyle>
    <a:defPPr>
      <a:defRPr lang="x-none"/>
    </a:defPPr>
    <a:lvl1pPr marL="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2A2A"/>
    <a:srgbClr val="C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9" autoAdjust="0"/>
    <p:restoredTop sz="90326" autoAdjust="0"/>
  </p:normalViewPr>
  <p:slideViewPr>
    <p:cSldViewPr snapToGrid="0">
      <p:cViewPr>
        <p:scale>
          <a:sx n="90" d="100"/>
          <a:sy n="90" d="100"/>
        </p:scale>
        <p:origin x="-600" y="-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FDD3B8-2E01-4CE0-B02F-91BFC8CDC8FD}" type="datetimeFigureOut">
              <a:rPr lang="en-US" smtClean="0"/>
              <a:t>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72658C-66DA-4116-8E6C-1579936CD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372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834719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5156529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562610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678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3508707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127357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8563733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421743383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4771562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3222281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5954773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9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722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63264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5276056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58830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9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769436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4188601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9472795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32826497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x-non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500"/>
            </a:lvl2pPr>
            <a:lvl3pPr marL="914400" indent="0">
              <a:buNone/>
              <a:defRPr sz="1200"/>
            </a:lvl3pPr>
            <a:lvl4pPr marL="1371600" indent="0">
              <a:buNone/>
              <a:defRPr sz="1100"/>
            </a:lvl4pPr>
            <a:lvl5pPr marL="1828800" indent="0">
              <a:buNone/>
              <a:defRPr sz="1100"/>
            </a:lvl5pPr>
            <a:lvl6pPr marL="2286000" indent="0">
              <a:buNone/>
              <a:defRPr sz="1100"/>
            </a:lvl6pPr>
            <a:lvl7pPr marL="2743200" indent="0">
              <a:buNone/>
              <a:defRPr sz="1100"/>
            </a:lvl7pPr>
            <a:lvl8pPr marL="3200400" indent="0">
              <a:buNone/>
              <a:defRPr sz="1100"/>
            </a:lvl8pPr>
            <a:lvl9pPr marL="3657600" indent="0">
              <a:buNone/>
              <a:defRPr sz="11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12410426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60697662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6"/>
            <a:ext cx="2628900" cy="581183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6"/>
            <a:ext cx="7734300" cy="581183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086589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17" Type="http://schemas.openxmlformats.org/officeDocument/2006/relationships/image" Target="../media/image7.svg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5.sv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xmlns="" id="{BAEFE420-0C07-4D1B-9094-F2C452FF1011}"/>
              </a:ext>
            </a:extLst>
          </p:cNvPr>
          <p:cNvGrpSpPr/>
          <p:nvPr userDrawn="1"/>
        </p:nvGrpSpPr>
        <p:grpSpPr>
          <a:xfrm>
            <a:off x="0" y="0"/>
            <a:ext cx="12749348" cy="1115736"/>
            <a:chOff x="0" y="0"/>
            <a:chExt cx="12749348" cy="11157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xmlns="" id="{6FBB4837-678E-4FCE-A1B7-2AE1B9432890}"/>
                </a:ext>
              </a:extLst>
            </p:cNvPr>
            <p:cNvSpPr/>
            <p:nvPr userDrawn="1"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xmlns="" id="{D279BBF0-3F01-4944-AF8F-73A34B5B9CE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2730" y="155317"/>
              <a:ext cx="1504919" cy="805101"/>
            </a:xfrm>
            <a:prstGeom prst="rect">
              <a:avLst/>
            </a:prstGeom>
          </p:spPr>
        </p:pic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xmlns="" id="{650112A7-3B60-423A-8682-3EC1CCAA7ABE}"/>
                </a:ext>
              </a:extLst>
            </p:cNvPr>
            <p:cNvSpPr txBox="1"/>
            <p:nvPr userDrawn="1"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11" name="Graphic 11">
              <a:extLst>
                <a:ext uri="{FF2B5EF4-FFF2-40B4-BE49-F238E27FC236}">
                  <a16:creationId xmlns:a16="http://schemas.microsoft.com/office/drawing/2014/main" xmlns="" id="{75FFEA7F-8809-458D-BE80-99F7CFB965C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4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5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xmlns="" id="{B3F075CD-8CB0-4BD0-B756-BA559BF9DF2D}"/>
                </a:ext>
              </a:extLst>
            </p:cNvPr>
            <p:cNvSpPr txBox="1"/>
            <p:nvPr userDrawn="1"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x-none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3" name="Graphic 13">
              <a:extLst>
                <a:ext uri="{FF2B5EF4-FFF2-40B4-BE49-F238E27FC236}">
                  <a16:creationId xmlns:a16="http://schemas.microsoft.com/office/drawing/2014/main" xmlns="" id="{ACED766F-A0E3-4D45-8A6E-86CCFAFA5D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6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17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xmlns="" id="{F83660F3-45D1-4CA0-BE2A-E7E6C1B794A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42409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x-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x-non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7A82C-AEEE-48DB-A866-3B1CA0AC9D5D}" type="datetimeFigureOut">
              <a:rPr lang="x-none" smtClean="0"/>
              <a:t>2/21/2025</a:t>
            </a:fld>
            <a:endParaRPr 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9F7D7-3C9C-4146-9FA1-B77DEB44278D}" type="slidenum">
              <a:rPr lang="x-none" smtClean="0"/>
              <a:t>‹#›</a:t>
            </a:fld>
            <a:endParaRPr lang="x-none"/>
          </a:p>
        </p:txBody>
      </p:sp>
    </p:spTree>
    <p:extLst>
      <p:ext uri="{BB962C8B-B14F-4D97-AF65-F5344CB8AC3E}">
        <p14:creationId xmlns:p14="http://schemas.microsoft.com/office/powerpoint/2010/main" val="2105768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175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en-GB" dirty="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62283" y="0"/>
            <a:ext cx="3611691" cy="3611691"/>
          </a:xfrm>
          <a:prstGeom prst="rect">
            <a:avLst/>
          </a:prstGeom>
        </p:spPr>
      </p:pic>
      <p:pic>
        <p:nvPicPr>
          <p:cNvPr id="1026" name="Picture 2" descr="C:\Users\Administrator\Downloads\Screenshot__117_-removebg-preview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63" y="393485"/>
            <a:ext cx="3067051" cy="161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/>
          </a:bodyPr>
          <a:lstStyle/>
          <a:p>
            <a:pPr algn="l"/>
            <a:r>
              <a:rPr lang="en-US" sz="3600" b="1" dirty="0">
                <a:solidFill>
                  <a:schemeClr val="accent4"/>
                </a:solidFill>
              </a:rPr>
              <a:t>User and Operating-System Interface, </a:t>
            </a:r>
            <a:r>
              <a:rPr lang="en-US" sz="3600" b="1">
                <a:solidFill>
                  <a:schemeClr val="accent4"/>
                </a:solidFill>
              </a:rPr>
              <a:t>System </a:t>
            </a:r>
            <a:r>
              <a:rPr lang="en-US" sz="3600" b="1" smtClean="0">
                <a:solidFill>
                  <a:schemeClr val="accent4"/>
                </a:solidFill>
              </a:rPr>
              <a:t>Calls</a:t>
            </a:r>
            <a:endParaRPr lang="en-US" sz="3600" b="1" dirty="0">
              <a:solidFill>
                <a:schemeClr val="accent4"/>
              </a:solidFill>
            </a:endParaRPr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4"/>
                </a:solidFill>
              </a:rPr>
              <a:t>Lecture #6</a:t>
            </a:r>
            <a:endParaRPr lang="en-US" b="1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19579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>
                <a:solidFill>
                  <a:schemeClr val="accent4"/>
                </a:solidFill>
              </a:rPr>
              <a:t>User and Operating-System Interface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Users interact with the operating system through a </a:t>
            </a:r>
            <a:r>
              <a:rPr lang="en-US" b="1" dirty="0"/>
              <a:t>command-line interface (CLI)</a:t>
            </a:r>
            <a:r>
              <a:rPr lang="en-US" dirty="0"/>
              <a:t> or a </a:t>
            </a:r>
            <a:r>
              <a:rPr lang="en-US" b="1" dirty="0"/>
              <a:t>graphical user interface (GUI)</a:t>
            </a:r>
            <a:r>
              <a:rPr lang="en-US" dirty="0"/>
              <a:t>. The CLI lets users enter text commands directly, while the GUI provides a visual interface with icons and windows for easier navigation.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1269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733" y="161925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Command Interpreters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Low">
              <a:buNone/>
            </a:pPr>
            <a:r>
              <a:rPr lang="en-US" dirty="0"/>
              <a:t>A </a:t>
            </a:r>
            <a:r>
              <a:rPr lang="en-US" b="1" dirty="0"/>
              <a:t>command interpreter</a:t>
            </a:r>
            <a:r>
              <a:rPr lang="en-US" dirty="0"/>
              <a:t> (or shell) allows users to enter commands. Some </a:t>
            </a:r>
            <a:r>
              <a:rPr lang="en-US" dirty="0" err="1"/>
              <a:t>OSes</a:t>
            </a:r>
            <a:r>
              <a:rPr lang="en-US" dirty="0"/>
              <a:t> have it built into the kernel, while others run it as a separate program. UNIX and Linux offer different shells like Bourne, C, and </a:t>
            </a:r>
            <a:r>
              <a:rPr lang="en-US" dirty="0" err="1"/>
              <a:t>Korn</a:t>
            </a:r>
            <a:r>
              <a:rPr lang="en-US" dirty="0"/>
              <a:t>. Shells mainly manage files and run commands, either directly or by calling system functions.</a:t>
            </a:r>
          </a:p>
        </p:txBody>
      </p:sp>
    </p:spTree>
    <p:extLst>
      <p:ext uri="{BB962C8B-B14F-4D97-AF65-F5344CB8AC3E}">
        <p14:creationId xmlns:p14="http://schemas.microsoft.com/office/powerpoint/2010/main" val="29765904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Low">
              <a:buNone/>
            </a:pPr>
            <a:r>
              <a:rPr lang="en-US" dirty="0"/>
              <a:t>In UNIX and similar operating systems, most commands are separate programs rather than built into the shell. When a user enters a command, the shell searches for the corresponding program, loads it into memory, and runs it with any given parameters</a:t>
            </a:r>
            <a:r>
              <a:rPr lang="en-US" dirty="0" smtClean="0"/>
              <a:t>.</a:t>
            </a:r>
          </a:p>
          <a:p>
            <a:pPr marL="0" indent="0" algn="justLow">
              <a:buNone/>
            </a:pP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056" y="3429000"/>
            <a:ext cx="2309812" cy="11650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889000" y="4544594"/>
            <a:ext cx="1130300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tells the shell to find the </a:t>
            </a:r>
            <a:r>
              <a:rPr kumimoji="0" lang="en-US" sz="2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rm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program, load it, and execute it with </a:t>
            </a:r>
            <a:r>
              <a:rPr kumimoji="0" 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file.txt</a:t>
            </a: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 as input.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cs typeface="Arial" pitchFamily="34" charset="0"/>
              </a:rPr>
              <a:t>This approach allows users to add new commands easily by creating new programs without modifying the shell itself.</a:t>
            </a:r>
          </a:p>
        </p:txBody>
      </p:sp>
    </p:spTree>
    <p:extLst>
      <p:ext uri="{BB962C8B-B14F-4D97-AF65-F5344CB8AC3E}">
        <p14:creationId xmlns:p14="http://schemas.microsoft.com/office/powerpoint/2010/main" val="157752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53459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Graphical User Interface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</a:t>
            </a:r>
            <a:r>
              <a:rPr lang="en-US" b="1" dirty="0"/>
              <a:t>Graphical User Interface (GUI)</a:t>
            </a:r>
            <a:r>
              <a:rPr lang="en-US" dirty="0"/>
              <a:t> allows users to interact with the OS using a mouse or touchscreen instead of typing commands. The </a:t>
            </a:r>
            <a:r>
              <a:rPr lang="en-US" b="1" dirty="0"/>
              <a:t>desktop</a:t>
            </a:r>
            <a:r>
              <a:rPr lang="en-US" dirty="0"/>
              <a:t> displays icons for programs, files, and system functions, which users can open by clicking or tapping.</a:t>
            </a:r>
          </a:p>
          <a:p>
            <a:pPr algn="just"/>
            <a:r>
              <a:rPr lang="en-US" dirty="0"/>
              <a:t>GUIs became popular with the </a:t>
            </a:r>
            <a:r>
              <a:rPr lang="en-US" b="1" dirty="0"/>
              <a:t>Apple Macintosh</a:t>
            </a:r>
            <a:r>
              <a:rPr lang="en-US" dirty="0"/>
              <a:t> in the 1980s and </a:t>
            </a:r>
            <a:r>
              <a:rPr lang="en-US" b="1" dirty="0"/>
              <a:t>Microsoft Windows</a:t>
            </a:r>
            <a:r>
              <a:rPr lang="en-US" dirty="0"/>
              <a:t>, which added a GUI to MS-DOS. Mobile devices use </a:t>
            </a:r>
            <a:r>
              <a:rPr lang="en-US" b="1" dirty="0"/>
              <a:t>touchscreens</a:t>
            </a:r>
            <a:r>
              <a:rPr lang="en-US" dirty="0"/>
              <a:t> with gestures like tapping and swiping.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8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UNIX traditionally used a </a:t>
            </a:r>
            <a:r>
              <a:rPr lang="en-US" b="1" dirty="0"/>
              <a:t>command-line interface (CLI)</a:t>
            </a:r>
            <a:r>
              <a:rPr lang="en-US" dirty="0"/>
              <a:t> but now supports GUIs like </a:t>
            </a:r>
            <a:r>
              <a:rPr lang="en-US" b="1" dirty="0"/>
              <a:t>CDE, X-Windows, KDE, and GNOME</a:t>
            </a:r>
            <a:r>
              <a:rPr lang="en-US" dirty="0"/>
              <a:t>, especially on Linux. Many of these are open-source, allowing customization and development.</a:t>
            </a:r>
          </a:p>
        </p:txBody>
      </p:sp>
    </p:spTree>
    <p:extLst>
      <p:ext uri="{BB962C8B-B14F-4D97-AF65-F5344CB8AC3E}">
        <p14:creationId xmlns:p14="http://schemas.microsoft.com/office/powerpoint/2010/main" val="3040897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The choice between </a:t>
            </a:r>
            <a:r>
              <a:rPr lang="en-US" b="1" dirty="0"/>
              <a:t>CLI (Command-Line Interface) and GUI (Graphical User Interface)</a:t>
            </a:r>
            <a:r>
              <a:rPr lang="en-US" dirty="0"/>
              <a:t> depends on user needs.</a:t>
            </a:r>
          </a:p>
          <a:p>
            <a:pPr algn="just"/>
            <a:r>
              <a:rPr lang="en-US" b="1" dirty="0"/>
              <a:t>CLI</a:t>
            </a:r>
            <a:r>
              <a:rPr lang="en-US" dirty="0"/>
              <a:t> is preferred by system administrators and advanced users because it is </a:t>
            </a:r>
            <a:r>
              <a:rPr lang="en-US" b="1" dirty="0"/>
              <a:t>faster, more powerful, and allows automation</a:t>
            </a:r>
            <a:r>
              <a:rPr lang="en-US" dirty="0"/>
              <a:t> through </a:t>
            </a:r>
            <a:r>
              <a:rPr lang="en-US" b="1" dirty="0"/>
              <a:t>shell scripts</a:t>
            </a:r>
            <a:r>
              <a:rPr lang="en-US" dirty="0"/>
              <a:t> (common in UNIX and Linux).</a:t>
            </a:r>
          </a:p>
          <a:p>
            <a:pPr algn="just"/>
            <a:r>
              <a:rPr lang="en-US" b="1" dirty="0"/>
              <a:t>GUI</a:t>
            </a:r>
            <a:r>
              <a:rPr lang="en-US" dirty="0"/>
              <a:t> is easier for general users, like those on </a:t>
            </a:r>
            <a:r>
              <a:rPr lang="en-US" b="1" dirty="0"/>
              <a:t>Windows and Mac</a:t>
            </a:r>
            <a:r>
              <a:rPr lang="en-US" dirty="0"/>
              <a:t>, who rarely use the command line.</a:t>
            </a:r>
          </a:p>
          <a:p>
            <a:pPr algn="just"/>
            <a:r>
              <a:rPr lang="en-US" dirty="0"/>
              <a:t>Mac OS originally had only a GUI but introduced a CLI with </a:t>
            </a:r>
            <a:r>
              <a:rPr lang="en-US" b="1" dirty="0"/>
              <a:t>Mac OS X</a:t>
            </a:r>
            <a:r>
              <a:rPr lang="en-US" dirty="0"/>
              <a:t>, since it is based on a UNIX kernel.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62738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dirty="0"/>
              <a:t>User interfaces vary by system and user but are separate from the OS's core structure. Designing a user-friendly interface is not the OS's main function.</a:t>
            </a:r>
          </a:p>
        </p:txBody>
      </p:sp>
    </p:spTree>
    <p:extLst>
      <p:ext uri="{BB962C8B-B14F-4D97-AF65-F5344CB8AC3E}">
        <p14:creationId xmlns:p14="http://schemas.microsoft.com/office/powerpoint/2010/main" val="3476032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866" y="144992"/>
            <a:ext cx="10515600" cy="1325563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System calls</a:t>
            </a: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/>
              <a:t>System calls</a:t>
            </a:r>
            <a:r>
              <a:rPr lang="en-US" dirty="0"/>
              <a:t> allow programs to request services from the operating system. They are usually written in </a:t>
            </a:r>
            <a:r>
              <a:rPr lang="en-US" b="1" dirty="0"/>
              <a:t>C or C++</a:t>
            </a:r>
            <a:r>
              <a:rPr lang="en-US" dirty="0"/>
              <a:t>, with some low-level tasks using </a:t>
            </a:r>
            <a:r>
              <a:rPr lang="en-US" b="1" dirty="0"/>
              <a:t>assembly language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For example, copying data from one file to another requires multiple </a:t>
            </a:r>
            <a:r>
              <a:rPr lang="en-US" b="1" dirty="0"/>
              <a:t>system calls</a:t>
            </a:r>
            <a:r>
              <a:rPr lang="en-US" dirty="0"/>
              <a:t>:</a:t>
            </a:r>
          </a:p>
          <a:p>
            <a:pPr algn="just"/>
            <a:r>
              <a:rPr lang="en-US" b="1" dirty="0"/>
              <a:t>Getting file names</a:t>
            </a:r>
            <a:r>
              <a:rPr lang="en-US" dirty="0"/>
              <a:t> – The program may prompt the user or display a file menu.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120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Opening the input file</a:t>
            </a:r>
            <a:r>
              <a:rPr lang="en-US" dirty="0"/>
              <a:t> – If the file is missing or restricted, an error message and termination may be needed.</a:t>
            </a:r>
          </a:p>
          <a:p>
            <a:pPr algn="just"/>
            <a:r>
              <a:rPr lang="en-US" b="1" dirty="0"/>
              <a:t>Creating the output file</a:t>
            </a:r>
            <a:r>
              <a:rPr lang="en-US" dirty="0"/>
              <a:t> – If a file with the same name exists, the program may delete it, replace it, or ask the user for action.</a:t>
            </a:r>
          </a:p>
          <a:p>
            <a:pPr algn="just"/>
            <a:r>
              <a:rPr lang="en-US" dirty="0"/>
              <a:t>Each step involves system calls for </a:t>
            </a:r>
            <a:r>
              <a:rPr lang="en-US" b="1" dirty="0"/>
              <a:t>I/O operations, error handling, and user interaction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258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After setting up both files, the program </a:t>
            </a:r>
            <a:r>
              <a:rPr lang="en-US" b="1" dirty="0"/>
              <a:t>reads</a:t>
            </a:r>
            <a:r>
              <a:rPr lang="en-US" dirty="0"/>
              <a:t> from the input file and </a:t>
            </a:r>
            <a:r>
              <a:rPr lang="en-US" b="1" dirty="0"/>
              <a:t>writes</a:t>
            </a:r>
            <a:r>
              <a:rPr lang="en-US" dirty="0"/>
              <a:t> to the output file using system calls. Each operation checks for errors, such as </a:t>
            </a:r>
            <a:r>
              <a:rPr lang="en-US" b="1" dirty="0"/>
              <a:t>end of file, hardware failure, or no disk space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When copying is complete, the program </a:t>
            </a:r>
            <a:r>
              <a:rPr lang="en-US" b="1" dirty="0"/>
              <a:t>closes</a:t>
            </a:r>
            <a:r>
              <a:rPr lang="en-US" dirty="0"/>
              <a:t> both files, </a:t>
            </a:r>
            <a:r>
              <a:rPr lang="en-US" b="1" dirty="0"/>
              <a:t>displays a message</a:t>
            </a:r>
            <a:r>
              <a:rPr lang="en-US" dirty="0"/>
              <a:t>, and </a:t>
            </a:r>
            <a:r>
              <a:rPr lang="en-US" b="1" dirty="0"/>
              <a:t>terminates</a:t>
            </a:r>
            <a:r>
              <a:rPr lang="en-US" dirty="0"/>
              <a:t>, all through system calls.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20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 simplify system calls, programs use </a:t>
            </a:r>
            <a:r>
              <a:rPr lang="en-US" b="1" dirty="0"/>
              <a:t>APIs (Application Programming Interfaces)</a:t>
            </a:r>
            <a:r>
              <a:rPr lang="en-US" dirty="0"/>
              <a:t> like:</a:t>
            </a:r>
          </a:p>
          <a:p>
            <a:pPr algn="just"/>
            <a:r>
              <a:rPr lang="en-US" b="1" dirty="0"/>
              <a:t>Windows API</a:t>
            </a:r>
            <a:r>
              <a:rPr lang="en-US" dirty="0"/>
              <a:t> (for Windows)</a:t>
            </a:r>
          </a:p>
          <a:p>
            <a:pPr algn="just"/>
            <a:r>
              <a:rPr lang="en-US" b="1" dirty="0"/>
              <a:t>POSIX API</a:t>
            </a:r>
            <a:r>
              <a:rPr lang="en-US" dirty="0"/>
              <a:t> (for UNIX, Linux, </a:t>
            </a:r>
            <a:r>
              <a:rPr lang="en-US" dirty="0" err="1"/>
              <a:t>macOS</a:t>
            </a:r>
            <a:r>
              <a:rPr lang="en-US" dirty="0"/>
              <a:t>)</a:t>
            </a:r>
          </a:p>
          <a:p>
            <a:pPr algn="just"/>
            <a:r>
              <a:rPr lang="en-US" b="1" dirty="0"/>
              <a:t>Java API</a:t>
            </a:r>
            <a:r>
              <a:rPr lang="en-US" dirty="0"/>
              <a:t> (for Java programs)</a:t>
            </a:r>
          </a:p>
          <a:p>
            <a:pPr algn="just"/>
            <a:r>
              <a:rPr lang="en-US" dirty="0"/>
              <a:t>APIs handle system calls behind the scenes. For example, Windows’ </a:t>
            </a:r>
            <a:r>
              <a:rPr lang="en-US" b="1" dirty="0" err="1"/>
              <a:t>CreateProcess</a:t>
            </a:r>
            <a:r>
              <a:rPr lang="en-US" b="1" dirty="0"/>
              <a:t>()</a:t>
            </a:r>
            <a:r>
              <a:rPr lang="en-US" dirty="0"/>
              <a:t> function calls the kernel’s </a:t>
            </a:r>
            <a:r>
              <a:rPr lang="en-US" b="1" dirty="0" err="1"/>
              <a:t>NTCreateProcess</a:t>
            </a:r>
            <a:r>
              <a:rPr lang="en-US" b="1" dirty="0"/>
              <a:t>()</a:t>
            </a:r>
            <a:r>
              <a:rPr lang="en-US" dirty="0"/>
              <a:t> to create a new process.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8112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000" b="1" dirty="0">
                <a:solidFill>
                  <a:schemeClr val="accent4"/>
                </a:solidFill>
              </a:rPr>
              <a:t>Why Use an API Instead of Direct System Calls?</a:t>
            </a:r>
            <a:br>
              <a:rPr lang="en-US" sz="2000" b="1" dirty="0">
                <a:solidFill>
                  <a:schemeClr val="accent4"/>
                </a:solidFill>
              </a:rPr>
            </a:br>
            <a:endParaRPr lang="en-US" sz="2000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Portability</a:t>
            </a:r>
            <a:r>
              <a:rPr lang="en-US" dirty="0" smtClean="0"/>
              <a:t> </a:t>
            </a:r>
            <a:r>
              <a:rPr lang="en-US" dirty="0"/>
              <a:t>– Programs using an API can run on any system supporting that API.</a:t>
            </a:r>
          </a:p>
          <a:p>
            <a:r>
              <a:rPr lang="en-US" b="1" dirty="0"/>
              <a:t>Simplicity</a:t>
            </a:r>
            <a:r>
              <a:rPr lang="en-US" dirty="0"/>
              <a:t> – APIs are easier to use than complex system calls.</a:t>
            </a:r>
          </a:p>
          <a:p>
            <a:r>
              <a:rPr lang="en-US" b="1" dirty="0"/>
              <a:t>Standardization</a:t>
            </a:r>
            <a:r>
              <a:rPr lang="en-US" dirty="0"/>
              <a:t> – Many APIs (POSIX, Windows API) closely match system calls but are more user-friendly.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989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How APIs Work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Run-time </a:t>
            </a:r>
            <a:r>
              <a:rPr lang="en-US" b="1" dirty="0"/>
              <a:t>support system</a:t>
            </a:r>
            <a:r>
              <a:rPr lang="en-US" dirty="0"/>
              <a:t> (libraries) provides a link between APIs and system calls.</a:t>
            </a:r>
          </a:p>
          <a:p>
            <a:r>
              <a:rPr lang="en-US" b="1" dirty="0"/>
              <a:t>System-call interface</a:t>
            </a:r>
            <a:r>
              <a:rPr lang="en-US" dirty="0"/>
              <a:t> intercepts API calls and invokes the correct system call.</a:t>
            </a:r>
          </a:p>
          <a:p>
            <a:r>
              <a:rPr lang="en-US" dirty="0"/>
              <a:t>Each system call has a </a:t>
            </a:r>
            <a:r>
              <a:rPr lang="en-US" b="1" dirty="0"/>
              <a:t>unique number</a:t>
            </a:r>
            <a:r>
              <a:rPr lang="en-US" dirty="0"/>
              <a:t>, and a table maps API functions to system calls.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60508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chemeClr val="accent4"/>
                </a:solidFill>
              </a:rPr>
              <a:t>Passing Parameters to the OS</a:t>
            </a:r>
            <a:br>
              <a:rPr lang="en-US" b="1" dirty="0">
                <a:solidFill>
                  <a:schemeClr val="accent4"/>
                </a:solidFill>
              </a:rPr>
            </a:br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System </a:t>
            </a:r>
            <a:r>
              <a:rPr lang="en-US" dirty="0"/>
              <a:t>calls need details like </a:t>
            </a:r>
            <a:r>
              <a:rPr lang="en-US" b="1" dirty="0"/>
              <a:t>file names, memory locations, and buffer sizes</a:t>
            </a:r>
            <a:r>
              <a:rPr lang="en-US" dirty="0"/>
              <a:t>. These details can be sent in three ways:</a:t>
            </a:r>
          </a:p>
          <a:p>
            <a:r>
              <a:rPr lang="en-US" b="1" dirty="0"/>
              <a:t>Registers</a:t>
            </a:r>
            <a:r>
              <a:rPr lang="en-US" dirty="0"/>
              <a:t> – Fast and simple, but limited space.</a:t>
            </a:r>
          </a:p>
          <a:p>
            <a:r>
              <a:rPr lang="en-US" b="1" dirty="0"/>
              <a:t>Memory Block/Table</a:t>
            </a:r>
            <a:r>
              <a:rPr lang="en-US" dirty="0"/>
              <a:t> – Store all details in memory and pass its address (used in Linux &amp; Solaris).</a:t>
            </a:r>
          </a:p>
          <a:p>
            <a:r>
              <a:rPr lang="en-US" b="1" dirty="0"/>
              <a:t>Stack</a:t>
            </a:r>
            <a:r>
              <a:rPr lang="en-US" dirty="0"/>
              <a:t> – Push details onto the stack; the OS reads them (no size limits).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381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Lecture 6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552</TotalTime>
  <Words>890</Words>
  <Application>Microsoft Office PowerPoint</Application>
  <PresentationFormat>Custom</PresentationFormat>
  <Paragraphs>45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Office Theme</vt:lpstr>
      <vt:lpstr>Lecture 6</vt:lpstr>
      <vt:lpstr>1_Office Theme</vt:lpstr>
      <vt:lpstr>User and Operating-System Interface, System Calls</vt:lpstr>
      <vt:lpstr>User and Operating-System Interface</vt:lpstr>
      <vt:lpstr>Command Interpreters</vt:lpstr>
      <vt:lpstr>PowerPoint Presentation</vt:lpstr>
      <vt:lpstr>Graphical User Interface</vt:lpstr>
      <vt:lpstr>PowerPoint Presentation</vt:lpstr>
      <vt:lpstr>PowerPoint Presentation</vt:lpstr>
      <vt:lpstr>PowerPoint Presentation</vt:lpstr>
      <vt:lpstr>System calls</vt:lpstr>
      <vt:lpstr>PowerPoint Presentation</vt:lpstr>
      <vt:lpstr>PowerPoint Presentation</vt:lpstr>
      <vt:lpstr>PowerPoint Presentation</vt:lpstr>
      <vt:lpstr>Why Use an API Instead of Direct System Calls? </vt:lpstr>
      <vt:lpstr>How APIs Work </vt:lpstr>
      <vt:lpstr>Passing Parameters to the OS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Sofia Sultana</dc:creator>
  <cp:lastModifiedBy>Saima Kanwal</cp:lastModifiedBy>
  <cp:revision>165</cp:revision>
  <dcterms:created xsi:type="dcterms:W3CDTF">2024-06-21T09:49:00Z</dcterms:created>
  <dcterms:modified xsi:type="dcterms:W3CDTF">2025-02-21T12:31:37Z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D61AE8DE3F6049F98ADA58C240837B38_12</vt:lpwstr>
  </property>
  <property fmtid="{D5CDD505-2E9C-101B-9397-08002B2CF9AE}" pid="3" name="KSOProductBuildVer">
    <vt:lpwstr>1033-12.2.0.13472</vt:lpwstr>
  </property>
</Properties>
</file>